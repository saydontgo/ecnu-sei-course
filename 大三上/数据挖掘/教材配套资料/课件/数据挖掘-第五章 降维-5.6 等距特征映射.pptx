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2"/>
    <p:sldId id="336" r:id="rId3"/>
    <p:sldId id="381" r:id="rId4"/>
    <p:sldId id="337" r:id="rId5"/>
    <p:sldId id="382" r:id="rId6"/>
    <p:sldId id="338" r:id="rId7"/>
    <p:sldId id="339" r:id="rId8"/>
    <p:sldId id="340" r:id="rId9"/>
    <p:sldId id="342" r:id="rId10"/>
    <p:sldId id="344" r:id="rId11"/>
    <p:sldId id="359" r:id="rId12"/>
    <p:sldId id="15502"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4" userDrawn="1">
          <p15:clr>
            <a:srgbClr val="A4A3A4"/>
          </p15:clr>
        </p15:guide>
        <p15:guide id="2" pos="38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showGuides="1">
      <p:cViewPr varScale="1">
        <p:scale>
          <a:sx n="83" d="100"/>
          <a:sy n="83" d="100"/>
        </p:scale>
        <p:origin x="614" y="48"/>
      </p:cViewPr>
      <p:guideLst>
        <p:guide orient="horz" pos="2134"/>
        <p:guide pos="387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689FD-DE0A-D465-5B8E-42B2FAAE33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C51B74-C6B5-0A59-7222-E3B4D884E0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69460B-004E-4A36-96D2-9E101B153F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F29E8E6F-01E4-EF92-38B1-A278075638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623231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7F7BE-C1AD-B865-F633-4348BDEBC4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1D9176-A780-D668-EF56-35517346DA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C8B526-CBA1-7189-A4A9-FFFD117B7F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E6B84753-C0C2-1695-6957-EC14FC0041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985425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charset="-122"/>
              <a:ea typeface="微软雅黑" panose="020B050302020402020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二、主要工作</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三、总结展望</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结束语</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7" name="Picture 4" descr="D:\works\工作\周琴\56-2019-大数据与复杂网络\模板设计\内页.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77" y="0"/>
            <a:ext cx="12192000" cy="68600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15 June, 2011</a:t>
            </a:r>
            <a:endParaRPr lang="en-GB"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IHCAR</a:t>
            </a:r>
            <a:endParaRPr lang="en-GB"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25446203-2B80-4CBC-A257-89A48550B42A}" type="slidenum">
              <a:rPr lang="en-GB" smtClean="0">
                <a:solidFill>
                  <a:prstClr val="black">
                    <a:tint val="75000"/>
                  </a:prstClr>
                </a:solidFill>
              </a:rPr>
              <a:t>‹#›</a:t>
            </a:fld>
            <a:endParaRPr lang="en-GB" dirty="0">
              <a:solidFill>
                <a:prstClr val="black">
                  <a:tint val="75000"/>
                </a:prst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4" y="1"/>
            <a:ext cx="140967" cy="962147"/>
            <a:chOff x="281524" y="0"/>
            <a:chExt cx="105725" cy="721610"/>
          </a:xfrm>
          <a:solidFill>
            <a:srgbClr val="1A7BAE"/>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grpSp>
        <p:nvGrpSpPr>
          <p:cNvPr id="7" name="组合 6"/>
          <p:cNvGrpSpPr/>
          <p:nvPr userDrawn="1"/>
        </p:nvGrpSpPr>
        <p:grpSpPr>
          <a:xfrm rot="10800000">
            <a:off x="11735683" y="6617464"/>
            <a:ext cx="140967" cy="240536"/>
            <a:chOff x="281524" y="0"/>
            <a:chExt cx="105725" cy="721610"/>
          </a:xfrm>
          <a:solidFill>
            <a:srgbClr val="1A7BAE"/>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E4515-5C03-187E-947B-4180FE4CEAF5}"/>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5.6</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等距特征映射</a:t>
            </a:r>
            <a:endParaRPr lang="en-US" altLang="zh-CN" b="0" dirty="0">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等距特征映射基本概念</a:t>
            </a:r>
          </a:p>
        </p:txBody>
      </p:sp>
      <p:sp>
        <p:nvSpPr>
          <p:cNvPr id="4" name="文本框 3"/>
          <p:cNvSpPr txBox="1"/>
          <p:nvPr/>
        </p:nvSpPr>
        <p:spPr>
          <a:xfrm>
            <a:off x="746414" y="1570932"/>
            <a:ext cx="11039186" cy="2796856"/>
          </a:xfrm>
          <a:prstGeom prst="rect">
            <a:avLst/>
          </a:prstGeom>
        </p:spPr>
        <p:txBody>
          <a:bodyPr wrap="square">
            <a:spAutoFit/>
          </a:bodyPr>
          <a:lstStyle/>
          <a:p>
            <a:pPr marL="0" indent="308610" algn="just" defTabSz="266700">
              <a:lnSpc>
                <a:spcPct val="150000"/>
              </a:lnSpc>
              <a:spcBef>
                <a:spcPct val="0"/>
              </a:spcBef>
              <a:spcAft>
                <a:spcPct val="0"/>
              </a:spcAft>
            </a:pPr>
            <a:r>
              <a:rPr lang="zh-CN" altLang="en-US" sz="2400" dirty="0">
                <a:solidFill>
                  <a:schemeClr val="tx1"/>
                </a:solidFill>
                <a:uFillTx/>
                <a:latin typeface="Times New Roman" panose="02020603050405020304"/>
                <a:ea typeface="微软雅黑" panose="020B0503020204020204" charset="-122"/>
              </a:rPr>
              <a:t>等距特征映射（</a:t>
            </a:r>
            <a:r>
              <a:rPr lang="en-US" altLang="zh-CN" sz="2400" dirty="0">
                <a:solidFill>
                  <a:schemeClr val="tx1"/>
                </a:solidFill>
                <a:uFillTx/>
                <a:latin typeface="Times New Roman" panose="02020603050405020304"/>
                <a:ea typeface="微软雅黑" panose="020B0503020204020204" charset="-122"/>
              </a:rPr>
              <a:t>Isometric Mapping</a:t>
            </a:r>
            <a:r>
              <a:rPr lang="zh-CN" altLang="en-US" sz="2400" dirty="0">
                <a:solidFill>
                  <a:schemeClr val="tx1"/>
                </a:solidFill>
                <a:uFillTx/>
                <a:latin typeface="Times New Roman" panose="02020603050405020304"/>
                <a:ea typeface="微软雅黑" panose="020B0503020204020204" charset="-122"/>
              </a:rPr>
              <a:t>，</a:t>
            </a:r>
            <a:r>
              <a:rPr lang="en-US" altLang="zh-CN" sz="2400" dirty="0" err="1">
                <a:solidFill>
                  <a:schemeClr val="tx1"/>
                </a:solidFill>
                <a:uFillTx/>
                <a:latin typeface="Times New Roman" panose="02020603050405020304"/>
                <a:ea typeface="微软雅黑" panose="020B0503020204020204" charset="-122"/>
              </a:rPr>
              <a:t>IsoMap</a:t>
            </a:r>
            <a:r>
              <a:rPr lang="zh-CN" altLang="en-US" sz="2400" dirty="0">
                <a:solidFill>
                  <a:schemeClr val="tx1"/>
                </a:solidFill>
                <a:uFillTx/>
                <a:latin typeface="Times New Roman" panose="02020603050405020304"/>
                <a:ea typeface="微软雅黑" panose="020B0503020204020204" charset="-122"/>
              </a:rPr>
              <a:t>）是一种基于全局特征保持的流形学习算法。</a:t>
            </a:r>
            <a:r>
              <a:rPr lang="en-US" altLang="zh-CN" sz="2400" dirty="0" err="1">
                <a:solidFill>
                  <a:schemeClr val="tx1"/>
                </a:solidFill>
                <a:uFillTx/>
                <a:latin typeface="Times New Roman" panose="02020603050405020304"/>
                <a:ea typeface="微软雅黑" panose="020B0503020204020204" charset="-122"/>
              </a:rPr>
              <a:t>IsoMap</a:t>
            </a:r>
            <a:r>
              <a:rPr lang="zh-CN" altLang="en-US" sz="2400" dirty="0">
                <a:solidFill>
                  <a:schemeClr val="tx1"/>
                </a:solidFill>
                <a:uFillTx/>
                <a:latin typeface="Times New Roman" panose="02020603050405020304"/>
                <a:ea typeface="微软雅黑" panose="020B0503020204020204" charset="-122"/>
              </a:rPr>
              <a:t>算法是基于</a:t>
            </a:r>
            <a:r>
              <a:rPr lang="en-US" altLang="zh-CN" sz="2400" dirty="0">
                <a:solidFill>
                  <a:schemeClr val="tx1"/>
                </a:solidFill>
                <a:uFillTx/>
                <a:latin typeface="Times New Roman" panose="02020603050405020304"/>
                <a:ea typeface="微软雅黑" panose="020B0503020204020204" charset="-122"/>
              </a:rPr>
              <a:t>MDS</a:t>
            </a:r>
            <a:r>
              <a:rPr lang="zh-CN" altLang="en-US" sz="2400" dirty="0">
                <a:solidFill>
                  <a:schemeClr val="tx1"/>
                </a:solidFill>
                <a:uFillTx/>
                <a:latin typeface="Times New Roman" panose="02020603050405020304"/>
                <a:ea typeface="微软雅黑" panose="020B0503020204020204" charset="-122"/>
              </a:rPr>
              <a:t>算法提出的，两者原理基本一致。</a:t>
            </a:r>
          </a:p>
          <a:p>
            <a:pPr marL="342900" indent="-342900" algn="just" defTabSz="266700">
              <a:lnSpc>
                <a:spcPct val="150000"/>
              </a:lnSpc>
              <a:spcBef>
                <a:spcPct val="0"/>
              </a:spcBef>
              <a:spcAft>
                <a:spcPct val="0"/>
              </a:spcAft>
              <a:buFont typeface="Wingdings" panose="05000000000000000000" pitchFamily="2" charset="2"/>
              <a:buChar char="Ø"/>
            </a:pPr>
            <a:r>
              <a:rPr lang="en-US" altLang="zh-CN" sz="2400" dirty="0">
                <a:solidFill>
                  <a:schemeClr val="tx1"/>
                </a:solidFill>
                <a:uFillTx/>
                <a:latin typeface="Times New Roman" panose="02020603050405020304"/>
                <a:ea typeface="微软雅黑" panose="020B0503020204020204" charset="-122"/>
              </a:rPr>
              <a:t>MDS</a:t>
            </a:r>
            <a:r>
              <a:rPr lang="zh-CN" altLang="en-US" sz="2400" dirty="0">
                <a:solidFill>
                  <a:schemeClr val="tx1"/>
                </a:solidFill>
                <a:uFillTx/>
                <a:latin typeface="Times New Roman" panose="02020603050405020304"/>
                <a:ea typeface="微软雅黑" panose="020B0503020204020204" charset="-122"/>
              </a:rPr>
              <a:t>算法的输入为高维空间中点与点之间的直线距离；</a:t>
            </a:r>
          </a:p>
          <a:p>
            <a:pPr marL="342900" indent="-342900" algn="just" defTabSz="266700">
              <a:lnSpc>
                <a:spcPct val="150000"/>
              </a:lnSpc>
              <a:spcBef>
                <a:spcPct val="0"/>
              </a:spcBef>
              <a:spcAft>
                <a:spcPct val="0"/>
              </a:spcAft>
              <a:buFont typeface="Wingdings" panose="05000000000000000000" pitchFamily="2" charset="2"/>
              <a:buChar char="Ø"/>
            </a:pPr>
            <a:r>
              <a:rPr lang="en-US" altLang="zh-CN" sz="2400" dirty="0" err="1">
                <a:solidFill>
                  <a:schemeClr val="tx1"/>
                </a:solidFill>
                <a:uFillTx/>
                <a:latin typeface="Times New Roman" panose="02020603050405020304"/>
                <a:ea typeface="微软雅黑" panose="020B0503020204020204" charset="-122"/>
              </a:rPr>
              <a:t>IsoMap</a:t>
            </a:r>
            <a:r>
              <a:rPr lang="zh-CN" altLang="en-US" sz="2400" dirty="0">
                <a:solidFill>
                  <a:schemeClr val="tx1"/>
                </a:solidFill>
                <a:uFillTx/>
                <a:latin typeface="Times New Roman" panose="02020603050405020304"/>
                <a:ea typeface="微软雅黑" panose="020B0503020204020204" charset="-122"/>
              </a:rPr>
              <a:t>算法认为，低维流形嵌入到高维空间后，在高维空间计算点之间的直线距离不恰当，因为高维空间中的直线距离在低维流形上通常不可达。</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BD599-8661-8FBB-436A-E583195A779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1411D06-63EC-C84F-1FE3-1F2058B5BE50}"/>
              </a:ext>
            </a:extLst>
          </p:cNvPr>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等距特征映射基本概念</a:t>
            </a:r>
          </a:p>
        </p:txBody>
      </p:sp>
      <p:sp>
        <p:nvSpPr>
          <p:cNvPr id="5" name="矩形 4">
            <a:extLst>
              <a:ext uri="{FF2B5EF4-FFF2-40B4-BE49-F238E27FC236}">
                <a16:creationId xmlns:a16="http://schemas.microsoft.com/office/drawing/2014/main" id="{6FC17576-0460-76B2-75DB-1C8A52BF4AB9}"/>
              </a:ext>
            </a:extLst>
          </p:cNvPr>
          <p:cNvSpPr/>
          <p:nvPr/>
        </p:nvSpPr>
        <p:spPr>
          <a:xfrm>
            <a:off x="2183351" y="1310004"/>
            <a:ext cx="7825298" cy="4893398"/>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F9B8155-C54D-BFA7-EB0F-AE07C062094A}"/>
              </a:ext>
            </a:extLst>
          </p:cNvPr>
          <p:cNvSpPr txBox="1"/>
          <p:nvPr/>
        </p:nvSpPr>
        <p:spPr>
          <a:xfrm>
            <a:off x="2310095" y="1310004"/>
            <a:ext cx="7350001" cy="4788619"/>
          </a:xfrm>
          <a:prstGeom prst="rect">
            <a:avLst/>
          </a:prstGeom>
        </p:spPr>
        <p:txBody>
          <a:bodyPr wrap="square">
            <a:spAutoFit/>
          </a:bodyPr>
          <a:lstStyle/>
          <a:p>
            <a:pPr defTabSz="266700"/>
            <a:r>
              <a:rPr lang="zh-CN" altLang="en-US" sz="2000" b="1" dirty="0">
                <a:solidFill>
                  <a:schemeClr val="accent2">
                    <a:lumMod val="75000"/>
                  </a:schemeClr>
                </a:solidFill>
                <a:latin typeface="Times New Roman" panose="02020603050405020304"/>
                <a:ea typeface="楷体" panose="02010609060101010101" charset="-122"/>
              </a:rPr>
              <a:t>扩展阅读：</a:t>
            </a:r>
            <a:endParaRPr lang="en-US" altLang="zh-CN" sz="2000" b="1" dirty="0">
              <a:solidFill>
                <a:schemeClr val="accent2">
                  <a:lumMod val="75000"/>
                </a:schemeClr>
              </a:solidFill>
              <a:latin typeface="Times New Roman" panose="02020603050405020304"/>
              <a:ea typeface="楷体" panose="02010609060101010101" charset="-122"/>
            </a:endParaRPr>
          </a:p>
          <a:p>
            <a:pPr marL="285750" indent="285750" defTabSz="266700">
              <a:lnSpc>
                <a:spcPct val="150000"/>
              </a:lnSpc>
              <a:buFont typeface="Wingdings" panose="05000000000000000000" pitchFamily="2" charset="2"/>
              <a:buChar char="Ø"/>
            </a:pPr>
            <a:r>
              <a:rPr lang="zh-CN" altLang="en-US" sz="1600" dirty="0">
                <a:solidFill>
                  <a:srgbClr val="000000"/>
                </a:solidFill>
                <a:latin typeface="微软雅黑" panose="020B0503020204020204" charset="-122"/>
                <a:ea typeface="微软雅黑" panose="020B0503020204020204" charset="-122"/>
              </a:rPr>
              <a:t>流形是</a:t>
            </a:r>
            <a:r>
              <a:rPr lang="zh-CN" altLang="en-US" sz="1600" dirty="0">
                <a:solidFill>
                  <a:schemeClr val="accent2">
                    <a:lumMod val="75000"/>
                  </a:schemeClr>
                </a:solidFill>
                <a:latin typeface="微软雅黑" panose="020B0503020204020204" charset="-122"/>
                <a:ea typeface="微软雅黑" panose="020B0503020204020204" charset="-122"/>
              </a:rPr>
              <a:t>局部</a:t>
            </a:r>
            <a:r>
              <a:rPr lang="zh-CN" altLang="en-US" sz="1600" dirty="0">
                <a:solidFill>
                  <a:srgbClr val="000000"/>
                </a:solidFill>
                <a:latin typeface="微软雅黑" panose="020B0503020204020204" charset="-122"/>
                <a:ea typeface="微软雅黑" panose="020B0503020204020204" charset="-122"/>
              </a:rPr>
              <a:t>具有欧氏空间性质的空间，能在局部用欧氏距离来进行距离计算，具有连续性、可微性、可曲性和可度量性等特性。</a:t>
            </a:r>
            <a:endParaRPr lang="en-US" altLang="zh-CN" sz="1600" dirty="0">
              <a:solidFill>
                <a:srgbClr val="000000"/>
              </a:solidFill>
              <a:latin typeface="微软雅黑" panose="020B0503020204020204" charset="-122"/>
              <a:ea typeface="微软雅黑" panose="020B0503020204020204" charset="-122"/>
            </a:endParaRPr>
          </a:p>
          <a:p>
            <a:pPr marL="285750" indent="285750" defTabSz="266700">
              <a:lnSpc>
                <a:spcPct val="150000"/>
              </a:lnSpc>
              <a:buFont typeface="Wingdings" panose="05000000000000000000" pitchFamily="2" charset="2"/>
              <a:buChar char="Ø"/>
            </a:pPr>
            <a:r>
              <a:rPr lang="zh-CN" altLang="en-US" sz="1600" dirty="0">
                <a:solidFill>
                  <a:srgbClr val="000000"/>
                </a:solidFill>
                <a:latin typeface="微软雅黑" panose="020B0503020204020204" charset="-122"/>
                <a:ea typeface="微软雅黑" panose="020B0503020204020204" charset="-122"/>
              </a:rPr>
              <a:t>流形学习认为我们所能观察到的数据实际上是由一个</a:t>
            </a:r>
            <a:r>
              <a:rPr lang="zh-CN" altLang="en-US" sz="1600" dirty="0">
                <a:solidFill>
                  <a:schemeClr val="accent2">
                    <a:lumMod val="75000"/>
                  </a:schemeClr>
                </a:solidFill>
                <a:latin typeface="微软雅黑" panose="020B0503020204020204" charset="-122"/>
                <a:ea typeface="微软雅黑" panose="020B0503020204020204" charset="-122"/>
              </a:rPr>
              <a:t>低维流形</a:t>
            </a:r>
            <a:r>
              <a:rPr lang="zh-CN" altLang="en-US" sz="1600" dirty="0">
                <a:solidFill>
                  <a:srgbClr val="000000"/>
                </a:solidFill>
                <a:latin typeface="微软雅黑" panose="020B0503020204020204" charset="-122"/>
                <a:ea typeface="微软雅黑" panose="020B0503020204020204" charset="-122"/>
              </a:rPr>
              <a:t>映射到</a:t>
            </a:r>
            <a:r>
              <a:rPr lang="zh-CN" altLang="en-US" sz="1600" dirty="0">
                <a:solidFill>
                  <a:schemeClr val="accent2">
                    <a:lumMod val="75000"/>
                  </a:schemeClr>
                </a:solidFill>
                <a:latin typeface="微软雅黑" panose="020B0503020204020204" charset="-122"/>
                <a:ea typeface="微软雅黑" panose="020B0503020204020204" charset="-122"/>
              </a:rPr>
              <a:t>高维</a:t>
            </a:r>
            <a:r>
              <a:rPr lang="zh-CN" altLang="en-US" sz="1600" dirty="0">
                <a:solidFill>
                  <a:srgbClr val="000000"/>
                </a:solidFill>
                <a:latin typeface="微软雅黑" panose="020B0503020204020204" charset="-122"/>
                <a:ea typeface="微软雅黑" panose="020B0503020204020204" charset="-122"/>
              </a:rPr>
              <a:t>空间上的。由于数据内部特征的限制，一些高维空间中的数据会产生维数上的冗余。流形学习通过</a:t>
            </a:r>
            <a:r>
              <a:rPr lang="zh-CN" altLang="en-US" sz="1600" dirty="0">
                <a:solidFill>
                  <a:schemeClr val="accent2">
                    <a:lumMod val="75000"/>
                  </a:schemeClr>
                </a:solidFill>
                <a:latin typeface="微软雅黑" panose="020B0503020204020204" charset="-122"/>
                <a:ea typeface="微软雅黑" panose="020B0503020204020204" charset="-122"/>
              </a:rPr>
              <a:t>非线性映射</a:t>
            </a:r>
            <a:r>
              <a:rPr lang="zh-CN" altLang="en-US" sz="1600" dirty="0">
                <a:solidFill>
                  <a:srgbClr val="000000"/>
                </a:solidFill>
                <a:latin typeface="微软雅黑" panose="020B0503020204020204" charset="-122"/>
                <a:ea typeface="微软雅黑" panose="020B0503020204020204" charset="-122"/>
              </a:rPr>
              <a:t>，将高维数据集投影到一个低维空间，还原出该数据集的真实低维流形结构。虽然数据点在高维空间的分布较为复杂，但在</a:t>
            </a:r>
            <a:r>
              <a:rPr lang="zh-CN" altLang="en-US" sz="1600" dirty="0">
                <a:solidFill>
                  <a:schemeClr val="accent2">
                    <a:lumMod val="75000"/>
                  </a:schemeClr>
                </a:solidFill>
                <a:latin typeface="微软雅黑" panose="020B0503020204020204" charset="-122"/>
                <a:ea typeface="微软雅黑" panose="020B0503020204020204" charset="-122"/>
              </a:rPr>
              <a:t>局部</a:t>
            </a:r>
            <a:r>
              <a:rPr lang="zh-CN" altLang="en-US" sz="1600" dirty="0">
                <a:solidFill>
                  <a:srgbClr val="000000"/>
                </a:solidFill>
                <a:latin typeface="微软雅黑" panose="020B0503020204020204" charset="-122"/>
                <a:ea typeface="微软雅黑" panose="020B0503020204020204" charset="-122"/>
              </a:rPr>
              <a:t>仍具有</a:t>
            </a:r>
            <a:r>
              <a:rPr lang="zh-CN" altLang="en-US" sz="1600" dirty="0">
                <a:solidFill>
                  <a:schemeClr val="accent2">
                    <a:lumMod val="75000"/>
                  </a:schemeClr>
                </a:solidFill>
                <a:latin typeface="微软雅黑" panose="020B0503020204020204" charset="-122"/>
                <a:ea typeface="微软雅黑" panose="020B0503020204020204" charset="-122"/>
              </a:rPr>
              <a:t>欧氏空间</a:t>
            </a:r>
            <a:r>
              <a:rPr lang="zh-CN" altLang="en-US" sz="1600" dirty="0">
                <a:solidFill>
                  <a:srgbClr val="000000"/>
                </a:solidFill>
                <a:latin typeface="微软雅黑" panose="020B0503020204020204" charset="-122"/>
                <a:ea typeface="微软雅黑" panose="020B0503020204020204" charset="-122"/>
              </a:rPr>
              <a:t>的性质。因此，可以考虑在</a:t>
            </a:r>
            <a:r>
              <a:rPr lang="zh-CN" altLang="en-US" sz="1600" dirty="0">
                <a:solidFill>
                  <a:schemeClr val="accent2">
                    <a:lumMod val="75000"/>
                  </a:schemeClr>
                </a:solidFill>
                <a:latin typeface="微软雅黑" panose="020B0503020204020204" charset="-122"/>
                <a:ea typeface="微软雅黑" panose="020B0503020204020204" charset="-122"/>
              </a:rPr>
              <a:t>局部建立降维映射关系</a:t>
            </a:r>
            <a:r>
              <a:rPr lang="zh-CN" altLang="en-US" sz="1600" dirty="0">
                <a:solidFill>
                  <a:srgbClr val="000000"/>
                </a:solidFill>
                <a:latin typeface="微软雅黑" panose="020B0503020204020204" charset="-122"/>
                <a:ea typeface="微软雅黑" panose="020B0503020204020204" charset="-122"/>
              </a:rPr>
              <a:t>，然后再设法将该局部映射关系推广到全局。</a:t>
            </a:r>
            <a:endParaRPr lang="en-US" altLang="zh-CN" sz="1600" dirty="0">
              <a:solidFill>
                <a:srgbClr val="000000"/>
              </a:solidFill>
              <a:latin typeface="微软雅黑" panose="020B0503020204020204" charset="-122"/>
              <a:ea typeface="微软雅黑" panose="020B0503020204020204" charset="-122"/>
            </a:endParaRPr>
          </a:p>
          <a:p>
            <a:pPr marL="285750" indent="285750" defTabSz="266700">
              <a:lnSpc>
                <a:spcPct val="150000"/>
              </a:lnSpc>
              <a:buFont typeface="Wingdings" panose="05000000000000000000" pitchFamily="2" charset="2"/>
              <a:buChar char="Ø"/>
            </a:pPr>
            <a:r>
              <a:rPr lang="zh-CN" altLang="en-US" sz="1600" dirty="0">
                <a:solidFill>
                  <a:srgbClr val="000000"/>
                </a:solidFill>
                <a:latin typeface="微软雅黑" panose="020B0503020204020204" charset="-122"/>
                <a:ea typeface="微软雅黑" panose="020B0503020204020204" charset="-122"/>
              </a:rPr>
              <a:t>当数据被降至二维或三维，则可以对数据进行可视化展示。传统的线性降维方法主要是将相似度低的点投射到低维空间后的距离尽可能大，但对于处于非线性流形上的高维数据而言，更重要的是使得相似的近邻点在低维空间中靠近。</a:t>
            </a:r>
          </a:p>
        </p:txBody>
      </p:sp>
    </p:spTree>
    <p:extLst>
      <p:ext uri="{BB962C8B-B14F-4D97-AF65-F5344CB8AC3E}">
        <p14:creationId xmlns:p14="http://schemas.microsoft.com/office/powerpoint/2010/main" val="36253629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等距特征映射基本概念</a:t>
            </a:r>
          </a:p>
        </p:txBody>
      </p:sp>
      <p:pic>
        <p:nvPicPr>
          <p:cNvPr id="31" name="图片 582"/>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5835997" y="1701569"/>
            <a:ext cx="5443855" cy="4196715"/>
          </a:xfrm>
          <a:prstGeom prst="rect">
            <a:avLst/>
          </a:prstGeom>
          <a:noFill/>
          <a:ln>
            <a:noFill/>
          </a:ln>
        </p:spPr>
      </p:pic>
      <p:sp>
        <p:nvSpPr>
          <p:cNvPr id="8" name="文本框 7"/>
          <p:cNvSpPr txBox="1"/>
          <p:nvPr/>
        </p:nvSpPr>
        <p:spPr>
          <a:xfrm>
            <a:off x="454892" y="1858357"/>
            <a:ext cx="4749800" cy="3572388"/>
          </a:xfrm>
          <a:prstGeom prst="rect">
            <a:avLst/>
          </a:prstGeom>
        </p:spPr>
        <p:txBody>
          <a:bodyPr wrap="square">
            <a:spAutoFit/>
          </a:bodyPr>
          <a:lstStyle/>
          <a:p>
            <a:pPr marL="0" indent="308610" algn="just" defTabSz="266700">
              <a:lnSpc>
                <a:spcPct val="150000"/>
              </a:lnSpc>
              <a:spcBef>
                <a:spcPts val="800"/>
              </a:spcBef>
              <a:spcAft>
                <a:spcPct val="0"/>
              </a:spcAft>
            </a:pPr>
            <a:r>
              <a:rPr lang="zh-CN" altLang="en-US" dirty="0">
                <a:solidFill>
                  <a:schemeClr val="tx1"/>
                </a:solidFill>
                <a:uFillTx/>
                <a:latin typeface="Times New Roman" panose="02020603050405020304" pitchFamily="18" charset="0"/>
                <a:ea typeface="微软雅黑" panose="020B0503020204020204" charset="-122"/>
              </a:rPr>
              <a:t>如右图所示，以</a:t>
            </a:r>
            <a:r>
              <a:rPr lang="en-US" altLang="zh-CN" dirty="0">
                <a:solidFill>
                  <a:schemeClr val="tx1"/>
                </a:solidFill>
                <a:uFillTx/>
                <a:latin typeface="Times New Roman" panose="02020603050405020304" pitchFamily="18" charset="0"/>
                <a:ea typeface="微软雅黑" panose="020B0503020204020204" charset="-122"/>
              </a:rPr>
              <a:t>3D</a:t>
            </a:r>
            <a:r>
              <a:rPr lang="zh-CN" altLang="en-US" dirty="0">
                <a:solidFill>
                  <a:schemeClr val="tx1"/>
                </a:solidFill>
                <a:uFillTx/>
                <a:latin typeface="Times New Roman" panose="02020603050405020304" pitchFamily="18" charset="0"/>
                <a:ea typeface="微软雅黑" panose="020B0503020204020204" charset="-122"/>
              </a:rPr>
              <a:t>空间中瑞士卷（</a:t>
            </a:r>
            <a:r>
              <a:rPr lang="en-US" altLang="zh-CN" dirty="0">
                <a:solidFill>
                  <a:schemeClr val="tx1"/>
                </a:solidFill>
                <a:uFillTx/>
                <a:latin typeface="Times New Roman" panose="02020603050405020304" pitchFamily="18" charset="0"/>
                <a:ea typeface="微软雅黑" panose="020B0503020204020204" charset="-122"/>
              </a:rPr>
              <a:t>Swiss roll</a:t>
            </a:r>
            <a:r>
              <a:rPr lang="zh-CN" altLang="en-US" dirty="0">
                <a:solidFill>
                  <a:schemeClr val="tx1"/>
                </a:solidFill>
                <a:uFillTx/>
                <a:latin typeface="Times New Roman" panose="02020603050405020304" pitchFamily="18" charset="0"/>
                <a:ea typeface="微软雅黑" panose="020B0503020204020204" charset="-122"/>
              </a:rPr>
              <a:t>）为例。</a:t>
            </a:r>
          </a:p>
          <a:p>
            <a:pPr marL="0" indent="308610" algn="just" defTabSz="266700">
              <a:lnSpc>
                <a:spcPct val="150000"/>
              </a:lnSpc>
              <a:spcBef>
                <a:spcPts val="800"/>
              </a:spcBef>
              <a:spcAft>
                <a:spcPct val="0"/>
              </a:spcAft>
            </a:pPr>
            <a:r>
              <a:rPr lang="zh-CN" altLang="en-US" dirty="0">
                <a:solidFill>
                  <a:schemeClr val="tx1"/>
                </a:solidFill>
                <a:uFillTx/>
                <a:latin typeface="Times New Roman" panose="02020603050405020304" pitchFamily="18" charset="0"/>
                <a:ea typeface="微软雅黑" panose="020B0503020204020204" charset="-122"/>
              </a:rPr>
              <a:t>（</a:t>
            </a:r>
            <a:r>
              <a:rPr lang="en-US" altLang="zh-CN" dirty="0">
                <a:solidFill>
                  <a:schemeClr val="tx1"/>
                </a:solidFill>
                <a:uFillTx/>
                <a:latin typeface="Times New Roman" panose="02020603050405020304" pitchFamily="18" charset="0"/>
                <a:ea typeface="微软雅黑" panose="020B0503020204020204" charset="-122"/>
              </a:rPr>
              <a:t>1</a:t>
            </a:r>
            <a:r>
              <a:rPr lang="zh-CN" altLang="en-US" dirty="0">
                <a:solidFill>
                  <a:schemeClr val="tx1"/>
                </a:solidFill>
                <a:uFillTx/>
                <a:latin typeface="Times New Roman" panose="02020603050405020304" pitchFamily="18" charset="0"/>
                <a:ea typeface="微软雅黑" panose="020B0503020204020204" charset="-122"/>
              </a:rPr>
              <a:t>）在低维嵌入流形上，两点之间的真实距离是测地线距离，即右图中黑色曲实线标注的距离；</a:t>
            </a:r>
          </a:p>
          <a:p>
            <a:pPr marL="0" indent="308610" algn="just" defTabSz="266700">
              <a:lnSpc>
                <a:spcPct val="150000"/>
              </a:lnSpc>
              <a:spcBef>
                <a:spcPts val="800"/>
              </a:spcBef>
              <a:spcAft>
                <a:spcPct val="0"/>
              </a:spcAft>
            </a:pPr>
            <a:r>
              <a:rPr lang="zh-CN" altLang="en-US" dirty="0">
                <a:solidFill>
                  <a:schemeClr val="tx1"/>
                </a:solidFill>
                <a:uFillTx/>
                <a:latin typeface="Times New Roman" panose="02020603050405020304" pitchFamily="18" charset="0"/>
                <a:ea typeface="微软雅黑" panose="020B0503020204020204" charset="-122"/>
              </a:rPr>
              <a:t>（</a:t>
            </a:r>
            <a:r>
              <a:rPr lang="en-US" altLang="zh-CN" dirty="0">
                <a:solidFill>
                  <a:schemeClr val="tx1"/>
                </a:solidFill>
                <a:uFillTx/>
                <a:latin typeface="Times New Roman" panose="02020603050405020304" pitchFamily="18" charset="0"/>
                <a:ea typeface="微软雅黑" panose="020B0503020204020204" charset="-122"/>
              </a:rPr>
              <a:t>2</a:t>
            </a:r>
            <a:r>
              <a:rPr lang="zh-CN" altLang="en-US" dirty="0">
                <a:solidFill>
                  <a:schemeClr val="tx1"/>
                </a:solidFill>
                <a:uFillTx/>
                <a:latin typeface="Times New Roman" panose="02020603050405020304" pitchFamily="18" charset="0"/>
                <a:ea typeface="微软雅黑" panose="020B0503020204020204" charset="-122"/>
              </a:rPr>
              <a:t>）欧氏距离为右图中红色虚线标注的距离，因此在高维空间中，欧氏距离并不能很好地反映流行数据点之间的真实距离。</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E9D00-B8DB-8714-EC03-F636236E5A2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C081E5F-F2CE-1CFC-5B5C-21978E5DBB8E}"/>
              </a:ext>
            </a:extLst>
          </p:cNvPr>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等距特征映射基本概念</a:t>
            </a:r>
          </a:p>
        </p:txBody>
      </p:sp>
      <p:pic>
        <p:nvPicPr>
          <p:cNvPr id="31" name="图片 582">
            <a:extLst>
              <a:ext uri="{FF2B5EF4-FFF2-40B4-BE49-F238E27FC236}">
                <a16:creationId xmlns:a16="http://schemas.microsoft.com/office/drawing/2014/main" id="{1659AB0C-6CEB-7D7C-2DF0-A7EF8613FFB2}"/>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5699760" y="1576416"/>
            <a:ext cx="5443855" cy="4196715"/>
          </a:xfrm>
          <a:prstGeom prst="rect">
            <a:avLst/>
          </a:prstGeom>
          <a:noFill/>
          <a:ln>
            <a:noFill/>
          </a:ln>
        </p:spPr>
      </p:pic>
      <p:sp>
        <p:nvSpPr>
          <p:cNvPr id="8" name="文本框 7">
            <a:extLst>
              <a:ext uri="{FF2B5EF4-FFF2-40B4-BE49-F238E27FC236}">
                <a16:creationId xmlns:a16="http://schemas.microsoft.com/office/drawing/2014/main" id="{102B204C-10C9-9006-D361-13F151BF7AF3}"/>
              </a:ext>
            </a:extLst>
          </p:cNvPr>
          <p:cNvSpPr txBox="1"/>
          <p:nvPr/>
        </p:nvSpPr>
        <p:spPr>
          <a:xfrm>
            <a:off x="806336" y="2025122"/>
            <a:ext cx="4277359" cy="2807756"/>
          </a:xfrm>
          <a:prstGeom prst="rect">
            <a:avLst/>
          </a:prstGeom>
        </p:spPr>
        <p:txBody>
          <a:bodyPr wrap="square">
            <a:spAutoFit/>
          </a:bodyPr>
          <a:lstStyle/>
          <a:p>
            <a:pPr marL="0" indent="308610" algn="just" defTabSz="266700">
              <a:lnSpc>
                <a:spcPct val="150000"/>
              </a:lnSpc>
              <a:spcBef>
                <a:spcPts val="800"/>
              </a:spcBef>
              <a:spcAft>
                <a:spcPct val="0"/>
              </a:spcAft>
            </a:pPr>
            <a:r>
              <a:rPr lang="zh-CN" altLang="en-US" sz="2000" dirty="0">
                <a:solidFill>
                  <a:schemeClr val="tx1"/>
                </a:solidFill>
                <a:uFillTx/>
                <a:latin typeface="Times New Roman" panose="02020603050405020304" pitchFamily="18" charset="0"/>
                <a:ea typeface="微软雅黑" panose="020B0503020204020204" charset="-122"/>
              </a:rPr>
              <a:t>然而，当两个数据点之间的欧氏距离足够小时，它们的真实距离通常也是相对接近的。因此，在局部区域上可以近似地用欧氏空间来描述流形，在该区域内，欧氏距离可以较好地表示数据点之间的关系。</a:t>
            </a:r>
          </a:p>
        </p:txBody>
      </p:sp>
    </p:spTree>
    <p:extLst>
      <p:ext uri="{BB962C8B-B14F-4D97-AF65-F5344CB8AC3E}">
        <p14:creationId xmlns:p14="http://schemas.microsoft.com/office/powerpoint/2010/main" val="19192579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等距特征映射基本概念</a:t>
            </a:r>
          </a:p>
        </p:txBody>
      </p:sp>
      <p:sp>
        <p:nvSpPr>
          <p:cNvPr id="5" name="文本框 4"/>
          <p:cNvSpPr txBox="1"/>
          <p:nvPr/>
        </p:nvSpPr>
        <p:spPr>
          <a:xfrm>
            <a:off x="450426" y="2039923"/>
            <a:ext cx="5417185" cy="3192477"/>
          </a:xfrm>
          <a:prstGeom prst="rect">
            <a:avLst/>
          </a:prstGeom>
        </p:spPr>
        <p:txBody>
          <a:bodyPr wrap="square">
            <a:spAutoFit/>
          </a:bodyPr>
          <a:lstStyle/>
          <a:p>
            <a:pPr algn="just" defTabSz="266700">
              <a:lnSpc>
                <a:spcPct val="125000"/>
              </a:lnSpc>
              <a:spcBef>
                <a:spcPct val="0"/>
              </a:spcBef>
              <a:spcAft>
                <a:spcPct val="0"/>
              </a:spcAft>
            </a:pPr>
            <a:r>
              <a:rPr lang="en-US" altLang="zh-CN" sz="2000" b="1" dirty="0">
                <a:solidFill>
                  <a:schemeClr val="tx1"/>
                </a:solidFill>
                <a:uFillTx/>
                <a:latin typeface="Times New Roman" panose="02020603050405020304" pitchFamily="18" charset="0"/>
                <a:ea typeface="微软雅黑" panose="020B0503020204020204" charset="-122"/>
              </a:rPr>
              <a:t>     </a:t>
            </a:r>
            <a:r>
              <a:rPr lang="en-US" altLang="zh-CN" sz="2000" b="1" dirty="0" err="1">
                <a:solidFill>
                  <a:schemeClr val="tx1"/>
                </a:solidFill>
                <a:uFillTx/>
                <a:latin typeface="Times New Roman" panose="02020603050405020304" pitchFamily="18" charset="0"/>
                <a:ea typeface="微软雅黑" panose="020B0503020204020204" charset="-122"/>
              </a:rPr>
              <a:t>IsoMap</a:t>
            </a:r>
            <a:r>
              <a:rPr lang="zh-CN" altLang="en-US" sz="2000" b="1" dirty="0">
                <a:solidFill>
                  <a:schemeClr val="tx1"/>
                </a:solidFill>
                <a:uFillTx/>
                <a:latin typeface="Times New Roman" panose="02020603050405020304" pitchFamily="18" charset="0"/>
                <a:ea typeface="微软雅黑" panose="020B0503020204020204" charset="-122"/>
              </a:rPr>
              <a:t>算法基本</a:t>
            </a:r>
            <a:r>
              <a:rPr lang="zh-CN" altLang="en-US" sz="2000" b="1" dirty="0">
                <a:latin typeface="Times New Roman" panose="02020603050405020304" pitchFamily="18" charset="0"/>
                <a:ea typeface="微软雅黑" panose="020B0503020204020204" charset="-122"/>
              </a:rPr>
              <a:t>流程：</a:t>
            </a:r>
            <a:endParaRPr lang="en-US" altLang="zh-CN" sz="2000" b="1" dirty="0">
              <a:solidFill>
                <a:schemeClr val="tx1"/>
              </a:solidFill>
              <a:uFillTx/>
              <a:latin typeface="Times New Roman" panose="02020603050405020304" pitchFamily="18" charset="0"/>
              <a:ea typeface="微软雅黑" panose="020B0503020204020204" charset="-122"/>
            </a:endParaRPr>
          </a:p>
          <a:p>
            <a:pPr marL="285750" indent="-285750" algn="just" defTabSz="266700">
              <a:lnSpc>
                <a:spcPct val="150000"/>
              </a:lnSpc>
              <a:spcBef>
                <a:spcPct val="0"/>
              </a:spcBef>
              <a:spcAft>
                <a:spcPct val="0"/>
              </a:spcAft>
              <a:buFont typeface="Wingdings" panose="05000000000000000000" charset="0"/>
              <a:buChar char="Ø"/>
            </a:pPr>
            <a:r>
              <a:rPr lang="zh-CN" altLang="en-US" sz="2000" dirty="0">
                <a:solidFill>
                  <a:schemeClr val="tx1"/>
                </a:solidFill>
                <a:uFillTx/>
                <a:latin typeface="Times New Roman" panose="02020603050405020304" pitchFamily="18" charset="0"/>
                <a:ea typeface="微软雅黑" panose="020B0503020204020204" charset="-122"/>
              </a:rPr>
              <a:t>计算原始数据集中任意两点的距离；</a:t>
            </a:r>
          </a:p>
          <a:p>
            <a:pPr marL="285750" indent="-285750" algn="just" defTabSz="266700">
              <a:lnSpc>
                <a:spcPct val="150000"/>
              </a:lnSpc>
              <a:spcBef>
                <a:spcPct val="0"/>
              </a:spcBef>
              <a:spcAft>
                <a:spcPct val="0"/>
              </a:spcAft>
              <a:buFont typeface="Wingdings" panose="05000000000000000000" charset="0"/>
              <a:buChar char="Ø"/>
            </a:pPr>
            <a:r>
              <a:rPr lang="zh-CN" altLang="en-US" sz="2000" dirty="0">
                <a:solidFill>
                  <a:schemeClr val="tx1"/>
                </a:solidFill>
                <a:uFillTx/>
                <a:latin typeface="Times New Roman" panose="02020603050405020304" pitchFamily="18" charset="0"/>
                <a:ea typeface="微软雅黑" panose="020B0503020204020204" charset="-122"/>
              </a:rPr>
              <a:t>对每个点找出近邻点；</a:t>
            </a:r>
          </a:p>
          <a:p>
            <a:pPr marL="285750" indent="-285750" algn="just" defTabSz="266700">
              <a:lnSpc>
                <a:spcPct val="150000"/>
              </a:lnSpc>
              <a:spcBef>
                <a:spcPct val="0"/>
              </a:spcBef>
              <a:spcAft>
                <a:spcPct val="0"/>
              </a:spcAft>
              <a:buFont typeface="Wingdings" panose="05000000000000000000" charset="0"/>
              <a:buChar char="Ø"/>
            </a:pPr>
            <a:r>
              <a:rPr lang="zh-CN" altLang="en-US" sz="2000" dirty="0">
                <a:solidFill>
                  <a:schemeClr val="tx1"/>
                </a:solidFill>
                <a:uFillTx/>
                <a:latin typeface="Times New Roman" panose="02020603050405020304" pitchFamily="18" charset="0"/>
                <a:ea typeface="微软雅黑" panose="020B0503020204020204" charset="-122"/>
              </a:rPr>
              <a:t>建立一个近邻图；</a:t>
            </a:r>
          </a:p>
          <a:p>
            <a:pPr marL="285750" indent="-285750" algn="just" defTabSz="266700">
              <a:lnSpc>
                <a:spcPct val="150000"/>
              </a:lnSpc>
              <a:spcBef>
                <a:spcPct val="0"/>
              </a:spcBef>
              <a:spcAft>
                <a:spcPct val="0"/>
              </a:spcAft>
              <a:buFont typeface="Wingdings" panose="05000000000000000000" charset="0"/>
              <a:buChar char="Ø"/>
            </a:pPr>
            <a:r>
              <a:rPr lang="zh-CN" altLang="en-US" sz="2000" dirty="0">
                <a:solidFill>
                  <a:schemeClr val="tx1"/>
                </a:solidFill>
                <a:uFillTx/>
                <a:latin typeface="Times New Roman" panose="02020603050405020304" pitchFamily="18" charset="0"/>
                <a:ea typeface="微软雅黑" panose="020B0503020204020204" charset="-122"/>
              </a:rPr>
              <a:t>通过近邻图计算数据点之间的最短路径；</a:t>
            </a:r>
          </a:p>
          <a:p>
            <a:pPr marL="285750" indent="-285750" algn="just" defTabSz="266700">
              <a:lnSpc>
                <a:spcPct val="150000"/>
              </a:lnSpc>
              <a:spcBef>
                <a:spcPct val="0"/>
              </a:spcBef>
              <a:spcAft>
                <a:spcPct val="0"/>
              </a:spcAft>
              <a:buFont typeface="Wingdings" panose="05000000000000000000" charset="0"/>
              <a:buChar char="Ø"/>
            </a:pPr>
            <a:r>
              <a:rPr lang="zh-CN" altLang="en-US" sz="2000" dirty="0">
                <a:solidFill>
                  <a:schemeClr val="tx1"/>
                </a:solidFill>
                <a:uFillTx/>
                <a:latin typeface="Times New Roman" panose="02020603050405020304" pitchFamily="18" charset="0"/>
                <a:ea typeface="微软雅黑" panose="020B0503020204020204" charset="-122"/>
              </a:rPr>
              <a:t>将计算两点之间测地线距离的问题转变为寻找近邻连接图上两点之间的最短路径问题。</a:t>
            </a:r>
          </a:p>
        </p:txBody>
      </p:sp>
      <p:pic>
        <p:nvPicPr>
          <p:cNvPr id="6" name="图片 5" descr="3"/>
          <p:cNvPicPr>
            <a:picLocks noChangeAspect="1"/>
          </p:cNvPicPr>
          <p:nvPr/>
        </p:nvPicPr>
        <p:blipFill>
          <a:blip r:embed="rId3">
            <a:clrChange>
              <a:clrFrom>
                <a:srgbClr val="FFFFFF">
                  <a:alpha val="100000"/>
                </a:srgbClr>
              </a:clrFrom>
              <a:clrTo>
                <a:srgbClr val="FFFFFF">
                  <a:alpha val="100000"/>
                  <a:alpha val="0"/>
                </a:srgbClr>
              </a:clrTo>
            </a:clrChange>
          </a:blip>
          <a:srcRect l="5075" t="21046" r="2440"/>
          <a:stretch>
            <a:fillRect/>
          </a:stretch>
        </p:blipFill>
        <p:spPr>
          <a:xfrm>
            <a:off x="6634229" y="1632816"/>
            <a:ext cx="4551339" cy="47853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等距特征映射基本概念</a:t>
            </a:r>
          </a:p>
        </p:txBody>
      </p:sp>
      <p:sp>
        <p:nvSpPr>
          <p:cNvPr id="14" name="文本框 13"/>
          <p:cNvSpPr txBox="1"/>
          <p:nvPr/>
        </p:nvSpPr>
        <p:spPr>
          <a:xfrm>
            <a:off x="1286164" y="1659319"/>
            <a:ext cx="8240741" cy="1345497"/>
          </a:xfrm>
          <a:prstGeom prst="rect">
            <a:avLst/>
          </a:prstGeom>
        </p:spPr>
        <p:txBody>
          <a:bodyPr wrap="square">
            <a:spAutoFit/>
          </a:bodyPr>
          <a:lstStyle/>
          <a:p>
            <a:pPr marL="0" indent="127000" algn="just" defTabSz="266700">
              <a:lnSpc>
                <a:spcPct val="125000"/>
              </a:lnSpc>
              <a:spcBef>
                <a:spcPct val="0"/>
              </a:spcBef>
              <a:spcAft>
                <a:spcPct val="0"/>
              </a:spcAft>
            </a:pPr>
            <a:r>
              <a:rPr lang="zh-CN" altLang="en-US" sz="2000" b="1" dirty="0">
                <a:solidFill>
                  <a:schemeClr val="tx1"/>
                </a:solidFill>
                <a:uFillTx/>
                <a:latin typeface="Times New Roman" panose="02020603050405020304" pitchFamily="18" charset="0"/>
                <a:ea typeface="微软雅黑" panose="020B0503020204020204" charset="-122"/>
              </a:rPr>
              <a:t>    近邻图的确定通常有两种方法：</a:t>
            </a:r>
          </a:p>
          <a:p>
            <a:pPr marL="342900" indent="-342900" algn="just" defTabSz="266700">
              <a:lnSpc>
                <a:spcPct val="150000"/>
              </a:lnSpc>
              <a:spcBef>
                <a:spcPct val="0"/>
              </a:spcBef>
              <a:spcAft>
                <a:spcPct val="0"/>
              </a:spcAft>
              <a:buFont typeface="Wingdings" panose="05000000000000000000" pitchFamily="2" charset="2"/>
              <a:buChar char="ü"/>
            </a:pPr>
            <a:r>
              <a:rPr lang="zh-CN" altLang="en-US" sz="2000" dirty="0">
                <a:solidFill>
                  <a:schemeClr val="tx1"/>
                </a:solidFill>
                <a:uFillTx/>
                <a:latin typeface="Times New Roman" panose="02020603050405020304" pitchFamily="18" charset="0"/>
                <a:ea typeface="微软雅黑" panose="020B0503020204020204" charset="-122"/>
              </a:rPr>
              <a:t>指定近邻点的个数，如欧氏距离最近的</a:t>
            </a:r>
            <a:r>
              <a:rPr lang="en-US" altLang="zh-CN" sz="2000" dirty="0">
                <a:solidFill>
                  <a:schemeClr val="tx1"/>
                </a:solidFill>
                <a:uFillTx/>
                <a:latin typeface="Times New Roman" panose="02020603050405020304" pitchFamily="18" charset="0"/>
                <a:ea typeface="微软雅黑" panose="020B0503020204020204" charset="-122"/>
              </a:rPr>
              <a:t>k</a:t>
            </a:r>
            <a:r>
              <a:rPr lang="zh-CN" altLang="en-US" sz="2000" dirty="0">
                <a:solidFill>
                  <a:schemeClr val="tx1"/>
                </a:solidFill>
                <a:uFillTx/>
                <a:latin typeface="Times New Roman" panose="02020603050405020304" pitchFamily="18" charset="0"/>
                <a:ea typeface="微软雅黑" panose="020B0503020204020204" charset="-122"/>
              </a:rPr>
              <a:t>个点构成的</a:t>
            </a:r>
            <a:r>
              <a:rPr lang="en-US" altLang="zh-CN" sz="2000" dirty="0">
                <a:solidFill>
                  <a:schemeClr val="tx1"/>
                </a:solidFill>
                <a:uFillTx/>
                <a:latin typeface="Times New Roman" panose="02020603050405020304" pitchFamily="18" charset="0"/>
                <a:ea typeface="微软雅黑" panose="020B0503020204020204" charset="-122"/>
              </a:rPr>
              <a:t>k</a:t>
            </a:r>
            <a:r>
              <a:rPr lang="zh-CN" altLang="en-US" sz="2000" dirty="0">
                <a:solidFill>
                  <a:schemeClr val="tx1"/>
                </a:solidFill>
                <a:uFillTx/>
                <a:latin typeface="Times New Roman" panose="02020603050405020304" pitchFamily="18" charset="0"/>
                <a:ea typeface="微软雅黑" panose="020B0503020204020204" charset="-122"/>
              </a:rPr>
              <a:t>近邻图；</a:t>
            </a:r>
          </a:p>
          <a:p>
            <a:pPr marL="342900" indent="-342900" algn="just" defTabSz="266700">
              <a:lnSpc>
                <a:spcPct val="150000"/>
              </a:lnSpc>
              <a:spcBef>
                <a:spcPct val="0"/>
              </a:spcBef>
              <a:spcAft>
                <a:spcPct val="0"/>
              </a:spcAft>
              <a:buFont typeface="Wingdings" panose="05000000000000000000" pitchFamily="2" charset="2"/>
              <a:buChar char="ü"/>
            </a:pPr>
            <a:r>
              <a:rPr lang="zh-CN" altLang="en-US" sz="2000" dirty="0">
                <a:solidFill>
                  <a:schemeClr val="tx1"/>
                </a:solidFill>
                <a:uFillTx/>
                <a:latin typeface="Times New Roman" panose="02020603050405020304" pitchFamily="18" charset="0"/>
                <a:ea typeface="微软雅黑" panose="020B0503020204020204" charset="-122"/>
              </a:rPr>
              <a:t>指定距离阈值</a:t>
            </a:r>
            <a:r>
              <a:rPr lang="zh-CN" altLang="en-US" sz="2000" dirty="0">
                <a:solidFill>
                  <a:schemeClr val="tx1"/>
                </a:solidFill>
                <a:uFillTx/>
                <a:latin typeface="Times New Roman" panose="02020603050405020304" pitchFamily="18" charset="0"/>
                <a:ea typeface="微软雅黑" panose="020B0503020204020204" charset="-122"/>
                <a:cs typeface="Calibri" panose="020F0502020204030204" charset="0"/>
                <a:sym typeface="+mn-ea"/>
              </a:rPr>
              <a:t>ꞓ</a:t>
            </a:r>
            <a:r>
              <a:rPr lang="zh-CN" altLang="en-US" sz="2000" dirty="0">
                <a:solidFill>
                  <a:schemeClr val="tx1"/>
                </a:solidFill>
                <a:uFillTx/>
                <a:latin typeface="Times New Roman" panose="02020603050405020304" pitchFamily="18" charset="0"/>
                <a:ea typeface="微软雅黑" panose="020B0503020204020204" charset="-122"/>
              </a:rPr>
              <a:t>，距离小于</a:t>
            </a:r>
            <a:r>
              <a:rPr lang="zh-CN" altLang="en-US" sz="2000" dirty="0">
                <a:solidFill>
                  <a:schemeClr val="tx1"/>
                </a:solidFill>
                <a:uFillTx/>
                <a:latin typeface="Times New Roman" panose="02020603050405020304" pitchFamily="18" charset="0"/>
                <a:ea typeface="微软雅黑" panose="020B0503020204020204" charset="-122"/>
                <a:cs typeface="Calibri" panose="020F0502020204030204" charset="0"/>
              </a:rPr>
              <a:t>ꞓ</a:t>
            </a:r>
            <a:r>
              <a:rPr lang="zh-CN" altLang="en-US" sz="2000" dirty="0">
                <a:solidFill>
                  <a:schemeClr val="tx1"/>
                </a:solidFill>
                <a:uFillTx/>
                <a:latin typeface="Times New Roman" panose="02020603050405020304" pitchFamily="18" charset="0"/>
                <a:ea typeface="微软雅黑" panose="020B0503020204020204" charset="-122"/>
              </a:rPr>
              <a:t>的点构成</a:t>
            </a:r>
            <a:r>
              <a:rPr lang="zh-CN" altLang="en-US" sz="2000" dirty="0">
                <a:solidFill>
                  <a:schemeClr val="tx1"/>
                </a:solidFill>
                <a:uFillTx/>
                <a:latin typeface="Times New Roman" panose="02020603050405020304" pitchFamily="18" charset="0"/>
                <a:ea typeface="微软雅黑" panose="020B0503020204020204" charset="-122"/>
                <a:cs typeface="Calibri" panose="020F0502020204030204" charset="0"/>
                <a:sym typeface="+mn-ea"/>
              </a:rPr>
              <a:t>ꞓ</a:t>
            </a:r>
            <a:r>
              <a:rPr lang="zh-CN" altLang="en-US" sz="2000" dirty="0">
                <a:solidFill>
                  <a:schemeClr val="tx1"/>
                </a:solidFill>
                <a:uFillTx/>
                <a:latin typeface="Times New Roman" panose="02020603050405020304" pitchFamily="18" charset="0"/>
                <a:ea typeface="微软雅黑" panose="020B0503020204020204" charset="-122"/>
              </a:rPr>
              <a:t>近邻图。</a:t>
            </a:r>
          </a:p>
        </p:txBody>
      </p:sp>
      <p:sp>
        <p:nvSpPr>
          <p:cNvPr id="15" name="矩形 14"/>
          <p:cNvSpPr/>
          <p:nvPr/>
        </p:nvSpPr>
        <p:spPr>
          <a:xfrm>
            <a:off x="1376680" y="3649550"/>
            <a:ext cx="8935720" cy="2256573"/>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6" name="文本框 15"/>
          <p:cNvSpPr txBox="1"/>
          <p:nvPr/>
        </p:nvSpPr>
        <p:spPr>
          <a:xfrm>
            <a:off x="1463040" y="3800468"/>
            <a:ext cx="8521201" cy="753027"/>
          </a:xfrm>
          <a:prstGeom prst="rect">
            <a:avLst/>
          </a:prstGeom>
        </p:spPr>
        <p:txBody>
          <a:bodyPr wrap="square">
            <a:spAutoFit/>
          </a:bodyPr>
          <a:lstStyle/>
          <a:p>
            <a:pPr marL="285750" indent="-285750" algn="just" defTabSz="266700">
              <a:lnSpc>
                <a:spcPct val="125000"/>
              </a:lnSpc>
              <a:spcBef>
                <a:spcPct val="0"/>
              </a:spcBef>
              <a:spcAft>
                <a:spcPct val="0"/>
              </a:spcAft>
              <a:buFont typeface="Wingdings" panose="05000000000000000000" charset="0"/>
              <a:buChar char="Ø"/>
            </a:pPr>
            <a:r>
              <a:rPr lang="en-US" altLang="zh-CN" i="1" dirty="0">
                <a:solidFill>
                  <a:schemeClr val="tx1"/>
                </a:solidFill>
                <a:uFillTx/>
                <a:latin typeface="Times New Roman" panose="02020603050405020304" pitchFamily="18" charset="0"/>
                <a:ea typeface="微软雅黑" panose="020B0503020204020204" charset="-122"/>
              </a:rPr>
              <a:t>k</a:t>
            </a:r>
            <a:r>
              <a:rPr lang="zh-CN" altLang="en-US" dirty="0">
                <a:solidFill>
                  <a:schemeClr val="tx1"/>
                </a:solidFill>
                <a:uFillTx/>
                <a:latin typeface="Times New Roman" panose="02020603050405020304" pitchFamily="18" charset="0"/>
                <a:ea typeface="微软雅黑" panose="020B0503020204020204" charset="-122"/>
              </a:rPr>
              <a:t>近邻图：给定数据集</a:t>
            </a:r>
            <a:r>
              <a:rPr lang="en-US" altLang="zh-CN" i="1" dirty="0">
                <a:solidFill>
                  <a:schemeClr val="tx1"/>
                </a:solidFill>
                <a:uFillTx/>
                <a:latin typeface="Times New Roman" panose="02020603050405020304" pitchFamily="18" charset="0"/>
                <a:ea typeface="微软雅黑" panose="020B0503020204020204" charset="-122"/>
              </a:rPr>
              <a:t>D</a:t>
            </a:r>
            <a:r>
              <a:rPr lang="zh-CN" altLang="en-US" dirty="0">
                <a:solidFill>
                  <a:schemeClr val="tx1"/>
                </a:solidFill>
                <a:uFillTx/>
                <a:latin typeface="Times New Roman" panose="02020603050405020304" pitchFamily="18" charset="0"/>
                <a:ea typeface="微软雅黑" panose="020B0503020204020204" charset="-122"/>
              </a:rPr>
              <a:t>，</a:t>
            </a:r>
            <a:r>
              <a:rPr lang="en-US" altLang="zh-CN" i="1" dirty="0">
                <a:solidFill>
                  <a:schemeClr val="tx1"/>
                </a:solidFill>
                <a:uFillTx/>
                <a:latin typeface="Times New Roman" panose="02020603050405020304" pitchFamily="18" charset="0"/>
                <a:ea typeface="微软雅黑" panose="020B0503020204020204" charset="-122"/>
              </a:rPr>
              <a:t>k</a:t>
            </a:r>
            <a:r>
              <a:rPr lang="zh-CN" altLang="en-US" dirty="0">
                <a:solidFill>
                  <a:schemeClr val="tx1"/>
                </a:solidFill>
                <a:uFillTx/>
                <a:latin typeface="Times New Roman" panose="02020603050405020304" pitchFamily="18" charset="0"/>
                <a:ea typeface="微软雅黑" panose="020B0503020204020204" charset="-122"/>
              </a:rPr>
              <a:t>近邻图是一个有向图</a:t>
            </a:r>
            <a:r>
              <a:rPr lang="en-US" altLang="zh-CN" i="1" dirty="0">
                <a:solidFill>
                  <a:schemeClr val="tx1"/>
                </a:solidFill>
                <a:uFillTx/>
                <a:latin typeface="Times New Roman" panose="02020603050405020304" pitchFamily="18" charset="0"/>
                <a:ea typeface="微软雅黑" panose="020B0503020204020204" charset="-122"/>
              </a:rPr>
              <a:t>G=&lt;D,E&gt;</a:t>
            </a:r>
            <a:r>
              <a:rPr lang="zh-CN" altLang="en-US" dirty="0">
                <a:solidFill>
                  <a:schemeClr val="tx1"/>
                </a:solidFill>
                <a:uFillTx/>
                <a:latin typeface="Times New Roman" panose="02020603050405020304" pitchFamily="18" charset="0"/>
                <a:ea typeface="微软雅黑" panose="020B0503020204020204" charset="-122"/>
              </a:rPr>
              <a:t>，</a:t>
            </a:r>
            <a:r>
              <a:rPr lang="en-US" altLang="zh-CN" i="1" dirty="0">
                <a:solidFill>
                  <a:schemeClr val="tx1"/>
                </a:solidFill>
                <a:uFillTx/>
                <a:latin typeface="Times New Roman" panose="02020603050405020304" pitchFamily="18" charset="0"/>
                <a:ea typeface="微软雅黑" panose="020B0503020204020204" charset="-122"/>
              </a:rPr>
              <a:t>E</a:t>
            </a:r>
            <a:r>
              <a:rPr lang="zh-CN" altLang="en-US" dirty="0">
                <a:solidFill>
                  <a:schemeClr val="tx1"/>
                </a:solidFill>
                <a:uFillTx/>
                <a:latin typeface="Times New Roman" panose="02020603050405020304" pitchFamily="18" charset="0"/>
                <a:ea typeface="微软雅黑" panose="020B0503020204020204" charset="-122"/>
              </a:rPr>
              <a:t>表示边的集合，每个顶点</a:t>
            </a:r>
            <a:r>
              <a:rPr lang="en-US" altLang="zh-CN" i="1" dirty="0">
                <a:solidFill>
                  <a:schemeClr val="tx1"/>
                </a:solidFill>
                <a:uFillTx/>
                <a:latin typeface="Times New Roman" panose="02020603050405020304" pitchFamily="18" charset="0"/>
                <a:ea typeface="微软雅黑" panose="020B0503020204020204" charset="-122"/>
              </a:rPr>
              <a:t>x</a:t>
            </a:r>
            <a:r>
              <a:rPr lang="en-US" altLang="zh-CN" i="1" baseline="-25000" dirty="0">
                <a:solidFill>
                  <a:schemeClr val="tx1"/>
                </a:solidFill>
                <a:uFillTx/>
                <a:latin typeface="Times New Roman" panose="02020603050405020304" pitchFamily="18" charset="0"/>
                <a:ea typeface="微软雅黑" panose="020B0503020204020204" charset="-122"/>
              </a:rPr>
              <a:t>i</a:t>
            </a:r>
            <a:r>
              <a:rPr lang="zh-CN" altLang="en-US" dirty="0">
                <a:solidFill>
                  <a:schemeClr val="tx1"/>
                </a:solidFill>
                <a:uFillTx/>
                <a:latin typeface="Times New Roman" panose="02020603050405020304" pitchFamily="18" charset="0"/>
                <a:ea typeface="微软雅黑" panose="020B0503020204020204" charset="-122"/>
              </a:rPr>
              <a:t>表示一个数据点。从每个顶点出发，有</a:t>
            </a:r>
            <a:r>
              <a:rPr lang="en-US" altLang="zh-CN" i="1" dirty="0">
                <a:solidFill>
                  <a:schemeClr val="tx1"/>
                </a:solidFill>
                <a:uFillTx/>
                <a:latin typeface="Times New Roman" panose="02020603050405020304" pitchFamily="18" charset="0"/>
                <a:ea typeface="微软雅黑" panose="020B0503020204020204" charset="-122"/>
              </a:rPr>
              <a:t>k</a:t>
            </a:r>
            <a:r>
              <a:rPr lang="zh-CN" altLang="en-US" dirty="0">
                <a:solidFill>
                  <a:schemeClr val="tx1"/>
                </a:solidFill>
                <a:uFillTx/>
                <a:latin typeface="Times New Roman" panose="02020603050405020304" pitchFamily="18" charset="0"/>
                <a:ea typeface="微软雅黑" panose="020B0503020204020204" charset="-122"/>
              </a:rPr>
              <a:t>条有向边分别指向其</a:t>
            </a:r>
            <a:r>
              <a:rPr lang="en-US" altLang="zh-CN" i="1" dirty="0">
                <a:solidFill>
                  <a:schemeClr val="tx1"/>
                </a:solidFill>
                <a:uFillTx/>
                <a:latin typeface="Times New Roman" panose="02020603050405020304" pitchFamily="18" charset="0"/>
                <a:ea typeface="微软雅黑" panose="020B0503020204020204" charset="-122"/>
              </a:rPr>
              <a:t>k</a:t>
            </a:r>
            <a:r>
              <a:rPr lang="zh-CN" altLang="en-US" dirty="0">
                <a:solidFill>
                  <a:schemeClr val="tx1"/>
                </a:solidFill>
                <a:uFillTx/>
                <a:latin typeface="Times New Roman" panose="02020603050405020304" pitchFamily="18" charset="0"/>
                <a:ea typeface="微软雅黑" panose="020B0503020204020204" charset="-122"/>
              </a:rPr>
              <a:t>个最近邻。</a:t>
            </a:r>
          </a:p>
        </p:txBody>
      </p:sp>
      <p:sp>
        <p:nvSpPr>
          <p:cNvPr id="17" name="文本框 16"/>
          <p:cNvSpPr txBox="1"/>
          <p:nvPr/>
        </p:nvSpPr>
        <p:spPr>
          <a:xfrm>
            <a:off x="1463040" y="4939018"/>
            <a:ext cx="8648383" cy="752770"/>
          </a:xfrm>
          <a:prstGeom prst="rect">
            <a:avLst/>
          </a:prstGeom>
        </p:spPr>
        <p:txBody>
          <a:bodyPr wrap="square">
            <a:spAutoFit/>
          </a:bodyPr>
          <a:lstStyle/>
          <a:p>
            <a:pPr marL="285750" indent="-285750" algn="just" defTabSz="266700">
              <a:lnSpc>
                <a:spcPct val="125000"/>
              </a:lnSpc>
              <a:spcBef>
                <a:spcPct val="0"/>
              </a:spcBef>
              <a:spcAft>
                <a:spcPct val="0"/>
              </a:spcAft>
              <a:buFont typeface="Wingdings" panose="05000000000000000000" charset="0"/>
              <a:buChar char="Ø"/>
            </a:pPr>
            <a:r>
              <a:rPr lang="en-US" altLang="zh-CN" i="1" dirty="0">
                <a:latin typeface="Times New Roman" panose="02020603050405020304" pitchFamily="18" charset="0"/>
                <a:ea typeface="微软雅黑" panose="020B0503020204020204" charset="-122"/>
              </a:rPr>
              <a:t> </a:t>
            </a:r>
            <a:r>
              <a:rPr lang="zh-CN" altLang="en-US" sz="1800" dirty="0">
                <a:solidFill>
                  <a:schemeClr val="tx1"/>
                </a:solidFill>
                <a:uFillTx/>
                <a:latin typeface="Times New Roman" panose="02020603050405020304" pitchFamily="18" charset="0"/>
                <a:ea typeface="微软雅黑" panose="020B0503020204020204" charset="-122"/>
                <a:cs typeface="Calibri" panose="020F0502020204030204" charset="0"/>
                <a:sym typeface="+mn-ea"/>
              </a:rPr>
              <a:t>ꞓ</a:t>
            </a:r>
            <a:r>
              <a:rPr lang="zh-CN" altLang="en-US" dirty="0">
                <a:solidFill>
                  <a:schemeClr val="tx1"/>
                </a:solidFill>
                <a:uFillTx/>
                <a:latin typeface="Times New Roman" panose="02020603050405020304" pitchFamily="18" charset="0"/>
                <a:ea typeface="微软雅黑" panose="020B0503020204020204" charset="-122"/>
              </a:rPr>
              <a:t>近邻图：给定数据集</a:t>
            </a:r>
            <a:r>
              <a:rPr lang="en-US" altLang="zh-CN" i="1" dirty="0">
                <a:uFillTx/>
                <a:latin typeface="Times New Roman" panose="02020603050405020304" pitchFamily="18" charset="0"/>
                <a:ea typeface="微软雅黑" panose="020B0503020204020204" charset="-122"/>
                <a:sym typeface="+mn-ea"/>
              </a:rPr>
              <a:t>D</a:t>
            </a:r>
            <a:r>
              <a:rPr lang="zh-CN" altLang="en-US" dirty="0">
                <a:solidFill>
                  <a:schemeClr val="tx1"/>
                </a:solidFill>
                <a:uFillTx/>
                <a:latin typeface="Times New Roman" panose="02020603050405020304" pitchFamily="18" charset="0"/>
                <a:ea typeface="微软雅黑" panose="020B0503020204020204" charset="-122"/>
              </a:rPr>
              <a:t>，</a:t>
            </a:r>
            <a:r>
              <a:rPr lang="en-US" altLang="zh-CN" i="1" dirty="0">
                <a:solidFill>
                  <a:schemeClr val="tx1"/>
                </a:solidFill>
                <a:uFillTx/>
                <a:latin typeface="Times New Roman" panose="02020603050405020304" pitchFamily="18" charset="0"/>
                <a:ea typeface="微软雅黑" panose="020B0503020204020204" charset="-122"/>
              </a:rPr>
              <a:t>k</a:t>
            </a:r>
            <a:r>
              <a:rPr lang="zh-CN" altLang="en-US" dirty="0">
                <a:solidFill>
                  <a:schemeClr val="tx1"/>
                </a:solidFill>
                <a:uFillTx/>
                <a:latin typeface="Times New Roman" panose="02020603050405020304" pitchFamily="18" charset="0"/>
                <a:ea typeface="微软雅黑" panose="020B0503020204020204" charset="-122"/>
              </a:rPr>
              <a:t>近邻图是一个无向图</a:t>
            </a:r>
            <a:r>
              <a:rPr lang="en-US" altLang="zh-CN" i="1" dirty="0">
                <a:uFillTx/>
                <a:latin typeface="Times New Roman" panose="02020603050405020304" pitchFamily="18" charset="0"/>
                <a:ea typeface="微软雅黑" panose="020B0503020204020204" charset="-122"/>
                <a:sym typeface="+mn-ea"/>
              </a:rPr>
              <a:t>G=&lt;D,E&gt;</a:t>
            </a:r>
            <a:r>
              <a:rPr lang="zh-CN" altLang="en-US" dirty="0">
                <a:solidFill>
                  <a:schemeClr val="tx1"/>
                </a:solidFill>
                <a:uFillTx/>
                <a:latin typeface="Times New Roman" panose="02020603050405020304" pitchFamily="18" charset="0"/>
                <a:ea typeface="微软雅黑" panose="020B0503020204020204" charset="-122"/>
              </a:rPr>
              <a:t>，</a:t>
            </a:r>
            <a:r>
              <a:rPr lang="en-US" altLang="zh-CN" i="1" dirty="0">
                <a:uFillTx/>
                <a:latin typeface="Times New Roman" panose="02020603050405020304" pitchFamily="18" charset="0"/>
                <a:ea typeface="微软雅黑" panose="020B0503020204020204" charset="-122"/>
                <a:sym typeface="+mn-ea"/>
              </a:rPr>
              <a:t>E</a:t>
            </a:r>
            <a:r>
              <a:rPr lang="zh-CN" altLang="en-US" dirty="0">
                <a:solidFill>
                  <a:schemeClr val="tx1"/>
                </a:solidFill>
                <a:uFillTx/>
                <a:latin typeface="Times New Roman" panose="02020603050405020304" pitchFamily="18" charset="0"/>
                <a:ea typeface="微软雅黑" panose="020B0503020204020204" charset="-122"/>
              </a:rPr>
              <a:t>表示边的集合，每个顶点</a:t>
            </a:r>
            <a:r>
              <a:rPr lang="en-US" altLang="zh-CN" i="1" dirty="0">
                <a:uFillTx/>
                <a:latin typeface="Times New Roman" panose="02020603050405020304" pitchFamily="18" charset="0"/>
                <a:ea typeface="微软雅黑" panose="020B0503020204020204" charset="-122"/>
                <a:sym typeface="+mn-ea"/>
              </a:rPr>
              <a:t>x</a:t>
            </a:r>
            <a:r>
              <a:rPr lang="en-US" altLang="zh-CN" i="1" baseline="-25000" dirty="0">
                <a:uFillTx/>
                <a:latin typeface="Times New Roman" panose="02020603050405020304" pitchFamily="18" charset="0"/>
                <a:ea typeface="微软雅黑" panose="020B0503020204020204" charset="-122"/>
                <a:sym typeface="+mn-ea"/>
              </a:rPr>
              <a:t>i</a:t>
            </a:r>
            <a:r>
              <a:rPr lang="zh-CN" altLang="en-US" dirty="0">
                <a:solidFill>
                  <a:schemeClr val="tx1"/>
                </a:solidFill>
                <a:uFillTx/>
                <a:latin typeface="Times New Roman" panose="02020603050405020304" pitchFamily="18" charset="0"/>
                <a:ea typeface="微软雅黑" panose="020B0503020204020204" charset="-122"/>
              </a:rPr>
              <a:t>表示一个数据点，在相似度大于</a:t>
            </a:r>
            <a:r>
              <a:rPr lang="zh-CN" altLang="en-US" dirty="0">
                <a:uFillTx/>
                <a:latin typeface="Times New Roman" panose="02020603050405020304" pitchFamily="18" charset="0"/>
                <a:ea typeface="微软雅黑" panose="020B0503020204020204" charset="-122"/>
                <a:cs typeface="Calibri" panose="020F0502020204030204" charset="0"/>
                <a:sym typeface="+mn-ea"/>
              </a:rPr>
              <a:t>ꞓ</a:t>
            </a:r>
            <a:r>
              <a:rPr lang="zh-CN" altLang="en-US" dirty="0">
                <a:solidFill>
                  <a:schemeClr val="tx1"/>
                </a:solidFill>
                <a:uFillTx/>
                <a:latin typeface="Times New Roman" panose="02020603050405020304" pitchFamily="18" charset="0"/>
                <a:ea typeface="微软雅黑" panose="020B0503020204020204" charset="-122"/>
              </a:rPr>
              <a:t>的数据对象之间建立无向边</a:t>
            </a:r>
            <a:r>
              <a:rPr lang="en-US" altLang="zh-CN" i="1" dirty="0" err="1">
                <a:solidFill>
                  <a:schemeClr val="tx1"/>
                </a:solidFill>
                <a:uFillTx/>
                <a:latin typeface="Times New Roman" panose="02020603050405020304" pitchFamily="18" charset="0"/>
                <a:ea typeface="微软雅黑" panose="020B0503020204020204" charset="-122"/>
              </a:rPr>
              <a:t>e∈E</a:t>
            </a:r>
            <a:r>
              <a:rPr lang="zh-CN" altLang="en-US" dirty="0">
                <a:solidFill>
                  <a:schemeClr val="tx1"/>
                </a:solidFill>
                <a:uFillTx/>
                <a:latin typeface="Times New Roman" panose="02020603050405020304" pitchFamily="18" charset="0"/>
                <a:ea typeface="微软雅黑" panose="020B0503020204020204" charset="-122"/>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等距特征映射基本概念</a:t>
            </a:r>
          </a:p>
        </p:txBody>
      </p:sp>
      <p:sp>
        <p:nvSpPr>
          <p:cNvPr id="4" name="文本框 3"/>
          <p:cNvSpPr txBox="1"/>
          <p:nvPr/>
        </p:nvSpPr>
        <p:spPr>
          <a:xfrm>
            <a:off x="600364" y="1619325"/>
            <a:ext cx="10991271" cy="1211165"/>
          </a:xfrm>
          <a:prstGeom prst="rect">
            <a:avLst/>
          </a:prstGeom>
        </p:spPr>
        <p:txBody>
          <a:bodyPr wrap="square">
            <a:spAutoFit/>
          </a:bodyPr>
          <a:lstStyle/>
          <a:p>
            <a:pPr indent="457200" algn="just" defTabSz="266700" fontAlgn="auto">
              <a:lnSpc>
                <a:spcPct val="125000"/>
              </a:lnSpc>
              <a:spcBef>
                <a:spcPct val="0"/>
              </a:spcBef>
              <a:spcAft>
                <a:spcPct val="0"/>
              </a:spcAft>
            </a:pPr>
            <a:r>
              <a:rPr lang="zh-CN" altLang="en-US" sz="2000" dirty="0">
                <a:solidFill>
                  <a:schemeClr val="tx1"/>
                </a:solidFill>
                <a:uFillTx/>
                <a:latin typeface="Times New Roman" panose="02020603050405020304" pitchFamily="18" charset="0"/>
                <a:ea typeface="微软雅黑" panose="020B0503020204020204" charset="-122"/>
              </a:rPr>
              <a:t>近邻图中近邻点之间存在连接，非近邻点之间不存在连接。于是，计算任意两点之间测地距离的问题变成了计算近邻图上两点之间的最短路径问题。</a:t>
            </a:r>
            <a:endParaRPr lang="en-US" altLang="zh-CN" sz="2000" dirty="0">
              <a:solidFill>
                <a:schemeClr val="tx1"/>
              </a:solidFill>
              <a:uFillTx/>
              <a:latin typeface="Times New Roman" panose="02020603050405020304" pitchFamily="18" charset="0"/>
              <a:ea typeface="微软雅黑" panose="020B0503020204020204" charset="-122"/>
            </a:endParaRPr>
          </a:p>
          <a:p>
            <a:pPr indent="457200" algn="just" defTabSz="266700" fontAlgn="auto">
              <a:lnSpc>
                <a:spcPct val="125000"/>
              </a:lnSpc>
              <a:spcBef>
                <a:spcPct val="0"/>
              </a:spcBef>
              <a:spcAft>
                <a:spcPct val="0"/>
              </a:spcAft>
            </a:pPr>
            <a:r>
              <a:rPr lang="zh-CN" altLang="en-US" sz="2000" dirty="0">
                <a:solidFill>
                  <a:schemeClr val="tx1"/>
                </a:solidFill>
                <a:uFillTx/>
                <a:latin typeface="Times New Roman" panose="02020603050405020304" pitchFamily="18" charset="0"/>
                <a:ea typeface="微软雅黑" panose="020B0503020204020204" charset="-122"/>
              </a:rPr>
              <a:t>在得到任意两点的距离之后，可以通过</a:t>
            </a:r>
            <a:r>
              <a:rPr lang="en-US" altLang="zh-CN" sz="2000" dirty="0">
                <a:solidFill>
                  <a:schemeClr val="tx1"/>
                </a:solidFill>
                <a:uFillTx/>
                <a:latin typeface="Times New Roman" panose="02020603050405020304" pitchFamily="18" charset="0"/>
                <a:ea typeface="微软雅黑" panose="020B0503020204020204" charset="-122"/>
              </a:rPr>
              <a:t>MDS</a:t>
            </a:r>
            <a:r>
              <a:rPr lang="zh-CN" altLang="en-US" sz="2000" dirty="0">
                <a:solidFill>
                  <a:schemeClr val="tx1"/>
                </a:solidFill>
                <a:uFillTx/>
                <a:latin typeface="Times New Roman" panose="02020603050405020304" pitchFamily="18" charset="0"/>
                <a:ea typeface="微软雅黑" panose="020B0503020204020204" charset="-122"/>
              </a:rPr>
              <a:t>算法来获得数据点在低维空间中的坐标。</a:t>
            </a:r>
          </a:p>
        </p:txBody>
      </p:sp>
      <p:pic>
        <p:nvPicPr>
          <p:cNvPr id="6" name="图片 5" descr="4"/>
          <p:cNvPicPr>
            <a:picLocks noChangeAspect="1"/>
          </p:cNvPicPr>
          <p:nvPr/>
        </p:nvPicPr>
        <p:blipFill>
          <a:blip r:embed="rId3">
            <a:clrChange>
              <a:clrFrom>
                <a:srgbClr val="FFFFFF">
                  <a:alpha val="100000"/>
                </a:srgbClr>
              </a:clrFrom>
              <a:clrTo>
                <a:srgbClr val="FFFFFF">
                  <a:alpha val="100000"/>
                  <a:alpha val="0"/>
                </a:srgbClr>
              </a:clrTo>
            </a:clrChange>
          </a:blip>
          <a:srcRect t="13635" b="7721"/>
          <a:stretch>
            <a:fillRect/>
          </a:stretch>
        </p:blipFill>
        <p:spPr>
          <a:xfrm>
            <a:off x="2185477" y="3196244"/>
            <a:ext cx="7637780" cy="32480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实践案例：基于等距特征映射的</a:t>
            </a:r>
            <a:r>
              <a:rPr lang="en-US" altLang="zh-CN" sz="3200" dirty="0">
                <a:solidFill>
                  <a:srgbClr val="FFFF00"/>
                </a:solidFill>
                <a:latin typeface="华光综艺_CNKI" panose="02000500000000000000" pitchFamily="2" charset="-122"/>
                <a:ea typeface="华光综艺_CNKI" panose="02000500000000000000" pitchFamily="2" charset="-122"/>
              </a:rPr>
              <a:t>S</a:t>
            </a:r>
            <a:r>
              <a:rPr lang="zh-CN" altLang="en-US" sz="3200" dirty="0">
                <a:solidFill>
                  <a:srgbClr val="FFFF00"/>
                </a:solidFill>
                <a:latin typeface="华光综艺_CNKI" panose="02000500000000000000" pitchFamily="2" charset="-122"/>
                <a:ea typeface="华光综艺_CNKI" panose="02000500000000000000" pitchFamily="2" charset="-122"/>
              </a:rPr>
              <a:t>状流形模型降维</a:t>
            </a:r>
          </a:p>
        </p:txBody>
      </p:sp>
      <p:pic>
        <p:nvPicPr>
          <p:cNvPr id="4" name="图片 3" descr="6"/>
          <p:cNvPicPr>
            <a:picLocks noChangeAspect="1"/>
          </p:cNvPicPr>
          <p:nvPr/>
        </p:nvPicPr>
        <p:blipFill>
          <a:blip r:embed="rId3">
            <a:clrChange>
              <a:clrFrom>
                <a:srgbClr val="FFFFFF">
                  <a:alpha val="100000"/>
                </a:srgbClr>
              </a:clrFrom>
              <a:clrTo>
                <a:srgbClr val="FFFFFF">
                  <a:alpha val="100000"/>
                  <a:alpha val="0"/>
                </a:srgbClr>
              </a:clrTo>
            </a:clrChange>
          </a:blip>
          <a:srcRect l="3414" t="16130" r="5031" b="7028"/>
          <a:stretch>
            <a:fillRect/>
          </a:stretch>
        </p:blipFill>
        <p:spPr>
          <a:xfrm>
            <a:off x="548643" y="2624196"/>
            <a:ext cx="4949826" cy="4327111"/>
          </a:xfrm>
          <a:prstGeom prst="rect">
            <a:avLst/>
          </a:prstGeom>
        </p:spPr>
      </p:pic>
      <p:sp>
        <p:nvSpPr>
          <p:cNvPr id="5" name="文本框 4"/>
          <p:cNvSpPr txBox="1"/>
          <p:nvPr/>
        </p:nvSpPr>
        <p:spPr>
          <a:xfrm>
            <a:off x="264016" y="1201434"/>
            <a:ext cx="5573367" cy="1422762"/>
          </a:xfrm>
          <a:prstGeom prst="rect">
            <a:avLst/>
          </a:prstGeom>
        </p:spPr>
        <p:txBody>
          <a:bodyPr wrap="square">
            <a:spAutoFit/>
          </a:bodyPr>
          <a:lstStyle/>
          <a:p>
            <a:pPr indent="0" algn="just" defTabSz="266700" fontAlgn="auto">
              <a:lnSpc>
                <a:spcPct val="150000"/>
              </a:lnSpc>
              <a:spcBef>
                <a:spcPct val="0"/>
              </a:spcBef>
              <a:spcAft>
                <a:spcPct val="0"/>
              </a:spcAft>
            </a:pPr>
            <a:r>
              <a:rPr lang="zh-CN" altLang="en-US" sz="2000" dirty="0">
                <a:solidFill>
                  <a:schemeClr val="tx1"/>
                </a:solidFill>
                <a:uFillTx/>
                <a:latin typeface="Times New Roman" panose="02020603050405020304" pitchFamily="18" charset="0"/>
                <a:ea typeface="微软雅黑" panose="020B0503020204020204" charset="-122"/>
              </a:rPr>
              <a:t>     本案例中，对前文中提到的</a:t>
            </a:r>
            <a:r>
              <a:rPr lang="en-US" altLang="zh-CN" sz="2000" dirty="0">
                <a:solidFill>
                  <a:schemeClr val="tx1"/>
                </a:solidFill>
                <a:uFillTx/>
                <a:latin typeface="Times New Roman" panose="02020603050405020304" pitchFamily="18" charset="0"/>
                <a:ea typeface="微软雅黑" panose="020B0503020204020204" charset="-122"/>
              </a:rPr>
              <a:t>Swiss roll</a:t>
            </a:r>
            <a:r>
              <a:rPr lang="zh-CN" altLang="en-US" sz="2000" dirty="0">
                <a:solidFill>
                  <a:schemeClr val="tx1"/>
                </a:solidFill>
                <a:uFillTx/>
                <a:latin typeface="Times New Roman" panose="02020603050405020304" pitchFamily="18" charset="0"/>
                <a:ea typeface="微软雅黑" panose="020B0503020204020204" charset="-122"/>
              </a:rPr>
              <a:t>数据集进行降维分析。</a:t>
            </a:r>
            <a:r>
              <a:rPr lang="en-US" altLang="zh-CN" sz="2000" dirty="0">
                <a:solidFill>
                  <a:schemeClr val="tx1"/>
                </a:solidFill>
                <a:uFillTx/>
                <a:latin typeface="Times New Roman" panose="02020603050405020304" pitchFamily="18" charset="0"/>
                <a:ea typeface="微软雅黑" panose="020B0503020204020204" charset="-122"/>
              </a:rPr>
              <a:t>Swiss roll </a:t>
            </a:r>
            <a:r>
              <a:rPr lang="zh-CN" altLang="en-US" sz="2000" dirty="0">
                <a:solidFill>
                  <a:schemeClr val="tx1"/>
                </a:solidFill>
                <a:uFillTx/>
                <a:latin typeface="Times New Roman" panose="02020603050405020304" pitchFamily="18" charset="0"/>
                <a:ea typeface="微软雅黑" panose="020B0503020204020204" charset="-122"/>
              </a:rPr>
              <a:t>数据集是一个经典的二维流形数据集，在三维空间中具有螺旋状的结构。</a:t>
            </a:r>
          </a:p>
        </p:txBody>
      </p:sp>
      <p:sp>
        <p:nvSpPr>
          <p:cNvPr id="6" name="矩形 5"/>
          <p:cNvSpPr/>
          <p:nvPr/>
        </p:nvSpPr>
        <p:spPr>
          <a:xfrm>
            <a:off x="240202" y="1077595"/>
            <a:ext cx="5652598" cy="1619423"/>
          </a:xfrm>
          <a:prstGeom prst="rect">
            <a:avLst/>
          </a:prstGeom>
          <a:ln>
            <a:solidFill>
              <a:schemeClr val="accent1">
                <a:lumMod val="60000"/>
                <a:lumOff val="40000"/>
              </a:schemeClr>
            </a:solidFill>
          </a:ln>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9" name="图片 8"/>
          <p:cNvPicPr>
            <a:picLocks noChangeAspect="1"/>
          </p:cNvPicPr>
          <p:nvPr/>
        </p:nvPicPr>
        <p:blipFill>
          <a:blip r:embed="rId4"/>
          <a:srcRect r="24291"/>
          <a:stretch>
            <a:fillRect/>
          </a:stretch>
        </p:blipFill>
        <p:spPr>
          <a:xfrm>
            <a:off x="6096000" y="1077594"/>
            <a:ext cx="5054600" cy="2294890"/>
          </a:xfrm>
          <a:prstGeom prst="rect">
            <a:avLst/>
          </a:prstGeom>
        </p:spPr>
      </p:pic>
      <p:pic>
        <p:nvPicPr>
          <p:cNvPr id="11" name="图片 10"/>
          <p:cNvPicPr>
            <a:picLocks noChangeAspect="1"/>
          </p:cNvPicPr>
          <p:nvPr/>
        </p:nvPicPr>
        <p:blipFill>
          <a:blip r:embed="rId5"/>
          <a:stretch>
            <a:fillRect/>
          </a:stretch>
        </p:blipFill>
        <p:spPr>
          <a:xfrm>
            <a:off x="6149975" y="3485516"/>
            <a:ext cx="5698760" cy="314249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实践案例：基于等距特征映射的</a:t>
            </a:r>
            <a:r>
              <a:rPr lang="en-US" altLang="zh-CN" sz="3200" dirty="0">
                <a:solidFill>
                  <a:srgbClr val="FFFF00"/>
                </a:solidFill>
                <a:latin typeface="华光综艺_CNKI" panose="02000500000000000000" pitchFamily="2" charset="-122"/>
                <a:ea typeface="华光综艺_CNKI" panose="02000500000000000000" pitchFamily="2" charset="-122"/>
              </a:rPr>
              <a:t>S</a:t>
            </a:r>
            <a:r>
              <a:rPr lang="zh-CN" altLang="en-US" sz="3200" dirty="0">
                <a:solidFill>
                  <a:srgbClr val="FFFF00"/>
                </a:solidFill>
                <a:latin typeface="华光综艺_CNKI" panose="02000500000000000000" pitchFamily="2" charset="-122"/>
                <a:ea typeface="华光综艺_CNKI" panose="02000500000000000000" pitchFamily="2" charset="-122"/>
              </a:rPr>
              <a:t>状流形模型降维</a:t>
            </a:r>
          </a:p>
        </p:txBody>
      </p:sp>
      <p:pic>
        <p:nvPicPr>
          <p:cNvPr id="22" name="图片 22" descr="64cb356f030bdf9085f23da5e3562c1"/>
          <p:cNvPicPr>
            <a:picLocks noChangeAspect="1"/>
          </p:cNvPicPr>
          <p:nvPr/>
        </p:nvPicPr>
        <p:blipFill>
          <a:blip r:embed="rId3"/>
          <a:srcRect l="12922" t="8938" r="7764" b="7545"/>
          <a:stretch>
            <a:fillRect/>
          </a:stretch>
        </p:blipFill>
        <p:spPr>
          <a:xfrm>
            <a:off x="1565411" y="2767176"/>
            <a:ext cx="9021912" cy="4158332"/>
          </a:xfrm>
          <a:prstGeom prst="rect">
            <a:avLst/>
          </a:prstGeom>
        </p:spPr>
      </p:pic>
      <p:sp>
        <p:nvSpPr>
          <p:cNvPr id="6" name="文本框 5"/>
          <p:cNvSpPr txBox="1"/>
          <p:nvPr/>
        </p:nvSpPr>
        <p:spPr>
          <a:xfrm>
            <a:off x="320954" y="1226188"/>
            <a:ext cx="11510827" cy="1705210"/>
          </a:xfrm>
          <a:prstGeom prst="rect">
            <a:avLst/>
          </a:prstGeom>
        </p:spPr>
        <p:txBody>
          <a:bodyPr wrap="square">
            <a:spAutoFit/>
          </a:bodyPr>
          <a:lstStyle/>
          <a:p>
            <a:pPr indent="0" algn="just" defTabSz="266700" fontAlgn="auto">
              <a:lnSpc>
                <a:spcPct val="150000"/>
              </a:lnSpc>
              <a:spcBef>
                <a:spcPct val="0"/>
              </a:spcBef>
              <a:spcAft>
                <a:spcPct val="0"/>
              </a:spcAft>
            </a:pPr>
            <a:r>
              <a:rPr lang="zh-CN" altLang="en-US" dirty="0">
                <a:solidFill>
                  <a:schemeClr val="tx1"/>
                </a:solidFill>
                <a:uFillTx/>
                <a:latin typeface="Times New Roman" panose="02020603050405020304"/>
                <a:ea typeface="微软雅黑" panose="020B0503020204020204" charset="-122"/>
              </a:rPr>
              <a:t>     通过降维前后对比可以发现，</a:t>
            </a:r>
            <a:r>
              <a:rPr lang="en-US" altLang="zh-CN" dirty="0" err="1">
                <a:solidFill>
                  <a:schemeClr val="tx1"/>
                </a:solidFill>
                <a:uFillTx/>
                <a:latin typeface="Times New Roman" panose="02020603050405020304"/>
                <a:ea typeface="微软雅黑" panose="020B0503020204020204" charset="-122"/>
              </a:rPr>
              <a:t>IsoMap</a:t>
            </a:r>
            <a:r>
              <a:rPr lang="zh-CN" altLang="en-US" dirty="0">
                <a:solidFill>
                  <a:schemeClr val="tx1"/>
                </a:solidFill>
                <a:uFillTx/>
                <a:latin typeface="Times New Roman" panose="02020603050405020304"/>
                <a:ea typeface="微软雅黑" panose="020B0503020204020204" charset="-122"/>
              </a:rPr>
              <a:t>算法对</a:t>
            </a:r>
            <a:r>
              <a:rPr lang="en-US" altLang="zh-CN" dirty="0">
                <a:solidFill>
                  <a:schemeClr val="tx1"/>
                </a:solidFill>
                <a:uFillTx/>
                <a:latin typeface="Times New Roman" panose="02020603050405020304"/>
                <a:ea typeface="微软雅黑" panose="020B0503020204020204" charset="-122"/>
              </a:rPr>
              <a:t>S</a:t>
            </a:r>
            <a:r>
              <a:rPr lang="zh-CN" altLang="en-US" dirty="0">
                <a:solidFill>
                  <a:schemeClr val="tx1"/>
                </a:solidFill>
                <a:uFillTx/>
                <a:latin typeface="Times New Roman" panose="02020603050405020304"/>
                <a:ea typeface="微软雅黑" panose="020B0503020204020204" charset="-122"/>
              </a:rPr>
              <a:t>状流形模型的降维效果较好，能够将不同类别的数据集进行有效的分离，几乎不存在重叠。</a:t>
            </a:r>
            <a:endParaRPr lang="en-US" altLang="zh-CN" dirty="0">
              <a:solidFill>
                <a:schemeClr val="tx1"/>
              </a:solidFill>
              <a:uFillTx/>
              <a:latin typeface="Times New Roman" panose="02020603050405020304"/>
              <a:ea typeface="微软雅黑" panose="020B0503020204020204" charset="-122"/>
            </a:endParaRPr>
          </a:p>
          <a:p>
            <a:pPr indent="0" algn="just" defTabSz="266700" fontAlgn="auto">
              <a:lnSpc>
                <a:spcPct val="150000"/>
              </a:lnSpc>
              <a:spcBef>
                <a:spcPct val="0"/>
              </a:spcBef>
              <a:spcAft>
                <a:spcPct val="0"/>
              </a:spcAft>
            </a:pPr>
            <a:r>
              <a:rPr lang="en-US" altLang="zh-CN" dirty="0">
                <a:solidFill>
                  <a:schemeClr val="tx1"/>
                </a:solidFill>
                <a:uFillTx/>
                <a:latin typeface="Times New Roman" panose="02020603050405020304"/>
                <a:ea typeface="微软雅黑" panose="020B0503020204020204" charset="-122"/>
              </a:rPr>
              <a:t>	 </a:t>
            </a:r>
            <a:r>
              <a:rPr lang="zh-CN" altLang="en-US" dirty="0">
                <a:solidFill>
                  <a:schemeClr val="tx1"/>
                </a:solidFill>
                <a:uFillTx/>
                <a:latin typeface="Times New Roman" panose="02020603050405020304"/>
                <a:ea typeface="微软雅黑" panose="020B0503020204020204" charset="-122"/>
              </a:rPr>
              <a:t>这说明</a:t>
            </a:r>
            <a:r>
              <a:rPr lang="en-US" altLang="zh-CN" dirty="0" err="1">
                <a:solidFill>
                  <a:schemeClr val="tx1"/>
                </a:solidFill>
                <a:uFillTx/>
                <a:latin typeface="Times New Roman" panose="02020603050405020304"/>
                <a:ea typeface="微软雅黑" panose="020B0503020204020204" charset="-122"/>
              </a:rPr>
              <a:t>IsoMap</a:t>
            </a:r>
            <a:r>
              <a:rPr lang="zh-CN" altLang="en-US" dirty="0">
                <a:solidFill>
                  <a:schemeClr val="tx1"/>
                </a:solidFill>
                <a:uFillTx/>
                <a:latin typeface="Times New Roman" panose="02020603050405020304"/>
                <a:ea typeface="微软雅黑" panose="020B0503020204020204" charset="-122"/>
              </a:rPr>
              <a:t>算法在保持数据之间相对距离关系的同时，也能够保持不同类别之间的差异性，使得数据点在降维后的空间中更容易区分。</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实践案例：基于等距特征映射的</a:t>
            </a:r>
            <a:r>
              <a:rPr lang="en-US" altLang="zh-CN" sz="3200" dirty="0">
                <a:solidFill>
                  <a:srgbClr val="FFFF00"/>
                </a:solidFill>
                <a:latin typeface="华光综艺_CNKI" panose="02000500000000000000" pitchFamily="2" charset="-122"/>
                <a:ea typeface="华光综艺_CNKI" panose="02000500000000000000" pitchFamily="2" charset="-122"/>
              </a:rPr>
              <a:t>S</a:t>
            </a:r>
            <a:r>
              <a:rPr lang="zh-CN" altLang="en-US" sz="3200" dirty="0">
                <a:solidFill>
                  <a:srgbClr val="FFFF00"/>
                </a:solidFill>
                <a:latin typeface="华光综艺_CNKI" panose="02000500000000000000" pitchFamily="2" charset="-122"/>
                <a:ea typeface="华光综艺_CNKI" panose="02000500000000000000" pitchFamily="2" charset="-122"/>
              </a:rPr>
              <a:t>状流形模型降维</a:t>
            </a:r>
          </a:p>
        </p:txBody>
      </p:sp>
      <p:pic>
        <p:nvPicPr>
          <p:cNvPr id="4" name="图片 3" descr="5">
            <a:extLst>
              <a:ext uri="{FF2B5EF4-FFF2-40B4-BE49-F238E27FC236}">
                <a16:creationId xmlns:a16="http://schemas.microsoft.com/office/drawing/2014/main" id="{F17CC11D-52F7-1A0D-5FD4-C01C61602A7B}"/>
              </a:ext>
            </a:extLst>
          </p:cNvPr>
          <p:cNvPicPr>
            <a:picLocks noChangeAspect="1"/>
          </p:cNvPicPr>
          <p:nvPr/>
        </p:nvPicPr>
        <p:blipFill>
          <a:blip r:embed="rId3">
            <a:clrChange>
              <a:clrFrom>
                <a:srgbClr val="FFFFFF">
                  <a:alpha val="100000"/>
                </a:srgbClr>
              </a:clrFrom>
              <a:clrTo>
                <a:srgbClr val="FFFFFF">
                  <a:alpha val="100000"/>
                  <a:alpha val="0"/>
                </a:srgbClr>
              </a:clrTo>
            </a:clrChange>
          </a:blip>
          <a:srcRect t="6104" b="5291"/>
          <a:stretch>
            <a:fillRect/>
          </a:stretch>
        </p:blipFill>
        <p:spPr>
          <a:xfrm>
            <a:off x="2794000" y="1249003"/>
            <a:ext cx="5709920" cy="51139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1718</TotalTime>
  <Words>980</Words>
  <Application>Microsoft Office PowerPoint</Application>
  <PresentationFormat>宽屏</PresentationFormat>
  <Paragraphs>52</Paragraphs>
  <Slides>12</Slides>
  <Notes>12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等线</vt:lpstr>
      <vt:lpstr>华光综艺_CNKI</vt:lpstr>
      <vt:lpstr>微软雅黑</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wy h</dc:creator>
  <cp:lastModifiedBy>Mengning Wang</cp:lastModifiedBy>
  <cp:revision>185</cp:revision>
  <dcterms:created xsi:type="dcterms:W3CDTF">2019-06-19T02:08:00Z</dcterms:created>
  <dcterms:modified xsi:type="dcterms:W3CDTF">2025-04-18T15:00:12Z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290520E9665F40D5BBE3CCA2763F3BF4_11</vt:lpwstr>
  </property>
</Properties>
</file>