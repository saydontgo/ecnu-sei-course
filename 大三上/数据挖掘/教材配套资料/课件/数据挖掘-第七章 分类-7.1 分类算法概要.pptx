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41"/>
  </p:notesMasterIdLst>
  <p:handoutMasterIdLst>
    <p:handoutMasterId r:id="rId42"/>
  </p:handoutMasterIdLst>
  <p:sldIdLst>
    <p:sldId id="15638" r:id="rId13"/>
    <p:sldId id="15514" r:id="rId14"/>
    <p:sldId id="15517" r:id="rId15"/>
    <p:sldId id="15520" r:id="rId16"/>
    <p:sldId id="15522" r:id="rId17"/>
    <p:sldId id="15557" r:id="rId18"/>
    <p:sldId id="15654" r:id="rId19"/>
    <p:sldId id="15655" r:id="rId20"/>
    <p:sldId id="15656" r:id="rId21"/>
    <p:sldId id="15657" r:id="rId22"/>
    <p:sldId id="15659" r:id="rId23"/>
    <p:sldId id="15660" r:id="rId24"/>
    <p:sldId id="15658" r:id="rId25"/>
    <p:sldId id="15661" r:id="rId26"/>
    <p:sldId id="15662" r:id="rId27"/>
    <p:sldId id="15663" r:id="rId28"/>
    <p:sldId id="15664" r:id="rId29"/>
    <p:sldId id="15671" r:id="rId30"/>
    <p:sldId id="15672" r:id="rId31"/>
    <p:sldId id="15673" r:id="rId32"/>
    <p:sldId id="15674" r:id="rId33"/>
    <p:sldId id="15675" r:id="rId34"/>
    <p:sldId id="15676" r:id="rId35"/>
    <p:sldId id="15677" r:id="rId36"/>
    <p:sldId id="15678" r:id="rId37"/>
    <p:sldId id="15681" r:id="rId38"/>
    <p:sldId id="15679" r:id="rId39"/>
    <p:sldId id="15502" r:id="rId40"/>
  </p:sldIdLst>
  <p:sldSz cx="12192000" cy="6858000"/>
  <p:notesSz cx="6858000" cy="9144000"/>
  <p:custDataLst>
    <p:tags r:id="rId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52" userDrawn="1">
          <p15:clr>
            <a:srgbClr val="A4A3A4"/>
          </p15:clr>
        </p15:guide>
        <p15:guide id="5" orient="horz" pos="243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C0C"/>
    <a:srgbClr val="FFFFFF"/>
    <a:srgbClr val="0066FF"/>
    <a:srgbClr val="7EA4EE"/>
    <a:srgbClr val="00FF00"/>
    <a:srgbClr val="F6F9FE"/>
    <a:srgbClr val="91CF50"/>
    <a:srgbClr val="FF66FF"/>
    <a:srgbClr val="00CCFF"/>
    <a:srgbClr val="0096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p:cViewPr varScale="1">
        <p:scale>
          <a:sx n="40" d="100"/>
          <a:sy n="40" d="100"/>
        </p:scale>
        <p:origin x="44" y="328"/>
      </p:cViewPr>
      <p:guideLst>
        <p:guide pos="2252"/>
        <p:guide orient="horz" pos="243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3" Type="http://schemas.openxmlformats.org/officeDocument/2006/relationships/slideMaster" Target="slideMasters/slideMaster3.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extLst>
      <p:ext uri="{BB962C8B-B14F-4D97-AF65-F5344CB8AC3E}">
        <p14:creationId xmlns:p14="http://schemas.microsoft.com/office/powerpoint/2010/main" val="4004672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28983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98285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3118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0572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10365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CABCB-845B-468A-DC2B-60CA4F76C0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1F02DE-2044-DB7C-1FCA-B51F48389AF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09EDC00-B175-3796-3D6B-B5A5763B202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E47B98D-DB71-14EF-D3B9-4DB332C967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33787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A255D-7358-7B36-D84D-F9AA9B4E03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BC200D-5F1B-3C31-568E-5ECC094063D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5B27B3-0DE7-7F1C-F5F7-6A7C56AB78F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373A052-D2E3-B431-2A06-ACA3DE2D18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49543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6D965-4913-5416-64C0-A78069474B1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5AB3267-B6BD-D179-5A69-B4FFF2F42EB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8CD4B6-53A8-4446-277F-C1FC39EA4F0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02E2111-6659-3484-D0D8-3EE70B952C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77494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248B9-71BA-5F59-C75D-4A154E6E88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7F943A-2267-27C3-3780-EF64A8D43E9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999DFE-C77C-4D94-CDA3-8E8AC14BEF9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987B5AE-4F9E-F532-62B1-8B4DDFCF6E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811489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F341C-9916-FCD4-0BC6-9E99A2B380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EDA008-D225-AF8A-2058-11B9B1DF3A3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0E6CD39-FA87-3A68-6B29-E08F351CD8B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43EB92D-79F3-D888-136B-AB4DC4896F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92962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3D64E-6706-13A5-1F28-3B139F9DCA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483AEC-5D84-BA4A-890E-20213329F04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3A7D85F-3A19-9892-A7A7-7C1823FA08E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A6607E4-D659-A4C8-E3DC-DC9AB0291D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72130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13</a:t>
            </a:fld>
            <a:endParaRPr lang="zh-CN" altLang="en-US"/>
          </a:p>
        </p:txBody>
      </p:sp>
    </p:spTree>
    <p:extLst>
      <p:ext uri="{BB962C8B-B14F-4D97-AF65-F5344CB8AC3E}">
        <p14:creationId xmlns:p14="http://schemas.microsoft.com/office/powerpoint/2010/main" val="857954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7C69A-4DA9-BFB8-4F21-39D3F996DD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D56442-235D-9BFE-3468-C82E79A3A8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40320CE-EBF2-00F4-84F9-D4AB877ADD1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ADC8AB3-789C-468D-27E0-FF5F0B6BA046}"/>
              </a:ext>
            </a:extLst>
          </p:cNvPr>
          <p:cNvSpPr>
            <a:spLocks noGrp="1"/>
          </p:cNvSpPr>
          <p:nvPr>
            <p:ph type="sldNum" sz="quarter" idx="5"/>
          </p:nvPr>
        </p:nvSpPr>
        <p:spPr/>
        <p:txBody>
          <a:bodyPr/>
          <a:lstStyle/>
          <a:p>
            <a:fld id="{496F833C-0931-4030-8352-AFD9186768B5}" type="slidenum">
              <a:rPr lang="zh-CN" altLang="en-US" smtClean="0"/>
              <a:t>14</a:t>
            </a:fld>
            <a:endParaRPr lang="zh-CN" altLang="en-US"/>
          </a:p>
        </p:txBody>
      </p:sp>
    </p:spTree>
    <p:extLst>
      <p:ext uri="{BB962C8B-B14F-4D97-AF65-F5344CB8AC3E}">
        <p14:creationId xmlns:p14="http://schemas.microsoft.com/office/powerpoint/2010/main" val="3873159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74FC5-6EC4-43A4-3144-E8A4913AC7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F5332C-F837-38A5-3FA9-9E26905C220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E6857DF-FE50-23CB-9255-13054D1D329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5F6392C-E3FE-A64F-27FC-91E493A02DF1}"/>
              </a:ext>
            </a:extLst>
          </p:cNvPr>
          <p:cNvSpPr>
            <a:spLocks noGrp="1"/>
          </p:cNvSpPr>
          <p:nvPr>
            <p:ph type="sldNum" sz="quarter" idx="5"/>
          </p:nvPr>
        </p:nvSpPr>
        <p:spPr/>
        <p:txBody>
          <a:bodyPr/>
          <a:lstStyle/>
          <a:p>
            <a:fld id="{496F833C-0931-4030-8352-AFD9186768B5}" type="slidenum">
              <a:rPr lang="zh-CN" altLang="en-US" smtClean="0"/>
              <a:t>15</a:t>
            </a:fld>
            <a:endParaRPr lang="zh-CN" altLang="en-US"/>
          </a:p>
        </p:txBody>
      </p:sp>
    </p:spTree>
    <p:extLst>
      <p:ext uri="{BB962C8B-B14F-4D97-AF65-F5344CB8AC3E}">
        <p14:creationId xmlns:p14="http://schemas.microsoft.com/office/powerpoint/2010/main" val="8657711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5D4A8-3A83-4DCC-F6CE-A983589853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087065-6A9A-374C-CCCD-EEC5EDE33E2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72E3746-F0D5-14A9-203D-F5988F9436D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4B6B5C8-3E1F-433F-B854-D384B4F8DFB2}"/>
              </a:ext>
            </a:extLst>
          </p:cNvPr>
          <p:cNvSpPr>
            <a:spLocks noGrp="1"/>
          </p:cNvSpPr>
          <p:nvPr>
            <p:ph type="sldNum" sz="quarter" idx="5"/>
          </p:nvPr>
        </p:nvSpPr>
        <p:spPr/>
        <p:txBody>
          <a:bodyPr/>
          <a:lstStyle/>
          <a:p>
            <a:fld id="{496F833C-0931-4030-8352-AFD9186768B5}" type="slidenum">
              <a:rPr lang="zh-CN" altLang="en-US" smtClean="0"/>
              <a:t>16</a:t>
            </a:fld>
            <a:endParaRPr lang="zh-CN" altLang="en-US"/>
          </a:p>
        </p:txBody>
      </p:sp>
    </p:spTree>
    <p:extLst>
      <p:ext uri="{BB962C8B-B14F-4D97-AF65-F5344CB8AC3E}">
        <p14:creationId xmlns:p14="http://schemas.microsoft.com/office/powerpoint/2010/main" val="14525850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24017-856A-5D12-FD22-DD80F812D6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FB4399-E244-34AB-6665-90C507AF39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BEBE77-F8A4-9DF6-59E7-0639EF42581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D4CA4C2-31A1-0235-5BC2-66D4D41273A6}"/>
              </a:ext>
            </a:extLst>
          </p:cNvPr>
          <p:cNvSpPr>
            <a:spLocks noGrp="1"/>
          </p:cNvSpPr>
          <p:nvPr>
            <p:ph type="sldNum" sz="quarter" idx="5"/>
          </p:nvPr>
        </p:nvSpPr>
        <p:spPr/>
        <p:txBody>
          <a:bodyPr/>
          <a:lstStyle/>
          <a:p>
            <a:fld id="{496F833C-0931-4030-8352-AFD9186768B5}" type="slidenum">
              <a:rPr lang="zh-CN" altLang="en-US" smtClean="0"/>
              <a:t>17</a:t>
            </a:fld>
            <a:endParaRPr lang="zh-CN" altLang="en-US"/>
          </a:p>
        </p:txBody>
      </p:sp>
    </p:spTree>
    <p:extLst>
      <p:ext uri="{BB962C8B-B14F-4D97-AF65-F5344CB8AC3E}">
        <p14:creationId xmlns:p14="http://schemas.microsoft.com/office/powerpoint/2010/main" val="30773937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5601A-297B-8F46-9B06-AD12574721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B810E4-EA85-118B-F924-4779637C1EE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948CAD-E444-7F98-F32F-9ED13F8542E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22D1206-9290-FB38-38DC-2DEDE65C672E}"/>
              </a:ext>
            </a:extLst>
          </p:cNvPr>
          <p:cNvSpPr>
            <a:spLocks noGrp="1"/>
          </p:cNvSpPr>
          <p:nvPr>
            <p:ph type="sldNum" sz="quarter" idx="5"/>
          </p:nvPr>
        </p:nvSpPr>
        <p:spPr/>
        <p:txBody>
          <a:bodyPr/>
          <a:lstStyle/>
          <a:p>
            <a:fld id="{496F833C-0931-4030-8352-AFD9186768B5}" type="slidenum">
              <a:rPr lang="zh-CN" altLang="en-US" smtClean="0"/>
              <a:t>18</a:t>
            </a:fld>
            <a:endParaRPr lang="zh-CN" altLang="en-US"/>
          </a:p>
        </p:txBody>
      </p:sp>
    </p:spTree>
    <p:extLst>
      <p:ext uri="{BB962C8B-B14F-4D97-AF65-F5344CB8AC3E}">
        <p14:creationId xmlns:p14="http://schemas.microsoft.com/office/powerpoint/2010/main" val="10697964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3D106-BC33-E38D-47E7-C0BD34E1A0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01D011-CC7A-05F9-6E0B-472B35318D0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974C75-BCC3-2BD2-D0B6-454FEEC20D7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E6A6E83-07C9-37D3-4A73-94C92F67C516}"/>
              </a:ext>
            </a:extLst>
          </p:cNvPr>
          <p:cNvSpPr>
            <a:spLocks noGrp="1"/>
          </p:cNvSpPr>
          <p:nvPr>
            <p:ph type="sldNum" sz="quarter" idx="5"/>
          </p:nvPr>
        </p:nvSpPr>
        <p:spPr/>
        <p:txBody>
          <a:bodyPr/>
          <a:lstStyle/>
          <a:p>
            <a:fld id="{496F833C-0931-4030-8352-AFD9186768B5}" type="slidenum">
              <a:rPr lang="zh-CN" altLang="en-US" smtClean="0"/>
              <a:t>19</a:t>
            </a:fld>
            <a:endParaRPr lang="zh-CN" altLang="en-US"/>
          </a:p>
        </p:txBody>
      </p:sp>
    </p:spTree>
    <p:extLst>
      <p:ext uri="{BB962C8B-B14F-4D97-AF65-F5344CB8AC3E}">
        <p14:creationId xmlns:p14="http://schemas.microsoft.com/office/powerpoint/2010/main" val="33186605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564B8-048A-2DD4-D5D2-63616407B9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118BBE8-37C7-5B4D-A959-450E440AF78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FEC1495-566F-C603-5E2D-ECF06DE06D1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DEABAB-55B9-6E28-B61B-526B9005FB39}"/>
              </a:ext>
            </a:extLst>
          </p:cNvPr>
          <p:cNvSpPr>
            <a:spLocks noGrp="1"/>
          </p:cNvSpPr>
          <p:nvPr>
            <p:ph type="sldNum" sz="quarter" idx="5"/>
          </p:nvPr>
        </p:nvSpPr>
        <p:spPr/>
        <p:txBody>
          <a:bodyPr/>
          <a:lstStyle/>
          <a:p>
            <a:fld id="{496F833C-0931-4030-8352-AFD9186768B5}" type="slidenum">
              <a:rPr lang="zh-CN" altLang="en-US" smtClean="0"/>
              <a:t>20</a:t>
            </a:fld>
            <a:endParaRPr lang="zh-CN" altLang="en-US"/>
          </a:p>
        </p:txBody>
      </p:sp>
    </p:spTree>
    <p:extLst>
      <p:ext uri="{BB962C8B-B14F-4D97-AF65-F5344CB8AC3E}">
        <p14:creationId xmlns:p14="http://schemas.microsoft.com/office/powerpoint/2010/main" val="38065905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DCC09-E3B0-E48F-0154-6E3489B403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DBFBC6-CE91-3E8B-E217-BB17BA42CA6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D34AA0-C602-2056-114A-8BE8987F91F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93EF9A0-5E2F-56D3-6BE0-A61A48032CBF}"/>
              </a:ext>
            </a:extLst>
          </p:cNvPr>
          <p:cNvSpPr>
            <a:spLocks noGrp="1"/>
          </p:cNvSpPr>
          <p:nvPr>
            <p:ph type="sldNum" sz="quarter" idx="5"/>
          </p:nvPr>
        </p:nvSpPr>
        <p:spPr/>
        <p:txBody>
          <a:bodyPr/>
          <a:lstStyle/>
          <a:p>
            <a:fld id="{496F833C-0931-4030-8352-AFD9186768B5}" type="slidenum">
              <a:rPr lang="zh-CN" altLang="en-US" smtClean="0"/>
              <a:t>21</a:t>
            </a:fld>
            <a:endParaRPr lang="zh-CN" altLang="en-US"/>
          </a:p>
        </p:txBody>
      </p:sp>
    </p:spTree>
    <p:extLst>
      <p:ext uri="{BB962C8B-B14F-4D97-AF65-F5344CB8AC3E}">
        <p14:creationId xmlns:p14="http://schemas.microsoft.com/office/powerpoint/2010/main" val="5773952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A976F-CEF6-3079-03D4-928AE6974D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859162-1EA9-A005-7193-18C9EF1A49A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13A6B8-AA25-BC1B-9BB9-D371B4B06D1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67A0A6C-9170-1715-5564-CBE84DC6CEA3}"/>
              </a:ext>
            </a:extLst>
          </p:cNvPr>
          <p:cNvSpPr>
            <a:spLocks noGrp="1"/>
          </p:cNvSpPr>
          <p:nvPr>
            <p:ph type="sldNum" sz="quarter" idx="5"/>
          </p:nvPr>
        </p:nvSpPr>
        <p:spPr/>
        <p:txBody>
          <a:bodyPr/>
          <a:lstStyle/>
          <a:p>
            <a:fld id="{496F833C-0931-4030-8352-AFD9186768B5}" type="slidenum">
              <a:rPr lang="zh-CN" altLang="en-US" smtClean="0"/>
              <a:t>22</a:t>
            </a:fld>
            <a:endParaRPr lang="zh-CN" altLang="en-US"/>
          </a:p>
        </p:txBody>
      </p:sp>
    </p:spTree>
    <p:extLst>
      <p:ext uri="{BB962C8B-B14F-4D97-AF65-F5344CB8AC3E}">
        <p14:creationId xmlns:p14="http://schemas.microsoft.com/office/powerpoint/2010/main" val="42316531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D4332-5701-2B27-D6E6-6132C02D20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73F7C4-71AE-9A1B-5946-F01B224435E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3085A9-0BC3-67E3-D92E-0FF48799F57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8572425-A73F-85DF-ED27-FC4ADF838B04}"/>
              </a:ext>
            </a:extLst>
          </p:cNvPr>
          <p:cNvSpPr>
            <a:spLocks noGrp="1"/>
          </p:cNvSpPr>
          <p:nvPr>
            <p:ph type="sldNum" sz="quarter" idx="5"/>
          </p:nvPr>
        </p:nvSpPr>
        <p:spPr/>
        <p:txBody>
          <a:bodyPr/>
          <a:lstStyle/>
          <a:p>
            <a:fld id="{496F833C-0931-4030-8352-AFD9186768B5}" type="slidenum">
              <a:rPr lang="zh-CN" altLang="en-US" smtClean="0"/>
              <a:t>23</a:t>
            </a:fld>
            <a:endParaRPr lang="zh-CN" altLang="en-US"/>
          </a:p>
        </p:txBody>
      </p:sp>
    </p:spTree>
    <p:extLst>
      <p:ext uri="{BB962C8B-B14F-4D97-AF65-F5344CB8AC3E}">
        <p14:creationId xmlns:p14="http://schemas.microsoft.com/office/powerpoint/2010/main" val="4735575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8D0F0-4A69-7F39-5E68-4E8A5660D0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0B4059-9D9D-6F70-17DA-5DCF278359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D3DDBBE-B6C8-351B-32A1-42BC859FF41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08C9F94-20F0-3CB5-DAF7-2669FC0564CD}"/>
              </a:ext>
            </a:extLst>
          </p:cNvPr>
          <p:cNvSpPr>
            <a:spLocks noGrp="1"/>
          </p:cNvSpPr>
          <p:nvPr>
            <p:ph type="sldNum" sz="quarter" idx="5"/>
          </p:nvPr>
        </p:nvSpPr>
        <p:spPr/>
        <p:txBody>
          <a:bodyPr/>
          <a:lstStyle/>
          <a:p>
            <a:fld id="{496F833C-0931-4030-8352-AFD9186768B5}" type="slidenum">
              <a:rPr lang="zh-CN" altLang="en-US" smtClean="0"/>
              <a:t>24</a:t>
            </a:fld>
            <a:endParaRPr lang="zh-CN" altLang="en-US"/>
          </a:p>
        </p:txBody>
      </p:sp>
    </p:spTree>
    <p:extLst>
      <p:ext uri="{BB962C8B-B14F-4D97-AF65-F5344CB8AC3E}">
        <p14:creationId xmlns:p14="http://schemas.microsoft.com/office/powerpoint/2010/main" val="10258542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7FFEE-FCC6-AF3E-0E8E-A9179B3B97F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FBA7CA0-AF5A-C715-4872-9D81758730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320AFD-D1D2-21CD-7E12-3B28842BBCB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B5FD155-887F-4563-500D-4925195858EB}"/>
              </a:ext>
            </a:extLst>
          </p:cNvPr>
          <p:cNvSpPr>
            <a:spLocks noGrp="1"/>
          </p:cNvSpPr>
          <p:nvPr>
            <p:ph type="sldNum" sz="quarter" idx="5"/>
          </p:nvPr>
        </p:nvSpPr>
        <p:spPr/>
        <p:txBody>
          <a:bodyPr/>
          <a:lstStyle/>
          <a:p>
            <a:fld id="{496F833C-0931-4030-8352-AFD9186768B5}" type="slidenum">
              <a:rPr lang="zh-CN" altLang="en-US" smtClean="0"/>
              <a:t>25</a:t>
            </a:fld>
            <a:endParaRPr lang="zh-CN" altLang="en-US"/>
          </a:p>
        </p:txBody>
      </p:sp>
    </p:spTree>
    <p:extLst>
      <p:ext uri="{BB962C8B-B14F-4D97-AF65-F5344CB8AC3E}">
        <p14:creationId xmlns:p14="http://schemas.microsoft.com/office/powerpoint/2010/main" val="4946443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90AA4-6051-904C-E7A0-E28ACBC624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575E58-EB62-6980-EBF4-F2E2FB02665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DBD752B-C71D-9123-99E2-FB0CAA92E64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81A73FC-ADFB-1BF5-51A3-A86839BC1EAC}"/>
              </a:ext>
            </a:extLst>
          </p:cNvPr>
          <p:cNvSpPr>
            <a:spLocks noGrp="1"/>
          </p:cNvSpPr>
          <p:nvPr>
            <p:ph type="sldNum" sz="quarter" idx="5"/>
          </p:nvPr>
        </p:nvSpPr>
        <p:spPr/>
        <p:txBody>
          <a:bodyPr/>
          <a:lstStyle/>
          <a:p>
            <a:fld id="{496F833C-0931-4030-8352-AFD9186768B5}" type="slidenum">
              <a:rPr lang="zh-CN" altLang="en-US" smtClean="0"/>
              <a:t>26</a:t>
            </a:fld>
            <a:endParaRPr lang="zh-CN" altLang="en-US"/>
          </a:p>
        </p:txBody>
      </p:sp>
    </p:spTree>
    <p:extLst>
      <p:ext uri="{BB962C8B-B14F-4D97-AF65-F5344CB8AC3E}">
        <p14:creationId xmlns:p14="http://schemas.microsoft.com/office/powerpoint/2010/main" val="24262750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80707-E9D7-0DE2-D897-539009F08F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3E4CFF-8FD5-A4A4-0DC8-BC2AF5C9B4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EB9765-A520-BF42-95E9-64E958D91D4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4631DDC-6C68-B7D9-A51A-FCA4C90C6606}"/>
              </a:ext>
            </a:extLst>
          </p:cNvPr>
          <p:cNvSpPr>
            <a:spLocks noGrp="1"/>
          </p:cNvSpPr>
          <p:nvPr>
            <p:ph type="sldNum" sz="quarter" idx="5"/>
          </p:nvPr>
        </p:nvSpPr>
        <p:spPr/>
        <p:txBody>
          <a:bodyPr/>
          <a:lstStyle/>
          <a:p>
            <a:fld id="{496F833C-0931-4030-8352-AFD9186768B5}" type="slidenum">
              <a:rPr lang="zh-CN" altLang="en-US" smtClean="0"/>
              <a:t>27</a:t>
            </a:fld>
            <a:endParaRPr lang="zh-CN" altLang="en-US"/>
          </a:p>
        </p:txBody>
      </p:sp>
    </p:spTree>
    <p:extLst>
      <p:ext uri="{BB962C8B-B14F-4D97-AF65-F5344CB8AC3E}">
        <p14:creationId xmlns:p14="http://schemas.microsoft.com/office/powerpoint/2010/main" val="8774754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4/15/2025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4/15/2025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2025/4/15</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7.wmf"/></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0.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1.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2.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3.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4.wmf"/></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6.svg"/></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6.svg"/></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7.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31EE7F6-A51F-0046-8E66-194F58D39CB4}"/>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7.1</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分类算法概要</a:t>
            </a:r>
            <a:endParaRPr lang="en-US" altLang="zh-CN" b="0" dirty="0">
              <a:ea typeface="华光综艺_CNKI" panose="02000500000000000000" pitchFamily="2" charset="-122"/>
            </a:endParaRPr>
          </a:p>
        </p:txBody>
      </p:sp>
    </p:spTree>
    <p:extLst>
      <p:ext uri="{BB962C8B-B14F-4D97-AF65-F5344CB8AC3E}">
        <p14:creationId xmlns:p14="http://schemas.microsoft.com/office/powerpoint/2010/main" val="38309531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a:extLst>
              <a:ext uri="{FF2B5EF4-FFF2-40B4-BE49-F238E27FC236}">
                <a16:creationId xmlns:a16="http://schemas.microsoft.com/office/drawing/2014/main" id="{6B38C06D-19C3-6A22-3002-80727C8B799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经典分类问题</a:t>
            </a:r>
          </a:p>
        </p:txBody>
      </p:sp>
      <p:sp>
        <p:nvSpPr>
          <p:cNvPr id="151" name="矩形: 圆角 55">
            <a:extLst>
              <a:ext uri="{FF2B5EF4-FFF2-40B4-BE49-F238E27FC236}">
                <a16:creationId xmlns:a16="http://schemas.microsoft.com/office/drawing/2014/main" id="{B255021A-6CD7-B531-6635-CD81093D31BA}"/>
              </a:ext>
            </a:extLst>
          </p:cNvPr>
          <p:cNvSpPr/>
          <p:nvPr/>
        </p:nvSpPr>
        <p:spPr>
          <a:xfrm>
            <a:off x="166154" y="1665045"/>
            <a:ext cx="1941122" cy="1038966"/>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09585">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垃圾邮件分类</a:t>
            </a:r>
          </a:p>
        </p:txBody>
      </p:sp>
      <p:sp>
        <p:nvSpPr>
          <p:cNvPr id="156" name="Rectangle 2">
            <a:extLst>
              <a:ext uri="{FF2B5EF4-FFF2-40B4-BE49-F238E27FC236}">
                <a16:creationId xmlns:a16="http://schemas.microsoft.com/office/drawing/2014/main" id="{21A01AC5-97AF-2B3C-3CB2-D474E7E31017}"/>
              </a:ext>
            </a:extLst>
          </p:cNvPr>
          <p:cNvSpPr txBox="1">
            <a:spLocks noChangeArrowheads="1"/>
          </p:cNvSpPr>
          <p:nvPr/>
        </p:nvSpPr>
        <p:spPr>
          <a:xfrm>
            <a:off x="314987" y="3814355"/>
            <a:ext cx="2911539" cy="87379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r>
              <a:rPr lang="zh-CN" altLang="en-US" sz="2400" dirty="0">
                <a:solidFill>
                  <a:srgbClr val="00CCFF"/>
                </a:solidFill>
                <a:effectLst/>
              </a:rPr>
              <a:t>垃圾邮件？</a:t>
            </a:r>
            <a:endParaRPr lang="en-US" altLang="zh-CN" sz="2400" dirty="0">
              <a:solidFill>
                <a:srgbClr val="00CCFF"/>
              </a:solidFill>
              <a:effectLst/>
            </a:endParaRPr>
          </a:p>
          <a:p>
            <a:endParaRPr lang="en-US" altLang="zh-CN" sz="2400" dirty="0">
              <a:solidFill>
                <a:srgbClr val="00CCFF"/>
              </a:solidFill>
              <a:effectLst/>
            </a:endParaRPr>
          </a:p>
          <a:p>
            <a:r>
              <a:rPr lang="zh-CN" altLang="en-US" sz="2400" dirty="0">
                <a:solidFill>
                  <a:srgbClr val="00CCFF"/>
                </a:solidFill>
                <a:effectLst/>
              </a:rPr>
              <a:t>正常邮件？</a:t>
            </a:r>
            <a:endParaRPr lang="en-US" altLang="zh-CN" sz="2400" dirty="0">
              <a:solidFill>
                <a:srgbClr val="00CCFF"/>
              </a:solidFill>
              <a:effectLst/>
            </a:endParaRPr>
          </a:p>
        </p:txBody>
      </p:sp>
      <p:pic>
        <p:nvPicPr>
          <p:cNvPr id="1026" name="Picture 2" descr="Cómo evitar los correos spam y proteger tu bandeja de entrada">
            <a:extLst>
              <a:ext uri="{FF2B5EF4-FFF2-40B4-BE49-F238E27FC236}">
                <a16:creationId xmlns:a16="http://schemas.microsoft.com/office/drawing/2014/main" id="{28617892-DFB1-CC26-F2CF-FD3E41ABC9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2610" y="1196415"/>
            <a:ext cx="8986768" cy="5036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3455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6"/>
                                        </p:tgtEl>
                                        <p:attrNameLst>
                                          <p:attrName>style.visibility</p:attrName>
                                        </p:attrNameLst>
                                      </p:cBhvr>
                                      <p:to>
                                        <p:strVal val="visible"/>
                                      </p:to>
                                    </p:set>
                                    <p:animEffect transition="in" filter="fade">
                                      <p:cBhvr>
                                        <p:cTn id="10" dur="5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15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a:extLst>
              <a:ext uri="{FF2B5EF4-FFF2-40B4-BE49-F238E27FC236}">
                <a16:creationId xmlns:a16="http://schemas.microsoft.com/office/drawing/2014/main" id="{6B38C06D-19C3-6A22-3002-80727C8B799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经典分类问题</a:t>
            </a:r>
          </a:p>
        </p:txBody>
      </p:sp>
      <p:sp>
        <p:nvSpPr>
          <p:cNvPr id="151" name="矩形: 圆角 55">
            <a:extLst>
              <a:ext uri="{FF2B5EF4-FFF2-40B4-BE49-F238E27FC236}">
                <a16:creationId xmlns:a16="http://schemas.microsoft.com/office/drawing/2014/main" id="{B255021A-6CD7-B531-6635-CD81093D31BA}"/>
              </a:ext>
            </a:extLst>
          </p:cNvPr>
          <p:cNvSpPr/>
          <p:nvPr/>
        </p:nvSpPr>
        <p:spPr>
          <a:xfrm>
            <a:off x="473449" y="1665045"/>
            <a:ext cx="1941122" cy="63440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医学诊断</a:t>
            </a:r>
          </a:p>
        </p:txBody>
      </p:sp>
      <p:sp>
        <p:nvSpPr>
          <p:cNvPr id="5" name="Rectangle 2">
            <a:extLst>
              <a:ext uri="{FF2B5EF4-FFF2-40B4-BE49-F238E27FC236}">
                <a16:creationId xmlns:a16="http://schemas.microsoft.com/office/drawing/2014/main" id="{D86922E7-3ACA-A454-B70D-8AD6DD35807E}"/>
              </a:ext>
            </a:extLst>
          </p:cNvPr>
          <p:cNvSpPr txBox="1">
            <a:spLocks noChangeArrowheads="1"/>
          </p:cNvSpPr>
          <p:nvPr/>
        </p:nvSpPr>
        <p:spPr>
          <a:xfrm>
            <a:off x="974981" y="3780065"/>
            <a:ext cx="2911539" cy="87379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r>
              <a:rPr lang="zh-CN" altLang="en-US" sz="2400" dirty="0">
                <a:solidFill>
                  <a:srgbClr val="00CCFF"/>
                </a:solidFill>
                <a:effectLst/>
              </a:rPr>
              <a:t>患病？</a:t>
            </a:r>
            <a:endParaRPr lang="en-US" altLang="zh-CN" sz="2400" dirty="0">
              <a:solidFill>
                <a:srgbClr val="00CCFF"/>
              </a:solidFill>
              <a:effectLst/>
            </a:endParaRPr>
          </a:p>
          <a:p>
            <a:endParaRPr lang="en-US" altLang="zh-CN" sz="2400" dirty="0">
              <a:solidFill>
                <a:srgbClr val="00CCFF"/>
              </a:solidFill>
              <a:effectLst/>
            </a:endParaRPr>
          </a:p>
          <a:p>
            <a:r>
              <a:rPr lang="zh-CN" altLang="en-US" sz="2400" dirty="0">
                <a:solidFill>
                  <a:srgbClr val="00CCFF"/>
                </a:solidFill>
                <a:effectLst/>
              </a:rPr>
              <a:t>健康？</a:t>
            </a:r>
          </a:p>
        </p:txBody>
      </p:sp>
      <p:pic>
        <p:nvPicPr>
          <p:cNvPr id="2054" name="Picture 6" descr="让癌症原形毕露的医学影像检查CT/MRI/PET等：概述篇 - 知乎">
            <a:extLst>
              <a:ext uri="{FF2B5EF4-FFF2-40B4-BE49-F238E27FC236}">
                <a16:creationId xmlns:a16="http://schemas.microsoft.com/office/drawing/2014/main" id="{616BD111-98AB-45EE-274B-ADD710861B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6679" y="1157226"/>
            <a:ext cx="7069772" cy="5154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036133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a:extLst>
              <a:ext uri="{FF2B5EF4-FFF2-40B4-BE49-F238E27FC236}">
                <a16:creationId xmlns:a16="http://schemas.microsoft.com/office/drawing/2014/main" id="{6B38C06D-19C3-6A22-3002-80727C8B799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经典分类问题</a:t>
            </a:r>
          </a:p>
        </p:txBody>
      </p:sp>
      <p:sp>
        <p:nvSpPr>
          <p:cNvPr id="151" name="矩形: 圆角 55">
            <a:extLst>
              <a:ext uri="{FF2B5EF4-FFF2-40B4-BE49-F238E27FC236}">
                <a16:creationId xmlns:a16="http://schemas.microsoft.com/office/drawing/2014/main" id="{B255021A-6CD7-B531-6635-CD81093D31BA}"/>
              </a:ext>
            </a:extLst>
          </p:cNvPr>
          <p:cNvSpPr/>
          <p:nvPr/>
        </p:nvSpPr>
        <p:spPr>
          <a:xfrm>
            <a:off x="398499" y="1357750"/>
            <a:ext cx="1941122" cy="999778"/>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lang="zh-CN" altLang="en-US" sz="2667" b="1" dirty="0">
                <a:solidFill>
                  <a:srgbClr val="FD5C0C"/>
                </a:solidFill>
                <a:effectLst>
                  <a:reflection blurRad="6350" stA="60000" endA="900" endPos="58000" dir="5400000" sy="-100000" algn="bl" rotWithShape="0"/>
                </a:effectLst>
                <a:latin typeface="Times New Roman" panose="02020603050405020304" pitchFamily="18" charset="0"/>
                <a:ea typeface="微软雅黑"/>
                <a:sym typeface="Times New Roman" panose="02020603050405020304" pitchFamily="18" charset="0"/>
              </a:rPr>
              <a:t>面部表情识别</a:t>
            </a:r>
            <a:endPar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endParaRPr>
          </a:p>
        </p:txBody>
      </p:sp>
      <p:pic>
        <p:nvPicPr>
          <p:cNvPr id="3074" name="Picture 2" descr="面部表情识别2：Pytorch实现表情识别(含表情识别数据集和训练代码) - 知乎">
            <a:extLst>
              <a:ext uri="{FF2B5EF4-FFF2-40B4-BE49-F238E27FC236}">
                <a16:creationId xmlns:a16="http://schemas.microsoft.com/office/drawing/2014/main" id="{5C10DFAA-2BFC-132B-C6E3-437F31F5857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681"/>
          <a:stretch/>
        </p:blipFill>
        <p:spPr bwMode="auto">
          <a:xfrm>
            <a:off x="2807426" y="1357750"/>
            <a:ext cx="7710098" cy="470962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F01CE83F-9B7B-E79B-E5EE-D074AC4721FE}"/>
              </a:ext>
            </a:extLst>
          </p:cNvPr>
          <p:cNvSpPr txBox="1">
            <a:spLocks noChangeArrowheads="1"/>
          </p:cNvSpPr>
          <p:nvPr/>
        </p:nvSpPr>
        <p:spPr>
          <a:xfrm>
            <a:off x="900031" y="3507060"/>
            <a:ext cx="2911539" cy="87379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r>
              <a:rPr lang="zh-CN" altLang="en-US" sz="2400" dirty="0">
                <a:solidFill>
                  <a:srgbClr val="00CCFF"/>
                </a:solidFill>
                <a:effectLst/>
              </a:rPr>
              <a:t>开心？</a:t>
            </a:r>
            <a:endParaRPr lang="en-US" altLang="zh-CN" sz="2400" dirty="0">
              <a:solidFill>
                <a:srgbClr val="00CCFF"/>
              </a:solidFill>
              <a:effectLst/>
            </a:endParaRPr>
          </a:p>
          <a:p>
            <a:endParaRPr lang="en-US" altLang="zh-CN" sz="2400" dirty="0">
              <a:solidFill>
                <a:srgbClr val="00CCFF"/>
              </a:solidFill>
              <a:effectLst/>
            </a:endParaRPr>
          </a:p>
          <a:p>
            <a:r>
              <a:rPr lang="zh-CN" altLang="en-US" sz="2400" dirty="0">
                <a:solidFill>
                  <a:srgbClr val="00CCFF"/>
                </a:solidFill>
                <a:effectLst/>
              </a:rPr>
              <a:t>愤怒？</a:t>
            </a:r>
            <a:endParaRPr lang="en-US" altLang="zh-CN" sz="2400" dirty="0">
              <a:solidFill>
                <a:srgbClr val="00CCFF"/>
              </a:solidFill>
              <a:effectLst/>
            </a:endParaRPr>
          </a:p>
          <a:p>
            <a:endParaRPr lang="en-US" altLang="zh-CN" sz="2400" dirty="0">
              <a:solidFill>
                <a:srgbClr val="00CCFF"/>
              </a:solidFill>
              <a:effectLst/>
            </a:endParaRPr>
          </a:p>
          <a:p>
            <a:r>
              <a:rPr lang="zh-CN" altLang="en-US" sz="2400" dirty="0">
                <a:solidFill>
                  <a:srgbClr val="00CCFF"/>
                </a:solidFill>
                <a:effectLst/>
              </a:rPr>
              <a:t>悲伤？</a:t>
            </a:r>
          </a:p>
        </p:txBody>
      </p:sp>
    </p:spTree>
    <p:extLst>
      <p:ext uri="{BB962C8B-B14F-4D97-AF65-F5344CB8AC3E}">
        <p14:creationId xmlns:p14="http://schemas.microsoft.com/office/powerpoint/2010/main" val="10091091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a:extLst>
              <a:ext uri="{FF2B5EF4-FFF2-40B4-BE49-F238E27FC236}">
                <a16:creationId xmlns:a16="http://schemas.microsoft.com/office/drawing/2014/main" id="{6B38C06D-19C3-6A22-3002-80727C8B799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经典分类问题</a:t>
            </a:r>
          </a:p>
        </p:txBody>
      </p:sp>
      <p:sp>
        <p:nvSpPr>
          <p:cNvPr id="151" name="矩形: 圆角 55">
            <a:extLst>
              <a:ext uri="{FF2B5EF4-FFF2-40B4-BE49-F238E27FC236}">
                <a16:creationId xmlns:a16="http://schemas.microsoft.com/office/drawing/2014/main" id="{B255021A-6CD7-B531-6635-CD81093D31BA}"/>
              </a:ext>
            </a:extLst>
          </p:cNvPr>
          <p:cNvSpPr/>
          <p:nvPr/>
        </p:nvSpPr>
        <p:spPr>
          <a:xfrm>
            <a:off x="413489" y="1665044"/>
            <a:ext cx="1941122" cy="1052029"/>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鸢尾花</a:t>
            </a:r>
            <a:endParaRPr kumimoji="0" lang="en-US" altLang="zh-CN"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endParaRP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zh-CN" altLang="en-US" sz="2667"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a:cs typeface="+mn-cs"/>
                <a:sym typeface="Times New Roman" panose="02020603050405020304" pitchFamily="18" charset="0"/>
              </a:rPr>
              <a:t>分类</a:t>
            </a:r>
          </a:p>
        </p:txBody>
      </p:sp>
      <p:pic>
        <p:nvPicPr>
          <p:cNvPr id="4102" name="Picture 6" descr="二分类数据集_机器学习入门案例：鸢尾花数据集分类 绘制PR曲线-CSDN博客">
            <a:extLst>
              <a:ext uri="{FF2B5EF4-FFF2-40B4-BE49-F238E27FC236}">
                <a16:creationId xmlns:a16="http://schemas.microsoft.com/office/drawing/2014/main" id="{37AB0F3A-73FD-731D-F00B-3B87771BB9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4788"/>
          <a:stretch/>
        </p:blipFill>
        <p:spPr bwMode="auto">
          <a:xfrm>
            <a:off x="2709291" y="1665044"/>
            <a:ext cx="8895967" cy="441491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6C9506EB-0E28-D114-13E4-4AE9E03EB372}"/>
              </a:ext>
            </a:extLst>
          </p:cNvPr>
          <p:cNvSpPr txBox="1">
            <a:spLocks noChangeArrowheads="1"/>
          </p:cNvSpPr>
          <p:nvPr/>
        </p:nvSpPr>
        <p:spPr>
          <a:xfrm>
            <a:off x="380300" y="3814355"/>
            <a:ext cx="2911539" cy="87379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600" b="1">
                <a:solidFill>
                  <a:schemeClr val="tx2"/>
                </a:solidFill>
                <a:latin typeface="Verdana" pitchFamily="34" charset="0"/>
                <a:ea typeface="华文细黑" pitchFamily="2" charset="-122"/>
              </a:defRPr>
            </a:lvl2pPr>
            <a:lvl3pPr algn="l" rtl="0" eaLnBrk="0" fontAlgn="base" hangingPunct="0">
              <a:spcBef>
                <a:spcPct val="0"/>
              </a:spcBef>
              <a:spcAft>
                <a:spcPct val="0"/>
              </a:spcAft>
              <a:defRPr sz="3600" b="1">
                <a:solidFill>
                  <a:schemeClr val="tx2"/>
                </a:solidFill>
                <a:latin typeface="Verdana" pitchFamily="34" charset="0"/>
                <a:ea typeface="华文细黑" pitchFamily="2" charset="-122"/>
              </a:defRPr>
            </a:lvl3pPr>
            <a:lvl4pPr algn="l" rtl="0" eaLnBrk="0" fontAlgn="base" hangingPunct="0">
              <a:spcBef>
                <a:spcPct val="0"/>
              </a:spcBef>
              <a:spcAft>
                <a:spcPct val="0"/>
              </a:spcAft>
              <a:defRPr sz="3600" b="1">
                <a:solidFill>
                  <a:schemeClr val="tx2"/>
                </a:solidFill>
                <a:latin typeface="Verdana" pitchFamily="34" charset="0"/>
                <a:ea typeface="华文细黑" pitchFamily="2" charset="-122"/>
              </a:defRPr>
            </a:lvl4pPr>
            <a:lvl5pPr algn="l" rtl="0" eaLnBrk="0" fontAlgn="base" hangingPunct="0">
              <a:spcBef>
                <a:spcPct val="0"/>
              </a:spcBef>
              <a:spcAft>
                <a:spcPct val="0"/>
              </a:spcAft>
              <a:defRPr sz="3600" b="1">
                <a:solidFill>
                  <a:schemeClr val="tx2"/>
                </a:solidFill>
                <a:latin typeface="Verdana" pitchFamily="34" charset="0"/>
                <a:ea typeface="华文细黑" pitchFamily="2" charset="-122"/>
              </a:defRPr>
            </a:lvl5pPr>
            <a:lvl6pPr marL="457200" algn="l" rtl="0" fontAlgn="base">
              <a:spcBef>
                <a:spcPct val="0"/>
              </a:spcBef>
              <a:spcAft>
                <a:spcPct val="0"/>
              </a:spcAft>
              <a:defRPr sz="3600" b="1">
                <a:solidFill>
                  <a:schemeClr val="tx2"/>
                </a:solidFill>
                <a:latin typeface="Verdana" pitchFamily="34" charset="0"/>
                <a:ea typeface="华文细黑" pitchFamily="2" charset="-122"/>
              </a:defRPr>
            </a:lvl6pPr>
            <a:lvl7pPr marL="914400" algn="l" rtl="0" fontAlgn="base">
              <a:spcBef>
                <a:spcPct val="0"/>
              </a:spcBef>
              <a:spcAft>
                <a:spcPct val="0"/>
              </a:spcAft>
              <a:defRPr sz="3600" b="1">
                <a:solidFill>
                  <a:schemeClr val="tx2"/>
                </a:solidFill>
                <a:latin typeface="Verdana" pitchFamily="34" charset="0"/>
                <a:ea typeface="华文细黑" pitchFamily="2" charset="-122"/>
              </a:defRPr>
            </a:lvl7pPr>
            <a:lvl8pPr marL="1371600" algn="l" rtl="0" fontAlgn="base">
              <a:spcBef>
                <a:spcPct val="0"/>
              </a:spcBef>
              <a:spcAft>
                <a:spcPct val="0"/>
              </a:spcAft>
              <a:defRPr sz="3600" b="1">
                <a:solidFill>
                  <a:schemeClr val="tx2"/>
                </a:solidFill>
                <a:latin typeface="Verdana" pitchFamily="34" charset="0"/>
                <a:ea typeface="华文细黑" pitchFamily="2" charset="-122"/>
              </a:defRPr>
            </a:lvl8pPr>
            <a:lvl9pPr marL="1828800" algn="l" rtl="0" fontAlgn="base">
              <a:spcBef>
                <a:spcPct val="0"/>
              </a:spcBef>
              <a:spcAft>
                <a:spcPct val="0"/>
              </a:spcAft>
              <a:defRPr sz="3600" b="1">
                <a:solidFill>
                  <a:schemeClr val="tx2"/>
                </a:solidFill>
                <a:latin typeface="Verdana" pitchFamily="34" charset="0"/>
                <a:ea typeface="华文细黑" pitchFamily="2" charset="-122"/>
              </a:defRPr>
            </a:lvl9pPr>
          </a:lstStyle>
          <a:p>
            <a:r>
              <a:rPr lang="zh-CN" altLang="en-US" sz="2400" dirty="0">
                <a:solidFill>
                  <a:srgbClr val="00CCFF"/>
                </a:solidFill>
                <a:effectLst/>
              </a:rPr>
              <a:t>山鸢尾？</a:t>
            </a:r>
            <a:endParaRPr lang="en-US" altLang="zh-CN" sz="2400" dirty="0">
              <a:solidFill>
                <a:srgbClr val="00CCFF"/>
              </a:solidFill>
              <a:effectLst/>
            </a:endParaRPr>
          </a:p>
          <a:p>
            <a:endParaRPr lang="en-US" altLang="zh-CN" sz="2400" dirty="0">
              <a:solidFill>
                <a:srgbClr val="00CCFF"/>
              </a:solidFill>
              <a:effectLst/>
            </a:endParaRPr>
          </a:p>
          <a:p>
            <a:r>
              <a:rPr lang="zh-CN" altLang="en-US" sz="2400" dirty="0">
                <a:solidFill>
                  <a:srgbClr val="00CCFF"/>
                </a:solidFill>
                <a:effectLst/>
              </a:rPr>
              <a:t>变色鸢尾？</a:t>
            </a:r>
            <a:endParaRPr lang="en-US" altLang="zh-CN" sz="2400" dirty="0">
              <a:solidFill>
                <a:srgbClr val="00CCFF"/>
              </a:solidFill>
              <a:effectLst/>
            </a:endParaRPr>
          </a:p>
          <a:p>
            <a:endParaRPr lang="en-US" altLang="zh-CN" sz="2400" dirty="0">
              <a:solidFill>
                <a:srgbClr val="00CCFF"/>
              </a:solidFill>
              <a:effectLst/>
            </a:endParaRPr>
          </a:p>
          <a:p>
            <a:r>
              <a:rPr lang="zh-CN" altLang="en-US" sz="2400" dirty="0">
                <a:solidFill>
                  <a:srgbClr val="00CCFF"/>
                </a:solidFill>
                <a:effectLst/>
              </a:rPr>
              <a:t>维吉尼亚鸢尾？</a:t>
            </a:r>
          </a:p>
        </p:txBody>
      </p:sp>
    </p:spTree>
    <p:extLst>
      <p:ext uri="{BB962C8B-B14F-4D97-AF65-F5344CB8AC3E}">
        <p14:creationId xmlns:p14="http://schemas.microsoft.com/office/powerpoint/2010/main" val="33143161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a:extLst>
              <a:ext uri="{FF2B5EF4-FFF2-40B4-BE49-F238E27FC236}">
                <a16:creationId xmlns:a16="http://schemas.microsoft.com/office/drawing/2014/main" id="{6B38C06D-19C3-6A22-3002-80727C8B799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经典分类问题</a:t>
            </a:r>
          </a:p>
        </p:txBody>
      </p:sp>
      <p:sp>
        <p:nvSpPr>
          <p:cNvPr id="6" name="标题 1">
            <a:extLst>
              <a:ext uri="{FF2B5EF4-FFF2-40B4-BE49-F238E27FC236}">
                <a16:creationId xmlns:a16="http://schemas.microsoft.com/office/drawing/2014/main" id="{5CE7D739-4CDE-EF11-AC2E-BDB9D9F7424B}"/>
              </a:ext>
            </a:extLst>
          </p:cNvPr>
          <p:cNvSpPr txBox="1">
            <a:spLocks/>
          </p:cNvSpPr>
          <p:nvPr/>
        </p:nvSpPr>
        <p:spPr>
          <a:xfrm>
            <a:off x="3082093" y="1531768"/>
            <a:ext cx="6027813" cy="62803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solidFill>
                  <a:schemeClr val="tx1">
                    <a:lumMod val="85000"/>
                    <a:lumOff val="15000"/>
                  </a:schemeClr>
                </a:solidFill>
                <a:latin typeface="微软雅黑" pitchFamily="34" charset="-122"/>
                <a:ea typeface="微软雅黑" pitchFamily="34" charset="-122"/>
              </a:rPr>
              <a:t>问：以下鸢尾花的种类是什么？</a:t>
            </a:r>
          </a:p>
        </p:txBody>
      </p:sp>
      <p:pic>
        <p:nvPicPr>
          <p:cNvPr id="5122" name="Picture 2" descr="鸢尾花分类与直方图、散点图的绘制及可视化决策树_鸢尾花数据集分类和画图-CSDN博客">
            <a:extLst>
              <a:ext uri="{FF2B5EF4-FFF2-40B4-BE49-F238E27FC236}">
                <a16:creationId xmlns:a16="http://schemas.microsoft.com/office/drawing/2014/main" id="{69131F90-2856-5AD2-49C2-CDCCCB216A0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6990" b="26631"/>
          <a:stretch/>
        </p:blipFill>
        <p:spPr bwMode="auto">
          <a:xfrm>
            <a:off x="4273107" y="2597350"/>
            <a:ext cx="3645785" cy="3502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67557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CAECF-249B-0154-AC3C-D9A693E2EF89}"/>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B352E11-EBA2-B492-4795-EE794FC2D85B}"/>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经典分类问题</a:t>
            </a:r>
          </a:p>
        </p:txBody>
      </p:sp>
      <p:pic>
        <p:nvPicPr>
          <p:cNvPr id="9" name="Picture 13">
            <a:extLst>
              <a:ext uri="{FF2B5EF4-FFF2-40B4-BE49-F238E27FC236}">
                <a16:creationId xmlns:a16="http://schemas.microsoft.com/office/drawing/2014/main" id="{53A896B9-BF5F-8339-CABE-848EF9C2B8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6513" y="1309813"/>
            <a:ext cx="3604491" cy="43013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10" name="组合 9">
            <a:extLst>
              <a:ext uri="{FF2B5EF4-FFF2-40B4-BE49-F238E27FC236}">
                <a16:creationId xmlns:a16="http://schemas.microsoft.com/office/drawing/2014/main" id="{012A5F3F-B6F1-AAD3-DD4B-2B20BD5F5AEE}"/>
              </a:ext>
            </a:extLst>
          </p:cNvPr>
          <p:cNvGrpSpPr/>
          <p:nvPr/>
        </p:nvGrpSpPr>
        <p:grpSpPr>
          <a:xfrm>
            <a:off x="1030951" y="1478460"/>
            <a:ext cx="4867530" cy="4301359"/>
            <a:chOff x="1059484" y="1108845"/>
            <a:chExt cx="3364376" cy="2973046"/>
          </a:xfrm>
        </p:grpSpPr>
        <p:sp>
          <p:nvSpPr>
            <p:cNvPr id="11" name="椭圆 10">
              <a:extLst>
                <a:ext uri="{FF2B5EF4-FFF2-40B4-BE49-F238E27FC236}">
                  <a16:creationId xmlns:a16="http://schemas.microsoft.com/office/drawing/2014/main" id="{81DD9217-ABE5-F5CE-A360-4E392F2E0D55}"/>
                </a:ext>
              </a:extLst>
            </p:cNvPr>
            <p:cNvSpPr/>
            <p:nvPr/>
          </p:nvSpPr>
          <p:spPr>
            <a:xfrm>
              <a:off x="1238046" y="1108845"/>
              <a:ext cx="2973046" cy="2973046"/>
            </a:xfrm>
            <a:prstGeom prst="ellipse">
              <a:avLst/>
            </a:prstGeom>
            <a:solidFill>
              <a:schemeClr val="accent5">
                <a:lumMod val="60000"/>
                <a:lumOff val="40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sz="2400">
                <a:solidFill>
                  <a:prstClr val="white"/>
                </a:solidFill>
                <a:latin typeface="Garamond"/>
                <a:ea typeface="仿宋" panose="02010609060101010101" pitchFamily="49" charset="-122"/>
              </a:endParaRPr>
            </a:p>
          </p:txBody>
        </p:sp>
        <p:sp>
          <p:nvSpPr>
            <p:cNvPr id="12" name="椭圆 11">
              <a:extLst>
                <a:ext uri="{FF2B5EF4-FFF2-40B4-BE49-F238E27FC236}">
                  <a16:creationId xmlns:a16="http://schemas.microsoft.com/office/drawing/2014/main" id="{A3CAB320-4142-253B-7996-DD40B85ABEBB}"/>
                </a:ext>
              </a:extLst>
            </p:cNvPr>
            <p:cNvSpPr/>
            <p:nvPr/>
          </p:nvSpPr>
          <p:spPr>
            <a:xfrm>
              <a:off x="1556699" y="1427498"/>
              <a:ext cx="2335740" cy="233574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sz="2400">
                <a:solidFill>
                  <a:prstClr val="white"/>
                </a:solidFill>
                <a:latin typeface="Garamond"/>
                <a:ea typeface="仿宋" panose="02010609060101010101" pitchFamily="49" charset="-122"/>
              </a:endParaRPr>
            </a:p>
          </p:txBody>
        </p:sp>
        <p:sp>
          <p:nvSpPr>
            <p:cNvPr id="13" name="TextBox 13">
              <a:extLst>
                <a:ext uri="{FF2B5EF4-FFF2-40B4-BE49-F238E27FC236}">
                  <a16:creationId xmlns:a16="http://schemas.microsoft.com/office/drawing/2014/main" id="{953B29BA-D6BC-6A21-E095-9B9AFE09C166}"/>
                </a:ext>
              </a:extLst>
            </p:cNvPr>
            <p:cNvSpPr txBox="1">
              <a:spLocks noChangeArrowheads="1"/>
            </p:cNvSpPr>
            <p:nvPr/>
          </p:nvSpPr>
          <p:spPr bwMode="auto">
            <a:xfrm>
              <a:off x="1059484" y="1748309"/>
              <a:ext cx="3364376" cy="142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defRPr i="1">
                  <a:solidFill>
                    <a:schemeClr val="tx1"/>
                  </a:solidFill>
                  <a:latin typeface="Arial" pitchFamily="34" charset="0"/>
                  <a:ea typeface="华文细黑" pitchFamily="2" charset="-122"/>
                </a:defRPr>
              </a:lvl1pPr>
              <a:lvl2pPr marL="742950" indent="-285750" algn="l" eaLnBrk="0" hangingPunct="0">
                <a:defRPr i="1">
                  <a:solidFill>
                    <a:schemeClr val="tx1"/>
                  </a:solidFill>
                  <a:latin typeface="Arial" pitchFamily="34" charset="0"/>
                  <a:ea typeface="华文细黑" pitchFamily="2" charset="-122"/>
                </a:defRPr>
              </a:lvl2pPr>
              <a:lvl3pPr marL="1143000" indent="-228600" algn="l" eaLnBrk="0" hangingPunct="0">
                <a:defRPr i="1">
                  <a:solidFill>
                    <a:schemeClr val="tx1"/>
                  </a:solidFill>
                  <a:latin typeface="Arial" pitchFamily="34" charset="0"/>
                  <a:ea typeface="华文细黑" pitchFamily="2" charset="-122"/>
                </a:defRPr>
              </a:lvl3pPr>
              <a:lvl4pPr marL="1600200" indent="-228600" algn="l" eaLnBrk="0" hangingPunct="0">
                <a:defRPr i="1">
                  <a:solidFill>
                    <a:schemeClr val="tx1"/>
                  </a:solidFill>
                  <a:latin typeface="Arial" pitchFamily="34" charset="0"/>
                  <a:ea typeface="华文细黑" pitchFamily="2" charset="-122"/>
                </a:defRPr>
              </a:lvl4pPr>
              <a:lvl5pPr marL="2057400" indent="-228600" algn="l" eaLnBrk="0" hangingPunct="0">
                <a:defRPr i="1">
                  <a:solidFill>
                    <a:schemeClr val="tx1"/>
                  </a:solidFill>
                  <a:latin typeface="Arial" pitchFamily="34" charset="0"/>
                  <a:ea typeface="华文细黑" pitchFamily="2" charset="-122"/>
                </a:defRPr>
              </a:lvl5pPr>
              <a:lvl6pPr marL="2514600" indent="-228600" eaLnBrk="0" fontAlgn="base" hangingPunct="0">
                <a:spcBef>
                  <a:spcPct val="0"/>
                </a:spcBef>
                <a:spcAft>
                  <a:spcPct val="0"/>
                </a:spcAft>
                <a:defRPr i="1">
                  <a:solidFill>
                    <a:schemeClr val="tx1"/>
                  </a:solidFill>
                  <a:latin typeface="Arial" pitchFamily="34" charset="0"/>
                  <a:ea typeface="华文细黑" pitchFamily="2" charset="-122"/>
                </a:defRPr>
              </a:lvl6pPr>
              <a:lvl7pPr marL="2971800" indent="-228600" eaLnBrk="0" fontAlgn="base" hangingPunct="0">
                <a:spcBef>
                  <a:spcPct val="0"/>
                </a:spcBef>
                <a:spcAft>
                  <a:spcPct val="0"/>
                </a:spcAft>
                <a:defRPr i="1">
                  <a:solidFill>
                    <a:schemeClr val="tx1"/>
                  </a:solidFill>
                  <a:latin typeface="Arial" pitchFamily="34" charset="0"/>
                  <a:ea typeface="华文细黑" pitchFamily="2" charset="-122"/>
                </a:defRPr>
              </a:lvl7pPr>
              <a:lvl8pPr marL="3429000" indent="-228600" eaLnBrk="0" fontAlgn="base" hangingPunct="0">
                <a:spcBef>
                  <a:spcPct val="0"/>
                </a:spcBef>
                <a:spcAft>
                  <a:spcPct val="0"/>
                </a:spcAft>
                <a:defRPr i="1">
                  <a:solidFill>
                    <a:schemeClr val="tx1"/>
                  </a:solidFill>
                  <a:latin typeface="Arial" pitchFamily="34" charset="0"/>
                  <a:ea typeface="华文细黑" pitchFamily="2" charset="-122"/>
                </a:defRPr>
              </a:lvl8pPr>
              <a:lvl9pPr marL="3886200" indent="-228600" eaLnBrk="0" fontAlgn="base" hangingPunct="0">
                <a:spcBef>
                  <a:spcPct val="0"/>
                </a:spcBef>
                <a:spcAft>
                  <a:spcPct val="0"/>
                </a:spcAft>
                <a:defRPr i="1">
                  <a:solidFill>
                    <a:schemeClr val="tx1"/>
                  </a:solidFill>
                  <a:latin typeface="Arial" pitchFamily="34" charset="0"/>
                  <a:ea typeface="华文细黑" pitchFamily="2" charset="-122"/>
                </a:defRPr>
              </a:lvl9pPr>
            </a:lstStyle>
            <a:p>
              <a:pPr algn="ctr" defTabSz="1219170" eaLnBrk="1" hangingPunct="1">
                <a:defRPr/>
              </a:pPr>
              <a:r>
                <a:rPr lang="zh-CN" altLang="en-US" sz="6400" b="1" i="0" dirty="0">
                  <a:solidFill>
                    <a:prstClr val="white"/>
                  </a:solidFill>
                  <a:effectLst>
                    <a:outerShdw blurRad="38100" dist="38100" dir="2700000" algn="tl">
                      <a:srgbClr val="000000">
                        <a:alpha val="43137"/>
                      </a:srgbClr>
                    </a:outerShdw>
                  </a:effectLst>
                  <a:latin typeface="微软雅黑" pitchFamily="34" charset="-122"/>
                  <a:ea typeface="微软雅黑" pitchFamily="34" charset="-122"/>
                </a:rPr>
                <a:t>傻傻分</a:t>
              </a:r>
              <a:endParaRPr lang="en-US" altLang="zh-CN" sz="6400" b="1" i="0" dirty="0">
                <a:solidFill>
                  <a:prstClr val="white"/>
                </a:solidFill>
                <a:effectLst>
                  <a:outerShdw blurRad="38100" dist="38100" dir="2700000" algn="tl">
                    <a:srgbClr val="000000">
                      <a:alpha val="43137"/>
                    </a:srgbClr>
                  </a:outerShdw>
                </a:effectLst>
                <a:latin typeface="微软雅黑" pitchFamily="34" charset="-122"/>
                <a:ea typeface="微软雅黑" pitchFamily="34" charset="-122"/>
              </a:endParaRPr>
            </a:p>
            <a:p>
              <a:pPr algn="ctr" defTabSz="1219170" eaLnBrk="1" hangingPunct="1">
                <a:defRPr/>
              </a:pPr>
              <a:r>
                <a:rPr lang="zh-CN" altLang="en-US" sz="6400" b="1" i="0" dirty="0">
                  <a:solidFill>
                    <a:prstClr val="white"/>
                  </a:solidFill>
                  <a:effectLst>
                    <a:outerShdw blurRad="38100" dist="38100" dir="2700000" algn="tl">
                      <a:srgbClr val="000000">
                        <a:alpha val="43137"/>
                      </a:srgbClr>
                    </a:outerShdw>
                  </a:effectLst>
                  <a:latin typeface="微软雅黑" pitchFamily="34" charset="-122"/>
                  <a:ea typeface="微软雅黑" pitchFamily="34" charset="-122"/>
                </a:rPr>
                <a:t>不清楚</a:t>
              </a:r>
              <a:endParaRPr lang="en-US" altLang="zh-CN" sz="6400" b="1" i="0" dirty="0">
                <a:solidFill>
                  <a:prstClr val="white"/>
                </a:solidFill>
                <a:effectLst>
                  <a:outerShdw blurRad="38100" dist="38100" dir="2700000" algn="tl">
                    <a:srgbClr val="000000">
                      <a:alpha val="43137"/>
                    </a:srgbClr>
                  </a:outerShdw>
                </a:effectLst>
                <a:latin typeface="微软雅黑" pitchFamily="34" charset="-122"/>
                <a:ea typeface="微软雅黑" pitchFamily="34" charset="-122"/>
              </a:endParaRPr>
            </a:p>
          </p:txBody>
        </p:sp>
      </p:grpSp>
    </p:spTree>
    <p:extLst>
      <p:ext uri="{BB962C8B-B14F-4D97-AF65-F5344CB8AC3E}">
        <p14:creationId xmlns:p14="http://schemas.microsoft.com/office/powerpoint/2010/main" val="30154913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73EF2-B065-AFB3-CB20-116567CBE44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259476C-217E-ECBE-DCD2-CC512628B74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经典分类问题</a:t>
            </a:r>
          </a:p>
        </p:txBody>
      </p:sp>
      <p:sp>
        <p:nvSpPr>
          <p:cNvPr id="8" name="文本框 7">
            <a:extLst>
              <a:ext uri="{FF2B5EF4-FFF2-40B4-BE49-F238E27FC236}">
                <a16:creationId xmlns:a16="http://schemas.microsoft.com/office/drawing/2014/main" id="{0853021B-3B17-0279-CB03-D21D2B8990B1}"/>
              </a:ext>
            </a:extLst>
          </p:cNvPr>
          <p:cNvSpPr txBox="1"/>
          <p:nvPr/>
        </p:nvSpPr>
        <p:spPr>
          <a:xfrm>
            <a:off x="571500" y="1057165"/>
            <a:ext cx="11226800" cy="1015663"/>
          </a:xfrm>
          <a:prstGeom prst="rect">
            <a:avLst/>
          </a:prstGeom>
          <a:noFill/>
        </p:spPr>
        <p:txBody>
          <a:bodyPr wrap="square">
            <a:spAutoFit/>
          </a:bodyPr>
          <a:lstStyle/>
          <a:p>
            <a:r>
              <a:rPr lang="zh-CN" altLang="en-US" sz="2000" dirty="0">
                <a:latin typeface="微软雅黑" panose="020B0503020204020204" pitchFamily="34" charset="-122"/>
                <a:ea typeface="微软雅黑" panose="020B0503020204020204" pitchFamily="34" charset="-122"/>
              </a:rPr>
              <a:t>鸢尾花数据集包含</a:t>
            </a:r>
            <a:r>
              <a:rPr lang="en-US" altLang="zh-CN" sz="2000" dirty="0">
                <a:latin typeface="微软雅黑" panose="020B0503020204020204" pitchFamily="34" charset="-122"/>
                <a:ea typeface="微软雅黑" panose="020B0503020204020204" pitchFamily="34" charset="-122"/>
              </a:rPr>
              <a:t>150</a:t>
            </a:r>
            <a:r>
              <a:rPr lang="zh-CN" altLang="en-US" sz="2000" dirty="0">
                <a:latin typeface="微软雅黑" panose="020B0503020204020204" pitchFamily="34" charset="-122"/>
                <a:ea typeface="微软雅黑" panose="020B0503020204020204" pitchFamily="34" charset="-122"/>
              </a:rPr>
              <a:t>个样本，分别属于</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种鸢尾花种类（山鸢尾、变色鸢尾</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和 维吉尼亚鸢尾）。</a:t>
            </a:r>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每种鸢尾花有</a:t>
            </a:r>
            <a:r>
              <a:rPr lang="en-US" altLang="zh-CN" sz="2000" dirty="0">
                <a:latin typeface="微软雅黑" panose="020B0503020204020204" pitchFamily="34" charset="-122"/>
                <a:ea typeface="微软雅黑" panose="020B0503020204020204" pitchFamily="34" charset="-122"/>
              </a:rPr>
              <a:t>50</a:t>
            </a:r>
            <a:r>
              <a:rPr lang="zh-CN" altLang="en-US" sz="2000" dirty="0">
                <a:latin typeface="微软雅黑" panose="020B0503020204020204" pitchFamily="34" charset="-122"/>
                <a:ea typeface="微软雅黑" panose="020B0503020204020204" pitchFamily="34" charset="-122"/>
              </a:rPr>
              <a:t>个样本，每个样本有</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个特征：</a:t>
            </a:r>
            <a:r>
              <a:rPr lang="zh-CN" altLang="en-US" sz="2000" b="1" dirty="0">
                <a:solidFill>
                  <a:srgbClr val="FF0000"/>
                </a:solidFill>
                <a:latin typeface="微软雅黑" panose="020B0503020204020204" pitchFamily="34" charset="-122"/>
                <a:ea typeface="微软雅黑" panose="020B0503020204020204" pitchFamily="34" charset="-122"/>
              </a:rPr>
              <a:t>花萼长度</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sepal length</a:t>
            </a:r>
            <a:r>
              <a:rPr lang="zh-CN" altLang="en-US" sz="2000"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花萼宽度</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sepal width</a:t>
            </a:r>
            <a:r>
              <a:rPr lang="zh-CN" altLang="en-US" sz="2000"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花瓣长度</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petal length</a:t>
            </a:r>
            <a:r>
              <a:rPr lang="zh-CN" altLang="en-US" sz="2000" dirty="0">
                <a:latin typeface="微软雅黑" panose="020B0503020204020204" pitchFamily="34" charset="-122"/>
                <a:ea typeface="微软雅黑" panose="020B0503020204020204" pitchFamily="34" charset="-122"/>
              </a:rPr>
              <a:t>）和</a:t>
            </a:r>
            <a:r>
              <a:rPr lang="zh-CN" altLang="en-US" sz="2000" b="1" dirty="0">
                <a:solidFill>
                  <a:srgbClr val="FF0000"/>
                </a:solidFill>
                <a:latin typeface="微软雅黑" panose="020B0503020204020204" pitchFamily="34" charset="-122"/>
                <a:ea typeface="微软雅黑" panose="020B0503020204020204" pitchFamily="34" charset="-122"/>
              </a:rPr>
              <a:t>花瓣宽度</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petal width</a:t>
            </a:r>
            <a:r>
              <a:rPr lang="zh-CN" altLang="en-US" sz="2000" dirty="0">
                <a:latin typeface="微软雅黑" panose="020B0503020204020204" pitchFamily="34" charset="-122"/>
                <a:ea typeface="微软雅黑" panose="020B0503020204020204" pitchFamily="34" charset="-122"/>
              </a:rPr>
              <a:t>）。</a:t>
            </a:r>
          </a:p>
        </p:txBody>
      </p:sp>
      <p:grpSp>
        <p:nvGrpSpPr>
          <p:cNvPr id="10" name="组合 9">
            <a:extLst>
              <a:ext uri="{FF2B5EF4-FFF2-40B4-BE49-F238E27FC236}">
                <a16:creationId xmlns:a16="http://schemas.microsoft.com/office/drawing/2014/main" id="{741A2101-3E7D-9B86-21E2-89C0E2B02B62}"/>
              </a:ext>
            </a:extLst>
          </p:cNvPr>
          <p:cNvGrpSpPr/>
          <p:nvPr/>
        </p:nvGrpSpPr>
        <p:grpSpPr>
          <a:xfrm>
            <a:off x="1236723" y="2180299"/>
            <a:ext cx="9202677" cy="4626901"/>
            <a:chOff x="1033523" y="2231099"/>
            <a:chExt cx="9202677" cy="4626901"/>
          </a:xfrm>
        </p:grpSpPr>
        <p:pic>
          <p:nvPicPr>
            <p:cNvPr id="2" name="Picture 2" descr="机器学习入门案例：鸢尾花数据集分类 绘制PR曲线-CSDN博客">
              <a:extLst>
                <a:ext uri="{FF2B5EF4-FFF2-40B4-BE49-F238E27FC236}">
                  <a16:creationId xmlns:a16="http://schemas.microsoft.com/office/drawing/2014/main" id="{5B5BE967-6C4D-F8C1-AB5C-470C3B029A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3523" y="2231099"/>
              <a:ext cx="9202677" cy="4626901"/>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9600C4AB-EF8A-5692-3293-8CCAC3E755AF}"/>
                </a:ext>
              </a:extLst>
            </p:cNvPr>
            <p:cNvPicPr>
              <a:picLocks noChangeAspect="1"/>
            </p:cNvPicPr>
            <p:nvPr/>
          </p:nvPicPr>
          <p:blipFill>
            <a:blip r:embed="rId4"/>
            <a:srcRect r="14610" b="24512"/>
            <a:stretch/>
          </p:blipFill>
          <p:spPr>
            <a:xfrm>
              <a:off x="7177087" y="6266628"/>
              <a:ext cx="2792413" cy="591372"/>
            </a:xfrm>
            <a:prstGeom prst="rect">
              <a:avLst/>
            </a:prstGeom>
          </p:spPr>
        </p:pic>
      </p:grpSp>
    </p:spTree>
    <p:extLst>
      <p:ext uri="{BB962C8B-B14F-4D97-AF65-F5344CB8AC3E}">
        <p14:creationId xmlns:p14="http://schemas.microsoft.com/office/powerpoint/2010/main" val="5390144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E766F-F429-6C90-1B56-150D4D38D85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85F57F6-8960-7B80-EA8E-7EF7385DFB2B}"/>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经典分类问题</a:t>
            </a:r>
          </a:p>
        </p:txBody>
      </p:sp>
      <p:pic>
        <p:nvPicPr>
          <p:cNvPr id="2" name="Picture 4" descr="Introduction to Visualization in python — MRI analysis in Python using Nipype, Nilearn and more">
            <a:extLst>
              <a:ext uri="{FF2B5EF4-FFF2-40B4-BE49-F238E27FC236}">
                <a16:creationId xmlns:a16="http://schemas.microsoft.com/office/drawing/2014/main" id="{7D1410F4-231B-35F5-333A-11643E7A4A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799" y="1132714"/>
            <a:ext cx="6099128" cy="5344286"/>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E05D6CF5-70E8-1054-EC4D-2A5B6BD2180B}"/>
              </a:ext>
            </a:extLst>
          </p:cNvPr>
          <p:cNvSpPr txBox="1"/>
          <p:nvPr/>
        </p:nvSpPr>
        <p:spPr>
          <a:xfrm>
            <a:off x="361950" y="1196120"/>
            <a:ext cx="4984750" cy="1422954"/>
          </a:xfrm>
          <a:prstGeom prst="rect">
            <a:avLst/>
          </a:prstGeom>
          <a:noFill/>
        </p:spPr>
        <p:txBody>
          <a:bodyPr wrap="square">
            <a:spAutoFit/>
          </a:bodyPr>
          <a:lstStyle>
            <a:defPPr>
              <a:defRPr lang="zh-CN"/>
            </a:defPPr>
            <a:lvl1pPr>
              <a:defRPr>
                <a:latin typeface="微软雅黑" panose="020B0503020204020204" pitchFamily="34" charset="-122"/>
                <a:ea typeface="微软雅黑" panose="020B0503020204020204" pitchFamily="34" charset="-122"/>
              </a:defRPr>
            </a:lvl1pPr>
          </a:lstStyle>
          <a:p>
            <a:pPr marL="342900" indent="-342900">
              <a:lnSpc>
                <a:spcPct val="150000"/>
              </a:lnSpc>
              <a:buFont typeface="Arial" panose="020B0604020202020204" pitchFamily="34" charset="0"/>
              <a:buChar char="•"/>
            </a:pPr>
            <a:r>
              <a:rPr lang="zh-CN" altLang="en-US" sz="2000" dirty="0"/>
              <a:t>通过可视化，我们可以看到不同鸢尾花种类的样本有一定的</a:t>
            </a:r>
            <a:r>
              <a:rPr lang="zh-CN" altLang="en-US" sz="2000" b="1" dirty="0">
                <a:solidFill>
                  <a:srgbClr val="FF0000"/>
                </a:solidFill>
              </a:rPr>
              <a:t>分隔性</a:t>
            </a:r>
            <a:r>
              <a:rPr lang="zh-CN" altLang="en-US" sz="2000" dirty="0"/>
              <a:t>，这为分类算法提供了线索！</a:t>
            </a:r>
          </a:p>
        </p:txBody>
      </p:sp>
      <p:sp>
        <p:nvSpPr>
          <p:cNvPr id="8" name="文本框 7">
            <a:extLst>
              <a:ext uri="{FF2B5EF4-FFF2-40B4-BE49-F238E27FC236}">
                <a16:creationId xmlns:a16="http://schemas.microsoft.com/office/drawing/2014/main" id="{E78008E1-A816-0531-B2E2-65F5B6D89293}"/>
              </a:ext>
            </a:extLst>
          </p:cNvPr>
          <p:cNvSpPr txBox="1"/>
          <p:nvPr/>
        </p:nvSpPr>
        <p:spPr>
          <a:xfrm>
            <a:off x="361950" y="2953696"/>
            <a:ext cx="4984750" cy="1422954"/>
          </a:xfrm>
          <a:prstGeom prst="rect">
            <a:avLst/>
          </a:prstGeom>
          <a:noFill/>
        </p:spPr>
        <p:txBody>
          <a:bodyPr wrap="square">
            <a:spAutoFit/>
          </a:bodyPr>
          <a:lstStyle>
            <a:defPPr>
              <a:defRPr lang="zh-CN"/>
            </a:defPPr>
            <a:lvl1pPr>
              <a:lnSpc>
                <a:spcPct val="150000"/>
              </a:lnSpc>
              <a:defRPr>
                <a:latin typeface="微软雅黑" panose="020B0503020204020204" pitchFamily="34" charset="-122"/>
                <a:ea typeface="微软雅黑" panose="020B0503020204020204" pitchFamily="34" charset="-122"/>
              </a:defRPr>
            </a:lvl1pPr>
          </a:lstStyle>
          <a:p>
            <a:pPr marL="342900" indent="-342900">
              <a:buFont typeface="Arial" panose="020B0604020202020204" pitchFamily="34" charset="0"/>
              <a:buChar char="•"/>
            </a:pPr>
            <a:r>
              <a:rPr lang="zh-CN" altLang="en-US" sz="2000" dirty="0"/>
              <a:t>山鸢尾的花萼长度通常较短，</a:t>
            </a:r>
            <a:r>
              <a:rPr lang="zh-CN" altLang="en-US" sz="2000" dirty="0">
                <a:latin typeface="微软雅黑" panose="020B0503020204020204" pitchFamily="34" charset="-122"/>
                <a:ea typeface="微软雅黑" panose="020B0503020204020204" pitchFamily="34" charset="-122"/>
              </a:rPr>
              <a:t>变色鸢尾和维吉尼亚鸢尾</a:t>
            </a:r>
            <a:r>
              <a:rPr lang="zh-CN" altLang="en-US" sz="2000" dirty="0"/>
              <a:t>的花萼长度较长，且</a:t>
            </a:r>
            <a:r>
              <a:rPr lang="zh-CN" altLang="en-US" sz="2000" dirty="0">
                <a:latin typeface="微软雅黑" panose="020B0503020204020204" pitchFamily="34" charset="-122"/>
                <a:ea typeface="微软雅黑" panose="020B0503020204020204" pitchFamily="34" charset="-122"/>
              </a:rPr>
              <a:t>变色鸢尾</a:t>
            </a:r>
            <a:r>
              <a:rPr lang="zh-CN" altLang="en-US" sz="2000" dirty="0"/>
              <a:t>的宽度较窄。</a:t>
            </a:r>
          </a:p>
        </p:txBody>
      </p:sp>
      <p:sp>
        <p:nvSpPr>
          <p:cNvPr id="10" name="文本框 9">
            <a:extLst>
              <a:ext uri="{FF2B5EF4-FFF2-40B4-BE49-F238E27FC236}">
                <a16:creationId xmlns:a16="http://schemas.microsoft.com/office/drawing/2014/main" id="{DF9F22C4-2544-847F-93AD-26724733F999}"/>
              </a:ext>
            </a:extLst>
          </p:cNvPr>
          <p:cNvSpPr txBox="1"/>
          <p:nvPr/>
        </p:nvSpPr>
        <p:spPr>
          <a:xfrm>
            <a:off x="361950" y="4696158"/>
            <a:ext cx="4984750" cy="1884618"/>
          </a:xfrm>
          <a:prstGeom prst="rect">
            <a:avLst/>
          </a:prstGeom>
          <a:noFill/>
        </p:spPr>
        <p:txBody>
          <a:bodyPr wrap="square">
            <a:spAutoFit/>
          </a:bodyPr>
          <a:lstStyle>
            <a:defPPr>
              <a:defRPr lang="zh-CN"/>
            </a:defPPr>
            <a:lvl1pPr>
              <a:lnSpc>
                <a:spcPct val="150000"/>
              </a:lnSpc>
              <a:defRPr>
                <a:latin typeface="微软雅黑" panose="020B0503020204020204" pitchFamily="34" charset="-122"/>
                <a:ea typeface="微软雅黑" panose="020B0503020204020204" pitchFamily="34" charset="-122"/>
              </a:defRPr>
            </a:lvl1pPr>
          </a:lstStyle>
          <a:p>
            <a:pPr marL="342900" indent="-342900">
              <a:buFont typeface="Arial" panose="020B0604020202020204" pitchFamily="34" charset="0"/>
              <a:buChar char="•"/>
            </a:pPr>
            <a:r>
              <a:rPr lang="zh-CN" altLang="en-US" sz="2000" dirty="0"/>
              <a:t>在分类问题中，我们的任务是</a:t>
            </a:r>
            <a:r>
              <a:rPr lang="zh-CN" altLang="en-US" sz="2000" b="1" dirty="0">
                <a:solidFill>
                  <a:srgbClr val="FF0000"/>
                </a:solidFill>
              </a:rPr>
              <a:t>根据样本的特征</a:t>
            </a:r>
            <a:r>
              <a:rPr lang="zh-CN" altLang="en-US" sz="2000" dirty="0"/>
              <a:t>（这里是鸢尾花的花萼和花瓣的尺寸）将其</a:t>
            </a:r>
            <a:r>
              <a:rPr lang="zh-CN" altLang="en-US" sz="2000" b="1" dirty="0">
                <a:solidFill>
                  <a:srgbClr val="FF0000"/>
                </a:solidFill>
              </a:rPr>
              <a:t>划分到预定义的类别</a:t>
            </a:r>
            <a:r>
              <a:rPr lang="zh-CN" altLang="en-US" sz="2000" dirty="0"/>
              <a:t>（</a:t>
            </a:r>
            <a:r>
              <a:rPr lang="zh-CN" altLang="en-US" sz="2000" dirty="0">
                <a:latin typeface="微软雅黑" panose="020B0503020204020204" pitchFamily="34" charset="-122"/>
                <a:ea typeface="微软雅黑" panose="020B0503020204020204" pitchFamily="34" charset="-122"/>
              </a:rPr>
              <a:t>山鸢尾、变色鸢尾</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和 维吉尼亚鸢尾</a:t>
            </a:r>
            <a:r>
              <a:rPr lang="zh-CN" altLang="en-US" sz="2000" dirty="0"/>
              <a:t>）。</a:t>
            </a:r>
          </a:p>
        </p:txBody>
      </p:sp>
    </p:spTree>
    <p:extLst>
      <p:ext uri="{BB962C8B-B14F-4D97-AF65-F5344CB8AC3E}">
        <p14:creationId xmlns:p14="http://schemas.microsoft.com/office/powerpoint/2010/main" val="277436169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988EF-D6BE-1A17-E802-C4794A66B0BE}"/>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AE93068C-C6F2-18E4-A147-780B45A99400}"/>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分类的定义</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pic>
        <p:nvPicPr>
          <p:cNvPr id="18" name="图片 17">
            <a:extLst>
              <a:ext uri="{FF2B5EF4-FFF2-40B4-BE49-F238E27FC236}">
                <a16:creationId xmlns:a16="http://schemas.microsoft.com/office/drawing/2014/main" id="{5FA92719-E39F-B7C2-7374-49E8C15322AC}"/>
              </a:ext>
            </a:extLst>
          </p:cNvPr>
          <p:cNvPicPr>
            <a:picLocks noChangeAspect="1"/>
          </p:cNvPicPr>
          <p:nvPr/>
        </p:nvPicPr>
        <p:blipFill>
          <a:blip r:embed="rId3"/>
          <a:srcRect l="32321"/>
          <a:stretch/>
        </p:blipFill>
        <p:spPr>
          <a:xfrm>
            <a:off x="616017" y="1895694"/>
            <a:ext cx="11110231" cy="3272992"/>
          </a:xfrm>
          <a:prstGeom prst="rect">
            <a:avLst/>
          </a:prstGeom>
        </p:spPr>
      </p:pic>
    </p:spTree>
    <p:extLst>
      <p:ext uri="{BB962C8B-B14F-4D97-AF65-F5344CB8AC3E}">
        <p14:creationId xmlns:p14="http://schemas.microsoft.com/office/powerpoint/2010/main" val="3610121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89732-484A-6B94-1A26-592BDD148590}"/>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451EC1A-2C14-98A9-A6DA-73FDF9501791}"/>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分类的定义</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6" name="文本框 5">
            <a:extLst>
              <a:ext uri="{FF2B5EF4-FFF2-40B4-BE49-F238E27FC236}">
                <a16:creationId xmlns:a16="http://schemas.microsoft.com/office/drawing/2014/main" id="{C1BBC506-3B10-9420-CB11-2B15E943AF1D}"/>
              </a:ext>
            </a:extLst>
          </p:cNvPr>
          <p:cNvSpPr txBox="1"/>
          <p:nvPr/>
        </p:nvSpPr>
        <p:spPr>
          <a:xfrm>
            <a:off x="309621" y="1045886"/>
            <a:ext cx="11558327" cy="1896801"/>
          </a:xfrm>
          <a:prstGeom prst="rect">
            <a:avLst/>
          </a:prstGeom>
          <a:noFill/>
        </p:spPr>
        <p:txBody>
          <a:bodyPr wrap="square">
            <a:spAutoFit/>
          </a:bodyPr>
          <a:lstStyle/>
          <a:p>
            <a:pPr indent="304800" algn="just">
              <a:lnSpc>
                <a:spcPct val="125000"/>
              </a:lnSpc>
            </a:pPr>
            <a:r>
              <a:rPr lang="zh-CN" altLang="zh-CN" sz="2400" kern="100" dirty="0">
                <a:effectLst/>
                <a:latin typeface="微软雅黑" panose="020B0503020204020204" pitchFamily="34" charset="-122"/>
                <a:ea typeface="微软雅黑" panose="020B0503020204020204" pitchFamily="34" charset="-122"/>
                <a:cs typeface="Times New Roman" panose="02020603050405020304" pitchFamily="18" charset="0"/>
              </a:rPr>
              <a:t>根据预测类别的数目，分类任务可进一步分为</a:t>
            </a: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二分类、多分类和多标签分类。</a:t>
            </a:r>
            <a:endParaRPr lang="en-US" altLang="zh-CN" sz="24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25000"/>
              </a:lnSpc>
              <a:buFont typeface="Arial" panose="020B0604020202020204" pitchFamily="34" charset="0"/>
              <a:buChar char="•"/>
            </a:pPr>
            <a:r>
              <a:rPr lang="zh-CN" altLang="zh-CN" sz="24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二分类</a:t>
            </a:r>
            <a:r>
              <a:rPr lang="zh-CN" altLang="zh-CN" sz="2400" kern="100" dirty="0">
                <a:effectLst/>
                <a:latin typeface="微软雅黑" panose="020B0503020204020204" pitchFamily="34" charset="-122"/>
                <a:ea typeface="微软雅黑" panose="020B0503020204020204" pitchFamily="34" charset="-122"/>
                <a:cs typeface="Times New Roman" panose="02020603050405020304" pitchFamily="18" charset="0"/>
              </a:rPr>
              <a:t>任务是指预测样本属于两个类别中的其中一个，</a:t>
            </a:r>
            <a:endParaRPr lang="en-US" altLang="zh-CN" sz="2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25000"/>
              </a:lnSpc>
              <a:buFont typeface="Arial" panose="020B0604020202020204" pitchFamily="34" charset="0"/>
              <a:buChar char="•"/>
            </a:pPr>
            <a:r>
              <a:rPr lang="zh-CN" altLang="zh-CN" sz="24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多分类</a:t>
            </a:r>
            <a:r>
              <a:rPr lang="zh-CN" altLang="zh-CN" sz="2400" kern="100" dirty="0">
                <a:effectLst/>
                <a:latin typeface="微软雅黑" panose="020B0503020204020204" pitchFamily="34" charset="-122"/>
                <a:ea typeface="微软雅黑" panose="020B0503020204020204" pitchFamily="34" charset="-122"/>
                <a:cs typeface="Times New Roman" panose="02020603050405020304" pitchFamily="18" charset="0"/>
              </a:rPr>
              <a:t>任务是指预测样本属于两个以上类别中的其中一个</a:t>
            </a:r>
            <a:endParaRPr lang="en-US" altLang="zh-CN" sz="2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25000"/>
              </a:lnSpc>
              <a:buFont typeface="Arial" panose="020B0604020202020204" pitchFamily="34" charset="0"/>
              <a:buChar char="•"/>
            </a:pPr>
            <a:r>
              <a:rPr lang="zh-CN" altLang="zh-CN" sz="24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多标签</a:t>
            </a:r>
            <a:r>
              <a:rPr lang="zh-CN" altLang="zh-CN" sz="2400" kern="100" dirty="0">
                <a:effectLst/>
                <a:latin typeface="微软雅黑" panose="020B0503020204020204" pitchFamily="34" charset="-122"/>
                <a:ea typeface="微软雅黑" panose="020B0503020204020204" pitchFamily="34" charset="-122"/>
                <a:cs typeface="Times New Roman" panose="02020603050405020304" pitchFamily="18" charset="0"/>
              </a:rPr>
              <a:t>分类任务则是为每个样本预测一个或多个类别。</a:t>
            </a:r>
          </a:p>
        </p:txBody>
      </p:sp>
      <p:pic>
        <p:nvPicPr>
          <p:cNvPr id="12290" name="Picture 2" descr="25、二分类、多分类与多标签问题的区别 - Andy_George - 博客园">
            <a:extLst>
              <a:ext uri="{FF2B5EF4-FFF2-40B4-BE49-F238E27FC236}">
                <a16:creationId xmlns:a16="http://schemas.microsoft.com/office/drawing/2014/main" id="{895F639B-3E7B-28ED-2252-E37C331E70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754" y="3034442"/>
            <a:ext cx="5098199" cy="3575360"/>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合并」 样本和标签? IBM 为多标签小样本图像分类带来新进展！| CVPR 2019 | 雷峰网">
            <a:extLst>
              <a:ext uri="{FF2B5EF4-FFF2-40B4-BE49-F238E27FC236}">
                <a16:creationId xmlns:a16="http://schemas.microsoft.com/office/drawing/2014/main" id="{5739B8FB-B255-AEB8-570B-870F6B0836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8460" y="3155612"/>
            <a:ext cx="4887421" cy="3454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655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AA57C-4C5F-1C3F-569F-DA6865F6933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7BA4F95-401D-D3DB-F8ED-BB5DFCB8F1BD}"/>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分类的步骤</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7" name="Rectangle 3">
            <a:extLst>
              <a:ext uri="{FF2B5EF4-FFF2-40B4-BE49-F238E27FC236}">
                <a16:creationId xmlns:a16="http://schemas.microsoft.com/office/drawing/2014/main" id="{3D676FB5-CEE6-DC12-7CDA-04C05D5E5B7C}"/>
              </a:ext>
            </a:extLst>
          </p:cNvPr>
          <p:cNvSpPr txBox="1">
            <a:spLocks noChangeArrowheads="1"/>
          </p:cNvSpPr>
          <p:nvPr/>
        </p:nvSpPr>
        <p:spPr>
          <a:xfrm>
            <a:off x="920795" y="5751185"/>
            <a:ext cx="10167144" cy="848992"/>
          </a:xfrm>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solidFill>
                  <a:srgbClr val="660033"/>
                </a:solidFill>
                <a:latin typeface="微软雅黑" panose="020B0503020204020204" pitchFamily="34" charset="-122"/>
                <a:ea typeface="微软雅黑" panose="020B0503020204020204" pitchFamily="34" charset="-122"/>
              </a:rPr>
              <a:t>根据现有的知识，我们得到了一些关于爬行动物和鸟类的信息，我们能否对新发现的物种，比如动物A，动物B进行分类？</a:t>
            </a:r>
          </a:p>
        </p:txBody>
      </p:sp>
      <p:graphicFrame>
        <p:nvGraphicFramePr>
          <p:cNvPr id="8" name="Group 4">
            <a:extLst>
              <a:ext uri="{FF2B5EF4-FFF2-40B4-BE49-F238E27FC236}">
                <a16:creationId xmlns:a16="http://schemas.microsoft.com/office/drawing/2014/main" id="{EE059B7F-D54F-C473-9BF3-C1448CA0E385}"/>
              </a:ext>
            </a:extLst>
          </p:cNvPr>
          <p:cNvGraphicFramePr>
            <a:graphicFrameLocks/>
          </p:cNvGraphicFramePr>
          <p:nvPr>
            <p:extLst>
              <p:ext uri="{D42A27DB-BD31-4B8C-83A1-F6EECF244321}">
                <p14:modId xmlns:p14="http://schemas.microsoft.com/office/powerpoint/2010/main" val="1226157691"/>
              </p:ext>
            </p:extLst>
          </p:nvPr>
        </p:nvGraphicFramePr>
        <p:xfrm>
          <a:off x="846167" y="1280768"/>
          <a:ext cx="10656022" cy="4114800"/>
        </p:xfrm>
        <a:graphic>
          <a:graphicData uri="http://schemas.openxmlformats.org/drawingml/2006/table">
            <a:tbl>
              <a:tblPr/>
              <a:tblGrid>
                <a:gridCol w="1478045">
                  <a:extLst>
                    <a:ext uri="{9D8B030D-6E8A-4147-A177-3AD203B41FA5}">
                      <a16:colId xmlns:a16="http://schemas.microsoft.com/office/drawing/2014/main" val="2160186825"/>
                    </a:ext>
                  </a:extLst>
                </a:gridCol>
                <a:gridCol w="1010283">
                  <a:extLst>
                    <a:ext uri="{9D8B030D-6E8A-4147-A177-3AD203B41FA5}">
                      <a16:colId xmlns:a16="http://schemas.microsoft.com/office/drawing/2014/main" val="1841040809"/>
                    </a:ext>
                  </a:extLst>
                </a:gridCol>
                <a:gridCol w="1576296">
                  <a:extLst>
                    <a:ext uri="{9D8B030D-6E8A-4147-A177-3AD203B41FA5}">
                      <a16:colId xmlns:a16="http://schemas.microsoft.com/office/drawing/2014/main" val="973988230"/>
                    </a:ext>
                  </a:extLst>
                </a:gridCol>
                <a:gridCol w="1638237">
                  <a:extLst>
                    <a:ext uri="{9D8B030D-6E8A-4147-A177-3AD203B41FA5}">
                      <a16:colId xmlns:a16="http://schemas.microsoft.com/office/drawing/2014/main" val="958204580"/>
                    </a:ext>
                  </a:extLst>
                </a:gridCol>
                <a:gridCol w="1480182">
                  <a:extLst>
                    <a:ext uri="{9D8B030D-6E8A-4147-A177-3AD203B41FA5}">
                      <a16:colId xmlns:a16="http://schemas.microsoft.com/office/drawing/2014/main" val="3155934803"/>
                    </a:ext>
                  </a:extLst>
                </a:gridCol>
                <a:gridCol w="1623287">
                  <a:extLst>
                    <a:ext uri="{9D8B030D-6E8A-4147-A177-3AD203B41FA5}">
                      <a16:colId xmlns:a16="http://schemas.microsoft.com/office/drawing/2014/main" val="2822979865"/>
                    </a:ext>
                  </a:extLst>
                </a:gridCol>
                <a:gridCol w="1849692">
                  <a:extLst>
                    <a:ext uri="{9D8B030D-6E8A-4147-A177-3AD203B41FA5}">
                      <a16:colId xmlns:a16="http://schemas.microsoft.com/office/drawing/2014/main" val="1454675350"/>
                    </a:ext>
                  </a:extLst>
                </a:gridCol>
              </a:tblGrid>
              <a:tr h="4318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1" i="0" u="none" strike="noStrike" cap="none" normalizeH="0" baseline="0">
                          <a:ln>
                            <a:noFill/>
                          </a:ln>
                          <a:effectLst/>
                          <a:latin typeface="Calibri" panose="020F0502020204030204" pitchFamily="34" charset="0"/>
                          <a:ea typeface="楷体_GB2312" pitchFamily="1" charset="-122"/>
                        </a:rPr>
                        <a:t>动物种类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1" i="0" u="none" strike="noStrike" cap="none" normalizeH="0" baseline="0">
                          <a:ln>
                            <a:noFill/>
                          </a:ln>
                          <a:effectLst/>
                          <a:latin typeface="Calibri" panose="020F0502020204030204" pitchFamily="34" charset="0"/>
                          <a:ea typeface="楷体_GB2312" pitchFamily="1" charset="-122"/>
                        </a:rPr>
                        <a:t>体型</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1" i="0" u="none" strike="noStrike" cap="none" normalizeH="0" baseline="0" dirty="0">
                          <a:ln>
                            <a:noFill/>
                          </a:ln>
                          <a:effectLst/>
                          <a:latin typeface="Calibri" panose="020F0502020204030204" pitchFamily="34" charset="0"/>
                          <a:ea typeface="楷体_GB2312" pitchFamily="1" charset="-122"/>
                        </a:rPr>
                        <a:t>翅膀数量</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1" i="0" u="none" strike="noStrike" cap="none" normalizeH="0" baseline="0">
                          <a:ln>
                            <a:noFill/>
                          </a:ln>
                          <a:effectLst/>
                          <a:latin typeface="Calibri" panose="020F0502020204030204" pitchFamily="34" charset="0"/>
                          <a:ea typeface="楷体_GB2312" pitchFamily="1" charset="-122"/>
                        </a:rPr>
                        <a:t>脚的只数</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1" i="0" u="none" strike="noStrike" cap="none" normalizeH="0" baseline="0" dirty="0">
                          <a:ln>
                            <a:noFill/>
                          </a:ln>
                          <a:effectLst/>
                          <a:latin typeface="Calibri" panose="020F0502020204030204" pitchFamily="34" charset="0"/>
                          <a:ea typeface="楷体_GB2312" pitchFamily="1" charset="-122"/>
                        </a:rPr>
                        <a:t>是否产蛋</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1" i="0" u="none" strike="noStrike" cap="none" normalizeH="0" baseline="0">
                          <a:ln>
                            <a:noFill/>
                          </a:ln>
                          <a:effectLst/>
                          <a:latin typeface="Calibri" panose="020F0502020204030204" pitchFamily="34" charset="0"/>
                          <a:ea typeface="楷体_GB2312" pitchFamily="1" charset="-122"/>
                        </a:rPr>
                        <a:t>是否有毛</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1" i="0" u="none" strike="noStrike" cap="none" normalizeH="0" baseline="0">
                          <a:ln>
                            <a:noFill/>
                          </a:ln>
                          <a:effectLst/>
                          <a:latin typeface="Calibri" panose="020F0502020204030204" pitchFamily="34" charset="0"/>
                          <a:ea typeface="楷体_GB2312" pitchFamily="1" charset="-122"/>
                        </a:rPr>
                        <a:t>类别</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0245751"/>
                  </a:ext>
                </a:extLst>
              </a:tr>
              <a:tr h="430213">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狗</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4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3705107230"/>
                  </a:ext>
                </a:extLst>
              </a:tr>
              <a:tr h="4318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猪</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大</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400" b="0" i="0" u="none" strike="noStrike" cap="none" normalizeH="0" baseline="0">
                          <a:ln>
                            <a:noFill/>
                          </a:ln>
                          <a:effectLst/>
                          <a:latin typeface="Calibri" panose="020F0502020204030204"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4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4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42624934"/>
                  </a:ext>
                </a:extLst>
              </a:tr>
              <a:tr h="366713">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牛</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大</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400" b="0" i="0" u="none" strike="noStrike" cap="none" normalizeH="0" baseline="0">
                          <a:ln>
                            <a:noFill/>
                          </a:ln>
                          <a:effectLst/>
                          <a:latin typeface="Calibri" panose="020F0502020204030204"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4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4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2293455988"/>
                  </a:ext>
                </a:extLst>
              </a:tr>
              <a:tr h="442913">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麻雀</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小</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4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solidFill>
                            <a:srgbClr val="3333FF"/>
                          </a:solidFill>
                          <a:effectLst/>
                          <a:latin typeface="Calibri" panose="020F0502020204030204" pitchFamily="34" charset="0"/>
                          <a:ea typeface="楷体_GB2312" pitchFamily="1" charset="-122"/>
                        </a:rPr>
                        <a:t>鸟类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52162714"/>
                  </a:ext>
                </a:extLst>
              </a:tr>
              <a:tr h="433388">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天鹅</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400" b="0" i="0" u="none" strike="noStrike" cap="none" normalizeH="0" baseline="0">
                          <a:ln>
                            <a:noFill/>
                          </a:ln>
                          <a:solidFill>
                            <a:srgbClr val="3333FF"/>
                          </a:solidFill>
                          <a:effectLst/>
                          <a:latin typeface="Calibri" panose="020F0502020204030204" pitchFamily="34" charset="0"/>
                          <a:ea typeface="楷体_GB2312" pitchFamily="1" charset="-122"/>
                        </a:rPr>
                        <a:t>鸟类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3348648709"/>
                  </a:ext>
                </a:extLst>
              </a:tr>
              <a:tr h="4318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dirty="0">
                          <a:ln>
                            <a:noFill/>
                          </a:ln>
                          <a:effectLst/>
                          <a:latin typeface="Calibri" panose="020F0502020204030204" pitchFamily="34" charset="0"/>
                          <a:ea typeface="楷体_GB2312" pitchFamily="1" charset="-122"/>
                        </a:rPr>
                        <a:t>大雁</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400" b="0" i="0" u="none" strike="noStrike" cap="none" normalizeH="0" baseline="0">
                          <a:ln>
                            <a:noFill/>
                          </a:ln>
                          <a:solidFill>
                            <a:srgbClr val="3333FF"/>
                          </a:solidFill>
                          <a:effectLst/>
                          <a:latin typeface="Calibri" panose="020F0502020204030204" pitchFamily="34" charset="0"/>
                          <a:ea typeface="楷体_GB2312" pitchFamily="1" charset="-122"/>
                        </a:rPr>
                        <a:t>鸟类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37812004"/>
                  </a:ext>
                </a:extLst>
              </a:tr>
              <a:tr h="433388">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dirty="0">
                          <a:ln>
                            <a:noFill/>
                          </a:ln>
                          <a:effectLst/>
                          <a:latin typeface="楷体_GB2312" pitchFamily="1" charset="-122"/>
                          <a:ea typeface="楷体_GB2312" pitchFamily="1" charset="-122"/>
                        </a:rPr>
                        <a:t>动物A</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大</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4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无</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1" i="0" u="none" strike="noStrike" cap="none" normalizeH="0" baseline="0">
                          <a:ln>
                            <a:noFill/>
                          </a:ln>
                          <a:solidFill>
                            <a:srgbClr val="008000"/>
                          </a:solidFill>
                          <a:effectLst/>
                          <a:latin typeface="Calibri" panose="020F0502020204030204" pitchFamily="34" charset="0"/>
                          <a:ea typeface="楷体_GB2312" pitchFamily="1" charset="-122"/>
                        </a:rPr>
                        <a:t>？</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1630853822"/>
                  </a:ext>
                </a:extLst>
              </a:tr>
              <a:tr h="392113">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动物B</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0" i="0" u="none" strike="noStrike" cap="none" normalizeH="0" baseline="0">
                          <a:ln>
                            <a:noFill/>
                          </a:ln>
                          <a:effectLst/>
                          <a:latin typeface="Calibri" panose="020F0502020204030204"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4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400" b="1" i="0" u="none" strike="noStrike" cap="none" normalizeH="0" baseline="0" dirty="0">
                          <a:ln>
                            <a:noFill/>
                          </a:ln>
                          <a:solidFill>
                            <a:srgbClr val="008000"/>
                          </a:solidFill>
                          <a:effectLst/>
                          <a:latin typeface="Calibri" panose="020F0502020204030204" pitchFamily="34" charset="0"/>
                          <a:ea typeface="楷体_GB2312" pitchFamily="1" charset="-122"/>
                        </a:rPr>
                        <a:t>？</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77231496"/>
                  </a:ext>
                </a:extLst>
              </a:tr>
            </a:tbl>
          </a:graphicData>
        </a:graphic>
      </p:graphicFrame>
    </p:spTree>
    <p:extLst>
      <p:ext uri="{BB962C8B-B14F-4D97-AF65-F5344CB8AC3E}">
        <p14:creationId xmlns:p14="http://schemas.microsoft.com/office/powerpoint/2010/main" val="20886712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BFC4286D-3951-94C8-2C67-72A7C033ADEE}"/>
              </a:ext>
            </a:extLst>
          </p:cNvPr>
          <p:cNvSpPr txBox="1">
            <a:spLocks noChangeArrowheads="1"/>
          </p:cNvSpPr>
          <p:nvPr/>
        </p:nvSpPr>
        <p:spPr>
          <a:xfrm>
            <a:off x="846167" y="5402686"/>
            <a:ext cx="9125577" cy="1368425"/>
          </a:xfrm>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60033"/>
                </a:solidFill>
                <a:latin typeface="微软雅黑" panose="020B0503020204020204" pitchFamily="34" charset="-122"/>
                <a:ea typeface="微软雅黑" panose="020B0503020204020204" pitchFamily="34" charset="-122"/>
              </a:rPr>
              <a:t>步骤一：将样本转化为等维的数据特征（特征提取）。</a:t>
            </a:r>
          </a:p>
          <a:p>
            <a:pPr lvl="1"/>
            <a:r>
              <a:rPr lang="zh-CN" altLang="en-US" dirty="0">
                <a:solidFill>
                  <a:srgbClr val="660033"/>
                </a:solidFill>
                <a:latin typeface="微软雅黑" panose="020B0503020204020204" pitchFamily="34" charset="-122"/>
                <a:ea typeface="微软雅黑" panose="020B0503020204020204" pitchFamily="34" charset="-122"/>
              </a:rPr>
              <a:t>所有样本必须具有相同数量的特征</a:t>
            </a:r>
          </a:p>
          <a:p>
            <a:pPr lvl="1"/>
            <a:r>
              <a:rPr lang="zh-CN" altLang="en-US" dirty="0">
                <a:solidFill>
                  <a:srgbClr val="660033"/>
                </a:solidFill>
                <a:latin typeface="微软雅黑" panose="020B0503020204020204" pitchFamily="34" charset="-122"/>
                <a:ea typeface="微软雅黑" panose="020B0503020204020204" pitchFamily="34" charset="-122"/>
              </a:rPr>
              <a:t>兼顾特征的全面性和独立性</a:t>
            </a:r>
          </a:p>
          <a:p>
            <a:pPr marL="0" indent="0">
              <a:buNone/>
            </a:pPr>
            <a:endParaRPr lang="zh-CN" altLang="en-US" sz="2400" dirty="0">
              <a:latin typeface="微软雅黑" panose="020B0503020204020204" pitchFamily="34" charset="-122"/>
              <a:ea typeface="微软雅黑" panose="020B0503020204020204" pitchFamily="34" charset="-122"/>
            </a:endParaRPr>
          </a:p>
        </p:txBody>
      </p:sp>
      <p:sp>
        <p:nvSpPr>
          <p:cNvPr id="9" name="矩形 26">
            <a:extLst>
              <a:ext uri="{FF2B5EF4-FFF2-40B4-BE49-F238E27FC236}">
                <a16:creationId xmlns:a16="http://schemas.microsoft.com/office/drawing/2014/main" id="{52C075FB-D9E0-6F70-78CC-6427AF1DB73F}"/>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分类的步骤</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graphicFrame>
        <p:nvGraphicFramePr>
          <p:cNvPr id="4" name="Group 4">
            <a:extLst>
              <a:ext uri="{FF2B5EF4-FFF2-40B4-BE49-F238E27FC236}">
                <a16:creationId xmlns:a16="http://schemas.microsoft.com/office/drawing/2014/main" id="{C1E1266E-FCAF-228B-C65D-E67D0D88A677}"/>
              </a:ext>
            </a:extLst>
          </p:cNvPr>
          <p:cNvGraphicFramePr>
            <a:graphicFrameLocks/>
          </p:cNvGraphicFramePr>
          <p:nvPr>
            <p:extLst>
              <p:ext uri="{D42A27DB-BD31-4B8C-83A1-F6EECF244321}">
                <p14:modId xmlns:p14="http://schemas.microsoft.com/office/powerpoint/2010/main" val="1164091002"/>
              </p:ext>
            </p:extLst>
          </p:nvPr>
        </p:nvGraphicFramePr>
        <p:xfrm>
          <a:off x="846167" y="1280768"/>
          <a:ext cx="10656022" cy="3827782"/>
        </p:xfrm>
        <a:graphic>
          <a:graphicData uri="http://schemas.openxmlformats.org/drawingml/2006/table">
            <a:tbl>
              <a:tblPr/>
              <a:tblGrid>
                <a:gridCol w="1478045">
                  <a:extLst>
                    <a:ext uri="{9D8B030D-6E8A-4147-A177-3AD203B41FA5}">
                      <a16:colId xmlns:a16="http://schemas.microsoft.com/office/drawing/2014/main" val="2160186825"/>
                    </a:ext>
                  </a:extLst>
                </a:gridCol>
                <a:gridCol w="1010283">
                  <a:extLst>
                    <a:ext uri="{9D8B030D-6E8A-4147-A177-3AD203B41FA5}">
                      <a16:colId xmlns:a16="http://schemas.microsoft.com/office/drawing/2014/main" val="1841040809"/>
                    </a:ext>
                  </a:extLst>
                </a:gridCol>
                <a:gridCol w="1576296">
                  <a:extLst>
                    <a:ext uri="{9D8B030D-6E8A-4147-A177-3AD203B41FA5}">
                      <a16:colId xmlns:a16="http://schemas.microsoft.com/office/drawing/2014/main" val="973988230"/>
                    </a:ext>
                  </a:extLst>
                </a:gridCol>
                <a:gridCol w="1638237">
                  <a:extLst>
                    <a:ext uri="{9D8B030D-6E8A-4147-A177-3AD203B41FA5}">
                      <a16:colId xmlns:a16="http://schemas.microsoft.com/office/drawing/2014/main" val="958204580"/>
                    </a:ext>
                  </a:extLst>
                </a:gridCol>
                <a:gridCol w="1480182">
                  <a:extLst>
                    <a:ext uri="{9D8B030D-6E8A-4147-A177-3AD203B41FA5}">
                      <a16:colId xmlns:a16="http://schemas.microsoft.com/office/drawing/2014/main" val="3155934803"/>
                    </a:ext>
                  </a:extLst>
                </a:gridCol>
                <a:gridCol w="1623287">
                  <a:extLst>
                    <a:ext uri="{9D8B030D-6E8A-4147-A177-3AD203B41FA5}">
                      <a16:colId xmlns:a16="http://schemas.microsoft.com/office/drawing/2014/main" val="2822979865"/>
                    </a:ext>
                  </a:extLst>
                </a:gridCol>
                <a:gridCol w="1849692">
                  <a:extLst>
                    <a:ext uri="{9D8B030D-6E8A-4147-A177-3AD203B41FA5}">
                      <a16:colId xmlns:a16="http://schemas.microsoft.com/office/drawing/2014/main" val="1454675350"/>
                    </a:ext>
                  </a:extLst>
                </a:gridCol>
              </a:tblGrid>
              <a:tr h="4318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effectLst/>
                          <a:latin typeface="Calibri" panose="020F0502020204030204" pitchFamily="34" charset="0"/>
                          <a:ea typeface="楷体_GB2312" pitchFamily="1" charset="-122"/>
                        </a:rPr>
                        <a:t>动物种类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effectLst/>
                          <a:latin typeface="Calibri" panose="020F0502020204030204" pitchFamily="34" charset="0"/>
                          <a:ea typeface="楷体_GB2312" pitchFamily="1" charset="-122"/>
                        </a:rPr>
                        <a:t>体型</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effectLst/>
                          <a:latin typeface="Calibri" panose="020F0502020204030204" pitchFamily="34" charset="0"/>
                          <a:ea typeface="楷体_GB2312" pitchFamily="1" charset="-122"/>
                        </a:rPr>
                        <a:t>翅膀数量</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effectLst/>
                          <a:latin typeface="Calibri" panose="020F0502020204030204" pitchFamily="34" charset="0"/>
                          <a:ea typeface="楷体_GB2312" pitchFamily="1" charset="-122"/>
                        </a:rPr>
                        <a:t>脚的只数</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effectLst/>
                          <a:latin typeface="Calibri" panose="020F0502020204030204" pitchFamily="34" charset="0"/>
                          <a:ea typeface="楷体_GB2312" pitchFamily="1" charset="-122"/>
                        </a:rPr>
                        <a:t>是否产蛋</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effectLst/>
                          <a:latin typeface="Calibri" panose="020F0502020204030204" pitchFamily="34" charset="0"/>
                          <a:ea typeface="楷体_GB2312" pitchFamily="1" charset="-122"/>
                        </a:rPr>
                        <a:t>是否有毛</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effectLst/>
                          <a:latin typeface="Calibri" panose="020F0502020204030204" pitchFamily="34" charset="0"/>
                          <a:ea typeface="楷体_GB2312" pitchFamily="1" charset="-122"/>
                        </a:rPr>
                        <a:t>类别</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0245751"/>
                  </a:ext>
                </a:extLst>
              </a:tr>
              <a:tr h="430213">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狗</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dirty="0">
                          <a:ln>
                            <a:noFill/>
                          </a:ln>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3705107230"/>
                  </a:ext>
                </a:extLst>
              </a:tr>
              <a:tr h="4318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猪</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大</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effectLst/>
                          <a:latin typeface="Calibri" panose="020F0502020204030204"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42624934"/>
                  </a:ext>
                </a:extLst>
              </a:tr>
              <a:tr h="366713">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牛</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大</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effectLst/>
                          <a:latin typeface="Calibri" panose="020F0502020204030204"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2293455988"/>
                  </a:ext>
                </a:extLst>
              </a:tr>
              <a:tr h="442913">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麻雀</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小</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dirty="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solidFill>
                            <a:srgbClr val="3333FF"/>
                          </a:solidFill>
                          <a:effectLst/>
                          <a:latin typeface="Calibri" panose="020F0502020204030204" pitchFamily="34" charset="0"/>
                          <a:ea typeface="楷体_GB2312" pitchFamily="1" charset="-122"/>
                        </a:rPr>
                        <a:t>鸟类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52162714"/>
                  </a:ext>
                </a:extLst>
              </a:tr>
              <a:tr h="433388">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天鹅</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dirty="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dirty="0" err="1">
                          <a:ln>
                            <a:noFill/>
                          </a:ln>
                          <a:solidFill>
                            <a:srgbClr val="3333FF"/>
                          </a:solidFill>
                          <a:effectLst/>
                          <a:latin typeface="Calibri" panose="020F0502020204030204" pitchFamily="34" charset="0"/>
                          <a:ea typeface="楷体_GB2312" pitchFamily="1" charset="-122"/>
                        </a:rPr>
                        <a:t>鸟类</a:t>
                      </a:r>
                      <a:endParaRPr kumimoji="0" lang="en-US" altLang="en-US" sz="2000" b="0" i="0" u="none" strike="noStrike" cap="none" normalizeH="0" baseline="0" dirty="0">
                        <a:ln>
                          <a:noFill/>
                        </a:ln>
                        <a:solidFill>
                          <a:srgbClr val="3333FF"/>
                        </a:solidFill>
                        <a:effectLst/>
                        <a:latin typeface="Calibri" panose="020F0502020204030204" pitchFamily="34" charset="0"/>
                        <a:ea typeface="楷体_GB2312" pitchFamily="1" charset="-122"/>
                      </a:endParaRP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3348648709"/>
                  </a:ext>
                </a:extLst>
              </a:tr>
              <a:tr h="4318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dirty="0">
                          <a:ln>
                            <a:noFill/>
                          </a:ln>
                          <a:effectLst/>
                          <a:latin typeface="Calibri" panose="020F0502020204030204" pitchFamily="34" charset="0"/>
                          <a:ea typeface="楷体_GB2312" pitchFamily="1" charset="-122"/>
                        </a:rPr>
                        <a:t>大雁</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dirty="0" err="1">
                          <a:ln>
                            <a:noFill/>
                          </a:ln>
                          <a:solidFill>
                            <a:srgbClr val="3333FF"/>
                          </a:solidFill>
                          <a:effectLst/>
                          <a:latin typeface="Calibri" panose="020F0502020204030204" pitchFamily="34" charset="0"/>
                          <a:ea typeface="楷体_GB2312" pitchFamily="1" charset="-122"/>
                        </a:rPr>
                        <a:t>鸟类</a:t>
                      </a:r>
                      <a:endParaRPr kumimoji="0" lang="en-US" altLang="en-US" sz="2000" b="0" i="0" u="none" strike="noStrike" cap="none" normalizeH="0" baseline="0" dirty="0">
                        <a:ln>
                          <a:noFill/>
                        </a:ln>
                        <a:solidFill>
                          <a:srgbClr val="3333FF"/>
                        </a:solidFill>
                        <a:effectLst/>
                        <a:latin typeface="Calibri" panose="020F0502020204030204" pitchFamily="34" charset="0"/>
                        <a:ea typeface="楷体_GB2312" pitchFamily="1" charset="-122"/>
                      </a:endParaRP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37812004"/>
                  </a:ext>
                </a:extLst>
              </a:tr>
              <a:tr h="433388">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dirty="0">
                          <a:ln>
                            <a:noFill/>
                          </a:ln>
                          <a:effectLst/>
                          <a:latin typeface="楷体_GB2312" pitchFamily="1" charset="-122"/>
                          <a:ea typeface="楷体_GB2312" pitchFamily="1" charset="-122"/>
                        </a:rPr>
                        <a:t>动物A</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大</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无</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solidFill>
                            <a:srgbClr val="008000"/>
                          </a:solidFill>
                          <a:effectLst/>
                          <a:latin typeface="Calibri" panose="020F0502020204030204" pitchFamily="34" charset="0"/>
                          <a:ea typeface="楷体_GB2312" pitchFamily="1" charset="-122"/>
                        </a:rPr>
                        <a:t>？</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1630853822"/>
                  </a:ext>
                </a:extLst>
              </a:tr>
              <a:tr h="392113">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动物B</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solidFill>
                            <a:srgbClr val="008000"/>
                          </a:solidFill>
                          <a:effectLst/>
                          <a:latin typeface="Calibri" panose="020F0502020204030204" pitchFamily="34" charset="0"/>
                          <a:ea typeface="楷体_GB2312" pitchFamily="1" charset="-122"/>
                        </a:rPr>
                        <a:t>？</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77231496"/>
                  </a:ext>
                </a:extLst>
              </a:tr>
            </a:tbl>
          </a:graphicData>
        </a:graphic>
      </p:graphicFrame>
    </p:spTree>
    <p:extLst>
      <p:ext uri="{BB962C8B-B14F-4D97-AF65-F5344CB8AC3E}">
        <p14:creationId xmlns:p14="http://schemas.microsoft.com/office/powerpoint/2010/main" val="28815587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5D418-8D4A-74DC-1321-1C5967EF70DC}"/>
            </a:ext>
          </a:extLst>
        </p:cNvPr>
        <p:cNvGrpSpPr/>
        <p:nvPr/>
      </p:nvGrpSpPr>
      <p:grpSpPr>
        <a:xfrm>
          <a:off x="0" y="0"/>
          <a:ext cx="0" cy="0"/>
          <a:chOff x="0" y="0"/>
          <a:chExt cx="0" cy="0"/>
        </a:xfrm>
      </p:grpSpPr>
      <p:sp>
        <p:nvSpPr>
          <p:cNvPr id="9" name="矩形 26">
            <a:extLst>
              <a:ext uri="{FF2B5EF4-FFF2-40B4-BE49-F238E27FC236}">
                <a16:creationId xmlns:a16="http://schemas.microsoft.com/office/drawing/2014/main" id="{AFF8D26C-6B61-F836-F6C9-D8109DB0670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分类的步骤</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2" name="Rectangle 3">
            <a:extLst>
              <a:ext uri="{FF2B5EF4-FFF2-40B4-BE49-F238E27FC236}">
                <a16:creationId xmlns:a16="http://schemas.microsoft.com/office/drawing/2014/main" id="{28466890-1E6A-45C5-2407-5FB277456732}"/>
              </a:ext>
            </a:extLst>
          </p:cNvPr>
          <p:cNvSpPr txBox="1">
            <a:spLocks noChangeArrowheads="1"/>
          </p:cNvSpPr>
          <p:nvPr/>
        </p:nvSpPr>
        <p:spPr>
          <a:xfrm>
            <a:off x="846167" y="5394325"/>
            <a:ext cx="8076386" cy="1463675"/>
          </a:xfrm>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660033"/>
                </a:solidFill>
                <a:latin typeface="微软雅黑" panose="020B0503020204020204" pitchFamily="34" charset="-122"/>
                <a:ea typeface="微软雅黑" panose="020B0503020204020204" pitchFamily="34" charset="-122"/>
              </a:rPr>
              <a:t>步骤二：选择与类别相关的特征（特征选择）。</a:t>
            </a:r>
          </a:p>
          <a:p>
            <a:pPr lvl="1"/>
            <a:r>
              <a:rPr lang="zh-CN" altLang="en-US" dirty="0">
                <a:solidFill>
                  <a:srgbClr val="660033"/>
                </a:solidFill>
                <a:latin typeface="微软雅黑" panose="020B0503020204020204" pitchFamily="34" charset="-122"/>
                <a:ea typeface="微软雅黑" panose="020B0503020204020204" pitchFamily="34" charset="-122"/>
              </a:rPr>
              <a:t>比如，绿色代表与类别非常相关，黑色代表部分相关，灰色代表完全无关</a:t>
            </a:r>
          </a:p>
          <a:p>
            <a:endParaRPr lang="zh-CN" altLang="en-US" sz="2400" dirty="0">
              <a:latin typeface="微软雅黑" panose="020B0503020204020204" pitchFamily="34" charset="-122"/>
              <a:ea typeface="微软雅黑" panose="020B0503020204020204" pitchFamily="34" charset="-122"/>
            </a:endParaRPr>
          </a:p>
        </p:txBody>
      </p:sp>
      <p:graphicFrame>
        <p:nvGraphicFramePr>
          <p:cNvPr id="4" name="Group 4">
            <a:extLst>
              <a:ext uri="{FF2B5EF4-FFF2-40B4-BE49-F238E27FC236}">
                <a16:creationId xmlns:a16="http://schemas.microsoft.com/office/drawing/2014/main" id="{C0329AF7-AF1A-AB2A-A9E0-1A225179C2FB}"/>
              </a:ext>
            </a:extLst>
          </p:cNvPr>
          <p:cNvGraphicFramePr>
            <a:graphicFrameLocks/>
          </p:cNvGraphicFramePr>
          <p:nvPr>
            <p:extLst>
              <p:ext uri="{D42A27DB-BD31-4B8C-83A1-F6EECF244321}">
                <p14:modId xmlns:p14="http://schemas.microsoft.com/office/powerpoint/2010/main" val="3795196686"/>
              </p:ext>
            </p:extLst>
          </p:nvPr>
        </p:nvGraphicFramePr>
        <p:xfrm>
          <a:off x="846167" y="1280768"/>
          <a:ext cx="10656022" cy="3827782"/>
        </p:xfrm>
        <a:graphic>
          <a:graphicData uri="http://schemas.openxmlformats.org/drawingml/2006/table">
            <a:tbl>
              <a:tblPr/>
              <a:tblGrid>
                <a:gridCol w="1478045">
                  <a:extLst>
                    <a:ext uri="{9D8B030D-6E8A-4147-A177-3AD203B41FA5}">
                      <a16:colId xmlns:a16="http://schemas.microsoft.com/office/drawing/2014/main" val="2160186825"/>
                    </a:ext>
                  </a:extLst>
                </a:gridCol>
                <a:gridCol w="1010283">
                  <a:extLst>
                    <a:ext uri="{9D8B030D-6E8A-4147-A177-3AD203B41FA5}">
                      <a16:colId xmlns:a16="http://schemas.microsoft.com/office/drawing/2014/main" val="1841040809"/>
                    </a:ext>
                  </a:extLst>
                </a:gridCol>
                <a:gridCol w="1576296">
                  <a:extLst>
                    <a:ext uri="{9D8B030D-6E8A-4147-A177-3AD203B41FA5}">
                      <a16:colId xmlns:a16="http://schemas.microsoft.com/office/drawing/2014/main" val="973988230"/>
                    </a:ext>
                  </a:extLst>
                </a:gridCol>
                <a:gridCol w="1638237">
                  <a:extLst>
                    <a:ext uri="{9D8B030D-6E8A-4147-A177-3AD203B41FA5}">
                      <a16:colId xmlns:a16="http://schemas.microsoft.com/office/drawing/2014/main" val="958204580"/>
                    </a:ext>
                  </a:extLst>
                </a:gridCol>
                <a:gridCol w="1480182">
                  <a:extLst>
                    <a:ext uri="{9D8B030D-6E8A-4147-A177-3AD203B41FA5}">
                      <a16:colId xmlns:a16="http://schemas.microsoft.com/office/drawing/2014/main" val="3155934803"/>
                    </a:ext>
                  </a:extLst>
                </a:gridCol>
                <a:gridCol w="1623287">
                  <a:extLst>
                    <a:ext uri="{9D8B030D-6E8A-4147-A177-3AD203B41FA5}">
                      <a16:colId xmlns:a16="http://schemas.microsoft.com/office/drawing/2014/main" val="2822979865"/>
                    </a:ext>
                  </a:extLst>
                </a:gridCol>
                <a:gridCol w="1849692">
                  <a:extLst>
                    <a:ext uri="{9D8B030D-6E8A-4147-A177-3AD203B41FA5}">
                      <a16:colId xmlns:a16="http://schemas.microsoft.com/office/drawing/2014/main" val="1454675350"/>
                    </a:ext>
                  </a:extLst>
                </a:gridCol>
              </a:tblGrid>
              <a:tr h="4318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effectLst/>
                          <a:latin typeface="Calibri" panose="020F0502020204030204" pitchFamily="34" charset="0"/>
                          <a:ea typeface="楷体_GB2312" pitchFamily="1" charset="-122"/>
                        </a:rPr>
                        <a:t>动物种类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effectLst/>
                          <a:latin typeface="Calibri" panose="020F0502020204030204" pitchFamily="34" charset="0"/>
                          <a:ea typeface="楷体_GB2312" pitchFamily="1" charset="-122"/>
                        </a:rPr>
                        <a:t>体型</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effectLst/>
                          <a:latin typeface="Calibri" panose="020F0502020204030204" pitchFamily="34" charset="0"/>
                          <a:ea typeface="楷体_GB2312" pitchFamily="1" charset="-122"/>
                        </a:rPr>
                        <a:t>翅膀数量</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effectLst/>
                          <a:latin typeface="Calibri" panose="020F0502020204030204" pitchFamily="34" charset="0"/>
                          <a:ea typeface="楷体_GB2312" pitchFamily="1" charset="-122"/>
                        </a:rPr>
                        <a:t>脚的只数</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effectLst/>
                          <a:latin typeface="Calibri" panose="020F0502020204030204" pitchFamily="34" charset="0"/>
                          <a:ea typeface="楷体_GB2312" pitchFamily="1" charset="-122"/>
                        </a:rPr>
                        <a:t>是否产蛋</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effectLst/>
                          <a:latin typeface="Calibri" panose="020F0502020204030204" pitchFamily="34" charset="0"/>
                          <a:ea typeface="楷体_GB2312" pitchFamily="1" charset="-122"/>
                        </a:rPr>
                        <a:t>是否有毛</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a:ln>
                            <a:noFill/>
                          </a:ln>
                          <a:effectLst/>
                          <a:latin typeface="Calibri" panose="020F0502020204030204" pitchFamily="34" charset="0"/>
                          <a:ea typeface="楷体_GB2312" pitchFamily="1" charset="-122"/>
                        </a:rPr>
                        <a:t>类别</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0245751"/>
                  </a:ext>
                </a:extLst>
              </a:tr>
              <a:tr h="430213">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狗</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dirty="0">
                          <a:ln>
                            <a:noFill/>
                          </a:ln>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3705107230"/>
                  </a:ext>
                </a:extLst>
              </a:tr>
              <a:tr h="4318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猪</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大</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effectLst/>
                          <a:latin typeface="Calibri" panose="020F0502020204030204"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42624934"/>
                  </a:ext>
                </a:extLst>
              </a:tr>
              <a:tr h="366713">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牛</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大</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effectLst/>
                          <a:latin typeface="Calibri" panose="020F0502020204030204"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solidFill>
                            <a:schemeClr val="hlink"/>
                          </a:solidFill>
                          <a:effectLst/>
                          <a:latin typeface="Calibri" panose="020F0502020204030204" pitchFamily="34" charset="0"/>
                          <a:ea typeface="楷体_GB2312" pitchFamily="1" charset="-122"/>
                        </a:rPr>
                        <a:t>爬行动物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2293455988"/>
                  </a:ext>
                </a:extLst>
              </a:tr>
              <a:tr h="442913">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麻雀</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小</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dirty="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solidFill>
                            <a:srgbClr val="3333FF"/>
                          </a:solidFill>
                          <a:effectLst/>
                          <a:latin typeface="Calibri" panose="020F0502020204030204" pitchFamily="34" charset="0"/>
                          <a:ea typeface="楷体_GB2312" pitchFamily="1" charset="-122"/>
                        </a:rPr>
                        <a:t>鸟类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52162714"/>
                  </a:ext>
                </a:extLst>
              </a:tr>
              <a:tr h="433388">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天鹅</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dirty="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dirty="0" err="1">
                          <a:ln>
                            <a:noFill/>
                          </a:ln>
                          <a:solidFill>
                            <a:srgbClr val="3333FF"/>
                          </a:solidFill>
                          <a:effectLst/>
                          <a:latin typeface="Calibri" panose="020F0502020204030204" pitchFamily="34" charset="0"/>
                          <a:ea typeface="楷体_GB2312" pitchFamily="1" charset="-122"/>
                        </a:rPr>
                        <a:t>鸟类</a:t>
                      </a:r>
                      <a:endParaRPr kumimoji="0" lang="en-US" altLang="en-US" sz="2000" b="0" i="0" u="none" strike="noStrike" cap="none" normalizeH="0" baseline="0" dirty="0">
                        <a:ln>
                          <a:noFill/>
                        </a:ln>
                        <a:solidFill>
                          <a:srgbClr val="3333FF"/>
                        </a:solidFill>
                        <a:effectLst/>
                        <a:latin typeface="Calibri" panose="020F0502020204030204" pitchFamily="34" charset="0"/>
                        <a:ea typeface="楷体_GB2312" pitchFamily="1" charset="-122"/>
                      </a:endParaRP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3348648709"/>
                  </a:ext>
                </a:extLst>
              </a:tr>
              <a:tr h="431800">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dirty="0">
                          <a:ln>
                            <a:noFill/>
                          </a:ln>
                          <a:effectLst/>
                          <a:latin typeface="Calibri" panose="020F0502020204030204" pitchFamily="34" charset="0"/>
                          <a:ea typeface="楷体_GB2312" pitchFamily="1" charset="-122"/>
                        </a:rPr>
                        <a:t>大雁</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dirty="0" err="1">
                          <a:ln>
                            <a:noFill/>
                          </a:ln>
                          <a:solidFill>
                            <a:srgbClr val="3333FF"/>
                          </a:solidFill>
                          <a:effectLst/>
                          <a:latin typeface="Calibri" panose="020F0502020204030204" pitchFamily="34" charset="0"/>
                          <a:ea typeface="楷体_GB2312" pitchFamily="1" charset="-122"/>
                        </a:rPr>
                        <a:t>鸟类</a:t>
                      </a:r>
                      <a:endParaRPr kumimoji="0" lang="en-US" altLang="en-US" sz="2000" b="0" i="0" u="none" strike="noStrike" cap="none" normalizeH="0" baseline="0" dirty="0">
                        <a:ln>
                          <a:noFill/>
                        </a:ln>
                        <a:solidFill>
                          <a:srgbClr val="3333FF"/>
                        </a:solidFill>
                        <a:effectLst/>
                        <a:latin typeface="Calibri" panose="020F0502020204030204" pitchFamily="34" charset="0"/>
                        <a:ea typeface="楷体_GB2312" pitchFamily="1" charset="-122"/>
                      </a:endParaRP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37812004"/>
                  </a:ext>
                </a:extLst>
              </a:tr>
              <a:tr h="433388">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dirty="0">
                          <a:ln>
                            <a:noFill/>
                          </a:ln>
                          <a:effectLst/>
                          <a:latin typeface="楷体_GB2312" pitchFamily="1" charset="-122"/>
                          <a:ea typeface="楷体_GB2312" pitchFamily="1" charset="-122"/>
                        </a:rPr>
                        <a:t>动物A</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大</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无</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solidFill>
                            <a:srgbClr val="008000"/>
                          </a:solidFill>
                          <a:effectLst/>
                          <a:latin typeface="Calibri" panose="020F0502020204030204" pitchFamily="34" charset="0"/>
                          <a:ea typeface="楷体_GB2312" pitchFamily="1" charset="-122"/>
                        </a:rPr>
                        <a:t>？</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extLst>
                  <a:ext uri="{0D108BD9-81ED-4DB2-BD59-A6C34878D82A}">
                    <a16:rowId xmlns:a16="http://schemas.microsoft.com/office/drawing/2014/main" val="1630853822"/>
                  </a:ext>
                </a:extLst>
              </a:tr>
              <a:tr h="392113">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动物B</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dirty="0">
                          <a:ln>
                            <a:noFill/>
                          </a:ln>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0" i="0" u="none" strike="noStrike" cap="none" normalizeH="0" baseline="0">
                          <a:ln>
                            <a:noFill/>
                          </a:ln>
                          <a:effectLst/>
                          <a:latin typeface="Calibri" panose="020F0502020204030204"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en-US" altLang="en-US" sz="2000" b="0" i="0" u="none" strike="noStrike" cap="none" normalizeH="0" baseline="0">
                          <a:ln>
                            <a:noFill/>
                          </a:ln>
                          <a:effectLst/>
                          <a:latin typeface="Calibri" panose="020F0502020204030204"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lvl1pPr>
                        <a:spcBef>
                          <a:spcPct val="10000"/>
                        </a:spcBef>
                        <a:buClr>
                          <a:srgbClr val="339966"/>
                        </a:buClr>
                        <a:buSzPct val="60000"/>
                        <a:buFont typeface="Wingdings" panose="05000000000000000000" pitchFamily="2" charset="2"/>
                        <a:defRPr sz="2400">
                          <a:solidFill>
                            <a:schemeClr val="tx1"/>
                          </a:solidFill>
                          <a:latin typeface="华文新魏" panose="02010800040101010101" pitchFamily="2" charset="-122"/>
                          <a:ea typeface="华文新魏" panose="02010800040101010101" pitchFamily="2" charset="-122"/>
                        </a:defRPr>
                      </a:lvl1pPr>
                      <a:lvl2pPr>
                        <a:spcBef>
                          <a:spcPct val="10000"/>
                        </a:spcBef>
                        <a:buClr>
                          <a:schemeClr val="hlink"/>
                        </a:buClr>
                        <a:buSzPct val="5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2pPr>
                      <a:lvl3pPr>
                        <a:buClr>
                          <a:schemeClr val="folHlink"/>
                        </a:buClr>
                        <a:buSzPct val="50000"/>
                        <a:buFont typeface="Wingdings" panose="05000000000000000000" pitchFamily="2" charset="2"/>
                        <a:defRPr sz="2000" b="1">
                          <a:solidFill>
                            <a:schemeClr val="tx1"/>
                          </a:solidFill>
                          <a:latin typeface="楷体_GB2312" pitchFamily="1" charset="-122"/>
                          <a:ea typeface="楷体_GB2312" pitchFamily="1" charset="-122"/>
                        </a:defRPr>
                      </a:lvl3pPr>
                      <a:lvl4pPr>
                        <a:lnSpc>
                          <a:spcPct val="80000"/>
                        </a:lnSpc>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a:lnSpc>
                          <a:spcPct val="80000"/>
                        </a:lnSpc>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fontAlgn="base">
                        <a:lnSpc>
                          <a:spcPct val="80000"/>
                        </a:lnSpc>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anose="05000000000000000000" pitchFamily="2" charset="2"/>
                        <a:buNone/>
                        <a:tabLst/>
                      </a:pPr>
                      <a:r>
                        <a:rPr kumimoji="0" lang="zh-CN" altLang="en-US" sz="2000" b="1" i="0" u="none" strike="noStrike" cap="none" normalizeH="0" baseline="0" dirty="0">
                          <a:ln>
                            <a:noFill/>
                          </a:ln>
                          <a:solidFill>
                            <a:srgbClr val="008000"/>
                          </a:solidFill>
                          <a:effectLst/>
                          <a:latin typeface="Calibri" panose="020F0502020204030204" pitchFamily="34" charset="0"/>
                          <a:ea typeface="楷体_GB2312" pitchFamily="1" charset="-122"/>
                        </a:rPr>
                        <a:t>？</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77231496"/>
                  </a:ext>
                </a:extLst>
              </a:tr>
            </a:tbl>
          </a:graphicData>
        </a:graphic>
      </p:graphicFrame>
    </p:spTree>
    <p:extLst>
      <p:ext uri="{BB962C8B-B14F-4D97-AF65-F5344CB8AC3E}">
        <p14:creationId xmlns:p14="http://schemas.microsoft.com/office/powerpoint/2010/main" val="11453191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4E0B1-8292-30AD-2D4E-DF3A9342E997}"/>
            </a:ext>
          </a:extLst>
        </p:cNvPr>
        <p:cNvGrpSpPr/>
        <p:nvPr/>
      </p:nvGrpSpPr>
      <p:grpSpPr>
        <a:xfrm>
          <a:off x="0" y="0"/>
          <a:ext cx="0" cy="0"/>
          <a:chOff x="0" y="0"/>
          <a:chExt cx="0" cy="0"/>
        </a:xfrm>
      </p:grpSpPr>
      <p:sp>
        <p:nvSpPr>
          <p:cNvPr id="9" name="矩形 26">
            <a:extLst>
              <a:ext uri="{FF2B5EF4-FFF2-40B4-BE49-F238E27FC236}">
                <a16:creationId xmlns:a16="http://schemas.microsoft.com/office/drawing/2014/main" id="{C3D86046-5F3A-8FA6-DDC5-6A40A19B4A3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分类的步骤</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sp>
        <p:nvSpPr>
          <p:cNvPr id="2" name="Rectangle 3">
            <a:extLst>
              <a:ext uri="{FF2B5EF4-FFF2-40B4-BE49-F238E27FC236}">
                <a16:creationId xmlns:a16="http://schemas.microsoft.com/office/drawing/2014/main" id="{647E996C-990B-B722-8223-AFA613C6D23D}"/>
              </a:ext>
            </a:extLst>
          </p:cNvPr>
          <p:cNvSpPr txBox="1">
            <a:spLocks noChangeArrowheads="1"/>
          </p:cNvSpPr>
          <p:nvPr/>
        </p:nvSpPr>
        <p:spPr>
          <a:xfrm>
            <a:off x="1119846" y="4134543"/>
            <a:ext cx="9063681" cy="1295400"/>
          </a:xfrm>
          <a:ln/>
        </p:spPr>
        <p:txBody>
          <a:bodyPr/>
          <a:lstStyle>
            <a:defPPr>
              <a:defRPr lang="zh-CN"/>
            </a:defPPr>
            <a:lvl1pPr marL="228600" indent="-228600">
              <a:lnSpc>
                <a:spcPct val="90000"/>
              </a:lnSpc>
              <a:spcBef>
                <a:spcPts val="1000"/>
              </a:spcBef>
              <a:buFont typeface="Arial" panose="020B0604020202020204" pitchFamily="34" charset="0"/>
              <a:buChar char="•"/>
              <a:defRPr sz="2400">
                <a:solidFill>
                  <a:srgbClr val="660033"/>
                </a:solidFill>
                <a:latin typeface="微软雅黑" panose="020B0503020204020204" pitchFamily="34" charset="-122"/>
                <a:ea typeface="微软雅黑" panose="020B0503020204020204" pitchFamily="34" charset="-122"/>
              </a:defRPr>
            </a:lvl1pPr>
            <a:lvl2pPr marL="685800" lvl="1" indent="-228600">
              <a:lnSpc>
                <a:spcPct val="90000"/>
              </a:lnSpc>
              <a:spcBef>
                <a:spcPts val="500"/>
              </a:spcBef>
              <a:buFont typeface="Arial" panose="020B0604020202020204" pitchFamily="34" charset="0"/>
              <a:buChar char="•"/>
              <a:defRPr sz="2000">
                <a:solidFill>
                  <a:srgbClr val="660033"/>
                </a:solidFill>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2800" dirty="0"/>
              <a:t>步骤三：建立分类模型或分类器（分类）。</a:t>
            </a:r>
          </a:p>
          <a:p>
            <a:pPr lvl="1"/>
            <a:r>
              <a:rPr lang="zh-CN" altLang="en-US" sz="2400" dirty="0"/>
              <a:t>分类器通常可以看作一个函数，它把特征映射到类的空间上</a:t>
            </a:r>
          </a:p>
          <a:p>
            <a:pPr lvl="1"/>
            <a:endParaRPr lang="zh-CN" altLang="en-US" sz="2400" dirty="0"/>
          </a:p>
          <a:p>
            <a:endParaRPr lang="zh-CN" altLang="en-US" sz="2800" dirty="0"/>
          </a:p>
        </p:txBody>
      </p:sp>
      <p:graphicFrame>
        <p:nvGraphicFramePr>
          <p:cNvPr id="3" name="Object 4">
            <a:extLst>
              <a:ext uri="{FF2B5EF4-FFF2-40B4-BE49-F238E27FC236}">
                <a16:creationId xmlns:a16="http://schemas.microsoft.com/office/drawing/2014/main" id="{2668767B-4CC4-1FD0-0BCB-7217556717D8}"/>
              </a:ext>
            </a:extLst>
          </p:cNvPr>
          <p:cNvGraphicFramePr>
            <a:graphicFrameLocks/>
          </p:cNvGraphicFramePr>
          <p:nvPr>
            <p:extLst>
              <p:ext uri="{D42A27DB-BD31-4B8C-83A1-F6EECF244321}">
                <p14:modId xmlns:p14="http://schemas.microsoft.com/office/powerpoint/2010/main" val="3195236280"/>
              </p:ext>
            </p:extLst>
          </p:nvPr>
        </p:nvGraphicFramePr>
        <p:xfrm>
          <a:off x="890445" y="2133600"/>
          <a:ext cx="11060427" cy="1486604"/>
        </p:xfrm>
        <a:graphic>
          <a:graphicData uri="http://schemas.openxmlformats.org/presentationml/2006/ole">
            <mc:AlternateContent xmlns:mc="http://schemas.openxmlformats.org/markup-compatibility/2006">
              <mc:Choice xmlns:v="urn:schemas-microsoft-com:vml" Requires="v">
                <p:oleObj r:id="rId3" imgW="2400437" imgH="304877" progId="Equation.3">
                  <p:embed/>
                </p:oleObj>
              </mc:Choice>
              <mc:Fallback>
                <p:oleObj r:id="rId3" imgW="2400437" imgH="304877" progId="Equation.3">
                  <p:embed/>
                  <p:pic>
                    <p:nvPicPr>
                      <p:cNvPr id="12292" name="Object 4">
                        <a:extLst>
                          <a:ext uri="{FF2B5EF4-FFF2-40B4-BE49-F238E27FC236}">
                            <a16:creationId xmlns:a16="http://schemas.microsoft.com/office/drawing/2014/main" id="{99C0120D-57A8-420E-879C-563AE271D21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445" y="2133600"/>
                        <a:ext cx="11060427" cy="148660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154704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DE092-4C4D-6C3E-8474-D497DF60D6D6}"/>
            </a:ext>
          </a:extLst>
        </p:cNvPr>
        <p:cNvGrpSpPr/>
        <p:nvPr/>
      </p:nvGrpSpPr>
      <p:grpSpPr>
        <a:xfrm>
          <a:off x="0" y="0"/>
          <a:ext cx="0" cy="0"/>
          <a:chOff x="0" y="0"/>
          <a:chExt cx="0" cy="0"/>
        </a:xfrm>
      </p:grpSpPr>
      <p:sp>
        <p:nvSpPr>
          <p:cNvPr id="9" name="矩形 26">
            <a:extLst>
              <a:ext uri="{FF2B5EF4-FFF2-40B4-BE49-F238E27FC236}">
                <a16:creationId xmlns:a16="http://schemas.microsoft.com/office/drawing/2014/main" id="{723E4BEE-ECA7-5903-BE8F-6306D79CDF05}"/>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如何避免过度训练 </a:t>
            </a:r>
          </a:p>
        </p:txBody>
      </p:sp>
      <p:sp>
        <p:nvSpPr>
          <p:cNvPr id="4" name="Rectangle 3">
            <a:extLst>
              <a:ext uri="{FF2B5EF4-FFF2-40B4-BE49-F238E27FC236}">
                <a16:creationId xmlns:a16="http://schemas.microsoft.com/office/drawing/2014/main" id="{D8443D37-042C-C21C-06E8-924300F01D11}"/>
              </a:ext>
            </a:extLst>
          </p:cNvPr>
          <p:cNvSpPr txBox="1">
            <a:spLocks noChangeArrowheads="1"/>
          </p:cNvSpPr>
          <p:nvPr/>
        </p:nvSpPr>
        <p:spPr>
          <a:xfrm>
            <a:off x="259607" y="1696551"/>
            <a:ext cx="5836393" cy="4248150"/>
          </a:xfrm>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2400" dirty="0">
                <a:solidFill>
                  <a:schemeClr val="hlink"/>
                </a:solidFill>
                <a:latin typeface="微软雅黑" panose="020B0503020204020204" pitchFamily="34" charset="-122"/>
                <a:ea typeface="微软雅黑" panose="020B0503020204020204" pitchFamily="34" charset="-122"/>
              </a:rPr>
              <a:t>分类</a:t>
            </a:r>
            <a:r>
              <a:rPr lang="zh-CN" altLang="en-US" sz="2400" dirty="0">
                <a:solidFill>
                  <a:srgbClr val="660033"/>
                </a:solidFill>
                <a:latin typeface="微软雅黑" panose="020B0503020204020204" pitchFamily="34" charset="-122"/>
                <a:ea typeface="微软雅黑" panose="020B0503020204020204" pitchFamily="34" charset="-122"/>
              </a:rPr>
              <a:t>也称为</a:t>
            </a:r>
            <a:r>
              <a:rPr lang="zh-CN" altLang="en-US" sz="2400" dirty="0">
                <a:solidFill>
                  <a:schemeClr val="hlink"/>
                </a:solidFill>
                <a:latin typeface="微软雅黑" panose="020B0503020204020204" pitchFamily="34" charset="-122"/>
                <a:ea typeface="微软雅黑" panose="020B0503020204020204" pitchFamily="34" charset="-122"/>
              </a:rPr>
              <a:t>有监督学习</a:t>
            </a:r>
            <a:r>
              <a:rPr lang="zh-CN" altLang="en-US" sz="2400" dirty="0">
                <a:solidFill>
                  <a:srgbClr val="660033"/>
                </a:solidFill>
                <a:latin typeface="微软雅黑" panose="020B0503020204020204" pitchFamily="34" charset="-122"/>
                <a:ea typeface="微软雅黑" panose="020B0503020204020204" pitchFamily="34" charset="-122"/>
              </a:rPr>
              <a:t>(supervised learning)，与之相对于的是无监督学习(unsupervised learning)，比如聚类。</a:t>
            </a:r>
          </a:p>
          <a:p>
            <a:pPr>
              <a:lnSpc>
                <a:spcPct val="100000"/>
              </a:lnSpc>
            </a:pPr>
            <a:r>
              <a:rPr lang="zh-CN" altLang="en-US" sz="2400" dirty="0">
                <a:solidFill>
                  <a:srgbClr val="660033"/>
                </a:solidFill>
                <a:latin typeface="微软雅黑" panose="020B0503020204020204" pitchFamily="34" charset="-122"/>
                <a:ea typeface="微软雅黑" panose="020B0503020204020204" pitchFamily="34" charset="-122"/>
              </a:rPr>
              <a:t>分类与聚类的最大区别在于，分类数据中的一部分的类别是已知的，而聚类数据的类别未知。</a:t>
            </a:r>
          </a:p>
          <a:p>
            <a:pPr>
              <a:lnSpc>
                <a:spcPct val="100000"/>
              </a:lnSpc>
            </a:pPr>
            <a:r>
              <a:rPr lang="zh-CN" altLang="en-US" sz="2400" dirty="0">
                <a:solidFill>
                  <a:srgbClr val="660033"/>
                </a:solidFill>
                <a:latin typeface="微软雅黑" panose="020B0503020204020204" pitchFamily="34" charset="-122"/>
                <a:ea typeface="微软雅黑" panose="020B0503020204020204" pitchFamily="34" charset="-122"/>
              </a:rPr>
              <a:t>建立分类模型需要学习一部分已知数据，如果训练时间过长，或者预测模型参数太多而样本较少，将导致</a:t>
            </a:r>
            <a:r>
              <a:rPr lang="zh-CN" altLang="en-US" sz="2400" dirty="0">
                <a:solidFill>
                  <a:schemeClr val="hlink"/>
                </a:solidFill>
                <a:latin typeface="微软雅黑" panose="020B0503020204020204" pitchFamily="34" charset="-122"/>
                <a:ea typeface="微软雅黑" panose="020B0503020204020204" pitchFamily="34" charset="-122"/>
              </a:rPr>
              <a:t>过度训练</a:t>
            </a:r>
            <a:r>
              <a:rPr lang="zh-CN" altLang="en-US" sz="2400" dirty="0">
                <a:solidFill>
                  <a:srgbClr val="660033"/>
                </a:solidFill>
                <a:latin typeface="微软雅黑" panose="020B0503020204020204" pitchFamily="34" charset="-122"/>
                <a:ea typeface="微软雅黑" panose="020B0503020204020204" pitchFamily="34" charset="-122"/>
              </a:rPr>
              <a:t>(overfitting)。</a:t>
            </a:r>
          </a:p>
        </p:txBody>
      </p:sp>
      <p:pic>
        <p:nvPicPr>
          <p:cNvPr id="13314" name="Picture 2" descr="过拟合 - 知乎">
            <a:extLst>
              <a:ext uri="{FF2B5EF4-FFF2-40B4-BE49-F238E27FC236}">
                <a16:creationId xmlns:a16="http://schemas.microsoft.com/office/drawing/2014/main" id="{BCAA10A4-E8E8-2202-1951-230FE1A658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439" r="32567" b="10269"/>
          <a:stretch/>
        </p:blipFill>
        <p:spPr bwMode="auto">
          <a:xfrm>
            <a:off x="6591338" y="1078188"/>
            <a:ext cx="4883126" cy="265246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过拟合 - 知乎">
            <a:extLst>
              <a:ext uri="{FF2B5EF4-FFF2-40B4-BE49-F238E27FC236}">
                <a16:creationId xmlns:a16="http://schemas.microsoft.com/office/drawing/2014/main" id="{033AB0DF-AF15-233C-B75F-FD0CAC091C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6360" t="18852" r="383" b="10206"/>
          <a:stretch/>
        </p:blipFill>
        <p:spPr bwMode="auto">
          <a:xfrm>
            <a:off x="7746999" y="3960358"/>
            <a:ext cx="2336801" cy="2561092"/>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B5C8733B-1ED4-79D5-2077-7B62ABCA5CE7}"/>
              </a:ext>
            </a:extLst>
          </p:cNvPr>
          <p:cNvSpPr txBox="1"/>
          <p:nvPr/>
        </p:nvSpPr>
        <p:spPr>
          <a:xfrm>
            <a:off x="7066693" y="3330545"/>
            <a:ext cx="1197052" cy="400110"/>
          </a:xfrm>
          <a:prstGeom prst="rect">
            <a:avLst/>
          </a:prstGeom>
          <a:solidFill>
            <a:srgbClr val="FFFFFF"/>
          </a:solidFill>
        </p:spPr>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欠拟合</a:t>
            </a:r>
          </a:p>
        </p:txBody>
      </p:sp>
      <p:sp>
        <p:nvSpPr>
          <p:cNvPr id="13" name="文本框 12">
            <a:extLst>
              <a:ext uri="{FF2B5EF4-FFF2-40B4-BE49-F238E27FC236}">
                <a16:creationId xmlns:a16="http://schemas.microsoft.com/office/drawing/2014/main" id="{7BF88168-CD6A-5BFD-036E-B5E7B12F49FB}"/>
              </a:ext>
            </a:extLst>
          </p:cNvPr>
          <p:cNvSpPr txBox="1"/>
          <p:nvPr/>
        </p:nvSpPr>
        <p:spPr>
          <a:xfrm>
            <a:off x="9419233" y="3330545"/>
            <a:ext cx="1442353" cy="400110"/>
          </a:xfrm>
          <a:prstGeom prst="rect">
            <a:avLst/>
          </a:prstGeom>
          <a:solidFill>
            <a:srgbClr val="FFFFFF"/>
          </a:solidFill>
        </p:spPr>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好的拟合</a:t>
            </a:r>
          </a:p>
        </p:txBody>
      </p:sp>
      <p:sp>
        <p:nvSpPr>
          <p:cNvPr id="14" name="文本框 13">
            <a:extLst>
              <a:ext uri="{FF2B5EF4-FFF2-40B4-BE49-F238E27FC236}">
                <a16:creationId xmlns:a16="http://schemas.microsoft.com/office/drawing/2014/main" id="{CA8FE718-59E6-3A31-D0C6-FD6DD000CEE9}"/>
              </a:ext>
            </a:extLst>
          </p:cNvPr>
          <p:cNvSpPr txBox="1"/>
          <p:nvPr/>
        </p:nvSpPr>
        <p:spPr>
          <a:xfrm>
            <a:off x="8194222" y="6064095"/>
            <a:ext cx="1442353" cy="400110"/>
          </a:xfrm>
          <a:prstGeom prst="rect">
            <a:avLst/>
          </a:prstGeom>
          <a:solidFill>
            <a:srgbClr val="FFFFFF"/>
          </a:solidFill>
        </p:spPr>
        <p:txBody>
          <a:bodyPr wrap="square">
            <a:spAutoFit/>
          </a:bodyPr>
          <a:lstStyle/>
          <a:p>
            <a:pPr algn="ctr"/>
            <a:r>
              <a:rPr lang="zh-CN" altLang="en-US" sz="2000" b="1" dirty="0">
                <a:latin typeface="微软雅黑" panose="020B0503020204020204" pitchFamily="34" charset="-122"/>
                <a:ea typeface="微软雅黑" panose="020B0503020204020204" pitchFamily="34" charset="-122"/>
              </a:rPr>
              <a:t>过拟合</a:t>
            </a:r>
          </a:p>
        </p:txBody>
      </p:sp>
    </p:spTree>
    <p:extLst>
      <p:ext uri="{BB962C8B-B14F-4D97-AF65-F5344CB8AC3E}">
        <p14:creationId xmlns:p14="http://schemas.microsoft.com/office/powerpoint/2010/main" val="93854736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9F8A4-BEFB-BD15-0DB9-E9FFEF665EAE}"/>
            </a:ext>
          </a:extLst>
        </p:cNvPr>
        <p:cNvGrpSpPr/>
        <p:nvPr/>
      </p:nvGrpSpPr>
      <p:grpSpPr>
        <a:xfrm>
          <a:off x="0" y="0"/>
          <a:ext cx="0" cy="0"/>
          <a:chOff x="0" y="0"/>
          <a:chExt cx="0" cy="0"/>
        </a:xfrm>
      </p:grpSpPr>
      <p:sp>
        <p:nvSpPr>
          <p:cNvPr id="9" name="矩形 26">
            <a:extLst>
              <a:ext uri="{FF2B5EF4-FFF2-40B4-BE49-F238E27FC236}">
                <a16:creationId xmlns:a16="http://schemas.microsoft.com/office/drawing/2014/main" id="{BBF1C777-B396-6662-E706-DD4005648ABF}"/>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如何避免过度训练 </a:t>
            </a:r>
          </a:p>
        </p:txBody>
      </p:sp>
      <p:sp>
        <p:nvSpPr>
          <p:cNvPr id="2" name="Rectangle 3">
            <a:extLst>
              <a:ext uri="{FF2B5EF4-FFF2-40B4-BE49-F238E27FC236}">
                <a16:creationId xmlns:a16="http://schemas.microsoft.com/office/drawing/2014/main" id="{BE0B188E-0670-6A1F-0E9B-C744615A18A1}"/>
              </a:ext>
            </a:extLst>
          </p:cNvPr>
          <p:cNvSpPr txBox="1">
            <a:spLocks noChangeArrowheads="1"/>
          </p:cNvSpPr>
          <p:nvPr/>
        </p:nvSpPr>
        <p:spPr>
          <a:xfrm>
            <a:off x="788868" y="1559326"/>
            <a:ext cx="10876951" cy="4752975"/>
          </a:xfrm>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dirty="0">
                <a:solidFill>
                  <a:srgbClr val="660033"/>
                </a:solidFill>
                <a:latin typeface="微软雅黑" panose="020B0503020204020204" pitchFamily="34" charset="-122"/>
                <a:ea typeface="微软雅黑" panose="020B0503020204020204" pitchFamily="34" charset="-122"/>
              </a:rPr>
              <a:t>避免过度训练最重要一点是，</a:t>
            </a:r>
            <a:r>
              <a:rPr lang="zh-CN" altLang="en-US" sz="3200" dirty="0">
                <a:solidFill>
                  <a:schemeClr val="hlink"/>
                </a:solidFill>
                <a:latin typeface="微软雅黑" panose="020B0503020204020204" pitchFamily="34" charset="-122"/>
                <a:ea typeface="微软雅黑" panose="020B0503020204020204" pitchFamily="34" charset="-122"/>
              </a:rPr>
              <a:t>模型的参数量应远小于样本的数量</a:t>
            </a:r>
            <a:r>
              <a:rPr lang="zh-CN" altLang="en-US" sz="3200" dirty="0">
                <a:solidFill>
                  <a:srgbClr val="660033"/>
                </a:solidFill>
                <a:latin typeface="微软雅黑" panose="020B0503020204020204" pitchFamily="34" charset="-122"/>
                <a:ea typeface="微软雅黑" panose="020B0503020204020204" pitchFamily="34" charset="-122"/>
              </a:rPr>
              <a:t>。</a:t>
            </a:r>
          </a:p>
          <a:p>
            <a:r>
              <a:rPr lang="zh-CN" altLang="en-US" sz="3200" dirty="0">
                <a:solidFill>
                  <a:srgbClr val="660033"/>
                </a:solidFill>
                <a:latin typeface="微软雅黑" panose="020B0503020204020204" pitchFamily="34" charset="-122"/>
                <a:ea typeface="微软雅黑" panose="020B0503020204020204" pitchFamily="34" charset="-122"/>
              </a:rPr>
              <a:t>应建立</a:t>
            </a:r>
            <a:r>
              <a:rPr lang="zh-CN" altLang="en-US" sz="3200" dirty="0">
                <a:solidFill>
                  <a:schemeClr val="hlink"/>
                </a:solidFill>
                <a:latin typeface="微软雅黑" panose="020B0503020204020204" pitchFamily="34" charset="-122"/>
                <a:ea typeface="微软雅黑" panose="020B0503020204020204" pitchFamily="34" charset="-122"/>
              </a:rPr>
              <a:t>训练集</a:t>
            </a:r>
            <a:r>
              <a:rPr lang="zh-CN" altLang="en-US" sz="3200" dirty="0">
                <a:solidFill>
                  <a:srgbClr val="660033"/>
                </a:solidFill>
                <a:latin typeface="微软雅黑" panose="020B0503020204020204" pitchFamily="34" charset="-122"/>
                <a:ea typeface="微软雅黑" panose="020B0503020204020204" pitchFamily="34" charset="-122"/>
              </a:rPr>
              <a:t>(training set)和</a:t>
            </a:r>
            <a:r>
              <a:rPr lang="zh-CN" altLang="en-US" sz="3200" dirty="0">
                <a:solidFill>
                  <a:schemeClr val="hlink"/>
                </a:solidFill>
                <a:latin typeface="微软雅黑" panose="020B0503020204020204" pitchFamily="34" charset="-122"/>
                <a:ea typeface="微软雅黑" panose="020B0503020204020204" pitchFamily="34" charset="-122"/>
              </a:rPr>
              <a:t>测试集</a:t>
            </a:r>
            <a:r>
              <a:rPr lang="zh-CN" altLang="en-US" sz="3200" dirty="0">
                <a:solidFill>
                  <a:srgbClr val="660033"/>
                </a:solidFill>
                <a:latin typeface="微软雅黑" panose="020B0503020204020204" pitchFamily="34" charset="-122"/>
                <a:ea typeface="微软雅黑" panose="020B0503020204020204" pitchFamily="34" charset="-122"/>
              </a:rPr>
              <a:t>(test set)。</a:t>
            </a:r>
          </a:p>
          <a:p>
            <a:pPr lvl="1"/>
            <a:r>
              <a:rPr lang="zh-CN" altLang="en-US" dirty="0">
                <a:solidFill>
                  <a:srgbClr val="660033"/>
                </a:solidFill>
                <a:latin typeface="微软雅黑" panose="020B0503020204020204" pitchFamily="34" charset="-122"/>
                <a:ea typeface="微软雅黑" panose="020B0503020204020204" pitchFamily="34" charset="-122"/>
              </a:rPr>
              <a:t>训练集应用于建立分类模型</a:t>
            </a:r>
          </a:p>
          <a:p>
            <a:pPr lvl="1"/>
            <a:r>
              <a:rPr lang="zh-CN" altLang="en-US" dirty="0">
                <a:solidFill>
                  <a:srgbClr val="660033"/>
                </a:solidFill>
                <a:latin typeface="微软雅黑" panose="020B0503020204020204" pitchFamily="34" charset="-122"/>
                <a:ea typeface="微软雅黑" panose="020B0503020204020204" pitchFamily="34" charset="-122"/>
              </a:rPr>
              <a:t>测试集应用于评估分类模型</a:t>
            </a:r>
          </a:p>
          <a:p>
            <a:r>
              <a:rPr lang="zh-CN" altLang="en-US" dirty="0">
                <a:solidFill>
                  <a:schemeClr val="hlink"/>
                </a:solidFill>
                <a:latin typeface="微软雅黑" panose="020B0503020204020204" pitchFamily="34" charset="-122"/>
                <a:ea typeface="微软雅黑" panose="020B0503020204020204" pitchFamily="34" charset="-122"/>
              </a:rPr>
              <a:t>K折叠交叉验证</a:t>
            </a:r>
            <a:r>
              <a:rPr lang="zh-CN" altLang="en-US" dirty="0">
                <a:solidFill>
                  <a:srgbClr val="660033"/>
                </a:solidFill>
                <a:latin typeface="微软雅黑" panose="020B0503020204020204" pitchFamily="34" charset="-122"/>
                <a:ea typeface="微软雅黑" panose="020B0503020204020204" pitchFamily="34" charset="-122"/>
              </a:rPr>
              <a:t>(K-fold cross validation)：将初始采样分割成K个子样本(S1，S2,...,Sk)，取K-1个做训练集，另外一个做测试集。交叉验证重复K次，每个子样本都作为测试集一次，平均K次的结果，最终得到一个单一估测。</a:t>
            </a:r>
          </a:p>
          <a:p>
            <a:pPr lvl="1">
              <a:buFont typeface="Wingdings" panose="05000000000000000000" pitchFamily="2" charset="2"/>
              <a:buNone/>
            </a:pPr>
            <a:endParaRPr lang="zh-CN" altLang="en-US" sz="1400" dirty="0">
              <a:latin typeface="微软雅黑" panose="020B0503020204020204" pitchFamily="34" charset="-122"/>
              <a:ea typeface="微软雅黑" panose="020B0503020204020204" pitchFamily="34" charset="-122"/>
            </a:endParaRPr>
          </a:p>
          <a:p>
            <a:pPr lvl="1"/>
            <a:endParaRPr lang="zh-CN" altLang="en-US" sz="1400" dirty="0">
              <a:latin typeface="微软雅黑" panose="020B0503020204020204" pitchFamily="34" charset="-122"/>
              <a:ea typeface="微软雅黑" panose="020B0503020204020204" pitchFamily="34" charset="-122"/>
            </a:endParaRPr>
          </a:p>
          <a:p>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0058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508E0-27AF-9BA3-A04F-E5BF2C9565D0}"/>
            </a:ext>
          </a:extLst>
        </p:cNvPr>
        <p:cNvGrpSpPr/>
        <p:nvPr/>
      </p:nvGrpSpPr>
      <p:grpSpPr>
        <a:xfrm>
          <a:off x="0" y="0"/>
          <a:ext cx="0" cy="0"/>
          <a:chOff x="0" y="0"/>
          <a:chExt cx="0" cy="0"/>
        </a:xfrm>
      </p:grpSpPr>
      <p:sp>
        <p:nvSpPr>
          <p:cNvPr id="9" name="矩形 26">
            <a:extLst>
              <a:ext uri="{FF2B5EF4-FFF2-40B4-BE49-F238E27FC236}">
                <a16:creationId xmlns:a16="http://schemas.microsoft.com/office/drawing/2014/main" id="{A62CB3BC-1207-5092-D2CA-60BAC04627F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分类评价指标</a:t>
            </a:r>
          </a:p>
        </p:txBody>
      </p:sp>
      <p:sp>
        <p:nvSpPr>
          <p:cNvPr id="4" name="文本框 3">
            <a:extLst>
              <a:ext uri="{FF2B5EF4-FFF2-40B4-BE49-F238E27FC236}">
                <a16:creationId xmlns:a16="http://schemas.microsoft.com/office/drawing/2014/main" id="{84985157-5749-BB72-6778-73F1091FF1D7}"/>
              </a:ext>
            </a:extLst>
          </p:cNvPr>
          <p:cNvSpPr txBox="1"/>
          <p:nvPr/>
        </p:nvSpPr>
        <p:spPr>
          <a:xfrm>
            <a:off x="703258" y="1486975"/>
            <a:ext cx="10602217" cy="1267206"/>
          </a:xfrm>
          <a:prstGeom prst="rect">
            <a:avLst/>
          </a:prstGeom>
          <a:noFill/>
        </p:spPr>
        <p:txBody>
          <a:bodyPr wrap="square">
            <a:spAutoFit/>
          </a:bodyPr>
          <a:lstStyle/>
          <a:p>
            <a:pPr indent="304800" algn="just">
              <a:lnSpc>
                <a:spcPct val="125000"/>
              </a:lnSpc>
            </a:pPr>
            <a:r>
              <a:rPr lang="zh-CN" altLang="zh-CN" sz="3200" kern="100" dirty="0">
                <a:effectLst/>
                <a:latin typeface="微软雅黑" panose="020B0503020204020204" pitchFamily="34" charset="-122"/>
                <a:ea typeface="微软雅黑" panose="020B0503020204020204" pitchFamily="34" charset="-122"/>
                <a:cs typeface="Times New Roman" panose="02020603050405020304" pitchFamily="18" charset="0"/>
              </a:rPr>
              <a:t>分类算法评价指标用于评估和比较不同分类算法的性能。常用的分类算法评价指标</a:t>
            </a:r>
            <a:r>
              <a:rPr lang="zh-CN" altLang="en-US" sz="3200" kern="100" dirty="0">
                <a:latin typeface="微软雅黑" panose="020B0503020204020204" pitchFamily="34" charset="-122"/>
                <a:ea typeface="微软雅黑" panose="020B0503020204020204" pitchFamily="34" charset="-122"/>
                <a:cs typeface="Times New Roman" panose="02020603050405020304" pitchFamily="18" charset="0"/>
              </a:rPr>
              <a:t>包括</a:t>
            </a:r>
            <a:r>
              <a:rPr lang="zh-CN" altLang="zh-CN" sz="3200" kern="100" dirty="0">
                <a:effectLst/>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7" name="文本框 6">
            <a:extLst>
              <a:ext uri="{FF2B5EF4-FFF2-40B4-BE49-F238E27FC236}">
                <a16:creationId xmlns:a16="http://schemas.microsoft.com/office/drawing/2014/main" id="{3A94EB1F-07DC-22F8-E6A8-AEC0C90977E6}"/>
              </a:ext>
            </a:extLst>
          </p:cNvPr>
          <p:cNvSpPr txBox="1"/>
          <p:nvPr/>
        </p:nvSpPr>
        <p:spPr>
          <a:xfrm>
            <a:off x="2626126" y="3261360"/>
            <a:ext cx="6106393" cy="2959977"/>
          </a:xfrm>
          <a:prstGeom prst="rect">
            <a:avLst/>
          </a:prstGeom>
          <a:noFill/>
        </p:spPr>
        <p:txBody>
          <a:bodyPr wrap="square" rtlCol="0">
            <a:spAutoFit/>
          </a:bodyPr>
          <a:lstStyle/>
          <a:p>
            <a:pPr>
              <a:lnSpc>
                <a:spcPct val="150000"/>
              </a:lnSpc>
            </a:pPr>
            <a:r>
              <a:rPr lang="zh-CN" altLang="en-US" sz="3200" dirty="0">
                <a:solidFill>
                  <a:srgbClr val="FF0000"/>
                </a:solidFill>
                <a:latin typeface="微软雅黑" panose="020B0503020204020204" pitchFamily="34" charset="-122"/>
                <a:ea typeface="微软雅黑" panose="020B0503020204020204" pitchFamily="34" charset="-122"/>
              </a:rPr>
              <a:t>①混淆矩阵</a:t>
            </a:r>
            <a:endParaRPr lang="en-US" altLang="zh-CN" sz="32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3200" dirty="0">
                <a:solidFill>
                  <a:srgbClr val="FF0000"/>
                </a:solidFill>
                <a:latin typeface="微软雅黑" panose="020B0503020204020204" pitchFamily="34" charset="-122"/>
                <a:ea typeface="微软雅黑" panose="020B0503020204020204" pitchFamily="34" charset="-122"/>
              </a:rPr>
              <a:t>②准确率</a:t>
            </a:r>
            <a:endParaRPr lang="en-US" altLang="zh-CN" sz="32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3200" dirty="0">
                <a:solidFill>
                  <a:srgbClr val="FF0000"/>
                </a:solidFill>
                <a:latin typeface="微软雅黑" panose="020B0503020204020204" pitchFamily="34" charset="-122"/>
                <a:ea typeface="微软雅黑" panose="020B0503020204020204" pitchFamily="34" charset="-122"/>
              </a:rPr>
              <a:t>③精准率</a:t>
            </a:r>
            <a:endParaRPr lang="en-US" altLang="zh-CN" sz="32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3200" dirty="0">
                <a:solidFill>
                  <a:srgbClr val="FF0000"/>
                </a:solidFill>
                <a:latin typeface="微软雅黑" panose="020B0503020204020204" pitchFamily="34" charset="-122"/>
                <a:ea typeface="微软雅黑" panose="020B0503020204020204" pitchFamily="34" charset="-122"/>
              </a:rPr>
              <a:t>④召回率</a:t>
            </a:r>
            <a:endParaRPr lang="en-US" altLang="zh-CN" sz="3200" dirty="0">
              <a:solidFill>
                <a:srgbClr val="FF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5A5F3B2B-3791-4A47-E5CB-3F3C806DB243}"/>
              </a:ext>
            </a:extLst>
          </p:cNvPr>
          <p:cNvSpPr txBox="1"/>
          <p:nvPr/>
        </p:nvSpPr>
        <p:spPr>
          <a:xfrm>
            <a:off x="6934200" y="3261360"/>
            <a:ext cx="6096000" cy="2959977"/>
          </a:xfrm>
          <a:prstGeom prst="rect">
            <a:avLst/>
          </a:prstGeom>
          <a:noFill/>
        </p:spPr>
        <p:txBody>
          <a:bodyPr wrap="square">
            <a:spAutoFit/>
          </a:bodyPr>
          <a:lstStyle/>
          <a:p>
            <a:pPr>
              <a:lnSpc>
                <a:spcPct val="150000"/>
              </a:lnSpc>
            </a:pPr>
            <a:r>
              <a:rPr lang="zh-CN" altLang="en-US" sz="3200" dirty="0">
                <a:solidFill>
                  <a:srgbClr val="FF0000"/>
                </a:solidFill>
                <a:latin typeface="微软雅黑" panose="020B0503020204020204" pitchFamily="34" charset="-122"/>
                <a:ea typeface="微软雅黑" panose="020B0503020204020204" pitchFamily="34" charset="-122"/>
              </a:rPr>
              <a:t>⑤特异性</a:t>
            </a:r>
            <a:endParaRPr lang="en-US" altLang="zh-CN" sz="32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3200" dirty="0">
                <a:solidFill>
                  <a:srgbClr val="FF0000"/>
                </a:solidFill>
                <a:latin typeface="微软雅黑" panose="020B0503020204020204" pitchFamily="34" charset="-122"/>
                <a:ea typeface="微软雅黑" panose="020B0503020204020204" pitchFamily="34" charset="-122"/>
              </a:rPr>
              <a:t>⑥</a:t>
            </a:r>
            <a:r>
              <a:rPr lang="en-US" altLang="zh-CN" sz="3200" dirty="0">
                <a:solidFill>
                  <a:srgbClr val="FF0000"/>
                </a:solidFill>
                <a:latin typeface="微软雅黑" panose="020B0503020204020204" pitchFamily="34" charset="-122"/>
                <a:ea typeface="微软雅黑" panose="020B0503020204020204" pitchFamily="34" charset="-122"/>
              </a:rPr>
              <a:t>F1</a:t>
            </a:r>
            <a:r>
              <a:rPr lang="zh-CN" altLang="en-US" sz="3200" dirty="0">
                <a:solidFill>
                  <a:srgbClr val="FF0000"/>
                </a:solidFill>
                <a:latin typeface="微软雅黑" panose="020B0503020204020204" pitchFamily="34" charset="-122"/>
                <a:ea typeface="微软雅黑" panose="020B0503020204020204" pitchFamily="34" charset="-122"/>
              </a:rPr>
              <a:t>得分</a:t>
            </a:r>
            <a:endParaRPr lang="en-US" altLang="zh-CN" sz="32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3200" dirty="0">
                <a:solidFill>
                  <a:srgbClr val="FF0000"/>
                </a:solidFill>
                <a:latin typeface="微软雅黑" panose="020B0503020204020204" pitchFamily="34" charset="-122"/>
                <a:ea typeface="微软雅黑" panose="020B0503020204020204" pitchFamily="34" charset="-122"/>
              </a:rPr>
              <a:t>⑦</a:t>
            </a:r>
            <a:r>
              <a:rPr lang="en-US" altLang="zh-CN" sz="3200" dirty="0">
                <a:solidFill>
                  <a:srgbClr val="FF0000"/>
                </a:solidFill>
                <a:latin typeface="微软雅黑" panose="020B0503020204020204" pitchFamily="34" charset="-122"/>
                <a:ea typeface="微软雅黑" panose="020B0503020204020204" pitchFamily="34" charset="-122"/>
              </a:rPr>
              <a:t>AUC</a:t>
            </a:r>
          </a:p>
          <a:p>
            <a:pPr>
              <a:lnSpc>
                <a:spcPct val="150000"/>
              </a:lnSpc>
            </a:pPr>
            <a:r>
              <a:rPr lang="zh-CN" altLang="en-US" sz="3200" dirty="0">
                <a:solidFill>
                  <a:srgbClr val="FF0000"/>
                </a:solidFill>
                <a:latin typeface="微软雅黑" panose="020B0503020204020204" pitchFamily="34" charset="-122"/>
                <a:ea typeface="微软雅黑" panose="020B0503020204020204" pitchFamily="34" charset="-122"/>
              </a:rPr>
              <a:t>⑧马修斯相关系数</a:t>
            </a:r>
          </a:p>
        </p:txBody>
      </p:sp>
    </p:spTree>
    <p:extLst>
      <p:ext uri="{BB962C8B-B14F-4D97-AF65-F5344CB8AC3E}">
        <p14:creationId xmlns:p14="http://schemas.microsoft.com/office/powerpoint/2010/main" val="29729924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AF026-EF18-67CC-9FD7-C01527FA038C}"/>
            </a:ext>
          </a:extLst>
        </p:cNvPr>
        <p:cNvGrpSpPr/>
        <p:nvPr/>
      </p:nvGrpSpPr>
      <p:grpSpPr>
        <a:xfrm>
          <a:off x="0" y="0"/>
          <a:ext cx="0" cy="0"/>
          <a:chOff x="0" y="0"/>
          <a:chExt cx="0" cy="0"/>
        </a:xfrm>
      </p:grpSpPr>
      <p:sp>
        <p:nvSpPr>
          <p:cNvPr id="9" name="矩形 26">
            <a:extLst>
              <a:ext uri="{FF2B5EF4-FFF2-40B4-BE49-F238E27FC236}">
                <a16:creationId xmlns:a16="http://schemas.microsoft.com/office/drawing/2014/main" id="{80DBB8C0-2776-F24A-E267-15D3923B4168}"/>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分类评价指标</a:t>
            </a:r>
          </a:p>
        </p:txBody>
      </p:sp>
      <p:sp>
        <p:nvSpPr>
          <p:cNvPr id="3" name="文本框 2">
            <a:extLst>
              <a:ext uri="{FF2B5EF4-FFF2-40B4-BE49-F238E27FC236}">
                <a16:creationId xmlns:a16="http://schemas.microsoft.com/office/drawing/2014/main" id="{009BD3E2-C423-2BAF-4F25-652D67F0CE45}"/>
              </a:ext>
            </a:extLst>
          </p:cNvPr>
          <p:cNvSpPr txBox="1"/>
          <p:nvPr/>
        </p:nvSpPr>
        <p:spPr>
          <a:xfrm>
            <a:off x="319722" y="1307571"/>
            <a:ext cx="11872278" cy="1258550"/>
          </a:xfrm>
          <a:prstGeom prst="rect">
            <a:avLst/>
          </a:prstGeom>
          <a:noFill/>
        </p:spPr>
        <p:txBody>
          <a:bodyPr wrap="square">
            <a:spAutoFit/>
          </a:bodyPr>
          <a:lstStyle/>
          <a:p>
            <a:pPr indent="306070">
              <a:lnSpc>
                <a:spcPct val="125000"/>
              </a:lnSpc>
            </a:pPr>
            <a:r>
              <a:rPr lang="zh-CN" altLang="zh-CN" sz="3200" b="1" kern="100" dirty="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混淆矩阵</a:t>
            </a:r>
            <a:r>
              <a:rPr lang="zh-CN" altLang="zh-CN" sz="32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altLang="zh-CN" sz="3200" kern="100" dirty="0">
                <a:effectLst/>
                <a:latin typeface="Times New Roman" panose="02020603050405020304" pitchFamily="18" charset="0"/>
                <a:ea typeface="楷体" panose="02010609060101010101" pitchFamily="49" charset="-122"/>
                <a:cs typeface="Times New Roman" panose="02020603050405020304" pitchFamily="18" charset="0"/>
              </a:rPr>
              <a:t>Confusion matrix</a:t>
            </a:r>
            <a:r>
              <a:rPr lang="zh-CN" altLang="zh-CN" sz="320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3200" kern="100" dirty="0">
                <a:effectLst/>
                <a:latin typeface="Cambria" panose="02040503050406030204" pitchFamily="18" charset="0"/>
                <a:ea typeface="Times New Roman" panose="02020603050405020304" pitchFamily="18" charset="0"/>
                <a:cs typeface="Times New Roman" panose="02020603050405020304" pitchFamily="18" charset="0"/>
              </a:rPr>
              <a:t>  </a:t>
            </a:r>
            <a:r>
              <a:rPr lang="zh-CN" altLang="zh-CN" sz="3200" kern="100" dirty="0">
                <a:effectLst/>
                <a:latin typeface="Times New Roman" panose="02020603050405020304" pitchFamily="18" charset="0"/>
                <a:ea typeface="楷体" panose="02010609060101010101" pitchFamily="49" charset="-122"/>
                <a:cs typeface="Times New Roman" panose="02020603050405020304" pitchFamily="18" charset="0"/>
              </a:rPr>
              <a:t>也称误差矩阵，用于比较模型的预测结果与真实情况，行代表真实标签，列代表预测标签。</a:t>
            </a:r>
            <a:endParaRPr lang="zh-CN" altLang="zh-CN" sz="2000" kern="100" dirty="0">
              <a:effectLst/>
              <a:latin typeface="Cambria" panose="02040503050406030204" pitchFamily="18" charset="0"/>
              <a:ea typeface="黑体" panose="02010609060101010101" pitchFamily="49" charset="-122"/>
              <a:cs typeface="Times New Roman" panose="02020603050405020304" pitchFamily="18" charset="0"/>
            </a:endParaRPr>
          </a:p>
        </p:txBody>
      </p:sp>
      <p:pic>
        <p:nvPicPr>
          <p:cNvPr id="2" name="图片 1">
            <a:extLst>
              <a:ext uri="{FF2B5EF4-FFF2-40B4-BE49-F238E27FC236}">
                <a16:creationId xmlns:a16="http://schemas.microsoft.com/office/drawing/2014/main" id="{DF071F15-38CB-9B27-A737-4B195DB8A02F}"/>
              </a:ext>
            </a:extLst>
          </p:cNvPr>
          <p:cNvPicPr>
            <a:picLocks noChangeAspect="1"/>
          </p:cNvPicPr>
          <p:nvPr/>
        </p:nvPicPr>
        <p:blipFill>
          <a:blip r:embed="rId3"/>
          <a:stretch>
            <a:fillRect/>
          </a:stretch>
        </p:blipFill>
        <p:spPr>
          <a:xfrm>
            <a:off x="3758704" y="2952665"/>
            <a:ext cx="8433296" cy="3290604"/>
          </a:xfrm>
          <a:prstGeom prst="rect">
            <a:avLst/>
          </a:prstGeom>
        </p:spPr>
      </p:pic>
      <p:sp>
        <p:nvSpPr>
          <p:cNvPr id="14" name="文本框 13">
            <a:extLst>
              <a:ext uri="{FF2B5EF4-FFF2-40B4-BE49-F238E27FC236}">
                <a16:creationId xmlns:a16="http://schemas.microsoft.com/office/drawing/2014/main" id="{198E05B2-57AB-80A0-C412-D82B7FED8D13}"/>
              </a:ext>
            </a:extLst>
          </p:cNvPr>
          <p:cNvSpPr txBox="1"/>
          <p:nvPr/>
        </p:nvSpPr>
        <p:spPr>
          <a:xfrm>
            <a:off x="158769" y="2962290"/>
            <a:ext cx="3922345" cy="3134961"/>
          </a:xfrm>
          <a:prstGeom prst="rect">
            <a:avLst/>
          </a:prstGeom>
          <a:noFill/>
        </p:spPr>
        <p:txBody>
          <a:bodyPr wrap="square">
            <a:spAutoFit/>
          </a:bodyPr>
          <a:lstStyle/>
          <a:p>
            <a:pPr indent="304800" algn="just">
              <a:lnSpc>
                <a:spcPct val="125000"/>
              </a:lnSpc>
            </a:pP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真正（</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True Positive</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TP</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）：预测为正类，实际为正类；</a:t>
            </a:r>
            <a:endPar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indent="304800" algn="just">
              <a:lnSpc>
                <a:spcPct val="125000"/>
              </a:lnSpc>
            </a:pP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真负（</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True Negative</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TN</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）：预测为负类，实际为负类；</a:t>
            </a:r>
          </a:p>
          <a:p>
            <a:pPr indent="304800" algn="just">
              <a:lnSpc>
                <a:spcPct val="125000"/>
              </a:lnSpc>
            </a:pP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假正（</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False Positive</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FP</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）：预测为正类，实际为负类；</a:t>
            </a:r>
          </a:p>
          <a:p>
            <a:pPr indent="304800" algn="just">
              <a:lnSpc>
                <a:spcPct val="125000"/>
              </a:lnSpc>
            </a:pP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假负（</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False Negative</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FN</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）：预测为负类，实际为正类。</a:t>
            </a:r>
          </a:p>
        </p:txBody>
      </p:sp>
    </p:spTree>
    <p:extLst>
      <p:ext uri="{BB962C8B-B14F-4D97-AF65-F5344CB8AC3E}">
        <p14:creationId xmlns:p14="http://schemas.microsoft.com/office/powerpoint/2010/main" val="29275098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5105B-63B7-3126-426E-AC66C2B47FB4}"/>
            </a:ext>
          </a:extLst>
        </p:cNvPr>
        <p:cNvGrpSpPr/>
        <p:nvPr/>
      </p:nvGrpSpPr>
      <p:grpSpPr>
        <a:xfrm>
          <a:off x="0" y="0"/>
          <a:ext cx="0" cy="0"/>
          <a:chOff x="0" y="0"/>
          <a:chExt cx="0" cy="0"/>
        </a:xfrm>
      </p:grpSpPr>
      <p:sp>
        <p:nvSpPr>
          <p:cNvPr id="9" name="矩形 26">
            <a:extLst>
              <a:ext uri="{FF2B5EF4-FFF2-40B4-BE49-F238E27FC236}">
                <a16:creationId xmlns:a16="http://schemas.microsoft.com/office/drawing/2014/main" id="{4763924A-37D9-68E2-814C-C8590A20F2A3}"/>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分类评价指标</a:t>
            </a:r>
          </a:p>
        </p:txBody>
      </p:sp>
      <p:sp>
        <p:nvSpPr>
          <p:cNvPr id="4" name="文本框 3">
            <a:extLst>
              <a:ext uri="{FF2B5EF4-FFF2-40B4-BE49-F238E27FC236}">
                <a16:creationId xmlns:a16="http://schemas.microsoft.com/office/drawing/2014/main" id="{531FAFFF-4FD6-7637-6383-797C1FEA2CA0}"/>
              </a:ext>
            </a:extLst>
          </p:cNvPr>
          <p:cNvSpPr txBox="1"/>
          <p:nvPr/>
        </p:nvSpPr>
        <p:spPr>
          <a:xfrm>
            <a:off x="387536" y="1360855"/>
            <a:ext cx="10847157" cy="1260730"/>
          </a:xfrm>
          <a:prstGeom prst="rect">
            <a:avLst/>
          </a:prstGeom>
          <a:noFill/>
        </p:spPr>
        <p:txBody>
          <a:bodyPr wrap="square">
            <a:spAutoFit/>
          </a:bodyPr>
          <a:lstStyle>
            <a:defPPr>
              <a:defRPr lang="zh-CN"/>
            </a:defPPr>
            <a:lvl1pPr indent="306070">
              <a:lnSpc>
                <a:spcPct val="125000"/>
              </a:lnSpc>
              <a:defRPr sz="2400" b="1" kern="10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defRPr>
            </a:lvl1pPr>
          </a:lstStyle>
          <a:p>
            <a:r>
              <a:rPr lang="zh-CN" altLang="zh-CN" sz="3200" dirty="0"/>
              <a:t>准确率</a:t>
            </a:r>
            <a:r>
              <a:rPr lang="zh-CN" altLang="zh-CN" sz="3200" b="0" dirty="0">
                <a:solidFill>
                  <a:schemeClr val="tx1"/>
                </a:solidFill>
              </a:rPr>
              <a:t>（</a:t>
            </a:r>
            <a:r>
              <a:rPr lang="en-US" altLang="zh-CN" sz="3200" b="0" dirty="0">
                <a:solidFill>
                  <a:schemeClr val="tx1"/>
                </a:solidFill>
              </a:rPr>
              <a:t>Accuracy</a:t>
            </a:r>
            <a:r>
              <a:rPr lang="zh-CN" altLang="zh-CN" sz="3200" b="0" dirty="0">
                <a:solidFill>
                  <a:schemeClr val="tx1"/>
                </a:solidFill>
              </a:rPr>
              <a:t>）  表示被正确分类的样本数占总样本数的比例。</a:t>
            </a:r>
            <a:endParaRPr lang="zh-CN" altLang="en-US" sz="3200" b="0" dirty="0">
              <a:solidFill>
                <a:schemeClr val="tx1"/>
              </a:solidFill>
            </a:endParaRPr>
          </a:p>
        </p:txBody>
      </p:sp>
      <p:sp>
        <p:nvSpPr>
          <p:cNvPr id="8" name="Rectangle 2">
            <a:extLst>
              <a:ext uri="{FF2B5EF4-FFF2-40B4-BE49-F238E27FC236}">
                <a16:creationId xmlns:a16="http://schemas.microsoft.com/office/drawing/2014/main" id="{9D1351D8-4272-1671-C3B4-B633571C9F4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graphicFrame>
        <p:nvGraphicFramePr>
          <p:cNvPr id="10" name="对象 9">
            <a:extLst>
              <a:ext uri="{FF2B5EF4-FFF2-40B4-BE49-F238E27FC236}">
                <a16:creationId xmlns:a16="http://schemas.microsoft.com/office/drawing/2014/main" id="{1E8374B5-0EE9-D016-12F2-E92F7A0F049F}"/>
              </a:ext>
            </a:extLst>
          </p:cNvPr>
          <p:cNvGraphicFramePr>
            <a:graphicFrameLocks noChangeAspect="1"/>
          </p:cNvGraphicFramePr>
          <p:nvPr>
            <p:extLst>
              <p:ext uri="{D42A27DB-BD31-4B8C-83A1-F6EECF244321}">
                <p14:modId xmlns:p14="http://schemas.microsoft.com/office/powerpoint/2010/main" val="4291614747"/>
              </p:ext>
            </p:extLst>
          </p:nvPr>
        </p:nvGraphicFramePr>
        <p:xfrm>
          <a:off x="2684499" y="2766993"/>
          <a:ext cx="5697501" cy="1114728"/>
        </p:xfrm>
        <a:graphic>
          <a:graphicData uri="http://schemas.openxmlformats.org/presentationml/2006/ole">
            <mc:AlternateContent xmlns:mc="http://schemas.openxmlformats.org/markup-compatibility/2006">
              <mc:Choice xmlns:v="urn:schemas-microsoft-com:vml" Requires="v">
                <p:oleObj name="Equation" r:id="rId3" imgW="2005729" imgH="393529" progId="Equation.DSMT4">
                  <p:embed/>
                </p:oleObj>
              </mc:Choice>
              <mc:Fallback>
                <p:oleObj name="Equation" r:id="rId3" imgW="2005729" imgH="393529"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4499" y="2766993"/>
                        <a:ext cx="5697501" cy="1114728"/>
                      </a:xfrm>
                      <a:prstGeom prst="rect">
                        <a:avLst/>
                      </a:prstGeom>
                      <a:noFill/>
                    </p:spPr>
                  </p:pic>
                </p:oleObj>
              </mc:Fallback>
            </mc:AlternateContent>
          </a:graphicData>
        </a:graphic>
      </p:graphicFrame>
      <p:sp>
        <p:nvSpPr>
          <p:cNvPr id="11" name="Rectangle 3">
            <a:extLst>
              <a:ext uri="{FF2B5EF4-FFF2-40B4-BE49-F238E27FC236}">
                <a16:creationId xmlns:a16="http://schemas.microsoft.com/office/drawing/2014/main" id="{463ED546-010A-13EA-19F0-E2E5A92C2568}"/>
              </a:ext>
            </a:extLst>
          </p:cNvPr>
          <p:cNvSpPr>
            <a:spLocks noChangeArrowheads="1"/>
          </p:cNvSpPr>
          <p:nvPr/>
        </p:nvSpPr>
        <p:spPr bwMode="auto">
          <a:xfrm rot="10800000" flipV="1">
            <a:off x="543429" y="4940186"/>
            <a:ext cx="11648570" cy="2436564"/>
          </a:xfrm>
          <a:prstGeom prst="rect">
            <a:avLst/>
          </a:prstGeom>
          <a:ln/>
        </p:spPr>
        <p:txBody>
          <a:bodyPr/>
          <a:lstStyle/>
          <a:p>
            <a:pPr>
              <a:lnSpc>
                <a:spcPct val="90000"/>
              </a:lnSpc>
              <a:spcBef>
                <a:spcPts val="1000"/>
              </a:spcBef>
            </a:pPr>
            <a:r>
              <a:rPr lang="zh-CN" altLang="en-US" sz="2400" dirty="0">
                <a:latin typeface="微软雅黑" panose="020B0503020204020204" pitchFamily="34" charset="-122"/>
                <a:ea typeface="微软雅黑" panose="020B0503020204020204" pitchFamily="34" charset="-122"/>
              </a:rPr>
              <a:t>准确率不适用于样本不均衡的情况。</a:t>
            </a:r>
            <a:endParaRPr lang="en-US" altLang="zh-CN" sz="2400" dirty="0">
              <a:latin typeface="微软雅黑" panose="020B0503020204020204" pitchFamily="34" charset="-122"/>
              <a:ea typeface="微软雅黑" panose="020B0503020204020204" pitchFamily="34" charset="-122"/>
            </a:endParaRPr>
          </a:p>
          <a:p>
            <a:pPr>
              <a:lnSpc>
                <a:spcPct val="90000"/>
              </a:lnSpc>
              <a:spcBef>
                <a:spcPts val="1000"/>
              </a:spcBef>
            </a:pPr>
            <a:r>
              <a:rPr lang="zh-CN" altLang="en-US" sz="2400" dirty="0">
                <a:latin typeface="微软雅黑" panose="020B0503020204020204" pitchFamily="34" charset="-122"/>
                <a:ea typeface="微软雅黑" panose="020B0503020204020204" pitchFamily="34" charset="-122"/>
              </a:rPr>
              <a:t>例如，对于某发病率为</a:t>
            </a:r>
            <a:r>
              <a:rPr lang="en-US" altLang="zh-CN" sz="2400" dirty="0">
                <a:latin typeface="微软雅黑" panose="020B0503020204020204" pitchFamily="34" charset="-122"/>
                <a:ea typeface="微软雅黑" panose="020B0503020204020204" pitchFamily="34" charset="-122"/>
              </a:rPr>
              <a:t>0.01%</a:t>
            </a:r>
            <a:r>
              <a:rPr lang="zh-CN" altLang="en-US" sz="2400" dirty="0">
                <a:latin typeface="微软雅黑" panose="020B0503020204020204" pitchFamily="34" charset="-122"/>
                <a:ea typeface="微软雅黑" panose="020B0503020204020204" pitchFamily="34" charset="-122"/>
              </a:rPr>
              <a:t>的疾病，直接预测全部样本为不患病也可以有</a:t>
            </a:r>
            <a:r>
              <a:rPr lang="en-US" altLang="zh-CN" sz="2400" dirty="0">
                <a:latin typeface="微软雅黑" panose="020B0503020204020204" pitchFamily="34" charset="-122"/>
                <a:ea typeface="微软雅黑" panose="020B0503020204020204" pitchFamily="34" charset="-122"/>
              </a:rPr>
              <a:t>99.99%</a:t>
            </a:r>
            <a:r>
              <a:rPr lang="zh-CN" altLang="en-US" sz="2400" dirty="0">
                <a:latin typeface="微软雅黑" panose="020B0503020204020204" pitchFamily="34" charset="-122"/>
                <a:ea typeface="微软雅黑" panose="020B0503020204020204" pitchFamily="34" charset="-122"/>
              </a:rPr>
              <a:t>的准确率，这种情况下，准确率是没有意义的。</a:t>
            </a:r>
          </a:p>
        </p:txBody>
      </p:sp>
    </p:spTree>
    <p:extLst>
      <p:ext uri="{BB962C8B-B14F-4D97-AF65-F5344CB8AC3E}">
        <p14:creationId xmlns:p14="http://schemas.microsoft.com/office/powerpoint/2010/main" val="246866089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60DD-F020-4ED6-9379-D1192DE3127A}"/>
            </a:ext>
          </a:extLst>
        </p:cNvPr>
        <p:cNvGrpSpPr/>
        <p:nvPr/>
      </p:nvGrpSpPr>
      <p:grpSpPr>
        <a:xfrm>
          <a:off x="0" y="0"/>
          <a:ext cx="0" cy="0"/>
          <a:chOff x="0" y="0"/>
          <a:chExt cx="0" cy="0"/>
        </a:xfrm>
      </p:grpSpPr>
      <p:sp>
        <p:nvSpPr>
          <p:cNvPr id="9" name="矩形 26">
            <a:extLst>
              <a:ext uri="{FF2B5EF4-FFF2-40B4-BE49-F238E27FC236}">
                <a16:creationId xmlns:a16="http://schemas.microsoft.com/office/drawing/2014/main" id="{F0E90C10-F60B-D594-49D7-58A2CCF0FE46}"/>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分类评价指标</a:t>
            </a:r>
          </a:p>
        </p:txBody>
      </p:sp>
      <p:sp>
        <p:nvSpPr>
          <p:cNvPr id="2" name="文本框 1">
            <a:extLst>
              <a:ext uri="{FF2B5EF4-FFF2-40B4-BE49-F238E27FC236}">
                <a16:creationId xmlns:a16="http://schemas.microsoft.com/office/drawing/2014/main" id="{5117FC93-AA34-3813-D947-370C006D5720}"/>
              </a:ext>
            </a:extLst>
          </p:cNvPr>
          <p:cNvSpPr txBox="1"/>
          <p:nvPr/>
        </p:nvSpPr>
        <p:spPr>
          <a:xfrm>
            <a:off x="166154" y="1755490"/>
            <a:ext cx="11812486" cy="1114664"/>
          </a:xfrm>
          <a:prstGeom prst="rect">
            <a:avLst/>
          </a:prstGeom>
          <a:noFill/>
        </p:spPr>
        <p:txBody>
          <a:bodyPr wrap="square">
            <a:spAutoFit/>
          </a:bodyPr>
          <a:lstStyle>
            <a:defPPr>
              <a:defRPr lang="zh-CN"/>
            </a:defPPr>
            <a:lvl1pPr indent="306070">
              <a:lnSpc>
                <a:spcPct val="125000"/>
              </a:lnSpc>
              <a:defRPr sz="2400" b="1" kern="10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defRPr>
            </a:lvl1pPr>
          </a:lstStyle>
          <a:p>
            <a:r>
              <a:rPr lang="zh-CN" altLang="en-US" sz="2800" dirty="0"/>
              <a:t>精准率</a:t>
            </a:r>
            <a:r>
              <a:rPr lang="zh-CN" altLang="en-US" sz="2800" b="0" dirty="0">
                <a:solidFill>
                  <a:schemeClr val="tx1"/>
                </a:solidFill>
              </a:rPr>
              <a:t>（</a:t>
            </a:r>
            <a:r>
              <a:rPr lang="en-US" altLang="zh-CN" sz="2800" b="0" dirty="0">
                <a:solidFill>
                  <a:schemeClr val="tx1"/>
                </a:solidFill>
              </a:rPr>
              <a:t>Precision</a:t>
            </a:r>
            <a:r>
              <a:rPr lang="zh-CN" altLang="en-US" sz="2800" b="0" dirty="0">
                <a:solidFill>
                  <a:schemeClr val="tx1"/>
                </a:solidFill>
              </a:rPr>
              <a:t>）  又叫查准率，是指预测为正样本的数据中真正为正样本的比例。</a:t>
            </a:r>
          </a:p>
        </p:txBody>
      </p:sp>
      <p:sp>
        <p:nvSpPr>
          <p:cNvPr id="4" name="Rectangle 2">
            <a:extLst>
              <a:ext uri="{FF2B5EF4-FFF2-40B4-BE49-F238E27FC236}">
                <a16:creationId xmlns:a16="http://schemas.microsoft.com/office/drawing/2014/main" id="{5C95F4D6-6AB2-A98E-4A74-0304791395F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a:extLst>
              <a:ext uri="{FF2B5EF4-FFF2-40B4-BE49-F238E27FC236}">
                <a16:creationId xmlns:a16="http://schemas.microsoft.com/office/drawing/2014/main" id="{23D5BB98-D314-834E-3380-3AF9D03B0984}"/>
              </a:ext>
            </a:extLst>
          </p:cNvPr>
          <p:cNvGraphicFramePr>
            <a:graphicFrameLocks noChangeAspect="1"/>
          </p:cNvGraphicFramePr>
          <p:nvPr>
            <p:extLst>
              <p:ext uri="{D42A27DB-BD31-4B8C-83A1-F6EECF244321}">
                <p14:modId xmlns:p14="http://schemas.microsoft.com/office/powerpoint/2010/main" val="2575685233"/>
              </p:ext>
            </p:extLst>
          </p:nvPr>
        </p:nvGraphicFramePr>
        <p:xfrm>
          <a:off x="3611563" y="3159714"/>
          <a:ext cx="3940284" cy="1149250"/>
        </p:xfrm>
        <a:graphic>
          <a:graphicData uri="http://schemas.openxmlformats.org/presentationml/2006/ole">
            <mc:AlternateContent xmlns:mc="http://schemas.openxmlformats.org/markup-compatibility/2006">
              <mc:Choice xmlns:v="urn:schemas-microsoft-com:vml" Requires="v">
                <p:oleObj name="Equation" r:id="rId3" imgW="1320227" imgH="393529" progId="Equation.DSMT4">
                  <p:embed/>
                </p:oleObj>
              </mc:Choice>
              <mc:Fallback>
                <p:oleObj name="Equation" r:id="rId3" imgW="1320227" imgH="393529"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1563" y="3159714"/>
                        <a:ext cx="3940284" cy="1149250"/>
                      </a:xfrm>
                      <a:prstGeom prst="rect">
                        <a:avLst/>
                      </a:prstGeom>
                      <a:noFill/>
                    </p:spPr>
                  </p:pic>
                </p:oleObj>
              </mc:Fallback>
            </mc:AlternateContent>
          </a:graphicData>
        </a:graphic>
      </p:graphicFrame>
      <p:sp>
        <p:nvSpPr>
          <p:cNvPr id="8" name="Rectangle 3">
            <a:extLst>
              <a:ext uri="{FF2B5EF4-FFF2-40B4-BE49-F238E27FC236}">
                <a16:creationId xmlns:a16="http://schemas.microsoft.com/office/drawing/2014/main" id="{9FFF1CA3-5BDA-3FAF-AF4A-95458DE115FE}"/>
              </a:ext>
            </a:extLst>
          </p:cNvPr>
          <p:cNvSpPr>
            <a:spLocks noChangeArrowheads="1"/>
          </p:cNvSpPr>
          <p:nvPr/>
        </p:nvSpPr>
        <p:spPr bwMode="auto">
          <a:xfrm>
            <a:off x="421715" y="4523405"/>
            <a:ext cx="11556925" cy="885371"/>
          </a:xfrm>
          <a:prstGeom prst="rect">
            <a:avLst/>
          </a:prstGeom>
          <a:ln/>
        </p:spPr>
        <p:txBody>
          <a:bodyPr/>
          <a:lstStyle/>
          <a:p>
            <a:pPr>
              <a:lnSpc>
                <a:spcPct val="90000"/>
              </a:lnSpc>
              <a:spcBef>
                <a:spcPts val="1000"/>
              </a:spcBef>
            </a:pPr>
            <a:r>
              <a:rPr lang="en-US" altLang="zh-CN" sz="2400" dirty="0">
                <a:latin typeface="微软雅黑" panose="020B0503020204020204" pitchFamily="34" charset="-122"/>
                <a:ea typeface="微软雅黑" panose="020B0503020204020204" pitchFamily="34" charset="-122"/>
              </a:rPr>
              <a:t>	</a:t>
            </a:r>
          </a:p>
          <a:p>
            <a:pPr>
              <a:lnSpc>
                <a:spcPct val="90000"/>
              </a:lnSpc>
              <a:spcBef>
                <a:spcPts val="1000"/>
              </a:spcBef>
            </a:pPr>
            <a:r>
              <a:rPr lang="zh-CN" altLang="en-US" sz="2400" dirty="0">
                <a:latin typeface="微软雅黑" panose="020B0503020204020204" pitchFamily="34" charset="-122"/>
                <a:ea typeface="微软雅黑" panose="020B0503020204020204" pitchFamily="34" charset="-122"/>
              </a:rPr>
              <a:t>精准率适用于希望使模型的预测结果尽可能不出错的场景。</a:t>
            </a:r>
            <a:endParaRPr lang="en-US" altLang="zh-CN" sz="2400" dirty="0">
              <a:latin typeface="微软雅黑" panose="020B0503020204020204" pitchFamily="34" charset="-122"/>
              <a:ea typeface="微软雅黑" panose="020B0503020204020204" pitchFamily="34" charset="-122"/>
            </a:endParaRPr>
          </a:p>
          <a:p>
            <a:pPr>
              <a:lnSpc>
                <a:spcPct val="90000"/>
              </a:lnSpc>
              <a:spcBef>
                <a:spcPts val="1000"/>
              </a:spcBef>
            </a:pPr>
            <a:r>
              <a:rPr lang="zh-CN" altLang="en-US" sz="2400" dirty="0">
                <a:latin typeface="微软雅黑" panose="020B0503020204020204" pitchFamily="34" charset="-122"/>
                <a:ea typeface="微软雅黑" panose="020B0503020204020204" pitchFamily="34" charset="-122"/>
              </a:rPr>
              <a:t>例如，在股价预测中，“宁可漏报，不能误报”，即不需要将所有会涨的股票预测出来，但是希望预测为股价上涨的股票大概率会上涨。</a:t>
            </a:r>
          </a:p>
        </p:txBody>
      </p:sp>
    </p:spTree>
    <p:extLst>
      <p:ext uri="{BB962C8B-B14F-4D97-AF65-F5344CB8AC3E}">
        <p14:creationId xmlns:p14="http://schemas.microsoft.com/office/powerpoint/2010/main" val="1088176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E21C7-C344-5409-C8CC-FC5D9FD1D5AD}"/>
            </a:ext>
          </a:extLst>
        </p:cNvPr>
        <p:cNvGrpSpPr/>
        <p:nvPr/>
      </p:nvGrpSpPr>
      <p:grpSpPr>
        <a:xfrm>
          <a:off x="0" y="0"/>
          <a:ext cx="0" cy="0"/>
          <a:chOff x="0" y="0"/>
          <a:chExt cx="0" cy="0"/>
        </a:xfrm>
      </p:grpSpPr>
      <p:sp>
        <p:nvSpPr>
          <p:cNvPr id="9" name="矩形 26">
            <a:extLst>
              <a:ext uri="{FF2B5EF4-FFF2-40B4-BE49-F238E27FC236}">
                <a16:creationId xmlns:a16="http://schemas.microsoft.com/office/drawing/2014/main" id="{C67D0F9E-990A-AFBC-62D3-96EEABF6BAAB}"/>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分类评价指标</a:t>
            </a:r>
          </a:p>
        </p:txBody>
      </p:sp>
      <p:sp>
        <p:nvSpPr>
          <p:cNvPr id="2" name="文本框 1">
            <a:extLst>
              <a:ext uri="{FF2B5EF4-FFF2-40B4-BE49-F238E27FC236}">
                <a16:creationId xmlns:a16="http://schemas.microsoft.com/office/drawing/2014/main" id="{107F46D3-E541-744F-2C73-76EF558F919E}"/>
              </a:ext>
            </a:extLst>
          </p:cNvPr>
          <p:cNvSpPr txBox="1"/>
          <p:nvPr/>
        </p:nvSpPr>
        <p:spPr>
          <a:xfrm>
            <a:off x="166154" y="1562985"/>
            <a:ext cx="11873446" cy="1260730"/>
          </a:xfrm>
          <a:prstGeom prst="rect">
            <a:avLst/>
          </a:prstGeom>
          <a:noFill/>
        </p:spPr>
        <p:txBody>
          <a:bodyPr wrap="square">
            <a:spAutoFit/>
          </a:bodyPr>
          <a:lstStyle>
            <a:defPPr>
              <a:defRPr lang="zh-CN"/>
            </a:defPPr>
            <a:lvl1pPr indent="306070">
              <a:lnSpc>
                <a:spcPct val="125000"/>
              </a:lnSpc>
              <a:defRPr sz="2400" b="1" kern="10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defRPr>
            </a:lvl1pPr>
          </a:lstStyle>
          <a:p>
            <a:r>
              <a:rPr lang="zh-CN" altLang="en-US" sz="3200" dirty="0"/>
              <a:t>召回率</a:t>
            </a:r>
            <a:r>
              <a:rPr lang="zh-CN" altLang="en-US" sz="3200" b="0" dirty="0">
                <a:solidFill>
                  <a:schemeClr val="tx1"/>
                </a:solidFill>
              </a:rPr>
              <a:t>（</a:t>
            </a:r>
            <a:r>
              <a:rPr lang="en-US" altLang="zh-CN" sz="3200" b="0" dirty="0">
                <a:solidFill>
                  <a:schemeClr val="tx1"/>
                </a:solidFill>
              </a:rPr>
              <a:t>Recall</a:t>
            </a:r>
            <a:r>
              <a:rPr lang="zh-CN" altLang="en-US" sz="3200" b="0" dirty="0">
                <a:solidFill>
                  <a:schemeClr val="tx1"/>
                </a:solidFill>
              </a:rPr>
              <a:t>）  又叫查全率、灵敏度（</a:t>
            </a:r>
            <a:r>
              <a:rPr lang="en-US" altLang="zh-CN" sz="3200" b="0" dirty="0">
                <a:solidFill>
                  <a:schemeClr val="tx1"/>
                </a:solidFill>
              </a:rPr>
              <a:t>Sensitivity</a:t>
            </a:r>
            <a:r>
              <a:rPr lang="zh-CN" altLang="en-US" sz="3200" b="0" dirty="0">
                <a:solidFill>
                  <a:schemeClr val="tx1"/>
                </a:solidFill>
              </a:rPr>
              <a:t>），是指实际为正样本的数据中被预测为正样本的比例。</a:t>
            </a:r>
          </a:p>
        </p:txBody>
      </p:sp>
      <p:sp>
        <p:nvSpPr>
          <p:cNvPr id="4" name="Rectangle 2">
            <a:extLst>
              <a:ext uri="{FF2B5EF4-FFF2-40B4-BE49-F238E27FC236}">
                <a16:creationId xmlns:a16="http://schemas.microsoft.com/office/drawing/2014/main" id="{D62BA7D8-5905-EE16-C6F0-69D8448B4E16}"/>
              </a:ext>
            </a:extLst>
          </p:cNvPr>
          <p:cNvSpPr>
            <a:spLocks noChangeArrowheads="1"/>
          </p:cNvSpPr>
          <p:nvPr/>
        </p:nvSpPr>
        <p:spPr bwMode="auto">
          <a:xfrm>
            <a:off x="-152400" y="325873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graphicFrame>
        <p:nvGraphicFramePr>
          <p:cNvPr id="7" name="对象 6">
            <a:extLst>
              <a:ext uri="{FF2B5EF4-FFF2-40B4-BE49-F238E27FC236}">
                <a16:creationId xmlns:a16="http://schemas.microsoft.com/office/drawing/2014/main" id="{1D51CD41-53D9-547B-982F-2529AD481851}"/>
              </a:ext>
            </a:extLst>
          </p:cNvPr>
          <p:cNvGraphicFramePr>
            <a:graphicFrameLocks noChangeAspect="1"/>
          </p:cNvGraphicFramePr>
          <p:nvPr>
            <p:extLst>
              <p:ext uri="{D42A27DB-BD31-4B8C-83A1-F6EECF244321}">
                <p14:modId xmlns:p14="http://schemas.microsoft.com/office/powerpoint/2010/main" val="1722838945"/>
              </p:ext>
            </p:extLst>
          </p:nvPr>
        </p:nvGraphicFramePr>
        <p:xfrm>
          <a:off x="3931920" y="3178743"/>
          <a:ext cx="3337560" cy="1148996"/>
        </p:xfrm>
        <a:graphic>
          <a:graphicData uri="http://schemas.openxmlformats.org/presentationml/2006/ole">
            <mc:AlternateContent xmlns:mc="http://schemas.openxmlformats.org/markup-compatibility/2006">
              <mc:Choice xmlns:v="urn:schemas-microsoft-com:vml" Requires="v">
                <p:oleObj name="Equation" r:id="rId3" imgW="1155600" imgH="393480" progId="Equation.DSMT4">
                  <p:embed/>
                </p:oleObj>
              </mc:Choice>
              <mc:Fallback>
                <p:oleObj name="Equation" r:id="rId3" imgW="1155600" imgH="393480" progId="Equation.DSMT4">
                  <p:embed/>
                  <p:pic>
                    <p:nvPicPr>
                      <p:cNvPr id="0" name="Object 1"/>
                      <p:cNvPicPr>
                        <a:picLocks noChangeAspect="1" noChangeArrowheads="1"/>
                      </p:cNvPicPr>
                      <p:nvPr/>
                    </p:nvPicPr>
                    <p:blipFill>
                      <a:blip r:embed="rId4"/>
                      <a:srcRect/>
                      <a:stretch>
                        <a:fillRect/>
                      </a:stretch>
                    </p:blipFill>
                    <p:spPr bwMode="auto">
                      <a:xfrm>
                        <a:off x="3931920" y="3178743"/>
                        <a:ext cx="3337560" cy="1148996"/>
                      </a:xfrm>
                      <a:prstGeom prst="rect">
                        <a:avLst/>
                      </a:prstGeom>
                      <a:noFill/>
                    </p:spPr>
                  </p:pic>
                </p:oleObj>
              </mc:Fallback>
            </mc:AlternateContent>
          </a:graphicData>
        </a:graphic>
      </p:graphicFrame>
      <p:sp>
        <p:nvSpPr>
          <p:cNvPr id="8" name="Rectangle 3">
            <a:extLst>
              <a:ext uri="{FF2B5EF4-FFF2-40B4-BE49-F238E27FC236}">
                <a16:creationId xmlns:a16="http://schemas.microsoft.com/office/drawing/2014/main" id="{F31C6C6A-7F06-4417-D2A9-018FF2DEDD61}"/>
              </a:ext>
            </a:extLst>
          </p:cNvPr>
          <p:cNvSpPr>
            <a:spLocks noChangeArrowheads="1"/>
          </p:cNvSpPr>
          <p:nvPr/>
        </p:nvSpPr>
        <p:spPr bwMode="auto">
          <a:xfrm>
            <a:off x="166154" y="4588382"/>
            <a:ext cx="12025846" cy="885371"/>
          </a:xfrm>
          <a:prstGeom prst="rect">
            <a:avLst/>
          </a:prstGeom>
          <a:ln/>
        </p:spPr>
        <p:txBody>
          <a:bodyPr/>
          <a:lstStyle/>
          <a:p>
            <a:pPr>
              <a:lnSpc>
                <a:spcPct val="90000"/>
              </a:lnSpc>
              <a:spcBef>
                <a:spcPts val="1000"/>
              </a:spcBef>
            </a:pPr>
            <a:r>
              <a:rPr lang="en-US" altLang="zh-CN" sz="2400" dirty="0">
                <a:latin typeface="微软雅黑" panose="020B0503020204020204" pitchFamily="34" charset="-122"/>
                <a:ea typeface="微软雅黑" panose="020B0503020204020204" pitchFamily="34" charset="-122"/>
              </a:rPr>
              <a:t>	</a:t>
            </a:r>
          </a:p>
          <a:p>
            <a:pPr>
              <a:lnSpc>
                <a:spcPct val="90000"/>
              </a:lnSpc>
              <a:spcBef>
                <a:spcPts val="1000"/>
              </a:spcBef>
            </a:pPr>
            <a:r>
              <a:rPr lang="zh-CN" altLang="en-US" sz="2400" dirty="0">
                <a:latin typeface="微软雅黑" panose="020B0503020204020204" pitchFamily="34" charset="-122"/>
                <a:ea typeface="微软雅黑" panose="020B0503020204020204" pitchFamily="34" charset="-122"/>
              </a:rPr>
              <a:t>召回率适用于希望尽可能全地预测出正样本的场景。</a:t>
            </a:r>
            <a:endParaRPr lang="en-US" altLang="zh-CN" sz="2400" dirty="0">
              <a:latin typeface="微软雅黑" panose="020B0503020204020204" pitchFamily="34" charset="-122"/>
              <a:ea typeface="微软雅黑" panose="020B0503020204020204" pitchFamily="34" charset="-122"/>
            </a:endParaRPr>
          </a:p>
          <a:p>
            <a:pPr>
              <a:lnSpc>
                <a:spcPct val="90000"/>
              </a:lnSpc>
              <a:spcBef>
                <a:spcPts val="1000"/>
              </a:spcBef>
            </a:pPr>
            <a:r>
              <a:rPr lang="zh-CN" altLang="en-US" sz="2400" dirty="0">
                <a:latin typeface="微软雅黑" panose="020B0503020204020204" pitchFamily="34" charset="-122"/>
                <a:ea typeface="微软雅黑" panose="020B0503020204020204" pitchFamily="34" charset="-122"/>
              </a:rPr>
              <a:t>例如，在贷款违约用户识别场景中，“宁可误检，不要漏检”，希望能将信用不好的用户尽可能全地识别出来，若将信用不好用户误当成信用良好用户，后续可能发生的违约金额会远超过信用良好用户偿还的借贷利息金额。</a:t>
            </a:r>
          </a:p>
        </p:txBody>
      </p:sp>
    </p:spTree>
    <p:extLst>
      <p:ext uri="{BB962C8B-B14F-4D97-AF65-F5344CB8AC3E}">
        <p14:creationId xmlns:p14="http://schemas.microsoft.com/office/powerpoint/2010/main" val="32040067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093C2-6485-3758-C3FF-16937DE784CF}"/>
            </a:ext>
          </a:extLst>
        </p:cNvPr>
        <p:cNvGrpSpPr/>
        <p:nvPr/>
      </p:nvGrpSpPr>
      <p:grpSpPr>
        <a:xfrm>
          <a:off x="0" y="0"/>
          <a:ext cx="0" cy="0"/>
          <a:chOff x="0" y="0"/>
          <a:chExt cx="0" cy="0"/>
        </a:xfrm>
      </p:grpSpPr>
      <p:sp>
        <p:nvSpPr>
          <p:cNvPr id="9" name="矩形 26">
            <a:extLst>
              <a:ext uri="{FF2B5EF4-FFF2-40B4-BE49-F238E27FC236}">
                <a16:creationId xmlns:a16="http://schemas.microsoft.com/office/drawing/2014/main" id="{BCAC92D6-864B-F0A0-DF7F-19EEF199A9DE}"/>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分类评价指标</a:t>
            </a:r>
          </a:p>
        </p:txBody>
      </p:sp>
      <p:sp>
        <p:nvSpPr>
          <p:cNvPr id="2" name="文本框 1">
            <a:extLst>
              <a:ext uri="{FF2B5EF4-FFF2-40B4-BE49-F238E27FC236}">
                <a16:creationId xmlns:a16="http://schemas.microsoft.com/office/drawing/2014/main" id="{C5BBB9CB-E4E2-E8EB-B3E3-8DC8E98ABDD2}"/>
              </a:ext>
            </a:extLst>
          </p:cNvPr>
          <p:cNvSpPr txBox="1"/>
          <p:nvPr/>
        </p:nvSpPr>
        <p:spPr>
          <a:xfrm>
            <a:off x="166154" y="1466733"/>
            <a:ext cx="11873446" cy="1260730"/>
          </a:xfrm>
          <a:prstGeom prst="rect">
            <a:avLst/>
          </a:prstGeom>
          <a:noFill/>
        </p:spPr>
        <p:txBody>
          <a:bodyPr wrap="square">
            <a:spAutoFit/>
          </a:bodyPr>
          <a:lstStyle>
            <a:defPPr>
              <a:defRPr lang="zh-CN"/>
            </a:defPPr>
            <a:lvl1pPr indent="306070">
              <a:lnSpc>
                <a:spcPct val="125000"/>
              </a:lnSpc>
              <a:defRPr sz="2400" b="1" kern="10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defRPr>
            </a:lvl1pPr>
          </a:lstStyle>
          <a:p>
            <a:r>
              <a:rPr lang="zh-CN" altLang="en-US" sz="3200" dirty="0"/>
              <a:t>特异性</a:t>
            </a:r>
            <a:r>
              <a:rPr lang="zh-CN" altLang="en-US" sz="3200" b="0" dirty="0">
                <a:solidFill>
                  <a:schemeClr val="tx1"/>
                </a:solidFill>
              </a:rPr>
              <a:t>（</a:t>
            </a:r>
            <a:r>
              <a:rPr lang="en-US" altLang="zh-CN" sz="3200" b="0" dirty="0">
                <a:solidFill>
                  <a:schemeClr val="tx1"/>
                </a:solidFill>
              </a:rPr>
              <a:t>Specificity</a:t>
            </a:r>
            <a:r>
              <a:rPr lang="zh-CN" altLang="en-US" sz="3200" b="0" dirty="0">
                <a:solidFill>
                  <a:schemeClr val="tx1"/>
                </a:solidFill>
              </a:rPr>
              <a:t>）  又叫真负率（</a:t>
            </a:r>
            <a:r>
              <a:rPr lang="en-US" altLang="zh-CN" sz="3200" b="0" dirty="0">
                <a:solidFill>
                  <a:schemeClr val="tx1"/>
                </a:solidFill>
              </a:rPr>
              <a:t>True Negative Rate</a:t>
            </a:r>
            <a:r>
              <a:rPr lang="zh-CN" altLang="en-US" sz="3200" b="0" dirty="0">
                <a:solidFill>
                  <a:schemeClr val="tx1"/>
                </a:solidFill>
              </a:rPr>
              <a:t>，</a:t>
            </a:r>
            <a:r>
              <a:rPr lang="en-US" altLang="zh-CN" sz="3200" b="0" dirty="0">
                <a:solidFill>
                  <a:schemeClr val="tx1"/>
                </a:solidFill>
              </a:rPr>
              <a:t>TNR</a:t>
            </a:r>
            <a:r>
              <a:rPr lang="zh-CN" altLang="en-US" sz="3200" b="0" dirty="0">
                <a:solidFill>
                  <a:schemeClr val="tx1"/>
                </a:solidFill>
              </a:rPr>
              <a:t>），是模型在所有真实负样本中成功预测出的比例。</a:t>
            </a:r>
          </a:p>
        </p:txBody>
      </p:sp>
      <p:sp>
        <p:nvSpPr>
          <p:cNvPr id="4" name="Rectangle 2">
            <a:extLst>
              <a:ext uri="{FF2B5EF4-FFF2-40B4-BE49-F238E27FC236}">
                <a16:creationId xmlns:a16="http://schemas.microsoft.com/office/drawing/2014/main" id="{D4DF01BA-1687-EC6E-728E-AEF547784414}"/>
              </a:ext>
            </a:extLst>
          </p:cNvPr>
          <p:cNvSpPr>
            <a:spLocks noChangeArrowheads="1"/>
          </p:cNvSpPr>
          <p:nvPr/>
        </p:nvSpPr>
        <p:spPr bwMode="auto">
          <a:xfrm>
            <a:off x="365760" y="500511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a:extLst>
              <a:ext uri="{FF2B5EF4-FFF2-40B4-BE49-F238E27FC236}">
                <a16:creationId xmlns:a16="http://schemas.microsoft.com/office/drawing/2014/main" id="{4A492441-E39A-FCF3-F920-A0F7B877D810}"/>
              </a:ext>
            </a:extLst>
          </p:cNvPr>
          <p:cNvGraphicFramePr>
            <a:graphicFrameLocks noChangeAspect="1"/>
          </p:cNvGraphicFramePr>
          <p:nvPr>
            <p:extLst>
              <p:ext uri="{D42A27DB-BD31-4B8C-83A1-F6EECF244321}">
                <p14:modId xmlns:p14="http://schemas.microsoft.com/office/powerpoint/2010/main" val="2658440744"/>
              </p:ext>
            </p:extLst>
          </p:nvPr>
        </p:nvGraphicFramePr>
        <p:xfrm>
          <a:off x="3931920" y="3323442"/>
          <a:ext cx="3886200" cy="1078549"/>
        </p:xfrm>
        <a:graphic>
          <a:graphicData uri="http://schemas.openxmlformats.org/presentationml/2006/ole">
            <mc:AlternateContent xmlns:mc="http://schemas.openxmlformats.org/markup-compatibility/2006">
              <mc:Choice xmlns:v="urn:schemas-microsoft-com:vml" Requires="v">
                <p:oleObj name="Equation" r:id="rId3" imgW="1396394" imgH="393529" progId="Equation.DSMT4">
                  <p:embed/>
                </p:oleObj>
              </mc:Choice>
              <mc:Fallback>
                <p:oleObj name="Equation" r:id="rId3" imgW="1396394" imgH="393529"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1920" y="3323442"/>
                        <a:ext cx="3886200" cy="1078549"/>
                      </a:xfrm>
                      <a:prstGeom prst="rect">
                        <a:avLst/>
                      </a:prstGeom>
                      <a:noFill/>
                    </p:spPr>
                  </p:pic>
                </p:oleObj>
              </mc:Fallback>
            </mc:AlternateContent>
          </a:graphicData>
        </a:graphic>
      </p:graphicFrame>
      <p:sp>
        <p:nvSpPr>
          <p:cNvPr id="8" name="Rectangle 3">
            <a:extLst>
              <a:ext uri="{FF2B5EF4-FFF2-40B4-BE49-F238E27FC236}">
                <a16:creationId xmlns:a16="http://schemas.microsoft.com/office/drawing/2014/main" id="{D3D224E5-7DF1-B019-FFAD-6F8CD04990AD}"/>
              </a:ext>
            </a:extLst>
          </p:cNvPr>
          <p:cNvSpPr>
            <a:spLocks noChangeArrowheads="1"/>
          </p:cNvSpPr>
          <p:nvPr/>
        </p:nvSpPr>
        <p:spPr bwMode="auto">
          <a:xfrm>
            <a:off x="265957" y="5375144"/>
            <a:ext cx="11673840" cy="1438324"/>
          </a:xfrm>
          <a:prstGeom prst="rect">
            <a:avLst/>
          </a:prstGeom>
          <a:ln/>
        </p:spPr>
        <p:txBody>
          <a:bodyPr/>
          <a:lstStyle/>
          <a:p>
            <a:pPr>
              <a:lnSpc>
                <a:spcPct val="90000"/>
              </a:lnSpc>
              <a:spcBef>
                <a:spcPts val="1000"/>
              </a:spcBef>
            </a:pPr>
            <a:r>
              <a:rPr lang="zh-CN" altLang="en-US" sz="2400" dirty="0">
                <a:latin typeface="微软雅黑" panose="020B0503020204020204" pitchFamily="34" charset="-122"/>
                <a:ea typeface="微软雅黑" panose="020B0503020204020204" pitchFamily="34" charset="-122"/>
              </a:rPr>
              <a:t>特异性衡量了模型将所有负样本成功识别出的比例。特异性的值越高，表示模型在识别负样本方面的能力越强。特异性通常与召回率相互补充，双方共同评估了模型的性能，尤其是在不平衡数据集的应用中。</a:t>
            </a:r>
          </a:p>
        </p:txBody>
      </p:sp>
    </p:spTree>
    <p:extLst>
      <p:ext uri="{BB962C8B-B14F-4D97-AF65-F5344CB8AC3E}">
        <p14:creationId xmlns:p14="http://schemas.microsoft.com/office/powerpoint/2010/main" val="24159175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440E2-0C48-9A27-D1FC-60236B2C18B5}"/>
            </a:ext>
          </a:extLst>
        </p:cNvPr>
        <p:cNvGrpSpPr/>
        <p:nvPr/>
      </p:nvGrpSpPr>
      <p:grpSpPr>
        <a:xfrm>
          <a:off x="0" y="0"/>
          <a:ext cx="0" cy="0"/>
          <a:chOff x="0" y="0"/>
          <a:chExt cx="0" cy="0"/>
        </a:xfrm>
      </p:grpSpPr>
      <p:sp>
        <p:nvSpPr>
          <p:cNvPr id="9" name="矩形 26">
            <a:extLst>
              <a:ext uri="{FF2B5EF4-FFF2-40B4-BE49-F238E27FC236}">
                <a16:creationId xmlns:a16="http://schemas.microsoft.com/office/drawing/2014/main" id="{F3A32429-41D9-B10C-1DC3-DC790F7067C1}"/>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分类评价指标</a:t>
            </a:r>
          </a:p>
        </p:txBody>
      </p:sp>
      <p:sp>
        <p:nvSpPr>
          <p:cNvPr id="16" name="Rectangle 4">
            <a:extLst>
              <a:ext uri="{FF2B5EF4-FFF2-40B4-BE49-F238E27FC236}">
                <a16:creationId xmlns:a16="http://schemas.microsoft.com/office/drawing/2014/main" id="{656BF1E0-C02E-5936-CD47-674F3CB04D32}"/>
              </a:ext>
            </a:extLst>
          </p:cNvPr>
          <p:cNvSpPr>
            <a:spLocks noChangeArrowheads="1"/>
          </p:cNvSpPr>
          <p:nvPr/>
        </p:nvSpPr>
        <p:spPr bwMode="auto">
          <a:xfrm>
            <a:off x="12700" y="1763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文本框 2">
            <a:extLst>
              <a:ext uri="{FF2B5EF4-FFF2-40B4-BE49-F238E27FC236}">
                <a16:creationId xmlns:a16="http://schemas.microsoft.com/office/drawing/2014/main" id="{61A01FB7-CD18-861F-074C-A2EC703295A0}"/>
              </a:ext>
            </a:extLst>
          </p:cNvPr>
          <p:cNvSpPr txBox="1"/>
          <p:nvPr/>
        </p:nvSpPr>
        <p:spPr>
          <a:xfrm>
            <a:off x="166154" y="1351229"/>
            <a:ext cx="11583886" cy="1260730"/>
          </a:xfrm>
          <a:prstGeom prst="rect">
            <a:avLst/>
          </a:prstGeom>
          <a:noFill/>
        </p:spPr>
        <p:txBody>
          <a:bodyPr wrap="square">
            <a:spAutoFit/>
          </a:bodyPr>
          <a:lstStyle>
            <a:defPPr>
              <a:defRPr lang="zh-CN"/>
            </a:defPPr>
            <a:lvl1pPr indent="306070">
              <a:lnSpc>
                <a:spcPct val="125000"/>
              </a:lnSpc>
              <a:defRPr sz="2400" b="1" kern="10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defRPr>
            </a:lvl1pPr>
          </a:lstStyle>
          <a:p>
            <a:r>
              <a:rPr lang="en-US" altLang="zh-CN" sz="3200" dirty="0"/>
              <a:t>F1</a:t>
            </a:r>
            <a:r>
              <a:rPr lang="zh-CN" altLang="en-US" sz="3200" dirty="0"/>
              <a:t>得分</a:t>
            </a:r>
            <a:r>
              <a:rPr lang="zh-CN" altLang="en-US" sz="3200" b="0" dirty="0">
                <a:solidFill>
                  <a:schemeClr val="tx1"/>
                </a:solidFill>
              </a:rPr>
              <a:t>将精准率和召回率合并为一个指标以便模型之间性能的比较。</a:t>
            </a:r>
          </a:p>
        </p:txBody>
      </p:sp>
      <p:graphicFrame>
        <p:nvGraphicFramePr>
          <p:cNvPr id="10" name="对象 9">
            <a:extLst>
              <a:ext uri="{FF2B5EF4-FFF2-40B4-BE49-F238E27FC236}">
                <a16:creationId xmlns:a16="http://schemas.microsoft.com/office/drawing/2014/main" id="{9EA39C80-4921-C247-A723-6BC522E39403}"/>
              </a:ext>
            </a:extLst>
          </p:cNvPr>
          <p:cNvGraphicFramePr>
            <a:graphicFrameLocks noChangeAspect="1"/>
          </p:cNvGraphicFramePr>
          <p:nvPr>
            <p:extLst>
              <p:ext uri="{D42A27DB-BD31-4B8C-83A1-F6EECF244321}">
                <p14:modId xmlns:p14="http://schemas.microsoft.com/office/powerpoint/2010/main" val="4090686874"/>
              </p:ext>
            </p:extLst>
          </p:nvPr>
        </p:nvGraphicFramePr>
        <p:xfrm>
          <a:off x="3076171" y="2802955"/>
          <a:ext cx="5046749" cy="1195283"/>
        </p:xfrm>
        <a:graphic>
          <a:graphicData uri="http://schemas.openxmlformats.org/presentationml/2006/ole">
            <mc:AlternateContent xmlns:mc="http://schemas.openxmlformats.org/markup-compatibility/2006">
              <mc:Choice xmlns:v="urn:schemas-microsoft-com:vml" Requires="v">
                <p:oleObj name="Equation" r:id="rId3" imgW="1675673" imgH="393529" progId="Equation.DSMT4">
                  <p:embed/>
                </p:oleObj>
              </mc:Choice>
              <mc:Fallback>
                <p:oleObj name="Equation" r:id="rId3" imgW="1675673" imgH="393529" progId="Equation.DSMT4">
                  <p:embed/>
                  <p:pic>
                    <p:nvPicPr>
                      <p:cNvPr id="8" name="对象 7">
                        <a:extLst>
                          <a:ext uri="{FF2B5EF4-FFF2-40B4-BE49-F238E27FC236}">
                            <a16:creationId xmlns:a16="http://schemas.microsoft.com/office/drawing/2014/main" id="{9EA39C80-4921-C247-A723-6BC522E394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6171" y="2802955"/>
                        <a:ext cx="5046749" cy="1195283"/>
                      </a:xfrm>
                      <a:prstGeom prst="rect">
                        <a:avLst/>
                      </a:prstGeom>
                      <a:noFill/>
                    </p:spPr>
                  </p:pic>
                </p:oleObj>
              </mc:Fallback>
            </mc:AlternateContent>
          </a:graphicData>
        </a:graphic>
      </p:graphicFrame>
      <p:sp>
        <p:nvSpPr>
          <p:cNvPr id="13" name="Rectangle 4">
            <a:extLst>
              <a:ext uri="{FF2B5EF4-FFF2-40B4-BE49-F238E27FC236}">
                <a16:creationId xmlns:a16="http://schemas.microsoft.com/office/drawing/2014/main" id="{6D4786ED-4663-A5EC-44AB-1381CF6E4F38}"/>
              </a:ext>
            </a:extLst>
          </p:cNvPr>
          <p:cNvSpPr>
            <a:spLocks noChangeArrowheads="1"/>
          </p:cNvSpPr>
          <p:nvPr/>
        </p:nvSpPr>
        <p:spPr bwMode="auto">
          <a:xfrm>
            <a:off x="995423" y="445008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5">
            <a:extLst>
              <a:ext uri="{FF2B5EF4-FFF2-40B4-BE49-F238E27FC236}">
                <a16:creationId xmlns:a16="http://schemas.microsoft.com/office/drawing/2014/main" id="{008D4F2A-F126-6406-72B5-9122E6C8B5F6}"/>
              </a:ext>
            </a:extLst>
          </p:cNvPr>
          <p:cNvSpPr>
            <a:spLocks noChangeArrowheads="1"/>
          </p:cNvSpPr>
          <p:nvPr/>
        </p:nvSpPr>
        <p:spPr bwMode="auto">
          <a:xfrm>
            <a:off x="995423" y="530733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304800"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1pPr>
            <a:lvl2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2pPr>
            <a:lvl3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3pPr>
            <a:lvl4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4pPr>
            <a:lvl5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5pPr>
            <a:lvl6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6pPr>
            <a:lvl7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7pPr>
            <a:lvl8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8pPr>
            <a:lvl9pPr eaLnBrk="0" fontAlgn="base" hangingPunct="0">
              <a:spcBef>
                <a:spcPct val="0"/>
              </a:spcBef>
              <a:spcAft>
                <a:spcPct val="0"/>
              </a:spcAft>
              <a:tabLst>
                <a:tab pos="2641600" algn="ctr"/>
                <a:tab pos="5270500" algn="r"/>
              </a:tabLst>
              <a:defRPr>
                <a:solidFill>
                  <a:schemeClr val="tx1"/>
                </a:solidFill>
                <a:latin typeface="Arial" panose="020B0604020202020204" pitchFamily="34" charset="0"/>
              </a:defRPr>
            </a:lvl9pPr>
          </a:lstStyle>
          <a:p>
            <a:pPr marL="0" marR="0" lvl="0" indent="304800" algn="l" defTabSz="914400" rtl="0" eaLnBrk="0" fontAlgn="base" latinLnBrk="0" hangingPunct="0">
              <a:lnSpc>
                <a:spcPct val="100000"/>
              </a:lnSpc>
              <a:spcBef>
                <a:spcPct val="0"/>
              </a:spcBef>
              <a:spcAft>
                <a:spcPct val="0"/>
              </a:spcAft>
              <a:buClrTx/>
              <a:buSzTx/>
              <a:buFontTx/>
              <a:buNone/>
              <a:tabLst>
                <a:tab pos="2641600" algn="ctr"/>
                <a:tab pos="5270500" algn="r"/>
              </a:tabLst>
            </a:pPr>
            <a:r>
              <a:rPr kumimoji="0" lang="en-US" altLang="zh-CN" sz="12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	</a:t>
            </a:r>
            <a:endParaRPr kumimoji="0" lang="en-US" altLang="zh-CN" sz="600" b="0" i="0" u="none" strike="noStrike" cap="none" normalizeH="0" baseline="0" dirty="0">
              <a:ln>
                <a:noFill/>
              </a:ln>
              <a:solidFill>
                <a:schemeClr val="tx1"/>
              </a:solidFill>
              <a:effectLst/>
              <a:latin typeface="Arial" panose="020B0604020202020204" pitchFamily="34" charset="0"/>
            </a:endParaRPr>
          </a:p>
          <a:p>
            <a:pPr marL="0" marR="0" lvl="0" indent="304800" algn="l" defTabSz="914400" rtl="0" eaLnBrk="0" fontAlgn="base" latinLnBrk="0" hangingPunct="0">
              <a:lnSpc>
                <a:spcPct val="100000"/>
              </a:lnSpc>
              <a:spcBef>
                <a:spcPct val="0"/>
              </a:spcBef>
              <a:spcAft>
                <a:spcPct val="0"/>
              </a:spcAft>
              <a:buClrTx/>
              <a:buSzTx/>
              <a:buFontTx/>
              <a:buNone/>
              <a:tabLst>
                <a:tab pos="2641600" algn="ctr"/>
                <a:tab pos="5270500" algn="r"/>
              </a:tabLst>
            </a:pP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5" name="Rectangle 6">
            <a:extLst>
              <a:ext uri="{FF2B5EF4-FFF2-40B4-BE49-F238E27FC236}">
                <a16:creationId xmlns:a16="http://schemas.microsoft.com/office/drawing/2014/main" id="{B1428EE8-A32F-1173-311C-EF2CF3F382C0}"/>
              </a:ext>
            </a:extLst>
          </p:cNvPr>
          <p:cNvSpPr>
            <a:spLocks noChangeArrowheads="1"/>
          </p:cNvSpPr>
          <p:nvPr/>
        </p:nvSpPr>
        <p:spPr bwMode="auto">
          <a:xfrm>
            <a:off x="324863" y="5201168"/>
            <a:ext cx="8177239" cy="424732"/>
          </a:xfrm>
          <a:prstGeom prst="rect">
            <a:avLst/>
          </a:prstGeom>
          <a:ln/>
        </p:spPr>
        <p:txBody>
          <a:bodyPr/>
          <a:lstStyle/>
          <a:p>
            <a:pPr>
              <a:lnSpc>
                <a:spcPct val="90000"/>
              </a:lnSpc>
              <a:spcBef>
                <a:spcPts val="1000"/>
              </a:spcBef>
            </a:pPr>
            <a:r>
              <a:rPr lang="en-US" altLang="zh-CN" sz="2400" dirty="0">
                <a:latin typeface="微软雅黑" panose="020B0503020204020204" pitchFamily="34" charset="-122"/>
                <a:ea typeface="微软雅黑" panose="020B0503020204020204" pitchFamily="34" charset="-122"/>
              </a:rPr>
              <a:t>F1</a:t>
            </a:r>
            <a:r>
              <a:rPr lang="zh-CN" altLang="zh-CN" sz="2400" dirty="0">
                <a:latin typeface="微软雅黑" panose="020B0503020204020204" pitchFamily="34" charset="-122"/>
                <a:ea typeface="微软雅黑" panose="020B0503020204020204" pitchFamily="34" charset="-122"/>
              </a:rPr>
              <a:t>得分的取值范围为</a:t>
            </a:r>
            <a:r>
              <a:rPr lang="en-US" altLang="zh-CN" sz="2400" dirty="0">
                <a:latin typeface="微软雅黑" panose="020B0503020204020204" pitchFamily="34" charset="-122"/>
                <a:ea typeface="微软雅黑" panose="020B0503020204020204" pitchFamily="34" charset="-122"/>
              </a:rPr>
              <a:t>[0, 1]</a:t>
            </a:r>
            <a:r>
              <a:rPr lang="zh-CN" altLang="en-US" sz="2400" dirty="0">
                <a:latin typeface="微软雅黑" panose="020B0503020204020204" pitchFamily="34" charset="-122"/>
                <a:ea typeface="微软雅黑" panose="020B0503020204020204" pitchFamily="34" charset="-122"/>
              </a:rPr>
              <a:t>，其值越接近</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表示模型性能越好。</a:t>
            </a:r>
          </a:p>
        </p:txBody>
      </p:sp>
      <p:sp>
        <p:nvSpPr>
          <p:cNvPr id="17" name="Rectangle 7">
            <a:extLst>
              <a:ext uri="{FF2B5EF4-FFF2-40B4-BE49-F238E27FC236}">
                <a16:creationId xmlns:a16="http://schemas.microsoft.com/office/drawing/2014/main" id="{A06335CA-DEEA-F523-2124-67DD240235D4}"/>
              </a:ext>
            </a:extLst>
          </p:cNvPr>
          <p:cNvSpPr>
            <a:spLocks noChangeArrowheads="1"/>
          </p:cNvSpPr>
          <p:nvPr/>
        </p:nvSpPr>
        <p:spPr bwMode="auto">
          <a:xfrm>
            <a:off x="368361" y="5707380"/>
            <a:ext cx="11381679" cy="556253"/>
          </a:xfrm>
          <a:prstGeom prst="rect">
            <a:avLst/>
          </a:prstGeom>
          <a:ln/>
        </p:spPr>
        <p:txBody>
          <a:bodyPr/>
          <a:lstStyle/>
          <a:p>
            <a:pPr>
              <a:lnSpc>
                <a:spcPct val="90000"/>
              </a:lnSpc>
              <a:spcBef>
                <a:spcPts val="1000"/>
              </a:spcBef>
            </a:pPr>
            <a:r>
              <a:rPr lang="en-US" altLang="zh-CN" sz="2400" dirty="0">
                <a:latin typeface="微软雅黑" panose="020B0503020204020204" pitchFamily="34" charset="-122"/>
                <a:ea typeface="微软雅黑" panose="020B0503020204020204" pitchFamily="34" charset="-122"/>
              </a:rPr>
              <a:t>F1</a:t>
            </a:r>
            <a:r>
              <a:rPr lang="zh-CN" altLang="zh-CN" sz="2400" dirty="0">
                <a:latin typeface="微软雅黑" panose="020B0503020204020204" pitchFamily="34" charset="-122"/>
                <a:ea typeface="微软雅黑" panose="020B0503020204020204" pitchFamily="34" charset="-122"/>
              </a:rPr>
              <a:t>得分同时考虑了模型在正样本和负样本上的表现，适用于数据集类别分布不平衡的分类任务。</a:t>
            </a:r>
          </a:p>
        </p:txBody>
      </p:sp>
    </p:spTree>
    <p:extLst>
      <p:ext uri="{BB962C8B-B14F-4D97-AF65-F5344CB8AC3E}">
        <p14:creationId xmlns:p14="http://schemas.microsoft.com/office/powerpoint/2010/main" val="28266125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381DE-8111-BF80-12C5-C9D67878FCCA}"/>
            </a:ext>
          </a:extLst>
        </p:cNvPr>
        <p:cNvGrpSpPr/>
        <p:nvPr/>
      </p:nvGrpSpPr>
      <p:grpSpPr>
        <a:xfrm>
          <a:off x="0" y="0"/>
          <a:ext cx="0" cy="0"/>
          <a:chOff x="0" y="0"/>
          <a:chExt cx="0" cy="0"/>
        </a:xfrm>
      </p:grpSpPr>
      <p:sp>
        <p:nvSpPr>
          <p:cNvPr id="9" name="矩形 26">
            <a:extLst>
              <a:ext uri="{FF2B5EF4-FFF2-40B4-BE49-F238E27FC236}">
                <a16:creationId xmlns:a16="http://schemas.microsoft.com/office/drawing/2014/main" id="{870F612E-A526-E4B6-6553-F9861944FECE}"/>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分类评价指标</a:t>
            </a:r>
          </a:p>
        </p:txBody>
      </p:sp>
      <p:sp>
        <p:nvSpPr>
          <p:cNvPr id="2" name="文本框 1">
            <a:extLst>
              <a:ext uri="{FF2B5EF4-FFF2-40B4-BE49-F238E27FC236}">
                <a16:creationId xmlns:a16="http://schemas.microsoft.com/office/drawing/2014/main" id="{652D3128-8275-0AA3-B947-0F9BA839C6E6}"/>
              </a:ext>
            </a:extLst>
          </p:cNvPr>
          <p:cNvSpPr txBox="1"/>
          <p:nvPr/>
        </p:nvSpPr>
        <p:spPr>
          <a:xfrm>
            <a:off x="166154" y="1466733"/>
            <a:ext cx="6889966" cy="4954048"/>
          </a:xfrm>
          <a:prstGeom prst="rect">
            <a:avLst/>
          </a:prstGeom>
          <a:noFill/>
        </p:spPr>
        <p:txBody>
          <a:bodyPr wrap="square">
            <a:spAutoFit/>
          </a:bodyPr>
          <a:lstStyle>
            <a:defPPr>
              <a:defRPr lang="zh-CN"/>
            </a:defPPr>
            <a:lvl1pPr indent="306070">
              <a:lnSpc>
                <a:spcPct val="125000"/>
              </a:lnSpc>
              <a:defRPr sz="2400" b="1" kern="10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defRPr>
            </a:lvl1pPr>
          </a:lstStyle>
          <a:p>
            <a:r>
              <a:rPr lang="en-US" altLang="zh-CN" sz="3200" dirty="0"/>
              <a:t>ROC</a:t>
            </a:r>
            <a:r>
              <a:rPr lang="zh-CN" altLang="en-US" sz="3200" b="0" dirty="0">
                <a:solidFill>
                  <a:schemeClr val="tx1"/>
                </a:solidFill>
              </a:rPr>
              <a:t>（</a:t>
            </a:r>
            <a:r>
              <a:rPr lang="en-US" altLang="zh-CN" sz="3200" b="0" dirty="0">
                <a:solidFill>
                  <a:schemeClr val="tx1"/>
                </a:solidFill>
              </a:rPr>
              <a:t>Receiver Operating Characteristic Curve</a:t>
            </a:r>
            <a:r>
              <a:rPr lang="zh-CN" altLang="en-US" sz="3200" b="0" dirty="0">
                <a:solidFill>
                  <a:schemeClr val="tx1"/>
                </a:solidFill>
              </a:rPr>
              <a:t>）  是通过改变分类阈值来展示分类器效果的曲线。其横轴表示假正率（</a:t>
            </a:r>
            <a:r>
              <a:rPr lang="en-US" altLang="zh-CN" sz="3200" b="0" dirty="0">
                <a:solidFill>
                  <a:schemeClr val="tx1"/>
                </a:solidFill>
              </a:rPr>
              <a:t>False Positive Rate</a:t>
            </a:r>
            <a:r>
              <a:rPr lang="zh-CN" altLang="en-US" sz="3200" b="0" dirty="0">
                <a:solidFill>
                  <a:schemeClr val="tx1"/>
                </a:solidFill>
              </a:rPr>
              <a:t>，</a:t>
            </a:r>
            <a:r>
              <a:rPr lang="en-US" altLang="zh-CN" sz="3200" b="0" dirty="0">
                <a:solidFill>
                  <a:schemeClr val="tx1"/>
                </a:solidFill>
              </a:rPr>
              <a:t>FPR</a:t>
            </a:r>
            <a:r>
              <a:rPr lang="zh-CN" altLang="en-US" sz="3200" b="0" dirty="0">
                <a:solidFill>
                  <a:schemeClr val="tx1"/>
                </a:solidFill>
              </a:rPr>
              <a:t>），即正样本被正确分类的比例；纵轴表示真正率（</a:t>
            </a:r>
            <a:r>
              <a:rPr lang="en-US" altLang="zh-CN" sz="3200" b="0" dirty="0">
                <a:solidFill>
                  <a:schemeClr val="tx1"/>
                </a:solidFill>
              </a:rPr>
              <a:t>True Positive Rate</a:t>
            </a:r>
            <a:r>
              <a:rPr lang="zh-CN" altLang="en-US" sz="3200" b="0" dirty="0">
                <a:solidFill>
                  <a:schemeClr val="tx1"/>
                </a:solidFill>
              </a:rPr>
              <a:t>，</a:t>
            </a:r>
            <a:r>
              <a:rPr lang="en-US" altLang="zh-CN" sz="3200" b="0" dirty="0">
                <a:solidFill>
                  <a:schemeClr val="tx1"/>
                </a:solidFill>
              </a:rPr>
              <a:t>TPR</a:t>
            </a:r>
            <a:r>
              <a:rPr lang="zh-CN" altLang="en-US" sz="3200" b="0" dirty="0">
                <a:solidFill>
                  <a:schemeClr val="tx1"/>
                </a:solidFill>
              </a:rPr>
              <a:t>），即负样本被错分为正样本的比例。</a:t>
            </a:r>
          </a:p>
        </p:txBody>
      </p:sp>
      <p:pic>
        <p:nvPicPr>
          <p:cNvPr id="11" name="图形 1">
            <a:extLst>
              <a:ext uri="{FF2B5EF4-FFF2-40B4-BE49-F238E27FC236}">
                <a16:creationId xmlns:a16="http://schemas.microsoft.com/office/drawing/2014/main" id="{87A7DBEC-4904-5622-A332-84E519340A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59002" y="1773570"/>
            <a:ext cx="4307190" cy="4307190"/>
          </a:xfrm>
          <a:prstGeom prst="rect">
            <a:avLst/>
          </a:prstGeom>
        </p:spPr>
      </p:pic>
    </p:spTree>
    <p:extLst>
      <p:ext uri="{BB962C8B-B14F-4D97-AF65-F5344CB8AC3E}">
        <p14:creationId xmlns:p14="http://schemas.microsoft.com/office/powerpoint/2010/main" val="1852205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6C1EE-928C-F60B-4D89-857E5106A71E}"/>
            </a:ext>
          </a:extLst>
        </p:cNvPr>
        <p:cNvGrpSpPr/>
        <p:nvPr/>
      </p:nvGrpSpPr>
      <p:grpSpPr>
        <a:xfrm>
          <a:off x="0" y="0"/>
          <a:ext cx="0" cy="0"/>
          <a:chOff x="0" y="0"/>
          <a:chExt cx="0" cy="0"/>
        </a:xfrm>
      </p:grpSpPr>
      <p:sp>
        <p:nvSpPr>
          <p:cNvPr id="9" name="矩形 26">
            <a:extLst>
              <a:ext uri="{FF2B5EF4-FFF2-40B4-BE49-F238E27FC236}">
                <a16:creationId xmlns:a16="http://schemas.microsoft.com/office/drawing/2014/main" id="{4138279C-962F-539C-2297-9797E6EC0B81}"/>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分类评价指标</a:t>
            </a:r>
          </a:p>
        </p:txBody>
      </p:sp>
      <p:sp>
        <p:nvSpPr>
          <p:cNvPr id="2" name="文本框 1">
            <a:extLst>
              <a:ext uri="{FF2B5EF4-FFF2-40B4-BE49-F238E27FC236}">
                <a16:creationId xmlns:a16="http://schemas.microsoft.com/office/drawing/2014/main" id="{A09599E1-0FCD-4774-029E-889CAAE82A51}"/>
              </a:ext>
            </a:extLst>
          </p:cNvPr>
          <p:cNvSpPr txBox="1"/>
          <p:nvPr/>
        </p:nvSpPr>
        <p:spPr>
          <a:xfrm>
            <a:off x="358660" y="1466733"/>
            <a:ext cx="6448006" cy="1876283"/>
          </a:xfrm>
          <a:prstGeom prst="rect">
            <a:avLst/>
          </a:prstGeom>
          <a:noFill/>
        </p:spPr>
        <p:txBody>
          <a:bodyPr wrap="square">
            <a:spAutoFit/>
          </a:bodyPr>
          <a:lstStyle>
            <a:defPPr>
              <a:defRPr lang="zh-CN"/>
            </a:defPPr>
            <a:lvl1pPr indent="306070">
              <a:lnSpc>
                <a:spcPct val="125000"/>
              </a:lnSpc>
              <a:defRPr sz="2400" b="1" kern="10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defRPr>
            </a:lvl1pPr>
          </a:lstStyle>
          <a:p>
            <a:r>
              <a:rPr lang="en-US" altLang="zh-CN" sz="3200" dirty="0"/>
              <a:t>AUC</a:t>
            </a:r>
            <a:r>
              <a:rPr lang="zh-CN" altLang="en-US" sz="3200" b="0" dirty="0">
                <a:solidFill>
                  <a:schemeClr val="tx1"/>
                </a:solidFill>
              </a:rPr>
              <a:t>（</a:t>
            </a:r>
            <a:r>
              <a:rPr lang="en-US" altLang="zh-CN" sz="3200" b="0" dirty="0">
                <a:solidFill>
                  <a:schemeClr val="tx1"/>
                </a:solidFill>
              </a:rPr>
              <a:t>Area Under Curve</a:t>
            </a:r>
            <a:r>
              <a:rPr lang="zh-CN" altLang="en-US" sz="3200" b="0" dirty="0">
                <a:solidFill>
                  <a:schemeClr val="tx1"/>
                </a:solidFill>
              </a:rPr>
              <a:t>）  是</a:t>
            </a:r>
            <a:r>
              <a:rPr lang="en-US" altLang="zh-CN" sz="3200" b="0" dirty="0">
                <a:solidFill>
                  <a:schemeClr val="tx1"/>
                </a:solidFill>
              </a:rPr>
              <a:t>ROC</a:t>
            </a:r>
            <a:r>
              <a:rPr lang="zh-CN" altLang="en-US" sz="3200" b="0" dirty="0">
                <a:solidFill>
                  <a:schemeClr val="tx1"/>
                </a:solidFill>
              </a:rPr>
              <a:t>曲线下与坐标轴围成的面积，其取值范围在</a:t>
            </a:r>
            <a:r>
              <a:rPr lang="en-US" altLang="zh-CN" sz="3200" b="0" dirty="0">
                <a:solidFill>
                  <a:schemeClr val="tx1"/>
                </a:solidFill>
              </a:rPr>
              <a:t>0</a:t>
            </a:r>
            <a:r>
              <a:rPr lang="zh-CN" altLang="en-US" sz="3200" b="0" dirty="0">
                <a:solidFill>
                  <a:schemeClr val="tx1"/>
                </a:solidFill>
              </a:rPr>
              <a:t>到</a:t>
            </a:r>
            <a:r>
              <a:rPr lang="en-US" altLang="zh-CN" sz="3200" b="0" dirty="0">
                <a:solidFill>
                  <a:schemeClr val="tx1"/>
                </a:solidFill>
              </a:rPr>
              <a:t>1</a:t>
            </a:r>
            <a:r>
              <a:rPr lang="zh-CN" altLang="en-US" sz="3200" b="0" dirty="0">
                <a:solidFill>
                  <a:schemeClr val="tx1"/>
                </a:solidFill>
              </a:rPr>
              <a:t>之间。</a:t>
            </a:r>
          </a:p>
        </p:txBody>
      </p:sp>
      <p:sp>
        <p:nvSpPr>
          <p:cNvPr id="10" name="文本框 9">
            <a:extLst>
              <a:ext uri="{FF2B5EF4-FFF2-40B4-BE49-F238E27FC236}">
                <a16:creationId xmlns:a16="http://schemas.microsoft.com/office/drawing/2014/main" id="{CA520721-6211-BA77-6019-75890128ADBC}"/>
              </a:ext>
            </a:extLst>
          </p:cNvPr>
          <p:cNvSpPr txBox="1"/>
          <p:nvPr/>
        </p:nvSpPr>
        <p:spPr>
          <a:xfrm>
            <a:off x="431566" y="4185559"/>
            <a:ext cx="6182594" cy="1089529"/>
          </a:xfrm>
          <a:prstGeom prst="rect">
            <a:avLst/>
          </a:prstGeom>
          <a:ln/>
        </p:spPr>
        <p:txBody>
          <a:bodyPr/>
          <a:lstStyle>
            <a:defPPr>
              <a:defRPr lang="zh-CN"/>
            </a:defPPr>
            <a:lvl1pPr>
              <a:lnSpc>
                <a:spcPct val="90000"/>
              </a:lnSpc>
              <a:spcBef>
                <a:spcPts val="1000"/>
              </a:spcBef>
              <a:defRPr sz="2400">
                <a:latin typeface="微软雅黑" panose="020B0503020204020204" pitchFamily="34" charset="-122"/>
                <a:ea typeface="微软雅黑" panose="020B0503020204020204" pitchFamily="34" charset="-122"/>
              </a:defRPr>
            </a:lvl1pPr>
          </a:lstStyle>
          <a:p>
            <a:r>
              <a:rPr lang="zh-CN" altLang="en-US" dirty="0"/>
              <a:t>当</a:t>
            </a:r>
            <a:r>
              <a:rPr lang="en-US" altLang="zh-CN" dirty="0"/>
              <a:t>AUC=0.5</a:t>
            </a:r>
            <a:r>
              <a:rPr lang="zh-CN" altLang="en-US" dirty="0"/>
              <a:t>时，则表明预测准确率接近于随机猜测，模型没有应用价值。</a:t>
            </a:r>
            <a:endParaRPr lang="en-US" altLang="zh-CN" dirty="0"/>
          </a:p>
          <a:p>
            <a:r>
              <a:rPr lang="en-US" altLang="zh-CN" dirty="0"/>
              <a:t>ROC</a:t>
            </a:r>
            <a:r>
              <a:rPr lang="zh-CN" altLang="en-US" dirty="0"/>
              <a:t>曲线越靠近左上角，</a:t>
            </a:r>
            <a:r>
              <a:rPr lang="en-US" altLang="zh-CN" dirty="0"/>
              <a:t>AUC</a:t>
            </a:r>
            <a:r>
              <a:rPr lang="zh-CN" altLang="en-US" dirty="0"/>
              <a:t>越接近于</a:t>
            </a:r>
            <a:r>
              <a:rPr lang="en-US" altLang="zh-CN" dirty="0"/>
              <a:t>1</a:t>
            </a:r>
            <a:r>
              <a:rPr lang="zh-CN" altLang="en-US" dirty="0"/>
              <a:t>，说明分类模型的预测效果越好。</a:t>
            </a:r>
          </a:p>
        </p:txBody>
      </p:sp>
      <p:pic>
        <p:nvPicPr>
          <p:cNvPr id="4" name="图形 1">
            <a:extLst>
              <a:ext uri="{FF2B5EF4-FFF2-40B4-BE49-F238E27FC236}">
                <a16:creationId xmlns:a16="http://schemas.microsoft.com/office/drawing/2014/main" id="{110F0CAA-0FA2-FCB7-CC14-1D7D086414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59002" y="1506422"/>
            <a:ext cx="4574338" cy="4574338"/>
          </a:xfrm>
          <a:prstGeom prst="rect">
            <a:avLst/>
          </a:prstGeom>
        </p:spPr>
      </p:pic>
    </p:spTree>
    <p:extLst>
      <p:ext uri="{BB962C8B-B14F-4D97-AF65-F5344CB8AC3E}">
        <p14:creationId xmlns:p14="http://schemas.microsoft.com/office/powerpoint/2010/main" val="403546202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386DB-CC28-E6CD-6290-80429F1BCD2E}"/>
            </a:ext>
          </a:extLst>
        </p:cNvPr>
        <p:cNvGrpSpPr/>
        <p:nvPr/>
      </p:nvGrpSpPr>
      <p:grpSpPr>
        <a:xfrm>
          <a:off x="0" y="0"/>
          <a:ext cx="0" cy="0"/>
          <a:chOff x="0" y="0"/>
          <a:chExt cx="0" cy="0"/>
        </a:xfrm>
      </p:grpSpPr>
      <p:sp>
        <p:nvSpPr>
          <p:cNvPr id="9" name="矩形 26">
            <a:extLst>
              <a:ext uri="{FF2B5EF4-FFF2-40B4-BE49-F238E27FC236}">
                <a16:creationId xmlns:a16="http://schemas.microsoft.com/office/drawing/2014/main" id="{9F34CCBA-8462-E7A8-F9AD-1D20C9BA80BC}"/>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分类评价指标</a:t>
            </a:r>
          </a:p>
        </p:txBody>
      </p:sp>
      <p:sp>
        <p:nvSpPr>
          <p:cNvPr id="2" name="文本框 1">
            <a:extLst>
              <a:ext uri="{FF2B5EF4-FFF2-40B4-BE49-F238E27FC236}">
                <a16:creationId xmlns:a16="http://schemas.microsoft.com/office/drawing/2014/main" id="{DE33AC78-8830-98DD-8FCD-26224DC0DDD0}"/>
              </a:ext>
            </a:extLst>
          </p:cNvPr>
          <p:cNvSpPr txBox="1"/>
          <p:nvPr/>
        </p:nvSpPr>
        <p:spPr>
          <a:xfrm>
            <a:off x="166154" y="1274227"/>
            <a:ext cx="11873446" cy="1876283"/>
          </a:xfrm>
          <a:prstGeom prst="rect">
            <a:avLst/>
          </a:prstGeom>
          <a:noFill/>
        </p:spPr>
        <p:txBody>
          <a:bodyPr wrap="square">
            <a:spAutoFit/>
          </a:bodyPr>
          <a:lstStyle>
            <a:defPPr>
              <a:defRPr lang="zh-CN"/>
            </a:defPPr>
            <a:lvl1pPr indent="306070">
              <a:lnSpc>
                <a:spcPct val="125000"/>
              </a:lnSpc>
              <a:defRPr sz="2400" b="1" kern="100">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defRPr>
            </a:lvl1pPr>
          </a:lstStyle>
          <a:p>
            <a:r>
              <a:rPr lang="zh-CN" altLang="en-US" sz="3200" dirty="0"/>
              <a:t>马修斯相关系数</a:t>
            </a:r>
            <a:r>
              <a:rPr lang="zh-CN" altLang="en-US" sz="3200" b="0" dirty="0">
                <a:solidFill>
                  <a:schemeClr val="tx1"/>
                </a:solidFill>
              </a:rPr>
              <a:t>（</a:t>
            </a:r>
            <a:r>
              <a:rPr lang="en-US" altLang="zh-CN" sz="3200" b="0" dirty="0">
                <a:solidFill>
                  <a:schemeClr val="tx1"/>
                </a:solidFill>
              </a:rPr>
              <a:t>Matthews Correlation Coefficient, MCC</a:t>
            </a:r>
            <a:r>
              <a:rPr lang="zh-CN" altLang="en-US" sz="3200" b="0" dirty="0">
                <a:solidFill>
                  <a:schemeClr val="tx1"/>
                </a:solidFill>
              </a:rPr>
              <a:t>）  是一种考虑了真正例、真负例、假正例和假负例的二分类模型性能评估指标。</a:t>
            </a:r>
          </a:p>
        </p:txBody>
      </p:sp>
      <p:sp>
        <p:nvSpPr>
          <p:cNvPr id="10" name="文本框 9">
            <a:extLst>
              <a:ext uri="{FF2B5EF4-FFF2-40B4-BE49-F238E27FC236}">
                <a16:creationId xmlns:a16="http://schemas.microsoft.com/office/drawing/2014/main" id="{C869787B-D7D2-085D-F8B4-97F1022F743E}"/>
              </a:ext>
            </a:extLst>
          </p:cNvPr>
          <p:cNvSpPr txBox="1"/>
          <p:nvPr/>
        </p:nvSpPr>
        <p:spPr>
          <a:xfrm>
            <a:off x="559820" y="5219394"/>
            <a:ext cx="9269980" cy="1089529"/>
          </a:xfrm>
          <a:prstGeom prst="rect">
            <a:avLst/>
          </a:prstGeom>
          <a:ln/>
        </p:spPr>
        <p:txBody>
          <a:bodyPr/>
          <a:lstStyle>
            <a:defPPr>
              <a:defRPr lang="zh-CN"/>
            </a:defPPr>
            <a:lvl1pPr>
              <a:lnSpc>
                <a:spcPct val="90000"/>
              </a:lnSpc>
              <a:spcBef>
                <a:spcPts val="1000"/>
              </a:spcBef>
              <a:defRPr sz="2400">
                <a:latin typeface="微软雅黑" panose="020B0503020204020204" pitchFamily="34" charset="-122"/>
                <a:ea typeface="微软雅黑" panose="020B0503020204020204" pitchFamily="34" charset="-122"/>
              </a:defRPr>
            </a:lvl1pPr>
          </a:lstStyle>
          <a:p>
            <a:r>
              <a:rPr lang="zh-CN" altLang="en-US" dirty="0"/>
              <a:t>它的取值介于</a:t>
            </a:r>
            <a:r>
              <a:rPr lang="en-US" altLang="zh-CN" dirty="0"/>
              <a:t>-1</a:t>
            </a:r>
            <a:r>
              <a:rPr lang="zh-CN" altLang="en-US" dirty="0"/>
              <a:t>和</a:t>
            </a:r>
            <a:r>
              <a:rPr lang="en-US" altLang="zh-CN" dirty="0"/>
              <a:t>1</a:t>
            </a:r>
            <a:r>
              <a:rPr lang="zh-CN" altLang="en-US" dirty="0"/>
              <a:t>之间，其中</a:t>
            </a:r>
            <a:r>
              <a:rPr lang="en-US" altLang="zh-CN" dirty="0"/>
              <a:t>1</a:t>
            </a:r>
            <a:r>
              <a:rPr lang="zh-CN" altLang="en-US" dirty="0"/>
              <a:t>表示完美的分类器，</a:t>
            </a:r>
            <a:r>
              <a:rPr lang="en-US" altLang="zh-CN" dirty="0"/>
              <a:t>0</a:t>
            </a:r>
            <a:r>
              <a:rPr lang="zh-CN" altLang="en-US" dirty="0"/>
              <a:t>表示随机分类器，</a:t>
            </a:r>
            <a:r>
              <a:rPr lang="en-US" altLang="zh-CN" dirty="0"/>
              <a:t>-1</a:t>
            </a:r>
            <a:r>
              <a:rPr lang="zh-CN" altLang="en-US" dirty="0"/>
              <a:t>表示完全相反的分类器。</a:t>
            </a:r>
            <a:endParaRPr lang="en-US" altLang="zh-CN" dirty="0"/>
          </a:p>
          <a:p>
            <a:r>
              <a:rPr lang="zh-CN" altLang="en-US" dirty="0"/>
              <a:t>可用于不平衡数据集的模型评价。</a:t>
            </a:r>
          </a:p>
        </p:txBody>
      </p:sp>
      <p:sp>
        <p:nvSpPr>
          <p:cNvPr id="12" name="Rectangle 2">
            <a:extLst>
              <a:ext uri="{FF2B5EF4-FFF2-40B4-BE49-F238E27FC236}">
                <a16:creationId xmlns:a16="http://schemas.microsoft.com/office/drawing/2014/main" id="{61220863-68AA-9F62-C495-EB522F7A864D}"/>
              </a:ext>
            </a:extLst>
          </p:cNvPr>
          <p:cNvSpPr>
            <a:spLocks noChangeArrowheads="1"/>
          </p:cNvSpPr>
          <p:nvPr/>
        </p:nvSpPr>
        <p:spPr bwMode="auto">
          <a:xfrm>
            <a:off x="1538923" y="484632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a:extLst>
              <a:ext uri="{FF2B5EF4-FFF2-40B4-BE49-F238E27FC236}">
                <a16:creationId xmlns:a16="http://schemas.microsoft.com/office/drawing/2014/main" id="{180766CC-3E1B-C145-2C41-63C5B082DD25}"/>
              </a:ext>
            </a:extLst>
          </p:cNvPr>
          <p:cNvGraphicFramePr>
            <a:graphicFrameLocks noChangeAspect="1"/>
          </p:cNvGraphicFramePr>
          <p:nvPr>
            <p:extLst>
              <p:ext uri="{D42A27DB-BD31-4B8C-83A1-F6EECF244321}">
                <p14:modId xmlns:p14="http://schemas.microsoft.com/office/powerpoint/2010/main" val="4269628144"/>
              </p:ext>
            </p:extLst>
          </p:nvPr>
        </p:nvGraphicFramePr>
        <p:xfrm>
          <a:off x="2102803" y="3546513"/>
          <a:ext cx="7376477" cy="1074527"/>
        </p:xfrm>
        <a:graphic>
          <a:graphicData uri="http://schemas.openxmlformats.org/presentationml/2006/ole">
            <mc:AlternateContent xmlns:mc="http://schemas.openxmlformats.org/markup-compatibility/2006">
              <mc:Choice xmlns:v="urn:schemas-microsoft-com:vml" Requires="v">
                <p:oleObj name="Equation" r:id="rId3" imgW="3200400" imgH="444500" progId="Equation.DSMT4">
                  <p:embed/>
                </p:oleObj>
              </mc:Choice>
              <mc:Fallback>
                <p:oleObj name="Equation" r:id="rId3" imgW="3200400" imgH="4445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2803" y="3546513"/>
                        <a:ext cx="7376477" cy="1074527"/>
                      </a:xfrm>
                      <a:prstGeom prst="rect">
                        <a:avLst/>
                      </a:prstGeom>
                      <a:noFill/>
                    </p:spPr>
                  </p:pic>
                </p:oleObj>
              </mc:Fallback>
            </mc:AlternateContent>
          </a:graphicData>
        </a:graphic>
      </p:graphicFrame>
      <p:sp>
        <p:nvSpPr>
          <p:cNvPr id="14" name="Rectangle 3">
            <a:extLst>
              <a:ext uri="{FF2B5EF4-FFF2-40B4-BE49-F238E27FC236}">
                <a16:creationId xmlns:a16="http://schemas.microsoft.com/office/drawing/2014/main" id="{255CDB16-6D85-FD14-7690-BC41D087263E}"/>
              </a:ext>
            </a:extLst>
          </p:cNvPr>
          <p:cNvSpPr>
            <a:spLocks noChangeArrowheads="1"/>
          </p:cNvSpPr>
          <p:nvPr/>
        </p:nvSpPr>
        <p:spPr bwMode="auto">
          <a:xfrm>
            <a:off x="0" y="469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600" b="0" i="0" u="none" strike="noStrike" cap="none" normalizeH="0" baseline="0">
                <a:ln>
                  <a:noFill/>
                </a:ln>
                <a:solidFill>
                  <a:schemeClr val="tx1"/>
                </a:solidFill>
                <a:effectLst/>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649256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5106</TotalTime>
  <Words>1751</Words>
  <Application>Microsoft Office PowerPoint</Application>
  <PresentationFormat>宽屏</PresentationFormat>
  <Paragraphs>341</Paragraphs>
  <Slides>28</Slides>
  <Notes>28</Notes>
  <HiddenSlides>0</HiddenSlides>
  <MMClips>0</MMClips>
  <ScaleCrop>false</ScaleCrop>
  <HeadingPairs>
    <vt:vector size="8" baseType="variant">
      <vt:variant>
        <vt:lpstr>已用的字体</vt:lpstr>
      </vt:variant>
      <vt:variant>
        <vt:i4>12</vt:i4>
      </vt:variant>
      <vt:variant>
        <vt:lpstr>主题</vt:lpstr>
      </vt:variant>
      <vt:variant>
        <vt:i4>12</vt:i4>
      </vt:variant>
      <vt:variant>
        <vt:lpstr>嵌入 OLE 服务器</vt:lpstr>
      </vt:variant>
      <vt:variant>
        <vt:i4>3</vt:i4>
      </vt:variant>
      <vt:variant>
        <vt:lpstr>幻灯片标题</vt:lpstr>
      </vt:variant>
      <vt:variant>
        <vt:i4>28</vt:i4>
      </vt:variant>
    </vt:vector>
  </HeadingPairs>
  <TitlesOfParts>
    <vt:vector size="55" baseType="lpstr">
      <vt:lpstr>等线</vt:lpstr>
      <vt:lpstr>华光综艺_CNKI</vt:lpstr>
      <vt:lpstr>楷体_GB2312</vt:lpstr>
      <vt:lpstr>思源黑体</vt:lpstr>
      <vt:lpstr>思源黑体 CN Bold</vt:lpstr>
      <vt:lpstr>微软雅黑</vt:lpstr>
      <vt:lpstr>Arial</vt:lpstr>
      <vt:lpstr>Calibri</vt:lpstr>
      <vt:lpstr>Cambria</vt:lpstr>
      <vt:lpstr>Garamond</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Photo Editor 照片</vt:lpstr>
      <vt:lpstr>Equation.3</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Mengning Wang</cp:lastModifiedBy>
  <cp:revision>2910</cp:revision>
  <dcterms:created xsi:type="dcterms:W3CDTF">2022-05-23T09:13:00Z</dcterms:created>
  <dcterms:modified xsi:type="dcterms:W3CDTF">2025-04-15T12:50:27Z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