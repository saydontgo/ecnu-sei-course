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wdp" ContentType="image/vnd.ms-photo"/>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2">
  <p:sldMasterIdLst>
    <p:sldMasterId id="2147483648" r:id="rId1"/>
    <p:sldMasterId id="2147483657" r:id="rId3"/>
    <p:sldMasterId id="2147483683" r:id="rId4"/>
    <p:sldMasterId id="2147483710" r:id="rId5"/>
    <p:sldMasterId id="2147483736" r:id="rId6"/>
    <p:sldMasterId id="2147483762" r:id="rId7"/>
    <p:sldMasterId id="2147483778" r:id="rId8"/>
    <p:sldMasterId id="2147483799" r:id="rId9"/>
    <p:sldMasterId id="2147483817" r:id="rId10"/>
    <p:sldMasterId id="2147483844" r:id="rId11"/>
    <p:sldMasterId id="2147483862" r:id="rId12"/>
    <p:sldMasterId id="2147483888" r:id="rId13"/>
  </p:sldMasterIdLst>
  <p:notesMasterIdLst>
    <p:notesMasterId r:id="rId15"/>
  </p:notesMasterIdLst>
  <p:handoutMasterIdLst>
    <p:handoutMasterId r:id="rId52"/>
  </p:handoutMasterIdLst>
  <p:sldIdLst>
    <p:sldId id="15638" r:id="rId14"/>
    <p:sldId id="15682" r:id="rId16"/>
    <p:sldId id="15683" r:id="rId17"/>
    <p:sldId id="15709" r:id="rId18"/>
    <p:sldId id="15710" r:id="rId19"/>
    <p:sldId id="15711" r:id="rId20"/>
    <p:sldId id="15715" r:id="rId21"/>
    <p:sldId id="15712" r:id="rId22"/>
    <p:sldId id="15714" r:id="rId23"/>
    <p:sldId id="15716" r:id="rId24"/>
    <p:sldId id="15717" r:id="rId25"/>
    <p:sldId id="15718" r:id="rId26"/>
    <p:sldId id="15719" r:id="rId27"/>
    <p:sldId id="15721" r:id="rId28"/>
    <p:sldId id="15723" r:id="rId29"/>
    <p:sldId id="15722" r:id="rId30"/>
    <p:sldId id="15724" r:id="rId31"/>
    <p:sldId id="15725" r:id="rId32"/>
    <p:sldId id="15726" r:id="rId33"/>
    <p:sldId id="15727" r:id="rId34"/>
    <p:sldId id="15728" r:id="rId35"/>
    <p:sldId id="15730" r:id="rId36"/>
    <p:sldId id="15731" r:id="rId37"/>
    <p:sldId id="15732" r:id="rId38"/>
    <p:sldId id="15733" r:id="rId39"/>
    <p:sldId id="15734" r:id="rId40"/>
    <p:sldId id="15735" r:id="rId41"/>
    <p:sldId id="15736" r:id="rId42"/>
    <p:sldId id="15737" r:id="rId43"/>
    <p:sldId id="15738" r:id="rId44"/>
    <p:sldId id="15703" r:id="rId45"/>
    <p:sldId id="15704" r:id="rId46"/>
    <p:sldId id="15741" r:id="rId47"/>
    <p:sldId id="15739" r:id="rId48"/>
    <p:sldId id="15740" r:id="rId49"/>
    <p:sldId id="15742" r:id="rId50"/>
    <p:sldId id="15502" r:id="rId51"/>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208" userDrawn="1">
          <p15:clr>
            <a:srgbClr val="A4A3A4"/>
          </p15:clr>
        </p15:guide>
        <p15:guide id="5" orient="horz" pos="23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5C0C"/>
    <a:srgbClr val="FFFFFF"/>
    <a:srgbClr val="0066FF"/>
    <a:srgbClr val="7EA4EE"/>
    <a:srgbClr val="00FF00"/>
    <a:srgbClr val="F6F9FE"/>
    <a:srgbClr val="91CF50"/>
    <a:srgbClr val="FF66FF"/>
    <a:srgbClr val="00CCFF"/>
    <a:srgbClr val="0096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659F57-6F9C-41BD-BE3F-BE30FBA801BE}" styleName="表样式 1 25">
    <a:wholeTbl>
      <a:tcTxStyle>
        <a:fontRef idx="none">
          <a:srgbClr val="000000"/>
        </a:fontRef>
      </a:tcTxStyle>
      <a:tcStyle>
        <a:tcBdr>
          <a:left>
            <a:ln w="9525" cmpd="sng">
              <a:solidFill>
                <a:schemeClr val="accent4"/>
              </a:solidFill>
            </a:ln>
          </a:left>
          <a:right>
            <a:ln w="9525" cmpd="sng">
              <a:solidFill>
                <a:schemeClr val="accent4"/>
              </a:solidFill>
            </a:ln>
          </a:right>
          <a:top>
            <a:ln w="9525" cmpd="sng">
              <a:solidFill>
                <a:schemeClr val="accent4"/>
              </a:solidFill>
            </a:ln>
          </a:top>
          <a:bottom>
            <a:ln w="9525" cmpd="sng">
              <a:solidFill>
                <a:schemeClr val="accent4"/>
              </a:solidFill>
            </a:ln>
          </a:bottom>
          <a:insideH>
            <a:ln w="9525" cmpd="sng">
              <a:solidFill>
                <a:schemeClr val="accent4">
                  <a:lumMod val="40000"/>
                  <a:lumOff val="60000"/>
                </a:schemeClr>
              </a:solidFill>
            </a:ln>
          </a:insideH>
          <a:insideV>
            <a:ln w="9525" cmpd="sng">
              <a:solidFill>
                <a:schemeClr val="accent4">
                  <a:lumMod val="40000"/>
                  <a:lumOff val="60000"/>
                </a:schemeClr>
              </a:solidFill>
            </a:ln>
          </a:insideV>
        </a:tcBdr>
        <a:fill>
          <a:solidFill>
            <a:srgbClr val="FFFFFF"/>
          </a:solidFill>
        </a:fill>
      </a:tcStyle>
    </a:wholeTbl>
    <a:band2H>
      <a:tcStyle>
        <a:tcBdr/>
        <a:fill>
          <a:solidFill>
            <a:schemeClr val="accent4">
              <a:lumMod val="10000"/>
              <a:lumOff val="90000"/>
            </a:schemeClr>
          </a:solidFill>
        </a:fill>
      </a:tcStyle>
    </a:band2H>
    <a:band1V>
      <a:tcStyle>
        <a:tcBdr/>
        <a:fill>
          <a:solidFill>
            <a:schemeClr val="accent4">
              <a:lumMod val="10000"/>
              <a:lumOff val="90000"/>
            </a:schemeClr>
          </a:solidFill>
        </a:fill>
      </a:tcStyle>
    </a:band1V>
    <a:band2V>
      <a:tcStyle>
        <a:tcBdr/>
      </a:tcStyle>
    </a:band2V>
    <a:lastCol>
      <a:tcTxStyle b="on">
        <a:fontRef idx="none">
          <a:srgbClr val="08090C"/>
        </a:fontRef>
      </a:tcTxStyle>
      <a:tcStyle>
        <a:tcBdr>
          <a:left>
            <a:ln w="9525" cmpd="sng">
              <a:solidFill>
                <a:schemeClr val="accent4">
                  <a:lumMod val="40000"/>
                  <a:lumOff val="60000"/>
                </a:schemeClr>
              </a:solidFill>
            </a:ln>
          </a:left>
          <a:right>
            <a:ln w="9525" cmpd="sng">
              <a:solidFill>
                <a:schemeClr val="accent4"/>
              </a:solidFill>
            </a:ln>
          </a:right>
          <a:top>
            <a:ln w="9525" cmpd="sng">
              <a:solidFill>
                <a:schemeClr val="accent4"/>
              </a:solidFill>
            </a:ln>
          </a:top>
          <a:bottom>
            <a:ln w="9525" cmpd="sng">
              <a:solidFill>
                <a:schemeClr val="accent4"/>
              </a:solidFill>
            </a:ln>
          </a:bottom>
          <a:insideH>
            <a:ln w="9525" cmpd="sng">
              <a:solidFill>
                <a:schemeClr val="accent4">
                  <a:lumMod val="40000"/>
                  <a:lumOff val="60000"/>
                </a:schemeClr>
              </a:solidFill>
            </a:ln>
          </a:insideH>
          <a:insideV>
            <a:ln>
              <a:noFill/>
            </a:ln>
          </a:insideV>
        </a:tcBdr>
        <a:fill>
          <a:solidFill>
            <a:schemeClr val="accent4">
              <a:lumMod val="20000"/>
              <a:lumOff val="80000"/>
            </a:schemeClr>
          </a:solidFill>
        </a:fill>
      </a:tcStyle>
    </a:lastCol>
    <a:firstCol>
      <a:tcTxStyle b="on">
        <a:fontRef idx="none">
          <a:srgbClr val="08090C"/>
        </a:fontRef>
      </a:tcTxStyle>
      <a:tcStyle>
        <a:tcBdr>
          <a:left>
            <a:ln w="9525" cmpd="sng">
              <a:solidFill>
                <a:schemeClr val="accent4"/>
              </a:solidFill>
            </a:ln>
          </a:left>
          <a:right>
            <a:ln w="9525" cmpd="sng">
              <a:solidFill>
                <a:schemeClr val="accent4">
                  <a:lumMod val="40000"/>
                  <a:lumOff val="60000"/>
                </a:schemeClr>
              </a:solidFill>
            </a:ln>
          </a:right>
          <a:top>
            <a:ln w="9525" cmpd="sng">
              <a:solidFill>
                <a:schemeClr val="accent4"/>
              </a:solidFill>
            </a:ln>
          </a:top>
          <a:bottom>
            <a:ln w="9525" cmpd="sng">
              <a:solidFill>
                <a:schemeClr val="accent4"/>
              </a:solidFill>
            </a:ln>
          </a:bottom>
          <a:insideH>
            <a:ln w="9525" cmpd="sng">
              <a:solidFill>
                <a:schemeClr val="accent4">
                  <a:lumMod val="40000"/>
                  <a:lumOff val="60000"/>
                </a:schemeClr>
              </a:solidFill>
            </a:ln>
          </a:insideH>
          <a:insideV>
            <a:ln>
              <a:noFill/>
            </a:ln>
          </a:insideV>
        </a:tcBdr>
        <a:fill>
          <a:solidFill>
            <a:schemeClr val="accent4">
              <a:lumMod val="20000"/>
              <a:lumOff val="80000"/>
            </a:schemeClr>
          </a:solidFill>
        </a:fill>
      </a:tcStyle>
    </a:firstCol>
    <a:lastRow>
      <a:tcTxStyle b="on">
        <a:fontRef idx="none">
          <a:schemeClr val="accent4"/>
        </a:fontRef>
      </a:tcTxStyle>
      <a:tcStyle>
        <a:tcBdr>
          <a:left>
            <a:ln w="9525" cmpd="sng">
              <a:solidFill>
                <a:schemeClr val="accent4"/>
              </a:solidFill>
            </a:ln>
          </a:left>
          <a:right>
            <a:ln w="9525" cmpd="sng">
              <a:solidFill>
                <a:schemeClr val="accent4"/>
              </a:solidFill>
            </a:ln>
          </a:right>
          <a:top>
            <a:ln w="9525" cmpd="sng">
              <a:solidFill>
                <a:schemeClr val="accent4"/>
              </a:solidFill>
            </a:ln>
          </a:top>
          <a:bottom>
            <a:ln w="9525" cmpd="sng">
              <a:solidFill>
                <a:schemeClr val="accent4"/>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4"/>
              </a:solidFill>
            </a:ln>
          </a:left>
          <a:right>
            <a:ln w="9525" cmpd="sng">
              <a:solidFill>
                <a:schemeClr val="accent4"/>
              </a:solidFill>
            </a:ln>
          </a:right>
          <a:top>
            <a:ln w="9525" cmpd="sng">
              <a:solidFill>
                <a:schemeClr val="accent4"/>
              </a:solidFill>
            </a:ln>
          </a:top>
          <a:bottom>
            <a:ln w="9525" cmpd="sng">
              <a:solidFill>
                <a:schemeClr val="accent4"/>
              </a:solidFill>
            </a:ln>
          </a:bottom>
          <a:insideH>
            <a:ln>
              <a:noFill/>
            </a:ln>
          </a:insideH>
          <a:insideV>
            <a:ln w="9525" cmpd="sng">
              <a:solidFill>
                <a:schemeClr val="accent4">
                  <a:lumMod val="40000"/>
                  <a:lumOff val="60000"/>
                </a:schemeClr>
              </a:solid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2" autoAdjust="0"/>
    <p:restoredTop sz="88617" autoAdjust="0"/>
  </p:normalViewPr>
  <p:slideViewPr>
    <p:cSldViewPr snapToGrid="0" showGuides="1">
      <p:cViewPr varScale="1">
        <p:scale>
          <a:sx n="40" d="100"/>
          <a:sy n="40" d="100"/>
        </p:scale>
        <p:origin x="44" y="328"/>
      </p:cViewPr>
      <p:guideLst>
        <p:guide pos="2208"/>
        <p:guide orient="horz" pos="23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5" d="100"/>
          <a:sy n="85" d="100"/>
        </p:scale>
        <p:origin x="2428" y="6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6" Type="http://schemas.openxmlformats.org/officeDocument/2006/relationships/tags" Target="tags/tag10.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37.xml"/><Relationship Id="rId50" Type="http://schemas.openxmlformats.org/officeDocument/2006/relationships/slide" Target="slides/slide36.xml"/><Relationship Id="rId5" Type="http://schemas.openxmlformats.org/officeDocument/2006/relationships/slideMaster" Target="slideMasters/slideMaster4.xml"/><Relationship Id="rId49" Type="http://schemas.openxmlformats.org/officeDocument/2006/relationships/slide" Target="slides/slide35.xml"/><Relationship Id="rId48" Type="http://schemas.openxmlformats.org/officeDocument/2006/relationships/slide" Target="slides/slide34.xml"/><Relationship Id="rId47" Type="http://schemas.openxmlformats.org/officeDocument/2006/relationships/slide" Target="slides/slide33.xml"/><Relationship Id="rId46" Type="http://schemas.openxmlformats.org/officeDocument/2006/relationships/slide" Target="slides/slide32.xml"/><Relationship Id="rId45" Type="http://schemas.openxmlformats.org/officeDocument/2006/relationships/slide" Target="slides/slide31.xml"/><Relationship Id="rId44" Type="http://schemas.openxmlformats.org/officeDocument/2006/relationships/slide" Target="slides/slide30.xml"/><Relationship Id="rId43" Type="http://schemas.openxmlformats.org/officeDocument/2006/relationships/slide" Target="slides/slide29.xml"/><Relationship Id="rId42" Type="http://schemas.openxmlformats.org/officeDocument/2006/relationships/slide" Target="slides/slide28.xml"/><Relationship Id="rId41" Type="http://schemas.openxmlformats.org/officeDocument/2006/relationships/slide" Target="slides/slide27.xml"/><Relationship Id="rId40" Type="http://schemas.openxmlformats.org/officeDocument/2006/relationships/slide" Target="slides/slide26.xml"/><Relationship Id="rId4" Type="http://schemas.openxmlformats.org/officeDocument/2006/relationships/slideMaster" Target="slideMasters/slideMaster3.xml"/><Relationship Id="rId39" Type="http://schemas.openxmlformats.org/officeDocument/2006/relationships/slide" Target="slides/slide25.xml"/><Relationship Id="rId38" Type="http://schemas.openxmlformats.org/officeDocument/2006/relationships/slide" Target="slides/slide24.xml"/><Relationship Id="rId37" Type="http://schemas.openxmlformats.org/officeDocument/2006/relationships/slide" Target="slides/slide23.xml"/><Relationship Id="rId36" Type="http://schemas.openxmlformats.org/officeDocument/2006/relationships/slide" Target="slides/slide22.xml"/><Relationship Id="rId35" Type="http://schemas.openxmlformats.org/officeDocument/2006/relationships/slide" Target="slides/slide21.xml"/><Relationship Id="rId34" Type="http://schemas.openxmlformats.org/officeDocument/2006/relationships/slide" Target="slides/slide20.xml"/><Relationship Id="rId33" Type="http://schemas.openxmlformats.org/officeDocument/2006/relationships/slide" Target="slides/slide19.xml"/><Relationship Id="rId32" Type="http://schemas.openxmlformats.org/officeDocument/2006/relationships/slide" Target="slides/slide18.xml"/><Relationship Id="rId31" Type="http://schemas.openxmlformats.org/officeDocument/2006/relationships/slide" Target="slides/slide17.xml"/><Relationship Id="rId30" Type="http://schemas.openxmlformats.org/officeDocument/2006/relationships/slide" Target="slides/slide16.xml"/><Relationship Id="rId3" Type="http://schemas.openxmlformats.org/officeDocument/2006/relationships/slideMaster" Target="slideMasters/slideMaster2.xml"/><Relationship Id="rId29" Type="http://schemas.openxmlformats.org/officeDocument/2006/relationships/slide" Target="slides/slide15.xml"/><Relationship Id="rId28" Type="http://schemas.openxmlformats.org/officeDocument/2006/relationships/slide" Target="slides/slide14.xml"/><Relationship Id="rId27" Type="http://schemas.openxmlformats.org/officeDocument/2006/relationships/slide" Target="slides/slide13.xml"/><Relationship Id="rId26" Type="http://schemas.openxmlformats.org/officeDocument/2006/relationships/slide" Target="slides/slide12.xml"/><Relationship Id="rId25" Type="http://schemas.openxmlformats.org/officeDocument/2006/relationships/slide" Target="slides/slide11.xml"/><Relationship Id="rId24" Type="http://schemas.openxmlformats.org/officeDocument/2006/relationships/slide" Target="slides/slide10.xml"/><Relationship Id="rId23" Type="http://schemas.openxmlformats.org/officeDocument/2006/relationships/slide" Target="slides/slide9.xml"/><Relationship Id="rId22" Type="http://schemas.openxmlformats.org/officeDocument/2006/relationships/slide" Target="slides/slide8.xml"/><Relationship Id="rId21" Type="http://schemas.openxmlformats.org/officeDocument/2006/relationships/slide" Target="slides/slide7.xml"/><Relationship Id="rId20" Type="http://schemas.openxmlformats.org/officeDocument/2006/relationships/slide" Target="slides/slide6.xml"/><Relationship Id="rId2" Type="http://schemas.openxmlformats.org/officeDocument/2006/relationships/theme" Target="theme/theme1.xml"/><Relationship Id="rId19" Type="http://schemas.openxmlformats.org/officeDocument/2006/relationships/slide" Target="slides/slide5.xml"/><Relationship Id="rId18" Type="http://schemas.openxmlformats.org/officeDocument/2006/relationships/slide" Target="slides/slide4.xml"/><Relationship Id="rId17" Type="http://schemas.openxmlformats.org/officeDocument/2006/relationships/slide" Target="slides/slide3.xml"/><Relationship Id="rId16" Type="http://schemas.openxmlformats.org/officeDocument/2006/relationships/slide" Target="slides/slide2.xml"/><Relationship Id="rId15" Type="http://schemas.openxmlformats.org/officeDocument/2006/relationships/notesMaster" Target="notesMasters/notesMaster1.xml"/><Relationship Id="rId14" Type="http://schemas.openxmlformats.org/officeDocument/2006/relationships/slide" Target="slides/slide1.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5682E4-1D3E-4E21-8E57-F0A36E8AFBB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C971F6-C60D-4682-BD97-627ABF355346}"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B80EC0-271A-47A3-B94A-5AACB63D0D6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6F833C-0931-4030-8352-AFD9186768B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4" Type="http://schemas.microsoft.com/office/2007/relationships/hdphoto" Target="../media/image18.wdp"/><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image" Target="../media/image25.png"/><Relationship Id="rId3" Type="http://schemas.openxmlformats.org/officeDocument/2006/relationships/oleObject" Target="../embeddings/oleObject1.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25.png"/><Relationship Id="rId3" Type="http://schemas.openxmlformats.org/officeDocument/2006/relationships/oleObject" Target="../embeddings/oleObject2.bin"/><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image" Target="../media/image25.png"/><Relationship Id="rId3" Type="http://schemas.openxmlformats.org/officeDocument/2006/relationships/oleObject" Target="../embeddings/oleObject3.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image" Target="../media/image25.png"/><Relationship Id="rId3" Type="http://schemas.openxmlformats.org/officeDocument/2006/relationships/oleObject" Target="../embeddings/oleObject4.bin"/><Relationship Id="rId2" Type="http://schemas.openxmlformats.org/officeDocument/2006/relationships/image" Target="../media/image24.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1.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1.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2.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2.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pitchFamily="34" charset="-122"/>
              <a:ea typeface="微软雅黑" panose="020B0503020204020204" pitchFamily="3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二、主要工作</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三、总结展望</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rPr>
              <a:t>结束语</a:t>
            </a:r>
            <a:endParaRPr lang="zh-CN" altLang="en-US" sz="3200" b="1" spc="300" dirty="0">
              <a:solidFill>
                <a:srgbClr val="FFFF00"/>
              </a:solidFill>
              <a:effectLst>
                <a:outerShdw blurRad="38100" dist="762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5"/>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8"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8" tIns="34290" rIns="68578" bIns="3429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19"/>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4" y="4863384"/>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4"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8"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0"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1"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3"/>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3"/>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4"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3"/>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0"/>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3"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3"/>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3"/>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7"/>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7"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9" tIns="34291" rIns="68579" bIns="34291"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1"/>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7"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7"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7" tIns="45719" rIns="91437" bIns="45719"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11" name="Text Placeholder 9"/>
          <p:cNvSpPr>
            <a:spLocks noGrp="1"/>
          </p:cNvSpPr>
          <p:nvPr>
            <p:ph type="body" sz="quarter" idx="11"/>
          </p:nvPr>
        </p:nvSpPr>
        <p:spPr>
          <a:xfrm>
            <a:off x="8158164" y="124413"/>
            <a:ext cx="3229371" cy="400110"/>
          </a:xfrm>
          <a:prstGeom prst="rect">
            <a:avLst/>
          </a:prstGeom>
        </p:spPr>
        <p:txBody>
          <a:bodyPr wrap="square">
            <a:spAutoFit/>
          </a:bodyPr>
          <a:lstStyle>
            <a:lvl1pPr marL="0" indent="0">
              <a:buFontTx/>
              <a:buNone/>
              <a:defRPr lang="en-US" sz="2000" b="1" kern="120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cs typeface="Times New Roman" panose="02020603050405020304" pitchFamily="18" charset="0"/>
              </a:defRPr>
            </a:lvl1pPr>
          </a:lstStyle>
          <a:p>
            <a:pPr marL="0" lvl="0" algn="r" defTabSz="914400" eaLnBrk="1" latinLnBrk="0" hangingPunct="1">
              <a:spcBef>
                <a:spcPct val="0"/>
              </a:spcBef>
            </a:pPr>
            <a:endParaRPr lang="en-US" dirty="0"/>
          </a:p>
        </p:txBody>
      </p:sp>
      <p:sp>
        <p:nvSpPr>
          <p:cNvPr id="10" name="Text Placeholder 9"/>
          <p:cNvSpPr>
            <a:spLocks noGrp="1"/>
          </p:cNvSpPr>
          <p:nvPr>
            <p:ph type="body" sz="quarter" idx="10"/>
          </p:nvPr>
        </p:nvSpPr>
        <p:spPr>
          <a:xfrm>
            <a:off x="972872" y="83597"/>
            <a:ext cx="311943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4273" tIns="32136" rIns="64273" bIns="32136">
            <a:spAutoFit/>
          </a:bodyPr>
          <a:lstStyle>
            <a:lvl1pPr marL="0" indent="0" algn="l">
              <a:buFontTx/>
              <a:buNone/>
              <a:defRPr lang="en-US" sz="2400" b="1" kern="1200" smtClean="0">
                <a:solidFill>
                  <a:srgbClr val="FFFFFF"/>
                </a:solidFill>
                <a:latin typeface="+mn-ea"/>
                <a:cs typeface="Times New Roman" panose="02020603050405020304" pitchFamily="18" charset="0"/>
              </a:defRPr>
            </a:lvl1pPr>
            <a:lvl2pPr>
              <a:defRPr lang="en-US" sz="2600" kern="1200" smtClean="0">
                <a:latin typeface="Arial" panose="020B0604020202020204" pitchFamily="34" charset="0"/>
                <a:ea typeface="宋体" panose="02010600030101010101" pitchFamily="2" charset="-122"/>
                <a:cs typeface="+mn-cs"/>
              </a:defRPr>
            </a:lvl2pPr>
            <a:lvl3pPr>
              <a:defRPr lang="en-US" sz="2600" kern="1200" smtClean="0">
                <a:latin typeface="Arial" panose="020B0604020202020204" pitchFamily="34" charset="0"/>
                <a:ea typeface="宋体" panose="02010600030101010101" pitchFamily="2" charset="-122"/>
                <a:cs typeface="+mn-cs"/>
              </a:defRPr>
            </a:lvl3pPr>
            <a:lvl4pPr>
              <a:defRPr lang="en-US" sz="2600" kern="1200" smtClean="0">
                <a:latin typeface="Arial" panose="020B0604020202020204" pitchFamily="34" charset="0"/>
                <a:ea typeface="宋体" panose="02010600030101010101" pitchFamily="2" charset="-122"/>
                <a:cs typeface="+mn-cs"/>
              </a:defRPr>
            </a:lvl4pPr>
            <a:lvl5pPr>
              <a:defRPr lang="en-US" sz="2600" kern="1200">
                <a:latin typeface="Arial" panose="020B0604020202020204" pitchFamily="34" charset="0"/>
                <a:ea typeface="宋体" panose="02010600030101010101" pitchFamily="2" charset="-122"/>
                <a:cs typeface="+mn-cs"/>
              </a:defRPr>
            </a:lvl5pPr>
          </a:lstStyle>
          <a:p>
            <a:pPr marL="0" lvl="0" defTabSz="1300480" eaLnBrk="1" latinLnBrk="0" hangingPunct="1">
              <a:spcBef>
                <a:spcPct val="0"/>
              </a:spcBef>
            </a:pPr>
            <a:endParaRPr lang="en-US" dirty="0"/>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3"/>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61"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6" y="124413"/>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3"/>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4"/>
            <a:ext cx="3515344"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09"/>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3"/>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7"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3" tIns="32136" rIns="64273"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3"/>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5E374627-CDE5-4A8F-897B-5EFB05EA814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86834-A87A-4DEE-945A-772F6B9354A1}"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002">
    <p:spTree>
      <p:nvGrpSpPr>
        <p:cNvPr id="1" name=""/>
        <p:cNvGrpSpPr/>
        <p:nvPr/>
      </p:nvGrpSpPr>
      <p:grpSpPr>
        <a:xfrm>
          <a:off x="0" y="0"/>
          <a:ext cx="0" cy="0"/>
          <a:chOff x="0" y="0"/>
          <a:chExt cx="0" cy="0"/>
        </a:xfrm>
      </p:grpSpPr>
      <p:sp>
        <p:nvSpPr>
          <p:cNvPr id="7" name="矩形 6"/>
          <p:cNvSpPr/>
          <p:nvPr userDrawn="1"/>
        </p:nvSpPr>
        <p:spPr>
          <a:xfrm>
            <a:off x="0" y="6714000"/>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8" name="矩形 7"/>
          <p:cNvSpPr/>
          <p:nvPr userDrawn="1"/>
        </p:nvSpPr>
        <p:spPr>
          <a:xfrm>
            <a:off x="0" y="0"/>
            <a:ext cx="12192000" cy="86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
        <p:nvSpPr>
          <p:cNvPr id="4" name="文本框 3"/>
          <p:cNvSpPr txBox="1">
            <a:spLocks noChangeArrowheads="1"/>
          </p:cNvSpPr>
          <p:nvPr userDrawn="1"/>
        </p:nvSpPr>
        <p:spPr bwMode="auto">
          <a:xfrm>
            <a:off x="0" y="137411"/>
            <a:ext cx="1219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二  研究成果与主要创新</a:t>
            </a:r>
            <a:endParaRPr lang="zh-CN" altLang="en-US" sz="3600" b="1" spc="300" dirty="0">
              <a:solidFill>
                <a:schemeClr val="accent4">
                  <a:lumMod val="40000"/>
                  <a:lumOff val="60000"/>
                </a:schemeClr>
              </a:solidFill>
              <a:latin typeface="微软雅黑" panose="020B0503020204020204" pitchFamily="34" charset="-122"/>
              <a:ea typeface="微软雅黑" panose="020B0503020204020204" pitchFamily="34" charset="-122"/>
            </a:endParaRPr>
          </a:p>
        </p:txBody>
      </p:sp>
      <p:sp>
        <p:nvSpPr>
          <p:cNvPr id="6" name="矩形 7"/>
          <p:cNvSpPr/>
          <p:nvPr userDrawn="1"/>
        </p:nvSpPr>
        <p:spPr>
          <a:xfrm>
            <a:off x="0" y="6713999"/>
            <a:ext cx="12192000" cy="144000"/>
          </a:xfrm>
          <a:prstGeom prst="rect">
            <a:avLst/>
          </a:prstGeom>
          <a:solidFill>
            <a:srgbClr val="2B51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sz="135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6"/>
            <a:ext cx="10036507" cy="422455"/>
          </a:xfrm>
          <a:prstGeom prst="rect">
            <a:avLst/>
          </a:prstGeom>
          <a:ln w="9525" cap="flat" cmpd="sng" algn="ctr">
            <a:solidFill>
              <a:schemeClr val="tx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9" y="3807211"/>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3"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6"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9" y="4776425"/>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6"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9" y="5745643"/>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5" tIns="45717" rIns="91435"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3" y="124415"/>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7" y="124415"/>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0" y="124415"/>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7132" y="124411"/>
            <a:ext cx="4516621" cy="369332"/>
          </a:xfrm>
          <a:prstGeom prst="rect">
            <a:avLst/>
          </a:prstGeom>
        </p:spPr>
        <p:txBody>
          <a:bodyPr wrap="none">
            <a:spAutoFit/>
          </a:bodyPr>
          <a:lstStyle/>
          <a:p>
            <a:pPr algn="r" eaLnBrk="1" fontAlgn="base" hangingPunct="1">
              <a:spcBef>
                <a:spcPct val="0"/>
              </a:spcBef>
              <a:spcAft>
                <a:spcPct val="0"/>
              </a:spcAft>
            </a:pPr>
            <a:r>
              <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1"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5"/>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5"/>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5"/>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4" y="202986"/>
            <a:ext cx="10036507" cy="422454"/>
          </a:xfrm>
          <a:prstGeom prst="rect">
            <a:avLst/>
          </a:prstGeom>
          <a:ln w="9525" cap="flat" cmpd="sng" algn="ctr">
            <a:solidFill>
              <a:schemeClr val="tx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0" y="87766"/>
            <a:ext cx="833913" cy="6254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2734931"/>
          </a:xfrm>
          <a:prstGeom prst="rect">
            <a:avLst/>
          </a:prstGeom>
          <a:effectLst>
            <a:outerShdw blurRad="38100" dist="25400" dir="5400000" algn="t" rotWithShape="0">
              <a:prstClr val="black">
                <a:alpha val="58000"/>
              </a:prstClr>
            </a:outerShdw>
          </a:effectLst>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0"/>
            <a:ext cx="1048862"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2"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5" tIns="34288" rIns="68575" bIns="34288"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4" y="4430620"/>
            <a:ext cx="1627343" cy="1200302"/>
          </a:xfrm>
          <a:prstGeom prst="rect">
            <a:avLst/>
          </a:prstGeom>
          <a:effectLst>
            <a:innerShdw blurRad="63500" dist="50800" dir="13500000">
              <a:prstClr val="black">
                <a:alpha val="50000"/>
              </a:prstClr>
            </a:innerShdw>
          </a:effectLst>
        </p:spPr>
        <p:txBody>
          <a:bodyPr wrap="square" lIns="91413" tIns="45707" rIns="91413" bIns="4570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6"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5"/>
            <a:ext cx="1048862"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5" y="5832599"/>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2"/>
            <a:ext cx="1048862"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7"/>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34" tIns="45717" rIns="91434" bIns="45717"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1" y="124414"/>
            <a:ext cx="5044972"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1976457"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5" y="124414"/>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7" y="124414"/>
            <a:ext cx="2569935"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9"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4565" y="124411"/>
            <a:ext cx="4519186" cy="369332"/>
          </a:xfrm>
          <a:prstGeom prst="rect">
            <a:avLst/>
          </a:prstGeom>
        </p:spPr>
        <p:txBody>
          <a:bodyPr wrap="none">
            <a:spAutoFit/>
          </a:bodyPr>
          <a:lstStyle/>
          <a:p>
            <a:pPr algn="r" eaLnBrk="1" fontAlgn="base" hangingPunct="1">
              <a:spcBef>
                <a:spcPct val="0"/>
              </a:spcBef>
              <a:spcAft>
                <a:spcPct val="0"/>
              </a:spcAft>
            </a:pPr>
            <a:r>
              <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10"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4" y="124414"/>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207563" cy="43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1" tIns="32135" rIns="64271" bIns="32135">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4"/>
            <a:ext cx="198003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9"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黄生俊   副教授</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2509937" y="3182187"/>
            <a:ext cx="717212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统计调查</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2749563" y="2348880"/>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3791744" y="2380494"/>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统计调查概述</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2749563" y="3388677"/>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3791744" y="3420291"/>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统计调查的实施</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1" name="椭圆 10"/>
          <p:cNvSpPr/>
          <p:nvPr userDrawn="1"/>
        </p:nvSpPr>
        <p:spPr>
          <a:xfrm>
            <a:off x="2735627" y="4437112"/>
            <a:ext cx="864000" cy="648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userDrawn="1"/>
        </p:nvSpPr>
        <p:spPr>
          <a:xfrm>
            <a:off x="3777808" y="4468726"/>
            <a:ext cx="5431531" cy="58477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rPr>
              <a:t>调查问卷</a:t>
            </a:r>
            <a:endParaRPr kumimoji="0" lang="zh-CN" altLang="en-US" sz="3200" b="1" i="0" u="none" strike="noStrike" kern="1200" cap="none" spc="150" normalizeH="0" baseline="0" noProof="0" dirty="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统计调查概述</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一、统计调查概述</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
        <p:nvSpPr>
          <p:cNvPr id="3" name="标题 2"/>
          <p:cNvSpPr>
            <a:spLocks noGrp="1"/>
          </p:cNvSpPr>
          <p:nvPr>
            <p:ph type="title"/>
          </p:nvPr>
        </p:nvSpPr>
        <p:spPr>
          <a:xfrm>
            <a:off x="838200" y="365126"/>
            <a:ext cx="10515600" cy="1325563"/>
          </a:xfrm>
          <a:prstGeom prst="rect">
            <a:avLst/>
          </a:prstGeom>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503718" y="2852936"/>
            <a:ext cx="11184565" cy="1428214"/>
          </a:xfrm>
          <a:prstGeom prst="roundRect">
            <a:avLst>
              <a:gd name="adj" fmla="val 50000"/>
            </a:avLst>
          </a:prstGeom>
          <a:solidFill>
            <a:srgbClr val="1967A5"/>
          </a:solidFill>
        </p:spPr>
        <p:txBody>
          <a:bodyPr wrap="square" lIns="360000" tIns="45720" rIns="360000" bIns="4572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统计调查的实施</a:t>
            </a:r>
            <a:endParaRPr kumimoji="0" lang="zh-CN" altLang="en-US" sz="6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二、统计调查的实施</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dirty="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调查问卷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三、调查问卷</a:t>
            </a:r>
            <a:endParaRPr kumimoji="0" lang="zh-CN" altLang="en-US" sz="2600" b="1" i="0" u="none" strike="noStrike" kern="1200" cap="none" spc="15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1967A5"/>
        </a:solidFill>
        <a:effectLst/>
      </p:bgPr>
    </p:bg>
    <p:spTree>
      <p:nvGrpSpPr>
        <p:cNvPr id="1" name=""/>
        <p:cNvGrpSpPr/>
        <p:nvPr/>
      </p:nvGrpSpPr>
      <p:grpSpPr>
        <a:xfrm>
          <a:off x="0" y="0"/>
          <a:ext cx="0" cy="0"/>
          <a:chOff x="0" y="0"/>
          <a:chExt cx="0" cy="0"/>
        </a:xfrm>
      </p:grpSpPr>
      <p:sp>
        <p:nvSpPr>
          <p:cNvPr id="13" name="矩形 12"/>
          <p:cNvSpPr/>
          <p:nvPr userDrawn="1"/>
        </p:nvSpPr>
        <p:spPr bwMode="auto">
          <a:xfrm flipV="1">
            <a:off x="0" y="3648210"/>
            <a:ext cx="12192000" cy="45719"/>
          </a:xfrm>
          <a:prstGeom prst="rect">
            <a:avLst/>
          </a:prstGeom>
          <a:gradFill>
            <a:gsLst>
              <a:gs pos="0">
                <a:schemeClr val="bg1">
                  <a:alpha val="0"/>
                </a:schemeClr>
              </a:gs>
              <a:gs pos="69000">
                <a:srgbClr val="FFFFFF"/>
              </a:gs>
              <a:gs pos="29000">
                <a:schemeClr val="bg1"/>
              </a:gs>
              <a:gs pos="100000">
                <a:schemeClr val="bg1">
                  <a:alpha val="0"/>
                </a:schemeClr>
              </a:gs>
            </a:gsLst>
            <a:lin ang="0" scaled="0"/>
          </a:gra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3658257"/>
          </a:xfrm>
          <a:prstGeom prst="rect">
            <a:avLst/>
          </a:prstGeom>
        </p:spPr>
      </p:pic>
      <p:sp>
        <p:nvSpPr>
          <p:cNvPr id="15" name="Rectangle: Rounded Corners 19"/>
          <p:cNvSpPr/>
          <p:nvPr userDrawn="1"/>
        </p:nvSpPr>
        <p:spPr>
          <a:xfrm>
            <a:off x="4003118" y="5517233"/>
            <a:ext cx="4185761"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系统工程学院装备管理工程系</a:t>
            </a:r>
            <a:endParaRPr kumimoji="0" lang="zh-CN" altLang="en-US" sz="2400" b="0"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6" name="TextBox 9"/>
          <p:cNvSpPr txBox="1"/>
          <p:nvPr userDrawn="1"/>
        </p:nvSpPr>
        <p:spPr>
          <a:xfrm>
            <a:off x="216536" y="546389"/>
            <a:ext cx="7172129" cy="120032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7200" b="1" i="0" u="none" strike="noStrike" kern="1200" cap="none" spc="300" normalizeH="0" baseline="0" noProof="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rPr>
              <a:t>应用统计学</a:t>
            </a:r>
            <a:endParaRPr kumimoji="0" lang="zh-CN" altLang="en-US" sz="7200" b="1" i="0" u="none" strike="noStrike" kern="1200" cap="none" spc="300" normalizeH="0" baseline="0" noProof="0" dirty="0">
              <a:ln w="3175">
                <a:noFill/>
                <a:prstDash val="solid"/>
              </a:ln>
              <a:gradFill flip="none" rotWithShape="1">
                <a:gsLst>
                  <a:gs pos="0">
                    <a:srgbClr val="1967A5">
                      <a:shade val="30000"/>
                      <a:satMod val="115000"/>
                    </a:srgbClr>
                  </a:gs>
                  <a:gs pos="50000">
                    <a:srgbClr val="1967A5">
                      <a:shade val="67500"/>
                      <a:satMod val="115000"/>
                    </a:srgbClr>
                  </a:gs>
                  <a:gs pos="100000">
                    <a:srgbClr val="1967A5">
                      <a:shade val="100000"/>
                      <a:satMod val="115000"/>
                    </a:srgbClr>
                  </a:gs>
                </a:gsLst>
                <a:lin ang="13500000" scaled="1"/>
                <a:tileRect/>
              </a:gradFill>
              <a:effectLst>
                <a:glow rad="38100">
                  <a:prstClr val="white">
                    <a:alpha val="82000"/>
                  </a:prstClr>
                </a:glow>
              </a:effectLst>
              <a:uLnTx/>
              <a:uFillTx/>
              <a:latin typeface="Times New Roman" panose="02020603050405020304" pitchFamily="18" charset="0"/>
              <a:ea typeface="微软雅黑" panose="020B0503020204020204" pitchFamily="34" charset="-122"/>
              <a:cs typeface="Liberation Sans" panose="020B0604020202020204" pitchFamily="34" charset="0"/>
              <a:sym typeface="Times New Roman" panose="02020603050405020304" pitchFamily="18" charset="0"/>
            </a:endParaRPr>
          </a:p>
        </p:txBody>
      </p:sp>
      <p:sp>
        <p:nvSpPr>
          <p:cNvPr id="17" name="矩形 16"/>
          <p:cNvSpPr/>
          <p:nvPr userDrawn="1"/>
        </p:nvSpPr>
        <p:spPr>
          <a:xfrm>
            <a:off x="4964918" y="4878034"/>
            <a:ext cx="2262158" cy="461665"/>
          </a:xfrm>
          <a:prstGeom prst="rect">
            <a:avLst/>
          </a:prstGeom>
        </p:spPr>
        <p:txBody>
          <a:bodyPr wrap="none">
            <a:spAutoFit/>
          </a:bodyPr>
          <a:lstStyle/>
          <a:p>
            <a:pPr marL="0" marR="0" lvl="0" indent="0" algn="ctr" defTabSz="457200" rtl="0" eaLnBrk="1" fontAlgn="auto" latinLnBrk="0" hangingPunct="1">
              <a:lnSpc>
                <a:spcPct val="100000"/>
              </a:lnSpc>
              <a:spcBef>
                <a:spcPts val="600"/>
              </a:spcBef>
              <a:spcAft>
                <a:spcPts val="0"/>
              </a:spcAft>
              <a:buClrTx/>
              <a:buSzTx/>
              <a:buFontTx/>
              <a:buNone/>
              <a:defRPr/>
            </a:pPr>
            <a:r>
              <a:rPr kumimoji="0" lang="zh-CN" altLang="en-US"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刘亚杰   研究员</a:t>
            </a:r>
            <a:endParaRPr kumimoji="0" lang="en-US" altLang="zh-CN" sz="2400" b="0" i="0" u="none" strike="noStrike" kern="1200" cap="none" spc="0" normalizeH="0" baseline="0" noProof="1">
              <a:ln>
                <a:noFill/>
              </a:ln>
              <a:solidFill>
                <a:prstClr val="white"/>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8" name="Rectangle: Rounded Corners 18"/>
          <p:cNvSpPr/>
          <p:nvPr userDrawn="1"/>
        </p:nvSpPr>
        <p:spPr>
          <a:xfrm>
            <a:off x="1902991" y="3182187"/>
            <a:ext cx="8386019" cy="952143"/>
          </a:xfrm>
          <a:prstGeom prst="roundRect">
            <a:avLst>
              <a:gd name="adj" fmla="val 50000"/>
            </a:avLst>
          </a:prstGeom>
          <a:solidFill>
            <a:schemeClr val="bg1"/>
          </a:solidFill>
          <a:ln>
            <a:noFill/>
          </a:ln>
          <a:effectLst>
            <a:outerShdw blurRad="254000" dist="101600" dir="5400000" algn="ctr" rotWithShape="0">
              <a:schemeClr val="tx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第四讲  抽样与估计</a:t>
            </a:r>
            <a:r>
              <a:rPr kumimoji="0" lang="en-US" altLang="zh-CN"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1</a:t>
            </a:r>
            <a:endParaRPr kumimoji="0" lang="zh-CN" altLang="en-US" sz="4400" b="1" i="0" u="none" strike="noStrike" kern="1200" cap="none" spc="300" normalizeH="0" baseline="0" noProof="0" dirty="0">
              <a:ln>
                <a:noFill/>
              </a:ln>
              <a:solidFill>
                <a:srgbClr val="1967A5"/>
              </a:solidFill>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sp>
        <p:nvSpPr>
          <p:cNvPr id="22" name="矩形 21"/>
          <p:cNvSpPr/>
          <p:nvPr userDrawn="1"/>
        </p:nvSpPr>
        <p:spPr>
          <a:xfrm>
            <a:off x="2598854" y="2846974"/>
            <a:ext cx="1585690" cy="769441"/>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en-US" altLang="zh-CN"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rPr>
              <a:t>Q&amp;A</a:t>
            </a:r>
            <a:endParaRPr kumimoji="0" lang="zh-CN" altLang="en-US" sz="4400" b="1" i="0" u="none" strike="noStrike" kern="1200" cap="none" spc="0" normalizeH="0" baseline="0" noProof="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16" name="Picture 3"/>
          <p:cNvPicPr>
            <a:picLocks noChangeAspect="1"/>
          </p:cNvPicPr>
          <p:nvPr userDrawn="1"/>
        </p:nvPicPr>
        <p:blipFill>
          <a:blip r:embed="rId3">
            <a:clrChange>
              <a:clrFrom>
                <a:srgbClr val="FFFFFF"/>
              </a:clrFrom>
              <a:clrTo>
                <a:srgbClr val="FFFFFF">
                  <a:alpha val="0"/>
                </a:srgbClr>
              </a:clrTo>
            </a:clrChange>
            <a:extLst>
              <a:ext uri="{BEBA8EAE-BF5A-486C-A8C5-ECC9F3942E4B}">
                <a14:imgProps xmlns:a14="http://schemas.microsoft.com/office/drawing/2010/main">
                  <a14:imgLayer r:embed="rId4">
                    <a14:imgEffect>
                      <a14:backgroundRemoval t="586" b="99414" l="10938" r="97656">
                        <a14:foregroundMark x1="41016" y1="6250" x2="41016" y2="6250"/>
                        <a14:foregroundMark x1="39063" y1="4883" x2="39063" y2="4883"/>
                        <a14:foregroundMark x1="31250" y1="5859" x2="31250" y2="5859"/>
                        <a14:foregroundMark x1="33594" y1="5859" x2="33594" y2="5859"/>
                        <a14:foregroundMark x1="29492" y1="6641" x2="29492" y2="6641"/>
                        <a14:foregroundMark x1="46289" y1="6250" x2="46289" y2="6250"/>
                        <a14:foregroundMark x1="43750" y1="4297" x2="43750" y2="4297"/>
                        <a14:foregroundMark x1="41016" y1="4297" x2="41016" y2="4297"/>
                        <a14:foregroundMark x1="37695" y1="4492" x2="37695" y2="4492"/>
                        <a14:foregroundMark x1="35547" y1="5273" x2="35547" y2="5273"/>
                      </a14:backgroundRemoval>
                    </a14:imgEffect>
                    <a14:imgEffect>
                      <a14:brightnessContrast contrast="20000"/>
                    </a14:imgEffect>
                  </a14:imgLayer>
                </a14:imgProps>
              </a:ext>
            </a:extLst>
          </a:blip>
          <a:stretch>
            <a:fillRect/>
          </a:stretch>
        </p:blipFill>
        <p:spPr>
          <a:xfrm>
            <a:off x="7315851" y="1357117"/>
            <a:ext cx="5103488" cy="3827617"/>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970"/>
          <a:stretch>
            <a:fillRect/>
          </a:stretch>
        </p:blipFill>
        <p:spPr>
          <a:xfrm>
            <a:off x="5257584" y="1616124"/>
            <a:ext cx="6933760" cy="3231143"/>
          </a:xfrm>
          <a:prstGeom prst="rect">
            <a:avLst/>
          </a:prstGeom>
          <a:solidFill>
            <a:schemeClr val="bg1">
              <a:lumMod val="95000"/>
            </a:schemeClr>
          </a:solidFill>
        </p:spPr>
      </p:pic>
      <p:sp>
        <p:nvSpPr>
          <p:cNvPr id="23" name="任意多边形: 形状 22"/>
          <p:cNvSpPr/>
          <p:nvPr userDrawn="1"/>
        </p:nvSpPr>
        <p:spPr bwMode="auto">
          <a:xfrm>
            <a:off x="0" y="1611578"/>
            <a:ext cx="8751592" cy="3226091"/>
          </a:xfrm>
          <a:custGeom>
            <a:avLst/>
            <a:gdLst>
              <a:gd name="connsiteX0" fmla="*/ 0 w 8573502"/>
              <a:gd name="connsiteY0" fmla="*/ 0 h 4033838"/>
              <a:gd name="connsiteX1" fmla="*/ 2002839 w 8573502"/>
              <a:gd name="connsiteY1" fmla="*/ 0 h 4033838"/>
              <a:gd name="connsiteX2" fmla="*/ 4203701 w 8573502"/>
              <a:gd name="connsiteY2" fmla="*/ 0 h 4033838"/>
              <a:gd name="connsiteX3" fmla="*/ 6206540 w 8573502"/>
              <a:gd name="connsiteY3" fmla="*/ 0 h 4033838"/>
              <a:gd name="connsiteX4" fmla="*/ 8573502 w 8573502"/>
              <a:gd name="connsiteY4" fmla="*/ 4033838 h 4033838"/>
              <a:gd name="connsiteX5" fmla="*/ 6570663 w 8573502"/>
              <a:gd name="connsiteY5" fmla="*/ 4033838 h 4033838"/>
              <a:gd name="connsiteX6" fmla="*/ 2002839 w 8573502"/>
              <a:gd name="connsiteY6" fmla="*/ 4033838 h 4033838"/>
              <a:gd name="connsiteX7" fmla="*/ 0 w 8573502"/>
              <a:gd name="connsiteY7" fmla="*/ 4033838 h 4033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73502" h="4033838">
                <a:moveTo>
                  <a:pt x="0" y="0"/>
                </a:moveTo>
                <a:lnTo>
                  <a:pt x="2002839" y="0"/>
                </a:lnTo>
                <a:lnTo>
                  <a:pt x="4203701" y="0"/>
                </a:lnTo>
                <a:lnTo>
                  <a:pt x="6206540" y="0"/>
                </a:lnTo>
                <a:lnTo>
                  <a:pt x="8573502" y="4033838"/>
                </a:lnTo>
                <a:lnTo>
                  <a:pt x="6570663" y="4033838"/>
                </a:lnTo>
                <a:lnTo>
                  <a:pt x="2002839" y="4033838"/>
                </a:lnTo>
                <a:lnTo>
                  <a:pt x="0" y="4033838"/>
                </a:lnTo>
                <a:close/>
              </a:path>
            </a:pathLst>
          </a:custGeom>
          <a:solidFill>
            <a:srgbClr val="1D458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nvGrpSpPr>
          <p:cNvPr id="24" name="组合 23"/>
          <p:cNvGrpSpPr/>
          <p:nvPr userDrawn="1"/>
        </p:nvGrpSpPr>
        <p:grpSpPr>
          <a:xfrm>
            <a:off x="5257584" y="1357117"/>
            <a:ext cx="4055093" cy="3724221"/>
            <a:chOff x="4376010" y="1087174"/>
            <a:chExt cx="5689164" cy="6966612"/>
          </a:xfrm>
        </p:grpSpPr>
        <p:sp>
          <p:nvSpPr>
            <p:cNvPr id="28" name="Freeform 9"/>
            <p:cNvSpPr/>
            <p:nvPr userDrawn="1"/>
          </p:nvSpPr>
          <p:spPr bwMode="auto">
            <a:xfrm rot="10800000">
              <a:off x="9346035" y="7596585"/>
              <a:ext cx="719139" cy="457201"/>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5" name="Freeform 9"/>
            <p:cNvSpPr/>
            <p:nvPr userDrawn="1"/>
          </p:nvSpPr>
          <p:spPr bwMode="auto">
            <a:xfrm>
              <a:off x="4376010" y="1091849"/>
              <a:ext cx="719139" cy="471326"/>
            </a:xfrm>
            <a:custGeom>
              <a:avLst/>
              <a:gdLst>
                <a:gd name="T0" fmla="*/ 269 w 453"/>
                <a:gd name="T1" fmla="*/ 0 h 288"/>
                <a:gd name="T2" fmla="*/ 0 w 453"/>
                <a:gd name="T3" fmla="*/ 288 h 288"/>
                <a:gd name="T4" fmla="*/ 453 w 453"/>
                <a:gd name="T5" fmla="*/ 288 h 288"/>
                <a:gd name="T6" fmla="*/ 269 w 453"/>
                <a:gd name="T7" fmla="*/ 0 h 288"/>
              </a:gdLst>
              <a:ahLst/>
              <a:cxnLst>
                <a:cxn ang="0">
                  <a:pos x="T0" y="T1"/>
                </a:cxn>
                <a:cxn ang="0">
                  <a:pos x="T2" y="T3"/>
                </a:cxn>
                <a:cxn ang="0">
                  <a:pos x="T4" y="T5"/>
                </a:cxn>
                <a:cxn ang="0">
                  <a:pos x="T6" y="T7"/>
                </a:cxn>
              </a:cxnLst>
              <a:rect l="0" t="0" r="r" b="b"/>
              <a:pathLst>
                <a:path w="453" h="288">
                  <a:moveTo>
                    <a:pt x="269" y="0"/>
                  </a:moveTo>
                  <a:lnTo>
                    <a:pt x="0" y="288"/>
                  </a:lnTo>
                  <a:lnTo>
                    <a:pt x="453" y="288"/>
                  </a:lnTo>
                  <a:lnTo>
                    <a:pt x="269" y="0"/>
                  </a:lnTo>
                  <a:close/>
                </a:path>
              </a:pathLst>
            </a:cu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sp>
          <p:nvSpPr>
            <p:cNvPr id="26" name="Freeform 10"/>
            <p:cNvSpPr/>
            <p:nvPr userDrawn="1"/>
          </p:nvSpPr>
          <p:spPr bwMode="auto">
            <a:xfrm flipH="1">
              <a:off x="4804547" y="1087174"/>
              <a:ext cx="4832089" cy="6955667"/>
            </a:xfrm>
            <a:prstGeom prst="parallelogram">
              <a:avLst>
                <a:gd name="adj" fmla="val 79858"/>
              </a:avLst>
            </a:prstGeom>
            <a:solidFill>
              <a:srgbClr val="00B0F0"/>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思源黑体 CN Bold" panose="020B0800000000000000" pitchFamily="34" charset="-122"/>
                <a:ea typeface="思源黑体 CN Bold" panose="020B0800000000000000" pitchFamily="34" charset="-122"/>
                <a:cs typeface="+mn-cs"/>
                <a:sym typeface="思源黑体 CN Bold" panose="020B0800000000000000" pitchFamily="34" charset="-122"/>
              </a:endParaRPr>
            </a:p>
          </p:txBody>
        </p:sp>
      </p:grpSp>
      <p:pic>
        <p:nvPicPr>
          <p:cNvPr id="3" name="图片 2"/>
          <p:cNvPicPr>
            <a:picLocks noChangeAspect="1"/>
          </p:cNvPicPr>
          <p:nvPr userDrawn="1"/>
        </p:nvPicPr>
        <p:blipFill>
          <a:blip r:embed="rId3"/>
          <a:stretch>
            <a:fillRect/>
          </a:stretch>
        </p:blipFill>
        <p:spPr>
          <a:xfrm>
            <a:off x="7815497" y="978875"/>
            <a:ext cx="4869095" cy="447485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2_标题幻灯片">
    <p:bg>
      <p:bgPr>
        <a:solidFill>
          <a:schemeClr val="bg1"/>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218504" cy="6858001"/>
          </a:xfrm>
          <a:prstGeom prst="rect">
            <a:avLst/>
          </a:prstGeom>
        </p:spPr>
      </p:pic>
      <p:sp>
        <p:nvSpPr>
          <p:cNvPr id="29" name="矩形: 圆角 28"/>
          <p:cNvSpPr/>
          <p:nvPr userDrawn="1"/>
        </p:nvSpPr>
        <p:spPr bwMode="auto">
          <a:xfrm>
            <a:off x="336000" y="483688"/>
            <a:ext cx="11520000" cy="6149312"/>
          </a:xfrm>
          <a:prstGeom prst="roundRect">
            <a:avLst>
              <a:gd name="adj" fmla="val 4879"/>
            </a:avLst>
          </a:prstGeom>
          <a:solidFill>
            <a:schemeClr val="bg1">
              <a:alpha val="75000"/>
            </a:schemeClr>
          </a:solidFill>
          <a:ln w="9525" cap="flat" cmpd="sng" algn="ctr">
            <a:noFill/>
            <a:prstDash val="solid"/>
            <a:round/>
            <a:headEnd type="none" w="med" len="med"/>
            <a:tailEnd type="none" w="med" len="med"/>
          </a:ln>
          <a:effectLst/>
        </p:spPr>
        <p:txBody>
          <a:bodyPr vert="horz" wrap="square" lIns="91263" tIns="45631" rIns="91263" bIns="45631" numCol="1" rtlCol="0" anchor="t" anchorCtr="0" compatLnSpc="1"/>
          <a:lstStyle/>
          <a:p>
            <a:pPr marL="0" marR="0" lvl="0" indent="0" algn="l" defTabSz="912495" rtl="0" eaLnBrk="1" fontAlgn="base" latinLnBrk="0" hangingPunct="1">
              <a:lnSpc>
                <a:spcPct val="100000"/>
              </a:lnSpc>
              <a:spcBef>
                <a:spcPct val="0"/>
              </a:spcBef>
              <a:spcAft>
                <a:spcPct val="0"/>
              </a:spcAft>
              <a:buClrTx/>
              <a:buSzTx/>
              <a:buFontTx/>
              <a:buNone/>
              <a:defRPr/>
            </a:pPr>
            <a:endParaRPr kumimoji="0" lang="zh-CN" altLang="en-US" sz="179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9" name="椭圆 18"/>
          <p:cNvSpPr/>
          <p:nvPr userDrawn="1"/>
        </p:nvSpPr>
        <p:spPr>
          <a:xfrm>
            <a:off x="3387976" y="2204864"/>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一</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userDrawn="1"/>
        </p:nvSpPr>
        <p:spPr>
          <a:xfrm>
            <a:off x="4430158" y="223125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抽样的基本概念</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1" name="椭圆 20"/>
          <p:cNvSpPr/>
          <p:nvPr userDrawn="1"/>
        </p:nvSpPr>
        <p:spPr>
          <a:xfrm>
            <a:off x="3387976" y="3902552"/>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三</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矩形 21"/>
          <p:cNvSpPr/>
          <p:nvPr userDrawn="1"/>
        </p:nvSpPr>
        <p:spPr>
          <a:xfrm>
            <a:off x="4430157" y="39315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分层抽样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3" name="椭圆 22"/>
          <p:cNvSpPr/>
          <p:nvPr userDrawn="1"/>
        </p:nvSpPr>
        <p:spPr>
          <a:xfrm>
            <a:off x="3387976" y="3053708"/>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二</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矩形 23"/>
          <p:cNvSpPr/>
          <p:nvPr userDrawn="1"/>
        </p:nvSpPr>
        <p:spPr>
          <a:xfrm>
            <a:off x="4430158" y="3081404"/>
            <a:ext cx="4279737"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简单随机抽样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28" name="任意多边形: 形状 27"/>
          <p:cNvSpPr/>
          <p:nvPr userDrawn="1"/>
        </p:nvSpPr>
        <p:spPr>
          <a:xfrm rot="5400000">
            <a:off x="5222531" y="-453329"/>
            <a:ext cx="1746938" cy="2653596"/>
          </a:xfrm>
          <a:custGeom>
            <a:avLst/>
            <a:gdLst>
              <a:gd name="connsiteX0" fmla="*/ 0 w 2026508"/>
              <a:gd name="connsiteY0" fmla="*/ 2308696 h 2308696"/>
              <a:gd name="connsiteX1" fmla="*/ 0 w 2026508"/>
              <a:gd name="connsiteY1" fmla="*/ 0 h 2308696"/>
              <a:gd name="connsiteX2" fmla="*/ 872160 w 2026508"/>
              <a:gd name="connsiteY2" fmla="*/ 0 h 2308696"/>
              <a:gd name="connsiteX3" fmla="*/ 2026508 w 2026508"/>
              <a:gd name="connsiteY3" fmla="*/ 1154348 h 2308696"/>
              <a:gd name="connsiteX4" fmla="*/ 2026507 w 2026508"/>
              <a:gd name="connsiteY4" fmla="*/ 1154348 h 2308696"/>
              <a:gd name="connsiteX5" fmla="*/ 872159 w 2026508"/>
              <a:gd name="connsiteY5" fmla="*/ 2308696 h 2308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26508" h="2308696">
                <a:moveTo>
                  <a:pt x="0" y="2308696"/>
                </a:moveTo>
                <a:lnTo>
                  <a:pt x="0" y="0"/>
                </a:lnTo>
                <a:lnTo>
                  <a:pt x="872160" y="0"/>
                </a:lnTo>
                <a:cubicBezTo>
                  <a:pt x="1509689" y="0"/>
                  <a:pt x="2026508" y="516819"/>
                  <a:pt x="2026508" y="1154348"/>
                </a:cubicBezTo>
                <a:lnTo>
                  <a:pt x="2026507" y="1154348"/>
                </a:lnTo>
                <a:cubicBezTo>
                  <a:pt x="2026507" y="1791877"/>
                  <a:pt x="1509688" y="2308696"/>
                  <a:pt x="872159" y="2308696"/>
                </a:cubicBezTo>
                <a:close/>
              </a:path>
            </a:pathLst>
          </a:custGeom>
          <a:solidFill>
            <a:srgbClr val="1967A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panose="020B0400000000000000" pitchFamily="34" charset="-122"/>
              <a:ea typeface="思源黑体" panose="020B0400000000000000" pitchFamily="34" charset="-122"/>
              <a:cs typeface="+mn-cs"/>
              <a:sym typeface="思源黑体" panose="020B0400000000000000" pitchFamily="34" charset="-122"/>
            </a:endParaRPr>
          </a:p>
        </p:txBody>
      </p:sp>
      <p:sp>
        <p:nvSpPr>
          <p:cNvPr id="26" name="文本框 41"/>
          <p:cNvSpPr txBox="1"/>
          <p:nvPr userDrawn="1"/>
        </p:nvSpPr>
        <p:spPr>
          <a:xfrm>
            <a:off x="5355252" y="146761"/>
            <a:ext cx="1481496" cy="769441"/>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目 录</a:t>
            </a:r>
            <a:endPar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27" name="文本框 42"/>
          <p:cNvSpPr txBox="1"/>
          <p:nvPr userDrawn="1"/>
        </p:nvSpPr>
        <p:spPr>
          <a:xfrm>
            <a:off x="4911477" y="901341"/>
            <a:ext cx="2369047"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rPr>
              <a:t>CONTENTS</a:t>
            </a:r>
            <a:endParaRPr kumimoji="0" lang="en-US" altLang="zh-CN" sz="20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思源黑体" panose="020B0400000000000000" pitchFamily="34" charset="-122"/>
            </a:endParaRPr>
          </a:p>
        </p:txBody>
      </p:sp>
      <p:sp>
        <p:nvSpPr>
          <p:cNvPr id="13" name="椭圆 12"/>
          <p:cNvSpPr/>
          <p:nvPr userDrawn="1"/>
        </p:nvSpPr>
        <p:spPr>
          <a:xfrm>
            <a:off x="3387976" y="4751396"/>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四</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userDrawn="1"/>
        </p:nvSpPr>
        <p:spPr>
          <a:xfrm>
            <a:off x="4430157" y="478170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整群抽样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
        <p:nvSpPr>
          <p:cNvPr id="15" name="椭圆 14"/>
          <p:cNvSpPr/>
          <p:nvPr userDrawn="1"/>
        </p:nvSpPr>
        <p:spPr>
          <a:xfrm>
            <a:off x="3387976" y="5600241"/>
            <a:ext cx="768000" cy="576000"/>
          </a:xfrm>
          <a:prstGeom prst="ellipse">
            <a:avLst/>
          </a:prstGeom>
          <a:solidFill>
            <a:srgbClr val="1967A5"/>
          </a:solidFill>
          <a:ln w="63500" cmpd="dbl">
            <a:solidFill>
              <a:srgbClr val="1967A5"/>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五</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矩形 15"/>
          <p:cNvSpPr/>
          <p:nvPr userDrawn="1"/>
        </p:nvSpPr>
        <p:spPr>
          <a:xfrm>
            <a:off x="4430157" y="5631854"/>
            <a:ext cx="4279736" cy="553998"/>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rPr>
              <a:t>系统抽样</a:t>
            </a:r>
            <a:endParaRPr kumimoji="0" lang="zh-CN" altLang="en-US" sz="3000" b="1" i="0" u="none" strike="noStrike" kern="1200" cap="none" spc="150" normalizeH="0" baseline="0" noProof="0">
              <a:ln>
                <a:noFill/>
              </a:ln>
              <a:solidFill>
                <a:srgbClr val="1967A5"/>
              </a:solidFill>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矩形 2"/>
          <p:cNvSpPr/>
          <p:nvPr userDrawn="1"/>
        </p:nvSpPr>
        <p:spPr>
          <a:xfrm>
            <a:off x="944371"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复习回顾</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type="blank" preserve="1">
  <p:cSld name="5_空白">
    <p:spTree>
      <p:nvGrpSpPr>
        <p:cNvPr id="1" name=""/>
        <p:cNvGrpSpPr/>
        <p:nvPr/>
      </p:nvGrpSpPr>
      <p:grpSpPr>
        <a:xfrm>
          <a:off x="0" y="0"/>
          <a:ext cx="0" cy="0"/>
          <a:chOff x="0" y="0"/>
          <a:chExt cx="0" cy="0"/>
        </a:xfrm>
      </p:grpSpPr>
      <p:sp>
        <p:nvSpPr>
          <p:cNvPr id="3" name="矩形 2"/>
          <p:cNvSpPr/>
          <p:nvPr userDrawn="1"/>
        </p:nvSpPr>
        <p:spPr>
          <a:xfrm>
            <a:off x="944372" y="78012"/>
            <a:ext cx="984565"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引 言</a:t>
            </a:r>
            <a:endParaRPr kumimoji="0" lang="zh-CN" altLang="zh-CN" sz="2600" b="1" i="0" u="none" strike="noStrike" kern="1200" cap="none" spc="150" normalizeH="0" baseline="0" noProof="1">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sym typeface="Impact" panose="020B080603090205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8"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第一部分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272000" y="2852936"/>
            <a:ext cx="9648000" cy="1428214"/>
          </a:xfrm>
          <a:prstGeom prst="roundRect">
            <a:avLst>
              <a:gd name="adj" fmla="val 50000"/>
            </a:avLst>
          </a:prstGeom>
          <a:solidFill>
            <a:srgbClr val="1967A5"/>
          </a:solidFill>
        </p:spPr>
        <p:txBody>
          <a:bodyPr wrap="square" lIns="432000" rIns="432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抽样的基本概念</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矩形 1"/>
          <p:cNvSpPr/>
          <p:nvPr userDrawn="1"/>
        </p:nvSpPr>
        <p:spPr>
          <a:xfrm>
            <a:off x="944371" y="78012"/>
            <a:ext cx="3358612"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一、抽样的基本概念</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第二部分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504000" rIns="504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简单随机抽样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矩形 1"/>
          <p:cNvSpPr/>
          <p:nvPr userDrawn="1"/>
        </p:nvSpPr>
        <p:spPr>
          <a:xfrm>
            <a:off x="944371" y="78012"/>
            <a:ext cx="3005951"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二、简单随机抽样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第三部分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分层抽样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三、分层抽样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第四部分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整群抽样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四、整群抽样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5_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11"/>
          <p:cNvSpPr txBox="1"/>
          <p:nvPr userDrawn="1"/>
        </p:nvSpPr>
        <p:spPr>
          <a:xfrm>
            <a:off x="3895397" y="1700809"/>
            <a:ext cx="3304110" cy="825419"/>
          </a:xfrm>
          <a:prstGeom prst="rect">
            <a:avLst/>
          </a:prstGeom>
          <a:noFill/>
        </p:spPr>
        <p:txBody>
          <a:bodyPr wrap="non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 </a:t>
            </a:r>
            <a:r>
              <a:rPr kumimoji="0" lang="zh-CN" altLang="en-US"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第五部分 </a:t>
            </a:r>
            <a:r>
              <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a:t>
            </a:r>
            <a:endParaRPr kumimoji="0" lang="en-US" altLang="zh-CN" sz="3600" b="1" i="0" u="none" strike="noStrike" kern="1200" cap="none" spc="0" normalizeH="0" baseline="0" noProof="0">
              <a:ln>
                <a:noFill/>
              </a:ln>
              <a:solidFill>
                <a:srgbClr val="1967A5"/>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9" name="TextBox 11"/>
          <p:cNvSpPr txBox="1"/>
          <p:nvPr userDrawn="1"/>
        </p:nvSpPr>
        <p:spPr>
          <a:xfrm>
            <a:off x="1440000" y="2852936"/>
            <a:ext cx="9312000" cy="1428214"/>
          </a:xfrm>
          <a:prstGeom prst="roundRect">
            <a:avLst>
              <a:gd name="adj" fmla="val 50000"/>
            </a:avLst>
          </a:prstGeom>
          <a:solidFill>
            <a:srgbClr val="1967A5"/>
          </a:solidFill>
        </p:spPr>
        <p:txBody>
          <a:bodyPr wrap="square" lIns="720000" rIns="720000"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系统抽样</a:t>
            </a:r>
            <a:endParaRPr kumimoji="0" lang="zh-CN" altLang="en-US" sz="60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blank" preserve="1">
  <p:cSld name="6_空白">
    <p:spTree>
      <p:nvGrpSpPr>
        <p:cNvPr id="1" name=""/>
        <p:cNvGrpSpPr/>
        <p:nvPr/>
      </p:nvGrpSpPr>
      <p:grpSpPr>
        <a:xfrm>
          <a:off x="0" y="0"/>
          <a:ext cx="0" cy="0"/>
          <a:chOff x="0" y="0"/>
          <a:chExt cx="0" cy="0"/>
        </a:xfrm>
      </p:grpSpPr>
      <p:sp>
        <p:nvSpPr>
          <p:cNvPr id="2" name="矩形 1"/>
          <p:cNvSpPr/>
          <p:nvPr userDrawn="1"/>
        </p:nvSpPr>
        <p:spPr>
          <a:xfrm>
            <a:off x="944371" y="78012"/>
            <a:ext cx="2300630"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五、系统抽样</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课堂总结</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_标题和竖排文字">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a:off x="5032462" y="78012"/>
            <a:ext cx="1595309" cy="492443"/>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rPr>
              <a:t>课后作业</a:t>
            </a:r>
            <a:endParaRPr kumimoji="0" lang="zh-CN" altLang="en-US" sz="2600" b="1" i="0" u="none" strike="noStrike" kern="1200" cap="none" spc="150" normalizeH="0" baseline="0" noProof="0">
              <a:ln>
                <a:noFill/>
              </a:ln>
              <a:solidFill>
                <a:prstClr val="white"/>
              </a:solidFill>
              <a:effectLst>
                <a:outerShdw blurRad="38100" dist="38100" dir="2700000" algn="tl">
                  <a:srgbClr val="000000">
                    <a:alpha val="43137"/>
                  </a:srgbClr>
                </a:outerShdw>
              </a:effectLst>
              <a:uLnTx/>
              <a:uFillTx/>
              <a:latin typeface="Calibri" panose="020F0502020204030204"/>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41"/>
            <a:ext cx="10362961"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5"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5"/>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6"/>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5"/>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3"/>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5"/>
            <a:ext cx="5409317"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5"/>
            <a:ext cx="5410904" cy="4525963"/>
          </a:xfrm>
          <a:prstGeom prst="rect">
            <a:avLst/>
          </a:prstGeom>
        </p:spPr>
        <p:txBody>
          <a:bodyPr/>
          <a:lstStyle>
            <a:lvl1pPr>
              <a:defRPr sz="3735"/>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9" y="1535113"/>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9"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3"/>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49"/>
            <a:ext cx="4010547" cy="1162051"/>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4" y="273066"/>
            <a:ext cx="6816025" cy="5853113"/>
          </a:xfrm>
          <a:prstGeom prst="rect">
            <a:avLst/>
          </a:prstGeom>
        </p:spPr>
        <p:txBody>
          <a:bodyPr/>
          <a:lstStyle>
            <a:lvl1pPr>
              <a:defRPr sz="4265"/>
            </a:lvl1pPr>
            <a:lvl2pPr>
              <a:defRPr sz="3735"/>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1"/>
            <a:ext cx="7316152" cy="56673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5"/>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7"/>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5"/>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4" y="274644"/>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4"/>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6"/>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8" y="6356356"/>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6"/>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7" tIns="60953" rIns="121907" bIns="60953"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2"/>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6" y="304810"/>
            <a:ext cx="9076267" cy="3424239"/>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2400">
                <a:solidFill>
                  <a:prstClr val="black"/>
                </a:solidFill>
              </a:endParaRPr>
            </a:p>
          </p:txBody>
        </p:sp>
      </p:grpSp>
      <p:sp>
        <p:nvSpPr>
          <p:cNvPr id="115" name="Rectangle 17"/>
          <p:cNvSpPr>
            <a:spLocks noChangeArrowheads="1"/>
          </p:cNvSpPr>
          <p:nvPr userDrawn="1"/>
        </p:nvSpPr>
        <p:spPr bwMode="gray">
          <a:xfrm>
            <a:off x="0"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7" tIns="60953" rIns="121907" bIns="60953" anchor="ctr"/>
          <a:lstStyle/>
          <a:p>
            <a:pPr>
              <a:defRPr/>
            </a:pPr>
            <a:endParaRPr lang="zh-CN" altLang="en-US" sz="2535">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5">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6"/>
            <a:ext cx="2844800" cy="365125"/>
          </a:xfrm>
          <a:prstGeom prst="rect">
            <a:avLst/>
          </a:prstGeom>
        </p:spPr>
        <p:txBody>
          <a:bodyPr vert="horz" lIns="121916" tIns="60959" rIns="121916" bIns="60959"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5" y="202987"/>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3" y="87768"/>
            <a:ext cx="833913" cy="625435"/>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5"/>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5" y="3894170"/>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70"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90"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1" tIns="34287" rIns="68571"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7" y="4430622"/>
            <a:ext cx="1627343" cy="1200296"/>
          </a:xfrm>
          <a:prstGeom prst="rect">
            <a:avLst/>
          </a:prstGeom>
          <a:effectLst>
            <a:innerShdw blurRad="63500" dist="50800" dir="13500000">
              <a:prstClr val="black">
                <a:alpha val="50000"/>
              </a:prstClr>
            </a:innerShdw>
          </a:effectLst>
        </p:spPr>
        <p:txBody>
          <a:bodyPr wrap="square" lIns="91408" tIns="45704" rIns="91408"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2815"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7" y="4863386"/>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70"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9" y="5832602"/>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70"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3765"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81" y="1316728"/>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5"/>
            <a:ext cx="1976449"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2"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5"/>
            <a:ext cx="3515331"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4" y="124412"/>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7"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4" y="77015"/>
            <a:ext cx="3207555" cy="43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2" rIns="64267" bIns="32132">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533" y="2130437"/>
            <a:ext cx="10362961" cy="1470027"/>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9054" y="3886200"/>
            <a:ext cx="8533924" cy="1752600"/>
          </a:xfrm>
          <a:prstGeom prst="rect">
            <a:avLst/>
          </a:prstGeom>
        </p:spPr>
        <p:txBody>
          <a:bodyPr/>
          <a:lstStyle>
            <a:lvl1pPr marL="0" indent="0" algn="ctr">
              <a:buNone/>
              <a:defRPr>
                <a:solidFill>
                  <a:schemeClr val="tx1">
                    <a:tint val="7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7765" indent="0" algn="ctr">
              <a:buNone/>
              <a:defRPr>
                <a:solidFill>
                  <a:schemeClr val="tx1">
                    <a:tint val="75000"/>
                  </a:schemeClr>
                </a:solidFill>
              </a:defRPr>
            </a:lvl5pPr>
            <a:lvl6pPr marL="3047365" indent="0" algn="ctr">
              <a:buNone/>
              <a:defRPr>
                <a:solidFill>
                  <a:schemeClr val="tx1">
                    <a:tint val="75000"/>
                  </a:schemeClr>
                </a:solidFill>
              </a:defRPr>
            </a:lvl6pPr>
            <a:lvl7pPr marL="3656965" indent="0" algn="ctr">
              <a:buNone/>
              <a:defRPr>
                <a:solidFill>
                  <a:schemeClr val="tx1">
                    <a:tint val="75000"/>
                  </a:schemeClr>
                </a:solidFill>
              </a:defRPr>
            </a:lvl7pPr>
            <a:lvl8pPr marL="4266565" indent="0" algn="ctr">
              <a:buNone/>
              <a:defRPr>
                <a:solidFill>
                  <a:schemeClr val="tx1">
                    <a:tint val="75000"/>
                  </a:schemeClr>
                </a:solidFill>
              </a:defRPr>
            </a:lvl8pPr>
            <a:lvl9pPr marL="48761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97" y="1600206"/>
            <a:ext cx="10972641"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791747" y="6356358"/>
            <a:ext cx="4234125" cy="365125"/>
          </a:xfrm>
          <a:prstGeom prst="rect">
            <a:avLst/>
          </a:prstGeom>
        </p:spPr>
        <p:txBody>
          <a:bodyPr/>
          <a:lstStyle/>
          <a:p>
            <a:r>
              <a:rPr lang="zh-CN" altLang="en-US" dirty="0"/>
              <a:t>国家重点研发计划项目</a:t>
            </a:r>
            <a:endParaRPr lang="zh-CN" altLang="en-US" dirty="0">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744" y="4406908"/>
            <a:ext cx="10362961" cy="1362075"/>
          </a:xfrm>
          <a:prstGeom prst="rect">
            <a:avLst/>
          </a:prstGeom>
        </p:spPr>
        <p:txBody>
          <a:bodyPr anchor="t"/>
          <a:lstStyle>
            <a:lvl1pPr algn="l">
              <a:defRPr sz="533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744" y="2906715"/>
            <a:ext cx="10362961" cy="1500187"/>
          </a:xfrm>
          <a:prstGeom prst="rect">
            <a:avLst/>
          </a:prstGeom>
        </p:spPr>
        <p:txBody>
          <a:bodyPr anchor="b"/>
          <a:lstStyle>
            <a:lvl1pPr marL="0" indent="0">
              <a:buNone/>
              <a:defRPr sz="2665">
                <a:solidFill>
                  <a:schemeClr val="tx1">
                    <a:tint val="75000"/>
                  </a:schemeClr>
                </a:solidFill>
              </a:defRPr>
            </a:lvl1pPr>
            <a:lvl2pPr marL="609600" indent="0">
              <a:buNone/>
              <a:defRPr sz="2400">
                <a:solidFill>
                  <a:schemeClr val="tx1">
                    <a:tint val="75000"/>
                  </a:schemeClr>
                </a:solidFill>
              </a:defRPr>
            </a:lvl2pPr>
            <a:lvl3pPr marL="1219200" indent="0">
              <a:buNone/>
              <a:defRPr sz="2135">
                <a:solidFill>
                  <a:schemeClr val="tx1">
                    <a:tint val="75000"/>
                  </a:schemeClr>
                </a:solidFill>
              </a:defRPr>
            </a:lvl3pPr>
            <a:lvl4pPr marL="1828800" indent="0">
              <a:buNone/>
              <a:defRPr sz="1865">
                <a:solidFill>
                  <a:schemeClr val="tx1">
                    <a:tint val="75000"/>
                  </a:schemeClr>
                </a:solidFill>
              </a:defRPr>
            </a:lvl4pPr>
            <a:lvl5pPr marL="2437765" indent="0">
              <a:buNone/>
              <a:defRPr sz="1865">
                <a:solidFill>
                  <a:schemeClr val="tx1">
                    <a:tint val="75000"/>
                  </a:schemeClr>
                </a:solidFill>
              </a:defRPr>
            </a:lvl5pPr>
            <a:lvl6pPr marL="3047365" indent="0">
              <a:buNone/>
              <a:defRPr sz="1865">
                <a:solidFill>
                  <a:schemeClr val="tx1">
                    <a:tint val="75000"/>
                  </a:schemeClr>
                </a:solidFill>
              </a:defRPr>
            </a:lvl6pPr>
            <a:lvl7pPr marL="3656965" indent="0">
              <a:buNone/>
              <a:defRPr sz="1865">
                <a:solidFill>
                  <a:schemeClr val="tx1">
                    <a:tint val="75000"/>
                  </a:schemeClr>
                </a:solidFill>
              </a:defRPr>
            </a:lvl7pPr>
            <a:lvl8pPr marL="4266565" indent="0">
              <a:buNone/>
              <a:defRPr sz="1865">
                <a:solidFill>
                  <a:schemeClr val="tx1">
                    <a:tint val="75000"/>
                  </a:schemeClr>
                </a:solidFill>
              </a:defRPr>
            </a:lvl8pPr>
            <a:lvl9pPr marL="4876165" indent="0">
              <a:buNone/>
              <a:defRPr sz="1865">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dirty="0">
              <a:solidFill>
                <a:prstClr val="black"/>
              </a:solidFill>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83" y="1600206"/>
            <a:ext cx="5409317"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1416" y="1600206"/>
            <a:ext cx="5410904" cy="4525963"/>
          </a:xfrm>
          <a:prstGeom prst="rect">
            <a:avLst/>
          </a:prstGeom>
        </p:spPr>
        <p:txBody>
          <a:bodyPr/>
          <a:lstStyle>
            <a:lvl1pPr>
              <a:defRPr sz="3730"/>
            </a:lvl1pPr>
            <a:lvl2pPr>
              <a:defRPr sz="3200"/>
            </a:lvl2pPr>
            <a:lvl3pPr>
              <a:defRPr sz="2665"/>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88" y="1535115"/>
            <a:ext cx="5387089"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88" y="2174875"/>
            <a:ext cx="5387089"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665" y="1535115"/>
            <a:ext cx="5388676" cy="639763"/>
          </a:xfrm>
          <a:prstGeom prst="rect">
            <a:avLst/>
          </a:prstGeom>
        </p:spPr>
        <p:txBody>
          <a:bodyPr anchor="b"/>
          <a:lstStyle>
            <a:lvl1pPr marL="0" indent="0">
              <a:buNone/>
              <a:defRPr sz="3200" b="1"/>
            </a:lvl1pPr>
            <a:lvl2pPr marL="609600" indent="0">
              <a:buNone/>
              <a:defRPr sz="2665" b="1"/>
            </a:lvl2pPr>
            <a:lvl3pPr marL="1219200" indent="0">
              <a:buNone/>
              <a:defRPr sz="2400" b="1"/>
            </a:lvl3pPr>
            <a:lvl4pPr marL="1828800" indent="0">
              <a:buNone/>
              <a:defRPr sz="2135" b="1"/>
            </a:lvl4pPr>
            <a:lvl5pPr marL="2437765" indent="0">
              <a:buNone/>
              <a:defRPr sz="2135" b="1"/>
            </a:lvl5pPr>
            <a:lvl6pPr marL="3047365" indent="0">
              <a:buNone/>
              <a:defRPr sz="2135" b="1"/>
            </a:lvl6pPr>
            <a:lvl7pPr marL="3656965" indent="0">
              <a:buNone/>
              <a:defRPr sz="2135" b="1"/>
            </a:lvl7pPr>
            <a:lvl8pPr marL="4266565" indent="0">
              <a:buNone/>
              <a:defRPr sz="2135" b="1"/>
            </a:lvl8pPr>
            <a:lvl9pPr marL="4876165" indent="0">
              <a:buNone/>
              <a:defRPr sz="213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665" y="2174875"/>
            <a:ext cx="5388676" cy="3951288"/>
          </a:xfrm>
          <a:prstGeom prst="rect">
            <a:avLst/>
          </a:prstGeom>
        </p:spPr>
        <p:txBody>
          <a:bodyPr/>
          <a:lstStyle>
            <a:lvl1pPr>
              <a:defRPr sz="3200"/>
            </a:lvl1pPr>
            <a:lvl2pPr>
              <a:defRPr sz="2665"/>
            </a:lvl2pPr>
            <a:lvl3pPr>
              <a:defRPr sz="2400"/>
            </a:lvl3pPr>
            <a:lvl4pPr>
              <a:defRPr sz="2135"/>
            </a:lvl4pPr>
            <a:lvl5pPr>
              <a:defRPr sz="2135"/>
            </a:lvl5pPr>
            <a:lvl6pPr>
              <a:defRPr sz="2135"/>
            </a:lvl6pPr>
            <a:lvl7pPr>
              <a:defRPr sz="2135"/>
            </a:lvl7pPr>
            <a:lvl8pPr>
              <a:defRPr sz="2135"/>
            </a:lvl8pPr>
            <a:lvl9pPr>
              <a:defRPr sz="213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8" name="页脚占位符 7"/>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9" name="灯片编号占位符 8"/>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4" name="页脚占位符 3"/>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5" name="灯片编号占位符 4"/>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3" name="页脚占位符 2"/>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4" name="灯片编号占位符 3"/>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81" y="273052"/>
            <a:ext cx="4010547" cy="1162049"/>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内容占位符 2"/>
          <p:cNvSpPr>
            <a:spLocks noGrp="1"/>
          </p:cNvSpPr>
          <p:nvPr>
            <p:ph idx="1"/>
          </p:nvPr>
        </p:nvSpPr>
        <p:spPr>
          <a:xfrm>
            <a:off x="4766302" y="273066"/>
            <a:ext cx="6816025" cy="5853113"/>
          </a:xfrm>
          <a:prstGeom prst="rect">
            <a:avLst/>
          </a:prstGeom>
        </p:spPr>
        <p:txBody>
          <a:bodyPr/>
          <a:lstStyle>
            <a:lvl1pPr>
              <a:defRPr sz="4265"/>
            </a:lvl1pPr>
            <a:lvl2pPr>
              <a:defRPr sz="3730"/>
            </a:lvl2pPr>
            <a:lvl3pPr>
              <a:defRPr sz="3200"/>
            </a:lvl3pPr>
            <a:lvl4pPr>
              <a:defRPr sz="2665"/>
            </a:lvl4pPr>
            <a:lvl5pPr>
              <a:defRPr sz="2665"/>
            </a:lvl5pPr>
            <a:lvl6pPr>
              <a:defRPr sz="2665"/>
            </a:lvl6pPr>
            <a:lvl7pPr>
              <a:defRPr sz="2665"/>
            </a:lvl7pPr>
            <a:lvl8pPr>
              <a:defRPr sz="2665"/>
            </a:lvl8pPr>
            <a:lvl9pPr>
              <a:defRPr sz="266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81" y="1435106"/>
            <a:ext cx="4010547" cy="46910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99" y="4800604"/>
            <a:ext cx="7316152" cy="566737"/>
          </a:xfrm>
          <a:prstGeom prst="rect">
            <a:avLst/>
          </a:prstGeom>
        </p:spPr>
        <p:txBody>
          <a:bodyPr anchor="b"/>
          <a:lstStyle>
            <a:lvl1pPr algn="l">
              <a:defRPr sz="2665"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499" y="612775"/>
            <a:ext cx="7316152" cy="4114800"/>
          </a:xfrm>
          <a:prstGeom prst="rect">
            <a:avLst/>
          </a:prstGeom>
        </p:spPr>
        <p:txBody>
          <a:bodyPr/>
          <a:lstStyle>
            <a:lvl1pPr marL="0" indent="0">
              <a:buNone/>
              <a:defRPr sz="4265"/>
            </a:lvl1pPr>
            <a:lvl2pPr marL="609600" indent="0">
              <a:buNone/>
              <a:defRPr sz="3730"/>
            </a:lvl2pPr>
            <a:lvl3pPr marL="1219200" indent="0">
              <a:buNone/>
              <a:defRPr sz="3200"/>
            </a:lvl3pPr>
            <a:lvl4pPr marL="1828800" indent="0">
              <a:buNone/>
              <a:defRPr sz="2665"/>
            </a:lvl4pPr>
            <a:lvl5pPr marL="2437765" indent="0">
              <a:buNone/>
              <a:defRPr sz="2665"/>
            </a:lvl5pPr>
            <a:lvl6pPr marL="3047365" indent="0">
              <a:buNone/>
              <a:defRPr sz="2665"/>
            </a:lvl6pPr>
            <a:lvl7pPr marL="3656965" indent="0">
              <a:buNone/>
              <a:defRPr sz="2665"/>
            </a:lvl7pPr>
            <a:lvl8pPr marL="4266565" indent="0">
              <a:buNone/>
              <a:defRPr sz="2665"/>
            </a:lvl8pPr>
            <a:lvl9pPr marL="4876165" indent="0">
              <a:buNone/>
              <a:defRPr sz="2665"/>
            </a:lvl9pPr>
          </a:lstStyle>
          <a:p>
            <a:r>
              <a:rPr lang="zh-CN" altLang="en-US"/>
              <a:t>单击图标添加图片</a:t>
            </a:r>
            <a:endParaRPr lang="zh-CN" altLang="en-US"/>
          </a:p>
        </p:txBody>
      </p:sp>
      <p:sp>
        <p:nvSpPr>
          <p:cNvPr id="4" name="文本占位符 3"/>
          <p:cNvSpPr>
            <a:spLocks noGrp="1"/>
          </p:cNvSpPr>
          <p:nvPr>
            <p:ph type="body" sz="half" idx="2"/>
          </p:nvPr>
        </p:nvSpPr>
        <p:spPr>
          <a:xfrm>
            <a:off x="2389499" y="5367346"/>
            <a:ext cx="7316152" cy="804863"/>
          </a:xfrm>
          <a:prstGeom prst="rect">
            <a:avLst/>
          </a:prstGeom>
        </p:spPr>
        <p:txBody>
          <a:bodyPr/>
          <a:lstStyle>
            <a:lvl1pPr marL="0" indent="0">
              <a:buNone/>
              <a:defRPr sz="1865"/>
            </a:lvl1pPr>
            <a:lvl2pPr marL="609600" indent="0">
              <a:buNone/>
              <a:defRPr sz="1600"/>
            </a:lvl2pPr>
            <a:lvl3pPr marL="1219200" indent="0">
              <a:buNone/>
              <a:defRPr sz="1335"/>
            </a:lvl3pPr>
            <a:lvl4pPr marL="1828800" indent="0">
              <a:buNone/>
              <a:defRPr sz="1200"/>
            </a:lvl4pPr>
            <a:lvl5pPr marL="2437765" indent="0">
              <a:buNone/>
              <a:defRPr sz="1200"/>
            </a:lvl5pPr>
            <a:lvl6pPr marL="3047365" indent="0">
              <a:buNone/>
              <a:defRPr sz="1200"/>
            </a:lvl6pPr>
            <a:lvl7pPr marL="3656965" indent="0">
              <a:buNone/>
              <a:defRPr sz="1200"/>
            </a:lvl7pPr>
            <a:lvl8pPr marL="4266565" indent="0">
              <a:buNone/>
              <a:defRPr sz="1200"/>
            </a:lvl8pPr>
            <a:lvl9pPr marL="4876165" indent="0">
              <a:buNone/>
              <a:defRPr sz="12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6" name="页脚占位符 5"/>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7" name="灯片编号占位符 6"/>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7" y="1600206"/>
            <a:ext cx="10972641"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362" y="274646"/>
            <a:ext cx="2741969"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94" y="274646"/>
            <a:ext cx="8078252"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609680" y="6356358"/>
            <a:ext cx="2845171" cy="365125"/>
          </a:xfrm>
          <a:prstGeom prst="rect">
            <a:avLst/>
          </a:prstGeom>
        </p:spPr>
        <p:txBody>
          <a:bodyPr/>
          <a:lstStyle/>
          <a:p>
            <a:fld id="{852BF47B-2D48-45D3-9885-759CEFF9943A}"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4166157" y="6356358"/>
            <a:ext cx="3859716"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152" y="6356358"/>
            <a:ext cx="2845171" cy="365125"/>
          </a:xfrm>
          <a:prstGeom prst="rect">
            <a:avLst/>
          </a:prstGeom>
        </p:spPr>
        <p:txBody>
          <a:bodyPr/>
          <a:lstStyle/>
          <a:p>
            <a:fld id="{3ACC81C0-A4AC-41CF-A532-6BD099512BE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6" name="Rectangle 127"/>
          <p:cNvSpPr>
            <a:spLocks noChangeArrowheads="1"/>
          </p:cNvSpPr>
          <p:nvPr userDrawn="1"/>
        </p:nvSpPr>
        <p:spPr bwMode="invGray">
          <a:xfrm>
            <a:off x="0" y="2470793"/>
            <a:ext cx="12192000" cy="191229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w="0" algn="ctr">
            <a:noFill/>
            <a:miter lim="800000"/>
          </a:ln>
          <a:effectLst/>
        </p:spPr>
        <p:txBody>
          <a:bodyPr wrap="none" lIns="121904" tIns="60952" rIns="121904" bIns="60952" anchor="ctr"/>
          <a:lstStyle/>
          <a:p>
            <a:pPr>
              <a:spcBef>
                <a:spcPct val="20000"/>
              </a:spcBef>
              <a:buClr>
                <a:srgbClr val="0066CC"/>
              </a:buClr>
              <a:buFont typeface="Wingdings" panose="05000000000000000000" pitchFamily="2" charset="2"/>
              <a:buChar char="v"/>
              <a:defRPr/>
            </a:pPr>
            <a:endParaRPr lang="zh-CN" altLang="en-US" sz="1865" b="1">
              <a:solidFill>
                <a:srgbClr val="093575"/>
              </a:solidFill>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118" name="Object 15"/>
          <p:cNvGraphicFramePr>
            <a:graphicFrameLocks noChangeAspect="1"/>
          </p:cNvGraphicFramePr>
          <p:nvPr userDrawn="1"/>
        </p:nvGraphicFramePr>
        <p:xfrm>
          <a:off x="2370668" y="1646193"/>
          <a:ext cx="3115733" cy="774700"/>
        </p:xfrm>
        <a:graphic>
          <a:graphicData uri="http://schemas.openxmlformats.org/presentationml/2006/ole">
            <mc:AlternateContent xmlns:mc="http://schemas.openxmlformats.org/markup-compatibility/2006">
              <mc:Choice xmlns:v="urn:schemas-microsoft-com:vml" Requires="v">
                <p:oleObj spid="_x0000_s2" name="Photo Editor 照片" r:id="rId3" imgW="4324350" imgH="1343025" progId="">
                  <p:embed/>
                </p:oleObj>
              </mc:Choice>
              <mc:Fallback>
                <p:oleObj name="Photo Editor 照片" r:id="rId3" imgW="4324350" imgH="1343025" progId="">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0668" y="1646193"/>
                        <a:ext cx="3115733"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8" name="Rectangle 2"/>
          <p:cNvSpPr>
            <a:spLocks noGrp="1" noChangeArrowheads="1"/>
          </p:cNvSpPr>
          <p:nvPr>
            <p:ph type="ctrTitle"/>
          </p:nvPr>
        </p:nvSpPr>
        <p:spPr>
          <a:xfrm>
            <a:off x="0" y="2568590"/>
            <a:ext cx="12192000" cy="1317625"/>
          </a:xfrm>
          <a:prstGeom prst="rect">
            <a:avLst/>
          </a:prstGeom>
        </p:spPr>
        <p:txBody>
          <a:bodyPr/>
          <a:lstStyle>
            <a:lvl1pPr algn="r">
              <a:defRPr sz="6400" b="1">
                <a:solidFill>
                  <a:schemeClr val="bg1"/>
                </a:solidFill>
              </a:defRPr>
            </a:lvl1pPr>
          </a:lstStyle>
          <a:p>
            <a:pPr lvl="0"/>
            <a:r>
              <a:rPr lang="zh-CN" altLang="en-US" noProof="0"/>
              <a:t>单击此处编辑母版标题样式</a:t>
            </a:r>
            <a:endParaRPr lang="zh-CN" altLang="en-US" noProof="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4" name="Rectangle 17"/>
          <p:cNvSpPr>
            <a:spLocks noChangeArrowheads="1"/>
          </p:cNvSpPr>
          <p:nvPr userDrawn="1"/>
        </p:nvSpPr>
        <p:spPr bwMode="gray">
          <a:xfrm>
            <a:off x="3215231" y="0"/>
            <a:ext cx="8976783" cy="6858000"/>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pic>
        <p:nvPicPr>
          <p:cNvPr id="5" name="Picture 118" descr="building剪裁"/>
          <p:cNvPicPr>
            <a:picLocks noChangeAspect="1" noChangeArrowheads="1"/>
          </p:cNvPicPr>
          <p:nvPr userDrawn="1"/>
        </p:nvPicPr>
        <p:blipFill>
          <a:blip r:embed="rId2" cstate="print"/>
          <a:srcRect/>
          <a:stretch>
            <a:fillRect/>
          </a:stretch>
        </p:blipFill>
        <p:spPr bwMode="auto">
          <a:xfrm>
            <a:off x="0" y="0"/>
            <a:ext cx="3429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18"/>
          <p:cNvGrpSpPr/>
          <p:nvPr userDrawn="1"/>
        </p:nvGrpSpPr>
        <p:grpSpPr bwMode="auto">
          <a:xfrm>
            <a:off x="3623735" y="304810"/>
            <a:ext cx="9076267" cy="3424237"/>
            <a:chOff x="664" y="1951"/>
            <a:chExt cx="4308" cy="2120"/>
          </a:xfrm>
        </p:grpSpPr>
        <p:sp>
          <p:nvSpPr>
            <p:cNvPr id="7" name="Freeform 19"/>
            <p:cNvSpPr/>
            <p:nvPr userDrawn="1"/>
          </p:nvSpPr>
          <p:spPr bwMode="invGray">
            <a:xfrm>
              <a:off x="743" y="2045"/>
              <a:ext cx="1267" cy="1939"/>
            </a:xfrm>
            <a:custGeom>
              <a:avLst/>
              <a:gdLst>
                <a:gd name="T0" fmla="*/ 1 w 1692"/>
                <a:gd name="T1" fmla="*/ 1 h 2586"/>
                <a:gd name="T2" fmla="*/ 1 w 1692"/>
                <a:gd name="T3" fmla="*/ 1 h 2586"/>
                <a:gd name="T4" fmla="*/ 2 w 1692"/>
                <a:gd name="T5" fmla="*/ 1 h 2586"/>
                <a:gd name="T6" fmla="*/ 2 w 1692"/>
                <a:gd name="T7" fmla="*/ 2 h 2586"/>
                <a:gd name="T8" fmla="*/ 1 w 1692"/>
                <a:gd name="T9" fmla="*/ 3 h 2586"/>
                <a:gd name="T10" fmla="*/ 1 w 1692"/>
                <a:gd name="T11" fmla="*/ 4 h 2586"/>
                <a:gd name="T12" fmla="*/ 1 w 1692"/>
                <a:gd name="T13" fmla="*/ 5 h 2586"/>
                <a:gd name="T14" fmla="*/ 1 w 1692"/>
                <a:gd name="T15" fmla="*/ 5 h 2586"/>
                <a:gd name="T16" fmla="*/ 1 w 1692"/>
                <a:gd name="T17" fmla="*/ 5 h 2586"/>
                <a:gd name="T18" fmla="*/ 2 w 1692"/>
                <a:gd name="T19" fmla="*/ 6 h 2586"/>
                <a:gd name="T20" fmla="*/ 3 w 1692"/>
                <a:gd name="T21" fmla="*/ 7 h 2586"/>
                <a:gd name="T22" fmla="*/ 4 w 1692"/>
                <a:gd name="T23" fmla="*/ 7 h 2586"/>
                <a:gd name="T24" fmla="*/ 4 w 1692"/>
                <a:gd name="T25" fmla="*/ 7 h 2586"/>
                <a:gd name="T26" fmla="*/ 4 w 1692"/>
                <a:gd name="T27" fmla="*/ 9 h 2586"/>
                <a:gd name="T28" fmla="*/ 5 w 1692"/>
                <a:gd name="T29" fmla="*/ 10 h 2586"/>
                <a:gd name="T30" fmla="*/ 5 w 1692"/>
                <a:gd name="T31" fmla="*/ 11 h 2586"/>
                <a:gd name="T32" fmla="*/ 5 w 1692"/>
                <a:gd name="T33" fmla="*/ 13 h 2586"/>
                <a:gd name="T34" fmla="*/ 7 w 1692"/>
                <a:gd name="T35" fmla="*/ 14 h 2586"/>
                <a:gd name="T36" fmla="*/ 7 w 1692"/>
                <a:gd name="T37" fmla="*/ 14 h 2586"/>
                <a:gd name="T38" fmla="*/ 7 w 1692"/>
                <a:gd name="T39" fmla="*/ 13 h 2586"/>
                <a:gd name="T40" fmla="*/ 7 w 1692"/>
                <a:gd name="T41" fmla="*/ 13 h 2586"/>
                <a:gd name="T42" fmla="*/ 7 w 1692"/>
                <a:gd name="T43" fmla="*/ 12 h 2586"/>
                <a:gd name="T44" fmla="*/ 7 w 1692"/>
                <a:gd name="T45" fmla="*/ 12 h 2586"/>
                <a:gd name="T46" fmla="*/ 9 w 1692"/>
                <a:gd name="T47" fmla="*/ 10 h 2586"/>
                <a:gd name="T48" fmla="*/ 9 w 1692"/>
                <a:gd name="T49" fmla="*/ 10 h 2586"/>
                <a:gd name="T50" fmla="*/ 8 w 1692"/>
                <a:gd name="T51" fmla="*/ 8 h 2586"/>
                <a:gd name="T52" fmla="*/ 7 w 1692"/>
                <a:gd name="T53" fmla="*/ 7 h 2586"/>
                <a:gd name="T54" fmla="*/ 5 w 1692"/>
                <a:gd name="T55" fmla="*/ 7 h 2586"/>
                <a:gd name="T56" fmla="*/ 5 w 1692"/>
                <a:gd name="T57" fmla="*/ 7 h 2586"/>
                <a:gd name="T58" fmla="*/ 5 w 1692"/>
                <a:gd name="T59" fmla="*/ 7 h 2586"/>
                <a:gd name="T60" fmla="*/ 4 w 1692"/>
                <a:gd name="T61" fmla="*/ 7 h 2586"/>
                <a:gd name="T62" fmla="*/ 4 w 1692"/>
                <a:gd name="T63" fmla="*/ 7 h 2586"/>
                <a:gd name="T64" fmla="*/ 4 w 1692"/>
                <a:gd name="T65" fmla="*/ 5 h 2586"/>
                <a:gd name="T66" fmla="*/ 3 w 1692"/>
                <a:gd name="T67" fmla="*/ 5 h 2586"/>
                <a:gd name="T68" fmla="*/ 3 w 1692"/>
                <a:gd name="T69" fmla="*/ 5 h 2586"/>
                <a:gd name="T70" fmla="*/ 4 w 1692"/>
                <a:gd name="T71" fmla="*/ 5 h 2586"/>
                <a:gd name="T72" fmla="*/ 4 w 1692"/>
                <a:gd name="T73" fmla="*/ 5 h 2586"/>
                <a:gd name="T74" fmla="*/ 5 w 1692"/>
                <a:gd name="T75" fmla="*/ 5 h 2586"/>
                <a:gd name="T76" fmla="*/ 5 w 1692"/>
                <a:gd name="T77" fmla="*/ 4 h 2586"/>
                <a:gd name="T78" fmla="*/ 7 w 1692"/>
                <a:gd name="T79" fmla="*/ 4 h 2586"/>
                <a:gd name="T80" fmla="*/ 7 w 1692"/>
                <a:gd name="T81" fmla="*/ 3 h 2586"/>
                <a:gd name="T82" fmla="*/ 7 w 1692"/>
                <a:gd name="T83" fmla="*/ 3 h 2586"/>
                <a:gd name="T84" fmla="*/ 7 w 1692"/>
                <a:gd name="T85" fmla="*/ 3 h 2586"/>
                <a:gd name="T86" fmla="*/ 8 w 1692"/>
                <a:gd name="T87" fmla="*/ 2 h 2586"/>
                <a:gd name="T88" fmla="*/ 7 w 1692"/>
                <a:gd name="T89" fmla="*/ 1 h 2586"/>
                <a:gd name="T90" fmla="*/ 7 w 1692"/>
                <a:gd name="T91" fmla="*/ 1 h 2586"/>
                <a:gd name="T92" fmla="*/ 7 w 1692"/>
                <a:gd name="T93" fmla="*/ 1 h 2586"/>
                <a:gd name="T94" fmla="*/ 5 w 1692"/>
                <a:gd name="T95" fmla="*/ 2 h 2586"/>
                <a:gd name="T96" fmla="*/ 5 w 1692"/>
                <a:gd name="T97" fmla="*/ 1 h 2586"/>
                <a:gd name="T98" fmla="*/ 7 w 1692"/>
                <a:gd name="T99" fmla="*/ 1 h 2586"/>
                <a:gd name="T100" fmla="*/ 7 w 1692"/>
                <a:gd name="T101" fmla="*/ 1 h 2586"/>
                <a:gd name="T102" fmla="*/ 7 w 1692"/>
                <a:gd name="T103" fmla="*/ 1 h 2586"/>
                <a:gd name="T104" fmla="*/ 7 w 1692"/>
                <a:gd name="T105" fmla="*/ 1 h 2586"/>
                <a:gd name="T106" fmla="*/ 7 w 1692"/>
                <a:gd name="T107" fmla="*/ 1 h 2586"/>
                <a:gd name="T108" fmla="*/ 7 w 1692"/>
                <a:gd name="T109" fmla="*/ 1 h 2586"/>
                <a:gd name="T110" fmla="*/ 5 w 1692"/>
                <a:gd name="T111" fmla="*/ 1 h 2586"/>
                <a:gd name="T112" fmla="*/ 5 w 1692"/>
                <a:gd name="T113" fmla="*/ 1 h 2586"/>
                <a:gd name="T114" fmla="*/ 3 w 1692"/>
                <a:gd name="T115" fmla="*/ 0 h 2586"/>
                <a:gd name="T116" fmla="*/ 1 w 1692"/>
                <a:gd name="T117" fmla="*/ 1 h 2586"/>
                <a:gd name="T118" fmla="*/ 1 w 1692"/>
                <a:gd name="T119" fmla="*/ 1 h 2586"/>
                <a:gd name="T120" fmla="*/ 1 w 1692"/>
                <a:gd name="T121" fmla="*/ 1 h 2586"/>
                <a:gd name="T122" fmla="*/ 1 w 1692"/>
                <a:gd name="T123" fmla="*/ 1 h 2586"/>
                <a:gd name="T124" fmla="*/ 1 w 1692"/>
                <a:gd name="T125" fmla="*/ 1 h 25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 name="Freeform 20"/>
            <p:cNvSpPr/>
            <p:nvPr userDrawn="1"/>
          </p:nvSpPr>
          <p:spPr bwMode="invGray">
            <a:xfrm>
              <a:off x="703" y="2230"/>
              <a:ext cx="32" cy="28"/>
            </a:xfrm>
            <a:custGeom>
              <a:avLst/>
              <a:gdLst>
                <a:gd name="T0" fmla="*/ 1 w 46"/>
                <a:gd name="T1" fmla="*/ 1 h 38"/>
                <a:gd name="T2" fmla="*/ 0 w 46"/>
                <a:gd name="T3" fmla="*/ 1 h 38"/>
                <a:gd name="T4" fmla="*/ 1 w 46"/>
                <a:gd name="T5" fmla="*/ 1 h 38"/>
                <a:gd name="T6" fmla="*/ 1 w 46"/>
                <a:gd name="T7" fmla="*/ 1 h 38"/>
                <a:gd name="T8" fmla="*/ 1 w 46"/>
                <a:gd name="T9" fmla="*/ 0 h 38"/>
                <a:gd name="T10" fmla="*/ 1 w 46"/>
                <a:gd name="T11" fmla="*/ 1 h 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6" h="38">
                  <a:moveTo>
                    <a:pt x="16" y="4"/>
                  </a:moveTo>
                  <a:lnTo>
                    <a:pt x="0" y="22"/>
                  </a:lnTo>
                  <a:lnTo>
                    <a:pt x="22" y="38"/>
                  </a:lnTo>
                  <a:lnTo>
                    <a:pt x="46" y="26"/>
                  </a:lnTo>
                  <a:lnTo>
                    <a:pt x="30" y="0"/>
                  </a:lnTo>
                  <a:lnTo>
                    <a:pt x="16" y="4"/>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 name="Freeform 21"/>
            <p:cNvSpPr/>
            <p:nvPr userDrawn="1"/>
          </p:nvSpPr>
          <p:spPr bwMode="invGray">
            <a:xfrm>
              <a:off x="1010" y="2353"/>
              <a:ext cx="39" cy="30"/>
            </a:xfrm>
            <a:custGeom>
              <a:avLst/>
              <a:gdLst>
                <a:gd name="T0" fmla="*/ 2 w 52"/>
                <a:gd name="T1" fmla="*/ 0 h 44"/>
                <a:gd name="T2" fmla="*/ 2 w 52"/>
                <a:gd name="T3" fmla="*/ 1 h 44"/>
                <a:gd name="T4" fmla="*/ 2 w 52"/>
                <a:gd name="T5" fmla="*/ 1 h 44"/>
                <a:gd name="T6" fmla="*/ 2 w 52"/>
                <a:gd name="T7" fmla="*/ 1 h 44"/>
                <a:gd name="T8" fmla="*/ 2 w 52"/>
                <a:gd name="T9" fmla="*/ 1 h 44"/>
                <a:gd name="T10" fmla="*/ 2 w 52"/>
                <a:gd name="T11" fmla="*/ 0 h 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 name="Freeform 22"/>
            <p:cNvSpPr/>
            <p:nvPr userDrawn="1"/>
          </p:nvSpPr>
          <p:spPr bwMode="invGray">
            <a:xfrm>
              <a:off x="1792" y="2410"/>
              <a:ext cx="98" cy="73"/>
            </a:xfrm>
            <a:custGeom>
              <a:avLst/>
              <a:gdLst>
                <a:gd name="T0" fmla="*/ 1 w 131"/>
                <a:gd name="T1" fmla="*/ 0 h 98"/>
                <a:gd name="T2" fmla="*/ 1 w 131"/>
                <a:gd name="T3" fmla="*/ 1 h 98"/>
                <a:gd name="T4" fmla="*/ 1 w 131"/>
                <a:gd name="T5" fmla="*/ 1 h 98"/>
                <a:gd name="T6" fmla="*/ 1 w 131"/>
                <a:gd name="T7" fmla="*/ 1 h 98"/>
                <a:gd name="T8" fmla="*/ 1 w 131"/>
                <a:gd name="T9" fmla="*/ 1 h 98"/>
                <a:gd name="T10" fmla="*/ 1 w 131"/>
                <a:gd name="T11" fmla="*/ 1 h 98"/>
                <a:gd name="T12" fmla="*/ 1 w 131"/>
                <a:gd name="T13" fmla="*/ 1 h 98"/>
                <a:gd name="T14" fmla="*/ 1 w 131"/>
                <a:gd name="T15" fmla="*/ 1 h 98"/>
                <a:gd name="T16" fmla="*/ 1 w 131"/>
                <a:gd name="T17" fmla="*/ 1 h 98"/>
                <a:gd name="T18" fmla="*/ 1 w 131"/>
                <a:gd name="T19" fmla="*/ 1 h 98"/>
                <a:gd name="T20" fmla="*/ 1 w 131"/>
                <a:gd name="T21" fmla="*/ 1 h 98"/>
                <a:gd name="T22" fmla="*/ 1 w 131"/>
                <a:gd name="T23" fmla="*/ 1 h 98"/>
                <a:gd name="T24" fmla="*/ 1 w 131"/>
                <a:gd name="T25" fmla="*/ 1 h 98"/>
                <a:gd name="T26" fmla="*/ 1 w 131"/>
                <a:gd name="T27" fmla="*/ 1 h 98"/>
                <a:gd name="T28" fmla="*/ 1 w 131"/>
                <a:gd name="T29" fmla="*/ 1 h 98"/>
                <a:gd name="T30" fmla="*/ 1 w 131"/>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 name="Freeform 23"/>
            <p:cNvSpPr/>
            <p:nvPr userDrawn="1"/>
          </p:nvSpPr>
          <p:spPr bwMode="invGray">
            <a:xfrm>
              <a:off x="1318" y="2793"/>
              <a:ext cx="159" cy="82"/>
            </a:xfrm>
            <a:custGeom>
              <a:avLst/>
              <a:gdLst>
                <a:gd name="T0" fmla="*/ 2 w 212"/>
                <a:gd name="T1" fmla="*/ 1 h 112"/>
                <a:gd name="T2" fmla="*/ 2 w 212"/>
                <a:gd name="T3" fmla="*/ 1 h 112"/>
                <a:gd name="T4" fmla="*/ 2 w 212"/>
                <a:gd name="T5" fmla="*/ 1 h 112"/>
                <a:gd name="T6" fmla="*/ 2 w 212"/>
                <a:gd name="T7" fmla="*/ 1 h 112"/>
                <a:gd name="T8" fmla="*/ 2 w 212"/>
                <a:gd name="T9" fmla="*/ 1 h 112"/>
                <a:gd name="T10" fmla="*/ 2 w 212"/>
                <a:gd name="T11" fmla="*/ 1 h 112"/>
                <a:gd name="T12" fmla="*/ 2 w 212"/>
                <a:gd name="T13" fmla="*/ 1 h 112"/>
                <a:gd name="T14" fmla="*/ 2 w 212"/>
                <a:gd name="T15" fmla="*/ 1 h 112"/>
                <a:gd name="T16" fmla="*/ 2 w 212"/>
                <a:gd name="T17" fmla="*/ 1 h 112"/>
                <a:gd name="T18" fmla="*/ 2 w 212"/>
                <a:gd name="T19" fmla="*/ 1 h 112"/>
                <a:gd name="T20" fmla="*/ 2 w 212"/>
                <a:gd name="T21" fmla="*/ 1 h 112"/>
                <a:gd name="T22" fmla="*/ 2 w 212"/>
                <a:gd name="T23" fmla="*/ 1 h 112"/>
                <a:gd name="T24" fmla="*/ 2 w 212"/>
                <a:gd name="T25" fmla="*/ 1 h 112"/>
                <a:gd name="T26" fmla="*/ 2 w 212"/>
                <a:gd name="T27" fmla="*/ 1 h 112"/>
                <a:gd name="T28" fmla="*/ 2 w 212"/>
                <a:gd name="T29" fmla="*/ 1 h 112"/>
                <a:gd name="T30" fmla="*/ 2 w 212"/>
                <a:gd name="T31" fmla="*/ 1 h 112"/>
                <a:gd name="T32" fmla="*/ 2 w 212"/>
                <a:gd name="T33" fmla="*/ 1 h 1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2" name="Freeform 24"/>
            <p:cNvSpPr/>
            <p:nvPr userDrawn="1"/>
          </p:nvSpPr>
          <p:spPr bwMode="invGray">
            <a:xfrm>
              <a:off x="1448" y="2857"/>
              <a:ext cx="100" cy="41"/>
            </a:xfrm>
            <a:custGeom>
              <a:avLst/>
              <a:gdLst>
                <a:gd name="T0" fmla="*/ 2 w 133"/>
                <a:gd name="T1" fmla="*/ 0 h 54"/>
                <a:gd name="T2" fmla="*/ 2 w 133"/>
                <a:gd name="T3" fmla="*/ 2 h 54"/>
                <a:gd name="T4" fmla="*/ 2 w 133"/>
                <a:gd name="T5" fmla="*/ 2 h 54"/>
                <a:gd name="T6" fmla="*/ 2 w 133"/>
                <a:gd name="T7" fmla="*/ 2 h 54"/>
                <a:gd name="T8" fmla="*/ 2 w 133"/>
                <a:gd name="T9" fmla="*/ 2 h 54"/>
                <a:gd name="T10" fmla="*/ 2 w 133"/>
                <a:gd name="T11" fmla="*/ 2 h 54"/>
                <a:gd name="T12" fmla="*/ 2 w 133"/>
                <a:gd name="T13" fmla="*/ 2 h 54"/>
                <a:gd name="T14" fmla="*/ 2 w 133"/>
                <a:gd name="T15" fmla="*/ 2 h 54"/>
                <a:gd name="T16" fmla="*/ 2 w 133"/>
                <a:gd name="T17" fmla="*/ 2 h 54"/>
                <a:gd name="T18" fmla="*/ 2 w 133"/>
                <a:gd name="T19" fmla="*/ 2 h 54"/>
                <a:gd name="T20" fmla="*/ 2 w 133"/>
                <a:gd name="T21" fmla="*/ 2 h 54"/>
                <a:gd name="T22" fmla="*/ 2 w 133"/>
                <a:gd name="T23" fmla="*/ 2 h 54"/>
                <a:gd name="T24" fmla="*/ 2 w 133"/>
                <a:gd name="T25" fmla="*/ 0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3" name="Freeform 25"/>
            <p:cNvSpPr/>
            <p:nvPr userDrawn="1"/>
          </p:nvSpPr>
          <p:spPr bwMode="invGray">
            <a:xfrm>
              <a:off x="1553" y="2883"/>
              <a:ext cx="37" cy="18"/>
            </a:xfrm>
            <a:custGeom>
              <a:avLst/>
              <a:gdLst>
                <a:gd name="T0" fmla="*/ 1 w 51"/>
                <a:gd name="T1" fmla="*/ 0 h 24"/>
                <a:gd name="T2" fmla="*/ 1 w 51"/>
                <a:gd name="T3" fmla="*/ 2 h 24"/>
                <a:gd name="T4" fmla="*/ 1 w 51"/>
                <a:gd name="T5" fmla="*/ 2 h 24"/>
                <a:gd name="T6" fmla="*/ 1 w 51"/>
                <a:gd name="T7" fmla="*/ 2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4" name="Freeform 26"/>
            <p:cNvSpPr/>
            <p:nvPr userDrawn="1"/>
          </p:nvSpPr>
          <p:spPr bwMode="invGray">
            <a:xfrm>
              <a:off x="1609" y="2886"/>
              <a:ext cx="12" cy="25"/>
            </a:xfrm>
            <a:custGeom>
              <a:avLst/>
              <a:gdLst>
                <a:gd name="T0" fmla="*/ 2 w 16"/>
                <a:gd name="T1" fmla="*/ 0 h 34"/>
                <a:gd name="T2" fmla="*/ 0 w 16"/>
                <a:gd name="T3" fmla="*/ 1 h 34"/>
                <a:gd name="T4" fmla="*/ 2 w 16"/>
                <a:gd name="T5" fmla="*/ 1 h 34"/>
                <a:gd name="T6" fmla="*/ 2 w 16"/>
                <a:gd name="T7" fmla="*/ 1 h 34"/>
                <a:gd name="T8" fmla="*/ 2 w 16"/>
                <a:gd name="T9" fmla="*/ 1 h 34"/>
                <a:gd name="T10" fmla="*/ 2 w 16"/>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5" name="Freeform 27"/>
            <p:cNvSpPr/>
            <p:nvPr userDrawn="1"/>
          </p:nvSpPr>
          <p:spPr bwMode="invGray">
            <a:xfrm>
              <a:off x="1426" y="2038"/>
              <a:ext cx="180" cy="85"/>
            </a:xfrm>
            <a:custGeom>
              <a:avLst/>
              <a:gdLst>
                <a:gd name="T0" fmla="*/ 2 w 240"/>
                <a:gd name="T1" fmla="*/ 1 h 117"/>
                <a:gd name="T2" fmla="*/ 2 w 240"/>
                <a:gd name="T3" fmla="*/ 1 h 117"/>
                <a:gd name="T4" fmla="*/ 2 w 240"/>
                <a:gd name="T5" fmla="*/ 1 h 117"/>
                <a:gd name="T6" fmla="*/ 0 w 240"/>
                <a:gd name="T7" fmla="*/ 1 h 117"/>
                <a:gd name="T8" fmla="*/ 2 w 240"/>
                <a:gd name="T9" fmla="*/ 1 h 117"/>
                <a:gd name="T10" fmla="*/ 2 w 240"/>
                <a:gd name="T11" fmla="*/ 1 h 117"/>
                <a:gd name="T12" fmla="*/ 2 w 240"/>
                <a:gd name="T13" fmla="*/ 1 h 117"/>
                <a:gd name="T14" fmla="*/ 2 w 240"/>
                <a:gd name="T15" fmla="*/ 1 h 117"/>
                <a:gd name="T16" fmla="*/ 2 w 240"/>
                <a:gd name="T17" fmla="*/ 1 h 117"/>
                <a:gd name="T18" fmla="*/ 2 w 240"/>
                <a:gd name="T19" fmla="*/ 1 h 117"/>
                <a:gd name="T20" fmla="*/ 2 w 240"/>
                <a:gd name="T21" fmla="*/ 1 h 117"/>
                <a:gd name="T22" fmla="*/ 2 w 240"/>
                <a:gd name="T23" fmla="*/ 1 h 117"/>
                <a:gd name="T24" fmla="*/ 2 w 240"/>
                <a:gd name="T25" fmla="*/ 1 h 117"/>
                <a:gd name="T26" fmla="*/ 2 w 240"/>
                <a:gd name="T27" fmla="*/ 1 h 117"/>
                <a:gd name="T28" fmla="*/ 2 w 240"/>
                <a:gd name="T29" fmla="*/ 1 h 117"/>
                <a:gd name="T30" fmla="*/ 2 w 240"/>
                <a:gd name="T31" fmla="*/ 1 h 117"/>
                <a:gd name="T32" fmla="*/ 2 w 240"/>
                <a:gd name="T33" fmla="*/ 1 h 117"/>
                <a:gd name="T34" fmla="*/ 2 w 240"/>
                <a:gd name="T35" fmla="*/ 1 h 117"/>
                <a:gd name="T36" fmla="*/ 2 w 240"/>
                <a:gd name="T37" fmla="*/ 1 h 117"/>
                <a:gd name="T38" fmla="*/ 2 w 240"/>
                <a:gd name="T39" fmla="*/ 1 h 117"/>
                <a:gd name="T40" fmla="*/ 2 w 240"/>
                <a:gd name="T41" fmla="*/ 1 h 117"/>
                <a:gd name="T42" fmla="*/ 2 w 240"/>
                <a:gd name="T43" fmla="*/ 1 h 117"/>
                <a:gd name="T44" fmla="*/ 2 w 240"/>
                <a:gd name="T45" fmla="*/ 1 h 117"/>
                <a:gd name="T46" fmla="*/ 2 w 240"/>
                <a:gd name="T47" fmla="*/ 1 h 117"/>
                <a:gd name="T48" fmla="*/ 2 w 240"/>
                <a:gd name="T49" fmla="*/ 1 h 117"/>
                <a:gd name="T50" fmla="*/ 2 w 240"/>
                <a:gd name="T51" fmla="*/ 1 h 117"/>
                <a:gd name="T52" fmla="*/ 2 w 240"/>
                <a:gd name="T53" fmla="*/ 1 h 117"/>
                <a:gd name="T54" fmla="*/ 2 w 240"/>
                <a:gd name="T55" fmla="*/ 1 h 117"/>
                <a:gd name="T56" fmla="*/ 2 w 240"/>
                <a:gd name="T57" fmla="*/ 1 h 11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6" name="Freeform 28"/>
            <p:cNvSpPr/>
            <p:nvPr userDrawn="1"/>
          </p:nvSpPr>
          <p:spPr bwMode="invGray">
            <a:xfrm>
              <a:off x="1506" y="1999"/>
              <a:ext cx="146" cy="58"/>
            </a:xfrm>
            <a:custGeom>
              <a:avLst/>
              <a:gdLst>
                <a:gd name="T0" fmla="*/ 2 w 194"/>
                <a:gd name="T1" fmla="*/ 1 h 80"/>
                <a:gd name="T2" fmla="*/ 2 w 194"/>
                <a:gd name="T3" fmla="*/ 1 h 80"/>
                <a:gd name="T4" fmla="*/ 2 w 194"/>
                <a:gd name="T5" fmla="*/ 1 h 80"/>
                <a:gd name="T6" fmla="*/ 2 w 194"/>
                <a:gd name="T7" fmla="*/ 1 h 80"/>
                <a:gd name="T8" fmla="*/ 2 w 194"/>
                <a:gd name="T9" fmla="*/ 1 h 80"/>
                <a:gd name="T10" fmla="*/ 2 w 194"/>
                <a:gd name="T11" fmla="*/ 1 h 80"/>
                <a:gd name="T12" fmla="*/ 2 w 194"/>
                <a:gd name="T13" fmla="*/ 1 h 80"/>
                <a:gd name="T14" fmla="*/ 2 w 194"/>
                <a:gd name="T15" fmla="*/ 1 h 80"/>
                <a:gd name="T16" fmla="*/ 2 w 194"/>
                <a:gd name="T17" fmla="*/ 1 h 80"/>
                <a:gd name="T18" fmla="*/ 2 w 194"/>
                <a:gd name="T19" fmla="*/ 1 h 80"/>
                <a:gd name="T20" fmla="*/ 2 w 194"/>
                <a:gd name="T21" fmla="*/ 1 h 8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7" name="Freeform 29"/>
            <p:cNvSpPr/>
            <p:nvPr userDrawn="1"/>
          </p:nvSpPr>
          <p:spPr bwMode="invGray">
            <a:xfrm>
              <a:off x="1711" y="2069"/>
              <a:ext cx="233" cy="190"/>
            </a:xfrm>
            <a:custGeom>
              <a:avLst/>
              <a:gdLst>
                <a:gd name="T0" fmla="*/ 2 w 310"/>
                <a:gd name="T1" fmla="*/ 1 h 254"/>
                <a:gd name="T2" fmla="*/ 2 w 310"/>
                <a:gd name="T3" fmla="*/ 1 h 254"/>
                <a:gd name="T4" fmla="*/ 2 w 310"/>
                <a:gd name="T5" fmla="*/ 1 h 254"/>
                <a:gd name="T6" fmla="*/ 2 w 310"/>
                <a:gd name="T7" fmla="*/ 1 h 254"/>
                <a:gd name="T8" fmla="*/ 2 w 310"/>
                <a:gd name="T9" fmla="*/ 1 h 254"/>
                <a:gd name="T10" fmla="*/ 2 w 310"/>
                <a:gd name="T11" fmla="*/ 1 h 254"/>
                <a:gd name="T12" fmla="*/ 2 w 310"/>
                <a:gd name="T13" fmla="*/ 1 h 254"/>
                <a:gd name="T14" fmla="*/ 2 w 310"/>
                <a:gd name="T15" fmla="*/ 1 h 254"/>
                <a:gd name="T16" fmla="*/ 2 w 310"/>
                <a:gd name="T17" fmla="*/ 1 h 254"/>
                <a:gd name="T18" fmla="*/ 2 w 310"/>
                <a:gd name="T19" fmla="*/ 1 h 254"/>
                <a:gd name="T20" fmla="*/ 2 w 310"/>
                <a:gd name="T21" fmla="*/ 1 h 254"/>
                <a:gd name="T22" fmla="*/ 2 w 310"/>
                <a:gd name="T23" fmla="*/ 1 h 254"/>
                <a:gd name="T24" fmla="*/ 2 w 310"/>
                <a:gd name="T25" fmla="*/ 1 h 254"/>
                <a:gd name="T26" fmla="*/ 2 w 310"/>
                <a:gd name="T27" fmla="*/ 1 h 254"/>
                <a:gd name="T28" fmla="*/ 2 w 310"/>
                <a:gd name="T29" fmla="*/ 1 h 254"/>
                <a:gd name="T30" fmla="*/ 2 w 310"/>
                <a:gd name="T31" fmla="*/ 1 h 254"/>
                <a:gd name="T32" fmla="*/ 2 w 310"/>
                <a:gd name="T33" fmla="*/ 1 h 254"/>
                <a:gd name="T34" fmla="*/ 2 w 310"/>
                <a:gd name="T35" fmla="*/ 1 h 254"/>
                <a:gd name="T36" fmla="*/ 2 w 310"/>
                <a:gd name="T37" fmla="*/ 1 h 254"/>
                <a:gd name="T38" fmla="*/ 2 w 310"/>
                <a:gd name="T39" fmla="*/ 1 h 254"/>
                <a:gd name="T40" fmla="*/ 2 w 310"/>
                <a:gd name="T41" fmla="*/ 1 h 254"/>
                <a:gd name="T42" fmla="*/ 2 w 310"/>
                <a:gd name="T43" fmla="*/ 1 h 254"/>
                <a:gd name="T44" fmla="*/ 2 w 310"/>
                <a:gd name="T45" fmla="*/ 1 h 254"/>
                <a:gd name="T46" fmla="*/ 2 w 310"/>
                <a:gd name="T47" fmla="*/ 1 h 254"/>
                <a:gd name="T48" fmla="*/ 2 w 310"/>
                <a:gd name="T49" fmla="*/ 1 h 254"/>
                <a:gd name="T50" fmla="*/ 2 w 310"/>
                <a:gd name="T51" fmla="*/ 1 h 254"/>
                <a:gd name="T52" fmla="*/ 2 w 310"/>
                <a:gd name="T53" fmla="*/ 1 h 254"/>
                <a:gd name="T54" fmla="*/ 2 w 310"/>
                <a:gd name="T55" fmla="*/ 1 h 254"/>
                <a:gd name="T56" fmla="*/ 2 w 310"/>
                <a:gd name="T57" fmla="*/ 1 h 254"/>
                <a:gd name="T58" fmla="*/ 2 w 310"/>
                <a:gd name="T59" fmla="*/ 1 h 254"/>
                <a:gd name="T60" fmla="*/ 2 w 310"/>
                <a:gd name="T61" fmla="*/ 1 h 254"/>
                <a:gd name="T62" fmla="*/ 2 w 310"/>
                <a:gd name="T63" fmla="*/ 1 h 254"/>
                <a:gd name="T64" fmla="*/ 2 w 310"/>
                <a:gd name="T65" fmla="*/ 1 h 254"/>
                <a:gd name="T66" fmla="*/ 2 w 310"/>
                <a:gd name="T67" fmla="*/ 1 h 254"/>
                <a:gd name="T68" fmla="*/ 2 w 310"/>
                <a:gd name="T69" fmla="*/ 1 h 254"/>
                <a:gd name="T70" fmla="*/ 2 w 310"/>
                <a:gd name="T71" fmla="*/ 1 h 254"/>
                <a:gd name="T72" fmla="*/ 2 w 310"/>
                <a:gd name="T73" fmla="*/ 1 h 254"/>
                <a:gd name="T74" fmla="*/ 2 w 310"/>
                <a:gd name="T75" fmla="*/ 1 h 254"/>
                <a:gd name="T76" fmla="*/ 2 w 310"/>
                <a:gd name="T77" fmla="*/ 1 h 254"/>
                <a:gd name="T78" fmla="*/ 2 w 310"/>
                <a:gd name="T79" fmla="*/ 1 h 254"/>
                <a:gd name="T80" fmla="*/ 2 w 310"/>
                <a:gd name="T81" fmla="*/ 1 h 254"/>
                <a:gd name="T82" fmla="*/ 2 w 310"/>
                <a:gd name="T83" fmla="*/ 1 h 254"/>
                <a:gd name="T84" fmla="*/ 2 w 310"/>
                <a:gd name="T85" fmla="*/ 1 h 254"/>
                <a:gd name="T86" fmla="*/ 2 w 310"/>
                <a:gd name="T87" fmla="*/ 1 h 25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8" name="Freeform 30"/>
            <p:cNvSpPr/>
            <p:nvPr userDrawn="1"/>
          </p:nvSpPr>
          <p:spPr bwMode="invGray">
            <a:xfrm>
              <a:off x="1709" y="1987"/>
              <a:ext cx="44" cy="39"/>
            </a:xfrm>
            <a:custGeom>
              <a:avLst/>
              <a:gdLst>
                <a:gd name="T0" fmla="*/ 1 w 59"/>
                <a:gd name="T1" fmla="*/ 0 h 50"/>
                <a:gd name="T2" fmla="*/ 0 w 59"/>
                <a:gd name="T3" fmla="*/ 2 h 50"/>
                <a:gd name="T4" fmla="*/ 1 w 59"/>
                <a:gd name="T5" fmla="*/ 2 h 50"/>
                <a:gd name="T6" fmla="*/ 1 w 59"/>
                <a:gd name="T7" fmla="*/ 2 h 50"/>
                <a:gd name="T8" fmla="*/ 1 w 59"/>
                <a:gd name="T9" fmla="*/ 2 h 50"/>
                <a:gd name="T10" fmla="*/ 1 w 59"/>
                <a:gd name="T11" fmla="*/ 2 h 50"/>
                <a:gd name="T12" fmla="*/ 1 w 59"/>
                <a:gd name="T13" fmla="*/ 0 h 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9" name="Freeform 31"/>
            <p:cNvSpPr/>
            <p:nvPr userDrawn="1"/>
          </p:nvSpPr>
          <p:spPr bwMode="invGray">
            <a:xfrm>
              <a:off x="1625" y="2057"/>
              <a:ext cx="64" cy="42"/>
            </a:xfrm>
            <a:custGeom>
              <a:avLst/>
              <a:gdLst>
                <a:gd name="T0" fmla="*/ 1 w 86"/>
                <a:gd name="T1" fmla="*/ 1 h 57"/>
                <a:gd name="T2" fmla="*/ 1 w 86"/>
                <a:gd name="T3" fmla="*/ 1 h 57"/>
                <a:gd name="T4" fmla="*/ 1 w 86"/>
                <a:gd name="T5" fmla="*/ 1 h 57"/>
                <a:gd name="T6" fmla="*/ 1 w 86"/>
                <a:gd name="T7" fmla="*/ 1 h 57"/>
                <a:gd name="T8" fmla="*/ 1 w 86"/>
                <a:gd name="T9" fmla="*/ 1 h 57"/>
                <a:gd name="T10" fmla="*/ 1 w 86"/>
                <a:gd name="T11" fmla="*/ 1 h 57"/>
                <a:gd name="T12" fmla="*/ 1 w 86"/>
                <a:gd name="T13" fmla="*/ 1 h 57"/>
                <a:gd name="T14" fmla="*/ 1 w 86"/>
                <a:gd name="T15" fmla="*/ 1 h 5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0" name="Freeform 32"/>
            <p:cNvSpPr/>
            <p:nvPr userDrawn="1"/>
          </p:nvSpPr>
          <p:spPr bwMode="invGray">
            <a:xfrm>
              <a:off x="1693" y="2065"/>
              <a:ext cx="54" cy="25"/>
            </a:xfrm>
            <a:custGeom>
              <a:avLst/>
              <a:gdLst>
                <a:gd name="T0" fmla="*/ 1 w 73"/>
                <a:gd name="T1" fmla="*/ 0 h 34"/>
                <a:gd name="T2" fmla="*/ 1 w 73"/>
                <a:gd name="T3" fmla="*/ 1 h 34"/>
                <a:gd name="T4" fmla="*/ 1 w 73"/>
                <a:gd name="T5" fmla="*/ 1 h 34"/>
                <a:gd name="T6" fmla="*/ 1 w 73"/>
                <a:gd name="T7" fmla="*/ 1 h 34"/>
                <a:gd name="T8" fmla="*/ 1 w 73"/>
                <a:gd name="T9" fmla="*/ 1 h 34"/>
                <a:gd name="T10" fmla="*/ 1 w 73"/>
                <a:gd name="T11" fmla="*/ 0 h 3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1" name="Freeform 33"/>
            <p:cNvSpPr/>
            <p:nvPr userDrawn="1"/>
          </p:nvSpPr>
          <p:spPr bwMode="invGray">
            <a:xfrm>
              <a:off x="1664" y="2029"/>
              <a:ext cx="64" cy="37"/>
            </a:xfrm>
            <a:custGeom>
              <a:avLst/>
              <a:gdLst>
                <a:gd name="T0" fmla="*/ 2 w 85"/>
                <a:gd name="T1" fmla="*/ 2 h 45"/>
                <a:gd name="T2" fmla="*/ 2 w 85"/>
                <a:gd name="T3" fmla="*/ 2 h 45"/>
                <a:gd name="T4" fmla="*/ 0 w 85"/>
                <a:gd name="T5" fmla="*/ 2 h 45"/>
                <a:gd name="T6" fmla="*/ 2 w 85"/>
                <a:gd name="T7" fmla="*/ 2 h 45"/>
                <a:gd name="T8" fmla="*/ 2 w 85"/>
                <a:gd name="T9" fmla="*/ 2 h 45"/>
                <a:gd name="T10" fmla="*/ 2 w 85"/>
                <a:gd name="T11" fmla="*/ 2 h 45"/>
                <a:gd name="T12" fmla="*/ 2 w 85"/>
                <a:gd name="T13" fmla="*/ 2 h 45"/>
                <a:gd name="T14" fmla="*/ 2 w 85"/>
                <a:gd name="T15" fmla="*/ 0 h 45"/>
                <a:gd name="T16" fmla="*/ 2 w 85"/>
                <a:gd name="T17" fmla="*/ 2 h 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2" name="Freeform 34"/>
            <p:cNvSpPr/>
            <p:nvPr userDrawn="1"/>
          </p:nvSpPr>
          <p:spPr bwMode="invGray">
            <a:xfrm>
              <a:off x="1637" y="1997"/>
              <a:ext cx="45" cy="24"/>
            </a:xfrm>
            <a:custGeom>
              <a:avLst/>
              <a:gdLst>
                <a:gd name="T0" fmla="*/ 2 w 58"/>
                <a:gd name="T1" fmla="*/ 2 h 31"/>
                <a:gd name="T2" fmla="*/ 0 w 58"/>
                <a:gd name="T3" fmla="*/ 2 h 31"/>
                <a:gd name="T4" fmla="*/ 2 w 58"/>
                <a:gd name="T5" fmla="*/ 2 h 31"/>
                <a:gd name="T6" fmla="*/ 2 w 58"/>
                <a:gd name="T7" fmla="*/ 2 h 31"/>
                <a:gd name="T8" fmla="*/ 2 w 58"/>
                <a:gd name="T9" fmla="*/ 2 h 31"/>
                <a:gd name="T10" fmla="*/ 2 w 58"/>
                <a:gd name="T11" fmla="*/ 0 h 31"/>
                <a:gd name="T12" fmla="*/ 2 w 58"/>
                <a:gd name="T13" fmla="*/ 2 h 3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3" name="Freeform 35"/>
            <p:cNvSpPr/>
            <p:nvPr userDrawn="1"/>
          </p:nvSpPr>
          <p:spPr bwMode="invGray">
            <a:xfrm>
              <a:off x="1751" y="2000"/>
              <a:ext cx="116" cy="80"/>
            </a:xfrm>
            <a:custGeom>
              <a:avLst/>
              <a:gdLst>
                <a:gd name="T0" fmla="*/ 2 w 152"/>
                <a:gd name="T1" fmla="*/ 0 h 102"/>
                <a:gd name="T2" fmla="*/ 2 w 152"/>
                <a:gd name="T3" fmla="*/ 2 h 102"/>
                <a:gd name="T4" fmla="*/ 2 w 152"/>
                <a:gd name="T5" fmla="*/ 2 h 102"/>
                <a:gd name="T6" fmla="*/ 2 w 152"/>
                <a:gd name="T7" fmla="*/ 2 h 102"/>
                <a:gd name="T8" fmla="*/ 0 w 152"/>
                <a:gd name="T9" fmla="*/ 2 h 102"/>
                <a:gd name="T10" fmla="*/ 2 w 152"/>
                <a:gd name="T11" fmla="*/ 2 h 102"/>
                <a:gd name="T12" fmla="*/ 2 w 152"/>
                <a:gd name="T13" fmla="*/ 2 h 102"/>
                <a:gd name="T14" fmla="*/ 2 w 152"/>
                <a:gd name="T15" fmla="*/ 2 h 102"/>
                <a:gd name="T16" fmla="*/ 2 w 152"/>
                <a:gd name="T17" fmla="*/ 2 h 102"/>
                <a:gd name="T18" fmla="*/ 2 w 152"/>
                <a:gd name="T19" fmla="*/ 2 h 102"/>
                <a:gd name="T20" fmla="*/ 2 w 152"/>
                <a:gd name="T21" fmla="*/ 2 h 102"/>
                <a:gd name="T22" fmla="*/ 2 w 152"/>
                <a:gd name="T23" fmla="*/ 2 h 102"/>
                <a:gd name="T24" fmla="*/ 2 w 152"/>
                <a:gd name="T25" fmla="*/ 0 h 1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4" name="Freeform 36"/>
            <p:cNvSpPr/>
            <p:nvPr userDrawn="1"/>
          </p:nvSpPr>
          <p:spPr bwMode="invGray">
            <a:xfrm>
              <a:off x="664" y="2246"/>
              <a:ext cx="25" cy="14"/>
            </a:xfrm>
            <a:custGeom>
              <a:avLst/>
              <a:gdLst>
                <a:gd name="T0" fmla="*/ 1 w 34"/>
                <a:gd name="T1" fmla="*/ 0 h 20"/>
                <a:gd name="T2" fmla="*/ 1 w 34"/>
                <a:gd name="T3" fmla="*/ 1 h 20"/>
                <a:gd name="T4" fmla="*/ 1 w 34"/>
                <a:gd name="T5" fmla="*/ 1 h 20"/>
                <a:gd name="T6" fmla="*/ 1 w 34"/>
                <a:gd name="T7" fmla="*/ 1 h 20"/>
                <a:gd name="T8" fmla="*/ 1 w 34"/>
                <a:gd name="T9" fmla="*/ 0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5" name="Freeform 37"/>
            <p:cNvSpPr/>
            <p:nvPr userDrawn="1"/>
          </p:nvSpPr>
          <p:spPr bwMode="invGray">
            <a:xfrm>
              <a:off x="1421" y="2756"/>
              <a:ext cx="16" cy="12"/>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6" name="Freeform 38"/>
            <p:cNvSpPr/>
            <p:nvPr userDrawn="1"/>
          </p:nvSpPr>
          <p:spPr bwMode="invGray">
            <a:xfrm>
              <a:off x="1424" y="2782"/>
              <a:ext cx="17" cy="13"/>
            </a:xfrm>
            <a:custGeom>
              <a:avLst/>
              <a:gdLst>
                <a:gd name="T0" fmla="*/ 2 w 21"/>
                <a:gd name="T1" fmla="*/ 0 h 16"/>
                <a:gd name="T2" fmla="*/ 2 w 21"/>
                <a:gd name="T3" fmla="*/ 2 h 16"/>
                <a:gd name="T4" fmla="*/ 2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7" name="Freeform 39"/>
            <p:cNvSpPr/>
            <p:nvPr userDrawn="1"/>
          </p:nvSpPr>
          <p:spPr bwMode="invGray">
            <a:xfrm>
              <a:off x="1628" y="2913"/>
              <a:ext cx="15" cy="12"/>
            </a:xfrm>
            <a:custGeom>
              <a:avLst/>
              <a:gdLst>
                <a:gd name="T0" fmla="*/ 1 w 21"/>
                <a:gd name="T1" fmla="*/ 0 h 16"/>
                <a:gd name="T2" fmla="*/ 1 w 21"/>
                <a:gd name="T3" fmla="*/ 2 h 16"/>
                <a:gd name="T4" fmla="*/ 1 w 21"/>
                <a:gd name="T5" fmla="*/ 0 h 16"/>
                <a:gd name="T6" fmla="*/ 0 60000 65536"/>
                <a:gd name="T7" fmla="*/ 0 60000 65536"/>
                <a:gd name="T8" fmla="*/ 0 60000 65536"/>
              </a:gdLst>
              <a:ahLst/>
              <a:cxnLst>
                <a:cxn ang="T6">
                  <a:pos x="T0" y="T1"/>
                </a:cxn>
                <a:cxn ang="T7">
                  <a:pos x="T2" y="T3"/>
                </a:cxn>
                <a:cxn ang="T8">
                  <a:pos x="T4" y="T5"/>
                </a:cxn>
              </a:cxnLst>
              <a:rect l="0" t="0" r="r" b="b"/>
              <a:pathLst>
                <a:path w="21" h="16">
                  <a:moveTo>
                    <a:pt x="3" y="0"/>
                  </a:moveTo>
                  <a:cubicBezTo>
                    <a:pt x="0" y="9"/>
                    <a:pt x="6" y="11"/>
                    <a:pt x="13" y="16"/>
                  </a:cubicBezTo>
                  <a:cubicBezTo>
                    <a:pt x="21" y="4"/>
                    <a:pt x="16" y="2"/>
                    <a:pt x="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8" name="Freeform 40"/>
            <p:cNvSpPr/>
            <p:nvPr userDrawn="1"/>
          </p:nvSpPr>
          <p:spPr bwMode="invGray">
            <a:xfrm>
              <a:off x="1752" y="2429"/>
              <a:ext cx="38" cy="15"/>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29" name="Freeform 41"/>
            <p:cNvSpPr/>
            <p:nvPr userDrawn="1"/>
          </p:nvSpPr>
          <p:spPr bwMode="invGray">
            <a:xfrm>
              <a:off x="1652" y="2224"/>
              <a:ext cx="37" cy="17"/>
            </a:xfrm>
            <a:custGeom>
              <a:avLst/>
              <a:gdLst>
                <a:gd name="T0" fmla="*/ 1 w 51"/>
                <a:gd name="T1" fmla="*/ 0 h 24"/>
                <a:gd name="T2" fmla="*/ 1 w 51"/>
                <a:gd name="T3" fmla="*/ 1 h 24"/>
                <a:gd name="T4" fmla="*/ 1 w 51"/>
                <a:gd name="T5" fmla="*/ 1 h 24"/>
                <a:gd name="T6" fmla="*/ 1 w 51"/>
                <a:gd name="T7" fmla="*/ 1 h 24"/>
                <a:gd name="T8" fmla="*/ 1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0" name="Freeform 42"/>
            <p:cNvSpPr/>
            <p:nvPr userDrawn="1"/>
          </p:nvSpPr>
          <p:spPr bwMode="invGray">
            <a:xfrm>
              <a:off x="1717" y="2045"/>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1" name="Freeform 43"/>
            <p:cNvSpPr/>
            <p:nvPr userDrawn="1"/>
          </p:nvSpPr>
          <p:spPr bwMode="invGray">
            <a:xfrm>
              <a:off x="1780" y="2153"/>
              <a:ext cx="39" cy="18"/>
            </a:xfrm>
            <a:custGeom>
              <a:avLst/>
              <a:gdLst>
                <a:gd name="T0" fmla="*/ 2 w 51"/>
                <a:gd name="T1" fmla="*/ 0 h 24"/>
                <a:gd name="T2" fmla="*/ 2 w 51"/>
                <a:gd name="T3" fmla="*/ 2 h 24"/>
                <a:gd name="T4" fmla="*/ 2 w 51"/>
                <a:gd name="T5" fmla="*/ 2 h 24"/>
                <a:gd name="T6" fmla="*/ 2 w 51"/>
                <a:gd name="T7" fmla="*/ 2 h 24"/>
                <a:gd name="T8" fmla="*/ 2 w 51"/>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2" name="Freeform 44"/>
            <p:cNvSpPr/>
            <p:nvPr userDrawn="1"/>
          </p:nvSpPr>
          <p:spPr bwMode="invGray">
            <a:xfrm>
              <a:off x="1795" y="1951"/>
              <a:ext cx="697" cy="346"/>
            </a:xfrm>
            <a:custGeom>
              <a:avLst/>
              <a:gdLst>
                <a:gd name="T0" fmla="*/ 2 w 929"/>
                <a:gd name="T1" fmla="*/ 1 h 462"/>
                <a:gd name="T2" fmla="*/ 2 w 929"/>
                <a:gd name="T3" fmla="*/ 1 h 462"/>
                <a:gd name="T4" fmla="*/ 2 w 929"/>
                <a:gd name="T5" fmla="*/ 1 h 462"/>
                <a:gd name="T6" fmla="*/ 2 w 929"/>
                <a:gd name="T7" fmla="*/ 1 h 462"/>
                <a:gd name="T8" fmla="*/ 2 w 929"/>
                <a:gd name="T9" fmla="*/ 1 h 462"/>
                <a:gd name="T10" fmla="*/ 2 w 929"/>
                <a:gd name="T11" fmla="*/ 1 h 462"/>
                <a:gd name="T12" fmla="*/ 2 w 929"/>
                <a:gd name="T13" fmla="*/ 1 h 462"/>
                <a:gd name="T14" fmla="*/ 2 w 929"/>
                <a:gd name="T15" fmla="*/ 1 h 462"/>
                <a:gd name="T16" fmla="*/ 2 w 929"/>
                <a:gd name="T17" fmla="*/ 1 h 462"/>
                <a:gd name="T18" fmla="*/ 2 w 929"/>
                <a:gd name="T19" fmla="*/ 1 h 462"/>
                <a:gd name="T20" fmla="*/ 2 w 929"/>
                <a:gd name="T21" fmla="*/ 1 h 462"/>
                <a:gd name="T22" fmla="*/ 2 w 929"/>
                <a:gd name="T23" fmla="*/ 1 h 462"/>
                <a:gd name="T24" fmla="*/ 2 w 929"/>
                <a:gd name="T25" fmla="*/ 1 h 462"/>
                <a:gd name="T26" fmla="*/ 2 w 929"/>
                <a:gd name="T27" fmla="*/ 1 h 462"/>
                <a:gd name="T28" fmla="*/ 2 w 929"/>
                <a:gd name="T29" fmla="*/ 1 h 462"/>
                <a:gd name="T30" fmla="*/ 2 w 929"/>
                <a:gd name="T31" fmla="*/ 1 h 462"/>
                <a:gd name="T32" fmla="*/ 2 w 929"/>
                <a:gd name="T33" fmla="*/ 1 h 462"/>
                <a:gd name="T34" fmla="*/ 2 w 929"/>
                <a:gd name="T35" fmla="*/ 1 h 462"/>
                <a:gd name="T36" fmla="*/ 2 w 929"/>
                <a:gd name="T37" fmla="*/ 1 h 462"/>
                <a:gd name="T38" fmla="*/ 2 w 929"/>
                <a:gd name="T39" fmla="*/ 2 h 462"/>
                <a:gd name="T40" fmla="*/ 2 w 929"/>
                <a:gd name="T41" fmla="*/ 2 h 462"/>
                <a:gd name="T42" fmla="*/ 3 w 929"/>
                <a:gd name="T43" fmla="*/ 2 h 462"/>
                <a:gd name="T44" fmla="*/ 3 w 929"/>
                <a:gd name="T45" fmla="*/ 2 h 462"/>
                <a:gd name="T46" fmla="*/ 4 w 929"/>
                <a:gd name="T47" fmla="*/ 1 h 462"/>
                <a:gd name="T48" fmla="*/ 4 w 929"/>
                <a:gd name="T49" fmla="*/ 1 h 462"/>
                <a:gd name="T50" fmla="*/ 4 w 929"/>
                <a:gd name="T51" fmla="*/ 1 h 462"/>
                <a:gd name="T52" fmla="*/ 5 w 929"/>
                <a:gd name="T53" fmla="*/ 1 h 462"/>
                <a:gd name="T54" fmla="*/ 5 w 929"/>
                <a:gd name="T55" fmla="*/ 1 h 462"/>
                <a:gd name="T56" fmla="*/ 5 w 929"/>
                <a:gd name="T57" fmla="*/ 1 h 462"/>
                <a:gd name="T58" fmla="*/ 5 w 929"/>
                <a:gd name="T59" fmla="*/ 1 h 462"/>
                <a:gd name="T60" fmla="*/ 5 w 929"/>
                <a:gd name="T61" fmla="*/ 1 h 462"/>
                <a:gd name="T62" fmla="*/ 5 w 929"/>
                <a:gd name="T63" fmla="*/ 1 h 462"/>
                <a:gd name="T64" fmla="*/ 6 w 929"/>
                <a:gd name="T65" fmla="*/ 1 h 462"/>
                <a:gd name="T66" fmla="*/ 6 w 929"/>
                <a:gd name="T67" fmla="*/ 1 h 462"/>
                <a:gd name="T68" fmla="*/ 6 w 929"/>
                <a:gd name="T69" fmla="*/ 1 h 462"/>
                <a:gd name="T70" fmla="*/ 5 w 929"/>
                <a:gd name="T71" fmla="*/ 1 h 462"/>
                <a:gd name="T72" fmla="*/ 5 w 929"/>
                <a:gd name="T73" fmla="*/ 1 h 462"/>
                <a:gd name="T74" fmla="*/ 4 w 929"/>
                <a:gd name="T75" fmla="*/ 1 h 462"/>
                <a:gd name="T76" fmla="*/ 4 w 929"/>
                <a:gd name="T77" fmla="*/ 1 h 462"/>
                <a:gd name="T78" fmla="*/ 4 w 929"/>
                <a:gd name="T79" fmla="*/ 1 h 462"/>
                <a:gd name="T80" fmla="*/ 4 w 929"/>
                <a:gd name="T81" fmla="*/ 1 h 462"/>
                <a:gd name="T82" fmla="*/ 3 w 929"/>
                <a:gd name="T83" fmla="*/ 1 h 462"/>
                <a:gd name="T84" fmla="*/ 3 w 929"/>
                <a:gd name="T85" fmla="*/ 1 h 462"/>
                <a:gd name="T86" fmla="*/ 2 w 929"/>
                <a:gd name="T87" fmla="*/ 1 h 462"/>
                <a:gd name="T88" fmla="*/ 3 w 929"/>
                <a:gd name="T89" fmla="*/ 1 h 462"/>
                <a:gd name="T90" fmla="*/ 2 w 929"/>
                <a:gd name="T91" fmla="*/ 1 h 462"/>
                <a:gd name="T92" fmla="*/ 2 w 929"/>
                <a:gd name="T93" fmla="*/ 1 h 462"/>
                <a:gd name="T94" fmla="*/ 2 w 929"/>
                <a:gd name="T95" fmla="*/ 1 h 462"/>
                <a:gd name="T96" fmla="*/ 2 w 929"/>
                <a:gd name="T97" fmla="*/ 1 h 462"/>
                <a:gd name="T98" fmla="*/ 2 w 929"/>
                <a:gd name="T99" fmla="*/ 1 h 462"/>
                <a:gd name="T100" fmla="*/ 2 w 929"/>
                <a:gd name="T101" fmla="*/ 1 h 462"/>
                <a:gd name="T102" fmla="*/ 2 w 929"/>
                <a:gd name="T103" fmla="*/ 1 h 462"/>
                <a:gd name="T104" fmla="*/ 2 w 929"/>
                <a:gd name="T105" fmla="*/ 1 h 462"/>
                <a:gd name="T106" fmla="*/ 2 w 929"/>
                <a:gd name="T107" fmla="*/ 1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3" name="Freeform 45"/>
            <p:cNvSpPr/>
            <p:nvPr userDrawn="1"/>
          </p:nvSpPr>
          <p:spPr bwMode="invGray">
            <a:xfrm>
              <a:off x="2009" y="2135"/>
              <a:ext cx="38" cy="26"/>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4" name="Freeform 46"/>
            <p:cNvSpPr/>
            <p:nvPr userDrawn="1"/>
          </p:nvSpPr>
          <p:spPr bwMode="invGray">
            <a:xfrm>
              <a:off x="2292" y="2200"/>
              <a:ext cx="128" cy="54"/>
            </a:xfrm>
            <a:custGeom>
              <a:avLst/>
              <a:gdLst>
                <a:gd name="T0" fmla="*/ 1 w 172"/>
                <a:gd name="T1" fmla="*/ 2 h 72"/>
                <a:gd name="T2" fmla="*/ 1 w 172"/>
                <a:gd name="T3" fmla="*/ 2 h 72"/>
                <a:gd name="T4" fmla="*/ 1 w 172"/>
                <a:gd name="T5" fmla="*/ 0 h 72"/>
                <a:gd name="T6" fmla="*/ 0 w 172"/>
                <a:gd name="T7" fmla="*/ 2 h 72"/>
                <a:gd name="T8" fmla="*/ 1 w 172"/>
                <a:gd name="T9" fmla="*/ 2 h 72"/>
                <a:gd name="T10" fmla="*/ 1 w 172"/>
                <a:gd name="T11" fmla="*/ 2 h 72"/>
                <a:gd name="T12" fmla="*/ 1 w 172"/>
                <a:gd name="T13" fmla="*/ 2 h 72"/>
                <a:gd name="T14" fmla="*/ 1 w 172"/>
                <a:gd name="T15" fmla="*/ 2 h 72"/>
                <a:gd name="T16" fmla="*/ 1 w 172"/>
                <a:gd name="T17" fmla="*/ 2 h 72"/>
                <a:gd name="T18" fmla="*/ 1 w 172"/>
                <a:gd name="T19" fmla="*/ 2 h 72"/>
                <a:gd name="T20" fmla="*/ 1 w 172"/>
                <a:gd name="T21" fmla="*/ 2 h 72"/>
                <a:gd name="T22" fmla="*/ 1 w 172"/>
                <a:gd name="T23" fmla="*/ 2 h 72"/>
                <a:gd name="T24" fmla="*/ 1 w 172"/>
                <a:gd name="T25" fmla="*/ 2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5" name="Freeform 47"/>
            <p:cNvSpPr/>
            <p:nvPr userDrawn="1"/>
          </p:nvSpPr>
          <p:spPr bwMode="invGray">
            <a:xfrm>
              <a:off x="2393" y="2038"/>
              <a:ext cx="38" cy="24"/>
            </a:xfrm>
            <a:custGeom>
              <a:avLst/>
              <a:gdLst>
                <a:gd name="T0" fmla="*/ 1 w 52"/>
                <a:gd name="T1" fmla="*/ 0 h 32"/>
                <a:gd name="T2" fmla="*/ 1 w 52"/>
                <a:gd name="T3" fmla="*/ 2 h 32"/>
                <a:gd name="T4" fmla="*/ 1 w 52"/>
                <a:gd name="T5" fmla="*/ 2 h 32"/>
                <a:gd name="T6" fmla="*/ 1 w 52"/>
                <a:gd name="T7" fmla="*/ 2 h 32"/>
                <a:gd name="T8" fmla="*/ 1 w 52"/>
                <a:gd name="T9" fmla="*/ 0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6" name="Freeform 48"/>
            <p:cNvSpPr/>
            <p:nvPr userDrawn="1"/>
          </p:nvSpPr>
          <p:spPr bwMode="invGray">
            <a:xfrm>
              <a:off x="2662" y="2006"/>
              <a:ext cx="156" cy="63"/>
            </a:xfrm>
            <a:custGeom>
              <a:avLst/>
              <a:gdLst>
                <a:gd name="T0" fmla="*/ 2 w 206"/>
                <a:gd name="T1" fmla="*/ 1 h 85"/>
                <a:gd name="T2" fmla="*/ 2 w 206"/>
                <a:gd name="T3" fmla="*/ 1 h 85"/>
                <a:gd name="T4" fmla="*/ 2 w 206"/>
                <a:gd name="T5" fmla="*/ 1 h 85"/>
                <a:gd name="T6" fmla="*/ 2 w 206"/>
                <a:gd name="T7" fmla="*/ 1 h 85"/>
                <a:gd name="T8" fmla="*/ 2 w 206"/>
                <a:gd name="T9" fmla="*/ 1 h 85"/>
                <a:gd name="T10" fmla="*/ 2 w 206"/>
                <a:gd name="T11" fmla="*/ 1 h 85"/>
                <a:gd name="T12" fmla="*/ 2 w 206"/>
                <a:gd name="T13" fmla="*/ 1 h 85"/>
                <a:gd name="T14" fmla="*/ 2 w 206"/>
                <a:gd name="T15" fmla="*/ 1 h 85"/>
                <a:gd name="T16" fmla="*/ 2 w 206"/>
                <a:gd name="T17" fmla="*/ 1 h 85"/>
                <a:gd name="T18" fmla="*/ 2 w 206"/>
                <a:gd name="T19" fmla="*/ 1 h 85"/>
                <a:gd name="T20" fmla="*/ 2 w 206"/>
                <a:gd name="T21" fmla="*/ 1 h 85"/>
                <a:gd name="T22" fmla="*/ 2 w 206"/>
                <a:gd name="T23" fmla="*/ 1 h 85"/>
                <a:gd name="T24" fmla="*/ 2 w 206"/>
                <a:gd name="T25" fmla="*/ 1 h 85"/>
                <a:gd name="T26" fmla="*/ 2 w 206"/>
                <a:gd name="T27" fmla="*/ 1 h 85"/>
                <a:gd name="T28" fmla="*/ 2 w 206"/>
                <a:gd name="T29" fmla="*/ 1 h 85"/>
                <a:gd name="T30" fmla="*/ 2 w 206"/>
                <a:gd name="T31" fmla="*/ 1 h 85"/>
                <a:gd name="T32" fmla="*/ 2 w 206"/>
                <a:gd name="T33" fmla="*/ 1 h 85"/>
                <a:gd name="T34" fmla="*/ 2 w 206"/>
                <a:gd name="T35" fmla="*/ 1 h 8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7" name="Freeform 49"/>
            <p:cNvSpPr/>
            <p:nvPr userDrawn="1"/>
          </p:nvSpPr>
          <p:spPr bwMode="invGray">
            <a:xfrm>
              <a:off x="2759" y="2038"/>
              <a:ext cx="48" cy="17"/>
            </a:xfrm>
            <a:custGeom>
              <a:avLst/>
              <a:gdLst>
                <a:gd name="T0" fmla="*/ 2 w 64"/>
                <a:gd name="T1" fmla="*/ 1 h 28"/>
                <a:gd name="T2" fmla="*/ 2 w 64"/>
                <a:gd name="T3" fmla="*/ 1 h 28"/>
                <a:gd name="T4" fmla="*/ 2 w 64"/>
                <a:gd name="T5" fmla="*/ 1 h 28"/>
                <a:gd name="T6" fmla="*/ 2 w 64"/>
                <a:gd name="T7" fmla="*/ 1 h 28"/>
                <a:gd name="T8" fmla="*/ 2 w 64"/>
                <a:gd name="T9" fmla="*/ 1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8" name="Freeform 50"/>
            <p:cNvSpPr/>
            <p:nvPr userDrawn="1"/>
          </p:nvSpPr>
          <p:spPr bwMode="invGray">
            <a:xfrm>
              <a:off x="2467" y="2311"/>
              <a:ext cx="110" cy="133"/>
            </a:xfrm>
            <a:custGeom>
              <a:avLst/>
              <a:gdLst>
                <a:gd name="T0" fmla="*/ 2 w 146"/>
                <a:gd name="T1" fmla="*/ 2 h 176"/>
                <a:gd name="T2" fmla="*/ 0 w 146"/>
                <a:gd name="T3" fmla="*/ 2 h 176"/>
                <a:gd name="T4" fmla="*/ 2 w 146"/>
                <a:gd name="T5" fmla="*/ 2 h 176"/>
                <a:gd name="T6" fmla="*/ 2 w 146"/>
                <a:gd name="T7" fmla="*/ 2 h 176"/>
                <a:gd name="T8" fmla="*/ 2 w 146"/>
                <a:gd name="T9" fmla="*/ 2 h 176"/>
                <a:gd name="T10" fmla="*/ 2 w 146"/>
                <a:gd name="T11" fmla="*/ 2 h 176"/>
                <a:gd name="T12" fmla="*/ 2 w 146"/>
                <a:gd name="T13" fmla="*/ 2 h 176"/>
                <a:gd name="T14" fmla="*/ 2 w 146"/>
                <a:gd name="T15" fmla="*/ 2 h 176"/>
                <a:gd name="T16" fmla="*/ 2 w 146"/>
                <a:gd name="T17" fmla="*/ 2 h 176"/>
                <a:gd name="T18" fmla="*/ 2 w 146"/>
                <a:gd name="T19" fmla="*/ 2 h 176"/>
                <a:gd name="T20" fmla="*/ 2 w 146"/>
                <a:gd name="T21" fmla="*/ 2 h 176"/>
                <a:gd name="T22" fmla="*/ 2 w 146"/>
                <a:gd name="T23" fmla="*/ 2 h 176"/>
                <a:gd name="T24" fmla="*/ 2 w 146"/>
                <a:gd name="T25" fmla="*/ 2 h 176"/>
                <a:gd name="T26" fmla="*/ 2 w 146"/>
                <a:gd name="T27" fmla="*/ 2 h 176"/>
                <a:gd name="T28" fmla="*/ 2 w 146"/>
                <a:gd name="T29" fmla="*/ 2 h 176"/>
                <a:gd name="T30" fmla="*/ 2 w 146"/>
                <a:gd name="T31" fmla="*/ 2 h 176"/>
                <a:gd name="T32" fmla="*/ 2 w 146"/>
                <a:gd name="T33" fmla="*/ 2 h 176"/>
                <a:gd name="T34" fmla="*/ 2 w 146"/>
                <a:gd name="T35" fmla="*/ 2 h 176"/>
                <a:gd name="T36" fmla="*/ 2 w 146"/>
                <a:gd name="T37" fmla="*/ 2 h 176"/>
                <a:gd name="T38" fmla="*/ 2 w 146"/>
                <a:gd name="T39" fmla="*/ 2 h 176"/>
                <a:gd name="T40" fmla="*/ 2 w 146"/>
                <a:gd name="T41" fmla="*/ 2 h 176"/>
                <a:gd name="T42" fmla="*/ 2 w 146"/>
                <a:gd name="T43" fmla="*/ 2 h 176"/>
                <a:gd name="T44" fmla="*/ 2 w 146"/>
                <a:gd name="T45" fmla="*/ 2 h 176"/>
                <a:gd name="T46" fmla="*/ 2 w 146"/>
                <a:gd name="T47" fmla="*/ 2 h 176"/>
                <a:gd name="T48" fmla="*/ 2 w 146"/>
                <a:gd name="T49" fmla="*/ 2 h 176"/>
                <a:gd name="T50" fmla="*/ 2 w 146"/>
                <a:gd name="T51" fmla="*/ 2 h 176"/>
                <a:gd name="T52" fmla="*/ 2 w 146"/>
                <a:gd name="T53" fmla="*/ 1 h 176"/>
                <a:gd name="T54" fmla="*/ 2 w 146"/>
                <a:gd name="T55" fmla="*/ 2 h 176"/>
                <a:gd name="T56" fmla="*/ 2 w 146"/>
                <a:gd name="T57" fmla="*/ 2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39" name="Freeform 51"/>
            <p:cNvSpPr/>
            <p:nvPr userDrawn="1"/>
          </p:nvSpPr>
          <p:spPr bwMode="invGray">
            <a:xfrm>
              <a:off x="2413" y="2359"/>
              <a:ext cx="70" cy="68"/>
            </a:xfrm>
            <a:custGeom>
              <a:avLst/>
              <a:gdLst>
                <a:gd name="T0" fmla="*/ 2 w 92"/>
                <a:gd name="T1" fmla="*/ 1 h 92"/>
                <a:gd name="T2" fmla="*/ 2 w 92"/>
                <a:gd name="T3" fmla="*/ 1 h 92"/>
                <a:gd name="T4" fmla="*/ 2 w 92"/>
                <a:gd name="T5" fmla="*/ 1 h 92"/>
                <a:gd name="T6" fmla="*/ 2 w 92"/>
                <a:gd name="T7" fmla="*/ 1 h 92"/>
                <a:gd name="T8" fmla="*/ 2 w 92"/>
                <a:gd name="T9" fmla="*/ 1 h 92"/>
                <a:gd name="T10" fmla="*/ 2 w 92"/>
                <a:gd name="T11" fmla="*/ 1 h 92"/>
                <a:gd name="T12" fmla="*/ 2 w 92"/>
                <a:gd name="T13" fmla="*/ 1 h 92"/>
                <a:gd name="T14" fmla="*/ 2 w 92"/>
                <a:gd name="T15" fmla="*/ 1 h 92"/>
                <a:gd name="T16" fmla="*/ 2 w 92"/>
                <a:gd name="T17" fmla="*/ 1 h 92"/>
                <a:gd name="T18" fmla="*/ 2 w 92"/>
                <a:gd name="T19" fmla="*/ 1 h 92"/>
                <a:gd name="T20" fmla="*/ 2 w 9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0" name="Freeform 52"/>
            <p:cNvSpPr/>
            <p:nvPr userDrawn="1"/>
          </p:nvSpPr>
          <p:spPr bwMode="invGray">
            <a:xfrm>
              <a:off x="4099" y="3502"/>
              <a:ext cx="474" cy="495"/>
            </a:xfrm>
            <a:custGeom>
              <a:avLst/>
              <a:gdLst>
                <a:gd name="T0" fmla="*/ 1 w 633"/>
                <a:gd name="T1" fmla="*/ 2 h 660"/>
                <a:gd name="T2" fmla="*/ 1 w 633"/>
                <a:gd name="T3" fmla="*/ 2 h 660"/>
                <a:gd name="T4" fmla="*/ 1 w 633"/>
                <a:gd name="T5" fmla="*/ 2 h 660"/>
                <a:gd name="T6" fmla="*/ 1 w 633"/>
                <a:gd name="T7" fmla="*/ 2 h 660"/>
                <a:gd name="T8" fmla="*/ 1 w 633"/>
                <a:gd name="T9" fmla="*/ 2 h 660"/>
                <a:gd name="T10" fmla="*/ 1 w 633"/>
                <a:gd name="T11" fmla="*/ 2 h 660"/>
                <a:gd name="T12" fmla="*/ 1 w 633"/>
                <a:gd name="T13" fmla="*/ 2 h 660"/>
                <a:gd name="T14" fmla="*/ 0 w 633"/>
                <a:gd name="T15" fmla="*/ 2 h 660"/>
                <a:gd name="T16" fmla="*/ 1 w 633"/>
                <a:gd name="T17" fmla="*/ 2 h 660"/>
                <a:gd name="T18" fmla="*/ 1 w 633"/>
                <a:gd name="T19" fmla="*/ 3 h 660"/>
                <a:gd name="T20" fmla="*/ 1 w 633"/>
                <a:gd name="T21" fmla="*/ 3 h 660"/>
                <a:gd name="T22" fmla="*/ 1 w 633"/>
                <a:gd name="T23" fmla="*/ 3 h 660"/>
                <a:gd name="T24" fmla="*/ 1 w 633"/>
                <a:gd name="T25" fmla="*/ 3 h 660"/>
                <a:gd name="T26" fmla="*/ 1 w 633"/>
                <a:gd name="T27" fmla="*/ 3 h 660"/>
                <a:gd name="T28" fmla="*/ 1 w 633"/>
                <a:gd name="T29" fmla="*/ 3 h 660"/>
                <a:gd name="T30" fmla="*/ 1 w 633"/>
                <a:gd name="T31" fmla="*/ 4 h 660"/>
                <a:gd name="T32" fmla="*/ 1 w 633"/>
                <a:gd name="T33" fmla="*/ 4 h 660"/>
                <a:gd name="T34" fmla="*/ 1 w 633"/>
                <a:gd name="T35" fmla="*/ 4 h 660"/>
                <a:gd name="T36" fmla="*/ 2 w 633"/>
                <a:gd name="T37" fmla="*/ 4 h 660"/>
                <a:gd name="T38" fmla="*/ 2 w 633"/>
                <a:gd name="T39" fmla="*/ 4 h 660"/>
                <a:gd name="T40" fmla="*/ 2 w 633"/>
                <a:gd name="T41" fmla="*/ 4 h 660"/>
                <a:gd name="T42" fmla="*/ 2 w 633"/>
                <a:gd name="T43" fmla="*/ 4 h 660"/>
                <a:gd name="T44" fmla="*/ 2 w 633"/>
                <a:gd name="T45" fmla="*/ 4 h 660"/>
                <a:gd name="T46" fmla="*/ 2 w 633"/>
                <a:gd name="T47" fmla="*/ 4 h 660"/>
                <a:gd name="T48" fmla="*/ 3 w 633"/>
                <a:gd name="T49" fmla="*/ 4 h 660"/>
                <a:gd name="T50" fmla="*/ 3 w 633"/>
                <a:gd name="T51" fmla="*/ 5 h 660"/>
                <a:gd name="T52" fmla="*/ 3 w 633"/>
                <a:gd name="T53" fmla="*/ 4 h 660"/>
                <a:gd name="T54" fmla="*/ 3 w 633"/>
                <a:gd name="T55" fmla="*/ 4 h 660"/>
                <a:gd name="T56" fmla="*/ 3 w 633"/>
                <a:gd name="T57" fmla="*/ 3 h 660"/>
                <a:gd name="T58" fmla="*/ 3 w 633"/>
                <a:gd name="T59" fmla="*/ 2 h 660"/>
                <a:gd name="T60" fmla="*/ 3 w 633"/>
                <a:gd name="T61" fmla="*/ 2 h 660"/>
                <a:gd name="T62" fmla="*/ 3 w 633"/>
                <a:gd name="T63" fmla="*/ 2 h 660"/>
                <a:gd name="T64" fmla="*/ 2 w 633"/>
                <a:gd name="T65" fmla="*/ 2 h 660"/>
                <a:gd name="T66" fmla="*/ 2 w 633"/>
                <a:gd name="T67" fmla="*/ 2 h 660"/>
                <a:gd name="T68" fmla="*/ 2 w 633"/>
                <a:gd name="T69" fmla="*/ 2 h 660"/>
                <a:gd name="T70" fmla="*/ 2 w 633"/>
                <a:gd name="T71" fmla="*/ 2 h 660"/>
                <a:gd name="T72" fmla="*/ 2 w 633"/>
                <a:gd name="T73" fmla="*/ 2 h 660"/>
                <a:gd name="T74" fmla="*/ 2 w 633"/>
                <a:gd name="T75" fmla="*/ 2 h 660"/>
                <a:gd name="T76" fmla="*/ 1 w 633"/>
                <a:gd name="T77" fmla="*/ 2 h 660"/>
                <a:gd name="T78" fmla="*/ 1 w 633"/>
                <a:gd name="T79" fmla="*/ 2 h 660"/>
                <a:gd name="T80" fmla="*/ 1 w 633"/>
                <a:gd name="T81" fmla="*/ 2 h 660"/>
                <a:gd name="T82" fmla="*/ 1 w 633"/>
                <a:gd name="T83" fmla="*/ 2 h 660"/>
                <a:gd name="T84" fmla="*/ 1 w 633"/>
                <a:gd name="T85" fmla="*/ 2 h 660"/>
                <a:gd name="T86" fmla="*/ 1 w 633"/>
                <a:gd name="T87" fmla="*/ 2 h 660"/>
                <a:gd name="T88" fmla="*/ 1 w 633"/>
                <a:gd name="T89" fmla="*/ 2 h 660"/>
                <a:gd name="T90" fmla="*/ 1 w 633"/>
                <a:gd name="T91" fmla="*/ 2 h 660"/>
                <a:gd name="T92" fmla="*/ 1 w 633"/>
                <a:gd name="T93" fmla="*/ 2 h 660"/>
                <a:gd name="T94" fmla="*/ 1 w 633"/>
                <a:gd name="T95" fmla="*/ 2 h 6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1" name="Freeform 53"/>
            <p:cNvSpPr/>
            <p:nvPr userDrawn="1"/>
          </p:nvSpPr>
          <p:spPr bwMode="invGray">
            <a:xfrm>
              <a:off x="4246" y="3240"/>
              <a:ext cx="319" cy="206"/>
            </a:xfrm>
            <a:custGeom>
              <a:avLst/>
              <a:gdLst>
                <a:gd name="T0" fmla="*/ 1 w 426"/>
                <a:gd name="T1" fmla="*/ 1 h 280"/>
                <a:gd name="T2" fmla="*/ 1 w 426"/>
                <a:gd name="T3" fmla="*/ 1 h 280"/>
                <a:gd name="T4" fmla="*/ 1 w 426"/>
                <a:gd name="T5" fmla="*/ 1 h 280"/>
                <a:gd name="T6" fmla="*/ 1 w 426"/>
                <a:gd name="T7" fmla="*/ 1 h 280"/>
                <a:gd name="T8" fmla="*/ 1 w 426"/>
                <a:gd name="T9" fmla="*/ 1 h 280"/>
                <a:gd name="T10" fmla="*/ 1 w 426"/>
                <a:gd name="T11" fmla="*/ 1 h 280"/>
                <a:gd name="T12" fmla="*/ 1 w 426"/>
                <a:gd name="T13" fmla="*/ 1 h 280"/>
                <a:gd name="T14" fmla="*/ 1 w 426"/>
                <a:gd name="T15" fmla="*/ 1 h 280"/>
                <a:gd name="T16" fmla="*/ 1 w 426"/>
                <a:gd name="T17" fmla="*/ 1 h 280"/>
                <a:gd name="T18" fmla="*/ 1 w 426"/>
                <a:gd name="T19" fmla="*/ 1 h 280"/>
                <a:gd name="T20" fmla="*/ 1 w 426"/>
                <a:gd name="T21" fmla="*/ 1 h 280"/>
                <a:gd name="T22" fmla="*/ 1 w 426"/>
                <a:gd name="T23" fmla="*/ 1 h 280"/>
                <a:gd name="T24" fmla="*/ 1 w 426"/>
                <a:gd name="T25" fmla="*/ 1 h 280"/>
                <a:gd name="T26" fmla="*/ 1 w 426"/>
                <a:gd name="T27" fmla="*/ 1 h 280"/>
                <a:gd name="T28" fmla="*/ 1 w 426"/>
                <a:gd name="T29" fmla="*/ 1 h 280"/>
                <a:gd name="T30" fmla="*/ 1 w 426"/>
                <a:gd name="T31" fmla="*/ 1 h 280"/>
                <a:gd name="T32" fmla="*/ 1 w 426"/>
                <a:gd name="T33" fmla="*/ 1 h 280"/>
                <a:gd name="T34" fmla="*/ 1 w 426"/>
                <a:gd name="T35" fmla="*/ 1 h 280"/>
                <a:gd name="T36" fmla="*/ 1 w 426"/>
                <a:gd name="T37" fmla="*/ 1 h 280"/>
                <a:gd name="T38" fmla="*/ 1 w 426"/>
                <a:gd name="T39" fmla="*/ 1 h 280"/>
                <a:gd name="T40" fmla="*/ 1 w 426"/>
                <a:gd name="T41" fmla="*/ 1 h 280"/>
                <a:gd name="T42" fmla="*/ 1 w 426"/>
                <a:gd name="T43" fmla="*/ 1 h 280"/>
                <a:gd name="T44" fmla="*/ 1 w 426"/>
                <a:gd name="T45" fmla="*/ 1 h 280"/>
                <a:gd name="T46" fmla="*/ 1 w 426"/>
                <a:gd name="T47" fmla="*/ 1 h 280"/>
                <a:gd name="T48" fmla="*/ 2 w 426"/>
                <a:gd name="T49" fmla="*/ 1 h 280"/>
                <a:gd name="T50" fmla="*/ 2 w 426"/>
                <a:gd name="T51" fmla="*/ 1 h 280"/>
                <a:gd name="T52" fmla="*/ 2 w 426"/>
                <a:gd name="T53" fmla="*/ 1 h 280"/>
                <a:gd name="T54" fmla="*/ 2 w 426"/>
                <a:gd name="T55" fmla="*/ 1 h 280"/>
                <a:gd name="T56" fmla="*/ 1 w 426"/>
                <a:gd name="T57" fmla="*/ 1 h 280"/>
                <a:gd name="T58" fmla="*/ 1 w 426"/>
                <a:gd name="T59" fmla="*/ 1 h 280"/>
                <a:gd name="T60" fmla="*/ 1 w 426"/>
                <a:gd name="T61" fmla="*/ 1 h 280"/>
                <a:gd name="T62" fmla="*/ 1 w 426"/>
                <a:gd name="T63" fmla="*/ 1 h 280"/>
                <a:gd name="T64" fmla="*/ 1 w 426"/>
                <a:gd name="T65" fmla="*/ 1 h 280"/>
                <a:gd name="T66" fmla="*/ 1 w 426"/>
                <a:gd name="T67" fmla="*/ 1 h 280"/>
                <a:gd name="T68" fmla="*/ 1 w 426"/>
                <a:gd name="T69" fmla="*/ 1 h 280"/>
                <a:gd name="T70" fmla="*/ 1 w 426"/>
                <a:gd name="T71" fmla="*/ 1 h 280"/>
                <a:gd name="T72" fmla="*/ 1 w 426"/>
                <a:gd name="T73" fmla="*/ 1 h 280"/>
                <a:gd name="T74" fmla="*/ 1 w 426"/>
                <a:gd name="T75" fmla="*/ 0 h 2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2" name="Freeform 54"/>
            <p:cNvSpPr/>
            <p:nvPr userDrawn="1"/>
          </p:nvSpPr>
          <p:spPr bwMode="invGray">
            <a:xfrm>
              <a:off x="4255" y="3243"/>
              <a:ext cx="311" cy="212"/>
            </a:xfrm>
            <a:custGeom>
              <a:avLst/>
              <a:gdLst>
                <a:gd name="T0" fmla="*/ 0 w 416"/>
                <a:gd name="T1" fmla="*/ 1 h 282"/>
                <a:gd name="T2" fmla="*/ 1 w 416"/>
                <a:gd name="T3" fmla="*/ 2 h 282"/>
                <a:gd name="T4" fmla="*/ 1 w 416"/>
                <a:gd name="T5" fmla="*/ 2 h 282"/>
                <a:gd name="T6" fmla="*/ 1 w 416"/>
                <a:gd name="T7" fmla="*/ 2 h 282"/>
                <a:gd name="T8" fmla="*/ 1 w 416"/>
                <a:gd name="T9" fmla="*/ 2 h 282"/>
                <a:gd name="T10" fmla="*/ 1 w 416"/>
                <a:gd name="T11" fmla="*/ 2 h 282"/>
                <a:gd name="T12" fmla="*/ 1 w 416"/>
                <a:gd name="T13" fmla="*/ 2 h 282"/>
                <a:gd name="T14" fmla="*/ 1 w 416"/>
                <a:gd name="T15" fmla="*/ 2 h 282"/>
                <a:gd name="T16" fmla="*/ 1 w 416"/>
                <a:gd name="T17" fmla="*/ 2 h 282"/>
                <a:gd name="T18" fmla="*/ 1 w 416"/>
                <a:gd name="T19" fmla="*/ 2 h 282"/>
                <a:gd name="T20" fmla="*/ 1 w 416"/>
                <a:gd name="T21" fmla="*/ 2 h 282"/>
                <a:gd name="T22" fmla="*/ 1 w 416"/>
                <a:gd name="T23" fmla="*/ 2 h 282"/>
                <a:gd name="T24" fmla="*/ 1 w 416"/>
                <a:gd name="T25" fmla="*/ 2 h 282"/>
                <a:gd name="T26" fmla="*/ 1 w 416"/>
                <a:gd name="T27" fmla="*/ 2 h 282"/>
                <a:gd name="T28" fmla="*/ 1 w 416"/>
                <a:gd name="T29" fmla="*/ 2 h 282"/>
                <a:gd name="T30" fmla="*/ 1 w 416"/>
                <a:gd name="T31" fmla="*/ 2 h 282"/>
                <a:gd name="T32" fmla="*/ 1 w 416"/>
                <a:gd name="T33" fmla="*/ 2 h 282"/>
                <a:gd name="T34" fmla="*/ 1 w 416"/>
                <a:gd name="T35" fmla="*/ 2 h 282"/>
                <a:gd name="T36" fmla="*/ 1 w 416"/>
                <a:gd name="T37" fmla="*/ 2 h 282"/>
                <a:gd name="T38" fmla="*/ 1 w 416"/>
                <a:gd name="T39" fmla="*/ 2 h 282"/>
                <a:gd name="T40" fmla="*/ 1 w 416"/>
                <a:gd name="T41" fmla="*/ 2 h 282"/>
                <a:gd name="T42" fmla="*/ 1 w 416"/>
                <a:gd name="T43" fmla="*/ 2 h 282"/>
                <a:gd name="T44" fmla="*/ 2 w 416"/>
                <a:gd name="T45" fmla="*/ 2 h 282"/>
                <a:gd name="T46" fmla="*/ 2 w 416"/>
                <a:gd name="T47" fmla="*/ 2 h 282"/>
                <a:gd name="T48" fmla="*/ 1 w 416"/>
                <a:gd name="T49" fmla="*/ 2 h 282"/>
                <a:gd name="T50" fmla="*/ 1 w 416"/>
                <a:gd name="T51" fmla="*/ 2 h 282"/>
                <a:gd name="T52" fmla="*/ 1 w 416"/>
                <a:gd name="T53" fmla="*/ 2 h 282"/>
                <a:gd name="T54" fmla="*/ 1 w 416"/>
                <a:gd name="T55" fmla="*/ 2 h 282"/>
                <a:gd name="T56" fmla="*/ 1 w 416"/>
                <a:gd name="T57" fmla="*/ 2 h 282"/>
                <a:gd name="T58" fmla="*/ 1 w 416"/>
                <a:gd name="T59" fmla="*/ 2 h 282"/>
                <a:gd name="T60" fmla="*/ 1 w 416"/>
                <a:gd name="T61" fmla="*/ 2 h 282"/>
                <a:gd name="T62" fmla="*/ 1 w 416"/>
                <a:gd name="T63" fmla="*/ 2 h 282"/>
                <a:gd name="T64" fmla="*/ 0 w 416"/>
                <a:gd name="T65" fmla="*/ 1 h 28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3" name="Freeform 55"/>
            <p:cNvSpPr/>
            <p:nvPr userDrawn="1"/>
          </p:nvSpPr>
          <p:spPr bwMode="invGray">
            <a:xfrm>
              <a:off x="4485" y="4013"/>
              <a:ext cx="44" cy="58"/>
            </a:xfrm>
            <a:custGeom>
              <a:avLst/>
              <a:gdLst>
                <a:gd name="T0" fmla="*/ 1 w 60"/>
                <a:gd name="T1" fmla="*/ 1 h 78"/>
                <a:gd name="T2" fmla="*/ 0 w 60"/>
                <a:gd name="T3" fmla="*/ 1 h 78"/>
                <a:gd name="T4" fmla="*/ 1 w 60"/>
                <a:gd name="T5" fmla="*/ 1 h 78"/>
                <a:gd name="T6" fmla="*/ 1 w 60"/>
                <a:gd name="T7" fmla="*/ 1 h 78"/>
                <a:gd name="T8" fmla="*/ 1 w 60"/>
                <a:gd name="T9" fmla="*/ 1 h 78"/>
                <a:gd name="T10" fmla="*/ 1 w 60"/>
                <a:gd name="T11" fmla="*/ 1 h 78"/>
                <a:gd name="T12" fmla="*/ 1 w 60"/>
                <a:gd name="T13" fmla="*/ 1 h 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4" name="Freeform 56"/>
            <p:cNvSpPr/>
            <p:nvPr userDrawn="1"/>
          </p:nvSpPr>
          <p:spPr bwMode="invGray">
            <a:xfrm>
              <a:off x="4621" y="3923"/>
              <a:ext cx="163" cy="85"/>
            </a:xfrm>
            <a:custGeom>
              <a:avLst/>
              <a:gdLst>
                <a:gd name="T0" fmla="*/ 1 w 219"/>
                <a:gd name="T1" fmla="*/ 2 h 113"/>
                <a:gd name="T2" fmla="*/ 1 w 219"/>
                <a:gd name="T3" fmla="*/ 2 h 113"/>
                <a:gd name="T4" fmla="*/ 1 w 219"/>
                <a:gd name="T5" fmla="*/ 2 h 113"/>
                <a:gd name="T6" fmla="*/ 1 w 219"/>
                <a:gd name="T7" fmla="*/ 2 h 113"/>
                <a:gd name="T8" fmla="*/ 1 w 219"/>
                <a:gd name="T9" fmla="*/ 2 h 113"/>
                <a:gd name="T10" fmla="*/ 1 w 219"/>
                <a:gd name="T11" fmla="*/ 2 h 113"/>
                <a:gd name="T12" fmla="*/ 1 w 219"/>
                <a:gd name="T13" fmla="*/ 2 h 113"/>
                <a:gd name="T14" fmla="*/ 1 w 219"/>
                <a:gd name="T15" fmla="*/ 2 h 113"/>
                <a:gd name="T16" fmla="*/ 1 w 219"/>
                <a:gd name="T17" fmla="*/ 0 h 113"/>
                <a:gd name="T18" fmla="*/ 1 w 219"/>
                <a:gd name="T19" fmla="*/ 2 h 113"/>
                <a:gd name="T20" fmla="*/ 1 w 219"/>
                <a:gd name="T21" fmla="*/ 2 h 113"/>
                <a:gd name="T22" fmla="*/ 1 w 219"/>
                <a:gd name="T23" fmla="*/ 2 h 113"/>
                <a:gd name="T24" fmla="*/ 1 w 219"/>
                <a:gd name="T25" fmla="*/ 2 h 113"/>
                <a:gd name="T26" fmla="*/ 1 w 219"/>
                <a:gd name="T27" fmla="*/ 2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5" name="Freeform 57"/>
            <p:cNvSpPr/>
            <p:nvPr userDrawn="1"/>
          </p:nvSpPr>
          <p:spPr bwMode="invGray">
            <a:xfrm>
              <a:off x="4791" y="3872"/>
              <a:ext cx="104" cy="93"/>
            </a:xfrm>
            <a:custGeom>
              <a:avLst/>
              <a:gdLst>
                <a:gd name="T0" fmla="*/ 1 w 139"/>
                <a:gd name="T1" fmla="*/ 2 h 122"/>
                <a:gd name="T2" fmla="*/ 1 w 139"/>
                <a:gd name="T3" fmla="*/ 2 h 122"/>
                <a:gd name="T4" fmla="*/ 0 w 139"/>
                <a:gd name="T5" fmla="*/ 2 h 122"/>
                <a:gd name="T6" fmla="*/ 1 w 139"/>
                <a:gd name="T7" fmla="*/ 2 h 122"/>
                <a:gd name="T8" fmla="*/ 1 w 139"/>
                <a:gd name="T9" fmla="*/ 2 h 122"/>
                <a:gd name="T10" fmla="*/ 1 w 139"/>
                <a:gd name="T11" fmla="*/ 2 h 122"/>
                <a:gd name="T12" fmla="*/ 1 w 139"/>
                <a:gd name="T13" fmla="*/ 2 h 122"/>
                <a:gd name="T14" fmla="*/ 1 w 139"/>
                <a:gd name="T15" fmla="*/ 2 h 122"/>
                <a:gd name="T16" fmla="*/ 1 w 139"/>
                <a:gd name="T17" fmla="*/ 2 h 122"/>
                <a:gd name="T18" fmla="*/ 1 w 139"/>
                <a:gd name="T19" fmla="*/ 2 h 122"/>
                <a:gd name="T20" fmla="*/ 1 w 139"/>
                <a:gd name="T21" fmla="*/ 2 h 122"/>
                <a:gd name="T22" fmla="*/ 1 w 139"/>
                <a:gd name="T23" fmla="*/ 2 h 12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6" name="Freeform 58"/>
            <p:cNvSpPr/>
            <p:nvPr userDrawn="1"/>
          </p:nvSpPr>
          <p:spPr bwMode="invGray">
            <a:xfrm>
              <a:off x="4846" y="3831"/>
              <a:ext cx="36" cy="27"/>
            </a:xfrm>
            <a:custGeom>
              <a:avLst/>
              <a:gdLst>
                <a:gd name="T0" fmla="*/ 1 w 49"/>
                <a:gd name="T1" fmla="*/ 0 h 35"/>
                <a:gd name="T2" fmla="*/ 1 w 49"/>
                <a:gd name="T3" fmla="*/ 2 h 35"/>
                <a:gd name="T4" fmla="*/ 1 w 49"/>
                <a:gd name="T5" fmla="*/ 2 h 35"/>
                <a:gd name="T6" fmla="*/ 1 w 49"/>
                <a:gd name="T7" fmla="*/ 2 h 35"/>
                <a:gd name="T8" fmla="*/ 1 w 49"/>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7" name="Freeform 59"/>
            <p:cNvSpPr/>
            <p:nvPr userDrawn="1"/>
          </p:nvSpPr>
          <p:spPr bwMode="invGray">
            <a:xfrm>
              <a:off x="3123" y="3346"/>
              <a:ext cx="122" cy="201"/>
            </a:xfrm>
            <a:custGeom>
              <a:avLst/>
              <a:gdLst>
                <a:gd name="T0" fmla="*/ 1 w 164"/>
                <a:gd name="T1" fmla="*/ 0 h 268"/>
                <a:gd name="T2" fmla="*/ 1 w 164"/>
                <a:gd name="T3" fmla="*/ 2 h 268"/>
                <a:gd name="T4" fmla="*/ 1 w 164"/>
                <a:gd name="T5" fmla="*/ 2 h 268"/>
                <a:gd name="T6" fmla="*/ 1 w 164"/>
                <a:gd name="T7" fmla="*/ 2 h 268"/>
                <a:gd name="T8" fmla="*/ 1 w 164"/>
                <a:gd name="T9" fmla="*/ 2 h 268"/>
                <a:gd name="T10" fmla="*/ 1 w 164"/>
                <a:gd name="T11" fmla="*/ 2 h 268"/>
                <a:gd name="T12" fmla="*/ 1 w 164"/>
                <a:gd name="T13" fmla="*/ 2 h 268"/>
                <a:gd name="T14" fmla="*/ 1 w 164"/>
                <a:gd name="T15" fmla="*/ 2 h 268"/>
                <a:gd name="T16" fmla="*/ 0 w 164"/>
                <a:gd name="T17" fmla="*/ 2 h 268"/>
                <a:gd name="T18" fmla="*/ 1 w 164"/>
                <a:gd name="T19" fmla="*/ 2 h 268"/>
                <a:gd name="T20" fmla="*/ 1 w 164"/>
                <a:gd name="T21" fmla="*/ 2 h 268"/>
                <a:gd name="T22" fmla="*/ 1 w 164"/>
                <a:gd name="T23" fmla="*/ 2 h 268"/>
                <a:gd name="T24" fmla="*/ 1 w 164"/>
                <a:gd name="T25" fmla="*/ 2 h 268"/>
                <a:gd name="T26" fmla="*/ 1 w 164"/>
                <a:gd name="T27" fmla="*/ 2 h 268"/>
                <a:gd name="T28" fmla="*/ 1 w 164"/>
                <a:gd name="T29" fmla="*/ 2 h 268"/>
                <a:gd name="T30" fmla="*/ 1 w 164"/>
                <a:gd name="T31" fmla="*/ 2 h 268"/>
                <a:gd name="T32" fmla="*/ 1 w 164"/>
                <a:gd name="T33" fmla="*/ 0 h 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8" name="Freeform 60"/>
            <p:cNvSpPr/>
            <p:nvPr userDrawn="1"/>
          </p:nvSpPr>
          <p:spPr bwMode="invGray">
            <a:xfrm>
              <a:off x="3655" y="3034"/>
              <a:ext cx="50" cy="58"/>
            </a:xfrm>
            <a:custGeom>
              <a:avLst/>
              <a:gdLst>
                <a:gd name="T0" fmla="*/ 2 w 66"/>
                <a:gd name="T1" fmla="*/ 0 h 81"/>
                <a:gd name="T2" fmla="*/ 2 w 66"/>
                <a:gd name="T3" fmla="*/ 1 h 81"/>
                <a:gd name="T4" fmla="*/ 2 w 66"/>
                <a:gd name="T5" fmla="*/ 1 h 81"/>
                <a:gd name="T6" fmla="*/ 2 w 66"/>
                <a:gd name="T7" fmla="*/ 1 h 81"/>
                <a:gd name="T8" fmla="*/ 2 w 66"/>
                <a:gd name="T9" fmla="*/ 1 h 81"/>
                <a:gd name="T10" fmla="*/ 2 w 66"/>
                <a:gd name="T11" fmla="*/ 0 h 8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49" name="Freeform 61"/>
            <p:cNvSpPr/>
            <p:nvPr userDrawn="1"/>
          </p:nvSpPr>
          <p:spPr bwMode="invGray">
            <a:xfrm>
              <a:off x="3988" y="3100"/>
              <a:ext cx="111" cy="183"/>
            </a:xfrm>
            <a:custGeom>
              <a:avLst/>
              <a:gdLst>
                <a:gd name="T0" fmla="*/ 2 w 148"/>
                <a:gd name="T1" fmla="*/ 0 h 244"/>
                <a:gd name="T2" fmla="*/ 2 w 148"/>
                <a:gd name="T3" fmla="*/ 2 h 244"/>
                <a:gd name="T4" fmla="*/ 2 w 148"/>
                <a:gd name="T5" fmla="*/ 2 h 244"/>
                <a:gd name="T6" fmla="*/ 2 w 148"/>
                <a:gd name="T7" fmla="*/ 2 h 244"/>
                <a:gd name="T8" fmla="*/ 2 w 148"/>
                <a:gd name="T9" fmla="*/ 2 h 244"/>
                <a:gd name="T10" fmla="*/ 2 w 148"/>
                <a:gd name="T11" fmla="*/ 2 h 244"/>
                <a:gd name="T12" fmla="*/ 2 w 148"/>
                <a:gd name="T13" fmla="*/ 2 h 244"/>
                <a:gd name="T14" fmla="*/ 2 w 148"/>
                <a:gd name="T15" fmla="*/ 2 h 244"/>
                <a:gd name="T16" fmla="*/ 2 w 148"/>
                <a:gd name="T17" fmla="*/ 2 h 244"/>
                <a:gd name="T18" fmla="*/ 2 w 148"/>
                <a:gd name="T19" fmla="*/ 2 h 244"/>
                <a:gd name="T20" fmla="*/ 2 w 148"/>
                <a:gd name="T21" fmla="*/ 2 h 244"/>
                <a:gd name="T22" fmla="*/ 2 w 148"/>
                <a:gd name="T23" fmla="*/ 2 h 244"/>
                <a:gd name="T24" fmla="*/ 2 w 148"/>
                <a:gd name="T25" fmla="*/ 2 h 244"/>
                <a:gd name="T26" fmla="*/ 2 w 148"/>
                <a:gd name="T27" fmla="*/ 0 h 24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0" name="Freeform 62"/>
            <p:cNvSpPr/>
            <p:nvPr userDrawn="1"/>
          </p:nvSpPr>
          <p:spPr bwMode="invGray">
            <a:xfrm>
              <a:off x="3894" y="3043"/>
              <a:ext cx="72" cy="137"/>
            </a:xfrm>
            <a:custGeom>
              <a:avLst/>
              <a:gdLst>
                <a:gd name="T0" fmla="*/ 2 w 96"/>
                <a:gd name="T1" fmla="*/ 1 h 183"/>
                <a:gd name="T2" fmla="*/ 2 w 96"/>
                <a:gd name="T3" fmla="*/ 1 h 183"/>
                <a:gd name="T4" fmla="*/ 2 w 96"/>
                <a:gd name="T5" fmla="*/ 1 h 183"/>
                <a:gd name="T6" fmla="*/ 2 w 96"/>
                <a:gd name="T7" fmla="*/ 1 h 183"/>
                <a:gd name="T8" fmla="*/ 2 w 96"/>
                <a:gd name="T9" fmla="*/ 1 h 183"/>
                <a:gd name="T10" fmla="*/ 2 w 96"/>
                <a:gd name="T11" fmla="*/ 1 h 183"/>
                <a:gd name="T12" fmla="*/ 2 w 96"/>
                <a:gd name="T13" fmla="*/ 1 h 183"/>
                <a:gd name="T14" fmla="*/ 2 w 96"/>
                <a:gd name="T15" fmla="*/ 1 h 183"/>
                <a:gd name="T16" fmla="*/ 2 w 96"/>
                <a:gd name="T17" fmla="*/ 1 h 183"/>
                <a:gd name="T18" fmla="*/ 2 w 96"/>
                <a:gd name="T19" fmla="*/ 1 h 183"/>
                <a:gd name="T20" fmla="*/ 2 w 96"/>
                <a:gd name="T21" fmla="*/ 1 h 183"/>
                <a:gd name="T22" fmla="*/ 2 w 96"/>
                <a:gd name="T23" fmla="*/ 1 h 183"/>
                <a:gd name="T24" fmla="*/ 2 w 96"/>
                <a:gd name="T25" fmla="*/ 1 h 183"/>
                <a:gd name="T26" fmla="*/ 2 w 96"/>
                <a:gd name="T27" fmla="*/ 1 h 183"/>
                <a:gd name="T28" fmla="*/ 2 w 96"/>
                <a:gd name="T29" fmla="*/ 1 h 183"/>
                <a:gd name="T30" fmla="*/ 2 w 96"/>
                <a:gd name="T31" fmla="*/ 1 h 183"/>
                <a:gd name="T32" fmla="*/ 2 w 96"/>
                <a:gd name="T33" fmla="*/ 1 h 183"/>
                <a:gd name="T34" fmla="*/ 2 w 96"/>
                <a:gd name="T35" fmla="*/ 1 h 183"/>
                <a:gd name="T36" fmla="*/ 2 w 96"/>
                <a:gd name="T37" fmla="*/ 1 h 183"/>
                <a:gd name="T38" fmla="*/ 2 w 96"/>
                <a:gd name="T39" fmla="*/ 1 h 183"/>
                <a:gd name="T40" fmla="*/ 2 w 96"/>
                <a:gd name="T41" fmla="*/ 1 h 1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1" name="Freeform 63"/>
            <p:cNvSpPr/>
            <p:nvPr userDrawn="1"/>
          </p:nvSpPr>
          <p:spPr bwMode="invGray">
            <a:xfrm>
              <a:off x="3943" y="3153"/>
              <a:ext cx="39" cy="132"/>
            </a:xfrm>
            <a:custGeom>
              <a:avLst/>
              <a:gdLst>
                <a:gd name="T0" fmla="*/ 1 w 54"/>
                <a:gd name="T1" fmla="*/ 0 h 175"/>
                <a:gd name="T2" fmla="*/ 0 w 54"/>
                <a:gd name="T3" fmla="*/ 2 h 175"/>
                <a:gd name="T4" fmla="*/ 1 w 54"/>
                <a:gd name="T5" fmla="*/ 2 h 175"/>
                <a:gd name="T6" fmla="*/ 1 w 54"/>
                <a:gd name="T7" fmla="*/ 2 h 175"/>
                <a:gd name="T8" fmla="*/ 1 w 54"/>
                <a:gd name="T9" fmla="*/ 2 h 175"/>
                <a:gd name="T10" fmla="*/ 1 w 54"/>
                <a:gd name="T11" fmla="*/ 2 h 175"/>
                <a:gd name="T12" fmla="*/ 1 w 54"/>
                <a:gd name="T13" fmla="*/ 2 h 175"/>
                <a:gd name="T14" fmla="*/ 1 w 54"/>
                <a:gd name="T15" fmla="*/ 2 h 175"/>
                <a:gd name="T16" fmla="*/ 1 w 54"/>
                <a:gd name="T17" fmla="*/ 2 h 175"/>
                <a:gd name="T18" fmla="*/ 1 w 54"/>
                <a:gd name="T19" fmla="*/ 2 h 175"/>
                <a:gd name="T20" fmla="*/ 1 w 54"/>
                <a:gd name="T21" fmla="*/ 2 h 175"/>
                <a:gd name="T22" fmla="*/ 1 w 54"/>
                <a:gd name="T23" fmla="*/ 0 h 17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2" name="Freeform 64"/>
            <p:cNvSpPr/>
            <p:nvPr userDrawn="1"/>
          </p:nvSpPr>
          <p:spPr bwMode="invGray">
            <a:xfrm>
              <a:off x="3988" y="3290"/>
              <a:ext cx="65" cy="54"/>
            </a:xfrm>
            <a:custGeom>
              <a:avLst/>
              <a:gdLst>
                <a:gd name="T0" fmla="*/ 2 w 86"/>
                <a:gd name="T1" fmla="*/ 0 h 73"/>
                <a:gd name="T2" fmla="*/ 2 w 86"/>
                <a:gd name="T3" fmla="*/ 1 h 73"/>
                <a:gd name="T4" fmla="*/ 2 w 86"/>
                <a:gd name="T5" fmla="*/ 1 h 73"/>
                <a:gd name="T6" fmla="*/ 2 w 86"/>
                <a:gd name="T7" fmla="*/ 1 h 73"/>
                <a:gd name="T8" fmla="*/ 2 w 86"/>
                <a:gd name="T9" fmla="*/ 1 h 73"/>
                <a:gd name="T10" fmla="*/ 2 w 86"/>
                <a:gd name="T11" fmla="*/ 1 h 73"/>
                <a:gd name="T12" fmla="*/ 2 w 86"/>
                <a:gd name="T13" fmla="*/ 1 h 73"/>
                <a:gd name="T14" fmla="*/ 2 w 86"/>
                <a:gd name="T15" fmla="*/ 1 h 73"/>
                <a:gd name="T16" fmla="*/ 2 w 86"/>
                <a:gd name="T17" fmla="*/ 1 h 73"/>
                <a:gd name="T18" fmla="*/ 2 w 86"/>
                <a:gd name="T19" fmla="*/ 1 h 73"/>
                <a:gd name="T20" fmla="*/ 2 w 86"/>
                <a:gd name="T21" fmla="*/ 1 h 73"/>
                <a:gd name="T22" fmla="*/ 2 w 86"/>
                <a:gd name="T23" fmla="*/ 0 h 73"/>
                <a:gd name="T24" fmla="*/ 2 w 86"/>
                <a:gd name="T25" fmla="*/ 0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3" name="Freeform 65"/>
            <p:cNvSpPr/>
            <p:nvPr userDrawn="1"/>
          </p:nvSpPr>
          <p:spPr bwMode="invGray">
            <a:xfrm>
              <a:off x="4092" y="3195"/>
              <a:ext cx="85" cy="117"/>
            </a:xfrm>
            <a:custGeom>
              <a:avLst/>
              <a:gdLst>
                <a:gd name="T0" fmla="*/ 2 w 111"/>
                <a:gd name="T1" fmla="*/ 0 h 156"/>
                <a:gd name="T2" fmla="*/ 2 w 111"/>
                <a:gd name="T3" fmla="*/ 2 h 156"/>
                <a:gd name="T4" fmla="*/ 2 w 111"/>
                <a:gd name="T5" fmla="*/ 2 h 156"/>
                <a:gd name="T6" fmla="*/ 2 w 111"/>
                <a:gd name="T7" fmla="*/ 2 h 156"/>
                <a:gd name="T8" fmla="*/ 2 w 111"/>
                <a:gd name="T9" fmla="*/ 2 h 156"/>
                <a:gd name="T10" fmla="*/ 2 w 111"/>
                <a:gd name="T11" fmla="*/ 2 h 156"/>
                <a:gd name="T12" fmla="*/ 2 w 111"/>
                <a:gd name="T13" fmla="*/ 2 h 156"/>
                <a:gd name="T14" fmla="*/ 2 w 111"/>
                <a:gd name="T15" fmla="*/ 2 h 156"/>
                <a:gd name="T16" fmla="*/ 2 w 111"/>
                <a:gd name="T17" fmla="*/ 2 h 156"/>
                <a:gd name="T18" fmla="*/ 2 w 111"/>
                <a:gd name="T19" fmla="*/ 2 h 156"/>
                <a:gd name="T20" fmla="*/ 2 w 111"/>
                <a:gd name="T21" fmla="*/ 2 h 156"/>
                <a:gd name="T22" fmla="*/ 2 w 111"/>
                <a:gd name="T23" fmla="*/ 2 h 156"/>
                <a:gd name="T24" fmla="*/ 2 w 111"/>
                <a:gd name="T25" fmla="*/ 2 h 156"/>
                <a:gd name="T26" fmla="*/ 2 w 111"/>
                <a:gd name="T27" fmla="*/ 2 h 156"/>
                <a:gd name="T28" fmla="*/ 2 w 111"/>
                <a:gd name="T29" fmla="*/ 2 h 156"/>
                <a:gd name="T30" fmla="*/ 2 w 111"/>
                <a:gd name="T31" fmla="*/ 2 h 156"/>
                <a:gd name="T32" fmla="*/ 2 w 111"/>
                <a:gd name="T33" fmla="*/ 2 h 156"/>
                <a:gd name="T34" fmla="*/ 2 w 111"/>
                <a:gd name="T35" fmla="*/ 2 h 156"/>
                <a:gd name="T36" fmla="*/ 2 w 111"/>
                <a:gd name="T37" fmla="*/ 2 h 156"/>
                <a:gd name="T38" fmla="*/ 2 w 111"/>
                <a:gd name="T39" fmla="*/ 2 h 156"/>
                <a:gd name="T40" fmla="*/ 2 w 111"/>
                <a:gd name="T41" fmla="*/ 2 h 156"/>
                <a:gd name="T42" fmla="*/ 2 w 111"/>
                <a:gd name="T43" fmla="*/ 2 h 156"/>
                <a:gd name="T44" fmla="*/ 2 w 111"/>
                <a:gd name="T45" fmla="*/ 2 h 156"/>
                <a:gd name="T46" fmla="*/ 2 w 111"/>
                <a:gd name="T47" fmla="*/ 2 h 156"/>
                <a:gd name="T48" fmla="*/ 2 w 111"/>
                <a:gd name="T49" fmla="*/ 2 h 156"/>
                <a:gd name="T50" fmla="*/ 2 w 111"/>
                <a:gd name="T51" fmla="*/ 0 h 15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4" name="Freeform 66"/>
            <p:cNvSpPr/>
            <p:nvPr userDrawn="1"/>
          </p:nvSpPr>
          <p:spPr bwMode="invGray">
            <a:xfrm>
              <a:off x="4064" y="2777"/>
              <a:ext cx="22" cy="69"/>
            </a:xfrm>
            <a:custGeom>
              <a:avLst/>
              <a:gdLst>
                <a:gd name="T0" fmla="*/ 1 w 30"/>
                <a:gd name="T1" fmla="*/ 0 h 94"/>
                <a:gd name="T2" fmla="*/ 0 w 30"/>
                <a:gd name="T3" fmla="*/ 1 h 94"/>
                <a:gd name="T4" fmla="*/ 1 w 30"/>
                <a:gd name="T5" fmla="*/ 1 h 94"/>
                <a:gd name="T6" fmla="*/ 1 w 30"/>
                <a:gd name="T7" fmla="*/ 1 h 94"/>
                <a:gd name="T8" fmla="*/ 1 w 30"/>
                <a:gd name="T9" fmla="*/ 1 h 94"/>
                <a:gd name="T10" fmla="*/ 1 w 30"/>
                <a:gd name="T11" fmla="*/ 1 h 94"/>
                <a:gd name="T12" fmla="*/ 1 w 30"/>
                <a:gd name="T13" fmla="*/ 1 h 94"/>
                <a:gd name="T14" fmla="*/ 1 w 30"/>
                <a:gd name="T15" fmla="*/ 0 h 9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5" name="Freeform 67"/>
            <p:cNvSpPr/>
            <p:nvPr userDrawn="1"/>
          </p:nvSpPr>
          <p:spPr bwMode="invGray">
            <a:xfrm>
              <a:off x="4078" y="2896"/>
              <a:ext cx="61" cy="118"/>
            </a:xfrm>
            <a:custGeom>
              <a:avLst/>
              <a:gdLst>
                <a:gd name="T0" fmla="*/ 2 w 81"/>
                <a:gd name="T1" fmla="*/ 1 h 158"/>
                <a:gd name="T2" fmla="*/ 0 w 81"/>
                <a:gd name="T3" fmla="*/ 1 h 158"/>
                <a:gd name="T4" fmla="*/ 2 w 81"/>
                <a:gd name="T5" fmla="*/ 1 h 158"/>
                <a:gd name="T6" fmla="*/ 2 w 81"/>
                <a:gd name="T7" fmla="*/ 1 h 158"/>
                <a:gd name="T8" fmla="*/ 2 w 81"/>
                <a:gd name="T9" fmla="*/ 1 h 158"/>
                <a:gd name="T10" fmla="*/ 2 w 81"/>
                <a:gd name="T11" fmla="*/ 1 h 158"/>
                <a:gd name="T12" fmla="*/ 2 w 81"/>
                <a:gd name="T13" fmla="*/ 1 h 158"/>
                <a:gd name="T14" fmla="*/ 2 w 81"/>
                <a:gd name="T15" fmla="*/ 1 h 158"/>
                <a:gd name="T16" fmla="*/ 2 w 81"/>
                <a:gd name="T17" fmla="*/ 1 h 158"/>
                <a:gd name="T18" fmla="*/ 2 w 81"/>
                <a:gd name="T19" fmla="*/ 1 h 158"/>
                <a:gd name="T20" fmla="*/ 2 w 81"/>
                <a:gd name="T21" fmla="*/ 1 h 158"/>
                <a:gd name="T22" fmla="*/ 2 w 81"/>
                <a:gd name="T23" fmla="*/ 1 h 158"/>
                <a:gd name="T24" fmla="*/ 2 w 81"/>
                <a:gd name="T25" fmla="*/ 1 h 158"/>
                <a:gd name="T26" fmla="*/ 2 w 81"/>
                <a:gd name="T27" fmla="*/ 1 h 158"/>
                <a:gd name="T28" fmla="*/ 2 w 81"/>
                <a:gd name="T29" fmla="*/ 1 h 158"/>
                <a:gd name="T30" fmla="*/ 2 w 81"/>
                <a:gd name="T31" fmla="*/ 1 h 158"/>
                <a:gd name="T32" fmla="*/ 2 w 81"/>
                <a:gd name="T33" fmla="*/ 1 h 158"/>
                <a:gd name="T34" fmla="*/ 2 w 81"/>
                <a:gd name="T35" fmla="*/ 1 h 158"/>
                <a:gd name="T36" fmla="*/ 2 w 81"/>
                <a:gd name="T37" fmla="*/ 1 h 158"/>
                <a:gd name="T38" fmla="*/ 2 w 81"/>
                <a:gd name="T39" fmla="*/ 1 h 1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6" name="Freeform 68"/>
            <p:cNvSpPr/>
            <p:nvPr userDrawn="1"/>
          </p:nvSpPr>
          <p:spPr bwMode="invGray">
            <a:xfrm>
              <a:off x="4121" y="3053"/>
              <a:ext cx="64" cy="80"/>
            </a:xfrm>
            <a:custGeom>
              <a:avLst/>
              <a:gdLst>
                <a:gd name="T0" fmla="*/ 2 w 85"/>
                <a:gd name="T1" fmla="*/ 0 h 105"/>
                <a:gd name="T2" fmla="*/ 2 w 85"/>
                <a:gd name="T3" fmla="*/ 2 h 105"/>
                <a:gd name="T4" fmla="*/ 2 w 85"/>
                <a:gd name="T5" fmla="*/ 2 h 105"/>
                <a:gd name="T6" fmla="*/ 2 w 85"/>
                <a:gd name="T7" fmla="*/ 2 h 105"/>
                <a:gd name="T8" fmla="*/ 2 w 85"/>
                <a:gd name="T9" fmla="*/ 2 h 105"/>
                <a:gd name="T10" fmla="*/ 2 w 85"/>
                <a:gd name="T11" fmla="*/ 2 h 105"/>
                <a:gd name="T12" fmla="*/ 2 w 85"/>
                <a:gd name="T13" fmla="*/ 2 h 105"/>
                <a:gd name="T14" fmla="*/ 2 w 85"/>
                <a:gd name="T15" fmla="*/ 2 h 105"/>
                <a:gd name="T16" fmla="*/ 2 w 85"/>
                <a:gd name="T17" fmla="*/ 2 h 105"/>
                <a:gd name="T18" fmla="*/ 2 w 85"/>
                <a:gd name="T19" fmla="*/ 2 h 105"/>
                <a:gd name="T20" fmla="*/ 2 w 85"/>
                <a:gd name="T21" fmla="*/ 2 h 105"/>
                <a:gd name="T22" fmla="*/ 2 w 85"/>
                <a:gd name="T23" fmla="*/ 2 h 105"/>
                <a:gd name="T24" fmla="*/ 2 w 85"/>
                <a:gd name="T25" fmla="*/ 2 h 105"/>
                <a:gd name="T26" fmla="*/ 2 w 85"/>
                <a:gd name="T27" fmla="*/ 0 h 10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7" name="Freeform 69"/>
            <p:cNvSpPr/>
            <p:nvPr userDrawn="1"/>
          </p:nvSpPr>
          <p:spPr bwMode="invGray">
            <a:xfrm>
              <a:off x="4197" y="3193"/>
              <a:ext cx="29" cy="51"/>
            </a:xfrm>
            <a:custGeom>
              <a:avLst/>
              <a:gdLst>
                <a:gd name="T0" fmla="*/ 2 w 38"/>
                <a:gd name="T1" fmla="*/ 2 h 66"/>
                <a:gd name="T2" fmla="*/ 2 w 38"/>
                <a:gd name="T3" fmla="*/ 2 h 66"/>
                <a:gd name="T4" fmla="*/ 2 w 38"/>
                <a:gd name="T5" fmla="*/ 2 h 66"/>
                <a:gd name="T6" fmla="*/ 2 w 38"/>
                <a:gd name="T7" fmla="*/ 2 h 66"/>
                <a:gd name="T8" fmla="*/ 2 w 38"/>
                <a:gd name="T9" fmla="*/ 2 h 66"/>
                <a:gd name="T10" fmla="*/ 2 w 38"/>
                <a:gd name="T11" fmla="*/ 2 h 66"/>
                <a:gd name="T12" fmla="*/ 2 w 38"/>
                <a:gd name="T13" fmla="*/ 1 h 66"/>
                <a:gd name="T14" fmla="*/ 2 w 38"/>
                <a:gd name="T15" fmla="*/ 2 h 66"/>
                <a:gd name="T16" fmla="*/ 2 w 38"/>
                <a:gd name="T17" fmla="*/ 2 h 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8" name="Freeform 70"/>
            <p:cNvSpPr/>
            <p:nvPr userDrawn="1"/>
          </p:nvSpPr>
          <p:spPr bwMode="invGray">
            <a:xfrm>
              <a:off x="4181" y="3275"/>
              <a:ext cx="18" cy="17"/>
            </a:xfrm>
            <a:custGeom>
              <a:avLst/>
              <a:gdLst>
                <a:gd name="T0" fmla="*/ 0 w 24"/>
                <a:gd name="T1" fmla="*/ 0 h 23"/>
                <a:gd name="T2" fmla="*/ 2 w 24"/>
                <a:gd name="T3" fmla="*/ 1 h 23"/>
                <a:gd name="T4" fmla="*/ 2 w 24"/>
                <a:gd name="T5" fmla="*/ 1 h 23"/>
                <a:gd name="T6" fmla="*/ 0 w 24"/>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59" name="Freeform 71"/>
            <p:cNvSpPr/>
            <p:nvPr userDrawn="1"/>
          </p:nvSpPr>
          <p:spPr bwMode="invGray">
            <a:xfrm>
              <a:off x="4208" y="3265"/>
              <a:ext cx="46" cy="37"/>
            </a:xfrm>
            <a:custGeom>
              <a:avLst/>
              <a:gdLst>
                <a:gd name="T0" fmla="*/ 2 w 60"/>
                <a:gd name="T1" fmla="*/ 0 h 49"/>
                <a:gd name="T2" fmla="*/ 0 w 60"/>
                <a:gd name="T3" fmla="*/ 2 h 49"/>
                <a:gd name="T4" fmla="*/ 2 w 60"/>
                <a:gd name="T5" fmla="*/ 2 h 49"/>
                <a:gd name="T6" fmla="*/ 2 w 60"/>
                <a:gd name="T7" fmla="*/ 2 h 49"/>
                <a:gd name="T8" fmla="*/ 2 w 60"/>
                <a:gd name="T9" fmla="*/ 2 h 49"/>
                <a:gd name="T10" fmla="*/ 2 w 60"/>
                <a:gd name="T11" fmla="*/ 2 h 49"/>
                <a:gd name="T12" fmla="*/ 2 w 60"/>
                <a:gd name="T13" fmla="*/ 2 h 49"/>
                <a:gd name="T14" fmla="*/ 2 w 60"/>
                <a:gd name="T15" fmla="*/ 2 h 49"/>
                <a:gd name="T16" fmla="*/ 2 w 60"/>
                <a:gd name="T17" fmla="*/ 0 h 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0" name="Freeform 72"/>
            <p:cNvSpPr/>
            <p:nvPr userDrawn="1"/>
          </p:nvSpPr>
          <p:spPr bwMode="invGray">
            <a:xfrm>
              <a:off x="4276" y="3336"/>
              <a:ext cx="25" cy="30"/>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1" name="Freeform 73"/>
            <p:cNvSpPr/>
            <p:nvPr userDrawn="1"/>
          </p:nvSpPr>
          <p:spPr bwMode="invGray">
            <a:xfrm>
              <a:off x="4544" y="3293"/>
              <a:ext cx="46" cy="43"/>
            </a:xfrm>
            <a:custGeom>
              <a:avLst/>
              <a:gdLst>
                <a:gd name="T0" fmla="*/ 2 w 61"/>
                <a:gd name="T1" fmla="*/ 0 h 63"/>
                <a:gd name="T2" fmla="*/ 0 w 61"/>
                <a:gd name="T3" fmla="*/ 1 h 63"/>
                <a:gd name="T4" fmla="*/ 2 w 61"/>
                <a:gd name="T5" fmla="*/ 1 h 63"/>
                <a:gd name="T6" fmla="*/ 2 w 61"/>
                <a:gd name="T7" fmla="*/ 1 h 63"/>
                <a:gd name="T8" fmla="*/ 2 w 61"/>
                <a:gd name="T9" fmla="*/ 1 h 63"/>
                <a:gd name="T10" fmla="*/ 2 w 61"/>
                <a:gd name="T11" fmla="*/ 1 h 63"/>
                <a:gd name="T12" fmla="*/ 2 w 61"/>
                <a:gd name="T13" fmla="*/ 1 h 63"/>
                <a:gd name="T14" fmla="*/ 2 w 61"/>
                <a:gd name="T15" fmla="*/ 0 h 6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2" name="Freeform 74"/>
            <p:cNvSpPr/>
            <p:nvPr userDrawn="1"/>
          </p:nvSpPr>
          <p:spPr bwMode="invGray">
            <a:xfrm>
              <a:off x="4147" y="3352"/>
              <a:ext cx="47" cy="51"/>
            </a:xfrm>
            <a:custGeom>
              <a:avLst/>
              <a:gdLst>
                <a:gd name="T0" fmla="*/ 2 w 61"/>
                <a:gd name="T1" fmla="*/ 2 h 67"/>
                <a:gd name="T2" fmla="*/ 2 w 61"/>
                <a:gd name="T3" fmla="*/ 2 h 67"/>
                <a:gd name="T4" fmla="*/ 2 w 61"/>
                <a:gd name="T5" fmla="*/ 2 h 67"/>
                <a:gd name="T6" fmla="*/ 2 w 61"/>
                <a:gd name="T7" fmla="*/ 2 h 67"/>
                <a:gd name="T8" fmla="*/ 2 w 61"/>
                <a:gd name="T9" fmla="*/ 2 h 67"/>
                <a:gd name="T10" fmla="*/ 2 w 61"/>
                <a:gd name="T11" fmla="*/ 2 h 67"/>
                <a:gd name="T12" fmla="*/ 2 w 61"/>
                <a:gd name="T13" fmla="*/ 2 h 67"/>
                <a:gd name="T14" fmla="*/ 2 w 61"/>
                <a:gd name="T15" fmla="*/ 2 h 67"/>
                <a:gd name="T16" fmla="*/ 2 w 61"/>
                <a:gd name="T17" fmla="*/ 2 h 67"/>
                <a:gd name="T18" fmla="*/ 2 w 61"/>
                <a:gd name="T19" fmla="*/ 2 h 67"/>
                <a:gd name="T20" fmla="*/ 2 w 61"/>
                <a:gd name="T21" fmla="*/ 2 h 67"/>
                <a:gd name="T22" fmla="*/ 2 w 61"/>
                <a:gd name="T23" fmla="*/ 2 h 67"/>
                <a:gd name="T24" fmla="*/ 2 w 61"/>
                <a:gd name="T25" fmla="*/ 2 h 67"/>
                <a:gd name="T26" fmla="*/ 2 w 61"/>
                <a:gd name="T27" fmla="*/ 2 h 6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3" name="Freeform 75"/>
            <p:cNvSpPr/>
            <p:nvPr userDrawn="1"/>
          </p:nvSpPr>
          <p:spPr bwMode="invGray">
            <a:xfrm>
              <a:off x="4098" y="3371"/>
              <a:ext cx="32" cy="27"/>
            </a:xfrm>
            <a:custGeom>
              <a:avLst/>
              <a:gdLst>
                <a:gd name="T0" fmla="*/ 1 w 43"/>
                <a:gd name="T1" fmla="*/ 2 h 36"/>
                <a:gd name="T2" fmla="*/ 1 w 43"/>
                <a:gd name="T3" fmla="*/ 2 h 36"/>
                <a:gd name="T4" fmla="*/ 1 w 43"/>
                <a:gd name="T5" fmla="*/ 2 h 36"/>
                <a:gd name="T6" fmla="*/ 1 w 43"/>
                <a:gd name="T7" fmla="*/ 2 h 36"/>
                <a:gd name="T8" fmla="*/ 1 w 43"/>
                <a:gd name="T9" fmla="*/ 2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4" name="Freeform 76"/>
            <p:cNvSpPr/>
            <p:nvPr userDrawn="1"/>
          </p:nvSpPr>
          <p:spPr bwMode="invGray">
            <a:xfrm>
              <a:off x="4077" y="3342"/>
              <a:ext cx="24" cy="31"/>
            </a:xfrm>
            <a:custGeom>
              <a:avLst/>
              <a:gdLst>
                <a:gd name="T0" fmla="*/ 2 w 32"/>
                <a:gd name="T1" fmla="*/ 0 h 41"/>
                <a:gd name="T2" fmla="*/ 0 w 32"/>
                <a:gd name="T3" fmla="*/ 2 h 41"/>
                <a:gd name="T4" fmla="*/ 2 w 32"/>
                <a:gd name="T5" fmla="*/ 2 h 41"/>
                <a:gd name="T6" fmla="*/ 2 w 32"/>
                <a:gd name="T7" fmla="*/ 2 h 41"/>
                <a:gd name="T8" fmla="*/ 2 w 32"/>
                <a:gd name="T9" fmla="*/ 2 h 41"/>
                <a:gd name="T10" fmla="*/ 2 w 32"/>
                <a:gd name="T11" fmla="*/ 2 h 41"/>
                <a:gd name="T12" fmla="*/ 2 w 32"/>
                <a:gd name="T13" fmla="*/ 2 h 41"/>
                <a:gd name="T14" fmla="*/ 2 w 32"/>
                <a:gd name="T15" fmla="*/ 0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5" name="Freeform 77"/>
            <p:cNvSpPr/>
            <p:nvPr userDrawn="1"/>
          </p:nvSpPr>
          <p:spPr bwMode="invGray">
            <a:xfrm>
              <a:off x="4111" y="3352"/>
              <a:ext cx="32" cy="25"/>
            </a:xfrm>
            <a:custGeom>
              <a:avLst/>
              <a:gdLst>
                <a:gd name="T0" fmla="*/ 1 w 45"/>
                <a:gd name="T1" fmla="*/ 0 h 32"/>
                <a:gd name="T2" fmla="*/ 0 w 45"/>
                <a:gd name="T3" fmla="*/ 2 h 32"/>
                <a:gd name="T4" fmla="*/ 1 w 45"/>
                <a:gd name="T5" fmla="*/ 2 h 32"/>
                <a:gd name="T6" fmla="*/ 1 w 45"/>
                <a:gd name="T7" fmla="*/ 2 h 32"/>
                <a:gd name="T8" fmla="*/ 1 w 45"/>
                <a:gd name="T9" fmla="*/ 2 h 32"/>
                <a:gd name="T10" fmla="*/ 1 w 45"/>
                <a:gd name="T11" fmla="*/ 0 h 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6" name="Freeform 78"/>
            <p:cNvSpPr/>
            <p:nvPr userDrawn="1"/>
          </p:nvSpPr>
          <p:spPr bwMode="invGray">
            <a:xfrm>
              <a:off x="4062" y="3021"/>
              <a:ext cx="27" cy="55"/>
            </a:xfrm>
            <a:custGeom>
              <a:avLst/>
              <a:gdLst>
                <a:gd name="T0" fmla="*/ 2 w 35"/>
                <a:gd name="T1" fmla="*/ 0 h 74"/>
                <a:gd name="T2" fmla="*/ 2 w 35"/>
                <a:gd name="T3" fmla="*/ 1 h 74"/>
                <a:gd name="T4" fmla="*/ 2 w 35"/>
                <a:gd name="T5" fmla="*/ 1 h 74"/>
                <a:gd name="T6" fmla="*/ 0 w 35"/>
                <a:gd name="T7" fmla="*/ 1 h 74"/>
                <a:gd name="T8" fmla="*/ 2 w 35"/>
                <a:gd name="T9" fmla="*/ 1 h 74"/>
                <a:gd name="T10" fmla="*/ 2 w 35"/>
                <a:gd name="T11" fmla="*/ 1 h 74"/>
                <a:gd name="T12" fmla="*/ 2 w 35"/>
                <a:gd name="T13" fmla="*/ 1 h 74"/>
                <a:gd name="T14" fmla="*/ 2 w 35"/>
                <a:gd name="T15" fmla="*/ 0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7" name="Freeform 79"/>
            <p:cNvSpPr/>
            <p:nvPr userDrawn="1"/>
          </p:nvSpPr>
          <p:spPr bwMode="invGray">
            <a:xfrm>
              <a:off x="4114" y="3012"/>
              <a:ext cx="19" cy="55"/>
            </a:xfrm>
            <a:custGeom>
              <a:avLst/>
              <a:gdLst>
                <a:gd name="T0" fmla="*/ 2 w 25"/>
                <a:gd name="T1" fmla="*/ 2 h 73"/>
                <a:gd name="T2" fmla="*/ 2 w 25"/>
                <a:gd name="T3" fmla="*/ 2 h 73"/>
                <a:gd name="T4" fmla="*/ 0 w 25"/>
                <a:gd name="T5" fmla="*/ 2 h 73"/>
                <a:gd name="T6" fmla="*/ 2 w 25"/>
                <a:gd name="T7" fmla="*/ 2 h 73"/>
                <a:gd name="T8" fmla="*/ 2 w 25"/>
                <a:gd name="T9" fmla="*/ 2 h 73"/>
                <a:gd name="T10" fmla="*/ 2 w 25"/>
                <a:gd name="T11" fmla="*/ 2 h 73"/>
                <a:gd name="T12" fmla="*/ 2 w 25"/>
                <a:gd name="T13" fmla="*/ 2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8" name="Freeform 80"/>
            <p:cNvSpPr/>
            <p:nvPr userDrawn="1"/>
          </p:nvSpPr>
          <p:spPr bwMode="invGray">
            <a:xfrm>
              <a:off x="4135" y="2995"/>
              <a:ext cx="8" cy="25"/>
            </a:xfrm>
            <a:custGeom>
              <a:avLst/>
              <a:gdLst>
                <a:gd name="T0" fmla="*/ 1 w 14"/>
                <a:gd name="T1" fmla="*/ 0 h 33"/>
                <a:gd name="T2" fmla="*/ 1 w 14"/>
                <a:gd name="T3" fmla="*/ 2 h 33"/>
                <a:gd name="T4" fmla="*/ 1 w 14"/>
                <a:gd name="T5" fmla="*/ 2 h 33"/>
                <a:gd name="T6" fmla="*/ 1 w 14"/>
                <a:gd name="T7" fmla="*/ 0 h 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69" name="Freeform 81"/>
            <p:cNvSpPr/>
            <p:nvPr userDrawn="1"/>
          </p:nvSpPr>
          <p:spPr bwMode="invGray">
            <a:xfrm>
              <a:off x="4145" y="3007"/>
              <a:ext cx="22" cy="44"/>
            </a:xfrm>
            <a:custGeom>
              <a:avLst/>
              <a:gdLst>
                <a:gd name="T0" fmla="*/ 2 w 28"/>
                <a:gd name="T1" fmla="*/ 0 h 64"/>
                <a:gd name="T2" fmla="*/ 2 w 28"/>
                <a:gd name="T3" fmla="*/ 1 h 64"/>
                <a:gd name="T4" fmla="*/ 2 w 28"/>
                <a:gd name="T5" fmla="*/ 1 h 64"/>
                <a:gd name="T6" fmla="*/ 2 w 28"/>
                <a:gd name="T7" fmla="*/ 1 h 64"/>
                <a:gd name="T8" fmla="*/ 0 w 28"/>
                <a:gd name="T9" fmla="*/ 1 h 64"/>
                <a:gd name="T10" fmla="*/ 2 w 28"/>
                <a:gd name="T11" fmla="*/ 1 h 64"/>
                <a:gd name="T12" fmla="*/ 2 w 28"/>
                <a:gd name="T13" fmla="*/ 1 h 64"/>
                <a:gd name="T14" fmla="*/ 2 w 28"/>
                <a:gd name="T15" fmla="*/ 0 h 6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0" name="Freeform 82"/>
            <p:cNvSpPr/>
            <p:nvPr userDrawn="1"/>
          </p:nvSpPr>
          <p:spPr bwMode="invGray">
            <a:xfrm>
              <a:off x="3876" y="3076"/>
              <a:ext cx="12" cy="27"/>
            </a:xfrm>
            <a:custGeom>
              <a:avLst/>
              <a:gdLst>
                <a:gd name="T0" fmla="*/ 2 w 16"/>
                <a:gd name="T1" fmla="*/ 2 h 36"/>
                <a:gd name="T2" fmla="*/ 0 w 16"/>
                <a:gd name="T3" fmla="*/ 2 h 36"/>
                <a:gd name="T4" fmla="*/ 2 w 16"/>
                <a:gd name="T5" fmla="*/ 2 h 36"/>
                <a:gd name="T6" fmla="*/ 2 w 16"/>
                <a:gd name="T7" fmla="*/ 2 h 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1" name="Freeform 83"/>
            <p:cNvSpPr/>
            <p:nvPr userDrawn="1"/>
          </p:nvSpPr>
          <p:spPr bwMode="invGray">
            <a:xfrm>
              <a:off x="3866" y="3053"/>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2" name="Freeform 84"/>
            <p:cNvSpPr/>
            <p:nvPr userDrawn="1"/>
          </p:nvSpPr>
          <p:spPr bwMode="invGray">
            <a:xfrm>
              <a:off x="3862" y="3035"/>
              <a:ext cx="11" cy="14"/>
            </a:xfrm>
            <a:custGeom>
              <a:avLst/>
              <a:gdLst>
                <a:gd name="T0" fmla="*/ 1 w 16"/>
                <a:gd name="T1" fmla="*/ 1 h 19"/>
                <a:gd name="T2" fmla="*/ 0 w 16"/>
                <a:gd name="T3" fmla="*/ 1 h 19"/>
                <a:gd name="T4" fmla="*/ 1 w 16"/>
                <a:gd name="T5" fmla="*/ 1 h 19"/>
                <a:gd name="T6" fmla="*/ 1 w 16"/>
                <a:gd name="T7" fmla="*/ 1 h 1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3" name="Freeform 85"/>
            <p:cNvSpPr/>
            <p:nvPr userDrawn="1"/>
          </p:nvSpPr>
          <p:spPr bwMode="invGray">
            <a:xfrm>
              <a:off x="3850" y="2995"/>
              <a:ext cx="11" cy="16"/>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4" name="Freeform 86"/>
            <p:cNvSpPr/>
            <p:nvPr userDrawn="1"/>
          </p:nvSpPr>
          <p:spPr bwMode="invGray">
            <a:xfrm>
              <a:off x="3852" y="3020"/>
              <a:ext cx="16" cy="13"/>
            </a:xfrm>
            <a:custGeom>
              <a:avLst/>
              <a:gdLst>
                <a:gd name="T0" fmla="*/ 1 w 22"/>
                <a:gd name="T1" fmla="*/ 0 h 18"/>
                <a:gd name="T2" fmla="*/ 1 w 22"/>
                <a:gd name="T3" fmla="*/ 1 h 18"/>
                <a:gd name="T4" fmla="*/ 1 w 22"/>
                <a:gd name="T5" fmla="*/ 1 h 18"/>
                <a:gd name="T6" fmla="*/ 1 w 22"/>
                <a:gd name="T7" fmla="*/ 0 h 1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5" name="Freeform 87"/>
            <p:cNvSpPr/>
            <p:nvPr userDrawn="1"/>
          </p:nvSpPr>
          <p:spPr bwMode="invGray">
            <a:xfrm>
              <a:off x="4688" y="3643"/>
              <a:ext cx="46" cy="57"/>
            </a:xfrm>
            <a:custGeom>
              <a:avLst/>
              <a:gdLst>
                <a:gd name="T0" fmla="*/ 2 w 60"/>
                <a:gd name="T1" fmla="*/ 1 h 81"/>
                <a:gd name="T2" fmla="*/ 2 w 60"/>
                <a:gd name="T3" fmla="*/ 1 h 81"/>
                <a:gd name="T4" fmla="*/ 2 w 60"/>
                <a:gd name="T5" fmla="*/ 1 h 81"/>
                <a:gd name="T6" fmla="*/ 2 w 60"/>
                <a:gd name="T7" fmla="*/ 1 h 81"/>
                <a:gd name="T8" fmla="*/ 2 w 60"/>
                <a:gd name="T9" fmla="*/ 1 h 81"/>
                <a:gd name="T10" fmla="*/ 2 w 60"/>
                <a:gd name="T11" fmla="*/ 1 h 81"/>
                <a:gd name="T12" fmla="*/ 2 w 60"/>
                <a:gd name="T13" fmla="*/ 1 h 81"/>
                <a:gd name="T14" fmla="*/ 2 w 60"/>
                <a:gd name="T15" fmla="*/ 1 h 81"/>
                <a:gd name="T16" fmla="*/ 2 w 60"/>
                <a:gd name="T17" fmla="*/ 1 h 81"/>
                <a:gd name="T18" fmla="*/ 2 w 60"/>
                <a:gd name="T19" fmla="*/ 1 h 8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6" name="Freeform 88"/>
            <p:cNvSpPr/>
            <p:nvPr userDrawn="1"/>
          </p:nvSpPr>
          <p:spPr bwMode="invGray">
            <a:xfrm>
              <a:off x="4919" y="3594"/>
              <a:ext cx="53" cy="46"/>
            </a:xfrm>
            <a:custGeom>
              <a:avLst/>
              <a:gdLst>
                <a:gd name="T0" fmla="*/ 1 w 71"/>
                <a:gd name="T1" fmla="*/ 2 h 61"/>
                <a:gd name="T2" fmla="*/ 1 w 71"/>
                <a:gd name="T3" fmla="*/ 2 h 61"/>
                <a:gd name="T4" fmla="*/ 1 w 71"/>
                <a:gd name="T5" fmla="*/ 2 h 61"/>
                <a:gd name="T6" fmla="*/ 1 w 71"/>
                <a:gd name="T7" fmla="*/ 2 h 61"/>
                <a:gd name="T8" fmla="*/ 1 w 71"/>
                <a:gd name="T9" fmla="*/ 2 h 61"/>
                <a:gd name="T10" fmla="*/ 1 w 71"/>
                <a:gd name="T11" fmla="*/ 2 h 61"/>
                <a:gd name="T12" fmla="*/ 1 w 71"/>
                <a:gd name="T13" fmla="*/ 0 h 61"/>
                <a:gd name="T14" fmla="*/ 1 w 71"/>
                <a:gd name="T15" fmla="*/ 2 h 61"/>
                <a:gd name="T16" fmla="*/ 1 w 71"/>
                <a:gd name="T17" fmla="*/ 2 h 61"/>
                <a:gd name="T18" fmla="*/ 1 w 71"/>
                <a:gd name="T19" fmla="*/ 2 h 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7" name="Freeform 89"/>
            <p:cNvSpPr/>
            <p:nvPr userDrawn="1"/>
          </p:nvSpPr>
          <p:spPr bwMode="invGray">
            <a:xfrm>
              <a:off x="4759" y="3569"/>
              <a:ext cx="17" cy="23"/>
            </a:xfrm>
            <a:custGeom>
              <a:avLst/>
              <a:gdLst>
                <a:gd name="T0" fmla="*/ 1 w 23"/>
                <a:gd name="T1" fmla="*/ 0 h 30"/>
                <a:gd name="T2" fmla="*/ 0 w 23"/>
                <a:gd name="T3" fmla="*/ 2 h 30"/>
                <a:gd name="T4" fmla="*/ 1 w 23"/>
                <a:gd name="T5" fmla="*/ 2 h 30"/>
                <a:gd name="T6" fmla="*/ 1 w 23"/>
                <a:gd name="T7" fmla="*/ 0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8" name="Freeform 90"/>
            <p:cNvSpPr/>
            <p:nvPr userDrawn="1"/>
          </p:nvSpPr>
          <p:spPr bwMode="invGray">
            <a:xfrm>
              <a:off x="4751" y="3547"/>
              <a:ext cx="19" cy="17"/>
            </a:xfrm>
            <a:custGeom>
              <a:avLst/>
              <a:gdLst>
                <a:gd name="T0" fmla="*/ 1 w 26"/>
                <a:gd name="T1" fmla="*/ 0 h 23"/>
                <a:gd name="T2" fmla="*/ 0 w 26"/>
                <a:gd name="T3" fmla="*/ 1 h 23"/>
                <a:gd name="T4" fmla="*/ 1 w 26"/>
                <a:gd name="T5" fmla="*/ 1 h 23"/>
                <a:gd name="T6" fmla="*/ 1 w 26"/>
                <a:gd name="T7" fmla="*/ 0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79" name="Freeform 91"/>
            <p:cNvSpPr/>
            <p:nvPr userDrawn="1"/>
          </p:nvSpPr>
          <p:spPr bwMode="invGray">
            <a:xfrm>
              <a:off x="4598" y="3352"/>
              <a:ext cx="24" cy="32"/>
            </a:xfrm>
            <a:custGeom>
              <a:avLst/>
              <a:gdLst>
                <a:gd name="T0" fmla="*/ 2 w 32"/>
                <a:gd name="T1" fmla="*/ 0 h 44"/>
                <a:gd name="T2" fmla="*/ 2 w 32"/>
                <a:gd name="T3" fmla="*/ 1 h 44"/>
                <a:gd name="T4" fmla="*/ 2 w 32"/>
                <a:gd name="T5" fmla="*/ 1 h 44"/>
                <a:gd name="T6" fmla="*/ 2 w 32"/>
                <a:gd name="T7" fmla="*/ 1 h 44"/>
                <a:gd name="T8" fmla="*/ 2 w 32"/>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0" name="Freeform 92"/>
            <p:cNvSpPr/>
            <p:nvPr userDrawn="1"/>
          </p:nvSpPr>
          <p:spPr bwMode="invGray">
            <a:xfrm>
              <a:off x="4632" y="3396"/>
              <a:ext cx="27" cy="33"/>
            </a:xfrm>
            <a:custGeom>
              <a:avLst/>
              <a:gdLst>
                <a:gd name="T0" fmla="*/ 2 w 34"/>
                <a:gd name="T1" fmla="*/ 0 h 44"/>
                <a:gd name="T2" fmla="*/ 2 w 34"/>
                <a:gd name="T3" fmla="*/ 2 h 44"/>
                <a:gd name="T4" fmla="*/ 2 w 34"/>
                <a:gd name="T5" fmla="*/ 2 h 44"/>
                <a:gd name="T6" fmla="*/ 2 w 34"/>
                <a:gd name="T7" fmla="*/ 2 h 44"/>
                <a:gd name="T8" fmla="*/ 2 w 3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1" name="Freeform 93"/>
            <p:cNvSpPr/>
            <p:nvPr userDrawn="1"/>
          </p:nvSpPr>
          <p:spPr bwMode="invGray">
            <a:xfrm>
              <a:off x="4659" y="3459"/>
              <a:ext cx="28" cy="28"/>
            </a:xfrm>
            <a:custGeom>
              <a:avLst/>
              <a:gdLst>
                <a:gd name="T0" fmla="*/ 1 w 38"/>
                <a:gd name="T1" fmla="*/ 2 h 37"/>
                <a:gd name="T2" fmla="*/ 1 w 38"/>
                <a:gd name="T3" fmla="*/ 2 h 37"/>
                <a:gd name="T4" fmla="*/ 1 w 38"/>
                <a:gd name="T5" fmla="*/ 2 h 37"/>
                <a:gd name="T6" fmla="*/ 1 w 38"/>
                <a:gd name="T7" fmla="*/ 2 h 37"/>
                <a:gd name="T8" fmla="*/ 1 w 38"/>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2" name="Freeform 94"/>
            <p:cNvSpPr/>
            <p:nvPr userDrawn="1"/>
          </p:nvSpPr>
          <p:spPr bwMode="invGray">
            <a:xfrm>
              <a:off x="4693" y="3448"/>
              <a:ext cx="28" cy="27"/>
            </a:xfrm>
            <a:custGeom>
              <a:avLst/>
              <a:gdLst>
                <a:gd name="T0" fmla="*/ 1 w 38"/>
                <a:gd name="T1" fmla="*/ 2 h 34"/>
                <a:gd name="T2" fmla="*/ 1 w 38"/>
                <a:gd name="T3" fmla="*/ 2 h 34"/>
                <a:gd name="T4" fmla="*/ 1 w 38"/>
                <a:gd name="T5" fmla="*/ 2 h 34"/>
                <a:gd name="T6" fmla="*/ 1 w 38"/>
                <a:gd name="T7" fmla="*/ 2 h 34"/>
                <a:gd name="T8" fmla="*/ 1 w 38"/>
                <a:gd name="T9" fmla="*/ 2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3" name="Freeform 95"/>
            <p:cNvSpPr/>
            <p:nvPr userDrawn="1"/>
          </p:nvSpPr>
          <p:spPr bwMode="invGray">
            <a:xfrm>
              <a:off x="4683" y="3413"/>
              <a:ext cx="27" cy="17"/>
            </a:xfrm>
            <a:custGeom>
              <a:avLst/>
              <a:gdLst>
                <a:gd name="T0" fmla="*/ 2 w 35"/>
                <a:gd name="T1" fmla="*/ 1 h 27"/>
                <a:gd name="T2" fmla="*/ 2 w 35"/>
                <a:gd name="T3" fmla="*/ 1 h 27"/>
                <a:gd name="T4" fmla="*/ 2 w 35"/>
                <a:gd name="T5" fmla="*/ 1 h 27"/>
                <a:gd name="T6" fmla="*/ 2 w 35"/>
                <a:gd name="T7" fmla="*/ 1 h 27"/>
                <a:gd name="T8" fmla="*/ 2 w 35"/>
                <a:gd name="T9" fmla="*/ 1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4" name="Freeform 96"/>
            <p:cNvSpPr/>
            <p:nvPr userDrawn="1"/>
          </p:nvSpPr>
          <p:spPr bwMode="invGray">
            <a:xfrm>
              <a:off x="4657" y="3388"/>
              <a:ext cx="26" cy="35"/>
            </a:xfrm>
            <a:custGeom>
              <a:avLst/>
              <a:gdLst>
                <a:gd name="T0" fmla="*/ 1 w 35"/>
                <a:gd name="T1" fmla="*/ 1 h 47"/>
                <a:gd name="T2" fmla="*/ 1 w 35"/>
                <a:gd name="T3" fmla="*/ 1 h 47"/>
                <a:gd name="T4" fmla="*/ 1 w 35"/>
                <a:gd name="T5" fmla="*/ 1 h 47"/>
                <a:gd name="T6" fmla="*/ 1 w 35"/>
                <a:gd name="T7" fmla="*/ 1 h 47"/>
                <a:gd name="T8" fmla="*/ 1 w 35"/>
                <a:gd name="T9" fmla="*/ 1 h 47"/>
                <a:gd name="T10" fmla="*/ 1 w 35"/>
                <a:gd name="T11" fmla="*/ 1 h 4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5" name="Freeform 97"/>
            <p:cNvSpPr/>
            <p:nvPr userDrawn="1"/>
          </p:nvSpPr>
          <p:spPr bwMode="invGray">
            <a:xfrm>
              <a:off x="4625" y="3372"/>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6" name="Freeform 98"/>
            <p:cNvSpPr/>
            <p:nvPr userDrawn="1"/>
          </p:nvSpPr>
          <p:spPr bwMode="invGray">
            <a:xfrm>
              <a:off x="4665" y="3425"/>
              <a:ext cx="24" cy="26"/>
            </a:xfrm>
            <a:custGeom>
              <a:avLst/>
              <a:gdLst>
                <a:gd name="T0" fmla="*/ 2 w 32"/>
                <a:gd name="T1" fmla="*/ 1 h 35"/>
                <a:gd name="T2" fmla="*/ 2 w 32"/>
                <a:gd name="T3" fmla="*/ 1 h 35"/>
                <a:gd name="T4" fmla="*/ 2 w 32"/>
                <a:gd name="T5" fmla="*/ 1 h 35"/>
                <a:gd name="T6" fmla="*/ 2 w 32"/>
                <a:gd name="T7" fmla="*/ 1 h 35"/>
                <a:gd name="T8" fmla="*/ 2 w 32"/>
                <a:gd name="T9" fmla="*/ 1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7" name="Freeform 99"/>
            <p:cNvSpPr/>
            <p:nvPr userDrawn="1"/>
          </p:nvSpPr>
          <p:spPr bwMode="invGray">
            <a:xfrm>
              <a:off x="3055" y="2051"/>
              <a:ext cx="141" cy="108"/>
            </a:xfrm>
            <a:custGeom>
              <a:avLst/>
              <a:gdLst>
                <a:gd name="T0" fmla="*/ 1 w 189"/>
                <a:gd name="T1" fmla="*/ 2 h 144"/>
                <a:gd name="T2" fmla="*/ 1 w 189"/>
                <a:gd name="T3" fmla="*/ 2 h 144"/>
                <a:gd name="T4" fmla="*/ 1 w 189"/>
                <a:gd name="T5" fmla="*/ 2 h 144"/>
                <a:gd name="T6" fmla="*/ 1 w 189"/>
                <a:gd name="T7" fmla="*/ 2 h 144"/>
                <a:gd name="T8" fmla="*/ 1 w 189"/>
                <a:gd name="T9" fmla="*/ 2 h 144"/>
                <a:gd name="T10" fmla="*/ 1 w 189"/>
                <a:gd name="T11" fmla="*/ 2 h 144"/>
                <a:gd name="T12" fmla="*/ 1 w 189"/>
                <a:gd name="T13" fmla="*/ 2 h 144"/>
                <a:gd name="T14" fmla="*/ 1 w 189"/>
                <a:gd name="T15" fmla="*/ 2 h 144"/>
                <a:gd name="T16" fmla="*/ 1 w 189"/>
                <a:gd name="T17" fmla="*/ 2 h 144"/>
                <a:gd name="T18" fmla="*/ 1 w 189"/>
                <a:gd name="T19" fmla="*/ 2 h 144"/>
                <a:gd name="T20" fmla="*/ 1 w 189"/>
                <a:gd name="T21" fmla="*/ 2 h 144"/>
                <a:gd name="T22" fmla="*/ 1 w 189"/>
                <a:gd name="T23" fmla="*/ 2 h 144"/>
                <a:gd name="T24" fmla="*/ 1 w 189"/>
                <a:gd name="T25" fmla="*/ 2 h 144"/>
                <a:gd name="T26" fmla="*/ 1 w 189"/>
                <a:gd name="T27" fmla="*/ 2 h 144"/>
                <a:gd name="T28" fmla="*/ 1 w 189"/>
                <a:gd name="T29" fmla="*/ 2 h 144"/>
                <a:gd name="T30" fmla="*/ 1 w 189"/>
                <a:gd name="T31" fmla="*/ 2 h 144"/>
                <a:gd name="T32" fmla="*/ 1 w 189"/>
                <a:gd name="T33" fmla="*/ 2 h 144"/>
                <a:gd name="T34" fmla="*/ 1 w 189"/>
                <a:gd name="T35" fmla="*/ 2 h 144"/>
                <a:gd name="T36" fmla="*/ 1 w 189"/>
                <a:gd name="T37" fmla="*/ 2 h 144"/>
                <a:gd name="T38" fmla="*/ 1 w 189"/>
                <a:gd name="T39" fmla="*/ 2 h 144"/>
                <a:gd name="T40" fmla="*/ 1 w 189"/>
                <a:gd name="T41" fmla="*/ 2 h 144"/>
                <a:gd name="T42" fmla="*/ 1 w 189"/>
                <a:gd name="T43" fmla="*/ 2 h 144"/>
                <a:gd name="T44" fmla="*/ 1 w 189"/>
                <a:gd name="T45" fmla="*/ 2 h 1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8" name="Freeform 100"/>
            <p:cNvSpPr/>
            <p:nvPr userDrawn="1"/>
          </p:nvSpPr>
          <p:spPr bwMode="invGray">
            <a:xfrm>
              <a:off x="3139" y="2155"/>
              <a:ext cx="39" cy="12"/>
            </a:xfrm>
            <a:custGeom>
              <a:avLst/>
              <a:gdLst>
                <a:gd name="T0" fmla="*/ 1 w 53"/>
                <a:gd name="T1" fmla="*/ 0 h 17"/>
                <a:gd name="T2" fmla="*/ 1 w 53"/>
                <a:gd name="T3" fmla="*/ 1 h 17"/>
                <a:gd name="T4" fmla="*/ 1 w 53"/>
                <a:gd name="T5" fmla="*/ 1 h 17"/>
                <a:gd name="T6" fmla="*/ 1 w 53"/>
                <a:gd name="T7" fmla="*/ 1 h 17"/>
                <a:gd name="T8" fmla="*/ 1 w 5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89" name="Freeform 101"/>
            <p:cNvSpPr/>
            <p:nvPr userDrawn="1"/>
          </p:nvSpPr>
          <p:spPr bwMode="invGray">
            <a:xfrm>
              <a:off x="3344" y="1999"/>
              <a:ext cx="42" cy="27"/>
            </a:xfrm>
            <a:custGeom>
              <a:avLst/>
              <a:gdLst>
                <a:gd name="T0" fmla="*/ 1 w 57"/>
                <a:gd name="T1" fmla="*/ 1 h 37"/>
                <a:gd name="T2" fmla="*/ 1 w 57"/>
                <a:gd name="T3" fmla="*/ 1 h 37"/>
                <a:gd name="T4" fmla="*/ 1 w 57"/>
                <a:gd name="T5" fmla="*/ 1 h 37"/>
                <a:gd name="T6" fmla="*/ 1 w 57"/>
                <a:gd name="T7" fmla="*/ 1 h 37"/>
                <a:gd name="T8" fmla="*/ 1 w 57"/>
                <a:gd name="T9" fmla="*/ 0 h 37"/>
                <a:gd name="T10" fmla="*/ 1 w 57"/>
                <a:gd name="T11" fmla="*/ 1 h 3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0" name="Freeform 102"/>
            <p:cNvSpPr/>
            <p:nvPr userDrawn="1"/>
          </p:nvSpPr>
          <p:spPr bwMode="invGray">
            <a:xfrm>
              <a:off x="3374" y="2011"/>
              <a:ext cx="50" cy="16"/>
            </a:xfrm>
            <a:custGeom>
              <a:avLst/>
              <a:gdLst>
                <a:gd name="T0" fmla="*/ 1 w 68"/>
                <a:gd name="T1" fmla="*/ 0 h 26"/>
                <a:gd name="T2" fmla="*/ 1 w 68"/>
                <a:gd name="T3" fmla="*/ 1 h 26"/>
                <a:gd name="T4" fmla="*/ 1 w 68"/>
                <a:gd name="T5" fmla="*/ 1 h 26"/>
                <a:gd name="T6" fmla="*/ 1 w 68"/>
                <a:gd name="T7" fmla="*/ 1 h 26"/>
                <a:gd name="T8" fmla="*/ 1 w 68"/>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1" name="Freeform 103"/>
            <p:cNvSpPr/>
            <p:nvPr userDrawn="1"/>
          </p:nvSpPr>
          <p:spPr bwMode="invGray">
            <a:xfrm>
              <a:off x="3428" y="2015"/>
              <a:ext cx="49" cy="32"/>
            </a:xfrm>
            <a:custGeom>
              <a:avLst/>
              <a:gdLst>
                <a:gd name="T0" fmla="*/ 1 w 66"/>
                <a:gd name="T1" fmla="*/ 1 h 43"/>
                <a:gd name="T2" fmla="*/ 1 w 66"/>
                <a:gd name="T3" fmla="*/ 1 h 43"/>
                <a:gd name="T4" fmla="*/ 1 w 66"/>
                <a:gd name="T5" fmla="*/ 1 h 43"/>
                <a:gd name="T6" fmla="*/ 1 w 66"/>
                <a:gd name="T7" fmla="*/ 1 h 43"/>
                <a:gd name="T8" fmla="*/ 1 w 66"/>
                <a:gd name="T9" fmla="*/ 1 h 43"/>
                <a:gd name="T10" fmla="*/ 1 w 66"/>
                <a:gd name="T11" fmla="*/ 1 h 43"/>
                <a:gd name="T12" fmla="*/ 1 w 66"/>
                <a:gd name="T13" fmla="*/ 1 h 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2" name="Freeform 104"/>
            <p:cNvSpPr/>
            <p:nvPr userDrawn="1"/>
          </p:nvSpPr>
          <p:spPr bwMode="invGray">
            <a:xfrm>
              <a:off x="3777" y="2042"/>
              <a:ext cx="88" cy="31"/>
            </a:xfrm>
            <a:custGeom>
              <a:avLst/>
              <a:gdLst>
                <a:gd name="T0" fmla="*/ 2 w 117"/>
                <a:gd name="T1" fmla="*/ 0 h 41"/>
                <a:gd name="T2" fmla="*/ 2 w 117"/>
                <a:gd name="T3" fmla="*/ 2 h 41"/>
                <a:gd name="T4" fmla="*/ 2 w 117"/>
                <a:gd name="T5" fmla="*/ 2 h 41"/>
                <a:gd name="T6" fmla="*/ 2 w 117"/>
                <a:gd name="T7" fmla="*/ 2 h 41"/>
                <a:gd name="T8" fmla="*/ 2 w 117"/>
                <a:gd name="T9" fmla="*/ 2 h 41"/>
                <a:gd name="T10" fmla="*/ 2 w 117"/>
                <a:gd name="T11" fmla="*/ 2 h 41"/>
                <a:gd name="T12" fmla="*/ 2 w 117"/>
                <a:gd name="T13" fmla="*/ 0 h 4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3" name="Freeform 105"/>
            <p:cNvSpPr/>
            <p:nvPr userDrawn="1"/>
          </p:nvSpPr>
          <p:spPr bwMode="invGray">
            <a:xfrm>
              <a:off x="3867" y="2041"/>
              <a:ext cx="43" cy="26"/>
            </a:xfrm>
            <a:custGeom>
              <a:avLst/>
              <a:gdLst>
                <a:gd name="T0" fmla="*/ 1 w 62"/>
                <a:gd name="T1" fmla="*/ 2 h 32"/>
                <a:gd name="T2" fmla="*/ 1 w 62"/>
                <a:gd name="T3" fmla="*/ 2 h 32"/>
                <a:gd name="T4" fmla="*/ 1 w 62"/>
                <a:gd name="T5" fmla="*/ 2 h 32"/>
                <a:gd name="T6" fmla="*/ 1 w 62"/>
                <a:gd name="T7" fmla="*/ 2 h 32"/>
                <a:gd name="T8" fmla="*/ 1 w 62"/>
                <a:gd name="T9" fmla="*/ 2 h 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4" name="Freeform 106"/>
            <p:cNvSpPr/>
            <p:nvPr userDrawn="1"/>
          </p:nvSpPr>
          <p:spPr bwMode="invGray">
            <a:xfrm>
              <a:off x="3846" y="2070"/>
              <a:ext cx="37" cy="17"/>
            </a:xfrm>
            <a:custGeom>
              <a:avLst/>
              <a:gdLst>
                <a:gd name="T0" fmla="*/ 2 w 49"/>
                <a:gd name="T1" fmla="*/ 1 h 23"/>
                <a:gd name="T2" fmla="*/ 2 w 49"/>
                <a:gd name="T3" fmla="*/ 1 h 23"/>
                <a:gd name="T4" fmla="*/ 2 w 49"/>
                <a:gd name="T5" fmla="*/ 1 h 23"/>
                <a:gd name="T6" fmla="*/ 2 w 49"/>
                <a:gd name="T7" fmla="*/ 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5" name="Freeform 107"/>
            <p:cNvSpPr/>
            <p:nvPr userDrawn="1"/>
          </p:nvSpPr>
          <p:spPr bwMode="invGray">
            <a:xfrm>
              <a:off x="4098" y="2294"/>
              <a:ext cx="74" cy="111"/>
            </a:xfrm>
            <a:custGeom>
              <a:avLst/>
              <a:gdLst>
                <a:gd name="T0" fmla="*/ 1 w 102"/>
                <a:gd name="T1" fmla="*/ 0 h 152"/>
                <a:gd name="T2" fmla="*/ 0 w 102"/>
                <a:gd name="T3" fmla="*/ 1 h 152"/>
                <a:gd name="T4" fmla="*/ 1 w 102"/>
                <a:gd name="T5" fmla="*/ 1 h 152"/>
                <a:gd name="T6" fmla="*/ 1 w 102"/>
                <a:gd name="T7" fmla="*/ 1 h 152"/>
                <a:gd name="T8" fmla="*/ 1 w 102"/>
                <a:gd name="T9" fmla="*/ 1 h 152"/>
                <a:gd name="T10" fmla="*/ 1 w 102"/>
                <a:gd name="T11" fmla="*/ 1 h 152"/>
                <a:gd name="T12" fmla="*/ 1 w 102"/>
                <a:gd name="T13" fmla="*/ 1 h 152"/>
                <a:gd name="T14" fmla="*/ 1 w 102"/>
                <a:gd name="T15" fmla="*/ 1 h 152"/>
                <a:gd name="T16" fmla="*/ 1 w 102"/>
                <a:gd name="T17" fmla="*/ 1 h 152"/>
                <a:gd name="T18" fmla="*/ 1 w 102"/>
                <a:gd name="T19" fmla="*/ 1 h 152"/>
                <a:gd name="T20" fmla="*/ 1 w 102"/>
                <a:gd name="T21" fmla="*/ 1 h 152"/>
                <a:gd name="T22" fmla="*/ 1 w 102"/>
                <a:gd name="T23" fmla="*/ 1 h 152"/>
                <a:gd name="T24" fmla="*/ 1 w 102"/>
                <a:gd name="T25" fmla="*/ 0 h 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6" name="Freeform 108"/>
            <p:cNvSpPr/>
            <p:nvPr userDrawn="1"/>
          </p:nvSpPr>
          <p:spPr bwMode="invGray">
            <a:xfrm>
              <a:off x="4159" y="2412"/>
              <a:ext cx="55" cy="80"/>
            </a:xfrm>
            <a:custGeom>
              <a:avLst/>
              <a:gdLst>
                <a:gd name="T0" fmla="*/ 1 w 74"/>
                <a:gd name="T1" fmla="*/ 2 h 103"/>
                <a:gd name="T2" fmla="*/ 1 w 74"/>
                <a:gd name="T3" fmla="*/ 2 h 103"/>
                <a:gd name="T4" fmla="*/ 1 w 74"/>
                <a:gd name="T5" fmla="*/ 2 h 103"/>
                <a:gd name="T6" fmla="*/ 1 w 74"/>
                <a:gd name="T7" fmla="*/ 2 h 103"/>
                <a:gd name="T8" fmla="*/ 1 w 74"/>
                <a:gd name="T9" fmla="*/ 2 h 103"/>
                <a:gd name="T10" fmla="*/ 1 w 74"/>
                <a:gd name="T11" fmla="*/ 2 h 103"/>
                <a:gd name="T12" fmla="*/ 0 w 74"/>
                <a:gd name="T13" fmla="*/ 2 h 103"/>
                <a:gd name="T14" fmla="*/ 1 w 74"/>
                <a:gd name="T15" fmla="*/ 2 h 103"/>
                <a:gd name="T16" fmla="*/ 1 w 74"/>
                <a:gd name="T17" fmla="*/ 2 h 103"/>
                <a:gd name="T18" fmla="*/ 1 w 74"/>
                <a:gd name="T19" fmla="*/ 2 h 103"/>
                <a:gd name="T20" fmla="*/ 1 w 74"/>
                <a:gd name="T21" fmla="*/ 2 h 103"/>
                <a:gd name="T22" fmla="*/ 1 w 74"/>
                <a:gd name="T23" fmla="*/ 2 h 103"/>
                <a:gd name="T24" fmla="*/ 1 w 74"/>
                <a:gd name="T25" fmla="*/ 2 h 103"/>
                <a:gd name="T26" fmla="*/ 1 w 74"/>
                <a:gd name="T27" fmla="*/ 2 h 1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7" name="Freeform 109"/>
            <p:cNvSpPr/>
            <p:nvPr userDrawn="1"/>
          </p:nvSpPr>
          <p:spPr bwMode="invGray">
            <a:xfrm>
              <a:off x="4123" y="2492"/>
              <a:ext cx="109" cy="191"/>
            </a:xfrm>
            <a:custGeom>
              <a:avLst/>
              <a:gdLst>
                <a:gd name="T0" fmla="*/ 1 w 146"/>
                <a:gd name="T1" fmla="*/ 2 h 252"/>
                <a:gd name="T2" fmla="*/ 1 w 146"/>
                <a:gd name="T3" fmla="*/ 2 h 252"/>
                <a:gd name="T4" fmla="*/ 1 w 146"/>
                <a:gd name="T5" fmla="*/ 2 h 252"/>
                <a:gd name="T6" fmla="*/ 1 w 146"/>
                <a:gd name="T7" fmla="*/ 2 h 252"/>
                <a:gd name="T8" fmla="*/ 1 w 146"/>
                <a:gd name="T9" fmla="*/ 2 h 252"/>
                <a:gd name="T10" fmla="*/ 1 w 146"/>
                <a:gd name="T11" fmla="*/ 2 h 252"/>
                <a:gd name="T12" fmla="*/ 1 w 146"/>
                <a:gd name="T13" fmla="*/ 2 h 252"/>
                <a:gd name="T14" fmla="*/ 1 w 146"/>
                <a:gd name="T15" fmla="*/ 2 h 252"/>
                <a:gd name="T16" fmla="*/ 1 w 146"/>
                <a:gd name="T17" fmla="*/ 2 h 252"/>
                <a:gd name="T18" fmla="*/ 1 w 146"/>
                <a:gd name="T19" fmla="*/ 2 h 252"/>
                <a:gd name="T20" fmla="*/ 1 w 146"/>
                <a:gd name="T21" fmla="*/ 2 h 252"/>
                <a:gd name="T22" fmla="*/ 1 w 146"/>
                <a:gd name="T23" fmla="*/ 2 h 252"/>
                <a:gd name="T24" fmla="*/ 1 w 146"/>
                <a:gd name="T25" fmla="*/ 2 h 252"/>
                <a:gd name="T26" fmla="*/ 1 w 146"/>
                <a:gd name="T27" fmla="*/ 2 h 252"/>
                <a:gd name="T28" fmla="*/ 1 w 146"/>
                <a:gd name="T29" fmla="*/ 2 h 252"/>
                <a:gd name="T30" fmla="*/ 1 w 146"/>
                <a:gd name="T31" fmla="*/ 2 h 252"/>
                <a:gd name="T32" fmla="*/ 1 w 146"/>
                <a:gd name="T33" fmla="*/ 2 h 252"/>
                <a:gd name="T34" fmla="*/ 1 w 146"/>
                <a:gd name="T35" fmla="*/ 2 h 252"/>
                <a:gd name="T36" fmla="*/ 1 w 146"/>
                <a:gd name="T37" fmla="*/ 2 h 252"/>
                <a:gd name="T38" fmla="*/ 1 w 146"/>
                <a:gd name="T39" fmla="*/ 2 h 252"/>
                <a:gd name="T40" fmla="*/ 1 w 146"/>
                <a:gd name="T41" fmla="*/ 2 h 252"/>
                <a:gd name="T42" fmla="*/ 1 w 146"/>
                <a:gd name="T43" fmla="*/ 2 h 252"/>
                <a:gd name="T44" fmla="*/ 1 w 146"/>
                <a:gd name="T45" fmla="*/ 2 h 252"/>
                <a:gd name="T46" fmla="*/ 1 w 146"/>
                <a:gd name="T47" fmla="*/ 2 h 252"/>
                <a:gd name="T48" fmla="*/ 1 w 146"/>
                <a:gd name="T49" fmla="*/ 0 h 252"/>
                <a:gd name="T50" fmla="*/ 1 w 146"/>
                <a:gd name="T51" fmla="*/ 2 h 252"/>
                <a:gd name="T52" fmla="*/ 1 w 146"/>
                <a:gd name="T53" fmla="*/ 2 h 252"/>
                <a:gd name="T54" fmla="*/ 1 w 146"/>
                <a:gd name="T55" fmla="*/ 2 h 252"/>
                <a:gd name="T56" fmla="*/ 1 w 146"/>
                <a:gd name="T57" fmla="*/ 2 h 2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8" name="Freeform 110"/>
            <p:cNvSpPr/>
            <p:nvPr userDrawn="1"/>
          </p:nvSpPr>
          <p:spPr bwMode="invGray">
            <a:xfrm>
              <a:off x="3062" y="1988"/>
              <a:ext cx="50" cy="30"/>
            </a:xfrm>
            <a:custGeom>
              <a:avLst/>
              <a:gdLst>
                <a:gd name="T0" fmla="*/ 1 w 70"/>
                <a:gd name="T1" fmla="*/ 0 h 40"/>
                <a:gd name="T2" fmla="*/ 1 w 70"/>
                <a:gd name="T3" fmla="*/ 2 h 40"/>
                <a:gd name="T4" fmla="*/ 1 w 70"/>
                <a:gd name="T5" fmla="*/ 2 h 40"/>
                <a:gd name="T6" fmla="*/ 1 w 70"/>
                <a:gd name="T7" fmla="*/ 2 h 40"/>
                <a:gd name="T8" fmla="*/ 1 w 70"/>
                <a:gd name="T9" fmla="*/ 2 h 40"/>
                <a:gd name="T10" fmla="*/ 1 w 70"/>
                <a:gd name="T11" fmla="*/ 2 h 40"/>
                <a:gd name="T12" fmla="*/ 1 w 70"/>
                <a:gd name="T13" fmla="*/ 2 h 40"/>
                <a:gd name="T14" fmla="*/ 1 w 70"/>
                <a:gd name="T15" fmla="*/ 0 h 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99" name="Freeform 111"/>
            <p:cNvSpPr/>
            <p:nvPr userDrawn="1"/>
          </p:nvSpPr>
          <p:spPr bwMode="invGray">
            <a:xfrm>
              <a:off x="2955" y="1997"/>
              <a:ext cx="19" cy="22"/>
            </a:xfrm>
            <a:custGeom>
              <a:avLst/>
              <a:gdLst>
                <a:gd name="T0" fmla="*/ 1 w 26"/>
                <a:gd name="T1" fmla="*/ 0 h 29"/>
                <a:gd name="T2" fmla="*/ 0 w 26"/>
                <a:gd name="T3" fmla="*/ 2 h 29"/>
                <a:gd name="T4" fmla="*/ 1 w 26"/>
                <a:gd name="T5" fmla="*/ 2 h 29"/>
                <a:gd name="T6" fmla="*/ 1 w 26"/>
                <a:gd name="T7" fmla="*/ 0 h 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0" name="Freeform 112"/>
            <p:cNvSpPr/>
            <p:nvPr userDrawn="1"/>
          </p:nvSpPr>
          <p:spPr bwMode="invGray">
            <a:xfrm>
              <a:off x="2979" y="1996"/>
              <a:ext cx="37" cy="27"/>
            </a:xfrm>
            <a:custGeom>
              <a:avLst/>
              <a:gdLst>
                <a:gd name="T0" fmla="*/ 2 w 49"/>
                <a:gd name="T1" fmla="*/ 2 h 36"/>
                <a:gd name="T2" fmla="*/ 0 w 49"/>
                <a:gd name="T3" fmla="*/ 2 h 36"/>
                <a:gd name="T4" fmla="*/ 2 w 49"/>
                <a:gd name="T5" fmla="*/ 2 h 36"/>
                <a:gd name="T6" fmla="*/ 2 w 49"/>
                <a:gd name="T7" fmla="*/ 2 h 36"/>
                <a:gd name="T8" fmla="*/ 2 w 49"/>
                <a:gd name="T9" fmla="*/ 2 h 36"/>
                <a:gd name="T10" fmla="*/ 2 w 49"/>
                <a:gd name="T11" fmla="*/ 2 h 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1" name="Freeform 113"/>
            <p:cNvSpPr/>
            <p:nvPr userDrawn="1"/>
          </p:nvSpPr>
          <p:spPr bwMode="invGray">
            <a:xfrm>
              <a:off x="3040" y="1987"/>
              <a:ext cx="20" cy="16"/>
            </a:xfrm>
            <a:custGeom>
              <a:avLst/>
              <a:gdLst>
                <a:gd name="T0" fmla="*/ 1 w 27"/>
                <a:gd name="T1" fmla="*/ 0 h 22"/>
                <a:gd name="T2" fmla="*/ 1 w 27"/>
                <a:gd name="T3" fmla="*/ 1 h 22"/>
                <a:gd name="T4" fmla="*/ 1 w 27"/>
                <a:gd name="T5" fmla="*/ 1 h 22"/>
                <a:gd name="T6" fmla="*/ 1 w 27"/>
                <a:gd name="T7" fmla="*/ 0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2" name="Freeform 114"/>
            <p:cNvSpPr/>
            <p:nvPr userDrawn="1"/>
          </p:nvSpPr>
          <p:spPr bwMode="invGray">
            <a:xfrm>
              <a:off x="3023" y="2005"/>
              <a:ext cx="15" cy="13"/>
            </a:xfrm>
            <a:custGeom>
              <a:avLst/>
              <a:gdLst>
                <a:gd name="T0" fmla="*/ 2 w 20"/>
                <a:gd name="T1" fmla="*/ 0 h 18"/>
                <a:gd name="T2" fmla="*/ 2 w 20"/>
                <a:gd name="T3" fmla="*/ 1 h 18"/>
                <a:gd name="T4" fmla="*/ 2 w 20"/>
                <a:gd name="T5" fmla="*/ 0 h 18"/>
                <a:gd name="T6" fmla="*/ 0 60000 65536"/>
                <a:gd name="T7" fmla="*/ 0 60000 65536"/>
                <a:gd name="T8" fmla="*/ 0 60000 65536"/>
              </a:gdLst>
              <a:ahLst/>
              <a:cxnLst>
                <a:cxn ang="T6">
                  <a:pos x="T0" y="T1"/>
                </a:cxn>
                <a:cxn ang="T7">
                  <a:pos x="T2" y="T3"/>
                </a:cxn>
                <a:cxn ang="T8">
                  <a:pos x="T4" y="T5"/>
                </a:cxn>
              </a:cxnLst>
              <a:rect l="0" t="0" r="r" b="b"/>
              <a:pathLst>
                <a:path w="20" h="18">
                  <a:moveTo>
                    <a:pt x="11" y="0"/>
                  </a:moveTo>
                  <a:cubicBezTo>
                    <a:pt x="1" y="14"/>
                    <a:pt x="0" y="9"/>
                    <a:pt x="9" y="18"/>
                  </a:cubicBezTo>
                  <a:cubicBezTo>
                    <a:pt x="20" y="14"/>
                    <a:pt x="16" y="18"/>
                    <a:pt x="11"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3" name="Freeform 115"/>
            <p:cNvSpPr/>
            <p:nvPr userDrawn="1"/>
          </p:nvSpPr>
          <p:spPr bwMode="invGray">
            <a:xfrm>
              <a:off x="4162" y="2021"/>
              <a:ext cx="18" cy="31"/>
            </a:xfrm>
            <a:custGeom>
              <a:avLst/>
              <a:gdLst>
                <a:gd name="T0" fmla="*/ 2 w 24"/>
                <a:gd name="T1" fmla="*/ 0 h 44"/>
                <a:gd name="T2" fmla="*/ 2 w 24"/>
                <a:gd name="T3" fmla="*/ 1 h 44"/>
                <a:gd name="T4" fmla="*/ 0 w 24"/>
                <a:gd name="T5" fmla="*/ 1 h 44"/>
                <a:gd name="T6" fmla="*/ 2 w 24"/>
                <a:gd name="T7" fmla="*/ 1 h 44"/>
                <a:gd name="T8" fmla="*/ 2 w 24"/>
                <a:gd name="T9" fmla="*/ 0 h 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4" name="Freeform 116"/>
            <p:cNvSpPr/>
            <p:nvPr userDrawn="1"/>
          </p:nvSpPr>
          <p:spPr bwMode="invGray">
            <a:xfrm>
              <a:off x="3278" y="3473"/>
              <a:ext cx="31" cy="16"/>
            </a:xfrm>
            <a:custGeom>
              <a:avLst/>
              <a:gdLst>
                <a:gd name="T0" fmla="*/ 2 w 41"/>
                <a:gd name="T1" fmla="*/ 0 h 24"/>
                <a:gd name="T2" fmla="*/ 2 w 41"/>
                <a:gd name="T3" fmla="*/ 1 h 24"/>
                <a:gd name="T4" fmla="*/ 2 w 41"/>
                <a:gd name="T5" fmla="*/ 0 h 24"/>
                <a:gd name="T6" fmla="*/ 0 60000 65536"/>
                <a:gd name="T7" fmla="*/ 0 60000 65536"/>
                <a:gd name="T8" fmla="*/ 0 60000 65536"/>
              </a:gdLst>
              <a:ahLst/>
              <a:cxnLst>
                <a:cxn ang="T6">
                  <a:pos x="T0" y="T1"/>
                </a:cxn>
                <a:cxn ang="T7">
                  <a:pos x="T2" y="T3"/>
                </a:cxn>
                <a:cxn ang="T8">
                  <a:pos x="T4" y="T5"/>
                </a:cxn>
              </a:cxnLst>
              <a:rect l="0" t="0" r="r" b="b"/>
              <a:pathLst>
                <a:path w="41" h="24">
                  <a:moveTo>
                    <a:pt x="30" y="0"/>
                  </a:moveTo>
                  <a:cubicBezTo>
                    <a:pt x="4" y="4"/>
                    <a:pt x="0" y="17"/>
                    <a:pt x="26" y="24"/>
                  </a:cubicBezTo>
                  <a:cubicBezTo>
                    <a:pt x="41" y="19"/>
                    <a:pt x="38" y="10"/>
                    <a:pt x="30"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5" name="Freeform 117"/>
            <p:cNvSpPr/>
            <p:nvPr userDrawn="1"/>
          </p:nvSpPr>
          <p:spPr bwMode="invGray">
            <a:xfrm>
              <a:off x="3318" y="3466"/>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6" name="Freeform 118"/>
            <p:cNvSpPr/>
            <p:nvPr userDrawn="1"/>
          </p:nvSpPr>
          <p:spPr bwMode="invGray">
            <a:xfrm>
              <a:off x="3251" y="3311"/>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7" name="Freeform 119"/>
            <p:cNvSpPr/>
            <p:nvPr userDrawn="1"/>
          </p:nvSpPr>
          <p:spPr bwMode="invGray">
            <a:xfrm>
              <a:off x="3311" y="3239"/>
              <a:ext cx="11" cy="15"/>
            </a:xfrm>
            <a:custGeom>
              <a:avLst/>
              <a:gdLst>
                <a:gd name="T0" fmla="*/ 2 w 14"/>
                <a:gd name="T1" fmla="*/ 0 h 25"/>
                <a:gd name="T2" fmla="*/ 0 w 14"/>
                <a:gd name="T3" fmla="*/ 1 h 25"/>
                <a:gd name="T4" fmla="*/ 2 w 14"/>
                <a:gd name="T5" fmla="*/ 1 h 25"/>
                <a:gd name="T6" fmla="*/ 2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8" name="Freeform 120"/>
            <p:cNvSpPr/>
            <p:nvPr userDrawn="1"/>
          </p:nvSpPr>
          <p:spPr bwMode="invGray">
            <a:xfrm>
              <a:off x="3287" y="3238"/>
              <a:ext cx="10" cy="16"/>
            </a:xfrm>
            <a:custGeom>
              <a:avLst/>
              <a:gdLst>
                <a:gd name="T0" fmla="*/ 1 w 14"/>
                <a:gd name="T1" fmla="*/ 0 h 25"/>
                <a:gd name="T2" fmla="*/ 0 w 14"/>
                <a:gd name="T3" fmla="*/ 1 h 25"/>
                <a:gd name="T4" fmla="*/ 1 w 14"/>
                <a:gd name="T5" fmla="*/ 1 h 25"/>
                <a:gd name="T6" fmla="*/ 1 w 14"/>
                <a:gd name="T7" fmla="*/ 0 h 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09" name="Freeform 121"/>
            <p:cNvSpPr/>
            <p:nvPr userDrawn="1"/>
          </p:nvSpPr>
          <p:spPr bwMode="invGray">
            <a:xfrm>
              <a:off x="3276" y="3260"/>
              <a:ext cx="9" cy="15"/>
            </a:xfrm>
            <a:custGeom>
              <a:avLst/>
              <a:gdLst>
                <a:gd name="T0" fmla="*/ 1 w 13"/>
                <a:gd name="T1" fmla="*/ 2 h 20"/>
                <a:gd name="T2" fmla="*/ 1 w 13"/>
                <a:gd name="T3" fmla="*/ 2 h 20"/>
                <a:gd name="T4" fmla="*/ 1 w 13"/>
                <a:gd name="T5" fmla="*/ 2 h 20"/>
                <a:gd name="T6" fmla="*/ 1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0" name="Freeform 122"/>
            <p:cNvSpPr/>
            <p:nvPr userDrawn="1"/>
          </p:nvSpPr>
          <p:spPr bwMode="invGray">
            <a:xfrm>
              <a:off x="3251" y="3294"/>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1" name="Freeform 123"/>
            <p:cNvSpPr/>
            <p:nvPr userDrawn="1"/>
          </p:nvSpPr>
          <p:spPr bwMode="invGray">
            <a:xfrm>
              <a:off x="3270" y="3282"/>
              <a:ext cx="9"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2" name="Freeform 124"/>
            <p:cNvSpPr/>
            <p:nvPr userDrawn="1"/>
          </p:nvSpPr>
          <p:spPr bwMode="invGray">
            <a:xfrm>
              <a:off x="2537" y="2293"/>
              <a:ext cx="10" cy="15"/>
            </a:xfrm>
            <a:custGeom>
              <a:avLst/>
              <a:gdLst>
                <a:gd name="T0" fmla="*/ 2 w 13"/>
                <a:gd name="T1" fmla="*/ 2 h 20"/>
                <a:gd name="T2" fmla="*/ 1 w 13"/>
                <a:gd name="T3" fmla="*/ 2 h 20"/>
                <a:gd name="T4" fmla="*/ 2 w 13"/>
                <a:gd name="T5" fmla="*/ 2 h 20"/>
                <a:gd name="T6" fmla="*/ 2 w 13"/>
                <a:gd name="T7" fmla="*/ 2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3" name="Freeform 125"/>
            <p:cNvSpPr/>
            <p:nvPr userDrawn="1"/>
          </p:nvSpPr>
          <p:spPr bwMode="invGray">
            <a:xfrm>
              <a:off x="2476" y="2258"/>
              <a:ext cx="8" cy="14"/>
            </a:xfrm>
            <a:custGeom>
              <a:avLst/>
              <a:gdLst>
                <a:gd name="T0" fmla="*/ 1 w 13"/>
                <a:gd name="T1" fmla="*/ 1 h 20"/>
                <a:gd name="T2" fmla="*/ 1 w 13"/>
                <a:gd name="T3" fmla="*/ 1 h 20"/>
                <a:gd name="T4" fmla="*/ 1 w 13"/>
                <a:gd name="T5" fmla="*/ 1 h 20"/>
                <a:gd name="T6" fmla="*/ 1 w 13"/>
                <a:gd name="T7" fmla="*/ 1 h 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sp>
          <p:nvSpPr>
            <p:cNvPr id="114" name="Freeform 126"/>
            <p:cNvSpPr/>
            <p:nvPr userDrawn="1"/>
          </p:nvSpPr>
          <p:spPr bwMode="invGray">
            <a:xfrm>
              <a:off x="2238" y="2042"/>
              <a:ext cx="2058" cy="1645"/>
            </a:xfrm>
            <a:custGeom>
              <a:avLst/>
              <a:gdLst>
                <a:gd name="T0" fmla="*/ 452 w 2060"/>
                <a:gd name="T1" fmla="*/ 653 h 1644"/>
                <a:gd name="T2" fmla="*/ 333 w 2060"/>
                <a:gd name="T3" fmla="*/ 595 h 1644"/>
                <a:gd name="T4" fmla="*/ 158 w 2060"/>
                <a:gd name="T5" fmla="*/ 645 h 1644"/>
                <a:gd name="T6" fmla="*/ 46 w 2060"/>
                <a:gd name="T7" fmla="*/ 759 h 1644"/>
                <a:gd name="T8" fmla="*/ 12 w 2060"/>
                <a:gd name="T9" fmla="*/ 959 h 1644"/>
                <a:gd name="T10" fmla="*/ 146 w 2060"/>
                <a:gd name="T11" fmla="*/ 1077 h 1644"/>
                <a:gd name="T12" fmla="*/ 308 w 2060"/>
                <a:gd name="T13" fmla="*/ 1059 h 1644"/>
                <a:gd name="T14" fmla="*/ 396 w 2060"/>
                <a:gd name="T15" fmla="*/ 1156 h 1644"/>
                <a:gd name="T16" fmla="*/ 452 w 2060"/>
                <a:gd name="T17" fmla="*/ 1465 h 1644"/>
                <a:gd name="T18" fmla="*/ 497 w 2060"/>
                <a:gd name="T19" fmla="*/ 1646 h 1644"/>
                <a:gd name="T20" fmla="*/ 686 w 2060"/>
                <a:gd name="T21" fmla="*/ 1592 h 1644"/>
                <a:gd name="T22" fmla="*/ 799 w 2060"/>
                <a:gd name="T23" fmla="*/ 1398 h 1644"/>
                <a:gd name="T24" fmla="*/ 867 w 2060"/>
                <a:gd name="T25" fmla="*/ 1171 h 1644"/>
                <a:gd name="T26" fmla="*/ 980 w 2060"/>
                <a:gd name="T27" fmla="*/ 1017 h 1644"/>
                <a:gd name="T28" fmla="*/ 778 w 2060"/>
                <a:gd name="T29" fmla="*/ 874 h 1644"/>
                <a:gd name="T30" fmla="*/ 799 w 2060"/>
                <a:gd name="T31" fmla="*/ 819 h 1644"/>
                <a:gd name="T32" fmla="*/ 985 w 2060"/>
                <a:gd name="T33" fmla="*/ 934 h 1644"/>
                <a:gd name="T34" fmla="*/ 1080 w 2060"/>
                <a:gd name="T35" fmla="*/ 792 h 1644"/>
                <a:gd name="T36" fmla="*/ 1028 w 2060"/>
                <a:gd name="T37" fmla="*/ 763 h 1644"/>
                <a:gd name="T38" fmla="*/ 911 w 2060"/>
                <a:gd name="T39" fmla="*/ 716 h 1644"/>
                <a:gd name="T40" fmla="*/ 1123 w 2060"/>
                <a:gd name="T41" fmla="*/ 761 h 1644"/>
                <a:gd name="T42" fmla="*/ 1278 w 2060"/>
                <a:gd name="T43" fmla="*/ 870 h 1644"/>
                <a:gd name="T44" fmla="*/ 1355 w 2060"/>
                <a:gd name="T45" fmla="*/ 1051 h 1644"/>
                <a:gd name="T46" fmla="*/ 1572 w 2060"/>
                <a:gd name="T47" fmla="*/ 865 h 1644"/>
                <a:gd name="T48" fmla="*/ 1668 w 2060"/>
                <a:gd name="T49" fmla="*/ 1048 h 1644"/>
                <a:gd name="T50" fmla="*/ 1671 w 2060"/>
                <a:gd name="T51" fmla="*/ 892 h 1644"/>
                <a:gd name="T52" fmla="*/ 1723 w 2060"/>
                <a:gd name="T53" fmla="*/ 800 h 1644"/>
                <a:gd name="T54" fmla="*/ 1747 w 2060"/>
                <a:gd name="T55" fmla="*/ 544 h 1644"/>
                <a:gd name="T56" fmla="*/ 1788 w 2060"/>
                <a:gd name="T57" fmla="*/ 528 h 1644"/>
                <a:gd name="T58" fmla="*/ 1808 w 2060"/>
                <a:gd name="T59" fmla="*/ 427 h 1644"/>
                <a:gd name="T60" fmla="*/ 1769 w 2060"/>
                <a:gd name="T61" fmla="*/ 226 h 1644"/>
                <a:gd name="T62" fmla="*/ 1863 w 2060"/>
                <a:gd name="T63" fmla="*/ 108 h 1644"/>
                <a:gd name="T64" fmla="*/ 1911 w 2060"/>
                <a:gd name="T65" fmla="*/ 209 h 1644"/>
                <a:gd name="T66" fmla="*/ 1907 w 2060"/>
                <a:gd name="T67" fmla="*/ 123 h 1644"/>
                <a:gd name="T68" fmla="*/ 1939 w 2060"/>
                <a:gd name="T69" fmla="*/ 51 h 1644"/>
                <a:gd name="T70" fmla="*/ 2002 w 2060"/>
                <a:gd name="T71" fmla="*/ 0 h 1644"/>
                <a:gd name="T72" fmla="*/ 1784 w 2060"/>
                <a:gd name="T73" fmla="*/ 63 h 1644"/>
                <a:gd name="T74" fmla="*/ 1547 w 2060"/>
                <a:gd name="T75" fmla="*/ 83 h 1644"/>
                <a:gd name="T76" fmla="*/ 1331 w 2060"/>
                <a:gd name="T77" fmla="*/ 30 h 1644"/>
                <a:gd name="T78" fmla="*/ 1114 w 2060"/>
                <a:gd name="T79" fmla="*/ 65 h 1644"/>
                <a:gd name="T80" fmla="*/ 1022 w 2060"/>
                <a:gd name="T81" fmla="*/ 170 h 1644"/>
                <a:gd name="T82" fmla="*/ 908 w 2060"/>
                <a:gd name="T83" fmla="*/ 137 h 1644"/>
                <a:gd name="T84" fmla="*/ 740 w 2060"/>
                <a:gd name="T85" fmla="*/ 183 h 1644"/>
                <a:gd name="T86" fmla="*/ 649 w 2060"/>
                <a:gd name="T87" fmla="*/ 140 h 1644"/>
                <a:gd name="T88" fmla="*/ 364 w 2060"/>
                <a:gd name="T89" fmla="*/ 248 h 1644"/>
                <a:gd name="T90" fmla="*/ 517 w 2060"/>
                <a:gd name="T91" fmla="*/ 213 h 1644"/>
                <a:gd name="T92" fmla="*/ 620 w 2060"/>
                <a:gd name="T93" fmla="*/ 276 h 1644"/>
                <a:gd name="T94" fmla="*/ 443 w 2060"/>
                <a:gd name="T95" fmla="*/ 357 h 1644"/>
                <a:gd name="T96" fmla="*/ 275 w 2060"/>
                <a:gd name="T97" fmla="*/ 416 h 1644"/>
                <a:gd name="T98" fmla="*/ 167 w 2060"/>
                <a:gd name="T99" fmla="*/ 537 h 1644"/>
                <a:gd name="T100" fmla="*/ 283 w 2060"/>
                <a:gd name="T101" fmla="*/ 552 h 1644"/>
                <a:gd name="T102" fmla="*/ 381 w 2060"/>
                <a:gd name="T103" fmla="*/ 573 h 1644"/>
                <a:gd name="T104" fmla="*/ 493 w 2060"/>
                <a:gd name="T105" fmla="*/ 590 h 1644"/>
                <a:gd name="T106" fmla="*/ 487 w 2060"/>
                <a:gd name="T107" fmla="*/ 512 h 1644"/>
                <a:gd name="T108" fmla="*/ 574 w 2060"/>
                <a:gd name="T109" fmla="*/ 548 h 1644"/>
                <a:gd name="T110" fmla="*/ 668 w 2060"/>
                <a:gd name="T111" fmla="*/ 470 h 1644"/>
                <a:gd name="T112" fmla="*/ 754 w 2060"/>
                <a:gd name="T113" fmla="*/ 480 h 1644"/>
                <a:gd name="T114" fmla="*/ 621 w 2060"/>
                <a:gd name="T115" fmla="*/ 598 h 164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196"/>
              </a:srgbClr>
            </a:solidFill>
            <a:ln>
              <a:noFill/>
            </a:ln>
            <a:extLst>
              <a:ext uri="{91240B29-F687-4F45-9708-019B960494DF}">
                <a14:hiddenLine xmlns:a14="http://schemas.microsoft.com/office/drawing/2010/main" w="12700">
                  <a:solidFill>
                    <a:srgbClr val="000000"/>
                  </a:solidFill>
                  <a:prstDash val="dash"/>
                  <a:round/>
                  <a:headEnd type="none" w="med" len="med"/>
                  <a:tailEnd type="none" w="med" len="med"/>
                </a14:hiddenLine>
              </a:ext>
            </a:extLst>
          </p:spPr>
          <p:txBody>
            <a:bodyPr/>
            <a:lstStyle/>
            <a:p>
              <a:endParaRPr lang="zh-CN" altLang="en-US" sz="3330">
                <a:solidFill>
                  <a:prstClr val="black"/>
                </a:solidFill>
              </a:endParaRPr>
            </a:p>
          </p:txBody>
        </p:sp>
      </p:grpSp>
      <p:sp>
        <p:nvSpPr>
          <p:cNvPr id="115" name="Rectangle 17"/>
          <p:cNvSpPr>
            <a:spLocks noChangeArrowheads="1"/>
          </p:cNvSpPr>
          <p:nvPr userDrawn="1"/>
        </p:nvSpPr>
        <p:spPr bwMode="gray">
          <a:xfrm>
            <a:off x="1" y="4"/>
            <a:ext cx="3454400" cy="2016125"/>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lIns="121904" tIns="60952" rIns="121904" bIns="60952" anchor="ctr"/>
          <a:lstStyle/>
          <a:p>
            <a:pPr>
              <a:defRPr/>
            </a:pPr>
            <a:endParaRPr lang="zh-CN" altLang="en-US" sz="2530">
              <a:solidFill>
                <a:srgbClr val="093575"/>
              </a:solidFill>
              <a:latin typeface="Arial" panose="020B0604020202020204" pitchFamily="34" charset="0"/>
              <a:ea typeface="宋体" panose="02010600030101010101" pitchFamily="2" charset="-122"/>
            </a:endParaRPr>
          </a:p>
        </p:txBody>
      </p:sp>
      <p:sp>
        <p:nvSpPr>
          <p:cNvPr id="117" name="AutoShape 16"/>
          <p:cNvSpPr>
            <a:spLocks noChangeArrowheads="1"/>
          </p:cNvSpPr>
          <p:nvPr userDrawn="1"/>
        </p:nvSpPr>
        <p:spPr bwMode="auto">
          <a:xfrm>
            <a:off x="0" y="2590800"/>
            <a:ext cx="12192000" cy="4267200"/>
          </a:xfrm>
          <a:prstGeom prst="parallelogram">
            <a:avLst>
              <a:gd name="adj" fmla="val 0"/>
            </a:avLst>
          </a:prstGeom>
          <a:gradFill rotWithShape="1">
            <a:gsLst>
              <a:gs pos="0">
                <a:srgbClr val="83ACC8">
                  <a:alpha val="0"/>
                </a:srgbClr>
              </a:gs>
              <a:gs pos="100000">
                <a:srgbClr val="00558E">
                  <a:alpha val="82999"/>
                </a:srgb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200">
                <a:solidFill>
                  <a:schemeClr val="tx1"/>
                </a:solidFill>
                <a:latin typeface="Arial" panose="020B0604020202020204" pitchFamily="34" charset="0"/>
                <a:ea typeface="宋体" panose="02010600030101010101" pitchFamily="2" charset="-122"/>
              </a:defRPr>
            </a:lvl1pPr>
            <a:lvl2pPr marL="742950" indent="-285750" eaLnBrk="0" hangingPunct="0">
              <a:defRPr sz="2200">
                <a:solidFill>
                  <a:schemeClr val="tx1"/>
                </a:solidFill>
                <a:latin typeface="Arial" panose="020B0604020202020204" pitchFamily="34" charset="0"/>
                <a:ea typeface="宋体" panose="02010600030101010101" pitchFamily="2" charset="-122"/>
              </a:defRPr>
            </a:lvl2pPr>
            <a:lvl3pPr marL="1143000" indent="-228600" eaLnBrk="0" hangingPunct="0">
              <a:defRPr sz="2200">
                <a:solidFill>
                  <a:schemeClr val="tx1"/>
                </a:solidFill>
                <a:latin typeface="Arial" panose="020B0604020202020204" pitchFamily="34" charset="0"/>
                <a:ea typeface="宋体" panose="02010600030101010101" pitchFamily="2" charset="-122"/>
              </a:defRPr>
            </a:lvl3pPr>
            <a:lvl4pPr marL="1600200" indent="-228600" eaLnBrk="0" hangingPunct="0">
              <a:defRPr sz="2200">
                <a:solidFill>
                  <a:schemeClr val="tx1"/>
                </a:solidFill>
                <a:latin typeface="Arial" panose="020B0604020202020204" pitchFamily="34" charset="0"/>
                <a:ea typeface="宋体" panose="02010600030101010101" pitchFamily="2" charset="-122"/>
              </a:defRPr>
            </a:lvl4pPr>
            <a:lvl5pPr marL="2057400" indent="-228600" eaLnBrk="0" hangingPunct="0">
              <a:defRPr sz="22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2200">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sz="2930">
              <a:solidFill>
                <a:prstClr val="black"/>
              </a:solidFill>
            </a:endParaRPr>
          </a:p>
        </p:txBody>
      </p:sp>
      <p:graphicFrame>
        <p:nvGraphicFramePr>
          <p:cNvPr id="2" name="对象 1"/>
          <p:cNvGraphicFramePr>
            <a:graphicFrameLocks noChangeAspect="1"/>
          </p:cNvGraphicFramePr>
          <p:nvPr userDrawn="1"/>
        </p:nvGraphicFramePr>
        <p:xfrm>
          <a:off x="8974469" y="103199"/>
          <a:ext cx="3116668" cy="774700"/>
        </p:xfrm>
        <a:graphic>
          <a:graphicData uri="http://schemas.openxmlformats.org/presentationml/2006/ole">
            <mc:AlternateContent xmlns:mc="http://schemas.openxmlformats.org/markup-compatibility/2006">
              <mc:Choice xmlns:v="urn:schemas-microsoft-com:vml" Requires="v">
                <p:oleObj spid="_x0000_s3" name="Photo Editor 照片" r:id="rId3" imgW="4324350" imgH="1343025" progId="">
                  <p:embed/>
                </p:oleObj>
              </mc:Choice>
              <mc:Fallback>
                <p:oleObj name="Photo Editor 照片" r:id="rId3" imgW="4324350" imgH="1343025"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4469" y="103199"/>
                        <a:ext cx="3116668"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97" y="274637"/>
            <a:ext cx="10972641" cy="1143000"/>
          </a:xfrm>
          <a:prstGeom prst="rect">
            <a:avLst/>
          </a:prstGeom>
        </p:spPr>
        <p:txBody>
          <a:bodyPr/>
          <a:lstStyle/>
          <a:p>
            <a:r>
              <a:rPr lang="zh-CN" altLang="en-US"/>
              <a:t>单击此处编辑母版标题样式</a:t>
            </a:r>
            <a:endParaRPr lang="zh-CN" altLang="en-US" dirty="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199456" y="1628801"/>
            <a:ext cx="10992544" cy="2664296"/>
          </a:xfrm>
          <a:prstGeom prst="rect">
            <a:avLst/>
          </a:prstGeom>
        </p:spPr>
        <p:txBody>
          <a:bodyPr anchor="t">
            <a:normAutofit/>
          </a:bodyPr>
          <a:lstStyle>
            <a:lvl1pPr algn="l">
              <a:defRPr sz="8000" b="1" cap="all">
                <a:solidFill>
                  <a:schemeClr val="bg1"/>
                </a:solidFill>
              </a:defRPr>
            </a:lvl1pPr>
          </a:lstStyle>
          <a:p>
            <a:r>
              <a:rPr lang="zh-CN" altLang="en-US"/>
              <a:t>单击此处编辑母版标题样式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灯片编号占位符 5"/>
          <p:cNvSpPr txBox="1"/>
          <p:nvPr userDrawn="1"/>
        </p:nvSpPr>
        <p:spPr>
          <a:xfrm>
            <a:off x="9168341" y="6381338"/>
            <a:ext cx="2844800" cy="365125"/>
          </a:xfrm>
          <a:prstGeom prst="rect">
            <a:avLst/>
          </a:prstGeom>
        </p:spPr>
        <p:txBody>
          <a:bodyPr vert="horz" lIns="121912" tIns="60956" rIns="121912" bIns="60956" rtlCol="0" anchor="ctr"/>
          <a:lstStyle>
            <a:defPPr>
              <a:defRPr lang="zh-CN"/>
            </a:defPPr>
            <a:lvl1pPr algn="r" rtl="0" fontAlgn="auto">
              <a:spcBef>
                <a:spcPts val="0"/>
              </a:spcBef>
              <a:spcAft>
                <a:spcPts val="0"/>
              </a:spcAft>
              <a:defRPr sz="1400" kern="1200">
                <a:solidFill>
                  <a:schemeClr val="tx1"/>
                </a:solidFill>
                <a:latin typeface="Times New Roman" panose="02020603050405020304" pitchFamily="18" charset="0"/>
                <a:ea typeface="华文隶书" panose="02010800040101010101" pitchFamily="2" charset="-122"/>
                <a:cs typeface="Times New Roman" panose="02020603050405020304" pitchFamily="18" charset="0"/>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endParaRPr lang="zh-CN" altLang="en-US" sz="1865" dirty="0">
              <a:solidFill>
                <a:prstClr val="black"/>
              </a:solidFill>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3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10" name="Rectangle 9"/>
          <p:cNvSpPr/>
          <p:nvPr userDrawn="1"/>
        </p:nvSpPr>
        <p:spPr bwMode="auto">
          <a:xfrm>
            <a:off x="565687" y="202986"/>
            <a:ext cx="10036507" cy="422453"/>
          </a:xfrm>
          <a:prstGeom prst="rect">
            <a:avLst/>
          </a:prstGeom>
          <a:ln w="9525" cap="flat" cmpd="sng" algn="ctr">
            <a:solidFill>
              <a:schemeClr val="tx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6032" y="87767"/>
            <a:ext cx="833913" cy="625435"/>
          </a:xfrm>
          <a:prstGeom prst="rect">
            <a:avLst/>
          </a:prstGeom>
        </p:spPr>
      </p:pic>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showMasterSp="0" userDrawn="1">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2667000" y="-2667000"/>
            <a:ext cx="6858000" cy="12192000"/>
          </a:xfrm>
          <a:prstGeom prst="rect">
            <a:avLst/>
          </a:prstGeom>
        </p:spPr>
      </p:pic>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2734931"/>
          </a:xfrm>
          <a:prstGeom prst="rect">
            <a:avLst/>
          </a:prstGeom>
          <a:effectLst>
            <a:outerShdw blurRad="38100" dist="25400" dir="5400000" algn="t" rotWithShape="0">
              <a:prstClr val="black">
                <a:alpha val="58000"/>
              </a:prstClr>
            </a:outerShdw>
          </a:effectLst>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6"/>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4" y="3894169"/>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8" y="3807213"/>
            <a:ext cx="1048861"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51"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9"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2" tIns="34287" rIns="68572" bIns="34287"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5" y="4430622"/>
            <a:ext cx="1627343" cy="1200296"/>
          </a:xfrm>
          <a:prstGeom prst="rect">
            <a:avLst/>
          </a:prstGeom>
          <a:effectLst>
            <a:innerShdw blurRad="63500" dist="50800" dir="13500000">
              <a:prstClr val="black">
                <a:alpha val="50000"/>
              </a:prstClr>
            </a:innerShdw>
          </a:effectLst>
        </p:spPr>
        <p:txBody>
          <a:bodyPr wrap="square" lIns="91407" tIns="45704" rIns="91407" bIns="45704">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5" y="4863385"/>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8" y="4776428"/>
            <a:ext cx="1048861"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7" y="5832601"/>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8" y="5745645"/>
            <a:ext cx="1048861"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2" name="Rectangle 1"/>
          <p:cNvSpPr/>
          <p:nvPr userDrawn="1"/>
        </p:nvSpPr>
        <p:spPr bwMode="auto">
          <a:xfrm>
            <a:off x="514479" y="1316729"/>
            <a:ext cx="11214260" cy="126736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28" tIns="45715" rIns="91428" bIns="45715" numCol="1" rtlCol="0" anchor="t" anchorCtr="0" compatLnSpc="1"/>
          <a:lstStyle/>
          <a:p>
            <a:pPr marL="0" marR="0" indent="0" algn="l" defTabSz="1299845" rtl="0" eaLnBrk="1" fontAlgn="base" latinLnBrk="0" hangingPunct="1">
              <a:lnSpc>
                <a:spcPct val="100000"/>
              </a:lnSpc>
              <a:spcBef>
                <a:spcPct val="0"/>
              </a:spcBef>
              <a:spcAft>
                <a:spcPct val="0"/>
              </a:spcAft>
              <a:buClrTx/>
              <a:buSzTx/>
              <a:buFontTx/>
              <a:buNone/>
            </a:pPr>
            <a:endParaRPr kumimoji="0" lang="en-US" sz="2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66" y="124416"/>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2" y="77014"/>
            <a:ext cx="1976449"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8" y="124416"/>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601" y="124416"/>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4"/>
            <a:ext cx="3515331"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2003"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5" y="124416"/>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4"/>
            <a:ext cx="3207555" cy="43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67" tIns="32133" rIns="64267" bIns="32133">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4" y="124416"/>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9015C79-36EC-4FFE-8C36-49F34054E94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A7AE4-B296-4A24-A82D-0CA9D1852D69}" type="slidenum">
              <a:rPr lang="en-US" smtClean="0"/>
            </a:fld>
            <a:endParaRPr lang="en-US"/>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showMasterSp="0" userDrawn="1">
  <p:cSld name="3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showMasterSp="0" userDrawn="1">
  <p:cSld name="4_标题和内容">
    <p:bg>
      <p:bgPr>
        <a:solidFill>
          <a:schemeClr val="bg1"/>
        </a:solidFill>
        <a:effectLst/>
      </p:bgPr>
    </p:bg>
    <p:spTree>
      <p:nvGrpSpPr>
        <p:cNvPr id="1" name=""/>
        <p:cNvGrpSpPr/>
        <p:nvPr/>
      </p:nvGrpSpPr>
      <p:grpSpPr>
        <a:xfrm>
          <a:off x="0" y="0"/>
          <a:ext cx="0" cy="0"/>
          <a:chOff x="0" y="0"/>
          <a:chExt cx="0" cy="0"/>
        </a:xfrm>
      </p:grpSpPr>
      <p:pic>
        <p:nvPicPr>
          <p:cNvPr id="22" name="图片 21"/>
          <p:cNvPicPr>
            <a:picLocks noChangeAspect="1"/>
          </p:cNvPicPr>
          <p:nvPr userDrawn="1"/>
        </p:nvPicPr>
        <p:blipFill rotWithShape="1">
          <a:blip r:embed="rId2">
            <a:extLst>
              <a:ext uri="{28A0092B-C50C-407E-A947-70E740481C1C}">
                <a14:useLocalDpi xmlns:a14="http://schemas.microsoft.com/office/drawing/2010/main" val="0"/>
              </a:ext>
            </a:extLst>
          </a:blip>
          <a:srcRect t="48880"/>
          <a:stretch>
            <a:fillRect/>
          </a:stretch>
        </p:blipFill>
        <p:spPr>
          <a:xfrm>
            <a:off x="0" y="-9917"/>
            <a:ext cx="12192000" cy="3505811"/>
          </a:xfrm>
          <a:prstGeom prst="rect">
            <a:avLst/>
          </a:prstGeom>
          <a:effectLst>
            <a:outerShdw blurRad="38100" dist="25400" dir="5400000" algn="t" rotWithShape="0">
              <a:prstClr val="black">
                <a:alpha val="58000"/>
              </a:prstClr>
            </a:outerShdw>
          </a:effectLst>
        </p:spPr>
      </p:pic>
      <p:sp>
        <p:nvSpPr>
          <p:cNvPr id="7" name="标题 1"/>
          <p:cNvSpPr txBox="1"/>
          <p:nvPr userDrawn="1"/>
        </p:nvSpPr>
        <p:spPr>
          <a:xfrm>
            <a:off x="6104642" y="3894165"/>
            <a:ext cx="4245713"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60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基本情况</a:t>
            </a:r>
            <a:endParaRPr kumimoji="0" lang="en-US" altLang="zh-CN" sz="3000" b="1" i="0" u="none" strike="noStrike" kern="0" cap="none" spc="60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userDrawn="1"/>
        </p:nvGrpSpPr>
        <p:grpSpPr>
          <a:xfrm>
            <a:off x="4806363" y="3807209"/>
            <a:ext cx="1048863" cy="697131"/>
            <a:chOff x="533506" y="1676446"/>
            <a:chExt cx="1808548" cy="1602746"/>
          </a:xfrm>
        </p:grpSpPr>
        <p:sp>
          <p:nvSpPr>
            <p:cNvPr id="9"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0"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一</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1" name="Freeform 5"/>
          <p:cNvSpPr/>
          <p:nvPr userDrawn="1"/>
        </p:nvSpPr>
        <p:spPr bwMode="auto">
          <a:xfrm>
            <a:off x="1077749" y="4085839"/>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lumMod val="65000"/>
            </a:schemeClr>
          </a:solidFill>
          <a:ln w="15875">
            <a:gradFill flip="none" rotWithShape="1">
              <a:gsLst>
                <a:gs pos="0">
                  <a:schemeClr val="bg1">
                    <a:lumMod val="65000"/>
                  </a:schemeClr>
                </a:gs>
                <a:gs pos="100000">
                  <a:schemeClr val="bg1"/>
                </a:gs>
              </a:gsLst>
              <a:lin ang="2700000" scaled="1"/>
              <a:tileRect/>
            </a:gradFill>
          </a:ln>
          <a:effectLst>
            <a:innerShdw blurRad="114300">
              <a:prstClr val="black"/>
            </a:inn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Arial" panose="020B0604020202020204"/>
              <a:ea typeface="微软雅黑" panose="020B0503020204020204" pitchFamily="34" charset="-122"/>
              <a:cs typeface="+mn-ea"/>
              <a:sym typeface="+mn-lt"/>
            </a:endParaRPr>
          </a:p>
        </p:txBody>
      </p:sp>
      <p:sp>
        <p:nvSpPr>
          <p:cNvPr id="12" name="Freeform 5"/>
          <p:cNvSpPr/>
          <p:nvPr userDrawn="1"/>
        </p:nvSpPr>
        <p:spPr bwMode="auto">
          <a:xfrm>
            <a:off x="1362087" y="4174524"/>
            <a:ext cx="2572676" cy="171010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100000">
                <a:schemeClr val="bg1">
                  <a:lumMod val="61000"/>
                  <a:lumOff val="39000"/>
                </a:schemeClr>
              </a:gs>
              <a:gs pos="0">
                <a:schemeClr val="bg1">
                  <a:lumMod val="85000"/>
                </a:schemeClr>
              </a:gs>
            </a:gsLst>
            <a:lin ang="2700000" scaled="1"/>
            <a:tileRect/>
          </a:gradFill>
          <a:ln w="19050">
            <a:gradFill flip="none" rotWithShape="1">
              <a:gsLst>
                <a:gs pos="100000">
                  <a:schemeClr val="bg1">
                    <a:lumMod val="75000"/>
                  </a:schemeClr>
                </a:gs>
                <a:gs pos="0">
                  <a:schemeClr val="bg1"/>
                </a:gs>
              </a:gsLst>
              <a:lin ang="2700000" scaled="1"/>
              <a:tileRect/>
            </a:gradFill>
          </a:ln>
          <a:effectLst>
            <a:outerShdw blurRad="266700" dist="203200" dir="6780000" algn="tl" rotWithShape="0">
              <a:prstClr val="black">
                <a:alpha val="40000"/>
              </a:prstClr>
            </a:outerShdw>
          </a:effectLst>
        </p:spPr>
        <p:txBody>
          <a:bodyPr vert="horz" wrap="square" lIns="68577" tIns="34289" rIns="68577" bIns="34289"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005A9E"/>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3" name="矩形 12"/>
          <p:cNvSpPr/>
          <p:nvPr userDrawn="1"/>
        </p:nvSpPr>
        <p:spPr>
          <a:xfrm>
            <a:off x="1834753" y="4430617"/>
            <a:ext cx="1627343" cy="1200304"/>
          </a:xfrm>
          <a:prstGeom prst="rect">
            <a:avLst/>
          </a:prstGeom>
          <a:effectLst>
            <a:innerShdw blurRad="63500" dist="50800" dir="13500000">
              <a:prstClr val="black">
                <a:alpha val="50000"/>
              </a:prstClr>
            </a:innerShdw>
          </a:effectLst>
        </p:spPr>
        <p:txBody>
          <a:bodyPr wrap="square" lIns="91416" tIns="45708" rIns="91416" bIns="4570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dist" defTabSz="933450" rtl="0" eaLnBrk="1" fontAlgn="base" latinLnBrk="0" hangingPunct="1">
              <a:lnSpc>
                <a:spcPct val="100000"/>
              </a:lnSpc>
              <a:spcBef>
                <a:spcPts val="0"/>
              </a:spcBef>
              <a:spcAft>
                <a:spcPts val="0"/>
              </a:spcAft>
              <a:buClrTx/>
              <a:buSzTx/>
              <a:buFontTx/>
              <a:buNone/>
              <a:defRPr/>
            </a:pPr>
            <a:r>
              <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rPr>
              <a:t>汇报  提纲</a:t>
            </a:r>
            <a:endParaRPr kumimoji="0" lang="zh-CN" altLang="en-US" sz="3600" b="1" i="0" u="none" strike="noStrike" kern="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4" name="标题 1"/>
          <p:cNvSpPr txBox="1"/>
          <p:nvPr userDrawn="1"/>
        </p:nvSpPr>
        <p:spPr>
          <a:xfrm>
            <a:off x="6104641" y="4863381"/>
            <a:ext cx="5265647"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rPr>
              <a:t>主要工作及创新成果</a:t>
            </a:r>
            <a:endParaRPr kumimoji="0" lang="zh-CN" altLang="en-US" sz="3000" b="1" i="0" u="none" strike="noStrike" kern="0" cap="none" spc="0" normalizeH="0" baseline="0" noProof="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nvGrpSpPr>
          <p:cNvPr id="15" name="组合 14"/>
          <p:cNvGrpSpPr/>
          <p:nvPr userDrawn="1"/>
        </p:nvGrpSpPr>
        <p:grpSpPr>
          <a:xfrm>
            <a:off x="4806363" y="4776427"/>
            <a:ext cx="1048863" cy="697131"/>
            <a:chOff x="533506" y="1676446"/>
            <a:chExt cx="1808548" cy="1602746"/>
          </a:xfrm>
        </p:grpSpPr>
        <p:sp>
          <p:nvSpPr>
            <p:cNvPr id="16"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224AA1"/>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17"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rPr>
                <a:t>二</a:t>
              </a:r>
              <a:endParaRPr kumimoji="0" lang="en-US" altLang="zh-CN" sz="2600" b="1" i="0" u="none" strike="noStrike" kern="1200" cap="none" spc="0" normalizeH="0" baseline="0" noProof="0" dirty="0">
                <a:ln>
                  <a:noFill/>
                </a:ln>
                <a:solidFill>
                  <a:srgbClr val="224AA1"/>
                </a:solidFill>
                <a:effectLst/>
                <a:uLnTx/>
                <a:uFillTx/>
                <a:latin typeface="微软雅黑" panose="020B0503020204020204" pitchFamily="34" charset="-122"/>
                <a:ea typeface="微软雅黑" panose="020B0503020204020204" pitchFamily="34" charset="-122"/>
                <a:cs typeface="+mn-cs"/>
              </a:endParaRPr>
            </a:p>
          </p:txBody>
        </p:sp>
      </p:grpSp>
      <p:sp>
        <p:nvSpPr>
          <p:cNvPr id="18" name="标题 1"/>
          <p:cNvSpPr txBox="1"/>
          <p:nvPr userDrawn="1"/>
        </p:nvSpPr>
        <p:spPr>
          <a:xfrm>
            <a:off x="6104642" y="5832595"/>
            <a:ext cx="4665135" cy="523220"/>
          </a:xfrm>
          <a:prstGeom prst="rect">
            <a:avLst/>
          </a:prstGeom>
        </p:spPr>
        <p:txBody>
          <a:bodyPr wrap="square">
            <a:noAutofit/>
          </a:bodyPr>
          <a:lstStyle>
            <a:defPPr>
              <a:defRPr lang="zh-CN"/>
            </a:defPPr>
            <a:lvl1pPr marR="0" algn="dist" defTabSz="685800" fontAlgn="auto">
              <a:spcBef>
                <a:spcPts val="0"/>
              </a:spcBef>
              <a:spcAft>
                <a:spcPts val="0"/>
              </a:spcAft>
              <a:buClrTx/>
              <a:buSzTx/>
              <a:buFontTx/>
              <a:defRPr kumimoji="0" sz="2400" b="1" strike="noStrike" kern="0" cap="none" spc="225" normalizeH="0">
                <a:ln>
                  <a:noFill/>
                </a:ln>
                <a:solidFill>
                  <a:srgbClr val="F87A1C"/>
                </a:solidFill>
                <a:effectLst/>
                <a:uLnTx/>
                <a:uFillTx/>
                <a:latin typeface="微软雅黑" panose="020B0503020204020204" pitchFamily="34" charset="-122"/>
                <a:ea typeface="微软雅黑" panose="020B0503020204020204" pitchFamily="34" charset="-122"/>
              </a:defRPr>
            </a:lvl1pPr>
            <a:lvl2pPr>
              <a:defRPr sz="1800">
                <a:latin typeface="+mn-lt"/>
                <a:ea typeface="+mn-ea"/>
              </a:defRPr>
            </a:lvl2pPr>
            <a:lvl3pPr>
              <a:defRPr sz="1800">
                <a:latin typeface="+mn-lt"/>
                <a:ea typeface="+mn-ea"/>
              </a:defRPr>
            </a:lvl3pPr>
            <a:lvl4pPr>
              <a:defRPr sz="1800">
                <a:latin typeface="+mn-lt"/>
                <a:ea typeface="+mn-ea"/>
              </a:defRPr>
            </a:lvl4pPr>
            <a:lvl5pPr>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marR="0" lvl="0" indent="0" algn="l" defTabSz="685800" rtl="0" eaLnBrk="1" fontAlgn="auto" latinLnBrk="0" hangingPunct="1">
              <a:lnSpc>
                <a:spcPct val="100000"/>
              </a:lnSpc>
              <a:spcBef>
                <a:spcPts val="0"/>
              </a:spcBef>
              <a:spcAft>
                <a:spcPts val="0"/>
              </a:spcAft>
              <a:buClrTx/>
              <a:buSzTx/>
              <a:buFontTx/>
              <a:buNone/>
              <a:defRPr/>
            </a:pPr>
            <a:r>
              <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拟开展的研究工作</a:t>
            </a:r>
            <a:endParaRPr kumimoji="0" lang="zh-CN" altLang="en-US" sz="3000" b="1" i="0" u="none" strike="noStrike" kern="0" cap="none" spc="225"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userDrawn="1"/>
        </p:nvGrpSpPr>
        <p:grpSpPr>
          <a:xfrm>
            <a:off x="4806363" y="5745641"/>
            <a:ext cx="1048863" cy="697131"/>
            <a:chOff x="533506" y="1676446"/>
            <a:chExt cx="1808548" cy="1602746"/>
          </a:xfrm>
        </p:grpSpPr>
        <p:sp>
          <p:nvSpPr>
            <p:cNvPr id="20" name="Freeform 5"/>
            <p:cNvSpPr/>
            <p:nvPr userDrawn="1"/>
          </p:nvSpPr>
          <p:spPr bwMode="auto">
            <a:xfrm>
              <a:off x="533506" y="1676446"/>
              <a:ext cx="1808548" cy="16027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FF0000"/>
            </a:solidFill>
            <a:ln w="19050">
              <a:gradFill flip="none" rotWithShape="1">
                <a:gsLst>
                  <a:gs pos="100000">
                    <a:schemeClr val="bg1">
                      <a:lumMod val="75000"/>
                    </a:schemeClr>
                  </a:gs>
                  <a:gs pos="0">
                    <a:schemeClr val="bg1"/>
                  </a:gs>
                </a:gsLst>
                <a:lin ang="2700000" scaled="1"/>
                <a:tileRect/>
              </a:gradFill>
            </a:ln>
            <a:effectLst/>
          </p:spPr>
          <p:txBody>
            <a:bodyPr lIns="68580" tIns="34290" rIns="68580" bIns="3429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1" name="Freeform 5"/>
            <p:cNvSpPr/>
            <p:nvPr userDrawn="1"/>
          </p:nvSpPr>
          <p:spPr bwMode="auto">
            <a:xfrm>
              <a:off x="750682" y="1868907"/>
              <a:ext cx="1374198" cy="1217821"/>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chemeClr val="bg1"/>
            </a:solidFill>
            <a:ln w="19050">
              <a:noFill/>
            </a:ln>
            <a:effectLst/>
          </p:spPr>
          <p:txBody>
            <a:bodyPr lIns="68580" tIns="34290" rIns="68580" bIns="3429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三</a:t>
              </a:r>
              <a:endParaRPr kumimoji="0" lang="en-US" altLang="zh-CN" sz="2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0"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（一）个人简历</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3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（二）主持科研项目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6B4B9865-B77C-4C78-A037-364A31D11DF5}"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（二）科研项目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342559" y="124411"/>
            <a:ext cx="50449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（三）依托</a:t>
            </a:r>
            <a:r>
              <a:rPr lang="en-US" altLang="zh-CN"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Flowminder</a:t>
            </a: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基金会获资助项目</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5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0" y="77010"/>
            <a:ext cx="1976459"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一、基本情况</a:t>
            </a:r>
            <a:endParaRPr lang="zh-CN" altLang="en-US" sz="2400" b="1">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513D9D8B-5F8D-408F-A2F1-623135CF678B}" type="slidenum">
              <a:rPr lang="zh-CN" altLang="en-US" smtClean="0"/>
            </a:fld>
            <a:endParaRPr lang="zh-CN" altLang="en-US" dirty="0"/>
          </a:p>
        </p:txBody>
      </p:sp>
      <p:sp>
        <p:nvSpPr>
          <p:cNvPr id="6" name="矩形 5"/>
          <p:cNvSpPr/>
          <p:nvPr userDrawn="1"/>
        </p:nvSpPr>
        <p:spPr>
          <a:xfrm>
            <a:off x="8638060" y="124411"/>
            <a:ext cx="2749471"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（四）学术荣誉与奖励</a:t>
            </a:r>
            <a:endParaRPr lang="en-US" altLang="zh-CN"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（一）问题背景</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4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（二）创新成果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 主要研究工作</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7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17596" y="124411"/>
            <a:ext cx="2569934"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 主要研究工作</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8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（三）主要论文列表</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9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（四）学术影响</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10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1"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（五）公开研究报告</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1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69" y="77010"/>
            <a:ext cx="3515342"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a:solidFill>
                  <a:srgbClr val="FFFFFF"/>
                </a:solidFill>
                <a:latin typeface="+mn-ea"/>
                <a:ea typeface="+mn-ea"/>
                <a:cs typeface="Times New Roman" panose="02020603050405020304" pitchFamily="18" charset="0"/>
              </a:rPr>
              <a:t>二、主要工作及创新成果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6891999" y="124411"/>
            <a:ext cx="4521751" cy="369332"/>
          </a:xfrm>
          <a:prstGeom prst="rect">
            <a:avLst/>
          </a:prstGeom>
        </p:spPr>
        <p:txBody>
          <a:bodyPr wrap="none">
            <a:spAutoFit/>
          </a:bodyPr>
          <a:lstStyle/>
          <a:p>
            <a:pPr algn="r" eaLnBrk="1" fontAlgn="base" hangingPunct="1">
              <a:spcBef>
                <a:spcPct val="0"/>
              </a:spcBef>
              <a:spcAft>
                <a:spcPct val="0"/>
              </a:spcAft>
            </a:pPr>
            <a:r>
              <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（六）新冠肺炎疫情数据分析报告及政策建议</a:t>
            </a:r>
            <a:endParaRPr lang="zh-CN" altLang="en-US" sz="1800" b="1" spc="-109" baseline="0"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（一）总体设计</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12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8894540" y="124411"/>
            <a:ext cx="2492990" cy="400110"/>
          </a:xfrm>
          <a:prstGeom prst="rect">
            <a:avLst/>
          </a:prstGeom>
        </p:spPr>
        <p:txBody>
          <a:bodyPr wrap="none">
            <a:spAutoFit/>
          </a:bodyPr>
          <a:lstStyle/>
          <a:p>
            <a:pPr algn="r" eaLnBrk="1" fontAlgn="base" hangingPunct="1">
              <a:spcBef>
                <a:spcPct val="0"/>
              </a:spcBef>
              <a:spcAft>
                <a:spcPct val="0"/>
              </a:spcAft>
            </a:pPr>
            <a:r>
              <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（二）主要研究内容</a:t>
            </a:r>
            <a:endParaRPr lang="zh-CN" altLang="en-US" sz="2000" b="1">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16_节标题">
    <p:spTree>
      <p:nvGrpSpPr>
        <p:cNvPr id="1" name=""/>
        <p:cNvGrpSpPr/>
        <p:nvPr/>
      </p:nvGrpSpPr>
      <p:grpSpPr>
        <a:xfrm>
          <a:off x="0" y="0"/>
          <a:ext cx="0" cy="0"/>
          <a:chOff x="0" y="0"/>
          <a:chExt cx="0" cy="0"/>
        </a:xfrm>
      </p:grpSpPr>
      <p:sp>
        <p:nvSpPr>
          <p:cNvPr id="4" name="Text Box 10"/>
          <p:cNvSpPr txBox="1">
            <a:spLocks noChangeArrowheads="1"/>
          </p:cNvSpPr>
          <p:nvPr userDrawn="1"/>
        </p:nvSpPr>
        <p:spPr bwMode="auto">
          <a:xfrm>
            <a:off x="972871" y="77010"/>
            <a:ext cx="3207565" cy="43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272" tIns="32136" rIns="64272" bIns="32136">
            <a:spAutoFit/>
          </a:bodyPr>
          <a:lstStyle>
            <a:lvl1pPr defTabSz="1300480" eaLnBrk="0" hangingPunct="0">
              <a:defRPr sz="2600">
                <a:solidFill>
                  <a:schemeClr val="tx1"/>
                </a:solidFill>
                <a:latin typeface="Arial" panose="020B0604020202020204" pitchFamily="34" charset="0"/>
                <a:ea typeface="宋体" panose="02010600030101010101" pitchFamily="2" charset="-122"/>
              </a:defRPr>
            </a:lvl1pPr>
            <a:lvl2pPr marL="742950" indent="-285750" defTabSz="1300480" eaLnBrk="0" hangingPunct="0">
              <a:defRPr sz="2600">
                <a:solidFill>
                  <a:schemeClr val="tx1"/>
                </a:solidFill>
                <a:latin typeface="Arial" panose="020B0604020202020204" pitchFamily="34" charset="0"/>
                <a:ea typeface="宋体" panose="02010600030101010101" pitchFamily="2" charset="-122"/>
              </a:defRPr>
            </a:lvl2pPr>
            <a:lvl3pPr marL="1143000" indent="-228600" defTabSz="1300480" eaLnBrk="0" hangingPunct="0">
              <a:defRPr sz="2600">
                <a:solidFill>
                  <a:schemeClr val="tx1"/>
                </a:solidFill>
                <a:latin typeface="Arial" panose="020B0604020202020204" pitchFamily="34" charset="0"/>
                <a:ea typeface="宋体" panose="02010600030101010101" pitchFamily="2" charset="-122"/>
              </a:defRPr>
            </a:lvl3pPr>
            <a:lvl4pPr marL="1600200" indent="-228600" defTabSz="1300480" eaLnBrk="0" hangingPunct="0">
              <a:defRPr sz="2600">
                <a:solidFill>
                  <a:schemeClr val="tx1"/>
                </a:solidFill>
                <a:latin typeface="Arial" panose="020B0604020202020204" pitchFamily="34" charset="0"/>
                <a:ea typeface="宋体" panose="02010600030101010101" pitchFamily="2" charset="-122"/>
              </a:defRPr>
            </a:lvl4pPr>
            <a:lvl5pPr marL="2057400" indent="-228600" defTabSz="1300480" eaLnBrk="0" hangingPunct="0">
              <a:defRPr sz="2600">
                <a:solidFill>
                  <a:schemeClr val="tx1"/>
                </a:solidFill>
                <a:latin typeface="Arial" panose="020B0604020202020204" pitchFamily="34" charset="0"/>
                <a:ea typeface="宋体" panose="02010600030101010101" pitchFamily="2" charset="-122"/>
              </a:defRPr>
            </a:lvl5pPr>
            <a:lvl6pPr marL="25146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6pPr>
            <a:lvl7pPr marL="29718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7pPr>
            <a:lvl8pPr marL="34290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8pPr>
            <a:lvl9pPr marL="3886200" indent="-228600" defTabSz="1300480" eaLnBrk="0" fontAlgn="base" hangingPunct="0">
              <a:spcBef>
                <a:spcPct val="0"/>
              </a:spcBef>
              <a:spcAft>
                <a:spcPct val="0"/>
              </a:spcAft>
              <a:defRPr sz="2600">
                <a:solidFill>
                  <a:schemeClr val="tx1"/>
                </a:solidFill>
                <a:latin typeface="Arial" panose="020B0604020202020204" pitchFamily="34" charset="0"/>
                <a:ea typeface="宋体" panose="02010600030101010101" pitchFamily="2" charset="-122"/>
              </a:defRPr>
            </a:lvl9pPr>
          </a:lstStyle>
          <a:p>
            <a:pPr eaLnBrk="1" fontAlgn="base" hangingPunct="1">
              <a:spcBef>
                <a:spcPct val="0"/>
              </a:spcBef>
              <a:spcAft>
                <a:spcPct val="0"/>
              </a:spcAft>
            </a:pPr>
            <a:r>
              <a:rPr lang="zh-CN" altLang="en-US" sz="2400" b="1" dirty="0">
                <a:solidFill>
                  <a:srgbClr val="FFFFFF"/>
                </a:solidFill>
                <a:latin typeface="+mn-ea"/>
                <a:ea typeface="+mn-ea"/>
                <a:cs typeface="Times New Roman" panose="02020603050405020304" pitchFamily="18" charset="0"/>
              </a:rPr>
              <a:t>三、拟开展的研究工作</a:t>
            </a:r>
            <a:endParaRPr lang="zh-CN" altLang="en-US" sz="2400" b="1" dirty="0">
              <a:solidFill>
                <a:srgbClr val="FFFFFF"/>
              </a:solidFill>
              <a:latin typeface="+mn-ea"/>
              <a:ea typeface="+mn-ea"/>
              <a:cs typeface="Times New Roman" panose="02020603050405020304" pitchFamily="18" charset="0"/>
            </a:endParaRPr>
          </a:p>
        </p:txBody>
      </p:sp>
      <p:sp>
        <p:nvSpPr>
          <p:cNvPr id="5" name="灯片编号占位符 5"/>
          <p:cNvSpPr>
            <a:spLocks noGrp="1"/>
          </p:cNvSpPr>
          <p:nvPr>
            <p:ph type="sldNum" sz="quarter" idx="4"/>
          </p:nvPr>
        </p:nvSpPr>
        <p:spPr>
          <a:xfrm>
            <a:off x="11550800" y="120713"/>
            <a:ext cx="480000" cy="360000"/>
          </a:xfrm>
          <a:prstGeom prst="roundRect">
            <a:avLst/>
          </a:prstGeom>
          <a:solidFill>
            <a:schemeClr val="tx1">
              <a:alpha val="28000"/>
            </a:schemeClr>
          </a:solidFill>
        </p:spPr>
        <p:txBody>
          <a:bodyPr vert="horz" wrap="none" lIns="0" tIns="0" rIns="0" bIns="0" rtlCol="0" anchor="ctr"/>
          <a:lstStyle>
            <a:lvl1pPr algn="ctr">
              <a:defRPr sz="1500">
                <a:solidFill>
                  <a:schemeClr val="bg1"/>
                </a:solidFill>
                <a:latin typeface="+mn-ea"/>
                <a:ea typeface="+mn-ea"/>
              </a:defRPr>
            </a:lvl1pPr>
          </a:lstStyle>
          <a:p>
            <a:pPr>
              <a:defRPr/>
            </a:pPr>
            <a:fld id="{D6ED071D-20B6-4794-A8E8-2E1505510C4A}" type="slidenum">
              <a:rPr lang="zh-CN" altLang="en-US" smtClean="0"/>
            </a:fld>
            <a:endParaRPr lang="zh-CN" altLang="en-US" dirty="0"/>
          </a:p>
        </p:txBody>
      </p:sp>
      <p:sp>
        <p:nvSpPr>
          <p:cNvPr id="6" name="矩形 5"/>
          <p:cNvSpPr/>
          <p:nvPr userDrawn="1"/>
        </p:nvSpPr>
        <p:spPr>
          <a:xfrm>
            <a:off x="9407502" y="124411"/>
            <a:ext cx="1980029" cy="400110"/>
          </a:xfrm>
          <a:prstGeom prst="rect">
            <a:avLst/>
          </a:prstGeom>
        </p:spPr>
        <p:txBody>
          <a:bodyPr wrap="none">
            <a:spAutoFit/>
          </a:bodyPr>
          <a:lstStyle/>
          <a:p>
            <a:pPr algn="r" eaLnBrk="1" fontAlgn="base" hangingPunct="1">
              <a:spcBef>
                <a:spcPct val="0"/>
              </a:spcBef>
              <a:spcAft>
                <a:spcPct val="0"/>
              </a:spcAft>
            </a:pPr>
            <a:r>
              <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rPr>
              <a:t>（三）条件基础</a:t>
            </a:r>
            <a:endParaRPr lang="zh-CN" altLang="en-US" sz="2000" b="1" dirty="0">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6200000" scaled="1"/>
                <a:tileRect/>
              </a:gradFill>
              <a:latin typeface="+mn-ea"/>
              <a:ea typeface="+mn-ea"/>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25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8" Type="http://schemas.openxmlformats.org/officeDocument/2006/relationships/theme" Target="../theme/theme2.xml"/><Relationship Id="rId27" Type="http://schemas.openxmlformats.org/officeDocument/2006/relationships/image" Target="../media/image12.GIF"/><Relationship Id="rId26" Type="http://schemas.openxmlformats.org/officeDocument/2006/relationships/image" Target="../media/image11.jpeg"/><Relationship Id="rId25" Type="http://schemas.openxmlformats.org/officeDocument/2006/relationships/slideLayout" Target="../slideLayouts/slideLayout33.xml"/><Relationship Id="rId24" Type="http://schemas.openxmlformats.org/officeDocument/2006/relationships/slideLayout" Target="../slideLayouts/slideLayout32.xml"/><Relationship Id="rId23" Type="http://schemas.openxmlformats.org/officeDocument/2006/relationships/slideLayout" Target="../slideLayouts/slideLayout31.xml"/><Relationship Id="rId22" Type="http://schemas.openxmlformats.org/officeDocument/2006/relationships/slideLayout" Target="../slideLayouts/slideLayout30.xml"/><Relationship Id="rId21" Type="http://schemas.openxmlformats.org/officeDocument/2006/relationships/slideLayout" Target="../slideLayouts/slideLayout29.xml"/><Relationship Id="rId20" Type="http://schemas.openxmlformats.org/officeDocument/2006/relationships/slideLayout" Target="../slideLayouts/slideLayout28.xml"/><Relationship Id="rId2" Type="http://schemas.openxmlformats.org/officeDocument/2006/relationships/slideLayout" Target="../slideLayouts/slideLayout10.xml"/><Relationship Id="rId19" Type="http://schemas.openxmlformats.org/officeDocument/2006/relationships/slideLayout" Target="../slideLayouts/slideLayout27.xml"/><Relationship Id="rId18" Type="http://schemas.openxmlformats.org/officeDocument/2006/relationships/slideLayout" Target="../slideLayouts/slideLayout26.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9" Type="http://schemas.openxmlformats.org/officeDocument/2006/relationships/theme" Target="../theme/theme3.xml"/><Relationship Id="rId28" Type="http://schemas.openxmlformats.org/officeDocument/2006/relationships/image" Target="../media/image13.GIF"/><Relationship Id="rId27" Type="http://schemas.openxmlformats.org/officeDocument/2006/relationships/image" Target="../media/image11.jpeg"/><Relationship Id="rId26" Type="http://schemas.openxmlformats.org/officeDocument/2006/relationships/slideLayout" Target="../slideLayouts/slideLayout59.xml"/><Relationship Id="rId25" Type="http://schemas.openxmlformats.org/officeDocument/2006/relationships/slideLayout" Target="../slideLayouts/slideLayout58.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0" Type="http://schemas.openxmlformats.org/officeDocument/2006/relationships/slideLayout" Target="../slideLayouts/slideLayout53.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8" Type="http://schemas.openxmlformats.org/officeDocument/2006/relationships/theme" Target="../theme/theme4.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84.xml"/><Relationship Id="rId24" Type="http://schemas.openxmlformats.org/officeDocument/2006/relationships/slideLayout" Target="../slideLayouts/slideLayout83.xml"/><Relationship Id="rId23" Type="http://schemas.openxmlformats.org/officeDocument/2006/relationships/slideLayout" Target="../slideLayouts/slideLayout82.xml"/><Relationship Id="rId22" Type="http://schemas.openxmlformats.org/officeDocument/2006/relationships/slideLayout" Target="../slideLayouts/slideLayout81.xml"/><Relationship Id="rId21" Type="http://schemas.openxmlformats.org/officeDocument/2006/relationships/slideLayout" Target="../slideLayouts/slideLayout80.xml"/><Relationship Id="rId20" Type="http://schemas.openxmlformats.org/officeDocument/2006/relationships/slideLayout" Target="../slideLayouts/slideLayout79.xml"/><Relationship Id="rId2" Type="http://schemas.openxmlformats.org/officeDocument/2006/relationships/slideLayout" Target="../slideLayouts/slideLayout61.xml"/><Relationship Id="rId19" Type="http://schemas.openxmlformats.org/officeDocument/2006/relationships/slideLayout" Target="../slideLayouts/slideLayout78.xml"/><Relationship Id="rId18" Type="http://schemas.openxmlformats.org/officeDocument/2006/relationships/slideLayout" Target="../slideLayouts/slideLayout77.xml"/><Relationship Id="rId17" Type="http://schemas.openxmlformats.org/officeDocument/2006/relationships/slideLayout" Target="../slideLayouts/slideLayout76.xml"/><Relationship Id="rId16" Type="http://schemas.openxmlformats.org/officeDocument/2006/relationships/slideLayout" Target="../slideLayouts/slideLayout75.xml"/><Relationship Id="rId15" Type="http://schemas.openxmlformats.org/officeDocument/2006/relationships/slideLayout" Target="../slideLayouts/slideLayout74.xml"/><Relationship Id="rId14" Type="http://schemas.openxmlformats.org/officeDocument/2006/relationships/slideLayout" Target="../slideLayouts/slideLayout73.xml"/><Relationship Id="rId13" Type="http://schemas.openxmlformats.org/officeDocument/2006/relationships/slideLayout" Target="../slideLayouts/slideLayout72.xml"/><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8" Type="http://schemas.openxmlformats.org/officeDocument/2006/relationships/theme" Target="../theme/theme5.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109.xml"/><Relationship Id="rId24" Type="http://schemas.openxmlformats.org/officeDocument/2006/relationships/slideLayout" Target="../slideLayouts/slideLayout108.xml"/><Relationship Id="rId23" Type="http://schemas.openxmlformats.org/officeDocument/2006/relationships/slideLayout" Target="../slideLayouts/slideLayout107.xml"/><Relationship Id="rId22" Type="http://schemas.openxmlformats.org/officeDocument/2006/relationships/slideLayout" Target="../slideLayouts/slideLayout106.xml"/><Relationship Id="rId21" Type="http://schemas.openxmlformats.org/officeDocument/2006/relationships/slideLayout" Target="../slideLayouts/slideLayout105.xml"/><Relationship Id="rId20" Type="http://schemas.openxmlformats.org/officeDocument/2006/relationships/slideLayout" Target="../slideLayouts/slideLayout104.xml"/><Relationship Id="rId2" Type="http://schemas.openxmlformats.org/officeDocument/2006/relationships/slideLayout" Target="../slideLayouts/slideLayout86.xml"/><Relationship Id="rId19" Type="http://schemas.openxmlformats.org/officeDocument/2006/relationships/slideLayout" Target="../slideLayouts/slideLayout103.xml"/><Relationship Id="rId18" Type="http://schemas.openxmlformats.org/officeDocument/2006/relationships/slideLayout" Target="../slideLayouts/slideLayout102.xml"/><Relationship Id="rId17" Type="http://schemas.openxmlformats.org/officeDocument/2006/relationships/slideLayout" Target="../slideLayouts/slideLayout101.xml"/><Relationship Id="rId16" Type="http://schemas.openxmlformats.org/officeDocument/2006/relationships/slideLayout" Target="../slideLayouts/slideLayout100.xml"/><Relationship Id="rId15" Type="http://schemas.openxmlformats.org/officeDocument/2006/relationships/slideLayout" Target="../slideLayouts/slideLayout99.xml"/><Relationship Id="rId14" Type="http://schemas.openxmlformats.org/officeDocument/2006/relationships/slideLayout" Target="../slideLayouts/slideLayout98.xml"/><Relationship Id="rId13" Type="http://schemas.openxmlformats.org/officeDocument/2006/relationships/slideLayout" Target="../slideLayouts/slideLayout97.xml"/><Relationship Id="rId12" Type="http://schemas.openxmlformats.org/officeDocument/2006/relationships/slideLayout" Target="../slideLayouts/slideLayout96.xml"/><Relationship Id="rId11" Type="http://schemas.openxmlformats.org/officeDocument/2006/relationships/slideLayout" Target="../slideLayouts/slideLayout95.xml"/><Relationship Id="rId10" Type="http://schemas.openxmlformats.org/officeDocument/2006/relationships/slideLayout" Target="../slideLayouts/slideLayout94.xml"/><Relationship Id="rId1" Type="http://schemas.openxmlformats.org/officeDocument/2006/relationships/slideLayout" Target="../slideLayouts/slideLayout8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18.xml"/><Relationship Id="rId8" Type="http://schemas.openxmlformats.org/officeDocument/2006/relationships/slideLayout" Target="../slideLayouts/slideLayout117.xml"/><Relationship Id="rId7" Type="http://schemas.openxmlformats.org/officeDocument/2006/relationships/slideLayout" Target="../slideLayouts/slideLayout116.xml"/><Relationship Id="rId6" Type="http://schemas.openxmlformats.org/officeDocument/2006/relationships/slideLayout" Target="../slideLayouts/slideLayout115.xml"/><Relationship Id="rId5" Type="http://schemas.openxmlformats.org/officeDocument/2006/relationships/slideLayout" Target="../slideLayouts/slideLayout114.xml"/><Relationship Id="rId4" Type="http://schemas.openxmlformats.org/officeDocument/2006/relationships/slideLayout" Target="../slideLayouts/slideLayout113.xml"/><Relationship Id="rId3" Type="http://schemas.openxmlformats.org/officeDocument/2006/relationships/slideLayout" Target="../slideLayouts/slideLayout112.xml"/><Relationship Id="rId2" Type="http://schemas.openxmlformats.org/officeDocument/2006/relationships/slideLayout" Target="../slideLayouts/slideLayout111.xml"/><Relationship Id="rId17" Type="http://schemas.openxmlformats.org/officeDocument/2006/relationships/theme" Target="../theme/theme6.xml"/><Relationship Id="rId16" Type="http://schemas.openxmlformats.org/officeDocument/2006/relationships/image" Target="../media/image23.png"/><Relationship Id="rId15" Type="http://schemas.openxmlformats.org/officeDocument/2006/relationships/slideLayout" Target="../slideLayouts/slideLayout124.xml"/><Relationship Id="rId14" Type="http://schemas.openxmlformats.org/officeDocument/2006/relationships/slideLayout" Target="../slideLayouts/slideLayout123.xml"/><Relationship Id="rId13" Type="http://schemas.openxmlformats.org/officeDocument/2006/relationships/slideLayout" Target="../slideLayouts/slideLayout122.xml"/><Relationship Id="rId12" Type="http://schemas.openxmlformats.org/officeDocument/2006/relationships/slideLayout" Target="../slideLayouts/slideLayout121.xml"/><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 Type="http://schemas.openxmlformats.org/officeDocument/2006/relationships/slideLayout" Target="../slideLayouts/slideLayout11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33.xml"/><Relationship Id="rId8" Type="http://schemas.openxmlformats.org/officeDocument/2006/relationships/slideLayout" Target="../slideLayouts/slideLayout132.xml"/><Relationship Id="rId7" Type="http://schemas.openxmlformats.org/officeDocument/2006/relationships/slideLayout" Target="../slideLayouts/slideLayout131.xml"/><Relationship Id="rId6" Type="http://schemas.openxmlformats.org/officeDocument/2006/relationships/slideLayout" Target="../slideLayouts/slideLayout130.xml"/><Relationship Id="rId5" Type="http://schemas.openxmlformats.org/officeDocument/2006/relationships/slideLayout" Target="../slideLayouts/slideLayout129.xml"/><Relationship Id="rId4" Type="http://schemas.openxmlformats.org/officeDocument/2006/relationships/slideLayout" Target="../slideLayouts/slideLayout128.xml"/><Relationship Id="rId3" Type="http://schemas.openxmlformats.org/officeDocument/2006/relationships/slideLayout" Target="../slideLayouts/slideLayout127.xml"/><Relationship Id="rId22" Type="http://schemas.openxmlformats.org/officeDocument/2006/relationships/theme" Target="../theme/theme7.xml"/><Relationship Id="rId21" Type="http://schemas.openxmlformats.org/officeDocument/2006/relationships/image" Target="../media/image23.png"/><Relationship Id="rId20" Type="http://schemas.openxmlformats.org/officeDocument/2006/relationships/slideLayout" Target="../slideLayouts/slideLayout144.xml"/><Relationship Id="rId2" Type="http://schemas.openxmlformats.org/officeDocument/2006/relationships/slideLayout" Target="../slideLayouts/slideLayout126.xml"/><Relationship Id="rId19" Type="http://schemas.openxmlformats.org/officeDocument/2006/relationships/slideLayout" Target="../slideLayouts/slideLayout143.xml"/><Relationship Id="rId18" Type="http://schemas.openxmlformats.org/officeDocument/2006/relationships/slideLayout" Target="../slideLayouts/slideLayout142.xml"/><Relationship Id="rId17" Type="http://schemas.openxmlformats.org/officeDocument/2006/relationships/slideLayout" Target="../slideLayouts/slideLayout141.xml"/><Relationship Id="rId16" Type="http://schemas.openxmlformats.org/officeDocument/2006/relationships/slideLayout" Target="../slideLayouts/slideLayout140.xml"/><Relationship Id="rId15" Type="http://schemas.openxmlformats.org/officeDocument/2006/relationships/slideLayout" Target="../slideLayouts/slideLayout139.xml"/><Relationship Id="rId14" Type="http://schemas.openxmlformats.org/officeDocument/2006/relationships/slideLayout" Target="../slideLayouts/slideLayout138.xml"/><Relationship Id="rId13" Type="http://schemas.openxmlformats.org/officeDocument/2006/relationships/slideLayout" Target="../slideLayouts/slideLayout137.xml"/><Relationship Id="rId12" Type="http://schemas.openxmlformats.org/officeDocument/2006/relationships/slideLayout" Target="../slideLayouts/slideLayout136.xml"/><Relationship Id="rId11" Type="http://schemas.openxmlformats.org/officeDocument/2006/relationships/slideLayout" Target="../slideLayouts/slideLayout135.xml"/><Relationship Id="rId10" Type="http://schemas.openxmlformats.org/officeDocument/2006/relationships/slideLayout" Target="../slideLayouts/slideLayout134.xml"/><Relationship Id="rId1" Type="http://schemas.openxmlformats.org/officeDocument/2006/relationships/slideLayout" Target="../slideLayouts/slideLayout12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8" Type="http://schemas.openxmlformats.org/officeDocument/2006/relationships/theme" Target="../theme/theme8.xml"/><Relationship Id="rId17" Type="http://schemas.openxmlformats.org/officeDocument/2006/relationships/slideLayout" Target="../slideLayouts/slideLayout161.xml"/><Relationship Id="rId16" Type="http://schemas.openxmlformats.org/officeDocument/2006/relationships/slideLayout" Target="../slideLayouts/slideLayout160.xml"/><Relationship Id="rId15" Type="http://schemas.openxmlformats.org/officeDocument/2006/relationships/slideLayout" Target="../slideLayouts/slideLayout159.xml"/><Relationship Id="rId14" Type="http://schemas.openxmlformats.org/officeDocument/2006/relationships/slideLayout" Target="../slideLayouts/slideLayout158.xml"/><Relationship Id="rId13" Type="http://schemas.openxmlformats.org/officeDocument/2006/relationships/slideLayout" Target="../slideLayouts/slideLayout157.xml"/><Relationship Id="rId12" Type="http://schemas.openxmlformats.org/officeDocument/2006/relationships/slideLayout" Target="../slideLayouts/slideLayout156.xml"/><Relationship Id="rId11" Type="http://schemas.openxmlformats.org/officeDocument/2006/relationships/slideLayout" Target="../slideLayouts/slideLayout155.xml"/><Relationship Id="rId10" Type="http://schemas.openxmlformats.org/officeDocument/2006/relationships/slideLayout" Target="../slideLayouts/slideLayout154.xml"/><Relationship Id="rId1" Type="http://schemas.openxmlformats.org/officeDocument/2006/relationships/slideLayout" Target="../slideLayouts/slideLayout145.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70.xml"/><Relationship Id="rId8" Type="http://schemas.openxmlformats.org/officeDocument/2006/relationships/slideLayout" Target="../slideLayouts/slideLayout169.xml"/><Relationship Id="rId7" Type="http://schemas.openxmlformats.org/officeDocument/2006/relationships/slideLayout" Target="../slideLayouts/slideLayout168.xml"/><Relationship Id="rId6" Type="http://schemas.openxmlformats.org/officeDocument/2006/relationships/slideLayout" Target="../slideLayouts/slideLayout167.xml"/><Relationship Id="rId5" Type="http://schemas.openxmlformats.org/officeDocument/2006/relationships/slideLayout" Target="../slideLayouts/slideLayout166.xml"/><Relationship Id="rId4" Type="http://schemas.openxmlformats.org/officeDocument/2006/relationships/slideLayout" Target="../slideLayouts/slideLayout165.xml"/><Relationship Id="rId3" Type="http://schemas.openxmlformats.org/officeDocument/2006/relationships/slideLayout" Target="../slideLayouts/slideLayout164.xml"/><Relationship Id="rId29" Type="http://schemas.openxmlformats.org/officeDocument/2006/relationships/theme" Target="../theme/theme9.xml"/><Relationship Id="rId28" Type="http://schemas.openxmlformats.org/officeDocument/2006/relationships/image" Target="../media/image14.png"/><Relationship Id="rId27" Type="http://schemas.openxmlformats.org/officeDocument/2006/relationships/image" Target="../media/image11.jpeg"/><Relationship Id="rId26" Type="http://schemas.openxmlformats.org/officeDocument/2006/relationships/slideLayout" Target="../slideLayouts/slideLayout187.xml"/><Relationship Id="rId25" Type="http://schemas.openxmlformats.org/officeDocument/2006/relationships/slideLayout" Target="../slideLayouts/slideLayout186.xml"/><Relationship Id="rId24" Type="http://schemas.openxmlformats.org/officeDocument/2006/relationships/slideLayout" Target="../slideLayouts/slideLayout185.xml"/><Relationship Id="rId23" Type="http://schemas.openxmlformats.org/officeDocument/2006/relationships/slideLayout" Target="../slideLayouts/slideLayout184.xml"/><Relationship Id="rId22" Type="http://schemas.openxmlformats.org/officeDocument/2006/relationships/slideLayout" Target="../slideLayouts/slideLayout183.xml"/><Relationship Id="rId21" Type="http://schemas.openxmlformats.org/officeDocument/2006/relationships/slideLayout" Target="../slideLayouts/slideLayout182.xml"/><Relationship Id="rId20" Type="http://schemas.openxmlformats.org/officeDocument/2006/relationships/slideLayout" Target="../slideLayouts/slideLayout181.xml"/><Relationship Id="rId2" Type="http://schemas.openxmlformats.org/officeDocument/2006/relationships/slideLayout" Target="../slideLayouts/slideLayout163.xml"/><Relationship Id="rId19" Type="http://schemas.openxmlformats.org/officeDocument/2006/relationships/slideLayout" Target="../slideLayouts/slideLayout180.xml"/><Relationship Id="rId18" Type="http://schemas.openxmlformats.org/officeDocument/2006/relationships/slideLayout" Target="../slideLayouts/slideLayout179.xml"/><Relationship Id="rId17" Type="http://schemas.openxmlformats.org/officeDocument/2006/relationships/slideLayout" Target="../slideLayouts/slideLayout178.xml"/><Relationship Id="rId16" Type="http://schemas.openxmlformats.org/officeDocument/2006/relationships/slideLayout" Target="../slideLayouts/slideLayout177.xml"/><Relationship Id="rId15" Type="http://schemas.openxmlformats.org/officeDocument/2006/relationships/slideLayout" Target="../slideLayouts/slideLayout176.xml"/><Relationship Id="rId14" Type="http://schemas.openxmlformats.org/officeDocument/2006/relationships/slideLayout" Target="../slideLayouts/slideLayout175.xml"/><Relationship Id="rId13" Type="http://schemas.openxmlformats.org/officeDocument/2006/relationships/slideLayout" Target="../slideLayouts/slideLayout174.xml"/><Relationship Id="rId12" Type="http://schemas.openxmlformats.org/officeDocument/2006/relationships/slideLayout" Target="../slideLayouts/slideLayout173.xml"/><Relationship Id="rId11" Type="http://schemas.openxmlformats.org/officeDocument/2006/relationships/slideLayout" Target="../slideLayouts/slideLayout172.xml"/><Relationship Id="rId10" Type="http://schemas.openxmlformats.org/officeDocument/2006/relationships/slideLayout" Target="../slideLayouts/slideLayout171.xml"/><Relationship Id="rId1" Type="http://schemas.openxmlformats.org/officeDocument/2006/relationships/slideLayout" Target="../slideLayouts/slideLayout162.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8" Type="http://schemas.openxmlformats.org/officeDocument/2006/relationships/theme" Target="../theme/theme10.xml"/><Relationship Id="rId17" Type="http://schemas.openxmlformats.org/officeDocument/2006/relationships/slideLayout" Target="../slideLayouts/slideLayout204.xml"/><Relationship Id="rId16" Type="http://schemas.openxmlformats.org/officeDocument/2006/relationships/slideLayout" Target="../slideLayouts/slideLayout203.xml"/><Relationship Id="rId15" Type="http://schemas.openxmlformats.org/officeDocument/2006/relationships/slideLayout" Target="../slideLayouts/slideLayout202.xml"/><Relationship Id="rId14" Type="http://schemas.openxmlformats.org/officeDocument/2006/relationships/slideLayout" Target="../slideLayouts/slideLayout201.xml"/><Relationship Id="rId13" Type="http://schemas.openxmlformats.org/officeDocument/2006/relationships/slideLayout" Target="../slideLayouts/slideLayout200.xml"/><Relationship Id="rId12" Type="http://schemas.openxmlformats.org/officeDocument/2006/relationships/slideLayout" Target="../slideLayouts/slideLayout199.xml"/><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213.xml"/><Relationship Id="rId8" Type="http://schemas.openxmlformats.org/officeDocument/2006/relationships/slideLayout" Target="../slideLayouts/slideLayout212.xml"/><Relationship Id="rId7" Type="http://schemas.openxmlformats.org/officeDocument/2006/relationships/slideLayout" Target="../slideLayouts/slideLayout211.xml"/><Relationship Id="rId6" Type="http://schemas.openxmlformats.org/officeDocument/2006/relationships/slideLayout" Target="../slideLayouts/slideLayout210.xml"/><Relationship Id="rId5" Type="http://schemas.openxmlformats.org/officeDocument/2006/relationships/slideLayout" Target="../slideLayouts/slideLayout209.xml"/><Relationship Id="rId4" Type="http://schemas.openxmlformats.org/officeDocument/2006/relationships/slideLayout" Target="../slideLayouts/slideLayout208.xml"/><Relationship Id="rId3" Type="http://schemas.openxmlformats.org/officeDocument/2006/relationships/slideLayout" Target="../slideLayouts/slideLayout207.xml"/><Relationship Id="rId28" Type="http://schemas.openxmlformats.org/officeDocument/2006/relationships/theme" Target="../theme/theme11.xml"/><Relationship Id="rId27" Type="http://schemas.openxmlformats.org/officeDocument/2006/relationships/image" Target="../media/image14.png"/><Relationship Id="rId26" Type="http://schemas.openxmlformats.org/officeDocument/2006/relationships/image" Target="../media/image11.jpeg"/><Relationship Id="rId25" Type="http://schemas.openxmlformats.org/officeDocument/2006/relationships/slideLayout" Target="../slideLayouts/slideLayout229.xml"/><Relationship Id="rId24" Type="http://schemas.openxmlformats.org/officeDocument/2006/relationships/slideLayout" Target="../slideLayouts/slideLayout228.xml"/><Relationship Id="rId23" Type="http://schemas.openxmlformats.org/officeDocument/2006/relationships/slideLayout" Target="../slideLayouts/slideLayout227.xml"/><Relationship Id="rId22" Type="http://schemas.openxmlformats.org/officeDocument/2006/relationships/slideLayout" Target="../slideLayouts/slideLayout226.xml"/><Relationship Id="rId21" Type="http://schemas.openxmlformats.org/officeDocument/2006/relationships/slideLayout" Target="../slideLayouts/slideLayout225.xml"/><Relationship Id="rId20" Type="http://schemas.openxmlformats.org/officeDocument/2006/relationships/slideLayout" Target="../slideLayouts/slideLayout224.xml"/><Relationship Id="rId2" Type="http://schemas.openxmlformats.org/officeDocument/2006/relationships/slideLayout" Target="../slideLayouts/slideLayout206.xml"/><Relationship Id="rId19" Type="http://schemas.openxmlformats.org/officeDocument/2006/relationships/slideLayout" Target="../slideLayouts/slideLayout223.xml"/><Relationship Id="rId18" Type="http://schemas.openxmlformats.org/officeDocument/2006/relationships/slideLayout" Target="../slideLayouts/slideLayout222.xml"/><Relationship Id="rId17" Type="http://schemas.openxmlformats.org/officeDocument/2006/relationships/slideLayout" Target="../slideLayouts/slideLayout221.xml"/><Relationship Id="rId16" Type="http://schemas.openxmlformats.org/officeDocument/2006/relationships/slideLayout" Target="../slideLayouts/slideLayout220.xml"/><Relationship Id="rId15" Type="http://schemas.openxmlformats.org/officeDocument/2006/relationships/slideLayout" Target="../slideLayouts/slideLayout219.xml"/><Relationship Id="rId14" Type="http://schemas.openxmlformats.org/officeDocument/2006/relationships/slideLayout" Target="../slideLayouts/slideLayout218.xml"/><Relationship Id="rId13" Type="http://schemas.openxmlformats.org/officeDocument/2006/relationships/slideLayout" Target="../slideLayouts/slideLayout217.xml"/><Relationship Id="rId12" Type="http://schemas.openxmlformats.org/officeDocument/2006/relationships/slideLayout" Target="../slideLayouts/slideLayout216.xml"/><Relationship Id="rId11" Type="http://schemas.openxmlformats.org/officeDocument/2006/relationships/slideLayout" Target="../slideLayouts/slideLayout215.xml"/><Relationship Id="rId10" Type="http://schemas.openxmlformats.org/officeDocument/2006/relationships/slideLayout" Target="../slideLayouts/slideLayout214.xml"/><Relationship Id="rId1" Type="http://schemas.openxmlformats.org/officeDocument/2006/relationships/slideLayout" Target="../slideLayouts/slideLayout205.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238.xml"/><Relationship Id="rId8" Type="http://schemas.openxmlformats.org/officeDocument/2006/relationships/slideLayout" Target="../slideLayouts/slideLayout237.xml"/><Relationship Id="rId7" Type="http://schemas.openxmlformats.org/officeDocument/2006/relationships/slideLayout" Target="../slideLayouts/slideLayout236.xml"/><Relationship Id="rId6" Type="http://schemas.openxmlformats.org/officeDocument/2006/relationships/slideLayout" Target="../slideLayouts/slideLayout235.xml"/><Relationship Id="rId5" Type="http://schemas.openxmlformats.org/officeDocument/2006/relationships/slideLayout" Target="../slideLayouts/slideLayout234.xml"/><Relationship Id="rId4" Type="http://schemas.openxmlformats.org/officeDocument/2006/relationships/slideLayout" Target="../slideLayouts/slideLayout233.xml"/><Relationship Id="rId3" Type="http://schemas.openxmlformats.org/officeDocument/2006/relationships/slideLayout" Target="../slideLayouts/slideLayout232.xml"/><Relationship Id="rId25" Type="http://schemas.openxmlformats.org/officeDocument/2006/relationships/theme" Target="../theme/theme12.xml"/><Relationship Id="rId24" Type="http://schemas.openxmlformats.org/officeDocument/2006/relationships/image" Target="../media/image14.png"/><Relationship Id="rId23" Type="http://schemas.openxmlformats.org/officeDocument/2006/relationships/image" Target="../media/image11.jpeg"/><Relationship Id="rId22" Type="http://schemas.openxmlformats.org/officeDocument/2006/relationships/slideLayout" Target="../slideLayouts/slideLayout251.xml"/><Relationship Id="rId21" Type="http://schemas.openxmlformats.org/officeDocument/2006/relationships/slideLayout" Target="../slideLayouts/slideLayout250.xml"/><Relationship Id="rId20" Type="http://schemas.openxmlformats.org/officeDocument/2006/relationships/slideLayout" Target="../slideLayouts/slideLayout249.xml"/><Relationship Id="rId2" Type="http://schemas.openxmlformats.org/officeDocument/2006/relationships/slideLayout" Target="../slideLayouts/slideLayout231.xml"/><Relationship Id="rId19" Type="http://schemas.openxmlformats.org/officeDocument/2006/relationships/slideLayout" Target="../slideLayouts/slideLayout248.xml"/><Relationship Id="rId18" Type="http://schemas.openxmlformats.org/officeDocument/2006/relationships/slideLayout" Target="../slideLayouts/slideLayout247.xml"/><Relationship Id="rId17" Type="http://schemas.openxmlformats.org/officeDocument/2006/relationships/slideLayout" Target="../slideLayouts/slideLayout246.xml"/><Relationship Id="rId16" Type="http://schemas.openxmlformats.org/officeDocument/2006/relationships/slideLayout" Target="../slideLayouts/slideLayout245.xml"/><Relationship Id="rId15" Type="http://schemas.openxmlformats.org/officeDocument/2006/relationships/slideLayout" Target="../slideLayouts/slideLayout244.xml"/><Relationship Id="rId14" Type="http://schemas.openxmlformats.org/officeDocument/2006/relationships/slideLayout" Target="../slideLayouts/slideLayout243.xml"/><Relationship Id="rId13" Type="http://schemas.openxmlformats.org/officeDocument/2006/relationships/slideLayout" Target="../slideLayouts/slideLayout242.xml"/><Relationship Id="rId12" Type="http://schemas.openxmlformats.org/officeDocument/2006/relationships/slideLayout" Target="../slideLayouts/slideLayout241.xml"/><Relationship Id="rId11" Type="http://schemas.openxmlformats.org/officeDocument/2006/relationships/slideLayout" Target="../slideLayouts/slideLayout240.xml"/><Relationship Id="rId10" Type="http://schemas.openxmlformats.org/officeDocument/2006/relationships/slideLayout" Target="../slideLayouts/slideLayout239.xml"/><Relationship Id="rId1" Type="http://schemas.openxmlformats.org/officeDocument/2006/relationships/slideLayout" Target="../slideLayouts/slideLayout2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fld>
            <a:endParaRPr lang="zh-CN" altLang="en-US" sz="12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3" name="Picture 2" descr="A blue and white logo&#10;&#10;Description automatically generated"/>
          <p:cNvPicPr>
            <a:picLocks noChangeAspect="1"/>
          </p:cNvPicPr>
          <p:nvPr userDrawn="1"/>
        </p:nvPicPr>
        <p:blipFill rotWithShape="1">
          <a:blip r:embed="rId27" cstate="print">
            <a:extLst>
              <a:ext uri="{28A0092B-C50C-407E-A947-70E740481C1C}">
                <a14:useLocalDpi xmlns:a14="http://schemas.microsoft.com/office/drawing/2010/main" val="0"/>
              </a:ext>
            </a:extLst>
          </a:blip>
          <a:srcRect l="40809" t="23955" r="40919" b="37048"/>
          <a:stretch>
            <a:fillRect/>
          </a:stretch>
        </p:blipFill>
        <p:spPr>
          <a:xfrm>
            <a:off x="152401" y="50489"/>
            <a:ext cx="461681" cy="517417"/>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456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7" name="Picture 6"/>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66735" y="0"/>
            <a:ext cx="612000" cy="612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2605"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6"/>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5"/>
            <a:ext cx="793019" cy="589809"/>
          </a:xfrm>
          <a:prstGeom prst="rect">
            <a:avLst/>
          </a:prstGeom>
        </p:spPr>
      </p:pic>
      <p:sp>
        <p:nvSpPr>
          <p:cNvPr id="5" name="TextBox 4"/>
          <p:cNvSpPr txBox="1"/>
          <p:nvPr userDrawn="1"/>
        </p:nvSpPr>
        <p:spPr>
          <a:xfrm>
            <a:off x="821908" y="1393536"/>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5"/>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2" y="9963"/>
            <a:ext cx="793019" cy="589809"/>
          </a:xfrm>
          <a:prstGeom prst="rect">
            <a:avLst/>
          </a:prstGeom>
        </p:spPr>
      </p:pic>
      <p:sp>
        <p:nvSpPr>
          <p:cNvPr id="5" name="TextBox 4"/>
          <p:cNvSpPr txBox="1"/>
          <p:nvPr userDrawn="1"/>
        </p:nvSpPr>
        <p:spPr>
          <a:xfrm>
            <a:off x="821908" y="1393536"/>
            <a:ext cx="7879080" cy="1015343"/>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AAC65BA3-EF8F-408F-A22D-18BBE8C1E8E8}"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21">
            <a:lum/>
          </a:blip>
          <a:srcRect/>
          <a:stretch>
            <a:fillRect/>
          </a:stretch>
        </a:blipFill>
        <a:effectLst/>
      </p:bgPr>
    </p:bg>
    <p:spTree>
      <p:nvGrpSpPr>
        <p:cNvPr id="1" name=""/>
        <p:cNvGrpSpPr/>
        <p:nvPr/>
      </p:nvGrpSpPr>
      <p:grpSpPr>
        <a:xfrm>
          <a:off x="0" y="0"/>
          <a:ext cx="0" cy="0"/>
          <a:chOff x="0" y="0"/>
          <a:chExt cx="0" cy="0"/>
        </a:xfrm>
      </p:grpSpPr>
      <p:sp>
        <p:nvSpPr>
          <p:cNvPr id="2" name="文本框 1"/>
          <p:cNvSpPr txBox="1"/>
          <p:nvPr userDrawn="1"/>
        </p:nvSpPr>
        <p:spPr>
          <a:xfrm>
            <a:off x="11648046" y="281227"/>
            <a:ext cx="457176" cy="246221"/>
          </a:xfrm>
          <a:prstGeom prst="rect">
            <a:avLst/>
          </a:prstGeom>
          <a:noFill/>
        </p:spPr>
        <p:txBody>
          <a:bodyPr wrap="none" tIns="0" bIns="0" rtlCol="0" anchor="ctr" anchorCtr="1">
            <a:spAutoFit/>
          </a:bodyPr>
          <a:lstStyle/>
          <a:p>
            <a:pPr marL="0" marR="0" lvl="0" indent="0" algn="r" defTabSz="914400" rtl="0" eaLnBrk="0" fontAlgn="base" latinLnBrk="0" hangingPunct="0">
              <a:lnSpc>
                <a:spcPct val="100000"/>
              </a:lnSpc>
              <a:spcBef>
                <a:spcPct val="0"/>
              </a:spcBef>
              <a:spcAft>
                <a:spcPct val="0"/>
              </a:spcAft>
              <a:buClrTx/>
              <a:buSzTx/>
              <a:buFontTx/>
              <a:buNone/>
              <a:defRPr/>
            </a:pPr>
            <a:fld id="{D203FF89-D6BC-427F-AEEF-1C1BC6695141}" type="slidenum">
              <a:rPr kumimoji="0" lang="zh-CN" altLang="en-US" sz="16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mn-cs"/>
              </a:rPr>
            </a:fld>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 id="2147483796" r:id="rId18"/>
    <p:sldLayoutId id="2147483797" r:id="rId19"/>
    <p:sldLayoutId id="2147483798" r:id="rId20"/>
  </p:sldLayoutIdLst>
  <mc:AlternateContent xmlns:mc="http://schemas.openxmlformats.org/markup-compatibility/2006">
    <mc:Choice xmlns:p14="http://schemas.microsoft.com/office/powerpoint/2010/main" Requires="p14">
      <p:transition p14:dur="10">
        <p:fade/>
      </p:transition>
    </mc:Choice>
    <mc:Fallback>
      <p:transition>
        <p:fade/>
      </p:transition>
    </mc:Fallback>
  </mc:AlternateContent>
  <p:hf hdr="0" ftr="0" dt="0"/>
  <p:txStyles>
    <p:titleStyle>
      <a:lvl1pPr algn="ctr" defTabSz="914400" rtl="0" eaLnBrk="0" fontAlgn="base" hangingPunct="0">
        <a:spcBef>
          <a:spcPct val="0"/>
        </a:spcBef>
        <a:spcAft>
          <a:spcPct val="0"/>
        </a:spcAft>
        <a:defRPr sz="4400">
          <a:solidFill>
            <a:schemeClr val="tx2"/>
          </a:solidFill>
          <a:latin typeface="+mj-lt"/>
          <a:ea typeface="+mj-ea"/>
          <a:cs typeface="+mj-cs"/>
        </a:defRPr>
      </a:lvl1pPr>
      <a:lvl2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defTabSz="914400"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32131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642620"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96456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285875" algn="ctr" defTabSz="914400"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defTabSz="914400" rtl="0" eaLnBrk="0" fontAlgn="base" hangingPunct="0">
        <a:spcBef>
          <a:spcPct val="20000"/>
        </a:spcBef>
        <a:spcAft>
          <a:spcPct val="0"/>
        </a:spcAft>
        <a:buChar char="•"/>
        <a:defRPr sz="3200">
          <a:solidFill>
            <a:schemeClr val="tx1"/>
          </a:solidFill>
          <a:latin typeface="+mn-lt"/>
          <a:ea typeface="+mn-ea"/>
          <a:cs typeface="+mn-cs"/>
        </a:defRPr>
      </a:lvl1pPr>
      <a:lvl2pPr marL="743585" indent="-285750" algn="l" defTabSz="914400" rtl="0" eaLnBrk="0" fontAlgn="base" hangingPunct="0">
        <a:spcBef>
          <a:spcPct val="20000"/>
        </a:spcBef>
        <a:spcAft>
          <a:spcPct val="0"/>
        </a:spcAft>
        <a:buChar char="–"/>
        <a:defRPr sz="2800">
          <a:solidFill>
            <a:schemeClr val="tx1"/>
          </a:solidFill>
          <a:latin typeface="+mn-lt"/>
          <a:ea typeface="+mn-ea"/>
        </a:defRPr>
      </a:lvl2pPr>
      <a:lvl3pPr marL="1143000" indent="-228600" algn="l" defTabSz="914400" rtl="0" eaLnBrk="0" fontAlgn="base" hangingPunct="0">
        <a:spcBef>
          <a:spcPct val="20000"/>
        </a:spcBef>
        <a:spcAft>
          <a:spcPct val="0"/>
        </a:spcAft>
        <a:buChar char="•"/>
        <a:defRPr sz="2400">
          <a:solidFill>
            <a:schemeClr val="tx1"/>
          </a:solidFill>
          <a:latin typeface="+mn-lt"/>
          <a:ea typeface="+mn-ea"/>
        </a:defRPr>
      </a:lvl3pPr>
      <a:lvl4pPr marL="1600835" indent="-228600" algn="l" defTabSz="914400" rtl="0" eaLnBrk="0" fontAlgn="base" hangingPunct="0">
        <a:spcBef>
          <a:spcPct val="20000"/>
        </a:spcBef>
        <a:spcAft>
          <a:spcPct val="0"/>
        </a:spcAft>
        <a:buChar char="–"/>
        <a:defRPr sz="2000">
          <a:solidFill>
            <a:schemeClr val="tx1"/>
          </a:solidFill>
          <a:latin typeface="+mn-lt"/>
          <a:ea typeface="+mn-ea"/>
        </a:defRPr>
      </a:lvl4pPr>
      <a:lvl5pPr marL="2057400" indent="-228600" algn="l" defTabSz="914400" rtl="0" eaLnBrk="0" fontAlgn="base" hangingPunct="0">
        <a:spcBef>
          <a:spcPct val="20000"/>
        </a:spcBef>
        <a:spcAft>
          <a:spcPct val="0"/>
        </a:spcAft>
        <a:buChar char="»"/>
        <a:defRPr sz="2000">
          <a:solidFill>
            <a:schemeClr val="tx1"/>
          </a:solidFill>
          <a:latin typeface="+mn-lt"/>
          <a:ea typeface="+mn-ea"/>
        </a:defRPr>
      </a:lvl5pPr>
      <a:lvl6pPr marL="2378710" indent="-228600" algn="l" defTabSz="914400" rtl="0" fontAlgn="base">
        <a:spcBef>
          <a:spcPct val="20000"/>
        </a:spcBef>
        <a:spcAft>
          <a:spcPct val="0"/>
        </a:spcAft>
        <a:buChar char="»"/>
        <a:defRPr sz="2000">
          <a:solidFill>
            <a:schemeClr val="tx1"/>
          </a:solidFill>
          <a:latin typeface="+mn-lt"/>
          <a:ea typeface="+mn-ea"/>
        </a:defRPr>
      </a:lvl6pPr>
      <a:lvl7pPr marL="2700020" indent="-228600" algn="l" defTabSz="914400" rtl="0" fontAlgn="base">
        <a:spcBef>
          <a:spcPct val="20000"/>
        </a:spcBef>
        <a:spcAft>
          <a:spcPct val="0"/>
        </a:spcAft>
        <a:buChar char="»"/>
        <a:defRPr sz="2000">
          <a:solidFill>
            <a:schemeClr val="tx1"/>
          </a:solidFill>
          <a:latin typeface="+mn-lt"/>
          <a:ea typeface="+mn-ea"/>
        </a:defRPr>
      </a:lvl7pPr>
      <a:lvl8pPr marL="3021330" indent="-228600" algn="l" defTabSz="914400" rtl="0" fontAlgn="base">
        <a:spcBef>
          <a:spcPct val="20000"/>
        </a:spcBef>
        <a:spcAft>
          <a:spcPct val="0"/>
        </a:spcAft>
        <a:buChar char="»"/>
        <a:defRPr sz="2000">
          <a:solidFill>
            <a:schemeClr val="tx1"/>
          </a:solidFill>
          <a:latin typeface="+mn-lt"/>
          <a:ea typeface="+mn-ea"/>
        </a:defRPr>
      </a:lvl8pPr>
      <a:lvl9pPr marL="3342640" indent="-228600" algn="l" defTabSz="914400"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4565"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50440" algn="l" defTabSz="642620" rtl="0" eaLnBrk="1" latinLnBrk="0" hangingPunct="1">
        <a:defRPr sz="1300" kern="1200">
          <a:solidFill>
            <a:schemeClr val="tx1"/>
          </a:solidFill>
          <a:latin typeface="+mn-lt"/>
          <a:ea typeface="+mn-ea"/>
          <a:cs typeface="+mn-cs"/>
        </a:defRPr>
      </a:lvl8pPr>
      <a:lvl9pPr marL="2571750" algn="l" defTabSz="642620" rtl="0" eaLnBrk="1" latinLnBrk="0" hangingPunct="1">
        <a:defRPr sz="13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240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2400">
                <a:solidFill>
                  <a:srgbClr val="093575"/>
                </a:solidFill>
              </a:endParaRPr>
            </a:p>
          </p:txBody>
        </p:sp>
      </p:grpSp>
      <p:sp>
        <p:nvSpPr>
          <p:cNvPr id="120" name="Line 136"/>
          <p:cNvSpPr>
            <a:spLocks noChangeShapeType="1"/>
          </p:cNvSpPr>
          <p:nvPr/>
        </p:nvSpPr>
        <p:spPr bwMode="auto">
          <a:xfrm>
            <a:off x="46553"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40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7">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8"/>
          <a:stretch>
            <a:fillRect/>
          </a:stretch>
        </p:blipFill>
        <p:spPr>
          <a:xfrm>
            <a:off x="104824" y="9968"/>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 id="2147483835" r:id="rId18"/>
    <p:sldLayoutId id="2147483836" r:id="rId19"/>
    <p:sldLayoutId id="2147483837" r:id="rId20"/>
    <p:sldLayoutId id="2147483838" r:id="rId21"/>
    <p:sldLayoutId id="2147483839" r:id="rId22"/>
    <p:sldLayoutId id="2147483840" r:id="rId23"/>
    <p:sldLayoutId id="2147483841" r:id="rId24"/>
    <p:sldLayoutId id="2147483842" r:id="rId25"/>
    <p:sldLayoutId id="2147483843" r:id="rId26"/>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135"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17"/>
          <p:cNvSpPr>
            <a:spLocks noChangeArrowheads="1"/>
          </p:cNvSpPr>
          <p:nvPr/>
        </p:nvSpPr>
        <p:spPr bwMode="gray">
          <a:xfrm>
            <a:off x="1595" y="10"/>
            <a:ext cx="12190412" cy="2557463"/>
          </a:xfrm>
          <a:prstGeom prst="rect">
            <a:avLst/>
          </a:prstGeom>
          <a:gradFill rotWithShape="1">
            <a:gsLst>
              <a:gs pos="0">
                <a:schemeClr val="accent1"/>
              </a:gs>
              <a:gs pos="100000">
                <a:schemeClr val="accent1">
                  <a:gamma/>
                  <a:tint val="0"/>
                  <a:invGamma/>
                  <a:alpha val="0"/>
                </a:schemeClr>
              </a:gs>
            </a:gsLst>
            <a:lin ang="5400000" scaled="1"/>
          </a:gradFill>
          <a:ln w="9525">
            <a:noFill/>
            <a:miter lim="800000"/>
          </a:ln>
          <a:effectLst/>
        </p:spPr>
        <p:txBody>
          <a:bodyPr wrap="none" anchor="ctr"/>
          <a:lstStyle/>
          <a:p>
            <a:pPr algn="ctr">
              <a:defRPr/>
            </a:pPr>
            <a:endParaRPr lang="zh-CN" altLang="en-US" sz="3330">
              <a:solidFill>
                <a:srgbClr val="093575"/>
              </a:solidFill>
              <a:latin typeface="Arial" panose="020B0604020202020204" pitchFamily="34" charset="0"/>
              <a:ea typeface="宋体" panose="02010600030101010101" pitchFamily="2" charset="-122"/>
            </a:endParaRPr>
          </a:p>
        </p:txBody>
      </p:sp>
      <p:grpSp>
        <p:nvGrpSpPr>
          <p:cNvPr id="8" name="Group 18"/>
          <p:cNvGrpSpPr/>
          <p:nvPr/>
        </p:nvGrpSpPr>
        <p:grpSpPr bwMode="auto">
          <a:xfrm>
            <a:off x="827198" y="317504"/>
            <a:ext cx="10742124" cy="2600325"/>
            <a:chOff x="664" y="1951"/>
            <a:chExt cx="4308" cy="2120"/>
          </a:xfrm>
        </p:grpSpPr>
        <p:sp>
          <p:nvSpPr>
            <p:cNvPr id="9" name="Freeform 19"/>
            <p:cNvSpPr/>
            <p:nvPr/>
          </p:nvSpPr>
          <p:spPr bwMode="invGray">
            <a:xfrm>
              <a:off x="743" y="2045"/>
              <a:ext cx="1267" cy="1938"/>
            </a:xfrm>
            <a:custGeom>
              <a:avLst/>
              <a:gdLst/>
              <a:ahLst/>
              <a:cxnLst>
                <a:cxn ang="0">
                  <a:pos x="116" y="258"/>
                </a:cxn>
                <a:cxn ang="0">
                  <a:pos x="320" y="210"/>
                </a:cxn>
                <a:cxn ang="0">
                  <a:pos x="434" y="240"/>
                </a:cxn>
                <a:cxn ang="0">
                  <a:pos x="416" y="444"/>
                </a:cxn>
                <a:cxn ang="0">
                  <a:pos x="272" y="582"/>
                </a:cxn>
                <a:cxn ang="0">
                  <a:pos x="218" y="714"/>
                </a:cxn>
                <a:cxn ang="0">
                  <a:pos x="284" y="964"/>
                </a:cxn>
                <a:cxn ang="0">
                  <a:pos x="316" y="960"/>
                </a:cxn>
                <a:cxn ang="0">
                  <a:pos x="328" y="906"/>
                </a:cxn>
                <a:cxn ang="0">
                  <a:pos x="478" y="1154"/>
                </a:cxn>
                <a:cxn ang="0">
                  <a:pos x="650" y="1200"/>
                </a:cxn>
                <a:cxn ang="0">
                  <a:pos x="794" y="1350"/>
                </a:cxn>
                <a:cxn ang="0">
                  <a:pos x="854" y="1422"/>
                </a:cxn>
                <a:cxn ang="0">
                  <a:pos x="770" y="1608"/>
                </a:cxn>
                <a:cxn ang="0">
                  <a:pos x="916" y="1782"/>
                </a:cxn>
                <a:cxn ang="0">
                  <a:pos x="1034" y="2022"/>
                </a:cxn>
                <a:cxn ang="0">
                  <a:pos x="1094" y="2310"/>
                </a:cxn>
                <a:cxn ang="0">
                  <a:pos x="1194" y="2540"/>
                </a:cxn>
                <a:cxn ang="0">
                  <a:pos x="1280" y="2520"/>
                </a:cxn>
                <a:cxn ang="0">
                  <a:pos x="1244" y="2394"/>
                </a:cxn>
                <a:cxn ang="0">
                  <a:pos x="1288" y="2306"/>
                </a:cxn>
                <a:cxn ang="0">
                  <a:pos x="1368" y="2228"/>
                </a:cxn>
                <a:cxn ang="0">
                  <a:pos x="1448" y="2076"/>
                </a:cxn>
                <a:cxn ang="0">
                  <a:pos x="1568" y="1950"/>
                </a:cxn>
                <a:cxn ang="0">
                  <a:pos x="1622" y="1746"/>
                </a:cxn>
                <a:cxn ang="0">
                  <a:pos x="1552" y="1538"/>
                </a:cxn>
                <a:cxn ang="0">
                  <a:pos x="1376" y="1410"/>
                </a:cxn>
                <a:cxn ang="0">
                  <a:pos x="1104" y="1280"/>
                </a:cxn>
                <a:cxn ang="0">
                  <a:pos x="974" y="1260"/>
                </a:cxn>
                <a:cxn ang="0">
                  <a:pos x="904" y="1268"/>
                </a:cxn>
                <a:cxn ang="0">
                  <a:pos x="794" y="1308"/>
                </a:cxn>
                <a:cxn ang="0">
                  <a:pos x="758" y="1174"/>
                </a:cxn>
                <a:cxn ang="0">
                  <a:pos x="736" y="1062"/>
                </a:cxn>
                <a:cxn ang="0">
                  <a:pos x="632" y="1104"/>
                </a:cxn>
                <a:cxn ang="0">
                  <a:pos x="568" y="950"/>
                </a:cxn>
                <a:cxn ang="0">
                  <a:pos x="740" y="912"/>
                </a:cxn>
                <a:cxn ang="0">
                  <a:pos x="842" y="906"/>
                </a:cxn>
                <a:cxn ang="0">
                  <a:pos x="896" y="900"/>
                </a:cxn>
                <a:cxn ang="0">
                  <a:pos x="1058" y="750"/>
                </a:cxn>
                <a:cxn ang="0">
                  <a:pos x="1184" y="678"/>
                </a:cxn>
                <a:cxn ang="0">
                  <a:pos x="1278" y="636"/>
                </a:cxn>
                <a:cxn ang="0">
                  <a:pos x="1340" y="538"/>
                </a:cxn>
                <a:cxn ang="0">
                  <a:pos x="1288" y="512"/>
                </a:cxn>
                <a:cxn ang="0">
                  <a:pos x="1526" y="456"/>
                </a:cxn>
                <a:cxn ang="0">
                  <a:pos x="1406" y="342"/>
                </a:cxn>
                <a:cxn ang="0">
                  <a:pos x="1328" y="264"/>
                </a:cxn>
                <a:cxn ang="0">
                  <a:pos x="1222" y="364"/>
                </a:cxn>
                <a:cxn ang="0">
                  <a:pos x="1110" y="444"/>
                </a:cxn>
                <a:cxn ang="0">
                  <a:pos x="1022" y="304"/>
                </a:cxn>
                <a:cxn ang="0">
                  <a:pos x="1212" y="240"/>
                </a:cxn>
                <a:cxn ang="0">
                  <a:pos x="1266" y="198"/>
                </a:cxn>
                <a:cxn ang="0">
                  <a:pos x="1328" y="172"/>
                </a:cxn>
                <a:cxn ang="0">
                  <a:pos x="1286" y="144"/>
                </a:cxn>
                <a:cxn ang="0">
                  <a:pos x="1262" y="120"/>
                </a:cxn>
                <a:cxn ang="0">
                  <a:pos x="1202" y="102"/>
                </a:cxn>
                <a:cxn ang="0">
                  <a:pos x="1106" y="136"/>
                </a:cxn>
                <a:cxn ang="0">
                  <a:pos x="950" y="120"/>
                </a:cxn>
                <a:cxn ang="0">
                  <a:pos x="550" y="0"/>
                </a:cxn>
                <a:cxn ang="0">
                  <a:pos x="344" y="32"/>
                </a:cxn>
                <a:cxn ang="0">
                  <a:pos x="290" y="102"/>
                </a:cxn>
                <a:cxn ang="0">
                  <a:pos x="128" y="174"/>
                </a:cxn>
                <a:cxn ang="0">
                  <a:pos x="128" y="216"/>
                </a:cxn>
                <a:cxn ang="0">
                  <a:pos x="2" y="252"/>
                </a:cxn>
              </a:cxnLst>
              <a:rect l="0" t="0" r="r" b="b"/>
              <a:pathLst>
                <a:path w="1692" h="2586">
                  <a:moveTo>
                    <a:pt x="2" y="252"/>
                  </a:moveTo>
                  <a:lnTo>
                    <a:pt x="68" y="264"/>
                  </a:lnTo>
                  <a:lnTo>
                    <a:pt x="116" y="258"/>
                  </a:lnTo>
                  <a:lnTo>
                    <a:pt x="188" y="216"/>
                  </a:lnTo>
                  <a:lnTo>
                    <a:pt x="236" y="210"/>
                  </a:lnTo>
                  <a:lnTo>
                    <a:pt x="320" y="210"/>
                  </a:lnTo>
                  <a:lnTo>
                    <a:pt x="368" y="216"/>
                  </a:lnTo>
                  <a:lnTo>
                    <a:pt x="398" y="246"/>
                  </a:lnTo>
                  <a:lnTo>
                    <a:pt x="434" y="240"/>
                  </a:lnTo>
                  <a:lnTo>
                    <a:pt x="422" y="294"/>
                  </a:lnTo>
                  <a:lnTo>
                    <a:pt x="404" y="354"/>
                  </a:lnTo>
                  <a:lnTo>
                    <a:pt x="416" y="444"/>
                  </a:lnTo>
                  <a:lnTo>
                    <a:pt x="408" y="480"/>
                  </a:lnTo>
                  <a:lnTo>
                    <a:pt x="380" y="474"/>
                  </a:lnTo>
                  <a:lnTo>
                    <a:pt x="272" y="582"/>
                  </a:lnTo>
                  <a:lnTo>
                    <a:pt x="236" y="628"/>
                  </a:lnTo>
                  <a:lnTo>
                    <a:pt x="242" y="672"/>
                  </a:lnTo>
                  <a:lnTo>
                    <a:pt x="218" y="714"/>
                  </a:lnTo>
                  <a:lnTo>
                    <a:pt x="268" y="774"/>
                  </a:lnTo>
                  <a:lnTo>
                    <a:pt x="262" y="844"/>
                  </a:lnTo>
                  <a:lnTo>
                    <a:pt x="284" y="964"/>
                  </a:lnTo>
                  <a:lnTo>
                    <a:pt x="320" y="1010"/>
                  </a:lnTo>
                  <a:lnTo>
                    <a:pt x="324" y="970"/>
                  </a:lnTo>
                  <a:lnTo>
                    <a:pt x="316" y="960"/>
                  </a:lnTo>
                  <a:lnTo>
                    <a:pt x="302" y="834"/>
                  </a:lnTo>
                  <a:lnTo>
                    <a:pt x="326" y="830"/>
                  </a:lnTo>
                  <a:lnTo>
                    <a:pt x="328" y="906"/>
                  </a:lnTo>
                  <a:lnTo>
                    <a:pt x="380" y="996"/>
                  </a:lnTo>
                  <a:lnTo>
                    <a:pt x="368" y="1074"/>
                  </a:lnTo>
                  <a:lnTo>
                    <a:pt x="478" y="1154"/>
                  </a:lnTo>
                  <a:lnTo>
                    <a:pt x="564" y="1164"/>
                  </a:lnTo>
                  <a:lnTo>
                    <a:pt x="612" y="1208"/>
                  </a:lnTo>
                  <a:lnTo>
                    <a:pt x="650" y="1200"/>
                  </a:lnTo>
                  <a:lnTo>
                    <a:pt x="680" y="1224"/>
                  </a:lnTo>
                  <a:lnTo>
                    <a:pt x="698" y="1272"/>
                  </a:lnTo>
                  <a:lnTo>
                    <a:pt x="794" y="1350"/>
                  </a:lnTo>
                  <a:lnTo>
                    <a:pt x="842" y="1308"/>
                  </a:lnTo>
                  <a:lnTo>
                    <a:pt x="848" y="1350"/>
                  </a:lnTo>
                  <a:lnTo>
                    <a:pt x="854" y="1422"/>
                  </a:lnTo>
                  <a:lnTo>
                    <a:pt x="786" y="1490"/>
                  </a:lnTo>
                  <a:lnTo>
                    <a:pt x="788" y="1542"/>
                  </a:lnTo>
                  <a:lnTo>
                    <a:pt x="770" y="1608"/>
                  </a:lnTo>
                  <a:lnTo>
                    <a:pt x="802" y="1634"/>
                  </a:lnTo>
                  <a:lnTo>
                    <a:pt x="848" y="1668"/>
                  </a:lnTo>
                  <a:lnTo>
                    <a:pt x="916" y="1782"/>
                  </a:lnTo>
                  <a:lnTo>
                    <a:pt x="956" y="1800"/>
                  </a:lnTo>
                  <a:lnTo>
                    <a:pt x="1010" y="1848"/>
                  </a:lnTo>
                  <a:lnTo>
                    <a:pt x="1034" y="2022"/>
                  </a:lnTo>
                  <a:lnTo>
                    <a:pt x="1058" y="2178"/>
                  </a:lnTo>
                  <a:lnTo>
                    <a:pt x="1046" y="2244"/>
                  </a:lnTo>
                  <a:lnTo>
                    <a:pt x="1094" y="2310"/>
                  </a:lnTo>
                  <a:lnTo>
                    <a:pt x="1118" y="2364"/>
                  </a:lnTo>
                  <a:lnTo>
                    <a:pt x="1138" y="2458"/>
                  </a:lnTo>
                  <a:lnTo>
                    <a:pt x="1194" y="2540"/>
                  </a:lnTo>
                  <a:lnTo>
                    <a:pt x="1286" y="2586"/>
                  </a:lnTo>
                  <a:lnTo>
                    <a:pt x="1382" y="2574"/>
                  </a:lnTo>
                  <a:lnTo>
                    <a:pt x="1280" y="2520"/>
                  </a:lnTo>
                  <a:lnTo>
                    <a:pt x="1266" y="2472"/>
                  </a:lnTo>
                  <a:lnTo>
                    <a:pt x="1288" y="2428"/>
                  </a:lnTo>
                  <a:lnTo>
                    <a:pt x="1244" y="2394"/>
                  </a:lnTo>
                  <a:lnTo>
                    <a:pt x="1284" y="2334"/>
                  </a:lnTo>
                  <a:lnTo>
                    <a:pt x="1244" y="2300"/>
                  </a:lnTo>
                  <a:lnTo>
                    <a:pt x="1288" y="2306"/>
                  </a:lnTo>
                  <a:lnTo>
                    <a:pt x="1286" y="2244"/>
                  </a:lnTo>
                  <a:lnTo>
                    <a:pt x="1330" y="2268"/>
                  </a:lnTo>
                  <a:lnTo>
                    <a:pt x="1368" y="2228"/>
                  </a:lnTo>
                  <a:lnTo>
                    <a:pt x="1334" y="2160"/>
                  </a:lnTo>
                  <a:lnTo>
                    <a:pt x="1382" y="2184"/>
                  </a:lnTo>
                  <a:lnTo>
                    <a:pt x="1448" y="2076"/>
                  </a:lnTo>
                  <a:lnTo>
                    <a:pt x="1468" y="2052"/>
                  </a:lnTo>
                  <a:lnTo>
                    <a:pt x="1476" y="1982"/>
                  </a:lnTo>
                  <a:lnTo>
                    <a:pt x="1568" y="1950"/>
                  </a:lnTo>
                  <a:lnTo>
                    <a:pt x="1612" y="1880"/>
                  </a:lnTo>
                  <a:lnTo>
                    <a:pt x="1628" y="1830"/>
                  </a:lnTo>
                  <a:lnTo>
                    <a:pt x="1622" y="1746"/>
                  </a:lnTo>
                  <a:lnTo>
                    <a:pt x="1692" y="1644"/>
                  </a:lnTo>
                  <a:lnTo>
                    <a:pt x="1652" y="1578"/>
                  </a:lnTo>
                  <a:lnTo>
                    <a:pt x="1552" y="1538"/>
                  </a:lnTo>
                  <a:lnTo>
                    <a:pt x="1448" y="1500"/>
                  </a:lnTo>
                  <a:lnTo>
                    <a:pt x="1376" y="1494"/>
                  </a:lnTo>
                  <a:lnTo>
                    <a:pt x="1376" y="1410"/>
                  </a:lnTo>
                  <a:lnTo>
                    <a:pt x="1262" y="1356"/>
                  </a:lnTo>
                  <a:lnTo>
                    <a:pt x="1166" y="1272"/>
                  </a:lnTo>
                  <a:lnTo>
                    <a:pt x="1104" y="1280"/>
                  </a:lnTo>
                  <a:lnTo>
                    <a:pt x="1048" y="1276"/>
                  </a:lnTo>
                  <a:lnTo>
                    <a:pt x="1020" y="1244"/>
                  </a:lnTo>
                  <a:lnTo>
                    <a:pt x="974" y="1260"/>
                  </a:lnTo>
                  <a:lnTo>
                    <a:pt x="984" y="1238"/>
                  </a:lnTo>
                  <a:lnTo>
                    <a:pt x="934" y="1268"/>
                  </a:lnTo>
                  <a:lnTo>
                    <a:pt x="904" y="1268"/>
                  </a:lnTo>
                  <a:lnTo>
                    <a:pt x="872" y="1314"/>
                  </a:lnTo>
                  <a:lnTo>
                    <a:pt x="836" y="1272"/>
                  </a:lnTo>
                  <a:lnTo>
                    <a:pt x="794" y="1308"/>
                  </a:lnTo>
                  <a:lnTo>
                    <a:pt x="748" y="1278"/>
                  </a:lnTo>
                  <a:lnTo>
                    <a:pt x="758" y="1242"/>
                  </a:lnTo>
                  <a:lnTo>
                    <a:pt x="758" y="1174"/>
                  </a:lnTo>
                  <a:lnTo>
                    <a:pt x="698" y="1176"/>
                  </a:lnTo>
                  <a:lnTo>
                    <a:pt x="668" y="1140"/>
                  </a:lnTo>
                  <a:lnTo>
                    <a:pt x="736" y="1062"/>
                  </a:lnTo>
                  <a:lnTo>
                    <a:pt x="712" y="1050"/>
                  </a:lnTo>
                  <a:lnTo>
                    <a:pt x="658" y="1062"/>
                  </a:lnTo>
                  <a:lnTo>
                    <a:pt x="632" y="1104"/>
                  </a:lnTo>
                  <a:lnTo>
                    <a:pt x="596" y="1110"/>
                  </a:lnTo>
                  <a:lnTo>
                    <a:pt x="538" y="1066"/>
                  </a:lnTo>
                  <a:lnTo>
                    <a:pt x="568" y="950"/>
                  </a:lnTo>
                  <a:lnTo>
                    <a:pt x="632" y="894"/>
                  </a:lnTo>
                  <a:lnTo>
                    <a:pt x="686" y="894"/>
                  </a:lnTo>
                  <a:lnTo>
                    <a:pt x="740" y="912"/>
                  </a:lnTo>
                  <a:lnTo>
                    <a:pt x="736" y="900"/>
                  </a:lnTo>
                  <a:lnTo>
                    <a:pt x="766" y="868"/>
                  </a:lnTo>
                  <a:lnTo>
                    <a:pt x="842" y="906"/>
                  </a:lnTo>
                  <a:lnTo>
                    <a:pt x="848" y="966"/>
                  </a:lnTo>
                  <a:lnTo>
                    <a:pt x="884" y="984"/>
                  </a:lnTo>
                  <a:lnTo>
                    <a:pt x="896" y="900"/>
                  </a:lnTo>
                  <a:lnTo>
                    <a:pt x="878" y="858"/>
                  </a:lnTo>
                  <a:lnTo>
                    <a:pt x="998" y="806"/>
                  </a:lnTo>
                  <a:lnTo>
                    <a:pt x="1058" y="750"/>
                  </a:lnTo>
                  <a:lnTo>
                    <a:pt x="1100" y="696"/>
                  </a:lnTo>
                  <a:lnTo>
                    <a:pt x="1130" y="672"/>
                  </a:lnTo>
                  <a:lnTo>
                    <a:pt x="1184" y="678"/>
                  </a:lnTo>
                  <a:lnTo>
                    <a:pt x="1190" y="636"/>
                  </a:lnTo>
                  <a:lnTo>
                    <a:pt x="1280" y="588"/>
                  </a:lnTo>
                  <a:lnTo>
                    <a:pt x="1278" y="636"/>
                  </a:lnTo>
                  <a:lnTo>
                    <a:pt x="1360" y="602"/>
                  </a:lnTo>
                  <a:lnTo>
                    <a:pt x="1322" y="570"/>
                  </a:lnTo>
                  <a:lnTo>
                    <a:pt x="1340" y="538"/>
                  </a:lnTo>
                  <a:lnTo>
                    <a:pt x="1320" y="522"/>
                  </a:lnTo>
                  <a:lnTo>
                    <a:pt x="1286" y="546"/>
                  </a:lnTo>
                  <a:lnTo>
                    <a:pt x="1288" y="512"/>
                  </a:lnTo>
                  <a:lnTo>
                    <a:pt x="1400" y="504"/>
                  </a:lnTo>
                  <a:lnTo>
                    <a:pt x="1490" y="480"/>
                  </a:lnTo>
                  <a:lnTo>
                    <a:pt x="1526" y="456"/>
                  </a:lnTo>
                  <a:lnTo>
                    <a:pt x="1484" y="394"/>
                  </a:lnTo>
                  <a:cubicBezTo>
                    <a:pt x="1474" y="370"/>
                    <a:pt x="1479" y="319"/>
                    <a:pt x="1466" y="310"/>
                  </a:cubicBezTo>
                  <a:cubicBezTo>
                    <a:pt x="1456" y="300"/>
                    <a:pt x="1423" y="343"/>
                    <a:pt x="1406" y="342"/>
                  </a:cubicBezTo>
                  <a:lnTo>
                    <a:pt x="1376" y="312"/>
                  </a:lnTo>
                  <a:lnTo>
                    <a:pt x="1376" y="270"/>
                  </a:lnTo>
                  <a:lnTo>
                    <a:pt x="1328" y="264"/>
                  </a:lnTo>
                  <a:lnTo>
                    <a:pt x="1312" y="252"/>
                  </a:lnTo>
                  <a:lnTo>
                    <a:pt x="1256" y="314"/>
                  </a:lnTo>
                  <a:lnTo>
                    <a:pt x="1222" y="364"/>
                  </a:lnTo>
                  <a:lnTo>
                    <a:pt x="1172" y="402"/>
                  </a:lnTo>
                  <a:lnTo>
                    <a:pt x="1136" y="474"/>
                  </a:lnTo>
                  <a:lnTo>
                    <a:pt x="1110" y="444"/>
                  </a:lnTo>
                  <a:lnTo>
                    <a:pt x="1128" y="394"/>
                  </a:lnTo>
                  <a:lnTo>
                    <a:pt x="1038" y="334"/>
                  </a:lnTo>
                  <a:lnTo>
                    <a:pt x="1022" y="304"/>
                  </a:lnTo>
                  <a:lnTo>
                    <a:pt x="1122" y="226"/>
                  </a:lnTo>
                  <a:lnTo>
                    <a:pt x="1184" y="222"/>
                  </a:lnTo>
                  <a:lnTo>
                    <a:pt x="1212" y="240"/>
                  </a:lnTo>
                  <a:lnTo>
                    <a:pt x="1248" y="220"/>
                  </a:lnTo>
                  <a:lnTo>
                    <a:pt x="1300" y="220"/>
                  </a:lnTo>
                  <a:lnTo>
                    <a:pt x="1266" y="198"/>
                  </a:lnTo>
                  <a:lnTo>
                    <a:pt x="1208" y="196"/>
                  </a:lnTo>
                  <a:lnTo>
                    <a:pt x="1250" y="174"/>
                  </a:lnTo>
                  <a:lnTo>
                    <a:pt x="1328" y="172"/>
                  </a:lnTo>
                  <a:lnTo>
                    <a:pt x="1364" y="132"/>
                  </a:lnTo>
                  <a:cubicBezTo>
                    <a:pt x="1346" y="124"/>
                    <a:pt x="1343" y="119"/>
                    <a:pt x="1324" y="122"/>
                  </a:cubicBezTo>
                  <a:cubicBezTo>
                    <a:pt x="1310" y="124"/>
                    <a:pt x="1294" y="132"/>
                    <a:pt x="1286" y="144"/>
                  </a:cubicBezTo>
                  <a:cubicBezTo>
                    <a:pt x="1282" y="149"/>
                    <a:pt x="1274" y="148"/>
                    <a:pt x="1268" y="150"/>
                  </a:cubicBezTo>
                  <a:cubicBezTo>
                    <a:pt x="1266" y="144"/>
                    <a:pt x="1259" y="138"/>
                    <a:pt x="1262" y="132"/>
                  </a:cubicBezTo>
                  <a:cubicBezTo>
                    <a:pt x="1269" y="118"/>
                    <a:pt x="1303" y="134"/>
                    <a:pt x="1262" y="120"/>
                  </a:cubicBezTo>
                  <a:cubicBezTo>
                    <a:pt x="1221" y="134"/>
                    <a:pt x="1252" y="105"/>
                    <a:pt x="1262" y="90"/>
                  </a:cubicBezTo>
                  <a:cubicBezTo>
                    <a:pt x="1260" y="84"/>
                    <a:pt x="1262" y="75"/>
                    <a:pt x="1256" y="72"/>
                  </a:cubicBezTo>
                  <a:cubicBezTo>
                    <a:pt x="1238" y="63"/>
                    <a:pt x="1202" y="102"/>
                    <a:pt x="1202" y="102"/>
                  </a:cubicBezTo>
                  <a:cubicBezTo>
                    <a:pt x="1198" y="108"/>
                    <a:pt x="1186" y="140"/>
                    <a:pt x="1180" y="144"/>
                  </a:cubicBezTo>
                  <a:cubicBezTo>
                    <a:pt x="1169" y="151"/>
                    <a:pt x="1148" y="122"/>
                    <a:pt x="1148" y="122"/>
                  </a:cubicBezTo>
                  <a:cubicBezTo>
                    <a:pt x="1138" y="123"/>
                    <a:pt x="1121" y="137"/>
                    <a:pt x="1106" y="136"/>
                  </a:cubicBezTo>
                  <a:cubicBezTo>
                    <a:pt x="1091" y="135"/>
                    <a:pt x="1074" y="117"/>
                    <a:pt x="1056" y="116"/>
                  </a:cubicBezTo>
                  <a:cubicBezTo>
                    <a:pt x="1038" y="115"/>
                    <a:pt x="1016" y="131"/>
                    <a:pt x="998" y="132"/>
                  </a:cubicBezTo>
                  <a:cubicBezTo>
                    <a:pt x="997" y="132"/>
                    <a:pt x="956" y="125"/>
                    <a:pt x="950" y="120"/>
                  </a:cubicBezTo>
                  <a:cubicBezTo>
                    <a:pt x="918" y="94"/>
                    <a:pt x="960" y="108"/>
                    <a:pt x="920" y="90"/>
                  </a:cubicBezTo>
                  <a:cubicBezTo>
                    <a:pt x="852" y="60"/>
                    <a:pt x="806" y="58"/>
                    <a:pt x="730" y="54"/>
                  </a:cubicBezTo>
                  <a:cubicBezTo>
                    <a:pt x="656" y="39"/>
                    <a:pt x="625" y="15"/>
                    <a:pt x="550" y="0"/>
                  </a:cubicBezTo>
                  <a:cubicBezTo>
                    <a:pt x="510" y="2"/>
                    <a:pt x="486" y="5"/>
                    <a:pt x="446" y="8"/>
                  </a:cubicBezTo>
                  <a:cubicBezTo>
                    <a:pt x="424" y="9"/>
                    <a:pt x="423" y="14"/>
                    <a:pt x="406" y="18"/>
                  </a:cubicBezTo>
                  <a:cubicBezTo>
                    <a:pt x="389" y="22"/>
                    <a:pt x="353" y="24"/>
                    <a:pt x="344" y="32"/>
                  </a:cubicBezTo>
                  <a:cubicBezTo>
                    <a:pt x="346" y="38"/>
                    <a:pt x="354" y="60"/>
                    <a:pt x="350" y="64"/>
                  </a:cubicBezTo>
                  <a:cubicBezTo>
                    <a:pt x="274" y="50"/>
                    <a:pt x="250" y="81"/>
                    <a:pt x="236" y="82"/>
                  </a:cubicBezTo>
                  <a:cubicBezTo>
                    <a:pt x="278" y="110"/>
                    <a:pt x="270" y="72"/>
                    <a:pt x="290" y="102"/>
                  </a:cubicBezTo>
                  <a:cubicBezTo>
                    <a:pt x="234" y="121"/>
                    <a:pt x="178" y="104"/>
                    <a:pt x="128" y="138"/>
                  </a:cubicBezTo>
                  <a:cubicBezTo>
                    <a:pt x="126" y="144"/>
                    <a:pt x="122" y="150"/>
                    <a:pt x="122" y="156"/>
                  </a:cubicBezTo>
                  <a:cubicBezTo>
                    <a:pt x="122" y="162"/>
                    <a:pt x="132" y="170"/>
                    <a:pt x="128" y="174"/>
                  </a:cubicBezTo>
                  <a:cubicBezTo>
                    <a:pt x="126" y="182"/>
                    <a:pt x="109" y="197"/>
                    <a:pt x="112" y="202"/>
                  </a:cubicBezTo>
                  <a:cubicBezTo>
                    <a:pt x="124" y="206"/>
                    <a:pt x="137" y="195"/>
                    <a:pt x="146" y="204"/>
                  </a:cubicBezTo>
                  <a:cubicBezTo>
                    <a:pt x="151" y="209"/>
                    <a:pt x="135" y="213"/>
                    <a:pt x="128" y="216"/>
                  </a:cubicBezTo>
                  <a:cubicBezTo>
                    <a:pt x="116" y="221"/>
                    <a:pt x="104" y="226"/>
                    <a:pt x="92" y="228"/>
                  </a:cubicBezTo>
                  <a:cubicBezTo>
                    <a:pt x="48" y="237"/>
                    <a:pt x="72" y="233"/>
                    <a:pt x="20" y="240"/>
                  </a:cubicBezTo>
                  <a:cubicBezTo>
                    <a:pt x="0" y="247"/>
                    <a:pt x="2" y="240"/>
                    <a:pt x="2" y="25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 name="Freeform 20"/>
            <p:cNvSpPr/>
            <p:nvPr/>
          </p:nvSpPr>
          <p:spPr bwMode="invGray">
            <a:xfrm>
              <a:off x="703" y="2231"/>
              <a:ext cx="33" cy="27"/>
            </a:xfrm>
            <a:custGeom>
              <a:avLst/>
              <a:gdLst/>
              <a:ahLst/>
              <a:cxnLst>
                <a:cxn ang="0">
                  <a:pos x="16" y="4"/>
                </a:cxn>
                <a:cxn ang="0">
                  <a:pos x="0" y="22"/>
                </a:cxn>
                <a:cxn ang="0">
                  <a:pos x="22" y="38"/>
                </a:cxn>
                <a:cxn ang="0">
                  <a:pos x="46" y="26"/>
                </a:cxn>
                <a:cxn ang="0">
                  <a:pos x="30" y="0"/>
                </a:cxn>
                <a:cxn ang="0">
                  <a:pos x="16" y="4"/>
                </a:cxn>
              </a:cxnLst>
              <a:rect l="0" t="0" r="r" b="b"/>
              <a:pathLst>
                <a:path w="46" h="38">
                  <a:moveTo>
                    <a:pt x="16" y="4"/>
                  </a:moveTo>
                  <a:lnTo>
                    <a:pt x="0" y="22"/>
                  </a:lnTo>
                  <a:lnTo>
                    <a:pt x="22" y="38"/>
                  </a:lnTo>
                  <a:lnTo>
                    <a:pt x="46" y="26"/>
                  </a:lnTo>
                  <a:lnTo>
                    <a:pt x="30" y="0"/>
                  </a:lnTo>
                  <a:lnTo>
                    <a:pt x="16" y="4"/>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 name="Freeform 21"/>
            <p:cNvSpPr/>
            <p:nvPr/>
          </p:nvSpPr>
          <p:spPr bwMode="invGray">
            <a:xfrm>
              <a:off x="1010" y="2354"/>
              <a:ext cx="39" cy="31"/>
            </a:xfrm>
            <a:custGeom>
              <a:avLst/>
              <a:gdLst/>
              <a:ahLst/>
              <a:cxnLst>
                <a:cxn ang="0">
                  <a:pos x="12" y="0"/>
                </a:cxn>
                <a:cxn ang="0">
                  <a:pos x="26" y="44"/>
                </a:cxn>
                <a:cxn ang="0">
                  <a:pos x="42" y="42"/>
                </a:cxn>
                <a:cxn ang="0">
                  <a:pos x="38" y="16"/>
                </a:cxn>
                <a:cxn ang="0">
                  <a:pos x="26" y="2"/>
                </a:cxn>
                <a:cxn ang="0">
                  <a:pos x="12" y="0"/>
                </a:cxn>
              </a:cxnLst>
              <a:rect l="0" t="0" r="r" b="b"/>
              <a:pathLst>
                <a:path w="52" h="44">
                  <a:moveTo>
                    <a:pt x="12" y="0"/>
                  </a:moveTo>
                  <a:cubicBezTo>
                    <a:pt x="16" y="14"/>
                    <a:pt x="18" y="32"/>
                    <a:pt x="26" y="44"/>
                  </a:cubicBezTo>
                  <a:cubicBezTo>
                    <a:pt x="31" y="43"/>
                    <a:pt x="37" y="44"/>
                    <a:pt x="42" y="42"/>
                  </a:cubicBezTo>
                  <a:cubicBezTo>
                    <a:pt x="52" y="38"/>
                    <a:pt x="48" y="19"/>
                    <a:pt x="38" y="16"/>
                  </a:cubicBezTo>
                  <a:cubicBezTo>
                    <a:pt x="33" y="9"/>
                    <a:pt x="34" y="5"/>
                    <a:pt x="26" y="2"/>
                  </a:cubicBezTo>
                  <a:cubicBezTo>
                    <a:pt x="4" y="4"/>
                    <a:pt x="0" y="8"/>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2" name="Freeform 22"/>
            <p:cNvSpPr/>
            <p:nvPr/>
          </p:nvSpPr>
          <p:spPr bwMode="invGray">
            <a:xfrm>
              <a:off x="1792" y="2410"/>
              <a:ext cx="98" cy="71"/>
            </a:xfrm>
            <a:custGeom>
              <a:avLst/>
              <a:gdLst/>
              <a:ahLst/>
              <a:cxnLst>
                <a:cxn ang="0">
                  <a:pos x="97" y="0"/>
                </a:cxn>
                <a:cxn ang="0">
                  <a:pos x="79" y="8"/>
                </a:cxn>
                <a:cxn ang="0">
                  <a:pos x="53" y="24"/>
                </a:cxn>
                <a:cxn ang="0">
                  <a:pos x="39" y="40"/>
                </a:cxn>
                <a:cxn ang="0">
                  <a:pos x="21" y="52"/>
                </a:cxn>
                <a:cxn ang="0">
                  <a:pos x="63" y="82"/>
                </a:cxn>
                <a:cxn ang="0">
                  <a:pos x="79" y="94"/>
                </a:cxn>
                <a:cxn ang="0">
                  <a:pos x="85" y="92"/>
                </a:cxn>
                <a:cxn ang="0">
                  <a:pos x="89" y="86"/>
                </a:cxn>
                <a:cxn ang="0">
                  <a:pos x="97" y="98"/>
                </a:cxn>
                <a:cxn ang="0">
                  <a:pos x="123" y="86"/>
                </a:cxn>
                <a:cxn ang="0">
                  <a:pos x="129" y="74"/>
                </a:cxn>
                <a:cxn ang="0">
                  <a:pos x="101" y="40"/>
                </a:cxn>
                <a:cxn ang="0">
                  <a:pos x="115" y="24"/>
                </a:cxn>
                <a:cxn ang="0">
                  <a:pos x="111" y="4"/>
                </a:cxn>
                <a:cxn ang="0">
                  <a:pos x="97" y="0"/>
                </a:cxn>
              </a:cxnLst>
              <a:rect l="0" t="0" r="r" b="b"/>
              <a:pathLst>
                <a:path w="131" h="98">
                  <a:moveTo>
                    <a:pt x="97" y="0"/>
                  </a:moveTo>
                  <a:cubicBezTo>
                    <a:pt x="83" y="5"/>
                    <a:pt x="89" y="2"/>
                    <a:pt x="79" y="8"/>
                  </a:cubicBezTo>
                  <a:cubicBezTo>
                    <a:pt x="76" y="18"/>
                    <a:pt x="62" y="18"/>
                    <a:pt x="53" y="24"/>
                  </a:cubicBezTo>
                  <a:cubicBezTo>
                    <a:pt x="49" y="29"/>
                    <a:pt x="44" y="36"/>
                    <a:pt x="39" y="40"/>
                  </a:cubicBezTo>
                  <a:cubicBezTo>
                    <a:pt x="34" y="45"/>
                    <a:pt x="21" y="52"/>
                    <a:pt x="21" y="52"/>
                  </a:cubicBezTo>
                  <a:cubicBezTo>
                    <a:pt x="0" y="84"/>
                    <a:pt x="41" y="75"/>
                    <a:pt x="63" y="82"/>
                  </a:cubicBezTo>
                  <a:cubicBezTo>
                    <a:pt x="68" y="89"/>
                    <a:pt x="71" y="91"/>
                    <a:pt x="79" y="94"/>
                  </a:cubicBezTo>
                  <a:cubicBezTo>
                    <a:pt x="81" y="93"/>
                    <a:pt x="83" y="93"/>
                    <a:pt x="85" y="92"/>
                  </a:cubicBezTo>
                  <a:cubicBezTo>
                    <a:pt x="87" y="90"/>
                    <a:pt x="87" y="85"/>
                    <a:pt x="89" y="86"/>
                  </a:cubicBezTo>
                  <a:cubicBezTo>
                    <a:pt x="93" y="88"/>
                    <a:pt x="97" y="98"/>
                    <a:pt x="97" y="98"/>
                  </a:cubicBezTo>
                  <a:cubicBezTo>
                    <a:pt x="112" y="95"/>
                    <a:pt x="111" y="90"/>
                    <a:pt x="123" y="86"/>
                  </a:cubicBezTo>
                  <a:cubicBezTo>
                    <a:pt x="124" y="82"/>
                    <a:pt x="128" y="78"/>
                    <a:pt x="129" y="74"/>
                  </a:cubicBezTo>
                  <a:cubicBezTo>
                    <a:pt x="131" y="61"/>
                    <a:pt x="108" y="47"/>
                    <a:pt x="101" y="40"/>
                  </a:cubicBezTo>
                  <a:cubicBezTo>
                    <a:pt x="103" y="33"/>
                    <a:pt x="115" y="24"/>
                    <a:pt x="115" y="24"/>
                  </a:cubicBezTo>
                  <a:cubicBezTo>
                    <a:pt x="121" y="15"/>
                    <a:pt x="124" y="8"/>
                    <a:pt x="111" y="4"/>
                  </a:cubicBezTo>
                  <a:cubicBezTo>
                    <a:pt x="101" y="7"/>
                    <a:pt x="97" y="13"/>
                    <a:pt x="9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3" name="Freeform 23"/>
            <p:cNvSpPr/>
            <p:nvPr/>
          </p:nvSpPr>
          <p:spPr bwMode="invGray">
            <a:xfrm>
              <a:off x="1318" y="2794"/>
              <a:ext cx="158" cy="83"/>
            </a:xfrm>
            <a:custGeom>
              <a:avLst/>
              <a:gdLst/>
              <a:ahLst/>
              <a:cxnLst>
                <a:cxn ang="0">
                  <a:pos x="47" y="12"/>
                </a:cxn>
                <a:cxn ang="0">
                  <a:pos x="17" y="12"/>
                </a:cxn>
                <a:cxn ang="0">
                  <a:pos x="5" y="16"/>
                </a:cxn>
                <a:cxn ang="0">
                  <a:pos x="25" y="52"/>
                </a:cxn>
                <a:cxn ang="0">
                  <a:pos x="51" y="44"/>
                </a:cxn>
                <a:cxn ang="0">
                  <a:pos x="93" y="54"/>
                </a:cxn>
                <a:cxn ang="0">
                  <a:pos x="111" y="60"/>
                </a:cxn>
                <a:cxn ang="0">
                  <a:pos x="133" y="88"/>
                </a:cxn>
                <a:cxn ang="0">
                  <a:pos x="141" y="112"/>
                </a:cxn>
                <a:cxn ang="0">
                  <a:pos x="157" y="100"/>
                </a:cxn>
                <a:cxn ang="0">
                  <a:pos x="169" y="96"/>
                </a:cxn>
                <a:cxn ang="0">
                  <a:pos x="187" y="102"/>
                </a:cxn>
                <a:cxn ang="0">
                  <a:pos x="195" y="80"/>
                </a:cxn>
                <a:cxn ang="0">
                  <a:pos x="153" y="54"/>
                </a:cxn>
                <a:cxn ang="0">
                  <a:pos x="105" y="20"/>
                </a:cxn>
                <a:cxn ang="0">
                  <a:pos x="53" y="26"/>
                </a:cxn>
                <a:cxn ang="0">
                  <a:pos x="47" y="12"/>
                </a:cxn>
              </a:cxnLst>
              <a:rect l="0" t="0" r="r" b="b"/>
              <a:pathLst>
                <a:path w="212" h="112">
                  <a:moveTo>
                    <a:pt x="47" y="12"/>
                  </a:moveTo>
                  <a:cubicBezTo>
                    <a:pt x="39" y="0"/>
                    <a:pt x="28" y="7"/>
                    <a:pt x="17" y="12"/>
                  </a:cubicBezTo>
                  <a:cubicBezTo>
                    <a:pt x="13" y="14"/>
                    <a:pt x="5" y="16"/>
                    <a:pt x="5" y="16"/>
                  </a:cubicBezTo>
                  <a:cubicBezTo>
                    <a:pt x="0" y="31"/>
                    <a:pt x="10" y="48"/>
                    <a:pt x="25" y="52"/>
                  </a:cubicBezTo>
                  <a:cubicBezTo>
                    <a:pt x="37" y="50"/>
                    <a:pt x="41" y="47"/>
                    <a:pt x="51" y="44"/>
                  </a:cubicBezTo>
                  <a:cubicBezTo>
                    <a:pt x="65" y="53"/>
                    <a:pt x="76" y="53"/>
                    <a:pt x="93" y="54"/>
                  </a:cubicBezTo>
                  <a:cubicBezTo>
                    <a:pt x="99" y="56"/>
                    <a:pt x="111" y="60"/>
                    <a:pt x="111" y="60"/>
                  </a:cubicBezTo>
                  <a:cubicBezTo>
                    <a:pt x="120" y="69"/>
                    <a:pt x="129" y="75"/>
                    <a:pt x="133" y="88"/>
                  </a:cubicBezTo>
                  <a:cubicBezTo>
                    <a:pt x="125" y="100"/>
                    <a:pt x="126" y="107"/>
                    <a:pt x="141" y="112"/>
                  </a:cubicBezTo>
                  <a:cubicBezTo>
                    <a:pt x="145" y="106"/>
                    <a:pt x="150" y="103"/>
                    <a:pt x="157" y="100"/>
                  </a:cubicBezTo>
                  <a:cubicBezTo>
                    <a:pt x="161" y="98"/>
                    <a:pt x="169" y="96"/>
                    <a:pt x="169" y="96"/>
                  </a:cubicBezTo>
                  <a:cubicBezTo>
                    <a:pt x="175" y="98"/>
                    <a:pt x="187" y="102"/>
                    <a:pt x="187" y="102"/>
                  </a:cubicBezTo>
                  <a:cubicBezTo>
                    <a:pt x="203" y="100"/>
                    <a:pt x="212" y="94"/>
                    <a:pt x="195" y="80"/>
                  </a:cubicBezTo>
                  <a:cubicBezTo>
                    <a:pt x="183" y="70"/>
                    <a:pt x="165" y="66"/>
                    <a:pt x="153" y="54"/>
                  </a:cubicBezTo>
                  <a:cubicBezTo>
                    <a:pt x="141" y="42"/>
                    <a:pt x="122" y="26"/>
                    <a:pt x="105" y="20"/>
                  </a:cubicBezTo>
                  <a:cubicBezTo>
                    <a:pt x="85" y="21"/>
                    <a:pt x="71" y="20"/>
                    <a:pt x="53" y="26"/>
                  </a:cubicBezTo>
                  <a:cubicBezTo>
                    <a:pt x="47" y="24"/>
                    <a:pt x="33" y="12"/>
                    <a:pt x="47" y="1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4" name="Freeform 24"/>
            <p:cNvSpPr/>
            <p:nvPr/>
          </p:nvSpPr>
          <p:spPr bwMode="invGray">
            <a:xfrm>
              <a:off x="1448" y="2857"/>
              <a:ext cx="99" cy="41"/>
            </a:xfrm>
            <a:custGeom>
              <a:avLst/>
              <a:gdLst/>
              <a:ahLst/>
              <a:cxnLst>
                <a:cxn ang="0">
                  <a:pos x="57" y="0"/>
                </a:cxn>
                <a:cxn ang="0">
                  <a:pos x="43" y="6"/>
                </a:cxn>
                <a:cxn ang="0">
                  <a:pos x="31" y="30"/>
                </a:cxn>
                <a:cxn ang="0">
                  <a:pos x="15" y="34"/>
                </a:cxn>
                <a:cxn ang="0">
                  <a:pos x="3" y="42"/>
                </a:cxn>
                <a:cxn ang="0">
                  <a:pos x="13" y="54"/>
                </a:cxn>
                <a:cxn ang="0">
                  <a:pos x="133" y="34"/>
                </a:cxn>
                <a:cxn ang="0">
                  <a:pos x="123" y="16"/>
                </a:cxn>
                <a:cxn ang="0">
                  <a:pos x="105" y="8"/>
                </a:cxn>
                <a:cxn ang="0">
                  <a:pos x="101" y="24"/>
                </a:cxn>
                <a:cxn ang="0">
                  <a:pos x="89" y="18"/>
                </a:cxn>
                <a:cxn ang="0">
                  <a:pos x="67" y="14"/>
                </a:cxn>
                <a:cxn ang="0">
                  <a:pos x="57" y="0"/>
                </a:cxn>
              </a:cxnLst>
              <a:rect l="0" t="0" r="r" b="b"/>
              <a:pathLst>
                <a:path w="133" h="54">
                  <a:moveTo>
                    <a:pt x="57" y="0"/>
                  </a:moveTo>
                  <a:cubicBezTo>
                    <a:pt x="53" y="3"/>
                    <a:pt x="46" y="2"/>
                    <a:pt x="43" y="6"/>
                  </a:cubicBezTo>
                  <a:cubicBezTo>
                    <a:pt x="36" y="14"/>
                    <a:pt x="43" y="26"/>
                    <a:pt x="31" y="30"/>
                  </a:cubicBezTo>
                  <a:cubicBezTo>
                    <a:pt x="26" y="32"/>
                    <a:pt x="20" y="31"/>
                    <a:pt x="15" y="34"/>
                  </a:cubicBezTo>
                  <a:cubicBezTo>
                    <a:pt x="11" y="36"/>
                    <a:pt x="3" y="42"/>
                    <a:pt x="3" y="42"/>
                  </a:cubicBezTo>
                  <a:cubicBezTo>
                    <a:pt x="0" y="51"/>
                    <a:pt x="5" y="51"/>
                    <a:pt x="13" y="54"/>
                  </a:cubicBezTo>
                  <a:cubicBezTo>
                    <a:pt x="51" y="51"/>
                    <a:pt x="97" y="46"/>
                    <a:pt x="133" y="34"/>
                  </a:cubicBezTo>
                  <a:cubicBezTo>
                    <a:pt x="129" y="28"/>
                    <a:pt x="128" y="21"/>
                    <a:pt x="123" y="16"/>
                  </a:cubicBezTo>
                  <a:cubicBezTo>
                    <a:pt x="118" y="11"/>
                    <a:pt x="105" y="8"/>
                    <a:pt x="105" y="8"/>
                  </a:cubicBezTo>
                  <a:cubicBezTo>
                    <a:pt x="84" y="13"/>
                    <a:pt x="106" y="19"/>
                    <a:pt x="101" y="24"/>
                  </a:cubicBezTo>
                  <a:cubicBezTo>
                    <a:pt x="99" y="26"/>
                    <a:pt x="89" y="18"/>
                    <a:pt x="89" y="18"/>
                  </a:cubicBezTo>
                  <a:cubicBezTo>
                    <a:pt x="83" y="15"/>
                    <a:pt x="73" y="15"/>
                    <a:pt x="67" y="14"/>
                  </a:cubicBezTo>
                  <a:cubicBezTo>
                    <a:pt x="58" y="8"/>
                    <a:pt x="62" y="12"/>
                    <a:pt x="5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5" name="Freeform 25"/>
            <p:cNvSpPr/>
            <p:nvPr/>
          </p:nvSpPr>
          <p:spPr bwMode="invGray">
            <a:xfrm>
              <a:off x="1553" y="2883"/>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6" name="Freeform 26"/>
            <p:cNvSpPr/>
            <p:nvPr/>
          </p:nvSpPr>
          <p:spPr bwMode="invGray">
            <a:xfrm>
              <a:off x="1609" y="2885"/>
              <a:ext cx="12" cy="26"/>
            </a:xfrm>
            <a:custGeom>
              <a:avLst/>
              <a:gdLst/>
              <a:ahLst/>
              <a:cxnLst>
                <a:cxn ang="0">
                  <a:pos x="14" y="0"/>
                </a:cxn>
                <a:cxn ang="0">
                  <a:pos x="0" y="14"/>
                </a:cxn>
                <a:cxn ang="0">
                  <a:pos x="16" y="34"/>
                </a:cxn>
                <a:cxn ang="0">
                  <a:pos x="12" y="18"/>
                </a:cxn>
                <a:cxn ang="0">
                  <a:pos x="16" y="6"/>
                </a:cxn>
                <a:cxn ang="0">
                  <a:pos x="14" y="0"/>
                </a:cxn>
              </a:cxnLst>
              <a:rect l="0" t="0" r="r" b="b"/>
              <a:pathLst>
                <a:path w="16" h="34">
                  <a:moveTo>
                    <a:pt x="14" y="0"/>
                  </a:moveTo>
                  <a:cubicBezTo>
                    <a:pt x="5" y="3"/>
                    <a:pt x="2" y="4"/>
                    <a:pt x="0" y="14"/>
                  </a:cubicBezTo>
                  <a:cubicBezTo>
                    <a:pt x="3" y="26"/>
                    <a:pt x="4" y="30"/>
                    <a:pt x="16" y="34"/>
                  </a:cubicBezTo>
                  <a:cubicBezTo>
                    <a:pt x="15" y="29"/>
                    <a:pt x="11" y="23"/>
                    <a:pt x="12" y="18"/>
                  </a:cubicBezTo>
                  <a:cubicBezTo>
                    <a:pt x="12" y="14"/>
                    <a:pt x="16" y="6"/>
                    <a:pt x="16" y="6"/>
                  </a:cubicBezTo>
                  <a:cubicBezTo>
                    <a:pt x="9" y="1"/>
                    <a:pt x="8" y="3"/>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7" name="Freeform 27"/>
            <p:cNvSpPr/>
            <p:nvPr/>
          </p:nvSpPr>
          <p:spPr bwMode="invGray">
            <a:xfrm>
              <a:off x="1426" y="2039"/>
              <a:ext cx="180" cy="87"/>
            </a:xfrm>
            <a:custGeom>
              <a:avLst/>
              <a:gdLst/>
              <a:ahLst/>
              <a:cxnLst>
                <a:cxn ang="0">
                  <a:pos x="64" y="1"/>
                </a:cxn>
                <a:cxn ang="0">
                  <a:pos x="24" y="31"/>
                </a:cxn>
                <a:cxn ang="0">
                  <a:pos x="6" y="37"/>
                </a:cxn>
                <a:cxn ang="0">
                  <a:pos x="0" y="39"/>
                </a:cxn>
                <a:cxn ang="0">
                  <a:pos x="26" y="59"/>
                </a:cxn>
                <a:cxn ang="0">
                  <a:pos x="38" y="63"/>
                </a:cxn>
                <a:cxn ang="0">
                  <a:pos x="68" y="47"/>
                </a:cxn>
                <a:cxn ang="0">
                  <a:pos x="80" y="43"/>
                </a:cxn>
                <a:cxn ang="0">
                  <a:pos x="82" y="55"/>
                </a:cxn>
                <a:cxn ang="0">
                  <a:pos x="64" y="61"/>
                </a:cxn>
                <a:cxn ang="0">
                  <a:pos x="72" y="73"/>
                </a:cxn>
                <a:cxn ang="0">
                  <a:pos x="40" y="87"/>
                </a:cxn>
                <a:cxn ang="0">
                  <a:pos x="70" y="109"/>
                </a:cxn>
                <a:cxn ang="0">
                  <a:pos x="82" y="113"/>
                </a:cxn>
                <a:cxn ang="0">
                  <a:pos x="118" y="103"/>
                </a:cxn>
                <a:cxn ang="0">
                  <a:pos x="150" y="105"/>
                </a:cxn>
                <a:cxn ang="0">
                  <a:pos x="168" y="117"/>
                </a:cxn>
                <a:cxn ang="0">
                  <a:pos x="204" y="109"/>
                </a:cxn>
                <a:cxn ang="0">
                  <a:pos x="224" y="103"/>
                </a:cxn>
                <a:cxn ang="0">
                  <a:pos x="222" y="77"/>
                </a:cxn>
                <a:cxn ang="0">
                  <a:pos x="234" y="69"/>
                </a:cxn>
                <a:cxn ang="0">
                  <a:pos x="238" y="47"/>
                </a:cxn>
                <a:cxn ang="0">
                  <a:pos x="210" y="57"/>
                </a:cxn>
                <a:cxn ang="0">
                  <a:pos x="200" y="43"/>
                </a:cxn>
                <a:cxn ang="0">
                  <a:pos x="172" y="45"/>
                </a:cxn>
                <a:cxn ang="0">
                  <a:pos x="134" y="9"/>
                </a:cxn>
                <a:cxn ang="0">
                  <a:pos x="94" y="11"/>
                </a:cxn>
                <a:cxn ang="0">
                  <a:pos x="82" y="1"/>
                </a:cxn>
                <a:cxn ang="0">
                  <a:pos x="64" y="1"/>
                </a:cxn>
              </a:cxnLst>
              <a:rect l="0" t="0" r="r" b="b"/>
              <a:pathLst>
                <a:path w="240" h="117">
                  <a:moveTo>
                    <a:pt x="64" y="1"/>
                  </a:moveTo>
                  <a:cubicBezTo>
                    <a:pt x="57" y="21"/>
                    <a:pt x="44" y="24"/>
                    <a:pt x="24" y="31"/>
                  </a:cubicBezTo>
                  <a:cubicBezTo>
                    <a:pt x="18" y="33"/>
                    <a:pt x="12" y="35"/>
                    <a:pt x="6" y="37"/>
                  </a:cubicBezTo>
                  <a:cubicBezTo>
                    <a:pt x="4" y="38"/>
                    <a:pt x="0" y="39"/>
                    <a:pt x="0" y="39"/>
                  </a:cubicBezTo>
                  <a:cubicBezTo>
                    <a:pt x="3" y="55"/>
                    <a:pt x="12" y="54"/>
                    <a:pt x="26" y="59"/>
                  </a:cubicBezTo>
                  <a:cubicBezTo>
                    <a:pt x="30" y="60"/>
                    <a:pt x="38" y="63"/>
                    <a:pt x="38" y="63"/>
                  </a:cubicBezTo>
                  <a:cubicBezTo>
                    <a:pt x="50" y="59"/>
                    <a:pt x="57" y="54"/>
                    <a:pt x="68" y="47"/>
                  </a:cubicBezTo>
                  <a:cubicBezTo>
                    <a:pt x="72" y="45"/>
                    <a:pt x="80" y="43"/>
                    <a:pt x="80" y="43"/>
                  </a:cubicBezTo>
                  <a:cubicBezTo>
                    <a:pt x="82" y="46"/>
                    <a:pt x="88" y="51"/>
                    <a:pt x="82" y="55"/>
                  </a:cubicBezTo>
                  <a:cubicBezTo>
                    <a:pt x="77" y="59"/>
                    <a:pt x="64" y="61"/>
                    <a:pt x="64" y="61"/>
                  </a:cubicBezTo>
                  <a:cubicBezTo>
                    <a:pt x="58" y="70"/>
                    <a:pt x="63" y="70"/>
                    <a:pt x="72" y="73"/>
                  </a:cubicBezTo>
                  <a:cubicBezTo>
                    <a:pt x="77" y="88"/>
                    <a:pt x="50" y="86"/>
                    <a:pt x="40" y="87"/>
                  </a:cubicBezTo>
                  <a:cubicBezTo>
                    <a:pt x="47" y="94"/>
                    <a:pt x="60" y="106"/>
                    <a:pt x="70" y="109"/>
                  </a:cubicBezTo>
                  <a:cubicBezTo>
                    <a:pt x="74" y="110"/>
                    <a:pt x="82" y="113"/>
                    <a:pt x="82" y="113"/>
                  </a:cubicBezTo>
                  <a:cubicBezTo>
                    <a:pt x="99" y="111"/>
                    <a:pt x="104" y="108"/>
                    <a:pt x="118" y="103"/>
                  </a:cubicBezTo>
                  <a:cubicBezTo>
                    <a:pt x="129" y="104"/>
                    <a:pt x="140" y="103"/>
                    <a:pt x="150" y="105"/>
                  </a:cubicBezTo>
                  <a:cubicBezTo>
                    <a:pt x="157" y="107"/>
                    <a:pt x="168" y="117"/>
                    <a:pt x="168" y="117"/>
                  </a:cubicBezTo>
                  <a:cubicBezTo>
                    <a:pt x="193" y="115"/>
                    <a:pt x="188" y="116"/>
                    <a:pt x="204" y="109"/>
                  </a:cubicBezTo>
                  <a:cubicBezTo>
                    <a:pt x="210" y="106"/>
                    <a:pt x="224" y="103"/>
                    <a:pt x="224" y="103"/>
                  </a:cubicBezTo>
                  <a:cubicBezTo>
                    <a:pt x="223" y="98"/>
                    <a:pt x="217" y="82"/>
                    <a:pt x="222" y="77"/>
                  </a:cubicBezTo>
                  <a:cubicBezTo>
                    <a:pt x="225" y="73"/>
                    <a:pt x="234" y="69"/>
                    <a:pt x="234" y="69"/>
                  </a:cubicBezTo>
                  <a:cubicBezTo>
                    <a:pt x="237" y="59"/>
                    <a:pt x="240" y="59"/>
                    <a:pt x="238" y="47"/>
                  </a:cubicBezTo>
                  <a:cubicBezTo>
                    <a:pt x="228" y="49"/>
                    <a:pt x="219" y="51"/>
                    <a:pt x="210" y="57"/>
                  </a:cubicBezTo>
                  <a:cubicBezTo>
                    <a:pt x="201" y="71"/>
                    <a:pt x="201" y="50"/>
                    <a:pt x="200" y="43"/>
                  </a:cubicBezTo>
                  <a:cubicBezTo>
                    <a:pt x="189" y="45"/>
                    <a:pt x="182" y="48"/>
                    <a:pt x="172" y="45"/>
                  </a:cubicBezTo>
                  <a:cubicBezTo>
                    <a:pt x="161" y="34"/>
                    <a:pt x="148" y="14"/>
                    <a:pt x="134" y="9"/>
                  </a:cubicBezTo>
                  <a:cubicBezTo>
                    <a:pt x="119" y="11"/>
                    <a:pt x="108" y="13"/>
                    <a:pt x="94" y="11"/>
                  </a:cubicBezTo>
                  <a:cubicBezTo>
                    <a:pt x="92" y="9"/>
                    <a:pt x="85" y="2"/>
                    <a:pt x="82" y="1"/>
                  </a:cubicBezTo>
                  <a:cubicBezTo>
                    <a:pt x="74" y="0"/>
                    <a:pt x="72" y="9"/>
                    <a:pt x="64"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8" name="Freeform 28"/>
            <p:cNvSpPr/>
            <p:nvPr/>
          </p:nvSpPr>
          <p:spPr bwMode="invGray">
            <a:xfrm>
              <a:off x="1506" y="1998"/>
              <a:ext cx="146" cy="61"/>
            </a:xfrm>
            <a:custGeom>
              <a:avLst/>
              <a:gdLst/>
              <a:ahLst/>
              <a:cxnLst>
                <a:cxn ang="0">
                  <a:pos x="97" y="10"/>
                </a:cxn>
                <a:cxn ang="0">
                  <a:pos x="13" y="24"/>
                </a:cxn>
                <a:cxn ang="0">
                  <a:pos x="9" y="34"/>
                </a:cxn>
                <a:cxn ang="0">
                  <a:pos x="57" y="52"/>
                </a:cxn>
                <a:cxn ang="0">
                  <a:pos x="135" y="74"/>
                </a:cxn>
                <a:cxn ang="0">
                  <a:pos x="175" y="68"/>
                </a:cxn>
                <a:cxn ang="0">
                  <a:pos x="187" y="64"/>
                </a:cxn>
                <a:cxn ang="0">
                  <a:pos x="175" y="44"/>
                </a:cxn>
                <a:cxn ang="0">
                  <a:pos x="163" y="36"/>
                </a:cxn>
                <a:cxn ang="0">
                  <a:pos x="129" y="26"/>
                </a:cxn>
                <a:cxn ang="0">
                  <a:pos x="97" y="10"/>
                </a:cxn>
              </a:cxnLst>
              <a:rect l="0" t="0" r="r" b="b"/>
              <a:pathLst>
                <a:path w="194" h="80">
                  <a:moveTo>
                    <a:pt x="97" y="10"/>
                  </a:moveTo>
                  <a:cubicBezTo>
                    <a:pt x="70" y="19"/>
                    <a:pt x="42" y="22"/>
                    <a:pt x="13" y="24"/>
                  </a:cubicBezTo>
                  <a:cubicBezTo>
                    <a:pt x="9" y="25"/>
                    <a:pt x="0" y="26"/>
                    <a:pt x="9" y="34"/>
                  </a:cubicBezTo>
                  <a:cubicBezTo>
                    <a:pt x="21" y="44"/>
                    <a:pt x="43" y="43"/>
                    <a:pt x="57" y="52"/>
                  </a:cubicBezTo>
                  <a:cubicBezTo>
                    <a:pt x="75" y="80"/>
                    <a:pt x="104" y="73"/>
                    <a:pt x="135" y="74"/>
                  </a:cubicBezTo>
                  <a:cubicBezTo>
                    <a:pt x="153" y="73"/>
                    <a:pt x="159" y="73"/>
                    <a:pt x="175" y="68"/>
                  </a:cubicBezTo>
                  <a:cubicBezTo>
                    <a:pt x="179" y="67"/>
                    <a:pt x="187" y="64"/>
                    <a:pt x="187" y="64"/>
                  </a:cubicBezTo>
                  <a:cubicBezTo>
                    <a:pt x="194" y="53"/>
                    <a:pt x="184" y="49"/>
                    <a:pt x="175" y="44"/>
                  </a:cubicBezTo>
                  <a:cubicBezTo>
                    <a:pt x="171" y="42"/>
                    <a:pt x="163" y="36"/>
                    <a:pt x="163" y="36"/>
                  </a:cubicBezTo>
                  <a:cubicBezTo>
                    <a:pt x="140" y="41"/>
                    <a:pt x="147" y="38"/>
                    <a:pt x="129" y="26"/>
                  </a:cubicBezTo>
                  <a:cubicBezTo>
                    <a:pt x="123" y="17"/>
                    <a:pt x="107" y="0"/>
                    <a:pt x="97"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9" name="Freeform 29"/>
            <p:cNvSpPr/>
            <p:nvPr/>
          </p:nvSpPr>
          <p:spPr bwMode="invGray">
            <a:xfrm>
              <a:off x="1711" y="2069"/>
              <a:ext cx="233" cy="190"/>
            </a:xfrm>
            <a:custGeom>
              <a:avLst/>
              <a:gdLst/>
              <a:ahLst/>
              <a:cxnLst>
                <a:cxn ang="0">
                  <a:pos x="67" y="9"/>
                </a:cxn>
                <a:cxn ang="0">
                  <a:pos x="51" y="23"/>
                </a:cxn>
                <a:cxn ang="0">
                  <a:pos x="21" y="39"/>
                </a:cxn>
                <a:cxn ang="0">
                  <a:pos x="53" y="77"/>
                </a:cxn>
                <a:cxn ang="0">
                  <a:pos x="79" y="85"/>
                </a:cxn>
                <a:cxn ang="0">
                  <a:pos x="103" y="99"/>
                </a:cxn>
                <a:cxn ang="0">
                  <a:pos x="127" y="85"/>
                </a:cxn>
                <a:cxn ang="0">
                  <a:pos x="143" y="101"/>
                </a:cxn>
                <a:cxn ang="0">
                  <a:pos x="149" y="127"/>
                </a:cxn>
                <a:cxn ang="0">
                  <a:pos x="115" y="151"/>
                </a:cxn>
                <a:cxn ang="0">
                  <a:pos x="89" y="173"/>
                </a:cxn>
                <a:cxn ang="0">
                  <a:pos x="69" y="169"/>
                </a:cxn>
                <a:cxn ang="0">
                  <a:pos x="57" y="165"/>
                </a:cxn>
                <a:cxn ang="0">
                  <a:pos x="43" y="187"/>
                </a:cxn>
                <a:cxn ang="0">
                  <a:pos x="39" y="199"/>
                </a:cxn>
                <a:cxn ang="0">
                  <a:pos x="73" y="205"/>
                </a:cxn>
                <a:cxn ang="0">
                  <a:pos x="95" y="203"/>
                </a:cxn>
                <a:cxn ang="0">
                  <a:pos x="115" y="231"/>
                </a:cxn>
                <a:cxn ang="0">
                  <a:pos x="127" y="235"/>
                </a:cxn>
                <a:cxn ang="0">
                  <a:pos x="139" y="239"/>
                </a:cxn>
                <a:cxn ang="0">
                  <a:pos x="155" y="251"/>
                </a:cxn>
                <a:cxn ang="0">
                  <a:pos x="181" y="237"/>
                </a:cxn>
                <a:cxn ang="0">
                  <a:pos x="203" y="235"/>
                </a:cxn>
                <a:cxn ang="0">
                  <a:pos x="229" y="213"/>
                </a:cxn>
                <a:cxn ang="0">
                  <a:pos x="225" y="185"/>
                </a:cxn>
                <a:cxn ang="0">
                  <a:pos x="217" y="173"/>
                </a:cxn>
                <a:cxn ang="0">
                  <a:pos x="233" y="167"/>
                </a:cxn>
                <a:cxn ang="0">
                  <a:pos x="245" y="183"/>
                </a:cxn>
                <a:cxn ang="0">
                  <a:pos x="247" y="197"/>
                </a:cxn>
                <a:cxn ang="0">
                  <a:pos x="261" y="193"/>
                </a:cxn>
                <a:cxn ang="0">
                  <a:pos x="303" y="169"/>
                </a:cxn>
                <a:cxn ang="0">
                  <a:pos x="293" y="147"/>
                </a:cxn>
                <a:cxn ang="0">
                  <a:pos x="259" y="123"/>
                </a:cxn>
                <a:cxn ang="0">
                  <a:pos x="265" y="107"/>
                </a:cxn>
                <a:cxn ang="0">
                  <a:pos x="277" y="103"/>
                </a:cxn>
                <a:cxn ang="0">
                  <a:pos x="253" y="63"/>
                </a:cxn>
                <a:cxn ang="0">
                  <a:pos x="233" y="59"/>
                </a:cxn>
                <a:cxn ang="0">
                  <a:pos x="221" y="55"/>
                </a:cxn>
                <a:cxn ang="0">
                  <a:pos x="201" y="33"/>
                </a:cxn>
                <a:cxn ang="0">
                  <a:pos x="155" y="45"/>
                </a:cxn>
                <a:cxn ang="0">
                  <a:pos x="167" y="25"/>
                </a:cxn>
                <a:cxn ang="0">
                  <a:pos x="139" y="17"/>
                </a:cxn>
                <a:cxn ang="0">
                  <a:pos x="119" y="19"/>
                </a:cxn>
                <a:cxn ang="0">
                  <a:pos x="67" y="9"/>
                </a:cxn>
              </a:cxnLst>
              <a:rect l="0" t="0" r="r" b="b"/>
              <a:pathLst>
                <a:path w="310" h="254">
                  <a:moveTo>
                    <a:pt x="67" y="9"/>
                  </a:moveTo>
                  <a:cubicBezTo>
                    <a:pt x="63" y="15"/>
                    <a:pt x="51" y="23"/>
                    <a:pt x="51" y="23"/>
                  </a:cubicBezTo>
                  <a:cubicBezTo>
                    <a:pt x="43" y="34"/>
                    <a:pt x="33" y="35"/>
                    <a:pt x="21" y="39"/>
                  </a:cubicBezTo>
                  <a:cubicBezTo>
                    <a:pt x="0" y="71"/>
                    <a:pt x="30" y="74"/>
                    <a:pt x="53" y="77"/>
                  </a:cubicBezTo>
                  <a:cubicBezTo>
                    <a:pt x="61" y="89"/>
                    <a:pt x="63" y="87"/>
                    <a:pt x="79" y="85"/>
                  </a:cubicBezTo>
                  <a:cubicBezTo>
                    <a:pt x="88" y="88"/>
                    <a:pt x="93" y="96"/>
                    <a:pt x="103" y="99"/>
                  </a:cubicBezTo>
                  <a:cubicBezTo>
                    <a:pt x="117" y="96"/>
                    <a:pt x="116" y="89"/>
                    <a:pt x="127" y="85"/>
                  </a:cubicBezTo>
                  <a:cubicBezTo>
                    <a:pt x="134" y="90"/>
                    <a:pt x="138" y="94"/>
                    <a:pt x="143" y="101"/>
                  </a:cubicBezTo>
                  <a:cubicBezTo>
                    <a:pt x="140" y="116"/>
                    <a:pt x="134" y="117"/>
                    <a:pt x="149" y="127"/>
                  </a:cubicBezTo>
                  <a:cubicBezTo>
                    <a:pt x="161" y="144"/>
                    <a:pt x="126" y="147"/>
                    <a:pt x="115" y="151"/>
                  </a:cubicBezTo>
                  <a:cubicBezTo>
                    <a:pt x="109" y="160"/>
                    <a:pt x="100" y="169"/>
                    <a:pt x="89" y="173"/>
                  </a:cubicBezTo>
                  <a:cubicBezTo>
                    <a:pt x="81" y="172"/>
                    <a:pt x="76" y="171"/>
                    <a:pt x="69" y="169"/>
                  </a:cubicBezTo>
                  <a:cubicBezTo>
                    <a:pt x="65" y="168"/>
                    <a:pt x="57" y="165"/>
                    <a:pt x="57" y="165"/>
                  </a:cubicBezTo>
                  <a:cubicBezTo>
                    <a:pt x="46" y="169"/>
                    <a:pt x="46" y="177"/>
                    <a:pt x="43" y="187"/>
                  </a:cubicBezTo>
                  <a:cubicBezTo>
                    <a:pt x="42" y="191"/>
                    <a:pt x="39" y="199"/>
                    <a:pt x="39" y="199"/>
                  </a:cubicBezTo>
                  <a:cubicBezTo>
                    <a:pt x="50" y="203"/>
                    <a:pt x="61" y="204"/>
                    <a:pt x="73" y="205"/>
                  </a:cubicBezTo>
                  <a:cubicBezTo>
                    <a:pt x="82" y="203"/>
                    <a:pt x="86" y="201"/>
                    <a:pt x="95" y="203"/>
                  </a:cubicBezTo>
                  <a:cubicBezTo>
                    <a:pt x="107" y="211"/>
                    <a:pt x="111" y="218"/>
                    <a:pt x="115" y="231"/>
                  </a:cubicBezTo>
                  <a:cubicBezTo>
                    <a:pt x="116" y="235"/>
                    <a:pt x="123" y="234"/>
                    <a:pt x="127" y="235"/>
                  </a:cubicBezTo>
                  <a:cubicBezTo>
                    <a:pt x="131" y="236"/>
                    <a:pt x="139" y="239"/>
                    <a:pt x="139" y="239"/>
                  </a:cubicBezTo>
                  <a:cubicBezTo>
                    <a:pt x="144" y="246"/>
                    <a:pt x="147" y="248"/>
                    <a:pt x="155" y="251"/>
                  </a:cubicBezTo>
                  <a:cubicBezTo>
                    <a:pt x="169" y="250"/>
                    <a:pt x="187" y="254"/>
                    <a:pt x="181" y="237"/>
                  </a:cubicBezTo>
                  <a:cubicBezTo>
                    <a:pt x="184" y="220"/>
                    <a:pt x="192" y="228"/>
                    <a:pt x="203" y="235"/>
                  </a:cubicBezTo>
                  <a:cubicBezTo>
                    <a:pt x="224" y="233"/>
                    <a:pt x="224" y="232"/>
                    <a:pt x="229" y="213"/>
                  </a:cubicBezTo>
                  <a:cubicBezTo>
                    <a:pt x="229" y="211"/>
                    <a:pt x="229" y="192"/>
                    <a:pt x="225" y="185"/>
                  </a:cubicBezTo>
                  <a:cubicBezTo>
                    <a:pt x="223" y="181"/>
                    <a:pt x="217" y="173"/>
                    <a:pt x="217" y="173"/>
                  </a:cubicBezTo>
                  <a:cubicBezTo>
                    <a:pt x="220" y="163"/>
                    <a:pt x="224" y="165"/>
                    <a:pt x="233" y="167"/>
                  </a:cubicBezTo>
                  <a:cubicBezTo>
                    <a:pt x="240" y="172"/>
                    <a:pt x="242" y="175"/>
                    <a:pt x="245" y="183"/>
                  </a:cubicBezTo>
                  <a:cubicBezTo>
                    <a:pt x="246" y="188"/>
                    <a:pt x="244" y="193"/>
                    <a:pt x="247" y="197"/>
                  </a:cubicBezTo>
                  <a:cubicBezTo>
                    <a:pt x="250" y="201"/>
                    <a:pt x="256" y="194"/>
                    <a:pt x="261" y="193"/>
                  </a:cubicBezTo>
                  <a:cubicBezTo>
                    <a:pt x="276" y="188"/>
                    <a:pt x="290" y="178"/>
                    <a:pt x="303" y="169"/>
                  </a:cubicBezTo>
                  <a:cubicBezTo>
                    <a:pt x="310" y="158"/>
                    <a:pt x="302" y="153"/>
                    <a:pt x="293" y="147"/>
                  </a:cubicBezTo>
                  <a:cubicBezTo>
                    <a:pt x="281" y="129"/>
                    <a:pt x="283" y="126"/>
                    <a:pt x="259" y="123"/>
                  </a:cubicBezTo>
                  <a:cubicBezTo>
                    <a:pt x="256" y="115"/>
                    <a:pt x="257" y="111"/>
                    <a:pt x="265" y="107"/>
                  </a:cubicBezTo>
                  <a:cubicBezTo>
                    <a:pt x="269" y="105"/>
                    <a:pt x="277" y="103"/>
                    <a:pt x="277" y="103"/>
                  </a:cubicBezTo>
                  <a:cubicBezTo>
                    <a:pt x="287" y="88"/>
                    <a:pt x="269" y="66"/>
                    <a:pt x="253" y="63"/>
                  </a:cubicBezTo>
                  <a:cubicBezTo>
                    <a:pt x="239" y="60"/>
                    <a:pt x="244" y="62"/>
                    <a:pt x="233" y="59"/>
                  </a:cubicBezTo>
                  <a:cubicBezTo>
                    <a:pt x="229" y="58"/>
                    <a:pt x="221" y="55"/>
                    <a:pt x="221" y="55"/>
                  </a:cubicBezTo>
                  <a:cubicBezTo>
                    <a:pt x="200" y="60"/>
                    <a:pt x="217" y="38"/>
                    <a:pt x="201" y="33"/>
                  </a:cubicBezTo>
                  <a:cubicBezTo>
                    <a:pt x="185" y="35"/>
                    <a:pt x="169" y="36"/>
                    <a:pt x="155" y="45"/>
                  </a:cubicBezTo>
                  <a:cubicBezTo>
                    <a:pt x="145" y="30"/>
                    <a:pt x="152" y="30"/>
                    <a:pt x="167" y="25"/>
                  </a:cubicBezTo>
                  <a:cubicBezTo>
                    <a:pt x="163" y="10"/>
                    <a:pt x="155" y="15"/>
                    <a:pt x="139" y="17"/>
                  </a:cubicBezTo>
                  <a:cubicBezTo>
                    <a:pt x="131" y="20"/>
                    <a:pt x="127" y="22"/>
                    <a:pt x="119" y="19"/>
                  </a:cubicBezTo>
                  <a:cubicBezTo>
                    <a:pt x="106" y="0"/>
                    <a:pt x="74" y="29"/>
                    <a:pt x="67"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0" name="Freeform 30"/>
            <p:cNvSpPr/>
            <p:nvPr/>
          </p:nvSpPr>
          <p:spPr bwMode="invGray">
            <a:xfrm>
              <a:off x="1709" y="1987"/>
              <a:ext cx="44" cy="39"/>
            </a:xfrm>
            <a:custGeom>
              <a:avLst/>
              <a:gdLst/>
              <a:ahLst/>
              <a:cxnLst>
                <a:cxn ang="0">
                  <a:pos x="26" y="0"/>
                </a:cxn>
                <a:cxn ang="0">
                  <a:pos x="0" y="10"/>
                </a:cxn>
                <a:cxn ang="0">
                  <a:pos x="30" y="40"/>
                </a:cxn>
                <a:cxn ang="0">
                  <a:pos x="48" y="50"/>
                </a:cxn>
                <a:cxn ang="0">
                  <a:pos x="58" y="28"/>
                </a:cxn>
                <a:cxn ang="0">
                  <a:pos x="44" y="8"/>
                </a:cxn>
                <a:cxn ang="0">
                  <a:pos x="26" y="0"/>
                </a:cxn>
              </a:cxnLst>
              <a:rect l="0" t="0" r="r" b="b"/>
              <a:pathLst>
                <a:path w="59" h="50">
                  <a:moveTo>
                    <a:pt x="26" y="0"/>
                  </a:moveTo>
                  <a:cubicBezTo>
                    <a:pt x="13" y="2"/>
                    <a:pt x="7" y="0"/>
                    <a:pt x="0" y="10"/>
                  </a:cubicBezTo>
                  <a:cubicBezTo>
                    <a:pt x="4" y="22"/>
                    <a:pt x="18" y="36"/>
                    <a:pt x="30" y="40"/>
                  </a:cubicBezTo>
                  <a:cubicBezTo>
                    <a:pt x="37" y="42"/>
                    <a:pt x="48" y="50"/>
                    <a:pt x="48" y="50"/>
                  </a:cubicBezTo>
                  <a:cubicBezTo>
                    <a:pt x="57" y="44"/>
                    <a:pt x="55" y="37"/>
                    <a:pt x="58" y="28"/>
                  </a:cubicBezTo>
                  <a:cubicBezTo>
                    <a:pt x="55" y="11"/>
                    <a:pt x="59" y="18"/>
                    <a:pt x="44" y="8"/>
                  </a:cubicBezTo>
                  <a:cubicBezTo>
                    <a:pt x="42" y="6"/>
                    <a:pt x="26" y="5"/>
                    <a:pt x="2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1" name="Freeform 31"/>
            <p:cNvSpPr/>
            <p:nvPr/>
          </p:nvSpPr>
          <p:spPr bwMode="invGray">
            <a:xfrm>
              <a:off x="1625" y="2057"/>
              <a:ext cx="65" cy="41"/>
            </a:xfrm>
            <a:custGeom>
              <a:avLst/>
              <a:gdLst/>
              <a:ahLst/>
              <a:cxnLst>
                <a:cxn ang="0">
                  <a:pos x="44" y="7"/>
                </a:cxn>
                <a:cxn ang="0">
                  <a:pos x="24" y="25"/>
                </a:cxn>
                <a:cxn ang="0">
                  <a:pos x="4" y="27"/>
                </a:cxn>
                <a:cxn ang="0">
                  <a:pos x="16" y="57"/>
                </a:cxn>
                <a:cxn ang="0">
                  <a:pos x="74" y="35"/>
                </a:cxn>
                <a:cxn ang="0">
                  <a:pos x="86" y="17"/>
                </a:cxn>
                <a:cxn ang="0">
                  <a:pos x="56" y="7"/>
                </a:cxn>
                <a:cxn ang="0">
                  <a:pos x="44" y="7"/>
                </a:cxn>
              </a:cxnLst>
              <a:rect l="0" t="0" r="r" b="b"/>
              <a:pathLst>
                <a:path w="86" h="57">
                  <a:moveTo>
                    <a:pt x="44" y="7"/>
                  </a:moveTo>
                  <a:cubicBezTo>
                    <a:pt x="39" y="14"/>
                    <a:pt x="31" y="20"/>
                    <a:pt x="24" y="25"/>
                  </a:cubicBezTo>
                  <a:cubicBezTo>
                    <a:pt x="16" y="19"/>
                    <a:pt x="12" y="22"/>
                    <a:pt x="4" y="27"/>
                  </a:cubicBezTo>
                  <a:cubicBezTo>
                    <a:pt x="0" y="38"/>
                    <a:pt x="4" y="53"/>
                    <a:pt x="16" y="57"/>
                  </a:cubicBezTo>
                  <a:cubicBezTo>
                    <a:pt x="33" y="51"/>
                    <a:pt x="60" y="45"/>
                    <a:pt x="74" y="35"/>
                  </a:cubicBezTo>
                  <a:cubicBezTo>
                    <a:pt x="78" y="29"/>
                    <a:pt x="86" y="17"/>
                    <a:pt x="86" y="17"/>
                  </a:cubicBezTo>
                  <a:cubicBezTo>
                    <a:pt x="80" y="0"/>
                    <a:pt x="74" y="5"/>
                    <a:pt x="56" y="7"/>
                  </a:cubicBezTo>
                  <a:cubicBezTo>
                    <a:pt x="43" y="11"/>
                    <a:pt x="44" y="15"/>
                    <a:pt x="44"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2" name="Freeform 32"/>
            <p:cNvSpPr/>
            <p:nvPr/>
          </p:nvSpPr>
          <p:spPr bwMode="invGray">
            <a:xfrm>
              <a:off x="1693" y="2065"/>
              <a:ext cx="54" cy="25"/>
            </a:xfrm>
            <a:custGeom>
              <a:avLst/>
              <a:gdLst/>
              <a:ahLst/>
              <a:cxnLst>
                <a:cxn ang="0">
                  <a:pos x="40" y="0"/>
                </a:cxn>
                <a:cxn ang="0">
                  <a:pos x="10" y="16"/>
                </a:cxn>
                <a:cxn ang="0">
                  <a:pos x="24" y="34"/>
                </a:cxn>
                <a:cxn ang="0">
                  <a:pos x="52" y="28"/>
                </a:cxn>
                <a:cxn ang="0">
                  <a:pos x="64" y="20"/>
                </a:cxn>
                <a:cxn ang="0">
                  <a:pos x="40" y="0"/>
                </a:cxn>
              </a:cxnLst>
              <a:rect l="0" t="0" r="r" b="b"/>
              <a:pathLst>
                <a:path w="73" h="34">
                  <a:moveTo>
                    <a:pt x="40" y="0"/>
                  </a:moveTo>
                  <a:cubicBezTo>
                    <a:pt x="30" y="6"/>
                    <a:pt x="20" y="10"/>
                    <a:pt x="10" y="16"/>
                  </a:cubicBezTo>
                  <a:cubicBezTo>
                    <a:pt x="0" y="31"/>
                    <a:pt x="13" y="30"/>
                    <a:pt x="24" y="34"/>
                  </a:cubicBezTo>
                  <a:cubicBezTo>
                    <a:pt x="44" y="31"/>
                    <a:pt x="35" y="34"/>
                    <a:pt x="52" y="28"/>
                  </a:cubicBezTo>
                  <a:cubicBezTo>
                    <a:pt x="57" y="26"/>
                    <a:pt x="64" y="20"/>
                    <a:pt x="64" y="20"/>
                  </a:cubicBezTo>
                  <a:cubicBezTo>
                    <a:pt x="73" y="7"/>
                    <a:pt x="48" y="8"/>
                    <a:pt x="4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3" name="Freeform 33"/>
            <p:cNvSpPr/>
            <p:nvPr/>
          </p:nvSpPr>
          <p:spPr bwMode="invGray">
            <a:xfrm>
              <a:off x="1664" y="2029"/>
              <a:ext cx="64" cy="36"/>
            </a:xfrm>
            <a:custGeom>
              <a:avLst/>
              <a:gdLst/>
              <a:ahLst/>
              <a:cxnLst>
                <a:cxn ang="0">
                  <a:pos x="58" y="10"/>
                </a:cxn>
                <a:cxn ang="0">
                  <a:pos x="28" y="4"/>
                </a:cxn>
                <a:cxn ang="0">
                  <a:pos x="0" y="18"/>
                </a:cxn>
                <a:cxn ang="0">
                  <a:pos x="40" y="32"/>
                </a:cxn>
                <a:cxn ang="0">
                  <a:pos x="64" y="40"/>
                </a:cxn>
                <a:cxn ang="0">
                  <a:pos x="84" y="18"/>
                </a:cxn>
                <a:cxn ang="0">
                  <a:pos x="82" y="6"/>
                </a:cxn>
                <a:cxn ang="0">
                  <a:pos x="64" y="0"/>
                </a:cxn>
                <a:cxn ang="0">
                  <a:pos x="58" y="10"/>
                </a:cxn>
              </a:cxnLst>
              <a:rect l="0" t="0" r="r" b="b"/>
              <a:pathLst>
                <a:path w="85" h="45">
                  <a:moveTo>
                    <a:pt x="58" y="10"/>
                  </a:moveTo>
                  <a:cubicBezTo>
                    <a:pt x="39" y="16"/>
                    <a:pt x="45" y="10"/>
                    <a:pt x="28" y="4"/>
                  </a:cubicBezTo>
                  <a:cubicBezTo>
                    <a:pt x="7" y="6"/>
                    <a:pt x="5" y="2"/>
                    <a:pt x="0" y="18"/>
                  </a:cubicBezTo>
                  <a:cubicBezTo>
                    <a:pt x="5" y="34"/>
                    <a:pt x="26" y="31"/>
                    <a:pt x="40" y="32"/>
                  </a:cubicBezTo>
                  <a:cubicBezTo>
                    <a:pt x="50" y="42"/>
                    <a:pt x="49" y="45"/>
                    <a:pt x="64" y="40"/>
                  </a:cubicBezTo>
                  <a:cubicBezTo>
                    <a:pt x="69" y="32"/>
                    <a:pt x="77" y="25"/>
                    <a:pt x="84" y="18"/>
                  </a:cubicBezTo>
                  <a:cubicBezTo>
                    <a:pt x="83" y="14"/>
                    <a:pt x="85" y="9"/>
                    <a:pt x="82" y="6"/>
                  </a:cubicBezTo>
                  <a:cubicBezTo>
                    <a:pt x="78" y="1"/>
                    <a:pt x="64" y="0"/>
                    <a:pt x="64" y="0"/>
                  </a:cubicBezTo>
                  <a:cubicBezTo>
                    <a:pt x="56" y="3"/>
                    <a:pt x="47" y="21"/>
                    <a:pt x="58"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4" name="Freeform 34"/>
            <p:cNvSpPr/>
            <p:nvPr/>
          </p:nvSpPr>
          <p:spPr bwMode="invGray">
            <a:xfrm>
              <a:off x="1637" y="1998"/>
              <a:ext cx="44" cy="23"/>
            </a:xfrm>
            <a:custGeom>
              <a:avLst/>
              <a:gdLst/>
              <a:ahLst/>
              <a:cxnLst>
                <a:cxn ang="0">
                  <a:pos x="16" y="4"/>
                </a:cxn>
                <a:cxn ang="0">
                  <a:pos x="0" y="18"/>
                </a:cxn>
                <a:cxn ang="0">
                  <a:pos x="20" y="28"/>
                </a:cxn>
                <a:cxn ang="0">
                  <a:pos x="28" y="20"/>
                </a:cxn>
                <a:cxn ang="0">
                  <a:pos x="52" y="12"/>
                </a:cxn>
                <a:cxn ang="0">
                  <a:pos x="44" y="0"/>
                </a:cxn>
                <a:cxn ang="0">
                  <a:pos x="16" y="4"/>
                </a:cxn>
              </a:cxnLst>
              <a:rect l="0" t="0" r="r" b="b"/>
              <a:pathLst>
                <a:path w="58" h="31">
                  <a:moveTo>
                    <a:pt x="16" y="4"/>
                  </a:moveTo>
                  <a:cubicBezTo>
                    <a:pt x="2" y="13"/>
                    <a:pt x="7" y="8"/>
                    <a:pt x="0" y="18"/>
                  </a:cubicBezTo>
                  <a:cubicBezTo>
                    <a:pt x="5" y="26"/>
                    <a:pt x="11" y="25"/>
                    <a:pt x="20" y="28"/>
                  </a:cubicBezTo>
                  <a:cubicBezTo>
                    <a:pt x="36" y="23"/>
                    <a:pt x="17" y="31"/>
                    <a:pt x="28" y="20"/>
                  </a:cubicBezTo>
                  <a:cubicBezTo>
                    <a:pt x="33" y="15"/>
                    <a:pt x="46" y="13"/>
                    <a:pt x="52" y="12"/>
                  </a:cubicBezTo>
                  <a:cubicBezTo>
                    <a:pt x="58" y="3"/>
                    <a:pt x="53" y="3"/>
                    <a:pt x="44" y="0"/>
                  </a:cubicBezTo>
                  <a:cubicBezTo>
                    <a:pt x="38" y="1"/>
                    <a:pt x="20" y="8"/>
                    <a:pt x="16"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5" name="Freeform 35"/>
            <p:cNvSpPr/>
            <p:nvPr/>
          </p:nvSpPr>
          <p:spPr bwMode="invGray">
            <a:xfrm>
              <a:off x="1751" y="2000"/>
              <a:ext cx="116" cy="79"/>
            </a:xfrm>
            <a:custGeom>
              <a:avLst/>
              <a:gdLst/>
              <a:ahLst/>
              <a:cxnLst>
                <a:cxn ang="0">
                  <a:pos x="38" y="0"/>
                </a:cxn>
                <a:cxn ang="0">
                  <a:pos x="14" y="6"/>
                </a:cxn>
                <a:cxn ang="0">
                  <a:pos x="4" y="38"/>
                </a:cxn>
                <a:cxn ang="0">
                  <a:pos x="12" y="56"/>
                </a:cxn>
                <a:cxn ang="0">
                  <a:pos x="0" y="72"/>
                </a:cxn>
                <a:cxn ang="0">
                  <a:pos x="56" y="86"/>
                </a:cxn>
                <a:cxn ang="0">
                  <a:pos x="82" y="92"/>
                </a:cxn>
                <a:cxn ang="0">
                  <a:pos x="152" y="86"/>
                </a:cxn>
                <a:cxn ang="0">
                  <a:pos x="76" y="70"/>
                </a:cxn>
                <a:cxn ang="0">
                  <a:pos x="54" y="62"/>
                </a:cxn>
                <a:cxn ang="0">
                  <a:pos x="44" y="52"/>
                </a:cxn>
                <a:cxn ang="0">
                  <a:pos x="50" y="34"/>
                </a:cxn>
                <a:cxn ang="0">
                  <a:pos x="38" y="0"/>
                </a:cxn>
              </a:cxnLst>
              <a:rect l="0" t="0" r="r" b="b"/>
              <a:pathLst>
                <a:path w="152" h="102">
                  <a:moveTo>
                    <a:pt x="38" y="0"/>
                  </a:moveTo>
                  <a:cubicBezTo>
                    <a:pt x="22" y="5"/>
                    <a:pt x="30" y="3"/>
                    <a:pt x="14" y="6"/>
                  </a:cubicBezTo>
                  <a:cubicBezTo>
                    <a:pt x="18" y="22"/>
                    <a:pt x="22" y="32"/>
                    <a:pt x="4" y="38"/>
                  </a:cubicBezTo>
                  <a:cubicBezTo>
                    <a:pt x="1" y="47"/>
                    <a:pt x="7" y="49"/>
                    <a:pt x="12" y="56"/>
                  </a:cubicBezTo>
                  <a:cubicBezTo>
                    <a:pt x="10" y="65"/>
                    <a:pt x="9" y="69"/>
                    <a:pt x="0" y="72"/>
                  </a:cubicBezTo>
                  <a:cubicBezTo>
                    <a:pt x="5" y="88"/>
                    <a:pt x="45" y="85"/>
                    <a:pt x="56" y="86"/>
                  </a:cubicBezTo>
                  <a:cubicBezTo>
                    <a:pt x="72" y="97"/>
                    <a:pt x="63" y="95"/>
                    <a:pt x="82" y="92"/>
                  </a:cubicBezTo>
                  <a:cubicBezTo>
                    <a:pt x="86" y="92"/>
                    <a:pt x="147" y="102"/>
                    <a:pt x="152" y="86"/>
                  </a:cubicBezTo>
                  <a:cubicBezTo>
                    <a:pt x="123" y="66"/>
                    <a:pt x="128" y="72"/>
                    <a:pt x="76" y="70"/>
                  </a:cubicBezTo>
                  <a:cubicBezTo>
                    <a:pt x="62" y="56"/>
                    <a:pt x="81" y="73"/>
                    <a:pt x="54" y="62"/>
                  </a:cubicBezTo>
                  <a:cubicBezTo>
                    <a:pt x="50" y="60"/>
                    <a:pt x="48" y="55"/>
                    <a:pt x="44" y="52"/>
                  </a:cubicBezTo>
                  <a:cubicBezTo>
                    <a:pt x="41" y="43"/>
                    <a:pt x="42" y="39"/>
                    <a:pt x="50" y="34"/>
                  </a:cubicBezTo>
                  <a:cubicBezTo>
                    <a:pt x="52" y="27"/>
                    <a:pt x="42" y="9"/>
                    <a:pt x="3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6" name="Freeform 36"/>
            <p:cNvSpPr/>
            <p:nvPr/>
          </p:nvSpPr>
          <p:spPr bwMode="invGray">
            <a:xfrm>
              <a:off x="664" y="2246"/>
              <a:ext cx="25" cy="14"/>
            </a:xfrm>
            <a:custGeom>
              <a:avLst/>
              <a:gdLst/>
              <a:ahLst/>
              <a:cxnLst>
                <a:cxn ang="0">
                  <a:pos x="34" y="0"/>
                </a:cxn>
                <a:cxn ang="0">
                  <a:pos x="24" y="20"/>
                </a:cxn>
                <a:cxn ang="0">
                  <a:pos x="4" y="18"/>
                </a:cxn>
                <a:cxn ang="0">
                  <a:pos x="4" y="6"/>
                </a:cxn>
                <a:cxn ang="0">
                  <a:pos x="34" y="0"/>
                </a:cxn>
              </a:cxnLst>
              <a:rect l="0" t="0" r="r" b="b"/>
              <a:pathLst>
                <a:path w="34" h="20">
                  <a:moveTo>
                    <a:pt x="34" y="0"/>
                  </a:moveTo>
                  <a:cubicBezTo>
                    <a:pt x="32" y="10"/>
                    <a:pt x="34" y="17"/>
                    <a:pt x="24" y="20"/>
                  </a:cubicBezTo>
                  <a:cubicBezTo>
                    <a:pt x="17" y="19"/>
                    <a:pt x="10" y="20"/>
                    <a:pt x="4" y="18"/>
                  </a:cubicBezTo>
                  <a:cubicBezTo>
                    <a:pt x="0" y="17"/>
                    <a:pt x="2" y="7"/>
                    <a:pt x="4" y="6"/>
                  </a:cubicBezTo>
                  <a:cubicBezTo>
                    <a:pt x="12" y="0"/>
                    <a:pt x="24" y="0"/>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7" name="Freeform 37"/>
            <p:cNvSpPr/>
            <p:nvPr/>
          </p:nvSpPr>
          <p:spPr bwMode="invGray">
            <a:xfrm>
              <a:off x="1421" y="2756"/>
              <a:ext cx="15" cy="12"/>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8" name="Freeform 38"/>
            <p:cNvSpPr/>
            <p:nvPr/>
          </p:nvSpPr>
          <p:spPr bwMode="invGray">
            <a:xfrm>
              <a:off x="1424" y="2781"/>
              <a:ext cx="16"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29" name="Freeform 39"/>
            <p:cNvSpPr/>
            <p:nvPr/>
          </p:nvSpPr>
          <p:spPr bwMode="invGray">
            <a:xfrm>
              <a:off x="1628" y="2913"/>
              <a:ext cx="15" cy="13"/>
            </a:xfrm>
            <a:custGeom>
              <a:avLst/>
              <a:gdLst/>
              <a:ahLst/>
              <a:cxnLst>
                <a:cxn ang="0">
                  <a:pos x="3" y="0"/>
                </a:cxn>
                <a:cxn ang="0">
                  <a:pos x="13" y="16"/>
                </a:cxn>
                <a:cxn ang="0">
                  <a:pos x="3" y="0"/>
                </a:cxn>
              </a:cxnLst>
              <a:rect l="0" t="0" r="r" b="b"/>
              <a:pathLst>
                <a:path w="21" h="16">
                  <a:moveTo>
                    <a:pt x="3" y="0"/>
                  </a:moveTo>
                  <a:cubicBezTo>
                    <a:pt x="0" y="9"/>
                    <a:pt x="6" y="11"/>
                    <a:pt x="13" y="16"/>
                  </a:cubicBezTo>
                  <a:cubicBezTo>
                    <a:pt x="21" y="4"/>
                    <a:pt x="16" y="2"/>
                    <a:pt x="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0" name="Freeform 40"/>
            <p:cNvSpPr/>
            <p:nvPr/>
          </p:nvSpPr>
          <p:spPr bwMode="invGray">
            <a:xfrm>
              <a:off x="1752" y="2429"/>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1" name="Freeform 41"/>
            <p:cNvSpPr/>
            <p:nvPr/>
          </p:nvSpPr>
          <p:spPr bwMode="invGray">
            <a:xfrm>
              <a:off x="1652" y="2224"/>
              <a:ext cx="38"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2" name="Freeform 42"/>
            <p:cNvSpPr/>
            <p:nvPr/>
          </p:nvSpPr>
          <p:spPr bwMode="invGray">
            <a:xfrm>
              <a:off x="1717" y="2045"/>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3" name="Freeform 43"/>
            <p:cNvSpPr/>
            <p:nvPr/>
          </p:nvSpPr>
          <p:spPr bwMode="invGray">
            <a:xfrm>
              <a:off x="1780" y="2153"/>
              <a:ext cx="39" cy="18"/>
            </a:xfrm>
            <a:custGeom>
              <a:avLst/>
              <a:gdLst/>
              <a:ahLst/>
              <a:cxnLst>
                <a:cxn ang="0">
                  <a:pos x="13" y="0"/>
                </a:cxn>
                <a:cxn ang="0">
                  <a:pos x="7" y="18"/>
                </a:cxn>
                <a:cxn ang="0">
                  <a:pos x="27" y="24"/>
                </a:cxn>
                <a:cxn ang="0">
                  <a:pos x="33" y="4"/>
                </a:cxn>
                <a:cxn ang="0">
                  <a:pos x="13" y="0"/>
                </a:cxn>
              </a:cxnLst>
              <a:rect l="0" t="0" r="r" b="b"/>
              <a:pathLst>
                <a:path w="51" h="24">
                  <a:moveTo>
                    <a:pt x="13" y="0"/>
                  </a:moveTo>
                  <a:cubicBezTo>
                    <a:pt x="12" y="2"/>
                    <a:pt x="0" y="12"/>
                    <a:pt x="7" y="18"/>
                  </a:cubicBezTo>
                  <a:cubicBezTo>
                    <a:pt x="12" y="22"/>
                    <a:pt x="27" y="24"/>
                    <a:pt x="27" y="24"/>
                  </a:cubicBezTo>
                  <a:cubicBezTo>
                    <a:pt x="44" y="22"/>
                    <a:pt x="51" y="16"/>
                    <a:pt x="33" y="4"/>
                  </a:cubicBezTo>
                  <a:cubicBezTo>
                    <a:pt x="29" y="1"/>
                    <a:pt x="14" y="0"/>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4" name="Freeform 44"/>
            <p:cNvSpPr/>
            <p:nvPr/>
          </p:nvSpPr>
          <p:spPr bwMode="invGray">
            <a:xfrm>
              <a:off x="1796" y="1951"/>
              <a:ext cx="696" cy="346"/>
            </a:xfrm>
            <a:custGeom>
              <a:avLst/>
              <a:gdLst/>
              <a:ahLst/>
              <a:cxnLst>
                <a:cxn ang="0">
                  <a:pos x="28" y="56"/>
                </a:cxn>
                <a:cxn ang="0">
                  <a:pos x="6" y="92"/>
                </a:cxn>
                <a:cxn ang="0">
                  <a:pos x="36" y="100"/>
                </a:cxn>
                <a:cxn ang="0">
                  <a:pos x="16" y="116"/>
                </a:cxn>
                <a:cxn ang="0">
                  <a:pos x="104" y="136"/>
                </a:cxn>
                <a:cxn ang="0">
                  <a:pos x="142" y="130"/>
                </a:cxn>
                <a:cxn ang="0">
                  <a:pos x="250" y="78"/>
                </a:cxn>
                <a:cxn ang="0">
                  <a:pos x="300" y="66"/>
                </a:cxn>
                <a:cxn ang="0">
                  <a:pos x="324" y="80"/>
                </a:cxn>
                <a:cxn ang="0">
                  <a:pos x="272" y="88"/>
                </a:cxn>
                <a:cxn ang="0">
                  <a:pos x="242" y="112"/>
                </a:cxn>
                <a:cxn ang="0">
                  <a:pos x="254" y="120"/>
                </a:cxn>
                <a:cxn ang="0">
                  <a:pos x="260" y="158"/>
                </a:cxn>
                <a:cxn ang="0">
                  <a:pos x="350" y="192"/>
                </a:cxn>
                <a:cxn ang="0">
                  <a:pos x="336" y="210"/>
                </a:cxn>
                <a:cxn ang="0">
                  <a:pos x="368" y="246"/>
                </a:cxn>
                <a:cxn ang="0">
                  <a:pos x="348" y="266"/>
                </a:cxn>
                <a:cxn ang="0">
                  <a:pos x="324" y="294"/>
                </a:cxn>
                <a:cxn ang="0">
                  <a:pos x="294" y="324"/>
                </a:cxn>
                <a:cxn ang="0">
                  <a:pos x="292" y="420"/>
                </a:cxn>
                <a:cxn ang="0">
                  <a:pos x="332" y="446"/>
                </a:cxn>
                <a:cxn ang="0">
                  <a:pos x="388" y="448"/>
                </a:cxn>
                <a:cxn ang="0">
                  <a:pos x="412" y="422"/>
                </a:cxn>
                <a:cxn ang="0">
                  <a:pos x="506" y="356"/>
                </a:cxn>
                <a:cxn ang="0">
                  <a:pos x="572" y="334"/>
                </a:cxn>
                <a:cxn ang="0">
                  <a:pos x="646" y="308"/>
                </a:cxn>
                <a:cxn ang="0">
                  <a:pos x="720" y="290"/>
                </a:cxn>
                <a:cxn ang="0">
                  <a:pos x="762" y="260"/>
                </a:cxn>
                <a:cxn ang="0">
                  <a:pos x="800" y="200"/>
                </a:cxn>
                <a:cxn ang="0">
                  <a:pos x="802" y="154"/>
                </a:cxn>
                <a:cxn ang="0">
                  <a:pos x="802" y="124"/>
                </a:cxn>
                <a:cxn ang="0">
                  <a:pos x="832" y="90"/>
                </a:cxn>
                <a:cxn ang="0">
                  <a:pos x="876" y="94"/>
                </a:cxn>
                <a:cxn ang="0">
                  <a:pos x="922" y="52"/>
                </a:cxn>
                <a:cxn ang="0">
                  <a:pos x="888" y="56"/>
                </a:cxn>
                <a:cxn ang="0">
                  <a:pos x="848" y="46"/>
                </a:cxn>
                <a:cxn ang="0">
                  <a:pos x="794" y="22"/>
                </a:cxn>
                <a:cxn ang="0">
                  <a:pos x="642" y="26"/>
                </a:cxn>
                <a:cxn ang="0">
                  <a:pos x="584" y="38"/>
                </a:cxn>
                <a:cxn ang="0">
                  <a:pos x="556" y="38"/>
                </a:cxn>
                <a:cxn ang="0">
                  <a:pos x="516" y="54"/>
                </a:cxn>
                <a:cxn ang="0">
                  <a:pos x="478" y="30"/>
                </a:cxn>
                <a:cxn ang="0">
                  <a:pos x="432" y="40"/>
                </a:cxn>
                <a:cxn ang="0">
                  <a:pos x="366" y="52"/>
                </a:cxn>
                <a:cxn ang="0">
                  <a:pos x="410" y="38"/>
                </a:cxn>
                <a:cxn ang="0">
                  <a:pos x="352" y="8"/>
                </a:cxn>
                <a:cxn ang="0">
                  <a:pos x="334" y="2"/>
                </a:cxn>
                <a:cxn ang="0">
                  <a:pos x="314" y="8"/>
                </a:cxn>
                <a:cxn ang="0">
                  <a:pos x="240" y="16"/>
                </a:cxn>
                <a:cxn ang="0">
                  <a:pos x="160" y="28"/>
                </a:cxn>
                <a:cxn ang="0">
                  <a:pos x="108" y="26"/>
                </a:cxn>
                <a:cxn ang="0">
                  <a:pos x="114" y="68"/>
                </a:cxn>
                <a:cxn ang="0">
                  <a:pos x="104" y="52"/>
                </a:cxn>
                <a:cxn ang="0">
                  <a:pos x="60" y="42"/>
                </a:cxn>
              </a:cxnLst>
              <a:rect l="0" t="0" r="r" b="b"/>
              <a:pathLst>
                <a:path w="929" h="462">
                  <a:moveTo>
                    <a:pt x="60" y="42"/>
                  </a:moveTo>
                  <a:cubicBezTo>
                    <a:pt x="40" y="45"/>
                    <a:pt x="42" y="46"/>
                    <a:pt x="28" y="56"/>
                  </a:cubicBezTo>
                  <a:cubicBezTo>
                    <a:pt x="26" y="74"/>
                    <a:pt x="27" y="75"/>
                    <a:pt x="10" y="78"/>
                  </a:cubicBezTo>
                  <a:cubicBezTo>
                    <a:pt x="4" y="82"/>
                    <a:pt x="0" y="82"/>
                    <a:pt x="6" y="92"/>
                  </a:cubicBezTo>
                  <a:cubicBezTo>
                    <a:pt x="10" y="98"/>
                    <a:pt x="21" y="96"/>
                    <a:pt x="28" y="98"/>
                  </a:cubicBezTo>
                  <a:cubicBezTo>
                    <a:pt x="31" y="99"/>
                    <a:pt x="36" y="100"/>
                    <a:pt x="36" y="100"/>
                  </a:cubicBezTo>
                  <a:cubicBezTo>
                    <a:pt x="47" y="99"/>
                    <a:pt x="69" y="97"/>
                    <a:pt x="50" y="110"/>
                  </a:cubicBezTo>
                  <a:cubicBezTo>
                    <a:pt x="37" y="108"/>
                    <a:pt x="24" y="104"/>
                    <a:pt x="16" y="116"/>
                  </a:cubicBezTo>
                  <a:cubicBezTo>
                    <a:pt x="24" y="141"/>
                    <a:pt x="68" y="125"/>
                    <a:pt x="94" y="126"/>
                  </a:cubicBezTo>
                  <a:cubicBezTo>
                    <a:pt x="98" y="129"/>
                    <a:pt x="100" y="134"/>
                    <a:pt x="104" y="136"/>
                  </a:cubicBezTo>
                  <a:cubicBezTo>
                    <a:pt x="108" y="138"/>
                    <a:pt x="116" y="140"/>
                    <a:pt x="116" y="140"/>
                  </a:cubicBezTo>
                  <a:cubicBezTo>
                    <a:pt x="129" y="138"/>
                    <a:pt x="133" y="139"/>
                    <a:pt x="142" y="130"/>
                  </a:cubicBezTo>
                  <a:cubicBezTo>
                    <a:pt x="151" y="104"/>
                    <a:pt x="179" y="110"/>
                    <a:pt x="202" y="102"/>
                  </a:cubicBezTo>
                  <a:cubicBezTo>
                    <a:pt x="219" y="96"/>
                    <a:pt x="233" y="84"/>
                    <a:pt x="250" y="78"/>
                  </a:cubicBezTo>
                  <a:cubicBezTo>
                    <a:pt x="260" y="75"/>
                    <a:pt x="269" y="74"/>
                    <a:pt x="280" y="72"/>
                  </a:cubicBezTo>
                  <a:cubicBezTo>
                    <a:pt x="287" y="71"/>
                    <a:pt x="300" y="66"/>
                    <a:pt x="300" y="66"/>
                  </a:cubicBezTo>
                  <a:cubicBezTo>
                    <a:pt x="311" y="49"/>
                    <a:pt x="336" y="54"/>
                    <a:pt x="354" y="60"/>
                  </a:cubicBezTo>
                  <a:cubicBezTo>
                    <a:pt x="367" y="79"/>
                    <a:pt x="335" y="79"/>
                    <a:pt x="324" y="80"/>
                  </a:cubicBezTo>
                  <a:cubicBezTo>
                    <a:pt x="312" y="83"/>
                    <a:pt x="306" y="93"/>
                    <a:pt x="292" y="96"/>
                  </a:cubicBezTo>
                  <a:cubicBezTo>
                    <a:pt x="284" y="94"/>
                    <a:pt x="279" y="90"/>
                    <a:pt x="272" y="88"/>
                  </a:cubicBezTo>
                  <a:cubicBezTo>
                    <a:pt x="253" y="91"/>
                    <a:pt x="232" y="96"/>
                    <a:pt x="214" y="102"/>
                  </a:cubicBezTo>
                  <a:cubicBezTo>
                    <a:pt x="223" y="108"/>
                    <a:pt x="231" y="109"/>
                    <a:pt x="242" y="112"/>
                  </a:cubicBezTo>
                  <a:cubicBezTo>
                    <a:pt x="245" y="113"/>
                    <a:pt x="250" y="114"/>
                    <a:pt x="250" y="114"/>
                  </a:cubicBezTo>
                  <a:cubicBezTo>
                    <a:pt x="251" y="116"/>
                    <a:pt x="255" y="118"/>
                    <a:pt x="254" y="120"/>
                  </a:cubicBezTo>
                  <a:cubicBezTo>
                    <a:pt x="252" y="124"/>
                    <a:pt x="242" y="128"/>
                    <a:pt x="242" y="128"/>
                  </a:cubicBezTo>
                  <a:cubicBezTo>
                    <a:pt x="233" y="141"/>
                    <a:pt x="247" y="154"/>
                    <a:pt x="260" y="158"/>
                  </a:cubicBezTo>
                  <a:cubicBezTo>
                    <a:pt x="282" y="155"/>
                    <a:pt x="295" y="151"/>
                    <a:pt x="318" y="150"/>
                  </a:cubicBezTo>
                  <a:cubicBezTo>
                    <a:pt x="334" y="155"/>
                    <a:pt x="345" y="176"/>
                    <a:pt x="350" y="192"/>
                  </a:cubicBezTo>
                  <a:cubicBezTo>
                    <a:pt x="349" y="195"/>
                    <a:pt x="350" y="199"/>
                    <a:pt x="348" y="202"/>
                  </a:cubicBezTo>
                  <a:cubicBezTo>
                    <a:pt x="345" y="206"/>
                    <a:pt x="336" y="210"/>
                    <a:pt x="336" y="210"/>
                  </a:cubicBezTo>
                  <a:cubicBezTo>
                    <a:pt x="327" y="224"/>
                    <a:pt x="332" y="235"/>
                    <a:pt x="348" y="240"/>
                  </a:cubicBezTo>
                  <a:cubicBezTo>
                    <a:pt x="358" y="237"/>
                    <a:pt x="362" y="237"/>
                    <a:pt x="368" y="246"/>
                  </a:cubicBezTo>
                  <a:cubicBezTo>
                    <a:pt x="360" y="252"/>
                    <a:pt x="346" y="246"/>
                    <a:pt x="338" y="252"/>
                  </a:cubicBezTo>
                  <a:cubicBezTo>
                    <a:pt x="326" y="260"/>
                    <a:pt x="346" y="265"/>
                    <a:pt x="348" y="266"/>
                  </a:cubicBezTo>
                  <a:cubicBezTo>
                    <a:pt x="352" y="278"/>
                    <a:pt x="347" y="279"/>
                    <a:pt x="336" y="286"/>
                  </a:cubicBezTo>
                  <a:cubicBezTo>
                    <a:pt x="332" y="289"/>
                    <a:pt x="324" y="294"/>
                    <a:pt x="324" y="294"/>
                  </a:cubicBezTo>
                  <a:cubicBezTo>
                    <a:pt x="315" y="308"/>
                    <a:pt x="320" y="303"/>
                    <a:pt x="310" y="310"/>
                  </a:cubicBezTo>
                  <a:cubicBezTo>
                    <a:pt x="306" y="316"/>
                    <a:pt x="294" y="324"/>
                    <a:pt x="294" y="324"/>
                  </a:cubicBezTo>
                  <a:cubicBezTo>
                    <a:pt x="285" y="338"/>
                    <a:pt x="288" y="331"/>
                    <a:pt x="284" y="342"/>
                  </a:cubicBezTo>
                  <a:cubicBezTo>
                    <a:pt x="285" y="374"/>
                    <a:pt x="283" y="393"/>
                    <a:pt x="292" y="420"/>
                  </a:cubicBezTo>
                  <a:cubicBezTo>
                    <a:pt x="295" y="429"/>
                    <a:pt x="307" y="435"/>
                    <a:pt x="314" y="440"/>
                  </a:cubicBezTo>
                  <a:cubicBezTo>
                    <a:pt x="319" y="444"/>
                    <a:pt x="332" y="446"/>
                    <a:pt x="332" y="446"/>
                  </a:cubicBezTo>
                  <a:cubicBezTo>
                    <a:pt x="340" y="457"/>
                    <a:pt x="345" y="459"/>
                    <a:pt x="358" y="462"/>
                  </a:cubicBezTo>
                  <a:cubicBezTo>
                    <a:pt x="376" y="459"/>
                    <a:pt x="375" y="457"/>
                    <a:pt x="388" y="448"/>
                  </a:cubicBezTo>
                  <a:cubicBezTo>
                    <a:pt x="390" y="441"/>
                    <a:pt x="394" y="435"/>
                    <a:pt x="400" y="430"/>
                  </a:cubicBezTo>
                  <a:cubicBezTo>
                    <a:pt x="404" y="427"/>
                    <a:pt x="412" y="422"/>
                    <a:pt x="412" y="422"/>
                  </a:cubicBezTo>
                  <a:cubicBezTo>
                    <a:pt x="417" y="415"/>
                    <a:pt x="451" y="367"/>
                    <a:pt x="458" y="364"/>
                  </a:cubicBezTo>
                  <a:cubicBezTo>
                    <a:pt x="475" y="356"/>
                    <a:pt x="486" y="357"/>
                    <a:pt x="506" y="356"/>
                  </a:cubicBezTo>
                  <a:cubicBezTo>
                    <a:pt x="525" y="350"/>
                    <a:pt x="533" y="342"/>
                    <a:pt x="554" y="340"/>
                  </a:cubicBezTo>
                  <a:cubicBezTo>
                    <a:pt x="560" y="338"/>
                    <a:pt x="566" y="336"/>
                    <a:pt x="572" y="334"/>
                  </a:cubicBezTo>
                  <a:cubicBezTo>
                    <a:pt x="576" y="333"/>
                    <a:pt x="584" y="330"/>
                    <a:pt x="584" y="330"/>
                  </a:cubicBezTo>
                  <a:cubicBezTo>
                    <a:pt x="603" y="311"/>
                    <a:pt x="618" y="310"/>
                    <a:pt x="646" y="308"/>
                  </a:cubicBezTo>
                  <a:cubicBezTo>
                    <a:pt x="665" y="304"/>
                    <a:pt x="684" y="303"/>
                    <a:pt x="704" y="302"/>
                  </a:cubicBezTo>
                  <a:cubicBezTo>
                    <a:pt x="712" y="299"/>
                    <a:pt x="712" y="293"/>
                    <a:pt x="720" y="290"/>
                  </a:cubicBezTo>
                  <a:cubicBezTo>
                    <a:pt x="732" y="285"/>
                    <a:pt x="743" y="285"/>
                    <a:pt x="754" y="278"/>
                  </a:cubicBezTo>
                  <a:cubicBezTo>
                    <a:pt x="756" y="271"/>
                    <a:pt x="760" y="267"/>
                    <a:pt x="762" y="260"/>
                  </a:cubicBezTo>
                  <a:cubicBezTo>
                    <a:pt x="763" y="247"/>
                    <a:pt x="762" y="233"/>
                    <a:pt x="764" y="220"/>
                  </a:cubicBezTo>
                  <a:cubicBezTo>
                    <a:pt x="764" y="219"/>
                    <a:pt x="794" y="204"/>
                    <a:pt x="800" y="200"/>
                  </a:cubicBezTo>
                  <a:cubicBezTo>
                    <a:pt x="807" y="189"/>
                    <a:pt x="808" y="186"/>
                    <a:pt x="820" y="182"/>
                  </a:cubicBezTo>
                  <a:cubicBezTo>
                    <a:pt x="825" y="166"/>
                    <a:pt x="814" y="162"/>
                    <a:pt x="802" y="154"/>
                  </a:cubicBezTo>
                  <a:cubicBezTo>
                    <a:pt x="797" y="151"/>
                    <a:pt x="790" y="142"/>
                    <a:pt x="790" y="142"/>
                  </a:cubicBezTo>
                  <a:cubicBezTo>
                    <a:pt x="786" y="131"/>
                    <a:pt x="792" y="127"/>
                    <a:pt x="802" y="124"/>
                  </a:cubicBezTo>
                  <a:cubicBezTo>
                    <a:pt x="810" y="116"/>
                    <a:pt x="813" y="98"/>
                    <a:pt x="820" y="94"/>
                  </a:cubicBezTo>
                  <a:cubicBezTo>
                    <a:pt x="824" y="92"/>
                    <a:pt x="832" y="90"/>
                    <a:pt x="832" y="90"/>
                  </a:cubicBezTo>
                  <a:cubicBezTo>
                    <a:pt x="844" y="92"/>
                    <a:pt x="848" y="92"/>
                    <a:pt x="856" y="100"/>
                  </a:cubicBezTo>
                  <a:cubicBezTo>
                    <a:pt x="863" y="98"/>
                    <a:pt x="876" y="94"/>
                    <a:pt x="876" y="94"/>
                  </a:cubicBezTo>
                  <a:cubicBezTo>
                    <a:pt x="889" y="81"/>
                    <a:pt x="906" y="77"/>
                    <a:pt x="924" y="74"/>
                  </a:cubicBezTo>
                  <a:cubicBezTo>
                    <a:pt x="929" y="67"/>
                    <a:pt x="929" y="58"/>
                    <a:pt x="922" y="52"/>
                  </a:cubicBezTo>
                  <a:cubicBezTo>
                    <a:pt x="918" y="49"/>
                    <a:pt x="910" y="44"/>
                    <a:pt x="910" y="44"/>
                  </a:cubicBezTo>
                  <a:cubicBezTo>
                    <a:pt x="894" y="47"/>
                    <a:pt x="899" y="49"/>
                    <a:pt x="888" y="56"/>
                  </a:cubicBezTo>
                  <a:cubicBezTo>
                    <a:pt x="884" y="58"/>
                    <a:pt x="876" y="60"/>
                    <a:pt x="876" y="60"/>
                  </a:cubicBezTo>
                  <a:cubicBezTo>
                    <a:pt x="853" y="59"/>
                    <a:pt x="810" y="59"/>
                    <a:pt x="848" y="46"/>
                  </a:cubicBezTo>
                  <a:cubicBezTo>
                    <a:pt x="844" y="33"/>
                    <a:pt x="831" y="37"/>
                    <a:pt x="818" y="36"/>
                  </a:cubicBezTo>
                  <a:cubicBezTo>
                    <a:pt x="809" y="33"/>
                    <a:pt x="802" y="27"/>
                    <a:pt x="794" y="22"/>
                  </a:cubicBezTo>
                  <a:cubicBezTo>
                    <a:pt x="790" y="20"/>
                    <a:pt x="782" y="18"/>
                    <a:pt x="782" y="18"/>
                  </a:cubicBezTo>
                  <a:cubicBezTo>
                    <a:pt x="727" y="19"/>
                    <a:pt x="688" y="11"/>
                    <a:pt x="642" y="26"/>
                  </a:cubicBezTo>
                  <a:cubicBezTo>
                    <a:pt x="635" y="16"/>
                    <a:pt x="632" y="18"/>
                    <a:pt x="620" y="20"/>
                  </a:cubicBezTo>
                  <a:cubicBezTo>
                    <a:pt x="611" y="34"/>
                    <a:pt x="600" y="36"/>
                    <a:pt x="584" y="38"/>
                  </a:cubicBezTo>
                  <a:cubicBezTo>
                    <a:pt x="575" y="44"/>
                    <a:pt x="581" y="46"/>
                    <a:pt x="578" y="56"/>
                  </a:cubicBezTo>
                  <a:cubicBezTo>
                    <a:pt x="572" y="47"/>
                    <a:pt x="566" y="41"/>
                    <a:pt x="556" y="38"/>
                  </a:cubicBezTo>
                  <a:cubicBezTo>
                    <a:pt x="553" y="38"/>
                    <a:pt x="539" y="39"/>
                    <a:pt x="534" y="42"/>
                  </a:cubicBezTo>
                  <a:cubicBezTo>
                    <a:pt x="528" y="46"/>
                    <a:pt x="516" y="54"/>
                    <a:pt x="516" y="54"/>
                  </a:cubicBezTo>
                  <a:cubicBezTo>
                    <a:pt x="507" y="52"/>
                    <a:pt x="503" y="51"/>
                    <a:pt x="500" y="42"/>
                  </a:cubicBezTo>
                  <a:cubicBezTo>
                    <a:pt x="505" y="28"/>
                    <a:pt x="488" y="31"/>
                    <a:pt x="478" y="30"/>
                  </a:cubicBezTo>
                  <a:cubicBezTo>
                    <a:pt x="469" y="33"/>
                    <a:pt x="473" y="37"/>
                    <a:pt x="464" y="40"/>
                  </a:cubicBezTo>
                  <a:cubicBezTo>
                    <a:pt x="447" y="34"/>
                    <a:pt x="451" y="27"/>
                    <a:pt x="432" y="40"/>
                  </a:cubicBezTo>
                  <a:cubicBezTo>
                    <a:pt x="427" y="54"/>
                    <a:pt x="427" y="52"/>
                    <a:pt x="410" y="50"/>
                  </a:cubicBezTo>
                  <a:cubicBezTo>
                    <a:pt x="391" y="52"/>
                    <a:pt x="385" y="54"/>
                    <a:pt x="366" y="52"/>
                  </a:cubicBezTo>
                  <a:cubicBezTo>
                    <a:pt x="357" y="49"/>
                    <a:pt x="356" y="46"/>
                    <a:pt x="364" y="40"/>
                  </a:cubicBezTo>
                  <a:cubicBezTo>
                    <a:pt x="380" y="42"/>
                    <a:pt x="395" y="43"/>
                    <a:pt x="410" y="38"/>
                  </a:cubicBezTo>
                  <a:cubicBezTo>
                    <a:pt x="426" y="15"/>
                    <a:pt x="386" y="21"/>
                    <a:pt x="370" y="20"/>
                  </a:cubicBezTo>
                  <a:cubicBezTo>
                    <a:pt x="364" y="16"/>
                    <a:pt x="358" y="12"/>
                    <a:pt x="352" y="8"/>
                  </a:cubicBezTo>
                  <a:cubicBezTo>
                    <a:pt x="348" y="5"/>
                    <a:pt x="340" y="0"/>
                    <a:pt x="340" y="0"/>
                  </a:cubicBezTo>
                  <a:cubicBezTo>
                    <a:pt x="338" y="1"/>
                    <a:pt x="336" y="1"/>
                    <a:pt x="334" y="2"/>
                  </a:cubicBezTo>
                  <a:cubicBezTo>
                    <a:pt x="331" y="3"/>
                    <a:pt x="329" y="3"/>
                    <a:pt x="326" y="4"/>
                  </a:cubicBezTo>
                  <a:cubicBezTo>
                    <a:pt x="322" y="5"/>
                    <a:pt x="314" y="8"/>
                    <a:pt x="314" y="8"/>
                  </a:cubicBezTo>
                  <a:cubicBezTo>
                    <a:pt x="305" y="22"/>
                    <a:pt x="288" y="6"/>
                    <a:pt x="276" y="2"/>
                  </a:cubicBezTo>
                  <a:cubicBezTo>
                    <a:pt x="270" y="3"/>
                    <a:pt x="241" y="16"/>
                    <a:pt x="240" y="16"/>
                  </a:cubicBezTo>
                  <a:cubicBezTo>
                    <a:pt x="226" y="17"/>
                    <a:pt x="212" y="17"/>
                    <a:pt x="198" y="18"/>
                  </a:cubicBezTo>
                  <a:cubicBezTo>
                    <a:pt x="183" y="19"/>
                    <a:pt x="172" y="20"/>
                    <a:pt x="160" y="28"/>
                  </a:cubicBezTo>
                  <a:cubicBezTo>
                    <a:pt x="146" y="26"/>
                    <a:pt x="141" y="27"/>
                    <a:pt x="130" y="20"/>
                  </a:cubicBezTo>
                  <a:cubicBezTo>
                    <a:pt x="123" y="22"/>
                    <a:pt x="115" y="24"/>
                    <a:pt x="108" y="26"/>
                  </a:cubicBezTo>
                  <a:cubicBezTo>
                    <a:pt x="102" y="35"/>
                    <a:pt x="113" y="41"/>
                    <a:pt x="122" y="44"/>
                  </a:cubicBezTo>
                  <a:cubicBezTo>
                    <a:pt x="125" y="52"/>
                    <a:pt x="114" y="68"/>
                    <a:pt x="114" y="68"/>
                  </a:cubicBezTo>
                  <a:cubicBezTo>
                    <a:pt x="112" y="79"/>
                    <a:pt x="111" y="82"/>
                    <a:pt x="100" y="78"/>
                  </a:cubicBezTo>
                  <a:cubicBezTo>
                    <a:pt x="93" y="67"/>
                    <a:pt x="100" y="63"/>
                    <a:pt x="104" y="52"/>
                  </a:cubicBezTo>
                  <a:cubicBezTo>
                    <a:pt x="96" y="44"/>
                    <a:pt x="91" y="36"/>
                    <a:pt x="80" y="32"/>
                  </a:cubicBezTo>
                  <a:cubicBezTo>
                    <a:pt x="73" y="34"/>
                    <a:pt x="67" y="39"/>
                    <a:pt x="60" y="4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5" name="Freeform 45"/>
            <p:cNvSpPr/>
            <p:nvPr/>
          </p:nvSpPr>
          <p:spPr bwMode="invGray">
            <a:xfrm>
              <a:off x="2009" y="2135"/>
              <a:ext cx="39" cy="25"/>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6" name="Freeform 46"/>
            <p:cNvSpPr/>
            <p:nvPr/>
          </p:nvSpPr>
          <p:spPr bwMode="invGray">
            <a:xfrm>
              <a:off x="2292" y="2201"/>
              <a:ext cx="127" cy="54"/>
            </a:xfrm>
            <a:custGeom>
              <a:avLst/>
              <a:gdLst/>
              <a:ahLst/>
              <a:cxnLst>
                <a:cxn ang="0">
                  <a:pos x="102" y="8"/>
                </a:cxn>
                <a:cxn ang="0">
                  <a:pos x="66" y="4"/>
                </a:cxn>
                <a:cxn ang="0">
                  <a:pos x="54" y="0"/>
                </a:cxn>
                <a:cxn ang="0">
                  <a:pos x="0" y="28"/>
                </a:cxn>
                <a:cxn ang="0">
                  <a:pos x="28" y="40"/>
                </a:cxn>
                <a:cxn ang="0">
                  <a:pos x="42" y="60"/>
                </a:cxn>
                <a:cxn ang="0">
                  <a:pos x="66" y="68"/>
                </a:cxn>
                <a:cxn ang="0">
                  <a:pos x="78" y="72"/>
                </a:cxn>
                <a:cxn ang="0">
                  <a:pos x="130" y="60"/>
                </a:cxn>
                <a:cxn ang="0">
                  <a:pos x="172" y="44"/>
                </a:cxn>
                <a:cxn ang="0">
                  <a:pos x="148" y="18"/>
                </a:cxn>
                <a:cxn ang="0">
                  <a:pos x="136" y="4"/>
                </a:cxn>
                <a:cxn ang="0">
                  <a:pos x="102" y="8"/>
                </a:cxn>
              </a:cxnLst>
              <a:rect l="0" t="0" r="r" b="b"/>
              <a:pathLst>
                <a:path w="172" h="72">
                  <a:moveTo>
                    <a:pt x="102" y="8"/>
                  </a:moveTo>
                  <a:cubicBezTo>
                    <a:pt x="89" y="12"/>
                    <a:pt x="78" y="8"/>
                    <a:pt x="66" y="4"/>
                  </a:cubicBezTo>
                  <a:cubicBezTo>
                    <a:pt x="62" y="3"/>
                    <a:pt x="54" y="0"/>
                    <a:pt x="54" y="0"/>
                  </a:cubicBezTo>
                  <a:cubicBezTo>
                    <a:pt x="38" y="5"/>
                    <a:pt x="12" y="16"/>
                    <a:pt x="0" y="28"/>
                  </a:cubicBezTo>
                  <a:cubicBezTo>
                    <a:pt x="4" y="39"/>
                    <a:pt x="18" y="39"/>
                    <a:pt x="28" y="40"/>
                  </a:cubicBezTo>
                  <a:cubicBezTo>
                    <a:pt x="39" y="44"/>
                    <a:pt x="41" y="60"/>
                    <a:pt x="42" y="60"/>
                  </a:cubicBezTo>
                  <a:cubicBezTo>
                    <a:pt x="50" y="63"/>
                    <a:pt x="58" y="65"/>
                    <a:pt x="66" y="68"/>
                  </a:cubicBezTo>
                  <a:cubicBezTo>
                    <a:pt x="70" y="69"/>
                    <a:pt x="78" y="72"/>
                    <a:pt x="78" y="72"/>
                  </a:cubicBezTo>
                  <a:cubicBezTo>
                    <a:pt x="92" y="71"/>
                    <a:pt x="117" y="69"/>
                    <a:pt x="130" y="60"/>
                  </a:cubicBezTo>
                  <a:cubicBezTo>
                    <a:pt x="148" y="48"/>
                    <a:pt x="150" y="46"/>
                    <a:pt x="172" y="44"/>
                  </a:cubicBezTo>
                  <a:cubicBezTo>
                    <a:pt x="169" y="29"/>
                    <a:pt x="162" y="23"/>
                    <a:pt x="148" y="18"/>
                  </a:cubicBezTo>
                  <a:cubicBezTo>
                    <a:pt x="145" y="10"/>
                    <a:pt x="144" y="7"/>
                    <a:pt x="136" y="4"/>
                  </a:cubicBezTo>
                  <a:cubicBezTo>
                    <a:pt x="134" y="4"/>
                    <a:pt x="105" y="11"/>
                    <a:pt x="102" y="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7" name="Freeform 47"/>
            <p:cNvSpPr/>
            <p:nvPr/>
          </p:nvSpPr>
          <p:spPr bwMode="invGray">
            <a:xfrm>
              <a:off x="2393" y="2038"/>
              <a:ext cx="39" cy="26"/>
            </a:xfrm>
            <a:custGeom>
              <a:avLst/>
              <a:gdLst/>
              <a:ahLst/>
              <a:cxnLst>
                <a:cxn ang="0">
                  <a:pos x="34" y="0"/>
                </a:cxn>
                <a:cxn ang="0">
                  <a:pos x="8" y="20"/>
                </a:cxn>
                <a:cxn ang="0">
                  <a:pos x="24" y="32"/>
                </a:cxn>
                <a:cxn ang="0">
                  <a:pos x="42" y="30"/>
                </a:cxn>
                <a:cxn ang="0">
                  <a:pos x="34" y="0"/>
                </a:cxn>
              </a:cxnLst>
              <a:rect l="0" t="0" r="r" b="b"/>
              <a:pathLst>
                <a:path w="52" h="32">
                  <a:moveTo>
                    <a:pt x="34" y="0"/>
                  </a:moveTo>
                  <a:cubicBezTo>
                    <a:pt x="30" y="12"/>
                    <a:pt x="19" y="16"/>
                    <a:pt x="8" y="20"/>
                  </a:cubicBezTo>
                  <a:cubicBezTo>
                    <a:pt x="0" y="32"/>
                    <a:pt x="14" y="31"/>
                    <a:pt x="24" y="32"/>
                  </a:cubicBezTo>
                  <a:cubicBezTo>
                    <a:pt x="30" y="31"/>
                    <a:pt x="36" y="32"/>
                    <a:pt x="42" y="30"/>
                  </a:cubicBezTo>
                  <a:cubicBezTo>
                    <a:pt x="52" y="26"/>
                    <a:pt x="34" y="3"/>
                    <a:pt x="3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8" name="Freeform 48"/>
            <p:cNvSpPr/>
            <p:nvPr/>
          </p:nvSpPr>
          <p:spPr bwMode="invGray">
            <a:xfrm>
              <a:off x="2662" y="2005"/>
              <a:ext cx="155" cy="62"/>
            </a:xfrm>
            <a:custGeom>
              <a:avLst/>
              <a:gdLst/>
              <a:ahLst/>
              <a:cxnLst>
                <a:cxn ang="0">
                  <a:pos x="191" y="7"/>
                </a:cxn>
                <a:cxn ang="0">
                  <a:pos x="103" y="9"/>
                </a:cxn>
                <a:cxn ang="0">
                  <a:pos x="109" y="25"/>
                </a:cxn>
                <a:cxn ang="0">
                  <a:pos x="107" y="33"/>
                </a:cxn>
                <a:cxn ang="0">
                  <a:pos x="89" y="27"/>
                </a:cxn>
                <a:cxn ang="0">
                  <a:pos x="77" y="19"/>
                </a:cxn>
                <a:cxn ang="0">
                  <a:pos x="23" y="27"/>
                </a:cxn>
                <a:cxn ang="0">
                  <a:pos x="31" y="49"/>
                </a:cxn>
                <a:cxn ang="0">
                  <a:pos x="55" y="53"/>
                </a:cxn>
                <a:cxn ang="0">
                  <a:pos x="75" y="73"/>
                </a:cxn>
                <a:cxn ang="0">
                  <a:pos x="89" y="85"/>
                </a:cxn>
                <a:cxn ang="0">
                  <a:pos x="109" y="67"/>
                </a:cxn>
                <a:cxn ang="0">
                  <a:pos x="121" y="59"/>
                </a:cxn>
                <a:cxn ang="0">
                  <a:pos x="127" y="47"/>
                </a:cxn>
                <a:cxn ang="0">
                  <a:pos x="167" y="35"/>
                </a:cxn>
                <a:cxn ang="0">
                  <a:pos x="187" y="31"/>
                </a:cxn>
                <a:cxn ang="0">
                  <a:pos x="199" y="27"/>
                </a:cxn>
                <a:cxn ang="0">
                  <a:pos x="191" y="7"/>
                </a:cxn>
              </a:cxnLst>
              <a:rect l="0" t="0" r="r" b="b"/>
              <a:pathLst>
                <a:path w="206" h="85">
                  <a:moveTo>
                    <a:pt x="191" y="7"/>
                  </a:moveTo>
                  <a:cubicBezTo>
                    <a:pt x="165" y="6"/>
                    <a:pt x="130" y="0"/>
                    <a:pt x="103" y="9"/>
                  </a:cubicBezTo>
                  <a:cubicBezTo>
                    <a:pt x="100" y="18"/>
                    <a:pt x="101" y="20"/>
                    <a:pt x="109" y="25"/>
                  </a:cubicBezTo>
                  <a:cubicBezTo>
                    <a:pt x="111" y="28"/>
                    <a:pt x="118" y="34"/>
                    <a:pt x="107" y="33"/>
                  </a:cubicBezTo>
                  <a:cubicBezTo>
                    <a:pt x="101" y="32"/>
                    <a:pt x="89" y="27"/>
                    <a:pt x="89" y="27"/>
                  </a:cubicBezTo>
                  <a:cubicBezTo>
                    <a:pt x="86" y="24"/>
                    <a:pt x="82" y="18"/>
                    <a:pt x="77" y="19"/>
                  </a:cubicBezTo>
                  <a:cubicBezTo>
                    <a:pt x="52" y="22"/>
                    <a:pt x="57" y="25"/>
                    <a:pt x="23" y="27"/>
                  </a:cubicBezTo>
                  <a:cubicBezTo>
                    <a:pt x="0" y="31"/>
                    <a:pt x="18" y="45"/>
                    <a:pt x="31" y="49"/>
                  </a:cubicBezTo>
                  <a:cubicBezTo>
                    <a:pt x="43" y="53"/>
                    <a:pt x="35" y="51"/>
                    <a:pt x="55" y="53"/>
                  </a:cubicBezTo>
                  <a:cubicBezTo>
                    <a:pt x="63" y="59"/>
                    <a:pt x="66" y="67"/>
                    <a:pt x="75" y="73"/>
                  </a:cubicBezTo>
                  <a:cubicBezTo>
                    <a:pt x="78" y="81"/>
                    <a:pt x="81" y="82"/>
                    <a:pt x="89" y="85"/>
                  </a:cubicBezTo>
                  <a:cubicBezTo>
                    <a:pt x="104" y="81"/>
                    <a:pt x="99" y="75"/>
                    <a:pt x="109" y="67"/>
                  </a:cubicBezTo>
                  <a:cubicBezTo>
                    <a:pt x="113" y="64"/>
                    <a:pt x="121" y="59"/>
                    <a:pt x="121" y="59"/>
                  </a:cubicBezTo>
                  <a:cubicBezTo>
                    <a:pt x="123" y="55"/>
                    <a:pt x="124" y="50"/>
                    <a:pt x="127" y="47"/>
                  </a:cubicBezTo>
                  <a:cubicBezTo>
                    <a:pt x="132" y="41"/>
                    <a:pt x="158" y="37"/>
                    <a:pt x="167" y="35"/>
                  </a:cubicBezTo>
                  <a:cubicBezTo>
                    <a:pt x="174" y="34"/>
                    <a:pt x="181" y="33"/>
                    <a:pt x="187" y="31"/>
                  </a:cubicBezTo>
                  <a:cubicBezTo>
                    <a:pt x="191" y="30"/>
                    <a:pt x="199" y="27"/>
                    <a:pt x="199" y="27"/>
                  </a:cubicBezTo>
                  <a:cubicBezTo>
                    <a:pt x="206" y="16"/>
                    <a:pt x="199" y="15"/>
                    <a:pt x="191"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39" name="Freeform 49"/>
            <p:cNvSpPr/>
            <p:nvPr/>
          </p:nvSpPr>
          <p:spPr bwMode="invGray">
            <a:xfrm>
              <a:off x="2759" y="2039"/>
              <a:ext cx="48" cy="19"/>
            </a:xfrm>
            <a:custGeom>
              <a:avLst/>
              <a:gdLst/>
              <a:ahLst/>
              <a:cxnLst>
                <a:cxn ang="0">
                  <a:pos x="36" y="6"/>
                </a:cxn>
                <a:cxn ang="0">
                  <a:pos x="8" y="4"/>
                </a:cxn>
                <a:cxn ang="0">
                  <a:pos x="24" y="28"/>
                </a:cxn>
                <a:cxn ang="0">
                  <a:pos x="54" y="14"/>
                </a:cxn>
                <a:cxn ang="0">
                  <a:pos x="36" y="6"/>
                </a:cxn>
              </a:cxnLst>
              <a:rect l="0" t="0" r="r" b="b"/>
              <a:pathLst>
                <a:path w="64" h="28">
                  <a:moveTo>
                    <a:pt x="36" y="6"/>
                  </a:moveTo>
                  <a:cubicBezTo>
                    <a:pt x="32" y="18"/>
                    <a:pt x="19" y="0"/>
                    <a:pt x="8" y="4"/>
                  </a:cubicBezTo>
                  <a:cubicBezTo>
                    <a:pt x="0" y="16"/>
                    <a:pt x="14" y="27"/>
                    <a:pt x="24" y="28"/>
                  </a:cubicBezTo>
                  <a:cubicBezTo>
                    <a:pt x="30" y="27"/>
                    <a:pt x="48" y="16"/>
                    <a:pt x="54" y="14"/>
                  </a:cubicBezTo>
                  <a:cubicBezTo>
                    <a:pt x="64" y="10"/>
                    <a:pt x="36" y="9"/>
                    <a:pt x="36"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0" name="Freeform 50"/>
            <p:cNvSpPr/>
            <p:nvPr/>
          </p:nvSpPr>
          <p:spPr bwMode="invGray">
            <a:xfrm>
              <a:off x="2467" y="2311"/>
              <a:ext cx="110" cy="132"/>
            </a:xfrm>
            <a:custGeom>
              <a:avLst/>
              <a:gdLst/>
              <a:ahLst/>
              <a:cxnLst>
                <a:cxn ang="0">
                  <a:pos x="24" y="19"/>
                </a:cxn>
                <a:cxn ang="0">
                  <a:pos x="0" y="25"/>
                </a:cxn>
                <a:cxn ang="0">
                  <a:pos x="14" y="43"/>
                </a:cxn>
                <a:cxn ang="0">
                  <a:pos x="34" y="87"/>
                </a:cxn>
                <a:cxn ang="0">
                  <a:pos x="52" y="91"/>
                </a:cxn>
                <a:cxn ang="0">
                  <a:pos x="50" y="107"/>
                </a:cxn>
                <a:cxn ang="0">
                  <a:pos x="28" y="113"/>
                </a:cxn>
                <a:cxn ang="0">
                  <a:pos x="16" y="131"/>
                </a:cxn>
                <a:cxn ang="0">
                  <a:pos x="18" y="137"/>
                </a:cxn>
                <a:cxn ang="0">
                  <a:pos x="30" y="141"/>
                </a:cxn>
                <a:cxn ang="0">
                  <a:pos x="18" y="169"/>
                </a:cxn>
                <a:cxn ang="0">
                  <a:pos x="20" y="175"/>
                </a:cxn>
                <a:cxn ang="0">
                  <a:pos x="34" y="171"/>
                </a:cxn>
                <a:cxn ang="0">
                  <a:pos x="58" y="169"/>
                </a:cxn>
                <a:cxn ang="0">
                  <a:pos x="92" y="171"/>
                </a:cxn>
                <a:cxn ang="0">
                  <a:pos x="110" y="169"/>
                </a:cxn>
                <a:cxn ang="0">
                  <a:pos x="122" y="165"/>
                </a:cxn>
                <a:cxn ang="0">
                  <a:pos x="128" y="141"/>
                </a:cxn>
                <a:cxn ang="0">
                  <a:pos x="146" y="133"/>
                </a:cxn>
                <a:cxn ang="0">
                  <a:pos x="110" y="109"/>
                </a:cxn>
                <a:cxn ang="0">
                  <a:pos x="88" y="83"/>
                </a:cxn>
                <a:cxn ang="0">
                  <a:pos x="82" y="69"/>
                </a:cxn>
                <a:cxn ang="0">
                  <a:pos x="64" y="61"/>
                </a:cxn>
                <a:cxn ang="0">
                  <a:pos x="86" y="45"/>
                </a:cxn>
                <a:cxn ang="0">
                  <a:pos x="64" y="31"/>
                </a:cxn>
                <a:cxn ang="0">
                  <a:pos x="70" y="13"/>
                </a:cxn>
                <a:cxn ang="0">
                  <a:pos x="46" y="1"/>
                </a:cxn>
                <a:cxn ang="0">
                  <a:pos x="30" y="9"/>
                </a:cxn>
                <a:cxn ang="0">
                  <a:pos x="24" y="19"/>
                </a:cxn>
              </a:cxnLst>
              <a:rect l="0" t="0" r="r" b="b"/>
              <a:pathLst>
                <a:path w="146" h="176">
                  <a:moveTo>
                    <a:pt x="24" y="19"/>
                  </a:moveTo>
                  <a:cubicBezTo>
                    <a:pt x="13" y="23"/>
                    <a:pt x="7" y="15"/>
                    <a:pt x="0" y="25"/>
                  </a:cubicBezTo>
                  <a:cubicBezTo>
                    <a:pt x="2" y="32"/>
                    <a:pt x="14" y="43"/>
                    <a:pt x="14" y="43"/>
                  </a:cubicBezTo>
                  <a:cubicBezTo>
                    <a:pt x="19" y="58"/>
                    <a:pt x="20" y="78"/>
                    <a:pt x="34" y="87"/>
                  </a:cubicBezTo>
                  <a:cubicBezTo>
                    <a:pt x="42" y="84"/>
                    <a:pt x="45" y="86"/>
                    <a:pt x="52" y="91"/>
                  </a:cubicBezTo>
                  <a:cubicBezTo>
                    <a:pt x="57" y="105"/>
                    <a:pt x="60" y="101"/>
                    <a:pt x="50" y="107"/>
                  </a:cubicBezTo>
                  <a:cubicBezTo>
                    <a:pt x="38" y="105"/>
                    <a:pt x="32" y="101"/>
                    <a:pt x="28" y="113"/>
                  </a:cubicBezTo>
                  <a:cubicBezTo>
                    <a:pt x="32" y="129"/>
                    <a:pt x="33" y="128"/>
                    <a:pt x="16" y="131"/>
                  </a:cubicBezTo>
                  <a:cubicBezTo>
                    <a:pt x="17" y="133"/>
                    <a:pt x="16" y="136"/>
                    <a:pt x="18" y="137"/>
                  </a:cubicBezTo>
                  <a:cubicBezTo>
                    <a:pt x="21" y="139"/>
                    <a:pt x="30" y="141"/>
                    <a:pt x="30" y="141"/>
                  </a:cubicBezTo>
                  <a:cubicBezTo>
                    <a:pt x="28" y="152"/>
                    <a:pt x="21" y="159"/>
                    <a:pt x="18" y="169"/>
                  </a:cubicBezTo>
                  <a:cubicBezTo>
                    <a:pt x="19" y="171"/>
                    <a:pt x="18" y="174"/>
                    <a:pt x="20" y="175"/>
                  </a:cubicBezTo>
                  <a:cubicBezTo>
                    <a:pt x="22" y="176"/>
                    <a:pt x="32" y="171"/>
                    <a:pt x="34" y="171"/>
                  </a:cubicBezTo>
                  <a:cubicBezTo>
                    <a:pt x="42" y="170"/>
                    <a:pt x="50" y="170"/>
                    <a:pt x="58" y="169"/>
                  </a:cubicBezTo>
                  <a:cubicBezTo>
                    <a:pt x="70" y="167"/>
                    <a:pt x="80" y="167"/>
                    <a:pt x="92" y="171"/>
                  </a:cubicBezTo>
                  <a:cubicBezTo>
                    <a:pt x="98" y="170"/>
                    <a:pt x="104" y="170"/>
                    <a:pt x="110" y="169"/>
                  </a:cubicBezTo>
                  <a:cubicBezTo>
                    <a:pt x="114" y="168"/>
                    <a:pt x="122" y="165"/>
                    <a:pt x="122" y="165"/>
                  </a:cubicBezTo>
                  <a:cubicBezTo>
                    <a:pt x="124" y="158"/>
                    <a:pt x="123" y="147"/>
                    <a:pt x="128" y="141"/>
                  </a:cubicBezTo>
                  <a:cubicBezTo>
                    <a:pt x="132" y="136"/>
                    <a:pt x="146" y="133"/>
                    <a:pt x="146" y="133"/>
                  </a:cubicBezTo>
                  <a:cubicBezTo>
                    <a:pt x="142" y="105"/>
                    <a:pt x="143" y="111"/>
                    <a:pt x="110" y="109"/>
                  </a:cubicBezTo>
                  <a:cubicBezTo>
                    <a:pt x="102" y="97"/>
                    <a:pt x="103" y="88"/>
                    <a:pt x="88" y="83"/>
                  </a:cubicBezTo>
                  <a:cubicBezTo>
                    <a:pt x="85" y="79"/>
                    <a:pt x="86" y="72"/>
                    <a:pt x="82" y="69"/>
                  </a:cubicBezTo>
                  <a:cubicBezTo>
                    <a:pt x="77" y="65"/>
                    <a:pt x="69" y="65"/>
                    <a:pt x="64" y="61"/>
                  </a:cubicBezTo>
                  <a:cubicBezTo>
                    <a:pt x="52" y="43"/>
                    <a:pt x="67" y="47"/>
                    <a:pt x="86" y="45"/>
                  </a:cubicBezTo>
                  <a:cubicBezTo>
                    <a:pt x="93" y="25"/>
                    <a:pt x="83" y="29"/>
                    <a:pt x="64" y="31"/>
                  </a:cubicBezTo>
                  <a:cubicBezTo>
                    <a:pt x="62" y="25"/>
                    <a:pt x="70" y="13"/>
                    <a:pt x="70" y="13"/>
                  </a:cubicBezTo>
                  <a:cubicBezTo>
                    <a:pt x="64" y="4"/>
                    <a:pt x="56" y="3"/>
                    <a:pt x="46" y="1"/>
                  </a:cubicBezTo>
                  <a:cubicBezTo>
                    <a:pt x="35" y="3"/>
                    <a:pt x="34" y="0"/>
                    <a:pt x="30" y="9"/>
                  </a:cubicBezTo>
                  <a:cubicBezTo>
                    <a:pt x="25" y="21"/>
                    <a:pt x="29" y="24"/>
                    <a:pt x="24" y="1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1" name="Freeform 51"/>
            <p:cNvSpPr/>
            <p:nvPr/>
          </p:nvSpPr>
          <p:spPr bwMode="invGray">
            <a:xfrm>
              <a:off x="2413" y="2359"/>
              <a:ext cx="69" cy="70"/>
            </a:xfrm>
            <a:custGeom>
              <a:avLst/>
              <a:gdLst/>
              <a:ahLst/>
              <a:cxnLst>
                <a:cxn ang="0">
                  <a:pos x="58" y="6"/>
                </a:cxn>
                <a:cxn ang="0">
                  <a:pos x="82" y="8"/>
                </a:cxn>
                <a:cxn ang="0">
                  <a:pos x="92" y="26"/>
                </a:cxn>
                <a:cxn ang="0">
                  <a:pos x="78" y="48"/>
                </a:cxn>
                <a:cxn ang="0">
                  <a:pos x="46" y="76"/>
                </a:cxn>
                <a:cxn ang="0">
                  <a:pos x="18" y="92"/>
                </a:cxn>
                <a:cxn ang="0">
                  <a:pos x="8" y="72"/>
                </a:cxn>
                <a:cxn ang="0">
                  <a:pos x="20" y="64"/>
                </a:cxn>
                <a:cxn ang="0">
                  <a:pos x="14" y="46"/>
                </a:cxn>
                <a:cxn ang="0">
                  <a:pos x="40" y="28"/>
                </a:cxn>
                <a:cxn ang="0">
                  <a:pos x="58" y="6"/>
                </a:cxn>
              </a:cxnLst>
              <a:rect l="0" t="0" r="r" b="b"/>
              <a:pathLst>
                <a:path w="92" h="92">
                  <a:moveTo>
                    <a:pt x="58" y="6"/>
                  </a:moveTo>
                  <a:cubicBezTo>
                    <a:pt x="67" y="0"/>
                    <a:pt x="73" y="2"/>
                    <a:pt x="82" y="8"/>
                  </a:cubicBezTo>
                  <a:cubicBezTo>
                    <a:pt x="91" y="22"/>
                    <a:pt x="88" y="15"/>
                    <a:pt x="92" y="26"/>
                  </a:cubicBezTo>
                  <a:cubicBezTo>
                    <a:pt x="89" y="36"/>
                    <a:pt x="82" y="37"/>
                    <a:pt x="78" y="48"/>
                  </a:cubicBezTo>
                  <a:cubicBezTo>
                    <a:pt x="85" y="69"/>
                    <a:pt x="60" y="71"/>
                    <a:pt x="46" y="76"/>
                  </a:cubicBezTo>
                  <a:cubicBezTo>
                    <a:pt x="40" y="86"/>
                    <a:pt x="28" y="86"/>
                    <a:pt x="18" y="92"/>
                  </a:cubicBezTo>
                  <a:cubicBezTo>
                    <a:pt x="9" y="90"/>
                    <a:pt x="0" y="84"/>
                    <a:pt x="8" y="72"/>
                  </a:cubicBezTo>
                  <a:cubicBezTo>
                    <a:pt x="11" y="68"/>
                    <a:pt x="20" y="64"/>
                    <a:pt x="20" y="64"/>
                  </a:cubicBezTo>
                  <a:cubicBezTo>
                    <a:pt x="23" y="55"/>
                    <a:pt x="21" y="53"/>
                    <a:pt x="14" y="46"/>
                  </a:cubicBezTo>
                  <a:cubicBezTo>
                    <a:pt x="18" y="30"/>
                    <a:pt x="28" y="36"/>
                    <a:pt x="40" y="28"/>
                  </a:cubicBezTo>
                  <a:cubicBezTo>
                    <a:pt x="56" y="17"/>
                    <a:pt x="50" y="24"/>
                    <a:pt x="58"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2" name="Freeform 52"/>
            <p:cNvSpPr/>
            <p:nvPr/>
          </p:nvSpPr>
          <p:spPr bwMode="invGray">
            <a:xfrm>
              <a:off x="4099" y="3502"/>
              <a:ext cx="474" cy="493"/>
            </a:xfrm>
            <a:custGeom>
              <a:avLst/>
              <a:gdLst/>
              <a:ahLst/>
              <a:cxnLst>
                <a:cxn ang="0">
                  <a:pos x="212" y="11"/>
                </a:cxn>
                <a:cxn ang="0">
                  <a:pos x="176" y="19"/>
                </a:cxn>
                <a:cxn ang="0">
                  <a:pos x="144" y="51"/>
                </a:cxn>
                <a:cxn ang="0">
                  <a:pos x="104" y="59"/>
                </a:cxn>
                <a:cxn ang="0">
                  <a:pos x="84" y="75"/>
                </a:cxn>
                <a:cxn ang="0">
                  <a:pos x="68" y="115"/>
                </a:cxn>
                <a:cxn ang="0">
                  <a:pos x="36" y="167"/>
                </a:cxn>
                <a:cxn ang="0">
                  <a:pos x="0" y="179"/>
                </a:cxn>
                <a:cxn ang="0">
                  <a:pos x="72" y="323"/>
                </a:cxn>
                <a:cxn ang="0">
                  <a:pos x="120" y="427"/>
                </a:cxn>
                <a:cxn ang="0">
                  <a:pos x="144" y="443"/>
                </a:cxn>
                <a:cxn ang="0">
                  <a:pos x="168" y="451"/>
                </a:cxn>
                <a:cxn ang="0">
                  <a:pos x="228" y="431"/>
                </a:cxn>
                <a:cxn ang="0">
                  <a:pos x="252" y="423"/>
                </a:cxn>
                <a:cxn ang="0">
                  <a:pos x="300" y="451"/>
                </a:cxn>
                <a:cxn ang="0">
                  <a:pos x="324" y="527"/>
                </a:cxn>
                <a:cxn ang="0">
                  <a:pos x="336" y="523"/>
                </a:cxn>
                <a:cxn ang="0">
                  <a:pos x="344" y="511"/>
                </a:cxn>
                <a:cxn ang="0">
                  <a:pos x="368" y="547"/>
                </a:cxn>
                <a:cxn ang="0">
                  <a:pos x="404" y="571"/>
                </a:cxn>
                <a:cxn ang="0">
                  <a:pos x="436" y="603"/>
                </a:cxn>
                <a:cxn ang="0">
                  <a:pos x="444" y="615"/>
                </a:cxn>
                <a:cxn ang="0">
                  <a:pos x="456" y="623"/>
                </a:cxn>
                <a:cxn ang="0">
                  <a:pos x="484" y="655"/>
                </a:cxn>
                <a:cxn ang="0">
                  <a:pos x="492" y="631"/>
                </a:cxn>
                <a:cxn ang="0">
                  <a:pos x="540" y="659"/>
                </a:cxn>
                <a:cxn ang="0">
                  <a:pos x="588" y="655"/>
                </a:cxn>
                <a:cxn ang="0">
                  <a:pos x="616" y="531"/>
                </a:cxn>
                <a:cxn ang="0">
                  <a:pos x="632" y="463"/>
                </a:cxn>
                <a:cxn ang="0">
                  <a:pos x="620" y="367"/>
                </a:cxn>
                <a:cxn ang="0">
                  <a:pos x="536" y="271"/>
                </a:cxn>
                <a:cxn ang="0">
                  <a:pos x="528" y="235"/>
                </a:cxn>
                <a:cxn ang="0">
                  <a:pos x="460" y="179"/>
                </a:cxn>
                <a:cxn ang="0">
                  <a:pos x="472" y="155"/>
                </a:cxn>
                <a:cxn ang="0">
                  <a:pos x="456" y="131"/>
                </a:cxn>
                <a:cxn ang="0">
                  <a:pos x="416" y="79"/>
                </a:cxn>
                <a:cxn ang="0">
                  <a:pos x="392" y="31"/>
                </a:cxn>
                <a:cxn ang="0">
                  <a:pos x="388" y="19"/>
                </a:cxn>
                <a:cxn ang="0">
                  <a:pos x="364" y="151"/>
                </a:cxn>
                <a:cxn ang="0">
                  <a:pos x="324" y="115"/>
                </a:cxn>
                <a:cxn ang="0">
                  <a:pos x="292" y="111"/>
                </a:cxn>
                <a:cxn ang="0">
                  <a:pos x="272" y="87"/>
                </a:cxn>
                <a:cxn ang="0">
                  <a:pos x="264" y="63"/>
                </a:cxn>
                <a:cxn ang="0">
                  <a:pos x="276" y="55"/>
                </a:cxn>
                <a:cxn ang="0">
                  <a:pos x="240" y="19"/>
                </a:cxn>
                <a:cxn ang="0">
                  <a:pos x="216" y="11"/>
                </a:cxn>
                <a:cxn ang="0">
                  <a:pos x="204" y="7"/>
                </a:cxn>
                <a:cxn ang="0">
                  <a:pos x="212" y="11"/>
                </a:cxn>
              </a:cxnLst>
              <a:rect l="0" t="0" r="r" b="b"/>
              <a:pathLst>
                <a:path w="633" h="660">
                  <a:moveTo>
                    <a:pt x="212" y="11"/>
                  </a:moveTo>
                  <a:cubicBezTo>
                    <a:pt x="195" y="0"/>
                    <a:pt x="187" y="2"/>
                    <a:pt x="176" y="19"/>
                  </a:cubicBezTo>
                  <a:cubicBezTo>
                    <a:pt x="171" y="61"/>
                    <a:pt x="181" y="88"/>
                    <a:pt x="144" y="51"/>
                  </a:cubicBezTo>
                  <a:cubicBezTo>
                    <a:pt x="131" y="53"/>
                    <a:pt x="115" y="51"/>
                    <a:pt x="104" y="59"/>
                  </a:cubicBezTo>
                  <a:cubicBezTo>
                    <a:pt x="78" y="80"/>
                    <a:pt x="114" y="65"/>
                    <a:pt x="84" y="75"/>
                  </a:cubicBezTo>
                  <a:cubicBezTo>
                    <a:pt x="78" y="94"/>
                    <a:pt x="92" y="107"/>
                    <a:pt x="68" y="115"/>
                  </a:cubicBezTo>
                  <a:cubicBezTo>
                    <a:pt x="55" y="135"/>
                    <a:pt x="59" y="159"/>
                    <a:pt x="36" y="167"/>
                  </a:cubicBezTo>
                  <a:cubicBezTo>
                    <a:pt x="16" y="163"/>
                    <a:pt x="7" y="158"/>
                    <a:pt x="0" y="179"/>
                  </a:cubicBezTo>
                  <a:cubicBezTo>
                    <a:pt x="9" y="232"/>
                    <a:pt x="43" y="279"/>
                    <a:pt x="72" y="323"/>
                  </a:cubicBezTo>
                  <a:cubicBezTo>
                    <a:pt x="82" y="371"/>
                    <a:pt x="85" y="392"/>
                    <a:pt x="120" y="427"/>
                  </a:cubicBezTo>
                  <a:cubicBezTo>
                    <a:pt x="127" y="434"/>
                    <a:pt x="136" y="438"/>
                    <a:pt x="144" y="443"/>
                  </a:cubicBezTo>
                  <a:cubicBezTo>
                    <a:pt x="151" y="448"/>
                    <a:pt x="168" y="451"/>
                    <a:pt x="168" y="451"/>
                  </a:cubicBezTo>
                  <a:cubicBezTo>
                    <a:pt x="188" y="444"/>
                    <a:pt x="208" y="438"/>
                    <a:pt x="228" y="431"/>
                  </a:cubicBezTo>
                  <a:cubicBezTo>
                    <a:pt x="236" y="428"/>
                    <a:pt x="252" y="423"/>
                    <a:pt x="252" y="423"/>
                  </a:cubicBezTo>
                  <a:cubicBezTo>
                    <a:pt x="271" y="429"/>
                    <a:pt x="281" y="445"/>
                    <a:pt x="300" y="451"/>
                  </a:cubicBezTo>
                  <a:cubicBezTo>
                    <a:pt x="320" y="471"/>
                    <a:pt x="315" y="500"/>
                    <a:pt x="324" y="527"/>
                  </a:cubicBezTo>
                  <a:cubicBezTo>
                    <a:pt x="328" y="526"/>
                    <a:pt x="333" y="526"/>
                    <a:pt x="336" y="523"/>
                  </a:cubicBezTo>
                  <a:cubicBezTo>
                    <a:pt x="340" y="520"/>
                    <a:pt x="339" y="511"/>
                    <a:pt x="344" y="511"/>
                  </a:cubicBezTo>
                  <a:cubicBezTo>
                    <a:pt x="358" y="511"/>
                    <a:pt x="362" y="541"/>
                    <a:pt x="368" y="547"/>
                  </a:cubicBezTo>
                  <a:cubicBezTo>
                    <a:pt x="378" y="557"/>
                    <a:pt x="392" y="563"/>
                    <a:pt x="404" y="571"/>
                  </a:cubicBezTo>
                  <a:cubicBezTo>
                    <a:pt x="418" y="580"/>
                    <a:pt x="422" y="594"/>
                    <a:pt x="436" y="603"/>
                  </a:cubicBezTo>
                  <a:cubicBezTo>
                    <a:pt x="439" y="607"/>
                    <a:pt x="441" y="612"/>
                    <a:pt x="444" y="615"/>
                  </a:cubicBezTo>
                  <a:cubicBezTo>
                    <a:pt x="447" y="618"/>
                    <a:pt x="453" y="619"/>
                    <a:pt x="456" y="623"/>
                  </a:cubicBezTo>
                  <a:cubicBezTo>
                    <a:pt x="489" y="660"/>
                    <a:pt x="457" y="637"/>
                    <a:pt x="484" y="655"/>
                  </a:cubicBezTo>
                  <a:cubicBezTo>
                    <a:pt x="487" y="647"/>
                    <a:pt x="485" y="626"/>
                    <a:pt x="492" y="631"/>
                  </a:cubicBezTo>
                  <a:cubicBezTo>
                    <a:pt x="509" y="642"/>
                    <a:pt x="522" y="653"/>
                    <a:pt x="540" y="659"/>
                  </a:cubicBezTo>
                  <a:cubicBezTo>
                    <a:pt x="557" y="642"/>
                    <a:pt x="567" y="648"/>
                    <a:pt x="588" y="655"/>
                  </a:cubicBezTo>
                  <a:cubicBezTo>
                    <a:pt x="611" y="621"/>
                    <a:pt x="573" y="560"/>
                    <a:pt x="616" y="531"/>
                  </a:cubicBezTo>
                  <a:cubicBezTo>
                    <a:pt x="632" y="507"/>
                    <a:pt x="629" y="496"/>
                    <a:pt x="632" y="463"/>
                  </a:cubicBezTo>
                  <a:cubicBezTo>
                    <a:pt x="630" y="440"/>
                    <a:pt x="633" y="390"/>
                    <a:pt x="620" y="367"/>
                  </a:cubicBezTo>
                  <a:cubicBezTo>
                    <a:pt x="600" y="332"/>
                    <a:pt x="565" y="300"/>
                    <a:pt x="536" y="271"/>
                  </a:cubicBezTo>
                  <a:cubicBezTo>
                    <a:pt x="532" y="259"/>
                    <a:pt x="532" y="247"/>
                    <a:pt x="528" y="235"/>
                  </a:cubicBezTo>
                  <a:cubicBezTo>
                    <a:pt x="525" y="225"/>
                    <a:pt x="474" y="188"/>
                    <a:pt x="460" y="179"/>
                  </a:cubicBezTo>
                  <a:cubicBezTo>
                    <a:pt x="463" y="171"/>
                    <a:pt x="471" y="164"/>
                    <a:pt x="472" y="155"/>
                  </a:cubicBezTo>
                  <a:cubicBezTo>
                    <a:pt x="474" y="144"/>
                    <a:pt x="461" y="137"/>
                    <a:pt x="456" y="131"/>
                  </a:cubicBezTo>
                  <a:cubicBezTo>
                    <a:pt x="435" y="106"/>
                    <a:pt x="451" y="88"/>
                    <a:pt x="416" y="79"/>
                  </a:cubicBezTo>
                  <a:cubicBezTo>
                    <a:pt x="395" y="48"/>
                    <a:pt x="403" y="64"/>
                    <a:pt x="392" y="31"/>
                  </a:cubicBezTo>
                  <a:cubicBezTo>
                    <a:pt x="391" y="27"/>
                    <a:pt x="388" y="19"/>
                    <a:pt x="388" y="19"/>
                  </a:cubicBezTo>
                  <a:cubicBezTo>
                    <a:pt x="362" y="58"/>
                    <a:pt x="379" y="107"/>
                    <a:pt x="364" y="151"/>
                  </a:cubicBezTo>
                  <a:cubicBezTo>
                    <a:pt x="344" y="144"/>
                    <a:pt x="344" y="120"/>
                    <a:pt x="324" y="115"/>
                  </a:cubicBezTo>
                  <a:cubicBezTo>
                    <a:pt x="314" y="112"/>
                    <a:pt x="303" y="112"/>
                    <a:pt x="292" y="111"/>
                  </a:cubicBezTo>
                  <a:cubicBezTo>
                    <a:pt x="284" y="103"/>
                    <a:pt x="276" y="97"/>
                    <a:pt x="272" y="87"/>
                  </a:cubicBezTo>
                  <a:cubicBezTo>
                    <a:pt x="269" y="79"/>
                    <a:pt x="264" y="63"/>
                    <a:pt x="264" y="63"/>
                  </a:cubicBezTo>
                  <a:cubicBezTo>
                    <a:pt x="268" y="60"/>
                    <a:pt x="273" y="58"/>
                    <a:pt x="276" y="55"/>
                  </a:cubicBezTo>
                  <a:cubicBezTo>
                    <a:pt x="300" y="31"/>
                    <a:pt x="256" y="24"/>
                    <a:pt x="240" y="19"/>
                  </a:cubicBezTo>
                  <a:cubicBezTo>
                    <a:pt x="232" y="16"/>
                    <a:pt x="224" y="14"/>
                    <a:pt x="216" y="11"/>
                  </a:cubicBezTo>
                  <a:cubicBezTo>
                    <a:pt x="212" y="10"/>
                    <a:pt x="200" y="5"/>
                    <a:pt x="204" y="7"/>
                  </a:cubicBezTo>
                  <a:cubicBezTo>
                    <a:pt x="207" y="8"/>
                    <a:pt x="209" y="10"/>
                    <a:pt x="212" y="1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3" name="Freeform 53"/>
            <p:cNvSpPr/>
            <p:nvPr/>
          </p:nvSpPr>
          <p:spPr bwMode="invGray">
            <a:xfrm>
              <a:off x="4246" y="3241"/>
              <a:ext cx="319" cy="207"/>
            </a:xfrm>
            <a:custGeom>
              <a:avLst/>
              <a:gdLst/>
              <a:ahLst/>
              <a:cxnLst>
                <a:cxn ang="0">
                  <a:pos x="84" y="60"/>
                </a:cxn>
                <a:cxn ang="0">
                  <a:pos x="68" y="36"/>
                </a:cxn>
                <a:cxn ang="0">
                  <a:pos x="64" y="16"/>
                </a:cxn>
                <a:cxn ang="0">
                  <a:pos x="52" y="12"/>
                </a:cxn>
                <a:cxn ang="0">
                  <a:pos x="16" y="16"/>
                </a:cxn>
                <a:cxn ang="0">
                  <a:pos x="44" y="40"/>
                </a:cxn>
                <a:cxn ang="0">
                  <a:pos x="48" y="52"/>
                </a:cxn>
                <a:cxn ang="0">
                  <a:pos x="24" y="68"/>
                </a:cxn>
                <a:cxn ang="0">
                  <a:pos x="88" y="92"/>
                </a:cxn>
                <a:cxn ang="0">
                  <a:pos x="124" y="112"/>
                </a:cxn>
                <a:cxn ang="0">
                  <a:pos x="128" y="124"/>
                </a:cxn>
                <a:cxn ang="0">
                  <a:pos x="140" y="132"/>
                </a:cxn>
                <a:cxn ang="0">
                  <a:pos x="148" y="156"/>
                </a:cxn>
                <a:cxn ang="0">
                  <a:pos x="132" y="196"/>
                </a:cxn>
                <a:cxn ang="0">
                  <a:pos x="180" y="188"/>
                </a:cxn>
                <a:cxn ang="0">
                  <a:pos x="192" y="216"/>
                </a:cxn>
                <a:cxn ang="0">
                  <a:pos x="216" y="224"/>
                </a:cxn>
                <a:cxn ang="0">
                  <a:pos x="228" y="228"/>
                </a:cxn>
                <a:cxn ang="0">
                  <a:pos x="252" y="224"/>
                </a:cxn>
                <a:cxn ang="0">
                  <a:pos x="276" y="196"/>
                </a:cxn>
                <a:cxn ang="0">
                  <a:pos x="336" y="252"/>
                </a:cxn>
                <a:cxn ang="0">
                  <a:pos x="364" y="280"/>
                </a:cxn>
                <a:cxn ang="0">
                  <a:pos x="360" y="224"/>
                </a:cxn>
                <a:cxn ang="0">
                  <a:pos x="336" y="200"/>
                </a:cxn>
                <a:cxn ang="0">
                  <a:pos x="372" y="168"/>
                </a:cxn>
                <a:cxn ang="0">
                  <a:pos x="408" y="156"/>
                </a:cxn>
                <a:cxn ang="0">
                  <a:pos x="420" y="152"/>
                </a:cxn>
                <a:cxn ang="0">
                  <a:pos x="424" y="140"/>
                </a:cxn>
                <a:cxn ang="0">
                  <a:pos x="356" y="148"/>
                </a:cxn>
                <a:cxn ang="0">
                  <a:pos x="304" y="140"/>
                </a:cxn>
                <a:cxn ang="0">
                  <a:pos x="300" y="128"/>
                </a:cxn>
                <a:cxn ang="0">
                  <a:pos x="292" y="116"/>
                </a:cxn>
                <a:cxn ang="0">
                  <a:pos x="220" y="80"/>
                </a:cxn>
                <a:cxn ang="0">
                  <a:pos x="160" y="60"/>
                </a:cxn>
                <a:cxn ang="0">
                  <a:pos x="136" y="52"/>
                </a:cxn>
                <a:cxn ang="0">
                  <a:pos x="80" y="52"/>
                </a:cxn>
                <a:cxn ang="0">
                  <a:pos x="68" y="32"/>
                </a:cxn>
                <a:cxn ang="0">
                  <a:pos x="68" y="0"/>
                </a:cxn>
              </a:cxnLst>
              <a:rect l="0" t="0" r="r" b="b"/>
              <a:pathLst>
                <a:path w="426" h="280">
                  <a:moveTo>
                    <a:pt x="84" y="60"/>
                  </a:moveTo>
                  <a:cubicBezTo>
                    <a:pt x="79" y="52"/>
                    <a:pt x="70" y="45"/>
                    <a:pt x="68" y="36"/>
                  </a:cubicBezTo>
                  <a:cubicBezTo>
                    <a:pt x="67" y="29"/>
                    <a:pt x="68" y="22"/>
                    <a:pt x="64" y="16"/>
                  </a:cubicBezTo>
                  <a:cubicBezTo>
                    <a:pt x="62" y="12"/>
                    <a:pt x="56" y="13"/>
                    <a:pt x="52" y="12"/>
                  </a:cubicBezTo>
                  <a:cubicBezTo>
                    <a:pt x="40" y="13"/>
                    <a:pt x="27" y="11"/>
                    <a:pt x="16" y="16"/>
                  </a:cubicBezTo>
                  <a:cubicBezTo>
                    <a:pt x="0" y="24"/>
                    <a:pt x="43" y="40"/>
                    <a:pt x="44" y="40"/>
                  </a:cubicBezTo>
                  <a:cubicBezTo>
                    <a:pt x="45" y="44"/>
                    <a:pt x="50" y="49"/>
                    <a:pt x="48" y="52"/>
                  </a:cubicBezTo>
                  <a:cubicBezTo>
                    <a:pt x="42" y="60"/>
                    <a:pt x="24" y="68"/>
                    <a:pt x="24" y="68"/>
                  </a:cubicBezTo>
                  <a:cubicBezTo>
                    <a:pt x="38" y="88"/>
                    <a:pt x="65" y="89"/>
                    <a:pt x="88" y="92"/>
                  </a:cubicBezTo>
                  <a:cubicBezTo>
                    <a:pt x="101" y="96"/>
                    <a:pt x="124" y="112"/>
                    <a:pt x="124" y="112"/>
                  </a:cubicBezTo>
                  <a:cubicBezTo>
                    <a:pt x="125" y="116"/>
                    <a:pt x="125" y="121"/>
                    <a:pt x="128" y="124"/>
                  </a:cubicBezTo>
                  <a:cubicBezTo>
                    <a:pt x="131" y="128"/>
                    <a:pt x="137" y="128"/>
                    <a:pt x="140" y="132"/>
                  </a:cubicBezTo>
                  <a:cubicBezTo>
                    <a:pt x="144" y="139"/>
                    <a:pt x="148" y="156"/>
                    <a:pt x="148" y="156"/>
                  </a:cubicBezTo>
                  <a:cubicBezTo>
                    <a:pt x="144" y="171"/>
                    <a:pt x="137" y="181"/>
                    <a:pt x="132" y="196"/>
                  </a:cubicBezTo>
                  <a:cubicBezTo>
                    <a:pt x="151" y="209"/>
                    <a:pt x="167" y="207"/>
                    <a:pt x="180" y="188"/>
                  </a:cubicBezTo>
                  <a:cubicBezTo>
                    <a:pt x="182" y="196"/>
                    <a:pt x="184" y="211"/>
                    <a:pt x="192" y="216"/>
                  </a:cubicBezTo>
                  <a:cubicBezTo>
                    <a:pt x="199" y="220"/>
                    <a:pt x="208" y="221"/>
                    <a:pt x="216" y="224"/>
                  </a:cubicBezTo>
                  <a:cubicBezTo>
                    <a:pt x="220" y="225"/>
                    <a:pt x="228" y="228"/>
                    <a:pt x="228" y="228"/>
                  </a:cubicBezTo>
                  <a:cubicBezTo>
                    <a:pt x="236" y="227"/>
                    <a:pt x="245" y="228"/>
                    <a:pt x="252" y="224"/>
                  </a:cubicBezTo>
                  <a:cubicBezTo>
                    <a:pt x="269" y="216"/>
                    <a:pt x="252" y="204"/>
                    <a:pt x="276" y="196"/>
                  </a:cubicBezTo>
                  <a:cubicBezTo>
                    <a:pt x="296" y="209"/>
                    <a:pt x="322" y="231"/>
                    <a:pt x="336" y="252"/>
                  </a:cubicBezTo>
                  <a:cubicBezTo>
                    <a:pt x="354" y="280"/>
                    <a:pt x="343" y="273"/>
                    <a:pt x="364" y="280"/>
                  </a:cubicBezTo>
                  <a:cubicBezTo>
                    <a:pt x="376" y="262"/>
                    <a:pt x="375" y="241"/>
                    <a:pt x="360" y="224"/>
                  </a:cubicBezTo>
                  <a:cubicBezTo>
                    <a:pt x="352" y="216"/>
                    <a:pt x="336" y="200"/>
                    <a:pt x="336" y="200"/>
                  </a:cubicBezTo>
                  <a:cubicBezTo>
                    <a:pt x="323" y="162"/>
                    <a:pt x="322" y="174"/>
                    <a:pt x="372" y="168"/>
                  </a:cubicBezTo>
                  <a:cubicBezTo>
                    <a:pt x="384" y="164"/>
                    <a:pt x="396" y="160"/>
                    <a:pt x="408" y="156"/>
                  </a:cubicBezTo>
                  <a:cubicBezTo>
                    <a:pt x="412" y="155"/>
                    <a:pt x="420" y="152"/>
                    <a:pt x="420" y="152"/>
                  </a:cubicBezTo>
                  <a:cubicBezTo>
                    <a:pt x="421" y="148"/>
                    <a:pt x="426" y="144"/>
                    <a:pt x="424" y="140"/>
                  </a:cubicBezTo>
                  <a:cubicBezTo>
                    <a:pt x="420" y="131"/>
                    <a:pt x="365" y="146"/>
                    <a:pt x="356" y="148"/>
                  </a:cubicBezTo>
                  <a:cubicBezTo>
                    <a:pt x="339" y="146"/>
                    <a:pt x="316" y="152"/>
                    <a:pt x="304" y="140"/>
                  </a:cubicBezTo>
                  <a:cubicBezTo>
                    <a:pt x="301" y="137"/>
                    <a:pt x="302" y="132"/>
                    <a:pt x="300" y="128"/>
                  </a:cubicBezTo>
                  <a:cubicBezTo>
                    <a:pt x="298" y="124"/>
                    <a:pt x="296" y="119"/>
                    <a:pt x="292" y="116"/>
                  </a:cubicBezTo>
                  <a:cubicBezTo>
                    <a:pt x="272" y="98"/>
                    <a:pt x="244" y="91"/>
                    <a:pt x="220" y="80"/>
                  </a:cubicBezTo>
                  <a:cubicBezTo>
                    <a:pt x="201" y="72"/>
                    <a:pt x="180" y="67"/>
                    <a:pt x="160" y="60"/>
                  </a:cubicBezTo>
                  <a:cubicBezTo>
                    <a:pt x="152" y="57"/>
                    <a:pt x="136" y="52"/>
                    <a:pt x="136" y="52"/>
                  </a:cubicBezTo>
                  <a:cubicBezTo>
                    <a:pt x="113" y="55"/>
                    <a:pt x="98" y="64"/>
                    <a:pt x="80" y="52"/>
                  </a:cubicBezTo>
                  <a:cubicBezTo>
                    <a:pt x="70" y="38"/>
                    <a:pt x="74" y="44"/>
                    <a:pt x="68" y="32"/>
                  </a:cubicBezTo>
                  <a:lnTo>
                    <a:pt x="68" y="0"/>
                  </a:lnTo>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4" name="Freeform 54"/>
            <p:cNvSpPr/>
            <p:nvPr/>
          </p:nvSpPr>
          <p:spPr bwMode="invGray">
            <a:xfrm>
              <a:off x="4255" y="3243"/>
              <a:ext cx="311" cy="211"/>
            </a:xfrm>
            <a:custGeom>
              <a:avLst/>
              <a:gdLst/>
              <a:ahLst/>
              <a:cxnLst>
                <a:cxn ang="0">
                  <a:pos x="0" y="1"/>
                </a:cxn>
                <a:cxn ang="0">
                  <a:pos x="20" y="37"/>
                </a:cxn>
                <a:cxn ang="0">
                  <a:pos x="28" y="49"/>
                </a:cxn>
                <a:cxn ang="0">
                  <a:pos x="84" y="89"/>
                </a:cxn>
                <a:cxn ang="0">
                  <a:pos x="120" y="113"/>
                </a:cxn>
                <a:cxn ang="0">
                  <a:pos x="132" y="121"/>
                </a:cxn>
                <a:cxn ang="0">
                  <a:pos x="136" y="169"/>
                </a:cxn>
                <a:cxn ang="0">
                  <a:pos x="116" y="201"/>
                </a:cxn>
                <a:cxn ang="0">
                  <a:pos x="136" y="197"/>
                </a:cxn>
                <a:cxn ang="0">
                  <a:pos x="148" y="189"/>
                </a:cxn>
                <a:cxn ang="0">
                  <a:pos x="160" y="201"/>
                </a:cxn>
                <a:cxn ang="0">
                  <a:pos x="184" y="217"/>
                </a:cxn>
                <a:cxn ang="0">
                  <a:pos x="208" y="233"/>
                </a:cxn>
                <a:cxn ang="0">
                  <a:pos x="240" y="221"/>
                </a:cxn>
                <a:cxn ang="0">
                  <a:pos x="248" y="197"/>
                </a:cxn>
                <a:cxn ang="0">
                  <a:pos x="268" y="201"/>
                </a:cxn>
                <a:cxn ang="0">
                  <a:pos x="292" y="209"/>
                </a:cxn>
                <a:cxn ang="0">
                  <a:pos x="340" y="281"/>
                </a:cxn>
                <a:cxn ang="0">
                  <a:pos x="356" y="277"/>
                </a:cxn>
                <a:cxn ang="0">
                  <a:pos x="352" y="253"/>
                </a:cxn>
                <a:cxn ang="0">
                  <a:pos x="316" y="197"/>
                </a:cxn>
                <a:cxn ang="0">
                  <a:pos x="360" y="173"/>
                </a:cxn>
                <a:cxn ang="0">
                  <a:pos x="408" y="145"/>
                </a:cxn>
                <a:cxn ang="0">
                  <a:pos x="409" y="120"/>
                </a:cxn>
                <a:cxn ang="0">
                  <a:pos x="367" y="138"/>
                </a:cxn>
                <a:cxn ang="0">
                  <a:pos x="308" y="137"/>
                </a:cxn>
                <a:cxn ang="0">
                  <a:pos x="264" y="97"/>
                </a:cxn>
                <a:cxn ang="0">
                  <a:pos x="180" y="61"/>
                </a:cxn>
                <a:cxn ang="0">
                  <a:pos x="132" y="33"/>
                </a:cxn>
                <a:cxn ang="0">
                  <a:pos x="92" y="41"/>
                </a:cxn>
                <a:cxn ang="0">
                  <a:pos x="76" y="57"/>
                </a:cxn>
                <a:cxn ang="0">
                  <a:pos x="56" y="17"/>
                </a:cxn>
                <a:cxn ang="0">
                  <a:pos x="0" y="1"/>
                </a:cxn>
              </a:cxnLst>
              <a:rect l="0" t="0" r="r" b="b"/>
              <a:pathLst>
                <a:path w="416" h="282">
                  <a:moveTo>
                    <a:pt x="0" y="1"/>
                  </a:moveTo>
                  <a:cubicBezTo>
                    <a:pt x="7" y="22"/>
                    <a:pt x="2" y="9"/>
                    <a:pt x="20" y="37"/>
                  </a:cubicBezTo>
                  <a:cubicBezTo>
                    <a:pt x="23" y="41"/>
                    <a:pt x="28" y="49"/>
                    <a:pt x="28" y="49"/>
                  </a:cubicBezTo>
                  <a:cubicBezTo>
                    <a:pt x="5" y="84"/>
                    <a:pt x="65" y="78"/>
                    <a:pt x="84" y="89"/>
                  </a:cubicBezTo>
                  <a:cubicBezTo>
                    <a:pt x="97" y="96"/>
                    <a:pt x="108" y="105"/>
                    <a:pt x="120" y="113"/>
                  </a:cubicBezTo>
                  <a:cubicBezTo>
                    <a:pt x="124" y="116"/>
                    <a:pt x="132" y="121"/>
                    <a:pt x="132" y="121"/>
                  </a:cubicBezTo>
                  <a:cubicBezTo>
                    <a:pt x="138" y="138"/>
                    <a:pt x="132" y="151"/>
                    <a:pt x="136" y="169"/>
                  </a:cubicBezTo>
                  <a:cubicBezTo>
                    <a:pt x="107" y="188"/>
                    <a:pt x="110" y="176"/>
                    <a:pt x="116" y="201"/>
                  </a:cubicBezTo>
                  <a:cubicBezTo>
                    <a:pt x="123" y="200"/>
                    <a:pt x="130" y="199"/>
                    <a:pt x="136" y="197"/>
                  </a:cubicBezTo>
                  <a:cubicBezTo>
                    <a:pt x="141" y="195"/>
                    <a:pt x="143" y="188"/>
                    <a:pt x="148" y="189"/>
                  </a:cubicBezTo>
                  <a:cubicBezTo>
                    <a:pt x="154" y="190"/>
                    <a:pt x="156" y="198"/>
                    <a:pt x="160" y="201"/>
                  </a:cubicBezTo>
                  <a:cubicBezTo>
                    <a:pt x="168" y="207"/>
                    <a:pt x="176" y="212"/>
                    <a:pt x="184" y="217"/>
                  </a:cubicBezTo>
                  <a:cubicBezTo>
                    <a:pt x="192" y="222"/>
                    <a:pt x="208" y="233"/>
                    <a:pt x="208" y="233"/>
                  </a:cubicBezTo>
                  <a:cubicBezTo>
                    <a:pt x="216" y="231"/>
                    <a:pt x="234" y="230"/>
                    <a:pt x="240" y="221"/>
                  </a:cubicBezTo>
                  <a:cubicBezTo>
                    <a:pt x="244" y="214"/>
                    <a:pt x="248" y="197"/>
                    <a:pt x="248" y="197"/>
                  </a:cubicBezTo>
                  <a:cubicBezTo>
                    <a:pt x="255" y="198"/>
                    <a:pt x="261" y="199"/>
                    <a:pt x="268" y="201"/>
                  </a:cubicBezTo>
                  <a:cubicBezTo>
                    <a:pt x="276" y="203"/>
                    <a:pt x="292" y="209"/>
                    <a:pt x="292" y="209"/>
                  </a:cubicBezTo>
                  <a:cubicBezTo>
                    <a:pt x="298" y="242"/>
                    <a:pt x="306" y="270"/>
                    <a:pt x="340" y="281"/>
                  </a:cubicBezTo>
                  <a:cubicBezTo>
                    <a:pt x="345" y="280"/>
                    <a:pt x="354" y="282"/>
                    <a:pt x="356" y="277"/>
                  </a:cubicBezTo>
                  <a:cubicBezTo>
                    <a:pt x="359" y="270"/>
                    <a:pt x="355" y="260"/>
                    <a:pt x="352" y="253"/>
                  </a:cubicBezTo>
                  <a:cubicBezTo>
                    <a:pt x="346" y="238"/>
                    <a:pt x="329" y="206"/>
                    <a:pt x="316" y="197"/>
                  </a:cubicBezTo>
                  <a:cubicBezTo>
                    <a:pt x="307" y="170"/>
                    <a:pt x="339" y="175"/>
                    <a:pt x="360" y="173"/>
                  </a:cubicBezTo>
                  <a:cubicBezTo>
                    <a:pt x="383" y="165"/>
                    <a:pt x="391" y="162"/>
                    <a:pt x="408" y="145"/>
                  </a:cubicBezTo>
                  <a:cubicBezTo>
                    <a:pt x="412" y="140"/>
                    <a:pt x="416" y="121"/>
                    <a:pt x="409" y="120"/>
                  </a:cubicBezTo>
                  <a:cubicBezTo>
                    <a:pt x="402" y="119"/>
                    <a:pt x="384" y="135"/>
                    <a:pt x="367" y="138"/>
                  </a:cubicBezTo>
                  <a:cubicBezTo>
                    <a:pt x="350" y="141"/>
                    <a:pt x="325" y="144"/>
                    <a:pt x="308" y="137"/>
                  </a:cubicBezTo>
                  <a:cubicBezTo>
                    <a:pt x="286" y="130"/>
                    <a:pt x="284" y="111"/>
                    <a:pt x="264" y="97"/>
                  </a:cubicBezTo>
                  <a:cubicBezTo>
                    <a:pt x="238" y="80"/>
                    <a:pt x="203" y="76"/>
                    <a:pt x="180" y="61"/>
                  </a:cubicBezTo>
                  <a:cubicBezTo>
                    <a:pt x="163" y="50"/>
                    <a:pt x="150" y="39"/>
                    <a:pt x="132" y="33"/>
                  </a:cubicBezTo>
                  <a:cubicBezTo>
                    <a:pt x="119" y="35"/>
                    <a:pt x="102" y="31"/>
                    <a:pt x="92" y="41"/>
                  </a:cubicBezTo>
                  <a:cubicBezTo>
                    <a:pt x="71" y="62"/>
                    <a:pt x="108" y="46"/>
                    <a:pt x="76" y="57"/>
                  </a:cubicBezTo>
                  <a:cubicBezTo>
                    <a:pt x="52" y="49"/>
                    <a:pt x="67" y="38"/>
                    <a:pt x="56" y="17"/>
                  </a:cubicBezTo>
                  <a:cubicBezTo>
                    <a:pt x="48" y="0"/>
                    <a:pt x="16" y="1"/>
                    <a:pt x="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5" name="Freeform 55"/>
            <p:cNvSpPr/>
            <p:nvPr/>
          </p:nvSpPr>
          <p:spPr bwMode="invGray">
            <a:xfrm>
              <a:off x="4485" y="4013"/>
              <a:ext cx="44" cy="58"/>
            </a:xfrm>
            <a:custGeom>
              <a:avLst/>
              <a:gdLst/>
              <a:ahLst/>
              <a:cxnLst>
                <a:cxn ang="0">
                  <a:pos x="32" y="18"/>
                </a:cxn>
                <a:cxn ang="0">
                  <a:pos x="0" y="18"/>
                </a:cxn>
                <a:cxn ang="0">
                  <a:pos x="20" y="42"/>
                </a:cxn>
                <a:cxn ang="0">
                  <a:pos x="28" y="66"/>
                </a:cxn>
                <a:cxn ang="0">
                  <a:pos x="32" y="78"/>
                </a:cxn>
                <a:cxn ang="0">
                  <a:pos x="60" y="50"/>
                </a:cxn>
                <a:cxn ang="0">
                  <a:pos x="32" y="18"/>
                </a:cxn>
              </a:cxnLst>
              <a:rect l="0" t="0" r="r" b="b"/>
              <a:pathLst>
                <a:path w="60" h="78">
                  <a:moveTo>
                    <a:pt x="32" y="18"/>
                  </a:moveTo>
                  <a:cubicBezTo>
                    <a:pt x="16" y="7"/>
                    <a:pt x="12" y="0"/>
                    <a:pt x="0" y="18"/>
                  </a:cubicBezTo>
                  <a:cubicBezTo>
                    <a:pt x="6" y="27"/>
                    <a:pt x="15" y="33"/>
                    <a:pt x="20" y="42"/>
                  </a:cubicBezTo>
                  <a:cubicBezTo>
                    <a:pt x="24" y="49"/>
                    <a:pt x="25" y="58"/>
                    <a:pt x="28" y="66"/>
                  </a:cubicBezTo>
                  <a:cubicBezTo>
                    <a:pt x="29" y="70"/>
                    <a:pt x="32" y="78"/>
                    <a:pt x="32" y="78"/>
                  </a:cubicBezTo>
                  <a:cubicBezTo>
                    <a:pt x="52" y="73"/>
                    <a:pt x="54" y="69"/>
                    <a:pt x="60" y="50"/>
                  </a:cubicBezTo>
                  <a:cubicBezTo>
                    <a:pt x="54" y="32"/>
                    <a:pt x="50" y="27"/>
                    <a:pt x="32" y="18"/>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6" name="Freeform 56"/>
            <p:cNvSpPr/>
            <p:nvPr/>
          </p:nvSpPr>
          <p:spPr bwMode="invGray">
            <a:xfrm>
              <a:off x="4621" y="3923"/>
              <a:ext cx="163" cy="84"/>
            </a:xfrm>
            <a:custGeom>
              <a:avLst/>
              <a:gdLst/>
              <a:ahLst/>
              <a:cxnLst>
                <a:cxn ang="0">
                  <a:pos x="47" y="73"/>
                </a:cxn>
                <a:cxn ang="0">
                  <a:pos x="39" y="61"/>
                </a:cxn>
                <a:cxn ang="0">
                  <a:pos x="15" y="69"/>
                </a:cxn>
                <a:cxn ang="0">
                  <a:pos x="39" y="113"/>
                </a:cxn>
                <a:cxn ang="0">
                  <a:pos x="123" y="89"/>
                </a:cxn>
                <a:cxn ang="0">
                  <a:pos x="147" y="73"/>
                </a:cxn>
                <a:cxn ang="0">
                  <a:pos x="171" y="65"/>
                </a:cxn>
                <a:cxn ang="0">
                  <a:pos x="219" y="19"/>
                </a:cxn>
                <a:cxn ang="0">
                  <a:pos x="210" y="0"/>
                </a:cxn>
                <a:cxn ang="0">
                  <a:pos x="179" y="17"/>
                </a:cxn>
                <a:cxn ang="0">
                  <a:pos x="107" y="41"/>
                </a:cxn>
                <a:cxn ang="0">
                  <a:pos x="83" y="45"/>
                </a:cxn>
                <a:cxn ang="0">
                  <a:pos x="59" y="53"/>
                </a:cxn>
                <a:cxn ang="0">
                  <a:pos x="47" y="73"/>
                </a:cxn>
              </a:cxnLst>
              <a:rect l="0" t="0" r="r" b="b"/>
              <a:pathLst>
                <a:path w="219" h="113">
                  <a:moveTo>
                    <a:pt x="47" y="73"/>
                  </a:moveTo>
                  <a:cubicBezTo>
                    <a:pt x="44" y="69"/>
                    <a:pt x="44" y="62"/>
                    <a:pt x="39" y="61"/>
                  </a:cubicBezTo>
                  <a:cubicBezTo>
                    <a:pt x="31" y="60"/>
                    <a:pt x="15" y="69"/>
                    <a:pt x="15" y="69"/>
                  </a:cubicBezTo>
                  <a:cubicBezTo>
                    <a:pt x="0" y="91"/>
                    <a:pt x="20" y="101"/>
                    <a:pt x="39" y="113"/>
                  </a:cubicBezTo>
                  <a:cubicBezTo>
                    <a:pt x="67" y="107"/>
                    <a:pt x="96" y="98"/>
                    <a:pt x="123" y="89"/>
                  </a:cubicBezTo>
                  <a:cubicBezTo>
                    <a:pt x="132" y="86"/>
                    <a:pt x="139" y="78"/>
                    <a:pt x="147" y="73"/>
                  </a:cubicBezTo>
                  <a:cubicBezTo>
                    <a:pt x="154" y="68"/>
                    <a:pt x="171" y="65"/>
                    <a:pt x="171" y="65"/>
                  </a:cubicBezTo>
                  <a:cubicBezTo>
                    <a:pt x="186" y="50"/>
                    <a:pt x="207" y="36"/>
                    <a:pt x="219" y="19"/>
                  </a:cubicBezTo>
                  <a:cubicBezTo>
                    <a:pt x="215" y="16"/>
                    <a:pt x="215" y="0"/>
                    <a:pt x="210" y="0"/>
                  </a:cubicBezTo>
                  <a:cubicBezTo>
                    <a:pt x="205" y="0"/>
                    <a:pt x="183" y="15"/>
                    <a:pt x="179" y="17"/>
                  </a:cubicBezTo>
                  <a:cubicBezTo>
                    <a:pt x="159" y="26"/>
                    <a:pt x="129" y="37"/>
                    <a:pt x="107" y="41"/>
                  </a:cubicBezTo>
                  <a:cubicBezTo>
                    <a:pt x="99" y="42"/>
                    <a:pt x="91" y="43"/>
                    <a:pt x="83" y="45"/>
                  </a:cubicBezTo>
                  <a:cubicBezTo>
                    <a:pt x="75" y="47"/>
                    <a:pt x="59" y="53"/>
                    <a:pt x="59" y="53"/>
                  </a:cubicBezTo>
                  <a:cubicBezTo>
                    <a:pt x="49" y="67"/>
                    <a:pt x="53" y="61"/>
                    <a:pt x="47" y="7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7" name="Freeform 57"/>
            <p:cNvSpPr/>
            <p:nvPr/>
          </p:nvSpPr>
          <p:spPr bwMode="invGray">
            <a:xfrm>
              <a:off x="4791" y="3872"/>
              <a:ext cx="104" cy="93"/>
            </a:xfrm>
            <a:custGeom>
              <a:avLst/>
              <a:gdLst/>
              <a:ahLst/>
              <a:cxnLst>
                <a:cxn ang="0">
                  <a:pos x="12" y="60"/>
                </a:cxn>
                <a:cxn ang="0">
                  <a:pos x="8" y="84"/>
                </a:cxn>
                <a:cxn ang="0">
                  <a:pos x="0" y="108"/>
                </a:cxn>
                <a:cxn ang="0">
                  <a:pos x="36" y="116"/>
                </a:cxn>
                <a:cxn ang="0">
                  <a:pos x="52" y="96"/>
                </a:cxn>
                <a:cxn ang="0">
                  <a:pos x="124" y="68"/>
                </a:cxn>
                <a:cxn ang="0">
                  <a:pos x="136" y="44"/>
                </a:cxn>
                <a:cxn ang="0">
                  <a:pos x="112" y="28"/>
                </a:cxn>
                <a:cxn ang="0">
                  <a:pos x="100" y="20"/>
                </a:cxn>
                <a:cxn ang="0">
                  <a:pos x="64" y="12"/>
                </a:cxn>
                <a:cxn ang="0">
                  <a:pos x="52" y="36"/>
                </a:cxn>
                <a:cxn ang="0">
                  <a:pos x="12" y="60"/>
                </a:cxn>
              </a:cxnLst>
              <a:rect l="0" t="0" r="r" b="b"/>
              <a:pathLst>
                <a:path w="139" h="122">
                  <a:moveTo>
                    <a:pt x="12" y="60"/>
                  </a:moveTo>
                  <a:cubicBezTo>
                    <a:pt x="11" y="68"/>
                    <a:pt x="10" y="76"/>
                    <a:pt x="8" y="84"/>
                  </a:cubicBezTo>
                  <a:cubicBezTo>
                    <a:pt x="6" y="92"/>
                    <a:pt x="0" y="108"/>
                    <a:pt x="0" y="108"/>
                  </a:cubicBezTo>
                  <a:cubicBezTo>
                    <a:pt x="14" y="118"/>
                    <a:pt x="19" y="122"/>
                    <a:pt x="36" y="116"/>
                  </a:cubicBezTo>
                  <a:cubicBezTo>
                    <a:pt x="46" y="86"/>
                    <a:pt x="31" y="122"/>
                    <a:pt x="52" y="96"/>
                  </a:cubicBezTo>
                  <a:cubicBezTo>
                    <a:pt x="83" y="57"/>
                    <a:pt x="30" y="74"/>
                    <a:pt x="124" y="68"/>
                  </a:cubicBezTo>
                  <a:cubicBezTo>
                    <a:pt x="125" y="67"/>
                    <a:pt x="139" y="48"/>
                    <a:pt x="136" y="44"/>
                  </a:cubicBezTo>
                  <a:cubicBezTo>
                    <a:pt x="130" y="36"/>
                    <a:pt x="120" y="33"/>
                    <a:pt x="112" y="28"/>
                  </a:cubicBezTo>
                  <a:cubicBezTo>
                    <a:pt x="108" y="25"/>
                    <a:pt x="100" y="20"/>
                    <a:pt x="100" y="20"/>
                  </a:cubicBezTo>
                  <a:cubicBezTo>
                    <a:pt x="89" y="4"/>
                    <a:pt x="92" y="0"/>
                    <a:pt x="64" y="12"/>
                  </a:cubicBezTo>
                  <a:cubicBezTo>
                    <a:pt x="57" y="15"/>
                    <a:pt x="55" y="30"/>
                    <a:pt x="52" y="36"/>
                  </a:cubicBezTo>
                  <a:cubicBezTo>
                    <a:pt x="46" y="49"/>
                    <a:pt x="26" y="60"/>
                    <a:pt x="12" y="6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8" name="Freeform 58"/>
            <p:cNvSpPr/>
            <p:nvPr/>
          </p:nvSpPr>
          <p:spPr bwMode="invGray">
            <a:xfrm>
              <a:off x="4846" y="3832"/>
              <a:ext cx="37" cy="26"/>
            </a:xfrm>
            <a:custGeom>
              <a:avLst/>
              <a:gdLst/>
              <a:ahLst/>
              <a:cxnLst>
                <a:cxn ang="0">
                  <a:pos x="29" y="0"/>
                </a:cxn>
                <a:cxn ang="0">
                  <a:pos x="8" y="11"/>
                </a:cxn>
                <a:cxn ang="0">
                  <a:pos x="24" y="35"/>
                </a:cxn>
                <a:cxn ang="0">
                  <a:pos x="39" y="26"/>
                </a:cxn>
                <a:cxn ang="0">
                  <a:pos x="29" y="0"/>
                </a:cxn>
              </a:cxnLst>
              <a:rect l="0" t="0" r="r" b="b"/>
              <a:pathLst>
                <a:path w="49" h="35">
                  <a:moveTo>
                    <a:pt x="29" y="0"/>
                  </a:moveTo>
                  <a:cubicBezTo>
                    <a:pt x="25" y="12"/>
                    <a:pt x="19" y="7"/>
                    <a:pt x="8" y="11"/>
                  </a:cubicBezTo>
                  <a:cubicBezTo>
                    <a:pt x="0" y="23"/>
                    <a:pt x="14" y="34"/>
                    <a:pt x="24" y="35"/>
                  </a:cubicBezTo>
                  <a:cubicBezTo>
                    <a:pt x="30" y="34"/>
                    <a:pt x="33" y="28"/>
                    <a:pt x="39" y="26"/>
                  </a:cubicBezTo>
                  <a:cubicBezTo>
                    <a:pt x="49" y="22"/>
                    <a:pt x="29"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49" name="Freeform 59"/>
            <p:cNvSpPr/>
            <p:nvPr/>
          </p:nvSpPr>
          <p:spPr bwMode="invGray">
            <a:xfrm>
              <a:off x="3123" y="3346"/>
              <a:ext cx="123" cy="201"/>
            </a:xfrm>
            <a:custGeom>
              <a:avLst/>
              <a:gdLst/>
              <a:ahLst/>
              <a:cxnLst>
                <a:cxn ang="0">
                  <a:pos x="128" y="0"/>
                </a:cxn>
                <a:cxn ang="0">
                  <a:pos x="104" y="28"/>
                </a:cxn>
                <a:cxn ang="0">
                  <a:pos x="88" y="64"/>
                </a:cxn>
                <a:cxn ang="0">
                  <a:pos x="36" y="84"/>
                </a:cxn>
                <a:cxn ang="0">
                  <a:pos x="28" y="96"/>
                </a:cxn>
                <a:cxn ang="0">
                  <a:pos x="16" y="100"/>
                </a:cxn>
                <a:cxn ang="0">
                  <a:pos x="20" y="132"/>
                </a:cxn>
                <a:cxn ang="0">
                  <a:pos x="28" y="156"/>
                </a:cxn>
                <a:cxn ang="0">
                  <a:pos x="0" y="200"/>
                </a:cxn>
                <a:cxn ang="0">
                  <a:pos x="28" y="260"/>
                </a:cxn>
                <a:cxn ang="0">
                  <a:pos x="52" y="268"/>
                </a:cxn>
                <a:cxn ang="0">
                  <a:pos x="88" y="216"/>
                </a:cxn>
                <a:cxn ang="0">
                  <a:pos x="104" y="192"/>
                </a:cxn>
                <a:cxn ang="0">
                  <a:pos x="128" y="116"/>
                </a:cxn>
                <a:cxn ang="0">
                  <a:pos x="140" y="76"/>
                </a:cxn>
                <a:cxn ang="0">
                  <a:pos x="164" y="72"/>
                </a:cxn>
                <a:cxn ang="0">
                  <a:pos x="128" y="0"/>
                </a:cxn>
              </a:cxnLst>
              <a:rect l="0" t="0" r="r" b="b"/>
              <a:pathLst>
                <a:path w="164" h="268">
                  <a:moveTo>
                    <a:pt x="128" y="0"/>
                  </a:moveTo>
                  <a:cubicBezTo>
                    <a:pt x="123" y="16"/>
                    <a:pt x="120" y="23"/>
                    <a:pt x="104" y="28"/>
                  </a:cubicBezTo>
                  <a:cubicBezTo>
                    <a:pt x="102" y="35"/>
                    <a:pt x="97" y="57"/>
                    <a:pt x="88" y="64"/>
                  </a:cubicBezTo>
                  <a:cubicBezTo>
                    <a:pt x="75" y="75"/>
                    <a:pt x="51" y="74"/>
                    <a:pt x="36" y="84"/>
                  </a:cubicBezTo>
                  <a:cubicBezTo>
                    <a:pt x="33" y="88"/>
                    <a:pt x="32" y="93"/>
                    <a:pt x="28" y="96"/>
                  </a:cubicBezTo>
                  <a:cubicBezTo>
                    <a:pt x="25" y="99"/>
                    <a:pt x="17" y="96"/>
                    <a:pt x="16" y="100"/>
                  </a:cubicBezTo>
                  <a:cubicBezTo>
                    <a:pt x="14" y="110"/>
                    <a:pt x="18" y="121"/>
                    <a:pt x="20" y="132"/>
                  </a:cubicBezTo>
                  <a:cubicBezTo>
                    <a:pt x="22" y="140"/>
                    <a:pt x="28" y="156"/>
                    <a:pt x="28" y="156"/>
                  </a:cubicBezTo>
                  <a:cubicBezTo>
                    <a:pt x="13" y="166"/>
                    <a:pt x="6" y="183"/>
                    <a:pt x="0" y="200"/>
                  </a:cubicBezTo>
                  <a:cubicBezTo>
                    <a:pt x="3" y="210"/>
                    <a:pt x="19" y="254"/>
                    <a:pt x="28" y="260"/>
                  </a:cubicBezTo>
                  <a:cubicBezTo>
                    <a:pt x="35" y="264"/>
                    <a:pt x="52" y="268"/>
                    <a:pt x="52" y="268"/>
                  </a:cubicBezTo>
                  <a:cubicBezTo>
                    <a:pt x="85" y="261"/>
                    <a:pt x="79" y="244"/>
                    <a:pt x="88" y="216"/>
                  </a:cubicBezTo>
                  <a:cubicBezTo>
                    <a:pt x="91" y="207"/>
                    <a:pt x="99" y="200"/>
                    <a:pt x="104" y="192"/>
                  </a:cubicBezTo>
                  <a:cubicBezTo>
                    <a:pt x="116" y="174"/>
                    <a:pt x="121" y="136"/>
                    <a:pt x="128" y="116"/>
                  </a:cubicBezTo>
                  <a:cubicBezTo>
                    <a:pt x="131" y="108"/>
                    <a:pt x="134" y="79"/>
                    <a:pt x="140" y="76"/>
                  </a:cubicBezTo>
                  <a:cubicBezTo>
                    <a:pt x="147" y="72"/>
                    <a:pt x="156" y="73"/>
                    <a:pt x="164" y="72"/>
                  </a:cubicBezTo>
                  <a:cubicBezTo>
                    <a:pt x="158" y="19"/>
                    <a:pt x="161" y="33"/>
                    <a:pt x="1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0" name="Freeform 60"/>
            <p:cNvSpPr/>
            <p:nvPr/>
          </p:nvSpPr>
          <p:spPr bwMode="invGray">
            <a:xfrm>
              <a:off x="3655" y="3034"/>
              <a:ext cx="49" cy="58"/>
            </a:xfrm>
            <a:custGeom>
              <a:avLst/>
              <a:gdLst/>
              <a:ahLst/>
              <a:cxnLst>
                <a:cxn ang="0">
                  <a:pos x="29" y="0"/>
                </a:cxn>
                <a:cxn ang="0">
                  <a:pos x="25" y="60"/>
                </a:cxn>
                <a:cxn ang="0">
                  <a:pos x="29" y="76"/>
                </a:cxn>
                <a:cxn ang="0">
                  <a:pos x="41" y="80"/>
                </a:cxn>
                <a:cxn ang="0">
                  <a:pos x="57" y="76"/>
                </a:cxn>
                <a:cxn ang="0">
                  <a:pos x="29" y="0"/>
                </a:cxn>
              </a:cxnLst>
              <a:rect l="0" t="0" r="r" b="b"/>
              <a:pathLst>
                <a:path w="66" h="81">
                  <a:moveTo>
                    <a:pt x="29" y="0"/>
                  </a:moveTo>
                  <a:cubicBezTo>
                    <a:pt x="0" y="10"/>
                    <a:pt x="20" y="38"/>
                    <a:pt x="25" y="60"/>
                  </a:cubicBezTo>
                  <a:cubicBezTo>
                    <a:pt x="26" y="65"/>
                    <a:pt x="26" y="72"/>
                    <a:pt x="29" y="76"/>
                  </a:cubicBezTo>
                  <a:cubicBezTo>
                    <a:pt x="32" y="79"/>
                    <a:pt x="37" y="79"/>
                    <a:pt x="41" y="80"/>
                  </a:cubicBezTo>
                  <a:cubicBezTo>
                    <a:pt x="46" y="79"/>
                    <a:pt x="55" y="81"/>
                    <a:pt x="57" y="76"/>
                  </a:cubicBezTo>
                  <a:cubicBezTo>
                    <a:pt x="66" y="53"/>
                    <a:pt x="45" y="16"/>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1" name="Freeform 61"/>
            <p:cNvSpPr/>
            <p:nvPr/>
          </p:nvSpPr>
          <p:spPr bwMode="invGray">
            <a:xfrm>
              <a:off x="3988" y="3100"/>
              <a:ext cx="111" cy="181"/>
            </a:xfrm>
            <a:custGeom>
              <a:avLst/>
              <a:gdLst/>
              <a:ahLst/>
              <a:cxnLst>
                <a:cxn ang="0">
                  <a:pos x="96" y="0"/>
                </a:cxn>
                <a:cxn ang="0">
                  <a:pos x="60" y="84"/>
                </a:cxn>
                <a:cxn ang="0">
                  <a:pos x="36" y="92"/>
                </a:cxn>
                <a:cxn ang="0">
                  <a:pos x="12" y="108"/>
                </a:cxn>
                <a:cxn ang="0">
                  <a:pos x="40" y="188"/>
                </a:cxn>
                <a:cxn ang="0">
                  <a:pos x="52" y="224"/>
                </a:cxn>
                <a:cxn ang="0">
                  <a:pos x="60" y="236"/>
                </a:cxn>
                <a:cxn ang="0">
                  <a:pos x="84" y="244"/>
                </a:cxn>
                <a:cxn ang="0">
                  <a:pos x="96" y="196"/>
                </a:cxn>
                <a:cxn ang="0">
                  <a:pos x="124" y="168"/>
                </a:cxn>
                <a:cxn ang="0">
                  <a:pos x="112" y="68"/>
                </a:cxn>
                <a:cxn ang="0">
                  <a:pos x="140" y="48"/>
                </a:cxn>
                <a:cxn ang="0">
                  <a:pos x="112" y="20"/>
                </a:cxn>
                <a:cxn ang="0">
                  <a:pos x="96" y="0"/>
                </a:cxn>
              </a:cxnLst>
              <a:rect l="0" t="0" r="r" b="b"/>
              <a:pathLst>
                <a:path w="148" h="244">
                  <a:moveTo>
                    <a:pt x="96" y="0"/>
                  </a:moveTo>
                  <a:cubicBezTo>
                    <a:pt x="86" y="29"/>
                    <a:pt x="70" y="55"/>
                    <a:pt x="60" y="84"/>
                  </a:cubicBezTo>
                  <a:cubicBezTo>
                    <a:pt x="57" y="92"/>
                    <a:pt x="43" y="87"/>
                    <a:pt x="36" y="92"/>
                  </a:cubicBezTo>
                  <a:cubicBezTo>
                    <a:pt x="28" y="97"/>
                    <a:pt x="12" y="108"/>
                    <a:pt x="12" y="108"/>
                  </a:cubicBezTo>
                  <a:cubicBezTo>
                    <a:pt x="0" y="144"/>
                    <a:pt x="30" y="158"/>
                    <a:pt x="40" y="188"/>
                  </a:cubicBezTo>
                  <a:cubicBezTo>
                    <a:pt x="44" y="200"/>
                    <a:pt x="45" y="213"/>
                    <a:pt x="52" y="224"/>
                  </a:cubicBezTo>
                  <a:cubicBezTo>
                    <a:pt x="55" y="228"/>
                    <a:pt x="56" y="233"/>
                    <a:pt x="60" y="236"/>
                  </a:cubicBezTo>
                  <a:cubicBezTo>
                    <a:pt x="67" y="240"/>
                    <a:pt x="84" y="244"/>
                    <a:pt x="84" y="244"/>
                  </a:cubicBezTo>
                  <a:cubicBezTo>
                    <a:pt x="111" y="235"/>
                    <a:pt x="103" y="218"/>
                    <a:pt x="96" y="196"/>
                  </a:cubicBezTo>
                  <a:cubicBezTo>
                    <a:pt x="100" y="183"/>
                    <a:pt x="124" y="168"/>
                    <a:pt x="124" y="168"/>
                  </a:cubicBezTo>
                  <a:cubicBezTo>
                    <a:pt x="148" y="132"/>
                    <a:pt x="123" y="101"/>
                    <a:pt x="112" y="68"/>
                  </a:cubicBezTo>
                  <a:cubicBezTo>
                    <a:pt x="140" y="59"/>
                    <a:pt x="133" y="68"/>
                    <a:pt x="140" y="48"/>
                  </a:cubicBezTo>
                  <a:cubicBezTo>
                    <a:pt x="136" y="35"/>
                    <a:pt x="112" y="20"/>
                    <a:pt x="112" y="20"/>
                  </a:cubicBezTo>
                  <a:cubicBezTo>
                    <a:pt x="102" y="5"/>
                    <a:pt x="107" y="11"/>
                    <a:pt x="9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2" name="Freeform 62"/>
            <p:cNvSpPr/>
            <p:nvPr/>
          </p:nvSpPr>
          <p:spPr bwMode="invGray">
            <a:xfrm>
              <a:off x="3894" y="3043"/>
              <a:ext cx="72" cy="137"/>
            </a:xfrm>
            <a:custGeom>
              <a:avLst/>
              <a:gdLst/>
              <a:ahLst/>
              <a:cxnLst>
                <a:cxn ang="0">
                  <a:pos x="48" y="2"/>
                </a:cxn>
                <a:cxn ang="0">
                  <a:pos x="51" y="35"/>
                </a:cxn>
                <a:cxn ang="0">
                  <a:pos x="60" y="62"/>
                </a:cxn>
                <a:cxn ang="0">
                  <a:pos x="62" y="92"/>
                </a:cxn>
                <a:cxn ang="0">
                  <a:pos x="68" y="105"/>
                </a:cxn>
                <a:cxn ang="0">
                  <a:pos x="71" y="126"/>
                </a:cxn>
                <a:cxn ang="0">
                  <a:pos x="57" y="93"/>
                </a:cxn>
                <a:cxn ang="0">
                  <a:pos x="35" y="78"/>
                </a:cxn>
                <a:cxn ang="0">
                  <a:pos x="5" y="83"/>
                </a:cxn>
                <a:cxn ang="0">
                  <a:pos x="8" y="102"/>
                </a:cxn>
                <a:cxn ang="0">
                  <a:pos x="41" y="114"/>
                </a:cxn>
                <a:cxn ang="0">
                  <a:pos x="57" y="135"/>
                </a:cxn>
                <a:cxn ang="0">
                  <a:pos x="71" y="135"/>
                </a:cxn>
                <a:cxn ang="0">
                  <a:pos x="78" y="150"/>
                </a:cxn>
                <a:cxn ang="0">
                  <a:pos x="96" y="179"/>
                </a:cxn>
                <a:cxn ang="0">
                  <a:pos x="81" y="126"/>
                </a:cxn>
                <a:cxn ang="0">
                  <a:pos x="80" y="93"/>
                </a:cxn>
                <a:cxn ang="0">
                  <a:pos x="71" y="63"/>
                </a:cxn>
                <a:cxn ang="0">
                  <a:pos x="63" y="41"/>
                </a:cxn>
                <a:cxn ang="0">
                  <a:pos x="57" y="20"/>
                </a:cxn>
                <a:cxn ang="0">
                  <a:pos x="48" y="2"/>
                </a:cxn>
              </a:cxnLst>
              <a:rect l="0" t="0" r="r" b="b"/>
              <a:pathLst>
                <a:path w="96" h="183">
                  <a:moveTo>
                    <a:pt x="48" y="2"/>
                  </a:moveTo>
                  <a:cubicBezTo>
                    <a:pt x="47" y="4"/>
                    <a:pt x="49" y="25"/>
                    <a:pt x="51" y="35"/>
                  </a:cubicBezTo>
                  <a:cubicBezTo>
                    <a:pt x="53" y="45"/>
                    <a:pt x="58" y="53"/>
                    <a:pt x="60" y="62"/>
                  </a:cubicBezTo>
                  <a:cubicBezTo>
                    <a:pt x="62" y="71"/>
                    <a:pt x="61" y="85"/>
                    <a:pt x="62" y="92"/>
                  </a:cubicBezTo>
                  <a:cubicBezTo>
                    <a:pt x="63" y="99"/>
                    <a:pt x="67" y="99"/>
                    <a:pt x="68" y="105"/>
                  </a:cubicBezTo>
                  <a:cubicBezTo>
                    <a:pt x="69" y="111"/>
                    <a:pt x="73" y="128"/>
                    <a:pt x="71" y="126"/>
                  </a:cubicBezTo>
                  <a:cubicBezTo>
                    <a:pt x="69" y="124"/>
                    <a:pt x="63" y="101"/>
                    <a:pt x="57" y="93"/>
                  </a:cubicBezTo>
                  <a:cubicBezTo>
                    <a:pt x="51" y="85"/>
                    <a:pt x="44" y="80"/>
                    <a:pt x="35" y="78"/>
                  </a:cubicBezTo>
                  <a:cubicBezTo>
                    <a:pt x="26" y="76"/>
                    <a:pt x="10" y="79"/>
                    <a:pt x="5" y="83"/>
                  </a:cubicBezTo>
                  <a:cubicBezTo>
                    <a:pt x="0" y="87"/>
                    <a:pt x="2" y="97"/>
                    <a:pt x="8" y="102"/>
                  </a:cubicBezTo>
                  <a:cubicBezTo>
                    <a:pt x="14" y="107"/>
                    <a:pt x="33" y="109"/>
                    <a:pt x="41" y="114"/>
                  </a:cubicBezTo>
                  <a:cubicBezTo>
                    <a:pt x="49" y="119"/>
                    <a:pt x="52" y="132"/>
                    <a:pt x="57" y="135"/>
                  </a:cubicBezTo>
                  <a:cubicBezTo>
                    <a:pt x="62" y="138"/>
                    <a:pt x="68" y="133"/>
                    <a:pt x="71" y="135"/>
                  </a:cubicBezTo>
                  <a:cubicBezTo>
                    <a:pt x="74" y="137"/>
                    <a:pt x="74" y="143"/>
                    <a:pt x="78" y="150"/>
                  </a:cubicBezTo>
                  <a:cubicBezTo>
                    <a:pt x="82" y="157"/>
                    <a:pt x="96" y="183"/>
                    <a:pt x="96" y="179"/>
                  </a:cubicBezTo>
                  <a:cubicBezTo>
                    <a:pt x="96" y="175"/>
                    <a:pt x="84" y="140"/>
                    <a:pt x="81" y="126"/>
                  </a:cubicBezTo>
                  <a:cubicBezTo>
                    <a:pt x="78" y="112"/>
                    <a:pt x="82" y="104"/>
                    <a:pt x="80" y="93"/>
                  </a:cubicBezTo>
                  <a:cubicBezTo>
                    <a:pt x="78" y="82"/>
                    <a:pt x="74" y="72"/>
                    <a:pt x="71" y="63"/>
                  </a:cubicBezTo>
                  <a:cubicBezTo>
                    <a:pt x="68" y="54"/>
                    <a:pt x="65" y="48"/>
                    <a:pt x="63" y="41"/>
                  </a:cubicBezTo>
                  <a:cubicBezTo>
                    <a:pt x="61" y="34"/>
                    <a:pt x="59" y="26"/>
                    <a:pt x="57" y="20"/>
                  </a:cubicBezTo>
                  <a:cubicBezTo>
                    <a:pt x="55" y="14"/>
                    <a:pt x="49" y="0"/>
                    <a:pt x="48"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3" name="Freeform 63"/>
            <p:cNvSpPr/>
            <p:nvPr/>
          </p:nvSpPr>
          <p:spPr bwMode="invGray">
            <a:xfrm>
              <a:off x="3943" y="3153"/>
              <a:ext cx="40" cy="132"/>
            </a:xfrm>
            <a:custGeom>
              <a:avLst/>
              <a:gdLst/>
              <a:ahLst/>
              <a:cxnLst>
                <a:cxn ang="0">
                  <a:pos x="6" y="0"/>
                </a:cxn>
                <a:cxn ang="0">
                  <a:pos x="0" y="25"/>
                </a:cxn>
                <a:cxn ang="0">
                  <a:pos x="9" y="54"/>
                </a:cxn>
                <a:cxn ang="0">
                  <a:pos x="18" y="94"/>
                </a:cxn>
                <a:cxn ang="0">
                  <a:pos x="34" y="129"/>
                </a:cxn>
                <a:cxn ang="0">
                  <a:pos x="54" y="175"/>
                </a:cxn>
                <a:cxn ang="0">
                  <a:pos x="40" y="115"/>
                </a:cxn>
                <a:cxn ang="0">
                  <a:pos x="34" y="93"/>
                </a:cxn>
                <a:cxn ang="0">
                  <a:pos x="28" y="61"/>
                </a:cxn>
                <a:cxn ang="0">
                  <a:pos x="25" y="46"/>
                </a:cxn>
                <a:cxn ang="0">
                  <a:pos x="16" y="37"/>
                </a:cxn>
                <a:cxn ang="0">
                  <a:pos x="6" y="0"/>
                </a:cxn>
              </a:cxnLst>
              <a:rect l="0" t="0" r="r" b="b"/>
              <a:pathLst>
                <a:path w="54" h="175">
                  <a:moveTo>
                    <a:pt x="6" y="0"/>
                  </a:moveTo>
                  <a:lnTo>
                    <a:pt x="0" y="25"/>
                  </a:lnTo>
                  <a:cubicBezTo>
                    <a:pt x="3" y="48"/>
                    <a:pt x="3" y="40"/>
                    <a:pt x="9" y="54"/>
                  </a:cubicBezTo>
                  <a:cubicBezTo>
                    <a:pt x="10" y="66"/>
                    <a:pt x="12" y="83"/>
                    <a:pt x="18" y="94"/>
                  </a:cubicBezTo>
                  <a:cubicBezTo>
                    <a:pt x="21" y="109"/>
                    <a:pt x="25" y="117"/>
                    <a:pt x="34" y="129"/>
                  </a:cubicBezTo>
                  <a:cubicBezTo>
                    <a:pt x="35" y="143"/>
                    <a:pt x="35" y="171"/>
                    <a:pt x="54" y="175"/>
                  </a:cubicBezTo>
                  <a:cubicBezTo>
                    <a:pt x="52" y="133"/>
                    <a:pt x="53" y="141"/>
                    <a:pt x="40" y="115"/>
                  </a:cubicBezTo>
                  <a:cubicBezTo>
                    <a:pt x="39" y="108"/>
                    <a:pt x="37" y="100"/>
                    <a:pt x="34" y="93"/>
                  </a:cubicBezTo>
                  <a:cubicBezTo>
                    <a:pt x="33" y="82"/>
                    <a:pt x="30" y="72"/>
                    <a:pt x="28" y="61"/>
                  </a:cubicBezTo>
                  <a:cubicBezTo>
                    <a:pt x="28" y="58"/>
                    <a:pt x="28" y="50"/>
                    <a:pt x="25" y="46"/>
                  </a:cubicBezTo>
                  <a:cubicBezTo>
                    <a:pt x="22" y="43"/>
                    <a:pt x="16" y="37"/>
                    <a:pt x="16" y="37"/>
                  </a:cubicBezTo>
                  <a:cubicBezTo>
                    <a:pt x="14" y="25"/>
                    <a:pt x="13" y="9"/>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4" name="Freeform 64"/>
            <p:cNvSpPr/>
            <p:nvPr/>
          </p:nvSpPr>
          <p:spPr bwMode="invGray">
            <a:xfrm>
              <a:off x="3988" y="3291"/>
              <a:ext cx="65" cy="53"/>
            </a:xfrm>
            <a:custGeom>
              <a:avLst/>
              <a:gdLst/>
              <a:ahLst/>
              <a:cxnLst>
                <a:cxn ang="0">
                  <a:pos x="2" y="0"/>
                </a:cxn>
                <a:cxn ang="0">
                  <a:pos x="8" y="34"/>
                </a:cxn>
                <a:cxn ang="0">
                  <a:pos x="23" y="43"/>
                </a:cxn>
                <a:cxn ang="0">
                  <a:pos x="48" y="49"/>
                </a:cxn>
                <a:cxn ang="0">
                  <a:pos x="62" y="57"/>
                </a:cxn>
                <a:cxn ang="0">
                  <a:pos x="74" y="66"/>
                </a:cxn>
                <a:cxn ang="0">
                  <a:pos x="86" y="69"/>
                </a:cxn>
                <a:cxn ang="0">
                  <a:pos x="72" y="39"/>
                </a:cxn>
                <a:cxn ang="0">
                  <a:pos x="63" y="22"/>
                </a:cxn>
                <a:cxn ang="0">
                  <a:pos x="36" y="24"/>
                </a:cxn>
                <a:cxn ang="0">
                  <a:pos x="24" y="19"/>
                </a:cxn>
                <a:cxn ang="0">
                  <a:pos x="6" y="0"/>
                </a:cxn>
                <a:cxn ang="0">
                  <a:pos x="2" y="0"/>
                </a:cxn>
              </a:cxnLst>
              <a:rect l="0" t="0" r="r" b="b"/>
              <a:pathLst>
                <a:path w="86" h="73">
                  <a:moveTo>
                    <a:pt x="2" y="0"/>
                  </a:moveTo>
                  <a:cubicBezTo>
                    <a:pt x="3" y="17"/>
                    <a:pt x="0" y="23"/>
                    <a:pt x="8" y="34"/>
                  </a:cubicBezTo>
                  <a:cubicBezTo>
                    <a:pt x="10" y="43"/>
                    <a:pt x="14" y="42"/>
                    <a:pt x="23" y="43"/>
                  </a:cubicBezTo>
                  <a:cubicBezTo>
                    <a:pt x="30" y="47"/>
                    <a:pt x="40" y="48"/>
                    <a:pt x="48" y="49"/>
                  </a:cubicBezTo>
                  <a:cubicBezTo>
                    <a:pt x="53" y="51"/>
                    <a:pt x="57" y="54"/>
                    <a:pt x="62" y="57"/>
                  </a:cubicBezTo>
                  <a:cubicBezTo>
                    <a:pt x="66" y="62"/>
                    <a:pt x="68" y="64"/>
                    <a:pt x="74" y="66"/>
                  </a:cubicBezTo>
                  <a:cubicBezTo>
                    <a:pt x="78" y="72"/>
                    <a:pt x="79" y="73"/>
                    <a:pt x="86" y="69"/>
                  </a:cubicBezTo>
                  <a:cubicBezTo>
                    <a:pt x="83" y="53"/>
                    <a:pt x="80" y="52"/>
                    <a:pt x="72" y="39"/>
                  </a:cubicBezTo>
                  <a:cubicBezTo>
                    <a:pt x="68" y="34"/>
                    <a:pt x="63" y="22"/>
                    <a:pt x="63" y="22"/>
                  </a:cubicBezTo>
                  <a:cubicBezTo>
                    <a:pt x="52" y="26"/>
                    <a:pt x="48" y="26"/>
                    <a:pt x="36" y="24"/>
                  </a:cubicBezTo>
                  <a:cubicBezTo>
                    <a:pt x="24" y="15"/>
                    <a:pt x="43" y="29"/>
                    <a:pt x="24" y="19"/>
                  </a:cubicBezTo>
                  <a:cubicBezTo>
                    <a:pt x="15" y="15"/>
                    <a:pt x="16" y="2"/>
                    <a:pt x="6" y="0"/>
                  </a:cubicBezTo>
                  <a:cubicBezTo>
                    <a:pt x="1" y="4"/>
                    <a:pt x="2" y="5"/>
                    <a:pt x="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5" name="Freeform 65"/>
            <p:cNvSpPr/>
            <p:nvPr/>
          </p:nvSpPr>
          <p:spPr bwMode="invGray">
            <a:xfrm>
              <a:off x="4092" y="3195"/>
              <a:ext cx="86" cy="118"/>
            </a:xfrm>
            <a:custGeom>
              <a:avLst/>
              <a:gdLst/>
              <a:ahLst/>
              <a:cxnLst>
                <a:cxn ang="0">
                  <a:pos x="98" y="0"/>
                </a:cxn>
                <a:cxn ang="0">
                  <a:pos x="75" y="10"/>
                </a:cxn>
                <a:cxn ang="0">
                  <a:pos x="23" y="15"/>
                </a:cxn>
                <a:cxn ang="0">
                  <a:pos x="14" y="33"/>
                </a:cxn>
                <a:cxn ang="0">
                  <a:pos x="11" y="61"/>
                </a:cxn>
                <a:cxn ang="0">
                  <a:pos x="14" y="75"/>
                </a:cxn>
                <a:cxn ang="0">
                  <a:pos x="3" y="88"/>
                </a:cxn>
                <a:cxn ang="0">
                  <a:pos x="14" y="109"/>
                </a:cxn>
                <a:cxn ang="0">
                  <a:pos x="23" y="124"/>
                </a:cxn>
                <a:cxn ang="0">
                  <a:pos x="15" y="144"/>
                </a:cxn>
                <a:cxn ang="0">
                  <a:pos x="24" y="156"/>
                </a:cxn>
                <a:cxn ang="0">
                  <a:pos x="42" y="144"/>
                </a:cxn>
                <a:cxn ang="0">
                  <a:pos x="50" y="93"/>
                </a:cxn>
                <a:cxn ang="0">
                  <a:pos x="56" y="126"/>
                </a:cxn>
                <a:cxn ang="0">
                  <a:pos x="65" y="145"/>
                </a:cxn>
                <a:cxn ang="0">
                  <a:pos x="62" y="112"/>
                </a:cxn>
                <a:cxn ang="0">
                  <a:pos x="72" y="73"/>
                </a:cxn>
                <a:cxn ang="0">
                  <a:pos x="69" y="51"/>
                </a:cxn>
                <a:cxn ang="0">
                  <a:pos x="54" y="60"/>
                </a:cxn>
                <a:cxn ang="0">
                  <a:pos x="35" y="54"/>
                </a:cxn>
                <a:cxn ang="0">
                  <a:pos x="41" y="36"/>
                </a:cxn>
                <a:cxn ang="0">
                  <a:pos x="62" y="34"/>
                </a:cxn>
                <a:cxn ang="0">
                  <a:pos x="78" y="39"/>
                </a:cxn>
                <a:cxn ang="0">
                  <a:pos x="98" y="30"/>
                </a:cxn>
                <a:cxn ang="0">
                  <a:pos x="111" y="13"/>
                </a:cxn>
                <a:cxn ang="0">
                  <a:pos x="98" y="0"/>
                </a:cxn>
              </a:cxnLst>
              <a:rect l="0" t="0" r="r" b="b"/>
              <a:pathLst>
                <a:path w="111" h="156">
                  <a:moveTo>
                    <a:pt x="98" y="0"/>
                  </a:moveTo>
                  <a:cubicBezTo>
                    <a:pt x="75" y="2"/>
                    <a:pt x="87" y="8"/>
                    <a:pt x="75" y="10"/>
                  </a:cubicBezTo>
                  <a:cubicBezTo>
                    <a:pt x="72" y="10"/>
                    <a:pt x="25" y="3"/>
                    <a:pt x="23" y="15"/>
                  </a:cubicBezTo>
                  <a:cubicBezTo>
                    <a:pt x="25" y="26"/>
                    <a:pt x="23" y="27"/>
                    <a:pt x="14" y="33"/>
                  </a:cubicBezTo>
                  <a:cubicBezTo>
                    <a:pt x="15" y="43"/>
                    <a:pt x="20" y="54"/>
                    <a:pt x="11" y="61"/>
                  </a:cubicBezTo>
                  <a:cubicBezTo>
                    <a:pt x="8" y="68"/>
                    <a:pt x="10" y="69"/>
                    <a:pt x="14" y="75"/>
                  </a:cubicBezTo>
                  <a:cubicBezTo>
                    <a:pt x="16" y="84"/>
                    <a:pt x="12" y="86"/>
                    <a:pt x="3" y="88"/>
                  </a:cubicBezTo>
                  <a:cubicBezTo>
                    <a:pt x="1" y="99"/>
                    <a:pt x="0" y="106"/>
                    <a:pt x="14" y="109"/>
                  </a:cubicBezTo>
                  <a:cubicBezTo>
                    <a:pt x="21" y="112"/>
                    <a:pt x="20" y="118"/>
                    <a:pt x="23" y="124"/>
                  </a:cubicBezTo>
                  <a:cubicBezTo>
                    <a:pt x="25" y="133"/>
                    <a:pt x="23" y="139"/>
                    <a:pt x="15" y="144"/>
                  </a:cubicBezTo>
                  <a:cubicBezTo>
                    <a:pt x="17" y="150"/>
                    <a:pt x="18" y="153"/>
                    <a:pt x="24" y="156"/>
                  </a:cubicBezTo>
                  <a:cubicBezTo>
                    <a:pt x="31" y="154"/>
                    <a:pt x="36" y="148"/>
                    <a:pt x="42" y="144"/>
                  </a:cubicBezTo>
                  <a:cubicBezTo>
                    <a:pt x="41" y="128"/>
                    <a:pt x="33" y="103"/>
                    <a:pt x="50" y="93"/>
                  </a:cubicBezTo>
                  <a:cubicBezTo>
                    <a:pt x="52" y="105"/>
                    <a:pt x="46" y="116"/>
                    <a:pt x="56" y="126"/>
                  </a:cubicBezTo>
                  <a:cubicBezTo>
                    <a:pt x="57" y="134"/>
                    <a:pt x="58" y="141"/>
                    <a:pt x="65" y="145"/>
                  </a:cubicBezTo>
                  <a:cubicBezTo>
                    <a:pt x="70" y="134"/>
                    <a:pt x="64" y="123"/>
                    <a:pt x="62" y="112"/>
                  </a:cubicBezTo>
                  <a:cubicBezTo>
                    <a:pt x="65" y="97"/>
                    <a:pt x="55" y="81"/>
                    <a:pt x="72" y="73"/>
                  </a:cubicBezTo>
                  <a:cubicBezTo>
                    <a:pt x="79" y="64"/>
                    <a:pt x="75" y="59"/>
                    <a:pt x="69" y="51"/>
                  </a:cubicBezTo>
                  <a:cubicBezTo>
                    <a:pt x="61" y="52"/>
                    <a:pt x="61" y="56"/>
                    <a:pt x="54" y="60"/>
                  </a:cubicBezTo>
                  <a:cubicBezTo>
                    <a:pt x="37" y="57"/>
                    <a:pt x="43" y="60"/>
                    <a:pt x="35" y="54"/>
                  </a:cubicBezTo>
                  <a:cubicBezTo>
                    <a:pt x="31" y="45"/>
                    <a:pt x="28" y="39"/>
                    <a:pt x="41" y="36"/>
                  </a:cubicBezTo>
                  <a:cubicBezTo>
                    <a:pt x="49" y="32"/>
                    <a:pt x="53" y="33"/>
                    <a:pt x="62" y="34"/>
                  </a:cubicBezTo>
                  <a:cubicBezTo>
                    <a:pt x="67" y="36"/>
                    <a:pt x="73" y="36"/>
                    <a:pt x="78" y="39"/>
                  </a:cubicBezTo>
                  <a:cubicBezTo>
                    <a:pt x="85" y="36"/>
                    <a:pt x="90" y="31"/>
                    <a:pt x="98" y="30"/>
                  </a:cubicBezTo>
                  <a:cubicBezTo>
                    <a:pt x="104" y="26"/>
                    <a:pt x="107" y="19"/>
                    <a:pt x="111" y="13"/>
                  </a:cubicBezTo>
                  <a:cubicBezTo>
                    <a:pt x="107" y="8"/>
                    <a:pt x="102" y="4"/>
                    <a:pt x="9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6" name="Freeform 66"/>
            <p:cNvSpPr/>
            <p:nvPr/>
          </p:nvSpPr>
          <p:spPr bwMode="invGray">
            <a:xfrm>
              <a:off x="4064" y="2777"/>
              <a:ext cx="21" cy="70"/>
            </a:xfrm>
            <a:custGeom>
              <a:avLst/>
              <a:gdLst/>
              <a:ahLst/>
              <a:cxnLst>
                <a:cxn ang="0">
                  <a:pos x="12" y="0"/>
                </a:cxn>
                <a:cxn ang="0">
                  <a:pos x="0" y="16"/>
                </a:cxn>
                <a:cxn ang="0">
                  <a:pos x="6" y="37"/>
                </a:cxn>
                <a:cxn ang="0">
                  <a:pos x="1" y="61"/>
                </a:cxn>
                <a:cxn ang="0">
                  <a:pos x="16" y="94"/>
                </a:cxn>
                <a:cxn ang="0">
                  <a:pos x="30" y="82"/>
                </a:cxn>
                <a:cxn ang="0">
                  <a:pos x="22" y="61"/>
                </a:cxn>
                <a:cxn ang="0">
                  <a:pos x="12" y="0"/>
                </a:cxn>
              </a:cxnLst>
              <a:rect l="0" t="0" r="r" b="b"/>
              <a:pathLst>
                <a:path w="30" h="94">
                  <a:moveTo>
                    <a:pt x="12" y="0"/>
                  </a:moveTo>
                  <a:cubicBezTo>
                    <a:pt x="9" y="6"/>
                    <a:pt x="4" y="11"/>
                    <a:pt x="0" y="16"/>
                  </a:cubicBezTo>
                  <a:cubicBezTo>
                    <a:pt x="1" y="23"/>
                    <a:pt x="3" y="30"/>
                    <a:pt x="6" y="37"/>
                  </a:cubicBezTo>
                  <a:cubicBezTo>
                    <a:pt x="3" y="45"/>
                    <a:pt x="4" y="53"/>
                    <a:pt x="1" y="61"/>
                  </a:cubicBezTo>
                  <a:cubicBezTo>
                    <a:pt x="3" y="81"/>
                    <a:pt x="2" y="83"/>
                    <a:pt x="16" y="94"/>
                  </a:cubicBezTo>
                  <a:cubicBezTo>
                    <a:pt x="24" y="92"/>
                    <a:pt x="27" y="90"/>
                    <a:pt x="30" y="82"/>
                  </a:cubicBezTo>
                  <a:cubicBezTo>
                    <a:pt x="28" y="73"/>
                    <a:pt x="26" y="69"/>
                    <a:pt x="22" y="61"/>
                  </a:cubicBezTo>
                  <a:cubicBezTo>
                    <a:pt x="19" y="40"/>
                    <a:pt x="18" y="20"/>
                    <a:pt x="1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7" name="Freeform 67"/>
            <p:cNvSpPr/>
            <p:nvPr/>
          </p:nvSpPr>
          <p:spPr bwMode="invGray">
            <a:xfrm>
              <a:off x="4078" y="2896"/>
              <a:ext cx="61" cy="118"/>
            </a:xfrm>
            <a:custGeom>
              <a:avLst/>
              <a:gdLst/>
              <a:ahLst/>
              <a:cxnLst>
                <a:cxn ang="0">
                  <a:pos x="12" y="2"/>
                </a:cxn>
                <a:cxn ang="0">
                  <a:pos x="0" y="20"/>
                </a:cxn>
                <a:cxn ang="0">
                  <a:pos x="8" y="49"/>
                </a:cxn>
                <a:cxn ang="0">
                  <a:pos x="6" y="107"/>
                </a:cxn>
                <a:cxn ang="0">
                  <a:pos x="17" y="103"/>
                </a:cxn>
                <a:cxn ang="0">
                  <a:pos x="20" y="115"/>
                </a:cxn>
                <a:cxn ang="0">
                  <a:pos x="29" y="122"/>
                </a:cxn>
                <a:cxn ang="0">
                  <a:pos x="38" y="140"/>
                </a:cxn>
                <a:cxn ang="0">
                  <a:pos x="48" y="128"/>
                </a:cxn>
                <a:cxn ang="0">
                  <a:pos x="65" y="134"/>
                </a:cxn>
                <a:cxn ang="0">
                  <a:pos x="63" y="109"/>
                </a:cxn>
                <a:cxn ang="0">
                  <a:pos x="48" y="104"/>
                </a:cxn>
                <a:cxn ang="0">
                  <a:pos x="39" y="91"/>
                </a:cxn>
                <a:cxn ang="0">
                  <a:pos x="33" y="73"/>
                </a:cxn>
                <a:cxn ang="0">
                  <a:pos x="41" y="53"/>
                </a:cxn>
                <a:cxn ang="0">
                  <a:pos x="35" y="35"/>
                </a:cxn>
                <a:cxn ang="0">
                  <a:pos x="42" y="20"/>
                </a:cxn>
                <a:cxn ang="0">
                  <a:pos x="29" y="4"/>
                </a:cxn>
                <a:cxn ang="0">
                  <a:pos x="18" y="7"/>
                </a:cxn>
                <a:cxn ang="0">
                  <a:pos x="12" y="2"/>
                </a:cxn>
              </a:cxnLst>
              <a:rect l="0" t="0" r="r" b="b"/>
              <a:pathLst>
                <a:path w="81" h="158">
                  <a:moveTo>
                    <a:pt x="12" y="2"/>
                  </a:moveTo>
                  <a:cubicBezTo>
                    <a:pt x="8" y="8"/>
                    <a:pt x="3" y="13"/>
                    <a:pt x="0" y="20"/>
                  </a:cubicBezTo>
                  <a:cubicBezTo>
                    <a:pt x="5" y="31"/>
                    <a:pt x="6" y="35"/>
                    <a:pt x="8" y="49"/>
                  </a:cubicBezTo>
                  <a:cubicBezTo>
                    <a:pt x="7" y="69"/>
                    <a:pt x="4" y="87"/>
                    <a:pt x="6" y="107"/>
                  </a:cubicBezTo>
                  <a:cubicBezTo>
                    <a:pt x="8" y="106"/>
                    <a:pt x="14" y="101"/>
                    <a:pt x="17" y="103"/>
                  </a:cubicBezTo>
                  <a:cubicBezTo>
                    <a:pt x="20" y="105"/>
                    <a:pt x="17" y="112"/>
                    <a:pt x="20" y="115"/>
                  </a:cubicBezTo>
                  <a:cubicBezTo>
                    <a:pt x="22" y="118"/>
                    <a:pt x="29" y="122"/>
                    <a:pt x="29" y="122"/>
                  </a:cubicBezTo>
                  <a:cubicBezTo>
                    <a:pt x="29" y="133"/>
                    <a:pt x="27" y="158"/>
                    <a:pt x="38" y="140"/>
                  </a:cubicBezTo>
                  <a:cubicBezTo>
                    <a:pt x="39" y="133"/>
                    <a:pt x="41" y="131"/>
                    <a:pt x="48" y="128"/>
                  </a:cubicBezTo>
                  <a:cubicBezTo>
                    <a:pt x="55" y="130"/>
                    <a:pt x="59" y="133"/>
                    <a:pt x="65" y="134"/>
                  </a:cubicBezTo>
                  <a:cubicBezTo>
                    <a:pt x="81" y="131"/>
                    <a:pt x="76" y="112"/>
                    <a:pt x="63" y="109"/>
                  </a:cubicBezTo>
                  <a:cubicBezTo>
                    <a:pt x="58" y="107"/>
                    <a:pt x="53" y="106"/>
                    <a:pt x="48" y="104"/>
                  </a:cubicBezTo>
                  <a:cubicBezTo>
                    <a:pt x="45" y="100"/>
                    <a:pt x="42" y="95"/>
                    <a:pt x="39" y="91"/>
                  </a:cubicBezTo>
                  <a:cubicBezTo>
                    <a:pt x="38" y="85"/>
                    <a:pt x="36" y="79"/>
                    <a:pt x="33" y="73"/>
                  </a:cubicBezTo>
                  <a:cubicBezTo>
                    <a:pt x="31" y="64"/>
                    <a:pt x="33" y="58"/>
                    <a:pt x="41" y="53"/>
                  </a:cubicBezTo>
                  <a:cubicBezTo>
                    <a:pt x="48" y="44"/>
                    <a:pt x="47" y="38"/>
                    <a:pt x="35" y="35"/>
                  </a:cubicBezTo>
                  <a:cubicBezTo>
                    <a:pt x="36" y="28"/>
                    <a:pt x="39" y="26"/>
                    <a:pt x="42" y="20"/>
                  </a:cubicBezTo>
                  <a:cubicBezTo>
                    <a:pt x="41" y="13"/>
                    <a:pt x="35" y="8"/>
                    <a:pt x="29" y="4"/>
                  </a:cubicBezTo>
                  <a:cubicBezTo>
                    <a:pt x="25" y="9"/>
                    <a:pt x="23" y="13"/>
                    <a:pt x="18" y="7"/>
                  </a:cubicBezTo>
                  <a:cubicBezTo>
                    <a:pt x="17" y="0"/>
                    <a:pt x="19" y="2"/>
                    <a:pt x="12"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8" name="Freeform 68"/>
            <p:cNvSpPr/>
            <p:nvPr/>
          </p:nvSpPr>
          <p:spPr bwMode="invGray">
            <a:xfrm>
              <a:off x="4121" y="3052"/>
              <a:ext cx="64" cy="79"/>
            </a:xfrm>
            <a:custGeom>
              <a:avLst/>
              <a:gdLst/>
              <a:ahLst/>
              <a:cxnLst>
                <a:cxn ang="0">
                  <a:pos x="52" y="0"/>
                </a:cxn>
                <a:cxn ang="0">
                  <a:pos x="44" y="18"/>
                </a:cxn>
                <a:cxn ang="0">
                  <a:pos x="32" y="30"/>
                </a:cxn>
                <a:cxn ang="0">
                  <a:pos x="16" y="35"/>
                </a:cxn>
                <a:cxn ang="0">
                  <a:pos x="8" y="48"/>
                </a:cxn>
                <a:cxn ang="0">
                  <a:pos x="4" y="74"/>
                </a:cxn>
                <a:cxn ang="0">
                  <a:pos x="13" y="71"/>
                </a:cxn>
                <a:cxn ang="0">
                  <a:pos x="25" y="62"/>
                </a:cxn>
                <a:cxn ang="0">
                  <a:pos x="34" y="69"/>
                </a:cxn>
                <a:cxn ang="0">
                  <a:pos x="58" y="99"/>
                </a:cxn>
                <a:cxn ang="0">
                  <a:pos x="71" y="72"/>
                </a:cxn>
                <a:cxn ang="0">
                  <a:pos x="85" y="68"/>
                </a:cxn>
                <a:cxn ang="0">
                  <a:pos x="74" y="39"/>
                </a:cxn>
                <a:cxn ang="0">
                  <a:pos x="52" y="0"/>
                </a:cxn>
              </a:cxnLst>
              <a:rect l="0" t="0" r="r" b="b"/>
              <a:pathLst>
                <a:path w="85" h="105">
                  <a:moveTo>
                    <a:pt x="52" y="0"/>
                  </a:moveTo>
                  <a:cubicBezTo>
                    <a:pt x="50" y="6"/>
                    <a:pt x="47" y="12"/>
                    <a:pt x="44" y="18"/>
                  </a:cubicBezTo>
                  <a:cubicBezTo>
                    <a:pt x="43" y="28"/>
                    <a:pt x="42" y="28"/>
                    <a:pt x="32" y="30"/>
                  </a:cubicBezTo>
                  <a:cubicBezTo>
                    <a:pt x="27" y="33"/>
                    <a:pt x="21" y="33"/>
                    <a:pt x="16" y="35"/>
                  </a:cubicBezTo>
                  <a:cubicBezTo>
                    <a:pt x="13" y="39"/>
                    <a:pt x="11" y="44"/>
                    <a:pt x="8" y="48"/>
                  </a:cubicBezTo>
                  <a:cubicBezTo>
                    <a:pt x="4" y="66"/>
                    <a:pt x="0" y="42"/>
                    <a:pt x="4" y="74"/>
                  </a:cubicBezTo>
                  <a:cubicBezTo>
                    <a:pt x="7" y="73"/>
                    <a:pt x="10" y="73"/>
                    <a:pt x="13" y="71"/>
                  </a:cubicBezTo>
                  <a:cubicBezTo>
                    <a:pt x="19" y="67"/>
                    <a:pt x="17" y="64"/>
                    <a:pt x="25" y="62"/>
                  </a:cubicBezTo>
                  <a:cubicBezTo>
                    <a:pt x="32" y="59"/>
                    <a:pt x="31" y="64"/>
                    <a:pt x="34" y="69"/>
                  </a:cubicBezTo>
                  <a:cubicBezTo>
                    <a:pt x="37" y="82"/>
                    <a:pt x="44" y="96"/>
                    <a:pt x="58" y="99"/>
                  </a:cubicBezTo>
                  <a:cubicBezTo>
                    <a:pt x="70" y="105"/>
                    <a:pt x="60" y="78"/>
                    <a:pt x="71" y="72"/>
                  </a:cubicBezTo>
                  <a:cubicBezTo>
                    <a:pt x="78" y="74"/>
                    <a:pt x="80" y="74"/>
                    <a:pt x="85" y="68"/>
                  </a:cubicBezTo>
                  <a:cubicBezTo>
                    <a:pt x="82" y="56"/>
                    <a:pt x="80" y="49"/>
                    <a:pt x="74" y="39"/>
                  </a:cubicBezTo>
                  <a:cubicBezTo>
                    <a:pt x="73" y="6"/>
                    <a:pt x="80" y="6"/>
                    <a:pt x="52"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59" name="Freeform 69"/>
            <p:cNvSpPr/>
            <p:nvPr/>
          </p:nvSpPr>
          <p:spPr bwMode="invGray">
            <a:xfrm>
              <a:off x="4197" y="3193"/>
              <a:ext cx="29" cy="48"/>
            </a:xfrm>
            <a:custGeom>
              <a:avLst/>
              <a:gdLst/>
              <a:ahLst/>
              <a:cxnLst>
                <a:cxn ang="0">
                  <a:pos x="6" y="27"/>
                </a:cxn>
                <a:cxn ang="0">
                  <a:pos x="26" y="66"/>
                </a:cxn>
                <a:cxn ang="0">
                  <a:pos x="30" y="52"/>
                </a:cxn>
                <a:cxn ang="0">
                  <a:pos x="38" y="40"/>
                </a:cxn>
                <a:cxn ang="0">
                  <a:pos x="30" y="25"/>
                </a:cxn>
                <a:cxn ang="0">
                  <a:pos x="20" y="13"/>
                </a:cxn>
                <a:cxn ang="0">
                  <a:pos x="11" y="1"/>
                </a:cxn>
                <a:cxn ang="0">
                  <a:pos x="2" y="12"/>
                </a:cxn>
                <a:cxn ang="0">
                  <a:pos x="6" y="27"/>
                </a:cxn>
              </a:cxnLst>
              <a:rect l="0" t="0" r="r" b="b"/>
              <a:pathLst>
                <a:path w="38" h="66">
                  <a:moveTo>
                    <a:pt x="6" y="27"/>
                  </a:moveTo>
                  <a:cubicBezTo>
                    <a:pt x="8" y="52"/>
                    <a:pt x="5" y="58"/>
                    <a:pt x="26" y="66"/>
                  </a:cubicBezTo>
                  <a:cubicBezTo>
                    <a:pt x="36" y="63"/>
                    <a:pt x="33" y="61"/>
                    <a:pt x="30" y="52"/>
                  </a:cubicBezTo>
                  <a:cubicBezTo>
                    <a:pt x="28" y="41"/>
                    <a:pt x="34" y="49"/>
                    <a:pt x="38" y="40"/>
                  </a:cubicBezTo>
                  <a:cubicBezTo>
                    <a:pt x="34" y="35"/>
                    <a:pt x="33" y="30"/>
                    <a:pt x="30" y="25"/>
                  </a:cubicBezTo>
                  <a:cubicBezTo>
                    <a:pt x="29" y="14"/>
                    <a:pt x="30" y="0"/>
                    <a:pt x="20" y="13"/>
                  </a:cubicBezTo>
                  <a:cubicBezTo>
                    <a:pt x="14" y="9"/>
                    <a:pt x="12" y="8"/>
                    <a:pt x="11" y="1"/>
                  </a:cubicBezTo>
                  <a:cubicBezTo>
                    <a:pt x="5" y="4"/>
                    <a:pt x="3" y="5"/>
                    <a:pt x="2" y="12"/>
                  </a:cubicBezTo>
                  <a:cubicBezTo>
                    <a:pt x="3" y="25"/>
                    <a:pt x="0" y="21"/>
                    <a:pt x="6" y="2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0" name="Freeform 70"/>
            <p:cNvSpPr/>
            <p:nvPr/>
          </p:nvSpPr>
          <p:spPr bwMode="invGray">
            <a:xfrm>
              <a:off x="4181" y="3275"/>
              <a:ext cx="18" cy="17"/>
            </a:xfrm>
            <a:custGeom>
              <a:avLst/>
              <a:gdLst/>
              <a:ahLst/>
              <a:cxnLst>
                <a:cxn ang="0">
                  <a:pos x="0" y="0"/>
                </a:cxn>
                <a:cxn ang="0">
                  <a:pos x="6" y="23"/>
                </a:cxn>
                <a:cxn ang="0">
                  <a:pos x="24" y="11"/>
                </a:cxn>
                <a:cxn ang="0">
                  <a:pos x="0" y="0"/>
                </a:cxn>
              </a:cxnLst>
              <a:rect l="0" t="0" r="r" b="b"/>
              <a:pathLst>
                <a:path w="24" h="23">
                  <a:moveTo>
                    <a:pt x="0" y="0"/>
                  </a:moveTo>
                  <a:cubicBezTo>
                    <a:pt x="1" y="8"/>
                    <a:pt x="3" y="16"/>
                    <a:pt x="6" y="23"/>
                  </a:cubicBezTo>
                  <a:cubicBezTo>
                    <a:pt x="19" y="20"/>
                    <a:pt x="19" y="22"/>
                    <a:pt x="24" y="11"/>
                  </a:cubicBezTo>
                  <a:cubicBezTo>
                    <a:pt x="20" y="0"/>
                    <a:pt x="4" y="8"/>
                    <a:pt x="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1" name="Freeform 71"/>
            <p:cNvSpPr/>
            <p:nvPr/>
          </p:nvSpPr>
          <p:spPr bwMode="invGray">
            <a:xfrm>
              <a:off x="4208" y="3265"/>
              <a:ext cx="45" cy="39"/>
            </a:xfrm>
            <a:custGeom>
              <a:avLst/>
              <a:gdLst/>
              <a:ahLst/>
              <a:cxnLst>
                <a:cxn ang="0">
                  <a:pos x="9" y="0"/>
                </a:cxn>
                <a:cxn ang="0">
                  <a:pos x="0" y="18"/>
                </a:cxn>
                <a:cxn ang="0">
                  <a:pos x="28" y="33"/>
                </a:cxn>
                <a:cxn ang="0">
                  <a:pos x="42" y="46"/>
                </a:cxn>
                <a:cxn ang="0">
                  <a:pos x="60" y="42"/>
                </a:cxn>
                <a:cxn ang="0">
                  <a:pos x="49" y="24"/>
                </a:cxn>
                <a:cxn ang="0">
                  <a:pos x="28" y="3"/>
                </a:cxn>
                <a:cxn ang="0">
                  <a:pos x="19" y="16"/>
                </a:cxn>
                <a:cxn ang="0">
                  <a:pos x="9" y="0"/>
                </a:cxn>
              </a:cxnLst>
              <a:rect l="0" t="0" r="r" b="b"/>
              <a:pathLst>
                <a:path w="60" h="49">
                  <a:moveTo>
                    <a:pt x="9" y="0"/>
                  </a:moveTo>
                  <a:cubicBezTo>
                    <a:pt x="8" y="7"/>
                    <a:pt x="0" y="18"/>
                    <a:pt x="0" y="18"/>
                  </a:cubicBezTo>
                  <a:cubicBezTo>
                    <a:pt x="2" y="36"/>
                    <a:pt x="9" y="31"/>
                    <a:pt x="28" y="33"/>
                  </a:cubicBezTo>
                  <a:cubicBezTo>
                    <a:pt x="33" y="40"/>
                    <a:pt x="33" y="44"/>
                    <a:pt x="42" y="46"/>
                  </a:cubicBezTo>
                  <a:cubicBezTo>
                    <a:pt x="49" y="49"/>
                    <a:pt x="56" y="49"/>
                    <a:pt x="60" y="42"/>
                  </a:cubicBezTo>
                  <a:cubicBezTo>
                    <a:pt x="58" y="32"/>
                    <a:pt x="59" y="26"/>
                    <a:pt x="49" y="24"/>
                  </a:cubicBezTo>
                  <a:cubicBezTo>
                    <a:pt x="47" y="12"/>
                    <a:pt x="41" y="5"/>
                    <a:pt x="28" y="3"/>
                  </a:cubicBezTo>
                  <a:cubicBezTo>
                    <a:pt x="23" y="10"/>
                    <a:pt x="30" y="23"/>
                    <a:pt x="19" y="16"/>
                  </a:cubicBezTo>
                  <a:cubicBezTo>
                    <a:pt x="17" y="6"/>
                    <a:pt x="20" y="0"/>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2" name="Freeform 72"/>
            <p:cNvSpPr/>
            <p:nvPr/>
          </p:nvSpPr>
          <p:spPr bwMode="invGray">
            <a:xfrm>
              <a:off x="4277" y="3335"/>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3" name="Freeform 73"/>
            <p:cNvSpPr/>
            <p:nvPr/>
          </p:nvSpPr>
          <p:spPr bwMode="invGray">
            <a:xfrm>
              <a:off x="4544" y="3293"/>
              <a:ext cx="46" cy="45"/>
            </a:xfrm>
            <a:custGeom>
              <a:avLst/>
              <a:gdLst/>
              <a:ahLst/>
              <a:cxnLst>
                <a:cxn ang="0">
                  <a:pos x="7" y="0"/>
                </a:cxn>
                <a:cxn ang="0">
                  <a:pos x="0" y="14"/>
                </a:cxn>
                <a:cxn ang="0">
                  <a:pos x="24" y="35"/>
                </a:cxn>
                <a:cxn ang="0">
                  <a:pos x="36" y="54"/>
                </a:cxn>
                <a:cxn ang="0">
                  <a:pos x="46" y="63"/>
                </a:cxn>
                <a:cxn ang="0">
                  <a:pos x="61" y="56"/>
                </a:cxn>
                <a:cxn ang="0">
                  <a:pos x="33" y="17"/>
                </a:cxn>
                <a:cxn ang="0">
                  <a:pos x="7" y="0"/>
                </a:cxn>
              </a:cxnLst>
              <a:rect l="0" t="0" r="r" b="b"/>
              <a:pathLst>
                <a:path w="61" h="63">
                  <a:moveTo>
                    <a:pt x="7" y="0"/>
                  </a:moveTo>
                  <a:cubicBezTo>
                    <a:pt x="6" y="6"/>
                    <a:pt x="3" y="9"/>
                    <a:pt x="0" y="14"/>
                  </a:cubicBezTo>
                  <a:cubicBezTo>
                    <a:pt x="7" y="23"/>
                    <a:pt x="13" y="31"/>
                    <a:pt x="24" y="35"/>
                  </a:cubicBezTo>
                  <a:cubicBezTo>
                    <a:pt x="27" y="42"/>
                    <a:pt x="31" y="48"/>
                    <a:pt x="36" y="54"/>
                  </a:cubicBezTo>
                  <a:cubicBezTo>
                    <a:pt x="37" y="61"/>
                    <a:pt x="40" y="59"/>
                    <a:pt x="46" y="63"/>
                  </a:cubicBezTo>
                  <a:cubicBezTo>
                    <a:pt x="54" y="62"/>
                    <a:pt x="56" y="62"/>
                    <a:pt x="61" y="56"/>
                  </a:cubicBezTo>
                  <a:cubicBezTo>
                    <a:pt x="59" y="46"/>
                    <a:pt x="42" y="23"/>
                    <a:pt x="33" y="17"/>
                  </a:cubicBezTo>
                  <a:cubicBezTo>
                    <a:pt x="23" y="10"/>
                    <a:pt x="14" y="9"/>
                    <a:pt x="7"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4" name="Freeform 74"/>
            <p:cNvSpPr/>
            <p:nvPr/>
          </p:nvSpPr>
          <p:spPr bwMode="invGray">
            <a:xfrm>
              <a:off x="4147" y="3351"/>
              <a:ext cx="46" cy="49"/>
            </a:xfrm>
            <a:custGeom>
              <a:avLst/>
              <a:gdLst/>
              <a:ahLst/>
              <a:cxnLst>
                <a:cxn ang="0">
                  <a:pos x="28" y="7"/>
                </a:cxn>
                <a:cxn ang="0">
                  <a:pos x="30" y="34"/>
                </a:cxn>
                <a:cxn ang="0">
                  <a:pos x="16" y="43"/>
                </a:cxn>
                <a:cxn ang="0">
                  <a:pos x="22" y="67"/>
                </a:cxn>
                <a:cxn ang="0">
                  <a:pos x="48" y="58"/>
                </a:cxn>
                <a:cxn ang="0">
                  <a:pos x="60" y="47"/>
                </a:cxn>
                <a:cxn ang="0">
                  <a:pos x="51" y="28"/>
                </a:cxn>
                <a:cxn ang="0">
                  <a:pos x="57" y="14"/>
                </a:cxn>
                <a:cxn ang="0">
                  <a:pos x="55" y="2"/>
                </a:cxn>
                <a:cxn ang="0">
                  <a:pos x="46" y="4"/>
                </a:cxn>
                <a:cxn ang="0">
                  <a:pos x="51" y="5"/>
                </a:cxn>
                <a:cxn ang="0">
                  <a:pos x="49" y="16"/>
                </a:cxn>
                <a:cxn ang="0">
                  <a:pos x="43" y="23"/>
                </a:cxn>
                <a:cxn ang="0">
                  <a:pos x="28" y="7"/>
                </a:cxn>
              </a:cxnLst>
              <a:rect l="0" t="0" r="r" b="b"/>
              <a:pathLst>
                <a:path w="61" h="67">
                  <a:moveTo>
                    <a:pt x="28" y="7"/>
                  </a:moveTo>
                  <a:cubicBezTo>
                    <a:pt x="17" y="15"/>
                    <a:pt x="24" y="25"/>
                    <a:pt x="30" y="34"/>
                  </a:cubicBezTo>
                  <a:cubicBezTo>
                    <a:pt x="27" y="44"/>
                    <a:pt x="26" y="44"/>
                    <a:pt x="16" y="43"/>
                  </a:cubicBezTo>
                  <a:cubicBezTo>
                    <a:pt x="0" y="46"/>
                    <a:pt x="13" y="63"/>
                    <a:pt x="22" y="67"/>
                  </a:cubicBezTo>
                  <a:cubicBezTo>
                    <a:pt x="31" y="65"/>
                    <a:pt x="39" y="60"/>
                    <a:pt x="48" y="58"/>
                  </a:cubicBezTo>
                  <a:cubicBezTo>
                    <a:pt x="51" y="52"/>
                    <a:pt x="54" y="50"/>
                    <a:pt x="60" y="47"/>
                  </a:cubicBezTo>
                  <a:cubicBezTo>
                    <a:pt x="61" y="40"/>
                    <a:pt x="51" y="28"/>
                    <a:pt x="51" y="28"/>
                  </a:cubicBezTo>
                  <a:cubicBezTo>
                    <a:pt x="52" y="22"/>
                    <a:pt x="55" y="19"/>
                    <a:pt x="57" y="14"/>
                  </a:cubicBezTo>
                  <a:cubicBezTo>
                    <a:pt x="56" y="10"/>
                    <a:pt x="58" y="5"/>
                    <a:pt x="55" y="2"/>
                  </a:cubicBezTo>
                  <a:cubicBezTo>
                    <a:pt x="53" y="0"/>
                    <a:pt x="48" y="2"/>
                    <a:pt x="46" y="4"/>
                  </a:cubicBezTo>
                  <a:cubicBezTo>
                    <a:pt x="45" y="5"/>
                    <a:pt x="49" y="5"/>
                    <a:pt x="51" y="5"/>
                  </a:cubicBezTo>
                  <a:cubicBezTo>
                    <a:pt x="57" y="10"/>
                    <a:pt x="52" y="9"/>
                    <a:pt x="49" y="16"/>
                  </a:cubicBezTo>
                  <a:cubicBezTo>
                    <a:pt x="58" y="23"/>
                    <a:pt x="50" y="22"/>
                    <a:pt x="43" y="23"/>
                  </a:cubicBezTo>
                  <a:cubicBezTo>
                    <a:pt x="34" y="22"/>
                    <a:pt x="31" y="16"/>
                    <a:pt x="28"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5" name="Freeform 75"/>
            <p:cNvSpPr/>
            <p:nvPr/>
          </p:nvSpPr>
          <p:spPr bwMode="invGray">
            <a:xfrm>
              <a:off x="4098" y="3371"/>
              <a:ext cx="32" cy="27"/>
            </a:xfrm>
            <a:custGeom>
              <a:avLst/>
              <a:gdLst/>
              <a:ahLst/>
              <a:cxnLst>
                <a:cxn ang="0">
                  <a:pos x="21" y="3"/>
                </a:cxn>
                <a:cxn ang="0">
                  <a:pos x="6" y="6"/>
                </a:cxn>
                <a:cxn ang="0">
                  <a:pos x="33" y="36"/>
                </a:cxn>
                <a:cxn ang="0">
                  <a:pos x="42" y="30"/>
                </a:cxn>
                <a:cxn ang="0">
                  <a:pos x="21" y="3"/>
                </a:cxn>
              </a:cxnLst>
              <a:rect l="0" t="0" r="r" b="b"/>
              <a:pathLst>
                <a:path w="43" h="36">
                  <a:moveTo>
                    <a:pt x="21" y="3"/>
                  </a:moveTo>
                  <a:cubicBezTo>
                    <a:pt x="14" y="0"/>
                    <a:pt x="12" y="2"/>
                    <a:pt x="6" y="6"/>
                  </a:cubicBezTo>
                  <a:cubicBezTo>
                    <a:pt x="0" y="17"/>
                    <a:pt x="23" y="32"/>
                    <a:pt x="33" y="36"/>
                  </a:cubicBezTo>
                  <a:cubicBezTo>
                    <a:pt x="36" y="35"/>
                    <a:pt x="42" y="34"/>
                    <a:pt x="42" y="30"/>
                  </a:cubicBezTo>
                  <a:cubicBezTo>
                    <a:pt x="43" y="24"/>
                    <a:pt x="27" y="3"/>
                    <a:pt x="21"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6" name="Freeform 76"/>
            <p:cNvSpPr/>
            <p:nvPr/>
          </p:nvSpPr>
          <p:spPr bwMode="invGray">
            <a:xfrm>
              <a:off x="4077" y="3342"/>
              <a:ext cx="24" cy="31"/>
            </a:xfrm>
            <a:custGeom>
              <a:avLst/>
              <a:gdLst/>
              <a:ahLst/>
              <a:cxnLst>
                <a:cxn ang="0">
                  <a:pos x="21" y="0"/>
                </a:cxn>
                <a:cxn ang="0">
                  <a:pos x="0" y="26"/>
                </a:cxn>
                <a:cxn ang="0">
                  <a:pos x="16" y="24"/>
                </a:cxn>
                <a:cxn ang="0">
                  <a:pos x="19" y="29"/>
                </a:cxn>
                <a:cxn ang="0">
                  <a:pos x="16" y="35"/>
                </a:cxn>
                <a:cxn ang="0">
                  <a:pos x="30" y="21"/>
                </a:cxn>
                <a:cxn ang="0">
                  <a:pos x="24" y="9"/>
                </a:cxn>
                <a:cxn ang="0">
                  <a:pos x="21" y="0"/>
                </a:cxn>
              </a:cxnLst>
              <a:rect l="0" t="0" r="r" b="b"/>
              <a:pathLst>
                <a:path w="32" h="41">
                  <a:moveTo>
                    <a:pt x="21" y="0"/>
                  </a:moveTo>
                  <a:cubicBezTo>
                    <a:pt x="15" y="10"/>
                    <a:pt x="6" y="16"/>
                    <a:pt x="0" y="26"/>
                  </a:cubicBezTo>
                  <a:cubicBezTo>
                    <a:pt x="7" y="27"/>
                    <a:pt x="10" y="27"/>
                    <a:pt x="16" y="24"/>
                  </a:cubicBezTo>
                  <a:cubicBezTo>
                    <a:pt x="17" y="26"/>
                    <a:pt x="19" y="27"/>
                    <a:pt x="19" y="29"/>
                  </a:cubicBezTo>
                  <a:cubicBezTo>
                    <a:pt x="19" y="31"/>
                    <a:pt x="15" y="33"/>
                    <a:pt x="16" y="35"/>
                  </a:cubicBezTo>
                  <a:cubicBezTo>
                    <a:pt x="19" y="41"/>
                    <a:pt x="29" y="23"/>
                    <a:pt x="30" y="21"/>
                  </a:cubicBezTo>
                  <a:cubicBezTo>
                    <a:pt x="32" y="9"/>
                    <a:pt x="26" y="19"/>
                    <a:pt x="24" y="9"/>
                  </a:cubicBezTo>
                  <a:cubicBezTo>
                    <a:pt x="25" y="1"/>
                    <a:pt x="27" y="4"/>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7" name="Freeform 77"/>
            <p:cNvSpPr/>
            <p:nvPr/>
          </p:nvSpPr>
          <p:spPr bwMode="invGray">
            <a:xfrm>
              <a:off x="4111" y="3351"/>
              <a:ext cx="33" cy="26"/>
            </a:xfrm>
            <a:custGeom>
              <a:avLst/>
              <a:gdLst/>
              <a:ahLst/>
              <a:cxnLst>
                <a:cxn ang="0">
                  <a:pos x="21" y="0"/>
                </a:cxn>
                <a:cxn ang="0">
                  <a:pos x="0" y="7"/>
                </a:cxn>
                <a:cxn ang="0">
                  <a:pos x="27" y="31"/>
                </a:cxn>
                <a:cxn ang="0">
                  <a:pos x="45" y="24"/>
                </a:cxn>
                <a:cxn ang="0">
                  <a:pos x="22" y="10"/>
                </a:cxn>
                <a:cxn ang="0">
                  <a:pos x="21" y="0"/>
                </a:cxn>
              </a:cxnLst>
              <a:rect l="0" t="0" r="r" b="b"/>
              <a:pathLst>
                <a:path w="45" h="32">
                  <a:moveTo>
                    <a:pt x="21" y="0"/>
                  </a:moveTo>
                  <a:cubicBezTo>
                    <a:pt x="10" y="1"/>
                    <a:pt x="8" y="1"/>
                    <a:pt x="0" y="7"/>
                  </a:cubicBezTo>
                  <a:cubicBezTo>
                    <a:pt x="3" y="20"/>
                    <a:pt x="15" y="29"/>
                    <a:pt x="27" y="31"/>
                  </a:cubicBezTo>
                  <a:cubicBezTo>
                    <a:pt x="36" y="30"/>
                    <a:pt x="41" y="32"/>
                    <a:pt x="45" y="24"/>
                  </a:cubicBezTo>
                  <a:cubicBezTo>
                    <a:pt x="32" y="16"/>
                    <a:pt x="30" y="23"/>
                    <a:pt x="22" y="10"/>
                  </a:cubicBezTo>
                  <a:cubicBezTo>
                    <a:pt x="21" y="2"/>
                    <a:pt x="21" y="5"/>
                    <a:pt x="2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8" name="Freeform 78"/>
            <p:cNvSpPr/>
            <p:nvPr/>
          </p:nvSpPr>
          <p:spPr bwMode="invGray">
            <a:xfrm>
              <a:off x="4062" y="3021"/>
              <a:ext cx="27" cy="53"/>
            </a:xfrm>
            <a:custGeom>
              <a:avLst/>
              <a:gdLst/>
              <a:ahLst/>
              <a:cxnLst>
                <a:cxn ang="0">
                  <a:pos x="30" y="0"/>
                </a:cxn>
                <a:cxn ang="0">
                  <a:pos x="21" y="15"/>
                </a:cxn>
                <a:cxn ang="0">
                  <a:pos x="9" y="36"/>
                </a:cxn>
                <a:cxn ang="0">
                  <a:pos x="0" y="59"/>
                </a:cxn>
                <a:cxn ang="0">
                  <a:pos x="8" y="74"/>
                </a:cxn>
                <a:cxn ang="0">
                  <a:pos x="20" y="59"/>
                </a:cxn>
                <a:cxn ang="0">
                  <a:pos x="35" y="32"/>
                </a:cxn>
                <a:cxn ang="0">
                  <a:pos x="30" y="0"/>
                </a:cxn>
              </a:cxnLst>
              <a:rect l="0" t="0" r="r" b="b"/>
              <a:pathLst>
                <a:path w="35" h="74">
                  <a:moveTo>
                    <a:pt x="30" y="0"/>
                  </a:moveTo>
                  <a:cubicBezTo>
                    <a:pt x="33" y="8"/>
                    <a:pt x="29" y="14"/>
                    <a:pt x="21" y="15"/>
                  </a:cubicBezTo>
                  <a:cubicBezTo>
                    <a:pt x="19" y="27"/>
                    <a:pt x="24" y="33"/>
                    <a:pt x="9" y="36"/>
                  </a:cubicBezTo>
                  <a:cubicBezTo>
                    <a:pt x="13" y="50"/>
                    <a:pt x="12" y="52"/>
                    <a:pt x="0" y="59"/>
                  </a:cubicBezTo>
                  <a:cubicBezTo>
                    <a:pt x="3" y="64"/>
                    <a:pt x="5" y="69"/>
                    <a:pt x="8" y="74"/>
                  </a:cubicBezTo>
                  <a:cubicBezTo>
                    <a:pt x="15" y="71"/>
                    <a:pt x="16" y="65"/>
                    <a:pt x="20" y="59"/>
                  </a:cubicBezTo>
                  <a:cubicBezTo>
                    <a:pt x="22" y="47"/>
                    <a:pt x="28" y="41"/>
                    <a:pt x="35" y="32"/>
                  </a:cubicBezTo>
                  <a:cubicBezTo>
                    <a:pt x="34" y="26"/>
                    <a:pt x="30" y="8"/>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69" name="Freeform 79"/>
            <p:cNvSpPr/>
            <p:nvPr/>
          </p:nvSpPr>
          <p:spPr bwMode="invGray">
            <a:xfrm>
              <a:off x="4113" y="3012"/>
              <a:ext cx="19" cy="53"/>
            </a:xfrm>
            <a:custGeom>
              <a:avLst/>
              <a:gdLst/>
              <a:ahLst/>
              <a:cxnLst>
                <a:cxn ang="0">
                  <a:pos x="13" y="7"/>
                </a:cxn>
                <a:cxn ang="0">
                  <a:pos x="4" y="8"/>
                </a:cxn>
                <a:cxn ang="0">
                  <a:pos x="0" y="22"/>
                </a:cxn>
                <a:cxn ang="0">
                  <a:pos x="15" y="41"/>
                </a:cxn>
                <a:cxn ang="0">
                  <a:pos x="25" y="56"/>
                </a:cxn>
                <a:cxn ang="0">
                  <a:pos x="16" y="20"/>
                </a:cxn>
                <a:cxn ang="0">
                  <a:pos x="13" y="7"/>
                </a:cxn>
              </a:cxnLst>
              <a:rect l="0" t="0" r="r" b="b"/>
              <a:pathLst>
                <a:path w="25" h="73">
                  <a:moveTo>
                    <a:pt x="13" y="7"/>
                  </a:moveTo>
                  <a:cubicBezTo>
                    <a:pt x="9" y="0"/>
                    <a:pt x="7" y="2"/>
                    <a:pt x="4" y="8"/>
                  </a:cubicBezTo>
                  <a:cubicBezTo>
                    <a:pt x="3" y="13"/>
                    <a:pt x="1" y="17"/>
                    <a:pt x="0" y="22"/>
                  </a:cubicBezTo>
                  <a:cubicBezTo>
                    <a:pt x="1" y="35"/>
                    <a:pt x="6" y="33"/>
                    <a:pt x="15" y="41"/>
                  </a:cubicBezTo>
                  <a:cubicBezTo>
                    <a:pt x="16" y="52"/>
                    <a:pt x="15" y="73"/>
                    <a:pt x="25" y="56"/>
                  </a:cubicBezTo>
                  <a:cubicBezTo>
                    <a:pt x="24" y="33"/>
                    <a:pt x="23" y="36"/>
                    <a:pt x="16" y="20"/>
                  </a:cubicBezTo>
                  <a:cubicBezTo>
                    <a:pt x="15" y="11"/>
                    <a:pt x="16" y="15"/>
                    <a:pt x="13"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0" name="Freeform 80"/>
            <p:cNvSpPr/>
            <p:nvPr/>
          </p:nvSpPr>
          <p:spPr bwMode="invGray">
            <a:xfrm>
              <a:off x="4135" y="2995"/>
              <a:ext cx="9" cy="25"/>
            </a:xfrm>
            <a:custGeom>
              <a:avLst/>
              <a:gdLst/>
              <a:ahLst/>
              <a:cxnLst>
                <a:cxn ang="0">
                  <a:pos x="11" y="0"/>
                </a:cxn>
                <a:cxn ang="0">
                  <a:pos x="1" y="10"/>
                </a:cxn>
                <a:cxn ang="0">
                  <a:pos x="11" y="25"/>
                </a:cxn>
                <a:cxn ang="0">
                  <a:pos x="11" y="0"/>
                </a:cxn>
              </a:cxnLst>
              <a:rect l="0" t="0" r="r" b="b"/>
              <a:pathLst>
                <a:path w="14" h="33">
                  <a:moveTo>
                    <a:pt x="11" y="0"/>
                  </a:moveTo>
                  <a:cubicBezTo>
                    <a:pt x="7" y="3"/>
                    <a:pt x="5" y="7"/>
                    <a:pt x="1" y="10"/>
                  </a:cubicBezTo>
                  <a:cubicBezTo>
                    <a:pt x="2" y="18"/>
                    <a:pt x="0" y="33"/>
                    <a:pt x="11" y="25"/>
                  </a:cubicBezTo>
                  <a:cubicBezTo>
                    <a:pt x="14" y="15"/>
                    <a:pt x="5" y="4"/>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1" name="Freeform 81"/>
            <p:cNvSpPr/>
            <p:nvPr/>
          </p:nvSpPr>
          <p:spPr bwMode="invGray">
            <a:xfrm>
              <a:off x="4145" y="3007"/>
              <a:ext cx="21" cy="45"/>
            </a:xfrm>
            <a:custGeom>
              <a:avLst/>
              <a:gdLst/>
              <a:ahLst/>
              <a:cxnLst>
                <a:cxn ang="0">
                  <a:pos x="5" y="0"/>
                </a:cxn>
                <a:cxn ang="0">
                  <a:pos x="11" y="14"/>
                </a:cxn>
                <a:cxn ang="0">
                  <a:pos x="20" y="21"/>
                </a:cxn>
                <a:cxn ang="0">
                  <a:pos x="8" y="39"/>
                </a:cxn>
                <a:cxn ang="0">
                  <a:pos x="0" y="56"/>
                </a:cxn>
                <a:cxn ang="0">
                  <a:pos x="11" y="57"/>
                </a:cxn>
                <a:cxn ang="0">
                  <a:pos x="26" y="26"/>
                </a:cxn>
                <a:cxn ang="0">
                  <a:pos x="5" y="0"/>
                </a:cxn>
              </a:cxnLst>
              <a:rect l="0" t="0" r="r" b="b"/>
              <a:pathLst>
                <a:path w="28" h="64">
                  <a:moveTo>
                    <a:pt x="5" y="0"/>
                  </a:moveTo>
                  <a:cubicBezTo>
                    <a:pt x="6" y="5"/>
                    <a:pt x="7" y="10"/>
                    <a:pt x="11" y="14"/>
                  </a:cubicBezTo>
                  <a:cubicBezTo>
                    <a:pt x="14" y="17"/>
                    <a:pt x="20" y="21"/>
                    <a:pt x="20" y="21"/>
                  </a:cubicBezTo>
                  <a:cubicBezTo>
                    <a:pt x="9" y="27"/>
                    <a:pt x="0" y="23"/>
                    <a:pt x="8" y="39"/>
                  </a:cubicBezTo>
                  <a:cubicBezTo>
                    <a:pt x="6" y="47"/>
                    <a:pt x="4" y="50"/>
                    <a:pt x="0" y="56"/>
                  </a:cubicBezTo>
                  <a:cubicBezTo>
                    <a:pt x="4" y="62"/>
                    <a:pt x="7" y="64"/>
                    <a:pt x="11" y="57"/>
                  </a:cubicBezTo>
                  <a:cubicBezTo>
                    <a:pt x="13" y="43"/>
                    <a:pt x="10" y="29"/>
                    <a:pt x="26" y="26"/>
                  </a:cubicBezTo>
                  <a:cubicBezTo>
                    <a:pt x="28" y="15"/>
                    <a:pt x="14" y="4"/>
                    <a:pt x="5"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2" name="Freeform 82"/>
            <p:cNvSpPr/>
            <p:nvPr/>
          </p:nvSpPr>
          <p:spPr bwMode="invGray">
            <a:xfrm>
              <a:off x="3876" y="3076"/>
              <a:ext cx="12" cy="27"/>
            </a:xfrm>
            <a:custGeom>
              <a:avLst/>
              <a:gdLst/>
              <a:ahLst/>
              <a:cxnLst>
                <a:cxn ang="0">
                  <a:pos x="14" y="3"/>
                </a:cxn>
                <a:cxn ang="0">
                  <a:pos x="0" y="7"/>
                </a:cxn>
                <a:cxn ang="0">
                  <a:pos x="8" y="22"/>
                </a:cxn>
                <a:cxn ang="0">
                  <a:pos x="14" y="3"/>
                </a:cxn>
              </a:cxnLst>
              <a:rect l="0" t="0" r="r" b="b"/>
              <a:pathLst>
                <a:path w="16" h="36">
                  <a:moveTo>
                    <a:pt x="14" y="3"/>
                  </a:moveTo>
                  <a:cubicBezTo>
                    <a:pt x="7" y="0"/>
                    <a:pt x="4" y="1"/>
                    <a:pt x="0" y="7"/>
                  </a:cubicBezTo>
                  <a:cubicBezTo>
                    <a:pt x="3" y="14"/>
                    <a:pt x="2" y="17"/>
                    <a:pt x="8" y="22"/>
                  </a:cubicBezTo>
                  <a:cubicBezTo>
                    <a:pt x="16" y="36"/>
                    <a:pt x="11" y="7"/>
                    <a:pt x="14" y="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3" name="Freeform 83"/>
            <p:cNvSpPr/>
            <p:nvPr/>
          </p:nvSpPr>
          <p:spPr bwMode="invGray">
            <a:xfrm>
              <a:off x="3866" y="3052"/>
              <a:ext cx="10"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4" name="Freeform 84"/>
            <p:cNvSpPr/>
            <p:nvPr/>
          </p:nvSpPr>
          <p:spPr bwMode="invGray">
            <a:xfrm>
              <a:off x="3862" y="3036"/>
              <a:ext cx="12" cy="13"/>
            </a:xfrm>
            <a:custGeom>
              <a:avLst/>
              <a:gdLst/>
              <a:ahLst/>
              <a:cxnLst>
                <a:cxn ang="0">
                  <a:pos x="10" y="5"/>
                </a:cxn>
                <a:cxn ang="0">
                  <a:pos x="0" y="10"/>
                </a:cxn>
                <a:cxn ang="0">
                  <a:pos x="12" y="19"/>
                </a:cxn>
                <a:cxn ang="0">
                  <a:pos x="10" y="5"/>
                </a:cxn>
              </a:cxnLst>
              <a:rect l="0" t="0" r="r" b="b"/>
              <a:pathLst>
                <a:path w="16" h="19">
                  <a:moveTo>
                    <a:pt x="10" y="5"/>
                  </a:moveTo>
                  <a:cubicBezTo>
                    <a:pt x="4" y="0"/>
                    <a:pt x="1" y="3"/>
                    <a:pt x="0" y="10"/>
                  </a:cubicBezTo>
                  <a:cubicBezTo>
                    <a:pt x="4" y="15"/>
                    <a:pt x="7" y="16"/>
                    <a:pt x="12" y="19"/>
                  </a:cubicBezTo>
                  <a:cubicBezTo>
                    <a:pt x="16" y="12"/>
                    <a:pt x="14"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5" name="Freeform 85"/>
            <p:cNvSpPr/>
            <p:nvPr/>
          </p:nvSpPr>
          <p:spPr bwMode="invGray">
            <a:xfrm>
              <a:off x="3850" y="2995"/>
              <a:ext cx="11" cy="17"/>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6" name="Freeform 86"/>
            <p:cNvSpPr/>
            <p:nvPr/>
          </p:nvSpPr>
          <p:spPr bwMode="invGray">
            <a:xfrm>
              <a:off x="3852" y="3020"/>
              <a:ext cx="16" cy="13"/>
            </a:xfrm>
            <a:custGeom>
              <a:avLst/>
              <a:gdLst/>
              <a:ahLst/>
              <a:cxnLst>
                <a:cxn ang="0">
                  <a:pos x="13" y="0"/>
                </a:cxn>
                <a:cxn ang="0">
                  <a:pos x="19" y="18"/>
                </a:cxn>
                <a:cxn ang="0">
                  <a:pos x="14" y="6"/>
                </a:cxn>
                <a:cxn ang="0">
                  <a:pos x="13" y="0"/>
                </a:cxn>
              </a:cxnLst>
              <a:rect l="0" t="0" r="r" b="b"/>
              <a:pathLst>
                <a:path w="22" h="18">
                  <a:moveTo>
                    <a:pt x="13" y="0"/>
                  </a:moveTo>
                  <a:cubicBezTo>
                    <a:pt x="0" y="8"/>
                    <a:pt x="9" y="12"/>
                    <a:pt x="19" y="18"/>
                  </a:cubicBezTo>
                  <a:cubicBezTo>
                    <a:pt x="20" y="11"/>
                    <a:pt x="22" y="8"/>
                    <a:pt x="14" y="6"/>
                  </a:cubicBezTo>
                  <a:cubicBezTo>
                    <a:pt x="9" y="3"/>
                    <a:pt x="9" y="5"/>
                    <a:pt x="13"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7" name="Freeform 87"/>
            <p:cNvSpPr/>
            <p:nvPr/>
          </p:nvSpPr>
          <p:spPr bwMode="invGray">
            <a:xfrm>
              <a:off x="4688" y="3643"/>
              <a:ext cx="45" cy="61"/>
            </a:xfrm>
            <a:custGeom>
              <a:avLst/>
              <a:gdLst/>
              <a:ahLst/>
              <a:cxnLst>
                <a:cxn ang="0">
                  <a:pos x="10" y="7"/>
                </a:cxn>
                <a:cxn ang="0">
                  <a:pos x="3" y="18"/>
                </a:cxn>
                <a:cxn ang="0">
                  <a:pos x="15" y="39"/>
                </a:cxn>
                <a:cxn ang="0">
                  <a:pos x="27" y="54"/>
                </a:cxn>
                <a:cxn ang="0">
                  <a:pos x="40" y="63"/>
                </a:cxn>
                <a:cxn ang="0">
                  <a:pos x="51" y="81"/>
                </a:cxn>
                <a:cxn ang="0">
                  <a:pos x="52" y="57"/>
                </a:cxn>
                <a:cxn ang="0">
                  <a:pos x="43" y="37"/>
                </a:cxn>
                <a:cxn ang="0">
                  <a:pos x="25" y="18"/>
                </a:cxn>
                <a:cxn ang="0">
                  <a:pos x="10" y="7"/>
                </a:cxn>
              </a:cxnLst>
              <a:rect l="0" t="0" r="r" b="b"/>
              <a:pathLst>
                <a:path w="60" h="81">
                  <a:moveTo>
                    <a:pt x="10" y="7"/>
                  </a:moveTo>
                  <a:cubicBezTo>
                    <a:pt x="0" y="0"/>
                    <a:pt x="0" y="9"/>
                    <a:pt x="3" y="18"/>
                  </a:cubicBezTo>
                  <a:cubicBezTo>
                    <a:pt x="5" y="25"/>
                    <a:pt x="12" y="32"/>
                    <a:pt x="15" y="39"/>
                  </a:cubicBezTo>
                  <a:cubicBezTo>
                    <a:pt x="16" y="51"/>
                    <a:pt x="17" y="51"/>
                    <a:pt x="27" y="54"/>
                  </a:cubicBezTo>
                  <a:cubicBezTo>
                    <a:pt x="31" y="57"/>
                    <a:pt x="36" y="60"/>
                    <a:pt x="40" y="63"/>
                  </a:cubicBezTo>
                  <a:cubicBezTo>
                    <a:pt x="43" y="70"/>
                    <a:pt x="45" y="77"/>
                    <a:pt x="51" y="81"/>
                  </a:cubicBezTo>
                  <a:cubicBezTo>
                    <a:pt x="60" y="75"/>
                    <a:pt x="56" y="66"/>
                    <a:pt x="52" y="57"/>
                  </a:cubicBezTo>
                  <a:cubicBezTo>
                    <a:pt x="51" y="49"/>
                    <a:pt x="50" y="41"/>
                    <a:pt x="43" y="37"/>
                  </a:cubicBezTo>
                  <a:cubicBezTo>
                    <a:pt x="37" y="30"/>
                    <a:pt x="33" y="23"/>
                    <a:pt x="25" y="18"/>
                  </a:cubicBezTo>
                  <a:cubicBezTo>
                    <a:pt x="20" y="12"/>
                    <a:pt x="17" y="9"/>
                    <a:pt x="10" y="7"/>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8" name="Freeform 88"/>
            <p:cNvSpPr/>
            <p:nvPr/>
          </p:nvSpPr>
          <p:spPr bwMode="invGray">
            <a:xfrm>
              <a:off x="4919" y="3593"/>
              <a:ext cx="53" cy="47"/>
            </a:xfrm>
            <a:custGeom>
              <a:avLst/>
              <a:gdLst/>
              <a:ahLst/>
              <a:cxnLst>
                <a:cxn ang="0">
                  <a:pos x="28" y="23"/>
                </a:cxn>
                <a:cxn ang="0">
                  <a:pos x="13" y="32"/>
                </a:cxn>
                <a:cxn ang="0">
                  <a:pos x="1" y="44"/>
                </a:cxn>
                <a:cxn ang="0">
                  <a:pos x="13" y="59"/>
                </a:cxn>
                <a:cxn ang="0">
                  <a:pos x="28" y="44"/>
                </a:cxn>
                <a:cxn ang="0">
                  <a:pos x="40" y="23"/>
                </a:cxn>
                <a:cxn ang="0">
                  <a:pos x="55" y="0"/>
                </a:cxn>
                <a:cxn ang="0">
                  <a:pos x="71" y="11"/>
                </a:cxn>
                <a:cxn ang="0">
                  <a:pos x="35" y="23"/>
                </a:cxn>
                <a:cxn ang="0">
                  <a:pos x="28" y="23"/>
                </a:cxn>
              </a:cxnLst>
              <a:rect l="0" t="0" r="r" b="b"/>
              <a:pathLst>
                <a:path w="71" h="61">
                  <a:moveTo>
                    <a:pt x="28" y="23"/>
                  </a:moveTo>
                  <a:cubicBezTo>
                    <a:pt x="25" y="33"/>
                    <a:pt x="25" y="33"/>
                    <a:pt x="13" y="32"/>
                  </a:cubicBezTo>
                  <a:cubicBezTo>
                    <a:pt x="2" y="33"/>
                    <a:pt x="3" y="34"/>
                    <a:pt x="1" y="44"/>
                  </a:cubicBezTo>
                  <a:cubicBezTo>
                    <a:pt x="2" y="60"/>
                    <a:pt x="0" y="61"/>
                    <a:pt x="13" y="59"/>
                  </a:cubicBezTo>
                  <a:cubicBezTo>
                    <a:pt x="19" y="54"/>
                    <a:pt x="21" y="48"/>
                    <a:pt x="28" y="44"/>
                  </a:cubicBezTo>
                  <a:cubicBezTo>
                    <a:pt x="30" y="33"/>
                    <a:pt x="28" y="25"/>
                    <a:pt x="40" y="23"/>
                  </a:cubicBezTo>
                  <a:cubicBezTo>
                    <a:pt x="42" y="12"/>
                    <a:pt x="44" y="4"/>
                    <a:pt x="55" y="0"/>
                  </a:cubicBezTo>
                  <a:cubicBezTo>
                    <a:pt x="65" y="2"/>
                    <a:pt x="69" y="1"/>
                    <a:pt x="71" y="11"/>
                  </a:cubicBezTo>
                  <a:cubicBezTo>
                    <a:pt x="63" y="22"/>
                    <a:pt x="48" y="21"/>
                    <a:pt x="35" y="23"/>
                  </a:cubicBezTo>
                  <a:cubicBezTo>
                    <a:pt x="30" y="27"/>
                    <a:pt x="32" y="27"/>
                    <a:pt x="28" y="23"/>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79" name="Freeform 89"/>
            <p:cNvSpPr/>
            <p:nvPr/>
          </p:nvSpPr>
          <p:spPr bwMode="invGray">
            <a:xfrm>
              <a:off x="4759" y="3569"/>
              <a:ext cx="17" cy="23"/>
            </a:xfrm>
            <a:custGeom>
              <a:avLst/>
              <a:gdLst/>
              <a:ahLst/>
              <a:cxnLst>
                <a:cxn ang="0">
                  <a:pos x="9" y="0"/>
                </a:cxn>
                <a:cxn ang="0">
                  <a:pos x="0" y="14"/>
                </a:cxn>
                <a:cxn ang="0">
                  <a:pos x="12" y="30"/>
                </a:cxn>
                <a:cxn ang="0">
                  <a:pos x="9" y="0"/>
                </a:cxn>
              </a:cxnLst>
              <a:rect l="0" t="0" r="r" b="b"/>
              <a:pathLst>
                <a:path w="23" h="30">
                  <a:moveTo>
                    <a:pt x="9" y="0"/>
                  </a:moveTo>
                  <a:cubicBezTo>
                    <a:pt x="8" y="7"/>
                    <a:pt x="3" y="8"/>
                    <a:pt x="0" y="14"/>
                  </a:cubicBezTo>
                  <a:cubicBezTo>
                    <a:pt x="3" y="21"/>
                    <a:pt x="8" y="24"/>
                    <a:pt x="12" y="30"/>
                  </a:cubicBezTo>
                  <a:cubicBezTo>
                    <a:pt x="23" y="15"/>
                    <a:pt x="4" y="9"/>
                    <a:pt x="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0" name="Freeform 90"/>
            <p:cNvSpPr/>
            <p:nvPr/>
          </p:nvSpPr>
          <p:spPr bwMode="invGray">
            <a:xfrm>
              <a:off x="4751" y="3547"/>
              <a:ext cx="20" cy="17"/>
            </a:xfrm>
            <a:custGeom>
              <a:avLst/>
              <a:gdLst/>
              <a:ahLst/>
              <a:cxnLst>
                <a:cxn ang="0">
                  <a:pos x="19" y="0"/>
                </a:cxn>
                <a:cxn ang="0">
                  <a:pos x="0" y="14"/>
                </a:cxn>
                <a:cxn ang="0">
                  <a:pos x="21" y="20"/>
                </a:cxn>
                <a:cxn ang="0">
                  <a:pos x="19" y="0"/>
                </a:cxn>
              </a:cxnLst>
              <a:rect l="0" t="0" r="r" b="b"/>
              <a:pathLst>
                <a:path w="26" h="23">
                  <a:moveTo>
                    <a:pt x="19" y="0"/>
                  </a:moveTo>
                  <a:cubicBezTo>
                    <a:pt x="17" y="12"/>
                    <a:pt x="10" y="11"/>
                    <a:pt x="0" y="14"/>
                  </a:cubicBezTo>
                  <a:cubicBezTo>
                    <a:pt x="5" y="23"/>
                    <a:pt x="11" y="22"/>
                    <a:pt x="21" y="20"/>
                  </a:cubicBezTo>
                  <a:cubicBezTo>
                    <a:pt x="26" y="12"/>
                    <a:pt x="23" y="7"/>
                    <a:pt x="1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1" name="Freeform 91"/>
            <p:cNvSpPr/>
            <p:nvPr/>
          </p:nvSpPr>
          <p:spPr bwMode="invGray">
            <a:xfrm>
              <a:off x="4598" y="3351"/>
              <a:ext cx="24" cy="31"/>
            </a:xfrm>
            <a:custGeom>
              <a:avLst/>
              <a:gdLst/>
              <a:ahLst/>
              <a:cxnLst>
                <a:cxn ang="0">
                  <a:pos x="28" y="0"/>
                </a:cxn>
                <a:cxn ang="0">
                  <a:pos x="10" y="11"/>
                </a:cxn>
                <a:cxn ang="0">
                  <a:pos x="12" y="32"/>
                </a:cxn>
                <a:cxn ang="0">
                  <a:pos x="24" y="36"/>
                </a:cxn>
                <a:cxn ang="0">
                  <a:pos x="28" y="0"/>
                </a:cxn>
              </a:cxnLst>
              <a:rect l="0" t="0" r="r" b="b"/>
              <a:pathLst>
                <a:path w="32" h="44">
                  <a:moveTo>
                    <a:pt x="28" y="0"/>
                  </a:moveTo>
                  <a:cubicBezTo>
                    <a:pt x="32" y="10"/>
                    <a:pt x="18" y="9"/>
                    <a:pt x="10" y="11"/>
                  </a:cubicBezTo>
                  <a:cubicBezTo>
                    <a:pt x="0" y="18"/>
                    <a:pt x="7" y="24"/>
                    <a:pt x="12" y="32"/>
                  </a:cubicBezTo>
                  <a:cubicBezTo>
                    <a:pt x="14" y="44"/>
                    <a:pt x="15" y="41"/>
                    <a:pt x="24" y="36"/>
                  </a:cubicBezTo>
                  <a:cubicBezTo>
                    <a:pt x="32" y="25"/>
                    <a:pt x="29" y="14"/>
                    <a:pt x="2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2" name="Freeform 92"/>
            <p:cNvSpPr/>
            <p:nvPr/>
          </p:nvSpPr>
          <p:spPr bwMode="invGray">
            <a:xfrm>
              <a:off x="4632" y="3395"/>
              <a:ext cx="26" cy="34"/>
            </a:xfrm>
            <a:custGeom>
              <a:avLst/>
              <a:gdLst/>
              <a:ahLst/>
              <a:cxnLst>
                <a:cxn ang="0">
                  <a:pos x="30" y="0"/>
                </a:cxn>
                <a:cxn ang="0">
                  <a:pos x="10" y="9"/>
                </a:cxn>
                <a:cxn ang="0">
                  <a:pos x="14" y="32"/>
                </a:cxn>
                <a:cxn ang="0">
                  <a:pos x="26" y="36"/>
                </a:cxn>
                <a:cxn ang="0">
                  <a:pos x="30" y="0"/>
                </a:cxn>
              </a:cxnLst>
              <a:rect l="0" t="0" r="r" b="b"/>
              <a:pathLst>
                <a:path w="34" h="44">
                  <a:moveTo>
                    <a:pt x="30" y="0"/>
                  </a:moveTo>
                  <a:cubicBezTo>
                    <a:pt x="34" y="10"/>
                    <a:pt x="18" y="7"/>
                    <a:pt x="10" y="9"/>
                  </a:cubicBezTo>
                  <a:cubicBezTo>
                    <a:pt x="0" y="16"/>
                    <a:pt x="9" y="24"/>
                    <a:pt x="14" y="32"/>
                  </a:cubicBezTo>
                  <a:cubicBezTo>
                    <a:pt x="16" y="44"/>
                    <a:pt x="17" y="41"/>
                    <a:pt x="26" y="36"/>
                  </a:cubicBezTo>
                  <a:cubicBezTo>
                    <a:pt x="34" y="25"/>
                    <a:pt x="31" y="14"/>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3" name="Freeform 93"/>
            <p:cNvSpPr/>
            <p:nvPr/>
          </p:nvSpPr>
          <p:spPr bwMode="invGray">
            <a:xfrm>
              <a:off x="4659" y="3459"/>
              <a:ext cx="28" cy="28"/>
            </a:xfrm>
            <a:custGeom>
              <a:avLst/>
              <a:gdLst/>
              <a:ahLst/>
              <a:cxnLst>
                <a:cxn ang="0">
                  <a:pos x="34" y="2"/>
                </a:cxn>
                <a:cxn ang="0">
                  <a:pos x="10" y="2"/>
                </a:cxn>
                <a:cxn ang="0">
                  <a:pos x="14" y="25"/>
                </a:cxn>
                <a:cxn ang="0">
                  <a:pos x="26" y="29"/>
                </a:cxn>
                <a:cxn ang="0">
                  <a:pos x="34" y="2"/>
                </a:cxn>
              </a:cxnLst>
              <a:rect l="0" t="0" r="r" b="b"/>
              <a:pathLst>
                <a:path w="38" h="37">
                  <a:moveTo>
                    <a:pt x="34" y="2"/>
                  </a:moveTo>
                  <a:cubicBezTo>
                    <a:pt x="38" y="12"/>
                    <a:pt x="18" y="0"/>
                    <a:pt x="10" y="2"/>
                  </a:cubicBezTo>
                  <a:cubicBezTo>
                    <a:pt x="0" y="9"/>
                    <a:pt x="9" y="17"/>
                    <a:pt x="14" y="25"/>
                  </a:cubicBezTo>
                  <a:cubicBezTo>
                    <a:pt x="16" y="37"/>
                    <a:pt x="17" y="34"/>
                    <a:pt x="26" y="29"/>
                  </a:cubicBezTo>
                  <a:cubicBezTo>
                    <a:pt x="34" y="18"/>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4" name="Freeform 94"/>
            <p:cNvSpPr/>
            <p:nvPr/>
          </p:nvSpPr>
          <p:spPr bwMode="invGray">
            <a:xfrm>
              <a:off x="4693" y="3448"/>
              <a:ext cx="28" cy="27"/>
            </a:xfrm>
            <a:custGeom>
              <a:avLst/>
              <a:gdLst/>
              <a:ahLst/>
              <a:cxnLst>
                <a:cxn ang="0">
                  <a:pos x="34" y="2"/>
                </a:cxn>
                <a:cxn ang="0">
                  <a:pos x="10" y="2"/>
                </a:cxn>
                <a:cxn ang="0">
                  <a:pos x="16" y="22"/>
                </a:cxn>
                <a:cxn ang="0">
                  <a:pos x="27" y="22"/>
                </a:cxn>
                <a:cxn ang="0">
                  <a:pos x="34" y="2"/>
                </a:cxn>
              </a:cxnLst>
              <a:rect l="0" t="0" r="r" b="b"/>
              <a:pathLst>
                <a:path w="38" h="34">
                  <a:moveTo>
                    <a:pt x="34" y="2"/>
                  </a:moveTo>
                  <a:cubicBezTo>
                    <a:pt x="38" y="12"/>
                    <a:pt x="18" y="0"/>
                    <a:pt x="10" y="2"/>
                  </a:cubicBezTo>
                  <a:cubicBezTo>
                    <a:pt x="0" y="9"/>
                    <a:pt x="11" y="14"/>
                    <a:pt x="16" y="22"/>
                  </a:cubicBezTo>
                  <a:cubicBezTo>
                    <a:pt x="18" y="34"/>
                    <a:pt x="18" y="27"/>
                    <a:pt x="27" y="22"/>
                  </a:cubicBezTo>
                  <a:cubicBezTo>
                    <a:pt x="35" y="11"/>
                    <a:pt x="35" y="16"/>
                    <a:pt x="34" y="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5" name="Freeform 95"/>
            <p:cNvSpPr/>
            <p:nvPr/>
          </p:nvSpPr>
          <p:spPr bwMode="invGray">
            <a:xfrm>
              <a:off x="4683" y="3414"/>
              <a:ext cx="27" cy="19"/>
            </a:xfrm>
            <a:custGeom>
              <a:avLst/>
              <a:gdLst/>
              <a:ahLst/>
              <a:cxnLst>
                <a:cxn ang="0">
                  <a:pos x="31" y="1"/>
                </a:cxn>
                <a:cxn ang="0">
                  <a:pos x="10" y="2"/>
                </a:cxn>
                <a:cxn ang="0">
                  <a:pos x="13" y="15"/>
                </a:cxn>
                <a:cxn ang="0">
                  <a:pos x="25" y="19"/>
                </a:cxn>
                <a:cxn ang="0">
                  <a:pos x="31" y="1"/>
                </a:cxn>
              </a:cxnLst>
              <a:rect l="0" t="0" r="r" b="b"/>
              <a:pathLst>
                <a:path w="35" h="27">
                  <a:moveTo>
                    <a:pt x="31" y="1"/>
                  </a:moveTo>
                  <a:cubicBezTo>
                    <a:pt x="35" y="11"/>
                    <a:pt x="18" y="0"/>
                    <a:pt x="10" y="2"/>
                  </a:cubicBezTo>
                  <a:cubicBezTo>
                    <a:pt x="0" y="9"/>
                    <a:pt x="8" y="7"/>
                    <a:pt x="13" y="15"/>
                  </a:cubicBezTo>
                  <a:cubicBezTo>
                    <a:pt x="15" y="27"/>
                    <a:pt x="16" y="24"/>
                    <a:pt x="25" y="19"/>
                  </a:cubicBezTo>
                  <a:cubicBezTo>
                    <a:pt x="33" y="8"/>
                    <a:pt x="32" y="15"/>
                    <a:pt x="31"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6" name="Freeform 96"/>
            <p:cNvSpPr/>
            <p:nvPr/>
          </p:nvSpPr>
          <p:spPr bwMode="invGray">
            <a:xfrm>
              <a:off x="4657" y="3388"/>
              <a:ext cx="26" cy="35"/>
            </a:xfrm>
            <a:custGeom>
              <a:avLst/>
              <a:gdLst/>
              <a:ahLst/>
              <a:cxnLst>
                <a:cxn ang="0">
                  <a:pos x="28" y="16"/>
                </a:cxn>
                <a:cxn ang="0">
                  <a:pos x="19" y="2"/>
                </a:cxn>
                <a:cxn ang="0">
                  <a:pos x="10" y="25"/>
                </a:cxn>
                <a:cxn ang="0">
                  <a:pos x="19" y="35"/>
                </a:cxn>
                <a:cxn ang="0">
                  <a:pos x="27" y="29"/>
                </a:cxn>
                <a:cxn ang="0">
                  <a:pos x="28" y="16"/>
                </a:cxn>
              </a:cxnLst>
              <a:rect l="0" t="0" r="r" b="b"/>
              <a:pathLst>
                <a:path w="35" h="47">
                  <a:moveTo>
                    <a:pt x="28" y="16"/>
                  </a:moveTo>
                  <a:cubicBezTo>
                    <a:pt x="27" y="13"/>
                    <a:pt x="22" y="0"/>
                    <a:pt x="19" y="2"/>
                  </a:cubicBezTo>
                  <a:cubicBezTo>
                    <a:pt x="16" y="4"/>
                    <a:pt x="10" y="20"/>
                    <a:pt x="10" y="25"/>
                  </a:cubicBezTo>
                  <a:cubicBezTo>
                    <a:pt x="0" y="32"/>
                    <a:pt x="14" y="27"/>
                    <a:pt x="19" y="35"/>
                  </a:cubicBezTo>
                  <a:cubicBezTo>
                    <a:pt x="21" y="47"/>
                    <a:pt x="18" y="34"/>
                    <a:pt x="27" y="29"/>
                  </a:cubicBezTo>
                  <a:cubicBezTo>
                    <a:pt x="35" y="18"/>
                    <a:pt x="29" y="30"/>
                    <a:pt x="28" y="1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7" name="Freeform 97"/>
            <p:cNvSpPr/>
            <p:nvPr/>
          </p:nvSpPr>
          <p:spPr bwMode="invGray">
            <a:xfrm>
              <a:off x="4625" y="3372"/>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8" name="Freeform 98"/>
            <p:cNvSpPr/>
            <p:nvPr/>
          </p:nvSpPr>
          <p:spPr bwMode="invGray">
            <a:xfrm>
              <a:off x="4665" y="3425"/>
              <a:ext cx="24" cy="26"/>
            </a:xfrm>
            <a:custGeom>
              <a:avLst/>
              <a:gdLst/>
              <a:ahLst/>
              <a:cxnLst>
                <a:cxn ang="0">
                  <a:pos x="22" y="10"/>
                </a:cxn>
                <a:cxn ang="0">
                  <a:pos x="10" y="2"/>
                </a:cxn>
                <a:cxn ang="0">
                  <a:pos x="12" y="23"/>
                </a:cxn>
                <a:cxn ang="0">
                  <a:pos x="24" y="27"/>
                </a:cxn>
                <a:cxn ang="0">
                  <a:pos x="22" y="10"/>
                </a:cxn>
              </a:cxnLst>
              <a:rect l="0" t="0" r="r" b="b"/>
              <a:pathLst>
                <a:path w="32" h="35">
                  <a:moveTo>
                    <a:pt x="22" y="10"/>
                  </a:moveTo>
                  <a:cubicBezTo>
                    <a:pt x="26" y="20"/>
                    <a:pt x="18" y="0"/>
                    <a:pt x="10" y="2"/>
                  </a:cubicBezTo>
                  <a:cubicBezTo>
                    <a:pt x="0" y="9"/>
                    <a:pt x="7" y="15"/>
                    <a:pt x="12" y="23"/>
                  </a:cubicBezTo>
                  <a:cubicBezTo>
                    <a:pt x="14" y="35"/>
                    <a:pt x="15" y="32"/>
                    <a:pt x="24" y="27"/>
                  </a:cubicBezTo>
                  <a:cubicBezTo>
                    <a:pt x="32" y="16"/>
                    <a:pt x="23" y="24"/>
                    <a:pt x="22" y="1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89" name="Freeform 99"/>
            <p:cNvSpPr/>
            <p:nvPr/>
          </p:nvSpPr>
          <p:spPr bwMode="invGray">
            <a:xfrm>
              <a:off x="3055" y="2051"/>
              <a:ext cx="141" cy="109"/>
            </a:xfrm>
            <a:custGeom>
              <a:avLst/>
              <a:gdLst/>
              <a:ahLst/>
              <a:cxnLst>
                <a:cxn ang="0">
                  <a:pos x="171" y="4"/>
                </a:cxn>
                <a:cxn ang="0">
                  <a:pos x="185" y="4"/>
                </a:cxn>
                <a:cxn ang="0">
                  <a:pos x="189" y="16"/>
                </a:cxn>
                <a:cxn ang="0">
                  <a:pos x="187" y="24"/>
                </a:cxn>
                <a:cxn ang="0">
                  <a:pos x="131" y="44"/>
                </a:cxn>
                <a:cxn ang="0">
                  <a:pos x="109" y="58"/>
                </a:cxn>
                <a:cxn ang="0">
                  <a:pos x="97" y="62"/>
                </a:cxn>
                <a:cxn ang="0">
                  <a:pos x="71" y="82"/>
                </a:cxn>
                <a:cxn ang="0">
                  <a:pos x="75" y="92"/>
                </a:cxn>
                <a:cxn ang="0">
                  <a:pos x="83" y="116"/>
                </a:cxn>
                <a:cxn ang="0">
                  <a:pos x="107" y="126"/>
                </a:cxn>
                <a:cxn ang="0">
                  <a:pos x="93" y="140"/>
                </a:cxn>
                <a:cxn ang="0">
                  <a:pos x="83" y="130"/>
                </a:cxn>
                <a:cxn ang="0">
                  <a:pos x="71" y="134"/>
                </a:cxn>
                <a:cxn ang="0">
                  <a:pos x="21" y="122"/>
                </a:cxn>
                <a:cxn ang="0">
                  <a:pos x="19" y="106"/>
                </a:cxn>
                <a:cxn ang="0">
                  <a:pos x="47" y="90"/>
                </a:cxn>
                <a:cxn ang="0">
                  <a:pos x="51" y="76"/>
                </a:cxn>
                <a:cxn ang="0">
                  <a:pos x="47" y="64"/>
                </a:cxn>
                <a:cxn ang="0">
                  <a:pos x="73" y="46"/>
                </a:cxn>
                <a:cxn ang="0">
                  <a:pos x="97" y="36"/>
                </a:cxn>
                <a:cxn ang="0">
                  <a:pos x="113" y="24"/>
                </a:cxn>
                <a:cxn ang="0">
                  <a:pos x="171" y="4"/>
                </a:cxn>
              </a:cxnLst>
              <a:rect l="0" t="0" r="r" b="b"/>
              <a:pathLst>
                <a:path w="189" h="144">
                  <a:moveTo>
                    <a:pt x="171" y="4"/>
                  </a:moveTo>
                  <a:cubicBezTo>
                    <a:pt x="174" y="3"/>
                    <a:pt x="182" y="0"/>
                    <a:pt x="185" y="4"/>
                  </a:cubicBezTo>
                  <a:cubicBezTo>
                    <a:pt x="187" y="7"/>
                    <a:pt x="189" y="16"/>
                    <a:pt x="189" y="16"/>
                  </a:cubicBezTo>
                  <a:cubicBezTo>
                    <a:pt x="188" y="19"/>
                    <a:pt x="189" y="22"/>
                    <a:pt x="187" y="24"/>
                  </a:cubicBezTo>
                  <a:cubicBezTo>
                    <a:pt x="175" y="34"/>
                    <a:pt x="146" y="34"/>
                    <a:pt x="131" y="44"/>
                  </a:cubicBezTo>
                  <a:cubicBezTo>
                    <a:pt x="125" y="53"/>
                    <a:pt x="120" y="54"/>
                    <a:pt x="109" y="58"/>
                  </a:cubicBezTo>
                  <a:cubicBezTo>
                    <a:pt x="105" y="59"/>
                    <a:pt x="97" y="62"/>
                    <a:pt x="97" y="62"/>
                  </a:cubicBezTo>
                  <a:cubicBezTo>
                    <a:pt x="88" y="76"/>
                    <a:pt x="83" y="74"/>
                    <a:pt x="71" y="82"/>
                  </a:cubicBezTo>
                  <a:cubicBezTo>
                    <a:pt x="66" y="98"/>
                    <a:pt x="70" y="78"/>
                    <a:pt x="75" y="92"/>
                  </a:cubicBezTo>
                  <a:cubicBezTo>
                    <a:pt x="81" y="108"/>
                    <a:pt x="71" y="108"/>
                    <a:pt x="83" y="116"/>
                  </a:cubicBezTo>
                  <a:cubicBezTo>
                    <a:pt x="90" y="121"/>
                    <a:pt x="107" y="126"/>
                    <a:pt x="107" y="126"/>
                  </a:cubicBezTo>
                  <a:cubicBezTo>
                    <a:pt x="105" y="139"/>
                    <a:pt x="106" y="144"/>
                    <a:pt x="93" y="140"/>
                  </a:cubicBezTo>
                  <a:cubicBezTo>
                    <a:pt x="91" y="137"/>
                    <a:pt x="87" y="130"/>
                    <a:pt x="83" y="130"/>
                  </a:cubicBezTo>
                  <a:cubicBezTo>
                    <a:pt x="79" y="130"/>
                    <a:pt x="71" y="134"/>
                    <a:pt x="71" y="134"/>
                  </a:cubicBezTo>
                  <a:cubicBezTo>
                    <a:pt x="52" y="129"/>
                    <a:pt x="42" y="124"/>
                    <a:pt x="21" y="122"/>
                  </a:cubicBezTo>
                  <a:cubicBezTo>
                    <a:pt x="14" y="115"/>
                    <a:pt x="0" y="102"/>
                    <a:pt x="19" y="106"/>
                  </a:cubicBezTo>
                  <a:cubicBezTo>
                    <a:pt x="29" y="91"/>
                    <a:pt x="26" y="93"/>
                    <a:pt x="47" y="90"/>
                  </a:cubicBezTo>
                  <a:cubicBezTo>
                    <a:pt x="55" y="84"/>
                    <a:pt x="54" y="88"/>
                    <a:pt x="51" y="76"/>
                  </a:cubicBezTo>
                  <a:cubicBezTo>
                    <a:pt x="50" y="72"/>
                    <a:pt x="47" y="64"/>
                    <a:pt x="47" y="64"/>
                  </a:cubicBezTo>
                  <a:cubicBezTo>
                    <a:pt x="50" y="41"/>
                    <a:pt x="50" y="43"/>
                    <a:pt x="73" y="46"/>
                  </a:cubicBezTo>
                  <a:cubicBezTo>
                    <a:pt x="82" y="45"/>
                    <a:pt x="97" y="36"/>
                    <a:pt x="97" y="36"/>
                  </a:cubicBezTo>
                  <a:cubicBezTo>
                    <a:pt x="102" y="29"/>
                    <a:pt x="105" y="27"/>
                    <a:pt x="113" y="24"/>
                  </a:cubicBezTo>
                  <a:cubicBezTo>
                    <a:pt x="134" y="27"/>
                    <a:pt x="161" y="25"/>
                    <a:pt x="171"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0" name="Freeform 100"/>
            <p:cNvSpPr/>
            <p:nvPr/>
          </p:nvSpPr>
          <p:spPr bwMode="invGray">
            <a:xfrm>
              <a:off x="3139" y="2155"/>
              <a:ext cx="39" cy="12"/>
            </a:xfrm>
            <a:custGeom>
              <a:avLst/>
              <a:gdLst/>
              <a:ahLst/>
              <a:cxnLst>
                <a:cxn ang="0">
                  <a:pos x="24" y="0"/>
                </a:cxn>
                <a:cxn ang="0">
                  <a:pos x="12" y="2"/>
                </a:cxn>
                <a:cxn ang="0">
                  <a:pos x="32" y="16"/>
                </a:cxn>
                <a:cxn ang="0">
                  <a:pos x="44" y="14"/>
                </a:cxn>
                <a:cxn ang="0">
                  <a:pos x="24" y="0"/>
                </a:cxn>
              </a:cxnLst>
              <a:rect l="0" t="0" r="r" b="b"/>
              <a:pathLst>
                <a:path w="53" h="17">
                  <a:moveTo>
                    <a:pt x="24" y="0"/>
                  </a:moveTo>
                  <a:cubicBezTo>
                    <a:pt x="20" y="1"/>
                    <a:pt x="16" y="0"/>
                    <a:pt x="12" y="2"/>
                  </a:cubicBezTo>
                  <a:cubicBezTo>
                    <a:pt x="0" y="9"/>
                    <a:pt x="30" y="15"/>
                    <a:pt x="32" y="16"/>
                  </a:cubicBezTo>
                  <a:cubicBezTo>
                    <a:pt x="36" y="15"/>
                    <a:pt x="41" y="17"/>
                    <a:pt x="44" y="14"/>
                  </a:cubicBezTo>
                  <a:cubicBezTo>
                    <a:pt x="53" y="3"/>
                    <a:pt x="30" y="0"/>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1" name="Freeform 101"/>
            <p:cNvSpPr/>
            <p:nvPr/>
          </p:nvSpPr>
          <p:spPr bwMode="invGray">
            <a:xfrm>
              <a:off x="3344" y="1998"/>
              <a:ext cx="42" cy="28"/>
            </a:xfrm>
            <a:custGeom>
              <a:avLst/>
              <a:gdLst/>
              <a:ahLst/>
              <a:cxnLst>
                <a:cxn ang="0">
                  <a:pos x="57" y="4"/>
                </a:cxn>
                <a:cxn ang="0">
                  <a:pos x="25" y="24"/>
                </a:cxn>
                <a:cxn ang="0">
                  <a:pos x="11" y="34"/>
                </a:cxn>
                <a:cxn ang="0">
                  <a:pos x="9" y="4"/>
                </a:cxn>
                <a:cxn ang="0">
                  <a:pos x="21" y="0"/>
                </a:cxn>
                <a:cxn ang="0">
                  <a:pos x="57" y="4"/>
                </a:cxn>
              </a:cxnLst>
              <a:rect l="0" t="0" r="r" b="b"/>
              <a:pathLst>
                <a:path w="57" h="37">
                  <a:moveTo>
                    <a:pt x="57" y="4"/>
                  </a:moveTo>
                  <a:cubicBezTo>
                    <a:pt x="53" y="16"/>
                    <a:pt x="35" y="17"/>
                    <a:pt x="25" y="24"/>
                  </a:cubicBezTo>
                  <a:cubicBezTo>
                    <a:pt x="22" y="34"/>
                    <a:pt x="22" y="37"/>
                    <a:pt x="11" y="34"/>
                  </a:cubicBezTo>
                  <a:cubicBezTo>
                    <a:pt x="6" y="27"/>
                    <a:pt x="0" y="10"/>
                    <a:pt x="9" y="4"/>
                  </a:cubicBezTo>
                  <a:cubicBezTo>
                    <a:pt x="12" y="2"/>
                    <a:pt x="21" y="0"/>
                    <a:pt x="21" y="0"/>
                  </a:cubicBezTo>
                  <a:cubicBezTo>
                    <a:pt x="33" y="2"/>
                    <a:pt x="45" y="4"/>
                    <a:pt x="57"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2" name="Freeform 102"/>
            <p:cNvSpPr/>
            <p:nvPr/>
          </p:nvSpPr>
          <p:spPr bwMode="invGray">
            <a:xfrm>
              <a:off x="3374" y="2012"/>
              <a:ext cx="50" cy="18"/>
            </a:xfrm>
            <a:custGeom>
              <a:avLst/>
              <a:gdLst/>
              <a:ahLst/>
              <a:cxnLst>
                <a:cxn ang="0">
                  <a:pos x="29" y="0"/>
                </a:cxn>
                <a:cxn ang="0">
                  <a:pos x="11" y="6"/>
                </a:cxn>
                <a:cxn ang="0">
                  <a:pos x="57" y="26"/>
                </a:cxn>
                <a:cxn ang="0">
                  <a:pos x="63" y="24"/>
                </a:cxn>
                <a:cxn ang="0">
                  <a:pos x="29" y="0"/>
                </a:cxn>
              </a:cxnLst>
              <a:rect l="0" t="0" r="r" b="b"/>
              <a:pathLst>
                <a:path w="68" h="26">
                  <a:moveTo>
                    <a:pt x="29" y="0"/>
                  </a:moveTo>
                  <a:cubicBezTo>
                    <a:pt x="23" y="2"/>
                    <a:pt x="11" y="6"/>
                    <a:pt x="11" y="6"/>
                  </a:cubicBezTo>
                  <a:cubicBezTo>
                    <a:pt x="0" y="23"/>
                    <a:pt x="47" y="24"/>
                    <a:pt x="57" y="26"/>
                  </a:cubicBezTo>
                  <a:cubicBezTo>
                    <a:pt x="59" y="25"/>
                    <a:pt x="62" y="26"/>
                    <a:pt x="63" y="24"/>
                  </a:cubicBezTo>
                  <a:cubicBezTo>
                    <a:pt x="68" y="3"/>
                    <a:pt x="42" y="3"/>
                    <a:pt x="2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3" name="Freeform 103"/>
            <p:cNvSpPr/>
            <p:nvPr/>
          </p:nvSpPr>
          <p:spPr bwMode="invGray">
            <a:xfrm>
              <a:off x="3428" y="2014"/>
              <a:ext cx="50" cy="31"/>
            </a:xfrm>
            <a:custGeom>
              <a:avLst/>
              <a:gdLst/>
              <a:ahLst/>
              <a:cxnLst>
                <a:cxn ang="0">
                  <a:pos x="50" y="9"/>
                </a:cxn>
                <a:cxn ang="0">
                  <a:pos x="26" y="9"/>
                </a:cxn>
                <a:cxn ang="0">
                  <a:pos x="10" y="9"/>
                </a:cxn>
                <a:cxn ang="0">
                  <a:pos x="8" y="35"/>
                </a:cxn>
                <a:cxn ang="0">
                  <a:pos x="32" y="43"/>
                </a:cxn>
                <a:cxn ang="0">
                  <a:pos x="62" y="27"/>
                </a:cxn>
                <a:cxn ang="0">
                  <a:pos x="50" y="9"/>
                </a:cxn>
              </a:cxnLst>
              <a:rect l="0" t="0" r="r" b="b"/>
              <a:pathLst>
                <a:path w="66" h="43">
                  <a:moveTo>
                    <a:pt x="50" y="9"/>
                  </a:moveTo>
                  <a:cubicBezTo>
                    <a:pt x="40" y="16"/>
                    <a:pt x="36" y="16"/>
                    <a:pt x="26" y="9"/>
                  </a:cubicBezTo>
                  <a:cubicBezTo>
                    <a:pt x="20" y="0"/>
                    <a:pt x="18" y="4"/>
                    <a:pt x="10" y="9"/>
                  </a:cubicBezTo>
                  <a:cubicBezTo>
                    <a:pt x="4" y="17"/>
                    <a:pt x="0" y="21"/>
                    <a:pt x="8" y="35"/>
                  </a:cubicBezTo>
                  <a:cubicBezTo>
                    <a:pt x="12" y="42"/>
                    <a:pt x="32" y="43"/>
                    <a:pt x="32" y="43"/>
                  </a:cubicBezTo>
                  <a:cubicBezTo>
                    <a:pt x="41" y="40"/>
                    <a:pt x="54" y="33"/>
                    <a:pt x="62" y="27"/>
                  </a:cubicBezTo>
                  <a:cubicBezTo>
                    <a:pt x="66" y="15"/>
                    <a:pt x="61" y="15"/>
                    <a:pt x="50" y="9"/>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4" name="Freeform 104"/>
            <p:cNvSpPr/>
            <p:nvPr/>
          </p:nvSpPr>
          <p:spPr bwMode="invGray">
            <a:xfrm>
              <a:off x="3777" y="2042"/>
              <a:ext cx="88" cy="31"/>
            </a:xfrm>
            <a:custGeom>
              <a:avLst/>
              <a:gdLst/>
              <a:ahLst/>
              <a:cxnLst>
                <a:cxn ang="0">
                  <a:pos x="14" y="0"/>
                </a:cxn>
                <a:cxn ang="0">
                  <a:pos x="8" y="16"/>
                </a:cxn>
                <a:cxn ang="0">
                  <a:pos x="50" y="30"/>
                </a:cxn>
                <a:cxn ang="0">
                  <a:pos x="76" y="36"/>
                </a:cxn>
                <a:cxn ang="0">
                  <a:pos x="112" y="22"/>
                </a:cxn>
                <a:cxn ang="0">
                  <a:pos x="78" y="4"/>
                </a:cxn>
                <a:cxn ang="0">
                  <a:pos x="14" y="0"/>
                </a:cxn>
              </a:cxnLst>
              <a:rect l="0" t="0" r="r" b="b"/>
              <a:pathLst>
                <a:path w="117" h="41">
                  <a:moveTo>
                    <a:pt x="14" y="0"/>
                  </a:moveTo>
                  <a:cubicBezTo>
                    <a:pt x="8" y="4"/>
                    <a:pt x="0" y="9"/>
                    <a:pt x="8" y="16"/>
                  </a:cubicBezTo>
                  <a:cubicBezTo>
                    <a:pt x="21" y="27"/>
                    <a:pt x="34" y="28"/>
                    <a:pt x="50" y="30"/>
                  </a:cubicBezTo>
                  <a:cubicBezTo>
                    <a:pt x="66" y="41"/>
                    <a:pt x="57" y="39"/>
                    <a:pt x="76" y="36"/>
                  </a:cubicBezTo>
                  <a:cubicBezTo>
                    <a:pt x="88" y="32"/>
                    <a:pt x="101" y="29"/>
                    <a:pt x="112" y="22"/>
                  </a:cubicBezTo>
                  <a:cubicBezTo>
                    <a:pt x="117" y="6"/>
                    <a:pt x="87" y="5"/>
                    <a:pt x="78" y="4"/>
                  </a:cubicBezTo>
                  <a:cubicBezTo>
                    <a:pt x="17" y="6"/>
                    <a:pt x="34" y="20"/>
                    <a:pt x="1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5" name="Freeform 105"/>
            <p:cNvSpPr/>
            <p:nvPr/>
          </p:nvSpPr>
          <p:spPr bwMode="invGray">
            <a:xfrm>
              <a:off x="3867" y="2042"/>
              <a:ext cx="44" cy="26"/>
            </a:xfrm>
            <a:custGeom>
              <a:avLst/>
              <a:gdLst/>
              <a:ahLst/>
              <a:cxnLst>
                <a:cxn ang="0">
                  <a:pos x="32" y="4"/>
                </a:cxn>
                <a:cxn ang="0">
                  <a:pos x="62" y="10"/>
                </a:cxn>
                <a:cxn ang="0">
                  <a:pos x="30" y="32"/>
                </a:cxn>
                <a:cxn ang="0">
                  <a:pos x="6" y="22"/>
                </a:cxn>
                <a:cxn ang="0">
                  <a:pos x="32" y="4"/>
                </a:cxn>
              </a:cxnLst>
              <a:rect l="0" t="0" r="r" b="b"/>
              <a:pathLst>
                <a:path w="62" h="32">
                  <a:moveTo>
                    <a:pt x="32" y="4"/>
                  </a:moveTo>
                  <a:cubicBezTo>
                    <a:pt x="44" y="0"/>
                    <a:pt x="53" y="1"/>
                    <a:pt x="62" y="10"/>
                  </a:cubicBezTo>
                  <a:cubicBezTo>
                    <a:pt x="59" y="23"/>
                    <a:pt x="42" y="28"/>
                    <a:pt x="30" y="32"/>
                  </a:cubicBezTo>
                  <a:cubicBezTo>
                    <a:pt x="15" y="22"/>
                    <a:pt x="23" y="25"/>
                    <a:pt x="6" y="22"/>
                  </a:cubicBezTo>
                  <a:cubicBezTo>
                    <a:pt x="0" y="4"/>
                    <a:pt x="14" y="8"/>
                    <a:pt x="32" y="4"/>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6" name="Freeform 106"/>
            <p:cNvSpPr/>
            <p:nvPr/>
          </p:nvSpPr>
          <p:spPr bwMode="invGray">
            <a:xfrm>
              <a:off x="3846" y="2070"/>
              <a:ext cx="37" cy="17"/>
            </a:xfrm>
            <a:custGeom>
              <a:avLst/>
              <a:gdLst/>
              <a:ahLst/>
              <a:cxnLst>
                <a:cxn ang="0">
                  <a:pos x="20" y="1"/>
                </a:cxn>
                <a:cxn ang="0">
                  <a:pos x="6" y="5"/>
                </a:cxn>
                <a:cxn ang="0">
                  <a:pos x="38" y="23"/>
                </a:cxn>
                <a:cxn ang="0">
                  <a:pos x="20" y="1"/>
                </a:cxn>
              </a:cxnLst>
              <a:rect l="0" t="0" r="r" b="b"/>
              <a:pathLst>
                <a:path w="49" h="23">
                  <a:moveTo>
                    <a:pt x="20" y="1"/>
                  </a:moveTo>
                  <a:cubicBezTo>
                    <a:pt x="15" y="2"/>
                    <a:pt x="8" y="0"/>
                    <a:pt x="6" y="5"/>
                  </a:cubicBezTo>
                  <a:cubicBezTo>
                    <a:pt x="0" y="19"/>
                    <a:pt x="32" y="21"/>
                    <a:pt x="38" y="23"/>
                  </a:cubicBezTo>
                  <a:cubicBezTo>
                    <a:pt x="49" y="6"/>
                    <a:pt x="35" y="3"/>
                    <a:pt x="20" y="1"/>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7" name="Freeform 107"/>
            <p:cNvSpPr/>
            <p:nvPr/>
          </p:nvSpPr>
          <p:spPr bwMode="invGray">
            <a:xfrm>
              <a:off x="4098" y="2294"/>
              <a:ext cx="74" cy="114"/>
            </a:xfrm>
            <a:custGeom>
              <a:avLst/>
              <a:gdLst/>
              <a:ahLst/>
              <a:cxnLst>
                <a:cxn ang="0">
                  <a:pos x="6" y="0"/>
                </a:cxn>
                <a:cxn ang="0">
                  <a:pos x="0" y="18"/>
                </a:cxn>
                <a:cxn ang="0">
                  <a:pos x="14" y="42"/>
                </a:cxn>
                <a:cxn ang="0">
                  <a:pos x="32" y="72"/>
                </a:cxn>
                <a:cxn ang="0">
                  <a:pos x="36" y="104"/>
                </a:cxn>
                <a:cxn ang="0">
                  <a:pos x="80" y="152"/>
                </a:cxn>
                <a:cxn ang="0">
                  <a:pos x="86" y="124"/>
                </a:cxn>
                <a:cxn ang="0">
                  <a:pos x="74" y="102"/>
                </a:cxn>
                <a:cxn ang="0">
                  <a:pos x="62" y="92"/>
                </a:cxn>
                <a:cxn ang="0">
                  <a:pos x="52" y="74"/>
                </a:cxn>
                <a:cxn ang="0">
                  <a:pos x="42" y="44"/>
                </a:cxn>
                <a:cxn ang="0">
                  <a:pos x="4" y="12"/>
                </a:cxn>
                <a:cxn ang="0">
                  <a:pos x="6" y="0"/>
                </a:cxn>
              </a:cxnLst>
              <a:rect l="0" t="0" r="r" b="b"/>
              <a:pathLst>
                <a:path w="102" h="152">
                  <a:moveTo>
                    <a:pt x="6" y="0"/>
                  </a:moveTo>
                  <a:cubicBezTo>
                    <a:pt x="4" y="6"/>
                    <a:pt x="0" y="18"/>
                    <a:pt x="0" y="18"/>
                  </a:cubicBezTo>
                  <a:cubicBezTo>
                    <a:pt x="3" y="26"/>
                    <a:pt x="9" y="35"/>
                    <a:pt x="14" y="42"/>
                  </a:cubicBezTo>
                  <a:cubicBezTo>
                    <a:pt x="17" y="58"/>
                    <a:pt x="16" y="69"/>
                    <a:pt x="32" y="72"/>
                  </a:cubicBezTo>
                  <a:cubicBezTo>
                    <a:pt x="44" y="80"/>
                    <a:pt x="40" y="91"/>
                    <a:pt x="36" y="104"/>
                  </a:cubicBezTo>
                  <a:cubicBezTo>
                    <a:pt x="57" y="118"/>
                    <a:pt x="60" y="139"/>
                    <a:pt x="80" y="152"/>
                  </a:cubicBezTo>
                  <a:cubicBezTo>
                    <a:pt x="95" y="148"/>
                    <a:pt x="102" y="135"/>
                    <a:pt x="86" y="124"/>
                  </a:cubicBezTo>
                  <a:cubicBezTo>
                    <a:pt x="72" y="129"/>
                    <a:pt x="78" y="110"/>
                    <a:pt x="74" y="102"/>
                  </a:cubicBezTo>
                  <a:cubicBezTo>
                    <a:pt x="72" y="98"/>
                    <a:pt x="65" y="94"/>
                    <a:pt x="62" y="92"/>
                  </a:cubicBezTo>
                  <a:cubicBezTo>
                    <a:pt x="59" y="82"/>
                    <a:pt x="65" y="65"/>
                    <a:pt x="52" y="74"/>
                  </a:cubicBezTo>
                  <a:cubicBezTo>
                    <a:pt x="46" y="65"/>
                    <a:pt x="47" y="54"/>
                    <a:pt x="42" y="44"/>
                  </a:cubicBezTo>
                  <a:cubicBezTo>
                    <a:pt x="36" y="32"/>
                    <a:pt x="16" y="18"/>
                    <a:pt x="4" y="12"/>
                  </a:cubicBezTo>
                  <a:lnTo>
                    <a:pt x="6" y="0"/>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8" name="Freeform 108"/>
            <p:cNvSpPr/>
            <p:nvPr/>
          </p:nvSpPr>
          <p:spPr bwMode="invGray">
            <a:xfrm>
              <a:off x="4159" y="2412"/>
              <a:ext cx="55" cy="80"/>
            </a:xfrm>
            <a:custGeom>
              <a:avLst/>
              <a:gdLst/>
              <a:ahLst/>
              <a:cxnLst>
                <a:cxn ang="0">
                  <a:pos x="64" y="22"/>
                </a:cxn>
                <a:cxn ang="0">
                  <a:pos x="74" y="40"/>
                </a:cxn>
                <a:cxn ang="0">
                  <a:pos x="30" y="84"/>
                </a:cxn>
                <a:cxn ang="0">
                  <a:pos x="32" y="100"/>
                </a:cxn>
                <a:cxn ang="0">
                  <a:pos x="20" y="94"/>
                </a:cxn>
                <a:cxn ang="0">
                  <a:pos x="6" y="84"/>
                </a:cxn>
                <a:cxn ang="0">
                  <a:pos x="0" y="82"/>
                </a:cxn>
                <a:cxn ang="0">
                  <a:pos x="10" y="58"/>
                </a:cxn>
                <a:cxn ang="0">
                  <a:pos x="12" y="52"/>
                </a:cxn>
                <a:cxn ang="0">
                  <a:pos x="2" y="24"/>
                </a:cxn>
                <a:cxn ang="0">
                  <a:pos x="4" y="14"/>
                </a:cxn>
                <a:cxn ang="0">
                  <a:pos x="26" y="22"/>
                </a:cxn>
                <a:cxn ang="0">
                  <a:pos x="36" y="36"/>
                </a:cxn>
                <a:cxn ang="0">
                  <a:pos x="64" y="22"/>
                </a:cxn>
              </a:cxnLst>
              <a:rect l="0" t="0" r="r" b="b"/>
              <a:pathLst>
                <a:path w="74" h="103">
                  <a:moveTo>
                    <a:pt x="64" y="22"/>
                  </a:moveTo>
                  <a:cubicBezTo>
                    <a:pt x="73" y="36"/>
                    <a:pt x="70" y="29"/>
                    <a:pt x="74" y="40"/>
                  </a:cubicBezTo>
                  <a:cubicBezTo>
                    <a:pt x="70" y="77"/>
                    <a:pt x="68" y="81"/>
                    <a:pt x="30" y="84"/>
                  </a:cubicBezTo>
                  <a:cubicBezTo>
                    <a:pt x="33" y="88"/>
                    <a:pt x="39" y="95"/>
                    <a:pt x="32" y="100"/>
                  </a:cubicBezTo>
                  <a:cubicBezTo>
                    <a:pt x="28" y="103"/>
                    <a:pt x="24" y="95"/>
                    <a:pt x="20" y="94"/>
                  </a:cubicBezTo>
                  <a:cubicBezTo>
                    <a:pt x="17" y="84"/>
                    <a:pt x="20" y="89"/>
                    <a:pt x="6" y="84"/>
                  </a:cubicBezTo>
                  <a:cubicBezTo>
                    <a:pt x="4" y="83"/>
                    <a:pt x="0" y="82"/>
                    <a:pt x="0" y="82"/>
                  </a:cubicBezTo>
                  <a:cubicBezTo>
                    <a:pt x="3" y="73"/>
                    <a:pt x="7" y="67"/>
                    <a:pt x="10" y="58"/>
                  </a:cubicBezTo>
                  <a:cubicBezTo>
                    <a:pt x="11" y="56"/>
                    <a:pt x="12" y="52"/>
                    <a:pt x="12" y="52"/>
                  </a:cubicBezTo>
                  <a:cubicBezTo>
                    <a:pt x="10" y="42"/>
                    <a:pt x="8" y="33"/>
                    <a:pt x="2" y="24"/>
                  </a:cubicBezTo>
                  <a:cubicBezTo>
                    <a:pt x="3" y="21"/>
                    <a:pt x="2" y="17"/>
                    <a:pt x="4" y="14"/>
                  </a:cubicBezTo>
                  <a:cubicBezTo>
                    <a:pt x="11" y="0"/>
                    <a:pt x="18" y="19"/>
                    <a:pt x="26" y="22"/>
                  </a:cubicBezTo>
                  <a:cubicBezTo>
                    <a:pt x="31" y="36"/>
                    <a:pt x="26" y="33"/>
                    <a:pt x="36" y="36"/>
                  </a:cubicBezTo>
                  <a:cubicBezTo>
                    <a:pt x="45" y="30"/>
                    <a:pt x="55" y="28"/>
                    <a:pt x="64" y="22"/>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99" name="Freeform 109"/>
            <p:cNvSpPr/>
            <p:nvPr/>
          </p:nvSpPr>
          <p:spPr bwMode="invGray">
            <a:xfrm>
              <a:off x="4123" y="2492"/>
              <a:ext cx="109" cy="192"/>
            </a:xfrm>
            <a:custGeom>
              <a:avLst/>
              <a:gdLst/>
              <a:ahLst/>
              <a:cxnLst>
                <a:cxn ang="0">
                  <a:pos x="82" y="100"/>
                </a:cxn>
                <a:cxn ang="0">
                  <a:pos x="66" y="106"/>
                </a:cxn>
                <a:cxn ang="0">
                  <a:pos x="64" y="132"/>
                </a:cxn>
                <a:cxn ang="0">
                  <a:pos x="22" y="146"/>
                </a:cxn>
                <a:cxn ang="0">
                  <a:pos x="8" y="168"/>
                </a:cxn>
                <a:cxn ang="0">
                  <a:pos x="20" y="182"/>
                </a:cxn>
                <a:cxn ang="0">
                  <a:pos x="8" y="198"/>
                </a:cxn>
                <a:cxn ang="0">
                  <a:pos x="24" y="252"/>
                </a:cxn>
                <a:cxn ang="0">
                  <a:pos x="28" y="214"/>
                </a:cxn>
                <a:cxn ang="0">
                  <a:pos x="22" y="192"/>
                </a:cxn>
                <a:cxn ang="0">
                  <a:pos x="42" y="176"/>
                </a:cxn>
                <a:cxn ang="0">
                  <a:pos x="52" y="158"/>
                </a:cxn>
                <a:cxn ang="0">
                  <a:pos x="66" y="174"/>
                </a:cxn>
                <a:cxn ang="0">
                  <a:pos x="44" y="190"/>
                </a:cxn>
                <a:cxn ang="0">
                  <a:pos x="56" y="200"/>
                </a:cxn>
                <a:cxn ang="0">
                  <a:pos x="68" y="178"/>
                </a:cxn>
                <a:cxn ang="0">
                  <a:pos x="84" y="184"/>
                </a:cxn>
                <a:cxn ang="0">
                  <a:pos x="104" y="148"/>
                </a:cxn>
                <a:cxn ang="0">
                  <a:pos x="114" y="156"/>
                </a:cxn>
                <a:cxn ang="0">
                  <a:pos x="136" y="148"/>
                </a:cxn>
                <a:cxn ang="0">
                  <a:pos x="146" y="130"/>
                </a:cxn>
                <a:cxn ang="0">
                  <a:pos x="142" y="110"/>
                </a:cxn>
                <a:cxn ang="0">
                  <a:pos x="134" y="98"/>
                </a:cxn>
                <a:cxn ang="0">
                  <a:pos x="122" y="40"/>
                </a:cxn>
                <a:cxn ang="0">
                  <a:pos x="94" y="0"/>
                </a:cxn>
                <a:cxn ang="0">
                  <a:pos x="78" y="12"/>
                </a:cxn>
                <a:cxn ang="0">
                  <a:pos x="96" y="34"/>
                </a:cxn>
                <a:cxn ang="0">
                  <a:pos x="96" y="64"/>
                </a:cxn>
                <a:cxn ang="0">
                  <a:pos x="82" y="100"/>
                </a:cxn>
              </a:cxnLst>
              <a:rect l="0" t="0" r="r" b="b"/>
              <a:pathLst>
                <a:path w="146" h="252">
                  <a:moveTo>
                    <a:pt x="82" y="100"/>
                  </a:moveTo>
                  <a:cubicBezTo>
                    <a:pt x="70" y="88"/>
                    <a:pt x="69" y="92"/>
                    <a:pt x="66" y="106"/>
                  </a:cubicBezTo>
                  <a:cubicBezTo>
                    <a:pt x="65" y="115"/>
                    <a:pt x="68" y="124"/>
                    <a:pt x="64" y="132"/>
                  </a:cubicBezTo>
                  <a:cubicBezTo>
                    <a:pt x="63" y="133"/>
                    <a:pt x="28" y="142"/>
                    <a:pt x="22" y="146"/>
                  </a:cubicBezTo>
                  <a:cubicBezTo>
                    <a:pt x="18" y="157"/>
                    <a:pt x="18" y="162"/>
                    <a:pt x="8" y="168"/>
                  </a:cubicBezTo>
                  <a:cubicBezTo>
                    <a:pt x="0" y="180"/>
                    <a:pt x="7" y="180"/>
                    <a:pt x="20" y="182"/>
                  </a:cubicBezTo>
                  <a:cubicBezTo>
                    <a:pt x="17" y="190"/>
                    <a:pt x="15" y="193"/>
                    <a:pt x="8" y="198"/>
                  </a:cubicBezTo>
                  <a:cubicBezTo>
                    <a:pt x="10" y="214"/>
                    <a:pt x="9" y="242"/>
                    <a:pt x="24" y="252"/>
                  </a:cubicBezTo>
                  <a:cubicBezTo>
                    <a:pt x="42" y="246"/>
                    <a:pt x="31" y="227"/>
                    <a:pt x="28" y="214"/>
                  </a:cubicBezTo>
                  <a:cubicBezTo>
                    <a:pt x="26" y="207"/>
                    <a:pt x="22" y="192"/>
                    <a:pt x="22" y="192"/>
                  </a:cubicBezTo>
                  <a:cubicBezTo>
                    <a:pt x="25" y="180"/>
                    <a:pt x="33" y="182"/>
                    <a:pt x="42" y="176"/>
                  </a:cubicBezTo>
                  <a:cubicBezTo>
                    <a:pt x="44" y="169"/>
                    <a:pt x="52" y="158"/>
                    <a:pt x="52" y="158"/>
                  </a:cubicBezTo>
                  <a:cubicBezTo>
                    <a:pt x="58" y="164"/>
                    <a:pt x="63" y="166"/>
                    <a:pt x="66" y="174"/>
                  </a:cubicBezTo>
                  <a:cubicBezTo>
                    <a:pt x="59" y="178"/>
                    <a:pt x="51" y="188"/>
                    <a:pt x="44" y="190"/>
                  </a:cubicBezTo>
                  <a:cubicBezTo>
                    <a:pt x="36" y="202"/>
                    <a:pt x="46" y="202"/>
                    <a:pt x="56" y="200"/>
                  </a:cubicBezTo>
                  <a:cubicBezTo>
                    <a:pt x="60" y="189"/>
                    <a:pt x="59" y="184"/>
                    <a:pt x="68" y="178"/>
                  </a:cubicBezTo>
                  <a:cubicBezTo>
                    <a:pt x="77" y="181"/>
                    <a:pt x="75" y="187"/>
                    <a:pt x="84" y="184"/>
                  </a:cubicBezTo>
                  <a:cubicBezTo>
                    <a:pt x="92" y="171"/>
                    <a:pt x="91" y="157"/>
                    <a:pt x="104" y="148"/>
                  </a:cubicBezTo>
                  <a:cubicBezTo>
                    <a:pt x="108" y="149"/>
                    <a:pt x="110" y="155"/>
                    <a:pt x="114" y="156"/>
                  </a:cubicBezTo>
                  <a:cubicBezTo>
                    <a:pt x="120" y="158"/>
                    <a:pt x="131" y="151"/>
                    <a:pt x="136" y="148"/>
                  </a:cubicBezTo>
                  <a:cubicBezTo>
                    <a:pt x="145" y="134"/>
                    <a:pt x="142" y="141"/>
                    <a:pt x="146" y="130"/>
                  </a:cubicBezTo>
                  <a:cubicBezTo>
                    <a:pt x="146" y="127"/>
                    <a:pt x="145" y="115"/>
                    <a:pt x="142" y="110"/>
                  </a:cubicBezTo>
                  <a:cubicBezTo>
                    <a:pt x="140" y="106"/>
                    <a:pt x="134" y="98"/>
                    <a:pt x="134" y="98"/>
                  </a:cubicBezTo>
                  <a:cubicBezTo>
                    <a:pt x="131" y="78"/>
                    <a:pt x="142" y="53"/>
                    <a:pt x="122" y="40"/>
                  </a:cubicBezTo>
                  <a:cubicBezTo>
                    <a:pt x="112" y="26"/>
                    <a:pt x="109" y="10"/>
                    <a:pt x="94" y="0"/>
                  </a:cubicBezTo>
                  <a:cubicBezTo>
                    <a:pt x="87" y="4"/>
                    <a:pt x="86" y="9"/>
                    <a:pt x="78" y="12"/>
                  </a:cubicBezTo>
                  <a:cubicBezTo>
                    <a:pt x="67" y="29"/>
                    <a:pt x="80" y="31"/>
                    <a:pt x="96" y="34"/>
                  </a:cubicBezTo>
                  <a:cubicBezTo>
                    <a:pt x="103" y="44"/>
                    <a:pt x="100" y="53"/>
                    <a:pt x="96" y="64"/>
                  </a:cubicBezTo>
                  <a:cubicBezTo>
                    <a:pt x="96" y="68"/>
                    <a:pt x="95" y="106"/>
                    <a:pt x="82" y="10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0" name="Freeform 110"/>
            <p:cNvSpPr/>
            <p:nvPr/>
          </p:nvSpPr>
          <p:spPr bwMode="invGray">
            <a:xfrm>
              <a:off x="3062" y="1989"/>
              <a:ext cx="50" cy="31"/>
            </a:xfrm>
            <a:custGeom>
              <a:avLst/>
              <a:gdLst/>
              <a:ahLst/>
              <a:cxnLst>
                <a:cxn ang="0">
                  <a:pos x="59" y="0"/>
                </a:cxn>
                <a:cxn ang="0">
                  <a:pos x="65" y="20"/>
                </a:cxn>
                <a:cxn ang="0">
                  <a:pos x="41" y="24"/>
                </a:cxn>
                <a:cxn ang="0">
                  <a:pos x="31" y="40"/>
                </a:cxn>
                <a:cxn ang="0">
                  <a:pos x="7" y="38"/>
                </a:cxn>
                <a:cxn ang="0">
                  <a:pos x="1" y="36"/>
                </a:cxn>
                <a:cxn ang="0">
                  <a:pos x="33" y="20"/>
                </a:cxn>
                <a:cxn ang="0">
                  <a:pos x="59" y="0"/>
                </a:cxn>
              </a:cxnLst>
              <a:rect l="0" t="0" r="r" b="b"/>
              <a:pathLst>
                <a:path w="70" h="40">
                  <a:moveTo>
                    <a:pt x="59" y="0"/>
                  </a:moveTo>
                  <a:cubicBezTo>
                    <a:pt x="68" y="3"/>
                    <a:pt x="70" y="10"/>
                    <a:pt x="65" y="20"/>
                  </a:cubicBezTo>
                  <a:cubicBezTo>
                    <a:pt x="61" y="27"/>
                    <a:pt x="49" y="23"/>
                    <a:pt x="41" y="24"/>
                  </a:cubicBezTo>
                  <a:cubicBezTo>
                    <a:pt x="36" y="38"/>
                    <a:pt x="41" y="34"/>
                    <a:pt x="31" y="40"/>
                  </a:cubicBezTo>
                  <a:cubicBezTo>
                    <a:pt x="23" y="39"/>
                    <a:pt x="15" y="39"/>
                    <a:pt x="7" y="38"/>
                  </a:cubicBezTo>
                  <a:cubicBezTo>
                    <a:pt x="5" y="38"/>
                    <a:pt x="0" y="38"/>
                    <a:pt x="1" y="36"/>
                  </a:cubicBezTo>
                  <a:cubicBezTo>
                    <a:pt x="7" y="26"/>
                    <a:pt x="23" y="23"/>
                    <a:pt x="33" y="20"/>
                  </a:cubicBezTo>
                  <a:cubicBezTo>
                    <a:pt x="39" y="11"/>
                    <a:pt x="51" y="8"/>
                    <a:pt x="59"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1" name="Freeform 111"/>
            <p:cNvSpPr/>
            <p:nvPr/>
          </p:nvSpPr>
          <p:spPr bwMode="invGray">
            <a:xfrm>
              <a:off x="2955" y="1998"/>
              <a:ext cx="19" cy="22"/>
            </a:xfrm>
            <a:custGeom>
              <a:avLst/>
              <a:gdLst/>
              <a:ahLst/>
              <a:cxnLst>
                <a:cxn ang="0">
                  <a:pos x="18" y="0"/>
                </a:cxn>
                <a:cxn ang="0">
                  <a:pos x="0" y="18"/>
                </a:cxn>
                <a:cxn ang="0">
                  <a:pos x="18" y="26"/>
                </a:cxn>
                <a:cxn ang="0">
                  <a:pos x="18" y="0"/>
                </a:cxn>
              </a:cxnLst>
              <a:rect l="0" t="0" r="r" b="b"/>
              <a:pathLst>
                <a:path w="26" h="29">
                  <a:moveTo>
                    <a:pt x="18" y="0"/>
                  </a:moveTo>
                  <a:cubicBezTo>
                    <a:pt x="9" y="6"/>
                    <a:pt x="4" y="7"/>
                    <a:pt x="0" y="18"/>
                  </a:cubicBezTo>
                  <a:cubicBezTo>
                    <a:pt x="7" y="25"/>
                    <a:pt x="9" y="29"/>
                    <a:pt x="18" y="26"/>
                  </a:cubicBezTo>
                  <a:cubicBezTo>
                    <a:pt x="22" y="14"/>
                    <a:pt x="26" y="12"/>
                    <a:pt x="18"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2" name="Freeform 112"/>
            <p:cNvSpPr/>
            <p:nvPr/>
          </p:nvSpPr>
          <p:spPr bwMode="invGray">
            <a:xfrm>
              <a:off x="2979" y="1996"/>
              <a:ext cx="37" cy="27"/>
            </a:xfrm>
            <a:custGeom>
              <a:avLst/>
              <a:gdLst/>
              <a:ahLst/>
              <a:cxnLst>
                <a:cxn ang="0">
                  <a:pos x="14" y="6"/>
                </a:cxn>
                <a:cxn ang="0">
                  <a:pos x="0" y="18"/>
                </a:cxn>
                <a:cxn ang="0">
                  <a:pos x="6" y="32"/>
                </a:cxn>
                <a:cxn ang="0">
                  <a:pos x="18" y="36"/>
                </a:cxn>
                <a:cxn ang="0">
                  <a:pos x="40" y="26"/>
                </a:cxn>
                <a:cxn ang="0">
                  <a:pos x="14" y="6"/>
                </a:cxn>
              </a:cxnLst>
              <a:rect l="0" t="0" r="r" b="b"/>
              <a:pathLst>
                <a:path w="49" h="36">
                  <a:moveTo>
                    <a:pt x="14" y="6"/>
                  </a:moveTo>
                  <a:cubicBezTo>
                    <a:pt x="11" y="14"/>
                    <a:pt x="7" y="13"/>
                    <a:pt x="0" y="18"/>
                  </a:cubicBezTo>
                  <a:cubicBezTo>
                    <a:pt x="1" y="22"/>
                    <a:pt x="2" y="29"/>
                    <a:pt x="6" y="32"/>
                  </a:cubicBezTo>
                  <a:cubicBezTo>
                    <a:pt x="10" y="34"/>
                    <a:pt x="18" y="36"/>
                    <a:pt x="18" y="36"/>
                  </a:cubicBezTo>
                  <a:cubicBezTo>
                    <a:pt x="24" y="27"/>
                    <a:pt x="30" y="28"/>
                    <a:pt x="40" y="26"/>
                  </a:cubicBezTo>
                  <a:cubicBezTo>
                    <a:pt x="49" y="0"/>
                    <a:pt x="26" y="18"/>
                    <a:pt x="14" y="6"/>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3" name="Freeform 113"/>
            <p:cNvSpPr/>
            <p:nvPr/>
          </p:nvSpPr>
          <p:spPr bwMode="invGray">
            <a:xfrm>
              <a:off x="3040" y="1987"/>
              <a:ext cx="20" cy="16"/>
            </a:xfrm>
            <a:custGeom>
              <a:avLst/>
              <a:gdLst/>
              <a:ahLst/>
              <a:cxnLst>
                <a:cxn ang="0">
                  <a:pos x="11" y="0"/>
                </a:cxn>
                <a:cxn ang="0">
                  <a:pos x="3" y="12"/>
                </a:cxn>
                <a:cxn ang="0">
                  <a:pos x="19" y="22"/>
                </a:cxn>
                <a:cxn ang="0">
                  <a:pos x="11" y="0"/>
                </a:cxn>
              </a:cxnLst>
              <a:rect l="0" t="0" r="r" b="b"/>
              <a:pathLst>
                <a:path w="27" h="22">
                  <a:moveTo>
                    <a:pt x="11" y="0"/>
                  </a:moveTo>
                  <a:cubicBezTo>
                    <a:pt x="8" y="4"/>
                    <a:pt x="0" y="8"/>
                    <a:pt x="3" y="12"/>
                  </a:cubicBezTo>
                  <a:cubicBezTo>
                    <a:pt x="6" y="17"/>
                    <a:pt x="19" y="22"/>
                    <a:pt x="19" y="22"/>
                  </a:cubicBezTo>
                  <a:cubicBezTo>
                    <a:pt x="27" y="10"/>
                    <a:pt x="15" y="11"/>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4" name="Freeform 114"/>
            <p:cNvSpPr/>
            <p:nvPr/>
          </p:nvSpPr>
          <p:spPr bwMode="invGray">
            <a:xfrm>
              <a:off x="3022" y="2005"/>
              <a:ext cx="15" cy="13"/>
            </a:xfrm>
            <a:custGeom>
              <a:avLst/>
              <a:gdLst/>
              <a:ahLst/>
              <a:cxnLst>
                <a:cxn ang="0">
                  <a:pos x="11" y="0"/>
                </a:cxn>
                <a:cxn ang="0">
                  <a:pos x="9" y="18"/>
                </a:cxn>
                <a:cxn ang="0">
                  <a:pos x="11" y="0"/>
                </a:cxn>
              </a:cxnLst>
              <a:rect l="0" t="0" r="r" b="b"/>
              <a:pathLst>
                <a:path w="20" h="18">
                  <a:moveTo>
                    <a:pt x="11" y="0"/>
                  </a:moveTo>
                  <a:cubicBezTo>
                    <a:pt x="1" y="14"/>
                    <a:pt x="0" y="9"/>
                    <a:pt x="9" y="18"/>
                  </a:cubicBezTo>
                  <a:cubicBezTo>
                    <a:pt x="20" y="14"/>
                    <a:pt x="16" y="18"/>
                    <a:pt x="11"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5" name="Freeform 115"/>
            <p:cNvSpPr/>
            <p:nvPr/>
          </p:nvSpPr>
          <p:spPr bwMode="invGray">
            <a:xfrm>
              <a:off x="4162" y="2021"/>
              <a:ext cx="18" cy="32"/>
            </a:xfrm>
            <a:custGeom>
              <a:avLst/>
              <a:gdLst/>
              <a:ahLst/>
              <a:cxnLst>
                <a:cxn ang="0">
                  <a:pos x="24" y="0"/>
                </a:cxn>
                <a:cxn ang="0">
                  <a:pos x="8" y="16"/>
                </a:cxn>
                <a:cxn ang="0">
                  <a:pos x="0" y="34"/>
                </a:cxn>
                <a:cxn ang="0">
                  <a:pos x="16" y="40"/>
                </a:cxn>
                <a:cxn ang="0">
                  <a:pos x="24" y="0"/>
                </a:cxn>
              </a:cxnLst>
              <a:rect l="0" t="0" r="r" b="b"/>
              <a:pathLst>
                <a:path w="24" h="44">
                  <a:moveTo>
                    <a:pt x="24" y="0"/>
                  </a:moveTo>
                  <a:cubicBezTo>
                    <a:pt x="19" y="7"/>
                    <a:pt x="15" y="11"/>
                    <a:pt x="8" y="16"/>
                  </a:cubicBezTo>
                  <a:cubicBezTo>
                    <a:pt x="4" y="21"/>
                    <a:pt x="0" y="34"/>
                    <a:pt x="0" y="34"/>
                  </a:cubicBezTo>
                  <a:cubicBezTo>
                    <a:pt x="3" y="44"/>
                    <a:pt x="7" y="42"/>
                    <a:pt x="16" y="40"/>
                  </a:cubicBezTo>
                  <a:cubicBezTo>
                    <a:pt x="20" y="27"/>
                    <a:pt x="24" y="14"/>
                    <a:pt x="24"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6" name="Freeform 116"/>
            <p:cNvSpPr/>
            <p:nvPr/>
          </p:nvSpPr>
          <p:spPr bwMode="invGray">
            <a:xfrm>
              <a:off x="3278" y="3473"/>
              <a:ext cx="31" cy="16"/>
            </a:xfrm>
            <a:custGeom>
              <a:avLst/>
              <a:gdLst/>
              <a:ahLst/>
              <a:cxnLst>
                <a:cxn ang="0">
                  <a:pos x="30" y="0"/>
                </a:cxn>
                <a:cxn ang="0">
                  <a:pos x="26" y="24"/>
                </a:cxn>
                <a:cxn ang="0">
                  <a:pos x="30" y="0"/>
                </a:cxn>
              </a:cxnLst>
              <a:rect l="0" t="0" r="r" b="b"/>
              <a:pathLst>
                <a:path w="41" h="24">
                  <a:moveTo>
                    <a:pt x="30" y="0"/>
                  </a:moveTo>
                  <a:cubicBezTo>
                    <a:pt x="4" y="4"/>
                    <a:pt x="0" y="17"/>
                    <a:pt x="26" y="24"/>
                  </a:cubicBezTo>
                  <a:cubicBezTo>
                    <a:pt x="41" y="19"/>
                    <a:pt x="38" y="10"/>
                    <a:pt x="30"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7" name="Freeform 117"/>
            <p:cNvSpPr/>
            <p:nvPr/>
          </p:nvSpPr>
          <p:spPr bwMode="invGray">
            <a:xfrm>
              <a:off x="3318" y="3467"/>
              <a:ext cx="10"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8" name="Freeform 118"/>
            <p:cNvSpPr/>
            <p:nvPr/>
          </p:nvSpPr>
          <p:spPr bwMode="invGray">
            <a:xfrm>
              <a:off x="3251" y="3311"/>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09" name="Freeform 119"/>
            <p:cNvSpPr/>
            <p:nvPr/>
          </p:nvSpPr>
          <p:spPr bwMode="invGray">
            <a:xfrm>
              <a:off x="3311" y="3239"/>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0" name="Freeform 120"/>
            <p:cNvSpPr/>
            <p:nvPr/>
          </p:nvSpPr>
          <p:spPr bwMode="invGray">
            <a:xfrm>
              <a:off x="3287" y="3237"/>
              <a:ext cx="11" cy="18"/>
            </a:xfrm>
            <a:custGeom>
              <a:avLst/>
              <a:gdLst/>
              <a:ahLst/>
              <a:cxnLst>
                <a:cxn ang="0">
                  <a:pos x="6" y="0"/>
                </a:cxn>
                <a:cxn ang="0">
                  <a:pos x="0" y="13"/>
                </a:cxn>
                <a:cxn ang="0">
                  <a:pos x="12" y="24"/>
                </a:cxn>
                <a:cxn ang="0">
                  <a:pos x="6" y="0"/>
                </a:cxn>
              </a:cxnLst>
              <a:rect l="0" t="0" r="r" b="b"/>
              <a:pathLst>
                <a:path w="14" h="25">
                  <a:moveTo>
                    <a:pt x="6" y="0"/>
                  </a:moveTo>
                  <a:cubicBezTo>
                    <a:pt x="4" y="5"/>
                    <a:pt x="3" y="9"/>
                    <a:pt x="0" y="13"/>
                  </a:cubicBezTo>
                  <a:cubicBezTo>
                    <a:pt x="1" y="24"/>
                    <a:pt x="1" y="25"/>
                    <a:pt x="12" y="24"/>
                  </a:cubicBezTo>
                  <a:cubicBezTo>
                    <a:pt x="14" y="12"/>
                    <a:pt x="8" y="10"/>
                    <a:pt x="6" y="0"/>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1" name="Freeform 121"/>
            <p:cNvSpPr/>
            <p:nvPr/>
          </p:nvSpPr>
          <p:spPr bwMode="invGray">
            <a:xfrm>
              <a:off x="3276" y="3259"/>
              <a:ext cx="9" cy="16"/>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2" name="Freeform 122"/>
            <p:cNvSpPr/>
            <p:nvPr/>
          </p:nvSpPr>
          <p:spPr bwMode="invGray">
            <a:xfrm>
              <a:off x="3251" y="3294"/>
              <a:ext cx="9" cy="13"/>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3" name="Freeform 123"/>
            <p:cNvSpPr/>
            <p:nvPr/>
          </p:nvSpPr>
          <p:spPr bwMode="invGray">
            <a:xfrm>
              <a:off x="3270" y="3282"/>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4" name="Freeform 124"/>
            <p:cNvSpPr/>
            <p:nvPr/>
          </p:nvSpPr>
          <p:spPr bwMode="invGray">
            <a:xfrm>
              <a:off x="2537" y="2293"/>
              <a:ext cx="10" cy="17"/>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5" name="Freeform 125"/>
            <p:cNvSpPr/>
            <p:nvPr/>
          </p:nvSpPr>
          <p:spPr bwMode="invGray">
            <a:xfrm>
              <a:off x="2476" y="2258"/>
              <a:ext cx="9" cy="14"/>
            </a:xfrm>
            <a:custGeom>
              <a:avLst/>
              <a:gdLst/>
              <a:ahLst/>
              <a:cxnLst>
                <a:cxn ang="0">
                  <a:pos x="10" y="5"/>
                </a:cxn>
                <a:cxn ang="0">
                  <a:pos x="1" y="11"/>
                </a:cxn>
                <a:cxn ang="0">
                  <a:pos x="9" y="20"/>
                </a:cxn>
                <a:cxn ang="0">
                  <a:pos x="10" y="5"/>
                </a:cxn>
              </a:cxnLst>
              <a:rect l="0" t="0" r="r" b="b"/>
              <a:pathLst>
                <a:path w="13" h="20">
                  <a:moveTo>
                    <a:pt x="10" y="5"/>
                  </a:moveTo>
                  <a:cubicBezTo>
                    <a:pt x="3" y="0"/>
                    <a:pt x="5" y="6"/>
                    <a:pt x="1" y="11"/>
                  </a:cubicBezTo>
                  <a:cubicBezTo>
                    <a:pt x="0" y="18"/>
                    <a:pt x="2" y="19"/>
                    <a:pt x="9" y="20"/>
                  </a:cubicBezTo>
                  <a:cubicBezTo>
                    <a:pt x="13" y="14"/>
                    <a:pt x="10" y="12"/>
                    <a:pt x="10" y="5"/>
                  </a:cubicBez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sp>
          <p:nvSpPr>
            <p:cNvPr id="116" name="Freeform 126"/>
            <p:cNvSpPr/>
            <p:nvPr/>
          </p:nvSpPr>
          <p:spPr bwMode="invGray">
            <a:xfrm>
              <a:off x="2238" y="2042"/>
              <a:ext cx="2059" cy="1645"/>
            </a:xfrm>
            <a:custGeom>
              <a:avLst/>
              <a:gdLst/>
              <a:ahLst/>
              <a:cxnLst>
                <a:cxn ang="0">
                  <a:pos x="452" y="653"/>
                </a:cxn>
                <a:cxn ang="0">
                  <a:pos x="333" y="595"/>
                </a:cxn>
                <a:cxn ang="0">
                  <a:pos x="158" y="645"/>
                </a:cxn>
                <a:cxn ang="0">
                  <a:pos x="46" y="759"/>
                </a:cxn>
                <a:cxn ang="0">
                  <a:pos x="12" y="941"/>
                </a:cxn>
                <a:cxn ang="0">
                  <a:pos x="146" y="1059"/>
                </a:cxn>
                <a:cxn ang="0">
                  <a:pos x="308" y="1041"/>
                </a:cxn>
                <a:cxn ang="0">
                  <a:pos x="396" y="1138"/>
                </a:cxn>
                <a:cxn ang="0">
                  <a:pos x="452" y="1447"/>
                </a:cxn>
                <a:cxn ang="0">
                  <a:pos x="497" y="1628"/>
                </a:cxn>
                <a:cxn ang="0">
                  <a:pos x="704" y="1574"/>
                </a:cxn>
                <a:cxn ang="0">
                  <a:pos x="817" y="1380"/>
                </a:cxn>
                <a:cxn ang="0">
                  <a:pos x="885" y="1153"/>
                </a:cxn>
                <a:cxn ang="0">
                  <a:pos x="998" y="999"/>
                </a:cxn>
                <a:cxn ang="0">
                  <a:pos x="796" y="856"/>
                </a:cxn>
                <a:cxn ang="0">
                  <a:pos x="817" y="819"/>
                </a:cxn>
                <a:cxn ang="0">
                  <a:pos x="1003" y="916"/>
                </a:cxn>
                <a:cxn ang="0">
                  <a:pos x="1098" y="792"/>
                </a:cxn>
                <a:cxn ang="0">
                  <a:pos x="1046" y="763"/>
                </a:cxn>
                <a:cxn ang="0">
                  <a:pos x="929" y="716"/>
                </a:cxn>
                <a:cxn ang="0">
                  <a:pos x="1141" y="761"/>
                </a:cxn>
                <a:cxn ang="0">
                  <a:pos x="1296" y="852"/>
                </a:cxn>
                <a:cxn ang="0">
                  <a:pos x="1373" y="1033"/>
                </a:cxn>
                <a:cxn ang="0">
                  <a:pos x="1608" y="847"/>
                </a:cxn>
                <a:cxn ang="0">
                  <a:pos x="1704" y="1030"/>
                </a:cxn>
                <a:cxn ang="0">
                  <a:pos x="1707" y="874"/>
                </a:cxn>
                <a:cxn ang="0">
                  <a:pos x="1759" y="800"/>
                </a:cxn>
                <a:cxn ang="0">
                  <a:pos x="1783" y="544"/>
                </a:cxn>
                <a:cxn ang="0">
                  <a:pos x="1824" y="528"/>
                </a:cxn>
                <a:cxn ang="0">
                  <a:pos x="1844" y="427"/>
                </a:cxn>
                <a:cxn ang="0">
                  <a:pos x="1805" y="226"/>
                </a:cxn>
                <a:cxn ang="0">
                  <a:pos x="1899" y="108"/>
                </a:cxn>
                <a:cxn ang="0">
                  <a:pos x="1947" y="209"/>
                </a:cxn>
                <a:cxn ang="0">
                  <a:pos x="1943" y="123"/>
                </a:cxn>
                <a:cxn ang="0">
                  <a:pos x="1975" y="51"/>
                </a:cxn>
                <a:cxn ang="0">
                  <a:pos x="2038" y="0"/>
                </a:cxn>
                <a:cxn ang="0">
                  <a:pos x="1820" y="63"/>
                </a:cxn>
                <a:cxn ang="0">
                  <a:pos x="1583" y="83"/>
                </a:cxn>
                <a:cxn ang="0">
                  <a:pos x="1349" y="30"/>
                </a:cxn>
                <a:cxn ang="0">
                  <a:pos x="1132" y="65"/>
                </a:cxn>
                <a:cxn ang="0">
                  <a:pos x="1040" y="170"/>
                </a:cxn>
                <a:cxn ang="0">
                  <a:pos x="926" y="137"/>
                </a:cxn>
                <a:cxn ang="0">
                  <a:pos x="758" y="183"/>
                </a:cxn>
                <a:cxn ang="0">
                  <a:pos x="667" y="140"/>
                </a:cxn>
                <a:cxn ang="0">
                  <a:pos x="364" y="248"/>
                </a:cxn>
                <a:cxn ang="0">
                  <a:pos x="535" y="213"/>
                </a:cxn>
                <a:cxn ang="0">
                  <a:pos x="638" y="276"/>
                </a:cxn>
                <a:cxn ang="0">
                  <a:pos x="443" y="357"/>
                </a:cxn>
                <a:cxn ang="0">
                  <a:pos x="275" y="416"/>
                </a:cxn>
                <a:cxn ang="0">
                  <a:pos x="167" y="537"/>
                </a:cxn>
                <a:cxn ang="0">
                  <a:pos x="283" y="552"/>
                </a:cxn>
                <a:cxn ang="0">
                  <a:pos x="381" y="573"/>
                </a:cxn>
                <a:cxn ang="0">
                  <a:pos x="493" y="590"/>
                </a:cxn>
                <a:cxn ang="0">
                  <a:pos x="487" y="512"/>
                </a:cxn>
                <a:cxn ang="0">
                  <a:pos x="592" y="548"/>
                </a:cxn>
                <a:cxn ang="0">
                  <a:pos x="686" y="470"/>
                </a:cxn>
                <a:cxn ang="0">
                  <a:pos x="772" y="480"/>
                </a:cxn>
                <a:cxn ang="0">
                  <a:pos x="639" y="598"/>
                </a:cxn>
              </a:cxnLst>
              <a:rect l="0" t="0" r="r" b="b"/>
              <a:pathLst>
                <a:path w="2060" h="1644">
                  <a:moveTo>
                    <a:pt x="697" y="677"/>
                  </a:moveTo>
                  <a:cubicBezTo>
                    <a:pt x="659" y="675"/>
                    <a:pt x="652" y="669"/>
                    <a:pt x="618" y="667"/>
                  </a:cubicBezTo>
                  <a:cubicBezTo>
                    <a:pt x="607" y="666"/>
                    <a:pt x="594" y="661"/>
                    <a:pt x="582" y="658"/>
                  </a:cubicBezTo>
                  <a:cubicBezTo>
                    <a:pt x="577" y="655"/>
                    <a:pt x="568" y="650"/>
                    <a:pt x="568" y="650"/>
                  </a:cubicBezTo>
                  <a:cubicBezTo>
                    <a:pt x="551" y="652"/>
                    <a:pt x="557" y="655"/>
                    <a:pt x="546" y="658"/>
                  </a:cubicBezTo>
                  <a:cubicBezTo>
                    <a:pt x="540" y="667"/>
                    <a:pt x="542" y="669"/>
                    <a:pt x="546" y="677"/>
                  </a:cubicBezTo>
                  <a:cubicBezTo>
                    <a:pt x="548" y="680"/>
                    <a:pt x="550" y="686"/>
                    <a:pt x="550" y="686"/>
                  </a:cubicBezTo>
                  <a:cubicBezTo>
                    <a:pt x="526" y="694"/>
                    <a:pt x="506" y="678"/>
                    <a:pt x="488" y="670"/>
                  </a:cubicBezTo>
                  <a:cubicBezTo>
                    <a:pt x="481" y="653"/>
                    <a:pt x="472" y="655"/>
                    <a:pt x="452" y="653"/>
                  </a:cubicBezTo>
                  <a:cubicBezTo>
                    <a:pt x="446" y="648"/>
                    <a:pt x="444" y="648"/>
                    <a:pt x="437" y="650"/>
                  </a:cubicBezTo>
                  <a:cubicBezTo>
                    <a:pt x="427" y="647"/>
                    <a:pt x="433" y="648"/>
                    <a:pt x="423" y="642"/>
                  </a:cubicBezTo>
                  <a:cubicBezTo>
                    <a:pt x="421" y="641"/>
                    <a:pt x="418" y="639"/>
                    <a:pt x="418" y="639"/>
                  </a:cubicBezTo>
                  <a:cubicBezTo>
                    <a:pt x="416" y="638"/>
                    <a:pt x="413" y="633"/>
                    <a:pt x="413" y="630"/>
                  </a:cubicBezTo>
                  <a:cubicBezTo>
                    <a:pt x="415" y="625"/>
                    <a:pt x="418" y="616"/>
                    <a:pt x="418" y="616"/>
                  </a:cubicBezTo>
                  <a:cubicBezTo>
                    <a:pt x="416" y="592"/>
                    <a:pt x="421" y="588"/>
                    <a:pt x="398" y="591"/>
                  </a:cubicBezTo>
                  <a:cubicBezTo>
                    <a:pt x="390" y="598"/>
                    <a:pt x="390" y="595"/>
                    <a:pt x="381" y="592"/>
                  </a:cubicBezTo>
                  <a:cubicBezTo>
                    <a:pt x="370" y="592"/>
                    <a:pt x="361" y="595"/>
                    <a:pt x="348" y="597"/>
                  </a:cubicBezTo>
                  <a:cubicBezTo>
                    <a:pt x="344" y="595"/>
                    <a:pt x="337" y="597"/>
                    <a:pt x="333" y="595"/>
                  </a:cubicBezTo>
                  <a:cubicBezTo>
                    <a:pt x="331" y="594"/>
                    <a:pt x="330" y="592"/>
                    <a:pt x="328" y="592"/>
                  </a:cubicBezTo>
                  <a:cubicBezTo>
                    <a:pt x="314" y="591"/>
                    <a:pt x="296" y="597"/>
                    <a:pt x="283" y="602"/>
                  </a:cubicBezTo>
                  <a:cubicBezTo>
                    <a:pt x="276" y="603"/>
                    <a:pt x="268" y="606"/>
                    <a:pt x="260" y="608"/>
                  </a:cubicBezTo>
                  <a:cubicBezTo>
                    <a:pt x="255" y="609"/>
                    <a:pt x="246" y="613"/>
                    <a:pt x="246" y="613"/>
                  </a:cubicBezTo>
                  <a:cubicBezTo>
                    <a:pt x="228" y="611"/>
                    <a:pt x="209" y="609"/>
                    <a:pt x="189" y="611"/>
                  </a:cubicBezTo>
                  <a:cubicBezTo>
                    <a:pt x="184" y="613"/>
                    <a:pt x="180" y="614"/>
                    <a:pt x="175" y="617"/>
                  </a:cubicBezTo>
                  <a:cubicBezTo>
                    <a:pt x="173" y="619"/>
                    <a:pt x="173" y="620"/>
                    <a:pt x="173" y="622"/>
                  </a:cubicBezTo>
                  <a:cubicBezTo>
                    <a:pt x="172" y="623"/>
                    <a:pt x="169" y="623"/>
                    <a:pt x="169" y="625"/>
                  </a:cubicBezTo>
                  <a:cubicBezTo>
                    <a:pt x="163" y="634"/>
                    <a:pt x="167" y="641"/>
                    <a:pt x="158" y="645"/>
                  </a:cubicBezTo>
                  <a:cubicBezTo>
                    <a:pt x="153" y="648"/>
                    <a:pt x="149" y="652"/>
                    <a:pt x="144" y="655"/>
                  </a:cubicBezTo>
                  <a:cubicBezTo>
                    <a:pt x="141" y="656"/>
                    <a:pt x="135" y="659"/>
                    <a:pt x="135" y="659"/>
                  </a:cubicBezTo>
                  <a:cubicBezTo>
                    <a:pt x="133" y="664"/>
                    <a:pt x="130" y="666"/>
                    <a:pt x="130" y="669"/>
                  </a:cubicBezTo>
                  <a:cubicBezTo>
                    <a:pt x="128" y="677"/>
                    <a:pt x="132" y="691"/>
                    <a:pt x="124" y="698"/>
                  </a:cubicBezTo>
                  <a:cubicBezTo>
                    <a:pt x="118" y="703"/>
                    <a:pt x="108" y="709"/>
                    <a:pt x="101" y="711"/>
                  </a:cubicBezTo>
                  <a:cubicBezTo>
                    <a:pt x="101" y="711"/>
                    <a:pt x="90" y="716"/>
                    <a:pt x="87" y="716"/>
                  </a:cubicBezTo>
                  <a:cubicBezTo>
                    <a:pt x="85" y="717"/>
                    <a:pt x="82" y="717"/>
                    <a:pt x="82" y="717"/>
                  </a:cubicBezTo>
                  <a:cubicBezTo>
                    <a:pt x="76" y="725"/>
                    <a:pt x="68" y="733"/>
                    <a:pt x="60" y="738"/>
                  </a:cubicBezTo>
                  <a:cubicBezTo>
                    <a:pt x="56" y="745"/>
                    <a:pt x="53" y="755"/>
                    <a:pt x="46" y="759"/>
                  </a:cubicBezTo>
                  <a:cubicBezTo>
                    <a:pt x="43" y="764"/>
                    <a:pt x="37" y="767"/>
                    <a:pt x="31" y="773"/>
                  </a:cubicBezTo>
                  <a:cubicBezTo>
                    <a:pt x="26" y="780"/>
                    <a:pt x="25" y="789"/>
                    <a:pt x="23" y="797"/>
                  </a:cubicBezTo>
                  <a:cubicBezTo>
                    <a:pt x="20" y="803"/>
                    <a:pt x="19" y="809"/>
                    <a:pt x="17" y="816"/>
                  </a:cubicBezTo>
                  <a:cubicBezTo>
                    <a:pt x="15" y="817"/>
                    <a:pt x="14" y="824"/>
                    <a:pt x="14" y="824"/>
                  </a:cubicBezTo>
                  <a:cubicBezTo>
                    <a:pt x="15" y="831"/>
                    <a:pt x="26" y="842"/>
                    <a:pt x="26" y="842"/>
                  </a:cubicBezTo>
                  <a:cubicBezTo>
                    <a:pt x="26" y="847"/>
                    <a:pt x="17" y="855"/>
                    <a:pt x="17" y="855"/>
                  </a:cubicBezTo>
                  <a:cubicBezTo>
                    <a:pt x="14" y="863"/>
                    <a:pt x="17" y="867"/>
                    <a:pt x="25" y="870"/>
                  </a:cubicBezTo>
                  <a:cubicBezTo>
                    <a:pt x="28" y="884"/>
                    <a:pt x="17" y="902"/>
                    <a:pt x="6" y="909"/>
                  </a:cubicBezTo>
                  <a:cubicBezTo>
                    <a:pt x="0" y="927"/>
                    <a:pt x="5" y="927"/>
                    <a:pt x="12" y="941"/>
                  </a:cubicBezTo>
                  <a:cubicBezTo>
                    <a:pt x="23" y="963"/>
                    <a:pt x="29" y="969"/>
                    <a:pt x="53" y="977"/>
                  </a:cubicBezTo>
                  <a:cubicBezTo>
                    <a:pt x="60" y="986"/>
                    <a:pt x="56" y="983"/>
                    <a:pt x="63" y="989"/>
                  </a:cubicBezTo>
                  <a:cubicBezTo>
                    <a:pt x="62" y="994"/>
                    <a:pt x="59" y="997"/>
                    <a:pt x="59" y="1002"/>
                  </a:cubicBezTo>
                  <a:cubicBezTo>
                    <a:pt x="57" y="1009"/>
                    <a:pt x="70" y="1020"/>
                    <a:pt x="74" y="1027"/>
                  </a:cubicBezTo>
                  <a:cubicBezTo>
                    <a:pt x="77" y="1031"/>
                    <a:pt x="91" y="1036"/>
                    <a:pt x="91" y="1036"/>
                  </a:cubicBezTo>
                  <a:cubicBezTo>
                    <a:pt x="94" y="1036"/>
                    <a:pt x="96" y="1036"/>
                    <a:pt x="98" y="1034"/>
                  </a:cubicBezTo>
                  <a:cubicBezTo>
                    <a:pt x="99" y="1034"/>
                    <a:pt x="98" y="1031"/>
                    <a:pt x="99" y="1030"/>
                  </a:cubicBezTo>
                  <a:cubicBezTo>
                    <a:pt x="101" y="1030"/>
                    <a:pt x="107" y="1038"/>
                    <a:pt x="108" y="1038"/>
                  </a:cubicBezTo>
                  <a:cubicBezTo>
                    <a:pt x="119" y="1047"/>
                    <a:pt x="133" y="1055"/>
                    <a:pt x="146" y="1059"/>
                  </a:cubicBezTo>
                  <a:cubicBezTo>
                    <a:pt x="149" y="1067"/>
                    <a:pt x="152" y="1066"/>
                    <a:pt x="159" y="1064"/>
                  </a:cubicBezTo>
                  <a:cubicBezTo>
                    <a:pt x="163" y="1061"/>
                    <a:pt x="166" y="1059"/>
                    <a:pt x="169" y="1058"/>
                  </a:cubicBezTo>
                  <a:cubicBezTo>
                    <a:pt x="172" y="1056"/>
                    <a:pt x="178" y="1055"/>
                    <a:pt x="178" y="1055"/>
                  </a:cubicBezTo>
                  <a:cubicBezTo>
                    <a:pt x="192" y="1059"/>
                    <a:pt x="209" y="1061"/>
                    <a:pt x="224" y="1063"/>
                  </a:cubicBezTo>
                  <a:cubicBezTo>
                    <a:pt x="231" y="1067"/>
                    <a:pt x="229" y="1070"/>
                    <a:pt x="238" y="1069"/>
                  </a:cubicBezTo>
                  <a:cubicBezTo>
                    <a:pt x="238" y="1063"/>
                    <a:pt x="238" y="1056"/>
                    <a:pt x="238" y="1050"/>
                  </a:cubicBezTo>
                  <a:cubicBezTo>
                    <a:pt x="241" y="1041"/>
                    <a:pt x="257" y="1059"/>
                    <a:pt x="260" y="1061"/>
                  </a:cubicBezTo>
                  <a:cubicBezTo>
                    <a:pt x="266" y="1050"/>
                    <a:pt x="279" y="1052"/>
                    <a:pt x="291" y="1050"/>
                  </a:cubicBezTo>
                  <a:cubicBezTo>
                    <a:pt x="297" y="1049"/>
                    <a:pt x="302" y="1044"/>
                    <a:pt x="308" y="1041"/>
                  </a:cubicBezTo>
                  <a:cubicBezTo>
                    <a:pt x="319" y="1042"/>
                    <a:pt x="330" y="1045"/>
                    <a:pt x="341" y="1049"/>
                  </a:cubicBezTo>
                  <a:cubicBezTo>
                    <a:pt x="342" y="1050"/>
                    <a:pt x="344" y="1055"/>
                    <a:pt x="344" y="1058"/>
                  </a:cubicBezTo>
                  <a:cubicBezTo>
                    <a:pt x="344" y="1061"/>
                    <a:pt x="342" y="1067"/>
                    <a:pt x="342" y="1067"/>
                  </a:cubicBezTo>
                  <a:cubicBezTo>
                    <a:pt x="347" y="1070"/>
                    <a:pt x="355" y="1072"/>
                    <a:pt x="361" y="1075"/>
                  </a:cubicBezTo>
                  <a:cubicBezTo>
                    <a:pt x="362" y="1075"/>
                    <a:pt x="365" y="1077"/>
                    <a:pt x="365" y="1077"/>
                  </a:cubicBezTo>
                  <a:cubicBezTo>
                    <a:pt x="375" y="1074"/>
                    <a:pt x="384" y="1074"/>
                    <a:pt x="393" y="1080"/>
                  </a:cubicBezTo>
                  <a:cubicBezTo>
                    <a:pt x="396" y="1083"/>
                    <a:pt x="398" y="1088"/>
                    <a:pt x="401" y="1092"/>
                  </a:cubicBezTo>
                  <a:cubicBezTo>
                    <a:pt x="404" y="1095"/>
                    <a:pt x="407" y="1102"/>
                    <a:pt x="407" y="1102"/>
                  </a:cubicBezTo>
                  <a:cubicBezTo>
                    <a:pt x="404" y="1114"/>
                    <a:pt x="399" y="1127"/>
                    <a:pt x="396" y="1138"/>
                  </a:cubicBezTo>
                  <a:cubicBezTo>
                    <a:pt x="393" y="1147"/>
                    <a:pt x="395" y="1141"/>
                    <a:pt x="389" y="1152"/>
                  </a:cubicBezTo>
                  <a:cubicBezTo>
                    <a:pt x="387" y="1153"/>
                    <a:pt x="385" y="1156"/>
                    <a:pt x="385" y="1156"/>
                  </a:cubicBezTo>
                  <a:cubicBezTo>
                    <a:pt x="389" y="1185"/>
                    <a:pt x="396" y="1180"/>
                    <a:pt x="410" y="1197"/>
                  </a:cubicBezTo>
                  <a:cubicBezTo>
                    <a:pt x="427" y="1219"/>
                    <a:pt x="440" y="1239"/>
                    <a:pt x="447" y="1266"/>
                  </a:cubicBezTo>
                  <a:cubicBezTo>
                    <a:pt x="446" y="1280"/>
                    <a:pt x="452" y="1314"/>
                    <a:pt x="435" y="1325"/>
                  </a:cubicBezTo>
                  <a:cubicBezTo>
                    <a:pt x="427" y="1347"/>
                    <a:pt x="433" y="1325"/>
                    <a:pt x="430" y="1367"/>
                  </a:cubicBezTo>
                  <a:cubicBezTo>
                    <a:pt x="429" y="1377"/>
                    <a:pt x="421" y="1381"/>
                    <a:pt x="418" y="1391"/>
                  </a:cubicBezTo>
                  <a:cubicBezTo>
                    <a:pt x="421" y="1413"/>
                    <a:pt x="430" y="1422"/>
                    <a:pt x="446" y="1438"/>
                  </a:cubicBezTo>
                  <a:cubicBezTo>
                    <a:pt x="449" y="1441"/>
                    <a:pt x="450" y="1442"/>
                    <a:pt x="452" y="1447"/>
                  </a:cubicBezTo>
                  <a:cubicBezTo>
                    <a:pt x="454" y="1450"/>
                    <a:pt x="455" y="1456"/>
                    <a:pt x="455" y="1456"/>
                  </a:cubicBezTo>
                  <a:cubicBezTo>
                    <a:pt x="457" y="1475"/>
                    <a:pt x="458" y="1488"/>
                    <a:pt x="460" y="1505"/>
                  </a:cubicBezTo>
                  <a:cubicBezTo>
                    <a:pt x="461" y="1514"/>
                    <a:pt x="461" y="1511"/>
                    <a:pt x="464" y="1522"/>
                  </a:cubicBezTo>
                  <a:cubicBezTo>
                    <a:pt x="466" y="1524"/>
                    <a:pt x="466" y="1527"/>
                    <a:pt x="466" y="1527"/>
                  </a:cubicBezTo>
                  <a:cubicBezTo>
                    <a:pt x="468" y="1542"/>
                    <a:pt x="469" y="1552"/>
                    <a:pt x="481" y="1561"/>
                  </a:cubicBezTo>
                  <a:cubicBezTo>
                    <a:pt x="485" y="1566"/>
                    <a:pt x="488" y="1569"/>
                    <a:pt x="494" y="1572"/>
                  </a:cubicBezTo>
                  <a:cubicBezTo>
                    <a:pt x="497" y="1585"/>
                    <a:pt x="503" y="1597"/>
                    <a:pt x="506" y="1610"/>
                  </a:cubicBezTo>
                  <a:cubicBezTo>
                    <a:pt x="506" y="1614"/>
                    <a:pt x="508" y="1619"/>
                    <a:pt x="505" y="1622"/>
                  </a:cubicBezTo>
                  <a:cubicBezTo>
                    <a:pt x="503" y="1625"/>
                    <a:pt x="497" y="1628"/>
                    <a:pt x="497" y="1628"/>
                  </a:cubicBezTo>
                  <a:cubicBezTo>
                    <a:pt x="488" y="1642"/>
                    <a:pt x="509" y="1644"/>
                    <a:pt x="517" y="1644"/>
                  </a:cubicBezTo>
                  <a:cubicBezTo>
                    <a:pt x="539" y="1639"/>
                    <a:pt x="557" y="1635"/>
                    <a:pt x="579" y="1633"/>
                  </a:cubicBezTo>
                  <a:cubicBezTo>
                    <a:pt x="598" y="1630"/>
                    <a:pt x="613" y="1627"/>
                    <a:pt x="632" y="1624"/>
                  </a:cubicBezTo>
                  <a:cubicBezTo>
                    <a:pt x="635" y="1624"/>
                    <a:pt x="638" y="1622"/>
                    <a:pt x="641" y="1621"/>
                  </a:cubicBezTo>
                  <a:cubicBezTo>
                    <a:pt x="642" y="1621"/>
                    <a:pt x="644" y="1619"/>
                    <a:pt x="646" y="1617"/>
                  </a:cubicBezTo>
                  <a:cubicBezTo>
                    <a:pt x="649" y="1617"/>
                    <a:pt x="655" y="1616"/>
                    <a:pt x="655" y="1616"/>
                  </a:cubicBezTo>
                  <a:cubicBezTo>
                    <a:pt x="659" y="1610"/>
                    <a:pt x="664" y="1603"/>
                    <a:pt x="670" y="1600"/>
                  </a:cubicBezTo>
                  <a:cubicBezTo>
                    <a:pt x="675" y="1594"/>
                    <a:pt x="678" y="1591"/>
                    <a:pt x="683" y="1588"/>
                  </a:cubicBezTo>
                  <a:cubicBezTo>
                    <a:pt x="687" y="1581"/>
                    <a:pt x="697" y="1577"/>
                    <a:pt x="704" y="1574"/>
                  </a:cubicBezTo>
                  <a:cubicBezTo>
                    <a:pt x="715" y="1563"/>
                    <a:pt x="726" y="1550"/>
                    <a:pt x="731" y="1535"/>
                  </a:cubicBezTo>
                  <a:cubicBezTo>
                    <a:pt x="731" y="1531"/>
                    <a:pt x="729" y="1528"/>
                    <a:pt x="729" y="1525"/>
                  </a:cubicBezTo>
                  <a:cubicBezTo>
                    <a:pt x="729" y="1494"/>
                    <a:pt x="737" y="1505"/>
                    <a:pt x="754" y="1494"/>
                  </a:cubicBezTo>
                  <a:cubicBezTo>
                    <a:pt x="759" y="1488"/>
                    <a:pt x="762" y="1483"/>
                    <a:pt x="765" y="1475"/>
                  </a:cubicBezTo>
                  <a:cubicBezTo>
                    <a:pt x="763" y="1458"/>
                    <a:pt x="765" y="1439"/>
                    <a:pt x="755" y="1424"/>
                  </a:cubicBezTo>
                  <a:cubicBezTo>
                    <a:pt x="759" y="1413"/>
                    <a:pt x="771" y="1419"/>
                    <a:pt x="779" y="1422"/>
                  </a:cubicBezTo>
                  <a:cubicBezTo>
                    <a:pt x="782" y="1427"/>
                    <a:pt x="782" y="1435"/>
                    <a:pt x="785" y="1427"/>
                  </a:cubicBezTo>
                  <a:cubicBezTo>
                    <a:pt x="786" y="1416"/>
                    <a:pt x="786" y="1405"/>
                    <a:pt x="786" y="1396"/>
                  </a:cubicBezTo>
                  <a:cubicBezTo>
                    <a:pt x="788" y="1386"/>
                    <a:pt x="810" y="1385"/>
                    <a:pt x="817" y="1380"/>
                  </a:cubicBezTo>
                  <a:cubicBezTo>
                    <a:pt x="820" y="1374"/>
                    <a:pt x="831" y="1367"/>
                    <a:pt x="837" y="1363"/>
                  </a:cubicBezTo>
                  <a:cubicBezTo>
                    <a:pt x="841" y="1361"/>
                    <a:pt x="847" y="1356"/>
                    <a:pt x="847" y="1356"/>
                  </a:cubicBezTo>
                  <a:cubicBezTo>
                    <a:pt x="855" y="1345"/>
                    <a:pt x="845" y="1333"/>
                    <a:pt x="844" y="1320"/>
                  </a:cubicBezTo>
                  <a:cubicBezTo>
                    <a:pt x="845" y="1310"/>
                    <a:pt x="847" y="1308"/>
                    <a:pt x="850" y="1299"/>
                  </a:cubicBezTo>
                  <a:cubicBezTo>
                    <a:pt x="847" y="1288"/>
                    <a:pt x="842" y="1288"/>
                    <a:pt x="834" y="1280"/>
                  </a:cubicBezTo>
                  <a:cubicBezTo>
                    <a:pt x="833" y="1275"/>
                    <a:pt x="830" y="1266"/>
                    <a:pt x="830" y="1266"/>
                  </a:cubicBezTo>
                  <a:cubicBezTo>
                    <a:pt x="831" y="1250"/>
                    <a:pt x="831" y="1236"/>
                    <a:pt x="831" y="1220"/>
                  </a:cubicBezTo>
                  <a:cubicBezTo>
                    <a:pt x="833" y="1192"/>
                    <a:pt x="861" y="1183"/>
                    <a:pt x="876" y="1166"/>
                  </a:cubicBezTo>
                  <a:cubicBezTo>
                    <a:pt x="879" y="1160"/>
                    <a:pt x="884" y="1160"/>
                    <a:pt x="885" y="1153"/>
                  </a:cubicBezTo>
                  <a:cubicBezTo>
                    <a:pt x="890" y="1144"/>
                    <a:pt x="889" y="1142"/>
                    <a:pt x="895" y="1136"/>
                  </a:cubicBezTo>
                  <a:cubicBezTo>
                    <a:pt x="898" y="1127"/>
                    <a:pt x="906" y="1114"/>
                    <a:pt x="915" y="1111"/>
                  </a:cubicBezTo>
                  <a:cubicBezTo>
                    <a:pt x="920" y="1105"/>
                    <a:pt x="924" y="1099"/>
                    <a:pt x="930" y="1094"/>
                  </a:cubicBezTo>
                  <a:cubicBezTo>
                    <a:pt x="935" y="1089"/>
                    <a:pt x="938" y="1089"/>
                    <a:pt x="943" y="1084"/>
                  </a:cubicBezTo>
                  <a:cubicBezTo>
                    <a:pt x="947" y="1080"/>
                    <a:pt x="949" y="1078"/>
                    <a:pt x="955" y="1077"/>
                  </a:cubicBezTo>
                  <a:cubicBezTo>
                    <a:pt x="961" y="1066"/>
                    <a:pt x="958" y="1069"/>
                    <a:pt x="966" y="1064"/>
                  </a:cubicBezTo>
                  <a:cubicBezTo>
                    <a:pt x="972" y="1055"/>
                    <a:pt x="978" y="1045"/>
                    <a:pt x="983" y="1036"/>
                  </a:cubicBezTo>
                  <a:cubicBezTo>
                    <a:pt x="988" y="1030"/>
                    <a:pt x="989" y="1019"/>
                    <a:pt x="991" y="1013"/>
                  </a:cubicBezTo>
                  <a:cubicBezTo>
                    <a:pt x="994" y="1003"/>
                    <a:pt x="992" y="1009"/>
                    <a:pt x="998" y="999"/>
                  </a:cubicBezTo>
                  <a:cubicBezTo>
                    <a:pt x="1003" y="992"/>
                    <a:pt x="1003" y="984"/>
                    <a:pt x="1005" y="977"/>
                  </a:cubicBezTo>
                  <a:cubicBezTo>
                    <a:pt x="1003" y="966"/>
                    <a:pt x="1000" y="970"/>
                    <a:pt x="989" y="974"/>
                  </a:cubicBezTo>
                  <a:cubicBezTo>
                    <a:pt x="971" y="986"/>
                    <a:pt x="941" y="983"/>
                    <a:pt x="921" y="983"/>
                  </a:cubicBezTo>
                  <a:cubicBezTo>
                    <a:pt x="892" y="981"/>
                    <a:pt x="895" y="977"/>
                    <a:pt x="878" y="961"/>
                  </a:cubicBezTo>
                  <a:cubicBezTo>
                    <a:pt x="875" y="949"/>
                    <a:pt x="867" y="944"/>
                    <a:pt x="858" y="936"/>
                  </a:cubicBezTo>
                  <a:cubicBezTo>
                    <a:pt x="853" y="933"/>
                    <a:pt x="844" y="930"/>
                    <a:pt x="844" y="930"/>
                  </a:cubicBezTo>
                  <a:cubicBezTo>
                    <a:pt x="837" y="909"/>
                    <a:pt x="828" y="891"/>
                    <a:pt x="817" y="872"/>
                  </a:cubicBezTo>
                  <a:cubicBezTo>
                    <a:pt x="811" y="866"/>
                    <a:pt x="816" y="869"/>
                    <a:pt x="805" y="863"/>
                  </a:cubicBezTo>
                  <a:cubicBezTo>
                    <a:pt x="802" y="859"/>
                    <a:pt x="796" y="856"/>
                    <a:pt x="796" y="856"/>
                  </a:cubicBezTo>
                  <a:cubicBezTo>
                    <a:pt x="786" y="842"/>
                    <a:pt x="794" y="825"/>
                    <a:pt x="785" y="813"/>
                  </a:cubicBezTo>
                  <a:cubicBezTo>
                    <a:pt x="774" y="794"/>
                    <a:pt x="759" y="772"/>
                    <a:pt x="745" y="758"/>
                  </a:cubicBezTo>
                  <a:cubicBezTo>
                    <a:pt x="742" y="744"/>
                    <a:pt x="737" y="736"/>
                    <a:pt x="729" y="723"/>
                  </a:cubicBezTo>
                  <a:cubicBezTo>
                    <a:pt x="726" y="720"/>
                    <a:pt x="723" y="709"/>
                    <a:pt x="723" y="709"/>
                  </a:cubicBezTo>
                  <a:cubicBezTo>
                    <a:pt x="740" y="705"/>
                    <a:pt x="757" y="733"/>
                    <a:pt x="766" y="744"/>
                  </a:cubicBezTo>
                  <a:cubicBezTo>
                    <a:pt x="771" y="758"/>
                    <a:pt x="771" y="759"/>
                    <a:pt x="786" y="764"/>
                  </a:cubicBezTo>
                  <a:cubicBezTo>
                    <a:pt x="793" y="766"/>
                    <a:pt x="800" y="773"/>
                    <a:pt x="800" y="773"/>
                  </a:cubicBezTo>
                  <a:cubicBezTo>
                    <a:pt x="803" y="780"/>
                    <a:pt x="808" y="784"/>
                    <a:pt x="813" y="791"/>
                  </a:cubicBezTo>
                  <a:cubicBezTo>
                    <a:pt x="813" y="803"/>
                    <a:pt x="814" y="809"/>
                    <a:pt x="817" y="819"/>
                  </a:cubicBezTo>
                  <a:cubicBezTo>
                    <a:pt x="819" y="842"/>
                    <a:pt x="820" y="841"/>
                    <a:pt x="839" y="847"/>
                  </a:cubicBezTo>
                  <a:cubicBezTo>
                    <a:pt x="844" y="852"/>
                    <a:pt x="847" y="856"/>
                    <a:pt x="851" y="861"/>
                  </a:cubicBezTo>
                  <a:cubicBezTo>
                    <a:pt x="851" y="863"/>
                    <a:pt x="853" y="864"/>
                    <a:pt x="853" y="866"/>
                  </a:cubicBezTo>
                  <a:cubicBezTo>
                    <a:pt x="853" y="869"/>
                    <a:pt x="853" y="874"/>
                    <a:pt x="855" y="877"/>
                  </a:cubicBezTo>
                  <a:cubicBezTo>
                    <a:pt x="856" y="884"/>
                    <a:pt x="870" y="889"/>
                    <a:pt x="875" y="894"/>
                  </a:cubicBezTo>
                  <a:cubicBezTo>
                    <a:pt x="887" y="927"/>
                    <a:pt x="870" y="945"/>
                    <a:pt x="910" y="955"/>
                  </a:cubicBezTo>
                  <a:cubicBezTo>
                    <a:pt x="921" y="953"/>
                    <a:pt x="926" y="955"/>
                    <a:pt x="933" y="949"/>
                  </a:cubicBezTo>
                  <a:cubicBezTo>
                    <a:pt x="938" y="942"/>
                    <a:pt x="944" y="941"/>
                    <a:pt x="951" y="936"/>
                  </a:cubicBezTo>
                  <a:cubicBezTo>
                    <a:pt x="972" y="924"/>
                    <a:pt x="978" y="920"/>
                    <a:pt x="1003" y="916"/>
                  </a:cubicBezTo>
                  <a:cubicBezTo>
                    <a:pt x="1009" y="914"/>
                    <a:pt x="1017" y="911"/>
                    <a:pt x="1025" y="909"/>
                  </a:cubicBezTo>
                  <a:cubicBezTo>
                    <a:pt x="1031" y="906"/>
                    <a:pt x="1036" y="899"/>
                    <a:pt x="1042" y="897"/>
                  </a:cubicBezTo>
                  <a:cubicBezTo>
                    <a:pt x="1051" y="894"/>
                    <a:pt x="1060" y="894"/>
                    <a:pt x="1068" y="888"/>
                  </a:cubicBezTo>
                  <a:cubicBezTo>
                    <a:pt x="1073" y="881"/>
                    <a:pt x="1079" y="877"/>
                    <a:pt x="1084" y="869"/>
                  </a:cubicBezTo>
                  <a:cubicBezTo>
                    <a:pt x="1087" y="861"/>
                    <a:pt x="1088" y="850"/>
                    <a:pt x="1098" y="844"/>
                  </a:cubicBezTo>
                  <a:cubicBezTo>
                    <a:pt x="1104" y="836"/>
                    <a:pt x="1105" y="825"/>
                    <a:pt x="1108" y="816"/>
                  </a:cubicBezTo>
                  <a:cubicBezTo>
                    <a:pt x="1110" y="811"/>
                    <a:pt x="1115" y="808"/>
                    <a:pt x="1116" y="803"/>
                  </a:cubicBezTo>
                  <a:cubicBezTo>
                    <a:pt x="1110" y="800"/>
                    <a:pt x="1110" y="805"/>
                    <a:pt x="1102" y="808"/>
                  </a:cubicBezTo>
                  <a:cubicBezTo>
                    <a:pt x="1099" y="802"/>
                    <a:pt x="1104" y="795"/>
                    <a:pt x="1098" y="792"/>
                  </a:cubicBezTo>
                  <a:cubicBezTo>
                    <a:pt x="1094" y="789"/>
                    <a:pt x="1084" y="788"/>
                    <a:pt x="1084" y="788"/>
                  </a:cubicBezTo>
                  <a:cubicBezTo>
                    <a:pt x="1077" y="780"/>
                    <a:pt x="1076" y="783"/>
                    <a:pt x="1067" y="786"/>
                  </a:cubicBezTo>
                  <a:cubicBezTo>
                    <a:pt x="1064" y="788"/>
                    <a:pt x="1057" y="789"/>
                    <a:pt x="1057" y="789"/>
                  </a:cubicBezTo>
                  <a:cubicBezTo>
                    <a:pt x="1054" y="789"/>
                    <a:pt x="1051" y="789"/>
                    <a:pt x="1048" y="788"/>
                  </a:cubicBezTo>
                  <a:cubicBezTo>
                    <a:pt x="1046" y="786"/>
                    <a:pt x="1045" y="778"/>
                    <a:pt x="1045" y="778"/>
                  </a:cubicBezTo>
                  <a:cubicBezTo>
                    <a:pt x="1046" y="778"/>
                    <a:pt x="1048" y="777"/>
                    <a:pt x="1050" y="775"/>
                  </a:cubicBezTo>
                  <a:cubicBezTo>
                    <a:pt x="1060" y="772"/>
                    <a:pt x="1067" y="778"/>
                    <a:pt x="1060" y="763"/>
                  </a:cubicBezTo>
                  <a:cubicBezTo>
                    <a:pt x="1059" y="763"/>
                    <a:pt x="1057" y="761"/>
                    <a:pt x="1056" y="761"/>
                  </a:cubicBezTo>
                  <a:cubicBezTo>
                    <a:pt x="1053" y="761"/>
                    <a:pt x="1048" y="761"/>
                    <a:pt x="1046" y="763"/>
                  </a:cubicBezTo>
                  <a:cubicBezTo>
                    <a:pt x="1046" y="764"/>
                    <a:pt x="1045" y="766"/>
                    <a:pt x="1043" y="767"/>
                  </a:cubicBezTo>
                  <a:cubicBezTo>
                    <a:pt x="1036" y="775"/>
                    <a:pt x="1025" y="777"/>
                    <a:pt x="1016" y="780"/>
                  </a:cubicBezTo>
                  <a:cubicBezTo>
                    <a:pt x="1011" y="780"/>
                    <a:pt x="1006" y="778"/>
                    <a:pt x="1003" y="777"/>
                  </a:cubicBezTo>
                  <a:cubicBezTo>
                    <a:pt x="1002" y="777"/>
                    <a:pt x="997" y="775"/>
                    <a:pt x="997" y="775"/>
                  </a:cubicBezTo>
                  <a:cubicBezTo>
                    <a:pt x="988" y="763"/>
                    <a:pt x="986" y="761"/>
                    <a:pt x="971" y="758"/>
                  </a:cubicBezTo>
                  <a:cubicBezTo>
                    <a:pt x="971" y="753"/>
                    <a:pt x="974" y="747"/>
                    <a:pt x="971" y="742"/>
                  </a:cubicBezTo>
                  <a:cubicBezTo>
                    <a:pt x="969" y="739"/>
                    <a:pt x="960" y="736"/>
                    <a:pt x="957" y="734"/>
                  </a:cubicBezTo>
                  <a:cubicBezTo>
                    <a:pt x="954" y="733"/>
                    <a:pt x="947" y="731"/>
                    <a:pt x="947" y="731"/>
                  </a:cubicBezTo>
                  <a:cubicBezTo>
                    <a:pt x="941" y="725"/>
                    <a:pt x="935" y="722"/>
                    <a:pt x="929" y="716"/>
                  </a:cubicBezTo>
                  <a:cubicBezTo>
                    <a:pt x="930" y="706"/>
                    <a:pt x="932" y="700"/>
                    <a:pt x="941" y="697"/>
                  </a:cubicBezTo>
                  <a:cubicBezTo>
                    <a:pt x="955" y="698"/>
                    <a:pt x="968" y="702"/>
                    <a:pt x="980" y="705"/>
                  </a:cubicBezTo>
                  <a:cubicBezTo>
                    <a:pt x="986" y="711"/>
                    <a:pt x="988" y="716"/>
                    <a:pt x="995" y="720"/>
                  </a:cubicBezTo>
                  <a:cubicBezTo>
                    <a:pt x="1005" y="734"/>
                    <a:pt x="1012" y="736"/>
                    <a:pt x="1025" y="744"/>
                  </a:cubicBezTo>
                  <a:cubicBezTo>
                    <a:pt x="1033" y="742"/>
                    <a:pt x="1045" y="747"/>
                    <a:pt x="1051" y="741"/>
                  </a:cubicBezTo>
                  <a:cubicBezTo>
                    <a:pt x="1060" y="733"/>
                    <a:pt x="1048" y="738"/>
                    <a:pt x="1059" y="734"/>
                  </a:cubicBezTo>
                  <a:cubicBezTo>
                    <a:pt x="1064" y="738"/>
                    <a:pt x="1068" y="739"/>
                    <a:pt x="1073" y="742"/>
                  </a:cubicBezTo>
                  <a:cubicBezTo>
                    <a:pt x="1079" y="752"/>
                    <a:pt x="1093" y="750"/>
                    <a:pt x="1104" y="753"/>
                  </a:cubicBezTo>
                  <a:cubicBezTo>
                    <a:pt x="1121" y="764"/>
                    <a:pt x="1110" y="759"/>
                    <a:pt x="1141" y="761"/>
                  </a:cubicBezTo>
                  <a:cubicBezTo>
                    <a:pt x="1152" y="763"/>
                    <a:pt x="1156" y="766"/>
                    <a:pt x="1163" y="775"/>
                  </a:cubicBezTo>
                  <a:cubicBezTo>
                    <a:pt x="1159" y="788"/>
                    <a:pt x="1167" y="781"/>
                    <a:pt x="1173" y="777"/>
                  </a:cubicBezTo>
                  <a:cubicBezTo>
                    <a:pt x="1175" y="770"/>
                    <a:pt x="1178" y="770"/>
                    <a:pt x="1181" y="764"/>
                  </a:cubicBezTo>
                  <a:cubicBezTo>
                    <a:pt x="1190" y="767"/>
                    <a:pt x="1189" y="772"/>
                    <a:pt x="1187" y="783"/>
                  </a:cubicBezTo>
                  <a:cubicBezTo>
                    <a:pt x="1195" y="789"/>
                    <a:pt x="1206" y="786"/>
                    <a:pt x="1215" y="789"/>
                  </a:cubicBezTo>
                  <a:cubicBezTo>
                    <a:pt x="1221" y="791"/>
                    <a:pt x="1226" y="797"/>
                    <a:pt x="1234" y="800"/>
                  </a:cubicBezTo>
                  <a:cubicBezTo>
                    <a:pt x="1245" y="803"/>
                    <a:pt x="1255" y="808"/>
                    <a:pt x="1265" y="816"/>
                  </a:cubicBezTo>
                  <a:cubicBezTo>
                    <a:pt x="1268" y="827"/>
                    <a:pt x="1272" y="831"/>
                    <a:pt x="1282" y="834"/>
                  </a:cubicBezTo>
                  <a:cubicBezTo>
                    <a:pt x="1286" y="842"/>
                    <a:pt x="1288" y="847"/>
                    <a:pt x="1296" y="852"/>
                  </a:cubicBezTo>
                  <a:cubicBezTo>
                    <a:pt x="1308" y="849"/>
                    <a:pt x="1302" y="850"/>
                    <a:pt x="1314" y="847"/>
                  </a:cubicBezTo>
                  <a:cubicBezTo>
                    <a:pt x="1316" y="845"/>
                    <a:pt x="1319" y="845"/>
                    <a:pt x="1319" y="845"/>
                  </a:cubicBezTo>
                  <a:cubicBezTo>
                    <a:pt x="1328" y="852"/>
                    <a:pt x="1322" y="842"/>
                    <a:pt x="1319" y="839"/>
                  </a:cubicBezTo>
                  <a:cubicBezTo>
                    <a:pt x="1316" y="844"/>
                    <a:pt x="1311" y="847"/>
                    <a:pt x="1310" y="853"/>
                  </a:cubicBezTo>
                  <a:cubicBezTo>
                    <a:pt x="1310" y="856"/>
                    <a:pt x="1307" y="863"/>
                    <a:pt x="1307" y="863"/>
                  </a:cubicBezTo>
                  <a:cubicBezTo>
                    <a:pt x="1308" y="869"/>
                    <a:pt x="1310" y="880"/>
                    <a:pt x="1319" y="880"/>
                  </a:cubicBezTo>
                  <a:lnTo>
                    <a:pt x="1320" y="916"/>
                  </a:lnTo>
                  <a:lnTo>
                    <a:pt x="1348" y="1005"/>
                  </a:lnTo>
                  <a:lnTo>
                    <a:pt x="1373" y="1033"/>
                  </a:lnTo>
                  <a:lnTo>
                    <a:pt x="1416" y="994"/>
                  </a:lnTo>
                  <a:lnTo>
                    <a:pt x="1413" y="967"/>
                  </a:lnTo>
                  <a:lnTo>
                    <a:pt x="1424" y="959"/>
                  </a:lnTo>
                  <a:lnTo>
                    <a:pt x="1423" y="925"/>
                  </a:lnTo>
                  <a:lnTo>
                    <a:pt x="1452" y="916"/>
                  </a:lnTo>
                  <a:lnTo>
                    <a:pt x="1520" y="855"/>
                  </a:lnTo>
                  <a:lnTo>
                    <a:pt x="1533" y="839"/>
                  </a:lnTo>
                  <a:lnTo>
                    <a:pt x="1588" y="824"/>
                  </a:lnTo>
                  <a:lnTo>
                    <a:pt x="1608" y="847"/>
                  </a:lnTo>
                  <a:lnTo>
                    <a:pt x="1602" y="858"/>
                  </a:lnTo>
                  <a:lnTo>
                    <a:pt x="1619" y="875"/>
                  </a:lnTo>
                  <a:lnTo>
                    <a:pt x="1624" y="899"/>
                  </a:lnTo>
                  <a:lnTo>
                    <a:pt x="1641" y="906"/>
                  </a:lnTo>
                  <a:lnTo>
                    <a:pt x="1677" y="892"/>
                  </a:lnTo>
                  <a:lnTo>
                    <a:pt x="1675" y="975"/>
                  </a:lnTo>
                  <a:lnTo>
                    <a:pt x="1684" y="956"/>
                  </a:lnTo>
                  <a:lnTo>
                    <a:pt x="1707" y="1000"/>
                  </a:lnTo>
                  <a:lnTo>
                    <a:pt x="1704" y="1030"/>
                  </a:lnTo>
                  <a:lnTo>
                    <a:pt x="1718" y="1013"/>
                  </a:lnTo>
                  <a:lnTo>
                    <a:pt x="1721" y="997"/>
                  </a:lnTo>
                  <a:lnTo>
                    <a:pt x="1738" y="972"/>
                  </a:lnTo>
                  <a:lnTo>
                    <a:pt x="1728" y="958"/>
                  </a:lnTo>
                  <a:lnTo>
                    <a:pt x="1737" y="942"/>
                  </a:lnTo>
                  <a:lnTo>
                    <a:pt x="1725" y="913"/>
                  </a:lnTo>
                  <a:lnTo>
                    <a:pt x="1732" y="889"/>
                  </a:lnTo>
                  <a:lnTo>
                    <a:pt x="1715" y="895"/>
                  </a:lnTo>
                  <a:lnTo>
                    <a:pt x="1707" y="874"/>
                  </a:lnTo>
                  <a:lnTo>
                    <a:pt x="1701" y="844"/>
                  </a:lnTo>
                  <a:lnTo>
                    <a:pt x="1714" y="816"/>
                  </a:lnTo>
                  <a:lnTo>
                    <a:pt x="1728" y="834"/>
                  </a:lnTo>
                  <a:lnTo>
                    <a:pt x="1721" y="880"/>
                  </a:lnTo>
                  <a:lnTo>
                    <a:pt x="1738" y="849"/>
                  </a:lnTo>
                  <a:lnTo>
                    <a:pt x="1732" y="824"/>
                  </a:lnTo>
                  <a:lnTo>
                    <a:pt x="1752" y="808"/>
                  </a:lnTo>
                  <a:lnTo>
                    <a:pt x="1752" y="797"/>
                  </a:lnTo>
                  <a:lnTo>
                    <a:pt x="1759" y="800"/>
                  </a:lnTo>
                  <a:lnTo>
                    <a:pt x="1796" y="756"/>
                  </a:lnTo>
                  <a:lnTo>
                    <a:pt x="1805" y="684"/>
                  </a:lnTo>
                  <a:lnTo>
                    <a:pt x="1810" y="655"/>
                  </a:lnTo>
                  <a:lnTo>
                    <a:pt x="1794" y="664"/>
                  </a:lnTo>
                  <a:lnTo>
                    <a:pt x="1788" y="655"/>
                  </a:lnTo>
                  <a:lnTo>
                    <a:pt x="1800" y="638"/>
                  </a:lnTo>
                  <a:lnTo>
                    <a:pt x="1776" y="592"/>
                  </a:lnTo>
                  <a:lnTo>
                    <a:pt x="1763" y="580"/>
                  </a:lnTo>
                  <a:lnTo>
                    <a:pt x="1783" y="544"/>
                  </a:lnTo>
                  <a:lnTo>
                    <a:pt x="1762" y="539"/>
                  </a:lnTo>
                  <a:lnTo>
                    <a:pt x="1743" y="531"/>
                  </a:lnTo>
                  <a:lnTo>
                    <a:pt x="1751" y="503"/>
                  </a:lnTo>
                  <a:lnTo>
                    <a:pt x="1763" y="487"/>
                  </a:lnTo>
                  <a:lnTo>
                    <a:pt x="1766" y="519"/>
                  </a:lnTo>
                  <a:lnTo>
                    <a:pt x="1788" y="498"/>
                  </a:lnTo>
                  <a:lnTo>
                    <a:pt x="1805" y="497"/>
                  </a:lnTo>
                  <a:lnTo>
                    <a:pt x="1797" y="519"/>
                  </a:lnTo>
                  <a:lnTo>
                    <a:pt x="1824" y="528"/>
                  </a:lnTo>
                  <a:lnTo>
                    <a:pt x="1816" y="545"/>
                  </a:lnTo>
                  <a:lnTo>
                    <a:pt x="1830" y="559"/>
                  </a:lnTo>
                  <a:lnTo>
                    <a:pt x="1830" y="588"/>
                  </a:lnTo>
                  <a:lnTo>
                    <a:pt x="1861" y="559"/>
                  </a:lnTo>
                  <a:lnTo>
                    <a:pt x="1850" y="531"/>
                  </a:lnTo>
                  <a:lnTo>
                    <a:pt x="1821" y="489"/>
                  </a:lnTo>
                  <a:lnTo>
                    <a:pt x="1830" y="473"/>
                  </a:lnTo>
                  <a:lnTo>
                    <a:pt x="1824" y="448"/>
                  </a:lnTo>
                  <a:lnTo>
                    <a:pt x="1844" y="427"/>
                  </a:lnTo>
                  <a:lnTo>
                    <a:pt x="1868" y="416"/>
                  </a:lnTo>
                  <a:lnTo>
                    <a:pt x="1867" y="367"/>
                  </a:lnTo>
                  <a:lnTo>
                    <a:pt x="1865" y="333"/>
                  </a:lnTo>
                  <a:lnTo>
                    <a:pt x="1858" y="302"/>
                  </a:lnTo>
                  <a:lnTo>
                    <a:pt x="1830" y="248"/>
                  </a:lnTo>
                  <a:lnTo>
                    <a:pt x="1825" y="275"/>
                  </a:lnTo>
                  <a:lnTo>
                    <a:pt x="1807" y="258"/>
                  </a:lnTo>
                  <a:lnTo>
                    <a:pt x="1790" y="266"/>
                  </a:lnTo>
                  <a:lnTo>
                    <a:pt x="1805" y="226"/>
                  </a:lnTo>
                  <a:lnTo>
                    <a:pt x="1821" y="192"/>
                  </a:lnTo>
                  <a:lnTo>
                    <a:pt x="1850" y="176"/>
                  </a:lnTo>
                  <a:lnTo>
                    <a:pt x="1853" y="161"/>
                  </a:lnTo>
                  <a:lnTo>
                    <a:pt x="1873" y="155"/>
                  </a:lnTo>
                  <a:lnTo>
                    <a:pt x="1873" y="170"/>
                  </a:lnTo>
                  <a:lnTo>
                    <a:pt x="1896" y="145"/>
                  </a:lnTo>
                  <a:lnTo>
                    <a:pt x="1882" y="139"/>
                  </a:lnTo>
                  <a:lnTo>
                    <a:pt x="1882" y="120"/>
                  </a:lnTo>
                  <a:lnTo>
                    <a:pt x="1899" y="108"/>
                  </a:lnTo>
                  <a:lnTo>
                    <a:pt x="1906" y="122"/>
                  </a:lnTo>
                  <a:lnTo>
                    <a:pt x="1929" y="100"/>
                  </a:lnTo>
                  <a:lnTo>
                    <a:pt x="1926" y="120"/>
                  </a:lnTo>
                  <a:lnTo>
                    <a:pt x="1927" y="136"/>
                  </a:lnTo>
                  <a:lnTo>
                    <a:pt x="1926" y="158"/>
                  </a:lnTo>
                  <a:lnTo>
                    <a:pt x="1918" y="175"/>
                  </a:lnTo>
                  <a:lnTo>
                    <a:pt x="1932" y="197"/>
                  </a:lnTo>
                  <a:lnTo>
                    <a:pt x="1938" y="212"/>
                  </a:lnTo>
                  <a:lnTo>
                    <a:pt x="1947" y="209"/>
                  </a:lnTo>
                  <a:lnTo>
                    <a:pt x="1992" y="256"/>
                  </a:lnTo>
                  <a:lnTo>
                    <a:pt x="2002" y="233"/>
                  </a:lnTo>
                  <a:lnTo>
                    <a:pt x="2014" y="216"/>
                  </a:lnTo>
                  <a:lnTo>
                    <a:pt x="1994" y="205"/>
                  </a:lnTo>
                  <a:lnTo>
                    <a:pt x="1999" y="184"/>
                  </a:lnTo>
                  <a:lnTo>
                    <a:pt x="1999" y="172"/>
                  </a:lnTo>
                  <a:lnTo>
                    <a:pt x="1978" y="150"/>
                  </a:lnTo>
                  <a:lnTo>
                    <a:pt x="1960" y="147"/>
                  </a:lnTo>
                  <a:lnTo>
                    <a:pt x="1943" y="123"/>
                  </a:lnTo>
                  <a:lnTo>
                    <a:pt x="1966" y="119"/>
                  </a:lnTo>
                  <a:lnTo>
                    <a:pt x="1977" y="100"/>
                  </a:lnTo>
                  <a:lnTo>
                    <a:pt x="1991" y="106"/>
                  </a:lnTo>
                  <a:lnTo>
                    <a:pt x="2005" y="98"/>
                  </a:lnTo>
                  <a:lnTo>
                    <a:pt x="1990" y="80"/>
                  </a:lnTo>
                  <a:lnTo>
                    <a:pt x="2002" y="69"/>
                  </a:lnTo>
                  <a:lnTo>
                    <a:pt x="2021" y="68"/>
                  </a:lnTo>
                  <a:lnTo>
                    <a:pt x="2000" y="53"/>
                  </a:lnTo>
                  <a:lnTo>
                    <a:pt x="1975" y="51"/>
                  </a:lnTo>
                  <a:lnTo>
                    <a:pt x="1990" y="32"/>
                  </a:lnTo>
                  <a:lnTo>
                    <a:pt x="1989" y="11"/>
                  </a:lnTo>
                  <a:lnTo>
                    <a:pt x="2005" y="27"/>
                  </a:lnTo>
                  <a:lnTo>
                    <a:pt x="2015" y="18"/>
                  </a:lnTo>
                  <a:lnTo>
                    <a:pt x="2024" y="21"/>
                  </a:lnTo>
                  <a:lnTo>
                    <a:pt x="2038" y="36"/>
                  </a:lnTo>
                  <a:lnTo>
                    <a:pt x="2060" y="33"/>
                  </a:lnTo>
                  <a:lnTo>
                    <a:pt x="2042" y="15"/>
                  </a:lnTo>
                  <a:lnTo>
                    <a:pt x="2038" y="0"/>
                  </a:lnTo>
                  <a:lnTo>
                    <a:pt x="2006" y="5"/>
                  </a:lnTo>
                  <a:lnTo>
                    <a:pt x="1994" y="0"/>
                  </a:lnTo>
                  <a:lnTo>
                    <a:pt x="1955" y="11"/>
                  </a:lnTo>
                  <a:lnTo>
                    <a:pt x="1913" y="18"/>
                  </a:lnTo>
                  <a:lnTo>
                    <a:pt x="1886" y="30"/>
                  </a:lnTo>
                  <a:lnTo>
                    <a:pt x="1885" y="47"/>
                  </a:lnTo>
                  <a:lnTo>
                    <a:pt x="1864" y="50"/>
                  </a:lnTo>
                  <a:cubicBezTo>
                    <a:pt x="1858" y="55"/>
                    <a:pt x="1854" y="75"/>
                    <a:pt x="1847" y="77"/>
                  </a:cubicBezTo>
                  <a:cubicBezTo>
                    <a:pt x="1839" y="82"/>
                    <a:pt x="1830" y="65"/>
                    <a:pt x="1820" y="63"/>
                  </a:cubicBezTo>
                  <a:lnTo>
                    <a:pt x="1786" y="66"/>
                  </a:lnTo>
                  <a:lnTo>
                    <a:pt x="1732" y="56"/>
                  </a:lnTo>
                  <a:lnTo>
                    <a:pt x="1709" y="62"/>
                  </a:lnTo>
                  <a:lnTo>
                    <a:pt x="1678" y="56"/>
                  </a:lnTo>
                  <a:lnTo>
                    <a:pt x="1666" y="47"/>
                  </a:lnTo>
                  <a:lnTo>
                    <a:pt x="1643" y="50"/>
                  </a:lnTo>
                  <a:cubicBezTo>
                    <a:pt x="1635" y="52"/>
                    <a:pt x="1626" y="57"/>
                    <a:pt x="1618" y="60"/>
                  </a:cubicBezTo>
                  <a:cubicBezTo>
                    <a:pt x="1610" y="63"/>
                    <a:pt x="1603" y="67"/>
                    <a:pt x="1597" y="71"/>
                  </a:cubicBezTo>
                  <a:cubicBezTo>
                    <a:pt x="1591" y="75"/>
                    <a:pt x="1587" y="84"/>
                    <a:pt x="1583" y="83"/>
                  </a:cubicBezTo>
                  <a:cubicBezTo>
                    <a:pt x="1571" y="90"/>
                    <a:pt x="1576" y="67"/>
                    <a:pt x="1571" y="65"/>
                  </a:cubicBezTo>
                  <a:lnTo>
                    <a:pt x="1553" y="69"/>
                  </a:lnTo>
                  <a:cubicBezTo>
                    <a:pt x="1544" y="66"/>
                    <a:pt x="1531" y="50"/>
                    <a:pt x="1517" y="47"/>
                  </a:cubicBezTo>
                  <a:cubicBezTo>
                    <a:pt x="1503" y="46"/>
                    <a:pt x="1479" y="45"/>
                    <a:pt x="1468" y="48"/>
                  </a:cubicBezTo>
                  <a:cubicBezTo>
                    <a:pt x="1457" y="51"/>
                    <a:pt x="1461" y="63"/>
                    <a:pt x="1451" y="63"/>
                  </a:cubicBezTo>
                  <a:cubicBezTo>
                    <a:pt x="1439" y="66"/>
                    <a:pt x="1419" y="48"/>
                    <a:pt x="1408" y="47"/>
                  </a:cubicBezTo>
                  <a:cubicBezTo>
                    <a:pt x="1397" y="46"/>
                    <a:pt x="1390" y="59"/>
                    <a:pt x="1382" y="59"/>
                  </a:cubicBezTo>
                  <a:cubicBezTo>
                    <a:pt x="1374" y="59"/>
                    <a:pt x="1362" y="52"/>
                    <a:pt x="1357" y="47"/>
                  </a:cubicBezTo>
                  <a:cubicBezTo>
                    <a:pt x="1352" y="42"/>
                    <a:pt x="1356" y="36"/>
                    <a:pt x="1349" y="30"/>
                  </a:cubicBezTo>
                  <a:cubicBezTo>
                    <a:pt x="1333" y="26"/>
                    <a:pt x="1330" y="13"/>
                    <a:pt x="1318" y="11"/>
                  </a:cubicBezTo>
                  <a:cubicBezTo>
                    <a:pt x="1306" y="9"/>
                    <a:pt x="1287" y="20"/>
                    <a:pt x="1277" y="20"/>
                  </a:cubicBezTo>
                  <a:cubicBezTo>
                    <a:pt x="1267" y="20"/>
                    <a:pt x="1268" y="10"/>
                    <a:pt x="1259" y="9"/>
                  </a:cubicBezTo>
                  <a:lnTo>
                    <a:pt x="1222" y="14"/>
                  </a:lnTo>
                  <a:lnTo>
                    <a:pt x="1210" y="32"/>
                  </a:lnTo>
                  <a:cubicBezTo>
                    <a:pt x="1203" y="35"/>
                    <a:pt x="1187" y="28"/>
                    <a:pt x="1178" y="29"/>
                  </a:cubicBezTo>
                  <a:cubicBezTo>
                    <a:pt x="1169" y="30"/>
                    <a:pt x="1164" y="36"/>
                    <a:pt x="1154" y="39"/>
                  </a:cubicBezTo>
                  <a:cubicBezTo>
                    <a:pt x="1144" y="42"/>
                    <a:pt x="1124" y="44"/>
                    <a:pt x="1120" y="48"/>
                  </a:cubicBezTo>
                  <a:cubicBezTo>
                    <a:pt x="1109" y="57"/>
                    <a:pt x="1132" y="61"/>
                    <a:pt x="1132" y="65"/>
                  </a:cubicBezTo>
                  <a:cubicBezTo>
                    <a:pt x="1132" y="69"/>
                    <a:pt x="1126" y="70"/>
                    <a:pt x="1118" y="72"/>
                  </a:cubicBezTo>
                  <a:cubicBezTo>
                    <a:pt x="1110" y="74"/>
                    <a:pt x="1084" y="72"/>
                    <a:pt x="1085" y="77"/>
                  </a:cubicBezTo>
                  <a:cubicBezTo>
                    <a:pt x="1085" y="86"/>
                    <a:pt x="1126" y="103"/>
                    <a:pt x="1127" y="105"/>
                  </a:cubicBezTo>
                  <a:lnTo>
                    <a:pt x="1090" y="90"/>
                  </a:lnTo>
                  <a:lnTo>
                    <a:pt x="1072" y="95"/>
                  </a:lnTo>
                  <a:cubicBezTo>
                    <a:pt x="1063" y="93"/>
                    <a:pt x="1039" y="65"/>
                    <a:pt x="1033" y="80"/>
                  </a:cubicBezTo>
                  <a:cubicBezTo>
                    <a:pt x="1027" y="95"/>
                    <a:pt x="1077" y="132"/>
                    <a:pt x="1084" y="147"/>
                  </a:cubicBezTo>
                  <a:lnTo>
                    <a:pt x="1075" y="171"/>
                  </a:lnTo>
                  <a:lnTo>
                    <a:pt x="1040" y="170"/>
                  </a:lnTo>
                  <a:cubicBezTo>
                    <a:pt x="1040" y="170"/>
                    <a:pt x="1061" y="164"/>
                    <a:pt x="1060" y="155"/>
                  </a:cubicBezTo>
                  <a:cubicBezTo>
                    <a:pt x="1059" y="146"/>
                    <a:pt x="1043" y="127"/>
                    <a:pt x="1031" y="113"/>
                  </a:cubicBezTo>
                  <a:cubicBezTo>
                    <a:pt x="1025" y="101"/>
                    <a:pt x="1030" y="84"/>
                    <a:pt x="1024" y="81"/>
                  </a:cubicBezTo>
                  <a:cubicBezTo>
                    <a:pt x="1018" y="78"/>
                    <a:pt x="997" y="65"/>
                    <a:pt x="989" y="71"/>
                  </a:cubicBezTo>
                  <a:cubicBezTo>
                    <a:pt x="968" y="74"/>
                    <a:pt x="970" y="107"/>
                    <a:pt x="974" y="116"/>
                  </a:cubicBezTo>
                  <a:cubicBezTo>
                    <a:pt x="978" y="125"/>
                    <a:pt x="1009" y="122"/>
                    <a:pt x="1012" y="125"/>
                  </a:cubicBezTo>
                  <a:cubicBezTo>
                    <a:pt x="1028" y="153"/>
                    <a:pt x="1005" y="143"/>
                    <a:pt x="989" y="134"/>
                  </a:cubicBezTo>
                  <a:cubicBezTo>
                    <a:pt x="973" y="125"/>
                    <a:pt x="968" y="128"/>
                    <a:pt x="958" y="128"/>
                  </a:cubicBezTo>
                  <a:cubicBezTo>
                    <a:pt x="948" y="128"/>
                    <a:pt x="931" y="133"/>
                    <a:pt x="926" y="137"/>
                  </a:cubicBezTo>
                  <a:cubicBezTo>
                    <a:pt x="921" y="141"/>
                    <a:pt x="939" y="157"/>
                    <a:pt x="926" y="152"/>
                  </a:cubicBezTo>
                  <a:cubicBezTo>
                    <a:pt x="913" y="147"/>
                    <a:pt x="899" y="149"/>
                    <a:pt x="886" y="147"/>
                  </a:cubicBezTo>
                  <a:cubicBezTo>
                    <a:pt x="873" y="145"/>
                    <a:pt x="863" y="136"/>
                    <a:pt x="847" y="140"/>
                  </a:cubicBezTo>
                  <a:cubicBezTo>
                    <a:pt x="825" y="147"/>
                    <a:pt x="794" y="185"/>
                    <a:pt x="787" y="171"/>
                  </a:cubicBezTo>
                  <a:cubicBezTo>
                    <a:pt x="780" y="157"/>
                    <a:pt x="800" y="155"/>
                    <a:pt x="800" y="150"/>
                  </a:cubicBezTo>
                  <a:cubicBezTo>
                    <a:pt x="800" y="145"/>
                    <a:pt x="796" y="138"/>
                    <a:pt x="790" y="138"/>
                  </a:cubicBezTo>
                  <a:cubicBezTo>
                    <a:pt x="784" y="138"/>
                    <a:pt x="764" y="144"/>
                    <a:pt x="763" y="152"/>
                  </a:cubicBezTo>
                  <a:cubicBezTo>
                    <a:pt x="761" y="163"/>
                    <a:pt x="783" y="181"/>
                    <a:pt x="782" y="186"/>
                  </a:cubicBezTo>
                  <a:cubicBezTo>
                    <a:pt x="781" y="191"/>
                    <a:pt x="765" y="180"/>
                    <a:pt x="758" y="183"/>
                  </a:cubicBezTo>
                  <a:cubicBezTo>
                    <a:pt x="751" y="186"/>
                    <a:pt x="746" y="207"/>
                    <a:pt x="742" y="203"/>
                  </a:cubicBezTo>
                  <a:lnTo>
                    <a:pt x="728" y="189"/>
                  </a:lnTo>
                  <a:lnTo>
                    <a:pt x="746" y="170"/>
                  </a:lnTo>
                  <a:lnTo>
                    <a:pt x="733" y="158"/>
                  </a:lnTo>
                  <a:cubicBezTo>
                    <a:pt x="727" y="155"/>
                    <a:pt x="718" y="150"/>
                    <a:pt x="712" y="149"/>
                  </a:cubicBezTo>
                  <a:cubicBezTo>
                    <a:pt x="706" y="148"/>
                    <a:pt x="701" y="154"/>
                    <a:pt x="698" y="152"/>
                  </a:cubicBezTo>
                  <a:cubicBezTo>
                    <a:pt x="695" y="150"/>
                    <a:pt x="698" y="139"/>
                    <a:pt x="695" y="138"/>
                  </a:cubicBezTo>
                  <a:cubicBezTo>
                    <a:pt x="692" y="137"/>
                    <a:pt x="685" y="146"/>
                    <a:pt x="680" y="146"/>
                  </a:cubicBezTo>
                  <a:cubicBezTo>
                    <a:pt x="675" y="146"/>
                    <a:pt x="677" y="142"/>
                    <a:pt x="667" y="140"/>
                  </a:cubicBezTo>
                  <a:cubicBezTo>
                    <a:pt x="657" y="138"/>
                    <a:pt x="632" y="139"/>
                    <a:pt x="622" y="135"/>
                  </a:cubicBezTo>
                  <a:cubicBezTo>
                    <a:pt x="612" y="131"/>
                    <a:pt x="632" y="117"/>
                    <a:pt x="608" y="113"/>
                  </a:cubicBezTo>
                  <a:cubicBezTo>
                    <a:pt x="584" y="109"/>
                    <a:pt x="590" y="119"/>
                    <a:pt x="583" y="119"/>
                  </a:cubicBezTo>
                  <a:lnTo>
                    <a:pt x="568" y="114"/>
                  </a:lnTo>
                  <a:cubicBezTo>
                    <a:pt x="555" y="116"/>
                    <a:pt x="521" y="125"/>
                    <a:pt x="505" y="131"/>
                  </a:cubicBezTo>
                  <a:cubicBezTo>
                    <a:pt x="482" y="140"/>
                    <a:pt x="485" y="140"/>
                    <a:pt x="472" y="152"/>
                  </a:cubicBezTo>
                  <a:cubicBezTo>
                    <a:pt x="459" y="164"/>
                    <a:pt x="443" y="192"/>
                    <a:pt x="428" y="204"/>
                  </a:cubicBezTo>
                  <a:cubicBezTo>
                    <a:pt x="410" y="223"/>
                    <a:pt x="393" y="217"/>
                    <a:pt x="382" y="224"/>
                  </a:cubicBezTo>
                  <a:lnTo>
                    <a:pt x="364" y="248"/>
                  </a:lnTo>
                  <a:lnTo>
                    <a:pt x="368" y="290"/>
                  </a:lnTo>
                  <a:lnTo>
                    <a:pt x="389" y="306"/>
                  </a:lnTo>
                  <a:lnTo>
                    <a:pt x="436" y="290"/>
                  </a:lnTo>
                  <a:cubicBezTo>
                    <a:pt x="447" y="296"/>
                    <a:pt x="448" y="335"/>
                    <a:pt x="457" y="341"/>
                  </a:cubicBezTo>
                  <a:cubicBezTo>
                    <a:pt x="468" y="348"/>
                    <a:pt x="486" y="330"/>
                    <a:pt x="491" y="324"/>
                  </a:cubicBezTo>
                  <a:lnTo>
                    <a:pt x="496" y="300"/>
                  </a:lnTo>
                  <a:lnTo>
                    <a:pt x="514" y="281"/>
                  </a:lnTo>
                  <a:cubicBezTo>
                    <a:pt x="515" y="270"/>
                    <a:pt x="499" y="245"/>
                    <a:pt x="502" y="234"/>
                  </a:cubicBezTo>
                  <a:cubicBezTo>
                    <a:pt x="505" y="225"/>
                    <a:pt x="526" y="220"/>
                    <a:pt x="535" y="213"/>
                  </a:cubicBezTo>
                  <a:cubicBezTo>
                    <a:pt x="544" y="206"/>
                    <a:pt x="546" y="192"/>
                    <a:pt x="554" y="191"/>
                  </a:cubicBezTo>
                  <a:cubicBezTo>
                    <a:pt x="567" y="190"/>
                    <a:pt x="580" y="200"/>
                    <a:pt x="581" y="204"/>
                  </a:cubicBezTo>
                  <a:cubicBezTo>
                    <a:pt x="581" y="208"/>
                    <a:pt x="560" y="200"/>
                    <a:pt x="557" y="215"/>
                  </a:cubicBezTo>
                  <a:cubicBezTo>
                    <a:pt x="554" y="230"/>
                    <a:pt x="535" y="233"/>
                    <a:pt x="533" y="242"/>
                  </a:cubicBezTo>
                  <a:lnTo>
                    <a:pt x="548" y="267"/>
                  </a:lnTo>
                  <a:lnTo>
                    <a:pt x="571" y="276"/>
                  </a:lnTo>
                  <a:lnTo>
                    <a:pt x="598" y="264"/>
                  </a:lnTo>
                  <a:lnTo>
                    <a:pt x="625" y="261"/>
                  </a:lnTo>
                  <a:cubicBezTo>
                    <a:pt x="632" y="263"/>
                    <a:pt x="645" y="271"/>
                    <a:pt x="638" y="276"/>
                  </a:cubicBezTo>
                  <a:cubicBezTo>
                    <a:pt x="631" y="281"/>
                    <a:pt x="593" y="287"/>
                    <a:pt x="584" y="293"/>
                  </a:cubicBezTo>
                  <a:cubicBezTo>
                    <a:pt x="575" y="299"/>
                    <a:pt x="587" y="309"/>
                    <a:pt x="581" y="311"/>
                  </a:cubicBezTo>
                  <a:cubicBezTo>
                    <a:pt x="567" y="319"/>
                    <a:pt x="556" y="301"/>
                    <a:pt x="550" y="303"/>
                  </a:cubicBezTo>
                  <a:lnTo>
                    <a:pt x="547" y="323"/>
                  </a:lnTo>
                  <a:lnTo>
                    <a:pt x="536" y="350"/>
                  </a:lnTo>
                  <a:lnTo>
                    <a:pt x="512" y="351"/>
                  </a:lnTo>
                  <a:lnTo>
                    <a:pt x="476" y="360"/>
                  </a:lnTo>
                  <a:lnTo>
                    <a:pt x="457" y="351"/>
                  </a:lnTo>
                  <a:lnTo>
                    <a:pt x="443" y="357"/>
                  </a:lnTo>
                  <a:lnTo>
                    <a:pt x="419" y="342"/>
                  </a:lnTo>
                  <a:cubicBezTo>
                    <a:pt x="417" y="335"/>
                    <a:pt x="433" y="329"/>
                    <a:pt x="428" y="317"/>
                  </a:cubicBezTo>
                  <a:cubicBezTo>
                    <a:pt x="423" y="305"/>
                    <a:pt x="396" y="313"/>
                    <a:pt x="392" y="321"/>
                  </a:cubicBezTo>
                  <a:lnTo>
                    <a:pt x="397" y="362"/>
                  </a:lnTo>
                  <a:lnTo>
                    <a:pt x="373" y="362"/>
                  </a:lnTo>
                  <a:cubicBezTo>
                    <a:pt x="365" y="366"/>
                    <a:pt x="355" y="380"/>
                    <a:pt x="347" y="386"/>
                  </a:cubicBezTo>
                  <a:cubicBezTo>
                    <a:pt x="339" y="392"/>
                    <a:pt x="332" y="379"/>
                    <a:pt x="322" y="399"/>
                  </a:cubicBezTo>
                  <a:cubicBezTo>
                    <a:pt x="312" y="419"/>
                    <a:pt x="301" y="411"/>
                    <a:pt x="293" y="414"/>
                  </a:cubicBezTo>
                  <a:cubicBezTo>
                    <a:pt x="285" y="417"/>
                    <a:pt x="280" y="414"/>
                    <a:pt x="275" y="416"/>
                  </a:cubicBezTo>
                  <a:cubicBezTo>
                    <a:pt x="270" y="418"/>
                    <a:pt x="267" y="426"/>
                    <a:pt x="260" y="426"/>
                  </a:cubicBezTo>
                  <a:cubicBezTo>
                    <a:pt x="253" y="426"/>
                    <a:pt x="238" y="417"/>
                    <a:pt x="232" y="419"/>
                  </a:cubicBezTo>
                  <a:cubicBezTo>
                    <a:pt x="226" y="421"/>
                    <a:pt x="221" y="432"/>
                    <a:pt x="226" y="437"/>
                  </a:cubicBezTo>
                  <a:lnTo>
                    <a:pt x="263" y="449"/>
                  </a:lnTo>
                  <a:lnTo>
                    <a:pt x="272" y="474"/>
                  </a:lnTo>
                  <a:lnTo>
                    <a:pt x="262" y="503"/>
                  </a:lnTo>
                  <a:cubicBezTo>
                    <a:pt x="251" y="507"/>
                    <a:pt x="223" y="499"/>
                    <a:pt x="206" y="498"/>
                  </a:cubicBezTo>
                  <a:cubicBezTo>
                    <a:pt x="189" y="497"/>
                    <a:pt x="164" y="492"/>
                    <a:pt x="158" y="498"/>
                  </a:cubicBezTo>
                  <a:cubicBezTo>
                    <a:pt x="152" y="504"/>
                    <a:pt x="167" y="527"/>
                    <a:pt x="167" y="537"/>
                  </a:cubicBezTo>
                  <a:cubicBezTo>
                    <a:pt x="167" y="547"/>
                    <a:pt x="159" y="551"/>
                    <a:pt x="157" y="557"/>
                  </a:cubicBezTo>
                  <a:cubicBezTo>
                    <a:pt x="155" y="563"/>
                    <a:pt x="161" y="569"/>
                    <a:pt x="157" y="576"/>
                  </a:cubicBezTo>
                  <a:cubicBezTo>
                    <a:pt x="153" y="583"/>
                    <a:pt x="127" y="594"/>
                    <a:pt x="130" y="597"/>
                  </a:cubicBezTo>
                  <a:cubicBezTo>
                    <a:pt x="139" y="606"/>
                    <a:pt x="160" y="592"/>
                    <a:pt x="176" y="592"/>
                  </a:cubicBezTo>
                  <a:lnTo>
                    <a:pt x="226" y="598"/>
                  </a:lnTo>
                  <a:lnTo>
                    <a:pt x="260" y="588"/>
                  </a:lnTo>
                  <a:lnTo>
                    <a:pt x="274" y="576"/>
                  </a:lnTo>
                  <a:cubicBezTo>
                    <a:pt x="282" y="573"/>
                    <a:pt x="306" y="573"/>
                    <a:pt x="307" y="569"/>
                  </a:cubicBezTo>
                  <a:cubicBezTo>
                    <a:pt x="321" y="557"/>
                    <a:pt x="283" y="559"/>
                    <a:pt x="283" y="552"/>
                  </a:cubicBezTo>
                  <a:cubicBezTo>
                    <a:pt x="283" y="545"/>
                    <a:pt x="300" y="533"/>
                    <a:pt x="307" y="528"/>
                  </a:cubicBezTo>
                  <a:lnTo>
                    <a:pt x="325" y="522"/>
                  </a:lnTo>
                  <a:lnTo>
                    <a:pt x="320" y="503"/>
                  </a:lnTo>
                  <a:cubicBezTo>
                    <a:pt x="323" y="499"/>
                    <a:pt x="336" y="495"/>
                    <a:pt x="342" y="495"/>
                  </a:cubicBezTo>
                  <a:cubicBezTo>
                    <a:pt x="348" y="495"/>
                    <a:pt x="350" y="506"/>
                    <a:pt x="358" y="505"/>
                  </a:cubicBezTo>
                  <a:cubicBezTo>
                    <a:pt x="366" y="504"/>
                    <a:pt x="384" y="490"/>
                    <a:pt x="393" y="491"/>
                  </a:cubicBezTo>
                  <a:lnTo>
                    <a:pt x="415" y="510"/>
                  </a:lnTo>
                  <a:cubicBezTo>
                    <a:pt x="416" y="517"/>
                    <a:pt x="407" y="520"/>
                    <a:pt x="401" y="530"/>
                  </a:cubicBezTo>
                  <a:lnTo>
                    <a:pt x="381" y="573"/>
                  </a:lnTo>
                  <a:lnTo>
                    <a:pt x="406" y="576"/>
                  </a:lnTo>
                  <a:lnTo>
                    <a:pt x="412" y="561"/>
                  </a:lnTo>
                  <a:lnTo>
                    <a:pt x="404" y="543"/>
                  </a:lnTo>
                  <a:cubicBezTo>
                    <a:pt x="406" y="539"/>
                    <a:pt x="417" y="541"/>
                    <a:pt x="423" y="538"/>
                  </a:cubicBezTo>
                  <a:cubicBezTo>
                    <a:pt x="430" y="537"/>
                    <a:pt x="435" y="526"/>
                    <a:pt x="441" y="527"/>
                  </a:cubicBezTo>
                  <a:cubicBezTo>
                    <a:pt x="447" y="528"/>
                    <a:pt x="453" y="542"/>
                    <a:pt x="460" y="547"/>
                  </a:cubicBezTo>
                  <a:lnTo>
                    <a:pt x="483" y="559"/>
                  </a:lnTo>
                  <a:lnTo>
                    <a:pt x="490" y="573"/>
                  </a:lnTo>
                  <a:lnTo>
                    <a:pt x="493" y="590"/>
                  </a:lnTo>
                  <a:lnTo>
                    <a:pt x="508" y="579"/>
                  </a:lnTo>
                  <a:cubicBezTo>
                    <a:pt x="508" y="579"/>
                    <a:pt x="507" y="566"/>
                    <a:pt x="509" y="564"/>
                  </a:cubicBezTo>
                  <a:cubicBezTo>
                    <a:pt x="513" y="561"/>
                    <a:pt x="512" y="581"/>
                    <a:pt x="521" y="569"/>
                  </a:cubicBezTo>
                  <a:cubicBezTo>
                    <a:pt x="530" y="557"/>
                    <a:pt x="525" y="556"/>
                    <a:pt x="515" y="549"/>
                  </a:cubicBezTo>
                  <a:lnTo>
                    <a:pt x="468" y="523"/>
                  </a:lnTo>
                  <a:lnTo>
                    <a:pt x="441" y="508"/>
                  </a:lnTo>
                  <a:lnTo>
                    <a:pt x="455" y="480"/>
                  </a:lnTo>
                  <a:lnTo>
                    <a:pt x="464" y="498"/>
                  </a:lnTo>
                  <a:lnTo>
                    <a:pt x="487" y="512"/>
                  </a:lnTo>
                  <a:lnTo>
                    <a:pt x="517" y="527"/>
                  </a:lnTo>
                  <a:cubicBezTo>
                    <a:pt x="526" y="535"/>
                    <a:pt x="529" y="546"/>
                    <a:pt x="539" y="559"/>
                  </a:cubicBezTo>
                  <a:cubicBezTo>
                    <a:pt x="549" y="572"/>
                    <a:pt x="570" y="602"/>
                    <a:pt x="579" y="608"/>
                  </a:cubicBezTo>
                  <a:cubicBezTo>
                    <a:pt x="588" y="614"/>
                    <a:pt x="588" y="598"/>
                    <a:pt x="592" y="597"/>
                  </a:cubicBezTo>
                  <a:cubicBezTo>
                    <a:pt x="596" y="594"/>
                    <a:pt x="604" y="602"/>
                    <a:pt x="604" y="599"/>
                  </a:cubicBezTo>
                  <a:cubicBezTo>
                    <a:pt x="604" y="596"/>
                    <a:pt x="596" y="583"/>
                    <a:pt x="593" y="578"/>
                  </a:cubicBezTo>
                  <a:cubicBezTo>
                    <a:pt x="589" y="574"/>
                    <a:pt x="590" y="568"/>
                    <a:pt x="587" y="567"/>
                  </a:cubicBezTo>
                  <a:cubicBezTo>
                    <a:pt x="585" y="563"/>
                    <a:pt x="583" y="558"/>
                    <a:pt x="584" y="555"/>
                  </a:cubicBezTo>
                  <a:cubicBezTo>
                    <a:pt x="585" y="552"/>
                    <a:pt x="589" y="550"/>
                    <a:pt x="592" y="548"/>
                  </a:cubicBezTo>
                  <a:lnTo>
                    <a:pt x="601" y="542"/>
                  </a:lnTo>
                  <a:cubicBezTo>
                    <a:pt x="607" y="541"/>
                    <a:pt x="621" y="541"/>
                    <a:pt x="627" y="541"/>
                  </a:cubicBezTo>
                  <a:cubicBezTo>
                    <a:pt x="633" y="541"/>
                    <a:pt x="636" y="541"/>
                    <a:pt x="640" y="539"/>
                  </a:cubicBezTo>
                  <a:cubicBezTo>
                    <a:pt x="644" y="537"/>
                    <a:pt x="648" y="532"/>
                    <a:pt x="650" y="528"/>
                  </a:cubicBezTo>
                  <a:lnTo>
                    <a:pt x="653" y="513"/>
                  </a:lnTo>
                  <a:lnTo>
                    <a:pt x="639" y="505"/>
                  </a:lnTo>
                  <a:cubicBezTo>
                    <a:pt x="639" y="503"/>
                    <a:pt x="650" y="505"/>
                    <a:pt x="655" y="501"/>
                  </a:cubicBezTo>
                  <a:cubicBezTo>
                    <a:pt x="660" y="497"/>
                    <a:pt x="665" y="488"/>
                    <a:pt x="670" y="483"/>
                  </a:cubicBezTo>
                  <a:cubicBezTo>
                    <a:pt x="675" y="478"/>
                    <a:pt x="681" y="471"/>
                    <a:pt x="686" y="470"/>
                  </a:cubicBezTo>
                  <a:lnTo>
                    <a:pt x="703" y="476"/>
                  </a:lnTo>
                  <a:lnTo>
                    <a:pt x="718" y="494"/>
                  </a:lnTo>
                  <a:cubicBezTo>
                    <a:pt x="723" y="498"/>
                    <a:pt x="727" y="503"/>
                    <a:pt x="731" y="501"/>
                  </a:cubicBezTo>
                  <a:cubicBezTo>
                    <a:pt x="735" y="499"/>
                    <a:pt x="742" y="488"/>
                    <a:pt x="742" y="482"/>
                  </a:cubicBezTo>
                  <a:lnTo>
                    <a:pt x="728" y="466"/>
                  </a:lnTo>
                  <a:cubicBezTo>
                    <a:pt x="730" y="462"/>
                    <a:pt x="746" y="463"/>
                    <a:pt x="755" y="459"/>
                  </a:cubicBezTo>
                  <a:cubicBezTo>
                    <a:pt x="764" y="455"/>
                    <a:pt x="777" y="444"/>
                    <a:pt x="782" y="444"/>
                  </a:cubicBezTo>
                  <a:cubicBezTo>
                    <a:pt x="787" y="444"/>
                    <a:pt x="786" y="452"/>
                    <a:pt x="784" y="458"/>
                  </a:cubicBezTo>
                  <a:cubicBezTo>
                    <a:pt x="782" y="464"/>
                    <a:pt x="765" y="469"/>
                    <a:pt x="772" y="480"/>
                  </a:cubicBezTo>
                  <a:cubicBezTo>
                    <a:pt x="779" y="491"/>
                    <a:pt x="820" y="516"/>
                    <a:pt x="824" y="525"/>
                  </a:cubicBezTo>
                  <a:cubicBezTo>
                    <a:pt x="828" y="534"/>
                    <a:pt x="808" y="535"/>
                    <a:pt x="796" y="537"/>
                  </a:cubicBezTo>
                  <a:cubicBezTo>
                    <a:pt x="784" y="539"/>
                    <a:pt x="763" y="541"/>
                    <a:pt x="751" y="539"/>
                  </a:cubicBezTo>
                  <a:cubicBezTo>
                    <a:pt x="739" y="537"/>
                    <a:pt x="739" y="524"/>
                    <a:pt x="722" y="524"/>
                  </a:cubicBezTo>
                  <a:cubicBezTo>
                    <a:pt x="705" y="524"/>
                    <a:pt x="707" y="533"/>
                    <a:pt x="697" y="537"/>
                  </a:cubicBezTo>
                  <a:lnTo>
                    <a:pt x="667" y="538"/>
                  </a:lnTo>
                  <a:lnTo>
                    <a:pt x="623" y="560"/>
                  </a:lnTo>
                  <a:lnTo>
                    <a:pt x="634" y="576"/>
                  </a:lnTo>
                  <a:lnTo>
                    <a:pt x="639" y="598"/>
                  </a:lnTo>
                  <a:lnTo>
                    <a:pt x="669" y="617"/>
                  </a:lnTo>
                  <a:lnTo>
                    <a:pt x="700" y="602"/>
                  </a:lnTo>
                  <a:lnTo>
                    <a:pt x="718" y="611"/>
                  </a:lnTo>
                  <a:lnTo>
                    <a:pt x="752" y="608"/>
                  </a:lnTo>
                  <a:lnTo>
                    <a:pt x="757" y="644"/>
                  </a:lnTo>
                  <a:lnTo>
                    <a:pt x="697" y="677"/>
                  </a:lnTo>
                  <a:close/>
                </a:path>
              </a:pathLst>
            </a:custGeom>
            <a:solidFill>
              <a:srgbClr val="FEFEFE">
                <a:alpha val="30000"/>
              </a:srgbClr>
            </a:solidFill>
            <a:ln w="12700" cap="flat" cmpd="sng">
              <a:noFill/>
              <a:prstDash val="dash"/>
              <a:round/>
              <a:headEnd type="none" w="med" len="med"/>
              <a:tailEnd type="none" w="med" len="med"/>
            </a:ln>
            <a:effectLst/>
          </p:spPr>
          <p:txBody>
            <a:bodyPr/>
            <a:lstStyle/>
            <a:p>
              <a:pPr>
                <a:spcBef>
                  <a:spcPct val="20000"/>
                </a:spcBef>
                <a:buClr>
                  <a:srgbClr val="0066CC"/>
                </a:buClr>
                <a:buFont typeface="Wingdings" panose="05000000000000000000" pitchFamily="2" charset="2"/>
                <a:buChar char="v"/>
                <a:defRPr/>
              </a:pPr>
              <a:endParaRPr lang="zh-CN" altLang="en-US" sz="3330">
                <a:solidFill>
                  <a:srgbClr val="093575"/>
                </a:solidFill>
              </a:endParaRPr>
            </a:p>
          </p:txBody>
        </p:sp>
      </p:grpSp>
      <p:sp>
        <p:nvSpPr>
          <p:cNvPr id="120" name="Line 136"/>
          <p:cNvSpPr>
            <a:spLocks noChangeShapeType="1"/>
          </p:cNvSpPr>
          <p:nvPr/>
        </p:nvSpPr>
        <p:spPr bwMode="auto">
          <a:xfrm>
            <a:off x="46551" y="688504"/>
            <a:ext cx="8919343" cy="0"/>
          </a:xfrm>
          <a:prstGeom prst="line">
            <a:avLst/>
          </a:prstGeom>
          <a:noFill/>
          <a:ln w="44450">
            <a:solidFill>
              <a:schemeClr val="accent1">
                <a:lumMod val="75000"/>
              </a:schemeClr>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3330">
              <a:solidFill>
                <a:prstClr val="black"/>
              </a:solidFill>
            </a:endParaRPr>
          </a:p>
        </p:txBody>
      </p:sp>
      <p:sp>
        <p:nvSpPr>
          <p:cNvPr id="121" name="Rectangle 135"/>
          <p:cNvSpPr>
            <a:spLocks noChangeArrowheads="1"/>
          </p:cNvSpPr>
          <p:nvPr/>
        </p:nvSpPr>
        <p:spPr bwMode="auto">
          <a:xfrm>
            <a:off x="8892127" y="609141"/>
            <a:ext cx="1763941" cy="155575"/>
          </a:xfrm>
          <a:prstGeom prst="rect">
            <a:avLst/>
          </a:prstGeom>
          <a:solidFill>
            <a:schemeClr val="accent1">
              <a:lumMod val="75000"/>
            </a:schemeClr>
          </a:solidFill>
          <a:ln>
            <a:noFill/>
          </a:ln>
          <a:effectLst/>
        </p:spPr>
        <p:txBody>
          <a:bodyPr wrap="none" anchor="ctr"/>
          <a:lstStyle/>
          <a:p>
            <a:pPr algn="ctr"/>
            <a:endParaRPr lang="zh-CN" altLang="en-US" sz="3200">
              <a:solidFill>
                <a:prstClr val="black"/>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45" r:id="rId1"/>
    <p:sldLayoutId id="2147483846" r:id="rId2"/>
    <p:sldLayoutId id="2147483847" r:id="rId3"/>
    <p:sldLayoutId id="2147483848" r:id="rId4"/>
    <p:sldLayoutId id="2147483849" r:id="rId5"/>
    <p:sldLayoutId id="2147483850" r:id="rId6"/>
    <p:sldLayoutId id="2147483851" r:id="rId7"/>
    <p:sldLayoutId id="2147483852" r:id="rId8"/>
    <p:sldLayoutId id="2147483853" r:id="rId9"/>
    <p:sldLayoutId id="2147483854" r:id="rId10"/>
    <p:sldLayoutId id="2147483855" r:id="rId11"/>
    <p:sldLayoutId id="2147483856" r:id="rId12"/>
    <p:sldLayoutId id="2147483857" r:id="rId13"/>
    <p:sldLayoutId id="2147483858" r:id="rId14"/>
    <p:sldLayoutId id="2147483859" r:id="rId15"/>
    <p:sldLayoutId id="2147483860" r:id="rId16"/>
    <p:sldLayoutId id="2147483861" r:id="rId17"/>
  </p:sldLayoutIdLst>
  <p:txStyles>
    <p:titleStyle>
      <a:lvl1pPr algn="ctr" defTabSz="12192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3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2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25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1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17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13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0965"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7765" algn="l" defTabSz="1219200" rtl="0" eaLnBrk="1" latinLnBrk="0" hangingPunct="1">
        <a:defRPr sz="2400" kern="1200">
          <a:solidFill>
            <a:schemeClr val="tx1"/>
          </a:solidFill>
          <a:latin typeface="+mn-lt"/>
          <a:ea typeface="+mn-ea"/>
          <a:cs typeface="+mn-cs"/>
        </a:defRPr>
      </a:lvl5pPr>
      <a:lvl6pPr marL="3047365" algn="l" defTabSz="1219200" rtl="0" eaLnBrk="1" latinLnBrk="0" hangingPunct="1">
        <a:defRPr sz="2400" kern="1200">
          <a:solidFill>
            <a:schemeClr val="tx1"/>
          </a:solidFill>
          <a:latin typeface="+mn-lt"/>
          <a:ea typeface="+mn-ea"/>
          <a:cs typeface="+mn-cs"/>
        </a:defRPr>
      </a:lvl6pPr>
      <a:lvl7pPr marL="3656965" algn="l" defTabSz="1219200" rtl="0" eaLnBrk="1" latinLnBrk="0" hangingPunct="1">
        <a:defRPr sz="2400" kern="1200">
          <a:solidFill>
            <a:schemeClr val="tx1"/>
          </a:solidFill>
          <a:latin typeface="+mn-lt"/>
          <a:ea typeface="+mn-ea"/>
          <a:cs typeface="+mn-cs"/>
        </a:defRPr>
      </a:lvl7pPr>
      <a:lvl8pPr marL="4266565" algn="l" defTabSz="1219200" rtl="0" eaLnBrk="1" latinLnBrk="0" hangingPunct="1">
        <a:defRPr sz="2400" kern="1200">
          <a:solidFill>
            <a:schemeClr val="tx1"/>
          </a:solidFill>
          <a:latin typeface="+mn-lt"/>
          <a:ea typeface="+mn-ea"/>
          <a:cs typeface="+mn-cs"/>
        </a:defRPr>
      </a:lvl8pPr>
      <a:lvl9pPr marL="4876165"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6">
            <a:extLst>
              <a:ext uri="{28A0092B-C50C-407E-A947-70E740481C1C}">
                <a14:useLocalDpi xmlns:a14="http://schemas.microsoft.com/office/drawing/2010/main" val="0"/>
              </a:ext>
            </a:extLst>
          </a:blip>
          <a:srcRect b="91440"/>
          <a:stretch>
            <a:fillRect/>
          </a:stretch>
        </p:blipFill>
        <p:spPr>
          <a:xfrm>
            <a:off x="0" y="7"/>
            <a:ext cx="12192000" cy="587031"/>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7"/>
          <a:stretch>
            <a:fillRect/>
          </a:stretch>
        </p:blipFill>
        <p:spPr>
          <a:xfrm>
            <a:off x="104823" y="9966"/>
            <a:ext cx="793019" cy="589809"/>
          </a:xfrm>
          <a:prstGeom prst="rect">
            <a:avLst/>
          </a:prstGeom>
        </p:spPr>
      </p:pic>
      <p:sp>
        <p:nvSpPr>
          <p:cNvPr id="5" name="TextBox 4"/>
          <p:cNvSpPr txBox="1"/>
          <p:nvPr userDrawn="1"/>
        </p:nvSpPr>
        <p:spPr>
          <a:xfrm>
            <a:off x="821908" y="1393540"/>
            <a:ext cx="7879080" cy="1015534"/>
          </a:xfrm>
          <a:prstGeom prst="rect">
            <a:avLst/>
          </a:prstGeom>
          <a:noFill/>
        </p:spPr>
        <p:txBody>
          <a:bodyPr wrap="none" rtlCol="0">
            <a:spAutoFit/>
          </a:bodyPr>
          <a:lstStyle/>
          <a:p>
            <a:r>
              <a:rPr lang="zh-CN" alt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rPr>
              <a:t>大数据挖掘与应急管理</a:t>
            </a:r>
            <a:endParaRPr lang="en-US" sz="6000" b="1" cap="none" spc="0" dirty="0">
              <a:ln w="19050">
                <a:solidFill>
                  <a:schemeClr val="tx2">
                    <a:lumMod val="75000"/>
                  </a:schemeClr>
                </a:solidFill>
                <a:prstDash val="solid"/>
              </a:ln>
              <a:solidFill>
                <a:srgbClr val="FFFF00"/>
              </a:solidFill>
              <a:effectLst>
                <a:glow rad="101600">
                  <a:schemeClr val="accent1">
                    <a:satMod val="175000"/>
                    <a:alpha val="40000"/>
                  </a:schemeClr>
                </a:glow>
                <a:outerShdw dist="38100" dir="2700000" algn="tl" rotWithShape="0">
                  <a:schemeClr val="accent2"/>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Ls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24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4585" indent="-161925" algn="l" rtl="0" eaLnBrk="0" fontAlgn="base" hangingPunct="0">
        <a:spcBef>
          <a:spcPct val="20000"/>
        </a:spcBef>
        <a:spcAft>
          <a:spcPct val="0"/>
        </a:spcAft>
        <a:buChar char="–"/>
        <a:defRPr sz="1400">
          <a:solidFill>
            <a:schemeClr val="tx1"/>
          </a:solidFill>
          <a:latin typeface="+mn-lt"/>
          <a:ea typeface="+mn-ea"/>
        </a:defRPr>
      </a:lvl4pPr>
      <a:lvl5pPr marL="1445895" indent="-160655" algn="l" rtl="0" eaLnBrk="0" fontAlgn="base" hangingPunct="0">
        <a:spcBef>
          <a:spcPct val="20000"/>
        </a:spcBef>
        <a:spcAft>
          <a:spcPct val="0"/>
        </a:spcAft>
        <a:buChar char="»"/>
        <a:defRPr sz="1400">
          <a:solidFill>
            <a:schemeClr val="tx1"/>
          </a:solidFill>
          <a:latin typeface="+mn-lt"/>
          <a:ea typeface="+mn-ea"/>
        </a:defRPr>
      </a:lvl5pPr>
      <a:lvl6pPr marL="1767205" indent="-160655" algn="l" rtl="0" fontAlgn="base">
        <a:spcBef>
          <a:spcPct val="20000"/>
        </a:spcBef>
        <a:spcAft>
          <a:spcPct val="0"/>
        </a:spcAft>
        <a:buChar char="»"/>
        <a:defRPr sz="1400">
          <a:solidFill>
            <a:schemeClr val="tx1"/>
          </a:solidFill>
          <a:latin typeface="+mn-lt"/>
          <a:ea typeface="+mn-ea"/>
        </a:defRPr>
      </a:lvl6pPr>
      <a:lvl7pPr marL="2088515" indent="-160655" algn="l" rtl="0" fontAlgn="base">
        <a:spcBef>
          <a:spcPct val="20000"/>
        </a:spcBef>
        <a:spcAft>
          <a:spcPct val="0"/>
        </a:spcAft>
        <a:buChar char="»"/>
        <a:defRPr sz="1400">
          <a:solidFill>
            <a:schemeClr val="tx1"/>
          </a:solidFill>
          <a:latin typeface="+mn-lt"/>
          <a:ea typeface="+mn-ea"/>
        </a:defRPr>
      </a:lvl7pPr>
      <a:lvl8pPr marL="2409825"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240" algn="l" defTabSz="642620" rtl="0" eaLnBrk="1" latinLnBrk="0" hangingPunct="1">
        <a:defRPr sz="1300" kern="1200">
          <a:solidFill>
            <a:schemeClr val="tx1"/>
          </a:solidFill>
          <a:latin typeface="+mn-lt"/>
          <a:ea typeface="+mn-ea"/>
          <a:cs typeface="+mn-cs"/>
        </a:defRPr>
      </a:lvl5pPr>
      <a:lvl6pPr marL="1606550" algn="l" defTabSz="642620" rtl="0" eaLnBrk="1" latinLnBrk="0" hangingPunct="1">
        <a:defRPr sz="1300" kern="1200">
          <a:solidFill>
            <a:schemeClr val="tx1"/>
          </a:solidFill>
          <a:latin typeface="+mn-lt"/>
          <a:ea typeface="+mn-ea"/>
          <a:cs typeface="+mn-cs"/>
        </a:defRPr>
      </a:lvl6pPr>
      <a:lvl7pPr marL="1927860" algn="l" defTabSz="642620" rtl="0" eaLnBrk="1" latinLnBrk="0" hangingPunct="1">
        <a:defRPr sz="1300" kern="1200">
          <a:solidFill>
            <a:schemeClr val="tx1"/>
          </a:solidFill>
          <a:latin typeface="+mn-lt"/>
          <a:ea typeface="+mn-ea"/>
          <a:cs typeface="+mn-cs"/>
        </a:defRPr>
      </a:lvl7pPr>
      <a:lvl8pPr marL="2249170" algn="l" defTabSz="642620" rtl="0" eaLnBrk="1" latinLnBrk="0" hangingPunct="1">
        <a:defRPr sz="1300" kern="1200">
          <a:solidFill>
            <a:schemeClr val="tx1"/>
          </a:solidFill>
          <a:latin typeface="+mn-lt"/>
          <a:ea typeface="+mn-ea"/>
          <a:cs typeface="+mn-cs"/>
        </a:defRPr>
      </a:lvl8pPr>
      <a:lvl9pPr marL="2570480" algn="l" defTabSz="642620" rtl="0" eaLnBrk="1" latinLnBrk="0" hangingPunct="1">
        <a:defRPr sz="13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3">
            <a:extLst>
              <a:ext uri="{28A0092B-C50C-407E-A947-70E740481C1C}">
                <a14:useLocalDpi xmlns:a14="http://schemas.microsoft.com/office/drawing/2010/main" val="0"/>
              </a:ext>
            </a:extLst>
          </a:blip>
          <a:srcRect b="91440"/>
          <a:stretch>
            <a:fillRect/>
          </a:stretch>
        </p:blipFill>
        <p:spPr>
          <a:xfrm>
            <a:off x="0" y="0"/>
            <a:ext cx="12192000" cy="587029"/>
          </a:xfrm>
          <a:prstGeom prst="rect">
            <a:avLst/>
          </a:prstGeom>
          <a:effectLst>
            <a:outerShdw blurRad="38100" dist="25400" dir="5400000" algn="t" rotWithShape="0">
              <a:prstClr val="black">
                <a:alpha val="58000"/>
              </a:prstClr>
            </a:outerShdw>
          </a:effectLst>
        </p:spPr>
      </p:pic>
      <p:pic>
        <p:nvPicPr>
          <p:cNvPr id="4" name="图片 3"/>
          <p:cNvPicPr>
            <a:picLocks noChangeAspect="1"/>
          </p:cNvPicPr>
          <p:nvPr userDrawn="1"/>
        </p:nvPicPr>
        <p:blipFill>
          <a:blip r:embed="rId24"/>
          <a:stretch>
            <a:fillRect/>
          </a:stretch>
        </p:blipFill>
        <p:spPr>
          <a:xfrm>
            <a:off x="104820" y="9961"/>
            <a:ext cx="793019" cy="589809"/>
          </a:xfrm>
          <a:prstGeom prst="rect">
            <a:avLst/>
          </a:prstGeom>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 id="2147483906" r:id="rId18"/>
    <p:sldLayoutId id="2147483907" r:id="rId19"/>
    <p:sldLayoutId id="2147483908" r:id="rId20"/>
    <p:sldLayoutId id="2147483909" r:id="rId21"/>
    <p:sldLayoutId id="2147483910" r:id="rId22"/>
  </p:sldLayoutIdLst>
  <mc:AlternateContent xmlns:mc="http://schemas.openxmlformats.org/markup-compatibility/2006">
    <mc:Choice xmlns:p14="http://schemas.microsoft.com/office/powerpoint/2010/main" Requires="p14">
      <p:transition p14:dur="250"/>
    </mc:Choice>
    <mc:Fallback>
      <p:transition/>
    </mc:Fallback>
  </mc:AlternateContent>
  <p:hf hdr="0" ftr="0" dt="0"/>
  <p:txStyles>
    <p:titleStyle>
      <a:lvl1pPr algn="ctr" rtl="0" eaLnBrk="0" fontAlgn="base" hangingPunct="0">
        <a:spcBef>
          <a:spcPct val="0"/>
        </a:spcBef>
        <a:spcAft>
          <a:spcPct val="0"/>
        </a:spcAft>
        <a:defRPr sz="3100">
          <a:solidFill>
            <a:schemeClr val="tx2"/>
          </a:solidFill>
          <a:latin typeface="+mj-lt"/>
          <a:ea typeface="+mj-ea"/>
          <a:cs typeface="+mj-cs"/>
        </a:defRPr>
      </a:lvl1pPr>
      <a:lvl2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3100">
          <a:solidFill>
            <a:schemeClr val="tx2"/>
          </a:solidFill>
          <a:latin typeface="Arial" panose="020B0604020202020204" pitchFamily="34" charset="0"/>
          <a:ea typeface="宋体" panose="02010600030101010101" pitchFamily="2" charset="-122"/>
        </a:defRPr>
      </a:lvl5pPr>
      <a:lvl6pPr marL="32131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6pPr>
      <a:lvl7pPr marL="64262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7pPr>
      <a:lvl8pPr marL="963930"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8pPr>
      <a:lvl9pPr marL="1285875" algn="ctr" rtl="0" fontAlgn="base">
        <a:spcBef>
          <a:spcPct val="0"/>
        </a:spcBef>
        <a:spcAft>
          <a:spcPct val="0"/>
        </a:spcAft>
        <a:defRPr sz="3100">
          <a:solidFill>
            <a:schemeClr val="tx2"/>
          </a:solidFill>
          <a:latin typeface="Arial" panose="020B0604020202020204" pitchFamily="34" charset="0"/>
          <a:ea typeface="宋体" panose="02010600030101010101" pitchFamily="2" charset="-122"/>
        </a:defRPr>
      </a:lvl9pPr>
    </p:titleStyle>
    <p:bodyStyle>
      <a:lvl1pPr marL="241300" indent="-241300" algn="l" rtl="0" eaLnBrk="0" fontAlgn="base" hangingPunct="0">
        <a:spcBef>
          <a:spcPct val="20000"/>
        </a:spcBef>
        <a:spcAft>
          <a:spcPct val="0"/>
        </a:spcAft>
        <a:buChar char="•"/>
        <a:defRPr sz="2200">
          <a:solidFill>
            <a:schemeClr val="tx1"/>
          </a:solidFill>
          <a:latin typeface="+mn-lt"/>
          <a:ea typeface="+mn-ea"/>
          <a:cs typeface="+mn-cs"/>
        </a:defRPr>
      </a:lvl1pPr>
      <a:lvl2pPr marL="521970" indent="-201930" algn="l" rtl="0" eaLnBrk="0" fontAlgn="base" hangingPunct="0">
        <a:spcBef>
          <a:spcPct val="20000"/>
        </a:spcBef>
        <a:spcAft>
          <a:spcPct val="0"/>
        </a:spcAft>
        <a:buChar char="–"/>
        <a:defRPr sz="2000">
          <a:solidFill>
            <a:schemeClr val="tx1"/>
          </a:solidFill>
          <a:latin typeface="+mn-lt"/>
          <a:ea typeface="+mn-ea"/>
        </a:defRPr>
      </a:lvl2pPr>
      <a:lvl3pPr marL="803275" indent="-160655" algn="l" rtl="0" eaLnBrk="0" fontAlgn="base" hangingPunct="0">
        <a:spcBef>
          <a:spcPct val="20000"/>
        </a:spcBef>
        <a:spcAft>
          <a:spcPct val="0"/>
        </a:spcAft>
        <a:buChar char="•"/>
        <a:defRPr sz="1700">
          <a:solidFill>
            <a:schemeClr val="tx1"/>
          </a:solidFill>
          <a:latin typeface="+mn-lt"/>
          <a:ea typeface="+mn-ea"/>
        </a:defRPr>
      </a:lvl3pPr>
      <a:lvl4pPr marL="1125220" indent="-161925" algn="l" rtl="0" eaLnBrk="0" fontAlgn="base" hangingPunct="0">
        <a:spcBef>
          <a:spcPct val="20000"/>
        </a:spcBef>
        <a:spcAft>
          <a:spcPct val="0"/>
        </a:spcAft>
        <a:buChar char="–"/>
        <a:defRPr sz="1400">
          <a:solidFill>
            <a:schemeClr val="tx1"/>
          </a:solidFill>
          <a:latin typeface="+mn-lt"/>
          <a:ea typeface="+mn-ea"/>
        </a:defRPr>
      </a:lvl4pPr>
      <a:lvl5pPr marL="1446530" indent="-160655" algn="l" rtl="0" eaLnBrk="0" fontAlgn="base" hangingPunct="0">
        <a:spcBef>
          <a:spcPct val="20000"/>
        </a:spcBef>
        <a:spcAft>
          <a:spcPct val="0"/>
        </a:spcAft>
        <a:buChar char="»"/>
        <a:defRPr sz="1400">
          <a:solidFill>
            <a:schemeClr val="tx1"/>
          </a:solidFill>
          <a:latin typeface="+mn-lt"/>
          <a:ea typeface="+mn-ea"/>
        </a:defRPr>
      </a:lvl5pPr>
      <a:lvl6pPr marL="1767840" indent="-160655" algn="l" rtl="0" fontAlgn="base">
        <a:spcBef>
          <a:spcPct val="20000"/>
        </a:spcBef>
        <a:spcAft>
          <a:spcPct val="0"/>
        </a:spcAft>
        <a:buChar char="»"/>
        <a:defRPr sz="1400">
          <a:solidFill>
            <a:schemeClr val="tx1"/>
          </a:solidFill>
          <a:latin typeface="+mn-lt"/>
          <a:ea typeface="+mn-ea"/>
        </a:defRPr>
      </a:lvl6pPr>
      <a:lvl7pPr marL="2089150" indent="-160655" algn="l" rtl="0" fontAlgn="base">
        <a:spcBef>
          <a:spcPct val="20000"/>
        </a:spcBef>
        <a:spcAft>
          <a:spcPct val="0"/>
        </a:spcAft>
        <a:buChar char="»"/>
        <a:defRPr sz="1400">
          <a:solidFill>
            <a:schemeClr val="tx1"/>
          </a:solidFill>
          <a:latin typeface="+mn-lt"/>
          <a:ea typeface="+mn-ea"/>
        </a:defRPr>
      </a:lvl7pPr>
      <a:lvl8pPr marL="2410460" indent="-160655" algn="l" rtl="0" fontAlgn="base">
        <a:spcBef>
          <a:spcPct val="20000"/>
        </a:spcBef>
        <a:spcAft>
          <a:spcPct val="0"/>
        </a:spcAft>
        <a:buChar char="»"/>
        <a:defRPr sz="1400">
          <a:solidFill>
            <a:schemeClr val="tx1"/>
          </a:solidFill>
          <a:latin typeface="+mn-lt"/>
          <a:ea typeface="+mn-ea"/>
        </a:defRPr>
      </a:lvl8pPr>
      <a:lvl9pPr marL="2731770" indent="-160655" algn="l" rtl="0" fontAlgn="base">
        <a:spcBef>
          <a:spcPct val="20000"/>
        </a:spcBef>
        <a:spcAft>
          <a:spcPct val="0"/>
        </a:spcAft>
        <a:buChar char="»"/>
        <a:defRPr sz="1400">
          <a:solidFill>
            <a:schemeClr val="tx1"/>
          </a:solidFill>
          <a:latin typeface="+mn-lt"/>
          <a:ea typeface="+mn-ea"/>
        </a:defRPr>
      </a:lvl9pPr>
    </p:bodyStyle>
    <p:otherStyle>
      <a:defPPr>
        <a:defRPr lang="zh-CN"/>
      </a:defPPr>
      <a:lvl1pPr marL="0" algn="l" defTabSz="642620" rtl="0" eaLnBrk="1" latinLnBrk="0" hangingPunct="1">
        <a:defRPr sz="1300" kern="1200">
          <a:solidFill>
            <a:schemeClr val="tx1"/>
          </a:solidFill>
          <a:latin typeface="+mn-lt"/>
          <a:ea typeface="+mn-ea"/>
          <a:cs typeface="+mn-cs"/>
        </a:defRPr>
      </a:lvl1pPr>
      <a:lvl2pPr marL="321310" algn="l" defTabSz="642620" rtl="0" eaLnBrk="1" latinLnBrk="0" hangingPunct="1">
        <a:defRPr sz="1300" kern="1200">
          <a:solidFill>
            <a:schemeClr val="tx1"/>
          </a:solidFill>
          <a:latin typeface="+mn-lt"/>
          <a:ea typeface="+mn-ea"/>
          <a:cs typeface="+mn-cs"/>
        </a:defRPr>
      </a:lvl2pPr>
      <a:lvl3pPr marL="642620" algn="l" defTabSz="642620" rtl="0" eaLnBrk="1" latinLnBrk="0" hangingPunct="1">
        <a:defRPr sz="1300" kern="1200">
          <a:solidFill>
            <a:schemeClr val="tx1"/>
          </a:solidFill>
          <a:latin typeface="+mn-lt"/>
          <a:ea typeface="+mn-ea"/>
          <a:cs typeface="+mn-cs"/>
        </a:defRPr>
      </a:lvl3pPr>
      <a:lvl4pPr marL="963930" algn="l" defTabSz="642620" rtl="0" eaLnBrk="1" latinLnBrk="0" hangingPunct="1">
        <a:defRPr sz="1300" kern="1200">
          <a:solidFill>
            <a:schemeClr val="tx1"/>
          </a:solidFill>
          <a:latin typeface="+mn-lt"/>
          <a:ea typeface="+mn-ea"/>
          <a:cs typeface="+mn-cs"/>
        </a:defRPr>
      </a:lvl4pPr>
      <a:lvl5pPr marL="1285875" algn="l" defTabSz="642620" rtl="0" eaLnBrk="1" latinLnBrk="0" hangingPunct="1">
        <a:defRPr sz="1300" kern="1200">
          <a:solidFill>
            <a:schemeClr val="tx1"/>
          </a:solidFill>
          <a:latin typeface="+mn-lt"/>
          <a:ea typeface="+mn-ea"/>
          <a:cs typeface="+mn-cs"/>
        </a:defRPr>
      </a:lvl5pPr>
      <a:lvl6pPr marL="1607185" algn="l" defTabSz="642620" rtl="0" eaLnBrk="1" latinLnBrk="0" hangingPunct="1">
        <a:defRPr sz="1300" kern="1200">
          <a:solidFill>
            <a:schemeClr val="tx1"/>
          </a:solidFill>
          <a:latin typeface="+mn-lt"/>
          <a:ea typeface="+mn-ea"/>
          <a:cs typeface="+mn-cs"/>
        </a:defRPr>
      </a:lvl6pPr>
      <a:lvl7pPr marL="1928495" algn="l" defTabSz="642620" rtl="0" eaLnBrk="1" latinLnBrk="0" hangingPunct="1">
        <a:defRPr sz="1300" kern="1200">
          <a:solidFill>
            <a:schemeClr val="tx1"/>
          </a:solidFill>
          <a:latin typeface="+mn-lt"/>
          <a:ea typeface="+mn-ea"/>
          <a:cs typeface="+mn-cs"/>
        </a:defRPr>
      </a:lvl7pPr>
      <a:lvl8pPr marL="2249805" algn="l" defTabSz="642620" rtl="0" eaLnBrk="1" latinLnBrk="0" hangingPunct="1">
        <a:defRPr sz="1300" kern="1200">
          <a:solidFill>
            <a:schemeClr val="tx1"/>
          </a:solidFill>
          <a:latin typeface="+mn-lt"/>
          <a:ea typeface="+mn-ea"/>
          <a:cs typeface="+mn-cs"/>
        </a:defRPr>
      </a:lvl8pPr>
      <a:lvl9pPr marL="2571115" algn="l" defTabSz="64262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7.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vmlDrawing" Target="../drawings/vmlDrawing6.v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wmf"/><Relationship Id="rId1"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34.emf"/><Relationship Id="rId6" Type="http://schemas.openxmlformats.org/officeDocument/2006/relationships/oleObject" Target="../embeddings/oleObject8.bin"/><Relationship Id="rId5" Type="http://schemas.openxmlformats.org/officeDocument/2006/relationships/image" Target="../media/image33.emf"/><Relationship Id="rId4" Type="http://schemas.openxmlformats.org/officeDocument/2006/relationships/oleObject" Target="../embeddings/oleObject7.bin"/><Relationship Id="rId3" Type="http://schemas.openxmlformats.org/officeDocument/2006/relationships/image" Target="../media/image32.emf"/><Relationship Id="rId2" Type="http://schemas.openxmlformats.org/officeDocument/2006/relationships/image" Target="../media/image31.emf"/><Relationship Id="rId10" Type="http://schemas.openxmlformats.org/officeDocument/2006/relationships/notesSlide" Target="../notesSlides/notesSlide14.xml"/><Relationship Id="rId1" Type="http://schemas.openxmlformats.org/officeDocument/2006/relationships/image" Target="../media/image30.emf"/></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37.emf"/><Relationship Id="rId3" Type="http://schemas.openxmlformats.org/officeDocument/2006/relationships/image" Target="../media/image36.wmf"/><Relationship Id="rId2" Type="http://schemas.openxmlformats.org/officeDocument/2006/relationships/oleObject" Target="../embeddings/oleObject9.bin"/><Relationship Id="rId1" Type="http://schemas.openxmlformats.org/officeDocument/2006/relationships/image" Target="../media/image35.emf"/></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vmlDrawing" Target="../drawings/vmlDrawing9.vml"/><Relationship Id="rId5" Type="http://schemas.openxmlformats.org/officeDocument/2006/relationships/slideLayout" Target="../slideLayouts/slideLayout2.xml"/><Relationship Id="rId4" Type="http://schemas.openxmlformats.org/officeDocument/2006/relationships/image" Target="../media/image40.emf"/><Relationship Id="rId3" Type="http://schemas.openxmlformats.org/officeDocument/2006/relationships/image" Target="../media/image39.wmf"/><Relationship Id="rId2" Type="http://schemas.openxmlformats.org/officeDocument/2006/relationships/oleObject" Target="../embeddings/oleObject10.bin"/><Relationship Id="rId1" Type="http://schemas.openxmlformats.org/officeDocument/2006/relationships/image" Target="../media/image38.emf"/></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42.svg"/><Relationship Id="rId1"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51.emf"/></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53.emf"/><Relationship Id="rId1" Type="http://schemas.openxmlformats.org/officeDocument/2006/relationships/image" Target="../media/image52.emf"/></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image" Target="../media/image54.e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56.emf"/></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58.emf"/><Relationship Id="rId1" Type="http://schemas.openxmlformats.org/officeDocument/2006/relationships/image" Target="../media/image57.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2</a:t>
            </a:r>
            <a:r>
              <a:rPr lang="en-US" altLang="zh-CN" sz="5400" b="0" dirty="0">
                <a:solidFill>
                  <a:schemeClr val="bg1"/>
                </a:solidFill>
                <a:ea typeface="华光综艺_CNKI" panose="02000500000000000000" pitchFamily="2" charset="-122"/>
              </a:rPr>
              <a:t>.1</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数据预处理</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一、数据预处理</a:t>
            </a:r>
            <a:r>
              <a:rPr lang="zh-CN" altLang="en-US" sz="3200" dirty="0">
                <a:solidFill>
                  <a:srgbClr val="FFFF00"/>
                </a:solidFill>
                <a:latin typeface="华光综艺_CNKI" panose="02000500000000000000" pitchFamily="2" charset="-122"/>
                <a:ea typeface="华光综艺_CNKI" panose="02000500000000000000" pitchFamily="2" charset="-122"/>
              </a:rPr>
              <a:t>概要</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数据质量</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4" name="文本框 3"/>
          <p:cNvSpPr txBox="1"/>
          <p:nvPr/>
        </p:nvSpPr>
        <p:spPr>
          <a:xfrm>
            <a:off x="682625" y="1826895"/>
            <a:ext cx="10474960" cy="1014730"/>
          </a:xfrm>
          <a:prstGeom prst="rect">
            <a:avLst/>
          </a:prstGeom>
        </p:spPr>
        <p:txBody>
          <a:bodyPr wrap="square">
            <a:spAutoFit/>
          </a:bodyPr>
          <a:p>
            <a:pPr marL="0" indent="306070" algn="l" defTabSz="266700">
              <a:lnSpc>
                <a:spcPct val="125000"/>
              </a:lnSpc>
              <a:spcBef>
                <a:spcPct val="0"/>
              </a:spcBef>
              <a:spcAft>
                <a:spcPct val="0"/>
              </a:spcAft>
            </a:pPr>
            <a:r>
              <a:rPr lang="zh-CN" altLang="en-US" sz="2400" b="1">
                <a:solidFill>
                  <a:srgbClr val="FF0000"/>
                </a:solidFill>
                <a:latin typeface="楷体" panose="02010609060101010101" pitchFamily="49" charset="-122"/>
                <a:ea typeface="楷体" panose="02010609060101010101" pitchFamily="49" charset="-122"/>
              </a:rPr>
              <a:t>数据</a:t>
            </a:r>
            <a:r>
              <a:rPr lang="zh-CN" altLang="en-US" sz="2400" b="1">
                <a:solidFill>
                  <a:srgbClr val="FF0000"/>
                </a:solidFill>
                <a:latin typeface="Times New Roman" panose="02020603050405020304"/>
                <a:ea typeface="楷体" panose="02010609060101010101" pitchFamily="49" charset="-122"/>
              </a:rPr>
              <a:t>质量</a:t>
            </a:r>
            <a:r>
              <a:rPr lang="zh-CN" altLang="en-US" sz="2400" b="1">
                <a:solidFill>
                  <a:srgbClr val="FF0000"/>
                </a:solidFill>
                <a:latin typeface="楷体" panose="02010609060101010101" pitchFamily="49" charset="-122"/>
                <a:ea typeface="楷体" panose="02010609060101010101" pitchFamily="49" charset="-122"/>
              </a:rPr>
              <a:t>（</a:t>
            </a:r>
            <a:r>
              <a:rPr lang="en-US" altLang="zh-CN" sz="2400" b="1">
                <a:solidFill>
                  <a:srgbClr val="FF0000"/>
                </a:solidFill>
                <a:latin typeface="Times New Roman" panose="02020603050405020304"/>
                <a:ea typeface="楷体" panose="02010609060101010101" pitchFamily="49" charset="-122"/>
              </a:rPr>
              <a:t>Data </a:t>
            </a:r>
            <a:r>
              <a:rPr lang="en-US" altLang="zh-CN" sz="2400" b="1">
                <a:solidFill>
                  <a:srgbClr val="FF0000"/>
                </a:solidFill>
                <a:latin typeface="Times New Roman" panose="02020603050405020304"/>
                <a:ea typeface="Times New Roman" panose="02020603050405020304"/>
              </a:rPr>
              <a:t>q</a:t>
            </a:r>
            <a:r>
              <a:rPr lang="en-US" altLang="zh-CN" sz="2400" b="1">
                <a:solidFill>
                  <a:srgbClr val="FF0000"/>
                </a:solidFill>
                <a:latin typeface="Times New Roman" panose="02020603050405020304"/>
                <a:ea typeface="楷体" panose="02010609060101010101" pitchFamily="49" charset="-122"/>
              </a:rPr>
              <a:t>uality</a:t>
            </a:r>
            <a:r>
              <a:rPr lang="zh-CN" altLang="en-US" sz="2400" b="1">
                <a:solidFill>
                  <a:srgbClr val="FF0000"/>
                </a:solidFill>
                <a:latin typeface="楷体" panose="02010609060101010101" pitchFamily="49" charset="-122"/>
                <a:ea typeface="楷体" panose="02010609060101010101" pitchFamily="49" charset="-122"/>
              </a:rPr>
              <a:t>）</a:t>
            </a:r>
            <a:r>
              <a:rPr lang="en-US" altLang="zh-CN" sz="2400" b="1">
                <a:latin typeface="Times New Roman" panose="02020603050405020304"/>
                <a:ea typeface="楷体" panose="02010609060101010101" pitchFamily="49" charset="-122"/>
              </a:rPr>
              <a:t>  </a:t>
            </a:r>
            <a:r>
              <a:rPr lang="zh-CN" altLang="en-US" sz="2400">
                <a:latin typeface="Times New Roman" panose="02020603050405020304"/>
                <a:ea typeface="楷体" panose="02010609060101010101" pitchFamily="49" charset="-122"/>
              </a:rPr>
              <a:t>是跨多维度对数据健康状况的评估，用于衡量数据集满足完整性、一致性、准确性、可靠性、可用性和时效性标准的程度。</a:t>
            </a:r>
            <a:endParaRPr lang="zh-CN" altLang="en-US" sz="2400">
              <a:latin typeface="Times New Roman" panose="02020603050405020304"/>
              <a:ea typeface="楷体" panose="02010609060101010101" pitchFamily="49" charset="-122"/>
            </a:endParaRPr>
          </a:p>
        </p:txBody>
      </p:sp>
      <p:sp>
        <p:nvSpPr>
          <p:cNvPr id="5" name="文本框 4"/>
          <p:cNvSpPr txBox="1"/>
          <p:nvPr/>
        </p:nvSpPr>
        <p:spPr>
          <a:xfrm>
            <a:off x="3285490" y="2981960"/>
            <a:ext cx="5080000" cy="437515"/>
          </a:xfrm>
          <a:prstGeom prst="rect">
            <a:avLst/>
          </a:prstGeom>
        </p:spPr>
        <p:txBody>
          <a:bodyPr>
            <a:spAutoFit/>
          </a:bodyPr>
          <a:p>
            <a:pPr marL="0" indent="0" algn="ctr" defTabSz="266700">
              <a:lnSpc>
                <a:spcPct val="125000"/>
              </a:lnSpc>
              <a:spcBef>
                <a:spcPct val="0"/>
              </a:spcBef>
              <a:spcAft>
                <a:spcPct val="0"/>
              </a:spcAft>
            </a:pPr>
            <a:r>
              <a:rPr lang="zh-CN" altLang="en-US">
                <a:latin typeface="Times New Roman" panose="02020603050405020304"/>
                <a:ea typeface="宋体" panose="02010600030101010101" pitchFamily="2" charset="-122"/>
              </a:rPr>
              <a:t>表</a:t>
            </a:r>
            <a:r>
              <a:rPr lang="en-US" altLang="zh-CN">
                <a:latin typeface="Times New Roman" panose="02020603050405020304"/>
                <a:ea typeface="宋体" panose="02010600030101010101" pitchFamily="2" charset="-122"/>
              </a:rPr>
              <a:t>2-1 </a:t>
            </a:r>
            <a:r>
              <a:rPr lang="zh-CN" altLang="en-US">
                <a:latin typeface="Times New Roman" panose="02020603050405020304"/>
                <a:ea typeface="宋体" panose="02010600030101010101" pitchFamily="2" charset="-122"/>
              </a:rPr>
              <a:t>数据质量要素</a:t>
            </a:r>
            <a:endParaRPr lang="zh-CN" altLang="en-US">
              <a:latin typeface="Times New Roman" panose="02020603050405020304"/>
              <a:ea typeface="宋体" panose="02010600030101010101" pitchFamily="2" charset="-122"/>
            </a:endParaRPr>
          </a:p>
        </p:txBody>
      </p:sp>
      <p:graphicFrame>
        <p:nvGraphicFramePr>
          <p:cNvPr id="6" name="表格 5"/>
          <p:cNvGraphicFramePr/>
          <p:nvPr>
            <p:custDataLst>
              <p:tags r:id="rId1"/>
            </p:custDataLst>
          </p:nvPr>
        </p:nvGraphicFramePr>
        <p:xfrm>
          <a:off x="1936750" y="3380740"/>
          <a:ext cx="8319135" cy="3040380"/>
        </p:xfrm>
        <a:graphic>
          <a:graphicData uri="http://schemas.openxmlformats.org/drawingml/2006/table">
            <a:tbl>
              <a:tblPr firstRow="1" bandCol="1">
                <a:tableStyleId>{85659F57-6F9C-41BD-BE3F-BE30FBA801BE}</a:tableStyleId>
              </a:tblPr>
              <a:tblGrid>
                <a:gridCol w="1539240"/>
                <a:gridCol w="6779895"/>
              </a:tblGrid>
              <a:tr h="360680">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要素</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描述</a:t>
                      </a:r>
                      <a:endParaRPr lang="zh-CN" sz="1800" b="0">
                        <a:latin typeface="微软雅黑" panose="020B0503020204020204" pitchFamily="34" charset="-122"/>
                        <a:ea typeface="微软雅黑" panose="020B0503020204020204" pitchFamily="34" charset="-122"/>
                      </a:endParaRPr>
                    </a:p>
                  </a:txBody>
                  <a:tcPr anchor="t" anchorCtr="0"/>
                </a:tc>
              </a:tr>
              <a:tr h="361950">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完整性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数据是否包含所有必要信息，是否缺失重要字段或记录。</a:t>
                      </a:r>
                      <a:endParaRPr lang="zh-CN" sz="1800" b="0">
                        <a:latin typeface="微软雅黑" panose="020B0503020204020204" pitchFamily="34" charset="-122"/>
                        <a:ea typeface="微软雅黑" panose="020B0503020204020204" pitchFamily="34" charset="-122"/>
                      </a:endParaRPr>
                    </a:p>
                  </a:txBody>
                  <a:tcPr anchor="t" anchorCtr="0"/>
                </a:tc>
              </a:tr>
              <a:tr h="360680">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一致性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数据是否在不同的数据源、数据集或时间中保持一致。</a:t>
                      </a:r>
                      <a:endParaRPr lang="zh-CN" sz="1800" b="0">
                        <a:latin typeface="微软雅黑" panose="020B0503020204020204" pitchFamily="34" charset="-122"/>
                        <a:ea typeface="微软雅黑" panose="020B0503020204020204" pitchFamily="34" charset="-122"/>
                      </a:endParaRPr>
                    </a:p>
                  </a:txBody>
                  <a:tcPr anchor="t" anchorCtr="0"/>
                </a:tc>
              </a:tr>
              <a:tr h="361315">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准确性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数据与真实情况的匹配程度，是否存在错误或异常值。</a:t>
                      </a:r>
                      <a:endParaRPr lang="zh-CN" sz="1800" b="0">
                        <a:latin typeface="微软雅黑" panose="020B0503020204020204" pitchFamily="34" charset="-122"/>
                        <a:ea typeface="微软雅黑" panose="020B0503020204020204" pitchFamily="34" charset="-122"/>
                      </a:endParaRPr>
                    </a:p>
                  </a:txBody>
                  <a:tcPr anchor="t" anchorCtr="0"/>
                </a:tc>
              </a:tr>
              <a:tr h="360680">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可靠性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数据是否来自可信的来源。</a:t>
                      </a:r>
                      <a:endParaRPr lang="zh-CN" sz="1800" b="0">
                        <a:latin typeface="微软雅黑" panose="020B0503020204020204" pitchFamily="34" charset="-122"/>
                        <a:ea typeface="微软雅黑" panose="020B0503020204020204" pitchFamily="34" charset="-122"/>
                      </a:endParaRPr>
                    </a:p>
                  </a:txBody>
                  <a:tcPr anchor="t" anchorCtr="0"/>
                </a:tc>
              </a:tr>
              <a:tr h="418465">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可用性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数据能否访问和使用，数据存储、检索、传输和分析的便捷性。</a:t>
                      </a:r>
                      <a:endParaRPr lang="zh-CN" sz="1800" b="0">
                        <a:latin typeface="微软雅黑" panose="020B0503020204020204" pitchFamily="34" charset="-122"/>
                        <a:ea typeface="微软雅黑" panose="020B0503020204020204" pitchFamily="34" charset="-122"/>
                      </a:endParaRPr>
                    </a:p>
                  </a:txBody>
                  <a:tcPr anchor="t" anchorCtr="0"/>
                </a:tc>
              </a:tr>
              <a:tr h="360680">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时效性</a:t>
                      </a:r>
                      <a:endParaRPr lang="zh-CN" sz="1800" b="0">
                        <a:latin typeface="微软雅黑" panose="020B0503020204020204" pitchFamily="34" charset="-122"/>
                        <a:ea typeface="微软雅黑" panose="020B0503020204020204" pitchFamily="34" charset="-122"/>
                      </a:endParaRPr>
                    </a:p>
                  </a:txBody>
                  <a:tcPr anchor="t" anchorCtr="0"/>
                </a:tc>
                <a:tc>
                  <a:txBody>
                    <a:bodyPr/>
                    <a:p>
                      <a:pPr marL="0" indent="0" algn="just">
                        <a:lnSpc>
                          <a:spcPct val="125000"/>
                        </a:lnSpc>
                        <a:spcBef>
                          <a:spcPct val="0"/>
                        </a:spcBef>
                        <a:spcAft>
                          <a:spcPct val="0"/>
                        </a:spcAft>
                      </a:pPr>
                      <a:r>
                        <a:rPr lang="zh-CN" sz="1800" b="0">
                          <a:latin typeface="微软雅黑" panose="020B0503020204020204" pitchFamily="34" charset="-122"/>
                          <a:ea typeface="微软雅黑" panose="020B0503020204020204" pitchFamily="34" charset="-122"/>
                        </a:rPr>
                        <a:t>数据是否及时更新，是否过时。</a:t>
                      </a:r>
                      <a:endParaRPr lang="zh-CN" sz="1800" b="0">
                        <a:latin typeface="微软雅黑" panose="020B0503020204020204" pitchFamily="34" charset="-122"/>
                        <a:ea typeface="微软雅黑" panose="020B0503020204020204" pitchFamily="34" charset="-122"/>
                      </a:endParaRPr>
                    </a:p>
                  </a:txBody>
                  <a:tcPr anchor="t" anchorCtr="0"/>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一、</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数据预处理概要</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2" name="矩形: 圆角 12"/>
          <p:cNvSpPr/>
          <p:nvPr/>
        </p:nvSpPr>
        <p:spPr>
          <a:xfrm>
            <a:off x="166155" y="976670"/>
            <a:ext cx="46975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lstStyle/>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数据预处理的主要任务</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1.2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410845" y="177038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数据</a:t>
            </a: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预处理</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5" name="文本框 4"/>
          <p:cNvSpPr txBox="1"/>
          <p:nvPr/>
        </p:nvSpPr>
        <p:spPr>
          <a:xfrm>
            <a:off x="410845" y="2521585"/>
            <a:ext cx="5022215" cy="3322955"/>
          </a:xfrm>
          <a:prstGeom prst="rect">
            <a:avLst/>
          </a:prstGeom>
        </p:spPr>
        <p:txBody>
          <a:bodyPr wrap="square">
            <a:spAutoFit/>
          </a:bodyPr>
          <a:p>
            <a:pPr indent="306070" defTabSz="266700">
              <a:lnSpc>
                <a:spcPct val="125000"/>
              </a:lnSpc>
              <a:spcBef>
                <a:spcPct val="0"/>
              </a:spcBef>
              <a:spcAft>
                <a:spcPct val="0"/>
              </a:spcAft>
            </a:pPr>
            <a:r>
              <a:rPr lang="zh-CN" altLang="en-US" sz="2400" b="0">
                <a:latin typeface="Times New Roman" panose="02020603050405020304"/>
                <a:ea typeface="楷体" panose="02010609060101010101" pitchFamily="49" charset="-122"/>
              </a:rPr>
              <a:t>是根据数据质量分析中发现的错误、缺失、重复、异常等问题，对原始数据进行清洗、转换、整合等处理，或将数据处理成适合下游任务的格式，进而提高数据质量的过程。数据预处理主要包括</a:t>
            </a:r>
            <a:r>
              <a:rPr lang="zh-CN" altLang="en-US" sz="2400" b="0">
                <a:solidFill>
                  <a:srgbClr val="FF0000"/>
                </a:solidFill>
                <a:latin typeface="Times New Roman" panose="02020603050405020304"/>
                <a:ea typeface="楷体" panose="02010609060101010101" pitchFamily="49" charset="-122"/>
              </a:rPr>
              <a:t>数据清洗、数据集成、数据规约</a:t>
            </a:r>
            <a:r>
              <a:rPr lang="zh-CN" altLang="en-US" sz="2400" b="0">
                <a:solidFill>
                  <a:schemeClr val="tx1"/>
                </a:solidFill>
                <a:latin typeface="Times New Roman" panose="02020603050405020304"/>
                <a:ea typeface="楷体" panose="02010609060101010101" pitchFamily="49" charset="-122"/>
              </a:rPr>
              <a:t>和</a:t>
            </a:r>
            <a:r>
              <a:rPr lang="zh-CN" altLang="en-US" sz="2400" b="0">
                <a:solidFill>
                  <a:srgbClr val="FF0000"/>
                </a:solidFill>
                <a:latin typeface="Times New Roman" panose="02020603050405020304"/>
                <a:ea typeface="楷体" panose="02010609060101010101" pitchFamily="49" charset="-122"/>
              </a:rPr>
              <a:t>数据变换</a:t>
            </a:r>
            <a:r>
              <a:rPr lang="zh-CN" altLang="en-US" sz="2400" b="0">
                <a:latin typeface="Times New Roman" panose="02020603050405020304"/>
                <a:ea typeface="楷体" panose="02010609060101010101" pitchFamily="49" charset="-122"/>
              </a:rPr>
              <a:t>等。</a:t>
            </a:r>
            <a:endParaRPr lang="zh-CN" altLang="en-US" sz="2400" b="0">
              <a:latin typeface="Times New Roman" panose="02020603050405020304"/>
              <a:ea typeface="楷体" panose="02010609060101010101" pitchFamily="49" charset="-122"/>
            </a:endParaRPr>
          </a:p>
        </p:txBody>
      </p:sp>
      <p:graphicFrame>
        <p:nvGraphicFramePr>
          <p:cNvPr id="4" name="对象 -2147482624"/>
          <p:cNvGraphicFramePr/>
          <p:nvPr/>
        </p:nvGraphicFramePr>
        <p:xfrm>
          <a:off x="5629910" y="1077595"/>
          <a:ext cx="5970270" cy="5551170"/>
        </p:xfrm>
        <a:graphic>
          <a:graphicData uri="http://schemas.openxmlformats.org/presentationml/2006/ole">
            <mc:AlternateContent xmlns:mc="http://schemas.openxmlformats.org/markup-compatibility/2006">
              <mc:Choice xmlns:v="urn:schemas-microsoft-com:vml" Requires="v">
                <p:oleObj spid="_x0000_s3076" name="" r:id="rId1" imgW="4972050" imgH="4991735" progId="Visio.Drawing.15">
                  <p:embed/>
                </p:oleObj>
              </mc:Choice>
              <mc:Fallback>
                <p:oleObj name="" r:id="rId1" imgW="4972050" imgH="4991735" progId="Visio.Drawing.15">
                  <p:embed/>
                  <p:pic>
                    <p:nvPicPr>
                      <p:cNvPr id="0" name="图片 3075"/>
                      <p:cNvPicPr/>
                      <p:nvPr/>
                    </p:nvPicPr>
                    <p:blipFill>
                      <a:blip r:embed="rId2"/>
                      <a:stretch>
                        <a:fillRect/>
                      </a:stretch>
                    </p:blipFill>
                    <p:spPr>
                      <a:xfrm>
                        <a:off x="5629910" y="1077595"/>
                        <a:ext cx="5970270" cy="555117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51" name="矩形: 圆角 55"/>
          <p:cNvSpPr/>
          <p:nvPr/>
        </p:nvSpPr>
        <p:spPr>
          <a:xfrm>
            <a:off x="6374130" y="295275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噪声</a:t>
            </a: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处理</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6" name="文本框 5"/>
          <p:cNvSpPr txBox="1"/>
          <p:nvPr/>
        </p:nvSpPr>
        <p:spPr>
          <a:xfrm>
            <a:off x="643255" y="1059180"/>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数据清洗（</a:t>
            </a:r>
            <a:r>
              <a:rPr lang="en-US" altLang="zh-CN" sz="2800" b="1">
                <a:solidFill>
                  <a:srgbClr val="FF0000"/>
                </a:solidFill>
                <a:latin typeface="Times New Roman" panose="02020603050405020304"/>
                <a:ea typeface="Times New Roman" panose="02020603050405020304"/>
              </a:rPr>
              <a:t>Data cleaning</a:t>
            </a:r>
            <a:r>
              <a:rPr lang="zh-CN" altLang="en-US" sz="2800" b="1">
                <a:solidFill>
                  <a:srgbClr val="FF0000"/>
                </a:solidFill>
                <a:latin typeface="Times New Roman" panose="02020603050405020304"/>
                <a:ea typeface="楷体" panose="02010609060101010101" pitchFamily="49" charset="-122"/>
              </a:rPr>
              <a:t>）</a:t>
            </a:r>
            <a:r>
              <a:rPr lang="zh-CN" altLang="en-US" sz="2800" b="1">
                <a:latin typeface="Times New Roman" panose="02020603050405020304"/>
                <a:ea typeface="楷体" panose="02010609060101010101" pitchFamily="49" charset="-122"/>
              </a:rPr>
              <a:t> </a:t>
            </a:r>
            <a:r>
              <a:rPr lang="en-US" altLang="zh-CN" sz="2800" b="1">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是去除数据中的缺失值、噪声，并提高数据质量的数据预处理方法。常见的数据清洗方法包括缺失值处理和噪声处理。</a:t>
            </a:r>
            <a:endParaRPr lang="zh-CN" altLang="en-US" sz="2800" b="0">
              <a:latin typeface="Times New Roman" panose="02020603050405020304"/>
              <a:ea typeface="楷体" panose="02010609060101010101" pitchFamily="49" charset="-122"/>
            </a:endParaRPr>
          </a:p>
        </p:txBody>
      </p:sp>
      <p:sp>
        <p:nvSpPr>
          <p:cNvPr id="9" name="矩形: 圆角 55"/>
          <p:cNvSpPr/>
          <p:nvPr/>
        </p:nvSpPr>
        <p:spPr>
          <a:xfrm>
            <a:off x="2059305" y="295275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缺失值处理</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6" name="Rectangle 2"/>
          <p:cNvSpPr txBox="1">
            <a:spLocks noChangeArrowheads="1"/>
          </p:cNvSpPr>
          <p:nvPr/>
        </p:nvSpPr>
        <p:spPr>
          <a:xfrm>
            <a:off x="2059332" y="4970690"/>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2pPr>
            <a:lvl3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3pPr>
            <a:lvl4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4pPr>
            <a:lvl5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5pPr>
            <a:lvl6pPr marL="4572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6pPr>
            <a:lvl7pPr marL="9144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7pPr>
            <a:lvl8pPr marL="13716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8pPr>
            <a:lvl9pPr marL="18288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9pPr>
          </a:lstStyle>
          <a:p>
            <a:pPr marL="342900" indent="-342900">
              <a:buFont typeface="Wingdings" panose="05000000000000000000" charset="0"/>
              <a:buChar char="l"/>
            </a:pPr>
            <a:r>
              <a:rPr lang="zh-CN" altLang="en-US" sz="2400" dirty="0">
                <a:solidFill>
                  <a:srgbClr val="00CCFF"/>
                </a:solidFill>
                <a:effectLst/>
              </a:rPr>
              <a:t>删除数据</a:t>
            </a:r>
            <a:endParaRPr lang="en-US" altLang="zh-CN" sz="2400" dirty="0">
              <a:solidFill>
                <a:srgbClr val="00CCFF"/>
              </a:solidFill>
              <a:effectLst/>
            </a:endParaRPr>
          </a:p>
          <a:p>
            <a:pPr marL="342900" indent="-342900">
              <a:buFont typeface="Wingdings" panose="05000000000000000000" charset="0"/>
              <a:buChar char="l"/>
            </a:pPr>
            <a:endParaRPr lang="en-US" altLang="zh-CN"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人工填充</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均值</a:t>
            </a:r>
            <a:r>
              <a:rPr lang="en-US" altLang="zh-CN" sz="2400" dirty="0">
                <a:solidFill>
                  <a:srgbClr val="00CCFF"/>
                </a:solidFill>
                <a:effectLst/>
              </a:rPr>
              <a:t>/</a:t>
            </a:r>
            <a:r>
              <a:rPr lang="zh-CN" altLang="en-US" sz="2400" dirty="0">
                <a:solidFill>
                  <a:srgbClr val="00CCFF"/>
                </a:solidFill>
                <a:effectLst/>
              </a:rPr>
              <a:t>众数填充</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模型填充</a:t>
            </a:r>
            <a:endParaRPr lang="zh-CN" altLang="en-US" sz="2400" dirty="0">
              <a:solidFill>
                <a:srgbClr val="00CCFF"/>
              </a:solidFill>
              <a:effectLst/>
            </a:endParaRPr>
          </a:p>
          <a:p>
            <a:endParaRPr lang="zh-CN" altLang="en-US" sz="2400" dirty="0">
              <a:solidFill>
                <a:srgbClr val="00CCFF"/>
              </a:solidFill>
              <a:effectLst/>
            </a:endParaRPr>
          </a:p>
        </p:txBody>
      </p:sp>
      <p:sp>
        <p:nvSpPr>
          <p:cNvPr id="10" name="Rectangle 2"/>
          <p:cNvSpPr txBox="1">
            <a:spLocks noChangeArrowheads="1"/>
          </p:cNvSpPr>
          <p:nvPr/>
        </p:nvSpPr>
        <p:spPr>
          <a:xfrm>
            <a:off x="6374130" y="4970780"/>
            <a:ext cx="3650615" cy="873760"/>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2pPr>
            <a:lvl3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3pPr>
            <a:lvl4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4pPr>
            <a:lvl5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5pPr>
            <a:lvl6pPr marL="4572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6pPr>
            <a:lvl7pPr marL="9144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7pPr>
            <a:lvl8pPr marL="13716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8pPr>
            <a:lvl9pPr marL="18288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9pPr>
          </a:lstStyle>
          <a:p>
            <a:pPr marL="342900" indent="-342900">
              <a:buFont typeface="Wingdings" panose="05000000000000000000" charset="0"/>
              <a:buChar char="l"/>
            </a:pPr>
            <a:r>
              <a:rPr lang="zh-CN" altLang="en-US" sz="2400" dirty="0">
                <a:solidFill>
                  <a:srgbClr val="00CCFF"/>
                </a:solidFill>
                <a:effectLst/>
              </a:rPr>
              <a:t>分箱</a:t>
            </a:r>
            <a:endParaRPr lang="en-US" altLang="zh-CN" sz="2400" dirty="0">
              <a:solidFill>
                <a:srgbClr val="00CCFF"/>
              </a:solidFill>
              <a:effectLst/>
            </a:endParaRPr>
          </a:p>
          <a:p>
            <a:pPr marL="342900" indent="-342900">
              <a:buFont typeface="Wingdings" panose="05000000000000000000" charset="0"/>
              <a:buChar char="l"/>
            </a:pPr>
            <a:endParaRPr lang="en-US" altLang="zh-CN"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回归</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离群点</a:t>
            </a:r>
            <a:r>
              <a:rPr lang="zh-CN" altLang="en-US" sz="2400" dirty="0">
                <a:solidFill>
                  <a:srgbClr val="00CCFF"/>
                </a:solidFill>
                <a:effectLst/>
              </a:rPr>
              <a:t>检测</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endParaRPr lang="zh-CN" altLang="en-US" sz="2400" dirty="0">
              <a:solidFill>
                <a:srgbClr val="00CCFF"/>
              </a:solidFill>
              <a:effectLst/>
            </a:endParaRPr>
          </a:p>
        </p:txBody>
      </p:sp>
      <p:sp>
        <p:nvSpPr>
          <p:cNvPr id="11" name="文本框 10"/>
          <p:cNvSpPr txBox="1"/>
          <p:nvPr/>
        </p:nvSpPr>
        <p:spPr>
          <a:xfrm>
            <a:off x="8656320" y="4082415"/>
            <a:ext cx="6096000" cy="1938020"/>
          </a:xfrm>
          <a:prstGeom prst="rect">
            <a:avLst/>
          </a:prstGeom>
          <a:noFill/>
        </p:spPr>
        <p:txBody>
          <a:bodyPr wrap="square" rtlCol="0" anchor="t">
            <a:spAutoFit/>
          </a:bodyPr>
          <a:p>
            <a:pPr marL="342900" indent="-342900">
              <a:buFont typeface="Wingdings" panose="05000000000000000000" charset="0"/>
              <a:buChar char="l"/>
            </a:pPr>
            <a:r>
              <a:rPr lang="zh-CN" altLang="en-US" sz="2400" b="1" dirty="0">
                <a:solidFill>
                  <a:srgbClr val="00CCFF"/>
                </a:solidFill>
                <a:effectLst/>
                <a:latin typeface="微软雅黑" panose="020B0503020204020204" pitchFamily="34" charset="-122"/>
                <a:ea typeface="微软雅黑" panose="020B0503020204020204" pitchFamily="34" charset="-122"/>
                <a:sym typeface="+mn-ea"/>
              </a:rPr>
              <a:t>均值平滑</a:t>
            </a: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r>
              <a:rPr lang="zh-CN" altLang="en-US" sz="2400" b="1" dirty="0">
                <a:solidFill>
                  <a:srgbClr val="00CCFF"/>
                </a:solidFill>
                <a:effectLst/>
                <a:latin typeface="微软雅黑" panose="020B0503020204020204" pitchFamily="34" charset="-122"/>
                <a:ea typeface="微软雅黑" panose="020B0503020204020204" pitchFamily="34" charset="-122"/>
                <a:sym typeface="+mn-ea"/>
              </a:rPr>
              <a:t>小波降噪</a:t>
            </a: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r>
              <a:rPr lang="zh-CN" altLang="en-US" sz="2400" b="1" dirty="0">
                <a:solidFill>
                  <a:srgbClr val="00CCFF"/>
                </a:solidFill>
                <a:effectLst/>
                <a:latin typeface="微软雅黑" panose="020B0503020204020204" pitchFamily="34" charset="-122"/>
                <a:ea typeface="微软雅黑" panose="020B0503020204020204" pitchFamily="34" charset="-122"/>
                <a:sym typeface="+mn-ea"/>
              </a:rPr>
              <a:t>主成分分析降噪</a:t>
            </a:r>
            <a:endParaRPr lang="zh-CN" altLang="en-US" sz="2400" b="1" dirty="0">
              <a:solidFill>
                <a:srgbClr val="00CCFF"/>
              </a:solidFill>
              <a:effectLst/>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643255" y="1751965"/>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删除数据</a:t>
            </a:r>
            <a:r>
              <a:rPr lang="en-US" altLang="zh-CN" sz="2800" b="0">
                <a:solidFill>
                  <a:srgbClr val="FF0000"/>
                </a:solidFill>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是指从数据集中删除缺少某些变量的记录，这样可以减少缺失值对分析结果的影响，并且可以保证数据的一致性和可靠性。</a:t>
            </a: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zh-CN" altLang="en-US" sz="2400" b="0">
                <a:latin typeface="Times New Roman" panose="02020603050405020304"/>
                <a:ea typeface="楷体" panose="02010609060101010101" pitchFamily="49" charset="-122"/>
              </a:rPr>
              <a:t>删除数据可进一步分为</a:t>
            </a:r>
            <a:r>
              <a:rPr lang="zh-CN" altLang="en-US" sz="2400" b="0">
                <a:solidFill>
                  <a:srgbClr val="FF0000"/>
                </a:solidFill>
                <a:latin typeface="Times New Roman" panose="02020603050405020304"/>
                <a:ea typeface="楷体" panose="02010609060101010101" pitchFamily="49" charset="-122"/>
              </a:rPr>
              <a:t>整例删除</a:t>
            </a:r>
            <a:r>
              <a:rPr lang="zh-CN" altLang="en-US" sz="2400" b="0">
                <a:latin typeface="Times New Roman" panose="02020603050405020304"/>
                <a:ea typeface="楷体" panose="02010609060101010101" pitchFamily="49" charset="-122"/>
              </a:rPr>
              <a:t>和</a:t>
            </a:r>
            <a:r>
              <a:rPr lang="zh-CN" altLang="en-US" sz="2400" b="0">
                <a:solidFill>
                  <a:srgbClr val="FF0000"/>
                </a:solidFill>
                <a:latin typeface="Times New Roman" panose="02020603050405020304"/>
                <a:ea typeface="楷体" panose="02010609060101010101" pitchFamily="49" charset="-122"/>
              </a:rPr>
              <a:t>变量删除</a:t>
            </a:r>
            <a:r>
              <a:rPr lang="zh-CN" altLang="en-US" sz="2400" b="0">
                <a:latin typeface="Times New Roman" panose="02020603050405020304"/>
                <a:ea typeface="楷体" panose="02010609060101010101" pitchFamily="49" charset="-122"/>
              </a:rPr>
              <a:t>。</a:t>
            </a:r>
            <a:endParaRPr lang="zh-CN" altLang="en-US" sz="2400" b="0">
              <a:latin typeface="Times New Roman" panose="02020603050405020304"/>
              <a:ea typeface="楷体" panose="02010609060101010101" pitchFamily="49"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b="0">
                <a:latin typeface="Times New Roman" panose="02020603050405020304"/>
                <a:ea typeface="楷体" panose="02010609060101010101" pitchFamily="49" charset="-122"/>
              </a:rPr>
              <a:t>整例删除是剔除含有缺失值的样本，适用于样本量很大且缺失值所占比例较小（＜</a:t>
            </a:r>
            <a:r>
              <a:rPr lang="en-US" altLang="zh-CN" sz="2400" b="0">
                <a:latin typeface="Times New Roman" panose="02020603050405020304"/>
                <a:ea typeface="楷体" panose="02010609060101010101" pitchFamily="49" charset="-122"/>
              </a:rPr>
              <a:t>5%</a:t>
            </a:r>
            <a:r>
              <a:rPr lang="zh-CN" altLang="en-US" sz="2400" b="0">
                <a:latin typeface="Times New Roman" panose="02020603050405020304"/>
                <a:ea typeface="楷体" panose="02010609060101010101" pitchFamily="49" charset="-122"/>
              </a:rPr>
              <a:t>）的情况。</a:t>
            </a:r>
            <a:endParaRPr lang="zh-CN" altLang="en-US" sz="2400" b="0">
              <a:latin typeface="Times New Roman" panose="02020603050405020304"/>
              <a:ea typeface="楷体" panose="02010609060101010101" pitchFamily="49"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b="0">
                <a:latin typeface="Times New Roman" panose="02020603050405020304"/>
                <a:ea typeface="楷体" panose="02010609060101010101" pitchFamily="49" charset="-122"/>
              </a:rPr>
              <a:t>变量删除是直接删除包含缺失值的变量，当一个变量的缺失值比例（</a:t>
            </a:r>
            <a:r>
              <a:rPr lang="en-US" altLang="zh-CN" sz="2400" b="0">
                <a:latin typeface="Times New Roman" panose="02020603050405020304"/>
                <a:ea typeface="楷体" panose="02010609060101010101" pitchFamily="49" charset="-122"/>
              </a:rPr>
              <a:t>&gt;70%</a:t>
            </a:r>
            <a:r>
              <a:rPr lang="zh-CN" altLang="en-US" sz="2400" b="0">
                <a:latin typeface="Times New Roman" panose="02020603050405020304"/>
                <a:ea typeface="楷体" panose="02010609060101010101" pitchFamily="49" charset="-122"/>
              </a:rPr>
              <a:t>）很高时，可以考虑采用变量删除来处理缺失值。</a:t>
            </a:r>
            <a:endParaRPr lang="zh-CN" altLang="en-US" sz="2400" b="0">
              <a:latin typeface="Times New Roman" panose="02020603050405020304"/>
              <a:ea typeface="楷体" panose="02010609060101010101" pitchFamily="49" charset="-122"/>
            </a:endParaRPr>
          </a:p>
        </p:txBody>
      </p:sp>
      <p:sp>
        <p:nvSpPr>
          <p:cNvPr id="4" name="矩形: 圆角 12"/>
          <p:cNvSpPr/>
          <p:nvPr/>
        </p:nvSpPr>
        <p:spPr>
          <a:xfrm>
            <a:off x="166155" y="976670"/>
            <a:ext cx="30465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缺失值处理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819785" y="2318385"/>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人工填充</a:t>
            </a:r>
            <a:r>
              <a:rPr lang="en-US" altLang="zh-CN" sz="2800" b="1">
                <a:solidFill>
                  <a:srgbClr val="FF0000"/>
                </a:solidFill>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指使用专家知识或者其他外部信息来填补缺失值，适用于实验室实验设计、调查问卷研究、医疗记录等场景，通常需要专业判断或领域知识。然而，该方法可能给数据引入主观因素和不确定性，并且需要花费较多的时间和资源，适用于缺失值较少的情况。</a:t>
            </a:r>
            <a:endParaRPr lang="zh-CN" altLang="en-US" sz="2800" b="0">
              <a:latin typeface="Times New Roman" panose="02020603050405020304"/>
              <a:ea typeface="楷体" panose="02010609060101010101" pitchFamily="49" charset="-122"/>
            </a:endParaRPr>
          </a:p>
        </p:txBody>
      </p:sp>
      <p:sp>
        <p:nvSpPr>
          <p:cNvPr id="4" name="矩形: 圆角 12"/>
          <p:cNvSpPr/>
          <p:nvPr/>
        </p:nvSpPr>
        <p:spPr>
          <a:xfrm>
            <a:off x="166155" y="976670"/>
            <a:ext cx="30465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缺失值处理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819785" y="1304925"/>
            <a:ext cx="10370185" cy="1110615"/>
          </a:xfrm>
          <a:prstGeom prst="rect">
            <a:avLst/>
          </a:prstGeom>
        </p:spPr>
        <p:txBody>
          <a:bodyPr wrap="square">
            <a:noAutofit/>
          </a:bodyPr>
          <a:p>
            <a:pPr marL="0" indent="0" algn="just" defTabSz="266700">
              <a:lnSpc>
                <a:spcPct val="125000"/>
              </a:lnSpc>
              <a:spcBef>
                <a:spcPct val="0"/>
              </a:spcBef>
              <a:spcAft>
                <a:spcPct val="0"/>
              </a:spcAft>
            </a:pPr>
            <a:endParaRPr lang="zh-CN" altLang="en-US" sz="2800" b="0">
              <a:latin typeface="Times New Roman" panose="02020603050405020304"/>
              <a:ea typeface="楷体" panose="02010609060101010101" pitchFamily="49" charset="-122"/>
            </a:endParaRPr>
          </a:p>
        </p:txBody>
      </p:sp>
      <p:sp>
        <p:nvSpPr>
          <p:cNvPr id="2" name="文本框 1"/>
          <p:cNvSpPr txBox="1"/>
          <p:nvPr/>
        </p:nvSpPr>
        <p:spPr>
          <a:xfrm>
            <a:off x="819785" y="1667510"/>
            <a:ext cx="10458450" cy="4669155"/>
          </a:xfrm>
          <a:prstGeom prst="rect">
            <a:avLst/>
          </a:prstGeom>
        </p:spPr>
        <p:txBody>
          <a:bodyPr wrap="square">
            <a:sp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均值填充和众数填充</a:t>
            </a:r>
            <a:r>
              <a:rPr lang="en-US" altLang="zh-CN" sz="2800" b="1">
                <a:solidFill>
                  <a:srgbClr val="FF0000"/>
                </a:solidFill>
                <a:latin typeface="Times New Roman" panose="02020603050405020304"/>
                <a:ea typeface="楷体" panose="02010609060101010101" pitchFamily="49" charset="-122"/>
              </a:rPr>
              <a:t>   </a:t>
            </a:r>
            <a:r>
              <a:rPr lang="zh-CN" altLang="en-US" sz="2800">
                <a:latin typeface="Times New Roman" panose="02020603050405020304"/>
                <a:ea typeface="楷体" panose="02010609060101010101" pitchFamily="49" charset="-122"/>
              </a:rPr>
              <a:t>能够快速简便地填充缺失值，均值填充指用变量的平均值来代替其中的缺失值，适用于数值型数据；众数填充是用变量的众数来代替缺失值，适用于离散数据。</a:t>
            </a:r>
            <a:endParaRPr lang="zh-CN" altLang="en-US" sz="280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endParaRPr lang="zh-CN" altLang="en-US" sz="220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zh-CN" altLang="en-US" sz="2200">
                <a:solidFill>
                  <a:schemeClr val="accent1"/>
                </a:solidFill>
                <a:latin typeface="微软雅黑" panose="020B0503020204020204" pitchFamily="34" charset="-122"/>
                <a:ea typeface="微软雅黑" panose="020B0503020204020204" pitchFamily="34" charset="-122"/>
              </a:rPr>
              <a:t>均值填充和众数填充可能会对数据集的统计性质和模型效果产生影响，需要根据具体情况决定是否使用，例如：</a:t>
            </a:r>
            <a:endParaRPr lang="zh-CN" altLang="en-US" sz="2200">
              <a:solidFill>
                <a:schemeClr val="accent1"/>
              </a:solidFill>
              <a:latin typeface="微软雅黑" panose="020B0503020204020204" pitchFamily="34" charset="-122"/>
              <a:ea typeface="微软雅黑" panose="020B0503020204020204" pitchFamily="34" charset="-122"/>
            </a:endParaRPr>
          </a:p>
          <a:p>
            <a:pPr marL="342900" indent="-342900" algn="just" defTabSz="266700">
              <a:lnSpc>
                <a:spcPct val="125000"/>
              </a:lnSpc>
              <a:spcBef>
                <a:spcPct val="0"/>
              </a:spcBef>
              <a:spcAft>
                <a:spcPct val="0"/>
              </a:spcAft>
              <a:buFont typeface="Arial" panose="020B0604020202020204" pitchFamily="34" charset="0"/>
              <a:buChar char="•"/>
            </a:pPr>
            <a:r>
              <a:rPr lang="zh-CN" altLang="en-US" sz="2200">
                <a:solidFill>
                  <a:schemeClr val="accent1"/>
                </a:solidFill>
                <a:latin typeface="微软雅黑" panose="020B0503020204020204" pitchFamily="34" charset="-122"/>
                <a:ea typeface="微软雅黑" panose="020B0503020204020204" pitchFamily="34" charset="-122"/>
              </a:rPr>
              <a:t>使用均值填充会使数据集的均值产生偏移，因为缺失值被替换为固定的数值，这可能会影响数据的中心趋势和离散程度。</a:t>
            </a:r>
            <a:endParaRPr lang="zh-CN" altLang="en-US" sz="2200">
              <a:solidFill>
                <a:schemeClr val="accent1"/>
              </a:solidFill>
              <a:latin typeface="微软雅黑" panose="020B0503020204020204" pitchFamily="34" charset="-122"/>
              <a:ea typeface="微软雅黑" panose="020B0503020204020204" pitchFamily="34" charset="-122"/>
            </a:endParaRPr>
          </a:p>
          <a:p>
            <a:pPr marL="342900" indent="-342900" algn="just" defTabSz="266700">
              <a:lnSpc>
                <a:spcPct val="125000"/>
              </a:lnSpc>
              <a:spcBef>
                <a:spcPct val="0"/>
              </a:spcBef>
              <a:spcAft>
                <a:spcPct val="0"/>
              </a:spcAft>
              <a:buFont typeface="Arial" panose="020B0604020202020204" pitchFamily="34" charset="0"/>
              <a:buChar char="•"/>
            </a:pPr>
            <a:r>
              <a:rPr lang="zh-CN" altLang="en-US" sz="2200">
                <a:solidFill>
                  <a:schemeClr val="accent1"/>
                </a:solidFill>
                <a:latin typeface="微软雅黑" panose="020B0503020204020204" pitchFamily="34" charset="-122"/>
                <a:ea typeface="微软雅黑" panose="020B0503020204020204" pitchFamily="34" charset="-122"/>
              </a:rPr>
              <a:t>而使用众数填充会导致数据集的众数更加频繁出现，可能使数据的类别分布不再符合实际情况。</a:t>
            </a:r>
            <a:endParaRPr lang="zh-CN" altLang="en-US" sz="2200">
              <a:solidFill>
                <a:schemeClr val="accent1"/>
              </a:solidFill>
              <a:latin typeface="微软雅黑" panose="020B0503020204020204" pitchFamily="34" charset="-122"/>
              <a:ea typeface="微软雅黑" panose="020B0503020204020204" pitchFamily="34" charset="-122"/>
            </a:endParaRPr>
          </a:p>
        </p:txBody>
      </p:sp>
      <p:sp>
        <p:nvSpPr>
          <p:cNvPr id="4" name="矩形: 圆角 12"/>
          <p:cNvSpPr/>
          <p:nvPr/>
        </p:nvSpPr>
        <p:spPr>
          <a:xfrm>
            <a:off x="166155" y="976670"/>
            <a:ext cx="30465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缺失值处理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643255" y="1897380"/>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模型填充</a:t>
            </a:r>
            <a:r>
              <a:rPr lang="en-US" altLang="zh-CN" sz="2800" b="1">
                <a:solidFill>
                  <a:srgbClr val="FF0000"/>
                </a:solidFill>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是利用已有的特征和目标变量之间的关系，基于已知数据建立模型来预测缺失值。</a:t>
            </a: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endParaRPr lang="zh-CN" altLang="en-US" sz="2800" b="0">
              <a:latin typeface="Times New Roman" panose="02020603050405020304"/>
              <a:ea typeface="楷体" panose="02010609060101010101" pitchFamily="49" charset="-122"/>
            </a:endParaRPr>
          </a:p>
          <a:p>
            <a:pPr marL="457200" indent="-457200" algn="just" defTabSz="266700">
              <a:lnSpc>
                <a:spcPct val="125000"/>
              </a:lnSpc>
              <a:spcBef>
                <a:spcPct val="0"/>
              </a:spcBef>
              <a:spcAft>
                <a:spcPct val="0"/>
              </a:spcAft>
              <a:buFont typeface="Wingdings" panose="05000000000000000000" charset="0"/>
              <a:buChar char="l"/>
            </a:pPr>
            <a:r>
              <a:rPr lang="zh-CN" altLang="en-US" sz="2400" b="0">
                <a:latin typeface="Times New Roman" panose="02020603050405020304"/>
                <a:ea typeface="楷体" panose="02010609060101010101" pitchFamily="49" charset="-122"/>
              </a:rPr>
              <a:t>对于</a:t>
            </a:r>
            <a:r>
              <a:rPr lang="zh-CN" altLang="en-US" sz="2400" b="0">
                <a:solidFill>
                  <a:srgbClr val="FF0000"/>
                </a:solidFill>
                <a:latin typeface="Times New Roman" panose="02020603050405020304"/>
                <a:ea typeface="楷体" panose="02010609060101010101" pitchFamily="49" charset="-122"/>
              </a:rPr>
              <a:t>连续型</a:t>
            </a:r>
            <a:r>
              <a:rPr lang="zh-CN" altLang="en-US" sz="2400" b="0">
                <a:latin typeface="Times New Roman" panose="02020603050405020304"/>
                <a:ea typeface="楷体" panose="02010609060101010101" pitchFamily="49" charset="-122"/>
              </a:rPr>
              <a:t>属性，可基于已有数据建立回归模型来预测缺失数据的值，常用的回归模型包括线性回归、多项式回归、岭回归等，这些回归模型将在本书第五章详细介绍。</a:t>
            </a:r>
            <a:endParaRPr lang="zh-CN" altLang="en-US" sz="2400" b="0">
              <a:latin typeface="Times New Roman" panose="02020603050405020304"/>
              <a:ea typeface="楷体" panose="02010609060101010101" pitchFamily="49" charset="-122"/>
            </a:endParaRPr>
          </a:p>
          <a:p>
            <a:pPr marL="457200" indent="-457200" algn="just" defTabSz="266700">
              <a:lnSpc>
                <a:spcPct val="125000"/>
              </a:lnSpc>
              <a:spcBef>
                <a:spcPct val="0"/>
              </a:spcBef>
              <a:spcAft>
                <a:spcPct val="0"/>
              </a:spcAft>
              <a:buFont typeface="Wingdings" panose="05000000000000000000" charset="0"/>
              <a:buChar char="l"/>
            </a:pPr>
            <a:endParaRPr lang="zh-CN" altLang="en-US" sz="2400" b="0">
              <a:latin typeface="Times New Roman" panose="02020603050405020304"/>
              <a:ea typeface="楷体" panose="02010609060101010101" pitchFamily="49" charset="-122"/>
            </a:endParaRPr>
          </a:p>
          <a:p>
            <a:pPr marL="457200" indent="-457200" algn="just" defTabSz="266700">
              <a:lnSpc>
                <a:spcPct val="125000"/>
              </a:lnSpc>
              <a:spcBef>
                <a:spcPct val="0"/>
              </a:spcBef>
              <a:spcAft>
                <a:spcPct val="0"/>
              </a:spcAft>
              <a:buFont typeface="Wingdings" panose="05000000000000000000" charset="0"/>
              <a:buChar char="l"/>
            </a:pPr>
            <a:r>
              <a:rPr lang="zh-CN" altLang="en-US" sz="2400" b="0">
                <a:latin typeface="Times New Roman" panose="02020603050405020304"/>
                <a:ea typeface="楷体" panose="02010609060101010101" pitchFamily="49" charset="-122"/>
              </a:rPr>
              <a:t>对于</a:t>
            </a:r>
            <a:r>
              <a:rPr lang="zh-CN" altLang="en-US" sz="2400" b="0">
                <a:solidFill>
                  <a:srgbClr val="FF0000"/>
                </a:solidFill>
                <a:latin typeface="Times New Roman" panose="02020603050405020304"/>
                <a:ea typeface="楷体" panose="02010609060101010101" pitchFamily="49" charset="-122"/>
              </a:rPr>
              <a:t>离散型</a:t>
            </a:r>
            <a:r>
              <a:rPr lang="zh-CN" altLang="en-US" sz="2400" b="0">
                <a:latin typeface="Times New Roman" panose="02020603050405020304"/>
                <a:ea typeface="楷体" panose="02010609060101010101" pitchFamily="49" charset="-122"/>
              </a:rPr>
              <a:t>属性，常用的模型包括</a:t>
            </a:r>
            <a:r>
              <a:rPr lang="en-US" altLang="zh-CN" sz="2400" b="0">
                <a:latin typeface="Times New Roman" panose="02020603050405020304"/>
                <a:ea typeface="楷体" panose="02010609060101010101" pitchFamily="49" charset="-122"/>
              </a:rPr>
              <a:t>K-</a:t>
            </a:r>
            <a:r>
              <a:rPr lang="zh-CN" altLang="en-US" sz="2400" b="0">
                <a:latin typeface="Times New Roman" panose="02020603050405020304"/>
                <a:ea typeface="楷体" panose="02010609060101010101" pitchFamily="49" charset="-122"/>
              </a:rPr>
              <a:t>近邻、决策树、随机森林、神经网络等模型，这些模型将在本书第八章详细介绍。</a:t>
            </a:r>
            <a:endParaRPr lang="zh-CN" altLang="en-US" sz="24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endParaRPr lang="zh-CN" altLang="en-US" sz="2400" b="0">
              <a:latin typeface="Times New Roman" panose="02020603050405020304"/>
              <a:ea typeface="楷体" panose="02010609060101010101" pitchFamily="49" charset="-122"/>
            </a:endParaRPr>
          </a:p>
        </p:txBody>
      </p:sp>
      <p:sp>
        <p:nvSpPr>
          <p:cNvPr id="4" name="矩形: 圆角 12"/>
          <p:cNvSpPr/>
          <p:nvPr/>
        </p:nvSpPr>
        <p:spPr>
          <a:xfrm>
            <a:off x="166155" y="976670"/>
            <a:ext cx="30465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缺失值处理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2.1</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737870" y="1896745"/>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分箱（</a:t>
            </a:r>
            <a:r>
              <a:rPr lang="en-US" altLang="zh-CN" sz="2800" b="1">
                <a:solidFill>
                  <a:srgbClr val="FF0000"/>
                </a:solidFill>
                <a:latin typeface="Times New Roman" panose="02020603050405020304"/>
                <a:ea typeface="楷体" panose="02010609060101010101" pitchFamily="49" charset="-122"/>
              </a:rPr>
              <a:t>Binning</a:t>
            </a:r>
            <a:r>
              <a:rPr lang="zh-CN" altLang="en-US" sz="2800" b="1">
                <a:solidFill>
                  <a:srgbClr val="FF0000"/>
                </a:solidFill>
                <a:latin typeface="Times New Roman" panose="02020603050405020304"/>
                <a:ea typeface="楷体" panose="02010609060101010101" pitchFamily="49" charset="-122"/>
              </a:rPr>
              <a:t>）</a:t>
            </a:r>
            <a:r>
              <a:rPr lang="en-US" altLang="zh-CN" sz="2800" b="0">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是将有序数据按特定的规则进行分组，进而实现数据离散化的降噪技术。</a:t>
            </a: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zh-CN" altLang="en-US" sz="2800" b="0">
                <a:latin typeface="Times New Roman" panose="02020603050405020304"/>
                <a:ea typeface="楷体" panose="02010609060101010101" pitchFamily="49" charset="-122"/>
              </a:rPr>
              <a:t> </a:t>
            </a:r>
            <a:r>
              <a:rPr lang="en-US" altLang="zh-CN" sz="2800" b="0">
                <a:latin typeface="Times New Roman" panose="02020603050405020304"/>
                <a:ea typeface="楷体" panose="02010609060101010101" pitchFamily="49" charset="-122"/>
              </a:rPr>
              <a:t>      </a:t>
            </a:r>
            <a:endParaRPr lang="en-US" altLang="zh-CN"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en-US" altLang="zh-CN" sz="3200" b="0">
                <a:latin typeface="Times New Roman" panose="02020603050405020304"/>
                <a:ea typeface="楷体" panose="02010609060101010101" pitchFamily="49" charset="-122"/>
              </a:rPr>
              <a:t>      </a:t>
            </a:r>
            <a:r>
              <a:rPr lang="en-US" altLang="zh-CN" sz="2800" b="0">
                <a:latin typeface="Times New Roman" panose="02020603050405020304"/>
                <a:ea typeface="楷体" panose="02010609060101010101" pitchFamily="49" charset="-122"/>
              </a:rPr>
              <a:t> </a:t>
            </a:r>
            <a:r>
              <a:rPr lang="zh-CN" altLang="en-US" sz="2400" b="0">
                <a:latin typeface="Times New Roman" panose="02020603050405020304"/>
                <a:ea typeface="楷体" panose="02010609060101010101" pitchFamily="49" charset="-122"/>
              </a:rPr>
              <a:t>在分箱处理中，首先按照属性值划分子区间，如果一个属性值处于某个子区间范围内，就称为把该属性值放进这个子区间所代表的</a:t>
            </a:r>
            <a:r>
              <a:rPr lang="en-US" altLang="zh-CN" sz="2400" b="0">
                <a:latin typeface="Times New Roman" panose="02020603050405020304"/>
                <a:ea typeface="楷体" panose="02010609060101010101" pitchFamily="49" charset="-122"/>
              </a:rPr>
              <a:t>“</a:t>
            </a:r>
            <a:r>
              <a:rPr lang="zh-CN" altLang="en-US" sz="2400" b="0">
                <a:latin typeface="Times New Roman" panose="02020603050405020304"/>
                <a:ea typeface="楷体" panose="02010609060101010101" pitchFamily="49" charset="-122"/>
              </a:rPr>
              <a:t>箱</a:t>
            </a:r>
            <a:r>
              <a:rPr lang="en-US" altLang="zh-CN" sz="2400" b="0">
                <a:latin typeface="Times New Roman" panose="02020603050405020304"/>
                <a:ea typeface="楷体" panose="02010609060101010101" pitchFamily="49" charset="-122"/>
              </a:rPr>
              <a:t>”</a:t>
            </a:r>
            <a:r>
              <a:rPr lang="zh-CN" altLang="en-US" sz="2400" b="0">
                <a:latin typeface="Times New Roman" panose="02020603050405020304"/>
                <a:ea typeface="楷体" panose="02010609060101010101" pitchFamily="49" charset="-122"/>
              </a:rPr>
              <a:t>内。箱的宽度表示箱中数据的取值范围差值，箱的深度表示箱中数据的数量，具体的分箱方式可分为</a:t>
            </a:r>
            <a:r>
              <a:rPr lang="zh-CN" altLang="en-US" sz="2400" b="0">
                <a:solidFill>
                  <a:srgbClr val="FF0000"/>
                </a:solidFill>
                <a:latin typeface="Times New Roman" panose="02020603050405020304"/>
                <a:ea typeface="楷体" panose="02010609060101010101" pitchFamily="49" charset="-122"/>
              </a:rPr>
              <a:t>等宽分箱</a:t>
            </a:r>
            <a:r>
              <a:rPr lang="zh-CN" altLang="en-US" sz="2400" b="0">
                <a:latin typeface="Times New Roman" panose="02020603050405020304"/>
                <a:ea typeface="楷体" panose="02010609060101010101" pitchFamily="49" charset="-122"/>
              </a:rPr>
              <a:t>和</a:t>
            </a:r>
            <a:r>
              <a:rPr lang="zh-CN" altLang="en-US" sz="2400" b="0">
                <a:solidFill>
                  <a:srgbClr val="FF0000"/>
                </a:solidFill>
                <a:latin typeface="Times New Roman" panose="02020603050405020304"/>
                <a:ea typeface="楷体" panose="02010609060101010101" pitchFamily="49" charset="-122"/>
              </a:rPr>
              <a:t>等深分箱</a:t>
            </a:r>
            <a:r>
              <a:rPr lang="zh-CN" altLang="en-US" sz="2400" b="0">
                <a:latin typeface="Times New Roman" panose="02020603050405020304"/>
                <a:ea typeface="楷体" panose="02010609060101010101" pitchFamily="49" charset="-122"/>
              </a:rPr>
              <a:t>。</a:t>
            </a:r>
            <a:endParaRPr lang="zh-CN" altLang="en-US" sz="24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endParaRPr lang="zh-CN" altLang="en-US" sz="2400" b="0">
              <a:latin typeface="Times New Roman" panose="02020603050405020304"/>
              <a:ea typeface="楷体" panose="02010609060101010101" pitchFamily="49" charset="-122"/>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737870" y="1667510"/>
            <a:ext cx="10370185" cy="1110615"/>
          </a:xfrm>
          <a:prstGeom prst="rect">
            <a:avLst/>
          </a:prstGeom>
        </p:spPr>
        <p:txBody>
          <a:bodyPr wrap="square">
            <a:noAutofit/>
          </a:bodyPr>
          <a:p>
            <a:pPr marL="0"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分箱（</a:t>
            </a:r>
            <a:r>
              <a:rPr lang="en-US" altLang="zh-CN" sz="2800" b="1">
                <a:solidFill>
                  <a:srgbClr val="FF0000"/>
                </a:solidFill>
                <a:latin typeface="Times New Roman" panose="02020603050405020304"/>
                <a:ea typeface="楷体" panose="02010609060101010101" pitchFamily="49" charset="-122"/>
              </a:rPr>
              <a:t>Binning</a:t>
            </a:r>
            <a:r>
              <a:rPr lang="zh-CN" altLang="en-US" sz="2800" b="1">
                <a:solidFill>
                  <a:srgbClr val="FF0000"/>
                </a:solidFill>
                <a:latin typeface="Times New Roman" panose="02020603050405020304"/>
                <a:ea typeface="楷体" panose="02010609060101010101" pitchFamily="49" charset="-122"/>
              </a:rPr>
              <a:t>）</a:t>
            </a:r>
            <a:r>
              <a:rPr lang="en-US" altLang="zh-CN" sz="2800" b="0">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是将有序数据按特定的规则进行分组，进而实现数据离散化的降噪技术。</a:t>
            </a: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zh-CN" altLang="en-US" sz="2800" b="0">
                <a:latin typeface="Times New Roman" panose="02020603050405020304"/>
                <a:ea typeface="楷体" panose="02010609060101010101" pitchFamily="49" charset="-122"/>
              </a:rPr>
              <a:t> </a:t>
            </a:r>
            <a:r>
              <a:rPr lang="en-US" altLang="zh-CN" sz="2800" b="0">
                <a:latin typeface="Times New Roman" panose="02020603050405020304"/>
                <a:ea typeface="楷体" panose="02010609060101010101" pitchFamily="49" charset="-122"/>
              </a:rPr>
              <a:t>      </a:t>
            </a:r>
            <a:endParaRPr lang="en-US" altLang="zh-CN"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en-US" altLang="zh-CN" sz="3200" b="0">
                <a:latin typeface="Times New Roman" panose="02020603050405020304"/>
                <a:ea typeface="楷体" panose="02010609060101010101" pitchFamily="49" charset="-122"/>
              </a:rPr>
              <a:t>      </a:t>
            </a:r>
            <a:endParaRPr lang="zh-CN" altLang="en-US" sz="2400" b="0">
              <a:latin typeface="Times New Roman" panose="02020603050405020304"/>
              <a:ea typeface="楷体" panose="02010609060101010101" pitchFamily="49" charset="-122"/>
            </a:endParaRPr>
          </a:p>
        </p:txBody>
      </p:sp>
      <p:pic>
        <p:nvPicPr>
          <p:cNvPr id="17" name="图片 16"/>
          <p:cNvPicPr>
            <a:picLocks noChangeAspect="1"/>
          </p:cNvPicPr>
          <p:nvPr/>
        </p:nvPicPr>
        <p:blipFill>
          <a:blip r:embed="rId1"/>
          <a:stretch>
            <a:fillRect/>
          </a:stretch>
        </p:blipFill>
        <p:spPr>
          <a:xfrm>
            <a:off x="782320" y="2924175"/>
            <a:ext cx="10325735" cy="3881120"/>
          </a:xfrm>
          <a:prstGeom prst="rect">
            <a:avLst/>
          </a:prstGeom>
        </p:spPr>
      </p:pic>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737870" y="1667510"/>
            <a:ext cx="10370185" cy="1110615"/>
          </a:xfrm>
          <a:prstGeom prst="rect">
            <a:avLst/>
          </a:prstGeom>
        </p:spPr>
        <p:txBody>
          <a:bodyPr wrap="square">
            <a:noAutofit/>
          </a:bodyPr>
          <a:p>
            <a:pPr marL="0" indent="0" algn="just" defTabSz="266700">
              <a:lnSpc>
                <a:spcPct val="145000"/>
              </a:lnSpc>
              <a:spcBef>
                <a:spcPct val="0"/>
              </a:spcBef>
              <a:spcAft>
                <a:spcPct val="0"/>
              </a:spcAft>
            </a:pP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完成分箱之后，需要对数据进行</a:t>
            </a:r>
            <a:r>
              <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平滑处理</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a:lnSpc>
                <a:spcPct val="145000"/>
              </a:lnSpc>
              <a:spcBef>
                <a:spcPct val="0"/>
              </a:spcBef>
              <a:spcAft>
                <a:spcPct val="0"/>
              </a:spcAft>
              <a:buFont typeface="Wingdings" panose="05000000000000000000" charset="0"/>
              <a:buChar char="l"/>
            </a:pPr>
            <a:r>
              <a:rPr lang="zh-CN" altLang="en-US" sz="24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箱均值平滑</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将箱内的数据替换为该箱中数据的均值；</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a:lnSpc>
                <a:spcPct val="145000"/>
              </a:lnSpc>
              <a:spcBef>
                <a:spcPct val="0"/>
              </a:spcBef>
              <a:spcAft>
                <a:spcPct val="0"/>
              </a:spcAft>
              <a:buFont typeface="Wingdings" panose="05000000000000000000" charset="0"/>
              <a:buChar char="l"/>
            </a:pPr>
            <a:r>
              <a:rPr lang="zh-CN" altLang="en-US" sz="24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箱中位数平滑</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将箱内的数据替换为该箱中数据的中位数；</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a:lnSpc>
                <a:spcPct val="145000"/>
              </a:lnSpc>
              <a:spcBef>
                <a:spcPct val="0"/>
              </a:spcBef>
              <a:spcAft>
                <a:spcPct val="0"/>
              </a:spcAft>
              <a:buFont typeface="Wingdings" panose="05000000000000000000" charset="0"/>
              <a:buChar char="l"/>
            </a:pPr>
            <a:r>
              <a:rPr lang="zh-CN" altLang="en-US" sz="24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箱边界平滑</a:t>
            </a:r>
            <a:r>
              <a:rPr lang="zh-CN" altLang="en-US" sz="2400" b="0">
                <a:latin typeface="微软雅黑" panose="020B0503020204020204" pitchFamily="34" charset="-122"/>
                <a:ea typeface="微软雅黑" panose="020B0503020204020204" pitchFamily="34" charset="-122"/>
                <a:cs typeface="微软雅黑" panose="020B0503020204020204" pitchFamily="34" charset="-122"/>
              </a:rPr>
              <a:t>将箱中的最大值和最小值作为箱边界，其余数据替换为距离边界最近的边界值。</a:t>
            </a:r>
            <a:endParaRPr lang="zh-CN" altLang="en-US" sz="24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defTabSz="266700">
              <a:lnSpc>
                <a:spcPct val="145000"/>
              </a:lnSpc>
              <a:spcBef>
                <a:spcPct val="0"/>
              </a:spcBef>
              <a:spcAft>
                <a:spcPct val="0"/>
              </a:spcAft>
              <a:buFont typeface="Wingdings" panose="05000000000000000000" charset="0"/>
              <a:buChar char="l"/>
            </a:pPr>
            <a:endParaRPr lang="zh-CN" altLang="en-US" sz="2800" b="0">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zh-CN" altLang="en-US" sz="2800" b="0">
                <a:solidFill>
                  <a:schemeClr val="accent1"/>
                </a:solidFill>
                <a:latin typeface="Times New Roman" panose="02020603050405020304"/>
                <a:ea typeface="楷体" panose="02010609060101010101" pitchFamily="49" charset="-122"/>
              </a:rPr>
              <a:t>由于分箱方法考虑相邻的值，因此是一种局部平滑方法，箱的宽度越大，平滑效果越好。</a:t>
            </a:r>
            <a:endParaRPr lang="zh-CN" altLang="en-US" sz="2800" b="0">
              <a:solidFill>
                <a:schemeClr val="accent1"/>
              </a:solidFill>
              <a:latin typeface="Times New Roman" panose="02020603050405020304"/>
              <a:ea typeface="楷体" panose="02010609060101010101" pitchFamily="49" charset="-122"/>
            </a:endParaRPr>
          </a:p>
          <a:p>
            <a:pPr marL="0" indent="0" algn="just" defTabSz="266700">
              <a:lnSpc>
                <a:spcPct val="125000"/>
              </a:lnSpc>
              <a:spcBef>
                <a:spcPct val="0"/>
              </a:spcBef>
              <a:spcAft>
                <a:spcPct val="0"/>
              </a:spcAft>
            </a:pPr>
            <a:r>
              <a:rPr lang="en-US" altLang="zh-CN" sz="3200" b="0">
                <a:latin typeface="Times New Roman" panose="02020603050405020304"/>
                <a:ea typeface="楷体" panose="02010609060101010101" pitchFamily="49" charset="-122"/>
              </a:rPr>
              <a:t>      </a:t>
            </a:r>
            <a:endParaRPr lang="zh-CN" altLang="en-US" sz="2400" b="0">
              <a:latin typeface="Times New Roman" panose="02020603050405020304"/>
              <a:ea typeface="楷体" panose="02010609060101010101" pitchFamily="49" charset="-122"/>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51" name="矩形: 圆角 55"/>
          <p:cNvSpPr/>
          <p:nvPr/>
        </p:nvSpPr>
        <p:spPr>
          <a:xfrm>
            <a:off x="410845" y="177038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算一算</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2" name="文本框 1"/>
          <p:cNvSpPr txBox="1"/>
          <p:nvPr/>
        </p:nvSpPr>
        <p:spPr>
          <a:xfrm>
            <a:off x="2717165" y="1571625"/>
            <a:ext cx="8973185" cy="2399665"/>
          </a:xfrm>
          <a:prstGeom prst="rect">
            <a:avLst/>
          </a:prstGeom>
        </p:spPr>
        <p:txBody>
          <a:bodyPr wrap="square">
            <a:spAutoFit/>
          </a:bodyPr>
          <a:p>
            <a:pPr marL="0" indent="0" algn="just" defTabSz="266700">
              <a:lnSpc>
                <a:spcPct val="125000"/>
              </a:lnSpc>
              <a:spcBef>
                <a:spcPts val="400"/>
              </a:spcBef>
              <a:spcAft>
                <a:spcPct val="0"/>
              </a:spcAft>
            </a:pPr>
            <a:r>
              <a:rPr lang="zh-CN" altLang="en-US" sz="2400">
                <a:latin typeface="Times New Roman" panose="02020603050405020304"/>
                <a:ea typeface="楷体" panose="02010609060101010101" pitchFamily="49" charset="-122"/>
              </a:rPr>
              <a:t>假设某商品在近</a:t>
            </a:r>
            <a:r>
              <a:rPr lang="en-US" altLang="zh-CN" sz="2400">
                <a:latin typeface="Times New Roman" panose="02020603050405020304"/>
                <a:ea typeface="Times New Roman" panose="02020603050405020304"/>
              </a:rPr>
              <a:t>9</a:t>
            </a:r>
            <a:r>
              <a:rPr lang="zh-CN" altLang="en-US" sz="2400">
                <a:latin typeface="Times New Roman" panose="02020603050405020304"/>
                <a:ea typeface="楷体" panose="02010609060101010101" pitchFamily="49" charset="-122"/>
              </a:rPr>
              <a:t>天的销量从小到大排序后分别为</a:t>
            </a:r>
            <a:r>
              <a:rPr lang="en-US" altLang="zh-CN" sz="2400">
                <a:latin typeface="Times New Roman" panose="02020603050405020304"/>
                <a:ea typeface="Times New Roman" panose="02020603050405020304"/>
              </a:rPr>
              <a:t>3</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8</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16</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21</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25</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25</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32</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39</a:t>
            </a:r>
            <a:r>
              <a:rPr lang="zh-CN" altLang="en-US" sz="2400">
                <a:latin typeface="Times New Roman" panose="02020603050405020304"/>
                <a:ea typeface="楷体" panose="02010609060101010101" pitchFamily="49" charset="-122"/>
              </a:rPr>
              <a:t>，</a:t>
            </a:r>
            <a:r>
              <a:rPr lang="en-US" altLang="zh-CN" sz="2400">
                <a:latin typeface="Times New Roman" panose="02020603050405020304"/>
                <a:ea typeface="Times New Roman" panose="02020603050405020304"/>
              </a:rPr>
              <a:t>44</a:t>
            </a:r>
            <a:r>
              <a:rPr lang="zh-CN" altLang="en-US" sz="2400">
                <a:latin typeface="Times New Roman" panose="02020603050405020304"/>
                <a:ea typeface="楷体" panose="02010609060101010101" pitchFamily="49" charset="-122"/>
              </a:rPr>
              <a:t>。使用等深分箱将数据分为</a:t>
            </a:r>
            <a:r>
              <a:rPr lang="en-US" altLang="zh-CN" sz="2400">
                <a:latin typeface="Times New Roman" panose="02020603050405020304"/>
                <a:ea typeface="Times New Roman" panose="02020603050405020304"/>
              </a:rPr>
              <a:t>3</a:t>
            </a:r>
            <a:r>
              <a:rPr lang="zh-CN" altLang="en-US" sz="2400">
                <a:latin typeface="Times New Roman" panose="02020603050405020304"/>
                <a:ea typeface="楷体" panose="02010609060101010101" pitchFamily="49" charset="-122"/>
              </a:rPr>
              <a:t>组，再分别使用箱均值、箱中位数、箱边界平滑</a:t>
            </a:r>
            <a:r>
              <a:rPr lang="zh-CN" altLang="en-US" sz="2400">
                <a:latin typeface="楷体" panose="02010609060101010101" pitchFamily="49" charset="-122"/>
                <a:ea typeface="楷体" panose="02010609060101010101" pitchFamily="49" charset="-122"/>
              </a:rPr>
              <a:t>。</a:t>
            </a:r>
            <a:r>
              <a:rPr lang="zh-CN" altLang="en-US" sz="2400">
                <a:latin typeface="Times New Roman" panose="02020603050405020304"/>
                <a:ea typeface="楷体" panose="02010609060101010101" pitchFamily="49" charset="-122"/>
              </a:rPr>
              <a:t>对该商品历史</a:t>
            </a:r>
            <a:r>
              <a:rPr lang="en-US" altLang="zh-CN" sz="2400">
                <a:latin typeface="Times New Roman" panose="02020603050405020304"/>
                <a:ea typeface="楷体" panose="02010609060101010101" pitchFamily="49" charset="-122"/>
              </a:rPr>
              <a:t>9</a:t>
            </a:r>
            <a:r>
              <a:rPr lang="zh-CN" altLang="en-US" sz="2400">
                <a:latin typeface="Times New Roman" panose="02020603050405020304"/>
                <a:ea typeface="楷体" panose="02010609060101010101" pitchFamily="49" charset="-122"/>
              </a:rPr>
              <a:t>天的销量分箱平滑结果如表</a:t>
            </a:r>
            <a:r>
              <a:rPr lang="en-US" altLang="zh-CN" sz="2400">
                <a:latin typeface="Times New Roman" panose="02020603050405020304"/>
                <a:ea typeface="宋体" panose="02010600030101010101" pitchFamily="2" charset="-122"/>
              </a:rPr>
              <a:t>2</a:t>
            </a:r>
            <a:r>
              <a:rPr lang="en-US" altLang="zh-CN" sz="2400">
                <a:latin typeface="Times New Roman" panose="02020603050405020304"/>
                <a:ea typeface="Times New Roman" panose="02020603050405020304"/>
              </a:rPr>
              <a:t>-</a:t>
            </a:r>
            <a:r>
              <a:rPr lang="en-US" altLang="zh-CN" sz="2400">
                <a:latin typeface="Times New Roman" panose="02020603050405020304"/>
                <a:ea typeface="宋体" panose="02010600030101010101" pitchFamily="2" charset="-122"/>
              </a:rPr>
              <a:t>2</a:t>
            </a:r>
            <a:r>
              <a:rPr lang="zh-CN" altLang="en-US" sz="2400">
                <a:latin typeface="Times New Roman" panose="02020603050405020304"/>
                <a:ea typeface="楷体" panose="02010609060101010101" pitchFamily="49" charset="-122"/>
              </a:rPr>
              <a:t>所示。</a:t>
            </a:r>
            <a:endParaRPr lang="zh-CN" altLang="en-US" sz="2400">
              <a:latin typeface="Times New Roman" panose="02020603050405020304"/>
              <a:ea typeface="楷体" panose="02010609060101010101" pitchFamily="49" charset="-122"/>
            </a:endParaRPr>
          </a:p>
          <a:p>
            <a:pPr marL="0" indent="0" algn="ctr" defTabSz="266700">
              <a:lnSpc>
                <a:spcPct val="125000"/>
              </a:lnSpc>
              <a:spcBef>
                <a:spcPct val="0"/>
              </a:spcBef>
              <a:spcAft>
                <a:spcPct val="0"/>
              </a:spcAft>
            </a:pPr>
            <a:r>
              <a:rPr lang="zh-CN" altLang="en-US" sz="2400">
                <a:latin typeface="Times New Roman" panose="02020603050405020304"/>
                <a:ea typeface="楷体" panose="02010609060101010101" pitchFamily="49" charset="-122"/>
              </a:rPr>
              <a:t>表</a:t>
            </a:r>
            <a:r>
              <a:rPr lang="en-US" altLang="zh-CN" sz="2400">
                <a:latin typeface="Times New Roman" panose="02020603050405020304"/>
                <a:ea typeface="宋体" panose="02010600030101010101" pitchFamily="2" charset="-122"/>
              </a:rPr>
              <a:t>2</a:t>
            </a:r>
            <a:r>
              <a:rPr lang="en-US" altLang="zh-CN" sz="2400">
                <a:latin typeface="Times New Roman" panose="02020603050405020304"/>
                <a:ea typeface="Times New Roman" panose="02020603050405020304"/>
              </a:rPr>
              <a:t>-</a:t>
            </a:r>
            <a:r>
              <a:rPr lang="en-US" altLang="zh-CN" sz="2400">
                <a:latin typeface="Times New Roman" panose="02020603050405020304"/>
                <a:ea typeface="宋体" panose="02010600030101010101" pitchFamily="2" charset="-122"/>
              </a:rPr>
              <a:t>2 </a:t>
            </a:r>
            <a:r>
              <a:rPr lang="zh-CN" altLang="en-US" sz="2400">
                <a:latin typeface="Times New Roman" panose="02020603050405020304"/>
                <a:ea typeface="楷体" panose="02010609060101010101" pitchFamily="49" charset="-122"/>
              </a:rPr>
              <a:t>箱均值、箱中位数和箱边界平滑结果</a:t>
            </a:r>
            <a:endParaRPr lang="zh-CN" altLang="en-US" sz="2400">
              <a:latin typeface="Times New Roman" panose="02020603050405020304"/>
              <a:ea typeface="楷体" panose="02010609060101010101" pitchFamily="49" charset="-122"/>
            </a:endParaRPr>
          </a:p>
        </p:txBody>
      </p:sp>
      <p:graphicFrame>
        <p:nvGraphicFramePr>
          <p:cNvPr id="4" name="表格 3"/>
          <p:cNvGraphicFramePr/>
          <p:nvPr>
            <p:custDataLst>
              <p:tags r:id="rId1"/>
            </p:custDataLst>
          </p:nvPr>
        </p:nvGraphicFramePr>
        <p:xfrm>
          <a:off x="2937510" y="4021455"/>
          <a:ext cx="7752080" cy="2506980"/>
        </p:xfrm>
        <a:graphic>
          <a:graphicData uri="http://schemas.openxmlformats.org/drawingml/2006/table">
            <a:tbl>
              <a:tblPr/>
              <a:tblGrid>
                <a:gridCol w="1465580"/>
                <a:gridCol w="1501775"/>
                <a:gridCol w="1594485"/>
                <a:gridCol w="1595755"/>
                <a:gridCol w="1594485"/>
              </a:tblGrid>
              <a:tr h="626745">
                <a:tc>
                  <a:txBody>
                    <a:bodyPr/>
                    <a:p>
                      <a:pPr marL="0" indent="266700" algn="l">
                        <a:lnSpc>
                          <a:spcPct val="125000"/>
                        </a:lnSpc>
                        <a:spcBef>
                          <a:spcPct val="0"/>
                        </a:spcBef>
                        <a:spcAft>
                          <a:spcPct val="0"/>
                        </a:spcAft>
                      </a:pPr>
                      <a:r>
                        <a:rPr lang="en-US" altLang="zh-CN" sz="1800" i="1">
                          <a:latin typeface="等线 Light" panose="02010600030101010101" charset="-122"/>
                          <a:ea typeface="楷体" panose="02010609060101010101" pitchFamily="49" charset="-122"/>
                        </a:rPr>
                        <a:t> </a:t>
                      </a:r>
                      <a:endParaRPr lang="en-US" altLang="zh-CN" sz="1800" i="1">
                        <a:latin typeface="等线 Light" panose="02010600030101010101" charset="-122"/>
                        <a:ea typeface="楷体" panose="02010609060101010101" pitchFamily="49" charset="-122"/>
                      </a:endParaRPr>
                    </a:p>
                  </a:txBody>
                  <a:tcPr marL="68580" marR="68580" marT="0" marB="0" anchor="t"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800" b="1">
                          <a:latin typeface="等线 Light" panose="02010600030101010101" charset="-122"/>
                          <a:ea typeface="楷体" panose="02010609060101010101" pitchFamily="49" charset="-122"/>
                        </a:rPr>
                        <a:t>等深分箱</a:t>
                      </a:r>
                      <a:endParaRPr lang="zh-CN" sz="1800" b="1">
                        <a:latin typeface="等线 Light" panose="02010600030101010101" charset="-122"/>
                        <a:ea typeface="楷体" panose="02010609060101010101" pitchFamily="49"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800" b="1">
                          <a:latin typeface="等线 Light" panose="02010600030101010101" charset="-122"/>
                          <a:ea typeface="楷体" panose="02010609060101010101" pitchFamily="49" charset="-122"/>
                        </a:rPr>
                        <a:t>箱均值平滑</a:t>
                      </a:r>
                      <a:endParaRPr lang="zh-CN" sz="1800" b="1">
                        <a:latin typeface="等线 Light" panose="02010600030101010101" charset="-122"/>
                        <a:ea typeface="楷体" panose="02010609060101010101" pitchFamily="49"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800" b="1">
                          <a:latin typeface="等线 Light" panose="02010600030101010101" charset="-122"/>
                          <a:ea typeface="楷体" panose="02010609060101010101" pitchFamily="49" charset="-122"/>
                        </a:rPr>
                        <a:t>箱中位数平滑</a:t>
                      </a:r>
                      <a:endParaRPr lang="zh-CN" sz="1800" b="1">
                        <a:latin typeface="等线 Light" panose="02010600030101010101" charset="-122"/>
                        <a:ea typeface="楷体" panose="02010609060101010101" pitchFamily="49"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800" b="1">
                          <a:latin typeface="等线 Light" panose="02010600030101010101" charset="-122"/>
                          <a:ea typeface="楷体" panose="02010609060101010101" pitchFamily="49" charset="-122"/>
                        </a:rPr>
                        <a:t>箱边界平滑</a:t>
                      </a:r>
                      <a:endParaRPr lang="zh-CN" sz="1800" b="1">
                        <a:latin typeface="等线 Light" panose="02010600030101010101" charset="-122"/>
                        <a:ea typeface="楷体" panose="02010609060101010101" pitchFamily="49"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26745">
                <a:tc>
                  <a:txBody>
                    <a:bodyPr/>
                    <a:p>
                      <a:pPr marL="0" indent="266700" algn="l">
                        <a:lnSpc>
                          <a:spcPct val="125000"/>
                        </a:lnSpc>
                        <a:spcBef>
                          <a:spcPct val="0"/>
                        </a:spcBef>
                        <a:spcAft>
                          <a:spcPct val="0"/>
                        </a:spcAft>
                      </a:pPr>
                      <a:r>
                        <a:rPr lang="zh-CN" sz="1800">
                          <a:latin typeface="Times New Roman" panose="02020603050405020304"/>
                          <a:ea typeface="楷体" panose="02010609060101010101" pitchFamily="49" charset="-122"/>
                        </a:rPr>
                        <a:t>箱</a:t>
                      </a:r>
                      <a:r>
                        <a:rPr lang="en-US" altLang="zh-CN" sz="1800">
                          <a:latin typeface="Times New Roman" panose="02020603050405020304"/>
                          <a:ea typeface="Times New Roman" panose="02020603050405020304"/>
                        </a:rPr>
                        <a:t>1</a:t>
                      </a:r>
                      <a:endParaRPr lang="en-US" altLang="zh-CN" sz="1800">
                        <a:latin typeface="Times New Roman" panose="02020603050405020304"/>
                        <a:ea typeface="Times New Roman" panose="02020603050405020304"/>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8</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16</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9</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9</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9</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8</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8</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8</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16</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626745">
                <a:tc>
                  <a:txBody>
                    <a:bodyPr/>
                    <a:p>
                      <a:pPr marL="0" indent="266700" algn="l">
                        <a:lnSpc>
                          <a:spcPct val="125000"/>
                        </a:lnSpc>
                        <a:spcBef>
                          <a:spcPct val="0"/>
                        </a:spcBef>
                        <a:spcAft>
                          <a:spcPct val="0"/>
                        </a:spcAft>
                      </a:pPr>
                      <a:r>
                        <a:rPr lang="zh-CN" sz="1800">
                          <a:latin typeface="Times New Roman" panose="02020603050405020304"/>
                          <a:ea typeface="楷体" panose="02010609060101010101" pitchFamily="49" charset="-122"/>
                        </a:rPr>
                        <a:t>箱</a:t>
                      </a:r>
                      <a:r>
                        <a:rPr lang="en-US" altLang="zh-CN" sz="1800">
                          <a:latin typeface="Times New Roman" panose="02020603050405020304"/>
                          <a:ea typeface="Times New Roman" panose="02020603050405020304"/>
                        </a:rPr>
                        <a:t>2</a:t>
                      </a:r>
                      <a:endParaRPr lang="en-US" altLang="zh-CN" sz="1800">
                        <a:latin typeface="Times New Roman" panose="02020603050405020304"/>
                        <a:ea typeface="Times New Roman" panose="02020603050405020304"/>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22</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24</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24</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24</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25</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a:noFill/>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22</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25</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a:noFill/>
                    </a:lnB>
                    <a:noFill/>
                  </a:tcPr>
                </a:tc>
              </a:tr>
              <a:tr h="626745">
                <a:tc>
                  <a:txBody>
                    <a:bodyPr/>
                    <a:p>
                      <a:pPr marL="0" indent="266700" algn="l">
                        <a:lnSpc>
                          <a:spcPct val="125000"/>
                        </a:lnSpc>
                        <a:spcBef>
                          <a:spcPct val="0"/>
                        </a:spcBef>
                        <a:spcAft>
                          <a:spcPct val="0"/>
                        </a:spcAft>
                      </a:pPr>
                      <a:r>
                        <a:rPr lang="zh-CN" sz="1800">
                          <a:latin typeface="Times New Roman" panose="02020603050405020304"/>
                          <a:ea typeface="楷体" panose="02010609060101010101" pitchFamily="49" charset="-122"/>
                        </a:rPr>
                        <a:t>箱</a:t>
                      </a:r>
                      <a:r>
                        <a:rPr lang="en-US" altLang="zh-CN" sz="1800">
                          <a:latin typeface="Times New Roman" panose="02020603050405020304"/>
                          <a:ea typeface="Times New Roman" panose="02020603050405020304"/>
                        </a:rPr>
                        <a:t>3</a:t>
                      </a:r>
                      <a:endParaRPr lang="en-US" altLang="zh-CN" sz="1800">
                        <a:latin typeface="Times New Roman" panose="02020603050405020304"/>
                        <a:ea typeface="Times New Roman" panose="02020603050405020304"/>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31</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39</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44</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38</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38</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38</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39</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39</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39</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en-US" altLang="zh-CN" sz="1800">
                          <a:latin typeface="Times New Roman" panose="02020603050405020304"/>
                          <a:ea typeface="楷体" panose="02010609060101010101" pitchFamily="49" charset="-122"/>
                        </a:rPr>
                        <a:t>31</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44</a:t>
                      </a:r>
                      <a:r>
                        <a:rPr lang="zh-CN" sz="1800">
                          <a:latin typeface="Times New Roman" panose="02020603050405020304"/>
                          <a:ea typeface="楷体" panose="02010609060101010101" pitchFamily="49" charset="-122"/>
                        </a:rPr>
                        <a:t>，</a:t>
                      </a:r>
                      <a:r>
                        <a:rPr lang="en-US" altLang="zh-CN" sz="1800">
                          <a:latin typeface="Times New Roman" panose="02020603050405020304"/>
                          <a:ea typeface="楷体" panose="02010609060101010101" pitchFamily="49" charset="-122"/>
                        </a:rPr>
                        <a:t>44</a:t>
                      </a:r>
                      <a:endParaRPr lang="en-US" altLang="zh-CN" sz="1800">
                        <a:latin typeface="Times New Roman" panose="02020603050405020304"/>
                        <a:ea typeface="楷体" panose="02010609060101010101" pitchFamily="49"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737870" y="1667510"/>
            <a:ext cx="10586085" cy="1110615"/>
          </a:xfrm>
          <a:prstGeom prst="rect">
            <a:avLst/>
          </a:prstGeom>
        </p:spPr>
        <p:txBody>
          <a:bodyPr wrap="square">
            <a:noAutofit/>
          </a:bodyPr>
          <a:p>
            <a:pPr indent="0" algn="just" defTabSz="266700">
              <a:lnSpc>
                <a:spcPct val="125000"/>
              </a:lnSpc>
              <a:spcBef>
                <a:spcPct val="0"/>
              </a:spcBef>
              <a:spcAft>
                <a:spcPct val="0"/>
              </a:spcAft>
            </a:pPr>
            <a:r>
              <a:rPr lang="en-US" altLang="zh-CN" sz="2800" b="1">
                <a:solidFill>
                  <a:srgbClr val="FF0000"/>
                </a:solidFill>
                <a:latin typeface="Times New Roman" panose="02020603050405020304"/>
                <a:ea typeface="楷体" panose="02010609060101010101" pitchFamily="49" charset="-122"/>
              </a:rPr>
              <a:t>      </a:t>
            </a:r>
            <a:r>
              <a:rPr lang="zh-CN" altLang="en-US" sz="2800" b="1">
                <a:solidFill>
                  <a:srgbClr val="FF0000"/>
                </a:solidFill>
                <a:latin typeface="Times New Roman" panose="02020603050405020304"/>
                <a:ea typeface="楷体" panose="02010609060101010101" pitchFamily="49" charset="-122"/>
              </a:rPr>
              <a:t>回归分析</a:t>
            </a:r>
            <a:r>
              <a:rPr lang="en-US" altLang="zh-CN" sz="2800" b="1">
                <a:solidFill>
                  <a:srgbClr val="FF0000"/>
                </a:solidFill>
                <a:latin typeface="Times New Roman" panose="02020603050405020304"/>
                <a:ea typeface="楷体" panose="02010609060101010101" pitchFamily="49" charset="-122"/>
              </a:rPr>
              <a:t>    </a:t>
            </a:r>
            <a:r>
              <a:rPr lang="zh-CN" altLang="en-US" sz="2800" b="0">
                <a:latin typeface="Times New Roman" panose="02020603050405020304"/>
                <a:ea typeface="楷体" panose="02010609060101010101" pitchFamily="49" charset="-122"/>
              </a:rPr>
              <a:t>是一种利用统计学方法对数据进行平滑处理的技术，旨在从包含噪声的数据中提取出真实的趋势和模式，用公式表示为：</a:t>
            </a:r>
            <a:endParaRPr lang="zh-CN" altLang="en-US" sz="2800" b="0">
              <a:latin typeface="Times New Roman" panose="02020603050405020304"/>
              <a:ea typeface="楷体" panose="02010609060101010101" pitchFamily="49" charset="-122"/>
            </a:endParaRPr>
          </a:p>
          <a:p>
            <a:pPr indent="0" algn="just" defTabSz="266700">
              <a:lnSpc>
                <a:spcPct val="125000"/>
              </a:lnSpc>
              <a:spcBef>
                <a:spcPct val="0"/>
              </a:spcBef>
              <a:spcAft>
                <a:spcPct val="0"/>
              </a:spcAft>
            </a:pPr>
            <a:r>
              <a:rPr lang="zh-CN" altLang="en-US" sz="2800" b="0">
                <a:latin typeface="Times New Roman" panose="02020603050405020304"/>
                <a:ea typeface="楷体" panose="02010609060101010101" pitchFamily="49" charset="-122"/>
              </a:rPr>
              <a:t> </a:t>
            </a:r>
            <a:r>
              <a:rPr lang="en-US" altLang="zh-CN" sz="2800" b="0">
                <a:latin typeface="Times New Roman" panose="02020603050405020304"/>
                <a:ea typeface="楷体" panose="02010609060101010101" pitchFamily="49" charset="-122"/>
              </a:rPr>
              <a:t>      </a:t>
            </a:r>
            <a:endParaRPr lang="en-US" altLang="zh-CN" sz="2800" b="0">
              <a:latin typeface="Times New Roman" panose="02020603050405020304"/>
              <a:ea typeface="楷体" panose="02010609060101010101" pitchFamily="49" charset="-122"/>
            </a:endParaRPr>
          </a:p>
          <a:p>
            <a:pPr indent="0" algn="just" defTabSz="266700">
              <a:lnSpc>
                <a:spcPct val="125000"/>
              </a:lnSpc>
              <a:spcBef>
                <a:spcPct val="0"/>
              </a:spcBef>
              <a:spcAft>
                <a:spcPct val="0"/>
              </a:spcAft>
            </a:pPr>
            <a:r>
              <a:rPr lang="en-US" altLang="zh-CN" sz="3200" b="0">
                <a:latin typeface="Times New Roman" panose="02020603050405020304"/>
                <a:ea typeface="楷体" panose="02010609060101010101" pitchFamily="49" charset="-122"/>
              </a:rPr>
              <a:t>      </a:t>
            </a:r>
            <a:r>
              <a:rPr lang="zh-CN" altLang="en-US" sz="2400" b="0">
                <a:latin typeface="Times New Roman" panose="02020603050405020304"/>
                <a:ea typeface="楷体" panose="02010609060101010101" pitchFamily="49" charset="-122"/>
              </a:rPr>
              <a:t>回归降噪的实现原理基于回归分析，对数据进行拟合并去除噪声，从而使数据更加稳定和可靠。</a:t>
            </a:r>
            <a:endParaRPr lang="zh-CN" altLang="en-US" sz="2400" b="0">
              <a:latin typeface="Times New Roman" panose="02020603050405020304"/>
              <a:ea typeface="楷体" panose="02010609060101010101" pitchFamily="49" charset="-122"/>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graphicFrame>
        <p:nvGraphicFramePr>
          <p:cNvPr id="-2147482616" name="对象 -2147482617"/>
          <p:cNvGraphicFramePr>
            <a:graphicFrameLocks noChangeAspect="1"/>
          </p:cNvGraphicFramePr>
          <p:nvPr/>
        </p:nvGraphicFramePr>
        <p:xfrm>
          <a:off x="3908425" y="2778125"/>
          <a:ext cx="3982085" cy="577215"/>
        </p:xfrm>
        <a:graphic>
          <a:graphicData uri="http://schemas.openxmlformats.org/presentationml/2006/ole">
            <mc:AlternateContent xmlns:mc="http://schemas.openxmlformats.org/markup-compatibility/2006">
              <mc:Choice xmlns:v="urn:schemas-microsoft-com:vml" Requires="v">
                <p:oleObj spid="_x0000_s3076" name="" r:id="rId1" imgW="1752600" imgH="254000" progId="Equation.DSMT4">
                  <p:embed/>
                </p:oleObj>
              </mc:Choice>
              <mc:Fallback>
                <p:oleObj name="" r:id="rId1" imgW="1752600" imgH="254000" progId="Equation.DSMT4">
                  <p:embed/>
                  <p:pic>
                    <p:nvPicPr>
                      <p:cNvPr id="0" name="图片 3075"/>
                      <p:cNvPicPr/>
                      <p:nvPr/>
                    </p:nvPicPr>
                    <p:blipFill>
                      <a:blip r:embed="rId2"/>
                      <a:stretch>
                        <a:fillRect/>
                      </a:stretch>
                    </p:blipFill>
                    <p:spPr>
                      <a:xfrm>
                        <a:off x="3908425" y="2778125"/>
                        <a:ext cx="3982085" cy="577215"/>
                      </a:xfrm>
                      <a:prstGeom prst="rect">
                        <a:avLst/>
                      </a:prstGeom>
                      <a:noFill/>
                      <a:ln w="38100">
                        <a:noFill/>
                        <a:miter/>
                      </a:ln>
                    </p:spPr>
                  </p:pic>
                </p:oleObj>
              </mc:Fallback>
            </mc:AlternateContent>
          </a:graphicData>
        </a:graphic>
      </p:graphicFrame>
      <p:pic>
        <p:nvPicPr>
          <p:cNvPr id="10"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154555" y="4395470"/>
            <a:ext cx="7489190" cy="231203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1"/>
          <a:stretch>
            <a:fillRect/>
          </a:stretch>
        </p:blipFill>
        <p:spPr>
          <a:xfrm>
            <a:off x="514350" y="3676650"/>
            <a:ext cx="8528050" cy="788670"/>
          </a:xfrm>
          <a:prstGeom prst="rect">
            <a:avLst/>
          </a:prstGeom>
        </p:spPr>
      </p:pic>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6" name="文本框 5"/>
          <p:cNvSpPr txBox="1"/>
          <p:nvPr/>
        </p:nvSpPr>
        <p:spPr>
          <a:xfrm>
            <a:off x="427355" y="1644015"/>
            <a:ext cx="10964545" cy="1110615"/>
          </a:xfrm>
          <a:prstGeom prst="rect">
            <a:avLst/>
          </a:prstGeom>
        </p:spPr>
        <p:txBody>
          <a:bodyPr wrap="square">
            <a:noAutofit/>
          </a:bodyPr>
          <a:p>
            <a:pPr indent="0" algn="just" defTabSz="266700">
              <a:lnSpc>
                <a:spcPct val="125000"/>
              </a:lnSpc>
              <a:spcBef>
                <a:spcPct val="0"/>
              </a:spcBef>
              <a:spcAft>
                <a:spcPct val="0"/>
              </a:spcAft>
            </a:pPr>
            <a:r>
              <a:rPr lang="en-US" altLang="zh-CN" sz="2400" b="1">
                <a:solidFill>
                  <a:srgbClr val="FF0000"/>
                </a:solidFill>
                <a:latin typeface="Times New Roman" panose="02020603050405020304"/>
                <a:ea typeface="楷体" panose="02010609060101010101" pitchFamily="49" charset="-122"/>
              </a:rPr>
              <a:t>     </a:t>
            </a:r>
            <a:r>
              <a:rPr lang="zh-CN" altLang="en-US" sz="2400" b="1">
                <a:solidFill>
                  <a:srgbClr val="FF0000"/>
                </a:solidFill>
                <a:latin typeface="Times New Roman" panose="02020603050405020304"/>
                <a:ea typeface="楷体" panose="02010609060101010101" pitchFamily="49" charset="-122"/>
              </a:rPr>
              <a:t>离群点（</a:t>
            </a:r>
            <a:r>
              <a:rPr lang="en-US" altLang="zh-CN" sz="2400" b="1">
                <a:solidFill>
                  <a:srgbClr val="FF0000"/>
                </a:solidFill>
                <a:latin typeface="Times New Roman" panose="02020603050405020304"/>
                <a:ea typeface="楷体" panose="02010609060101010101" pitchFamily="49" charset="-122"/>
              </a:rPr>
              <a:t>Outlier</a:t>
            </a:r>
            <a:r>
              <a:rPr lang="zh-CN" altLang="en-US" sz="2400" b="1">
                <a:solidFill>
                  <a:srgbClr val="FF0000"/>
                </a:solidFill>
                <a:latin typeface="Times New Roman" panose="02020603050405020304"/>
                <a:ea typeface="楷体" panose="02010609060101010101" pitchFamily="49" charset="-122"/>
              </a:rPr>
              <a:t>）</a:t>
            </a:r>
            <a:r>
              <a:rPr lang="en-US" altLang="zh-CN" sz="2400" b="0">
                <a:latin typeface="Times New Roman" panose="02020603050405020304"/>
                <a:ea typeface="楷体" panose="02010609060101010101" pitchFamily="49" charset="-122"/>
              </a:rPr>
              <a:t>  </a:t>
            </a:r>
            <a:r>
              <a:rPr lang="zh-CN" altLang="en-US" sz="2400" b="0">
                <a:latin typeface="Times New Roman" panose="02020603050405020304"/>
                <a:ea typeface="楷体" panose="02010609060101010101" pitchFamily="49" charset="-122"/>
              </a:rPr>
              <a:t>是数据集中不同于其他大部分数据对象，或是相对于其属性的典型值来说不同寻常的数据点。 </a:t>
            </a:r>
            <a:r>
              <a:rPr lang="en-US" altLang="zh-CN" sz="2400" b="0">
                <a:latin typeface="Times New Roman" panose="02020603050405020304"/>
                <a:ea typeface="楷体" panose="02010609060101010101" pitchFamily="49" charset="-122"/>
              </a:rPr>
              <a:t>      </a:t>
            </a:r>
            <a:endParaRPr lang="en-US" altLang="zh-CN" sz="2400" b="0">
              <a:latin typeface="Times New Roman" panose="02020603050405020304"/>
              <a:ea typeface="楷体" panose="02010609060101010101" pitchFamily="49" charset="-122"/>
            </a:endParaRPr>
          </a:p>
          <a:p>
            <a:pPr indent="0" algn="just" defTabSz="266700">
              <a:lnSpc>
                <a:spcPct val="125000"/>
              </a:lnSpc>
              <a:spcBef>
                <a:spcPct val="0"/>
              </a:spcBef>
              <a:spcAft>
                <a:spcPct val="0"/>
              </a:spcAft>
            </a:pPr>
            <a:endParaRPr lang="en-US" altLang="zh-CN" sz="2400" b="0">
              <a:latin typeface="Times New Roman" panose="02020603050405020304"/>
              <a:ea typeface="楷体" panose="02010609060101010101" pitchFamily="49" charset="-122"/>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514350" y="2877185"/>
            <a:ext cx="9844405" cy="474345"/>
          </a:xfrm>
          <a:prstGeom prst="rect">
            <a:avLst/>
          </a:prstGeom>
        </p:spPr>
      </p:pic>
      <p:pic>
        <p:nvPicPr>
          <p:cNvPr id="16" name="图片 15"/>
          <p:cNvPicPr>
            <a:picLocks noChangeAspect="1"/>
          </p:cNvPicPr>
          <p:nvPr/>
        </p:nvPicPr>
        <p:blipFill>
          <a:blip r:embed="rId3"/>
          <a:stretch>
            <a:fillRect/>
          </a:stretch>
        </p:blipFill>
        <p:spPr>
          <a:xfrm>
            <a:off x="514985" y="5017135"/>
            <a:ext cx="8527415" cy="892810"/>
          </a:xfrm>
          <a:prstGeom prst="rect">
            <a:avLst/>
          </a:prstGeom>
        </p:spPr>
      </p:pic>
      <p:graphicFrame>
        <p:nvGraphicFramePr>
          <p:cNvPr id="-2147482611" name="对象 -2147482612"/>
          <p:cNvGraphicFramePr/>
          <p:nvPr/>
        </p:nvGraphicFramePr>
        <p:xfrm>
          <a:off x="9042400" y="2515870"/>
          <a:ext cx="3149600" cy="2096770"/>
        </p:xfrm>
        <a:graphic>
          <a:graphicData uri="http://schemas.openxmlformats.org/presentationml/2006/ole">
            <mc:AlternateContent xmlns:mc="http://schemas.openxmlformats.org/markup-compatibility/2006">
              <mc:Choice xmlns:v="urn:schemas-microsoft-com:vml" Requires="v">
                <p:oleObj spid="_x0000_s22" name="" r:id="rId4" imgW="2148840" imgH="1339215" progId="Visio.Drawing.15">
                  <p:embed/>
                </p:oleObj>
              </mc:Choice>
              <mc:Fallback>
                <p:oleObj name="" r:id="rId4" imgW="2148840" imgH="1339215" progId="Visio.Drawing.15">
                  <p:embed/>
                  <p:pic>
                    <p:nvPicPr>
                      <p:cNvPr id="0" name="图片 21"/>
                      <p:cNvPicPr/>
                      <p:nvPr/>
                    </p:nvPicPr>
                    <p:blipFill>
                      <a:blip r:embed="rId5"/>
                      <a:stretch>
                        <a:fillRect/>
                      </a:stretch>
                    </p:blipFill>
                    <p:spPr>
                      <a:xfrm>
                        <a:off x="9042400" y="2515870"/>
                        <a:ext cx="3149600" cy="2096770"/>
                      </a:xfrm>
                      <a:prstGeom prst="rect">
                        <a:avLst/>
                      </a:prstGeom>
                      <a:noFill/>
                      <a:ln w="38100">
                        <a:noFill/>
                        <a:miter/>
                      </a:ln>
                    </p:spPr>
                  </p:pic>
                </p:oleObj>
              </mc:Fallback>
            </mc:AlternateContent>
          </a:graphicData>
        </a:graphic>
      </p:graphicFrame>
      <p:graphicFrame>
        <p:nvGraphicFramePr>
          <p:cNvPr id="-2147482610" name="对象 -2147482611"/>
          <p:cNvGraphicFramePr/>
          <p:nvPr/>
        </p:nvGraphicFramePr>
        <p:xfrm>
          <a:off x="9282430" y="4707255"/>
          <a:ext cx="2496820" cy="2023745"/>
        </p:xfrm>
        <a:graphic>
          <a:graphicData uri="http://schemas.openxmlformats.org/presentationml/2006/ole">
            <mc:AlternateContent xmlns:mc="http://schemas.openxmlformats.org/markup-compatibility/2006">
              <mc:Choice xmlns:v="urn:schemas-microsoft-com:vml" Requires="v">
                <p:oleObj spid="_x0000_s23" name="" r:id="rId6" imgW="2064385" imgH="1559560" progId="Visio.Drawing.15">
                  <p:embed/>
                </p:oleObj>
              </mc:Choice>
              <mc:Fallback>
                <p:oleObj name="" r:id="rId6" imgW="2064385" imgH="1559560" progId="Visio.Drawing.15">
                  <p:embed/>
                  <p:pic>
                    <p:nvPicPr>
                      <p:cNvPr id="0" name="图片 22"/>
                      <p:cNvPicPr/>
                      <p:nvPr/>
                    </p:nvPicPr>
                    <p:blipFill>
                      <a:blip r:embed="rId7"/>
                      <a:stretch>
                        <a:fillRect/>
                      </a:stretch>
                    </p:blipFill>
                    <p:spPr>
                      <a:xfrm>
                        <a:off x="9282430" y="4707255"/>
                        <a:ext cx="2496820" cy="202374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pic>
        <p:nvPicPr>
          <p:cNvPr id="11" name="图片 10"/>
          <p:cNvPicPr>
            <a:picLocks noChangeAspect="1"/>
          </p:cNvPicPr>
          <p:nvPr/>
        </p:nvPicPr>
        <p:blipFill>
          <a:blip r:embed="rId1"/>
          <a:stretch>
            <a:fillRect/>
          </a:stretch>
        </p:blipFill>
        <p:spPr>
          <a:xfrm>
            <a:off x="803275" y="1737360"/>
            <a:ext cx="10210165" cy="2484755"/>
          </a:xfrm>
          <a:prstGeom prst="rect">
            <a:avLst/>
          </a:prstGeom>
        </p:spPr>
      </p:pic>
      <p:graphicFrame>
        <p:nvGraphicFramePr>
          <p:cNvPr id="2" name="对象 -2147482608"/>
          <p:cNvGraphicFramePr>
            <a:graphicFrameLocks noChangeAspect="1"/>
          </p:cNvGraphicFramePr>
          <p:nvPr/>
        </p:nvGraphicFramePr>
        <p:xfrm>
          <a:off x="4531360" y="3871595"/>
          <a:ext cx="2848610" cy="591185"/>
        </p:xfrm>
        <a:graphic>
          <a:graphicData uri="http://schemas.openxmlformats.org/presentationml/2006/ole">
            <mc:AlternateContent xmlns:mc="http://schemas.openxmlformats.org/markup-compatibility/2006">
              <mc:Choice xmlns:v="urn:schemas-microsoft-com:vml" Requires="v">
                <p:oleObj spid="_x0000_s3076" name="" r:id="rId2" imgW="1346200" imgH="279400" progId="Equation.DSMT4">
                  <p:embed/>
                </p:oleObj>
              </mc:Choice>
              <mc:Fallback>
                <p:oleObj name="" r:id="rId2" imgW="1346200" imgH="279400" progId="Equation.DSMT4">
                  <p:embed/>
                  <p:pic>
                    <p:nvPicPr>
                      <p:cNvPr id="0" name="图片 3075"/>
                      <p:cNvPicPr/>
                      <p:nvPr/>
                    </p:nvPicPr>
                    <p:blipFill>
                      <a:blip r:embed="rId3"/>
                      <a:stretch>
                        <a:fillRect/>
                      </a:stretch>
                    </p:blipFill>
                    <p:spPr>
                      <a:xfrm>
                        <a:off x="4531360" y="3871595"/>
                        <a:ext cx="2848610" cy="591185"/>
                      </a:xfrm>
                      <a:prstGeom prst="rect">
                        <a:avLst/>
                      </a:prstGeom>
                      <a:noFill/>
                      <a:ln w="38100">
                        <a:noFill/>
                        <a:miter/>
                      </a:ln>
                    </p:spPr>
                  </p:pic>
                </p:oleObj>
              </mc:Fallback>
            </mc:AlternateContent>
          </a:graphicData>
        </a:graphic>
      </p:graphicFrame>
      <p:pic>
        <p:nvPicPr>
          <p:cNvPr id="12" name="图片 11"/>
          <p:cNvPicPr>
            <a:picLocks noChangeAspect="1"/>
          </p:cNvPicPr>
          <p:nvPr/>
        </p:nvPicPr>
        <p:blipFill>
          <a:blip r:embed="rId4"/>
          <a:stretch>
            <a:fillRect/>
          </a:stretch>
        </p:blipFill>
        <p:spPr>
          <a:xfrm>
            <a:off x="875030" y="4597400"/>
            <a:ext cx="10280650" cy="19697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3" name="文本框 12"/>
          <p:cNvSpPr txBox="1"/>
          <p:nvPr/>
        </p:nvSpPr>
        <p:spPr>
          <a:xfrm>
            <a:off x="441960" y="1667510"/>
            <a:ext cx="11052810" cy="1727200"/>
          </a:xfrm>
          <a:prstGeom prst="rect">
            <a:avLst/>
          </a:prstGeom>
        </p:spPr>
        <p:txBody>
          <a:bodyPr>
            <a:noAutofit/>
          </a:bodyPr>
          <a:p>
            <a:pPr indent="0" algn="just" defTabSz="266700">
              <a:lnSpc>
                <a:spcPct val="125000"/>
              </a:lnSpc>
              <a:spcBef>
                <a:spcPct val="0"/>
              </a:spcBef>
              <a:spcAft>
                <a:spcPct val="0"/>
              </a:spcAft>
            </a:pP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小波降噪</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a:latin typeface="宋体" panose="02010600030101010101" pitchFamily="2" charset="-122"/>
                <a:ea typeface="宋体" panose="02010600030101010101" pitchFamily="2" charset="-122"/>
                <a:cs typeface="宋体" panose="02010600030101010101" pitchFamily="2" charset="-122"/>
              </a:rPr>
              <a:t>是一种信号处理技术，旨在通过使用小波变换将信号转换到小波域来降低噪声和提高信号质量，其基本思想是通过去除小波域中的低幅度高频噪声系数来过滤掉噪声。</a:t>
            </a:r>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pic>
        <p:nvPicPr>
          <p:cNvPr id="14" name="图片 13"/>
          <p:cNvPicPr>
            <a:picLocks noChangeAspect="1"/>
          </p:cNvPicPr>
          <p:nvPr/>
        </p:nvPicPr>
        <p:blipFill>
          <a:blip r:embed="rId1"/>
          <a:stretch>
            <a:fillRect/>
          </a:stretch>
        </p:blipFill>
        <p:spPr>
          <a:xfrm>
            <a:off x="616585" y="3469640"/>
            <a:ext cx="10478135" cy="1603375"/>
          </a:xfrm>
          <a:prstGeom prst="rect">
            <a:avLst/>
          </a:prstGeom>
        </p:spPr>
      </p:pic>
      <p:graphicFrame>
        <p:nvGraphicFramePr>
          <p:cNvPr id="-2147482599" name="对象 -2147482600"/>
          <p:cNvGraphicFramePr>
            <a:graphicFrameLocks noChangeAspect="1"/>
          </p:cNvGraphicFramePr>
          <p:nvPr/>
        </p:nvGraphicFramePr>
        <p:xfrm>
          <a:off x="4099560" y="4909820"/>
          <a:ext cx="4157980" cy="803275"/>
        </p:xfrm>
        <a:graphic>
          <a:graphicData uri="http://schemas.openxmlformats.org/presentationml/2006/ole">
            <mc:AlternateContent xmlns:mc="http://schemas.openxmlformats.org/markup-compatibility/2006">
              <mc:Choice xmlns:v="urn:schemas-microsoft-com:vml" Requires="v">
                <p:oleObj spid="_x0000_s15" name="" r:id="rId2" imgW="2235200" imgH="431800" progId="Equation.DSMT4">
                  <p:embed/>
                </p:oleObj>
              </mc:Choice>
              <mc:Fallback>
                <p:oleObj name="" r:id="rId2" imgW="2235200" imgH="431800" progId="Equation.DSMT4">
                  <p:embed/>
                  <p:pic>
                    <p:nvPicPr>
                      <p:cNvPr id="0" name="图片 14"/>
                      <p:cNvPicPr/>
                      <p:nvPr/>
                    </p:nvPicPr>
                    <p:blipFill>
                      <a:blip r:embed="rId3"/>
                      <a:stretch>
                        <a:fillRect/>
                      </a:stretch>
                    </p:blipFill>
                    <p:spPr>
                      <a:xfrm>
                        <a:off x="4099560" y="4909820"/>
                        <a:ext cx="4157980" cy="803275"/>
                      </a:xfrm>
                      <a:prstGeom prst="rect">
                        <a:avLst/>
                      </a:prstGeom>
                      <a:noFill/>
                      <a:ln w="38100">
                        <a:noFill/>
                        <a:miter/>
                      </a:ln>
                    </p:spPr>
                  </p:pic>
                </p:oleObj>
              </mc:Fallback>
            </mc:AlternateContent>
          </a:graphicData>
        </a:graphic>
      </p:graphicFrame>
      <p:pic>
        <p:nvPicPr>
          <p:cNvPr id="20" name="图片 19"/>
          <p:cNvPicPr>
            <a:picLocks noChangeAspect="1"/>
          </p:cNvPicPr>
          <p:nvPr/>
        </p:nvPicPr>
        <p:blipFill>
          <a:blip r:embed="rId4"/>
          <a:stretch>
            <a:fillRect/>
          </a:stretch>
        </p:blipFill>
        <p:spPr>
          <a:xfrm>
            <a:off x="677545" y="5713095"/>
            <a:ext cx="10417175" cy="10166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二、</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清洗</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8" name="矩形: 圆角 12"/>
          <p:cNvSpPr/>
          <p:nvPr/>
        </p:nvSpPr>
        <p:spPr>
          <a:xfrm>
            <a:off x="166155" y="976670"/>
            <a:ext cx="2716366" cy="544666"/>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1152000" rIns="108000" rtlCol="0" anchor="ctr">
            <a:spAutoFit/>
          </a:bodyPr>
          <a:p>
            <a:pPr algn="l" defTabSz="1460500" eaLnBrk="1" hangingPunct="1">
              <a:spcBef>
                <a:spcPct val="30000"/>
              </a:spcBef>
            </a:pP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rPr>
              <a:t>噪声处理</a:t>
            </a:r>
            <a:endParaRPr lang="zh-CN" altLang="en-US" sz="2600" b="1" dirty="0">
              <a:solidFill>
                <a:schemeClr val="accent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箭头: 五边形 11"/>
          <p:cNvSpPr/>
          <p:nvPr/>
        </p:nvSpPr>
        <p:spPr>
          <a:xfrm>
            <a:off x="166154" y="976589"/>
            <a:ext cx="1152105" cy="544830"/>
          </a:xfrm>
          <a:prstGeom prst="homePlate">
            <a:avLst/>
          </a:prstGeom>
          <a:gradFill>
            <a:gsLst>
              <a:gs pos="417">
                <a:srgbClr val="00B0F0"/>
              </a:gs>
              <a:gs pos="100000">
                <a:srgbClr val="0070C0"/>
              </a:gs>
            </a:gsLst>
            <a:lin ang="2700000" scaled="0"/>
          </a:gradFill>
          <a:ln w="12700">
            <a:solidFill>
              <a:srgbClr val="06C5B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sz="3600" dirty="0">
                <a:solidFill>
                  <a:prstClr val="white"/>
                </a:solidFill>
                <a:latin typeface="Impact" panose="020B0806030902050204" pitchFamily="34" charset="0"/>
                <a:ea typeface="等线" panose="02010600030101010101" charset="-122"/>
                <a:sym typeface="Times New Roman" panose="02020603050405020304" pitchFamily="18" charset="0"/>
              </a:rPr>
              <a:t>2.2</a:t>
            </a:r>
            <a:endParaRPr lang="zh-CN" altLang="en-US" sz="3600" dirty="0">
              <a:solidFill>
                <a:prstClr val="white"/>
              </a:solidFill>
              <a:latin typeface="Impact" panose="020B0806030902050204" pitchFamily="34" charset="0"/>
              <a:ea typeface="等线" panose="02010600030101010101" charset="-122"/>
              <a:sym typeface="Times New Roman" panose="02020603050405020304" pitchFamily="18" charset="0"/>
            </a:endParaRPr>
          </a:p>
        </p:txBody>
      </p:sp>
      <p:sp>
        <p:nvSpPr>
          <p:cNvPr id="13" name="文本框 12"/>
          <p:cNvSpPr txBox="1"/>
          <p:nvPr/>
        </p:nvSpPr>
        <p:spPr>
          <a:xfrm>
            <a:off x="441960" y="1600200"/>
            <a:ext cx="11052810" cy="1727200"/>
          </a:xfrm>
          <a:prstGeom prst="rect">
            <a:avLst/>
          </a:prstGeom>
        </p:spPr>
        <p:txBody>
          <a:bodyPr>
            <a:noAutofit/>
          </a:bodyPr>
          <a:p>
            <a:pPr indent="0" algn="just" defTabSz="266700">
              <a:lnSpc>
                <a:spcPct val="125000"/>
              </a:lnSpc>
              <a:spcBef>
                <a:spcPct val="0"/>
              </a:spcBef>
              <a:spcAft>
                <a:spcPct val="0"/>
              </a:spcAft>
            </a:pPr>
            <a:r>
              <a:rPr lang="en-US" altLang="zh-CN" sz="2800" b="1">
                <a:solidFill>
                  <a:srgbClr val="FF0000"/>
                </a:solidFill>
                <a:latin typeface="Times New Roman" panose="02020603050405020304"/>
                <a:ea typeface="宋体" panose="02010600030101010101" pitchFamily="2" charset="-122"/>
              </a:rPr>
              <a:t>     </a:t>
            </a:r>
            <a:r>
              <a:rPr lang="en-US" altLang="zh-CN" sz="2600" b="1">
                <a:solidFill>
                  <a:srgbClr val="FF0000"/>
                </a:solidFill>
                <a:latin typeface="Times New Roman" panose="02020603050405020304"/>
                <a:ea typeface="宋体" panose="02010600030101010101" pitchFamily="2" charset="-122"/>
              </a:rPr>
              <a:t> </a:t>
            </a:r>
            <a:r>
              <a:rPr lang="en-US" altLang="zh-CN" sz="2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00">
                <a:latin typeface="宋体" panose="02010600030101010101" pitchFamily="2" charset="-122"/>
                <a:ea typeface="宋体" panose="02010600030101010101" pitchFamily="2" charset="-122"/>
                <a:cs typeface="微软雅黑" panose="020B0503020204020204" pitchFamily="34" charset="-122"/>
              </a:rPr>
              <a:t>小波降噪可以分为</a:t>
            </a:r>
            <a:r>
              <a:rPr lang="zh-CN" altLang="en-US" sz="2600" b="1">
                <a:solidFill>
                  <a:srgbClr val="FF0000"/>
                </a:solidFill>
                <a:latin typeface="宋体" panose="02010600030101010101" pitchFamily="2" charset="-122"/>
                <a:ea typeface="宋体" panose="02010600030101010101" pitchFamily="2" charset="-122"/>
                <a:cs typeface="微软雅黑" panose="020B0503020204020204" pitchFamily="34" charset="-122"/>
              </a:rPr>
              <a:t>分解</a:t>
            </a:r>
            <a:r>
              <a:rPr lang="zh-CN" altLang="en-US" sz="2600">
                <a:latin typeface="宋体" panose="02010600030101010101" pitchFamily="2" charset="-122"/>
                <a:ea typeface="宋体" panose="02010600030101010101" pitchFamily="2" charset="-122"/>
                <a:cs typeface="微软雅黑" panose="020B0503020204020204" pitchFamily="34" charset="-122"/>
              </a:rPr>
              <a:t>和</a:t>
            </a:r>
            <a:r>
              <a:rPr lang="zh-CN" altLang="en-US" sz="2600" b="1">
                <a:solidFill>
                  <a:srgbClr val="FF0000"/>
                </a:solidFill>
                <a:latin typeface="宋体" panose="02010600030101010101" pitchFamily="2" charset="-122"/>
                <a:ea typeface="宋体" panose="02010600030101010101" pitchFamily="2" charset="-122"/>
                <a:cs typeface="微软雅黑" panose="020B0503020204020204" pitchFamily="34" charset="-122"/>
              </a:rPr>
              <a:t>重构</a:t>
            </a:r>
            <a:r>
              <a:rPr lang="zh-CN" altLang="en-US" sz="2600">
                <a:latin typeface="宋体" panose="02010600030101010101" pitchFamily="2" charset="-122"/>
                <a:ea typeface="宋体" panose="02010600030101010101" pitchFamily="2" charset="-122"/>
                <a:cs typeface="微软雅黑" panose="020B0503020204020204" pitchFamily="34" charset="-122"/>
              </a:rPr>
              <a:t>两个阶段。在分解阶段中，每个小波子带代表不同频率的信号成分，其中高频子带包含噪声成分。在重构阶段中，通过保留信号中的重要小波系数，并去除低幅度高频噪声系数，重构出降噪后的信号</a:t>
            </a:r>
            <a:r>
              <a:rPr lang="zh-CN" altLang="en-US" sz="2600">
                <a:latin typeface="宋体" panose="02010600030101010101" pitchFamily="2" charset="-122"/>
                <a:ea typeface="宋体" panose="02010600030101010101" pitchFamily="2" charset="-122"/>
              </a:rPr>
              <a:t>。</a:t>
            </a:r>
            <a:endParaRPr lang="zh-CN" altLang="en-US" sz="2600">
              <a:latin typeface="宋体" panose="02010600030101010101" pitchFamily="2" charset="-122"/>
              <a:ea typeface="宋体" panose="02010600030101010101" pitchFamily="2" charset="-122"/>
            </a:endParaRPr>
          </a:p>
        </p:txBody>
      </p:sp>
      <p:pic>
        <p:nvPicPr>
          <p:cNvPr id="4" name="图片 14" descr="小波降噪"/>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53845" y="3844925"/>
            <a:ext cx="9084310" cy="2726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三、</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集成</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569595" y="1962150"/>
            <a:ext cx="11052810" cy="1727200"/>
          </a:xfrm>
          <a:prstGeom prst="rect">
            <a:avLst/>
          </a:prstGeom>
        </p:spPr>
        <p:txBody>
          <a:bodyPr>
            <a:noAutofit/>
          </a:bodyPr>
          <a:p>
            <a:pPr indent="0" algn="just" defTabSz="266700">
              <a:lnSpc>
                <a:spcPct val="125000"/>
              </a:lnSpc>
              <a:spcBef>
                <a:spcPct val="0"/>
              </a:spcBef>
              <a:spcAft>
                <a:spcPct val="0"/>
              </a:spcAft>
            </a:pPr>
            <a:r>
              <a:rPr lang="en-US" altLang="zh-CN" sz="32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2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数据集成（</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Data integration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a:latin typeface="宋体" panose="02010600030101010101" pitchFamily="2" charset="-122"/>
                <a:ea typeface="宋体" panose="02010600030101010101" pitchFamily="2" charset="-122"/>
                <a:cs typeface="宋体" panose="02010600030101010101" pitchFamily="2" charset="-122"/>
              </a:rPr>
              <a:t>  </a:t>
            </a:r>
            <a:r>
              <a:rPr lang="zh-CN" altLang="en-US" sz="2800">
                <a:latin typeface="宋体" panose="02010600030101010101" pitchFamily="2" charset="-122"/>
                <a:ea typeface="宋体" panose="02010600030101010101" pitchFamily="2" charset="-122"/>
                <a:cs typeface="宋体" panose="02010600030101010101" pitchFamily="2" charset="-122"/>
              </a:rPr>
              <a:t>是将不同格式、来源以及性质的数据合并为一个完整数据集的数据预处理方法。</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zh-CN" altLang="en-US" sz="2800">
                <a:latin typeface="宋体" panose="02010600030101010101" pitchFamily="2" charset="-122"/>
                <a:ea typeface="宋体" panose="02010600030101010101" pitchFamily="2" charset="-122"/>
                <a:cs typeface="宋体" panose="02010600030101010101" pitchFamily="2" charset="-122"/>
              </a:rPr>
              <a:t>数据集成可以扩大数据的范围和覆盖面，提高数据综合价值和可用性。数据集成主要包括</a:t>
            </a:r>
            <a:r>
              <a:rPr lang="zh-CN" altLang="en-US" sz="2800">
                <a:solidFill>
                  <a:srgbClr val="FF0000"/>
                </a:solidFill>
                <a:latin typeface="宋体" panose="02010600030101010101" pitchFamily="2" charset="-122"/>
                <a:ea typeface="宋体" panose="02010600030101010101" pitchFamily="2" charset="-122"/>
                <a:cs typeface="宋体" panose="02010600030101010101" pitchFamily="2" charset="-122"/>
              </a:rPr>
              <a:t>实体识别</a:t>
            </a:r>
            <a:r>
              <a:rPr lang="zh-CN" altLang="en-US" sz="2800">
                <a:latin typeface="宋体" panose="02010600030101010101" pitchFamily="2" charset="-122"/>
                <a:ea typeface="宋体" panose="02010600030101010101" pitchFamily="2" charset="-122"/>
                <a:cs typeface="宋体" panose="02010600030101010101" pitchFamily="2" charset="-122"/>
              </a:rPr>
              <a:t>和</a:t>
            </a:r>
            <a:r>
              <a:rPr lang="zh-CN" altLang="en-US" sz="2800">
                <a:solidFill>
                  <a:srgbClr val="FF0000"/>
                </a:solidFill>
                <a:latin typeface="宋体" panose="02010600030101010101" pitchFamily="2" charset="-122"/>
                <a:ea typeface="宋体" panose="02010600030101010101" pitchFamily="2" charset="-122"/>
                <a:cs typeface="宋体" panose="02010600030101010101" pitchFamily="2" charset="-122"/>
              </a:rPr>
              <a:t>冗余数据处理</a:t>
            </a:r>
            <a:r>
              <a:rPr lang="zh-CN" altLang="en-US" sz="2800">
                <a:latin typeface="宋体" panose="02010600030101010101" pitchFamily="2" charset="-122"/>
                <a:ea typeface="宋体" panose="02010600030101010101" pitchFamily="2" charset="-122"/>
                <a:cs typeface="宋体" panose="02010600030101010101" pitchFamily="2" charset="-122"/>
              </a:rPr>
              <a:t>。</a:t>
            </a:r>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三、</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集成</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13055" y="1083945"/>
            <a:ext cx="11052810" cy="1727200"/>
          </a:xfrm>
          <a:prstGeom prst="rect">
            <a:avLst/>
          </a:prstGeom>
        </p:spPr>
        <p:txBody>
          <a:bodyPr>
            <a:noAutofit/>
          </a:bodyPr>
          <a:p>
            <a:pPr indent="0" algn="just" defTabSz="266700">
              <a:lnSpc>
                <a:spcPct val="125000"/>
              </a:lnSpc>
              <a:spcBef>
                <a:spcPct val="0"/>
              </a:spcBef>
              <a:spcAft>
                <a:spcPct val="0"/>
              </a:spcAft>
            </a:pPr>
            <a:r>
              <a:rPr lang="en-US" altLang="zh-CN" sz="32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实体识别</a:t>
            </a:r>
            <a:r>
              <a:rPr lang="zh-CN" altLang="en-US" sz="2800">
                <a:latin typeface="微软雅黑" panose="020B0503020204020204" pitchFamily="34" charset="-122"/>
                <a:ea typeface="微软雅黑" panose="020B0503020204020204" pitchFamily="34" charset="-122"/>
                <a:cs typeface="微软雅黑" panose="020B0503020204020204" pitchFamily="34" charset="-122"/>
              </a:rPr>
              <a:t>是指识别一个或多个数据源中的两条不同记录是否描述同一实体。具体地，实体识别主要解决数据的字段意义和字段结构问题。</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endParaRPr>
          </a:p>
          <a:p>
            <a:pPr indent="0" algn="just" defTabSz="266700">
              <a:lnSpc>
                <a:spcPct val="125000"/>
              </a:lnSpc>
              <a:spcBef>
                <a:spcPct val="0"/>
              </a:spcBef>
              <a:spcAft>
                <a:spcPct val="0"/>
              </a:spcAft>
            </a:pPr>
            <a:endParaRPr lang="zh-CN" altLang="en-US" sz="2800">
              <a:latin typeface="Times New Roman" panose="02020603050405020304"/>
              <a:ea typeface="宋体" panose="02010600030101010101" pitchFamily="2" charset="-122"/>
            </a:endParaRPr>
          </a:p>
          <a:p>
            <a:pPr indent="0" algn="just" defTabSz="266700">
              <a:lnSpc>
                <a:spcPct val="125000"/>
              </a:lnSpc>
              <a:spcBef>
                <a:spcPct val="0"/>
              </a:spcBef>
              <a:spcAft>
                <a:spcPct val="0"/>
              </a:spcAft>
            </a:pPr>
            <a:endParaRPr lang="zh-CN" altLang="en-US" sz="2800">
              <a:latin typeface="Times New Roman" panose="02020603050405020304"/>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1370965" y="2367915"/>
            <a:ext cx="9891395" cy="4206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三、</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集成</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13055" y="1083945"/>
            <a:ext cx="11269345" cy="1727200"/>
          </a:xfrm>
          <a:prstGeom prst="rect">
            <a:avLst/>
          </a:prstGeom>
        </p:spPr>
        <p:txBody>
          <a:bodyPr>
            <a:noAutofit/>
          </a:bodyPr>
          <a:p>
            <a:pPr indent="0" algn="just" defTabSz="266700">
              <a:lnSpc>
                <a:spcPct val="125000"/>
              </a:lnSpc>
              <a:spcBef>
                <a:spcPct val="0"/>
              </a:spcBef>
              <a:spcAft>
                <a:spcPct val="0"/>
              </a:spcAft>
            </a:pPr>
            <a:r>
              <a:rPr lang="en-US" altLang="zh-CN" sz="2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在数据集成过程中，往往会产生</a:t>
            </a:r>
            <a:r>
              <a:rPr lang="zh-CN" altLang="en-US" sz="2400">
                <a:solidFill>
                  <a:srgbClr val="FF0000"/>
                </a:solidFill>
                <a:latin typeface="微软雅黑" panose="020B0503020204020204" pitchFamily="34" charset="-122"/>
                <a:ea typeface="微软雅黑" panose="020B0503020204020204" pitchFamily="34" charset="-122"/>
              </a:rPr>
              <a:t>冗余数据</a:t>
            </a:r>
            <a:r>
              <a:rPr lang="zh-CN" altLang="en-US" sz="2400">
                <a:latin typeface="微软雅黑" panose="020B0503020204020204" pitchFamily="34" charset="-122"/>
                <a:ea typeface="微软雅黑" panose="020B0503020204020204" pitchFamily="34" charset="-122"/>
              </a:rPr>
              <a:t>，它可能会影响数据分析的效率和准确性，同时也会浪费存储空间和计算资源。常见的冗余数据及其处理方式包括：</a:t>
            </a:r>
            <a:endParaRPr lang="zh-CN" altLang="en-US" sz="2400">
              <a:latin typeface="微软雅黑" panose="020B0503020204020204" pitchFamily="34" charset="-122"/>
              <a:ea typeface="微软雅黑" panose="020B0503020204020204" pitchFamily="34" charset="-122"/>
            </a:endParaRPr>
          </a:p>
          <a:p>
            <a:pPr indent="0" algn="just" defTabSz="266700">
              <a:lnSpc>
                <a:spcPct val="125000"/>
              </a:lnSpc>
              <a:spcBef>
                <a:spcPct val="0"/>
              </a:spcBef>
              <a:spcAft>
                <a:spcPct val="0"/>
              </a:spcAft>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Wingdings" panose="05000000000000000000" charset="0"/>
              <a:buChar char="l"/>
            </a:pPr>
            <a:r>
              <a:rPr lang="zh-CN" altLang="en-US" sz="2000">
                <a:solidFill>
                  <a:srgbClr val="FF0000"/>
                </a:solidFill>
                <a:latin typeface="微软雅黑" panose="020B0503020204020204" pitchFamily="34" charset="-122"/>
                <a:ea typeface="微软雅黑" panose="020B0503020204020204" pitchFamily="34" charset="-122"/>
              </a:rPr>
              <a:t>重复数据：</a:t>
            </a:r>
            <a:r>
              <a:rPr lang="zh-CN" altLang="en-US" sz="2000">
                <a:latin typeface="微软雅黑" panose="020B0503020204020204" pitchFamily="34" charset="-122"/>
                <a:ea typeface="微软雅黑" panose="020B0503020204020204" pitchFamily="34" charset="-122"/>
              </a:rPr>
              <a:t>数据集中存在完全相同或几乎相同的记录或观测值，这些数据可能是由于数据输入错误、重复录入或其他原因导致的。为处理重复数据，可以先通过比较记录或观测值来确定是否存在重复数据，再删除其中的一条或多条重复记录。</a:t>
            </a:r>
            <a:endParaRPr lang="zh-CN" altLang="en-US" sz="20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Wingdings" panose="05000000000000000000" charset="0"/>
              <a:buChar char="l"/>
            </a:pPr>
            <a:r>
              <a:rPr lang="zh-CN" altLang="en-US" sz="2000">
                <a:solidFill>
                  <a:srgbClr val="FF0000"/>
                </a:solidFill>
                <a:latin typeface="微软雅黑" panose="020B0503020204020204" pitchFamily="34" charset="-122"/>
                <a:ea typeface="微软雅黑" panose="020B0503020204020204" pitchFamily="34" charset="-122"/>
              </a:rPr>
              <a:t>重复属性：</a:t>
            </a:r>
            <a:r>
              <a:rPr lang="zh-CN" altLang="en-US" sz="2000">
                <a:latin typeface="微软雅黑" panose="020B0503020204020204" pitchFamily="34" charset="-122"/>
                <a:ea typeface="微软雅黑" panose="020B0503020204020204" pitchFamily="34" charset="-122"/>
              </a:rPr>
              <a:t>数据集中存在具有相同信息的属性，这些属性以不同的形式出现。重复属性的处理是将具有相同信息或可以相互转化（如出生年份与年龄）的属性合并为一个属性，进而减少属性数量，提高数据处理效率。如果两个或多个属性完全相同，可以选择删除其中一个属性。如果重复属性具有略微不同的值，但表达的是相同的含义，可以将它们合并为一个属性。</a:t>
            </a:r>
            <a:endParaRPr lang="zh-CN" altLang="en-US" sz="20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Wingdings" panose="05000000000000000000" charset="0"/>
              <a:buChar char="l"/>
            </a:pPr>
            <a:r>
              <a:rPr lang="zh-CN" altLang="en-US" sz="2000">
                <a:solidFill>
                  <a:srgbClr val="FF0000"/>
                </a:solidFill>
                <a:latin typeface="微软雅黑" panose="020B0503020204020204" pitchFamily="34" charset="-122"/>
                <a:ea typeface="微软雅黑" panose="020B0503020204020204" pitchFamily="34" charset="-122"/>
              </a:rPr>
              <a:t>高相关属性：</a:t>
            </a:r>
            <a:r>
              <a:rPr lang="zh-CN" altLang="en-US" sz="2000">
                <a:latin typeface="微软雅黑" panose="020B0503020204020204" pitchFamily="34" charset="-122"/>
                <a:ea typeface="微软雅黑" panose="020B0503020204020204" pitchFamily="34" charset="-122"/>
              </a:rPr>
              <a:t>数据集中存在相关程度极高的不同属性，通过其中一个数据可很大程度上推导出另一个属性。对于高相关属性的处理，可通过删除其中一个或多个属性、合并属性或降维的方式减少冗余。</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13055" y="1083945"/>
            <a:ext cx="11269345" cy="1727200"/>
          </a:xfrm>
          <a:prstGeom prst="rect">
            <a:avLst/>
          </a:prstGeom>
        </p:spPr>
        <p:txBody>
          <a:bodyPr>
            <a:noAutofit/>
          </a:bodyPr>
          <a:p>
            <a:pPr indent="0" algn="just" defTabSz="266700">
              <a:lnSpc>
                <a:spcPct val="125000"/>
              </a:lnSpc>
              <a:spcBef>
                <a:spcPct val="0"/>
              </a:spcBef>
              <a:spcAft>
                <a:spcPct val="0"/>
              </a:spcAft>
            </a:pPr>
            <a:r>
              <a:rPr lang="en-US" altLang="zh-CN" sz="3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6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数据规约（</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Data reduction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en-US" altLang="zh-CN" sz="28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rPr>
              <a:t>是对数据进行采样、聚合、抽取等，进而降低数据的维度和规模的数据预处理方法。数据规约策略包括维度规约、数量规约和数据压缩。</a:t>
            </a:r>
            <a:endPar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151" name="矩形: 圆角 55"/>
          <p:cNvSpPr/>
          <p:nvPr>
            <p:custDataLst>
              <p:tags r:id="rId1"/>
            </p:custDataLst>
          </p:nvPr>
        </p:nvSpPr>
        <p:spPr>
          <a:xfrm>
            <a:off x="4777740" y="345948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数量规约</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9" name="矩形: 圆角 55"/>
          <p:cNvSpPr/>
          <p:nvPr>
            <p:custDataLst>
              <p:tags r:id="rId2"/>
            </p:custDataLst>
          </p:nvPr>
        </p:nvSpPr>
        <p:spPr>
          <a:xfrm>
            <a:off x="1449705" y="345948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维度规约</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
        <p:nvSpPr>
          <p:cNvPr id="156" name="Rectangle 2"/>
          <p:cNvSpPr txBox="1">
            <a:spLocks noChangeArrowheads="1"/>
          </p:cNvSpPr>
          <p:nvPr>
            <p:custDataLst>
              <p:tags r:id="rId3"/>
            </p:custDataLst>
          </p:nvPr>
        </p:nvSpPr>
        <p:spPr>
          <a:xfrm>
            <a:off x="1449732" y="4970690"/>
            <a:ext cx="2911539" cy="873798"/>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2pPr>
            <a:lvl3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3pPr>
            <a:lvl4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4pPr>
            <a:lvl5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5pPr>
            <a:lvl6pPr marL="4572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6pPr>
            <a:lvl7pPr marL="9144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7pPr>
            <a:lvl8pPr marL="13716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8pPr>
            <a:lvl9pPr marL="18288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9pPr>
          </a:lstStyle>
          <a:p>
            <a:pPr marL="342900" indent="-342900">
              <a:buFont typeface="Wingdings" panose="05000000000000000000" charset="0"/>
              <a:buChar char="l"/>
            </a:pPr>
            <a:r>
              <a:rPr lang="zh-CN" altLang="en-US" sz="2400" dirty="0">
                <a:solidFill>
                  <a:srgbClr val="00CCFF"/>
                </a:solidFill>
                <a:effectLst/>
              </a:rPr>
              <a:t>主成分分析</a:t>
            </a:r>
            <a:endParaRPr lang="zh-CN" altLang="en-US" sz="2400" dirty="0">
              <a:solidFill>
                <a:srgbClr val="00CCFF"/>
              </a:solidFill>
              <a:effectLst/>
            </a:endParaRPr>
          </a:p>
          <a:p>
            <a:pPr marL="342900" indent="-342900">
              <a:buFont typeface="Wingdings" panose="05000000000000000000" charset="0"/>
              <a:buChar char="l"/>
            </a:pPr>
            <a:endParaRPr lang="en-US" altLang="zh-CN"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属性子集</a:t>
            </a:r>
            <a:r>
              <a:rPr lang="zh-CN" altLang="en-US" sz="2400" dirty="0">
                <a:solidFill>
                  <a:srgbClr val="00CCFF"/>
                </a:solidFill>
                <a:effectLst/>
              </a:rPr>
              <a:t>选择</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endParaRPr lang="zh-CN" altLang="en-US" sz="2400" dirty="0">
              <a:solidFill>
                <a:srgbClr val="00CCFF"/>
              </a:solidFill>
              <a:effectLst/>
            </a:endParaRPr>
          </a:p>
        </p:txBody>
      </p:sp>
      <p:sp>
        <p:nvSpPr>
          <p:cNvPr id="10" name="Rectangle 2"/>
          <p:cNvSpPr txBox="1">
            <a:spLocks noChangeArrowheads="1"/>
          </p:cNvSpPr>
          <p:nvPr>
            <p:custDataLst>
              <p:tags r:id="rId4"/>
            </p:custDataLst>
          </p:nvPr>
        </p:nvSpPr>
        <p:spPr>
          <a:xfrm>
            <a:off x="4777740" y="4970780"/>
            <a:ext cx="3650615" cy="873760"/>
          </a:xfrm>
          <a:prstGeom prst="rect">
            <a:avLst/>
          </a:prstGeom>
        </p:spPr>
        <p:txBody>
          <a:bodyPr anchor="ctr"/>
          <a:lstStyle>
            <a:lvl1pPr algn="l" rtl="0" eaLnBrk="0" fontAlgn="base" hangingPunct="0">
              <a:spcBef>
                <a:spcPct val="0"/>
              </a:spcBef>
              <a:spcAft>
                <a:spcPct val="0"/>
              </a:spcAft>
              <a:defRPr sz="3600" b="1">
                <a:solidFill>
                  <a:schemeClr val="tx2"/>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2pPr>
            <a:lvl3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3pPr>
            <a:lvl4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4pPr>
            <a:lvl5pPr algn="l" rtl="0" eaLnBrk="0" fontAlgn="base" hangingPunct="0">
              <a:spcBef>
                <a:spcPct val="0"/>
              </a:spcBef>
              <a:spcAft>
                <a:spcPct val="0"/>
              </a:spcAft>
              <a:defRPr sz="3600" b="1">
                <a:solidFill>
                  <a:schemeClr val="tx2"/>
                </a:solidFill>
                <a:latin typeface="Verdana" panose="020B0604030504040204" pitchFamily="34" charset="0"/>
                <a:ea typeface="华文细黑" panose="02010600040101010101" pitchFamily="2" charset="-122"/>
              </a:defRPr>
            </a:lvl5pPr>
            <a:lvl6pPr marL="4572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6pPr>
            <a:lvl7pPr marL="9144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7pPr>
            <a:lvl8pPr marL="13716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8pPr>
            <a:lvl9pPr marL="1828800" algn="l" rtl="0" fontAlgn="base">
              <a:spcBef>
                <a:spcPct val="0"/>
              </a:spcBef>
              <a:spcAft>
                <a:spcPct val="0"/>
              </a:spcAft>
              <a:defRPr sz="3600" b="1">
                <a:solidFill>
                  <a:schemeClr val="tx2"/>
                </a:solidFill>
                <a:latin typeface="Verdana" panose="020B0604030504040204" pitchFamily="34" charset="0"/>
                <a:ea typeface="华文细黑" panose="02010600040101010101" pitchFamily="2" charset="-122"/>
              </a:defRPr>
            </a:lvl9pPr>
          </a:lstStyle>
          <a:p>
            <a:pPr marL="342900" indent="-342900">
              <a:buFont typeface="Wingdings" panose="05000000000000000000" charset="0"/>
              <a:buChar char="l"/>
            </a:pPr>
            <a:r>
              <a:rPr lang="zh-CN" altLang="en-US" sz="2400" dirty="0">
                <a:solidFill>
                  <a:srgbClr val="00CCFF"/>
                </a:solidFill>
                <a:effectLst/>
              </a:rPr>
              <a:t>直方图规约</a:t>
            </a:r>
            <a:endParaRPr lang="zh-CN" altLang="en-US" sz="2400" dirty="0">
              <a:solidFill>
                <a:srgbClr val="00CCFF"/>
              </a:solidFill>
              <a:effectLst/>
            </a:endParaRPr>
          </a:p>
          <a:p>
            <a:pPr marL="342900" indent="-342900">
              <a:buFont typeface="Wingdings" panose="05000000000000000000" charset="0"/>
              <a:buChar char="l"/>
            </a:pPr>
            <a:endParaRPr lang="zh-CN" altLang="en-US" sz="2400" dirty="0">
              <a:solidFill>
                <a:srgbClr val="00CCFF"/>
              </a:solidFill>
              <a:effectLst/>
            </a:endParaRPr>
          </a:p>
          <a:p>
            <a:pPr marL="342900" indent="-342900">
              <a:buFont typeface="Wingdings" panose="05000000000000000000" charset="0"/>
              <a:buChar char="l"/>
            </a:pPr>
            <a:r>
              <a:rPr lang="zh-CN" altLang="en-US" sz="2400" dirty="0">
                <a:solidFill>
                  <a:srgbClr val="00CCFF"/>
                </a:solidFill>
                <a:effectLst/>
              </a:rPr>
              <a:t>抽样规约</a:t>
            </a:r>
            <a:endParaRPr lang="zh-CN" altLang="en-US" sz="2400" dirty="0">
              <a:solidFill>
                <a:srgbClr val="00CCFF"/>
              </a:solidFill>
              <a:effectLst/>
            </a:endParaRPr>
          </a:p>
          <a:p>
            <a:pPr marL="342900" indent="-342900">
              <a:buFont typeface="Wingdings" panose="05000000000000000000" charset="0"/>
              <a:buChar char="l"/>
            </a:pPr>
            <a:endParaRPr lang="en-US" altLang="zh-CN" sz="2400" dirty="0">
              <a:solidFill>
                <a:srgbClr val="00CCFF"/>
              </a:solidFill>
              <a:effectLst/>
            </a:endParaRPr>
          </a:p>
          <a:p>
            <a:endParaRPr lang="zh-CN" altLang="en-US" sz="2400" dirty="0">
              <a:solidFill>
                <a:srgbClr val="00CCFF"/>
              </a:solidFill>
              <a:effectLst/>
            </a:endParaRPr>
          </a:p>
        </p:txBody>
      </p:sp>
      <p:sp>
        <p:nvSpPr>
          <p:cNvPr id="11" name="文本框 10"/>
          <p:cNvSpPr txBox="1"/>
          <p:nvPr>
            <p:custDataLst>
              <p:tags r:id="rId5"/>
            </p:custDataLst>
          </p:nvPr>
        </p:nvSpPr>
        <p:spPr>
          <a:xfrm>
            <a:off x="8046720" y="4438650"/>
            <a:ext cx="6096000" cy="1938020"/>
          </a:xfrm>
          <a:prstGeom prst="rect">
            <a:avLst/>
          </a:prstGeom>
          <a:noFill/>
        </p:spPr>
        <p:txBody>
          <a:bodyPr wrap="square" rtlCol="0" anchor="t">
            <a:spAutoFit/>
          </a:bodyPr>
          <a:p>
            <a:pPr marL="342900" indent="-342900">
              <a:buFont typeface="Wingdings" panose="05000000000000000000" charset="0"/>
              <a:buChar char="l"/>
            </a:pPr>
            <a:r>
              <a:rPr lang="zh-CN" altLang="en-US" sz="2400" b="1" dirty="0">
                <a:solidFill>
                  <a:srgbClr val="00CCFF"/>
                </a:solidFill>
                <a:effectLst/>
                <a:latin typeface="微软雅黑" panose="020B0503020204020204" pitchFamily="34" charset="-122"/>
                <a:ea typeface="微软雅黑" panose="020B0503020204020204" pitchFamily="34" charset="-122"/>
              </a:rPr>
              <a:t>无损压缩</a:t>
            </a: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r>
              <a:rPr lang="zh-CN" altLang="en-US" sz="2400" b="1" dirty="0">
                <a:solidFill>
                  <a:srgbClr val="00CCFF"/>
                </a:solidFill>
                <a:effectLst/>
                <a:latin typeface="微软雅黑" panose="020B0503020204020204" pitchFamily="34" charset="-122"/>
                <a:ea typeface="微软雅黑" panose="020B0503020204020204" pitchFamily="34" charset="-122"/>
              </a:rPr>
              <a:t>有损压缩</a:t>
            </a: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endParaRPr lang="zh-CN" altLang="en-US" sz="2400" b="1" dirty="0">
              <a:solidFill>
                <a:srgbClr val="00CCFF"/>
              </a:solidFill>
              <a:effectLst/>
              <a:latin typeface="微软雅黑" panose="020B0503020204020204" pitchFamily="34" charset="-122"/>
              <a:ea typeface="微软雅黑" panose="020B0503020204020204" pitchFamily="34" charset="-122"/>
            </a:endParaRPr>
          </a:p>
          <a:p>
            <a:pPr marL="342900" indent="-342900">
              <a:buFont typeface="Wingdings" panose="05000000000000000000" charset="0"/>
              <a:buChar char="l"/>
            </a:pPr>
            <a:endParaRPr lang="zh-CN" altLang="en-US" sz="2400" b="1" dirty="0">
              <a:solidFill>
                <a:srgbClr val="00CCFF"/>
              </a:solidFill>
              <a:effectLst/>
              <a:latin typeface="微软雅黑" panose="020B0503020204020204" pitchFamily="34" charset="-122"/>
              <a:ea typeface="微软雅黑" panose="020B0503020204020204" pitchFamily="34" charset="-122"/>
              <a:sym typeface="+mn-ea"/>
            </a:endParaRPr>
          </a:p>
        </p:txBody>
      </p:sp>
      <p:sp>
        <p:nvSpPr>
          <p:cNvPr id="2" name="矩形: 圆角 55"/>
          <p:cNvSpPr/>
          <p:nvPr>
            <p:custDataLst>
              <p:tags r:id="rId6"/>
            </p:custDataLst>
          </p:nvPr>
        </p:nvSpPr>
        <p:spPr>
          <a:xfrm>
            <a:off x="8062595" y="3459480"/>
            <a:ext cx="2134870" cy="634365"/>
          </a:xfrm>
          <a:prstGeom prst="roundRect">
            <a:avLst>
              <a:gd name="adj" fmla="val 50000"/>
            </a:avLst>
          </a:prstGeom>
          <a:noFill/>
          <a:ln w="28575">
            <a:gradFill>
              <a:gsLst>
                <a:gs pos="0">
                  <a:schemeClr val="bg2">
                    <a:lumMod val="59000"/>
                    <a:lumOff val="41000"/>
                  </a:schemeClr>
                </a:gs>
                <a:gs pos="100000">
                  <a:srgbClr val="0066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数据</a:t>
            </a:r>
            <a:r>
              <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rPr>
              <a:t>压缩</a:t>
            </a:r>
            <a:endParaRPr kumimoji="0" lang="zh-CN" altLang="en-US" sz="2665" b="1" i="0" u="none" strike="noStrike" kern="1200" cap="none" spc="0" normalizeH="0" baseline="0" noProof="0" dirty="0">
              <a:ln>
                <a:noFill/>
              </a:ln>
              <a:solidFill>
                <a:srgbClr val="FD5C0C"/>
              </a:solidFill>
              <a:effectLst>
                <a:reflection blurRad="6350" stA="60000" endA="900" endPos="58000" dir="5400000" sy="-100000" algn="bl" rotWithShape="0"/>
              </a:effectLst>
              <a:uLnTx/>
              <a:uFillTx/>
              <a:latin typeface="Times New Roman" panose="02020603050405020304" pitchFamily="18" charset="0"/>
              <a:ea typeface="微软雅黑" panose="020B0503020204020204" pitchFamily="34" charset="-122"/>
              <a:cs typeface="+mn-cs"/>
              <a:sym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448310" y="1083945"/>
            <a:ext cx="11134090" cy="1727200"/>
          </a:xfrm>
          <a:prstGeom prst="rect">
            <a:avLst/>
          </a:prstGeom>
        </p:spPr>
        <p:txBody>
          <a:bodyPr>
            <a:noAutofit/>
          </a:bodyPr>
          <a:p>
            <a:pPr indent="0" algn="just" defTabSz="266700">
              <a:lnSpc>
                <a:spcPct val="125000"/>
              </a:lnSpc>
              <a:spcBef>
                <a:spcPct val="0"/>
              </a:spcBef>
              <a:spcAft>
                <a:spcPct val="0"/>
              </a:spcAft>
            </a:pPr>
            <a:r>
              <a:rPr lang="en-US" altLang="zh-CN" sz="36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维度规约（</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Dimensionality reduction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rPr>
              <a:t>通过减少数据中的属性个数，摒弃掉不重要的属性，保留少数关键属性来描述数据。</a:t>
            </a:r>
            <a:endPar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95000"/>
              </a:lnSpc>
              <a:spcBef>
                <a:spcPct val="0"/>
              </a:spcBef>
              <a:spcAft>
                <a:spcPct val="0"/>
              </a:spcAft>
            </a:pPr>
            <a:endPar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）主成分分析</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主成分分析的核心思想是将高维数据映射到低维空间中，同时保留数据的主要特征。具体来说，主成分分析通过计算数据集中的协方差矩阵，然后找到最大的协方差方向，即第一主成分，将数据映射到这个方向上。接着，找到与第一主成分正交的方向，即第二主成分，将数据再次映射到这个方向上。以此类推，可以得到一组新的低维特征，它们是原始数据的线性组合，同时保留了原始数据的大部分方差。最后，根据主成分的重要性（根据方差解释比例计算）进行降序排列，可以通过去掉重要性较低的成分来达到规约数据的目的。</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13055" y="1083945"/>
            <a:ext cx="5628005" cy="1727200"/>
          </a:xfrm>
          <a:prstGeom prst="rect">
            <a:avLst/>
          </a:prstGeom>
        </p:spPr>
        <p:txBody>
          <a:bodyPr>
            <a:noAutofit/>
          </a:bodyPr>
          <a:p>
            <a:pPr indent="0" algn="just" defTabSz="266700">
              <a:lnSpc>
                <a:spcPct val="125000"/>
              </a:lnSpc>
              <a:spcBef>
                <a:spcPct val="0"/>
              </a:spcBef>
              <a:spcAft>
                <a:spcPct val="0"/>
              </a:spcAft>
            </a:pP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2</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）属性子集选择</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属性子集选择是将原数据中冗余或者不相关的属性进行删减，或者通过对属性进行重组来减少属性个数。其中，判断属性优劣的方法是对其进行显著性检验：将一个或多个属性加入回归模型，并判断是否使残差平方和显著减少。如是，则说明有必要将该属性保留，否则，可将该属性删除。如表</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2-4</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所示，常用的属性子集选择方法包括合并属性、逐步向前选择、逐步向后删除、组合法、决策树归纳法等。</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6076950" y="1083945"/>
            <a:ext cx="5721350" cy="56489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53695" y="830580"/>
            <a:ext cx="11134090" cy="1727200"/>
          </a:xfrm>
          <a:prstGeom prst="rect">
            <a:avLst/>
          </a:prstGeom>
        </p:spPr>
        <p:txBody>
          <a:bodyPr>
            <a:noAutofit/>
          </a:bodyPr>
          <a:p>
            <a:pPr indent="0" algn="just" defTabSz="266700">
              <a:lnSpc>
                <a:spcPct val="125000"/>
              </a:lnSpc>
              <a:spcBef>
                <a:spcPct val="0"/>
              </a:spcBef>
              <a:spcAft>
                <a:spcPct val="0"/>
              </a:spcAft>
            </a:pPr>
            <a:r>
              <a:rPr lang="en-US" altLang="zh-CN" sz="36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36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数量规约（</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Numerosity reduction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rPr>
              <a:t>是通过直方图、聚类、抽样等方法用更少数量级的数据替换原始数据。</a:t>
            </a:r>
            <a:endParaRPr lang="zh-CN" altLang="en-US" sz="28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1</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）直方图规约</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直方图规约是使用分箱的方式来近似原始数据的分布进而实现数据归约。图</a:t>
            </a:r>
            <a:r>
              <a:rPr lang="en-US" altLang="zh-CN" sz="2400">
                <a:solidFill>
                  <a:schemeClr val="tx1"/>
                </a:solidFill>
                <a:latin typeface="宋体" panose="02010600030101010101" pitchFamily="2" charset="-122"/>
                <a:ea typeface="宋体" panose="02010600030101010101" pitchFamily="2" charset="-122"/>
                <a:cs typeface="宋体" panose="02010600030101010101" pitchFamily="2" charset="-122"/>
              </a:rPr>
              <a:t>2-5</a:t>
            </a:r>
            <a:r>
              <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展现了某产品在一年内的每日销量情况，并分别通过等宽分箱和等深分箱对销量数据进行了处理。</a:t>
            </a:r>
            <a:endParaRPr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pic>
        <p:nvPicPr>
          <p:cNvPr id="120793131" name="图片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338195" y="3523615"/>
            <a:ext cx="5515610" cy="3262630"/>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53695" y="1003935"/>
            <a:ext cx="11322685" cy="1727200"/>
          </a:xfrm>
          <a:prstGeom prst="rect">
            <a:avLst/>
          </a:prstGeom>
        </p:spPr>
        <p:txBody>
          <a:bodyPr>
            <a:noAutofit/>
          </a:bodyPr>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2</a:t>
            </a:r>
            <a:r>
              <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rPr>
              <a:t>）抽样规约</a:t>
            </a:r>
            <a:endParaRPr lang="zh-CN" altLang="en-US" sz="2400" b="1">
              <a:solidFill>
                <a:srgbClr val="FF0000"/>
              </a:solidFill>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r>
              <a:rPr lang="en-US" altLang="zh-CN" sz="2400">
                <a:latin typeface="宋体" panose="02010600030101010101" pitchFamily="2" charset="-122"/>
                <a:ea typeface="宋体" panose="02010600030101010101" pitchFamily="2" charset="-122"/>
                <a:cs typeface="宋体" panose="02010600030101010101" pitchFamily="2" charset="-122"/>
              </a:rPr>
              <a:t>   </a:t>
            </a:r>
            <a:r>
              <a:rPr lang="zh-CN" altLang="en-US" sz="2400">
                <a:latin typeface="宋体" panose="02010600030101010101" pitchFamily="2" charset="-122"/>
                <a:ea typeface="宋体" panose="02010600030101010101" pitchFamily="2" charset="-122"/>
                <a:cs typeface="宋体" panose="02010600030101010101" pitchFamily="2" charset="-122"/>
              </a:rPr>
              <a:t>抽样规约通过在原始数据集中进行抽样来减少数据量。抽样（</a:t>
            </a:r>
            <a:r>
              <a:rPr lang="en-US" altLang="zh-CN" sz="2400">
                <a:latin typeface="宋体" panose="02010600030101010101" pitchFamily="2" charset="-122"/>
                <a:ea typeface="宋体" panose="02010600030101010101" pitchFamily="2" charset="-122"/>
                <a:cs typeface="宋体" panose="02010600030101010101" pitchFamily="2" charset="-122"/>
              </a:rPr>
              <a:t>Sampling</a:t>
            </a:r>
            <a:r>
              <a:rPr lang="zh-CN" altLang="en-US" sz="2400">
                <a:latin typeface="宋体" panose="02010600030101010101" pitchFamily="2" charset="-122"/>
                <a:ea typeface="宋体" panose="02010600030101010101" pitchFamily="2" charset="-122"/>
                <a:cs typeface="宋体" panose="02010600030101010101" pitchFamily="2" charset="-122"/>
              </a:rPr>
              <a:t>）是常用的数据规约技术，它用比原始数据规模小很多的随机样本表示原始数据集，从而减少对原始数据的处理和存储需求。常用的抽样方法按照是否遵循随机原则分为</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概率抽样和非概率抽样</a:t>
            </a:r>
            <a:r>
              <a:rPr lang="zh-CN" altLang="en-US" sz="2400">
                <a:latin typeface="宋体" panose="02010600030101010101" pitchFamily="2" charset="-122"/>
                <a:ea typeface="宋体" panose="02010600030101010101" pitchFamily="2" charset="-122"/>
                <a:cs typeface="宋体" panose="02010600030101010101" pitchFamily="2" charset="-122"/>
              </a:rPr>
              <a:t>。</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pic>
        <p:nvPicPr>
          <p:cNvPr id="5" name="图片 4"/>
          <p:cNvPicPr>
            <a:picLocks noChangeAspect="1"/>
          </p:cNvPicPr>
          <p:nvPr/>
        </p:nvPicPr>
        <p:blipFill>
          <a:blip r:embed="rId1"/>
          <a:stretch>
            <a:fillRect/>
          </a:stretch>
        </p:blipFill>
        <p:spPr>
          <a:xfrm>
            <a:off x="5408295" y="4163695"/>
            <a:ext cx="6492875" cy="1495425"/>
          </a:xfrm>
          <a:prstGeom prst="rect">
            <a:avLst/>
          </a:prstGeom>
        </p:spPr>
      </p:pic>
      <p:pic>
        <p:nvPicPr>
          <p:cNvPr id="6" name="图片 5"/>
          <p:cNvPicPr/>
          <p:nvPr/>
        </p:nvPicPr>
        <p:blipFill>
          <a:blip r:embed="rId2"/>
          <a:stretch>
            <a:fillRect/>
          </a:stretch>
        </p:blipFill>
        <p:spPr>
          <a:xfrm>
            <a:off x="995680" y="3444240"/>
            <a:ext cx="4194175" cy="2660015"/>
          </a:xfrm>
          <a:prstGeom prst="rect">
            <a:avLst/>
          </a:prstGeom>
        </p:spPr>
      </p:pic>
      <p:sp>
        <p:nvSpPr>
          <p:cNvPr id="7" name="文本框 6"/>
          <p:cNvSpPr txBox="1"/>
          <p:nvPr/>
        </p:nvSpPr>
        <p:spPr>
          <a:xfrm>
            <a:off x="552291" y="6104414"/>
            <a:ext cx="5080000" cy="398780"/>
          </a:xfrm>
          <a:prstGeom prst="rect">
            <a:avLst/>
          </a:prstGeom>
        </p:spPr>
        <p:txBody>
          <a:bodyPr>
            <a:spAutoFit/>
          </a:bodyPr>
          <a:p>
            <a:pPr marL="0" indent="0" algn="ctr" defTabSz="266700">
              <a:lnSpc>
                <a:spcPct val="125000"/>
              </a:lnSpc>
              <a:spcBef>
                <a:spcPct val="0"/>
              </a:spcBef>
              <a:spcAft>
                <a:spcPct val="0"/>
              </a:spcAft>
            </a:pPr>
            <a:r>
              <a:rPr lang="zh-CN" altLang="en-US" sz="1600">
                <a:latin typeface="宋体" panose="02010600030101010101" pitchFamily="2" charset="-122"/>
                <a:ea typeface="宋体" panose="02010600030101010101" pitchFamily="2" charset="-122"/>
              </a:rPr>
              <a:t>图</a:t>
            </a:r>
            <a:r>
              <a:rPr lang="en-US" altLang="zh-CN" sz="1600">
                <a:latin typeface="Times New Roman" panose="02020603050405020304"/>
                <a:ea typeface="宋体" panose="02010600030101010101" pitchFamily="2" charset="-122"/>
              </a:rPr>
              <a:t>2</a:t>
            </a:r>
            <a:r>
              <a:rPr lang="en-US" altLang="zh-CN" sz="1600">
                <a:latin typeface="Times New Roman" panose="02020603050405020304"/>
                <a:ea typeface="Times New Roman" panose="02020603050405020304"/>
              </a:rPr>
              <a:t>-</a:t>
            </a:r>
            <a:r>
              <a:rPr lang="en-US" altLang="zh-CN" sz="1600">
                <a:latin typeface="Times New Roman" panose="02020603050405020304"/>
                <a:ea typeface="宋体" panose="02010600030101010101" pitchFamily="2" charset="-122"/>
              </a:rPr>
              <a:t>6 </a:t>
            </a:r>
            <a:r>
              <a:rPr lang="zh-CN" altLang="en-US" sz="1600">
                <a:latin typeface="Times New Roman" panose="02020603050405020304"/>
                <a:ea typeface="宋体" panose="02010600030101010101" pitchFamily="2" charset="-122"/>
              </a:rPr>
              <a:t>常用的概率抽样方法示意图</a:t>
            </a:r>
            <a:endParaRPr lang="zh-CN" altLang="en-US" sz="1600">
              <a:latin typeface="Times New Roman" panose="020206030504050203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四、</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规约</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53695" y="1003935"/>
            <a:ext cx="11322685" cy="1727200"/>
          </a:xfrm>
          <a:prstGeom prst="rect">
            <a:avLst/>
          </a:prstGeom>
        </p:spPr>
        <p:txBody>
          <a:bodyPr>
            <a:noAutofit/>
          </a:bodyPr>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数据压缩（</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Data compression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en-US" altLang="zh-CN" sz="32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a:latin typeface="宋体" panose="02010600030101010101" pitchFamily="2" charset="-122"/>
                <a:ea typeface="宋体" panose="02010600030101010101" pitchFamily="2" charset="-122"/>
                <a:cs typeface="宋体" panose="02010600030101010101" pitchFamily="2" charset="-122"/>
              </a:rPr>
              <a:t>是指通过一系列算法和技术，在不丢失有用信息的前提下，缩减数据量以节省存储空间，提高其传输、存储和处理效率。数据压缩技术可以通过多种方式实现，包括无损压缩和有损压缩。</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85000"/>
              </a:lnSpc>
              <a:spcBef>
                <a:spcPct val="0"/>
              </a:spcBef>
              <a:spcAft>
                <a:spcPct val="0"/>
              </a:spcAft>
            </a:pPr>
            <a:endParaRPr lang="zh-CN" altLang="en-US" sz="2800">
              <a:latin typeface="宋体" panose="02010600030101010101" pitchFamily="2" charset="-122"/>
              <a:ea typeface="宋体" panose="02010600030101010101" pitchFamily="2"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无损压缩</a:t>
            </a:r>
            <a:r>
              <a:rPr lang="zh-CN" altLang="en-US" sz="2400">
                <a:latin typeface="宋体" panose="02010600030101010101" pitchFamily="2" charset="-122"/>
                <a:ea typeface="宋体" panose="02010600030101010101" pitchFamily="2" charset="-122"/>
                <a:cs typeface="宋体" panose="02010600030101010101" pitchFamily="2" charset="-122"/>
              </a:rPr>
              <a:t>在压缩过程中不丢失任何数据，使得压缩后的数据能够完全还原为原始数据，适用于需要精确还原数据的情况。无损压缩的常用算法包括霍夫曼编码、字典编码、预测编码等。</a:t>
            </a: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342900" indent="-342900" algn="just" defTabSz="266700">
              <a:lnSpc>
                <a:spcPct val="45000"/>
              </a:lnSpc>
              <a:spcBef>
                <a:spcPct val="0"/>
              </a:spcBef>
              <a:spcAft>
                <a:spcPct val="0"/>
              </a:spcAft>
              <a:buFont typeface="Wingdings" panose="05000000000000000000" charset="0"/>
              <a:buChar char="l"/>
            </a:pP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有损压缩</a:t>
            </a:r>
            <a:r>
              <a:rPr lang="zh-CN" altLang="en-US" sz="2400">
                <a:latin typeface="宋体" panose="02010600030101010101" pitchFamily="2" charset="-122"/>
                <a:ea typeface="宋体" panose="02010600030101010101" pitchFamily="2" charset="-122"/>
                <a:cs typeface="宋体" panose="02010600030101010101" pitchFamily="2" charset="-122"/>
              </a:rPr>
              <a:t>在压缩过程中会牺牲一些数据精度以获得更高的压缩率，广泛应用于图像、音频、视频等多媒体数据中。有损压缩的常用算法包括转换编码、量化等。维度规约和数量规约也可以视为某种形式的数据压缩。</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五、</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变换</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434975" y="2179955"/>
            <a:ext cx="11322685" cy="1727200"/>
          </a:xfrm>
          <a:prstGeom prst="rect">
            <a:avLst/>
          </a:prstGeom>
        </p:spPr>
        <p:txBody>
          <a:bodyPr>
            <a:noAutofit/>
          </a:bodyPr>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数据变换（</a:t>
            </a: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Data transformation</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altLang="zh-CN" sz="2800">
                <a:latin typeface="宋体" panose="02010600030101010101" pitchFamily="2" charset="-122"/>
                <a:ea typeface="宋体" panose="02010600030101010101" pitchFamily="2" charset="-122"/>
                <a:cs typeface="宋体" panose="02010600030101010101" pitchFamily="2" charset="-122"/>
              </a:rPr>
              <a:t>  </a:t>
            </a:r>
            <a:r>
              <a:rPr lang="zh-CN" altLang="en-US" sz="2800">
                <a:latin typeface="宋体" panose="02010600030101010101" pitchFamily="2" charset="-122"/>
                <a:ea typeface="宋体" panose="02010600030101010101" pitchFamily="2" charset="-122"/>
                <a:cs typeface="宋体" panose="02010600030101010101" pitchFamily="2" charset="-122"/>
              </a:rPr>
              <a:t>是通过对原始数据进行特定的转换使其更易于理解和分析的数据预处理方法。</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85000"/>
              </a:lnSpc>
              <a:spcBef>
                <a:spcPct val="0"/>
              </a:spcBef>
              <a:spcAft>
                <a:spcPct val="0"/>
              </a:spcAft>
            </a:pP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buFont typeface="Wingdings" panose="05000000000000000000" charset="0"/>
              <a:buNone/>
            </a:pPr>
            <a:r>
              <a:rPr lang="en-US" altLang="zh-CN" sz="2400">
                <a:latin typeface="宋体" panose="02010600030101010101" pitchFamily="2" charset="-122"/>
                <a:ea typeface="宋体" panose="02010600030101010101" pitchFamily="2" charset="-122"/>
                <a:cs typeface="宋体" panose="02010600030101010101" pitchFamily="2" charset="-122"/>
              </a:rPr>
              <a:t>    </a:t>
            </a:r>
            <a:r>
              <a:rPr lang="zh-CN" altLang="en-US" sz="2400">
                <a:latin typeface="宋体" panose="02010600030101010101" pitchFamily="2" charset="-122"/>
                <a:ea typeface="宋体" panose="02010600030101010101" pitchFamily="2" charset="-122"/>
                <a:cs typeface="宋体" panose="02010600030101010101" pitchFamily="2" charset="-122"/>
              </a:rPr>
              <a:t>数据变换旨在将原始数据转换成更便于处理的格式。在数据挖掘任务中，原始数据的格式可能各不相同，需要经过一定的转换和处理，才能够进行数据分析和建模。常用的数据变换策略包括</a:t>
            </a:r>
            <a:r>
              <a:rPr lang="zh-CN" altLang="en-US" sz="2400">
                <a:solidFill>
                  <a:srgbClr val="FF0000"/>
                </a:solidFill>
                <a:latin typeface="宋体" panose="02010600030101010101" pitchFamily="2" charset="-122"/>
                <a:ea typeface="宋体" panose="02010600030101010101" pitchFamily="2" charset="-122"/>
                <a:cs typeface="宋体" panose="02010600030101010101" pitchFamily="2" charset="-122"/>
              </a:rPr>
              <a:t>数据规范化、连续数据离散化和分类数据编码</a:t>
            </a:r>
            <a:r>
              <a:rPr lang="zh-CN" altLang="en-US" sz="2400">
                <a:latin typeface="宋体" panose="02010600030101010101" pitchFamily="2" charset="-122"/>
                <a:ea typeface="宋体" panose="02010600030101010101" pitchFamily="2" charset="-122"/>
                <a:cs typeface="宋体" panose="02010600030101010101" pitchFamily="2" charset="-122"/>
              </a:rPr>
              <a:t>。</a:t>
            </a:r>
            <a:endParaRPr lang="zh-CN" altLang="en-US" sz="24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五、</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变换</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42900" y="1026160"/>
            <a:ext cx="11322685" cy="1727200"/>
          </a:xfrm>
          <a:prstGeom prst="rect">
            <a:avLst/>
          </a:prstGeom>
        </p:spPr>
        <p:txBody>
          <a:bodyPr>
            <a:noAutofit/>
          </a:bodyPr>
          <a:p>
            <a:pPr indent="0" algn="just" defTabSz="266700">
              <a:lnSpc>
                <a:spcPct val="125000"/>
              </a:lnSpc>
              <a:spcBef>
                <a:spcPct val="0"/>
              </a:spcBef>
              <a:spcAft>
                <a:spcPct val="0"/>
              </a:spcAft>
            </a:pPr>
            <a:r>
              <a:rPr lang="en-US" altLang="zh-CN" sz="24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en-US" altLang="zh-CN" sz="32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数据规范化</a:t>
            </a:r>
            <a:r>
              <a:rPr lang="zh-CN" altLang="en-US" sz="2800">
                <a:latin typeface="宋体" panose="02010600030101010101" pitchFamily="2" charset="-122"/>
                <a:ea typeface="宋体" panose="02010600030101010101" pitchFamily="2" charset="-122"/>
                <a:cs typeface="宋体" panose="02010600030101010101" pitchFamily="2" charset="-122"/>
              </a:rPr>
              <a:t>的主要目的就是消除数据之间量纲的差异，使得不同数据可以在同一个基准上进行比较和分析。常用的数据规范化方法包括最小</a:t>
            </a:r>
            <a:r>
              <a:rPr lang="en-US" altLang="zh-CN" sz="2800">
                <a:latin typeface="宋体" panose="02010600030101010101" pitchFamily="2" charset="-122"/>
                <a:ea typeface="宋体" panose="02010600030101010101" pitchFamily="2" charset="-122"/>
                <a:cs typeface="宋体" panose="02010600030101010101" pitchFamily="2" charset="-122"/>
              </a:rPr>
              <a:t>-</a:t>
            </a:r>
            <a:r>
              <a:rPr lang="zh-CN" altLang="en-US" sz="2800">
                <a:latin typeface="宋体" panose="02010600030101010101" pitchFamily="2" charset="-122"/>
                <a:ea typeface="宋体" panose="02010600030101010101" pitchFamily="2" charset="-122"/>
                <a:cs typeface="宋体" panose="02010600030101010101" pitchFamily="2" charset="-122"/>
              </a:rPr>
              <a:t>最大规范化、</a:t>
            </a:r>
            <a:r>
              <a:rPr lang="en-US" altLang="zh-CN" sz="2800">
                <a:latin typeface="宋体" panose="02010600030101010101" pitchFamily="2" charset="-122"/>
                <a:ea typeface="宋体" panose="02010600030101010101" pitchFamily="2" charset="-122"/>
                <a:cs typeface="宋体" panose="02010600030101010101" pitchFamily="2" charset="-122"/>
              </a:rPr>
              <a:t>Z</a:t>
            </a:r>
            <a:r>
              <a:rPr lang="zh-CN" altLang="en-US" sz="2800">
                <a:latin typeface="宋体" panose="02010600030101010101" pitchFamily="2" charset="-122"/>
                <a:ea typeface="宋体" panose="02010600030101010101" pitchFamily="2" charset="-122"/>
                <a:cs typeface="宋体" panose="02010600030101010101" pitchFamily="2" charset="-122"/>
              </a:rPr>
              <a:t>分数规范化、小数定标规范化。</a:t>
            </a:r>
            <a:endParaRPr lang="zh-CN" altLang="en-US" sz="2800">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804545" y="2753360"/>
            <a:ext cx="10583545" cy="38512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五、</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变换</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42900" y="1179830"/>
            <a:ext cx="11322685" cy="1727200"/>
          </a:xfrm>
          <a:prstGeom prst="rect">
            <a:avLst/>
          </a:prstGeom>
        </p:spPr>
        <p:txBody>
          <a:bodyPr>
            <a:noAutofit/>
          </a:bodyPr>
          <a:p>
            <a:pPr indent="0" algn="just" defTabSz="266700">
              <a:lnSpc>
                <a:spcPct val="125000"/>
              </a:lnSpc>
              <a:spcBef>
                <a:spcPct val="0"/>
              </a:spcBef>
              <a:spcAft>
                <a:spcPct val="0"/>
              </a:spcAft>
            </a:pP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数据离散化</a:t>
            </a:r>
            <a:r>
              <a:rPr lang="zh-CN" altLang="en-US" sz="2800">
                <a:latin typeface="宋体" panose="02010600030101010101" pitchFamily="2" charset="-122"/>
                <a:ea typeface="宋体" panose="02010600030101010101" pitchFamily="2" charset="-122"/>
                <a:cs typeface="宋体" panose="02010600030101010101" pitchFamily="2" charset="-122"/>
              </a:rPr>
              <a:t>是将连续变量划分成有限数量的离散区间的数据预处理技术，有助于简化数据分析和建模过程、降低计算复杂度、削弱异常值影响等。常用数据离散化方法包括分箱离散化、聚类分析离散化、决策树离散化。</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rPr>
              <a:t>前面介绍的分箱就是一种非监督的离散化技术，首先通过指定箱的深度或宽度完成数据分箱，然后利用箱均值或箱中位数等方法对箱中的数值进行平滑处理，实现属性值的离散化。</a:t>
            </a:r>
            <a:endPar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rPr>
              <a:t>聚类分析通过将属性的观测值划分为簇，实现对数据的离散化。</a:t>
            </a:r>
            <a:endPar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r>
              <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rPr>
              <a:t>决策树分析是一种监督的离散化方法，其核心思想是基于数据集的特征值选择最优划分点，将连续的数值型数据转化为离散的类别型数据。</a:t>
            </a:r>
            <a:endPar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五、</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数据</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变换</a:t>
            </a:r>
            <a:endParaRPr lang="zh-CN" altLang="en-US" sz="3200" dirty="0">
              <a:solidFill>
                <a:srgbClr val="FFFF00"/>
              </a:solidFill>
              <a:latin typeface="华光综艺_CNKI" panose="02000500000000000000" pitchFamily="2" charset="-122"/>
              <a:ea typeface="华光综艺_CNKI" panose="02000500000000000000" pitchFamily="2" charset="-122"/>
              <a:sym typeface="+mn-ea"/>
            </a:endParaRPr>
          </a:p>
        </p:txBody>
      </p:sp>
      <p:sp>
        <p:nvSpPr>
          <p:cNvPr id="13" name="文本框 12"/>
          <p:cNvSpPr txBox="1"/>
          <p:nvPr/>
        </p:nvSpPr>
        <p:spPr>
          <a:xfrm>
            <a:off x="342900" y="1369060"/>
            <a:ext cx="4296410" cy="1727200"/>
          </a:xfrm>
          <a:prstGeom prst="rect">
            <a:avLst/>
          </a:prstGeom>
        </p:spPr>
        <p:txBody>
          <a:bodyPr>
            <a:noAutofit/>
          </a:bodyPr>
          <a:p>
            <a:pPr indent="0" algn="just" defTabSz="266700">
              <a:lnSpc>
                <a:spcPct val="125000"/>
              </a:lnSpc>
              <a:spcBef>
                <a:spcPct val="0"/>
              </a:spcBef>
              <a:spcAft>
                <a:spcPct val="0"/>
              </a:spcAft>
            </a:pPr>
            <a:r>
              <a:rPr lang="en-US" altLang="zh-CN" sz="2800" b="1">
                <a:solidFill>
                  <a:srgbClr val="FF0000"/>
                </a:solidFill>
                <a:latin typeface="宋体" panose="02010600030101010101" pitchFamily="2" charset="-122"/>
                <a:ea typeface="宋体" panose="02010600030101010101" pitchFamily="2" charset="-122"/>
                <a:cs typeface="宋体" panose="02010600030101010101" pitchFamily="2" charset="-122"/>
              </a:rPr>
              <a:t>   </a:t>
            </a:r>
            <a:r>
              <a:rPr lang="zh-CN" altLang="en-US" sz="2800">
                <a:latin typeface="宋体" panose="02010600030101010101" pitchFamily="2" charset="-122"/>
                <a:ea typeface="宋体" panose="02010600030101010101" pitchFamily="2" charset="-122"/>
                <a:cs typeface="宋体" panose="02010600030101010101" pitchFamily="2" charset="-122"/>
              </a:rPr>
              <a:t>在数据挖掘中，分类变量是常见的一种数据类型。然而，许多机器学习算法和统计分析方法都只能处理数值变量。因此需要将分类变量转换为数值变量，常见的</a:t>
            </a:r>
            <a:r>
              <a:rPr lang="zh-CN" altLang="en-US" sz="2800" b="1">
                <a:solidFill>
                  <a:srgbClr val="FF0000"/>
                </a:solidFill>
                <a:latin typeface="宋体" panose="02010600030101010101" pitchFamily="2" charset="-122"/>
                <a:ea typeface="宋体" panose="02010600030101010101" pitchFamily="2" charset="-122"/>
                <a:cs typeface="宋体" panose="02010600030101010101" pitchFamily="2" charset="-122"/>
              </a:rPr>
              <a:t>分类数据编码方法</a:t>
            </a:r>
            <a:r>
              <a:rPr lang="zh-CN" altLang="en-US" sz="2800">
                <a:latin typeface="宋体" panose="02010600030101010101" pitchFamily="2" charset="-122"/>
                <a:ea typeface="宋体" panose="02010600030101010101" pitchFamily="2" charset="-122"/>
                <a:cs typeface="宋体" panose="02010600030101010101" pitchFamily="2" charset="-122"/>
              </a:rPr>
              <a:t>包括序数编码、独热编码、二进制编码等。</a:t>
            </a:r>
            <a:endParaRPr lang="zh-CN" altLang="en-US" sz="2800">
              <a:latin typeface="宋体" panose="02010600030101010101" pitchFamily="2" charset="-122"/>
              <a:ea typeface="宋体" panose="02010600030101010101" pitchFamily="2" charset="-122"/>
              <a:cs typeface="宋体" panose="02010600030101010101" pitchFamily="2" charset="-122"/>
            </a:endParaRPr>
          </a:p>
          <a:p>
            <a:pPr indent="0" algn="just" defTabSz="266700">
              <a:lnSpc>
                <a:spcPct val="125000"/>
              </a:lnSpc>
              <a:spcBef>
                <a:spcPct val="0"/>
              </a:spcBef>
              <a:spcAft>
                <a:spcPct val="0"/>
              </a:spcAft>
            </a:pPr>
            <a:endParaRPr lang="zh-CN" altLang="en-US" sz="2400">
              <a:latin typeface="宋体" panose="02010600030101010101" pitchFamily="2" charset="-122"/>
              <a:ea typeface="宋体" panose="02010600030101010101" pitchFamily="2" charset="-122"/>
              <a:cs typeface="宋体" panose="02010600030101010101" pitchFamily="2" charset="-122"/>
            </a:endParaRPr>
          </a:p>
          <a:p>
            <a:pPr marL="342900" indent="-342900" algn="just" defTabSz="266700">
              <a:lnSpc>
                <a:spcPct val="125000"/>
              </a:lnSpc>
              <a:spcBef>
                <a:spcPct val="0"/>
              </a:spcBef>
              <a:spcAft>
                <a:spcPct val="0"/>
              </a:spcAft>
              <a:buFont typeface="Wingdings" panose="05000000000000000000" charset="0"/>
              <a:buChar char="l"/>
            </a:pPr>
            <a:endParaRPr lang="zh-CN" altLang="en-US" sz="2400">
              <a:solidFill>
                <a:schemeClr val="accent1"/>
              </a:solidFill>
              <a:latin typeface="微软雅黑" panose="020B0503020204020204" pitchFamily="34" charset="-122"/>
              <a:ea typeface="微软雅黑" panose="020B0503020204020204" pitchFamily="34"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4976495" y="1933575"/>
            <a:ext cx="6899275" cy="4261485"/>
          </a:xfrm>
          <a:prstGeom prst="rect">
            <a:avLst/>
          </a:prstGeom>
        </p:spPr>
      </p:pic>
      <p:pic>
        <p:nvPicPr>
          <p:cNvPr id="2" name="图片 1"/>
          <p:cNvPicPr>
            <a:picLocks noChangeAspect="1"/>
          </p:cNvPicPr>
          <p:nvPr/>
        </p:nvPicPr>
        <p:blipFill>
          <a:blip r:embed="rId2"/>
          <a:srcRect b="9462"/>
          <a:stretch>
            <a:fillRect/>
          </a:stretch>
        </p:blipFill>
        <p:spPr>
          <a:xfrm>
            <a:off x="4889500" y="1179830"/>
            <a:ext cx="7208520" cy="14992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p:cNvSpPr txBox="1"/>
          <p:nvPr/>
        </p:nvSpPr>
        <p:spPr>
          <a:xfrm>
            <a:off x="1413827" y="166758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382270" y="976630"/>
            <a:ext cx="11155045" cy="1217295"/>
          </a:xfrm>
          <a:prstGeom prst="rect">
            <a:avLst/>
          </a:prstGeom>
        </p:spPr>
        <p:txBody>
          <a:bodyPr>
            <a:noAutofit/>
          </a:bodyPr>
          <a:p>
            <a:pPr marL="0" indent="0" algn="just" defTabSz="266700">
              <a:lnSpc>
                <a:spcPct val="125000"/>
              </a:lnSpc>
              <a:spcBef>
                <a:spcPct val="0"/>
              </a:spcBef>
              <a:spcAft>
                <a:spcPct val="0"/>
              </a:spcAft>
            </a:pPr>
            <a:r>
              <a:rPr lang="zh-CN" altLang="en-US" sz="2400">
                <a:latin typeface="微软雅黑" panose="020B0503020204020204" pitchFamily="34" charset="-122"/>
                <a:ea typeface="微软雅黑" panose="020B0503020204020204" pitchFamily="34" charset="-122"/>
              </a:rPr>
              <a:t>本节将对线上零售交易数据进行预处理，该数据集由</a:t>
            </a:r>
            <a:r>
              <a:rPr lang="en-US" altLang="zh-CN" sz="2400">
                <a:latin typeface="微软雅黑" panose="020B0503020204020204" pitchFamily="34" charset="-122"/>
                <a:ea typeface="微软雅黑" panose="020B0503020204020204" pitchFamily="34" charset="-122"/>
              </a:rPr>
              <a:t> 2021 </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 12 </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 1 </a:t>
            </a:r>
            <a:r>
              <a:rPr lang="zh-CN" altLang="en-US" sz="2400">
                <a:latin typeface="微软雅黑" panose="020B0503020204020204" pitchFamily="34" charset="-122"/>
                <a:ea typeface="微软雅黑" panose="020B0503020204020204" pitchFamily="34" charset="-122"/>
              </a:rPr>
              <a:t>日至</a:t>
            </a:r>
            <a:r>
              <a:rPr lang="en-US" altLang="zh-CN" sz="2400">
                <a:latin typeface="微软雅黑" panose="020B0503020204020204" pitchFamily="34" charset="-122"/>
                <a:ea typeface="微软雅黑" panose="020B0503020204020204" pitchFamily="34" charset="-122"/>
              </a:rPr>
              <a:t> 2023 </a:t>
            </a:r>
            <a:r>
              <a:rPr lang="zh-CN" altLang="en-US" sz="2400">
                <a:latin typeface="微软雅黑" panose="020B0503020204020204" pitchFamily="34" charset="-122"/>
                <a:ea typeface="微软雅黑" panose="020B0503020204020204" pitchFamily="34" charset="-122"/>
              </a:rPr>
              <a:t>年</a:t>
            </a:r>
            <a:r>
              <a:rPr lang="en-US" altLang="zh-CN" sz="2400">
                <a:latin typeface="微软雅黑" panose="020B0503020204020204" pitchFamily="34" charset="-122"/>
                <a:ea typeface="微软雅黑" panose="020B0503020204020204" pitchFamily="34" charset="-122"/>
              </a:rPr>
              <a:t>12 </a:t>
            </a:r>
            <a:r>
              <a:rPr lang="zh-CN" altLang="en-US" sz="2400">
                <a:latin typeface="微软雅黑" panose="020B0503020204020204" pitchFamily="34" charset="-122"/>
                <a:ea typeface="微软雅黑" panose="020B0503020204020204" pitchFamily="34" charset="-122"/>
              </a:rPr>
              <a:t>月</a:t>
            </a:r>
            <a:r>
              <a:rPr lang="en-US" altLang="zh-CN" sz="2400">
                <a:latin typeface="微软雅黑" panose="020B0503020204020204" pitchFamily="34" charset="-122"/>
                <a:ea typeface="微软雅黑" panose="020B0503020204020204" pitchFamily="34" charset="-122"/>
              </a:rPr>
              <a:t> 9 </a:t>
            </a:r>
            <a:r>
              <a:rPr lang="zh-CN" altLang="en-US" sz="2400">
                <a:latin typeface="微软雅黑" panose="020B0503020204020204" pitchFamily="34" charset="-122"/>
                <a:ea typeface="微软雅黑" panose="020B0503020204020204" pitchFamily="34" charset="-122"/>
              </a:rPr>
              <a:t>日期间发生的英国注册非商店在线零售的所有交易订单组成（数据集来源：</a:t>
            </a:r>
            <a:r>
              <a:rPr lang="en-US" altLang="zh-CN" sz="2400">
                <a:latin typeface="微软雅黑" panose="020B0503020204020204" pitchFamily="34" charset="-122"/>
                <a:ea typeface="微软雅黑" panose="020B0503020204020204" pitchFamily="34" charset="-122"/>
              </a:rPr>
              <a:t>https://www.kaggle.com/datasets/puneetbhaya/online-retail</a:t>
            </a:r>
            <a:r>
              <a:rPr lang="zh-CN" altLang="en-US" sz="2400">
                <a:latin typeface="微软雅黑" panose="020B0503020204020204" pitchFamily="34" charset="-122"/>
                <a:ea typeface="微软雅黑" panose="020B0503020204020204" pitchFamily="34" charset="-122"/>
              </a:rPr>
              <a:t>），共包含</a:t>
            </a:r>
            <a:r>
              <a:rPr lang="en-US" altLang="zh-CN" sz="2400">
                <a:latin typeface="微软雅黑" panose="020B0503020204020204" pitchFamily="34" charset="-122"/>
                <a:ea typeface="微软雅黑" panose="020B0503020204020204" pitchFamily="34" charset="-122"/>
              </a:rPr>
              <a:t> 541909 </a:t>
            </a:r>
            <a:r>
              <a:rPr lang="zh-CN" altLang="en-US" sz="2400">
                <a:latin typeface="微软雅黑" panose="020B0503020204020204" pitchFamily="34" charset="-122"/>
                <a:ea typeface="微软雅黑" panose="020B0503020204020204" pitchFamily="34" charset="-122"/>
              </a:rPr>
              <a:t>个样本，部分数据样例见表</a:t>
            </a:r>
            <a:r>
              <a:rPr lang="en-US" altLang="zh-CN" sz="2400">
                <a:latin typeface="微软雅黑" panose="020B0503020204020204" pitchFamily="34" charset="-122"/>
                <a:ea typeface="微软雅黑" panose="020B0503020204020204" pitchFamily="34" charset="-122"/>
              </a:rPr>
              <a:t> 2-9</a:t>
            </a:r>
            <a:r>
              <a:rPr lang="zh-CN" altLang="en-US" sz="2400">
                <a:latin typeface="微软雅黑" panose="020B0503020204020204" pitchFamily="34" charset="-122"/>
                <a:ea typeface="微软雅黑" panose="020B0503020204020204" pitchFamily="34" charset="-122"/>
              </a:rPr>
              <a:t>，具体字段包括发票编号、商品代码、商品描述、数量、发票日期、单价、客户</a:t>
            </a:r>
            <a:r>
              <a:rPr lang="en-US" altLang="zh-CN" sz="2400">
                <a:latin typeface="微软雅黑" panose="020B0503020204020204" pitchFamily="34" charset="-122"/>
                <a:ea typeface="微软雅黑" panose="020B0503020204020204" pitchFamily="34" charset="-122"/>
              </a:rPr>
              <a:t> ID</a:t>
            </a:r>
            <a:r>
              <a:rPr lang="zh-CN" altLang="en-US" sz="2400">
                <a:latin typeface="微软雅黑" panose="020B0503020204020204" pitchFamily="34" charset="-122"/>
                <a:ea typeface="微软雅黑" panose="020B0503020204020204" pitchFamily="34" charset="-122"/>
              </a:rPr>
              <a:t>、国家（交易发生的国家）。</a:t>
            </a:r>
            <a:endParaRPr lang="zh-CN" altLang="en-US" sz="2400">
              <a:latin typeface="微软雅黑" panose="020B0503020204020204" pitchFamily="34" charset="-122"/>
              <a:ea typeface="微软雅黑" panose="020B0503020204020204" pitchFamily="34" charset="-122"/>
            </a:endParaRPr>
          </a:p>
        </p:txBody>
      </p:sp>
      <p:graphicFrame>
        <p:nvGraphicFramePr>
          <p:cNvPr id="4" name="表格 3"/>
          <p:cNvGraphicFramePr/>
          <p:nvPr>
            <p:custDataLst>
              <p:tags r:id="rId1"/>
            </p:custDataLst>
          </p:nvPr>
        </p:nvGraphicFramePr>
        <p:xfrm>
          <a:off x="433070" y="3488055"/>
          <a:ext cx="11533505" cy="3169920"/>
        </p:xfrm>
        <a:graphic>
          <a:graphicData uri="http://schemas.openxmlformats.org/drawingml/2006/table">
            <a:tbl>
              <a:tblPr/>
              <a:tblGrid>
                <a:gridCol w="1224915"/>
                <a:gridCol w="964565"/>
                <a:gridCol w="4015105"/>
                <a:gridCol w="695960"/>
                <a:gridCol w="1579245"/>
                <a:gridCol w="833755"/>
                <a:gridCol w="784225"/>
                <a:gridCol w="1435735"/>
              </a:tblGrid>
              <a:tr h="327660">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发票编号</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商品代码</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商品描述</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数量</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发票日期</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单价</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客户</a:t>
                      </a:r>
                      <a:r>
                        <a:rPr lang="en-US" altLang="zh-CN" sz="1400" b="1">
                          <a:solidFill>
                            <a:srgbClr val="000000"/>
                          </a:solidFill>
                          <a:latin typeface="Times New Roman" panose="02020603050405020304"/>
                          <a:ea typeface="等线" panose="02010600030101010101" charset="-122"/>
                        </a:rPr>
                        <a:t>ID</a:t>
                      </a:r>
                      <a:endParaRPr lang="en-US" altLang="zh-CN" sz="1400" b="1">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marL="0" indent="0" algn="ctr">
                        <a:lnSpc>
                          <a:spcPct val="125000"/>
                        </a:lnSpc>
                        <a:spcBef>
                          <a:spcPct val="0"/>
                        </a:spcBef>
                        <a:spcAft>
                          <a:spcPct val="0"/>
                        </a:spcAft>
                      </a:pPr>
                      <a:r>
                        <a:rPr lang="zh-CN" sz="1400" b="1">
                          <a:solidFill>
                            <a:srgbClr val="000000"/>
                          </a:solidFill>
                          <a:latin typeface="宋体" panose="02010600030101010101" pitchFamily="2" charset="-122"/>
                          <a:ea typeface="宋体" panose="02010600030101010101" pitchFamily="2" charset="-122"/>
                        </a:rPr>
                        <a:t>国家</a:t>
                      </a:r>
                      <a:endParaRPr lang="zh-CN" sz="1400" b="1">
                        <a:solidFill>
                          <a:srgbClr val="000000"/>
                        </a:solidFill>
                        <a:latin typeface="宋体" panose="02010600030101010101" pitchFamily="2" charset="-122"/>
                        <a:ea typeface="宋体" panose="02010600030101010101" pitchFamily="2" charset="-122"/>
                      </a:endParaRPr>
                    </a:p>
                  </a:txBody>
                  <a:tcPr marL="68580" marR="68580" marT="0" marB="0" anchor="ctr" anchorCtr="0">
                    <a:lnL>
                      <a:noFill/>
                    </a:lnL>
                    <a:lnR>
                      <a:noFill/>
                    </a:lnR>
                    <a:lnT w="190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65150">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536365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85123A</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WHITE HANGING HEART T-LIGHT HOLDER</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6</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01-12-2021 08:26</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2.55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17850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United Kingdom</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w="6350" cap="flat" cmpd="sng">
                      <a:solidFill>
                        <a:srgbClr val="000008"/>
                      </a:solidFill>
                      <a:prstDash val="solid"/>
                      <a:headEnd type="none" w="med" len="med"/>
                      <a:tailEnd type="none" w="med" len="med"/>
                    </a:lnT>
                    <a:lnB>
                      <a:noFill/>
                    </a:lnB>
                    <a:noFill/>
                  </a:tcPr>
                </a:tc>
              </a:tr>
              <a:tr h="377190">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536365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71053</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WHITE METAL LANTERN</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6</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01-12-2021 08:26</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3.39</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17850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United Kingdom</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563880">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536365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84406B</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CREAM CUPID HEARTS COAT HANGER</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8</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01-12-2021 08:26</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2.75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17850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United Kingdom</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266700">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a:t>
                      </a:r>
                      <a:endParaRPr lang="en-US" altLang="zh-CN" sz="1400">
                        <a:solidFill>
                          <a:srgbClr val="000000"/>
                        </a:solidFill>
                        <a:latin typeface="Times New Roman" panose="02020603050405020304"/>
                        <a:ea typeface="等线" panose="02010600030101010101" charset="-122"/>
                      </a:endParaRPr>
                    </a:p>
                  </a:txBody>
                  <a:tcPr marL="68580" marR="68580" marT="0" marB="0" anchor="b" anchorCtr="0">
                    <a:lnL>
                      <a:noFill/>
                    </a:lnL>
                    <a:lnR>
                      <a:noFill/>
                    </a:lnR>
                    <a:lnT>
                      <a:noFill/>
                    </a:lnT>
                    <a:lnB>
                      <a:noFill/>
                    </a:lnB>
                    <a:noFill/>
                  </a:tcPr>
                </a:tc>
              </a:tr>
              <a:tr h="564515">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581587</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23255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CHILDRENS CUTLERY CIRCUS PARADE</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4</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09-12-2023 12:50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4.15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12680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France</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a:noFill/>
                    </a:lnB>
                    <a:noFill/>
                  </a:tcPr>
                </a:tc>
              </a:tr>
              <a:tr h="504825">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581587</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22138</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BAKING SET 9 PIECE RETROSPOT</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3</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09-12-2023 12:50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4.95</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12680</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l">
                        <a:lnSpc>
                          <a:spcPct val="125000"/>
                        </a:lnSpc>
                        <a:spcBef>
                          <a:spcPct val="0"/>
                        </a:spcBef>
                        <a:spcAft>
                          <a:spcPct val="0"/>
                        </a:spcAft>
                      </a:pPr>
                      <a:r>
                        <a:rPr lang="en-US" altLang="zh-CN" sz="1400">
                          <a:solidFill>
                            <a:srgbClr val="000000"/>
                          </a:solidFill>
                          <a:latin typeface="Times New Roman" panose="02020603050405020304"/>
                          <a:ea typeface="等线" panose="02010600030101010101" charset="-122"/>
                        </a:rPr>
                        <a:t>France</a:t>
                      </a:r>
                      <a:endParaRPr lang="en-US" altLang="zh-CN" sz="1400">
                        <a:solidFill>
                          <a:srgbClr val="000000"/>
                        </a:solidFill>
                        <a:latin typeface="Times New Roman" panose="02020603050405020304"/>
                        <a:ea typeface="等线" panose="02010600030101010101" charset="-122"/>
                      </a:endParaRPr>
                    </a:p>
                  </a:txBody>
                  <a:tcPr marL="68580" marR="6858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438785" y="1091565"/>
            <a:ext cx="11035030" cy="1217295"/>
          </a:xfrm>
          <a:prstGeom prst="rect">
            <a:avLst/>
          </a:prstGeom>
        </p:spPr>
        <p:txBody>
          <a:bodyPr>
            <a:noAutofit/>
          </a:bodyPr>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数据预处理。</a:t>
            </a:r>
            <a:r>
              <a:rPr lang="zh-CN" altLang="en-US" sz="2400">
                <a:latin typeface="微软雅黑" panose="020B0503020204020204" pitchFamily="34" charset="-122"/>
                <a:ea typeface="微软雅黑" panose="020B0503020204020204" pitchFamily="34" charset="-122"/>
              </a:rPr>
              <a:t>使用</a:t>
            </a:r>
            <a:r>
              <a:rPr lang="en-US" altLang="zh-CN" sz="2400">
                <a:latin typeface="微软雅黑" panose="020B0503020204020204" pitchFamily="34" charset="-122"/>
                <a:ea typeface="微软雅黑" panose="020B0503020204020204" pitchFamily="34" charset="-122"/>
              </a:rPr>
              <a:t>isnull</a:t>
            </a:r>
            <a:r>
              <a:rPr lang="zh-CN" altLang="en-US" sz="2400">
                <a:latin typeface="微软雅黑" panose="020B0503020204020204" pitchFamily="34" charset="-122"/>
                <a:ea typeface="微软雅黑" panose="020B0503020204020204" pitchFamily="34" charset="-122"/>
              </a:rPr>
              <a:t>函数查看各字段数据缺失的情况。结果显示，</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商品描述</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客户</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分别存在</a:t>
            </a:r>
            <a:r>
              <a:rPr lang="en-US" altLang="zh-CN" sz="2400">
                <a:latin typeface="微软雅黑" panose="020B0503020204020204" pitchFamily="34" charset="-122"/>
                <a:ea typeface="微软雅黑" panose="020B0503020204020204" pitchFamily="34" charset="-122"/>
              </a:rPr>
              <a:t>1454</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135080</a:t>
            </a:r>
            <a:r>
              <a:rPr lang="zh-CN" altLang="en-US" sz="2400">
                <a:latin typeface="微软雅黑" panose="020B0503020204020204" pitchFamily="34" charset="-122"/>
                <a:ea typeface="微软雅黑" panose="020B0503020204020204" pitchFamily="34" charset="-122"/>
              </a:rPr>
              <a:t>条数据缺失，由于</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商品描述</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字段的缺失值较少，占比约</a:t>
            </a:r>
            <a:r>
              <a:rPr lang="en-US" altLang="zh-CN" sz="2400">
                <a:latin typeface="微软雅黑" panose="020B0503020204020204" pitchFamily="34" charset="-122"/>
                <a:ea typeface="微软雅黑" panose="020B0503020204020204" pitchFamily="34" charset="-122"/>
              </a:rPr>
              <a:t>0.27%</a:t>
            </a:r>
            <a:r>
              <a:rPr lang="zh-CN" altLang="en-US" sz="2400">
                <a:latin typeface="微软雅黑" panose="020B0503020204020204" pitchFamily="34" charset="-122"/>
                <a:ea typeface="微软雅黑" panose="020B0503020204020204" pitchFamily="34" charset="-122"/>
              </a:rPr>
              <a:t>，可予以删除处理。</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1"/>
          <a:stretch>
            <a:fillRect/>
          </a:stretch>
        </p:blipFill>
        <p:spPr>
          <a:xfrm>
            <a:off x="756920" y="2903855"/>
            <a:ext cx="10399395" cy="21177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9" name="文本框 8"/>
          <p:cNvSpPr txBox="1"/>
          <p:nvPr/>
        </p:nvSpPr>
        <p:spPr>
          <a:xfrm>
            <a:off x="1229360" y="644969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19710" y="1150620"/>
            <a:ext cx="11035030" cy="1217295"/>
          </a:xfrm>
          <a:prstGeom prst="rect">
            <a:avLst/>
          </a:prstGeom>
        </p:spPr>
        <p:txBody>
          <a:bodyPr>
            <a:noAutofit/>
          </a:bodyPr>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查看数据分布情况。</a:t>
            </a:r>
            <a:r>
              <a:rPr lang="zh-CN" altLang="en-US" sz="2400">
                <a:latin typeface="微软雅黑" panose="020B0503020204020204" pitchFamily="34" charset="-122"/>
                <a:ea typeface="微软雅黑" panose="020B0503020204020204" pitchFamily="34" charset="-122"/>
              </a:rPr>
              <a:t>通过</a:t>
            </a:r>
            <a:r>
              <a:rPr lang="en-US" altLang="zh-CN" sz="2400">
                <a:latin typeface="微软雅黑" panose="020B0503020204020204" pitchFamily="34" charset="-122"/>
                <a:ea typeface="微软雅黑" panose="020B0503020204020204" pitchFamily="34" charset="-122"/>
              </a:rPr>
              <a:t>describe</a:t>
            </a:r>
            <a:r>
              <a:rPr lang="zh-CN" altLang="en-US" sz="2400">
                <a:latin typeface="微软雅黑" panose="020B0503020204020204" pitchFamily="34" charset="-122"/>
                <a:ea typeface="微软雅黑" panose="020B0503020204020204" pitchFamily="34" charset="-122"/>
              </a:rPr>
              <a:t>函数查看数值型数据的分布情况。从输出结果中可以观察到，</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数量</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单价</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字段的最小值存在负数的情况，这显然有悖于事实，因此需要筛选出数量大于等于</a:t>
            </a:r>
            <a:r>
              <a:rPr lang="en-US" altLang="zh-CN" sz="2400">
                <a:latin typeface="微软雅黑" panose="020B0503020204020204" pitchFamily="34" charset="-122"/>
                <a:ea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rPr>
              <a:t>，单价大于</a:t>
            </a:r>
            <a:r>
              <a:rPr lang="en-US" altLang="zh-CN" sz="2400">
                <a:latin typeface="微软雅黑" panose="020B0503020204020204" pitchFamily="34" charset="-122"/>
                <a:ea typeface="微软雅黑" panose="020B0503020204020204" pitchFamily="34" charset="-122"/>
              </a:rPr>
              <a:t>0</a:t>
            </a:r>
            <a:r>
              <a:rPr lang="zh-CN" altLang="en-US" sz="2400">
                <a:latin typeface="微软雅黑" panose="020B0503020204020204" pitchFamily="34" charset="-122"/>
                <a:ea typeface="微软雅黑" panose="020B0503020204020204" pitchFamily="34" charset="-122"/>
              </a:rPr>
              <a:t>的数据进行后续分析。</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38810" y="2757170"/>
            <a:ext cx="9429115" cy="284480"/>
          </a:xfrm>
          <a:prstGeom prst="rect">
            <a:avLst/>
          </a:prstGeom>
        </p:spPr>
      </p:pic>
      <p:pic>
        <p:nvPicPr>
          <p:cNvPr id="8" name="图片 7"/>
          <p:cNvPicPr>
            <a:picLocks noChangeAspect="1"/>
          </p:cNvPicPr>
          <p:nvPr/>
        </p:nvPicPr>
        <p:blipFill>
          <a:blip r:embed="rId2"/>
          <a:stretch>
            <a:fillRect/>
          </a:stretch>
        </p:blipFill>
        <p:spPr>
          <a:xfrm>
            <a:off x="638810" y="3152775"/>
            <a:ext cx="7935595" cy="35864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p:cNvSpPr txBox="1"/>
          <p:nvPr/>
        </p:nvSpPr>
        <p:spPr>
          <a:xfrm>
            <a:off x="2010727" y="152153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492240"/>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308610" y="667385"/>
            <a:ext cx="11035030" cy="1009650"/>
          </a:xfrm>
          <a:prstGeom prst="rect">
            <a:avLst/>
          </a:prstGeom>
        </p:spPr>
        <p:txBody>
          <a:bodyPr>
            <a:noAutofit/>
          </a:bodyPr>
          <a:p>
            <a:pPr indent="0" algn="just" defTabSz="266700">
              <a:lnSpc>
                <a:spcPct val="135000"/>
              </a:lnSpc>
              <a:spcBef>
                <a:spcPct val="0"/>
              </a:spcBef>
              <a:spcAft>
                <a:spcPct val="0"/>
              </a:spcAft>
              <a:buFont typeface="Arial" panose="020B0604020202020204" pitchFamily="34" charset="0"/>
              <a:buNone/>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索引过滤。</a:t>
            </a:r>
            <a:r>
              <a:rPr lang="zh-CN" altLang="en-US" sz="2400">
                <a:solidFill>
                  <a:schemeClr val="tx1"/>
                </a:solidFill>
                <a:latin typeface="微软雅黑" panose="020B0503020204020204" pitchFamily="34" charset="-122"/>
                <a:ea typeface="微软雅黑" panose="020B0503020204020204" pitchFamily="34" charset="-122"/>
              </a:rPr>
              <a:t>使用</a:t>
            </a:r>
            <a:r>
              <a:rPr lang="en-US" altLang="zh-CN" sz="2400">
                <a:solidFill>
                  <a:schemeClr val="tx1"/>
                </a:solidFill>
                <a:latin typeface="微软雅黑" panose="020B0503020204020204" pitchFamily="34" charset="-122"/>
                <a:ea typeface="微软雅黑" panose="020B0503020204020204" pitchFamily="34" charset="-122"/>
              </a:rPr>
              <a:t>data_processed</a:t>
            </a:r>
            <a:r>
              <a:rPr lang="zh-CN" altLang="en-US" sz="2400">
                <a:solidFill>
                  <a:schemeClr val="tx1"/>
                </a:solidFill>
                <a:latin typeface="微软雅黑" panose="020B0503020204020204" pitchFamily="34" charset="-122"/>
                <a:ea typeface="微软雅黑" panose="020B0503020204020204" pitchFamily="34" charset="-122"/>
              </a:rPr>
              <a:t>函数对数量大于等于</a:t>
            </a:r>
            <a:r>
              <a:rPr lang="en-US" altLang="zh-CN" sz="2400">
                <a:solidFill>
                  <a:schemeClr val="tx1"/>
                </a:solidFill>
                <a:latin typeface="微软雅黑" panose="020B0503020204020204" pitchFamily="34" charset="-122"/>
                <a:ea typeface="微软雅黑" panose="020B0503020204020204" pitchFamily="34" charset="-122"/>
              </a:rPr>
              <a:t>1</a:t>
            </a:r>
            <a:r>
              <a:rPr lang="zh-CN" altLang="en-US" sz="2400">
                <a:solidFill>
                  <a:schemeClr val="tx1"/>
                </a:solidFill>
                <a:latin typeface="微软雅黑" panose="020B0503020204020204" pitchFamily="34" charset="-122"/>
                <a:ea typeface="微软雅黑" panose="020B0503020204020204" pitchFamily="34" charset="-122"/>
              </a:rPr>
              <a:t>，单价大于</a:t>
            </a:r>
            <a:r>
              <a:rPr lang="en-US" altLang="zh-CN" sz="2400">
                <a:solidFill>
                  <a:schemeClr val="tx1"/>
                </a:solidFill>
                <a:latin typeface="微软雅黑" panose="020B0503020204020204" pitchFamily="34" charset="-122"/>
                <a:ea typeface="微软雅黑" panose="020B0503020204020204" pitchFamily="34" charset="-122"/>
              </a:rPr>
              <a:t>0</a:t>
            </a:r>
            <a:r>
              <a:rPr lang="zh-CN" altLang="en-US" sz="2400">
                <a:solidFill>
                  <a:schemeClr val="tx1"/>
                </a:solidFill>
                <a:latin typeface="微软雅黑" panose="020B0503020204020204" pitchFamily="34" charset="-122"/>
                <a:ea typeface="微软雅黑" panose="020B0503020204020204" pitchFamily="34" charset="-122"/>
              </a:rPr>
              <a:t>的数据进行索引和筛选。使用方法如下：</a:t>
            </a:r>
            <a:endParaRPr lang="zh-CN" altLang="en-US" sz="2400" b="1">
              <a:solidFill>
                <a:srgbClr val="FF0000"/>
              </a:solidFill>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670560" y="2367915"/>
            <a:ext cx="9486265" cy="834390"/>
          </a:xfrm>
          <a:prstGeom prst="rect">
            <a:avLst/>
          </a:prstGeom>
        </p:spPr>
      </p:pic>
      <p:pic>
        <p:nvPicPr>
          <p:cNvPr id="11" name="图片 10"/>
          <p:cNvPicPr>
            <a:picLocks noChangeAspect="1"/>
          </p:cNvPicPr>
          <p:nvPr/>
        </p:nvPicPr>
        <p:blipFill>
          <a:blip r:embed="rId2"/>
          <a:stretch>
            <a:fillRect/>
          </a:stretch>
        </p:blipFill>
        <p:spPr>
          <a:xfrm>
            <a:off x="774700" y="3435350"/>
            <a:ext cx="8416925" cy="30568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p:cNvSpPr txBox="1"/>
          <p:nvPr/>
        </p:nvSpPr>
        <p:spPr>
          <a:xfrm>
            <a:off x="2010727" y="152153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318260" y="696658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220345" y="934085"/>
            <a:ext cx="11035030" cy="1217295"/>
          </a:xfrm>
          <a:prstGeom prst="rect">
            <a:avLst/>
          </a:prstGeom>
        </p:spPr>
        <p:txBody>
          <a:bodyPr>
            <a:noAutofit/>
          </a:bodyPr>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分层抽样。</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客户</a:t>
            </a:r>
            <a:r>
              <a:rPr lang="en-US" altLang="zh-CN" sz="2400">
                <a:latin typeface="微软雅黑" panose="020B0503020204020204" pitchFamily="34" charset="-122"/>
                <a:ea typeface="微软雅黑" panose="020B0503020204020204" pitchFamily="34" charset="-122"/>
              </a:rPr>
              <a:t>ID”</a:t>
            </a:r>
            <a:r>
              <a:rPr lang="zh-CN" altLang="en-US" sz="2400">
                <a:latin typeface="微软雅黑" panose="020B0503020204020204" pitchFamily="34" charset="-122"/>
                <a:ea typeface="微软雅黑" panose="020B0503020204020204" pitchFamily="34" charset="-122"/>
              </a:rPr>
              <a:t>缺失数据较多，不宜直接删除，可根据后续的具体挖掘任务进行合适的处理。为了节省模型训练时间，可对数据进行分层抽样，根据</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国家</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字段从全部数据中抽取</a:t>
            </a:r>
            <a:r>
              <a:rPr lang="en-US" altLang="zh-CN" sz="2400">
                <a:latin typeface="微软雅黑" panose="020B0503020204020204" pitchFamily="34" charset="-122"/>
                <a:ea typeface="微软雅黑" panose="020B0503020204020204" pitchFamily="34" charset="-122"/>
              </a:rPr>
              <a:t>10000</a:t>
            </a:r>
            <a:r>
              <a:rPr lang="zh-CN" altLang="en-US" sz="2400">
                <a:latin typeface="微软雅黑" panose="020B0503020204020204" pitchFamily="34" charset="-122"/>
                <a:ea typeface="微软雅黑" panose="020B0503020204020204" pitchFamily="34" charset="-122"/>
              </a:rPr>
              <a:t>条数据。在这个过程中，每个国家的数据按比例被抽取，以确保抽样后的样本仍能保持总体数据集中不同国家的分布特征。本例中使用</a:t>
            </a:r>
            <a:r>
              <a:rPr lang="en-US" altLang="zh-CN" sz="2400">
                <a:latin typeface="微软雅黑" panose="020B0503020204020204" pitchFamily="34" charset="-122"/>
                <a:ea typeface="微软雅黑" panose="020B0503020204020204" pitchFamily="34" charset="-122"/>
              </a:rPr>
              <a:t>sklearn</a:t>
            </a:r>
            <a:r>
              <a:rPr lang="zh-CN" altLang="en-US" sz="2400">
                <a:latin typeface="微软雅黑" panose="020B0503020204020204" pitchFamily="34" charset="-122"/>
                <a:ea typeface="微软雅黑" panose="020B0503020204020204" pitchFamily="34" charset="-122"/>
              </a:rPr>
              <a:t>库中的</a:t>
            </a:r>
            <a:r>
              <a:rPr lang="en-US" altLang="zh-CN" sz="2400">
                <a:latin typeface="微软雅黑" panose="020B0503020204020204" pitchFamily="34" charset="-122"/>
                <a:ea typeface="微软雅黑" panose="020B0503020204020204" pitchFamily="34" charset="-122"/>
              </a:rPr>
              <a:t>StratifiedShuffleSplit</a:t>
            </a:r>
            <a:r>
              <a:rPr lang="zh-CN" altLang="en-US" sz="2400">
                <a:latin typeface="微软雅黑" panose="020B0503020204020204" pitchFamily="34" charset="-122"/>
                <a:ea typeface="微软雅黑" panose="020B0503020204020204" pitchFamily="34" charset="-122"/>
              </a:rPr>
              <a:t>类，定义一个分层抽样函数。</a:t>
            </a: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endParaRPr lang="zh-CN" altLang="en-US" sz="240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1634490" y="3712210"/>
            <a:ext cx="8740775" cy="27908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实践案例：线上零售交易数据预处理</a:t>
            </a:r>
            <a:endParaRPr lang="zh-CN" altLang="en-US" sz="3200" dirty="0">
              <a:solidFill>
                <a:srgbClr val="FFFF00"/>
              </a:solidFill>
              <a:latin typeface="华光综艺_CNKI" panose="02000500000000000000" pitchFamily="2" charset="-122"/>
              <a:ea typeface="华光综艺_CNKI" panose="02000500000000000000" pitchFamily="2" charset="-122"/>
            </a:endParaRPr>
          </a:p>
        </p:txBody>
      </p:sp>
      <p:sp>
        <p:nvSpPr>
          <p:cNvPr id="6" name="文本框 5"/>
          <p:cNvSpPr txBox="1"/>
          <p:nvPr/>
        </p:nvSpPr>
        <p:spPr>
          <a:xfrm>
            <a:off x="2010727" y="1521533"/>
            <a:ext cx="11872278" cy="629920"/>
          </a:xfrm>
          <a:prstGeom prst="rect">
            <a:avLst/>
          </a:prstGeom>
          <a:noFill/>
        </p:spPr>
        <p:txBody>
          <a:bodyPr wrap="square">
            <a:spAutoFit/>
          </a:bodyPr>
          <a:lstStyle/>
          <a:p>
            <a:pPr indent="0">
              <a:lnSpc>
                <a:spcPct val="125000"/>
              </a:lnSpc>
              <a:buFont typeface="Arial" panose="020B0604020202020204" pitchFamily="34" charset="0"/>
              <a:buNone/>
            </a:pPr>
            <a:r>
              <a:rPr lang="en-US" altLang="zh-CN" sz="2800" b="1" kern="1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endParaRPr lang="zh-CN" altLang="zh-CN" kern="100" dirty="0">
              <a:latin typeface="Cambria" panose="02040503050406030204" pitchFamily="18" charset="0"/>
              <a:ea typeface="黑体" panose="02010609060101010101" charset="-122"/>
              <a:cs typeface="Times New Roman" panose="02020603050405020304" pitchFamily="18" charset="0"/>
            </a:endParaRPr>
          </a:p>
        </p:txBody>
      </p:sp>
      <p:sp>
        <p:nvSpPr>
          <p:cNvPr id="9" name="文本框 8"/>
          <p:cNvSpPr txBox="1"/>
          <p:nvPr/>
        </p:nvSpPr>
        <p:spPr>
          <a:xfrm>
            <a:off x="1191260" y="6336665"/>
            <a:ext cx="8838565" cy="460375"/>
          </a:xfrm>
          <a:prstGeom prst="rect">
            <a:avLst/>
          </a:prstGeom>
          <a:noFill/>
        </p:spPr>
        <p:txBody>
          <a:bodyPr wrap="square" rtlCol="0" anchor="t">
            <a:spAutoFit/>
          </a:bodyPr>
          <a:p>
            <a:endParaRPr lang="zh-CN" altLang="en-US" sz="2400" dirty="0">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81610" y="511810"/>
            <a:ext cx="11347450" cy="1009650"/>
          </a:xfrm>
          <a:prstGeom prst="rect">
            <a:avLst/>
          </a:prstGeom>
        </p:spPr>
        <p:txBody>
          <a:bodyPr>
            <a:noAutofit/>
          </a:bodyPr>
          <a:p>
            <a:pPr indent="0" algn="just" defTabSz="266700">
              <a:lnSpc>
                <a:spcPct val="135000"/>
              </a:lnSpc>
              <a:spcBef>
                <a:spcPct val="0"/>
              </a:spcBef>
              <a:spcAft>
                <a:spcPct val="0"/>
              </a:spcAft>
              <a:buFont typeface="Arial" panose="020B0604020202020204" pitchFamily="34" charset="0"/>
              <a:buNone/>
            </a:pPr>
            <a:endParaRPr lang="zh-CN" altLang="en-US" sz="2400">
              <a:latin typeface="微软雅黑" panose="020B0503020204020204" pitchFamily="34" charset="-122"/>
              <a:ea typeface="微软雅黑" panose="020B0503020204020204" pitchFamily="34" charset="-122"/>
            </a:endParaRPr>
          </a:p>
          <a:p>
            <a:pPr marL="342900" indent="-342900" algn="just" defTabSz="266700">
              <a:lnSpc>
                <a:spcPct val="135000"/>
              </a:lnSpc>
              <a:spcBef>
                <a:spcPct val="0"/>
              </a:spcBef>
              <a:spcAft>
                <a:spcPct val="0"/>
              </a:spcAft>
              <a:buFont typeface="Arial" panose="020B0604020202020204" pitchFamily="34" charset="0"/>
              <a:buChar char="•"/>
            </a:pPr>
            <a:r>
              <a:rPr lang="zh-CN" altLang="en-US" sz="2400" b="1">
                <a:solidFill>
                  <a:srgbClr val="FF0000"/>
                </a:solidFill>
                <a:latin typeface="微软雅黑" panose="020B0503020204020204" pitchFamily="34" charset="-122"/>
                <a:ea typeface="微软雅黑" panose="020B0503020204020204" pitchFamily="34" charset="-122"/>
              </a:rPr>
              <a:t>连续数据离散化。</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国家</a:t>
            </a:r>
            <a:r>
              <a:rPr lang="en-US" altLang="zh-CN" sz="24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字段是离散型数据，使用哑编码的方式将其转换为数值特征。</a:t>
            </a:r>
            <a:r>
              <a:rPr lang="en-US" altLang="zh-CN" sz="2400">
                <a:latin typeface="微软雅黑" panose="020B0503020204020204" pitchFamily="34" charset="-122"/>
                <a:ea typeface="微软雅黑" panose="020B0503020204020204" pitchFamily="34" charset="-122"/>
              </a:rPr>
              <a:t>pandas</a:t>
            </a:r>
            <a:r>
              <a:rPr lang="zh-CN" altLang="en-US" sz="2400">
                <a:latin typeface="微软雅黑" panose="020B0503020204020204" pitchFamily="34" charset="-122"/>
                <a:ea typeface="微软雅黑" panose="020B0503020204020204" pitchFamily="34" charset="-122"/>
              </a:rPr>
              <a:t>库中</a:t>
            </a:r>
            <a:r>
              <a:rPr lang="en-US" altLang="zh-CN" sz="2400">
                <a:latin typeface="微软雅黑" panose="020B0503020204020204" pitchFamily="34" charset="-122"/>
                <a:ea typeface="微软雅黑" panose="020B0503020204020204" pitchFamily="34" charset="-122"/>
              </a:rPr>
              <a:t>get_dummies()</a:t>
            </a:r>
            <a:r>
              <a:rPr lang="zh-CN" altLang="en-US" sz="2400">
                <a:latin typeface="微软雅黑" panose="020B0503020204020204" pitchFamily="34" charset="-122"/>
                <a:ea typeface="微软雅黑" panose="020B0503020204020204" pitchFamily="34" charset="-122"/>
              </a:rPr>
              <a:t>方法可直接对离散特征进行哑编码处理。</a:t>
            </a:r>
            <a:endParaRPr lang="zh-CN" altLang="en-US" sz="240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647700" y="2226310"/>
            <a:ext cx="10626725" cy="627380"/>
          </a:xfrm>
          <a:prstGeom prst="rect">
            <a:avLst/>
          </a:prstGeom>
        </p:spPr>
      </p:pic>
      <p:pic>
        <p:nvPicPr>
          <p:cNvPr id="10" name="图片 9"/>
          <p:cNvPicPr>
            <a:picLocks noChangeAspect="1"/>
          </p:cNvPicPr>
          <p:nvPr/>
        </p:nvPicPr>
        <p:blipFill>
          <a:blip r:embed="rId2"/>
          <a:stretch>
            <a:fillRect/>
          </a:stretch>
        </p:blipFill>
        <p:spPr>
          <a:xfrm>
            <a:off x="647700" y="3035300"/>
            <a:ext cx="7287895" cy="385826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p:fade/>
      </p:transition>
    </mc:Choice>
    <mc:Fallback>
      <p:transition>
        <p:fade/>
      </p:transition>
    </mc:Fallback>
  </mc:AlternateContent>
</p:sld>
</file>

<file path=ppt/tags/tag1.xml><?xml version="1.0" encoding="utf-8"?>
<p:tagLst xmlns:p="http://schemas.openxmlformats.org/presentationml/2006/main">
  <p:tag name="TABLE_ENDDRAG_ORIGIN_RECT" val="655*203"/>
  <p:tag name="TABLE_ENDDRAG_RECT" val="160*290*655*203"/>
</p:tagLst>
</file>

<file path=ppt/tags/tag2.xml><?xml version="1.0" encoding="utf-8"?>
<p:tagLst xmlns:p="http://schemas.openxmlformats.org/presentationml/2006/main">
  <p:tag name="TABLE_ENDDRAG_ORIGIN_RECT" val="610*197"/>
  <p:tag name="TABLE_ENDDRAG_RECT" val="231*316*610*197"/>
</p:tagLst>
</file>

<file path=ppt/tags/tag3.xml><?xml version="1.0" encoding="utf-8"?>
<p:tagLst xmlns:p="http://schemas.openxmlformats.org/presentationml/2006/main">
  <p:tag name="KSO_WM_DIAGRAM_VIRTUALLY_FRAME" val="{&quot;height&quot;:229.7,&quot;left&quot;:114.15,&quot;top&quot;:272.4,&quot;width&quot;:1047.45}"/>
</p:tagLst>
</file>

<file path=ppt/tags/tag4.xml><?xml version="1.0" encoding="utf-8"?>
<p:tagLst xmlns:p="http://schemas.openxmlformats.org/presentationml/2006/main">
  <p:tag name="KSO_WM_DIAGRAM_VIRTUALLY_FRAME" val="{&quot;height&quot;:229.7,&quot;left&quot;:114.15,&quot;top&quot;:272.4,&quot;width&quot;:1047.45}"/>
</p:tagLst>
</file>

<file path=ppt/tags/tag5.xml><?xml version="1.0" encoding="utf-8"?>
<p:tagLst xmlns:p="http://schemas.openxmlformats.org/presentationml/2006/main">
  <p:tag name="KSO_WM_DIAGRAM_VIRTUALLY_FRAME" val="{&quot;height&quot;:229.7,&quot;left&quot;:114.15,&quot;top&quot;:272.4,&quot;width&quot;:1047.45}"/>
</p:tagLst>
</file>

<file path=ppt/tags/tag6.xml><?xml version="1.0" encoding="utf-8"?>
<p:tagLst xmlns:p="http://schemas.openxmlformats.org/presentationml/2006/main">
  <p:tag name="KSO_WM_DIAGRAM_VIRTUALLY_FRAME" val="{&quot;height&quot;:229.7,&quot;left&quot;:114.15,&quot;top&quot;:272.4,&quot;width&quot;:1047.45}"/>
</p:tagLst>
</file>

<file path=ppt/tags/tag7.xml><?xml version="1.0" encoding="utf-8"?>
<p:tagLst xmlns:p="http://schemas.openxmlformats.org/presentationml/2006/main">
  <p:tag name="KSO_WM_DIAGRAM_VIRTUALLY_FRAME" val="{&quot;height&quot;:229.7,&quot;left&quot;:114.15,&quot;top&quot;:272.4,&quot;width&quot;:1047.45}"/>
</p:tagLst>
</file>

<file path=ppt/tags/tag8.xml><?xml version="1.0" encoding="utf-8"?>
<p:tagLst xmlns:p="http://schemas.openxmlformats.org/presentationml/2006/main">
  <p:tag name="KSO_WM_DIAGRAM_VIRTUALLY_FRAME" val="{&quot;height&quot;:229.7,&quot;left&quot;:114.15,&quot;top&quot;:272.4,&quot;width&quot;:1047.45}"/>
</p:tagLst>
</file>

<file path=ppt/tags/tag9.xml><?xml version="1.0" encoding="utf-8"?>
<p:tagLst xmlns:p="http://schemas.openxmlformats.org/presentationml/2006/main">
  <p:tag name="TABLE_ENDDRAG_ORIGIN_RECT" val="908*249"/>
  <p:tag name="TABLE_ENDDRAG_RECT" val="44*274*908*249"/>
</p:tagLst>
</file>

<file path=ppt/tags/tag10.xml><?xml version="1.0" encoding="utf-8"?>
<p:tagLst xmlns:p="http://schemas.openxmlformats.org/presentationml/2006/main">
  <p:tag name="KSO_WPP_MARK_KEY" val="057fef28-e1f3-418f-8f7b-57f60670b37e"/>
  <p:tag name="COMMONDATA" val="eyJoZGlkIjoiNGZlODdkOGY2N2FkZjEzZjVmYjI5NGY1MTQ2NGRhNjQifQ=="/>
  <p:tag name="resource_record_key" val="{&quot;29&quot;:[50000047,50000049,50000283,50000097,50000042,50052716,50000051,50000114,5000007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7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muant0k">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设计模板">
  <a:themeElements>
    <a:clrScheme name="自定义 42">
      <a:dk1>
        <a:sysClr val="windowText" lastClr="000000"/>
      </a:dk1>
      <a:lt1>
        <a:sysClr val="window" lastClr="FFFFFF"/>
      </a:lt1>
      <a:dk2>
        <a:srgbClr val="1F497D"/>
      </a:dk2>
      <a:lt2>
        <a:srgbClr val="EEECE1"/>
      </a:lt2>
      <a:accent1>
        <a:srgbClr val="1967A5"/>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9">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8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2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9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6_自定义设计方案">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8">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1300480" rtl="0" eaLnBrk="1" fontAlgn="base" latinLnBrk="0" hangingPunct="1">
          <a:lnSpc>
            <a:spcPct val="100000"/>
          </a:lnSpc>
          <a:spcBef>
            <a:spcPct val="0"/>
          </a:spcBef>
          <a:spcAft>
            <a:spcPct val="0"/>
          </a:spcAft>
          <a:buClrTx/>
          <a:buSzTx/>
          <a:buFontTx/>
          <a:buNone/>
          <a:defRPr kumimoji="0" lang="zh-CN" altLang="en-US" sz="2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6310</Words>
  <Application>WPS 演示</Application>
  <PresentationFormat>宽屏</PresentationFormat>
  <Paragraphs>515</Paragraphs>
  <Slides>37</Slides>
  <Notes>28</Notes>
  <HiddenSlides>0</HiddenSlides>
  <MMClips>0</MMClips>
  <ScaleCrop>false</ScaleCrop>
  <HeadingPairs>
    <vt:vector size="8" baseType="variant">
      <vt:variant>
        <vt:lpstr>已用的字体</vt:lpstr>
      </vt:variant>
      <vt:variant>
        <vt:i4>28</vt:i4>
      </vt:variant>
      <vt:variant>
        <vt:lpstr>主题</vt:lpstr>
      </vt:variant>
      <vt:variant>
        <vt:i4>12</vt:i4>
      </vt:variant>
      <vt:variant>
        <vt:lpstr>嵌入 OLE 服务器</vt:lpstr>
      </vt:variant>
      <vt:variant>
        <vt:i4>6</vt:i4>
      </vt:variant>
      <vt:variant>
        <vt:lpstr>幻灯片标题</vt:lpstr>
      </vt:variant>
      <vt:variant>
        <vt:i4>37</vt:i4>
      </vt:variant>
    </vt:vector>
  </HeadingPairs>
  <TitlesOfParts>
    <vt:vector size="83" baseType="lpstr">
      <vt:lpstr>Arial</vt:lpstr>
      <vt:lpstr>宋体</vt:lpstr>
      <vt:lpstr>Wingdings</vt:lpstr>
      <vt:lpstr>微软雅黑</vt:lpstr>
      <vt:lpstr>华光综艺_CNKI</vt:lpstr>
      <vt:lpstr>Arial</vt:lpstr>
      <vt:lpstr>Times New Roman</vt:lpstr>
      <vt:lpstr>Calibri</vt:lpstr>
      <vt:lpstr>Liberation Sans</vt:lpstr>
      <vt:lpstr>Segoe Print</vt:lpstr>
      <vt:lpstr>思源黑体 CN Bold</vt:lpstr>
      <vt:lpstr>Calibri</vt:lpstr>
      <vt:lpstr>思源黑体</vt:lpstr>
      <vt:lpstr>黑体</vt:lpstr>
      <vt:lpstr>Impact</vt:lpstr>
      <vt:lpstr>华文隶书</vt:lpstr>
      <vt:lpstr>Tw Cen MT</vt:lpstr>
      <vt:lpstr>华文仿宋</vt:lpstr>
      <vt:lpstr>等线</vt:lpstr>
      <vt:lpstr>楷体</vt:lpstr>
      <vt:lpstr>Times New Roman</vt:lpstr>
      <vt:lpstr>Verdana</vt:lpstr>
      <vt:lpstr>华文细黑</vt:lpstr>
      <vt:lpstr>Wingdings</vt:lpstr>
      <vt:lpstr>Arial Unicode MS</vt:lpstr>
      <vt:lpstr>Cambria</vt:lpstr>
      <vt:lpstr>Cambria Math</vt:lpstr>
      <vt:lpstr>等线 Light</vt:lpstr>
      <vt:lpstr>Office 主题​​</vt:lpstr>
      <vt:lpstr>10_自定义设计方案</vt:lpstr>
      <vt:lpstr>17_自定义设计方案</vt:lpstr>
      <vt:lpstr>21_自定义设计方案</vt:lpstr>
      <vt:lpstr>11_自定义设计方案</vt:lpstr>
      <vt:lpstr>2_默认设计模板</vt:lpstr>
      <vt:lpstr>1_默认设计模板</vt:lpstr>
      <vt:lpstr>7_自定义设计方案</vt:lpstr>
      <vt:lpstr>18_自定义设计方案</vt:lpstr>
      <vt:lpstr>12_自定义设计方案</vt:lpstr>
      <vt:lpstr>19_自定义设计方案</vt:lpstr>
      <vt:lpstr>16_自定义设计方案</vt:lpstr>
      <vt:lpstr>Equation.DSMT4</vt:lpstr>
      <vt:lpstr>Visio.Drawing.15</vt:lpstr>
      <vt:lpstr>Equation.DSMT4</vt:lpstr>
      <vt:lpstr>Visio.Drawing.15</vt:lpstr>
      <vt:lpstr>Visio.Drawing.15</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 大数据分析-模版-吕欣.pptx</dc:title>
  <dc:creator>吕欣</dc:creator>
  <cp:lastModifiedBy>鄧映华</cp:lastModifiedBy>
  <cp:revision>2916</cp:revision>
  <dcterms:created xsi:type="dcterms:W3CDTF">2022-05-23T09:13:00Z</dcterms:created>
  <dcterms:modified xsi:type="dcterms:W3CDTF">2025-04-18T09:22:02Z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3DF7E934A6154337958EA247A956081D_13</vt:lpwstr>
  </property>
  <property fmtid="{D5CDD505-2E9C-101B-9397-08002B2CF9AE}" pid="3" name="KSOProductBuildVer">
    <vt:lpwstr>2052-12.1.0.20305</vt:lpwstr>
  </property>
</Properties>
</file>