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dp" ContentType="image/vnd.ms-photo"/>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30.svg" ContentType="image/svg+xml"/>
  <Override PartName="/ppt/media/image4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3657" r:id="rId3"/>
    <p:sldMasterId id="2147483683" r:id="rId4"/>
    <p:sldMasterId id="2147483710" r:id="rId5"/>
    <p:sldMasterId id="2147483736" r:id="rId6"/>
    <p:sldMasterId id="2147483762" r:id="rId7"/>
    <p:sldMasterId id="2147483778" r:id="rId8"/>
    <p:sldMasterId id="2147483799" r:id="rId9"/>
    <p:sldMasterId id="2147483817" r:id="rId10"/>
    <p:sldMasterId id="2147483844" r:id="rId11"/>
    <p:sldMasterId id="2147483862" r:id="rId12"/>
    <p:sldMasterId id="2147483888" r:id="rId13"/>
  </p:sldMasterIdLst>
  <p:notesMasterIdLst>
    <p:notesMasterId r:id="rId15"/>
  </p:notesMasterIdLst>
  <p:handoutMasterIdLst>
    <p:handoutMasterId r:id="rId44"/>
  </p:handoutMasterIdLst>
  <p:sldIdLst>
    <p:sldId id="15638" r:id="rId14"/>
    <p:sldId id="15682" r:id="rId16"/>
    <p:sldId id="15683" r:id="rId17"/>
    <p:sldId id="15684" r:id="rId18"/>
    <p:sldId id="15685" r:id="rId19"/>
    <p:sldId id="15686" r:id="rId20"/>
    <p:sldId id="15687" r:id="rId21"/>
    <p:sldId id="15688" r:id="rId22"/>
    <p:sldId id="15689" r:id="rId23"/>
    <p:sldId id="15690" r:id="rId24"/>
    <p:sldId id="15691" r:id="rId25"/>
    <p:sldId id="15692" r:id="rId26"/>
    <p:sldId id="15693" r:id="rId27"/>
    <p:sldId id="15694" r:id="rId28"/>
    <p:sldId id="15695" r:id="rId29"/>
    <p:sldId id="15696" r:id="rId30"/>
    <p:sldId id="15697" r:id="rId31"/>
    <p:sldId id="15698" r:id="rId32"/>
    <p:sldId id="15699" r:id="rId33"/>
    <p:sldId id="15700" r:id="rId34"/>
    <p:sldId id="15701" r:id="rId35"/>
    <p:sldId id="15702" r:id="rId36"/>
    <p:sldId id="15703" r:id="rId37"/>
    <p:sldId id="15704" r:id="rId38"/>
    <p:sldId id="15705" r:id="rId39"/>
    <p:sldId id="15706" r:id="rId40"/>
    <p:sldId id="15707" r:id="rId41"/>
    <p:sldId id="15708" r:id="rId42"/>
    <p:sldId id="15502" r:id="rId43"/>
  </p:sldIdLst>
  <p:sldSz cx="12192000" cy="6858000"/>
  <p:notesSz cx="6858000" cy="9144000"/>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52" userDrawn="1">
          <p15:clr>
            <a:srgbClr val="A4A3A4"/>
          </p15:clr>
        </p15:guide>
        <p15:guide id="5" orient="horz" pos="24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3501913-F5AA-4E3D-886B-E86FFC371EB1}" styleName="表样式 1">
    <a:wholeTbl>
      <a:tcTxStyle>
        <a:fontRef idx="none">
          <a:srgbClr val="000000"/>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rgbClr val="FFFFFF"/>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83693A40-7968-402F-8439-0EC26341C17F}" styleName="表样式 1">
    <a:wholeTbl>
      <a:tcTxStyle>
        <a:fontRef idx="none">
          <a:srgbClr val="000000"/>
        </a:fontRef>
      </a:tcTxStyle>
      <a:tcStyle>
        <a:tcBdr>
          <a:left>
            <a:ln>
              <a:noFill/>
            </a:ln>
          </a:left>
          <a:right>
            <a:ln>
              <a:noFill/>
            </a:ln>
          </a:right>
          <a:top>
            <a:ln w="9525" cmpd="sng">
              <a:solidFill>
                <a:schemeClr val="accent5"/>
              </a:solidFill>
            </a:ln>
          </a:top>
          <a:bottom>
            <a:ln w="9525" cmpd="sng">
              <a:solidFill>
                <a:schemeClr val="accent5"/>
              </a:solidFill>
            </a:ln>
          </a:bottom>
          <a:insideH>
            <a:ln>
              <a:noFill/>
            </a:ln>
          </a:insideH>
          <a:insideV>
            <a:ln>
              <a:noFill/>
            </a:ln>
          </a:insideV>
        </a:tcBdr>
        <a:fill>
          <a:solidFill>
            <a:srgbClr val="FFFFFF"/>
          </a:solidFill>
        </a:fill>
      </a:tcStyle>
    </a:wholeTbl>
    <a:band2H>
      <a:tcStyle>
        <a:tcBdr/>
        <a:fill>
          <a:solidFill>
            <a:schemeClr val="accent5">
              <a:lumMod val="10000"/>
              <a:lumOff val="90000"/>
            </a:schemeClr>
          </a:solidFill>
        </a:fill>
      </a:tcStyle>
    </a:band2H>
    <a:band1V>
      <a:tcStyle>
        <a:tcBdr>
          <a:left>
            <a:ln>
              <a:noFill/>
            </a:ln>
          </a:left>
          <a:right>
            <a:ln>
              <a:noFill/>
            </a:ln>
          </a:right>
          <a:top>
            <a:ln w="9525" cmpd="sng">
              <a:solidFill>
                <a:schemeClr val="accent5"/>
              </a:solidFill>
            </a:ln>
          </a:top>
          <a:bottom>
            <a:ln w="9525" cmpd="sng">
              <a:solidFill>
                <a:schemeClr val="accent5"/>
              </a:solidFill>
            </a:ln>
          </a:bottom>
          <a:insideH>
            <a:ln>
              <a:noFill/>
            </a:ln>
          </a:insideH>
          <a:insideV>
            <a:ln>
              <a:noFill/>
            </a:ln>
          </a:insideV>
        </a:tcBdr>
        <a:fill>
          <a:solidFill>
            <a:schemeClr val="accent5">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5"/>
              </a:solidFill>
            </a:ln>
          </a:top>
          <a:bottom>
            <a:ln w="9525" cmpd="sng">
              <a:solidFill>
                <a:schemeClr val="accent5"/>
              </a:solidFill>
            </a:ln>
          </a:bottom>
          <a:insideH>
            <a:ln>
              <a:noFill/>
            </a:ln>
          </a:insideH>
          <a:insideV>
            <a:ln>
              <a:noFill/>
            </a:ln>
          </a:insideV>
        </a:tcBdr>
        <a:fill>
          <a:solidFill>
            <a:schemeClr val="accent5">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5"/>
              </a:solidFill>
            </a:ln>
          </a:top>
          <a:bottom>
            <a:ln w="9525" cmpd="sng">
              <a:solidFill>
                <a:schemeClr val="accent5"/>
              </a:solidFill>
            </a:ln>
          </a:bottom>
          <a:insideH>
            <a:ln>
              <a:noFill/>
            </a:ln>
          </a:insideH>
          <a:insideV>
            <a:ln>
              <a:noFill/>
            </a:ln>
          </a:insideV>
        </a:tcBdr>
        <a:fill>
          <a:solidFill>
            <a:schemeClr val="accent5">
              <a:lumMod val="20000"/>
              <a:lumOff val="80000"/>
            </a:schemeClr>
          </a:solidFill>
        </a:fill>
      </a:tcStyle>
    </a:firstCol>
    <a:lastRow>
      <a:tcTxStyle b="on">
        <a:fontRef idx="none">
          <a:schemeClr val="accent5"/>
        </a:fontRef>
      </a:tcTxStyle>
      <a:tcStyle>
        <a:tcBdr>
          <a:left>
            <a:ln>
              <a:noFill/>
            </a:ln>
          </a:left>
          <a:right>
            <a:ln>
              <a:noFill/>
            </a:ln>
          </a:right>
          <a:top>
            <a:ln w="9525" cmpd="sng">
              <a:solidFill>
                <a:schemeClr val="accent5"/>
              </a:solidFill>
            </a:ln>
          </a:top>
          <a:bottom>
            <a:ln w="9525" cmpd="sng">
              <a:solidFill>
                <a:schemeClr val="accent5"/>
              </a:solidFill>
            </a:ln>
          </a:bottom>
          <a:insideH>
            <a:ln>
              <a:noFill/>
            </a:ln>
          </a:insideH>
          <a:insideV>
            <a:ln>
              <a:noFill/>
            </a:ln>
          </a:insideV>
        </a:tcBdr>
        <a:fill>
          <a:solidFill>
            <a:srgbClr val="FFFFFF"/>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showGuides="1">
      <p:cViewPr varScale="1">
        <p:scale>
          <a:sx n="40" d="100"/>
          <a:sy n="40" d="100"/>
        </p:scale>
        <p:origin x="44" y="328"/>
      </p:cViewPr>
      <p:guideLst>
        <p:guide pos="2252"/>
        <p:guide orient="horz" pos="240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8" Type="http://schemas.openxmlformats.org/officeDocument/2006/relationships/tags" Target="tags/tag7.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29.xml"/><Relationship Id="rId42" Type="http://schemas.openxmlformats.org/officeDocument/2006/relationships/slide" Target="slides/slide28.xml"/><Relationship Id="rId41" Type="http://schemas.openxmlformats.org/officeDocument/2006/relationships/slide" Target="slides/slide27.xml"/><Relationship Id="rId40" Type="http://schemas.openxmlformats.org/officeDocument/2006/relationships/slide" Target="slides/slide26.xml"/><Relationship Id="rId4" Type="http://schemas.openxmlformats.org/officeDocument/2006/relationships/slideMaster" Target="slideMasters/slideMaster3.xml"/><Relationship Id="rId39" Type="http://schemas.openxmlformats.org/officeDocument/2006/relationships/slide" Target="slides/slide25.xml"/><Relationship Id="rId38" Type="http://schemas.openxmlformats.org/officeDocument/2006/relationships/slide" Target="slides/slide24.xml"/><Relationship Id="rId37" Type="http://schemas.openxmlformats.org/officeDocument/2006/relationships/slide" Target="slides/slide23.xml"/><Relationship Id="rId36" Type="http://schemas.openxmlformats.org/officeDocument/2006/relationships/slide" Target="slides/slide22.xml"/><Relationship Id="rId35" Type="http://schemas.openxmlformats.org/officeDocument/2006/relationships/slide" Target="slides/slide21.xml"/><Relationship Id="rId34" Type="http://schemas.openxmlformats.org/officeDocument/2006/relationships/slide" Target="slides/slide20.xml"/><Relationship Id="rId33" Type="http://schemas.openxmlformats.org/officeDocument/2006/relationships/slide" Target="slides/slide19.xml"/><Relationship Id="rId32" Type="http://schemas.openxmlformats.org/officeDocument/2006/relationships/slide" Target="slides/slide18.xml"/><Relationship Id="rId31" Type="http://schemas.openxmlformats.org/officeDocument/2006/relationships/slide" Target="slides/slide17.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slide" Target="slides/slide2.xml"/><Relationship Id="rId15" Type="http://schemas.openxmlformats.org/officeDocument/2006/relationships/notesMaster" Target="notesMasters/notesMaster1.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5.vml.rels><?xml version="1.0" encoding="UTF-8" standalone="yes"?>
<Relationships xmlns="http://schemas.openxmlformats.org/package/2006/relationships"><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25.png"/><Relationship Id="rId3" Type="http://schemas.openxmlformats.org/officeDocument/2006/relationships/oleObject" Target="../embeddings/oleObject1.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image" Target="../media/image25.png"/><Relationship Id="rId3" Type="http://schemas.openxmlformats.org/officeDocument/2006/relationships/oleObject" Target="../embeddings/oleObject2.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image" Target="../media/image25.png"/><Relationship Id="rId3" Type="http://schemas.openxmlformats.org/officeDocument/2006/relationships/oleObject" Target="../embeddings/oleObject3.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0.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image" Target="../media/image25.png"/><Relationship Id="rId3" Type="http://schemas.openxmlformats.org/officeDocument/2006/relationships/oleObject" Target="../embeddings/oleObject4.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统计调查</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统计调查概述</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统计调查的实施</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调查问卷</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统计调查概述</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一、统计调查概述</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统计调查的实施</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二、统计调查的实施</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调查问卷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三、调查问卷</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抽样的基本概念</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分层抽样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简单随机抽样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四</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整群抽样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五</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系统抽样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抽样的基本概念</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一、抽样的基本概念</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简单随机抽样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二、简单随机抽样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分层抽样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三、分层抽样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整群抽样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四、整群抽样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系统抽样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五、系统抽样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4" y="273066"/>
            <a:ext cx="6816025" cy="5853113"/>
          </a:xfrm>
          <a:prstGeom prst="rect">
            <a:avLst/>
          </a:prstGeo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5"/>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7" tIns="60953" rIns="121907" bIns="60953"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2"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3"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5"/>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0"/>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0"/>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4" tIns="60952" rIns="121904" bIns="60952"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2"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3"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8" Type="http://schemas.openxmlformats.org/officeDocument/2006/relationships/theme" Target="../theme/theme2.xml"/><Relationship Id="rId27" Type="http://schemas.openxmlformats.org/officeDocument/2006/relationships/image" Target="../media/image12.GIF"/><Relationship Id="rId26" Type="http://schemas.openxmlformats.org/officeDocument/2006/relationships/image" Target="../media/image11.jpeg"/><Relationship Id="rId25" Type="http://schemas.openxmlformats.org/officeDocument/2006/relationships/slideLayout" Target="../slideLayouts/slideLayout33.xml"/><Relationship Id="rId24" Type="http://schemas.openxmlformats.org/officeDocument/2006/relationships/slideLayout" Target="../slideLayouts/slideLayout32.xml"/><Relationship Id="rId23" Type="http://schemas.openxmlformats.org/officeDocument/2006/relationships/slideLayout" Target="../slideLayouts/slideLayout31.xml"/><Relationship Id="rId22" Type="http://schemas.openxmlformats.org/officeDocument/2006/relationships/slideLayout" Target="../slideLayouts/slideLayout30.xml"/><Relationship Id="rId21" Type="http://schemas.openxmlformats.org/officeDocument/2006/relationships/slideLayout" Target="../slideLayouts/slideLayout29.xml"/><Relationship Id="rId20" Type="http://schemas.openxmlformats.org/officeDocument/2006/relationships/slideLayout" Target="../slideLayouts/slideLayout28.xml"/><Relationship Id="rId2" Type="http://schemas.openxmlformats.org/officeDocument/2006/relationships/slideLayout" Target="../slideLayouts/slideLayout10.xml"/><Relationship Id="rId19" Type="http://schemas.openxmlformats.org/officeDocument/2006/relationships/slideLayout" Target="../slideLayouts/slideLayout27.xml"/><Relationship Id="rId18" Type="http://schemas.openxmlformats.org/officeDocument/2006/relationships/slideLayout" Target="../slideLayouts/slideLayout26.xml"/><Relationship Id="rId17" Type="http://schemas.openxmlformats.org/officeDocument/2006/relationships/slideLayout" Target="../slideLayouts/slideLayout25.xml"/><Relationship Id="rId16" Type="http://schemas.openxmlformats.org/officeDocument/2006/relationships/slideLayout" Target="../slideLayouts/slideLayout24.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9" Type="http://schemas.openxmlformats.org/officeDocument/2006/relationships/theme" Target="../theme/theme3.xml"/><Relationship Id="rId28" Type="http://schemas.openxmlformats.org/officeDocument/2006/relationships/image" Target="../media/image13.GIF"/><Relationship Id="rId27" Type="http://schemas.openxmlformats.org/officeDocument/2006/relationships/image" Target="../media/image11.jpeg"/><Relationship Id="rId26" Type="http://schemas.openxmlformats.org/officeDocument/2006/relationships/slideLayout" Target="../slideLayouts/slideLayout59.xml"/><Relationship Id="rId25" Type="http://schemas.openxmlformats.org/officeDocument/2006/relationships/slideLayout" Target="../slideLayouts/slideLayout58.xml"/><Relationship Id="rId24" Type="http://schemas.openxmlformats.org/officeDocument/2006/relationships/slideLayout" Target="../slideLayouts/slideLayout57.xml"/><Relationship Id="rId23" Type="http://schemas.openxmlformats.org/officeDocument/2006/relationships/slideLayout" Target="../slideLayouts/slideLayout56.xml"/><Relationship Id="rId22" Type="http://schemas.openxmlformats.org/officeDocument/2006/relationships/slideLayout" Target="../slideLayouts/slideLayout55.xml"/><Relationship Id="rId21" Type="http://schemas.openxmlformats.org/officeDocument/2006/relationships/slideLayout" Target="../slideLayouts/slideLayout54.xml"/><Relationship Id="rId20" Type="http://schemas.openxmlformats.org/officeDocument/2006/relationships/slideLayout" Target="../slideLayouts/slideLayout53.xml"/><Relationship Id="rId2" Type="http://schemas.openxmlformats.org/officeDocument/2006/relationships/slideLayout" Target="../slideLayouts/slideLayout35.xml"/><Relationship Id="rId19" Type="http://schemas.openxmlformats.org/officeDocument/2006/relationships/slideLayout" Target="../slideLayouts/slideLayout52.xml"/><Relationship Id="rId18" Type="http://schemas.openxmlformats.org/officeDocument/2006/relationships/slideLayout" Target="../slideLayouts/slideLayout51.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13" Type="http://schemas.openxmlformats.org/officeDocument/2006/relationships/slideLayout" Target="../slideLayouts/slideLayout46.xml"/><Relationship Id="rId12" Type="http://schemas.openxmlformats.org/officeDocument/2006/relationships/slideLayout" Target="../slideLayouts/slideLayout45.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68.xml"/><Relationship Id="rId8" Type="http://schemas.openxmlformats.org/officeDocument/2006/relationships/slideLayout" Target="../slideLayouts/slideLayout67.xml"/><Relationship Id="rId7" Type="http://schemas.openxmlformats.org/officeDocument/2006/relationships/slideLayout" Target="../slideLayouts/slideLayout66.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3" Type="http://schemas.openxmlformats.org/officeDocument/2006/relationships/slideLayout" Target="../slideLayouts/slideLayout62.xml"/><Relationship Id="rId28" Type="http://schemas.openxmlformats.org/officeDocument/2006/relationships/theme" Target="../theme/theme4.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84.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0" Type="http://schemas.openxmlformats.org/officeDocument/2006/relationships/slideLayout" Target="../slideLayouts/slideLayout79.xml"/><Relationship Id="rId2" Type="http://schemas.openxmlformats.org/officeDocument/2006/relationships/slideLayout" Target="../slideLayouts/slideLayout61.xml"/><Relationship Id="rId19" Type="http://schemas.openxmlformats.org/officeDocument/2006/relationships/slideLayout" Target="../slideLayouts/slideLayout78.xml"/><Relationship Id="rId18" Type="http://schemas.openxmlformats.org/officeDocument/2006/relationships/slideLayout" Target="../slideLayouts/slideLayout77.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8" Type="http://schemas.openxmlformats.org/officeDocument/2006/relationships/theme" Target="../theme/theme5.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109.xml"/><Relationship Id="rId24" Type="http://schemas.openxmlformats.org/officeDocument/2006/relationships/slideLayout" Target="../slideLayouts/slideLayout108.xml"/><Relationship Id="rId23" Type="http://schemas.openxmlformats.org/officeDocument/2006/relationships/slideLayout" Target="../slideLayouts/slideLayout107.xml"/><Relationship Id="rId22" Type="http://schemas.openxmlformats.org/officeDocument/2006/relationships/slideLayout" Target="../slideLayouts/slideLayout106.xml"/><Relationship Id="rId21" Type="http://schemas.openxmlformats.org/officeDocument/2006/relationships/slideLayout" Target="../slideLayouts/slideLayout105.xml"/><Relationship Id="rId20" Type="http://schemas.openxmlformats.org/officeDocument/2006/relationships/slideLayout" Target="../slideLayouts/slideLayout104.xml"/><Relationship Id="rId2" Type="http://schemas.openxmlformats.org/officeDocument/2006/relationships/slideLayout" Target="../slideLayouts/slideLayout86.xml"/><Relationship Id="rId19" Type="http://schemas.openxmlformats.org/officeDocument/2006/relationships/slideLayout" Target="../slideLayouts/slideLayout103.xml"/><Relationship Id="rId18" Type="http://schemas.openxmlformats.org/officeDocument/2006/relationships/slideLayout" Target="../slideLayouts/slideLayout102.xml"/><Relationship Id="rId17" Type="http://schemas.openxmlformats.org/officeDocument/2006/relationships/slideLayout" Target="../slideLayouts/slideLayout101.xml"/><Relationship Id="rId16" Type="http://schemas.openxmlformats.org/officeDocument/2006/relationships/slideLayout" Target="../slideLayouts/slideLayout100.xml"/><Relationship Id="rId15" Type="http://schemas.openxmlformats.org/officeDocument/2006/relationships/slideLayout" Target="../slideLayouts/slideLayout99.xml"/><Relationship Id="rId14" Type="http://schemas.openxmlformats.org/officeDocument/2006/relationships/slideLayout" Target="../slideLayouts/slideLayout98.xml"/><Relationship Id="rId13" Type="http://schemas.openxmlformats.org/officeDocument/2006/relationships/slideLayout" Target="../slideLayouts/slideLayout97.xml"/><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18.xml"/><Relationship Id="rId8" Type="http://schemas.openxmlformats.org/officeDocument/2006/relationships/slideLayout" Target="../slideLayouts/slideLayout117.xml"/><Relationship Id="rId7" Type="http://schemas.openxmlformats.org/officeDocument/2006/relationships/slideLayout" Target="../slideLayouts/slideLayout116.xml"/><Relationship Id="rId6" Type="http://schemas.openxmlformats.org/officeDocument/2006/relationships/slideLayout" Target="../slideLayouts/slideLayout115.xml"/><Relationship Id="rId5" Type="http://schemas.openxmlformats.org/officeDocument/2006/relationships/slideLayout" Target="../slideLayouts/slideLayout114.xml"/><Relationship Id="rId4" Type="http://schemas.openxmlformats.org/officeDocument/2006/relationships/slideLayout" Target="../slideLayouts/slideLayout113.xml"/><Relationship Id="rId3" Type="http://schemas.openxmlformats.org/officeDocument/2006/relationships/slideLayout" Target="../slideLayouts/slideLayout112.xml"/><Relationship Id="rId2" Type="http://schemas.openxmlformats.org/officeDocument/2006/relationships/slideLayout" Target="../slideLayouts/slideLayout111.xml"/><Relationship Id="rId17" Type="http://schemas.openxmlformats.org/officeDocument/2006/relationships/theme" Target="../theme/theme6.xml"/><Relationship Id="rId16" Type="http://schemas.openxmlformats.org/officeDocument/2006/relationships/image" Target="../media/image23.png"/><Relationship Id="rId15" Type="http://schemas.openxmlformats.org/officeDocument/2006/relationships/slideLayout" Target="../slideLayouts/slideLayout124.xml"/><Relationship Id="rId14" Type="http://schemas.openxmlformats.org/officeDocument/2006/relationships/slideLayout" Target="../slideLayouts/slideLayout123.xml"/><Relationship Id="rId13" Type="http://schemas.openxmlformats.org/officeDocument/2006/relationships/slideLayout" Target="../slideLayouts/slideLayout122.xml"/><Relationship Id="rId12" Type="http://schemas.openxmlformats.org/officeDocument/2006/relationships/slideLayout" Target="../slideLayouts/slideLayout121.xml"/><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 Type="http://schemas.openxmlformats.org/officeDocument/2006/relationships/slideLayout" Target="../slideLayouts/slideLayout110.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133.xml"/><Relationship Id="rId8" Type="http://schemas.openxmlformats.org/officeDocument/2006/relationships/slideLayout" Target="../slideLayouts/slideLayout132.xml"/><Relationship Id="rId7" Type="http://schemas.openxmlformats.org/officeDocument/2006/relationships/slideLayout" Target="../slideLayouts/slideLayout131.xml"/><Relationship Id="rId6" Type="http://schemas.openxmlformats.org/officeDocument/2006/relationships/slideLayout" Target="../slideLayouts/slideLayout130.xml"/><Relationship Id="rId5" Type="http://schemas.openxmlformats.org/officeDocument/2006/relationships/slideLayout" Target="../slideLayouts/slideLayout129.xml"/><Relationship Id="rId4" Type="http://schemas.openxmlformats.org/officeDocument/2006/relationships/slideLayout" Target="../slideLayouts/slideLayout128.xml"/><Relationship Id="rId3" Type="http://schemas.openxmlformats.org/officeDocument/2006/relationships/slideLayout" Target="../slideLayouts/slideLayout127.xml"/><Relationship Id="rId22" Type="http://schemas.openxmlformats.org/officeDocument/2006/relationships/theme" Target="../theme/theme7.xml"/><Relationship Id="rId21" Type="http://schemas.openxmlformats.org/officeDocument/2006/relationships/image" Target="../media/image23.png"/><Relationship Id="rId20" Type="http://schemas.openxmlformats.org/officeDocument/2006/relationships/slideLayout" Target="../slideLayouts/slideLayout144.xml"/><Relationship Id="rId2" Type="http://schemas.openxmlformats.org/officeDocument/2006/relationships/slideLayout" Target="../slideLayouts/slideLayout126.xml"/><Relationship Id="rId19" Type="http://schemas.openxmlformats.org/officeDocument/2006/relationships/slideLayout" Target="../slideLayouts/slideLayout143.xml"/><Relationship Id="rId18" Type="http://schemas.openxmlformats.org/officeDocument/2006/relationships/slideLayout" Target="../slideLayouts/slideLayout142.xml"/><Relationship Id="rId17" Type="http://schemas.openxmlformats.org/officeDocument/2006/relationships/slideLayout" Target="../slideLayouts/slideLayout141.xml"/><Relationship Id="rId16" Type="http://schemas.openxmlformats.org/officeDocument/2006/relationships/slideLayout" Target="../slideLayouts/slideLayout140.xml"/><Relationship Id="rId15" Type="http://schemas.openxmlformats.org/officeDocument/2006/relationships/slideLayout" Target="../slideLayouts/slideLayout139.xml"/><Relationship Id="rId14" Type="http://schemas.openxmlformats.org/officeDocument/2006/relationships/slideLayout" Target="../slideLayouts/slideLayout138.xml"/><Relationship Id="rId13" Type="http://schemas.openxmlformats.org/officeDocument/2006/relationships/slideLayout" Target="../slideLayouts/slideLayout137.xml"/><Relationship Id="rId12" Type="http://schemas.openxmlformats.org/officeDocument/2006/relationships/slideLayout" Target="../slideLayouts/slideLayout136.xml"/><Relationship Id="rId11" Type="http://schemas.openxmlformats.org/officeDocument/2006/relationships/slideLayout" Target="../slideLayouts/slideLayout135.xml"/><Relationship Id="rId10" Type="http://schemas.openxmlformats.org/officeDocument/2006/relationships/slideLayout" Target="../slideLayouts/slideLayout134.xml"/><Relationship Id="rId1" Type="http://schemas.openxmlformats.org/officeDocument/2006/relationships/slideLayout" Target="../slideLayouts/slideLayout12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53.xml"/><Relationship Id="rId8" Type="http://schemas.openxmlformats.org/officeDocument/2006/relationships/slideLayout" Target="../slideLayouts/slideLayout152.xml"/><Relationship Id="rId7" Type="http://schemas.openxmlformats.org/officeDocument/2006/relationships/slideLayout" Target="../slideLayouts/slideLayout151.xml"/><Relationship Id="rId6" Type="http://schemas.openxmlformats.org/officeDocument/2006/relationships/slideLayout" Target="../slideLayouts/slideLayout150.xml"/><Relationship Id="rId5" Type="http://schemas.openxmlformats.org/officeDocument/2006/relationships/slideLayout" Target="../slideLayouts/slideLayout149.xml"/><Relationship Id="rId4" Type="http://schemas.openxmlformats.org/officeDocument/2006/relationships/slideLayout" Target="../slideLayouts/slideLayout148.xml"/><Relationship Id="rId3" Type="http://schemas.openxmlformats.org/officeDocument/2006/relationships/slideLayout" Target="../slideLayouts/slideLayout147.xml"/><Relationship Id="rId2" Type="http://schemas.openxmlformats.org/officeDocument/2006/relationships/slideLayout" Target="../slideLayouts/slideLayout146.xml"/><Relationship Id="rId18" Type="http://schemas.openxmlformats.org/officeDocument/2006/relationships/theme" Target="../theme/theme8.xml"/><Relationship Id="rId17" Type="http://schemas.openxmlformats.org/officeDocument/2006/relationships/slideLayout" Target="../slideLayouts/slideLayout161.xml"/><Relationship Id="rId16" Type="http://schemas.openxmlformats.org/officeDocument/2006/relationships/slideLayout" Target="../slideLayouts/slideLayout160.xml"/><Relationship Id="rId15" Type="http://schemas.openxmlformats.org/officeDocument/2006/relationships/slideLayout" Target="../slideLayouts/slideLayout159.xml"/><Relationship Id="rId14" Type="http://schemas.openxmlformats.org/officeDocument/2006/relationships/slideLayout" Target="../slideLayouts/slideLayout158.xml"/><Relationship Id="rId13" Type="http://schemas.openxmlformats.org/officeDocument/2006/relationships/slideLayout" Target="../slideLayouts/slideLayout157.xml"/><Relationship Id="rId12" Type="http://schemas.openxmlformats.org/officeDocument/2006/relationships/slideLayout" Target="../slideLayouts/slideLayout156.xml"/><Relationship Id="rId11" Type="http://schemas.openxmlformats.org/officeDocument/2006/relationships/slideLayout" Target="../slideLayouts/slideLayout155.xml"/><Relationship Id="rId10" Type="http://schemas.openxmlformats.org/officeDocument/2006/relationships/slideLayout" Target="../slideLayouts/slideLayout154.xml"/><Relationship Id="rId1" Type="http://schemas.openxmlformats.org/officeDocument/2006/relationships/slideLayout" Target="../slideLayouts/slideLayout145.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70.xml"/><Relationship Id="rId8" Type="http://schemas.openxmlformats.org/officeDocument/2006/relationships/slideLayout" Target="../slideLayouts/slideLayout169.xml"/><Relationship Id="rId7" Type="http://schemas.openxmlformats.org/officeDocument/2006/relationships/slideLayout" Target="../slideLayouts/slideLayout168.xml"/><Relationship Id="rId6" Type="http://schemas.openxmlformats.org/officeDocument/2006/relationships/slideLayout" Target="../slideLayouts/slideLayout167.xml"/><Relationship Id="rId5" Type="http://schemas.openxmlformats.org/officeDocument/2006/relationships/slideLayout" Target="../slideLayouts/slideLayout166.xml"/><Relationship Id="rId4" Type="http://schemas.openxmlformats.org/officeDocument/2006/relationships/slideLayout" Target="../slideLayouts/slideLayout165.xml"/><Relationship Id="rId3" Type="http://schemas.openxmlformats.org/officeDocument/2006/relationships/slideLayout" Target="../slideLayouts/slideLayout164.xml"/><Relationship Id="rId29" Type="http://schemas.openxmlformats.org/officeDocument/2006/relationships/theme" Target="../theme/theme9.xml"/><Relationship Id="rId28" Type="http://schemas.openxmlformats.org/officeDocument/2006/relationships/image" Target="../media/image14.png"/><Relationship Id="rId27" Type="http://schemas.openxmlformats.org/officeDocument/2006/relationships/image" Target="../media/image11.jpeg"/><Relationship Id="rId26" Type="http://schemas.openxmlformats.org/officeDocument/2006/relationships/slideLayout" Target="../slideLayouts/slideLayout187.xml"/><Relationship Id="rId25" Type="http://schemas.openxmlformats.org/officeDocument/2006/relationships/slideLayout" Target="../slideLayouts/slideLayout186.xml"/><Relationship Id="rId24" Type="http://schemas.openxmlformats.org/officeDocument/2006/relationships/slideLayout" Target="../slideLayouts/slideLayout185.xml"/><Relationship Id="rId23" Type="http://schemas.openxmlformats.org/officeDocument/2006/relationships/slideLayout" Target="../slideLayouts/slideLayout184.xml"/><Relationship Id="rId22" Type="http://schemas.openxmlformats.org/officeDocument/2006/relationships/slideLayout" Target="../slideLayouts/slideLayout183.xml"/><Relationship Id="rId21" Type="http://schemas.openxmlformats.org/officeDocument/2006/relationships/slideLayout" Target="../slideLayouts/slideLayout182.xml"/><Relationship Id="rId20" Type="http://schemas.openxmlformats.org/officeDocument/2006/relationships/slideLayout" Target="../slideLayouts/slideLayout181.xml"/><Relationship Id="rId2" Type="http://schemas.openxmlformats.org/officeDocument/2006/relationships/slideLayout" Target="../slideLayouts/slideLayout163.xml"/><Relationship Id="rId19" Type="http://schemas.openxmlformats.org/officeDocument/2006/relationships/slideLayout" Target="../slideLayouts/slideLayout180.xml"/><Relationship Id="rId18" Type="http://schemas.openxmlformats.org/officeDocument/2006/relationships/slideLayout" Target="../slideLayouts/slideLayout179.xml"/><Relationship Id="rId17" Type="http://schemas.openxmlformats.org/officeDocument/2006/relationships/slideLayout" Target="../slideLayouts/slideLayout178.xml"/><Relationship Id="rId16" Type="http://schemas.openxmlformats.org/officeDocument/2006/relationships/slideLayout" Target="../slideLayouts/slideLayout177.xml"/><Relationship Id="rId15" Type="http://schemas.openxmlformats.org/officeDocument/2006/relationships/slideLayout" Target="../slideLayouts/slideLayout176.xml"/><Relationship Id="rId14" Type="http://schemas.openxmlformats.org/officeDocument/2006/relationships/slideLayout" Target="../slideLayouts/slideLayout175.xml"/><Relationship Id="rId13" Type="http://schemas.openxmlformats.org/officeDocument/2006/relationships/slideLayout" Target="../slideLayouts/slideLayout174.xml"/><Relationship Id="rId12" Type="http://schemas.openxmlformats.org/officeDocument/2006/relationships/slideLayout" Target="../slideLayouts/slideLayout173.xml"/><Relationship Id="rId11" Type="http://schemas.openxmlformats.org/officeDocument/2006/relationships/slideLayout" Target="../slideLayouts/slideLayout172.xml"/><Relationship Id="rId10" Type="http://schemas.openxmlformats.org/officeDocument/2006/relationships/slideLayout" Target="../slideLayouts/slideLayout171.xml"/><Relationship Id="rId1" Type="http://schemas.openxmlformats.org/officeDocument/2006/relationships/slideLayout" Target="../slideLayouts/slideLayout162.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8" Type="http://schemas.openxmlformats.org/officeDocument/2006/relationships/theme" Target="../theme/theme10.xml"/><Relationship Id="rId17" Type="http://schemas.openxmlformats.org/officeDocument/2006/relationships/slideLayout" Target="../slideLayouts/slideLayout204.xml"/><Relationship Id="rId16" Type="http://schemas.openxmlformats.org/officeDocument/2006/relationships/slideLayout" Target="../slideLayouts/slideLayout203.xml"/><Relationship Id="rId15" Type="http://schemas.openxmlformats.org/officeDocument/2006/relationships/slideLayout" Target="../slideLayouts/slideLayout202.xml"/><Relationship Id="rId14" Type="http://schemas.openxmlformats.org/officeDocument/2006/relationships/slideLayout" Target="../slideLayouts/slideLayout201.xml"/><Relationship Id="rId13" Type="http://schemas.openxmlformats.org/officeDocument/2006/relationships/slideLayout" Target="../slideLayouts/slideLayout200.xml"/><Relationship Id="rId12" Type="http://schemas.openxmlformats.org/officeDocument/2006/relationships/slideLayout" Target="../slideLayouts/slideLayout199.xml"/><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213.xml"/><Relationship Id="rId8" Type="http://schemas.openxmlformats.org/officeDocument/2006/relationships/slideLayout" Target="../slideLayouts/slideLayout212.xml"/><Relationship Id="rId7" Type="http://schemas.openxmlformats.org/officeDocument/2006/relationships/slideLayout" Target="../slideLayouts/slideLayout211.xml"/><Relationship Id="rId6" Type="http://schemas.openxmlformats.org/officeDocument/2006/relationships/slideLayout" Target="../slideLayouts/slideLayout210.xml"/><Relationship Id="rId5" Type="http://schemas.openxmlformats.org/officeDocument/2006/relationships/slideLayout" Target="../slideLayouts/slideLayout209.xml"/><Relationship Id="rId4" Type="http://schemas.openxmlformats.org/officeDocument/2006/relationships/slideLayout" Target="../slideLayouts/slideLayout208.xml"/><Relationship Id="rId3" Type="http://schemas.openxmlformats.org/officeDocument/2006/relationships/slideLayout" Target="../slideLayouts/slideLayout207.xml"/><Relationship Id="rId28" Type="http://schemas.openxmlformats.org/officeDocument/2006/relationships/theme" Target="../theme/theme11.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229.xml"/><Relationship Id="rId24" Type="http://schemas.openxmlformats.org/officeDocument/2006/relationships/slideLayout" Target="../slideLayouts/slideLayout228.xml"/><Relationship Id="rId23" Type="http://schemas.openxmlformats.org/officeDocument/2006/relationships/slideLayout" Target="../slideLayouts/slideLayout227.xml"/><Relationship Id="rId22" Type="http://schemas.openxmlformats.org/officeDocument/2006/relationships/slideLayout" Target="../slideLayouts/slideLayout226.xml"/><Relationship Id="rId21" Type="http://schemas.openxmlformats.org/officeDocument/2006/relationships/slideLayout" Target="../slideLayouts/slideLayout225.xml"/><Relationship Id="rId20" Type="http://schemas.openxmlformats.org/officeDocument/2006/relationships/slideLayout" Target="../slideLayouts/slideLayout224.xml"/><Relationship Id="rId2" Type="http://schemas.openxmlformats.org/officeDocument/2006/relationships/slideLayout" Target="../slideLayouts/slideLayout206.xml"/><Relationship Id="rId19" Type="http://schemas.openxmlformats.org/officeDocument/2006/relationships/slideLayout" Target="../slideLayouts/slideLayout223.xml"/><Relationship Id="rId18" Type="http://schemas.openxmlformats.org/officeDocument/2006/relationships/slideLayout" Target="../slideLayouts/slideLayout222.xml"/><Relationship Id="rId17" Type="http://schemas.openxmlformats.org/officeDocument/2006/relationships/slideLayout" Target="../slideLayouts/slideLayout221.xml"/><Relationship Id="rId16" Type="http://schemas.openxmlformats.org/officeDocument/2006/relationships/slideLayout" Target="../slideLayouts/slideLayout220.xml"/><Relationship Id="rId15" Type="http://schemas.openxmlformats.org/officeDocument/2006/relationships/slideLayout" Target="../slideLayouts/slideLayout219.xml"/><Relationship Id="rId14" Type="http://schemas.openxmlformats.org/officeDocument/2006/relationships/slideLayout" Target="../slideLayouts/slideLayout218.xml"/><Relationship Id="rId13" Type="http://schemas.openxmlformats.org/officeDocument/2006/relationships/slideLayout" Target="../slideLayouts/slideLayout217.xml"/><Relationship Id="rId12" Type="http://schemas.openxmlformats.org/officeDocument/2006/relationships/slideLayout" Target="../slideLayouts/slideLayout216.xml"/><Relationship Id="rId11" Type="http://schemas.openxmlformats.org/officeDocument/2006/relationships/slideLayout" Target="../slideLayouts/slideLayout215.xml"/><Relationship Id="rId10" Type="http://schemas.openxmlformats.org/officeDocument/2006/relationships/slideLayout" Target="../slideLayouts/slideLayout214.xml"/><Relationship Id="rId1" Type="http://schemas.openxmlformats.org/officeDocument/2006/relationships/slideLayout" Target="../slideLayouts/slideLayout205.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238.xml"/><Relationship Id="rId8" Type="http://schemas.openxmlformats.org/officeDocument/2006/relationships/slideLayout" Target="../slideLayouts/slideLayout237.xml"/><Relationship Id="rId7" Type="http://schemas.openxmlformats.org/officeDocument/2006/relationships/slideLayout" Target="../slideLayouts/slideLayout236.xml"/><Relationship Id="rId6" Type="http://schemas.openxmlformats.org/officeDocument/2006/relationships/slideLayout" Target="../slideLayouts/slideLayout235.xml"/><Relationship Id="rId5" Type="http://schemas.openxmlformats.org/officeDocument/2006/relationships/slideLayout" Target="../slideLayouts/slideLayout234.xml"/><Relationship Id="rId4" Type="http://schemas.openxmlformats.org/officeDocument/2006/relationships/slideLayout" Target="../slideLayouts/slideLayout233.xml"/><Relationship Id="rId3" Type="http://schemas.openxmlformats.org/officeDocument/2006/relationships/slideLayout" Target="../slideLayouts/slideLayout232.xml"/><Relationship Id="rId25" Type="http://schemas.openxmlformats.org/officeDocument/2006/relationships/theme" Target="../theme/theme12.xml"/><Relationship Id="rId24" Type="http://schemas.openxmlformats.org/officeDocument/2006/relationships/image" Target="../media/image14.png"/><Relationship Id="rId23" Type="http://schemas.openxmlformats.org/officeDocument/2006/relationships/image" Target="../media/image11.jpeg"/><Relationship Id="rId22" Type="http://schemas.openxmlformats.org/officeDocument/2006/relationships/slideLayout" Target="../slideLayouts/slideLayout251.xml"/><Relationship Id="rId21" Type="http://schemas.openxmlformats.org/officeDocument/2006/relationships/slideLayout" Target="../slideLayouts/slideLayout250.xml"/><Relationship Id="rId20" Type="http://schemas.openxmlformats.org/officeDocument/2006/relationships/slideLayout" Target="../slideLayouts/slideLayout249.xml"/><Relationship Id="rId2" Type="http://schemas.openxmlformats.org/officeDocument/2006/relationships/slideLayout" Target="../slideLayouts/slideLayout231.xml"/><Relationship Id="rId19" Type="http://schemas.openxmlformats.org/officeDocument/2006/relationships/slideLayout" Target="../slideLayouts/slideLayout248.xml"/><Relationship Id="rId18" Type="http://schemas.openxmlformats.org/officeDocument/2006/relationships/slideLayout" Target="../slideLayouts/slideLayout247.xml"/><Relationship Id="rId17" Type="http://schemas.openxmlformats.org/officeDocument/2006/relationships/slideLayout" Target="../slideLayouts/slideLayout246.xml"/><Relationship Id="rId16" Type="http://schemas.openxmlformats.org/officeDocument/2006/relationships/slideLayout" Target="../slideLayouts/slideLayout245.xml"/><Relationship Id="rId15" Type="http://schemas.openxmlformats.org/officeDocument/2006/relationships/slideLayout" Target="../slideLayouts/slideLayout244.xml"/><Relationship Id="rId14" Type="http://schemas.openxmlformats.org/officeDocument/2006/relationships/slideLayout" Target="../slideLayouts/slideLayout243.xml"/><Relationship Id="rId13" Type="http://schemas.openxmlformats.org/officeDocument/2006/relationships/slideLayout" Target="../slideLayouts/slideLayout242.xml"/><Relationship Id="rId12" Type="http://schemas.openxmlformats.org/officeDocument/2006/relationships/slideLayout" Target="../slideLayouts/slideLayout241.xml"/><Relationship Id="rId11" Type="http://schemas.openxmlformats.org/officeDocument/2006/relationships/slideLayout" Target="../slideLayouts/slideLayout240.xml"/><Relationship Id="rId10" Type="http://schemas.openxmlformats.org/officeDocument/2006/relationships/slideLayout" Target="../slideLayouts/slideLayout239.xml"/><Relationship Id="rId1" Type="http://schemas.openxmlformats.org/officeDocument/2006/relationships/slideLayout" Target="../slideLayouts/slideLayout2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p:cNvPicPr>
            <a:picLocks noChangeAspect="1"/>
          </p:cNvPicPr>
          <p:nvPr userDrawn="1"/>
        </p:nvPicPr>
        <p:blipFill rotWithShape="1">
          <a:blip r:embed="rId27" cstate="print">
            <a:extLst>
              <a:ext uri="{28A0092B-C50C-407E-A947-70E740481C1C}">
                <a14:useLocalDpi xmlns:a14="http://schemas.microsoft.com/office/drawing/2010/main" val="0"/>
              </a:ext>
            </a:extLst>
          </a:blip>
          <a:srcRect l="40809" t="23955" r="40919" b="37048"/>
          <a:stretch>
            <a:fillRect/>
          </a:stretch>
        </p:blipFill>
        <p:spPr>
          <a:xfrm>
            <a:off x="152401" y="50489"/>
            <a:ext cx="461681" cy="517417"/>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456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5"/>
            <a:ext cx="793019" cy="589809"/>
          </a:xfrm>
          <a:prstGeom prst="rect">
            <a:avLst/>
          </a:prstGeom>
        </p:spPr>
      </p:pic>
      <p:sp>
        <p:nvSpPr>
          <p:cNvPr id="5" name="TextBox 4"/>
          <p:cNvSpPr txBox="1"/>
          <p:nvPr userDrawn="1"/>
        </p:nvSpPr>
        <p:spPr>
          <a:xfrm>
            <a:off x="821908" y="1393536"/>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2" y="9963"/>
            <a:ext cx="793019" cy="589809"/>
          </a:xfrm>
          <a:prstGeom prst="rect">
            <a:avLst/>
          </a:prstGeom>
        </p:spPr>
      </p:pic>
      <p:sp>
        <p:nvSpPr>
          <p:cNvPr id="5" name="TextBox 4"/>
          <p:cNvSpPr txBox="1"/>
          <p:nvPr userDrawn="1"/>
        </p:nvSpPr>
        <p:spPr>
          <a:xfrm>
            <a:off x="821908" y="1393536"/>
            <a:ext cx="7879080" cy="1015343"/>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1">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240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4" y="9968"/>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 id="2147483831" r:id="rId14"/>
    <p:sldLayoutId id="2147483832" r:id="rId15"/>
    <p:sldLayoutId id="2147483833" r:id="rId16"/>
    <p:sldLayoutId id="2147483834" r:id="rId17"/>
    <p:sldLayoutId id="2147483835" r:id="rId18"/>
    <p:sldLayoutId id="2147483836" r:id="rId19"/>
    <p:sldLayoutId id="2147483837" r:id="rId20"/>
    <p:sldLayoutId id="2147483838" r:id="rId21"/>
    <p:sldLayoutId id="2147483839" r:id="rId22"/>
    <p:sldLayoutId id="2147483840" r:id="rId23"/>
    <p:sldLayoutId id="2147483841" r:id="rId24"/>
    <p:sldLayoutId id="2147483842" r:id="rId25"/>
    <p:sldLayoutId id="2147483843"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135"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333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 id="2147483861"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6"/>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3">
            <a:extLst>
              <a:ext uri="{28A0092B-C50C-407E-A947-70E740481C1C}">
                <a14:useLocalDpi xmlns:a14="http://schemas.microsoft.com/office/drawing/2010/main" val="0"/>
              </a:ext>
            </a:extLst>
          </a:blip>
          <a:srcRect b="91440"/>
          <a:stretch>
            <a:fillRect/>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4"/>
          <a:stretch>
            <a:fillRect/>
          </a:stretch>
        </p:blipFill>
        <p:spPr>
          <a:xfrm>
            <a:off x="104820" y="9961"/>
            <a:ext cx="793019" cy="589809"/>
          </a:xfrm>
          <a:prstGeom prst="rect">
            <a:avLst/>
          </a:prstGeom>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 id="2147483906" r:id="rId18"/>
    <p:sldLayoutId id="2147483907" r:id="rId19"/>
    <p:sldLayoutId id="2147483908" r:id="rId20"/>
    <p:sldLayoutId id="2147483909" r:id="rId21"/>
    <p:sldLayoutId id="2147483910" r:id="rId22"/>
  </p:sldLayoutIdLst>
  <mc:AlternateContent xmlns:mc="http://schemas.openxmlformats.org/markup-compatibility/2006">
    <mc:Choice xmlns:p14="http://schemas.microsoft.com/office/powerpoint/2010/main" Requires="p14">
      <p:transition p14:dur="250"/>
    </mc:Choice>
    <mc:Fallback>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30.svg"/><Relationship Id="rId1"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oleObject" Target="../embeddings/oleObject7.bin"/><Relationship Id="rId7" Type="http://schemas.openxmlformats.org/officeDocument/2006/relationships/image" Target="../media/image35.wmf"/><Relationship Id="rId6" Type="http://schemas.openxmlformats.org/officeDocument/2006/relationships/oleObject" Target="../embeddings/oleObject6.bin"/><Relationship Id="rId5" Type="http://schemas.openxmlformats.org/officeDocument/2006/relationships/image" Target="../media/image34.wmf"/><Relationship Id="rId4" Type="http://schemas.openxmlformats.org/officeDocument/2006/relationships/oleObject" Target="../embeddings/oleObject5.bin"/><Relationship Id="rId3" Type="http://schemas.openxmlformats.org/officeDocument/2006/relationships/image" Target="../media/image33.png"/><Relationship Id="rId24" Type="http://schemas.openxmlformats.org/officeDocument/2006/relationships/notesSlide" Target="../notesSlides/notesSlide8.xml"/><Relationship Id="rId23" Type="http://schemas.openxmlformats.org/officeDocument/2006/relationships/vmlDrawing" Target="../drawings/vmlDrawing5.vml"/><Relationship Id="rId22" Type="http://schemas.openxmlformats.org/officeDocument/2006/relationships/slideLayout" Target="../slideLayouts/slideLayout2.xml"/><Relationship Id="rId21" Type="http://schemas.openxmlformats.org/officeDocument/2006/relationships/image" Target="../media/image39.wmf"/><Relationship Id="rId20" Type="http://schemas.openxmlformats.org/officeDocument/2006/relationships/oleObject" Target="../embeddings/oleObject12.bin"/><Relationship Id="rId2" Type="http://schemas.openxmlformats.org/officeDocument/2006/relationships/image" Target="../media/image32.png"/><Relationship Id="rId19" Type="http://schemas.openxmlformats.org/officeDocument/2006/relationships/tags" Target="../tags/tag6.xml"/><Relationship Id="rId18" Type="http://schemas.openxmlformats.org/officeDocument/2006/relationships/image" Target="../media/image38.wmf"/><Relationship Id="rId17" Type="http://schemas.openxmlformats.org/officeDocument/2006/relationships/oleObject" Target="../embeddings/oleObject11.bin"/><Relationship Id="rId16" Type="http://schemas.openxmlformats.org/officeDocument/2006/relationships/tags" Target="../tags/tag5.xml"/><Relationship Id="rId15" Type="http://schemas.openxmlformats.org/officeDocument/2006/relationships/image" Target="../media/image37.wmf"/><Relationship Id="rId14" Type="http://schemas.openxmlformats.org/officeDocument/2006/relationships/oleObject" Target="../embeddings/oleObject10.bin"/><Relationship Id="rId13" Type="http://schemas.openxmlformats.org/officeDocument/2006/relationships/tags" Target="../tags/tag4.xml"/><Relationship Id="rId12" Type="http://schemas.openxmlformats.org/officeDocument/2006/relationships/image" Target="../media/image36.wmf"/><Relationship Id="rId11" Type="http://schemas.openxmlformats.org/officeDocument/2006/relationships/oleObject" Target="../embeddings/oleObject9.bin"/><Relationship Id="rId10" Type="http://schemas.openxmlformats.org/officeDocument/2006/relationships/tags" Target="../tags/tag3.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vmlDrawing" Target="../drawings/vmlDrawing6.vml"/><Relationship Id="rId6" Type="http://schemas.openxmlformats.org/officeDocument/2006/relationships/slideLayout" Target="../slideLayouts/slideLayout2.xml"/><Relationship Id="rId5" Type="http://schemas.openxmlformats.org/officeDocument/2006/relationships/image" Target="../media/image43.emf"/><Relationship Id="rId4" Type="http://schemas.openxmlformats.org/officeDocument/2006/relationships/image" Target="../media/image42.svg"/><Relationship Id="rId3" Type="http://schemas.openxmlformats.org/officeDocument/2006/relationships/image" Target="../media/image41.png"/><Relationship Id="rId2" Type="http://schemas.openxmlformats.org/officeDocument/2006/relationships/image" Target="../media/image40.wmf"/><Relationship Id="rId1" Type="http://schemas.openxmlformats.org/officeDocument/2006/relationships/oleObject" Target="../embeddings/oleObject13.bin"/></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45.emf"/><Relationship Id="rId2" Type="http://schemas.openxmlformats.org/officeDocument/2006/relationships/image" Target="../media/image44.wmf"/><Relationship Id="rId1" Type="http://schemas.openxmlformats.org/officeDocument/2006/relationships/oleObject" Target="../embeddings/oleObject14.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46.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47.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48.e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49.emf"/></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50.wmf"/><Relationship Id="rId1" Type="http://schemas.openxmlformats.org/officeDocument/2006/relationships/oleObject" Target="../embeddings/oleObject15.bin"/></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53.emf"/><Relationship Id="rId3" Type="http://schemas.openxmlformats.org/officeDocument/2006/relationships/oleObject" Target="../embeddings/oleObject16.bin"/><Relationship Id="rId2" Type="http://schemas.openxmlformats.org/officeDocument/2006/relationships/image" Target="../media/image52.emf"/><Relationship Id="rId1" Type="http://schemas.openxmlformats.org/officeDocument/2006/relationships/image" Target="../media/image51.emf"/></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54.wmf"/><Relationship Id="rId1" Type="http://schemas.openxmlformats.org/officeDocument/2006/relationships/oleObject" Target="../embeddings/oleObject17.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55.em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55.emf"/></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vmlDrawing" Target="../drawings/vmlDrawing11.vml"/><Relationship Id="rId4" Type="http://schemas.openxmlformats.org/officeDocument/2006/relationships/slideLayout" Target="../slideLayouts/slideLayout2.xml"/><Relationship Id="rId3" Type="http://schemas.openxmlformats.org/officeDocument/2006/relationships/image" Target="../media/image55.emf"/><Relationship Id="rId2" Type="http://schemas.openxmlformats.org/officeDocument/2006/relationships/image" Target="../media/image56.wmf"/><Relationship Id="rId1" Type="http://schemas.openxmlformats.org/officeDocument/2006/relationships/oleObject" Target="../embeddings/oleObject18.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58.e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59.emf"/></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61.png"/><Relationship Id="rId1" Type="http://schemas.openxmlformats.org/officeDocument/2006/relationships/image" Target="../media/image60.emf"/></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63.emf"/><Relationship Id="rId1" Type="http://schemas.openxmlformats.org/officeDocument/2006/relationships/image" Target="../media/image62.e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64.emf"/></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image" Target="../media/image66.emf"/><Relationship Id="rId1" Type="http://schemas.openxmlformats.org/officeDocument/2006/relationships/image" Target="../media/image65.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3.1</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线性</a:t>
            </a:r>
            <a:r>
              <a:rPr lang="zh-CN" altLang="en-US" b="0" dirty="0">
                <a:ea typeface="华光综艺_CNKI" panose="02000500000000000000" pitchFamily="2" charset="-122"/>
              </a:rPr>
              <a:t>相关分析</a:t>
            </a:r>
            <a:endParaRPr lang="zh-CN" altLang="en-US" b="0" dirty="0">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50277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认识函数关系与相关关系</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1.1</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151" name="矩形: 圆角 55"/>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函数关系</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22" name="图片 22" descr="D:/研究生/研一/书稿/相关分析/函数关系2.png函数关系2"/>
          <p:cNvPicPr>
            <a:picLocks noChangeAspect="1"/>
          </p:cNvPicPr>
          <p:nvPr/>
        </p:nvPicPr>
        <p:blipFill>
          <a:blip r:embed="rId1"/>
          <a:srcRect t="643" b="643"/>
          <a:stretch>
            <a:fillRect/>
          </a:stretch>
        </p:blipFill>
        <p:spPr>
          <a:xfrm>
            <a:off x="1235075" y="2442845"/>
            <a:ext cx="10105390" cy="34016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50277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认识函数关系与相关关系</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1.1</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151" name="矩形: 圆角 55"/>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相关关系</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4" name="图片 1" descr="相关关系图"/>
          <p:cNvPicPr>
            <a:picLocks noChangeAspect="1"/>
          </p:cNvPicPr>
          <p:nvPr/>
        </p:nvPicPr>
        <p:blipFill>
          <a:blip r:embed="rId1"/>
          <a:stretch>
            <a:fillRect/>
          </a:stretch>
        </p:blipFill>
        <p:spPr>
          <a:xfrm>
            <a:off x="3899535" y="2121535"/>
            <a:ext cx="7968615" cy="4154170"/>
          </a:xfrm>
          <a:prstGeom prst="rect">
            <a:avLst/>
          </a:prstGeom>
        </p:spPr>
      </p:pic>
      <p:sp>
        <p:nvSpPr>
          <p:cNvPr id="8" name="文本框 7"/>
          <p:cNvSpPr txBox="1"/>
          <p:nvPr/>
        </p:nvSpPr>
        <p:spPr>
          <a:xfrm>
            <a:off x="224790" y="2745740"/>
            <a:ext cx="3750945" cy="3046095"/>
          </a:xfrm>
          <a:prstGeom prst="rect">
            <a:avLst/>
          </a:prstGeom>
          <a:noFill/>
        </p:spPr>
        <p:txBody>
          <a:bodyPr wrap="square" rtlCol="0" anchor="t">
            <a:spAutoFit/>
          </a:bodyPr>
          <a:p>
            <a:pPr marL="342900" indent="-342900">
              <a:buFont typeface="Arial" panose="020B0604020202020204" pitchFamily="34" charset="0"/>
              <a:buChar char="•"/>
            </a:pPr>
            <a:r>
              <a:rPr lang="zh-CN" altLang="en-US" sz="2400" b="1" dirty="0">
                <a:solidFill>
                  <a:srgbClr val="00CCFF"/>
                </a:solidFill>
                <a:effectLst/>
                <a:latin typeface="微软雅黑" panose="020B0503020204020204" pitchFamily="34" charset="-122"/>
                <a:ea typeface="微软雅黑" panose="020B0503020204020204" pitchFamily="34" charset="-122"/>
                <a:cs typeface="+mj-cs"/>
                <a:sym typeface="+mn-ea"/>
              </a:rPr>
              <a:t>正相关和负相关</a:t>
            </a:r>
            <a:endParaRPr lang="zh-CN" altLang="en-US" sz="2400" b="1" dirty="0">
              <a:solidFill>
                <a:srgbClr val="00CCFF"/>
              </a:solidFill>
              <a:effectLst/>
              <a:latin typeface="微软雅黑" panose="020B0503020204020204" pitchFamily="34" charset="-122"/>
              <a:ea typeface="微软雅黑" panose="020B0503020204020204" pitchFamily="34" charset="-122"/>
              <a:cs typeface="+mj-cs"/>
              <a:sym typeface="+mn-ea"/>
            </a:endParaRPr>
          </a:p>
          <a:p>
            <a:pPr marL="342900" indent="-342900">
              <a:buFont typeface="Arial" panose="020B0604020202020204" pitchFamily="34" charset="0"/>
              <a:buChar char="•"/>
            </a:pPr>
            <a:endParaRPr lang="zh-CN" altLang="en-US" sz="2400" b="1" dirty="0">
              <a:solidFill>
                <a:srgbClr val="00CCFF"/>
              </a:solidFill>
              <a:effectLst/>
              <a:latin typeface="微软雅黑" panose="020B0503020204020204" pitchFamily="34" charset="-122"/>
              <a:ea typeface="微软雅黑" panose="020B0503020204020204" pitchFamily="34" charset="-122"/>
              <a:cs typeface="+mj-cs"/>
              <a:sym typeface="+mn-ea"/>
            </a:endParaRPr>
          </a:p>
          <a:p>
            <a:pPr marL="342900" indent="-342900">
              <a:buFont typeface="Arial" panose="020B0604020202020204" pitchFamily="34" charset="0"/>
              <a:buChar char="•"/>
            </a:pPr>
            <a:r>
              <a:rPr lang="zh-CN" altLang="en-US" sz="2400" b="1" dirty="0">
                <a:solidFill>
                  <a:srgbClr val="00CCFF"/>
                </a:solidFill>
                <a:effectLst/>
                <a:latin typeface="微软雅黑" panose="020B0503020204020204" pitchFamily="34" charset="-122"/>
                <a:ea typeface="微软雅黑" panose="020B0503020204020204" pitchFamily="34" charset="-122"/>
                <a:cs typeface="+mj-cs"/>
                <a:sym typeface="+mn-ea"/>
              </a:rPr>
              <a:t>线性相关和非线性相关</a:t>
            </a:r>
            <a:endParaRPr lang="zh-CN" altLang="en-US" sz="2400" b="1" dirty="0">
              <a:solidFill>
                <a:srgbClr val="00CCFF"/>
              </a:solidFill>
              <a:effectLst/>
              <a:latin typeface="微软雅黑" panose="020B0503020204020204" pitchFamily="34" charset="-122"/>
              <a:ea typeface="微软雅黑" panose="020B0503020204020204" pitchFamily="34" charset="-122"/>
              <a:cs typeface="+mj-cs"/>
              <a:sym typeface="+mn-ea"/>
            </a:endParaRPr>
          </a:p>
          <a:p>
            <a:pPr marL="342900" indent="-342900">
              <a:buFont typeface="Arial" panose="020B0604020202020204" pitchFamily="34" charset="0"/>
              <a:buChar char="•"/>
            </a:pPr>
            <a:endParaRPr lang="zh-CN" altLang="en-US" sz="2400" b="1" dirty="0">
              <a:solidFill>
                <a:srgbClr val="00CCFF"/>
              </a:solidFill>
              <a:effectLst/>
              <a:latin typeface="微软雅黑" panose="020B0503020204020204" pitchFamily="34" charset="-122"/>
              <a:ea typeface="微软雅黑" panose="020B0503020204020204" pitchFamily="34" charset="-122"/>
              <a:cs typeface="+mj-cs"/>
              <a:sym typeface="+mn-ea"/>
            </a:endParaRPr>
          </a:p>
          <a:p>
            <a:pPr marL="342900" indent="-342900">
              <a:buFont typeface="Arial" panose="020B0604020202020204" pitchFamily="34" charset="0"/>
              <a:buChar char="•"/>
            </a:pPr>
            <a:r>
              <a:rPr lang="zh-CN" altLang="en-US" sz="2400" b="1" dirty="0">
                <a:solidFill>
                  <a:srgbClr val="00CCFF"/>
                </a:solidFill>
                <a:effectLst/>
                <a:latin typeface="微软雅黑" panose="020B0503020204020204" pitchFamily="34" charset="-122"/>
                <a:ea typeface="微软雅黑" panose="020B0503020204020204" pitchFamily="34" charset="-122"/>
                <a:cs typeface="+mj-cs"/>
                <a:sym typeface="+mn-ea"/>
              </a:rPr>
              <a:t>完全相关、不完全相关和不相关</a:t>
            </a:r>
            <a:endParaRPr lang="zh-CN" altLang="en-US" sz="2400" b="1" dirty="0">
              <a:solidFill>
                <a:srgbClr val="00CCFF"/>
              </a:solidFill>
              <a:effectLst/>
              <a:latin typeface="微软雅黑" panose="020B0503020204020204" pitchFamily="34" charset="-122"/>
              <a:ea typeface="微软雅黑" panose="020B0503020204020204" pitchFamily="34" charset="-122"/>
              <a:cs typeface="+mj-cs"/>
              <a:sym typeface="+mn-ea"/>
            </a:endParaRPr>
          </a:p>
          <a:p>
            <a:pPr marL="342900" indent="-342900">
              <a:buFont typeface="Arial" panose="020B0604020202020204" pitchFamily="34" charset="0"/>
              <a:buChar char="•"/>
            </a:pPr>
            <a:endParaRPr lang="zh-CN" altLang="en-US" sz="2400" b="1" dirty="0">
              <a:solidFill>
                <a:srgbClr val="00CCFF"/>
              </a:solidFill>
              <a:effectLst/>
              <a:latin typeface="微软雅黑" panose="020B0503020204020204" pitchFamily="34" charset="-122"/>
              <a:ea typeface="微软雅黑" panose="020B0503020204020204" pitchFamily="34" charset="-122"/>
              <a:cs typeface="+mj-cs"/>
              <a:sym typeface="+mn-ea"/>
            </a:endParaRPr>
          </a:p>
          <a:p>
            <a:pPr marL="342900" indent="-342900">
              <a:buFont typeface="Arial" panose="020B0604020202020204" pitchFamily="34" charset="0"/>
              <a:buChar char="•"/>
            </a:pPr>
            <a:r>
              <a:rPr lang="zh-CN" altLang="en-US" sz="2400" b="1" dirty="0">
                <a:solidFill>
                  <a:srgbClr val="00CCFF"/>
                </a:solidFill>
                <a:effectLst/>
                <a:latin typeface="微软雅黑" panose="020B0503020204020204" pitchFamily="34" charset="-122"/>
                <a:ea typeface="微软雅黑" panose="020B0503020204020204" pitchFamily="34" charset="-122"/>
                <a:cs typeface="+mj-cs"/>
                <a:sym typeface="+mn-ea"/>
              </a:rPr>
              <a:t>单相关和复相关</a:t>
            </a:r>
            <a:endParaRPr lang="zh-CN" altLang="en-US" sz="2400" b="1" dirty="0">
              <a:solidFill>
                <a:srgbClr val="00CCFF"/>
              </a:solidFill>
              <a:effectLst/>
              <a:latin typeface="微软雅黑" panose="020B0503020204020204" pitchFamily="34" charset="-122"/>
              <a:ea typeface="微软雅黑" panose="020B0503020204020204" pitchFamily="34" charset="-122"/>
              <a:cs typeface="+mj-cs"/>
              <a:sym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50277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认识函数关系与相关关系</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1.1</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151" name="矩形: 圆角 55"/>
          <p:cNvSpPr/>
          <p:nvPr/>
        </p:nvSpPr>
        <p:spPr>
          <a:xfrm>
            <a:off x="166370" y="1664970"/>
            <a:ext cx="2166620" cy="634365"/>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相关与</a:t>
            </a: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因果</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3278505" y="1667510"/>
            <a:ext cx="7145655" cy="47783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319405" y="1667510"/>
            <a:ext cx="11664315" cy="224536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相关分析</a:t>
            </a:r>
            <a:r>
              <a:rPr lang="en-US" altLang="zh-CN" sz="28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en-US" sz="28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是指通过对大量数据的观察，消除偶然因素的影响，探求变量之间相关关系的强弱程度和表现形式的一种方法。</a:t>
            </a:r>
            <a:endParaRPr lang="zh-CN" altLang="en-US" sz="28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indent="306070">
              <a:lnSpc>
                <a:spcPct val="125000"/>
              </a:lnSpc>
            </a:pP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相关系数  </a:t>
            </a:r>
            <a:r>
              <a:rPr lang="zh-CN" altLang="en-US" sz="28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是衡量两个变量之间相关关系强弱程度的统计指标。</a:t>
            </a:r>
            <a:endParaRPr lang="zh-CN" altLang="en-US" sz="28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indent="306070">
              <a:lnSpc>
                <a:spcPct val="125000"/>
              </a:lnSpc>
            </a:pPr>
            <a:endParaRPr lang="zh-CN" altLang="en-US" sz="28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9" name="表格 8"/>
          <p:cNvGraphicFramePr/>
          <p:nvPr>
            <p:custDataLst>
              <p:tags r:id="rId1"/>
            </p:custDataLst>
          </p:nvPr>
        </p:nvGraphicFramePr>
        <p:xfrm>
          <a:off x="995680" y="3546475"/>
          <a:ext cx="10412095" cy="2774950"/>
        </p:xfrm>
        <a:graphic>
          <a:graphicData uri="http://schemas.openxmlformats.org/drawingml/2006/table">
            <a:tbl>
              <a:tblPr firstRow="1" bandRow="1">
                <a:tableStyleId>{D3501913-F5AA-4E3D-886B-E86FFC371EB1}</a:tableStyleId>
              </a:tblPr>
              <a:tblGrid>
                <a:gridCol w="3227705"/>
                <a:gridCol w="2334895"/>
                <a:gridCol w="4849495"/>
              </a:tblGrid>
              <a:tr h="532765">
                <a:tc>
                  <a:txBody>
                    <a:bodyPr/>
                    <a:p>
                      <a:pPr marL="0" indent="0" algn="l">
                        <a:lnSpc>
                          <a:spcPct val="125000"/>
                        </a:lnSpc>
                        <a:spcBef>
                          <a:spcPct val="0"/>
                        </a:spcBef>
                        <a:spcAft>
                          <a:spcPct val="0"/>
                        </a:spcAft>
                      </a:pPr>
                      <a:r>
                        <a:rPr lang="zh-CN" sz="2200">
                          <a:latin typeface="微软雅黑" panose="020B0503020204020204" pitchFamily="34" charset="-122"/>
                          <a:ea typeface="微软雅黑" panose="020B0503020204020204" pitchFamily="34" charset="-122"/>
                        </a:rPr>
                        <a:t>简单线性相关系数</a:t>
                      </a:r>
                      <a:endParaRPr lang="zh-CN" sz="2200">
                        <a:latin typeface="微软雅黑" panose="020B0503020204020204" pitchFamily="34" charset="-122"/>
                        <a:ea typeface="微软雅黑" panose="020B0503020204020204" pitchFamily="34" charset="-122"/>
                      </a:endParaRPr>
                    </a:p>
                  </a:txBody>
                  <a:tcPr marL="68580" marR="68580" marT="0" marB="0" anchor="ctr" anchorCtr="0"/>
                </a:tc>
                <a:tc>
                  <a:txBody>
                    <a:bodyPr/>
                    <a:p>
                      <a:pPr marL="0" indent="0" algn="l">
                        <a:lnSpc>
                          <a:spcPct val="125000"/>
                        </a:lnSpc>
                        <a:spcBef>
                          <a:spcPct val="0"/>
                        </a:spcBef>
                        <a:spcAft>
                          <a:spcPct val="0"/>
                        </a:spcAft>
                      </a:pPr>
                      <a:r>
                        <a:rPr lang="zh-CN" sz="2200">
                          <a:latin typeface="微软雅黑" panose="020B0503020204020204" pitchFamily="34" charset="-122"/>
                          <a:ea typeface="微软雅黑" panose="020B0503020204020204" pitchFamily="34" charset="-122"/>
                        </a:rPr>
                        <a:t>适用数据</a:t>
                      </a:r>
                      <a:endParaRPr lang="zh-CN" sz="2200">
                        <a:latin typeface="微软雅黑" panose="020B0503020204020204" pitchFamily="34" charset="-122"/>
                        <a:ea typeface="微软雅黑" panose="020B0503020204020204" pitchFamily="34" charset="-122"/>
                      </a:endParaRPr>
                    </a:p>
                  </a:txBody>
                  <a:tcPr marL="68580" marR="68580" marT="0" marB="0" anchor="ctr" anchorCtr="0"/>
                </a:tc>
                <a:tc>
                  <a:txBody>
                    <a:bodyPr/>
                    <a:p>
                      <a:pPr marL="0" indent="0" algn="l">
                        <a:lnSpc>
                          <a:spcPct val="125000"/>
                        </a:lnSpc>
                        <a:spcBef>
                          <a:spcPct val="0"/>
                        </a:spcBef>
                        <a:spcAft>
                          <a:spcPct val="0"/>
                        </a:spcAft>
                      </a:pPr>
                      <a:r>
                        <a:rPr lang="zh-CN" sz="2200">
                          <a:latin typeface="微软雅黑" panose="020B0503020204020204" pitchFamily="34" charset="-122"/>
                          <a:ea typeface="微软雅黑" panose="020B0503020204020204" pitchFamily="34" charset="-122"/>
                        </a:rPr>
                        <a:t>优缺点</a:t>
                      </a:r>
                      <a:endParaRPr lang="zh-CN" sz="2200">
                        <a:latin typeface="微软雅黑" panose="020B0503020204020204" pitchFamily="34" charset="-122"/>
                        <a:ea typeface="微软雅黑" panose="020B0503020204020204" pitchFamily="34" charset="-122"/>
                      </a:endParaRPr>
                    </a:p>
                  </a:txBody>
                  <a:tcPr marL="68580" marR="68580" marT="0" marB="0" anchor="ctr" anchorCtr="0"/>
                </a:tc>
              </a:tr>
              <a:tr h="610870">
                <a:tc>
                  <a:txBody>
                    <a:bodyPr/>
                    <a:p>
                      <a:pPr marL="0" indent="0" algn="l">
                        <a:lnSpc>
                          <a:spcPct val="125000"/>
                        </a:lnSpc>
                        <a:spcBef>
                          <a:spcPct val="0"/>
                        </a:spcBef>
                        <a:spcAft>
                          <a:spcPct val="0"/>
                        </a:spcAft>
                      </a:pPr>
                      <a:r>
                        <a:rPr lang="en-US" altLang="zh-CN" sz="2200">
                          <a:latin typeface="微软雅黑" panose="020B0503020204020204" pitchFamily="34" charset="-122"/>
                          <a:ea typeface="微软雅黑" panose="020B0503020204020204" pitchFamily="34" charset="-122"/>
                          <a:cs typeface="微软雅黑" panose="020B0503020204020204" pitchFamily="34" charset="-122"/>
                        </a:rPr>
                        <a:t>Pearson</a:t>
                      </a:r>
                      <a:r>
                        <a:rPr lang="zh-CN" sz="2200">
                          <a:latin typeface="微软雅黑" panose="020B0503020204020204" pitchFamily="34" charset="-122"/>
                          <a:ea typeface="微软雅黑" panose="020B0503020204020204" pitchFamily="34" charset="-122"/>
                          <a:cs typeface="微软雅黑" panose="020B0503020204020204" pitchFamily="34" charset="-122"/>
                        </a:rPr>
                        <a:t>相关系数</a:t>
                      </a:r>
                      <a:endParaRPr lang="zh-CN" sz="22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nchorCtr="0"/>
                </a:tc>
                <a:tc>
                  <a:txBody>
                    <a:bodyPr/>
                    <a:p>
                      <a:pPr marL="0" indent="0" algn="l">
                        <a:lnSpc>
                          <a:spcPct val="125000"/>
                        </a:lnSpc>
                        <a:spcBef>
                          <a:spcPct val="0"/>
                        </a:spcBef>
                        <a:spcAft>
                          <a:spcPct val="0"/>
                        </a:spcAft>
                      </a:pPr>
                      <a:r>
                        <a:rPr lang="zh-CN" sz="2200">
                          <a:latin typeface="微软雅黑" panose="020B0503020204020204" pitchFamily="34" charset="-122"/>
                          <a:ea typeface="微软雅黑" panose="020B0503020204020204" pitchFamily="34" charset="-122"/>
                        </a:rPr>
                        <a:t>二元定距变量</a:t>
                      </a:r>
                      <a:endParaRPr lang="zh-CN" sz="2200">
                        <a:latin typeface="微软雅黑" panose="020B0503020204020204" pitchFamily="34" charset="-122"/>
                        <a:ea typeface="微软雅黑" panose="020B0503020204020204" pitchFamily="34" charset="-122"/>
                      </a:endParaRPr>
                    </a:p>
                  </a:txBody>
                  <a:tcPr marL="68580" marR="68580" marT="0" marB="0" anchor="ctr" anchorCtr="0"/>
                </a:tc>
                <a:tc>
                  <a:txBody>
                    <a:bodyPr/>
                    <a:p>
                      <a:pPr marL="0" indent="0" algn="l">
                        <a:lnSpc>
                          <a:spcPct val="125000"/>
                        </a:lnSpc>
                        <a:spcBef>
                          <a:spcPct val="0"/>
                        </a:spcBef>
                        <a:spcAft>
                          <a:spcPct val="0"/>
                        </a:spcAft>
                      </a:pPr>
                      <a:r>
                        <a:rPr lang="zh-CN" sz="2200">
                          <a:latin typeface="微软雅黑" panose="020B0503020204020204" pitchFamily="34" charset="-122"/>
                          <a:ea typeface="微软雅黑" panose="020B0503020204020204" pitchFamily="34" charset="-122"/>
                        </a:rPr>
                        <a:t>要求正态分布，对异常值比较敏感</a:t>
                      </a:r>
                      <a:endParaRPr lang="zh-CN" sz="2200">
                        <a:latin typeface="微软雅黑" panose="020B0503020204020204" pitchFamily="34" charset="-122"/>
                        <a:ea typeface="微软雅黑" panose="020B0503020204020204" pitchFamily="34" charset="-122"/>
                      </a:endParaRPr>
                    </a:p>
                  </a:txBody>
                  <a:tcPr marL="68580" marR="68580" marT="0" marB="0" anchor="ctr" anchorCtr="0"/>
                </a:tc>
              </a:tr>
              <a:tr h="815975">
                <a:tc>
                  <a:txBody>
                    <a:bodyPr/>
                    <a:p>
                      <a:pPr marL="0" indent="0" algn="l">
                        <a:lnSpc>
                          <a:spcPct val="125000"/>
                        </a:lnSpc>
                        <a:spcBef>
                          <a:spcPct val="0"/>
                        </a:spcBef>
                        <a:spcAft>
                          <a:spcPct val="0"/>
                        </a:spcAft>
                      </a:pPr>
                      <a:r>
                        <a:rPr lang="en-US" altLang="zh-CN" sz="2200">
                          <a:latin typeface="微软雅黑" panose="020B0503020204020204" pitchFamily="34" charset="-122"/>
                          <a:ea typeface="微软雅黑" panose="020B0503020204020204" pitchFamily="34" charset="-122"/>
                          <a:cs typeface="微软雅黑" panose="020B0503020204020204" pitchFamily="34" charset="-122"/>
                        </a:rPr>
                        <a:t>Spearman</a:t>
                      </a:r>
                      <a:r>
                        <a:rPr lang="zh-CN" sz="2200">
                          <a:latin typeface="微软雅黑" panose="020B0503020204020204" pitchFamily="34" charset="-122"/>
                          <a:ea typeface="微软雅黑" panose="020B0503020204020204" pitchFamily="34" charset="-122"/>
                          <a:cs typeface="微软雅黑" panose="020B0503020204020204" pitchFamily="34" charset="-122"/>
                        </a:rPr>
                        <a:t>秩相关系数</a:t>
                      </a:r>
                      <a:endParaRPr lang="zh-CN" sz="22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nchorCtr="0"/>
                </a:tc>
                <a:tc>
                  <a:txBody>
                    <a:bodyPr/>
                    <a:p>
                      <a:pPr marL="0" indent="0" algn="l">
                        <a:lnSpc>
                          <a:spcPct val="125000"/>
                        </a:lnSpc>
                        <a:spcBef>
                          <a:spcPct val="0"/>
                        </a:spcBef>
                        <a:spcAft>
                          <a:spcPct val="0"/>
                        </a:spcAft>
                      </a:pPr>
                      <a:r>
                        <a:rPr lang="zh-CN" sz="2200">
                          <a:latin typeface="微软雅黑" panose="020B0503020204020204" pitchFamily="34" charset="-122"/>
                          <a:ea typeface="微软雅黑" panose="020B0503020204020204" pitchFamily="34" charset="-122"/>
                        </a:rPr>
                        <a:t>二元定序变量</a:t>
                      </a:r>
                      <a:endParaRPr lang="zh-CN" sz="2200">
                        <a:latin typeface="微软雅黑" panose="020B0503020204020204" pitchFamily="34" charset="-122"/>
                        <a:ea typeface="微软雅黑" panose="020B0503020204020204" pitchFamily="34" charset="-122"/>
                      </a:endParaRPr>
                    </a:p>
                  </a:txBody>
                  <a:tcPr marL="68580" marR="68580" marT="0" marB="0" anchor="ctr" anchorCtr="0"/>
                </a:tc>
                <a:tc>
                  <a:txBody>
                    <a:bodyPr/>
                    <a:p>
                      <a:pPr marL="0" indent="0" algn="l">
                        <a:lnSpc>
                          <a:spcPct val="125000"/>
                        </a:lnSpc>
                        <a:spcBef>
                          <a:spcPct val="0"/>
                        </a:spcBef>
                        <a:spcAft>
                          <a:spcPct val="0"/>
                        </a:spcAft>
                      </a:pPr>
                      <a:r>
                        <a:rPr lang="zh-CN" sz="2200">
                          <a:latin typeface="微软雅黑" panose="020B0503020204020204" pitchFamily="34" charset="-122"/>
                          <a:ea typeface="微软雅黑" panose="020B0503020204020204" pitchFamily="34" charset="-122"/>
                        </a:rPr>
                        <a:t>对异常值不敏感，适用于小样本数据</a:t>
                      </a:r>
                      <a:endParaRPr lang="zh-CN" sz="2200">
                        <a:latin typeface="微软雅黑" panose="020B0503020204020204" pitchFamily="34" charset="-122"/>
                        <a:ea typeface="微软雅黑" panose="020B0503020204020204" pitchFamily="34" charset="-122"/>
                      </a:endParaRPr>
                    </a:p>
                  </a:txBody>
                  <a:tcPr marL="68580" marR="68580" marT="0" marB="0" anchor="ctr" anchorCtr="0"/>
                </a:tc>
              </a:tr>
              <a:tr h="815340">
                <a:tc>
                  <a:txBody>
                    <a:bodyPr/>
                    <a:p>
                      <a:pPr marL="0" indent="0" algn="l">
                        <a:lnSpc>
                          <a:spcPct val="125000"/>
                        </a:lnSpc>
                        <a:spcBef>
                          <a:spcPct val="0"/>
                        </a:spcBef>
                        <a:spcAft>
                          <a:spcPct val="0"/>
                        </a:spcAft>
                      </a:pPr>
                      <a:r>
                        <a:rPr lang="en-US" altLang="zh-CN" sz="2200">
                          <a:latin typeface="微软雅黑" panose="020B0503020204020204" pitchFamily="34" charset="-122"/>
                          <a:ea typeface="微软雅黑" panose="020B0503020204020204" pitchFamily="34" charset="-122"/>
                          <a:cs typeface="微软雅黑" panose="020B0503020204020204" pitchFamily="34" charset="-122"/>
                        </a:rPr>
                        <a:t>Kendall</a:t>
                      </a:r>
                      <a:r>
                        <a:rPr lang="zh-CN" sz="2200">
                          <a:latin typeface="微软雅黑" panose="020B0503020204020204" pitchFamily="34" charset="-122"/>
                          <a:ea typeface="微软雅黑" panose="020B0503020204020204" pitchFamily="34" charset="-122"/>
                          <a:cs typeface="微软雅黑" panose="020B0503020204020204" pitchFamily="34" charset="-122"/>
                        </a:rPr>
                        <a:t>等级相关系数</a:t>
                      </a:r>
                      <a:endParaRPr lang="zh-CN" sz="22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nchorCtr="0"/>
                </a:tc>
                <a:tc>
                  <a:txBody>
                    <a:bodyPr/>
                    <a:p>
                      <a:pPr marL="0" indent="0" algn="l">
                        <a:lnSpc>
                          <a:spcPct val="125000"/>
                        </a:lnSpc>
                        <a:spcBef>
                          <a:spcPct val="0"/>
                        </a:spcBef>
                        <a:spcAft>
                          <a:spcPct val="0"/>
                        </a:spcAft>
                      </a:pPr>
                      <a:r>
                        <a:rPr lang="zh-CN" sz="2200">
                          <a:latin typeface="微软雅黑" panose="020B0503020204020204" pitchFamily="34" charset="-122"/>
                          <a:ea typeface="微软雅黑" panose="020B0503020204020204" pitchFamily="34" charset="-122"/>
                        </a:rPr>
                        <a:t>二元定序变量</a:t>
                      </a:r>
                      <a:endParaRPr lang="zh-CN" sz="2200">
                        <a:latin typeface="微软雅黑" panose="020B0503020204020204" pitchFamily="34" charset="-122"/>
                        <a:ea typeface="微软雅黑" panose="020B0503020204020204" pitchFamily="34" charset="-122"/>
                      </a:endParaRPr>
                    </a:p>
                  </a:txBody>
                  <a:tcPr marL="68580" marR="68580" marT="0" marB="0" anchor="ctr" anchorCtr="0"/>
                </a:tc>
                <a:tc>
                  <a:txBody>
                    <a:bodyPr/>
                    <a:p>
                      <a:pPr marL="0" indent="0" algn="l">
                        <a:lnSpc>
                          <a:spcPct val="125000"/>
                        </a:lnSpc>
                        <a:spcBef>
                          <a:spcPct val="0"/>
                        </a:spcBef>
                        <a:spcAft>
                          <a:spcPct val="0"/>
                        </a:spcAft>
                      </a:pPr>
                      <a:r>
                        <a:rPr lang="zh-CN" sz="2200">
                          <a:latin typeface="微软雅黑" panose="020B0503020204020204" pitchFamily="34" charset="-122"/>
                          <a:ea typeface="微软雅黑" panose="020B0503020204020204" pitchFamily="34" charset="-122"/>
                        </a:rPr>
                        <a:t>对异常值不敏感，适用于大样本数据</a:t>
                      </a:r>
                      <a:endParaRPr lang="zh-CN" sz="2200">
                        <a:latin typeface="微软雅黑" panose="020B0503020204020204" pitchFamily="34" charset="-122"/>
                        <a:ea typeface="微软雅黑" panose="020B0503020204020204" pitchFamily="34" charset="-122"/>
                      </a:endParaRPr>
                    </a:p>
                  </a:txBody>
                  <a:tcPr marL="68580" marR="68580" marT="0" marB="0" anchor="ctr" anchorCtr="0"/>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319722"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effectLst/>
              <a:latin typeface="Cambria" panose="02040503050406030204" pitchFamily="18" charset="0"/>
              <a:ea typeface="黑体" panose="02010609060101010101" charset="-122"/>
              <a:cs typeface="Times New Roman" panose="02020603050405020304" pitchFamily="18" charset="0"/>
            </a:endParaRPr>
          </a:p>
        </p:txBody>
      </p:sp>
      <p:sp>
        <p:nvSpPr>
          <p:cNvPr id="21" name="文本框 20"/>
          <p:cNvSpPr txBox="1"/>
          <p:nvPr/>
        </p:nvSpPr>
        <p:spPr>
          <a:xfrm>
            <a:off x="367665" y="1751330"/>
            <a:ext cx="11527790" cy="1568450"/>
          </a:xfrm>
          <a:prstGeom prst="rect">
            <a:avLst/>
          </a:prstGeom>
          <a:noFill/>
        </p:spPr>
        <p:txBody>
          <a:bodyPr wrap="square">
            <a:spAutoFit/>
          </a:bodyPr>
          <a:p>
            <a:r>
              <a:rPr lang="zh-CN" altLang="en-US" sz="2400" dirty="0">
                <a:latin typeface="微软雅黑" panose="020B0503020204020204" pitchFamily="34" charset="-122"/>
                <a:ea typeface="微软雅黑" panose="020B0503020204020204" pitchFamily="34" charset="-122"/>
              </a:rPr>
              <a:t>在进行线性相关分析之前，了解数据是否符合正态分布是至关重要的。常用的正态性检验有两种方法：</a:t>
            </a:r>
            <a:r>
              <a:rPr lang="zh-CN" altLang="en-US" sz="2400" b="1" dirty="0">
                <a:solidFill>
                  <a:srgbClr val="FF0000"/>
                </a:solidFill>
                <a:latin typeface="微软雅黑" panose="020B0503020204020204" pitchFamily="34" charset="-122"/>
                <a:ea typeface="微软雅黑" panose="020B0503020204020204" pitchFamily="34" charset="-122"/>
              </a:rPr>
              <a:t>图示法</a:t>
            </a:r>
            <a:r>
              <a:rPr lang="zh-CN" altLang="en-US" sz="2400" b="1" dirty="0">
                <a:solidFill>
                  <a:srgbClr val="FF0000"/>
                </a:solidFill>
                <a:latin typeface="微软雅黑" panose="020B0503020204020204" pitchFamily="34" charset="-122"/>
                <a:ea typeface="微软雅黑" panose="020B0503020204020204" pitchFamily="34" charset="-122"/>
              </a:rPr>
              <a:t>和假设检验法</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r>
              <a:rPr lang="zh-CN" altLang="en-US" sz="2400" b="1" dirty="0">
                <a:solidFill>
                  <a:srgbClr val="FF0000"/>
                </a:solidFill>
                <a:latin typeface="微软雅黑" panose="020B0503020204020204" pitchFamily="34" charset="-122"/>
                <a:ea typeface="微软雅黑" panose="020B0503020204020204" pitchFamily="34" charset="-122"/>
              </a:rPr>
              <a:t>图示法</a:t>
            </a:r>
            <a:r>
              <a:rPr lang="zh-CN" altLang="en-US" sz="2400" dirty="0">
                <a:latin typeface="微软雅黑" panose="020B0503020204020204" pitchFamily="34" charset="-122"/>
                <a:ea typeface="微软雅黑" panose="020B0503020204020204" pitchFamily="34" charset="-122"/>
              </a:rPr>
              <a:t>提供一种直观了解数据分布特征的方式，其主要包括</a:t>
            </a:r>
            <a:r>
              <a:rPr lang="zh-CN" altLang="en-US" sz="2400" b="1" dirty="0">
                <a:solidFill>
                  <a:srgbClr val="FF0000"/>
                </a:solidFill>
                <a:latin typeface="微软雅黑" panose="020B0503020204020204" pitchFamily="34" charset="-122"/>
                <a:ea typeface="微软雅黑" panose="020B0503020204020204" pitchFamily="34" charset="-122"/>
              </a:rPr>
              <a:t>直方图、</a:t>
            </a:r>
            <a:r>
              <a:rPr lang="en-US" altLang="zh-CN" sz="2400" b="1" dirty="0">
                <a:solidFill>
                  <a:srgbClr val="FF0000"/>
                </a:solidFill>
                <a:latin typeface="微软雅黑" panose="020B0503020204020204" pitchFamily="34" charset="-122"/>
                <a:ea typeface="微软雅黑" panose="020B0503020204020204" pitchFamily="34" charset="-122"/>
              </a:rPr>
              <a:t>P-P</a:t>
            </a:r>
            <a:r>
              <a:rPr lang="zh-CN" altLang="en-US" sz="2400" b="1" dirty="0">
                <a:solidFill>
                  <a:srgbClr val="FF0000"/>
                </a:solidFill>
                <a:latin typeface="微软雅黑" panose="020B0503020204020204" pitchFamily="34" charset="-122"/>
                <a:ea typeface="微软雅黑" panose="020B0503020204020204" pitchFamily="34" charset="-122"/>
              </a:rPr>
              <a:t>图和</a:t>
            </a:r>
            <a:r>
              <a:rPr lang="en-US" altLang="zh-CN" sz="2400" b="1" dirty="0">
                <a:solidFill>
                  <a:srgbClr val="FF0000"/>
                </a:solidFill>
                <a:latin typeface="微软雅黑" panose="020B0503020204020204" pitchFamily="34" charset="-122"/>
                <a:ea typeface="微软雅黑" panose="020B0503020204020204" pitchFamily="34" charset="-122"/>
              </a:rPr>
              <a:t>Q-Q</a:t>
            </a:r>
            <a:r>
              <a:rPr lang="zh-CN" altLang="en-US" sz="2400" b="1" dirty="0">
                <a:solidFill>
                  <a:srgbClr val="FF0000"/>
                </a:solidFill>
                <a:latin typeface="微软雅黑" panose="020B0503020204020204" pitchFamily="34" charset="-122"/>
                <a:ea typeface="微软雅黑" panose="020B0503020204020204" pitchFamily="34" charset="-122"/>
              </a:rPr>
              <a:t>图</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pic>
        <p:nvPicPr>
          <p:cNvPr id="23" name="图片 23" descr="D:/all_files/edge_files/相关分析/fig.svgfig"/>
          <p:cNvPicPr>
            <a:picLocks noChangeAspect="1"/>
          </p:cNvPicPr>
          <p:nvPr/>
        </p:nvPicPr>
        <p:blipFill>
          <a:blip r:embed="rId1">
            <a:extLst>
              <a:ext uri="{96DAC541-7B7A-43D3-8B79-37D633B846F1}">
                <asvg:svgBlip xmlns:asvg="http://schemas.microsoft.com/office/drawing/2016/SVG/main" r:embed="rId2"/>
              </a:ext>
            </a:extLst>
          </a:blip>
          <a:srcRect l="19" r="19"/>
          <a:stretch>
            <a:fillRect/>
          </a:stretch>
        </p:blipFill>
        <p:spPr>
          <a:xfrm>
            <a:off x="1318260" y="3549650"/>
            <a:ext cx="9310370" cy="2794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319722"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21" name="文本框 20"/>
          <p:cNvSpPr txBox="1"/>
          <p:nvPr/>
        </p:nvSpPr>
        <p:spPr>
          <a:xfrm>
            <a:off x="469265" y="1751330"/>
            <a:ext cx="11527790" cy="2047240"/>
          </a:xfrm>
          <a:prstGeom prst="rect">
            <a:avLst/>
          </a:prstGeom>
          <a:noFill/>
        </p:spPr>
        <p:txBody>
          <a:bodyPr wrap="square">
            <a:spAutoFit/>
          </a:bodyPr>
          <a:p>
            <a:pPr>
              <a:lnSpc>
                <a:spcPct val="110000"/>
              </a:lnSpc>
            </a:pPr>
            <a:r>
              <a:rPr lang="zh-CN" altLang="en-US" sz="2400" b="1" dirty="0">
                <a:solidFill>
                  <a:srgbClr val="FF0000"/>
                </a:solidFill>
                <a:latin typeface="微软雅黑" panose="020B0503020204020204" pitchFamily="34" charset="-122"/>
                <a:ea typeface="微软雅黑" panose="020B0503020204020204" pitchFamily="34" charset="-122"/>
              </a:rPr>
              <a:t>假设检验</a:t>
            </a:r>
            <a:r>
              <a:rPr lang="zh-CN" altLang="en-US" sz="2400" dirty="0">
                <a:latin typeface="微软雅黑" panose="020B0503020204020204" pitchFamily="34" charset="-122"/>
                <a:ea typeface="微软雅黑" panose="020B0503020204020204" pitchFamily="34" charset="-122"/>
              </a:rPr>
              <a:t>是指先提出关于总体的某种假设，然后对提出的假设进行检验，再通过对样本观测值的统计分析做出接受或拒绝某种假设的决策。以下是正态分布的假设检验的一般步骤：</a:t>
            </a:r>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024" name="Rectangle 1"/>
              <p:cNvSpPr/>
              <p:nvPr/>
            </p:nvSpPr>
            <p:spPr>
              <a:xfrm>
                <a:off x="603250" y="3259455"/>
                <a:ext cx="11015980" cy="279971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a:spAutoFit/>
              </a:bodyPr>
              <a:p>
                <a:pPr>
                  <a:lnSpc>
                    <a:spcPct val="110000"/>
                  </a:lnSpc>
                </a:pPr>
                <a:r>
                  <a:rPr lang="en-US" altLang="zh-CN" sz="2000" b="1" dirty="0">
                    <a:latin typeface="微软雅黑" panose="020B0503020204020204" pitchFamily="34" charset="-122"/>
                    <a:ea typeface="微软雅黑" panose="020B0503020204020204" pitchFamily="34" charset="-122"/>
                    <a:sym typeface="+mn-ea"/>
                  </a:rPr>
                  <a:t>1</a:t>
                </a:r>
                <a:r>
                  <a:rPr lang="zh-CN" altLang="en-US" sz="2000" b="1" dirty="0">
                    <a:latin typeface="微软雅黑" panose="020B0503020204020204" pitchFamily="34" charset="-122"/>
                    <a:ea typeface="微软雅黑" panose="020B0503020204020204" pitchFamily="34" charset="-122"/>
                    <a:sym typeface="+mn-ea"/>
                  </a:rPr>
                  <a:t>）</a:t>
                </a:r>
                <a:r>
                  <a:rPr lang="zh-CN" altLang="en-US" sz="2000" b="1" dirty="0">
                    <a:latin typeface="微软雅黑" panose="020B0503020204020204" pitchFamily="34" charset="-122"/>
                    <a:ea typeface="微软雅黑" panose="020B0503020204020204" pitchFamily="34" charset="-122"/>
                  </a:rPr>
                  <a:t>构造原假设</a:t>
                </a:r>
                <a14:m>
                  <m:oMath xmlns:m="http://schemas.openxmlformats.org/officeDocument/2006/math">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𝑯</m:t>
                    </m:r>
                    <m:r>
                      <a:rPr lang="en-US" altLang="zh-CN" sz="2000" b="1" i="1" baseline="-25000" dirty="0">
                        <a:latin typeface="Cambria Math" panose="02040503050406030204" pitchFamily="18" charset="0"/>
                        <a:ea typeface="微软雅黑" panose="020B0503020204020204" pitchFamily="34" charset="-122"/>
                        <a:cs typeface="Cambria Math" panose="02040503050406030204" pitchFamily="18" charset="0"/>
                      </a:rPr>
                      <m:t>𝟎</m:t>
                    </m:r>
                  </m:oMath>
                </a14:m>
                <a:r>
                  <a:rPr lang="zh-CN" altLang="en-US" sz="2000" b="1" dirty="0">
                    <a:latin typeface="微软雅黑" panose="020B0503020204020204" pitchFamily="34" charset="-122"/>
                    <a:ea typeface="微软雅黑" panose="020B0503020204020204" pitchFamily="34" charset="-122"/>
                  </a:rPr>
                  <a:t>（总体服从正态分布）和备择假设</a:t>
                </a:r>
                <a14:m>
                  <m:oMath xmlns:m="http://schemas.openxmlformats.org/officeDocument/2006/math">
                    <m:sSub>
                      <m:sSubPr>
                        <m:ctrlP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𝑯</m:t>
                        </m:r>
                      </m:e>
                      <m:sub>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𝟏</m:t>
                        </m:r>
                      </m:sub>
                    </m:sSub>
                  </m:oMath>
                </a14:m>
                <a:r>
                  <a:rPr lang="zh-CN" altLang="en-US" sz="2000" b="1" dirty="0">
                    <a:latin typeface="微软雅黑" panose="020B0503020204020204" pitchFamily="34" charset="-122"/>
                    <a:ea typeface="微软雅黑" panose="020B0503020204020204" pitchFamily="34" charset="-122"/>
                  </a:rPr>
                  <a:t>（总体不服从正态分布）；</a:t>
                </a:r>
                <a:endParaRPr lang="zh-CN" altLang="en-US" sz="2000" b="1" dirty="0">
                  <a:latin typeface="微软雅黑" panose="020B0503020204020204" pitchFamily="34" charset="-122"/>
                  <a:ea typeface="微软雅黑" panose="020B0503020204020204" pitchFamily="34" charset="-122"/>
                </a:endParaRPr>
              </a:p>
              <a:p>
                <a:pPr>
                  <a:lnSpc>
                    <a:spcPct val="110000"/>
                  </a:lnSpc>
                </a:pPr>
                <a:r>
                  <a:rPr lang="en-US" altLang="zh-CN" sz="2000" b="1" dirty="0">
                    <a:latin typeface="微软雅黑" panose="020B0503020204020204" pitchFamily="34" charset="-122"/>
                    <a:ea typeface="微软雅黑" panose="020B0503020204020204" pitchFamily="34" charset="-122"/>
                    <a:sym typeface="+mn-ea"/>
                  </a:rPr>
                  <a:t>2</a:t>
                </a:r>
                <a:r>
                  <a:rPr lang="zh-CN" altLang="en-US" sz="2000" b="1" dirty="0">
                    <a:latin typeface="微软雅黑" panose="020B0503020204020204" pitchFamily="34" charset="-122"/>
                    <a:ea typeface="微软雅黑" panose="020B0503020204020204" pitchFamily="34" charset="-122"/>
                    <a:sym typeface="+mn-ea"/>
                  </a:rPr>
                  <a:t>）</a:t>
                </a:r>
                <a:r>
                  <a:rPr lang="zh-CN" altLang="en-US" sz="2000" b="1" dirty="0">
                    <a:latin typeface="微软雅黑" panose="020B0503020204020204" pitchFamily="34" charset="-122"/>
                    <a:ea typeface="微软雅黑" panose="020B0503020204020204" pitchFamily="34" charset="-122"/>
                  </a:rPr>
                  <a:t>选择可用于假设检验的统计量</a:t>
                </a:r>
                <a14:m>
                  <m:oMath xmlns:m="http://schemas.openxmlformats.org/officeDocument/2006/math">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𝑻</m:t>
                    </m:r>
                  </m:oMath>
                </a14:m>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a:lnSpc>
                    <a:spcPct val="110000"/>
                  </a:lnSpc>
                </a:pPr>
                <a:r>
                  <a:rPr lang="en-US" altLang="zh-CN" sz="2000" b="1" dirty="0">
                    <a:latin typeface="微软雅黑" panose="020B0503020204020204" pitchFamily="34" charset="-122"/>
                    <a:ea typeface="微软雅黑" panose="020B0503020204020204" pitchFamily="34" charset="-122"/>
                    <a:sym typeface="+mn-ea"/>
                  </a:rPr>
                  <a:t>3</a:t>
                </a:r>
                <a:r>
                  <a:rPr lang="zh-CN" altLang="en-US" sz="2000" b="1" dirty="0">
                    <a:latin typeface="微软雅黑" panose="020B0503020204020204" pitchFamily="34" charset="-122"/>
                    <a:ea typeface="微软雅黑" panose="020B0503020204020204" pitchFamily="34" charset="-122"/>
                    <a:sym typeface="+mn-ea"/>
                  </a:rPr>
                  <a:t>）</a:t>
                </a:r>
                <a:r>
                  <a:rPr lang="zh-CN" altLang="en-US" sz="2000" b="1" dirty="0">
                    <a:latin typeface="微软雅黑" panose="020B0503020204020204" pitchFamily="34" charset="-122"/>
                    <a:ea typeface="微软雅黑" panose="020B0503020204020204" pitchFamily="34" charset="-122"/>
                  </a:rPr>
                  <a:t>根据统计量</a:t>
                </a:r>
                <a14:m>
                  <m:oMath xmlns:m="http://schemas.openxmlformats.org/officeDocument/2006/math">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𝑻</m:t>
                    </m:r>
                  </m:oMath>
                </a14:m>
                <a:r>
                  <a:rPr lang="zh-CN" altLang="en-US" sz="2000" b="1" dirty="0">
                    <a:latin typeface="微软雅黑" panose="020B0503020204020204" pitchFamily="34" charset="-122"/>
                    <a:ea typeface="微软雅黑" panose="020B0503020204020204" pitchFamily="34" charset="-122"/>
                  </a:rPr>
                  <a:t>，确定拒绝域</a:t>
                </a:r>
                <a14:m>
                  <m:oMath xmlns:m="http://schemas.openxmlformats.org/officeDocument/2006/math">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𝑾</m:t>
                    </m:r>
                  </m:oMath>
                </a14:m>
                <a:r>
                  <a:rPr lang="zh-CN" altLang="en-US" sz="2000" b="1" dirty="0">
                    <a:latin typeface="微软雅黑" panose="020B0503020204020204" pitchFamily="34" charset="-122"/>
                    <a:ea typeface="微软雅黑" panose="020B0503020204020204" pitchFamily="34" charset="-122"/>
                  </a:rPr>
                  <a:t>，拒绝域的形式可以是单侧也可以是双侧，根据备择假设来选取</a:t>
                </a:r>
                <a:r>
                  <a:rPr lang="en-US" altLang="zh-CN"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a:lnSpc>
                    <a:spcPct val="110000"/>
                  </a:lnSpc>
                </a:pPr>
                <a:r>
                  <a:rPr lang="en-US" altLang="zh-CN" sz="2000" b="1" dirty="0">
                    <a:latin typeface="微软雅黑" panose="020B0503020204020204" pitchFamily="34" charset="-122"/>
                    <a:ea typeface="微软雅黑" panose="020B0503020204020204" pitchFamily="34" charset="-122"/>
                    <a:sym typeface="+mn-ea"/>
                  </a:rPr>
                  <a:t>4</a:t>
                </a:r>
                <a:r>
                  <a:rPr lang="zh-CN" altLang="en-US" sz="2000" b="1" dirty="0">
                    <a:latin typeface="微软雅黑" panose="020B0503020204020204" pitchFamily="34" charset="-122"/>
                    <a:ea typeface="微软雅黑" panose="020B0503020204020204" pitchFamily="34" charset="-122"/>
                    <a:sym typeface="+mn-ea"/>
                  </a:rPr>
                  <a:t>）</a:t>
                </a:r>
                <a:r>
                  <a:rPr lang="zh-CN" altLang="en-US" sz="2000" b="1" dirty="0">
                    <a:latin typeface="微软雅黑" panose="020B0503020204020204" pitchFamily="34" charset="-122"/>
                    <a:ea typeface="微软雅黑" panose="020B0503020204020204" pitchFamily="34" charset="-122"/>
                  </a:rPr>
                  <a:t>将已知的样本数据带入统计量公式，得到检验值</a:t>
                </a:r>
                <a14:m>
                  <m:oMath xmlns:m="http://schemas.openxmlformats.org/officeDocument/2006/math">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𝑻</m:t>
                    </m:r>
                  </m:oMath>
                </a14:m>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a:lnSpc>
                    <a:spcPct val="110000"/>
                  </a:lnSpc>
                </a:pPr>
                <a:r>
                  <a:rPr lang="en-US" altLang="zh-CN" sz="2000" b="1" dirty="0">
                    <a:latin typeface="微软雅黑" panose="020B0503020204020204" pitchFamily="34" charset="-122"/>
                    <a:ea typeface="微软雅黑" panose="020B0503020204020204" pitchFamily="34" charset="-122"/>
                    <a:sym typeface="+mn-ea"/>
                  </a:rPr>
                  <a:t>5</a:t>
                </a:r>
                <a:r>
                  <a:rPr lang="zh-CN" altLang="en-US" sz="2000" b="1" dirty="0">
                    <a:latin typeface="微软雅黑" panose="020B0503020204020204" pitchFamily="34" charset="-122"/>
                    <a:ea typeface="微软雅黑" panose="020B0503020204020204" pitchFamily="34" charset="-122"/>
                    <a:sym typeface="+mn-ea"/>
                  </a:rPr>
                  <a:t>）</a:t>
                </a:r>
                <a:r>
                  <a:rPr lang="zh-CN" altLang="en-US" sz="2000" b="1" dirty="0">
                    <a:latin typeface="微软雅黑" panose="020B0503020204020204" pitchFamily="34" charset="-122"/>
                    <a:ea typeface="微软雅黑" panose="020B0503020204020204" pitchFamily="34" charset="-122"/>
                  </a:rPr>
                  <a:t>选取显著性水平</a:t>
                </a:r>
                <a:r>
                  <a:rPr lang="zh-CN" altLang="en-US" sz="2000" b="1" dirty="0">
                    <a:latin typeface="Arial" panose="020B0604020202020204" pitchFamily="34" charset="0"/>
                    <a:ea typeface="微软雅黑" panose="020B0503020204020204" pitchFamily="34" charset="-122"/>
                    <a:cs typeface="Arial" panose="020B0604020202020204" pitchFamily="34" charset="0"/>
                  </a:rPr>
                  <a:t>α</a:t>
                </a:r>
                <a:r>
                  <a:rPr lang="zh-CN" altLang="en-US" sz="2000" b="1" dirty="0">
                    <a:latin typeface="微软雅黑" panose="020B0503020204020204" pitchFamily="34" charset="-122"/>
                    <a:ea typeface="微软雅黑" panose="020B0503020204020204" pitchFamily="34" charset="-122"/>
                  </a:rPr>
                  <a:t>，通常是</a:t>
                </a:r>
                <a:r>
                  <a:rPr lang="en-US" altLang="zh-CN" sz="2000" b="1" dirty="0">
                    <a:latin typeface="微软雅黑" panose="020B0503020204020204" pitchFamily="34" charset="-122"/>
                    <a:ea typeface="微软雅黑" panose="020B0503020204020204" pitchFamily="34" charset="-122"/>
                  </a:rPr>
                  <a:t>0.05</a:t>
                </a:r>
                <a:r>
                  <a:rPr lang="zh-CN" altLang="en-US" sz="2000" b="1" dirty="0">
                    <a:latin typeface="微软雅黑" panose="020B0503020204020204" pitchFamily="34" charset="-122"/>
                    <a:ea typeface="微软雅黑" panose="020B0503020204020204" pitchFamily="34" charset="-122"/>
                  </a:rPr>
                  <a:t>。并判断：若</a:t>
                </a:r>
                <a14:m>
                  <m:oMath xmlns:m="http://schemas.openxmlformats.org/officeDocument/2006/math">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𝑻</m:t>
                    </m:r>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𝑾</m:t>
                    </m:r>
                  </m:oMath>
                </a14:m>
                <a:r>
                  <a:rPr lang="zh-CN" altLang="en-US" sz="2000" b="1" dirty="0">
                    <a:latin typeface="微软雅黑" panose="020B0503020204020204" pitchFamily="34" charset="-122"/>
                    <a:ea typeface="微软雅黑" panose="020B0503020204020204" pitchFamily="34" charset="-122"/>
                  </a:rPr>
                  <a:t>，则拒绝原假设；否则不能拒绝原假设（或计算检验值对应的</a:t>
                </a:r>
                <a14:m>
                  <m:oMath xmlns:m="http://schemas.openxmlformats.org/officeDocument/2006/math">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𝑷</m:t>
                    </m:r>
                  </m:oMath>
                </a14:m>
                <a:r>
                  <a:rPr lang="zh-CN" altLang="en-US" sz="2000" b="1" dirty="0">
                    <a:latin typeface="微软雅黑" panose="020B0503020204020204" pitchFamily="34" charset="-122"/>
                    <a:ea typeface="微软雅黑" panose="020B0503020204020204" pitchFamily="34" charset="-122"/>
                  </a:rPr>
                  <a:t>值，并将</a:t>
                </a:r>
                <a14:m>
                  <m:oMath xmlns:m="http://schemas.openxmlformats.org/officeDocument/2006/math">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𝑷</m:t>
                    </m:r>
                  </m:oMath>
                </a14:m>
                <a:r>
                  <a:rPr lang="zh-CN" altLang="en-US" sz="2000" b="1" dirty="0">
                    <a:latin typeface="微软雅黑" panose="020B0503020204020204" pitchFamily="34" charset="-122"/>
                    <a:ea typeface="微软雅黑" panose="020B0503020204020204" pitchFamily="34" charset="-122"/>
                  </a:rPr>
                  <a:t>值和</a:t>
                </a:r>
                <a14:m>
                  <m:oMath xmlns:m="http://schemas.openxmlformats.org/officeDocument/2006/math">
                    <m:r>
                      <a:rPr lang="en-US" altLang="zh-CN" sz="2000" b="1" dirty="0">
                        <a:latin typeface="Cambria Math" panose="02040503050406030204" pitchFamily="18" charset="0"/>
                        <a:ea typeface="微软雅黑" panose="020B0503020204020204" pitchFamily="34" charset="-122"/>
                        <a:cs typeface="Cambria Math" panose="02040503050406030204" pitchFamily="18" charset="0"/>
                      </a:rPr>
                      <m:t>𝛂</m:t>
                    </m:r>
                  </m:oMath>
                </a14:m>
                <a:r>
                  <a:rPr lang="zh-CN" altLang="en-US" sz="2000" b="1" dirty="0">
                    <a:latin typeface="微软雅黑" panose="020B0503020204020204" pitchFamily="34" charset="-122"/>
                    <a:ea typeface="微软雅黑" panose="020B0503020204020204" pitchFamily="34" charset="-122"/>
                  </a:rPr>
                  <a:t>比较从而确定是否接受原假设，</a:t>
                </a:r>
                <a14:m>
                  <m:oMath xmlns:m="http://schemas.openxmlformats.org/officeDocument/2006/math">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𝑷</m:t>
                    </m:r>
                  </m:oMath>
                </a14:m>
                <a:r>
                  <a:rPr lang="zh-CN" altLang="en-US" sz="2000" b="1" dirty="0">
                    <a:latin typeface="微软雅黑" panose="020B0503020204020204" pitchFamily="34" charset="-122"/>
                    <a:ea typeface="微软雅黑" panose="020B0503020204020204" pitchFamily="34" charset="-122"/>
                  </a:rPr>
                  <a:t>值表示在</a:t>
                </a:r>
                <a14:m>
                  <m:oMath xmlns:m="http://schemas.openxmlformats.org/officeDocument/2006/math">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𝑯</m:t>
                    </m:r>
                    <m:r>
                      <a:rPr lang="en-US" altLang="zh-CN" sz="2000" b="1" i="1" baseline="-25000" dirty="0">
                        <a:latin typeface="Cambria Math" panose="02040503050406030204" pitchFamily="18" charset="0"/>
                        <a:ea typeface="微软雅黑" panose="020B0503020204020204" pitchFamily="34" charset="-122"/>
                        <a:cs typeface="Cambria Math" panose="02040503050406030204" pitchFamily="18" charset="0"/>
                      </a:rPr>
                      <m:t>𝟎</m:t>
                    </m:r>
                  </m:oMath>
                </a14:m>
                <a:r>
                  <a:rPr lang="zh-CN" altLang="en-US" sz="2000" b="1" dirty="0">
                    <a:latin typeface="微软雅黑" panose="020B0503020204020204" pitchFamily="34" charset="-122"/>
                    <a:ea typeface="微软雅黑" panose="020B0503020204020204" pitchFamily="34" charset="-122"/>
                  </a:rPr>
                  <a:t>为真的情况下，得到比样本观察结果更极端的结果的概率。如果</a:t>
                </a:r>
                <a14:m>
                  <m:oMath xmlns:m="http://schemas.openxmlformats.org/officeDocument/2006/math">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𝑷</m:t>
                    </m:r>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&lt;</m:t>
                    </m:r>
                    <m:r>
                      <a:rPr lang="en-US" altLang="zh-CN" sz="2000" b="1" i="1" dirty="0">
                        <a:latin typeface="Cambria Math" panose="02040503050406030204" pitchFamily="18" charset="0"/>
                        <a:ea typeface="微软雅黑" panose="020B0503020204020204" pitchFamily="34" charset="-122"/>
                        <a:cs typeface="Cambria Math" panose="02040503050406030204" pitchFamily="18" charset="0"/>
                      </a:rPr>
                      <m:t>𝜶</m:t>
                    </m:r>
                  </m:oMath>
                </a14:m>
                <a:r>
                  <a:rPr lang="zh-CN" altLang="en-US" sz="2000" b="1" dirty="0">
                    <a:latin typeface="微软雅黑" panose="020B0503020204020204" pitchFamily="34" charset="-122"/>
                    <a:ea typeface="微软雅黑" panose="020B0503020204020204" pitchFamily="34" charset="-122"/>
                  </a:rPr>
                  <a:t>，拒绝原假设，即不能认为</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总体服从正态分布</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mc:Choice>
        <mc:Fallback>
          <p:sp>
            <p:nvSpPr>
              <p:cNvPr id="1024" name="Rectangle 1"/>
              <p:cNvSpPr>
                <a:spLocks noRot="1" noChangeAspect="1" noMove="1" noResize="1" noEditPoints="1" noAdjustHandles="1" noChangeArrowheads="1" noChangeShapeType="1" noTextEdit="1"/>
              </p:cNvSpPr>
              <p:nvPr/>
            </p:nvSpPr>
            <p:spPr>
              <a:xfrm>
                <a:off x="603250" y="3259455"/>
                <a:ext cx="11015980" cy="2799715"/>
              </a:xfrm>
              <a:prstGeom prst="rect">
                <a:avLst/>
              </a:prstGeom>
              <a:blipFill rotWithShape="1">
                <a:blip r:embed="rId1"/>
                <a:stretch>
                  <a:fillRect l="-46" t="-181" r="-40" b="-159"/>
                </a:stretch>
              </a:blip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319722"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21" name="文本框 20"/>
          <p:cNvSpPr txBox="1"/>
          <p:nvPr/>
        </p:nvSpPr>
        <p:spPr>
          <a:xfrm>
            <a:off x="469265" y="1751330"/>
            <a:ext cx="4598670" cy="550545"/>
          </a:xfrm>
          <a:prstGeom prst="rect">
            <a:avLst/>
          </a:prstGeom>
          <a:noFill/>
        </p:spPr>
        <p:txBody>
          <a:bodyPr wrap="square">
            <a:noAutofit/>
          </a:bodyPr>
          <a:p>
            <a:pPr>
              <a:lnSpc>
                <a:spcPct val="110000"/>
              </a:lnSpc>
            </a:pPr>
            <a:r>
              <a:rPr lang="zh-CN" altLang="en-US" sz="2400" dirty="0">
                <a:latin typeface="微软雅黑" panose="020B0503020204020204" pitchFamily="34" charset="-122"/>
                <a:ea typeface="微软雅黑" panose="020B0503020204020204" pitchFamily="34" charset="-122"/>
              </a:rPr>
              <a:t>以下是正态分布假设检验统计量：</a:t>
            </a:r>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p:txBody>
      </p:sp>
      <p:graphicFrame>
        <p:nvGraphicFramePr>
          <p:cNvPr id="4" name="表格 3"/>
          <p:cNvGraphicFramePr/>
          <p:nvPr>
            <p:custDataLst>
              <p:tags r:id="rId1"/>
            </p:custDataLst>
          </p:nvPr>
        </p:nvGraphicFramePr>
        <p:xfrm>
          <a:off x="468630" y="2532380"/>
          <a:ext cx="11310620" cy="3907155"/>
        </p:xfrm>
        <a:graphic>
          <a:graphicData uri="http://schemas.openxmlformats.org/drawingml/2006/table">
            <a:tbl>
              <a:tblPr firstRow="1" bandRow="1">
                <a:tableStyleId>{83693A40-7968-402F-8439-0EC26341C17F}</a:tableStyleId>
              </a:tblPr>
              <a:tblGrid>
                <a:gridCol w="2400935"/>
                <a:gridCol w="2567940"/>
                <a:gridCol w="6341745"/>
              </a:tblGrid>
              <a:tr h="1013460">
                <a:tc>
                  <a:txBody>
                    <a:bodyPr/>
                    <a:p>
                      <a:pPr marL="0" indent="0" algn="ctr">
                        <a:lnSpc>
                          <a:spcPct val="125000"/>
                        </a:lnSpc>
                        <a:spcBef>
                          <a:spcPct val="0"/>
                        </a:spcBef>
                        <a:spcAft>
                          <a:spcPct val="0"/>
                        </a:spcAft>
                      </a:pPr>
                      <a:r>
                        <a:rPr lang="zh-CN" sz="2400">
                          <a:latin typeface="微软雅黑" panose="020B0503020204020204" pitchFamily="34" charset="-122"/>
                          <a:ea typeface="微软雅黑" panose="020B0503020204020204" pitchFamily="34" charset="-122"/>
                        </a:rPr>
                        <a:t>假设检验统计量</a:t>
                      </a:r>
                      <a:endParaRPr lang="zh-CN" sz="2400">
                        <a:latin typeface="微软雅黑" panose="020B0503020204020204" pitchFamily="34" charset="-122"/>
                        <a:ea typeface="微软雅黑" panose="020B0503020204020204" pitchFamily="34" charset="-122"/>
                      </a:endParaRPr>
                    </a:p>
                  </a:txBody>
                  <a:tcPr marL="68580" marR="68580" marT="0" marB="0" anchor="ctr" anchorCtr="0"/>
                </a:tc>
                <a:tc>
                  <a:txBody>
                    <a:bodyPr/>
                    <a:p>
                      <a:pPr marL="0" indent="0" algn="ctr">
                        <a:lnSpc>
                          <a:spcPct val="125000"/>
                        </a:lnSpc>
                        <a:spcBef>
                          <a:spcPct val="0"/>
                        </a:spcBef>
                        <a:spcAft>
                          <a:spcPct val="0"/>
                        </a:spcAft>
                      </a:pPr>
                      <a:r>
                        <a:rPr lang="zh-CN" sz="2400">
                          <a:latin typeface="微软雅黑" panose="020B0503020204020204" pitchFamily="34" charset="-122"/>
                          <a:ea typeface="微软雅黑" panose="020B0503020204020204" pitchFamily="34" charset="-122"/>
                        </a:rPr>
                        <a:t>适用条件</a:t>
                      </a:r>
                      <a:endParaRPr lang="zh-CN" sz="2400">
                        <a:latin typeface="微软雅黑" panose="020B0503020204020204" pitchFamily="34" charset="-122"/>
                        <a:ea typeface="微软雅黑" panose="020B0503020204020204" pitchFamily="34" charset="-122"/>
                      </a:endParaRPr>
                    </a:p>
                  </a:txBody>
                  <a:tcPr marL="68580" marR="68580" marT="0" marB="0" anchor="ctr" anchorCtr="0"/>
                </a:tc>
                <a:tc>
                  <a:txBody>
                    <a:bodyPr/>
                    <a:p>
                      <a:pPr marL="0" indent="0" algn="ctr">
                        <a:lnSpc>
                          <a:spcPct val="125000"/>
                        </a:lnSpc>
                        <a:spcBef>
                          <a:spcPct val="0"/>
                        </a:spcBef>
                        <a:spcAft>
                          <a:spcPct val="0"/>
                        </a:spcAft>
                      </a:pPr>
                      <a:r>
                        <a:rPr lang="zh-CN" sz="2400">
                          <a:latin typeface="微软雅黑" panose="020B0503020204020204" pitchFamily="34" charset="-122"/>
                          <a:ea typeface="微软雅黑" panose="020B0503020204020204" pitchFamily="34" charset="-122"/>
                        </a:rPr>
                        <a:t>计算公式</a:t>
                      </a:r>
                      <a:endParaRPr lang="zh-CN" sz="2400">
                        <a:latin typeface="微软雅黑" panose="020B0503020204020204" pitchFamily="34" charset="-122"/>
                        <a:ea typeface="微软雅黑" panose="020B0503020204020204" pitchFamily="34" charset="-122"/>
                      </a:endParaRPr>
                    </a:p>
                  </a:txBody>
                  <a:tcPr marL="68580" marR="68580" marT="0" marB="0" anchor="ctr" anchorCtr="0"/>
                </a:tc>
              </a:tr>
              <a:tr h="1409065">
                <a:tc>
                  <a:txBody>
                    <a:bodyPr/>
                    <a:p>
                      <a:pPr marL="0" indent="0" algn="ctr">
                        <a:lnSpc>
                          <a:spcPct val="125000"/>
                        </a:lnSpc>
                        <a:spcBef>
                          <a:spcPct val="0"/>
                        </a:spcBef>
                        <a:spcAft>
                          <a:spcPct val="0"/>
                        </a:spcAft>
                      </a:pPr>
                      <a:r>
                        <a:rPr lang="en-US" altLang="zh-CN" sz="2400">
                          <a:latin typeface="微软雅黑" panose="020B0503020204020204" pitchFamily="34" charset="-122"/>
                          <a:ea typeface="微软雅黑" panose="020B0503020204020204" pitchFamily="34" charset="-122"/>
                          <a:cs typeface="微软雅黑" panose="020B0503020204020204" pitchFamily="34" charset="-122"/>
                        </a:rPr>
                        <a:t>Z</a:t>
                      </a:r>
                      <a:r>
                        <a:rPr lang="zh-CN" sz="2400">
                          <a:latin typeface="微软雅黑" panose="020B0503020204020204" pitchFamily="34" charset="-122"/>
                          <a:ea typeface="微软雅黑" panose="020B0503020204020204" pitchFamily="34" charset="-122"/>
                          <a:cs typeface="微软雅黑" panose="020B0503020204020204" pitchFamily="34" charset="-122"/>
                        </a:rPr>
                        <a:t>检验</a:t>
                      </a:r>
                      <a:endParaRPr lang="zh-CN" sz="24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nchorCtr="0"/>
                </a:tc>
                <a:tc>
                  <a:txBody>
                    <a:bodyPr/>
                    <a:p>
                      <a:pPr marL="0" indent="0" algn="just">
                        <a:lnSpc>
                          <a:spcPct val="125000"/>
                        </a:lnSpc>
                        <a:spcBef>
                          <a:spcPct val="0"/>
                        </a:spcBef>
                        <a:spcAft>
                          <a:spcPct val="0"/>
                        </a:spcAft>
                      </a:pPr>
                      <a:r>
                        <a:rPr lang="zh-CN" sz="2400">
                          <a:latin typeface="微软雅黑" panose="020B0503020204020204" pitchFamily="34" charset="-122"/>
                          <a:ea typeface="微软雅黑" panose="020B0503020204020204" pitchFamily="34" charset="-122"/>
                        </a:rPr>
                        <a:t>样本容量较大，总体标准差已知。</a:t>
                      </a:r>
                      <a:endParaRPr lang="zh-CN" sz="2400">
                        <a:latin typeface="微软雅黑" panose="020B0503020204020204" pitchFamily="34" charset="-122"/>
                        <a:ea typeface="微软雅黑" panose="020B0503020204020204" pitchFamily="34" charset="-122"/>
                      </a:endParaRPr>
                    </a:p>
                  </a:txBody>
                  <a:tcPr marL="68580" marR="68580" marT="0" marB="0" anchor="ctr" anchorCtr="0"/>
                </a:tc>
                <a:tc>
                  <a:txBody>
                    <a:bodyPr/>
                    <a:p>
                      <a:pPr marL="0" indent="0" algn="just">
                        <a:lnSpc>
                          <a:spcPct val="155000"/>
                        </a:lnSpc>
                        <a:spcBef>
                          <a:spcPct val="0"/>
                        </a:spcBef>
                        <a:spcAft>
                          <a:spcPct val="0"/>
                        </a:spcAft>
                      </a:pP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sz="2400">
                          <a:latin typeface="微软雅黑" panose="020B0503020204020204" pitchFamily="34" charset="-122"/>
                          <a:ea typeface="微软雅黑" panose="020B0503020204020204" pitchFamily="34" charset="-122"/>
                          <a:cs typeface="微软雅黑" panose="020B0503020204020204" pitchFamily="34" charset="-122"/>
                        </a:rPr>
                        <a:t>，其中</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sz="2400">
                          <a:latin typeface="微软雅黑" panose="020B0503020204020204" pitchFamily="34" charset="-122"/>
                          <a:ea typeface="微软雅黑" panose="020B0503020204020204" pitchFamily="34" charset="-122"/>
                          <a:cs typeface="微软雅黑" panose="020B0503020204020204" pitchFamily="34" charset="-122"/>
                        </a:rPr>
                        <a:t>表示样本均值，</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sz="2400">
                          <a:latin typeface="微软雅黑" panose="020B0503020204020204" pitchFamily="34" charset="-122"/>
                          <a:ea typeface="微软雅黑" panose="020B0503020204020204" pitchFamily="34" charset="-122"/>
                          <a:cs typeface="微软雅黑" panose="020B0503020204020204" pitchFamily="34" charset="-122"/>
                        </a:rPr>
                        <a:t>表示总体均值，</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sz="2400">
                          <a:latin typeface="微软雅黑" panose="020B0503020204020204" pitchFamily="34" charset="-122"/>
                          <a:ea typeface="微软雅黑" panose="020B0503020204020204" pitchFamily="34" charset="-122"/>
                          <a:cs typeface="微软雅黑" panose="020B0503020204020204" pitchFamily="34" charset="-122"/>
                        </a:rPr>
                        <a:t>表示总体标准差，</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sz="2400">
                          <a:latin typeface="微软雅黑" panose="020B0503020204020204" pitchFamily="34" charset="-122"/>
                          <a:ea typeface="微软雅黑" panose="020B0503020204020204" pitchFamily="34" charset="-122"/>
                          <a:cs typeface="微软雅黑" panose="020B0503020204020204" pitchFamily="34" charset="-122"/>
                        </a:rPr>
                        <a:t>表示样本容量。</a:t>
                      </a:r>
                      <a:endParaRPr lang="zh-CN" sz="24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nchorCtr="0"/>
                </a:tc>
              </a:tr>
              <a:tr h="1484630">
                <a:tc>
                  <a:txBody>
                    <a:bodyPr/>
                    <a:p>
                      <a:pPr marL="0" indent="0" algn="ctr">
                        <a:lnSpc>
                          <a:spcPct val="125000"/>
                        </a:lnSpc>
                        <a:spcBef>
                          <a:spcPct val="0"/>
                        </a:spcBef>
                        <a:spcAft>
                          <a:spcPct val="0"/>
                        </a:spcAft>
                      </a:pPr>
                      <a:r>
                        <a:rPr lang="en-US" altLang="zh-CN" sz="2400">
                          <a:latin typeface="微软雅黑" panose="020B0503020204020204" pitchFamily="34" charset="-122"/>
                          <a:ea typeface="微软雅黑" panose="020B0503020204020204" pitchFamily="34" charset="-122"/>
                          <a:cs typeface="微软雅黑" panose="020B0503020204020204" pitchFamily="34" charset="-122"/>
                        </a:rPr>
                        <a:t>t</a:t>
                      </a:r>
                      <a:r>
                        <a:rPr lang="zh-CN" sz="2400">
                          <a:latin typeface="微软雅黑" panose="020B0503020204020204" pitchFamily="34" charset="-122"/>
                          <a:ea typeface="微软雅黑" panose="020B0503020204020204" pitchFamily="34" charset="-122"/>
                          <a:cs typeface="微软雅黑" panose="020B0503020204020204" pitchFamily="34" charset="-122"/>
                        </a:rPr>
                        <a:t>检验</a:t>
                      </a:r>
                      <a:endParaRPr lang="zh-CN" sz="24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nchorCtr="0"/>
                </a:tc>
                <a:tc>
                  <a:txBody>
                    <a:bodyPr/>
                    <a:p>
                      <a:pPr marL="0" indent="0" algn="just">
                        <a:lnSpc>
                          <a:spcPct val="125000"/>
                        </a:lnSpc>
                        <a:spcBef>
                          <a:spcPct val="0"/>
                        </a:spcBef>
                        <a:spcAft>
                          <a:spcPct val="0"/>
                        </a:spcAft>
                      </a:pPr>
                      <a:r>
                        <a:rPr lang="zh-CN" sz="2400">
                          <a:latin typeface="微软雅黑" panose="020B0503020204020204" pitchFamily="34" charset="-122"/>
                          <a:ea typeface="微软雅黑" panose="020B0503020204020204" pitchFamily="34" charset="-122"/>
                        </a:rPr>
                        <a:t>样本容量较小，总体标准差未知。</a:t>
                      </a:r>
                      <a:endParaRPr lang="zh-CN" sz="2400">
                        <a:latin typeface="微软雅黑" panose="020B0503020204020204" pitchFamily="34" charset="-122"/>
                        <a:ea typeface="微软雅黑" panose="020B0503020204020204" pitchFamily="34" charset="-122"/>
                      </a:endParaRPr>
                    </a:p>
                  </a:txBody>
                  <a:tcPr marL="68580" marR="68580" marT="0" marB="0" anchor="ctr" anchorCtr="0"/>
                </a:tc>
                <a:tc>
                  <a:txBody>
                    <a:bodyPr/>
                    <a:p>
                      <a:pPr marL="0" indent="0" algn="just">
                        <a:lnSpc>
                          <a:spcPct val="155000"/>
                        </a:lnSpc>
                        <a:spcBef>
                          <a:spcPct val="0"/>
                        </a:spcBef>
                        <a:spcAft>
                          <a:spcPct val="0"/>
                        </a:spcAft>
                      </a:pP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sz="2400">
                          <a:latin typeface="微软雅黑" panose="020B0503020204020204" pitchFamily="34" charset="-122"/>
                          <a:ea typeface="微软雅黑" panose="020B0503020204020204" pitchFamily="34" charset="-122"/>
                          <a:cs typeface="微软雅黑" panose="020B0503020204020204" pitchFamily="34" charset="-122"/>
                        </a:rPr>
                        <a:t>，其中</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sz="2400">
                          <a:latin typeface="微软雅黑" panose="020B0503020204020204" pitchFamily="34" charset="-122"/>
                          <a:ea typeface="微软雅黑" panose="020B0503020204020204" pitchFamily="34" charset="-122"/>
                          <a:cs typeface="微软雅黑" panose="020B0503020204020204" pitchFamily="34" charset="-122"/>
                        </a:rPr>
                        <a:t>表示样本均值，</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sz="2400">
                          <a:latin typeface="微软雅黑" panose="020B0503020204020204" pitchFamily="34" charset="-122"/>
                          <a:ea typeface="微软雅黑" panose="020B0503020204020204" pitchFamily="34" charset="-122"/>
                          <a:cs typeface="微软雅黑" panose="020B0503020204020204" pitchFamily="34" charset="-122"/>
                        </a:rPr>
                        <a:t>表示总体均值，</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sz="2400">
                          <a:latin typeface="微软雅黑" panose="020B0503020204020204" pitchFamily="34" charset="-122"/>
                          <a:ea typeface="微软雅黑" panose="020B0503020204020204" pitchFamily="34" charset="-122"/>
                          <a:cs typeface="微软雅黑" panose="020B0503020204020204" pitchFamily="34" charset="-122"/>
                        </a:rPr>
                        <a:t>表示样本标准差，</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sz="2400">
                          <a:latin typeface="微软雅黑" panose="020B0503020204020204" pitchFamily="34" charset="-122"/>
                          <a:ea typeface="微软雅黑" panose="020B0503020204020204" pitchFamily="34" charset="-122"/>
                          <a:cs typeface="微软雅黑" panose="020B0503020204020204" pitchFamily="34" charset="-122"/>
                        </a:rPr>
                        <a:t>表示样本容量。</a:t>
                      </a:r>
                      <a:endParaRPr lang="zh-CN" sz="24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nchorCtr="0"/>
                </a:tc>
              </a:tr>
            </a:tbl>
          </a:graphicData>
        </a:graphic>
      </p:graphicFrame>
      <p:pic>
        <p:nvPicPr>
          <p:cNvPr id="11" name="图片 10"/>
          <p:cNvPicPr/>
          <p:nvPr/>
        </p:nvPicPr>
        <p:blipFill>
          <a:blip r:embed="rId2"/>
          <a:stretch>
            <a:fillRect/>
          </a:stretch>
        </p:blipFill>
        <p:spPr>
          <a:xfrm>
            <a:off x="5515610" y="3560445"/>
            <a:ext cx="1511300" cy="947420"/>
          </a:xfrm>
          <a:prstGeom prst="rect">
            <a:avLst/>
          </a:prstGeom>
        </p:spPr>
      </p:pic>
      <p:pic>
        <p:nvPicPr>
          <p:cNvPr id="13" name="图片 12"/>
          <p:cNvPicPr/>
          <p:nvPr/>
        </p:nvPicPr>
        <p:blipFill>
          <a:blip r:embed="rId3"/>
          <a:stretch>
            <a:fillRect/>
          </a:stretch>
        </p:blipFill>
        <p:spPr>
          <a:xfrm>
            <a:off x="5565140" y="4958080"/>
            <a:ext cx="1360170" cy="947420"/>
          </a:xfrm>
          <a:prstGeom prst="rect">
            <a:avLst/>
          </a:prstGeom>
        </p:spPr>
      </p:pic>
      <p:graphicFrame>
        <p:nvGraphicFramePr>
          <p:cNvPr id="5" name="对象 -2147482576"/>
          <p:cNvGraphicFramePr>
            <a:graphicFrameLocks noChangeAspect="1"/>
          </p:cNvGraphicFramePr>
          <p:nvPr/>
        </p:nvGraphicFramePr>
        <p:xfrm>
          <a:off x="7860665" y="3844925"/>
          <a:ext cx="367665" cy="429895"/>
        </p:xfrm>
        <a:graphic>
          <a:graphicData uri="http://schemas.openxmlformats.org/presentationml/2006/ole">
            <mc:AlternateContent xmlns:mc="http://schemas.openxmlformats.org/markup-compatibility/2006">
              <mc:Choice xmlns:v="urn:schemas-microsoft-com:vml" Requires="v">
                <p:oleObj spid="_x0000_s3076" name="" r:id="rId4" imgW="127000" imgH="152400" progId="Equation.DSMT4">
                  <p:embed/>
                </p:oleObj>
              </mc:Choice>
              <mc:Fallback>
                <p:oleObj name="" r:id="rId4" imgW="127000" imgH="152400" progId="Equation.DSMT4">
                  <p:embed/>
                  <p:pic>
                    <p:nvPicPr>
                      <p:cNvPr id="0" name="图片 3075"/>
                      <p:cNvPicPr/>
                      <p:nvPr/>
                    </p:nvPicPr>
                    <p:blipFill>
                      <a:blip r:embed="rId5"/>
                      <a:stretch>
                        <a:fillRect/>
                      </a:stretch>
                    </p:blipFill>
                    <p:spPr>
                      <a:xfrm>
                        <a:off x="7860665" y="3844925"/>
                        <a:ext cx="367665" cy="429895"/>
                      </a:xfrm>
                      <a:prstGeom prst="rect">
                        <a:avLst/>
                      </a:prstGeom>
                      <a:noFill/>
                      <a:ln w="38100">
                        <a:noFill/>
                        <a:miter/>
                      </a:ln>
                    </p:spPr>
                  </p:pic>
                </p:oleObj>
              </mc:Fallback>
            </mc:AlternateContent>
          </a:graphicData>
        </a:graphic>
      </p:graphicFrame>
      <p:graphicFrame>
        <p:nvGraphicFramePr>
          <p:cNvPr id="8" name="对象 -2147482575"/>
          <p:cNvGraphicFramePr/>
          <p:nvPr/>
        </p:nvGraphicFramePr>
        <p:xfrm>
          <a:off x="10303510" y="3794125"/>
          <a:ext cx="527050" cy="518160"/>
        </p:xfrm>
        <a:graphic>
          <a:graphicData uri="http://schemas.openxmlformats.org/presentationml/2006/ole">
            <mc:AlternateContent xmlns:mc="http://schemas.openxmlformats.org/markup-compatibility/2006">
              <mc:Choice xmlns:v="urn:schemas-microsoft-com:vml" Requires="v">
                <p:oleObj spid="_x0000_s19" name="" r:id="rId6" imgW="177165" imgH="203200" progId="Equation.DSMT4">
                  <p:embed/>
                </p:oleObj>
              </mc:Choice>
              <mc:Fallback>
                <p:oleObj name="" r:id="rId6" imgW="177165" imgH="203200" progId="Equation.DSMT4">
                  <p:embed/>
                  <p:pic>
                    <p:nvPicPr>
                      <p:cNvPr id="0" name="图片 18"/>
                      <p:cNvPicPr/>
                      <p:nvPr/>
                    </p:nvPicPr>
                    <p:blipFill>
                      <a:blip r:embed="rId7"/>
                      <a:stretch>
                        <a:fillRect/>
                      </a:stretch>
                    </p:blipFill>
                    <p:spPr>
                      <a:xfrm>
                        <a:off x="10303510" y="3794125"/>
                        <a:ext cx="527050" cy="518160"/>
                      </a:xfrm>
                      <a:prstGeom prst="rect">
                        <a:avLst/>
                      </a:prstGeom>
                      <a:noFill/>
                      <a:ln w="38100">
                        <a:noFill/>
                        <a:miter/>
                      </a:ln>
                    </p:spPr>
                  </p:pic>
                </p:oleObj>
              </mc:Fallback>
            </mc:AlternateContent>
          </a:graphicData>
        </a:graphic>
      </p:graphicFrame>
      <p:graphicFrame>
        <p:nvGraphicFramePr>
          <p:cNvPr id="24" name="对象 -2147482576"/>
          <p:cNvGraphicFramePr>
            <a:graphicFrameLocks noChangeAspect="1"/>
          </p:cNvGraphicFramePr>
          <p:nvPr/>
        </p:nvGraphicFramePr>
        <p:xfrm>
          <a:off x="7860665" y="5292725"/>
          <a:ext cx="367665" cy="429895"/>
        </p:xfrm>
        <a:graphic>
          <a:graphicData uri="http://schemas.openxmlformats.org/presentationml/2006/ole">
            <mc:AlternateContent xmlns:mc="http://schemas.openxmlformats.org/markup-compatibility/2006">
              <mc:Choice xmlns:v="urn:schemas-microsoft-com:vml" Requires="v">
                <p:oleObj spid="_x0000_s25" name="" r:id="rId8" imgW="127000" imgH="152400" progId="Equation.DSMT4">
                  <p:embed/>
                </p:oleObj>
              </mc:Choice>
              <mc:Fallback>
                <p:oleObj name="" r:id="rId8" imgW="127000" imgH="152400" progId="Equation.DSMT4">
                  <p:embed/>
                  <p:pic>
                    <p:nvPicPr>
                      <p:cNvPr id="0" name="图片 3075"/>
                      <p:cNvPicPr/>
                      <p:nvPr/>
                    </p:nvPicPr>
                    <p:blipFill>
                      <a:blip r:embed="rId5"/>
                      <a:stretch>
                        <a:fillRect/>
                      </a:stretch>
                    </p:blipFill>
                    <p:spPr>
                      <a:xfrm>
                        <a:off x="7860665" y="5292725"/>
                        <a:ext cx="367665" cy="429895"/>
                      </a:xfrm>
                      <a:prstGeom prst="rect">
                        <a:avLst/>
                      </a:prstGeom>
                      <a:noFill/>
                      <a:ln w="38100">
                        <a:noFill/>
                        <a:miter/>
                      </a:ln>
                    </p:spPr>
                  </p:pic>
                </p:oleObj>
              </mc:Fallback>
            </mc:AlternateContent>
          </a:graphicData>
        </a:graphic>
      </p:graphicFrame>
      <p:graphicFrame>
        <p:nvGraphicFramePr>
          <p:cNvPr id="26" name="对象 -2147482575"/>
          <p:cNvGraphicFramePr/>
          <p:nvPr/>
        </p:nvGraphicFramePr>
        <p:xfrm>
          <a:off x="10303510" y="5229860"/>
          <a:ext cx="474345" cy="518160"/>
        </p:xfrm>
        <a:graphic>
          <a:graphicData uri="http://schemas.openxmlformats.org/presentationml/2006/ole">
            <mc:AlternateContent xmlns:mc="http://schemas.openxmlformats.org/markup-compatibility/2006">
              <mc:Choice xmlns:v="urn:schemas-microsoft-com:vml" Requires="v">
                <p:oleObj spid="_x0000_s27" name="" r:id="rId9" imgW="177165" imgH="203200" progId="Equation.DSMT4">
                  <p:embed/>
                </p:oleObj>
              </mc:Choice>
              <mc:Fallback>
                <p:oleObj name="" r:id="rId9" imgW="177165" imgH="203200" progId="Equation.DSMT4">
                  <p:embed/>
                  <p:pic>
                    <p:nvPicPr>
                      <p:cNvPr id="0" name="图片 18"/>
                      <p:cNvPicPr/>
                      <p:nvPr/>
                    </p:nvPicPr>
                    <p:blipFill>
                      <a:blip r:embed="rId7"/>
                      <a:stretch>
                        <a:fillRect/>
                      </a:stretch>
                    </p:blipFill>
                    <p:spPr>
                      <a:xfrm>
                        <a:off x="10303510" y="5229860"/>
                        <a:ext cx="474345" cy="518160"/>
                      </a:xfrm>
                      <a:prstGeom prst="rect">
                        <a:avLst/>
                      </a:prstGeom>
                      <a:noFill/>
                      <a:ln w="38100">
                        <a:noFill/>
                        <a:miter/>
                      </a:ln>
                    </p:spPr>
                  </p:pic>
                </p:oleObj>
              </mc:Fallback>
            </mc:AlternateContent>
          </a:graphicData>
        </a:graphic>
      </p:graphicFrame>
      <p:graphicFrame>
        <p:nvGraphicFramePr>
          <p:cNvPr id="9" name="对象 -2147482574"/>
          <p:cNvGraphicFramePr>
            <a:graphicFrameLocks noChangeAspect="1"/>
          </p:cNvGraphicFramePr>
          <p:nvPr>
            <p:custDataLst>
              <p:tags r:id="rId10"/>
            </p:custDataLst>
          </p:nvPr>
        </p:nvGraphicFramePr>
        <p:xfrm>
          <a:off x="6627495" y="4507865"/>
          <a:ext cx="366395" cy="331470"/>
        </p:xfrm>
        <a:graphic>
          <a:graphicData uri="http://schemas.openxmlformats.org/presentationml/2006/ole">
            <mc:AlternateContent xmlns:mc="http://schemas.openxmlformats.org/markup-compatibility/2006">
              <mc:Choice xmlns:v="urn:schemas-microsoft-com:vml" Requires="v">
                <p:oleObj spid="_x0000_s28" name="" r:id="rId11" imgW="139700" imgH="127000" progId="Equation.DSMT4">
                  <p:embed/>
                </p:oleObj>
              </mc:Choice>
              <mc:Fallback>
                <p:oleObj name="" r:id="rId11" imgW="139700" imgH="127000" progId="Equation.DSMT4">
                  <p:embed/>
                  <p:pic>
                    <p:nvPicPr>
                      <p:cNvPr id="0" name="图片 27"/>
                      <p:cNvPicPr/>
                      <p:nvPr/>
                    </p:nvPicPr>
                    <p:blipFill>
                      <a:blip r:embed="rId12"/>
                      <a:stretch>
                        <a:fillRect/>
                      </a:stretch>
                    </p:blipFill>
                    <p:spPr>
                      <a:xfrm>
                        <a:off x="6627495" y="4507865"/>
                        <a:ext cx="366395" cy="331470"/>
                      </a:xfrm>
                      <a:prstGeom prst="rect">
                        <a:avLst/>
                      </a:prstGeom>
                      <a:noFill/>
                      <a:ln w="38100">
                        <a:noFill/>
                        <a:miter/>
                      </a:ln>
                    </p:spPr>
                  </p:pic>
                </p:oleObj>
              </mc:Fallback>
            </mc:AlternateContent>
          </a:graphicData>
        </a:graphic>
      </p:graphicFrame>
      <p:graphicFrame>
        <p:nvGraphicFramePr>
          <p:cNvPr id="10" name="对象 -2147482573"/>
          <p:cNvGraphicFramePr>
            <a:graphicFrameLocks noChangeAspect="1"/>
          </p:cNvGraphicFramePr>
          <p:nvPr>
            <p:custDataLst>
              <p:tags r:id="rId13"/>
            </p:custDataLst>
          </p:nvPr>
        </p:nvGraphicFramePr>
        <p:xfrm>
          <a:off x="9264650" y="5905500"/>
          <a:ext cx="324485" cy="365125"/>
        </p:xfrm>
        <a:graphic>
          <a:graphicData uri="http://schemas.openxmlformats.org/presentationml/2006/ole">
            <mc:AlternateContent xmlns:mc="http://schemas.openxmlformats.org/markup-compatibility/2006">
              <mc:Choice xmlns:v="urn:schemas-microsoft-com:vml" Requires="v">
                <p:oleObj spid="_x0000_s29" name="" r:id="rId14" imgW="114300" imgH="127000" progId="Equation.DSMT4">
                  <p:embed/>
                </p:oleObj>
              </mc:Choice>
              <mc:Fallback>
                <p:oleObj name="" r:id="rId14" imgW="114300" imgH="127000" progId="Equation.DSMT4">
                  <p:embed/>
                  <p:pic>
                    <p:nvPicPr>
                      <p:cNvPr id="0" name="图片 28"/>
                      <p:cNvPicPr/>
                      <p:nvPr/>
                    </p:nvPicPr>
                    <p:blipFill>
                      <a:blip r:embed="rId15"/>
                      <a:stretch>
                        <a:fillRect/>
                      </a:stretch>
                    </p:blipFill>
                    <p:spPr>
                      <a:xfrm>
                        <a:off x="9264650" y="5905500"/>
                        <a:ext cx="324485" cy="365125"/>
                      </a:xfrm>
                      <a:prstGeom prst="rect">
                        <a:avLst/>
                      </a:prstGeom>
                      <a:noFill/>
                      <a:ln w="38100">
                        <a:noFill/>
                        <a:miter/>
                      </a:ln>
                    </p:spPr>
                  </p:pic>
                </p:oleObj>
              </mc:Fallback>
            </mc:AlternateContent>
          </a:graphicData>
        </a:graphic>
      </p:graphicFrame>
      <p:graphicFrame>
        <p:nvGraphicFramePr>
          <p:cNvPr id="12" name="对象 -2147482569"/>
          <p:cNvGraphicFramePr>
            <a:graphicFrameLocks noChangeAspect="1"/>
          </p:cNvGraphicFramePr>
          <p:nvPr>
            <p:custDataLst>
              <p:tags r:id="rId16"/>
            </p:custDataLst>
          </p:nvPr>
        </p:nvGraphicFramePr>
        <p:xfrm>
          <a:off x="6652895" y="5834380"/>
          <a:ext cx="340995" cy="438785"/>
        </p:xfrm>
        <a:graphic>
          <a:graphicData uri="http://schemas.openxmlformats.org/presentationml/2006/ole">
            <mc:AlternateContent xmlns:mc="http://schemas.openxmlformats.org/markup-compatibility/2006">
              <mc:Choice xmlns:v="urn:schemas-microsoft-com:vml" Requires="v">
                <p:oleObj spid="_x0000_s30" name="" r:id="rId17" imgW="127000" imgH="165100" progId="Equation.DSMT4">
                  <p:embed/>
                </p:oleObj>
              </mc:Choice>
              <mc:Fallback>
                <p:oleObj name="" r:id="rId17" imgW="127000" imgH="165100" progId="Equation.DSMT4">
                  <p:embed/>
                  <p:pic>
                    <p:nvPicPr>
                      <p:cNvPr id="0" name="图片 29"/>
                      <p:cNvPicPr/>
                      <p:nvPr/>
                    </p:nvPicPr>
                    <p:blipFill>
                      <a:blip r:embed="rId18"/>
                      <a:stretch>
                        <a:fillRect/>
                      </a:stretch>
                    </p:blipFill>
                    <p:spPr>
                      <a:xfrm>
                        <a:off x="6652895" y="5834380"/>
                        <a:ext cx="340995" cy="438785"/>
                      </a:xfrm>
                      <a:prstGeom prst="rect">
                        <a:avLst/>
                      </a:prstGeom>
                      <a:noFill/>
                      <a:ln w="38100">
                        <a:noFill/>
                        <a:miter/>
                      </a:ln>
                    </p:spPr>
                  </p:pic>
                </p:oleObj>
              </mc:Fallback>
            </mc:AlternateContent>
          </a:graphicData>
        </a:graphic>
      </p:graphicFrame>
      <p:graphicFrame>
        <p:nvGraphicFramePr>
          <p:cNvPr id="14" name="对象 -2147482568"/>
          <p:cNvGraphicFramePr>
            <a:graphicFrameLocks noChangeAspect="1"/>
          </p:cNvGraphicFramePr>
          <p:nvPr>
            <p:custDataLst>
              <p:tags r:id="rId19"/>
            </p:custDataLst>
          </p:nvPr>
        </p:nvGraphicFramePr>
        <p:xfrm>
          <a:off x="9277350" y="4507865"/>
          <a:ext cx="316865" cy="356235"/>
        </p:xfrm>
        <a:graphic>
          <a:graphicData uri="http://schemas.openxmlformats.org/presentationml/2006/ole">
            <mc:AlternateContent xmlns:mc="http://schemas.openxmlformats.org/markup-compatibility/2006">
              <mc:Choice xmlns:v="urn:schemas-microsoft-com:vml" Requires="v">
                <p:oleObj spid="_x0000_s31" name="" r:id="rId20" imgW="114300" imgH="127000" progId="Equation.DSMT4">
                  <p:embed/>
                </p:oleObj>
              </mc:Choice>
              <mc:Fallback>
                <p:oleObj name="" r:id="rId20" imgW="114300" imgH="127000" progId="Equation.DSMT4">
                  <p:embed/>
                  <p:pic>
                    <p:nvPicPr>
                      <p:cNvPr id="0" name="图片 30"/>
                      <p:cNvPicPr/>
                      <p:nvPr/>
                    </p:nvPicPr>
                    <p:blipFill>
                      <a:blip r:embed="rId21"/>
                      <a:stretch>
                        <a:fillRect/>
                      </a:stretch>
                    </p:blipFill>
                    <p:spPr>
                      <a:xfrm>
                        <a:off x="9277350" y="4507865"/>
                        <a:ext cx="316865" cy="35623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319722"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21" name="文本框 20"/>
          <p:cNvSpPr txBox="1"/>
          <p:nvPr/>
        </p:nvSpPr>
        <p:spPr>
          <a:xfrm>
            <a:off x="469265" y="1751330"/>
            <a:ext cx="4598670" cy="550545"/>
          </a:xfrm>
          <a:prstGeom prst="rect">
            <a:avLst/>
          </a:prstGeom>
          <a:noFill/>
        </p:spPr>
        <p:txBody>
          <a:bodyPr wrap="square">
            <a:noAutofit/>
          </a:bodyPr>
          <a:p>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639445" y="1521460"/>
            <a:ext cx="11322685" cy="783590"/>
          </a:xfrm>
          <a:prstGeom prst="rect">
            <a:avLst/>
          </a:prstGeom>
          <a:noFill/>
        </p:spPr>
        <p:txBody>
          <a:bodyPr wrap="square">
            <a:spAutoFit/>
          </a:bodyPr>
          <a:p>
            <a:pPr indent="306070">
              <a:lnSpc>
                <a:spcPct val="125000"/>
              </a:lnSpc>
            </a:pPr>
            <a:endParaRPr lang="zh-CN" altLang="zh-CN" kern="100" dirty="0">
              <a:latin typeface="Cambria" panose="02040503050406030204" pitchFamily="18" charset="0"/>
              <a:ea typeface="黑体" panose="02010609060101010101" charset="-122"/>
              <a:cs typeface="Times New Roman" panose="02020603050405020304" pitchFamily="18" charset="0"/>
            </a:endParaRPr>
          </a:p>
          <a:p>
            <a:pPr indent="306070">
              <a:lnSpc>
                <a:spcPct val="125000"/>
              </a:lnSpc>
            </a:pP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graphicFrame>
        <p:nvGraphicFramePr>
          <p:cNvPr id="4" name="对象 -2147482560"/>
          <p:cNvGraphicFramePr>
            <a:graphicFrameLocks noChangeAspect="1"/>
          </p:cNvGraphicFramePr>
          <p:nvPr/>
        </p:nvGraphicFramePr>
        <p:xfrm>
          <a:off x="6073140" y="2722880"/>
          <a:ext cx="5888990" cy="3607435"/>
        </p:xfrm>
        <a:graphic>
          <a:graphicData uri="http://schemas.openxmlformats.org/presentationml/2006/ole">
            <mc:AlternateContent xmlns:mc="http://schemas.openxmlformats.org/markup-compatibility/2006">
              <mc:Choice xmlns:v="urn:schemas-microsoft-com:vml" Requires="v">
                <p:oleObj spid="_x0000_s17" name="" r:id="rId1" imgW="2908300" imgH="1777365" progId="Equation.DSMT4">
                  <p:embed/>
                </p:oleObj>
              </mc:Choice>
              <mc:Fallback>
                <p:oleObj name="" r:id="rId1" imgW="2908300" imgH="1777365" progId="Equation.DSMT4">
                  <p:embed/>
                  <p:pic>
                    <p:nvPicPr>
                      <p:cNvPr id="0" name="图片 16"/>
                      <p:cNvPicPr/>
                      <p:nvPr/>
                    </p:nvPicPr>
                    <p:blipFill>
                      <a:blip r:embed="rId2"/>
                      <a:stretch>
                        <a:fillRect/>
                      </a:stretch>
                    </p:blipFill>
                    <p:spPr>
                      <a:xfrm>
                        <a:off x="6073140" y="2722880"/>
                        <a:ext cx="5888990" cy="3607435"/>
                      </a:xfrm>
                      <a:prstGeom prst="rect">
                        <a:avLst/>
                      </a:prstGeom>
                      <a:noFill/>
                      <a:ln w="38100">
                        <a:noFill/>
                        <a:miter/>
                      </a:ln>
                    </p:spPr>
                  </p:pic>
                </p:oleObj>
              </mc:Fallback>
            </mc:AlternateContent>
          </a:graphicData>
        </a:graphic>
      </p:graphicFrame>
      <p:pic>
        <p:nvPicPr>
          <p:cNvPr id="44" name="图形 4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9405" y="3932555"/>
            <a:ext cx="6036945" cy="2581275"/>
          </a:xfrm>
          <a:prstGeom prst="rect">
            <a:avLst/>
          </a:prstGeom>
        </p:spPr>
      </p:pic>
      <p:pic>
        <p:nvPicPr>
          <p:cNvPr id="38" name="图片 37"/>
          <p:cNvPicPr>
            <a:picLocks noChangeAspect="1"/>
          </p:cNvPicPr>
          <p:nvPr/>
        </p:nvPicPr>
        <p:blipFill>
          <a:blip r:embed="rId5"/>
          <a:stretch>
            <a:fillRect/>
          </a:stretch>
        </p:blipFill>
        <p:spPr>
          <a:xfrm>
            <a:off x="469265" y="1751330"/>
            <a:ext cx="11340465" cy="16122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319722"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21" name="文本框 20"/>
          <p:cNvSpPr txBox="1"/>
          <p:nvPr/>
        </p:nvSpPr>
        <p:spPr>
          <a:xfrm>
            <a:off x="469265" y="1751330"/>
            <a:ext cx="4598670" cy="550545"/>
          </a:xfrm>
          <a:prstGeom prst="rect">
            <a:avLst/>
          </a:prstGeom>
          <a:noFill/>
        </p:spPr>
        <p:txBody>
          <a:bodyPr wrap="square">
            <a:noAutofit/>
          </a:bodyPr>
          <a:p>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p:txBody>
      </p:sp>
      <p:graphicFrame>
        <p:nvGraphicFramePr>
          <p:cNvPr id="4" name="对象 -2147482533"/>
          <p:cNvGraphicFramePr>
            <a:graphicFrameLocks noChangeAspect="1"/>
          </p:cNvGraphicFramePr>
          <p:nvPr/>
        </p:nvGraphicFramePr>
        <p:xfrm>
          <a:off x="4130993" y="4529455"/>
          <a:ext cx="4124960" cy="1924685"/>
        </p:xfrm>
        <a:graphic>
          <a:graphicData uri="http://schemas.openxmlformats.org/presentationml/2006/ole">
            <mc:AlternateContent xmlns:mc="http://schemas.openxmlformats.org/markup-compatibility/2006">
              <mc:Choice xmlns:v="urn:schemas-microsoft-com:vml" Requires="v">
                <p:oleObj spid="_x0000_s3076" name="" r:id="rId1" imgW="1879600" imgH="876300" progId="Equation.DSMT4">
                  <p:embed/>
                </p:oleObj>
              </mc:Choice>
              <mc:Fallback>
                <p:oleObj name="" r:id="rId1" imgW="1879600" imgH="876300" progId="Equation.DSMT4">
                  <p:embed/>
                  <p:pic>
                    <p:nvPicPr>
                      <p:cNvPr id="0" name="图片 3075"/>
                      <p:cNvPicPr/>
                      <p:nvPr/>
                    </p:nvPicPr>
                    <p:blipFill>
                      <a:blip r:embed="rId2"/>
                      <a:stretch>
                        <a:fillRect/>
                      </a:stretch>
                    </p:blipFill>
                    <p:spPr>
                      <a:xfrm>
                        <a:off x="4130993" y="4529455"/>
                        <a:ext cx="4124960" cy="1924685"/>
                      </a:xfrm>
                      <a:prstGeom prst="rect">
                        <a:avLst/>
                      </a:prstGeom>
                      <a:noFill/>
                      <a:ln w="38100">
                        <a:noFill/>
                        <a:miter/>
                      </a:ln>
                    </p:spPr>
                  </p:pic>
                </p:oleObj>
              </mc:Fallback>
            </mc:AlternateContent>
          </a:graphicData>
        </a:graphic>
      </p:graphicFrame>
      <p:pic>
        <p:nvPicPr>
          <p:cNvPr id="46" name="图片 45"/>
          <p:cNvPicPr>
            <a:picLocks noChangeAspect="1"/>
          </p:cNvPicPr>
          <p:nvPr/>
        </p:nvPicPr>
        <p:blipFill>
          <a:blip r:embed="rId3"/>
          <a:stretch>
            <a:fillRect/>
          </a:stretch>
        </p:blipFill>
        <p:spPr>
          <a:xfrm>
            <a:off x="532765" y="1751330"/>
            <a:ext cx="11196320" cy="28327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319722"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21" name="文本框 20"/>
          <p:cNvSpPr txBox="1"/>
          <p:nvPr/>
        </p:nvSpPr>
        <p:spPr>
          <a:xfrm>
            <a:off x="469265" y="1751330"/>
            <a:ext cx="4598670" cy="550545"/>
          </a:xfrm>
          <a:prstGeom prst="rect">
            <a:avLst/>
          </a:prstGeom>
          <a:noFill/>
        </p:spPr>
        <p:txBody>
          <a:bodyPr wrap="square">
            <a:noAutofit/>
          </a:bodyPr>
          <a:p>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p:txBody>
      </p:sp>
      <p:pic>
        <p:nvPicPr>
          <p:cNvPr id="55" name="图片 54"/>
          <p:cNvPicPr>
            <a:picLocks noChangeAspect="1"/>
          </p:cNvPicPr>
          <p:nvPr/>
        </p:nvPicPr>
        <p:blipFill>
          <a:blip r:embed="rId1"/>
          <a:stretch>
            <a:fillRect/>
          </a:stretch>
        </p:blipFill>
        <p:spPr>
          <a:xfrm>
            <a:off x="319405" y="1751330"/>
            <a:ext cx="11589385" cy="44411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319722"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21" name="文本框 20"/>
          <p:cNvSpPr txBox="1"/>
          <p:nvPr/>
        </p:nvSpPr>
        <p:spPr>
          <a:xfrm>
            <a:off x="469265" y="1751330"/>
            <a:ext cx="4598670" cy="550545"/>
          </a:xfrm>
          <a:prstGeom prst="rect">
            <a:avLst/>
          </a:prstGeom>
          <a:noFill/>
        </p:spPr>
        <p:txBody>
          <a:bodyPr wrap="square">
            <a:noAutofit/>
          </a:bodyPr>
          <a:p>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460375" y="1982470"/>
            <a:ext cx="11553190" cy="38703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319722"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21" name="文本框 20"/>
          <p:cNvSpPr txBox="1"/>
          <p:nvPr/>
        </p:nvSpPr>
        <p:spPr>
          <a:xfrm>
            <a:off x="469265" y="1751330"/>
            <a:ext cx="4598670" cy="550545"/>
          </a:xfrm>
          <a:prstGeom prst="rect">
            <a:avLst/>
          </a:prstGeom>
          <a:noFill/>
        </p:spPr>
        <p:txBody>
          <a:bodyPr wrap="square">
            <a:noAutofit/>
          </a:bodyPr>
          <a:p>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3095" y="2014220"/>
            <a:ext cx="11187430" cy="3108325"/>
          </a:xfrm>
          <a:prstGeom prst="rect">
            <a:avLst/>
          </a:prstGeom>
        </p:spPr>
        <p:txBody>
          <a:bodyPr>
            <a:noAutofit/>
          </a:bodyPr>
          <a:p>
            <a:pPr indent="0" algn="l" defTabSz="266700">
              <a:lnSpc>
                <a:spcPct val="125000"/>
              </a:lnSpc>
              <a:spcBef>
                <a:spcPts val="400"/>
              </a:spcBef>
              <a:spcAft>
                <a:spcPct val="0"/>
              </a:spcAft>
              <a:buFont typeface="Wingdings" panose="05000000000000000000" charset="0"/>
              <a:buNone/>
            </a:pPr>
            <a:r>
              <a:rPr lang="zh-CN" altLang="en-US" sz="2800" b="1">
                <a:solidFill>
                  <a:srgbClr val="C0504D"/>
                </a:solidFill>
                <a:latin typeface="微软雅黑" panose="020B0503020204020204" pitchFamily="34" charset="-122"/>
                <a:ea typeface="微软雅黑" panose="020B0503020204020204" pitchFamily="34" charset="-122"/>
                <a:cs typeface="微软雅黑" panose="020B0503020204020204" pitchFamily="34" charset="-122"/>
              </a:rPr>
              <a:t>秩的分配：</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样本如果有相同的观测值，则将它们的秩排名平均。如果没有相同的观测值，直接使用观测值在排序后的位置作为秩。</a:t>
            </a:r>
            <a:endParaRPr lang="zh-CN" altLang="en-US" sz="2800">
              <a:latin typeface="微软雅黑" panose="020B0503020204020204" pitchFamily="34" charset="-122"/>
              <a:ea typeface="微软雅黑" panose="020B0503020204020204" pitchFamily="34" charset="-122"/>
              <a:cs typeface="微软雅黑" panose="020B0503020204020204" pitchFamily="34" charset="-122"/>
            </a:endParaRPr>
          </a:p>
          <a:p>
            <a:pPr marL="0" indent="0" algn="l" defTabSz="266700">
              <a:lnSpc>
                <a:spcPct val="125000"/>
              </a:lnSpc>
              <a:spcBef>
                <a:spcPts val="400"/>
              </a:spcBef>
              <a:spcAft>
                <a:spcPct val="0"/>
              </a:spcAft>
            </a:pP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marL="0" indent="0" algn="l" defTabSz="266700">
              <a:lnSpc>
                <a:spcPct val="125000"/>
              </a:lnSpc>
              <a:spcBef>
                <a:spcPts val="400"/>
              </a:spcBef>
              <a:spcAft>
                <a:spcPct val="0"/>
              </a:spcAft>
            </a:pP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defTabSz="266700">
              <a:lnSpc>
                <a:spcPct val="125000"/>
              </a:lnSpc>
              <a:spcBef>
                <a:spcPct val="0"/>
              </a:spcBef>
              <a:spcAft>
                <a:spcPct val="0"/>
              </a:spcAft>
            </a:pPr>
            <a:endPar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633095" y="3719195"/>
            <a:ext cx="10972800" cy="1546225"/>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wrap="square" lIns="136525" tIns="136525" rIns="136525" bIns="136525" rtlCol="0" anchor="t">
            <a:spAutoFit/>
          </a:bodyPr>
          <a:p>
            <a:pPr marL="0" indent="0" algn="just" defTabSz="266700">
              <a:lnSpc>
                <a:spcPct val="115000"/>
              </a:lnSpc>
              <a:spcBef>
                <a:spcPct val="0"/>
              </a:spcBef>
              <a:spcAft>
                <a:spcPct val="0"/>
              </a:spcAft>
            </a:pP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例如：对于一组数据</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，经升序排列后为</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，则该组数据的秩分别为</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。而对于另一组数据</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，该组数据的秩依次分别为</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2.5</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2.5</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319722"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21" name="文本框 20"/>
          <p:cNvSpPr txBox="1"/>
          <p:nvPr/>
        </p:nvSpPr>
        <p:spPr>
          <a:xfrm>
            <a:off x="469265" y="1751330"/>
            <a:ext cx="11165205" cy="550545"/>
          </a:xfrm>
          <a:prstGeom prst="rect">
            <a:avLst/>
          </a:prstGeom>
          <a:noFill/>
        </p:spPr>
        <p:txBody>
          <a:bodyPr wrap="square">
            <a:noAutofit/>
          </a:bodyPr>
          <a:p>
            <a:pPr>
              <a:lnSpc>
                <a:spcPct val="110000"/>
              </a:lnSpc>
            </a:pPr>
            <a:r>
              <a:rPr lang="zh-CN" altLang="en-US" sz="2400" dirty="0">
                <a:latin typeface="微软雅黑" panose="020B0503020204020204" pitchFamily="34" charset="-122"/>
                <a:ea typeface="微软雅黑" panose="020B0503020204020204" pitchFamily="34" charset="-122"/>
              </a:rPr>
              <a:t>电子医疗和智慧医疗的产生和发展使得医院和医疗机构生成并保存了大量的临床报告数据，其中不乏关于出血症状相关的记录，如病人的症状描述、出血的程度和持续时间等信息。现有</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位病人的血小板数与出血症状程度数据。</a:t>
            </a:r>
            <a:endParaRPr lang="zh-CN" altLang="en-US" sz="2400" dirty="0">
              <a:latin typeface="微软雅黑" panose="020B0503020204020204" pitchFamily="34" charset="-122"/>
              <a:ea typeface="微软雅黑" panose="020B0503020204020204" pitchFamily="34" charset="-122"/>
            </a:endParaRPr>
          </a:p>
          <a:p>
            <a:pPr>
              <a:lnSpc>
                <a:spcPct val="110000"/>
              </a:lnSpc>
            </a:pPr>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1"/>
          <a:stretch>
            <a:fillRect/>
          </a:stretch>
        </p:blipFill>
        <p:spPr>
          <a:xfrm>
            <a:off x="600075" y="3521075"/>
            <a:ext cx="11209655" cy="1894840"/>
          </a:xfrm>
          <a:prstGeom prst="rect">
            <a:avLst/>
          </a:prstGeom>
        </p:spPr>
      </p:pic>
      <p:sp>
        <p:nvSpPr>
          <p:cNvPr id="17" name="文本框 16"/>
          <p:cNvSpPr txBox="1"/>
          <p:nvPr/>
        </p:nvSpPr>
        <p:spPr>
          <a:xfrm>
            <a:off x="680085" y="5506720"/>
            <a:ext cx="9563100" cy="497205"/>
          </a:xfrm>
          <a:prstGeom prst="rect">
            <a:avLst/>
          </a:prstGeom>
          <a:noFill/>
        </p:spPr>
        <p:txBody>
          <a:bodyPr wrap="square" rtlCol="0" anchor="t">
            <a:spAutoFit/>
          </a:bodyPr>
          <a:p>
            <a:pPr>
              <a:lnSpc>
                <a:spcPct val="110000"/>
              </a:lnSpc>
            </a:pPr>
            <a:r>
              <a:rPr lang="zh-CN" altLang="en-US" sz="2400" dirty="0">
                <a:latin typeface="微软雅黑" panose="020B0503020204020204" pitchFamily="34" charset="-122"/>
                <a:ea typeface="微软雅黑" panose="020B0503020204020204" pitchFamily="34" charset="-122"/>
                <a:sym typeface="+mn-ea"/>
              </a:rPr>
              <a:t>请计算：血小板数与出血症状程度之间的</a:t>
            </a:r>
            <a:r>
              <a:rPr lang="en-US" altLang="zh-CN" sz="2400" dirty="0">
                <a:solidFill>
                  <a:srgbClr val="C00000"/>
                </a:solidFill>
                <a:latin typeface="微软雅黑" panose="020B0503020204020204" pitchFamily="34" charset="-122"/>
                <a:ea typeface="微软雅黑" panose="020B0503020204020204" pitchFamily="34" charset="-122"/>
                <a:sym typeface="+mn-ea"/>
              </a:rPr>
              <a:t>Spearman</a:t>
            </a:r>
            <a:r>
              <a:rPr lang="zh-CN" altLang="en-US" sz="2400" dirty="0">
                <a:solidFill>
                  <a:srgbClr val="C00000"/>
                </a:solidFill>
                <a:latin typeface="微软雅黑" panose="020B0503020204020204" pitchFamily="34" charset="-122"/>
                <a:ea typeface="微软雅黑" panose="020B0503020204020204" pitchFamily="34" charset="-122"/>
                <a:sym typeface="+mn-ea"/>
              </a:rPr>
              <a:t>秩相关系数</a:t>
            </a:r>
            <a:r>
              <a:rPr lang="zh-CN" altLang="en-US" sz="2400" dirty="0">
                <a:latin typeface="微软雅黑" panose="020B0503020204020204" pitchFamily="34" charset="-122"/>
                <a:ea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319722"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21" name="文本框 20"/>
          <p:cNvSpPr txBox="1"/>
          <p:nvPr/>
        </p:nvSpPr>
        <p:spPr>
          <a:xfrm>
            <a:off x="469265" y="1814830"/>
            <a:ext cx="11165205" cy="550545"/>
          </a:xfrm>
          <a:prstGeom prst="rect">
            <a:avLst/>
          </a:prstGeom>
          <a:noFill/>
        </p:spPr>
        <p:txBody>
          <a:bodyPr wrap="square">
            <a:noAutofit/>
          </a:bodyPr>
          <a:p>
            <a:pPr marL="342900" indent="-342900">
              <a:lnSpc>
                <a:spcPct val="130000"/>
              </a:lnSpc>
              <a:buFont typeface="Arial" panose="020B0604020202020204" pitchFamily="34" charset="0"/>
              <a:buChar char="•"/>
            </a:pPr>
            <a:r>
              <a:rPr lang="zh-CN" altLang="en-US" sz="2400" b="1" dirty="0">
                <a:solidFill>
                  <a:srgbClr val="FF0000"/>
                </a:solidFill>
                <a:latin typeface="微软雅黑" panose="020B0503020204020204" pitchFamily="34" charset="-122"/>
                <a:ea typeface="微软雅黑" panose="020B0503020204020204" pitchFamily="34" charset="-122"/>
              </a:rPr>
              <a:t>步骤一：</a:t>
            </a:r>
            <a:r>
              <a:rPr lang="zh-CN" altLang="en-US" sz="2400" dirty="0">
                <a:latin typeface="微软雅黑" panose="020B0503020204020204" pitchFamily="34" charset="-122"/>
                <a:ea typeface="微软雅黑" panose="020B0503020204020204" pitchFamily="34" charset="-122"/>
              </a:rPr>
              <a:t>按由小到大的顺序对血小板数和出血症状进行排序</a:t>
            </a:r>
            <a:endParaRPr lang="zh-CN" altLang="en-US" sz="2400" dirty="0">
              <a:latin typeface="微软雅黑" panose="020B0503020204020204" pitchFamily="34" charset="-122"/>
              <a:ea typeface="微软雅黑" panose="020B0503020204020204" pitchFamily="34" charset="-122"/>
            </a:endParaRPr>
          </a:p>
          <a:p>
            <a:pPr marL="342900" indent="-342900">
              <a:lnSpc>
                <a:spcPct val="130000"/>
              </a:lnSpc>
              <a:buFont typeface="Arial" panose="020B0604020202020204" pitchFamily="34" charset="0"/>
              <a:buChar char="•"/>
            </a:pPr>
            <a:r>
              <a:rPr lang="zh-CN" altLang="en-US" sz="2400" b="1" dirty="0">
                <a:solidFill>
                  <a:srgbClr val="FF0000"/>
                </a:solidFill>
                <a:latin typeface="微软雅黑" panose="020B0503020204020204" pitchFamily="34" charset="-122"/>
                <a:ea typeface="微软雅黑" panose="020B0503020204020204" pitchFamily="34" charset="-122"/>
              </a:rPr>
              <a:t>步骤二：</a:t>
            </a:r>
            <a:r>
              <a:rPr lang="zh-CN" altLang="en-US" sz="2400" dirty="0">
                <a:latin typeface="微软雅黑" panose="020B0503020204020204" pitchFamily="34" charset="-122"/>
                <a:ea typeface="微软雅黑" panose="020B0503020204020204" pitchFamily="34" charset="-122"/>
              </a:rPr>
              <a:t>为各观测值分配秩并计算秩差得到</a:t>
            </a:r>
            <a:r>
              <a:rPr lang="zh-CN" altLang="en-US" sz="2400" dirty="0">
                <a:latin typeface="微软雅黑" panose="020B0503020204020204" pitchFamily="34" charset="-122"/>
                <a:ea typeface="微软雅黑" panose="020B0503020204020204" pitchFamily="34" charset="-122"/>
              </a:rPr>
              <a:t>下表：</a:t>
            </a:r>
            <a:endParaRPr lang="zh-CN" altLang="en-US" sz="2400" dirty="0">
              <a:latin typeface="微软雅黑" panose="020B0503020204020204" pitchFamily="34" charset="-122"/>
              <a:ea typeface="微软雅黑" panose="020B0503020204020204" pitchFamily="34" charset="-122"/>
            </a:endParaRPr>
          </a:p>
          <a:p>
            <a:pPr>
              <a:lnSpc>
                <a:spcPct val="110000"/>
              </a:lnSpc>
            </a:pPr>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469265" y="3175635"/>
            <a:ext cx="11282045" cy="28835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1413827"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21" name="文本框 20"/>
          <p:cNvSpPr txBox="1"/>
          <p:nvPr/>
        </p:nvSpPr>
        <p:spPr>
          <a:xfrm>
            <a:off x="422275" y="2000250"/>
            <a:ext cx="11165205" cy="550545"/>
          </a:xfrm>
          <a:prstGeom prst="rect">
            <a:avLst/>
          </a:prstGeom>
          <a:noFill/>
        </p:spPr>
        <p:txBody>
          <a:bodyPr wrap="square">
            <a:noAutofit/>
          </a:bodyPr>
          <a:p>
            <a:pPr marL="342900" indent="-342900">
              <a:lnSpc>
                <a:spcPct val="110000"/>
              </a:lnSpc>
              <a:buFont typeface="Arial" panose="020B0604020202020204" pitchFamily="34" charset="0"/>
              <a:buChar char="•"/>
            </a:pPr>
            <a:r>
              <a:rPr lang="zh-CN" altLang="en-US" sz="2400" b="1" dirty="0">
                <a:solidFill>
                  <a:srgbClr val="FF0000"/>
                </a:solidFill>
                <a:latin typeface="微软雅黑" panose="020B0503020204020204" pitchFamily="34" charset="-122"/>
                <a:ea typeface="微软雅黑" panose="020B0503020204020204" pitchFamily="34" charset="-122"/>
                <a:sym typeface="+mn-ea"/>
              </a:rPr>
              <a:t>步骤</a:t>
            </a:r>
            <a:r>
              <a:rPr lang="zh-CN" altLang="en-US" sz="2400" b="1" dirty="0">
                <a:solidFill>
                  <a:srgbClr val="FF0000"/>
                </a:solidFill>
                <a:latin typeface="微软雅黑" panose="020B0503020204020204" pitchFamily="34" charset="-122"/>
                <a:ea typeface="微软雅黑" panose="020B0503020204020204" pitchFamily="34" charset="-122"/>
                <a:sym typeface="+mn-ea"/>
              </a:rPr>
              <a:t>三：</a:t>
            </a:r>
            <a:r>
              <a:rPr lang="zh-CN" altLang="en-US" sz="2400" dirty="0">
                <a:latin typeface="微软雅黑" panose="020B0503020204020204" pitchFamily="34" charset="-122"/>
                <a:ea typeface="微软雅黑" panose="020B0503020204020204" pitchFamily="34" charset="-122"/>
              </a:rPr>
              <a:t>得到秩差后，将秩差代入</a:t>
            </a:r>
            <a:r>
              <a:rPr lang="en-US" altLang="zh-CN" sz="2400" dirty="0">
                <a:latin typeface="微软雅黑" panose="020B0503020204020204" pitchFamily="34" charset="-122"/>
                <a:ea typeface="微软雅黑" panose="020B0503020204020204" pitchFamily="34" charset="-122"/>
              </a:rPr>
              <a:t>Spearman</a:t>
            </a:r>
            <a:r>
              <a:rPr lang="zh-CN" altLang="en-US" sz="2400" dirty="0">
                <a:latin typeface="微软雅黑" panose="020B0503020204020204" pitchFamily="34" charset="-122"/>
                <a:ea typeface="微软雅黑" panose="020B0503020204020204" pitchFamily="34" charset="-122"/>
              </a:rPr>
              <a:t>秩相关系数计算公式中求解得到：</a:t>
            </a:r>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p:txBody>
      </p:sp>
      <p:graphicFrame>
        <p:nvGraphicFramePr>
          <p:cNvPr id="4" name="对象 -2147482514"/>
          <p:cNvGraphicFramePr>
            <a:graphicFrameLocks noChangeAspect="1"/>
          </p:cNvGraphicFramePr>
          <p:nvPr/>
        </p:nvGraphicFramePr>
        <p:xfrm>
          <a:off x="1238250" y="2760980"/>
          <a:ext cx="9532620" cy="1482090"/>
        </p:xfrm>
        <a:graphic>
          <a:graphicData uri="http://schemas.openxmlformats.org/presentationml/2006/ole">
            <mc:AlternateContent xmlns:mc="http://schemas.openxmlformats.org/markup-compatibility/2006">
              <mc:Choice xmlns:v="urn:schemas-microsoft-com:vml" Requires="v">
                <p:oleObj spid="_x0000_s3076" name="" r:id="rId1" imgW="3657600" imgH="571500" progId="Equation.DSMT4">
                  <p:embed/>
                </p:oleObj>
              </mc:Choice>
              <mc:Fallback>
                <p:oleObj name="" r:id="rId1" imgW="3657600" imgH="571500" progId="Equation.DSMT4">
                  <p:embed/>
                  <p:pic>
                    <p:nvPicPr>
                      <p:cNvPr id="0" name="图片 3075"/>
                      <p:cNvPicPr/>
                      <p:nvPr/>
                    </p:nvPicPr>
                    <p:blipFill>
                      <a:blip r:embed="rId2"/>
                      <a:stretch>
                        <a:fillRect/>
                      </a:stretch>
                    </p:blipFill>
                    <p:spPr>
                      <a:xfrm>
                        <a:off x="1238250" y="2760980"/>
                        <a:ext cx="9532620" cy="1482090"/>
                      </a:xfrm>
                      <a:prstGeom prst="rect">
                        <a:avLst/>
                      </a:prstGeom>
                      <a:noFill/>
                      <a:ln w="38100">
                        <a:noFill/>
                        <a:miter/>
                      </a:ln>
                    </p:spPr>
                  </p:pic>
                </p:oleObj>
              </mc:Fallback>
            </mc:AlternateContent>
          </a:graphicData>
        </a:graphic>
      </p:graphicFrame>
      <p:sp>
        <p:nvSpPr>
          <p:cNvPr id="5" name="文本框 4"/>
          <p:cNvSpPr txBox="1"/>
          <p:nvPr/>
        </p:nvSpPr>
        <p:spPr>
          <a:xfrm>
            <a:off x="422275" y="4707255"/>
            <a:ext cx="11329035" cy="550545"/>
          </a:xfrm>
          <a:prstGeom prst="rect">
            <a:avLst/>
          </a:prstGeom>
          <a:noFill/>
        </p:spPr>
        <p:txBody>
          <a:bodyPr wrap="square">
            <a:noAutofit/>
            <a:scene3d>
              <a:camera prst="orthographicFront"/>
              <a:lightRig rig="threePt" dir="t"/>
            </a:scene3d>
          </a:bodyPr>
          <a:p>
            <a:pPr>
              <a:lnSpc>
                <a:spcPct val="110000"/>
              </a:lnSpc>
            </a:pPr>
            <a:r>
              <a:rPr lang="zh-CN" altLang="en-US" sz="24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因此，血小板数和出血症状之间的</a:t>
            </a:r>
            <a:r>
              <a:rPr lang="en-US" altLang="zh-CN" sz="24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Spearman</a:t>
            </a:r>
            <a:r>
              <a:rPr lang="zh-CN" altLang="en-US" sz="24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秩相关系数为</a:t>
            </a:r>
            <a:r>
              <a:rPr lang="en-US" altLang="zh-CN" sz="24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-0.57</a:t>
            </a:r>
            <a:r>
              <a:rPr lang="zh-CN" altLang="en-US" sz="24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，呈负相关。该结论符合医学解释：当人体受伤出血时，血小板就会以最快的速度成群结队地聚集在伤口周围，释放使血管收缩的物质，让受损血管不同程度紧闭而减少流血量。</a:t>
            </a:r>
            <a:endParaRPr lang="zh-CN" altLang="en-US" sz="24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endParaRPr>
          </a:p>
          <a:p>
            <a:endParaRPr lang="zh-CN" altLang="en-US" sz="24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5" name="文本框 4"/>
          <p:cNvSpPr txBox="1"/>
          <p:nvPr/>
        </p:nvSpPr>
        <p:spPr>
          <a:xfrm>
            <a:off x="422275" y="4707255"/>
            <a:ext cx="11329035" cy="550545"/>
          </a:xfrm>
          <a:prstGeom prst="rect">
            <a:avLst/>
          </a:prstGeom>
          <a:noFill/>
        </p:spPr>
        <p:txBody>
          <a:bodyPr wrap="square">
            <a:noAutofit/>
          </a:bodyPr>
          <a:p>
            <a:endParaRPr lang="zh-CN" altLang="en-US" sz="2400" dirty="0">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1"/>
          <a:stretch>
            <a:fillRect/>
          </a:stretch>
        </p:blipFill>
        <p:spPr>
          <a:xfrm>
            <a:off x="573405" y="1597025"/>
            <a:ext cx="9876790" cy="2915920"/>
          </a:xfrm>
          <a:prstGeom prst="rect">
            <a:avLst/>
          </a:prstGeom>
        </p:spPr>
      </p:pic>
      <p:pic>
        <p:nvPicPr>
          <p:cNvPr id="18" name="图片 17"/>
          <p:cNvPicPr>
            <a:picLocks noChangeAspect="1"/>
          </p:cNvPicPr>
          <p:nvPr/>
        </p:nvPicPr>
        <p:blipFill>
          <a:blip r:embed="rId2"/>
          <a:stretch>
            <a:fillRect/>
          </a:stretch>
        </p:blipFill>
        <p:spPr>
          <a:xfrm>
            <a:off x="1318260" y="4603115"/>
            <a:ext cx="8850630" cy="2303780"/>
          </a:xfrm>
          <a:prstGeom prst="rect">
            <a:avLst/>
          </a:prstGeom>
        </p:spPr>
      </p:pic>
      <p:graphicFrame>
        <p:nvGraphicFramePr>
          <p:cNvPr id="4" name="对象 -2147482489"/>
          <p:cNvGraphicFramePr>
            <a:graphicFrameLocks noChangeAspect="1"/>
          </p:cNvGraphicFramePr>
          <p:nvPr/>
        </p:nvGraphicFramePr>
        <p:xfrm>
          <a:off x="8058150" y="4587875"/>
          <a:ext cx="2258695" cy="2188210"/>
        </p:xfrm>
        <a:graphic>
          <a:graphicData uri="http://schemas.openxmlformats.org/presentationml/2006/ole">
            <mc:AlternateContent xmlns:mc="http://schemas.openxmlformats.org/markup-compatibility/2006">
              <mc:Choice xmlns:v="urn:schemas-microsoft-com:vml" Requires="v">
                <p:oleObj spid="_x0000_s3076" name="" r:id="rId3" imgW="1708785" imgH="1658620" progId="Visio.Drawing.15">
                  <p:embed/>
                </p:oleObj>
              </mc:Choice>
              <mc:Fallback>
                <p:oleObj name="" r:id="rId3" imgW="1708785" imgH="1658620" progId="Visio.Drawing.15">
                  <p:embed/>
                  <p:pic>
                    <p:nvPicPr>
                      <p:cNvPr id="0" name="图片 3075"/>
                      <p:cNvPicPr/>
                      <p:nvPr/>
                    </p:nvPicPr>
                    <p:blipFill>
                      <a:blip r:embed="rId4"/>
                      <a:stretch>
                        <a:fillRect/>
                      </a:stretch>
                    </p:blipFill>
                    <p:spPr>
                      <a:xfrm>
                        <a:off x="8058150" y="4587875"/>
                        <a:ext cx="2258695" cy="218821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446405" y="1743710"/>
            <a:ext cx="11304905" cy="116840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楷体" panose="02010609060101010101" pitchFamily="49" charset="-122"/>
                <a:ea typeface="楷体" panose="02010609060101010101" pitchFamily="49" charset="-122"/>
                <a:cs typeface="楷体" panose="02010609060101010101" pitchFamily="49" charset="-122"/>
              </a:rPr>
              <a:t> </a:t>
            </a: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Kendall</a:t>
            </a:r>
            <a:r>
              <a:rPr lang="zh-CN" altLang="en-US" sz="2800" b="1" kern="100" dirty="0">
                <a:solidFill>
                  <a:srgbClr val="FF0000"/>
                </a:solidFill>
                <a:latin typeface="楷体" panose="02010609060101010101" pitchFamily="49" charset="-122"/>
                <a:ea typeface="楷体" panose="02010609060101010101" pitchFamily="49" charset="-122"/>
                <a:cs typeface="楷体" panose="02010609060101010101" pitchFamily="49" charset="-122"/>
              </a:rPr>
              <a:t>等级相关系数</a:t>
            </a:r>
            <a:r>
              <a:rPr lang="en-US" altLang="zh-CN" sz="2800" kern="100" dirty="0">
                <a:latin typeface="楷体" panose="02010609060101010101" pitchFamily="49" charset="-122"/>
                <a:ea typeface="楷体" panose="02010609060101010101" pitchFamily="49" charset="-122"/>
                <a:cs typeface="楷体" panose="02010609060101010101" pitchFamily="49" charset="-122"/>
              </a:rPr>
              <a:t>  </a:t>
            </a:r>
            <a:r>
              <a:rPr lang="zh-CN" altLang="en-US" sz="2800" kern="100" dirty="0">
                <a:latin typeface="楷体" panose="02010609060101010101" pitchFamily="49" charset="-122"/>
                <a:ea typeface="楷体" panose="02010609060101010101" pitchFamily="49" charset="-122"/>
                <a:cs typeface="楷体" panose="02010609060101010101" pitchFamily="49" charset="-122"/>
              </a:rPr>
              <a:t>通过考虑两个变量在排名上的一致性程度来评估它们之间的相关性，也是一种非参数的相关系数。其公式定义为：</a:t>
            </a:r>
            <a:endParaRPr lang="zh-CN" altLang="en-US" sz="2800" kern="100" dirty="0">
              <a:latin typeface="楷体" panose="02010609060101010101" pitchFamily="49" charset="-122"/>
              <a:ea typeface="楷体" panose="02010609060101010101" pitchFamily="49" charset="-122"/>
              <a:cs typeface="楷体" panose="02010609060101010101" pitchFamily="49" charset="-122"/>
            </a:endParaRPr>
          </a:p>
        </p:txBody>
      </p:sp>
      <p:sp>
        <p:nvSpPr>
          <p:cNvPr id="5" name="文本框 4"/>
          <p:cNvSpPr txBox="1"/>
          <p:nvPr/>
        </p:nvSpPr>
        <p:spPr>
          <a:xfrm>
            <a:off x="574675" y="4707255"/>
            <a:ext cx="11329035" cy="550545"/>
          </a:xfrm>
          <a:prstGeom prst="rect">
            <a:avLst/>
          </a:prstGeom>
          <a:noFill/>
        </p:spPr>
        <p:txBody>
          <a:bodyPr wrap="square">
            <a:noAutofit/>
          </a:bodyPr>
          <a:p>
            <a:r>
              <a:rPr lang="zh-CN" altLang="en-US" sz="2400" dirty="0">
                <a:latin typeface="微软雅黑" panose="020B0503020204020204" pitchFamily="34" charset="-122"/>
                <a:ea typeface="微软雅黑" panose="020B0503020204020204" pitchFamily="34" charset="-122"/>
              </a:rPr>
              <a:t>易知，当同序对数量大于异序对数量时，变量与之间存在正相关关系，并且差异越大，正相关关系越强；当同序对数量小于异序对数量时，变量与之间存在负相关关系，并且差异越大，负相关关系越强。</a:t>
            </a:r>
            <a:endParaRPr lang="zh-CN" altLang="en-US" sz="2400" dirty="0">
              <a:latin typeface="微软雅黑" panose="020B0503020204020204" pitchFamily="34" charset="-122"/>
              <a:ea typeface="微软雅黑" panose="020B0503020204020204" pitchFamily="34" charset="-122"/>
            </a:endParaRPr>
          </a:p>
        </p:txBody>
      </p:sp>
      <p:graphicFrame>
        <p:nvGraphicFramePr>
          <p:cNvPr id="4" name="对象 -2147482486"/>
          <p:cNvGraphicFramePr>
            <a:graphicFrameLocks noChangeAspect="1"/>
          </p:cNvGraphicFramePr>
          <p:nvPr/>
        </p:nvGraphicFramePr>
        <p:xfrm>
          <a:off x="3623310" y="3272155"/>
          <a:ext cx="4196080" cy="958850"/>
        </p:xfrm>
        <a:graphic>
          <a:graphicData uri="http://schemas.openxmlformats.org/presentationml/2006/ole">
            <mc:AlternateContent xmlns:mc="http://schemas.openxmlformats.org/markup-compatibility/2006">
              <mc:Choice xmlns:v="urn:schemas-microsoft-com:vml" Requires="v">
                <p:oleObj spid="_x0000_s11" name="" r:id="rId1" imgW="1828800" imgH="431800" progId="Equation.DSMT4">
                  <p:embed/>
                </p:oleObj>
              </mc:Choice>
              <mc:Fallback>
                <p:oleObj name="" r:id="rId1" imgW="1828800" imgH="431800" progId="Equation.DSMT4">
                  <p:embed/>
                  <p:pic>
                    <p:nvPicPr>
                      <p:cNvPr id="0" name="图片 10"/>
                      <p:cNvPicPr/>
                      <p:nvPr/>
                    </p:nvPicPr>
                    <p:blipFill>
                      <a:blip r:embed="rId2"/>
                      <a:stretch>
                        <a:fillRect/>
                      </a:stretch>
                    </p:blipFill>
                    <p:spPr>
                      <a:xfrm>
                        <a:off x="3623310" y="3272155"/>
                        <a:ext cx="4196080" cy="95885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1413827"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21" name="文本框 20"/>
          <p:cNvSpPr txBox="1"/>
          <p:nvPr/>
        </p:nvSpPr>
        <p:spPr>
          <a:xfrm>
            <a:off x="422275" y="1898650"/>
            <a:ext cx="11165205" cy="550545"/>
          </a:xfrm>
          <a:prstGeom prst="rect">
            <a:avLst/>
          </a:prstGeom>
          <a:noFill/>
        </p:spPr>
        <p:txBody>
          <a:bodyPr wrap="square">
            <a:noAutofit/>
          </a:bodyPr>
          <a:p>
            <a:r>
              <a:rPr lang="zh-CN" altLang="en-US" sz="2400" dirty="0">
                <a:latin typeface="微软雅黑" panose="020B0503020204020204" pitchFamily="34" charset="-122"/>
                <a:ea typeface="微软雅黑" panose="020B0503020204020204" pitchFamily="34" charset="-122"/>
              </a:rPr>
              <a:t>社交媒体平台包含大量用户的活动数据，比如：每个用户在不同帖子上的点赞数和评论数。点赞数表示用户对某个帖子的喜欢程度，而评论数则表示用户对帖子的参与程度。现有某平台</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位用户的点赞评论数等级数据，见</a:t>
            </a:r>
            <a:r>
              <a:rPr lang="zh-CN" altLang="en-US" sz="2400" dirty="0">
                <a:latin typeface="微软雅黑" panose="020B0503020204020204" pitchFamily="34" charset="-122"/>
                <a:ea typeface="微软雅黑" panose="020B0503020204020204" pitchFamily="34" charset="-122"/>
              </a:rPr>
              <a:t>下表。数字</a:t>
            </a:r>
            <a:r>
              <a:rPr lang="en-US" altLang="zh-CN" sz="2400" dirty="0">
                <a:latin typeface="微软雅黑" panose="020B0503020204020204" pitchFamily="34" charset="-122"/>
                <a:ea typeface="微软雅黑" panose="020B0503020204020204" pitchFamily="34" charset="-122"/>
              </a:rPr>
              <a:t>1-8</a:t>
            </a:r>
            <a:r>
              <a:rPr lang="zh-CN" altLang="en-US" sz="2400" dirty="0">
                <a:latin typeface="微软雅黑" panose="020B0503020204020204" pitchFamily="34" charset="-122"/>
                <a:ea typeface="微软雅黑" panose="020B0503020204020204" pitchFamily="34" charset="-122"/>
              </a:rPr>
              <a:t>分别表示</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人点赞评论等级情况，</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表示最少，</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表示最多。</a:t>
            </a:r>
            <a:endParaRPr lang="zh-CN" altLang="en-US" sz="240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422275" y="3843655"/>
            <a:ext cx="11271885" cy="1905000"/>
          </a:xfrm>
          <a:prstGeom prst="rect">
            <a:avLst/>
          </a:prstGeom>
        </p:spPr>
      </p:pic>
      <p:sp>
        <p:nvSpPr>
          <p:cNvPr id="9" name="文本框 8"/>
          <p:cNvSpPr txBox="1"/>
          <p:nvPr/>
        </p:nvSpPr>
        <p:spPr>
          <a:xfrm>
            <a:off x="635000" y="5769610"/>
            <a:ext cx="8838565" cy="460375"/>
          </a:xfrm>
          <a:prstGeom prst="rect">
            <a:avLst/>
          </a:prstGeom>
          <a:noFill/>
        </p:spPr>
        <p:txBody>
          <a:bodyPr wrap="square" rtlCol="0" anchor="t">
            <a:spAutoFit/>
          </a:bodyPr>
          <a:p>
            <a:r>
              <a:rPr lang="zh-CN" altLang="en-US" sz="2400" dirty="0">
                <a:latin typeface="微软雅黑" panose="020B0503020204020204" pitchFamily="34" charset="-122"/>
                <a:ea typeface="微软雅黑" panose="020B0503020204020204" pitchFamily="34" charset="-122"/>
                <a:sym typeface="+mn-ea"/>
              </a:rPr>
              <a:t>请计算：点赞数和评论数的</a:t>
            </a:r>
            <a:r>
              <a:rPr lang="en-US" altLang="zh-CN" sz="2400" dirty="0">
                <a:solidFill>
                  <a:srgbClr val="C0504D"/>
                </a:solidFill>
                <a:latin typeface="微软雅黑" panose="020B0503020204020204" pitchFamily="34" charset="-122"/>
                <a:ea typeface="微软雅黑" panose="020B0503020204020204" pitchFamily="34" charset="-122"/>
                <a:sym typeface="+mn-ea"/>
              </a:rPr>
              <a:t>Kendall</a:t>
            </a:r>
            <a:r>
              <a:rPr lang="zh-CN" altLang="en-US" sz="2400" dirty="0">
                <a:solidFill>
                  <a:srgbClr val="C0504D"/>
                </a:solidFill>
                <a:latin typeface="微软雅黑" panose="020B0503020204020204" pitchFamily="34" charset="-122"/>
                <a:ea typeface="微软雅黑" panose="020B0503020204020204" pitchFamily="34" charset="-122"/>
                <a:sym typeface="+mn-ea"/>
              </a:rPr>
              <a:t>等级相关系数</a:t>
            </a:r>
            <a:r>
              <a:rPr lang="zh-CN" altLang="en-US" sz="2400" dirty="0">
                <a:latin typeface="微软雅黑" panose="020B0503020204020204" pitchFamily="34" charset="-122"/>
                <a:ea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1413827"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21" name="文本框 20"/>
          <p:cNvSpPr txBox="1"/>
          <p:nvPr/>
        </p:nvSpPr>
        <p:spPr>
          <a:xfrm>
            <a:off x="359410" y="3885565"/>
            <a:ext cx="11375390" cy="568960"/>
          </a:xfrm>
          <a:prstGeom prst="rect">
            <a:avLst/>
          </a:prstGeom>
          <a:noFill/>
        </p:spPr>
        <p:txBody>
          <a:bodyPr wrap="square">
            <a:noAutofit/>
          </a:bodyPr>
          <a:p>
            <a:pPr marL="342900" indent="-342900">
              <a:buFont typeface="Arial" panose="020B0604020202020204" pitchFamily="34" charset="0"/>
              <a:buChar char="•"/>
            </a:pPr>
            <a:r>
              <a:rPr lang="zh-CN" altLang="en-US" sz="2400" b="1" dirty="0">
                <a:solidFill>
                  <a:srgbClr val="660033"/>
                </a:solidFill>
                <a:latin typeface="微软雅黑" panose="020B0503020204020204" pitchFamily="34" charset="-122"/>
                <a:ea typeface="微软雅黑" panose="020B0503020204020204" pitchFamily="34" charset="-122"/>
              </a:rPr>
              <a:t>步骤</a:t>
            </a:r>
            <a:r>
              <a:rPr lang="zh-CN" altLang="en-US" sz="2400" b="1" dirty="0">
                <a:solidFill>
                  <a:srgbClr val="660033"/>
                </a:solidFill>
                <a:latin typeface="微软雅黑" panose="020B0503020204020204" pitchFamily="34" charset="-122"/>
                <a:ea typeface="微软雅黑" panose="020B0503020204020204" pitchFamily="34" charset="-122"/>
              </a:rPr>
              <a:t>一：</a:t>
            </a:r>
            <a:r>
              <a:rPr lang="zh-CN" altLang="en-US" sz="2400" dirty="0">
                <a:solidFill>
                  <a:srgbClr val="660033"/>
                </a:solidFill>
                <a:latin typeface="微软雅黑" panose="020B0503020204020204" pitchFamily="34" charset="-122"/>
                <a:ea typeface="微软雅黑" panose="020B0503020204020204" pitchFamily="34" charset="-122"/>
              </a:rPr>
              <a:t>计算同序对的数量。以</a:t>
            </a:r>
            <a:r>
              <a:rPr lang="en-US" altLang="zh-CN" sz="2400" dirty="0">
                <a:solidFill>
                  <a:srgbClr val="660033"/>
                </a:solidFill>
                <a:latin typeface="微软雅黑" panose="020B0503020204020204" pitchFamily="34" charset="-122"/>
                <a:ea typeface="微软雅黑" panose="020B0503020204020204" pitchFamily="34" charset="-122"/>
              </a:rPr>
              <a:t>A</a:t>
            </a:r>
            <a:r>
              <a:rPr lang="zh-CN" altLang="en-US" sz="2400" dirty="0">
                <a:solidFill>
                  <a:srgbClr val="660033"/>
                </a:solidFill>
                <a:latin typeface="微软雅黑" panose="020B0503020204020204" pitchFamily="34" charset="-122"/>
                <a:ea typeface="微软雅黑" panose="020B0503020204020204" pitchFamily="34" charset="-122"/>
              </a:rPr>
              <a:t>为例，</a:t>
            </a:r>
            <a:r>
              <a:rPr lang="en-US" altLang="zh-CN" sz="2400" dirty="0">
                <a:solidFill>
                  <a:srgbClr val="660033"/>
                </a:solidFill>
                <a:latin typeface="微软雅黑" panose="020B0503020204020204" pitchFamily="34" charset="-122"/>
                <a:ea typeface="微软雅黑" panose="020B0503020204020204" pitchFamily="34" charset="-122"/>
              </a:rPr>
              <a:t>AB</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AE</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AF</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AG</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AH</a:t>
            </a:r>
            <a:r>
              <a:rPr lang="zh-CN" altLang="en-US" sz="2400" dirty="0">
                <a:solidFill>
                  <a:srgbClr val="660033"/>
                </a:solidFill>
                <a:latin typeface="微软雅黑" panose="020B0503020204020204" pitchFamily="34" charset="-122"/>
                <a:ea typeface="微软雅黑" panose="020B0503020204020204" pitchFamily="34" charset="-122"/>
              </a:rPr>
              <a:t>为同序对，同理可得</a:t>
            </a:r>
            <a:r>
              <a:rPr lang="en-US" altLang="zh-CN" sz="2400" dirty="0">
                <a:solidFill>
                  <a:srgbClr val="660033"/>
                </a:solidFill>
                <a:latin typeface="微软雅黑" panose="020B0503020204020204" pitchFamily="34" charset="-122"/>
                <a:ea typeface="微软雅黑" panose="020B0503020204020204" pitchFamily="34" charset="-122"/>
              </a:rPr>
              <a:t>B</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C</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D</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E</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F</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G</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H</a:t>
            </a:r>
            <a:r>
              <a:rPr lang="zh-CN" altLang="en-US" sz="2400" dirty="0">
                <a:solidFill>
                  <a:srgbClr val="660033"/>
                </a:solidFill>
                <a:latin typeface="微软雅黑" panose="020B0503020204020204" pitchFamily="34" charset="-122"/>
                <a:ea typeface="微软雅黑" panose="020B0503020204020204" pitchFamily="34" charset="-122"/>
              </a:rPr>
              <a:t>分别贡献</a:t>
            </a:r>
            <a:r>
              <a:rPr lang="en-US" altLang="zh-CN" sz="2400" dirty="0">
                <a:solidFill>
                  <a:srgbClr val="660033"/>
                </a:solidFill>
                <a:latin typeface="微软雅黑" panose="020B0503020204020204" pitchFamily="34" charset="-122"/>
                <a:ea typeface="微软雅黑" panose="020B0503020204020204" pitchFamily="34" charset="-122"/>
              </a:rPr>
              <a:t>4</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5</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4</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3</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1</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0</a:t>
            </a:r>
            <a:r>
              <a:rPr lang="zh-CN" altLang="en-US" sz="2400" dirty="0">
                <a:solidFill>
                  <a:srgbClr val="660033"/>
                </a:solidFill>
                <a:latin typeface="微软雅黑" panose="020B0503020204020204" pitchFamily="34" charset="-122"/>
                <a:ea typeface="微软雅黑" panose="020B0503020204020204" pitchFamily="34" charset="-122"/>
              </a:rPr>
              <a:t>、</a:t>
            </a:r>
            <a:r>
              <a:rPr lang="en-US" altLang="zh-CN" sz="2400" dirty="0">
                <a:solidFill>
                  <a:srgbClr val="660033"/>
                </a:solidFill>
                <a:latin typeface="微软雅黑" panose="020B0503020204020204" pitchFamily="34" charset="-122"/>
                <a:ea typeface="微软雅黑" panose="020B0503020204020204" pitchFamily="34" charset="-122"/>
              </a:rPr>
              <a:t>0</a:t>
            </a:r>
            <a:r>
              <a:rPr lang="zh-CN" altLang="en-US" sz="2400" dirty="0">
                <a:solidFill>
                  <a:srgbClr val="660033"/>
                </a:solidFill>
                <a:latin typeface="微软雅黑" panose="020B0503020204020204" pitchFamily="34" charset="-122"/>
                <a:ea typeface="微软雅黑" panose="020B0503020204020204" pitchFamily="34" charset="-122"/>
              </a:rPr>
              <a:t>个同序对。同序对总数为</a:t>
            </a:r>
            <a:r>
              <a:rPr lang="en-US" altLang="zh-CN" sz="2400" dirty="0">
                <a:solidFill>
                  <a:srgbClr val="660033"/>
                </a:solidFill>
                <a:latin typeface="微软雅黑" panose="020B0503020204020204" pitchFamily="34" charset="-122"/>
                <a:ea typeface="微软雅黑" panose="020B0503020204020204" pitchFamily="34" charset="-122"/>
              </a:rPr>
              <a:t>22</a:t>
            </a:r>
            <a:r>
              <a:rPr lang="zh-CN" altLang="en-US" sz="2400" dirty="0">
                <a:solidFill>
                  <a:srgbClr val="660033"/>
                </a:solidFill>
                <a:latin typeface="微软雅黑" panose="020B0503020204020204" pitchFamily="34" charset="-122"/>
                <a:ea typeface="微软雅黑" panose="020B0503020204020204" pitchFamily="34" charset="-122"/>
              </a:rPr>
              <a:t>。</a:t>
            </a:r>
            <a:endParaRPr lang="zh-CN" altLang="en-US" sz="2400" dirty="0">
              <a:solidFill>
                <a:srgbClr val="660033"/>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zh-CN" altLang="en-US" sz="2400" dirty="0">
              <a:solidFill>
                <a:srgbClr val="660033"/>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400" b="1" dirty="0">
                <a:solidFill>
                  <a:srgbClr val="660033"/>
                </a:solidFill>
                <a:latin typeface="微软雅黑" panose="020B0503020204020204" pitchFamily="34" charset="-122"/>
                <a:ea typeface="微软雅黑" panose="020B0503020204020204" pitchFamily="34" charset="-122"/>
              </a:rPr>
              <a:t>步骤</a:t>
            </a:r>
            <a:r>
              <a:rPr lang="zh-CN" altLang="en-US" sz="2400" b="1" dirty="0">
                <a:solidFill>
                  <a:srgbClr val="660033"/>
                </a:solidFill>
                <a:latin typeface="微软雅黑" panose="020B0503020204020204" pitchFamily="34" charset="-122"/>
                <a:ea typeface="微软雅黑" panose="020B0503020204020204" pitchFamily="34" charset="-122"/>
              </a:rPr>
              <a:t>二：</a:t>
            </a:r>
            <a:r>
              <a:rPr lang="zh-CN" altLang="en-US" sz="2400" dirty="0">
                <a:solidFill>
                  <a:srgbClr val="660033"/>
                </a:solidFill>
                <a:latin typeface="微软雅黑" panose="020B0503020204020204" pitchFamily="34" charset="-122"/>
                <a:ea typeface="微软雅黑" panose="020B0503020204020204" pitchFamily="34" charset="-122"/>
              </a:rPr>
              <a:t>计算异序对个数。由于异序对总数</a:t>
            </a:r>
            <a:r>
              <a:rPr lang="en-US" altLang="zh-CN" sz="2400" dirty="0">
                <a:solidFill>
                  <a:srgbClr val="660033"/>
                </a:solidFill>
                <a:latin typeface="微软雅黑" panose="020B0503020204020204" pitchFamily="34" charset="-122"/>
                <a:ea typeface="微软雅黑" panose="020B0503020204020204" pitchFamily="34" charset="-122"/>
              </a:rPr>
              <a:t>=</a:t>
            </a:r>
            <a:r>
              <a:rPr lang="zh-CN" altLang="en-US" sz="2400" dirty="0">
                <a:solidFill>
                  <a:srgbClr val="660033"/>
                </a:solidFill>
                <a:latin typeface="微软雅黑" panose="020B0503020204020204" pitchFamily="34" charset="-122"/>
                <a:ea typeface="微软雅黑" panose="020B0503020204020204" pitchFamily="34" charset="-122"/>
              </a:rPr>
              <a:t>总对数</a:t>
            </a:r>
            <a:r>
              <a:rPr lang="en-US" altLang="zh-CN" sz="2400" dirty="0">
                <a:solidFill>
                  <a:srgbClr val="660033"/>
                </a:solidFill>
                <a:latin typeface="微软雅黑" panose="020B0503020204020204" pitchFamily="34" charset="-122"/>
                <a:ea typeface="微软雅黑" panose="020B0503020204020204" pitchFamily="34" charset="-122"/>
              </a:rPr>
              <a:t>-</a:t>
            </a:r>
            <a:r>
              <a:rPr lang="zh-CN" altLang="en-US" sz="2400" dirty="0">
                <a:solidFill>
                  <a:srgbClr val="660033"/>
                </a:solidFill>
                <a:latin typeface="微软雅黑" panose="020B0503020204020204" pitchFamily="34" charset="-122"/>
                <a:ea typeface="微软雅黑" panose="020B0503020204020204" pitchFamily="34" charset="-122"/>
              </a:rPr>
              <a:t>同序对总数，且总对数为</a:t>
            </a:r>
            <a:r>
              <a:rPr lang="en-US" altLang="zh-CN" sz="2400" dirty="0">
                <a:solidFill>
                  <a:srgbClr val="660033"/>
                </a:solidFill>
                <a:latin typeface="微软雅黑" panose="020B0503020204020204" pitchFamily="34" charset="-122"/>
                <a:ea typeface="微软雅黑" panose="020B0503020204020204" pitchFamily="34" charset="-122"/>
              </a:rPr>
              <a:t>7+6+5+4+3+2+1=28</a:t>
            </a:r>
            <a:r>
              <a:rPr lang="zh-CN" altLang="en-US" sz="2400" dirty="0">
                <a:solidFill>
                  <a:srgbClr val="660033"/>
                </a:solidFill>
                <a:latin typeface="微软雅黑" panose="020B0503020204020204" pitchFamily="34" charset="-122"/>
                <a:ea typeface="微软雅黑" panose="020B0503020204020204" pitchFamily="34" charset="-122"/>
              </a:rPr>
              <a:t>。因此，异序对总数为</a:t>
            </a:r>
            <a:r>
              <a:rPr lang="en-US" altLang="zh-CN" sz="2400" dirty="0">
                <a:solidFill>
                  <a:srgbClr val="660033"/>
                </a:solidFill>
                <a:latin typeface="微软雅黑" panose="020B0503020204020204" pitchFamily="34" charset="-122"/>
                <a:ea typeface="微软雅黑" panose="020B0503020204020204" pitchFamily="34" charset="-122"/>
              </a:rPr>
              <a:t>6</a:t>
            </a:r>
            <a:r>
              <a:rPr lang="zh-CN" altLang="en-US" sz="2400" dirty="0">
                <a:solidFill>
                  <a:srgbClr val="660033"/>
                </a:solidFill>
                <a:latin typeface="微软雅黑" panose="020B0503020204020204" pitchFamily="34" charset="-122"/>
                <a:ea typeface="微软雅黑" panose="020B0503020204020204" pitchFamily="34" charset="-122"/>
              </a:rPr>
              <a:t>。</a:t>
            </a:r>
            <a:endParaRPr lang="zh-CN" altLang="en-US" sz="2400" dirty="0">
              <a:solidFill>
                <a:srgbClr val="660033"/>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zh-CN" altLang="en-US" sz="2400" dirty="0">
              <a:solidFill>
                <a:srgbClr val="660033"/>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endParaRPr>
          </a:p>
        </p:txBody>
      </p:sp>
      <p:sp>
        <p:nvSpPr>
          <p:cNvPr id="9" name="文本框 8"/>
          <p:cNvSpPr txBox="1"/>
          <p:nvPr/>
        </p:nvSpPr>
        <p:spPr>
          <a:xfrm>
            <a:off x="1318260" y="6966585"/>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pic>
        <p:nvPicPr>
          <p:cNvPr id="8" name="图片 7"/>
          <p:cNvPicPr>
            <a:picLocks noChangeAspect="1"/>
          </p:cNvPicPr>
          <p:nvPr/>
        </p:nvPicPr>
        <p:blipFill>
          <a:blip r:embed="rId1"/>
          <a:stretch>
            <a:fillRect/>
          </a:stretch>
        </p:blipFill>
        <p:spPr>
          <a:xfrm>
            <a:off x="577850" y="2020570"/>
            <a:ext cx="11036300" cy="18649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1413827"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21" name="文本框 20"/>
          <p:cNvSpPr txBox="1"/>
          <p:nvPr/>
        </p:nvSpPr>
        <p:spPr>
          <a:xfrm>
            <a:off x="359410" y="3885565"/>
            <a:ext cx="11375390" cy="568960"/>
          </a:xfrm>
          <a:prstGeom prst="rect">
            <a:avLst/>
          </a:prstGeom>
          <a:noFill/>
        </p:spPr>
        <p:txBody>
          <a:bodyPr wrap="square">
            <a:noAutofit/>
          </a:bodyPr>
          <a:p>
            <a:pPr marL="342900" indent="-342900">
              <a:buFont typeface="Arial" panose="020B0604020202020204" pitchFamily="34" charset="0"/>
              <a:buChar char="•"/>
            </a:pPr>
            <a:r>
              <a:rPr lang="zh-CN" altLang="en-US" sz="2400" b="1" dirty="0">
                <a:solidFill>
                  <a:srgbClr val="660033"/>
                </a:solidFill>
                <a:latin typeface="微软雅黑" panose="020B0503020204020204" pitchFamily="34" charset="-122"/>
                <a:ea typeface="微软雅黑" panose="020B0503020204020204" pitchFamily="34" charset="-122"/>
              </a:rPr>
              <a:t>步骤</a:t>
            </a:r>
            <a:r>
              <a:rPr lang="zh-CN" altLang="en-US" sz="2400" b="1" dirty="0">
                <a:solidFill>
                  <a:srgbClr val="660033"/>
                </a:solidFill>
                <a:latin typeface="微软雅黑" panose="020B0503020204020204" pitchFamily="34" charset="-122"/>
                <a:ea typeface="微软雅黑" panose="020B0503020204020204" pitchFamily="34" charset="-122"/>
              </a:rPr>
              <a:t>三：</a:t>
            </a:r>
            <a:r>
              <a:rPr lang="zh-CN" altLang="en-US" sz="2400" dirty="0">
                <a:solidFill>
                  <a:srgbClr val="660033"/>
                </a:solidFill>
                <a:latin typeface="微软雅黑" panose="020B0503020204020204" pitchFamily="34" charset="-122"/>
                <a:ea typeface="微软雅黑" panose="020B0503020204020204" pitchFamily="34" charset="-122"/>
              </a:rPr>
              <a:t>将同序对和</a:t>
            </a:r>
            <a:r>
              <a:rPr lang="zh-CN" altLang="en-US" sz="2400" dirty="0">
                <a:solidFill>
                  <a:srgbClr val="660033"/>
                </a:solidFill>
                <a:latin typeface="微软雅黑" panose="020B0503020204020204" pitchFamily="34" charset="-122"/>
                <a:ea typeface="微软雅黑" panose="020B0503020204020204" pitchFamily="34" charset="-122"/>
              </a:rPr>
              <a:t>异序对代入</a:t>
            </a:r>
            <a:r>
              <a:rPr lang="en-US" altLang="zh-CN" sz="2400" dirty="0">
                <a:solidFill>
                  <a:srgbClr val="660033"/>
                </a:solidFill>
                <a:latin typeface="微软雅黑" panose="020B0503020204020204" pitchFamily="34" charset="-122"/>
                <a:ea typeface="微软雅黑" panose="020B0503020204020204" pitchFamily="34" charset="-122"/>
              </a:rPr>
              <a:t>Kendall</a:t>
            </a:r>
            <a:r>
              <a:rPr lang="zh-CN" altLang="en-US" sz="2400" dirty="0">
                <a:solidFill>
                  <a:srgbClr val="660033"/>
                </a:solidFill>
                <a:latin typeface="微软雅黑" panose="020B0503020204020204" pitchFamily="34" charset="-122"/>
                <a:ea typeface="微软雅黑" panose="020B0503020204020204" pitchFamily="34" charset="-122"/>
              </a:rPr>
              <a:t>等级相关系数计算公式求解得到</a:t>
            </a:r>
            <a:endParaRPr lang="zh-CN" altLang="en-US" sz="2400" dirty="0">
              <a:solidFill>
                <a:srgbClr val="660033"/>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zh-CN" altLang="en-US" sz="2400" dirty="0">
              <a:solidFill>
                <a:srgbClr val="660033"/>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endParaRPr>
          </a:p>
        </p:txBody>
      </p:sp>
      <p:sp>
        <p:nvSpPr>
          <p:cNvPr id="9" name="文本框 8"/>
          <p:cNvSpPr txBox="1"/>
          <p:nvPr/>
        </p:nvSpPr>
        <p:spPr>
          <a:xfrm>
            <a:off x="1318260" y="6966585"/>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graphicFrame>
        <p:nvGraphicFramePr>
          <p:cNvPr id="4" name="对象 -2147482474"/>
          <p:cNvGraphicFramePr>
            <a:graphicFrameLocks noChangeAspect="1"/>
          </p:cNvGraphicFramePr>
          <p:nvPr/>
        </p:nvGraphicFramePr>
        <p:xfrm>
          <a:off x="3272155" y="4588510"/>
          <a:ext cx="5291455" cy="659765"/>
        </p:xfrm>
        <a:graphic>
          <a:graphicData uri="http://schemas.openxmlformats.org/presentationml/2006/ole">
            <mc:AlternateContent xmlns:mc="http://schemas.openxmlformats.org/markup-compatibility/2006">
              <mc:Choice xmlns:v="urn:schemas-microsoft-com:vml" Requires="v">
                <p:oleObj spid="_x0000_s3076" name="" r:id="rId1" imgW="1701800" imgH="215900" progId="Equation.DSMT4">
                  <p:embed/>
                </p:oleObj>
              </mc:Choice>
              <mc:Fallback>
                <p:oleObj name="" r:id="rId1" imgW="1701800" imgH="215900" progId="Equation.DSMT4">
                  <p:embed/>
                  <p:pic>
                    <p:nvPicPr>
                      <p:cNvPr id="0" name="图片 3075"/>
                      <p:cNvPicPr/>
                      <p:nvPr/>
                    </p:nvPicPr>
                    <p:blipFill>
                      <a:blip r:embed="rId2"/>
                      <a:stretch>
                        <a:fillRect/>
                      </a:stretch>
                    </p:blipFill>
                    <p:spPr>
                      <a:xfrm>
                        <a:off x="3272155" y="4588510"/>
                        <a:ext cx="5291455" cy="659765"/>
                      </a:xfrm>
                      <a:prstGeom prst="rect">
                        <a:avLst/>
                      </a:prstGeom>
                      <a:noFill/>
                      <a:ln w="38100">
                        <a:noFill/>
                        <a:miter/>
                      </a:ln>
                    </p:spPr>
                  </p:pic>
                </p:oleObj>
              </mc:Fallback>
            </mc:AlternateContent>
          </a:graphicData>
        </a:graphic>
      </p:graphicFrame>
      <p:pic>
        <p:nvPicPr>
          <p:cNvPr id="8" name="图片 7"/>
          <p:cNvPicPr>
            <a:picLocks noChangeAspect="1"/>
          </p:cNvPicPr>
          <p:nvPr/>
        </p:nvPicPr>
        <p:blipFill>
          <a:blip r:embed="rId3"/>
          <a:stretch>
            <a:fillRect/>
          </a:stretch>
        </p:blipFill>
        <p:spPr>
          <a:xfrm>
            <a:off x="577850" y="2020570"/>
            <a:ext cx="11036300" cy="18649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0371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简单线性相关</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1413827"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9" name="文本框 8"/>
          <p:cNvSpPr txBox="1"/>
          <p:nvPr/>
        </p:nvSpPr>
        <p:spPr>
          <a:xfrm>
            <a:off x="1318260" y="6966585"/>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530860" y="1667510"/>
            <a:ext cx="10412730" cy="1217295"/>
          </a:xfrm>
          <a:prstGeom prst="rect">
            <a:avLst/>
          </a:prstGeom>
        </p:spPr>
        <p:txBody>
          <a:bodyPr>
            <a:noAutofit/>
          </a:bodyPr>
          <a:p>
            <a:pPr marL="0" indent="0" algn="just" defTabSz="266700">
              <a:lnSpc>
                <a:spcPct val="125000"/>
              </a:lnSpc>
              <a:spcBef>
                <a:spcPct val="0"/>
              </a:spcBef>
              <a:spcAft>
                <a:spcPct val="0"/>
              </a:spcAft>
            </a:pPr>
            <a:r>
              <a:rPr lang="en-US" altLang="zh-CN" sz="2400">
                <a:latin typeface="微软雅黑" panose="020B0503020204020204" pitchFamily="34" charset="-122"/>
                <a:ea typeface="微软雅黑" panose="020B0503020204020204" pitchFamily="34" charset="-122"/>
              </a:rPr>
              <a:t>Pearson</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Spearman</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Kendall</a:t>
            </a:r>
            <a:r>
              <a:rPr lang="zh-CN" altLang="en-US" sz="2400">
                <a:latin typeface="微软雅黑" panose="020B0503020204020204" pitchFamily="34" charset="-122"/>
                <a:ea typeface="微软雅黑" panose="020B0503020204020204" pitchFamily="34" charset="-122"/>
              </a:rPr>
              <a:t>相关系数，虽然都用于衡量变量间的相关性，但它们适用场景有所不同，</a:t>
            </a:r>
            <a:endParaRPr lang="zh-CN" altLang="en-US" sz="2400">
              <a:latin typeface="微软雅黑" panose="020B0503020204020204" pitchFamily="34" charset="-122"/>
              <a:ea typeface="微软雅黑" panose="020B0503020204020204" pitchFamily="34" charset="-122"/>
            </a:endParaRPr>
          </a:p>
        </p:txBody>
      </p:sp>
      <p:pic>
        <p:nvPicPr>
          <p:cNvPr id="12" name="图片 12" descr="D:/研究生/研一/书稿/相关分析/线性相关系数.png线性相关系数"/>
          <p:cNvPicPr>
            <a:picLocks noChangeAspect="1"/>
          </p:cNvPicPr>
          <p:nvPr/>
        </p:nvPicPr>
        <p:blipFill>
          <a:blip r:embed="rId1"/>
          <a:srcRect t="679" b="679"/>
          <a:stretch>
            <a:fillRect/>
          </a:stretch>
        </p:blipFill>
        <p:spPr>
          <a:xfrm>
            <a:off x="356235" y="2818765"/>
            <a:ext cx="11028045" cy="36264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66787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实践案例：网络直播大数据相关分析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1.3</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1413827"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9" name="文本框 8"/>
          <p:cNvSpPr txBox="1"/>
          <p:nvPr/>
        </p:nvSpPr>
        <p:spPr>
          <a:xfrm>
            <a:off x="1318260" y="6966585"/>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530860" y="1667510"/>
            <a:ext cx="10412730" cy="1217295"/>
          </a:xfrm>
          <a:prstGeom prst="rect">
            <a:avLst/>
          </a:prstGeom>
        </p:spPr>
        <p:txBody>
          <a:bodyPr>
            <a:noAutofit/>
          </a:bodyPr>
          <a:p>
            <a:pPr marL="0" indent="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选取</a:t>
            </a:r>
            <a:r>
              <a:rPr lang="en-US" altLang="zh-CN" sz="2400">
                <a:latin typeface="微软雅黑" panose="020B0503020204020204" pitchFamily="34" charset="-122"/>
                <a:ea typeface="微软雅黑" panose="020B0503020204020204" pitchFamily="34" charset="-122"/>
              </a:rPr>
              <a:t>2019</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6</a:t>
            </a:r>
            <a:r>
              <a:rPr lang="zh-CN" altLang="en-US" sz="2400">
                <a:latin typeface="微软雅黑" panose="020B0503020204020204" pitchFamily="34" charset="-122"/>
                <a:ea typeface="微软雅黑" panose="020B0503020204020204" pitchFamily="34" charset="-122"/>
              </a:rPr>
              <a:t>日</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时至</a:t>
            </a:r>
            <a:r>
              <a:rPr lang="en-US" altLang="zh-CN" sz="2400">
                <a:latin typeface="微软雅黑" panose="020B0503020204020204" pitchFamily="34" charset="-122"/>
                <a:ea typeface="微软雅黑" panose="020B0503020204020204" pitchFamily="34" charset="-122"/>
              </a:rPr>
              <a:t>2019</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16</a:t>
            </a:r>
            <a:r>
              <a:rPr lang="zh-CN" altLang="en-US" sz="2400">
                <a:latin typeface="微软雅黑" panose="020B0503020204020204" pitchFamily="34" charset="-122"/>
                <a:ea typeface="微软雅黑" panose="020B0503020204020204" pitchFamily="34" charset="-122"/>
              </a:rPr>
              <a:t>日</a:t>
            </a:r>
            <a:r>
              <a:rPr lang="en-US" altLang="zh-CN" sz="2400">
                <a:latin typeface="微软雅黑" panose="020B0503020204020204" pitchFamily="34" charset="-122"/>
                <a:ea typeface="微软雅黑" panose="020B0503020204020204" pitchFamily="34" charset="-122"/>
              </a:rPr>
              <a:t>24</a:t>
            </a:r>
            <a:r>
              <a:rPr lang="zh-CN" altLang="en-US" sz="2400">
                <a:latin typeface="微软雅黑" panose="020B0503020204020204" pitchFamily="34" charset="-122"/>
                <a:ea typeface="微软雅黑" panose="020B0503020204020204" pitchFamily="34" charset="-122"/>
              </a:rPr>
              <a:t>时的某直播平台负载时序数据作为样本，详细阐述二元定距变量的相关分析。数据集中包含</a:t>
            </a:r>
            <a:r>
              <a:rPr lang="en-US" altLang="zh-CN" sz="2400">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个字段，分别为时间（</a:t>
            </a:r>
            <a:r>
              <a:rPr lang="en-US" altLang="zh-CN" sz="2400">
                <a:latin typeface="微软雅黑" panose="020B0503020204020204" pitchFamily="34" charset="-122"/>
                <a:ea typeface="微软雅黑" panose="020B0503020204020204" pitchFamily="34" charset="-122"/>
              </a:rPr>
              <a:t>time</a:t>
            </a:r>
            <a:r>
              <a:rPr lang="zh-CN" altLang="en-US" sz="2400">
                <a:latin typeface="微软雅黑" panose="020B0503020204020204" pitchFamily="34" charset="-122"/>
                <a:ea typeface="微软雅黑" panose="020B0503020204020204" pitchFamily="34" charset="-122"/>
              </a:rPr>
              <a:t>）、平台各时段的主播数量（</a:t>
            </a:r>
            <a:r>
              <a:rPr lang="en-US" altLang="zh-CN" sz="2400">
                <a:latin typeface="微软雅黑" panose="020B0503020204020204" pitchFamily="34" charset="-122"/>
                <a:ea typeface="微软雅黑" panose="020B0503020204020204" pitchFamily="34" charset="-122"/>
              </a:rPr>
              <a:t>streamers_count</a:t>
            </a:r>
            <a:r>
              <a:rPr lang="zh-CN" altLang="en-US" sz="2400">
                <a:latin typeface="微软雅黑" panose="020B0503020204020204" pitchFamily="34" charset="-122"/>
                <a:ea typeface="微软雅黑" panose="020B0503020204020204" pitchFamily="34" charset="-122"/>
              </a:rPr>
              <a:t>）和观众数量（</a:t>
            </a:r>
            <a:r>
              <a:rPr lang="en-US" altLang="zh-CN" sz="2400">
                <a:latin typeface="微软雅黑" panose="020B0503020204020204" pitchFamily="34" charset="-122"/>
                <a:ea typeface="微软雅黑" panose="020B0503020204020204" pitchFamily="34" charset="-122"/>
              </a:rPr>
              <a:t>viewers_count</a:t>
            </a:r>
            <a:r>
              <a:rPr lang="zh-CN" altLang="en-US" sz="2400">
                <a:latin typeface="微软雅黑" panose="020B0503020204020204" pitchFamily="34" charset="-122"/>
                <a:ea typeface="微软雅黑" panose="020B0503020204020204" pitchFamily="34" charset="-122"/>
              </a:rPr>
              <a:t>），共计</a:t>
            </a:r>
            <a:r>
              <a:rPr lang="en-US" altLang="zh-CN" sz="2400">
                <a:latin typeface="微软雅黑" panose="020B0503020204020204" pitchFamily="34" charset="-122"/>
                <a:ea typeface="微软雅黑" panose="020B0503020204020204" pitchFamily="34" charset="-122"/>
              </a:rPr>
              <a:t>264</a:t>
            </a:r>
            <a:r>
              <a:rPr lang="zh-CN" altLang="en-US" sz="2400">
                <a:latin typeface="微软雅黑" panose="020B0503020204020204" pitchFamily="34" charset="-122"/>
                <a:ea typeface="微软雅黑" panose="020B0503020204020204" pitchFamily="34" charset="-122"/>
              </a:rPr>
              <a:t>条样本记录。现要研究平台的观众数量和主播数量之间是否存在相关性。</a:t>
            </a:r>
            <a:endParaRPr lang="zh-CN" altLang="en-US" sz="240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645160" y="4397375"/>
            <a:ext cx="10505440" cy="20631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66787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实践案例</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：网络直播大数据相关分析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1.3</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2010727" y="152153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9" name="文本框 8"/>
          <p:cNvSpPr txBox="1"/>
          <p:nvPr/>
        </p:nvSpPr>
        <p:spPr>
          <a:xfrm>
            <a:off x="1318260" y="6966585"/>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308610" y="1667510"/>
            <a:ext cx="11035030" cy="1217295"/>
          </a:xfrm>
          <a:prstGeom prst="rect">
            <a:avLst/>
          </a:prstGeom>
        </p:spPr>
        <p:txBody>
          <a:bodyPr>
            <a:noAutofit/>
          </a:bodyPr>
          <a:p>
            <a:pPr marL="342900" indent="-342900" algn="just" defTabSz="266700">
              <a:lnSpc>
                <a:spcPct val="13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rPr>
              <a:t>数据准备。</a:t>
            </a:r>
            <a:r>
              <a:rPr lang="zh-CN" altLang="en-US" sz="2400">
                <a:latin typeface="微软雅黑" panose="020B0503020204020204" pitchFamily="34" charset="-122"/>
                <a:ea typeface="微软雅黑" panose="020B0503020204020204" pitchFamily="34" charset="-122"/>
              </a:rPr>
              <a:t>使用</a:t>
            </a:r>
            <a:r>
              <a:rPr lang="en-US" altLang="zh-CN" sz="2400">
                <a:latin typeface="微软雅黑" panose="020B0503020204020204" pitchFamily="34" charset="-122"/>
                <a:ea typeface="微软雅黑" panose="020B0503020204020204" pitchFamily="34" charset="-122"/>
              </a:rPr>
              <a:t>pandas</a:t>
            </a:r>
            <a:r>
              <a:rPr lang="zh-CN" altLang="en-US" sz="2400">
                <a:latin typeface="微软雅黑" panose="020B0503020204020204" pitchFamily="34" charset="-122"/>
                <a:ea typeface="微软雅黑" panose="020B0503020204020204" pitchFamily="34" charset="-122"/>
              </a:rPr>
              <a:t>读取数据文件，再从数据中选择最后</a:t>
            </a:r>
            <a:r>
              <a:rPr lang="en-US" altLang="zh-CN" sz="2400">
                <a:latin typeface="微软雅黑" panose="020B0503020204020204" pitchFamily="34" charset="-122"/>
                <a:ea typeface="微软雅黑" panose="020B0503020204020204" pitchFamily="34" charset="-122"/>
              </a:rPr>
              <a:t>24</a:t>
            </a:r>
            <a:r>
              <a:rPr lang="zh-CN" altLang="en-US" sz="2400">
                <a:latin typeface="微软雅黑" panose="020B0503020204020204" pitchFamily="34" charset="-122"/>
                <a:ea typeface="微软雅黑" panose="020B0503020204020204" pitchFamily="34" charset="-122"/>
              </a:rPr>
              <a:t>行，存储在名为</a:t>
            </a:r>
            <a:r>
              <a:rPr lang="en-US" altLang="zh-CN" sz="2400">
                <a:latin typeface="微软雅黑" panose="020B0503020204020204" pitchFamily="34" charset="-122"/>
                <a:ea typeface="微软雅黑" panose="020B0503020204020204" pitchFamily="34" charset="-122"/>
              </a:rPr>
              <a:t>df1</a:t>
            </a:r>
            <a:r>
              <a:rPr lang="zh-CN" altLang="en-US" sz="2400">
                <a:latin typeface="微软雅黑" panose="020B0503020204020204" pitchFamily="34" charset="-122"/>
                <a:ea typeface="微软雅黑" panose="020B0503020204020204" pitchFamily="34" charset="-122"/>
              </a:rPr>
              <a:t>的</a:t>
            </a:r>
            <a:r>
              <a:rPr lang="en-US" altLang="zh-CN" sz="2400">
                <a:latin typeface="微软雅黑" panose="020B0503020204020204" pitchFamily="34" charset="-122"/>
                <a:ea typeface="微软雅黑" panose="020B0503020204020204" pitchFamily="34" charset="-122"/>
              </a:rPr>
              <a:t>DataFrame</a:t>
            </a:r>
            <a:r>
              <a:rPr lang="zh-CN" altLang="en-US" sz="2400">
                <a:latin typeface="微软雅黑" panose="020B0503020204020204" pitchFamily="34" charset="-122"/>
                <a:ea typeface="微软雅黑" panose="020B0503020204020204" pitchFamily="34" charset="-122"/>
              </a:rPr>
              <a:t>中。</a:t>
            </a: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rPr>
              <a:t>绘制散点图和折线图。</a:t>
            </a:r>
            <a:r>
              <a:rPr lang="zh-CN" altLang="en-US" sz="2400">
                <a:latin typeface="微软雅黑" panose="020B0503020204020204" pitchFamily="34" charset="-122"/>
                <a:ea typeface="微软雅黑" panose="020B0503020204020204" pitchFamily="34" charset="-122"/>
              </a:rPr>
              <a:t>使用</a:t>
            </a:r>
            <a:r>
              <a:rPr lang="en-US" altLang="zh-CN" sz="2400">
                <a:latin typeface="微软雅黑" panose="020B0503020204020204" pitchFamily="34" charset="-122"/>
                <a:ea typeface="微软雅黑" panose="020B0503020204020204" pitchFamily="34" charset="-122"/>
              </a:rPr>
              <a:t>matplotlib</a:t>
            </a:r>
            <a:r>
              <a:rPr lang="zh-CN" altLang="en-US" sz="2400">
                <a:latin typeface="微软雅黑" panose="020B0503020204020204" pitchFamily="34" charset="-122"/>
                <a:ea typeface="微软雅黑" panose="020B0503020204020204" pitchFamily="34" charset="-122"/>
              </a:rPr>
              <a:t>库中的</a:t>
            </a:r>
            <a:r>
              <a:rPr lang="en-US" altLang="zh-CN" sz="2400">
                <a:latin typeface="微软雅黑" panose="020B0503020204020204" pitchFamily="34" charset="-122"/>
                <a:ea typeface="微软雅黑" panose="020B0503020204020204" pitchFamily="34" charset="-122"/>
              </a:rPr>
              <a:t>plt.scatter</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plt.plot</a:t>
            </a:r>
            <a:r>
              <a:rPr lang="zh-CN" altLang="en-US" sz="2400">
                <a:latin typeface="微软雅黑" panose="020B0503020204020204" pitchFamily="34" charset="-122"/>
                <a:ea typeface="微软雅黑" panose="020B0503020204020204" pitchFamily="34" charset="-122"/>
              </a:rPr>
              <a:t>函数分别绘制主播数量和观众数量的散点图和随时间变化的折线图。</a:t>
            </a: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rPr>
              <a:t>计算</a:t>
            </a:r>
            <a:r>
              <a:rPr lang="en-US" altLang="zh-CN" sz="2400" b="1">
                <a:solidFill>
                  <a:srgbClr val="FF0000"/>
                </a:solidFill>
                <a:latin typeface="微软雅黑" panose="020B0503020204020204" pitchFamily="34" charset="-122"/>
                <a:ea typeface="微软雅黑" panose="020B0503020204020204" pitchFamily="34" charset="-122"/>
              </a:rPr>
              <a:t>Pearson</a:t>
            </a:r>
            <a:r>
              <a:rPr lang="zh-CN" altLang="en-US" sz="2400" b="1">
                <a:solidFill>
                  <a:srgbClr val="FF0000"/>
                </a:solidFill>
                <a:latin typeface="微软雅黑" panose="020B0503020204020204" pitchFamily="34" charset="-122"/>
                <a:ea typeface="微软雅黑" panose="020B0503020204020204" pitchFamily="34" charset="-122"/>
              </a:rPr>
              <a:t>相关系数。</a:t>
            </a:r>
            <a:r>
              <a:rPr lang="zh-CN" altLang="en-US" sz="2400">
                <a:latin typeface="微软雅黑" panose="020B0503020204020204" pitchFamily="34" charset="-122"/>
                <a:ea typeface="微软雅黑" panose="020B0503020204020204" pitchFamily="34" charset="-122"/>
              </a:rPr>
              <a:t>在</a:t>
            </a:r>
            <a:r>
              <a:rPr lang="en-US" altLang="zh-CN" sz="2400">
                <a:latin typeface="微软雅黑" panose="020B0503020204020204" pitchFamily="34" charset="-122"/>
                <a:ea typeface="微软雅黑" panose="020B0503020204020204" pitchFamily="34" charset="-122"/>
              </a:rPr>
              <a:t>python</a:t>
            </a:r>
            <a:r>
              <a:rPr lang="zh-CN" altLang="en-US" sz="2400">
                <a:latin typeface="微软雅黑" panose="020B0503020204020204" pitchFamily="34" charset="-122"/>
                <a:ea typeface="微软雅黑" panose="020B0503020204020204" pitchFamily="34" charset="-122"/>
              </a:rPr>
              <a:t>中，可以使用</a:t>
            </a:r>
            <a:r>
              <a:rPr lang="en-US" altLang="zh-CN" sz="2400">
                <a:latin typeface="微软雅黑" panose="020B0503020204020204" pitchFamily="34" charset="-122"/>
                <a:ea typeface="微软雅黑" panose="020B0503020204020204" pitchFamily="34" charset="-122"/>
              </a:rPr>
              <a:t>pandas</a:t>
            </a:r>
            <a:r>
              <a:rPr lang="zh-CN" altLang="en-US" sz="2400">
                <a:latin typeface="微软雅黑" panose="020B0503020204020204" pitchFamily="34" charset="-122"/>
                <a:ea typeface="微软雅黑" panose="020B0503020204020204" pitchFamily="34" charset="-122"/>
              </a:rPr>
              <a:t>库中的</a:t>
            </a:r>
            <a:r>
              <a:rPr lang="en-US" altLang="zh-CN" sz="2400">
                <a:latin typeface="微软雅黑" panose="020B0503020204020204" pitchFamily="34" charset="-122"/>
                <a:ea typeface="微软雅黑" panose="020B0503020204020204" pitchFamily="34" charset="-122"/>
              </a:rPr>
              <a:t>corr</a:t>
            </a:r>
            <a:r>
              <a:rPr lang="zh-CN" altLang="en-US" sz="2400">
                <a:latin typeface="微软雅黑" panose="020B0503020204020204" pitchFamily="34" charset="-122"/>
                <a:ea typeface="微软雅黑" panose="020B0503020204020204" pitchFamily="34" charset="-122"/>
              </a:rPr>
              <a:t>函数计算主播数量和观众数量的</a:t>
            </a:r>
            <a:r>
              <a:rPr lang="en-US" altLang="zh-CN" sz="2400">
                <a:latin typeface="微软雅黑" panose="020B0503020204020204" pitchFamily="34" charset="-122"/>
                <a:ea typeface="微软雅黑" panose="020B0503020204020204" pitchFamily="34" charset="-122"/>
              </a:rPr>
              <a:t>Pearson</a:t>
            </a:r>
            <a:r>
              <a:rPr lang="zh-CN" altLang="en-US" sz="2400">
                <a:latin typeface="微软雅黑" panose="020B0503020204020204" pitchFamily="34" charset="-122"/>
                <a:ea typeface="微软雅黑" panose="020B0503020204020204" pitchFamily="34" charset="-122"/>
              </a:rPr>
              <a:t>相关系数，判断变量间相关性，使用方法如下：</a:t>
            </a:r>
            <a:endParaRPr lang="zh-CN" altLang="en-US" sz="240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609600" y="5109210"/>
            <a:ext cx="11129010" cy="3606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48804"/>
            <a:ext cx="6734498" cy="60039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实践案例</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：网络直播大数据相关分析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1.3</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1413827"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9" name="文本框 8"/>
          <p:cNvSpPr txBox="1"/>
          <p:nvPr/>
        </p:nvSpPr>
        <p:spPr>
          <a:xfrm>
            <a:off x="1318260" y="6966585"/>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236855" y="1667510"/>
            <a:ext cx="10412730" cy="1217295"/>
          </a:xfrm>
          <a:prstGeom prst="rect">
            <a:avLst/>
          </a:prstGeom>
        </p:spPr>
        <p:txBody>
          <a:bodyPr>
            <a:noAutofit/>
          </a:bodyPr>
          <a:p>
            <a:pPr marL="0" indent="0" algn="just" defTabSz="266700">
              <a:lnSpc>
                <a:spcPct val="125000"/>
              </a:lnSpc>
              <a:spcBef>
                <a:spcPct val="0"/>
              </a:spcBef>
              <a:spcAft>
                <a:spcPct val="0"/>
              </a:spcAft>
            </a:pPr>
            <a:endParaRPr lang="zh-CN" altLang="en-US" sz="240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87630" y="1574165"/>
            <a:ext cx="6313805" cy="5180965"/>
          </a:xfrm>
          <a:prstGeom prst="rect">
            <a:avLst/>
          </a:prstGeom>
        </p:spPr>
      </p:pic>
      <p:sp>
        <p:nvSpPr>
          <p:cNvPr id="13" name="文本框 12"/>
          <p:cNvSpPr txBox="1"/>
          <p:nvPr/>
        </p:nvSpPr>
        <p:spPr>
          <a:xfrm>
            <a:off x="6492875" y="1852930"/>
            <a:ext cx="5626735" cy="2908300"/>
          </a:xfrm>
          <a:prstGeom prst="rect">
            <a:avLst/>
          </a:prstGeom>
          <a:solidFill>
            <a:schemeClr val="bg2"/>
          </a:solidFill>
        </p:spPr>
        <p:txBody>
          <a:bodyPr wrap="square">
            <a:noAutofit/>
          </a:bodyPr>
          <a:lstStyle>
            <a:defPPr>
              <a:defRPr lang="en-US"/>
            </a:defPPr>
            <a:lvl1pPr>
              <a:defRPr b="1">
                <a:solidFill>
                  <a:srgbClr val="C0504D"/>
                </a:solidFill>
                <a:latin typeface="+mn-ea"/>
              </a:defRPr>
            </a:lvl1pPr>
          </a:lstStyle>
          <a:p>
            <a:pPr algn="l">
              <a:lnSpc>
                <a:spcPct val="110000"/>
              </a:lnSpc>
              <a:buClrTx/>
              <a:buSzTx/>
              <a:buFontTx/>
            </a:pPr>
            <a:r>
              <a:rPr lang="zh-CN" altLang="zh-CN" sz="2400" dirty="0"/>
              <a:t>输出结果:</a:t>
            </a:r>
            <a:endParaRPr lang="en-US" altLang="zh-CN" sz="2400" dirty="0"/>
          </a:p>
          <a:p>
            <a:pPr algn="l">
              <a:lnSpc>
                <a:spcPct val="110000"/>
              </a:lnSpc>
              <a:buClrTx/>
              <a:buSzTx/>
              <a:buFontTx/>
            </a:pPr>
            <a:r>
              <a:rPr lang="en-US" altLang="zh-CN" sz="2000" dirty="0"/>
              <a:t>Pearson</a:t>
            </a:r>
            <a:r>
              <a:rPr lang="zh-CN" altLang="en-US" sz="2000" dirty="0"/>
              <a:t>相关系数：</a:t>
            </a:r>
            <a:r>
              <a:rPr lang="zh-CN" altLang="zh-CN" sz="2000" dirty="0">
                <a:sym typeface="+mn-ea"/>
              </a:rPr>
              <a:t>0.9526739143065315</a:t>
            </a:r>
            <a:endParaRPr lang="zh-CN" altLang="zh-CN" sz="2000" dirty="0"/>
          </a:p>
          <a:p>
            <a:endParaRPr lang="zh-CN" altLang="zh-CN" sz="2000" dirty="0"/>
          </a:p>
        </p:txBody>
      </p:sp>
      <p:pic>
        <p:nvPicPr>
          <p:cNvPr id="14" name="图片 5" descr="D:/研究生/研一/书稿/相关分析/流量图.png流量图"/>
          <p:cNvPicPr>
            <a:picLocks noChangeAspect="1"/>
          </p:cNvPicPr>
          <p:nvPr/>
        </p:nvPicPr>
        <p:blipFill>
          <a:blip r:embed="rId2"/>
          <a:srcRect t="14" b="14"/>
          <a:stretch>
            <a:fillRect/>
          </a:stretch>
        </p:blipFill>
        <p:spPr>
          <a:xfrm>
            <a:off x="6558280" y="2701925"/>
            <a:ext cx="5495290" cy="1938020"/>
          </a:xfrm>
          <a:prstGeom prst="rect">
            <a:avLst/>
          </a:prstGeom>
        </p:spPr>
      </p:pic>
      <p:sp>
        <p:nvSpPr>
          <p:cNvPr id="15" name="文本框 14"/>
          <p:cNvSpPr txBox="1"/>
          <p:nvPr/>
        </p:nvSpPr>
        <p:spPr>
          <a:xfrm>
            <a:off x="6558280" y="5043805"/>
            <a:ext cx="5384165" cy="1381125"/>
          </a:xfrm>
          <a:prstGeom prst="rect">
            <a:avLst/>
          </a:prstGeom>
        </p:spPr>
        <p:txBody>
          <a:bodyPr wrap="square">
            <a:spAutoFit/>
          </a:bodyPr>
          <a:p>
            <a:pPr marL="0" indent="0" algn="just" defTabSz="266700">
              <a:lnSpc>
                <a:spcPct val="105000"/>
              </a:lnSpc>
              <a:spcBef>
                <a:spcPct val="0"/>
              </a:spcBef>
              <a:spcAft>
                <a:spcPct val="0"/>
              </a:spcAft>
            </a:pPr>
            <a:r>
              <a:rPr lang="zh-CN" altLang="en-US" sz="2000">
                <a:solidFill>
                  <a:srgbClr val="00B0F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主播数量和观众数量的散点图大致呈直线，并且折线图呈现出极强的正相关性。二者几乎在同一时间到达峰值，随着主播数量增加，观众数量也相应增加，反之亦然。</a:t>
            </a:r>
            <a:endParaRPr lang="zh-CN" altLang="en-US" sz="2000">
              <a:solidFill>
                <a:srgbClr val="00B0F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66787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实践案例：亚马逊评论数据相关分析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1.4</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1413827"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9" name="文本框 8"/>
          <p:cNvSpPr txBox="1"/>
          <p:nvPr/>
        </p:nvSpPr>
        <p:spPr>
          <a:xfrm>
            <a:off x="1318260" y="6966585"/>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236855" y="1667510"/>
            <a:ext cx="3702050" cy="1376680"/>
          </a:xfrm>
          <a:prstGeom prst="rect">
            <a:avLst/>
          </a:prstGeom>
        </p:spPr>
        <p:txBody>
          <a:bodyPr>
            <a:noAutofit/>
          </a:bodyPr>
          <a:p>
            <a:pPr marL="0" indent="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亚马逊评论数据集包含了用户对不同商品的评价、评论以及商品的相关信息（如商品类别、价格、品牌等），可以用于分析用户对于商品的偏好和需求，评估商品的质量和口碑，以及预测商品的销售情况和趋势。</a:t>
            </a:r>
            <a:endParaRPr lang="zh-CN" altLang="en-US" sz="240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4237355" y="3561715"/>
            <a:ext cx="7658100" cy="3483610"/>
          </a:xfrm>
          <a:prstGeom prst="rect">
            <a:avLst/>
          </a:prstGeom>
        </p:spPr>
      </p:pic>
      <p:pic>
        <p:nvPicPr>
          <p:cNvPr id="11" name="图片 10"/>
          <p:cNvPicPr>
            <a:picLocks noChangeAspect="1"/>
          </p:cNvPicPr>
          <p:nvPr/>
        </p:nvPicPr>
        <p:blipFill>
          <a:blip r:embed="rId2"/>
          <a:stretch>
            <a:fillRect/>
          </a:stretch>
        </p:blipFill>
        <p:spPr>
          <a:xfrm>
            <a:off x="4237355" y="1717675"/>
            <a:ext cx="7442200" cy="19970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66787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实践案例：亚马逊评论数据相关分析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1.4</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1413827"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9" name="文本框 8"/>
          <p:cNvSpPr txBox="1"/>
          <p:nvPr/>
        </p:nvSpPr>
        <p:spPr>
          <a:xfrm>
            <a:off x="1318260" y="6966585"/>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236855" y="1667510"/>
            <a:ext cx="11358245" cy="1376680"/>
          </a:xfrm>
          <a:prstGeom prst="rect">
            <a:avLst/>
          </a:prstGeom>
        </p:spPr>
        <p:txBody>
          <a:bodyPr>
            <a:noAutofit/>
          </a:bodyPr>
          <a:p>
            <a:pPr marL="342900" indent="-342900" algn="just" defTabSz="266700">
              <a:lnSpc>
                <a:spcPct val="13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rPr>
              <a:t>数据预处理。</a:t>
            </a:r>
            <a:r>
              <a:rPr lang="zh-CN" altLang="en-US" sz="2400">
                <a:latin typeface="微软雅黑" panose="020B0503020204020204" pitchFamily="34" charset="-122"/>
                <a:ea typeface="微软雅黑" panose="020B0503020204020204" pitchFamily="34" charset="-122"/>
              </a:rPr>
              <a:t>导入数据后使用</a:t>
            </a:r>
            <a:r>
              <a:rPr lang="en-US" altLang="zh-CN" sz="2400">
                <a:latin typeface="微软雅黑" panose="020B0503020204020204" pitchFamily="34" charset="-122"/>
                <a:ea typeface="微软雅黑" panose="020B0503020204020204" pitchFamily="34" charset="-122"/>
              </a:rPr>
              <a:t>lambda</a:t>
            </a:r>
            <a:r>
              <a:rPr lang="zh-CN" altLang="en-US" sz="2400">
                <a:latin typeface="微软雅黑" panose="020B0503020204020204" pitchFamily="34" charset="-122"/>
                <a:ea typeface="微软雅黑" panose="020B0503020204020204" pitchFamily="34" charset="-122"/>
              </a:rPr>
              <a:t>函数和</a:t>
            </a:r>
            <a:r>
              <a:rPr lang="en-US" altLang="zh-CN" sz="2400">
                <a:latin typeface="微软雅黑" panose="020B0503020204020204" pitchFamily="34" charset="-122"/>
                <a:ea typeface="微软雅黑" panose="020B0503020204020204" pitchFamily="34" charset="-122"/>
              </a:rPr>
              <a:t>apply</a:t>
            </a:r>
            <a:r>
              <a:rPr lang="zh-CN" altLang="en-US" sz="2400">
                <a:latin typeface="微软雅黑" panose="020B0503020204020204" pitchFamily="34" charset="-122"/>
                <a:ea typeface="微软雅黑" panose="020B0503020204020204" pitchFamily="34" charset="-122"/>
              </a:rPr>
              <a:t>方法，将亚马逊评论数据集中的</a:t>
            </a:r>
            <a:r>
              <a:rPr lang="en-US" altLang="zh-CN" sz="2400">
                <a:latin typeface="微软雅黑" panose="020B0503020204020204" pitchFamily="34" charset="-122"/>
                <a:ea typeface="微软雅黑" panose="020B0503020204020204" pitchFamily="34" charset="-122"/>
              </a:rPr>
              <a:t>star_rating</a:t>
            </a:r>
            <a:r>
              <a:rPr lang="zh-CN" altLang="en-US" sz="2400">
                <a:latin typeface="微软雅黑" panose="020B0503020204020204" pitchFamily="34" charset="-122"/>
                <a:ea typeface="微软雅黑" panose="020B0503020204020204" pitchFamily="34" charset="-122"/>
              </a:rPr>
              <a:t>星级评分进行逻辑判断并转换为定序数据</a:t>
            </a:r>
            <a:r>
              <a:rPr lang="en-US" altLang="zh-CN" sz="2400">
                <a:latin typeface="微软雅黑" panose="020B0503020204020204" pitchFamily="34" charset="-122"/>
                <a:ea typeface="微软雅黑" panose="020B0503020204020204" pitchFamily="34" charset="-122"/>
              </a:rPr>
              <a:t>ordinal_rating</a:t>
            </a:r>
            <a:r>
              <a:rPr lang="zh-CN" altLang="en-US" sz="2400">
                <a:latin typeface="微软雅黑" panose="020B0503020204020204" pitchFamily="34" charset="-122"/>
                <a:ea typeface="微软雅黑" panose="020B0503020204020204" pitchFamily="34" charset="-122"/>
              </a:rPr>
              <a:t>，具体为：将</a:t>
            </a:r>
            <a:r>
              <a:rPr lang="en-US" altLang="zh-CN" sz="2400">
                <a:latin typeface="微软雅黑" panose="020B0503020204020204" pitchFamily="34" charset="-122"/>
                <a:ea typeface="微软雅黑" panose="020B0503020204020204" pitchFamily="34" charset="-122"/>
              </a:rPr>
              <a:t>1-2</a:t>
            </a:r>
            <a:r>
              <a:rPr lang="zh-CN" altLang="en-US" sz="2400">
                <a:latin typeface="微软雅黑" panose="020B0503020204020204" pitchFamily="34" charset="-122"/>
                <a:ea typeface="微软雅黑" panose="020B0503020204020204" pitchFamily="34" charset="-122"/>
              </a:rPr>
              <a:t>星评分设为</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星评分设为</a:t>
            </a:r>
            <a:r>
              <a:rPr lang="en-US" altLang="zh-CN" sz="2400">
                <a:latin typeface="微软雅黑" panose="020B0503020204020204" pitchFamily="34" charset="-122"/>
                <a:ea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4-5</a:t>
            </a:r>
            <a:r>
              <a:rPr lang="zh-CN" altLang="en-US" sz="2400">
                <a:latin typeface="微软雅黑" panose="020B0503020204020204" pitchFamily="34" charset="-122"/>
                <a:ea typeface="微软雅黑" panose="020B0503020204020204" pitchFamily="34" charset="-122"/>
              </a:rPr>
              <a:t>星评分设为</a:t>
            </a:r>
            <a:r>
              <a:rPr lang="en-US" altLang="zh-CN" sz="2400">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a:t>
            </a: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rPr>
              <a:t>计算相关系数。</a:t>
            </a:r>
            <a:r>
              <a:rPr lang="zh-CN" altLang="en-US" sz="2400">
                <a:latin typeface="微软雅黑" panose="020B0503020204020204" pitchFamily="34" charset="-122"/>
                <a:ea typeface="微软雅黑" panose="020B0503020204020204" pitchFamily="34" charset="-122"/>
              </a:rPr>
              <a:t>使用来自</a:t>
            </a:r>
            <a:r>
              <a:rPr lang="en-US" altLang="zh-CN" sz="2400">
                <a:latin typeface="微软雅黑" panose="020B0503020204020204" pitchFamily="34" charset="-122"/>
                <a:ea typeface="微软雅黑" panose="020B0503020204020204" pitchFamily="34" charset="-122"/>
              </a:rPr>
              <a:t>scipy.stats</a:t>
            </a:r>
            <a:r>
              <a:rPr lang="zh-CN" altLang="en-US" sz="2400">
                <a:latin typeface="微软雅黑" panose="020B0503020204020204" pitchFamily="34" charset="-122"/>
                <a:ea typeface="微软雅黑" panose="020B0503020204020204" pitchFamily="34" charset="-122"/>
              </a:rPr>
              <a:t>库的统计函数</a:t>
            </a:r>
            <a:r>
              <a:rPr lang="en-US" altLang="zh-CN" sz="2400">
                <a:latin typeface="微软雅黑" panose="020B0503020204020204" pitchFamily="34" charset="-122"/>
                <a:ea typeface="微软雅黑" panose="020B0503020204020204" pitchFamily="34" charset="-122"/>
              </a:rPr>
              <a:t>kendalltau</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spearmanr</a:t>
            </a:r>
            <a:r>
              <a:rPr lang="zh-CN" altLang="en-US" sz="2400">
                <a:latin typeface="微软雅黑" panose="020B0503020204020204" pitchFamily="34" charset="-122"/>
                <a:ea typeface="微软雅黑" panose="020B0503020204020204" pitchFamily="34" charset="-122"/>
              </a:rPr>
              <a:t>计算</a:t>
            </a:r>
            <a:r>
              <a:rPr lang="en-US" altLang="zh-CN" sz="2400">
                <a:latin typeface="微软雅黑" panose="020B0503020204020204" pitchFamily="34" charset="-122"/>
                <a:ea typeface="微软雅黑" panose="020B0503020204020204" pitchFamily="34" charset="-122"/>
              </a:rPr>
              <a:t>ordinal_rating</a:t>
            </a:r>
            <a:r>
              <a:rPr lang="zh-CN" altLang="en-US" sz="2400">
                <a:latin typeface="微软雅黑" panose="020B0503020204020204" pitchFamily="34" charset="-122"/>
                <a:ea typeface="微软雅黑" panose="020B0503020204020204" pitchFamily="34" charset="-122"/>
              </a:rPr>
              <a:t>与</a:t>
            </a:r>
            <a:r>
              <a:rPr lang="en-US" altLang="zh-CN" sz="2400">
                <a:latin typeface="微软雅黑" panose="020B0503020204020204" pitchFamily="34" charset="-122"/>
                <a:ea typeface="微软雅黑" panose="020B0503020204020204" pitchFamily="34" charset="-122"/>
              </a:rPr>
              <a:t>helpful_votes</a:t>
            </a:r>
            <a:r>
              <a:rPr lang="zh-CN" altLang="en-US" sz="2400">
                <a:latin typeface="微软雅黑" panose="020B0503020204020204" pitchFamily="34" charset="-122"/>
                <a:ea typeface="微软雅黑" panose="020B0503020204020204" pitchFamily="34" charset="-122"/>
              </a:rPr>
              <a:t>之间的</a:t>
            </a:r>
            <a:r>
              <a:rPr lang="en-US" altLang="zh-CN" sz="2400">
                <a:latin typeface="微软雅黑" panose="020B0503020204020204" pitchFamily="34" charset="-122"/>
                <a:ea typeface="微软雅黑" panose="020B0503020204020204" pitchFamily="34" charset="-122"/>
              </a:rPr>
              <a:t>Spearman</a:t>
            </a:r>
            <a:r>
              <a:rPr lang="zh-CN" altLang="en-US" sz="2400">
                <a:latin typeface="微软雅黑" panose="020B0503020204020204" pitchFamily="34" charset="-122"/>
                <a:ea typeface="微软雅黑" panose="020B0503020204020204" pitchFamily="34" charset="-122"/>
              </a:rPr>
              <a:t>秩相关系数和</a:t>
            </a:r>
            <a:r>
              <a:rPr lang="en-US" altLang="zh-CN" sz="2400">
                <a:latin typeface="微软雅黑" panose="020B0503020204020204" pitchFamily="34" charset="-122"/>
                <a:ea typeface="微软雅黑" panose="020B0503020204020204" pitchFamily="34" charset="-122"/>
              </a:rPr>
              <a:t>Kendall</a:t>
            </a:r>
            <a:r>
              <a:rPr lang="zh-CN" altLang="en-US" sz="2400">
                <a:latin typeface="微软雅黑" panose="020B0503020204020204" pitchFamily="34" charset="-122"/>
                <a:ea typeface="微软雅黑" panose="020B0503020204020204" pitchFamily="34" charset="-122"/>
              </a:rPr>
              <a:t>等级相关系数，使用方法如下：</a:t>
            </a:r>
            <a:endParaRPr lang="zh-CN" altLang="en-US" sz="240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352425" y="4870450"/>
            <a:ext cx="11487150" cy="6781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一、线性相关</a:t>
            </a:r>
            <a:r>
              <a:rPr lang="zh-CN" altLang="en-US" sz="3200" dirty="0">
                <a:solidFill>
                  <a:srgbClr val="FFFF00"/>
                </a:solidFill>
                <a:latin typeface="华光综艺_CNKI" panose="02000500000000000000" pitchFamily="2" charset="-122"/>
                <a:ea typeface="华光综艺_CNKI" panose="02000500000000000000" pitchFamily="2" charset="-122"/>
              </a:rPr>
              <a:t>分析</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5520" y="976670"/>
            <a:ext cx="66787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实践案例：亚马逊评论数据相关分析</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1.4</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6" name="文本框 5"/>
          <p:cNvSpPr txBox="1"/>
          <p:nvPr/>
        </p:nvSpPr>
        <p:spPr>
          <a:xfrm>
            <a:off x="1413827"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9" name="文本框 8"/>
          <p:cNvSpPr txBox="1"/>
          <p:nvPr/>
        </p:nvSpPr>
        <p:spPr>
          <a:xfrm>
            <a:off x="1318260" y="6966585"/>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236855" y="1617980"/>
            <a:ext cx="11358245" cy="1376680"/>
          </a:xfrm>
          <a:prstGeom prst="rect">
            <a:avLst/>
          </a:prstGeom>
        </p:spPr>
        <p:txBody>
          <a:bodyPr>
            <a:noAutofit/>
          </a:bodyPr>
          <a:p>
            <a:pPr indent="0" algn="just" defTabSz="266700">
              <a:lnSpc>
                <a:spcPct val="125000"/>
              </a:lnSpc>
              <a:spcBef>
                <a:spcPct val="0"/>
              </a:spcBef>
              <a:spcAft>
                <a:spcPct val="0"/>
              </a:spcAft>
              <a:buFont typeface="Arial" panose="020B0604020202020204" pitchFamily="34" charset="0"/>
              <a:buNone/>
            </a:pPr>
            <a:r>
              <a:rPr lang="zh-CN" altLang="en-US" sz="2400" b="1">
                <a:solidFill>
                  <a:srgbClr val="FF0000"/>
                </a:solidFill>
                <a:latin typeface="微软雅黑" panose="020B0503020204020204" pitchFamily="34" charset="-122"/>
                <a:ea typeface="微软雅黑" panose="020B0503020204020204" pitchFamily="34" charset="-122"/>
              </a:rPr>
              <a:t>完整代码和</a:t>
            </a:r>
            <a:r>
              <a:rPr lang="zh-CN" altLang="en-US" sz="2400" b="1">
                <a:solidFill>
                  <a:srgbClr val="FF0000"/>
                </a:solidFill>
                <a:latin typeface="微软雅黑" panose="020B0503020204020204" pitchFamily="34" charset="-122"/>
                <a:ea typeface="微软雅黑" panose="020B0503020204020204" pitchFamily="34" charset="-122"/>
              </a:rPr>
              <a:t>输出结果：</a:t>
            </a:r>
            <a:endParaRPr lang="zh-CN" altLang="en-US" sz="2400" b="1">
              <a:solidFill>
                <a:srgbClr val="FF0000"/>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314960" y="2195830"/>
            <a:ext cx="8641080" cy="3258185"/>
          </a:xfrm>
          <a:prstGeom prst="rect">
            <a:avLst/>
          </a:prstGeom>
        </p:spPr>
      </p:pic>
      <p:pic>
        <p:nvPicPr>
          <p:cNvPr id="10" name="图片 9"/>
          <p:cNvPicPr>
            <a:picLocks noChangeAspect="1"/>
          </p:cNvPicPr>
          <p:nvPr/>
        </p:nvPicPr>
        <p:blipFill>
          <a:blip r:embed="rId2"/>
          <a:stretch>
            <a:fillRect/>
          </a:stretch>
        </p:blipFill>
        <p:spPr>
          <a:xfrm>
            <a:off x="315595" y="5524500"/>
            <a:ext cx="8640445" cy="1371600"/>
          </a:xfrm>
          <a:prstGeom prst="rect">
            <a:avLst/>
          </a:prstGeom>
        </p:spPr>
      </p:pic>
      <p:sp>
        <p:nvSpPr>
          <p:cNvPr id="11" name="文本框 10"/>
          <p:cNvSpPr txBox="1"/>
          <p:nvPr/>
        </p:nvSpPr>
        <p:spPr>
          <a:xfrm>
            <a:off x="9140190" y="3248660"/>
            <a:ext cx="2827655" cy="2606675"/>
          </a:xfrm>
          <a:prstGeom prst="rect">
            <a:avLst/>
          </a:prstGeom>
          <a:noFill/>
          <a:effectLst/>
        </p:spPr>
        <p:txBody>
          <a:bodyPr wrap="square" rtlCol="0" anchor="t">
            <a:noAutofit/>
          </a:bodyPr>
          <a:p>
            <a:r>
              <a:rPr lang="en-US" altLang="zh-CN"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Kendall</a:t>
            </a:r>
            <a:r>
              <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相关系数的值比</a:t>
            </a:r>
            <a:r>
              <a:rPr lang="en-US" altLang="zh-CN"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Spearman</a:t>
            </a:r>
            <a:r>
              <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相关系数更高，说明</a:t>
            </a:r>
            <a:r>
              <a:rPr lang="zh-CN" altLang="en-US" sz="2400">
                <a:solidFill>
                  <a:srgbClr val="C0504D"/>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商品评分和评论的有用程度</a:t>
            </a:r>
            <a:r>
              <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之间的顺序关系更加明显，</a:t>
            </a:r>
            <a:r>
              <a:rPr lang="zh-CN" altLang="en-US" sz="2400">
                <a:solidFill>
                  <a:srgbClr val="C0504D"/>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等级关系更强</a:t>
            </a:r>
            <a:r>
              <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a:t>
            </a:r>
            <a:endPar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tags/tag1.xml><?xml version="1.0" encoding="utf-8"?>
<p:tagLst xmlns:p="http://schemas.openxmlformats.org/presentationml/2006/main">
  <p:tag name="TABLE_ENDDRAG_ORIGIN_RECT" val="819*218"/>
  <p:tag name="TABLE_ENDDRAG_RECT" val="78*246*819*218"/>
</p:tagLst>
</file>

<file path=ppt/tags/tag2.xml><?xml version="1.0" encoding="utf-8"?>
<p:tagLst xmlns:p="http://schemas.openxmlformats.org/presentationml/2006/main">
  <p:tag name="TABLE_ENDDRAG_ORIGIN_RECT" val="890*307"/>
  <p:tag name="TABLE_ENDDRAG_RECT" val="36*199*890*307"/>
</p:tagLst>
</file>

<file path=ppt/tags/tag3.xml><?xml version="1.0" encoding="utf-8"?>
<p:tagLst xmlns:p="http://schemas.openxmlformats.org/presentationml/2006/main">
  <p:tag name="KSO_WM_UNIT_PLACING_PICTURE_USER_VIEWPORT" val="{&quot;height&quot;:774,&quot;width&quot;:858}"/>
</p:tagLst>
</file>

<file path=ppt/tags/tag4.xml><?xml version="1.0" encoding="utf-8"?>
<p:tagLst xmlns:p="http://schemas.openxmlformats.org/presentationml/2006/main">
  <p:tag name="KSO_WM_UNIT_PLACING_PICTURE_USER_VIEWPORT" val="{&quot;height&quot;:774,&quot;width&quot;:690}"/>
</p:tagLst>
</file>

<file path=ppt/tags/tag5.xml><?xml version="1.0" encoding="utf-8"?>
<p:tagLst xmlns:p="http://schemas.openxmlformats.org/presentationml/2006/main">
  <p:tag name="KSO_WM_UNIT_PLACING_PICTURE_USER_VIEWPORT" val="{&quot;height&quot;:991,&quot;width&quot;:773}"/>
</p:tagLst>
</file>

<file path=ppt/tags/tag6.xml><?xml version="1.0" encoding="utf-8"?>
<p:tagLst xmlns:p="http://schemas.openxmlformats.org/presentationml/2006/main">
  <p:tag name="KSO_WM_UNIT_PLACING_PICTURE_USER_VIEWPORT" val="{&quot;height&quot;:774,&quot;width&quot;:690}"/>
</p:tagLst>
</file>

<file path=ppt/tags/tag7.xml><?xml version="1.0" encoding="utf-8"?>
<p:tagLst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3521</Words>
  <Application>WPS 演示</Application>
  <PresentationFormat>宽屏</PresentationFormat>
  <Paragraphs>367</Paragraphs>
  <Slides>29</Slides>
  <Notes>28</Notes>
  <HiddenSlides>0</HiddenSlides>
  <MMClips>0</MMClips>
  <ScaleCrop>false</ScaleCrop>
  <HeadingPairs>
    <vt:vector size="8" baseType="variant">
      <vt:variant>
        <vt:lpstr>已用的字体</vt:lpstr>
      </vt:variant>
      <vt:variant>
        <vt:i4>24</vt:i4>
      </vt:variant>
      <vt:variant>
        <vt:lpstr>主题</vt:lpstr>
      </vt:variant>
      <vt:variant>
        <vt:i4>12</vt:i4>
      </vt:variant>
      <vt:variant>
        <vt:lpstr>嵌入 OLE 服务器</vt:lpstr>
      </vt:variant>
      <vt:variant>
        <vt:i4>14</vt:i4>
      </vt:variant>
      <vt:variant>
        <vt:lpstr>幻灯片标题</vt:lpstr>
      </vt:variant>
      <vt:variant>
        <vt:i4>29</vt:i4>
      </vt:variant>
    </vt:vector>
  </HeadingPairs>
  <TitlesOfParts>
    <vt:vector size="79" baseType="lpstr">
      <vt:lpstr>Arial</vt:lpstr>
      <vt:lpstr>宋体</vt:lpstr>
      <vt:lpstr>Wingdings</vt:lpstr>
      <vt:lpstr>微软雅黑</vt:lpstr>
      <vt:lpstr>华光综艺_CNKI</vt:lpstr>
      <vt:lpstr>Arial</vt:lpstr>
      <vt:lpstr>Times New Roman</vt:lpstr>
      <vt:lpstr>Calibri</vt:lpstr>
      <vt:lpstr>Liberation Sans</vt:lpstr>
      <vt:lpstr>Segoe Print</vt:lpstr>
      <vt:lpstr>思源黑体 CN Bold</vt:lpstr>
      <vt:lpstr>Calibri</vt:lpstr>
      <vt:lpstr>思源黑体</vt:lpstr>
      <vt:lpstr>黑体</vt:lpstr>
      <vt:lpstr>Impact</vt:lpstr>
      <vt:lpstr>华文隶书</vt:lpstr>
      <vt:lpstr>Tw Cen MT</vt:lpstr>
      <vt:lpstr>华文仿宋</vt:lpstr>
      <vt:lpstr>等线</vt:lpstr>
      <vt:lpstr>楷体</vt:lpstr>
      <vt:lpstr>Cambria</vt:lpstr>
      <vt:lpstr>Cambria Math</vt:lpstr>
      <vt:lpstr>Arial Unicode MS</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Equation.DSMT4</vt:lpstr>
      <vt:lpstr>Equation.DSMT4</vt:lpstr>
      <vt:lpstr>Equation.DSMT4</vt:lpstr>
      <vt:lpstr>Equation.DSMT4</vt:lpstr>
      <vt:lpstr>Equation.DSMT4</vt:lpstr>
      <vt:lpstr>Equation.DSMT4</vt:lpstr>
      <vt:lpstr>Visio.Drawing.15</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鄧映华</cp:lastModifiedBy>
  <cp:revision>2913</cp:revision>
  <dcterms:created xsi:type="dcterms:W3CDTF">2022-05-23T09:13:00Z</dcterms:created>
  <dcterms:modified xsi:type="dcterms:W3CDTF">2025-04-17T11:30:30Z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264CD723380F4612A79648ECDB06F369_13</vt:lpwstr>
  </property>
  <property fmtid="{D5CDD505-2E9C-101B-9397-08002B2CF9AE}" pid="3" name="KSOProductBuildVer">
    <vt:lpwstr>2052-12.1.0.20305</vt:lpwstr>
  </property>
</Properties>
</file>