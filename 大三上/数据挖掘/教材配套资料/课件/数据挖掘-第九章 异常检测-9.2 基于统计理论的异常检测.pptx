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2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34"/>
  </p:notesMasterIdLst>
  <p:handoutMasterIdLst>
    <p:handoutMasterId r:id="rId35"/>
  </p:handoutMasterIdLst>
  <p:sldIdLst>
    <p:sldId id="15638" r:id="rId13"/>
    <p:sldId id="15669" r:id="rId14"/>
    <p:sldId id="15771" r:id="rId15"/>
    <p:sldId id="15870" r:id="rId16"/>
    <p:sldId id="15871" r:id="rId17"/>
    <p:sldId id="15772" r:id="rId18"/>
    <p:sldId id="15872" r:id="rId19"/>
    <p:sldId id="15873" r:id="rId20"/>
    <p:sldId id="15874" r:id="rId21"/>
    <p:sldId id="15773" r:id="rId22"/>
    <p:sldId id="15774" r:id="rId23"/>
    <p:sldId id="15875" r:id="rId24"/>
    <p:sldId id="15876" r:id="rId25"/>
    <p:sldId id="15877" r:id="rId26"/>
    <p:sldId id="15850" r:id="rId27"/>
    <p:sldId id="15878" r:id="rId28"/>
    <p:sldId id="15867" r:id="rId29"/>
    <p:sldId id="15868" r:id="rId30"/>
    <p:sldId id="15879" r:id="rId31"/>
    <p:sldId id="15880" r:id="rId32"/>
    <p:sldId id="15502" r:id="rId33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252" userDrawn="1">
          <p15:clr>
            <a:srgbClr val="A4A3A4"/>
          </p15:clr>
        </p15:guide>
        <p15:guide id="5" orient="horz" pos="24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0AA"/>
    <a:srgbClr val="3484FF"/>
    <a:srgbClr val="094DB2"/>
    <a:srgbClr val="FD5C0C"/>
    <a:srgbClr val="FFFFFF"/>
    <a:srgbClr val="0066FF"/>
    <a:srgbClr val="7EA4EE"/>
    <a:srgbClr val="00FF00"/>
    <a:srgbClr val="F6F9FE"/>
    <a:srgbClr val="91C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2" autoAdjust="0"/>
    <p:restoredTop sz="88617" autoAdjust="0"/>
  </p:normalViewPr>
  <p:slideViewPr>
    <p:cSldViewPr snapToGrid="0">
      <p:cViewPr varScale="1">
        <p:scale>
          <a:sx n="94" d="100"/>
          <a:sy n="94" d="100"/>
        </p:scale>
        <p:origin x="726" y="78"/>
      </p:cViewPr>
      <p:guideLst>
        <p:guide pos="2252"/>
        <p:guide orient="horz" pos="24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theme" Target="theme/theme1.xml"/><Relationship Id="rId21" Type="http://schemas.openxmlformats.org/officeDocument/2006/relationships/slide" Target="slides/slide9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handoutMaster" Target="handoutMasters/handoutMaster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/通用格式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plotArea>
      <cx:plotAreaRegion>
        <cx:series layoutId="clusteredColumn" uniqueId="{400891B0-4E5E-418E-AFFA-BED8246E186C}">
          <cx:tx>
            <cx:txData>
              <cx:f>Sheet1!$A$1</cx:f>
              <cx:v>系列 1</cx:v>
            </cx:txData>
          </cx:tx>
          <cx:dataId val="0"/>
          <cx:layoutPr>
            <cx:binning intervalClosed="r"/>
          </cx:layoutPr>
        </cx:series>
      </cx:plotAreaRegion>
      <cx:axis id="0" hidden="1">
        <cx:catScaling gapWidth="0"/>
        <cx:tickLabels/>
      </cx:axis>
      <cx:axis id="1" hidden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B2364-C4ED-C4F6-5139-791D90C5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208D54-AB53-7A3D-FE9F-B742B0538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1F1FB-5D20-0CC0-48E6-5024F25A6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2DC0CC-ECDA-C7C5-4E37-F0F8AC80C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968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808B-8B6B-876C-4873-82E7F5D8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A3B2AF-6C1D-EEF6-89F5-0A5C71934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11878E-66BA-AAE1-0D42-623D3FC1F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7A170-5736-4367-B77C-C762C1E30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9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C35A8-63C5-0596-6FC1-E34B6B43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45C319-3607-88FD-6A70-5F8F512ED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BF820A-7ED7-DAA9-33F5-B4AE2D33A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F04429-FDCA-A3AD-BB78-96F28B241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053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3FB5-A33E-D7DE-E5A0-514CA667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EF4C17-CA24-E40B-245D-142254469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C164FB-7C84-182E-0492-1DFCD3F66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52C96A-93D8-C3D6-E39A-E1E48F6C9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831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6E554-75CF-5A65-B810-42E36A68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1F06C3-2A71-99B6-B78D-AA3567844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98CCE1-BB65-A77B-7133-818562C18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62295-F3E0-8D7F-4FA4-ACB8E9B50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8567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86D8-CE74-592E-FA85-CCFD85B1A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B0A990-CD06-14B9-A101-1AC9095D2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FF5811-2A92-55F9-F068-4E660DE0F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FF6235-6801-6114-EA28-F1EFD5318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6041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303F-0C0B-3EC6-6058-FBF8B1118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A6AE2B-2CEE-F258-421D-320FBD5D5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C5B73F-71A9-2ED5-35F8-75B5AE89C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0BBAB8-50D1-CCA0-801A-8257C57F9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477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38C4-F802-328B-B7C1-2EA215FE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E38F44-B2FD-2E24-D25A-E0C3810C8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227DAB-9B8B-EAC2-67F0-65856240F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78C6A5-8F2A-908E-2DE7-71C8EB453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376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6D67-403F-BD90-EB19-7BC05C37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7C0B51-0716-82AB-E7CC-1DF808F01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B4764C-10AA-C091-42D8-D208F6A2B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46A1B0-C1CE-7008-143D-AAA5AA604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342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D4FDB-2AD9-87C8-7507-FE681177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D12ABA-2387-F383-B66D-2C68E8FA5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E76C09-86CF-B511-B799-3C52929D3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5B3BF2-1ADE-0993-3007-8A18945DA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487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06C15-6CA1-5D0A-960D-4FD38785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A20C8D-6B79-5890-778D-747E380ED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FC2738-4031-5AE0-90C2-C1BE0EB67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4671E6-3B4E-E839-B602-6192BA680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146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8E5A-1143-6153-45B3-9D3F4686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92B15B-9E4C-0DE5-BD64-9822DDA68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95CCA0-F825-EFFD-E69A-E9A71AAB0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718969-0E05-C3E3-49C8-F23A79A28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54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0866-8571-C837-C15D-AEF0C7BB9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22FA6E-135F-AE1C-BD2A-31B82D0BE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B91294E-27E1-87A7-9CB2-8A02F5DBF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8BDA7-BF07-298E-E0B8-1939ADB0B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300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AC82-2BA1-260A-4749-460E71B8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255D39-6108-AA4F-D421-E4D793E4F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A45A93-6C92-CC3A-9356-EF3B65935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DDC318-15C3-7F19-015B-0EAAFE596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35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4BDC-FF9E-5DF3-A5A1-81A4D9F3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24ADC5-777F-28D6-0C16-03F761AE1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CD4AE5-15FD-D0EC-4513-703695963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54B8E9-1EAA-21E0-BCBB-EF9BCEA21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942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6EF7-1128-D6E2-1678-D3C3290A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D59989-A60A-F73B-0ED8-3B37246CB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A468BC-2CD6-C6F7-15DB-9ABF8AE7A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6016B-7367-CB90-2F3E-F10353F50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712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30266-73F7-7A36-9467-620C2BAF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44FEBD-F80E-912A-B19D-5F2923656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28005F-6F37-AD52-CCFE-CB5943D74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09A5A8-D535-92BA-CD4A-15977E522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053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2A64-DB9F-2913-170C-340FD32B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63486B-7F10-EFBA-B579-960BC8844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188BD3-7E24-974E-769A-9163988B3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DDAC0D-9427-4E30-C2D0-B8DF0AB0A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0272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54EBE-CC1F-6256-5D1A-0CBE8325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927F8E-7E57-E953-A56D-1C216FF1C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71BC10-8EC4-9F17-0749-E82060254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A31DB2-7A14-BA77-16C4-0DA2577F8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265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38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7.emf"/><Relationship Id="rId4" Type="http://schemas.openxmlformats.org/officeDocument/2006/relationships/image" Target="../media/image3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oleObject" Target="../embeddings/oleObject10.bin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43.emf"/><Relationship Id="rId4" Type="http://schemas.openxmlformats.org/officeDocument/2006/relationships/image" Target="../media/image42.emf"/><Relationship Id="rId9" Type="http://schemas.openxmlformats.org/officeDocument/2006/relationships/image" Target="../media/image4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BC5161-4448-DA26-9386-B6055113A398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9.2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基于统计理论的异常检测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B536-A18F-2B1B-8F1F-2882FB9E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B537DC0-F4BE-6724-1330-CDCA8268D23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基本原理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FDBF35D-1811-E453-3027-485898E79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D098E4-9374-2881-E182-628D9EB32F9B}"/>
              </a:ext>
            </a:extLst>
          </p:cNvPr>
          <p:cNvSpPr txBox="1"/>
          <p:nvPr/>
        </p:nvSpPr>
        <p:spPr>
          <a:xfrm>
            <a:off x="350803" y="1344862"/>
            <a:ext cx="11307127" cy="97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基于统计理论的方法通常假设数据是由特定的统计模型产生的，其基本思想是：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数据发生在假设模型的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高概率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区域，而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数据发生在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低概率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752BF6-6474-9895-3C1A-AFD67EDE1989}"/>
              </a:ext>
            </a:extLst>
          </p:cNvPr>
          <p:cNvSpPr txBox="1"/>
          <p:nvPr/>
        </p:nvSpPr>
        <p:spPr>
          <a:xfrm>
            <a:off x="623122" y="2587752"/>
            <a:ext cx="10762488" cy="3346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根据对数据分布的假设程度的不同，可分为参数方法和非参数方法：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参数方法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假定数据的概率密度函数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已知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，此类方法的优点是简单直观，但阈值的确定较为主观。主要包括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3σ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准则、箱线图等。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非参数方法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假定概率分布函数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未知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并利用输入数据估计数据的分布，优点是对数据的假设较少，使用范围更广，能对更复杂的分布进行建模。主要包括基于直方图的异常值得分、累积和法等方法。</a:t>
            </a:r>
          </a:p>
        </p:txBody>
      </p:sp>
    </p:spTree>
    <p:extLst>
      <p:ext uri="{BB962C8B-B14F-4D97-AF65-F5344CB8AC3E}">
        <p14:creationId xmlns:p14="http://schemas.microsoft.com/office/powerpoint/2010/main" val="305846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30A7A-7077-A8E3-CC2F-86BC11CD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336A6A0-2B84-F164-4AC9-3D5570D9366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3σ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准则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1A5F329-1383-8C25-D93D-C509036A9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976B954-5F5D-373B-C795-A6C857F0A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DDBD15-A980-E308-1636-75F59011218F}"/>
              </a:ext>
            </a:extLst>
          </p:cNvPr>
          <p:cNvSpPr txBox="1"/>
          <p:nvPr/>
        </p:nvSpPr>
        <p:spPr>
          <a:xfrm>
            <a:off x="633153" y="1046145"/>
            <a:ext cx="10343384" cy="14351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3σ</a:t>
            </a:r>
            <a:r>
              <a:rPr lang="zh-CN" altLang="en-US" dirty="0"/>
              <a:t>准则的核心思想是假设数据集服从正态分布。在这一假设下，数据与平均值的偏差超过标准差的</a:t>
            </a:r>
            <a:r>
              <a:rPr lang="en-US" altLang="zh-CN" dirty="0"/>
              <a:t>3</a:t>
            </a:r>
            <a:r>
              <a:rPr lang="zh-CN" altLang="en-US" dirty="0"/>
              <a:t>倍的概率应小于</a:t>
            </a:r>
            <a:r>
              <a:rPr lang="en-US" altLang="zh-CN" dirty="0"/>
              <a:t>0.003</a:t>
            </a:r>
            <a:r>
              <a:rPr lang="zh-CN" altLang="en-US" dirty="0"/>
              <a:t>，可能性极低，因此将位于区间                       外的数据视为异常值。</a:t>
            </a:r>
            <a:endParaRPr lang="zh-CN" altLang="zh-CN" dirty="0"/>
          </a:p>
        </p:txBody>
      </p:sp>
      <p:pic>
        <p:nvPicPr>
          <p:cNvPr id="2" name="图形 4">
            <a:extLst>
              <a:ext uri="{FF2B5EF4-FFF2-40B4-BE49-F238E27FC236}">
                <a16:creationId xmlns:a16="http://schemas.microsoft.com/office/drawing/2014/main" id="{1099ED43-E703-E979-EAFA-AD6F58768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37986" y="2808071"/>
            <a:ext cx="7333717" cy="3440302"/>
          </a:xfrm>
          <a:prstGeom prst="rect">
            <a:avLst/>
          </a:prstGeom>
        </p:spPr>
      </p:pic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F5D5A35-25E4-6583-052D-CD3D999C13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416075"/>
              </p:ext>
            </p:extLst>
          </p:nvPr>
        </p:nvGraphicFramePr>
        <p:xfrm>
          <a:off x="1399032" y="2024082"/>
          <a:ext cx="1874516" cy="457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1120" imgH="253800" progId="Equation.DSMT4">
                  <p:embed/>
                </p:oleObj>
              </mc:Choice>
              <mc:Fallback>
                <p:oleObj name="Equation" r:id="rId5" imgW="10411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9032" y="2024082"/>
                        <a:ext cx="1874516" cy="457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079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98CC6-27B1-ED40-CE76-8AD85BD6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E4F39797-6EDD-04AC-284C-E79D89860F4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箱线图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11CE739-9F08-103A-58A4-D5CB32182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DD10C7E1-1CFC-EEC0-1ED3-4362DB5DB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3BEF0B-9555-BD77-871A-5AB323144534}"/>
              </a:ext>
            </a:extLst>
          </p:cNvPr>
          <p:cNvSpPr txBox="1"/>
          <p:nvPr/>
        </p:nvSpPr>
        <p:spPr>
          <a:xfrm>
            <a:off x="633153" y="1046145"/>
            <a:ext cx="10343384" cy="9734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使用箱线图进行异常检测的基本思想是：通过数据的四分位数计算出上下限，超出此范围的点即被判为异常值。</a:t>
            </a:r>
          </a:p>
        </p:txBody>
      </p:sp>
      <p:pic>
        <p:nvPicPr>
          <p:cNvPr id="5" name="图形 5">
            <a:extLst>
              <a:ext uri="{FF2B5EF4-FFF2-40B4-BE49-F238E27FC236}">
                <a16:creationId xmlns:a16="http://schemas.microsoft.com/office/drawing/2014/main" id="{87DC3E47-5AE5-6C4E-54FE-5E2A6CA69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500" y="2311033"/>
            <a:ext cx="5844865" cy="33449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A6387C9-F28A-6958-93A7-5EABCD14E6BB}"/>
              </a:ext>
            </a:extLst>
          </p:cNvPr>
          <p:cNvSpPr txBox="1"/>
          <p:nvPr/>
        </p:nvSpPr>
        <p:spPr>
          <a:xfrm>
            <a:off x="1728216" y="5656023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下截断点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65BFB1-FA50-EE6F-4EE0-12F38F161D96}"/>
              </a:ext>
            </a:extLst>
          </p:cNvPr>
          <p:cNvSpPr txBox="1"/>
          <p:nvPr/>
        </p:nvSpPr>
        <p:spPr>
          <a:xfrm>
            <a:off x="5282184" y="5656023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上截断点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B4665C-E742-1D56-B396-0EAE3F7FD7E0}"/>
              </a:ext>
            </a:extLst>
          </p:cNvPr>
          <p:cNvSpPr txBox="1"/>
          <p:nvPr/>
        </p:nvSpPr>
        <p:spPr>
          <a:xfrm>
            <a:off x="7893324" y="2793492"/>
            <a:ext cx="2727432" cy="2520370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当没有数据分布在区间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时，箱线图的下截断点和上截断点为数据本身的最大值和最小值，此时数据中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无异常值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0F0D0B7-AEA8-4A1A-2121-380A50DA33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366456"/>
              </p:ext>
            </p:extLst>
          </p:nvPr>
        </p:nvGraphicFramePr>
        <p:xfrm>
          <a:off x="7921782" y="3283330"/>
          <a:ext cx="2571984" cy="348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98320" imgH="203040" progId="Equation.DSMT4">
                  <p:embed/>
                </p:oleObj>
              </mc:Choice>
              <mc:Fallback>
                <p:oleObj name="Equation" r:id="rId5" imgW="1498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21782" y="3283330"/>
                        <a:ext cx="2571984" cy="348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515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EDDC7-3048-126D-86FB-D82C4AAA5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3B85FDCE-BE5E-B30A-6640-5E47AB65B0A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箱线图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4661E49-4C8C-D447-BF47-98D86AF35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EA9ECF47-4722-1057-D574-8B6D14F37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447F08-EBB7-F8AD-AD53-EB6C3304A759}"/>
              </a:ext>
            </a:extLst>
          </p:cNvPr>
          <p:cNvSpPr txBox="1"/>
          <p:nvPr/>
        </p:nvSpPr>
        <p:spPr>
          <a:xfrm>
            <a:off x="1103376" y="1310366"/>
            <a:ext cx="9985248" cy="5084084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48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算法评价：</a:t>
            </a:r>
            <a:endParaRPr lang="en-US" altLang="zh-CN" sz="2800" b="1" dirty="0">
              <a:solidFill>
                <a:srgbClr val="3484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箱线图是一种基础的一维特征空间非参数异常检测方法。相较于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σ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准则，其主要优势在于不需要对数据进行特定的分布假设，在处理不符合正态分布的数据时仍具有较高的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客观性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。此外，箱线图具有较强的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稳健性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，即使数据中已包含一些异常值，这些值对四分位数的影响通常较小，不足以显著改变箱线图的整体形态。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然而，对于具有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复杂或多模态分布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的数据，箱线图可能无法准确地反映所有的分布特征，有时会忽略某些异常行为。在这些情况下，可能需要采用更复杂的统计方法或机器学习算法，以更有效地识别和处理异常值。</a:t>
            </a:r>
          </a:p>
        </p:txBody>
      </p:sp>
    </p:spTree>
    <p:extLst>
      <p:ext uri="{BB962C8B-B14F-4D97-AF65-F5344CB8AC3E}">
        <p14:creationId xmlns:p14="http://schemas.microsoft.com/office/powerpoint/2010/main" val="268119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57A67-0160-44A1-A966-03B59952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A2C509F0-80A7-652D-BC02-F377E658DF57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基于直方图的异常值得分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——HBOS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D827F71-DA99-405F-9CDA-46AA8E796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5503EF8-19DE-DB61-F5BA-A82C9C15E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036" y="1609825"/>
            <a:ext cx="5373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2DA8F2-5A41-E557-62CC-A17193D507C9}"/>
              </a:ext>
            </a:extLst>
          </p:cNvPr>
          <p:cNvSpPr txBox="1"/>
          <p:nvPr/>
        </p:nvSpPr>
        <p:spPr>
          <a:xfrm>
            <a:off x="551180" y="1228083"/>
            <a:ext cx="10821670" cy="2191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基于直方图的异常值得分</a:t>
            </a:r>
            <a:r>
              <a:rPr lang="zh-CN" altLang="en-US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Histogram-Based Outlier Score</a:t>
            </a:r>
            <a:r>
              <a:rPr lang="zh-CN" altLang="en-US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HBOS</a:t>
            </a:r>
            <a:r>
              <a:rPr lang="zh-CN" altLang="en-US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是一种基于密度直方图的算法。其基本假设是数据的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各特征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都是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独立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的。它将数据集分成若干个区间，通过计算每个区间中数据点的密度计算数据点的异常得分，</a:t>
            </a: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数据密度越小，异常得分越高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CFB9ED9-A13F-0083-3FDD-367ED38D0666}"/>
              </a:ext>
            </a:extLst>
          </p:cNvPr>
          <p:cNvSpPr txBox="1"/>
          <p:nvPr/>
        </p:nvSpPr>
        <p:spPr>
          <a:xfrm>
            <a:off x="551180" y="3625195"/>
            <a:ext cx="6783170" cy="2571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200" dirty="0"/>
              <a:t>对于分类数据，统计每个类别的频数并计算相对频率，将其作为条形图的高度，用以反映各类别出现的概率分布。</a:t>
            </a:r>
            <a:endParaRPr lang="en-US" altLang="zh-CN" sz="22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200" dirty="0"/>
              <a:t>对于数值数据，使用静态宽度直方图和动态宽度直方图对连续数据进行离散化，以计算概率密度。</a:t>
            </a:r>
            <a:endParaRPr lang="zh-CN" altLang="zh-CN" sz="2200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图表 8">
                <a:extLst>
                  <a:ext uri="{FF2B5EF4-FFF2-40B4-BE49-F238E27FC236}">
                    <a16:creationId xmlns:a16="http://schemas.microsoft.com/office/drawing/2014/main" id="{BBB7C938-693E-4E03-0F7D-D2B70BBAF9D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00063767"/>
                  </p:ext>
                </p:extLst>
              </p:nvPr>
            </p:nvGraphicFramePr>
            <p:xfrm>
              <a:off x="8069126" y="3815087"/>
              <a:ext cx="3303724" cy="219188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9" name="图表 8">
                <a:extLst>
                  <a:ext uri="{FF2B5EF4-FFF2-40B4-BE49-F238E27FC236}">
                    <a16:creationId xmlns:a16="http://schemas.microsoft.com/office/drawing/2014/main" id="{BBB7C938-693E-4E03-0F7D-D2B70BBAF9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69126" y="3815087"/>
                <a:ext cx="3303724" cy="21918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578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07449-4D56-67B4-ED89-FDA63C5EF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95534F4-CB2E-B324-D684-00C1CB15CE7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基于直方图的异常值得分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——HBOS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223DB7A-FC93-702F-F6F9-B3CB272E5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E8CFEF1-ED84-9FB8-6A6C-2351FDD81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036" y="1609825"/>
            <a:ext cx="5373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437158-4BE1-7088-09C4-FE38DFA4DF0B}"/>
              </a:ext>
            </a:extLst>
          </p:cNvPr>
          <p:cNvSpPr txBox="1"/>
          <p:nvPr/>
        </p:nvSpPr>
        <p:spPr>
          <a:xfrm>
            <a:off x="407556" y="1081159"/>
            <a:ext cx="11192397" cy="28079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</a:rPr>
              <a:t>静态宽度直方图</a:t>
            </a:r>
            <a:r>
              <a:rPr lang="zh-CN" altLang="en-US" sz="2000" dirty="0"/>
              <a:t>将数据按照</a:t>
            </a:r>
            <a:r>
              <a:rPr lang="zh-CN" altLang="en-US" sz="2000" b="1" dirty="0">
                <a:solidFill>
                  <a:srgbClr val="FF0000"/>
                </a:solidFill>
              </a:rPr>
              <a:t>固定宽度</a:t>
            </a:r>
            <a:r>
              <a:rPr lang="zh-CN" altLang="en-US" sz="2000" dirty="0"/>
              <a:t>划分为若干区间，柱形宽度相等，通过比较各区间样本数量表示概率密度；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FF0000"/>
                </a:solidFill>
              </a:rPr>
              <a:t>动态宽度直方图</a:t>
            </a:r>
            <a:r>
              <a:rPr lang="zh-CN" altLang="en-US" sz="2000" dirty="0"/>
              <a:t>则将数据分成</a:t>
            </a:r>
            <a:r>
              <a:rPr lang="zh-CN" altLang="en-US" sz="2000" b="1" dirty="0">
                <a:solidFill>
                  <a:srgbClr val="FF0000"/>
                </a:solidFill>
              </a:rPr>
              <a:t>样本数相同</a:t>
            </a:r>
            <a:r>
              <a:rPr lang="zh-CN" altLang="en-US" sz="2000" dirty="0"/>
              <a:t>的若干组，各组宽度可变，使每组面积相同，通过柱形高度反映概率密度高低。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/>
              <a:t>两者区别在于：静态宽度直方图</a:t>
            </a:r>
            <a:r>
              <a:rPr lang="zh-CN" altLang="en-US" sz="2000" u="sng" dirty="0"/>
              <a:t>宽度固定、高度随样本多少变化</a:t>
            </a:r>
            <a:r>
              <a:rPr lang="zh-CN" altLang="en-US" sz="2000" dirty="0"/>
              <a:t>，动态宽度直方图高度变化但</a:t>
            </a:r>
            <a:r>
              <a:rPr lang="zh-CN" altLang="en-US" sz="2000" u="sng" dirty="0"/>
              <a:t>每组样本数一致、宽度可变</a:t>
            </a:r>
            <a:r>
              <a:rPr lang="zh-CN" altLang="en-US" sz="2000" dirty="0"/>
              <a:t>。</a:t>
            </a:r>
          </a:p>
        </p:txBody>
      </p:sp>
      <p:pic>
        <p:nvPicPr>
          <p:cNvPr id="2" name="图形 3">
            <a:extLst>
              <a:ext uri="{FF2B5EF4-FFF2-40B4-BE49-F238E27FC236}">
                <a16:creationId xmlns:a16="http://schemas.microsoft.com/office/drawing/2014/main" id="{E2BD9C4E-A3CD-516B-805E-6C6801D416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5394" y="3930438"/>
            <a:ext cx="6901212" cy="27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0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457A-F6C7-AB0A-9DD7-051E4204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31986FB3-58EA-EF35-BEDE-1379A33EA5D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基于直方图的异常值得分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——HBOS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22246FB-B599-CECB-4B6B-8366AF733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CB815CF-295C-65FD-E4CC-A73EE2566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436" y="832961"/>
            <a:ext cx="8105127" cy="580228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F4F7614-EB70-33F8-86E3-87F13AF447C3}"/>
              </a:ext>
            </a:extLst>
          </p:cNvPr>
          <p:cNvSpPr/>
          <p:nvPr/>
        </p:nvSpPr>
        <p:spPr>
          <a:xfrm>
            <a:off x="3858672" y="5199154"/>
            <a:ext cx="4619875" cy="900038"/>
          </a:xfrm>
          <a:prstGeom prst="rect">
            <a:avLst/>
          </a:prstGeom>
          <a:noFill/>
          <a:ln w="38100">
            <a:solidFill>
              <a:srgbClr val="094DB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62B459-463D-37DC-362F-F199CA19B88C}"/>
              </a:ext>
            </a:extLst>
          </p:cNvPr>
          <p:cNvSpPr txBox="1"/>
          <p:nvPr/>
        </p:nvSpPr>
        <p:spPr>
          <a:xfrm>
            <a:off x="8662663" y="5383139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异常得分</a:t>
            </a:r>
          </a:p>
        </p:txBody>
      </p:sp>
    </p:spTree>
    <p:extLst>
      <p:ext uri="{BB962C8B-B14F-4D97-AF65-F5344CB8AC3E}">
        <p14:creationId xmlns:p14="http://schemas.microsoft.com/office/powerpoint/2010/main" val="97133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4CBB-371D-458B-5337-1317A6AC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F4267B1-84EF-D0B2-57B9-9C8A0421CD8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基于直方图的异常值得分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——</a:t>
            </a:r>
            <a:r>
              <a:rPr kumimoji="0" lang="de-D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HBOS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C0E4A76-260F-7A5E-28AD-275FBFFA9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E972678-F04A-AF19-2ADE-304B957BC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A1952F-875F-A9BB-92F9-1EEABF84A8E4}"/>
              </a:ext>
            </a:extLst>
          </p:cNvPr>
          <p:cNvSpPr txBox="1"/>
          <p:nvPr/>
        </p:nvSpPr>
        <p:spPr>
          <a:xfrm>
            <a:off x="1103376" y="1310366"/>
            <a:ext cx="9985248" cy="4530086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348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算法评价：</a:t>
            </a:r>
            <a:endParaRPr lang="en-US" altLang="zh-CN" sz="2800" b="1" dirty="0">
              <a:solidFill>
                <a:srgbClr val="3484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HBOS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算法的优点为处理速度快，具有线性时间复杂度。因为每个特征都是互相独立地构建直方图，可以部署在大规模分布式系统上来加速运算，所以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能够适应大规模数据集的处理需求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但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HBOS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算法在直方图构建过程中假设各特征独立且重要性相同，可能导致算法在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高维数据集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中的检测结果较差。另一方面，从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HBOS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的步骤可以发现，它的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密度估计结果与区间宽度息息相关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，不同的区间划分往往对应着不同的密度函数，从而影响异常检测的效果。</a:t>
            </a:r>
          </a:p>
        </p:txBody>
      </p:sp>
    </p:spTree>
    <p:extLst>
      <p:ext uri="{BB962C8B-B14F-4D97-AF65-F5344CB8AC3E}">
        <p14:creationId xmlns:p14="http://schemas.microsoft.com/office/powerpoint/2010/main" val="186649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5DB34-12DB-2DB2-956A-85BEB360E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6818841-0B24-0B5E-D5DB-CAF432EA030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累积和法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BF30654-AE84-8622-56E8-BF8E3B3B5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372A5EE-8B4C-C65E-F10E-DEFC8DEEA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E4D598-D887-B5D6-922E-9F8B15FABD12}"/>
              </a:ext>
            </a:extLst>
          </p:cNvPr>
          <p:cNvSpPr txBox="1"/>
          <p:nvPr/>
        </p:nvSpPr>
        <p:spPr>
          <a:xfrm>
            <a:off x="633152" y="1046145"/>
            <a:ext cx="10766367" cy="16532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累积和法</a:t>
            </a:r>
            <a:r>
              <a:rPr lang="zh-CN" altLang="en-US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Cumulative Sum</a:t>
            </a:r>
            <a:r>
              <a:rPr lang="zh-CN" altLang="en-US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CUSUM</a:t>
            </a:r>
            <a:r>
              <a:rPr lang="zh-CN" altLang="en-US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的基本假设是在控制条件下</a:t>
            </a:r>
            <a:r>
              <a:rPr lang="zh-CN" alt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数据的均值是稳定的</a:t>
            </a:r>
            <a:r>
              <a:rPr lang="zh-CN" altLang="en-US" sz="28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8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CUSUM</a:t>
            </a:r>
            <a:r>
              <a:rPr lang="zh-CN" altLang="en-US" sz="28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计算的是</a:t>
            </a:r>
            <a:r>
              <a:rPr lang="zh-CN" altLang="en-US" sz="2800" b="1" u="sng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每组样本的观测值与目标值的偏差的累积和</a:t>
            </a:r>
            <a:r>
              <a:rPr lang="zh-CN" altLang="en-US" sz="28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EDCB5C-4BDF-0512-862D-C89523080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119" y="2743622"/>
            <a:ext cx="5740400" cy="36684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3F17EFF-4B05-403C-ED7D-290497B5390D}"/>
              </a:ext>
            </a:extLst>
          </p:cNvPr>
          <p:cNvSpPr txBox="1"/>
          <p:nvPr/>
        </p:nvSpPr>
        <p:spPr>
          <a:xfrm>
            <a:off x="995423" y="3466978"/>
            <a:ext cx="4169337" cy="2221762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如果累积和显著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偏离初始设定的控制限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（通常是基于数据的预期波动设定的），则表明出现了异常点。</a:t>
            </a:r>
          </a:p>
        </p:txBody>
      </p:sp>
    </p:spTree>
    <p:extLst>
      <p:ext uri="{BB962C8B-B14F-4D97-AF65-F5344CB8AC3E}">
        <p14:creationId xmlns:p14="http://schemas.microsoft.com/office/powerpoint/2010/main" val="172499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69D21-88C2-834A-E244-C0EC226D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1D7F3167-A458-981F-B317-859DEC21D23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累积和法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99E1954-72D0-7CC7-6EEF-10D9C17FE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387412-2273-7A26-CE82-71DD80FBC9C2}"/>
              </a:ext>
            </a:extLst>
          </p:cNvPr>
          <p:cNvSpPr txBox="1"/>
          <p:nvPr/>
        </p:nvSpPr>
        <p:spPr>
          <a:xfrm>
            <a:off x="769268" y="1114292"/>
            <a:ext cx="10752172" cy="168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）计算样本观测值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对于数据集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，设每个子组的大小为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，共采集了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个子组。对于第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个子组，其均值为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755AD83-1587-190C-040F-3185EB17AA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498453"/>
              </p:ext>
            </p:extLst>
          </p:nvPr>
        </p:nvGraphicFramePr>
        <p:xfrm>
          <a:off x="4870450" y="2744777"/>
          <a:ext cx="2268738" cy="1368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99920" imgH="482400" progId="Equation.DSMT4">
                  <p:embed/>
                </p:oleObj>
              </mc:Choice>
              <mc:Fallback>
                <p:oleObj name="Equation" r:id="rId3" imgW="799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0450" y="2744777"/>
                        <a:ext cx="2268738" cy="1368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A42B987B-8F7B-0F93-D838-E22E71553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577" y="4054849"/>
            <a:ext cx="11279221" cy="7243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F99504-B66C-2BD5-5235-7BCCE3ED7C47}"/>
              </a:ext>
            </a:extLst>
          </p:cNvPr>
          <p:cNvSpPr txBox="1"/>
          <p:nvPr/>
        </p:nvSpPr>
        <p:spPr>
          <a:xfrm>
            <a:off x="769268" y="4779202"/>
            <a:ext cx="10752172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）估计目标值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使用所有子组的均值作为目标值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005C2A3-94C1-1884-31E7-6FCA72EC44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826395"/>
              </p:ext>
            </p:extLst>
          </p:nvPr>
        </p:nvGraphicFramePr>
        <p:xfrm>
          <a:off x="6258792" y="4913753"/>
          <a:ext cx="2178628" cy="138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560" imgH="469800" progId="Equation.DSMT4">
                  <p:embed/>
                </p:oleObj>
              </mc:Choice>
              <mc:Fallback>
                <p:oleObj name="Equation" r:id="rId6" imgW="7365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58792" y="4913753"/>
                        <a:ext cx="2178628" cy="1389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927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D77CA-E421-A9C2-3201-1A69DD6DC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36AD0CBF-5217-DDC8-16F0-30067B1A874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累积和法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88B4EF8-AE1F-2DDB-59B2-CF34BADD2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A2049C-0CBC-E69B-CBE0-38B7C72C9EA6}"/>
              </a:ext>
            </a:extLst>
          </p:cNvPr>
          <p:cNvSpPr txBox="1"/>
          <p:nvPr/>
        </p:nvSpPr>
        <p:spPr>
          <a:xfrm>
            <a:off x="769268" y="1114292"/>
            <a:ext cx="10752172" cy="2242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）计算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endParaRPr lang="zh-CN" altLang="en-US" sz="24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CUSUM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allowable slack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，允许的松弛度），代表了数据序列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在正常情况下的波动水平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，通常设为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0.5-1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个标准差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。一般情况下，可以使用子组的极差或标准差来估计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，也可以直接输入已知的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。基于标准差的计算公式为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49497F7-DC91-DB2E-BA03-EAFA750D7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809785"/>
              </p:ext>
            </p:extLst>
          </p:nvPr>
        </p:nvGraphicFramePr>
        <p:xfrm>
          <a:off x="4930889" y="4249953"/>
          <a:ext cx="1449821" cy="149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040" imgH="431640" progId="Equation.DSMT4">
                  <p:embed/>
                </p:oleObj>
              </mc:Choice>
              <mc:Fallback>
                <p:oleObj name="Equation" r:id="rId3" imgW="4190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0889" y="4249953"/>
                        <a:ext cx="1449821" cy="1493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5070B19-78AB-233F-21B2-C9DD5A8D8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574856"/>
              </p:ext>
            </p:extLst>
          </p:nvPr>
        </p:nvGraphicFramePr>
        <p:xfrm>
          <a:off x="8251190" y="4155205"/>
          <a:ext cx="2301190" cy="149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469800" progId="Equation.DSMT4">
                  <p:embed/>
                </p:oleObj>
              </mc:Choice>
              <mc:Fallback>
                <p:oleObj name="Equation" r:id="rId5" imgW="7236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51190" y="4155205"/>
                        <a:ext cx="2301190" cy="1493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741BE25-35AF-EE75-F30B-2ACD2A7283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059109"/>
              </p:ext>
            </p:extLst>
          </p:nvPr>
        </p:nvGraphicFramePr>
        <p:xfrm>
          <a:off x="769268" y="4107249"/>
          <a:ext cx="2982421" cy="1825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3633" imgH="999933" progId="Equation.DSMT4">
                  <p:embed/>
                </p:oleObj>
              </mc:Choice>
              <mc:Fallback>
                <p:oleObj name="Equation" r:id="rId7" imgW="1633633" imgH="99993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9268" y="4107249"/>
                        <a:ext cx="2982421" cy="1825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3A3C8B3-B568-7E2B-FFF6-7904F24F8CB9}"/>
              </a:ext>
            </a:extLst>
          </p:cNvPr>
          <p:cNvCxnSpPr>
            <a:cxnSpLocks/>
          </p:cNvCxnSpPr>
          <p:nvPr/>
        </p:nvCxnSpPr>
        <p:spPr>
          <a:xfrm>
            <a:off x="6278880" y="4592320"/>
            <a:ext cx="1767840" cy="4279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D690801-7D3A-591F-8C51-C0B6A9628167}"/>
              </a:ext>
            </a:extLst>
          </p:cNvPr>
          <p:cNvCxnSpPr>
            <a:cxnSpLocks/>
          </p:cNvCxnSpPr>
          <p:nvPr/>
        </p:nvCxnSpPr>
        <p:spPr>
          <a:xfrm flipH="1" flipV="1">
            <a:off x="3777993" y="5188931"/>
            <a:ext cx="1877806" cy="2466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027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2600E-9024-6B1A-16C5-4F131EEAF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FEF38F1-2D23-888E-2C2B-8D1F3313175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累积和法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9CE7B0B-A2C3-2BC3-67E5-9AFCFF2E9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BE2526-D0B6-B8F9-0ADA-1CDFFBB066EF}"/>
              </a:ext>
            </a:extLst>
          </p:cNvPr>
          <p:cNvSpPr txBox="1"/>
          <p:nvPr/>
        </p:nvSpPr>
        <p:spPr>
          <a:xfrm>
            <a:off x="769268" y="1114292"/>
            <a:ext cx="10752172" cy="1688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）计算控制限</a:t>
            </a:r>
            <a:endParaRPr lang="zh-CN" altLang="en-US" sz="24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通常情况下，上控制限（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Upper Control Limit</a:t>
            </a:r>
            <a:r>
              <a:rPr lang="zh-CN" altLang="de-DE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UCL</a:t>
            </a:r>
            <a:r>
              <a:rPr lang="zh-CN" altLang="de-DE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和下控制限（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Lower Control Limit</a:t>
            </a:r>
            <a:r>
              <a:rPr lang="zh-CN" altLang="de-DE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de-DE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LCL</a:t>
            </a:r>
            <a:r>
              <a:rPr lang="zh-CN" altLang="de-DE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设为               ，即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BC77556-37B1-89EB-FC78-06F9B6ABE7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018834"/>
              </p:ext>
            </p:extLst>
          </p:nvPr>
        </p:nvGraphicFramePr>
        <p:xfrm>
          <a:off x="4401625" y="2375237"/>
          <a:ext cx="1058527" cy="427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7648" imgH="181074" progId="Equation.DSMT4">
                  <p:embed/>
                </p:oleObj>
              </mc:Choice>
              <mc:Fallback>
                <p:oleObj name="Equation" r:id="rId3" imgW="447648" imgH="181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01625" y="2375237"/>
                        <a:ext cx="1058527" cy="427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9765CDD0-5798-A3B8-57EC-E4C0B9381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280" y="6232938"/>
            <a:ext cx="11251702" cy="722586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4C3DA0C-259B-56F6-91B0-26AF8F83C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03040"/>
              </p:ext>
            </p:extLst>
          </p:nvPr>
        </p:nvGraphicFramePr>
        <p:xfrm>
          <a:off x="4696403" y="2955738"/>
          <a:ext cx="2897901" cy="1528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9081" imgH="638257" progId="Equation.DSMT4">
                  <p:embed/>
                </p:oleObj>
              </mc:Choice>
              <mc:Fallback>
                <p:oleObj name="Equation" r:id="rId6" imgW="1209081" imgH="63825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96403" y="2955738"/>
                        <a:ext cx="2897901" cy="15288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9E12CCB-1F95-D838-C9D1-48357D7B719F}"/>
              </a:ext>
            </a:extLst>
          </p:cNvPr>
          <p:cNvSpPr txBox="1"/>
          <p:nvPr/>
        </p:nvSpPr>
        <p:spPr>
          <a:xfrm>
            <a:off x="769268" y="4484552"/>
            <a:ext cx="10752172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）计算累计和</a:t>
            </a:r>
            <a:endParaRPr lang="zh-CN" altLang="en-US" sz="240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6C09DC3-6064-C0F8-8307-B5DEA53F2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378777"/>
              </p:ext>
            </p:extLst>
          </p:nvPr>
        </p:nvGraphicFramePr>
        <p:xfrm>
          <a:off x="3985579" y="5041895"/>
          <a:ext cx="4319548" cy="1198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18659" imgH="504702" progId="Equation.DSMT4">
                  <p:embed/>
                </p:oleObj>
              </mc:Choice>
              <mc:Fallback>
                <p:oleObj name="Equation" r:id="rId8" imgW="1818659" imgH="50470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85579" y="5041895"/>
                        <a:ext cx="4319548" cy="1198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D080D58C-C6C2-5205-82B6-6E4CDD7D5642}"/>
              </a:ext>
            </a:extLst>
          </p:cNvPr>
          <p:cNvSpPr txBox="1"/>
          <p:nvPr/>
        </p:nvSpPr>
        <p:spPr>
          <a:xfrm>
            <a:off x="2499679" y="5065417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上累积和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7335197-D63C-B626-709E-C5F7FA85B82E}"/>
              </a:ext>
            </a:extLst>
          </p:cNvPr>
          <p:cNvSpPr txBox="1"/>
          <p:nvPr/>
        </p:nvSpPr>
        <p:spPr>
          <a:xfrm>
            <a:off x="2499679" y="5713491"/>
            <a:ext cx="148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94DB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下累积和</a:t>
            </a:r>
          </a:p>
        </p:txBody>
      </p:sp>
    </p:spTree>
    <p:extLst>
      <p:ext uri="{BB962C8B-B14F-4D97-AF65-F5344CB8AC3E}">
        <p14:creationId xmlns:p14="http://schemas.microsoft.com/office/powerpoint/2010/main" val="2991638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EA8C5-67C5-6062-27E0-B12E4693F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D5E066DE-171E-1003-4AE5-84067A64CDE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累积和法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FBC9604-5EA6-932C-6338-84537B5A2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22CEAE-7682-8BF3-3B84-6B3E7A8A67BD}"/>
              </a:ext>
            </a:extLst>
          </p:cNvPr>
          <p:cNvSpPr txBox="1"/>
          <p:nvPr/>
        </p:nvSpPr>
        <p:spPr>
          <a:xfrm>
            <a:off x="769268" y="1114292"/>
            <a:ext cx="10752172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）异常检测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当累积和超过期望的上限或下限时，认为数据出现了异常，公式表示为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530E411-209F-92EE-44A6-3A4944998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542579"/>
              </p:ext>
            </p:extLst>
          </p:nvPr>
        </p:nvGraphicFramePr>
        <p:xfrm>
          <a:off x="3616808" y="2397760"/>
          <a:ext cx="4958383" cy="1031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27877" imgH="504702" progId="Equation.DSMT4">
                  <p:embed/>
                </p:oleObj>
              </mc:Choice>
              <mc:Fallback>
                <p:oleObj name="Equation" r:id="rId3" imgW="2427877" imgH="50470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16808" y="2397760"/>
                        <a:ext cx="4958383" cy="1031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形 6">
            <a:extLst>
              <a:ext uri="{FF2B5EF4-FFF2-40B4-BE49-F238E27FC236}">
                <a16:creationId xmlns:a16="http://schemas.microsoft.com/office/drawing/2014/main" id="{54E031A4-7DF2-CA57-19AD-73A7DF615EF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697" t="4108" r="2227" b="4961"/>
          <a:stretch/>
        </p:blipFill>
        <p:spPr bwMode="auto">
          <a:xfrm>
            <a:off x="2725576" y="3429000"/>
            <a:ext cx="6839555" cy="32703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5EEA813-A9D4-36A2-6A04-A86BCB39063A}"/>
              </a:ext>
            </a:extLst>
          </p:cNvPr>
          <p:cNvSpPr/>
          <p:nvPr/>
        </p:nvSpPr>
        <p:spPr>
          <a:xfrm>
            <a:off x="10144770" y="4760282"/>
            <a:ext cx="1376670" cy="607817"/>
          </a:xfrm>
          <a:prstGeom prst="rect">
            <a:avLst/>
          </a:prstGeom>
          <a:solidFill>
            <a:srgbClr val="0140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检测示例</a:t>
            </a:r>
          </a:p>
        </p:txBody>
      </p:sp>
    </p:spTree>
    <p:extLst>
      <p:ext uri="{BB962C8B-B14F-4D97-AF65-F5344CB8AC3E}">
        <p14:creationId xmlns:p14="http://schemas.microsoft.com/office/powerpoint/2010/main" val="2007177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8DAC-B673-4353-40D8-6579617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2217CF0-DCC2-44E5-5A0D-3969EA560FA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实践案例：基于箱线图的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wiki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网络流量异常检测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F0F45D7-A32A-18E1-50F7-27F83F9B1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2C004A51-C1AA-CF2A-A8B5-528DA9AA2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A32EFD-7084-A974-325F-A82DAEC98D7F}"/>
              </a:ext>
            </a:extLst>
          </p:cNvPr>
          <p:cNvSpPr txBox="1"/>
          <p:nvPr/>
        </p:nvSpPr>
        <p:spPr>
          <a:xfrm>
            <a:off x="166155" y="983047"/>
            <a:ext cx="11873445" cy="279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本节利用箱线图方法对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wiki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网络流量进行异常检测，数据集来自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Kaggle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赛题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 Traffic Time Series Forecasting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（网络流量时间序列预测），包含中文、英文、俄文等各国语言的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wiki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页面（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145063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个页面）从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2015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2016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日的日网络流量数据（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550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天）。本案例选取了英语、日语、德语、法语、中文、俄语、葡萄牙语七种语言的网络流量数据进行分析。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94DBB19-BF1B-E6ED-D89F-66660E283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987984"/>
              </p:ext>
            </p:extLst>
          </p:nvPr>
        </p:nvGraphicFramePr>
        <p:xfrm>
          <a:off x="647484" y="3929989"/>
          <a:ext cx="10713765" cy="2993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397681" imgH="1507987" progId="Word.Document.12">
                  <p:embed/>
                </p:oleObj>
              </mc:Choice>
              <mc:Fallback>
                <p:oleObj name="Document" r:id="rId3" imgW="5397681" imgH="1507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484" y="3929989"/>
                        <a:ext cx="10713765" cy="29935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39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B95B-DF06-7CCD-C9D1-AABB9B42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CF796ED0-9C50-FABF-6567-F9380982801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实践案例：基于箱线图的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wiki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网络流量异常检测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5F9FB29-8318-95BF-AC56-E710F58B8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734D06C-0E1E-9527-7107-05D07B723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024F14-4960-2C64-33D7-D733176D52C2}"/>
              </a:ext>
            </a:extLst>
          </p:cNvPr>
          <p:cNvSpPr txBox="1"/>
          <p:nvPr/>
        </p:nvSpPr>
        <p:spPr>
          <a:xfrm>
            <a:off x="166155" y="983047"/>
            <a:ext cx="11873445" cy="279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本节利用箱线图方法对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wiki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网络流量进行异常检测，数据集来自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Kaggle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赛题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 Traffic Time Series Forecasting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（网络流量时间序列预测），包含中文、英文、俄文等各国语言的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wiki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页面（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145063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个页面）从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2015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日至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2016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日的日网络流量数据（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550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天）。本案例选取了英语、日语、德语、法语、中文、俄语、葡萄牙语七种语言的网络流量数据进行分析。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DFB8A64-2ACD-715A-DA41-46BE6F7C2B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484" y="3929989"/>
          <a:ext cx="10713765" cy="2993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397681" imgH="1507987" progId="Word.Document.12">
                  <p:embed/>
                </p:oleObj>
              </mc:Choice>
              <mc:Fallback>
                <p:oleObj name="Document" r:id="rId3" imgW="5397681" imgH="1507987" progId="Word.Documen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94DBB19-BF1B-E6ED-D89F-66660E2830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484" y="3929989"/>
                        <a:ext cx="10713765" cy="29935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8769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DC9D-830F-624C-17DD-7576EE47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B6C7267-53D0-32F3-C99D-8BA94523D83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实践案例：基于箱线图的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wiki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网络流量异常检测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B8B8B41-6F4D-567D-0DAC-706E3FCB6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0F6AF56-ED5C-0485-F2E2-33E1F71B6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1B75B8-9A68-1F8D-4F2F-A68D1C2BF9DB}"/>
              </a:ext>
            </a:extLst>
          </p:cNvPr>
          <p:cNvSpPr txBox="1"/>
          <p:nvPr/>
        </p:nvSpPr>
        <p:spPr>
          <a:xfrm>
            <a:off x="12701" y="1398912"/>
            <a:ext cx="4020552" cy="2161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数据预处理。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删除缺省值、从“页面”列提取页面的语言属性、将数据按语言进行分类。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2E85EBF-F8F1-5F7F-7938-3C66F360D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253" y="1744843"/>
            <a:ext cx="7900446" cy="486495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CF9F73D-2967-5E08-F642-DAF358281C08}"/>
              </a:ext>
            </a:extLst>
          </p:cNvPr>
          <p:cNvSpPr txBox="1"/>
          <p:nvPr/>
        </p:nvSpPr>
        <p:spPr>
          <a:xfrm>
            <a:off x="12700" y="5478108"/>
            <a:ext cx="3787140" cy="961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为便于展示，剔除了数值高于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500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的数据。</a:t>
            </a:r>
          </a:p>
        </p:txBody>
      </p:sp>
    </p:spTree>
    <p:extLst>
      <p:ext uri="{BB962C8B-B14F-4D97-AF65-F5344CB8AC3E}">
        <p14:creationId xmlns:p14="http://schemas.microsoft.com/office/powerpoint/2010/main" val="51403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38C9-AFD4-568B-56E4-DA61CFC9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1D674A0-544C-F028-99A5-1000F359DD9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实践案例：基于箱线图的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wiki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网络流量异常检测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C9CCC12-4634-E707-9FA4-444E333BC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5CC2521-477A-2107-C9EF-62E3ECC37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19ACA0-DC6E-578E-4B5D-3CC38298922B}"/>
              </a:ext>
            </a:extLst>
          </p:cNvPr>
          <p:cNvSpPr txBox="1"/>
          <p:nvPr/>
        </p:nvSpPr>
        <p:spPr>
          <a:xfrm>
            <a:off x="284479" y="1763713"/>
            <a:ext cx="11623041" cy="2807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matplotlib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库中的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pyplot.boxplot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函数对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wiki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网络流量数据集进行异常检测，其主要作用是绘制箱线图。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boxplot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函数的主要参数包括：“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notch”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vert”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和“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patch_artist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。其中“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notch”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用于控制箱体中间是否有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形凹槽，取值为“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True”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时表示有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形凹槽，取值为“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False”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时表示无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形凹槽，箱体为矩形；“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vert”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表示箱体的方向，取值为“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True”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时箱体垂直，取值为“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False”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时箱体水平；“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patch_artist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用于控制箱体的生成对象，取值为“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True”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时箱体由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Patch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对象生成，取值为“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False”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时箱体由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Line2D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生成。在本小节中，以上参数均设置为“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True”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0318C3-68AA-F23D-65AD-C4F4017C8996}"/>
              </a:ext>
            </a:extLst>
          </p:cNvPr>
          <p:cNvSpPr txBox="1"/>
          <p:nvPr/>
        </p:nvSpPr>
        <p:spPr>
          <a:xfrm>
            <a:off x="289827" y="1076907"/>
            <a:ext cx="6316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模型训练。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2067AD4-7C2F-F3F1-C5DD-7DD8D64A2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27" y="5064224"/>
            <a:ext cx="11623041" cy="65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2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D40E6-15E3-6783-B7D2-65528D37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C810279D-4385-0275-E5B7-19B2E7D1940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实践案例：基于箱线图的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wiki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网络流量异常检测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88EC0D7-4F46-0148-E828-85AA0190B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BF6A431B-00C8-5DA8-3BF0-3B415B860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215CA7-B2CC-0649-C42E-DCFE1801AE27}"/>
              </a:ext>
            </a:extLst>
          </p:cNvPr>
          <p:cNvSpPr txBox="1"/>
          <p:nvPr/>
        </p:nvSpPr>
        <p:spPr>
          <a:xfrm>
            <a:off x="284479" y="1763713"/>
            <a:ext cx="11623041" cy="4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为便于比较，将不同国家的箱线图用不同颜色标注，并将异常值用圆圈表示。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935C93-DEF9-29BC-97E0-8753F4770C5E}"/>
              </a:ext>
            </a:extLst>
          </p:cNvPr>
          <p:cNvSpPr txBox="1"/>
          <p:nvPr/>
        </p:nvSpPr>
        <p:spPr>
          <a:xfrm>
            <a:off x="289827" y="1076907"/>
            <a:ext cx="6316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可视化。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1BA48A-ED2B-EF18-9ADC-91C1C1E9A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692" y="2576004"/>
            <a:ext cx="9642616" cy="369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28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190D-5D8F-D6BE-4A99-A0DA080B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B8E693E0-7FF6-6D94-FEFF-E943C5B1EB0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实践案例：基于箱线图的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wiki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网络流量异常检测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C5437BF-DC8B-EB4F-C33B-5EBC135E2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0E8210BA-A039-3DC8-9D32-23E81A411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7EED53-366A-B310-11FE-2E11F63FFD5A}"/>
              </a:ext>
            </a:extLst>
          </p:cNvPr>
          <p:cNvSpPr txBox="1"/>
          <p:nvPr/>
        </p:nvSpPr>
        <p:spPr>
          <a:xfrm>
            <a:off x="6606807" y="1810493"/>
            <a:ext cx="5334000" cy="461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wiki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页面的流量中位数明显低于其他语言，一半以上的中文页面流量低于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字节。此外，中文数据中出现了三个异常值，最高的接近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字节，表明个别日期的流量显著高于其他时间。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俄语、法语和日语页面的流量中位数最高，且数据分布的跨度也较大，反映了这三种语言在维基百科上的流量波动更大。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英语、葡萄牙语和德语页面的流量中位数较为接近，但是德语和英语页面的数据波动范围更广，尤其是德语，其上四分位数以上的数据波动非常显著。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7FB8083-A07B-4072-5404-7770DB9E768F}"/>
              </a:ext>
            </a:extLst>
          </p:cNvPr>
          <p:cNvSpPr txBox="1"/>
          <p:nvPr/>
        </p:nvSpPr>
        <p:spPr>
          <a:xfrm>
            <a:off x="289827" y="1076907"/>
            <a:ext cx="6316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输出结果。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形 4">
            <a:extLst>
              <a:ext uri="{FF2B5EF4-FFF2-40B4-BE49-F238E27FC236}">
                <a16:creationId xmlns:a16="http://schemas.microsoft.com/office/drawing/2014/main" id="{099D2F2A-228A-53DF-A001-1D65B93014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64" t="1853" r="2206" b="2797"/>
          <a:stretch/>
        </p:blipFill>
        <p:spPr bwMode="auto">
          <a:xfrm>
            <a:off x="467360" y="1988855"/>
            <a:ext cx="5740399" cy="42569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443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5223</TotalTime>
  <Words>1704</Words>
  <Application>Microsoft Office PowerPoint</Application>
  <PresentationFormat>宽屏</PresentationFormat>
  <Paragraphs>111</Paragraphs>
  <Slides>21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21</vt:i4>
      </vt:variant>
    </vt:vector>
  </HeadingPairs>
  <TitlesOfParts>
    <vt:vector size="48" baseType="lpstr">
      <vt:lpstr>等线</vt:lpstr>
      <vt:lpstr>华光综艺_CNKI</vt:lpstr>
      <vt:lpstr>楷体</vt:lpstr>
      <vt:lpstr>思源黑体</vt:lpstr>
      <vt:lpstr>思源黑体 CN Bold</vt:lpstr>
      <vt:lpstr>微软雅黑</vt:lpstr>
      <vt:lpstr>Arial</vt:lpstr>
      <vt:lpstr>Calibri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Equation</vt:lpstr>
      <vt:lpstr>Photo Editor 照片</vt:lpstr>
      <vt:lpstr>MathType 7.0 Equation</vt:lpstr>
      <vt:lpstr>Microsoft Word 文档</vt:lpstr>
      <vt:lpstr>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Mengxin Ou</cp:lastModifiedBy>
  <cp:revision>2901</cp:revision>
  <dcterms:created xsi:type="dcterms:W3CDTF">2022-05-23T09:13:00Z</dcterms:created>
  <dcterms:modified xsi:type="dcterms:W3CDTF">2025-04-17T13:29:14Z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