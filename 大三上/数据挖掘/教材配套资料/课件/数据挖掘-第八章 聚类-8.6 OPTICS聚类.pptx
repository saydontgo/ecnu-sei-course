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15638" r:id="rId2"/>
    <p:sldId id="380" r:id="rId3"/>
    <p:sldId id="381" r:id="rId4"/>
    <p:sldId id="15726" r:id="rId5"/>
    <p:sldId id="383" r:id="rId6"/>
    <p:sldId id="15715" r:id="rId7"/>
    <p:sldId id="15718" r:id="rId8"/>
    <p:sldId id="1550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3E35C62-3D39-4AB8-8AB7-59FFB5AA4980}">
          <p14:sldIdLst>
            <p14:sldId id="15638"/>
            <p14:sldId id="380"/>
            <p14:sldId id="381"/>
            <p14:sldId id="15726"/>
            <p14:sldId id="383"/>
            <p14:sldId id="15715"/>
            <p14:sldId id="15718"/>
            <p14:sldId id="155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76549" autoAdjust="0"/>
  </p:normalViewPr>
  <p:slideViewPr>
    <p:cSldViewPr snapToGrid="0" showGuides="1">
      <p:cViewPr varScale="1">
        <p:scale>
          <a:sx n="91" d="100"/>
          <a:sy n="91" d="100"/>
        </p:scale>
        <p:origin x="2256" y="77"/>
      </p:cViewPr>
      <p:guideLst>
        <p:guide orient="horz" pos="2134"/>
        <p:guide pos="387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E81BA-5EDE-053A-00EC-0EC33E0B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BDF6D9-26A0-A108-62DB-64FB3A71E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28DA8C-6BB1-4616-98EE-B2842F6BF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92E92-A306-D4D2-13CE-7F49DC4AD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8100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74B9A-62F8-3E10-8524-DA1454F8E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ABD35B-95D5-F8BE-0A4A-41E8BD912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08CD5C-EDDF-F096-FA8F-A97F9F9BC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EC935F-3FB8-EDFF-AC58-DC8BFF7CE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052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A9F08-8E39-E5B3-DC73-286DFF220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45BF14-51D3-935E-8883-47BBEFD24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52C1CA-3218-5820-2CC8-837ABE25C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A3C9AD-15A7-951A-24C9-1F7C8DBDA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677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二、主要工作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三、总结展望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结束语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D:\works\工作\周琴\56-2019-大数据与复杂网络\模板设计\内页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77" y="0"/>
            <a:ext cx="12192000" cy="68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15 June, 2011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IHCAR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46203-2B80-4CBC-A257-89A48550B42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74" y="1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83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8D0B-5064-2AF9-7424-3F1097559ACE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8.6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en-US" altLang="zh-CN" b="0" dirty="0">
                <a:ea typeface="华光综艺_CNKI" panose="02000500000000000000" pitchFamily="2" charset="-122"/>
              </a:rPr>
              <a:t>OPTICS</a:t>
            </a:r>
            <a:r>
              <a:rPr lang="zh-CN" altLang="en-US" b="0">
                <a:ea typeface="华光综艺_CNKI" panose="02000500000000000000" pitchFamily="2" charset="-122"/>
              </a:rPr>
              <a:t>聚类</a:t>
            </a:r>
            <a:endParaRPr lang="zh-CN" altLang="en-US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AD93C-7958-BD90-4407-4D81CA26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57B9715-8FDD-FCC7-00E0-7972D0CEAE79}"/>
              </a:ext>
            </a:extLst>
          </p:cNvPr>
          <p:cNvSpPr txBox="1"/>
          <p:nvPr/>
        </p:nvSpPr>
        <p:spPr>
          <a:xfrm>
            <a:off x="2107276" y="1587976"/>
            <a:ext cx="9771298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tabLst>
                <a:tab pos="304800" algn="l"/>
              </a:tabLst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OPTICS</a:t>
            </a:r>
            <a:r>
              <a:rPr lang="zh-CN" altLang="en-US" sz="20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是一种</a:t>
            </a:r>
            <a:r>
              <a:rPr lang="zh-CN" altLang="en-US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基于密度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的算法，该方法由</a:t>
            </a:r>
            <a:r>
              <a:rPr lang="en-US" altLang="zh-CN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DBSCAN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算法改进而来。算法通过计算样本邻域内的</a:t>
            </a:r>
            <a:r>
              <a:rPr lang="zh-CN" altLang="en-US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可达距离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zh-CN" altLang="en-US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核心距离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，绘制反映数据簇结构的</a:t>
            </a:r>
            <a:r>
              <a:rPr lang="zh-CN" altLang="en-US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可达性图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，该图揭示了数据中簇的数量、大小和分布</a:t>
            </a:r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F588393F-A49A-659D-57F9-D1CEADF1BF6F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68841F9A-D0CE-10AC-6772-75B0FDEEA6E5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6.1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8" name="矩形: 圆角 55">
            <a:extLst>
              <a:ext uri="{FF2B5EF4-FFF2-40B4-BE49-F238E27FC236}">
                <a16:creationId xmlns:a16="http://schemas.microsoft.com/office/drawing/2014/main" id="{342383C1-674E-8CDB-C729-8AAE35BE1DFD}"/>
              </a:ext>
            </a:extLst>
          </p:cNvPr>
          <p:cNvSpPr/>
          <p:nvPr/>
        </p:nvSpPr>
        <p:spPr>
          <a:xfrm>
            <a:off x="166154" y="1665045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基本概念</a:t>
            </a: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BE785998-FF01-2935-21C5-BC4FAD831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43182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AF9BB3DD-E98A-E2D3-7721-A4AF4B38C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50516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857EF172-FB3C-F66E-4184-BF6AC2B57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52" y="3055410"/>
            <a:ext cx="8642205" cy="1494407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01300C5-4077-5556-4267-B567B40EE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276" y="4472955"/>
            <a:ext cx="8642205" cy="1026338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52C68CE5-0428-B2B2-B1EC-7AD4D0090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853" y="5499293"/>
            <a:ext cx="8642204" cy="1335946"/>
          </a:xfrm>
          <a:prstGeom prst="rect">
            <a:avLst/>
          </a:prstGeom>
        </p:spPr>
      </p:pic>
      <p:sp>
        <p:nvSpPr>
          <p:cNvPr id="2" name="矩形 26">
            <a:extLst>
              <a:ext uri="{FF2B5EF4-FFF2-40B4-BE49-F238E27FC236}">
                <a16:creationId xmlns:a16="http://schemas.microsoft.com/office/drawing/2014/main" id="{DE82CB62-5B2B-E780-E7BE-FB304148E959}"/>
              </a:ext>
            </a:extLst>
          </p:cNvPr>
          <p:cNvSpPr/>
          <p:nvPr/>
        </p:nvSpPr>
        <p:spPr>
          <a:xfrm>
            <a:off x="1087056" y="235457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六、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934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C7A96-93B3-0425-6B24-45C06E3C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11F1FE0-A840-6DDD-BD74-2709B6BE4C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97"/>
          <a:stretch/>
        </p:blipFill>
        <p:spPr bwMode="auto">
          <a:xfrm>
            <a:off x="514175" y="2027812"/>
            <a:ext cx="4442178" cy="42113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矩形 26">
            <a:extLst>
              <a:ext uri="{FF2B5EF4-FFF2-40B4-BE49-F238E27FC236}">
                <a16:creationId xmlns:a16="http://schemas.microsoft.com/office/drawing/2014/main" id="{EAACA2EE-04E7-A4A7-767D-356F6FA7F5BE}"/>
              </a:ext>
            </a:extLst>
          </p:cNvPr>
          <p:cNvSpPr/>
          <p:nvPr/>
        </p:nvSpPr>
        <p:spPr>
          <a:xfrm>
            <a:off x="1087056" y="235457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六、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8" name="矩形: 圆角 12">
            <a:extLst>
              <a:ext uri="{FF2B5EF4-FFF2-40B4-BE49-F238E27FC236}">
                <a16:creationId xmlns:a16="http://schemas.microsoft.com/office/drawing/2014/main" id="{F267A853-CCED-DC5B-FC94-6DADB49B5519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9" name="箭头: 五边形 11">
            <a:extLst>
              <a:ext uri="{FF2B5EF4-FFF2-40B4-BE49-F238E27FC236}">
                <a16:creationId xmlns:a16="http://schemas.microsoft.com/office/drawing/2014/main" id="{F061F073-CC30-0A25-4378-CE8A70508127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6.1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3FCF1A2-4AB9-C883-2AEB-634F16F3E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359" y="2729010"/>
            <a:ext cx="10580516" cy="269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00E8-0633-C6D5-13DB-6ADB150BE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2BD649FA-B1F0-D6A1-BE6E-CF5F22CA8E49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lang="zh-CN" altLang="en-US" sz="260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聚类流程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BA7ACDC1-DFB8-919D-375C-CA25EA285F38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6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.2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87DCD00-8B2C-FA9D-079C-CA84DA2C9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655169C-AE94-2251-F839-EA6CAB390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C10366-E885-0A53-CAF2-74A46B9D5830}"/>
              </a:ext>
            </a:extLst>
          </p:cNvPr>
          <p:cNvSpPr txBox="1"/>
          <p:nvPr/>
        </p:nvSpPr>
        <p:spPr>
          <a:xfrm>
            <a:off x="2919577" y="934273"/>
            <a:ext cx="6093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高斯混合聚类</a:t>
            </a:r>
            <a:r>
              <a:rPr lang="zh-CN" altLang="zh-CN" dirty="0"/>
              <a:t>算法的</a:t>
            </a:r>
            <a:r>
              <a:rPr lang="zh-CN" altLang="en-US" dirty="0"/>
              <a:t>流程</a:t>
            </a:r>
            <a:r>
              <a:rPr lang="zh-CN" altLang="zh-CN" dirty="0"/>
              <a:t>如下：</a:t>
            </a:r>
          </a:p>
        </p:txBody>
      </p:sp>
      <p:sp>
        <p:nvSpPr>
          <p:cNvPr id="3" name="矩形 26">
            <a:extLst>
              <a:ext uri="{FF2B5EF4-FFF2-40B4-BE49-F238E27FC236}">
                <a16:creationId xmlns:a16="http://schemas.microsoft.com/office/drawing/2014/main" id="{D232F619-5B6F-1F96-9F81-B9022B4F9E94}"/>
              </a:ext>
            </a:extLst>
          </p:cNvPr>
          <p:cNvSpPr/>
          <p:nvPr/>
        </p:nvSpPr>
        <p:spPr>
          <a:xfrm>
            <a:off x="1087056" y="235457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六、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079615-C275-EBA9-EB34-0529A58B2D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69"/>
          <a:stretch/>
        </p:blipFill>
        <p:spPr>
          <a:xfrm>
            <a:off x="3055635" y="1395938"/>
            <a:ext cx="6850160" cy="32364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D73048E-B082-2B71-0DBD-7ECA60BE72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04" b="12534"/>
          <a:stretch/>
        </p:blipFill>
        <p:spPr>
          <a:xfrm>
            <a:off x="3055635" y="4741721"/>
            <a:ext cx="6850160" cy="21047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BB22DB4-4718-1863-654E-6739D98FD6D0}"/>
              </a:ext>
            </a:extLst>
          </p:cNvPr>
          <p:cNvSpPr txBox="1"/>
          <p:nvPr/>
        </p:nvSpPr>
        <p:spPr>
          <a:xfrm>
            <a:off x="756730" y="2339431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OPTICS</a:t>
            </a:r>
            <a:r>
              <a:rPr lang="zh-CN" altLang="zh-C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180E3CD-CEB4-FD81-4FB5-6808E39DB840}"/>
              </a:ext>
            </a:extLst>
          </p:cNvPr>
          <p:cNvSpPr txBox="1"/>
          <p:nvPr/>
        </p:nvSpPr>
        <p:spPr>
          <a:xfrm>
            <a:off x="756730" y="5512079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簇标签的划分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244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12">
            <a:extLst>
              <a:ext uri="{FF2B5EF4-FFF2-40B4-BE49-F238E27FC236}">
                <a16:creationId xmlns:a16="http://schemas.microsoft.com/office/drawing/2014/main" id="{A07F1F5C-36E6-B0D2-DE78-FA43D85F8C29}"/>
              </a:ext>
            </a:extLst>
          </p:cNvPr>
          <p:cNvSpPr/>
          <p:nvPr/>
        </p:nvSpPr>
        <p:spPr>
          <a:xfrm>
            <a:off x="166155" y="976588"/>
            <a:ext cx="2967855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lang="zh-CN" altLang="en-US" sz="260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应用与评价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" name="箭头: 五边形 11">
            <a:extLst>
              <a:ext uri="{FF2B5EF4-FFF2-40B4-BE49-F238E27FC236}">
                <a16:creationId xmlns:a16="http://schemas.microsoft.com/office/drawing/2014/main" id="{5698BFD1-D95A-71A1-36D3-76F333A9221E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6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072494-0675-A6AE-7F8C-78C78D2CE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30FFD6-F46C-C6F4-7379-2D7009FF02B9}"/>
              </a:ext>
            </a:extLst>
          </p:cNvPr>
          <p:cNvGrpSpPr/>
          <p:nvPr/>
        </p:nvGrpSpPr>
        <p:grpSpPr>
          <a:xfrm>
            <a:off x="626147" y="2334714"/>
            <a:ext cx="11195304" cy="3763488"/>
            <a:chOff x="660400" y="473037"/>
            <a:chExt cx="10858500" cy="3650267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6328F1A-AACB-8AC5-9A87-1B314B3AC577}"/>
                </a:ext>
              </a:extLst>
            </p:cNvPr>
            <p:cNvSpPr/>
            <p:nvPr/>
          </p:nvSpPr>
          <p:spPr>
            <a:xfrm>
              <a:off x="4007877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1200">
                <a:solidFill>
                  <a:srgbClr val="FFFFFF"/>
                </a:solidFill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E380986-89E1-EFC4-1186-A57CF04F3D11}"/>
                </a:ext>
              </a:extLst>
            </p:cNvPr>
            <p:cNvSpPr/>
            <p:nvPr/>
          </p:nvSpPr>
          <p:spPr>
            <a:xfrm>
              <a:off x="8027424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1200">
                <a:solidFill>
                  <a:srgbClr val="FFFFFF"/>
                </a:solidFill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8F2B312-0471-6B48-5AD6-4D9934163002}"/>
                </a:ext>
              </a:extLst>
            </p:cNvPr>
            <p:cNvGrpSpPr/>
            <p:nvPr/>
          </p:nvGrpSpPr>
          <p:grpSpPr>
            <a:xfrm>
              <a:off x="660400" y="473037"/>
              <a:ext cx="10858500" cy="3650267"/>
              <a:chOff x="660400" y="473037"/>
              <a:chExt cx="10858500" cy="3650267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CCC549E8-7391-F5FA-4C7A-D738A9C93E1C}"/>
                  </a:ext>
                </a:extLst>
              </p:cNvPr>
              <p:cNvGrpSpPr/>
              <p:nvPr/>
            </p:nvGrpSpPr>
            <p:grpSpPr>
              <a:xfrm>
                <a:off x="660400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A6F220B-FCAA-0526-2232-CC51CDFEDB18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E7BBBB1-F6A8-C759-40D4-BBDB5BD98A57}"/>
                    </a:ext>
                  </a:extLst>
                </p:cNvPr>
                <p:cNvSpPr txBox="1"/>
                <p:nvPr/>
              </p:nvSpPr>
              <p:spPr>
                <a:xfrm>
                  <a:off x="1551965" y="3047135"/>
                  <a:ext cx="1734770" cy="12849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lang="en-US" altLang="zh-CN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OPTICS</a:t>
                  </a:r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是一种基于密度的聚类算法</a:t>
                  </a:r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，通过生成可达性图来识别和理解具有不同密度的簇结构。</a:t>
                  </a:r>
                  <a:endParaRPr kumimoji="1"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9296D64E-BB2F-D6B1-C094-E3B3BBCFA857}"/>
                  </a:ext>
                </a:extLst>
              </p:cNvPr>
              <p:cNvGrpSpPr/>
              <p:nvPr/>
            </p:nvGrpSpPr>
            <p:grpSpPr>
              <a:xfrm>
                <a:off x="4679947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19E27818-4117-5746-D261-12A3F9F819A6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39BC58A-D82D-5173-745B-C182E4F6160D}"/>
                    </a:ext>
                  </a:extLst>
                </p:cNvPr>
                <p:cNvSpPr txBox="1"/>
                <p:nvPr/>
              </p:nvSpPr>
              <p:spPr>
                <a:xfrm>
                  <a:off x="1551962" y="2963528"/>
                  <a:ext cx="1734770" cy="10234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354"/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时间复杂度</a:t>
                  </a:r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空间复杂度</a:t>
                  </a:r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F8E0FF17-031A-66F2-9C52-DE3F86BF3E44}"/>
                  </a:ext>
                </a:extLst>
              </p:cNvPr>
              <p:cNvGrpSpPr/>
              <p:nvPr/>
            </p:nvGrpSpPr>
            <p:grpSpPr>
              <a:xfrm>
                <a:off x="1065340" y="473037"/>
                <a:ext cx="10453560" cy="3650266"/>
                <a:chOff x="-4791274" y="1845809"/>
                <a:chExt cx="8334574" cy="2910341"/>
              </a:xfrm>
            </p:grpSpPr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0292F26E-D25E-AB69-0502-73C27048B2B3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6922173-6C7C-310F-978E-71ABF265F3B8}"/>
                    </a:ext>
                  </a:extLst>
                </p:cNvPr>
                <p:cNvSpPr txBox="1"/>
                <p:nvPr/>
              </p:nvSpPr>
              <p:spPr>
                <a:xfrm>
                  <a:off x="-4791274" y="1845809"/>
                  <a:ext cx="7649107" cy="3094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zh-CN" altLang="en-US" sz="2000" b="1" dirty="0">
                      <a:solidFill>
                        <a:schemeClr val="accent1">
                          <a:lumMod val="7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应用场景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：适用于识别复杂形状的簇，并且能够有效识别和处理异常点</a:t>
                  </a:r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1A8792EE-929C-3333-F170-E47B8E44C32A}"/>
                    </a:ext>
                  </a:extLst>
                </p:cNvPr>
                <p:cNvSpPr txBox="1"/>
                <p:nvPr/>
              </p:nvSpPr>
              <p:spPr>
                <a:xfrm>
                  <a:off x="1610874" y="2844059"/>
                  <a:ext cx="1734770" cy="15324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优点</a:t>
                  </a:r>
                  <a:r>
                    <a:rPr kumimoji="1" lang="zh-CN" altLang="en-US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：通过可达性图，可以处理具有不同密度的簇；对参数的依赖性较低</a:t>
                  </a:r>
                  <a:endParaRPr kumimoji="1"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缺点</a:t>
                  </a:r>
                  <a:r>
                    <a:rPr kumimoji="1" lang="zh-CN" altLang="en-US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：计算性能和存储的要求更高</a:t>
                  </a:r>
                  <a:endParaRPr kumimoji="1"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E5D9CAB-F282-33FD-BA83-BDFDC9CF1426}"/>
              </a:ext>
            </a:extLst>
          </p:cNvPr>
          <p:cNvSpPr/>
          <p:nvPr/>
        </p:nvSpPr>
        <p:spPr>
          <a:xfrm>
            <a:off x="433962" y="2296965"/>
            <a:ext cx="609685" cy="530966"/>
          </a:xfrm>
          <a:custGeom>
            <a:avLst/>
            <a:gdLst>
              <a:gd name="connsiteX0" fmla="*/ 102985 w 606407"/>
              <a:gd name="connsiteY0" fmla="*/ 131491 h 528112"/>
              <a:gd name="connsiteX1" fmla="*/ 89892 w 606407"/>
              <a:gd name="connsiteY1" fmla="*/ 218810 h 528112"/>
              <a:gd name="connsiteX2" fmla="*/ 102985 w 606407"/>
              <a:gd name="connsiteY2" fmla="*/ 236740 h 528112"/>
              <a:gd name="connsiteX3" fmla="*/ 103265 w 606407"/>
              <a:gd name="connsiteY3" fmla="*/ 236740 h 528112"/>
              <a:gd name="connsiteX4" fmla="*/ 116358 w 606407"/>
              <a:gd name="connsiteY4" fmla="*/ 218810 h 528112"/>
              <a:gd name="connsiteX5" fmla="*/ 103265 w 606407"/>
              <a:gd name="connsiteY5" fmla="*/ 131491 h 528112"/>
              <a:gd name="connsiteX6" fmla="*/ 335836 w 606407"/>
              <a:gd name="connsiteY6" fmla="*/ 85949 h 528112"/>
              <a:gd name="connsiteX7" fmla="*/ 351924 w 606407"/>
              <a:gd name="connsiteY7" fmla="*/ 101910 h 528112"/>
              <a:gd name="connsiteX8" fmla="*/ 346966 w 606407"/>
              <a:gd name="connsiteY8" fmla="*/ 113484 h 528112"/>
              <a:gd name="connsiteX9" fmla="*/ 392799 w 606407"/>
              <a:gd name="connsiteY9" fmla="*/ 159220 h 528112"/>
              <a:gd name="connsiteX10" fmla="*/ 404304 w 606407"/>
              <a:gd name="connsiteY10" fmla="*/ 154273 h 528112"/>
              <a:gd name="connsiteX11" fmla="*/ 416744 w 606407"/>
              <a:gd name="connsiteY11" fmla="*/ 160153 h 528112"/>
              <a:gd name="connsiteX12" fmla="*/ 455561 w 606407"/>
              <a:gd name="connsiteY12" fmla="*/ 140365 h 528112"/>
              <a:gd name="connsiteX13" fmla="*/ 455561 w 606407"/>
              <a:gd name="connsiteY13" fmla="*/ 139712 h 528112"/>
              <a:gd name="connsiteX14" fmla="*/ 471649 w 606407"/>
              <a:gd name="connsiteY14" fmla="*/ 123751 h 528112"/>
              <a:gd name="connsiteX15" fmla="*/ 487644 w 606407"/>
              <a:gd name="connsiteY15" fmla="*/ 139712 h 528112"/>
              <a:gd name="connsiteX16" fmla="*/ 483154 w 606407"/>
              <a:gd name="connsiteY16" fmla="*/ 150819 h 528112"/>
              <a:gd name="connsiteX17" fmla="*/ 496717 w 606407"/>
              <a:gd name="connsiteY17" fmla="*/ 164353 h 528112"/>
              <a:gd name="connsiteX18" fmla="*/ 504387 w 606407"/>
              <a:gd name="connsiteY18" fmla="*/ 162393 h 528112"/>
              <a:gd name="connsiteX19" fmla="*/ 509906 w 606407"/>
              <a:gd name="connsiteY19" fmla="*/ 163420 h 528112"/>
              <a:gd name="connsiteX20" fmla="*/ 540118 w 606407"/>
              <a:gd name="connsiteY20" fmla="*/ 117964 h 528112"/>
              <a:gd name="connsiteX21" fmla="*/ 535160 w 606407"/>
              <a:gd name="connsiteY21" fmla="*/ 106390 h 528112"/>
              <a:gd name="connsiteX22" fmla="*/ 551155 w 606407"/>
              <a:gd name="connsiteY22" fmla="*/ 90429 h 528112"/>
              <a:gd name="connsiteX23" fmla="*/ 567243 w 606407"/>
              <a:gd name="connsiteY23" fmla="*/ 106390 h 528112"/>
              <a:gd name="connsiteX24" fmla="*/ 551155 w 606407"/>
              <a:gd name="connsiteY24" fmla="*/ 122444 h 528112"/>
              <a:gd name="connsiteX25" fmla="*/ 547507 w 606407"/>
              <a:gd name="connsiteY25" fmla="*/ 121978 h 528112"/>
              <a:gd name="connsiteX26" fmla="*/ 516734 w 606407"/>
              <a:gd name="connsiteY26" fmla="*/ 168180 h 528112"/>
              <a:gd name="connsiteX27" fmla="*/ 520475 w 606407"/>
              <a:gd name="connsiteY27" fmla="*/ 178447 h 528112"/>
              <a:gd name="connsiteX28" fmla="*/ 504481 w 606407"/>
              <a:gd name="connsiteY28" fmla="*/ 194408 h 528112"/>
              <a:gd name="connsiteX29" fmla="*/ 488392 w 606407"/>
              <a:gd name="connsiteY29" fmla="*/ 178447 h 528112"/>
              <a:gd name="connsiteX30" fmla="*/ 490731 w 606407"/>
              <a:gd name="connsiteY30" fmla="*/ 170140 h 528112"/>
              <a:gd name="connsiteX31" fmla="*/ 475765 w 606407"/>
              <a:gd name="connsiteY31" fmla="*/ 155113 h 528112"/>
              <a:gd name="connsiteX32" fmla="*/ 471649 w 606407"/>
              <a:gd name="connsiteY32" fmla="*/ 155673 h 528112"/>
              <a:gd name="connsiteX33" fmla="*/ 458180 w 606407"/>
              <a:gd name="connsiteY33" fmla="*/ 148393 h 528112"/>
              <a:gd name="connsiteX34" fmla="*/ 420111 w 606407"/>
              <a:gd name="connsiteY34" fmla="*/ 167714 h 528112"/>
              <a:gd name="connsiteX35" fmla="*/ 420392 w 606407"/>
              <a:gd name="connsiteY35" fmla="*/ 170234 h 528112"/>
              <a:gd name="connsiteX36" fmla="*/ 404304 w 606407"/>
              <a:gd name="connsiteY36" fmla="*/ 186288 h 528112"/>
              <a:gd name="connsiteX37" fmla="*/ 388309 w 606407"/>
              <a:gd name="connsiteY37" fmla="*/ 170234 h 528112"/>
              <a:gd name="connsiteX38" fmla="*/ 388683 w 606407"/>
              <a:gd name="connsiteY38" fmla="*/ 166873 h 528112"/>
              <a:gd name="connsiteX39" fmla="*/ 339203 w 606407"/>
              <a:gd name="connsiteY39" fmla="*/ 117591 h 528112"/>
              <a:gd name="connsiteX40" fmla="*/ 335836 w 606407"/>
              <a:gd name="connsiteY40" fmla="*/ 117871 h 528112"/>
              <a:gd name="connsiteX41" fmla="*/ 319841 w 606407"/>
              <a:gd name="connsiteY41" fmla="*/ 101910 h 528112"/>
              <a:gd name="connsiteX42" fmla="*/ 335836 w 606407"/>
              <a:gd name="connsiteY42" fmla="*/ 85949 h 528112"/>
              <a:gd name="connsiteX43" fmla="*/ 304990 w 606407"/>
              <a:gd name="connsiteY43" fmla="*/ 45200 h 528112"/>
              <a:gd name="connsiteX44" fmla="*/ 304990 w 606407"/>
              <a:gd name="connsiteY44" fmla="*/ 82929 h 528112"/>
              <a:gd name="connsiteX45" fmla="*/ 340060 w 606407"/>
              <a:gd name="connsiteY45" fmla="*/ 55099 h 528112"/>
              <a:gd name="connsiteX46" fmla="*/ 345578 w 606407"/>
              <a:gd name="connsiteY46" fmla="*/ 62010 h 528112"/>
              <a:gd name="connsiteX47" fmla="*/ 304990 w 606407"/>
              <a:gd name="connsiteY47" fmla="*/ 94416 h 528112"/>
              <a:gd name="connsiteX48" fmla="*/ 304990 w 606407"/>
              <a:gd name="connsiteY48" fmla="*/ 250842 h 528112"/>
              <a:gd name="connsiteX49" fmla="*/ 307234 w 606407"/>
              <a:gd name="connsiteY49" fmla="*/ 253083 h 528112"/>
              <a:gd name="connsiteX50" fmla="*/ 581531 w 606407"/>
              <a:gd name="connsiteY50" fmla="*/ 253083 h 528112"/>
              <a:gd name="connsiteX51" fmla="*/ 583775 w 606407"/>
              <a:gd name="connsiteY51" fmla="*/ 250842 h 528112"/>
              <a:gd name="connsiteX52" fmla="*/ 583775 w 606407"/>
              <a:gd name="connsiteY52" fmla="*/ 45200 h 528112"/>
              <a:gd name="connsiteX53" fmla="*/ 103240 w 606407"/>
              <a:gd name="connsiteY53" fmla="*/ 4375 h 528112"/>
              <a:gd name="connsiteX54" fmla="*/ 157540 w 606407"/>
              <a:gd name="connsiteY54" fmla="*/ 58534 h 528112"/>
              <a:gd name="connsiteX55" fmla="*/ 103240 w 606407"/>
              <a:gd name="connsiteY55" fmla="*/ 112693 h 528112"/>
              <a:gd name="connsiteX56" fmla="*/ 48940 w 606407"/>
              <a:gd name="connsiteY56" fmla="*/ 58534 h 528112"/>
              <a:gd name="connsiteX57" fmla="*/ 103240 w 606407"/>
              <a:gd name="connsiteY57" fmla="*/ 4375 h 528112"/>
              <a:gd name="connsiteX58" fmla="*/ 443774 w 606407"/>
              <a:gd name="connsiteY58" fmla="*/ 0 h 528112"/>
              <a:gd name="connsiteX59" fmla="*/ 444990 w 606407"/>
              <a:gd name="connsiteY59" fmla="*/ 0 h 528112"/>
              <a:gd name="connsiteX60" fmla="*/ 456306 w 606407"/>
              <a:gd name="connsiteY60" fmla="*/ 11300 h 528112"/>
              <a:gd name="connsiteX61" fmla="*/ 456306 w 606407"/>
              <a:gd name="connsiteY61" fmla="*/ 15783 h 528112"/>
              <a:gd name="connsiteX62" fmla="*/ 606407 w 606407"/>
              <a:gd name="connsiteY62" fmla="*/ 15783 h 528112"/>
              <a:gd name="connsiteX63" fmla="*/ 606407 w 606407"/>
              <a:gd name="connsiteY63" fmla="*/ 45200 h 528112"/>
              <a:gd name="connsiteX64" fmla="*/ 597429 w 606407"/>
              <a:gd name="connsiteY64" fmla="*/ 45200 h 528112"/>
              <a:gd name="connsiteX65" fmla="*/ 597429 w 606407"/>
              <a:gd name="connsiteY65" fmla="*/ 250748 h 528112"/>
              <a:gd name="connsiteX66" fmla="*/ 581531 w 606407"/>
              <a:gd name="connsiteY66" fmla="*/ 266624 h 528112"/>
              <a:gd name="connsiteX67" fmla="*/ 453407 w 606407"/>
              <a:gd name="connsiteY67" fmla="*/ 266624 h 528112"/>
              <a:gd name="connsiteX68" fmla="*/ 453407 w 606407"/>
              <a:gd name="connsiteY68" fmla="*/ 429214 h 528112"/>
              <a:gd name="connsiteX69" fmla="*/ 520368 w 606407"/>
              <a:gd name="connsiteY69" fmla="*/ 480858 h 528112"/>
              <a:gd name="connsiteX70" fmla="*/ 521958 w 606407"/>
              <a:gd name="connsiteY70" fmla="*/ 493558 h 528112"/>
              <a:gd name="connsiteX71" fmla="*/ 514757 w 606407"/>
              <a:gd name="connsiteY71" fmla="*/ 497014 h 528112"/>
              <a:gd name="connsiteX72" fmla="*/ 509239 w 606407"/>
              <a:gd name="connsiteY72" fmla="*/ 495146 h 528112"/>
              <a:gd name="connsiteX73" fmla="*/ 453407 w 606407"/>
              <a:gd name="connsiteY73" fmla="*/ 452094 h 528112"/>
              <a:gd name="connsiteX74" fmla="*/ 453407 w 606407"/>
              <a:gd name="connsiteY74" fmla="*/ 487021 h 528112"/>
              <a:gd name="connsiteX75" fmla="*/ 453407 w 606407"/>
              <a:gd name="connsiteY75" fmla="*/ 518960 h 528112"/>
              <a:gd name="connsiteX76" fmla="*/ 444336 w 606407"/>
              <a:gd name="connsiteY76" fmla="*/ 528112 h 528112"/>
              <a:gd name="connsiteX77" fmla="*/ 435264 w 606407"/>
              <a:gd name="connsiteY77" fmla="*/ 518960 h 528112"/>
              <a:gd name="connsiteX78" fmla="*/ 435264 w 606407"/>
              <a:gd name="connsiteY78" fmla="*/ 452094 h 528112"/>
              <a:gd name="connsiteX79" fmla="*/ 379432 w 606407"/>
              <a:gd name="connsiteY79" fmla="*/ 495146 h 528112"/>
              <a:gd name="connsiteX80" fmla="*/ 373914 w 606407"/>
              <a:gd name="connsiteY80" fmla="*/ 497014 h 528112"/>
              <a:gd name="connsiteX81" fmla="*/ 366713 w 606407"/>
              <a:gd name="connsiteY81" fmla="*/ 493558 h 528112"/>
              <a:gd name="connsiteX82" fmla="*/ 368303 w 606407"/>
              <a:gd name="connsiteY82" fmla="*/ 480858 h 528112"/>
              <a:gd name="connsiteX83" fmla="*/ 435264 w 606407"/>
              <a:gd name="connsiteY83" fmla="*/ 429214 h 528112"/>
              <a:gd name="connsiteX84" fmla="*/ 435264 w 606407"/>
              <a:gd name="connsiteY84" fmla="*/ 266624 h 528112"/>
              <a:gd name="connsiteX85" fmla="*/ 307234 w 606407"/>
              <a:gd name="connsiteY85" fmla="*/ 266624 h 528112"/>
              <a:gd name="connsiteX86" fmla="*/ 291336 w 606407"/>
              <a:gd name="connsiteY86" fmla="*/ 250748 h 528112"/>
              <a:gd name="connsiteX87" fmla="*/ 291336 w 606407"/>
              <a:gd name="connsiteY87" fmla="*/ 105249 h 528112"/>
              <a:gd name="connsiteX88" fmla="*/ 267768 w 606407"/>
              <a:gd name="connsiteY88" fmla="*/ 124020 h 528112"/>
              <a:gd name="connsiteX89" fmla="*/ 261315 w 606407"/>
              <a:gd name="connsiteY89" fmla="*/ 149609 h 528112"/>
              <a:gd name="connsiteX90" fmla="*/ 180794 w 606407"/>
              <a:gd name="connsiteY90" fmla="*/ 185563 h 528112"/>
              <a:gd name="connsiteX91" fmla="*/ 158723 w 606407"/>
              <a:gd name="connsiteY91" fmla="*/ 182575 h 528112"/>
              <a:gd name="connsiteX92" fmla="*/ 158723 w 606407"/>
              <a:gd name="connsiteY92" fmla="*/ 282594 h 528112"/>
              <a:gd name="connsiteX93" fmla="*/ 154982 w 606407"/>
              <a:gd name="connsiteY93" fmla="*/ 302112 h 528112"/>
              <a:gd name="connsiteX94" fmla="*/ 173219 w 606407"/>
              <a:gd name="connsiteY94" fmla="*/ 501030 h 528112"/>
              <a:gd name="connsiteX95" fmla="*/ 150587 w 606407"/>
              <a:gd name="connsiteY95" fmla="*/ 527925 h 528112"/>
              <a:gd name="connsiteX96" fmla="*/ 148436 w 606407"/>
              <a:gd name="connsiteY96" fmla="*/ 528112 h 528112"/>
              <a:gd name="connsiteX97" fmla="*/ 123653 w 606407"/>
              <a:gd name="connsiteY97" fmla="*/ 505325 h 528112"/>
              <a:gd name="connsiteX98" fmla="*/ 107287 w 606407"/>
              <a:gd name="connsiteY98" fmla="*/ 330222 h 528112"/>
              <a:gd name="connsiteX99" fmla="*/ 103172 w 606407"/>
              <a:gd name="connsiteY99" fmla="*/ 330409 h 528112"/>
              <a:gd name="connsiteX100" fmla="*/ 99244 w 606407"/>
              <a:gd name="connsiteY100" fmla="*/ 330315 h 528112"/>
              <a:gd name="connsiteX101" fmla="*/ 86899 w 606407"/>
              <a:gd name="connsiteY101" fmla="*/ 505139 h 528112"/>
              <a:gd name="connsiteX102" fmla="*/ 62116 w 606407"/>
              <a:gd name="connsiteY102" fmla="*/ 528019 h 528112"/>
              <a:gd name="connsiteX103" fmla="*/ 60152 w 606407"/>
              <a:gd name="connsiteY103" fmla="*/ 528019 h 528112"/>
              <a:gd name="connsiteX104" fmla="*/ 37240 w 606407"/>
              <a:gd name="connsiteY104" fmla="*/ 501310 h 528112"/>
              <a:gd name="connsiteX105" fmla="*/ 52577 w 606407"/>
              <a:gd name="connsiteY105" fmla="*/ 302672 h 528112"/>
              <a:gd name="connsiteX106" fmla="*/ 47621 w 606407"/>
              <a:gd name="connsiteY106" fmla="*/ 282594 h 528112"/>
              <a:gd name="connsiteX107" fmla="*/ 47621 w 606407"/>
              <a:gd name="connsiteY107" fmla="*/ 215074 h 528112"/>
              <a:gd name="connsiteX108" fmla="*/ 43225 w 606407"/>
              <a:gd name="connsiteY108" fmla="*/ 289318 h 528112"/>
              <a:gd name="connsiteX109" fmla="*/ 23866 w 606407"/>
              <a:gd name="connsiteY109" fmla="*/ 311918 h 528112"/>
              <a:gd name="connsiteX110" fmla="*/ 22183 w 606407"/>
              <a:gd name="connsiteY110" fmla="*/ 312011 h 528112"/>
              <a:gd name="connsiteX111" fmla="*/ 1234 w 606407"/>
              <a:gd name="connsiteY111" fmla="*/ 292586 h 528112"/>
              <a:gd name="connsiteX112" fmla="*/ 67073 w 606407"/>
              <a:gd name="connsiteY112" fmla="*/ 125981 h 528112"/>
              <a:gd name="connsiteX113" fmla="*/ 89611 w 606407"/>
              <a:gd name="connsiteY113" fmla="*/ 115895 h 528112"/>
              <a:gd name="connsiteX114" fmla="*/ 103172 w 606407"/>
              <a:gd name="connsiteY114" fmla="*/ 129437 h 528112"/>
              <a:gd name="connsiteX115" fmla="*/ 116265 w 606407"/>
              <a:gd name="connsiteY115" fmla="*/ 115709 h 528112"/>
              <a:gd name="connsiteX116" fmla="*/ 116358 w 606407"/>
              <a:gd name="connsiteY116" fmla="*/ 115802 h 528112"/>
              <a:gd name="connsiteX117" fmla="*/ 140674 w 606407"/>
              <a:gd name="connsiteY117" fmla="*/ 126822 h 528112"/>
              <a:gd name="connsiteX118" fmla="*/ 235878 w 606407"/>
              <a:gd name="connsiteY118" fmla="*/ 116082 h 528112"/>
              <a:gd name="connsiteX119" fmla="*/ 262344 w 606407"/>
              <a:gd name="connsiteY119" fmla="*/ 116829 h 528112"/>
              <a:gd name="connsiteX120" fmla="*/ 291336 w 606407"/>
              <a:gd name="connsiteY120" fmla="*/ 93762 h 528112"/>
              <a:gd name="connsiteX121" fmla="*/ 291336 w 606407"/>
              <a:gd name="connsiteY121" fmla="*/ 45200 h 528112"/>
              <a:gd name="connsiteX122" fmla="*/ 282264 w 606407"/>
              <a:gd name="connsiteY122" fmla="*/ 45200 h 528112"/>
              <a:gd name="connsiteX123" fmla="*/ 282264 w 606407"/>
              <a:gd name="connsiteY123" fmla="*/ 15783 h 528112"/>
              <a:gd name="connsiteX124" fmla="*/ 432458 w 606407"/>
              <a:gd name="connsiteY124" fmla="*/ 15783 h 528112"/>
              <a:gd name="connsiteX125" fmla="*/ 432458 w 606407"/>
              <a:gd name="connsiteY125" fmla="*/ 11300 h 528112"/>
              <a:gd name="connsiteX126" fmla="*/ 443774 w 606407"/>
              <a:gd name="connsiteY126" fmla="*/ 0 h 528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606407" h="528112">
                <a:moveTo>
                  <a:pt x="102985" y="131491"/>
                </a:moveTo>
                <a:lnTo>
                  <a:pt x="89892" y="218810"/>
                </a:lnTo>
                <a:lnTo>
                  <a:pt x="102985" y="236740"/>
                </a:lnTo>
                <a:lnTo>
                  <a:pt x="103265" y="236740"/>
                </a:lnTo>
                <a:lnTo>
                  <a:pt x="116358" y="218810"/>
                </a:lnTo>
                <a:lnTo>
                  <a:pt x="103265" y="131491"/>
                </a:lnTo>
                <a:close/>
                <a:moveTo>
                  <a:pt x="335836" y="85949"/>
                </a:moveTo>
                <a:cubicBezTo>
                  <a:pt x="344722" y="85949"/>
                  <a:pt x="351924" y="93136"/>
                  <a:pt x="351924" y="101910"/>
                </a:cubicBezTo>
                <a:cubicBezTo>
                  <a:pt x="351924" y="106484"/>
                  <a:pt x="349960" y="110591"/>
                  <a:pt x="346966" y="113484"/>
                </a:cubicBezTo>
                <a:lnTo>
                  <a:pt x="392799" y="159220"/>
                </a:lnTo>
                <a:cubicBezTo>
                  <a:pt x="395698" y="156140"/>
                  <a:pt x="399814" y="154273"/>
                  <a:pt x="404304" y="154273"/>
                </a:cubicBezTo>
                <a:cubicBezTo>
                  <a:pt x="409355" y="154273"/>
                  <a:pt x="413751" y="156513"/>
                  <a:pt x="416744" y="160153"/>
                </a:cubicBezTo>
                <a:lnTo>
                  <a:pt x="455561" y="140365"/>
                </a:lnTo>
                <a:cubicBezTo>
                  <a:pt x="455561" y="140179"/>
                  <a:pt x="455561" y="139899"/>
                  <a:pt x="455561" y="139712"/>
                </a:cubicBezTo>
                <a:cubicBezTo>
                  <a:pt x="455561" y="130845"/>
                  <a:pt x="462764" y="123751"/>
                  <a:pt x="471649" y="123751"/>
                </a:cubicBezTo>
                <a:cubicBezTo>
                  <a:pt x="480442" y="123751"/>
                  <a:pt x="487644" y="130845"/>
                  <a:pt x="487644" y="139712"/>
                </a:cubicBezTo>
                <a:cubicBezTo>
                  <a:pt x="487644" y="144006"/>
                  <a:pt x="485960" y="147926"/>
                  <a:pt x="483154" y="150819"/>
                </a:cubicBezTo>
                <a:lnTo>
                  <a:pt x="496717" y="164353"/>
                </a:lnTo>
                <a:cubicBezTo>
                  <a:pt x="499055" y="163140"/>
                  <a:pt x="501581" y="162393"/>
                  <a:pt x="504387" y="162393"/>
                </a:cubicBezTo>
                <a:cubicBezTo>
                  <a:pt x="506351" y="162393"/>
                  <a:pt x="508222" y="162767"/>
                  <a:pt x="509906" y="163420"/>
                </a:cubicBezTo>
                <a:lnTo>
                  <a:pt x="540118" y="117964"/>
                </a:lnTo>
                <a:cubicBezTo>
                  <a:pt x="537031" y="115071"/>
                  <a:pt x="535160" y="110964"/>
                  <a:pt x="535160" y="106390"/>
                </a:cubicBezTo>
                <a:cubicBezTo>
                  <a:pt x="535160" y="97617"/>
                  <a:pt x="542363" y="90429"/>
                  <a:pt x="551155" y="90429"/>
                </a:cubicBezTo>
                <a:cubicBezTo>
                  <a:pt x="560041" y="90429"/>
                  <a:pt x="567243" y="97617"/>
                  <a:pt x="567243" y="106390"/>
                </a:cubicBezTo>
                <a:cubicBezTo>
                  <a:pt x="567243" y="115257"/>
                  <a:pt x="560041" y="122444"/>
                  <a:pt x="551155" y="122444"/>
                </a:cubicBezTo>
                <a:cubicBezTo>
                  <a:pt x="549939" y="122444"/>
                  <a:pt x="548629" y="122258"/>
                  <a:pt x="547507" y="121978"/>
                </a:cubicBezTo>
                <a:lnTo>
                  <a:pt x="516734" y="168180"/>
                </a:lnTo>
                <a:cubicBezTo>
                  <a:pt x="519072" y="170980"/>
                  <a:pt x="520475" y="174527"/>
                  <a:pt x="520475" y="178447"/>
                </a:cubicBezTo>
                <a:cubicBezTo>
                  <a:pt x="520475" y="187221"/>
                  <a:pt x="513273" y="194408"/>
                  <a:pt x="504481" y="194408"/>
                </a:cubicBezTo>
                <a:cubicBezTo>
                  <a:pt x="495501" y="194408"/>
                  <a:pt x="488392" y="187221"/>
                  <a:pt x="488392" y="178447"/>
                </a:cubicBezTo>
                <a:cubicBezTo>
                  <a:pt x="488392" y="175367"/>
                  <a:pt x="489234" y="172567"/>
                  <a:pt x="490731" y="170140"/>
                </a:cubicBezTo>
                <a:lnTo>
                  <a:pt x="475765" y="155113"/>
                </a:lnTo>
                <a:cubicBezTo>
                  <a:pt x="474456" y="155486"/>
                  <a:pt x="473053" y="155673"/>
                  <a:pt x="471649" y="155673"/>
                </a:cubicBezTo>
                <a:cubicBezTo>
                  <a:pt x="465944" y="155673"/>
                  <a:pt x="461080" y="152779"/>
                  <a:pt x="458180" y="148393"/>
                </a:cubicBezTo>
                <a:lnTo>
                  <a:pt x="420111" y="167714"/>
                </a:lnTo>
                <a:cubicBezTo>
                  <a:pt x="420298" y="168554"/>
                  <a:pt x="420392" y="169394"/>
                  <a:pt x="420392" y="170234"/>
                </a:cubicBezTo>
                <a:cubicBezTo>
                  <a:pt x="420392" y="179101"/>
                  <a:pt x="413190" y="186288"/>
                  <a:pt x="404304" y="186288"/>
                </a:cubicBezTo>
                <a:cubicBezTo>
                  <a:pt x="395418" y="186288"/>
                  <a:pt x="388309" y="179101"/>
                  <a:pt x="388309" y="170234"/>
                </a:cubicBezTo>
                <a:cubicBezTo>
                  <a:pt x="388309" y="169114"/>
                  <a:pt x="388403" y="167994"/>
                  <a:pt x="388683" y="166873"/>
                </a:cubicBezTo>
                <a:lnTo>
                  <a:pt x="339203" y="117591"/>
                </a:lnTo>
                <a:cubicBezTo>
                  <a:pt x="338174" y="117778"/>
                  <a:pt x="337052" y="117871"/>
                  <a:pt x="335836" y="117871"/>
                </a:cubicBezTo>
                <a:cubicBezTo>
                  <a:pt x="326950" y="117871"/>
                  <a:pt x="319841" y="110777"/>
                  <a:pt x="319841" y="101910"/>
                </a:cubicBezTo>
                <a:cubicBezTo>
                  <a:pt x="319841" y="93136"/>
                  <a:pt x="326950" y="85949"/>
                  <a:pt x="335836" y="85949"/>
                </a:cubicBezTo>
                <a:close/>
                <a:moveTo>
                  <a:pt x="304990" y="45200"/>
                </a:moveTo>
                <a:lnTo>
                  <a:pt x="304990" y="82929"/>
                </a:lnTo>
                <a:lnTo>
                  <a:pt x="340060" y="55099"/>
                </a:lnTo>
                <a:lnTo>
                  <a:pt x="345578" y="62010"/>
                </a:lnTo>
                <a:lnTo>
                  <a:pt x="304990" y="94416"/>
                </a:lnTo>
                <a:lnTo>
                  <a:pt x="304990" y="250842"/>
                </a:lnTo>
                <a:cubicBezTo>
                  <a:pt x="304990" y="252056"/>
                  <a:pt x="305925" y="253083"/>
                  <a:pt x="307234" y="253083"/>
                </a:cubicBezTo>
                <a:lnTo>
                  <a:pt x="581531" y="253083"/>
                </a:lnTo>
                <a:cubicBezTo>
                  <a:pt x="582746" y="253083"/>
                  <a:pt x="583775" y="252056"/>
                  <a:pt x="583775" y="250842"/>
                </a:cubicBezTo>
                <a:lnTo>
                  <a:pt x="583775" y="45200"/>
                </a:lnTo>
                <a:close/>
                <a:moveTo>
                  <a:pt x="103240" y="4375"/>
                </a:moveTo>
                <a:cubicBezTo>
                  <a:pt x="133229" y="4375"/>
                  <a:pt x="157540" y="28623"/>
                  <a:pt x="157540" y="58534"/>
                </a:cubicBezTo>
                <a:cubicBezTo>
                  <a:pt x="157540" y="88445"/>
                  <a:pt x="133229" y="112693"/>
                  <a:pt x="103240" y="112693"/>
                </a:cubicBezTo>
                <a:cubicBezTo>
                  <a:pt x="73251" y="112693"/>
                  <a:pt x="48940" y="88445"/>
                  <a:pt x="48940" y="58534"/>
                </a:cubicBezTo>
                <a:cubicBezTo>
                  <a:pt x="48940" y="28623"/>
                  <a:pt x="73251" y="4375"/>
                  <a:pt x="103240" y="4375"/>
                </a:cubicBezTo>
                <a:close/>
                <a:moveTo>
                  <a:pt x="443774" y="0"/>
                </a:moveTo>
                <a:lnTo>
                  <a:pt x="444990" y="0"/>
                </a:lnTo>
                <a:cubicBezTo>
                  <a:pt x="451163" y="0"/>
                  <a:pt x="456306" y="5043"/>
                  <a:pt x="456306" y="11300"/>
                </a:cubicBezTo>
                <a:lnTo>
                  <a:pt x="456306" y="15783"/>
                </a:lnTo>
                <a:lnTo>
                  <a:pt x="606407" y="15783"/>
                </a:lnTo>
                <a:lnTo>
                  <a:pt x="606407" y="45200"/>
                </a:lnTo>
                <a:lnTo>
                  <a:pt x="597429" y="45200"/>
                </a:lnTo>
                <a:lnTo>
                  <a:pt x="597429" y="250748"/>
                </a:lnTo>
                <a:cubicBezTo>
                  <a:pt x="597429" y="259527"/>
                  <a:pt x="590321" y="266624"/>
                  <a:pt x="581531" y="266624"/>
                </a:cubicBezTo>
                <a:lnTo>
                  <a:pt x="453407" y="266624"/>
                </a:lnTo>
                <a:lnTo>
                  <a:pt x="453407" y="429214"/>
                </a:lnTo>
                <a:lnTo>
                  <a:pt x="520368" y="480858"/>
                </a:lnTo>
                <a:cubicBezTo>
                  <a:pt x="524296" y="483846"/>
                  <a:pt x="525044" y="489543"/>
                  <a:pt x="521958" y="493558"/>
                </a:cubicBezTo>
                <a:cubicBezTo>
                  <a:pt x="520181" y="495800"/>
                  <a:pt x="517469" y="497014"/>
                  <a:pt x="514757" y="497014"/>
                </a:cubicBezTo>
                <a:cubicBezTo>
                  <a:pt x="512886" y="497014"/>
                  <a:pt x="510922" y="496360"/>
                  <a:pt x="509239" y="495146"/>
                </a:cubicBezTo>
                <a:lnTo>
                  <a:pt x="453407" y="452094"/>
                </a:lnTo>
                <a:lnTo>
                  <a:pt x="453407" y="487021"/>
                </a:lnTo>
                <a:lnTo>
                  <a:pt x="453407" y="518960"/>
                </a:lnTo>
                <a:cubicBezTo>
                  <a:pt x="453407" y="524003"/>
                  <a:pt x="449386" y="528112"/>
                  <a:pt x="444336" y="528112"/>
                </a:cubicBezTo>
                <a:cubicBezTo>
                  <a:pt x="439379" y="528112"/>
                  <a:pt x="435264" y="524097"/>
                  <a:pt x="435264" y="518960"/>
                </a:cubicBezTo>
                <a:lnTo>
                  <a:pt x="435264" y="452094"/>
                </a:lnTo>
                <a:lnTo>
                  <a:pt x="379432" y="495146"/>
                </a:lnTo>
                <a:cubicBezTo>
                  <a:pt x="377749" y="496360"/>
                  <a:pt x="375878" y="497014"/>
                  <a:pt x="373914" y="497014"/>
                </a:cubicBezTo>
                <a:cubicBezTo>
                  <a:pt x="371202" y="497014"/>
                  <a:pt x="368490" y="495800"/>
                  <a:pt x="366713" y="493558"/>
                </a:cubicBezTo>
                <a:cubicBezTo>
                  <a:pt x="363627" y="489543"/>
                  <a:pt x="364375" y="483846"/>
                  <a:pt x="368303" y="480858"/>
                </a:cubicBezTo>
                <a:lnTo>
                  <a:pt x="435264" y="429214"/>
                </a:lnTo>
                <a:lnTo>
                  <a:pt x="435264" y="266624"/>
                </a:lnTo>
                <a:lnTo>
                  <a:pt x="307234" y="266624"/>
                </a:lnTo>
                <a:cubicBezTo>
                  <a:pt x="298443" y="266624"/>
                  <a:pt x="291336" y="259527"/>
                  <a:pt x="291336" y="250748"/>
                </a:cubicBezTo>
                <a:lnTo>
                  <a:pt x="291336" y="105249"/>
                </a:lnTo>
                <a:lnTo>
                  <a:pt x="267768" y="124020"/>
                </a:lnTo>
                <a:cubicBezTo>
                  <a:pt x="271790" y="132799"/>
                  <a:pt x="269358" y="143445"/>
                  <a:pt x="261315" y="149609"/>
                </a:cubicBezTo>
                <a:cubicBezTo>
                  <a:pt x="235317" y="169314"/>
                  <a:pt x="210253" y="185563"/>
                  <a:pt x="180794" y="185563"/>
                </a:cubicBezTo>
                <a:cubicBezTo>
                  <a:pt x="173687" y="185563"/>
                  <a:pt x="166392" y="184629"/>
                  <a:pt x="158723" y="182575"/>
                </a:cubicBezTo>
                <a:lnTo>
                  <a:pt x="158723" y="282594"/>
                </a:lnTo>
                <a:cubicBezTo>
                  <a:pt x="158723" y="288291"/>
                  <a:pt x="157227" y="298283"/>
                  <a:pt x="154982" y="302112"/>
                </a:cubicBezTo>
                <a:cubicBezTo>
                  <a:pt x="155076" y="302486"/>
                  <a:pt x="173219" y="501030"/>
                  <a:pt x="173219" y="501030"/>
                </a:cubicBezTo>
                <a:cubicBezTo>
                  <a:pt x="174435" y="514758"/>
                  <a:pt x="164241" y="526805"/>
                  <a:pt x="150587" y="527925"/>
                </a:cubicBezTo>
                <a:cubicBezTo>
                  <a:pt x="149839" y="528019"/>
                  <a:pt x="149091" y="528112"/>
                  <a:pt x="148436" y="528112"/>
                </a:cubicBezTo>
                <a:cubicBezTo>
                  <a:pt x="135624" y="528112"/>
                  <a:pt x="124775" y="518306"/>
                  <a:pt x="123653" y="505325"/>
                </a:cubicBezTo>
                <a:lnTo>
                  <a:pt x="107287" y="330222"/>
                </a:lnTo>
                <a:cubicBezTo>
                  <a:pt x="105510" y="330315"/>
                  <a:pt x="104949" y="330409"/>
                  <a:pt x="103172" y="330409"/>
                </a:cubicBezTo>
                <a:cubicBezTo>
                  <a:pt x="102237" y="330409"/>
                  <a:pt x="100086" y="330315"/>
                  <a:pt x="99244" y="330315"/>
                </a:cubicBezTo>
                <a:lnTo>
                  <a:pt x="86899" y="505139"/>
                </a:lnTo>
                <a:cubicBezTo>
                  <a:pt x="85871" y="518120"/>
                  <a:pt x="74929" y="528019"/>
                  <a:pt x="62116" y="528019"/>
                </a:cubicBezTo>
                <a:cubicBezTo>
                  <a:pt x="61462" y="528019"/>
                  <a:pt x="60807" y="528019"/>
                  <a:pt x="60152" y="528019"/>
                </a:cubicBezTo>
                <a:cubicBezTo>
                  <a:pt x="46405" y="526898"/>
                  <a:pt x="36211" y="514944"/>
                  <a:pt x="37240" y="501310"/>
                </a:cubicBezTo>
                <a:lnTo>
                  <a:pt x="52577" y="302672"/>
                </a:lnTo>
                <a:cubicBezTo>
                  <a:pt x="49398" y="296696"/>
                  <a:pt x="47621" y="289972"/>
                  <a:pt x="47621" y="282594"/>
                </a:cubicBezTo>
                <a:lnTo>
                  <a:pt x="47621" y="215074"/>
                </a:lnTo>
                <a:cubicBezTo>
                  <a:pt x="42664" y="232818"/>
                  <a:pt x="40700" y="256538"/>
                  <a:pt x="43225" y="289318"/>
                </a:cubicBezTo>
                <a:cubicBezTo>
                  <a:pt x="44160" y="300898"/>
                  <a:pt x="35463" y="310984"/>
                  <a:pt x="23866" y="311918"/>
                </a:cubicBezTo>
                <a:cubicBezTo>
                  <a:pt x="23305" y="311918"/>
                  <a:pt x="22744" y="312011"/>
                  <a:pt x="22183" y="312011"/>
                </a:cubicBezTo>
                <a:cubicBezTo>
                  <a:pt x="11335" y="312011"/>
                  <a:pt x="2076" y="303606"/>
                  <a:pt x="1234" y="292586"/>
                </a:cubicBezTo>
                <a:cubicBezTo>
                  <a:pt x="-7089" y="186590"/>
                  <a:pt x="27981" y="149889"/>
                  <a:pt x="67073" y="125981"/>
                </a:cubicBezTo>
                <a:cubicBezTo>
                  <a:pt x="68195" y="125234"/>
                  <a:pt x="82971" y="117483"/>
                  <a:pt x="89611" y="115895"/>
                </a:cubicBezTo>
                <a:lnTo>
                  <a:pt x="103172" y="129437"/>
                </a:lnTo>
                <a:lnTo>
                  <a:pt x="116265" y="115709"/>
                </a:lnTo>
                <a:cubicBezTo>
                  <a:pt x="116265" y="115709"/>
                  <a:pt x="116358" y="115709"/>
                  <a:pt x="116358" y="115802"/>
                </a:cubicBezTo>
                <a:cubicBezTo>
                  <a:pt x="123279" y="117390"/>
                  <a:pt x="137401" y="124767"/>
                  <a:pt x="140674" y="126822"/>
                </a:cubicBezTo>
                <a:cubicBezTo>
                  <a:pt x="181823" y="152877"/>
                  <a:pt x="196038" y="146247"/>
                  <a:pt x="235878" y="116082"/>
                </a:cubicBezTo>
                <a:cubicBezTo>
                  <a:pt x="243921" y="109919"/>
                  <a:pt x="254956" y="110572"/>
                  <a:pt x="262344" y="116829"/>
                </a:cubicBezTo>
                <a:lnTo>
                  <a:pt x="291336" y="93762"/>
                </a:lnTo>
                <a:lnTo>
                  <a:pt x="291336" y="45200"/>
                </a:lnTo>
                <a:lnTo>
                  <a:pt x="282264" y="45200"/>
                </a:lnTo>
                <a:lnTo>
                  <a:pt x="282264" y="15783"/>
                </a:lnTo>
                <a:lnTo>
                  <a:pt x="432458" y="15783"/>
                </a:lnTo>
                <a:lnTo>
                  <a:pt x="432458" y="11300"/>
                </a:lnTo>
                <a:cubicBezTo>
                  <a:pt x="432458" y="5043"/>
                  <a:pt x="437509" y="0"/>
                  <a:pt x="4437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96D5A8D-6841-AE48-45B7-D7A5436B5F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881296"/>
              </p:ext>
            </p:extLst>
          </p:nvPr>
        </p:nvGraphicFramePr>
        <p:xfrm>
          <a:off x="5812633" y="4172714"/>
          <a:ext cx="822658" cy="5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8153" imgH="295211" progId="Equation.DSMT4">
                  <p:embed/>
                </p:oleObj>
              </mc:Choice>
              <mc:Fallback>
                <p:oleObj name="Equation" r:id="rId2" imgW="438153" imgH="295211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7C0A8C88-2017-8660-BA89-0ACECBCDA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12633" y="4172714"/>
                        <a:ext cx="822658" cy="55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6">
            <a:extLst>
              <a:ext uri="{FF2B5EF4-FFF2-40B4-BE49-F238E27FC236}">
                <a16:creationId xmlns:a16="http://schemas.microsoft.com/office/drawing/2014/main" id="{D0033831-BF47-BBCF-3875-2F234490A8EA}"/>
              </a:ext>
            </a:extLst>
          </p:cNvPr>
          <p:cNvSpPr/>
          <p:nvPr/>
        </p:nvSpPr>
        <p:spPr>
          <a:xfrm>
            <a:off x="1087056" y="235457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六、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89C6D86-78A7-46BF-B4D2-EF4F0889C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653124"/>
              </p:ext>
            </p:extLst>
          </p:nvPr>
        </p:nvGraphicFramePr>
        <p:xfrm>
          <a:off x="5812966" y="5119743"/>
          <a:ext cx="8223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1581" imgH="553340" progId="Equation.DSMT4">
                  <p:embed/>
                </p:oleObj>
              </mc:Choice>
              <mc:Fallback>
                <p:oleObj name="Equation" r:id="rId4" imgW="821581" imgH="5533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2966" y="5119743"/>
                        <a:ext cx="822325" cy="554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672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22F8F-D05B-3CBA-B5A4-E16BCA9C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411949B4-9FA7-B62C-696C-FA9E00B95EBE}"/>
              </a:ext>
            </a:extLst>
          </p:cNvPr>
          <p:cNvSpPr txBox="1"/>
          <p:nvPr/>
        </p:nvSpPr>
        <p:spPr>
          <a:xfrm>
            <a:off x="168715" y="1683223"/>
            <a:ext cx="1127036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04800" algn="l"/>
              </a:tabLst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模型构建。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Python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中，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OPTICS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算法可以调用在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sklearn.cluster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模块中的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OPTICS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类构建学习器进行实现</a:t>
            </a:r>
            <a:endParaRPr lang="zh-CN" altLang="zh-CN" sz="20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28A58E2-F2E5-981F-90DE-3EAE24ED7643}"/>
              </a:ext>
            </a:extLst>
          </p:cNvPr>
          <p:cNvSpPr txBox="1"/>
          <p:nvPr/>
        </p:nvSpPr>
        <p:spPr>
          <a:xfrm>
            <a:off x="168715" y="3875774"/>
            <a:ext cx="11270367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参数调整。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min_samples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参数表示数据成为核心点时，其 邻域内的最小数据量，用于构建可达性图；“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max_eps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参数表示最大 邻域半径，默认无穷大，即考虑所有样本点；“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metric”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参数表示数据之间的距离计算方式，有“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cityblock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cosine”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euclidean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l1”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l2”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manhattan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minkowski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等多种距离，默认“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minkowski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26">
            <a:extLst>
              <a:ext uri="{FF2B5EF4-FFF2-40B4-BE49-F238E27FC236}">
                <a16:creationId xmlns:a16="http://schemas.microsoft.com/office/drawing/2014/main" id="{8C55A779-3EAB-E120-FFFD-904E085E405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四、高斯混合聚类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CB6A0F-825A-1805-0CB3-30BF1E256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14" y="2614031"/>
            <a:ext cx="11420497" cy="961289"/>
          </a:xfrm>
          <a:prstGeom prst="rect">
            <a:avLst/>
          </a:prstGeom>
        </p:spPr>
      </p:pic>
      <p:sp>
        <p:nvSpPr>
          <p:cNvPr id="2" name="矩形: 圆角 12">
            <a:extLst>
              <a:ext uri="{FF2B5EF4-FFF2-40B4-BE49-F238E27FC236}">
                <a16:creationId xmlns:a16="http://schemas.microsoft.com/office/drawing/2014/main" id="{F2F0A594-62FA-1A06-CC8B-7B9C4B80A30D}"/>
              </a:ext>
            </a:extLst>
          </p:cNvPr>
          <p:cNvSpPr/>
          <p:nvPr/>
        </p:nvSpPr>
        <p:spPr>
          <a:xfrm>
            <a:off x="166155" y="976588"/>
            <a:ext cx="7524016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实践案例：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OPTICS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与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DBSCAN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算法对比</a:t>
            </a:r>
          </a:p>
        </p:txBody>
      </p:sp>
      <p:sp>
        <p:nvSpPr>
          <p:cNvPr id="3" name="箭头: 五边形 11">
            <a:extLst>
              <a:ext uri="{FF2B5EF4-FFF2-40B4-BE49-F238E27FC236}">
                <a16:creationId xmlns:a16="http://schemas.microsoft.com/office/drawing/2014/main" id="{C81A7D75-F858-151A-6918-FB3786F3D5D9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6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21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A628C-0312-887F-FFD7-CDFAF40E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5D6DDB36-FA03-4FDD-E982-A14A9352B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CF9B3EF-F417-9F90-CCDB-27DC22E64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60" y="84543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F5F08EF9-A113-A2AC-6980-17CFFB1F0807}"/>
              </a:ext>
            </a:extLst>
          </p:cNvPr>
          <p:cNvSpPr/>
          <p:nvPr/>
        </p:nvSpPr>
        <p:spPr>
          <a:xfrm>
            <a:off x="1087056" y="235457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六、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5" name="矩形: 圆角 12">
            <a:extLst>
              <a:ext uri="{FF2B5EF4-FFF2-40B4-BE49-F238E27FC236}">
                <a16:creationId xmlns:a16="http://schemas.microsoft.com/office/drawing/2014/main" id="{D68B32D1-FFB1-225C-D1A5-CF1E0B4DF0B1}"/>
              </a:ext>
            </a:extLst>
          </p:cNvPr>
          <p:cNvSpPr/>
          <p:nvPr/>
        </p:nvSpPr>
        <p:spPr>
          <a:xfrm>
            <a:off x="168084" y="951970"/>
            <a:ext cx="7524016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实践案例：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OPTICS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与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DBSCAN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算法对比</a:t>
            </a:r>
          </a:p>
        </p:txBody>
      </p:sp>
      <p:sp>
        <p:nvSpPr>
          <p:cNvPr id="8" name="箭头: 五边形 11">
            <a:extLst>
              <a:ext uri="{FF2B5EF4-FFF2-40B4-BE49-F238E27FC236}">
                <a16:creationId xmlns:a16="http://schemas.microsoft.com/office/drawing/2014/main" id="{27E687BB-50D4-986B-D7D3-5E5D2B808FA1}"/>
              </a:ext>
            </a:extLst>
          </p:cNvPr>
          <p:cNvSpPr/>
          <p:nvPr/>
        </p:nvSpPr>
        <p:spPr>
          <a:xfrm>
            <a:off x="168084" y="951971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6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328BCCB3-4BA9-3B07-DBA6-815AD4D13A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173" t="7566" r="9502" b="5838"/>
          <a:stretch/>
        </p:blipFill>
        <p:spPr bwMode="auto">
          <a:xfrm>
            <a:off x="3895368" y="1496800"/>
            <a:ext cx="7986621" cy="51257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BB8D600-1B1D-A176-B4B4-8EADA0A41062}"/>
              </a:ext>
            </a:extLst>
          </p:cNvPr>
          <p:cNvSpPr txBox="1"/>
          <p:nvPr/>
        </p:nvSpPr>
        <p:spPr>
          <a:xfrm>
            <a:off x="213618" y="2440916"/>
            <a:ext cx="3716474" cy="402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OPTICS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可达性图表示了数据中的密度关系，可以对可达距离取值将数据集进行聚类。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OPTICS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算法仅确定了核心点邻域最小样本数参数，将数据划分为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簇没有噪声数据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DBSCAN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聚类结果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当将邻域半径设置为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0.7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时，得到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个簇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邻域距离设置为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个簇，但是大量数据被划分为噪声数据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 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 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94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404</Words>
  <Application>Microsoft Office PowerPoint</Application>
  <PresentationFormat>宽屏</PresentationFormat>
  <Paragraphs>51</Paragraphs>
  <Slides>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等线</vt:lpstr>
      <vt:lpstr>华光综艺_CNKI</vt:lpstr>
      <vt:lpstr>微软雅黑</vt:lpstr>
      <vt:lpstr>Arial</vt:lpstr>
      <vt:lpstr>Calibri</vt:lpstr>
      <vt:lpstr>Impact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Black</dc:creator>
  <cp:lastModifiedBy>Star Champion</cp:lastModifiedBy>
  <cp:revision>198</cp:revision>
  <dcterms:created xsi:type="dcterms:W3CDTF">2019-06-19T02:08:00Z</dcterms:created>
  <dcterms:modified xsi:type="dcterms:W3CDTF">2025-04-18T13:04:16Z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290520E9665F40D5BBE3CCA2763F3BF4_11</vt:lpwstr>
  </property>
</Properties>
</file>