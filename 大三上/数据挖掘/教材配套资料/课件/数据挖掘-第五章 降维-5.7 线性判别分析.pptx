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2"/>
    <p:sldId id="261" r:id="rId3"/>
    <p:sldId id="383" r:id="rId4"/>
    <p:sldId id="285" r:id="rId5"/>
    <p:sldId id="384" r:id="rId6"/>
    <p:sldId id="385" r:id="rId7"/>
    <p:sldId id="267" r:id="rId8"/>
    <p:sldId id="293" r:id="rId9"/>
    <p:sldId id="386" r:id="rId10"/>
    <p:sldId id="268" r:id="rId11"/>
    <p:sldId id="296" r:id="rId12"/>
    <p:sldId id="297" r:id="rId13"/>
    <p:sldId id="360" r:id="rId14"/>
    <p:sldId id="15502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14" y="48"/>
      </p:cViewPr>
      <p:guideLst>
        <p:guide orient="horz" pos="2134"/>
        <p:guide pos="387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30E35-C62F-16B8-6530-15FA156B6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5F8924-3F67-99E3-A922-CB3055112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85FF16-A61A-7DA5-E461-BF78BFCE6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2E0BB3-7D9B-C0B3-3EBE-E671B9E77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7970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B8BA5-C85E-5856-6740-8C1676C96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216CAA-DB3A-2930-537F-AD9519529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8E3B0B-10B1-CA91-9463-822097391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F8AE60-12A0-83FD-29DD-3E27E951F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743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1ECCA-ECB1-70FE-EBC9-E1D6DF6DF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380F5C-05A9-364C-EC42-E958764E5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93186A-8344-6474-F66F-800B7E713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DB83F9-B5B2-C95B-5411-BD5B9707F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3666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C742-EA46-2D78-47FA-055C2119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C42EF9-93B9-1583-EF84-0E8600633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77C8AD-5207-8FF2-98F7-1E2EFABB4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6F7CB7-B2E0-F2EA-EC8F-2E61AB1B5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858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>
            <a:fillRect/>
          </a:stretch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>
            <a:fillRect/>
          </a:stretch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l="453"/>
          <a:stretch>
            <a:fillRect/>
          </a:stretch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二、主要工作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三、总结展望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结束语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D:\works\工作\周琴\56-2019-大数据与复杂网络\模板设计\内页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77" y="0"/>
            <a:ext cx="12192000" cy="686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15 June, 2011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IHCAR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46203-2B80-4CBC-A257-89A48550B42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75374" y="1"/>
            <a:ext cx="140967" cy="962147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83" y="6617464"/>
            <a:ext cx="140967" cy="240536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emf"/><Relationship Id="rId7" Type="http://schemas.openxmlformats.org/officeDocument/2006/relationships/image" Target="../media/image1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7E3A4-92FF-D3FD-7FD1-B85FBD13C291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5.7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zh-CN" altLang="en-US" b="0" dirty="0">
                <a:ea typeface="华光综艺_CNKI" panose="02000500000000000000" pitchFamily="2" charset="-122"/>
              </a:rPr>
              <a:t>线性判别分析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线性判别分析基本概念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29136" y="1712298"/>
            <a:ext cx="10439227" cy="4436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0861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  线性判别分析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charset="-122"/>
              </a:rPr>
              <a:t>Linear Discriminant Analysis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charset="-122"/>
              </a:rPr>
              <a:t>LDA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</a:rPr>
              <a:t>）是一种有监督的线性降维算法，其旨在找到原始数据特征变量的一个线性组合，然后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将数据投影到一个新的空间。</a:t>
            </a:r>
            <a:endParaRPr lang="en-US" altLang="zh-CN" sz="32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0" indent="30861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  这使得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</a:rPr>
              <a:t>不同类别数据投影点的中心尽可能的远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</a:rPr>
              <a:t>同类别数据的投影点尽可能的接近，即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类间方差最大化，类内方差最小化。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CA58-0BA6-1437-C964-CF892612D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7D10F964-A4D6-8D31-C86F-AF6704B3AAF5}"/>
              </a:ext>
            </a:extLst>
          </p:cNvPr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线性判别分析基本概念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ABC81F-363F-EC7E-B654-7DB3F5DB08D8}"/>
              </a:ext>
            </a:extLst>
          </p:cNvPr>
          <p:cNvSpPr txBox="1"/>
          <p:nvPr/>
        </p:nvSpPr>
        <p:spPr>
          <a:xfrm>
            <a:off x="305435" y="1211211"/>
            <a:ext cx="4307205" cy="961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0861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</a:rPr>
              <a:t>LDA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</a:rPr>
              <a:t>算法的基本思想：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0" indent="30861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</a:rPr>
              <a:t>类间方差最大化，类内方差最小化。</a:t>
            </a:r>
          </a:p>
        </p:txBody>
      </p:sp>
      <p:pic>
        <p:nvPicPr>
          <p:cNvPr id="5" name="图片 4" descr="1">
            <a:extLst>
              <a:ext uri="{FF2B5EF4-FFF2-40B4-BE49-F238E27FC236}">
                <a16:creationId xmlns:a16="http://schemas.microsoft.com/office/drawing/2014/main" id="{69AAF256-73F5-94B0-1CC5-922AA1F4734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2185"/>
          <a:stretch>
            <a:fillRect/>
          </a:stretch>
        </p:blipFill>
        <p:spPr>
          <a:xfrm>
            <a:off x="3539691" y="1646614"/>
            <a:ext cx="7285327" cy="496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4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二类线性判别</a:t>
            </a:r>
          </a:p>
        </p:txBody>
      </p:sp>
      <p:pic>
        <p:nvPicPr>
          <p:cNvPr id="43" name="图片 5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078" y="2984332"/>
            <a:ext cx="4599940" cy="387366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文本框 23"/>
          <p:cNvSpPr txBox="1"/>
          <p:nvPr/>
        </p:nvSpPr>
        <p:spPr>
          <a:xfrm>
            <a:off x="382847" y="1269784"/>
            <a:ext cx="1964055" cy="475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</a:rPr>
              <a:t>给定数据集：</a:t>
            </a:r>
          </a:p>
        </p:txBody>
      </p:sp>
      <p:graphicFrame>
        <p:nvGraphicFramePr>
          <p:cNvPr id="4" name="对象 -21474822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847066"/>
              </p:ext>
            </p:extLst>
          </p:nvPr>
        </p:nvGraphicFramePr>
        <p:xfrm>
          <a:off x="2275782" y="1304709"/>
          <a:ext cx="3298190" cy="440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05000" imgH="254000" progId="Equation.DSMT4">
                  <p:embed/>
                </p:oleObj>
              </mc:Choice>
              <mc:Fallback>
                <p:oleObj r:id="rId4" imgW="1905000" imgH="2540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75782" y="1304709"/>
                        <a:ext cx="3298190" cy="4400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2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329139"/>
              </p:ext>
            </p:extLst>
          </p:nvPr>
        </p:nvGraphicFramePr>
        <p:xfrm>
          <a:off x="5775267" y="1304709"/>
          <a:ext cx="1087120" cy="440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22300" imgH="254000" progId="Equation.DSMT4">
                  <p:embed/>
                </p:oleObj>
              </mc:Choice>
              <mc:Fallback>
                <p:oleObj r:id="rId6" imgW="622300" imgH="254000" progId="Equation.DSMT4">
                  <p:embed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75267" y="1304709"/>
                        <a:ext cx="1087120" cy="4406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464126" y="1897205"/>
            <a:ext cx="5516881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二类数据：根据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y</a:t>
            </a:r>
            <a:r>
              <a:rPr lang="en-US" altLang="zh-CN" sz="2000" b="1" i="1" baseline="-25000" dirty="0" err="1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i</a:t>
            </a:r>
            <a:r>
              <a:rPr lang="en-US" altLang="zh-CN" sz="2000" b="1" i="1" baseline="-250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的取值可以将样本分为两类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2416" y="2588383"/>
            <a:ext cx="6656637" cy="19988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2E73C-C40B-1AC5-DCED-791CB48C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FD8CAF76-E6A6-2C67-3E15-F074E5899BD2}"/>
              </a:ext>
            </a:extLst>
          </p:cNvPr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二类线性判别</a:t>
            </a:r>
          </a:p>
        </p:txBody>
      </p:sp>
      <p:pic>
        <p:nvPicPr>
          <p:cNvPr id="43" name="图片 584">
            <a:extLst>
              <a:ext uri="{FF2B5EF4-FFF2-40B4-BE49-F238E27FC236}">
                <a16:creationId xmlns:a16="http://schemas.microsoft.com/office/drawing/2014/main" id="{DA6247C7-8A76-317C-9A75-5C82E32C9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488" y="3942038"/>
            <a:ext cx="3462675" cy="2915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DEFF8A3-DFF0-05D0-B8F5-A88329C0C9A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75707" y="1203017"/>
            <a:ext cx="8521876" cy="251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825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18790-A4F4-59DB-0326-EC3B53FAC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33FC8235-59B9-320F-72B7-CF730571EC29}"/>
              </a:ext>
            </a:extLst>
          </p:cNvPr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  <a:sym typeface="+mn-ea"/>
              </a:rPr>
              <a:t>线性判别分析公式推导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F75772-E763-B9BD-8734-2FA5E6C3273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85320" y="1676524"/>
            <a:ext cx="6692483" cy="189135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B54B92D-AFF1-AD91-CD26-E15233BA409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1" r="193" b="50627"/>
          <a:stretch/>
        </p:blipFill>
        <p:spPr>
          <a:xfrm>
            <a:off x="2714197" y="3567878"/>
            <a:ext cx="6186803" cy="288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  <a:sym typeface="+mn-ea"/>
              </a:rPr>
              <a:t>线性判别分析公式推导</a:t>
            </a:r>
            <a:endParaRPr lang="en-US" altLang="zh-CN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36205" r="-691"/>
          <a:stretch/>
        </p:blipFill>
        <p:spPr>
          <a:xfrm>
            <a:off x="530738" y="1769717"/>
            <a:ext cx="5819262" cy="348111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6750" y="5384829"/>
            <a:ext cx="7672916" cy="86898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438829" y="1769717"/>
            <a:ext cx="5222433" cy="2461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defTabSz="26670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因此，求出数据点的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均值与协方差</a:t>
            </a:r>
            <a:r>
              <a:rPr lang="zh-CN" altLang="en-US" sz="2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便能确定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最佳投影方向</a:t>
            </a:r>
            <a:r>
              <a:rPr lang="en-US" altLang="zh-CN" sz="2000" b="1" i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w</a:t>
            </a:r>
            <a:r>
              <a:rPr lang="zh-CN" altLang="en-US" sz="2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，再通过公式</a:t>
            </a:r>
            <a:r>
              <a:rPr lang="en-US" altLang="zh-CN" sz="2000" b="1" i="1" dirty="0" err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w</a:t>
            </a:r>
            <a:r>
              <a:rPr lang="en-US" altLang="zh-CN" sz="2000" b="1" i="1" baseline="30000" dirty="0" err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T</a:t>
            </a:r>
            <a:r>
              <a:rPr lang="en-US" altLang="zh-CN" sz="2000" b="1" i="1" dirty="0" err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x</a:t>
            </a:r>
            <a:r>
              <a:rPr lang="en-US" altLang="zh-CN" sz="2000" b="1" i="1" baseline="-25000" dirty="0" err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i</a:t>
            </a:r>
            <a:r>
              <a:rPr lang="zh-CN" altLang="en-US" sz="2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计算出投影后的数据点</a:t>
            </a:r>
            <a:r>
              <a:rPr lang="en-US" altLang="zh-CN" sz="2000" b="1" i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z</a:t>
            </a:r>
            <a:r>
              <a:rPr lang="en-US" altLang="zh-CN" sz="2000" b="1" i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i</a:t>
            </a:r>
            <a:r>
              <a:rPr lang="zh-CN" altLang="en-US" sz="2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，即可将原始数据投影到直线上</a:t>
            </a:r>
            <a:r>
              <a:rPr lang="en-US" altLang="zh-CN" sz="2000" b="1" i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y=w</a:t>
            </a:r>
            <a:r>
              <a:rPr lang="en-US" altLang="zh-CN" sz="2000" b="1" i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1</a:t>
            </a:r>
            <a:r>
              <a:rPr lang="en-US" altLang="zh-CN" sz="2000" b="1" i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x</a:t>
            </a:r>
            <a:r>
              <a:rPr lang="en-US" altLang="zh-CN" sz="2000" b="1" i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1</a:t>
            </a:r>
            <a:r>
              <a:rPr lang="en-US" altLang="zh-CN" sz="2000" b="1" i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+w</a:t>
            </a:r>
            <a:r>
              <a:rPr lang="en-US" altLang="zh-CN" sz="2000" b="1" i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2</a:t>
            </a:r>
            <a:r>
              <a:rPr lang="en-US" altLang="zh-CN" sz="2000" b="1" i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x</a:t>
            </a:r>
            <a:r>
              <a:rPr lang="en-US" altLang="zh-CN" sz="2000" b="1" i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41720CD-50DD-7C70-8D06-63D7A86F4BAF}"/>
              </a:ext>
            </a:extLst>
          </p:cNvPr>
          <p:cNvSpPr/>
          <p:nvPr/>
        </p:nvSpPr>
        <p:spPr>
          <a:xfrm>
            <a:off x="6096000" y="1769717"/>
            <a:ext cx="5819262" cy="2761298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  <a:sym typeface="+mn-ea"/>
              </a:rPr>
              <a:t>多类线性判别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52666" y="1520478"/>
            <a:ext cx="8881495" cy="26231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52666" y="4508154"/>
            <a:ext cx="7328868" cy="1648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30F46-10F8-59CF-02CD-41E899FD5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EE6A5057-E3E9-FC0F-D48F-E46F1C5B6BC9}"/>
              </a:ext>
            </a:extLst>
          </p:cNvPr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  <a:sym typeface="+mn-ea"/>
              </a:rPr>
              <a:t>多类线性判别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C1F0AA4-D462-6A32-3DB6-7F539F32787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15563" y="1268905"/>
            <a:ext cx="8721556" cy="155448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0FD0EE4-F102-1628-6DA2-39AAEB86A1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13363" y="2783701"/>
            <a:ext cx="6242579" cy="173204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2048FFD-CEAE-8C90-DFFE-2D209F7FCFB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50893" r="817"/>
          <a:stretch/>
        </p:blipFill>
        <p:spPr>
          <a:xfrm>
            <a:off x="1344295" y="4781893"/>
            <a:ext cx="8516621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71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资料带 8"/>
          <p:cNvSpPr/>
          <p:nvPr/>
        </p:nvSpPr>
        <p:spPr>
          <a:xfrm>
            <a:off x="589973" y="2299652"/>
            <a:ext cx="3801745" cy="2176145"/>
          </a:xfrm>
          <a:prstGeom prst="flowChartPunchedTape">
            <a:avLst/>
          </a:prstGeo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6"/>
          <p:cNvSpPr/>
          <p:nvPr/>
        </p:nvSpPr>
        <p:spPr>
          <a:xfrm>
            <a:off x="995423" y="248198"/>
            <a:ext cx="10017888" cy="1077206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  <a:sym typeface="+mn-ea"/>
              </a:rPr>
              <a:t>实践案例：基于线性判别分析的三维数据集降维</a:t>
            </a:r>
          </a:p>
          <a:p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  <a:sym typeface="+mn-ea"/>
            </a:endParaRPr>
          </a:p>
        </p:txBody>
      </p:sp>
      <p:pic>
        <p:nvPicPr>
          <p:cNvPr id="4" name="图片 3" descr="8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608" t="17864" r="4252" b="7167"/>
          <a:stretch>
            <a:fillRect/>
          </a:stretch>
        </p:blipFill>
        <p:spPr>
          <a:xfrm>
            <a:off x="5078440" y="1156970"/>
            <a:ext cx="6402359" cy="526636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90328" y="2649537"/>
            <a:ext cx="2962275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defTabSz="266700" fontAlgn="auto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charset="-122"/>
              </a:rPr>
              <a:t>本案例使用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charset="-122"/>
              </a:rPr>
              <a:t>LDA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/>
                <a:ea typeface="微软雅黑" panose="020B0503020204020204" charset="-122"/>
              </a:rPr>
              <a:t>算法对三维空间中的数据集进行降维。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  <a:sym typeface="+mn-ea"/>
              </a:rPr>
              <a:t>实践案例：基于线性判别分析的三维数据集降维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15" y="3065607"/>
            <a:ext cx="5785485" cy="10464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75" y="1133475"/>
            <a:ext cx="5277485" cy="5387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  <a:sym typeface="+mn-ea"/>
              </a:rPr>
              <a:t>实践案例：基于线性判别分析的三维数据集降维</a:t>
            </a:r>
          </a:p>
        </p:txBody>
      </p:sp>
      <p:pic>
        <p:nvPicPr>
          <p:cNvPr id="1946320960" name="图片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59555" y="2158887"/>
            <a:ext cx="7466330" cy="37191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5305" y="2551317"/>
            <a:ext cx="3275330" cy="3169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270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在降维后的二维空间中可以清晰地对三个类别的数据进行区分。因此，</a:t>
            </a:r>
            <a:r>
              <a:rPr lang="en-US" altLang="zh-CN" sz="2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LDA</a:t>
            </a:r>
            <a:r>
              <a:rPr lang="zh-CN" altLang="en-US" sz="2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charset="-122"/>
              </a:rPr>
              <a:t>算法能够找到一个投影方向，使得不同类别的数据点在投影后能够有很好的可分性，利用类别信息来最大程度地保留数据的判别性能。</a:t>
            </a:r>
          </a:p>
        </p:txBody>
      </p:sp>
      <p:sp>
        <p:nvSpPr>
          <p:cNvPr id="5" name="矩形 4"/>
          <p:cNvSpPr/>
          <p:nvPr/>
        </p:nvSpPr>
        <p:spPr>
          <a:xfrm>
            <a:off x="471805" y="2514487"/>
            <a:ext cx="3380740" cy="3260725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  <a:sym typeface="+mn-ea"/>
              </a:rPr>
              <a:t> 线性判别分析算法评价</a:t>
            </a:r>
          </a:p>
        </p:txBody>
      </p:sp>
      <p:pic>
        <p:nvPicPr>
          <p:cNvPr id="4" name="图片 3" descr="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5423" y="1292947"/>
            <a:ext cx="9190355" cy="5316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1728</TotalTime>
  <Words>331</Words>
  <Application>Microsoft Office PowerPoint</Application>
  <PresentationFormat>宽屏</PresentationFormat>
  <Paragraphs>38</Paragraphs>
  <Slides>14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等线</vt:lpstr>
      <vt:lpstr>华光综艺_CNKI</vt:lpstr>
      <vt:lpstr>微软雅黑</vt:lpstr>
      <vt:lpstr>Arial</vt:lpstr>
      <vt:lpstr>Calibri</vt:lpstr>
      <vt:lpstr>Times New Roman</vt:lpstr>
      <vt:lpstr>Office 主题​​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wy h</dc:creator>
  <cp:lastModifiedBy>Mengning Wang</cp:lastModifiedBy>
  <cp:revision>185</cp:revision>
  <dcterms:created xsi:type="dcterms:W3CDTF">2019-06-19T02:08:00Z</dcterms:created>
  <dcterms:modified xsi:type="dcterms:W3CDTF">2025-04-18T15:10:00Z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290520E9665F40D5BBE3CCA2763F3BF4_11</vt:lpwstr>
  </property>
</Properties>
</file>