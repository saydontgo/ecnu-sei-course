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4"/>
  </p:notesMasterIdLst>
  <p:handoutMasterIdLst>
    <p:handoutMasterId r:id="rId25"/>
  </p:handoutMasterIdLst>
  <p:sldIdLst>
    <p:sldId id="15638" r:id="rId13"/>
    <p:sldId id="15672" r:id="rId14"/>
    <p:sldId id="15682" r:id="rId15"/>
    <p:sldId id="15514" r:id="rId16"/>
    <p:sldId id="15683" r:id="rId17"/>
    <p:sldId id="15517" r:id="rId18"/>
    <p:sldId id="15522" r:id="rId19"/>
    <p:sldId id="15684" r:id="rId20"/>
    <p:sldId id="15685" r:id="rId21"/>
    <p:sldId id="15520" r:id="rId22"/>
    <p:sldId id="15502"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3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84FF"/>
    <a:srgbClr val="033AAB"/>
    <a:srgbClr val="FD5C0C"/>
    <a:srgbClr val="FFFFFF"/>
    <a:srgbClr val="0066FF"/>
    <a:srgbClr val="7EA4EE"/>
    <a:srgbClr val="00FF00"/>
    <a:srgbClr val="F6F9FE"/>
    <a:srgbClr val="91CF50"/>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133" d="100"/>
          <a:sy n="133" d="100"/>
        </p:scale>
        <p:origin x="96" y="212"/>
      </p:cViewPr>
      <p:guideLst>
        <p:guide pos="2252"/>
        <p:guide orient="horz" pos="2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D106-BC33-E38D-47E7-C0BD34E1A0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01D011-CC7A-05F9-6E0B-472B35318D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974C75-BCC3-2BD2-D0B6-454FEEC20D7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6A6E83-07C9-37D3-4A73-94C92F67C516}"/>
              </a:ext>
            </a:extLst>
          </p:cNvPr>
          <p:cNvSpPr>
            <a:spLocks noGrp="1"/>
          </p:cNvSpPr>
          <p:nvPr>
            <p:ph type="sldNum" sz="quarter" idx="5"/>
          </p:nvPr>
        </p:nvSpPr>
        <p:spPr/>
        <p:txBody>
          <a:bodyPr/>
          <a:lstStyle/>
          <a:p>
            <a:fld id="{496F833C-0931-4030-8352-AFD9186768B5}" type="slidenum">
              <a:rPr lang="zh-CN" altLang="en-US" smtClean="0"/>
              <a:t>2</a:t>
            </a:fld>
            <a:endParaRPr lang="zh-CN" altLang="en-US"/>
          </a:p>
        </p:txBody>
      </p:sp>
    </p:spTree>
    <p:extLst>
      <p:ext uri="{BB962C8B-B14F-4D97-AF65-F5344CB8AC3E}">
        <p14:creationId xmlns:p14="http://schemas.microsoft.com/office/powerpoint/2010/main" val="3318660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EAB80-8693-EFDC-3B7E-6178CFD089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BA865C-8322-3523-6341-191BAE43D3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B552F9-55EA-66D7-66E6-E57F4F6E12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F5565AD-B46D-7B01-BBCF-B693FAE70A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90064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28983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4E303-10BE-F745-87DF-334183270F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75BB83-7CFB-6501-DDAD-BCD7D269A8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AF5FFA-1AD9-D912-2A6E-C7F2C4C198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67982C2-8384-21F7-92FD-8C6138ACC5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41333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98285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0572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4A1AC-C9D3-A085-814E-636ABF6AF6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1F5F59-BBF4-987E-B2FB-7D3DA99A83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3DE698-B0AF-077B-E022-AAF2472E5A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CE60B94-770A-E723-14A3-C3A5C49669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20737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B24A7-FE0E-1154-1362-BB0BDA3570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EF3077-8B33-A2AE-BB55-2E40FA254D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D512F8-516D-7FE4-0A08-0CEE8F190D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FB43807-10B2-17DA-FAF8-255AE02BB5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54865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3118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4/17/2025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4/17/2025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6.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1EE7F6-A51F-0046-8E66-194F58D39CB4}"/>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9.1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异常检测算法概要</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F026-EF18-67CC-9FD7-C01527FA038C}"/>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80DBB8C0-2776-F24A-E267-15D3923B416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异常的定义</a:t>
            </a:r>
          </a:p>
        </p:txBody>
      </p:sp>
      <p:sp>
        <p:nvSpPr>
          <p:cNvPr id="3" name="文本框 2">
            <a:extLst>
              <a:ext uri="{FF2B5EF4-FFF2-40B4-BE49-F238E27FC236}">
                <a16:creationId xmlns:a16="http://schemas.microsoft.com/office/drawing/2014/main" id="{009BD3E2-C423-2BAF-4F25-652D67F0CE45}"/>
              </a:ext>
            </a:extLst>
          </p:cNvPr>
          <p:cNvSpPr txBox="1"/>
          <p:nvPr/>
        </p:nvSpPr>
        <p:spPr>
          <a:xfrm>
            <a:off x="319722" y="1307571"/>
            <a:ext cx="11872278" cy="3722942"/>
          </a:xfrm>
          <a:prstGeom prst="rect">
            <a:avLst/>
          </a:prstGeom>
          <a:noFill/>
        </p:spPr>
        <p:txBody>
          <a:bodyPr wrap="square">
            <a:spAutoFit/>
          </a:bodyPr>
          <a:lstStyle/>
          <a:p>
            <a:pPr indent="306070">
              <a:lnSpc>
                <a:spcPct val="125000"/>
              </a:lnSpc>
            </a:pPr>
            <a:r>
              <a:rPr lang="zh-CN" altLang="en-US" sz="3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异常 </a:t>
            </a:r>
            <a:r>
              <a:rPr lang="zh-CN" altLang="en-US" sz="3200" kern="100" dirty="0">
                <a:effectLst/>
                <a:latin typeface="Times New Roman" panose="02020603050405020304" pitchFamily="18" charset="0"/>
                <a:ea typeface="楷体" panose="02010609060101010101" pitchFamily="49" charset="-122"/>
                <a:cs typeface="Times New Roman" panose="02020603050405020304" pitchFamily="18" charset="0"/>
              </a:rPr>
              <a:t>与常规模式或预期行为不一致的数据点或活动。</a:t>
            </a:r>
            <a:endParaRPr lang="en-US" altLang="zh-CN" sz="32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306070">
              <a:lnSpc>
                <a:spcPct val="125000"/>
              </a:lnSpc>
            </a:pPr>
            <a:r>
              <a:rPr lang="zh-CN" altLang="en-US" sz="32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异常数据  </a:t>
            </a:r>
            <a:r>
              <a:rPr lang="zh-CN" altLang="en-US" sz="3200" kern="100" dirty="0">
                <a:latin typeface="Times New Roman" panose="02020603050405020304" pitchFamily="18" charset="0"/>
                <a:ea typeface="楷体" panose="02010609060101010101" pitchFamily="49" charset="-122"/>
                <a:cs typeface="Times New Roman" panose="02020603050405020304" pitchFamily="18" charset="0"/>
              </a:rPr>
              <a:t>指观测样本中与其他数据存在显著性差异或偏离预期行为模式的数据。</a:t>
            </a:r>
            <a:endParaRPr lang="en-US" altLang="zh-CN" sz="3200" kern="100" dirty="0">
              <a:latin typeface="Times New Roman" panose="02020603050405020304" pitchFamily="18" charset="0"/>
              <a:ea typeface="楷体" panose="02010609060101010101" pitchFamily="49" charset="-122"/>
              <a:cs typeface="Times New Roman" panose="02020603050405020304" pitchFamily="18" charset="0"/>
            </a:endParaRPr>
          </a:p>
          <a:p>
            <a:pPr indent="306070">
              <a:lnSpc>
                <a:spcPct val="125000"/>
              </a:lnSpc>
            </a:pPr>
            <a:r>
              <a:rPr lang="zh-CN" altLang="en-US" sz="32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异常检测</a:t>
            </a:r>
            <a:r>
              <a:rPr lang="zh-CN" altLang="en-US" sz="32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3200" kern="100" dirty="0">
                <a:latin typeface="Times New Roman" panose="02020603050405020304" pitchFamily="18" charset="0"/>
                <a:ea typeface="楷体" panose="02010609060101010101" pitchFamily="49" charset="-122"/>
                <a:cs typeface="Times New Roman" panose="02020603050405020304" pitchFamily="18" charset="0"/>
              </a:rPr>
              <a:t>Anomaly detection</a:t>
            </a:r>
            <a:r>
              <a:rPr lang="zh-CN" altLang="en-US" sz="3200" kern="100" dirty="0">
                <a:latin typeface="Times New Roman" panose="02020603050405020304" pitchFamily="18" charset="0"/>
                <a:ea typeface="楷体" panose="02010609060101010101" pitchFamily="49" charset="-122"/>
                <a:cs typeface="Times New Roman" panose="02020603050405020304" pitchFamily="18" charset="0"/>
              </a:rPr>
              <a:t>）是指在数据集中发现与识别不符合预期模式的数据或罕见的实例，并对异常情况进行分析或预警的过程。</a:t>
            </a:r>
            <a:endParaRPr lang="zh-CN" altLang="zh-CN" sz="3200" kern="1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AFEC0EF8-E82F-A83E-1495-8565134AEA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40980" y="4314585"/>
            <a:ext cx="4150542" cy="2471688"/>
          </a:xfrm>
          <a:prstGeom prst="rect">
            <a:avLst/>
          </a:prstGeom>
        </p:spPr>
      </p:pic>
      <p:sp>
        <p:nvSpPr>
          <p:cNvPr id="5" name="文本框 4">
            <a:extLst>
              <a:ext uri="{FF2B5EF4-FFF2-40B4-BE49-F238E27FC236}">
                <a16:creationId xmlns:a16="http://schemas.microsoft.com/office/drawing/2014/main" id="{90AF4433-9063-2F69-D8A4-C23173CECCD2}"/>
              </a:ext>
            </a:extLst>
          </p:cNvPr>
          <p:cNvSpPr txBox="1"/>
          <p:nvPr/>
        </p:nvSpPr>
        <p:spPr>
          <a:xfrm>
            <a:off x="378331" y="5030513"/>
            <a:ext cx="6255641" cy="952184"/>
          </a:xfrm>
          <a:prstGeom prst="rect">
            <a:avLst/>
          </a:prstGeom>
          <a:noFill/>
        </p:spPr>
        <p:txBody>
          <a:bodyPr wrap="square">
            <a:spAutoFit/>
          </a:bodyPr>
          <a:lstStyle/>
          <a:p>
            <a:pPr indent="304800" algn="just">
              <a:lnSpc>
                <a:spcPct val="125000"/>
              </a:lnSpc>
            </a:pPr>
            <a:r>
              <a:rPr lang="zh-CN" altLang="zh-CN" sz="2400" kern="100" dirty="0">
                <a:effectLst/>
                <a:latin typeface="楷体" panose="02010609060101010101" pitchFamily="49" charset="-122"/>
                <a:ea typeface="楷体" panose="02010609060101010101" pitchFamily="49" charset="-122"/>
                <a:cs typeface="Times New Roman" panose="02020603050405020304" pitchFamily="18" charset="0"/>
              </a:rPr>
              <a:t>根据</a:t>
            </a:r>
            <a:r>
              <a:rPr lang="zh-CN" altLang="en-US" sz="2400" kern="100" dirty="0">
                <a:effectLst/>
                <a:latin typeface="楷体" panose="02010609060101010101" pitchFamily="49" charset="-122"/>
                <a:ea typeface="楷体" panose="02010609060101010101" pitchFamily="49" charset="-122"/>
                <a:cs typeface="Times New Roman" panose="02020603050405020304" pitchFamily="18" charset="0"/>
              </a:rPr>
              <a:t>数据标签</a:t>
            </a:r>
            <a:r>
              <a:rPr lang="zh-CN" altLang="zh-CN" sz="2400" kern="100" dirty="0">
                <a:effectLst/>
                <a:latin typeface="楷体" panose="02010609060101010101" pitchFamily="49" charset="-122"/>
                <a:ea typeface="楷体" panose="02010609060101010101" pitchFamily="49" charset="-122"/>
                <a:cs typeface="Times New Roman" panose="02020603050405020304" pitchFamily="18" charset="0"/>
              </a:rPr>
              <a:t>的</a:t>
            </a:r>
            <a:r>
              <a:rPr lang="zh-CN" altLang="en-US" sz="2400" kern="100" dirty="0">
                <a:effectLst/>
                <a:latin typeface="楷体" panose="02010609060101010101" pitchFamily="49" charset="-122"/>
                <a:ea typeface="楷体" panose="02010609060101010101" pitchFamily="49" charset="-122"/>
                <a:cs typeface="Times New Roman" panose="02020603050405020304" pitchFamily="18" charset="0"/>
              </a:rPr>
              <a:t>可用性</a:t>
            </a:r>
            <a:r>
              <a:rPr lang="zh-CN" altLang="zh-CN" sz="24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en-US" sz="2400" b="0" i="0" u="none" strike="noStrike" kern="100" baseline="0" dirty="0">
                <a:latin typeface="楷体" panose="02010609060101010101" pitchFamily="49" charset="-122"/>
                <a:ea typeface="楷体" panose="02010609060101010101" pitchFamily="49" charset="-122"/>
              </a:rPr>
              <a:t>异常检测可分为</a:t>
            </a:r>
            <a:endParaRPr lang="en-US" altLang="zh-CN" sz="2400" b="0" i="0" u="none" strike="noStrike" kern="100" baseline="0" dirty="0">
              <a:latin typeface="楷体" panose="02010609060101010101" pitchFamily="49" charset="-122"/>
              <a:ea typeface="楷体" panose="02010609060101010101" pitchFamily="49" charset="-122"/>
            </a:endParaRPr>
          </a:p>
          <a:p>
            <a:pPr indent="304800" algn="just">
              <a:lnSpc>
                <a:spcPct val="125000"/>
              </a:lnSpc>
            </a:pPr>
            <a:r>
              <a:rPr lang="zh-CN" altLang="en-US" sz="2400" b="1" i="0" u="none" strike="noStrike" kern="100" baseline="0" dirty="0">
                <a:latin typeface="楷体" panose="02010609060101010101" pitchFamily="49" charset="-122"/>
                <a:ea typeface="楷体" panose="02010609060101010101" pitchFamily="49" charset="-122"/>
              </a:rPr>
              <a:t>监督学习</a:t>
            </a:r>
            <a:r>
              <a:rPr lang="zh-CN" altLang="en-US" sz="2400" b="0" i="0" u="none" strike="noStrike" kern="100" baseline="0" dirty="0">
                <a:latin typeface="楷体" panose="02010609060101010101" pitchFamily="49" charset="-122"/>
                <a:ea typeface="楷体" panose="02010609060101010101" pitchFamily="49" charset="-122"/>
              </a:rPr>
              <a:t>、</a:t>
            </a:r>
            <a:r>
              <a:rPr lang="zh-CN" altLang="en-US" sz="2400" b="1" i="0" u="none" strike="noStrike" kern="100" baseline="0" dirty="0">
                <a:latin typeface="楷体" panose="02010609060101010101" pitchFamily="49" charset="-122"/>
                <a:ea typeface="楷体" panose="02010609060101010101" pitchFamily="49" charset="-122"/>
              </a:rPr>
              <a:t>半监督学习</a:t>
            </a:r>
            <a:r>
              <a:rPr lang="zh-CN" altLang="en-US" sz="2400" b="0" i="0" u="none" strike="noStrike" kern="100" baseline="0" dirty="0">
                <a:latin typeface="楷体" panose="02010609060101010101" pitchFamily="49" charset="-122"/>
                <a:ea typeface="楷体" panose="02010609060101010101" pitchFamily="49" charset="-122"/>
              </a:rPr>
              <a:t>和</a:t>
            </a:r>
            <a:r>
              <a:rPr lang="zh-CN" altLang="en-US" sz="2400" b="1" i="0" u="none" strike="noStrike" kern="100" baseline="0" dirty="0">
                <a:latin typeface="楷体" panose="02010609060101010101" pitchFamily="49" charset="-122"/>
                <a:ea typeface="楷体" panose="02010609060101010101" pitchFamily="49" charset="-122"/>
              </a:rPr>
              <a:t>无监督学习</a:t>
            </a:r>
            <a:r>
              <a:rPr lang="zh-CN" altLang="en-US" sz="2400" b="0" i="0" u="none" strike="noStrike" kern="100" baseline="0" dirty="0">
                <a:latin typeface="楷体" panose="02010609060101010101" pitchFamily="49" charset="-122"/>
                <a:ea typeface="楷体" panose="02010609060101010101" pitchFamily="49" charset="-122"/>
              </a:rPr>
              <a:t>。</a:t>
            </a:r>
            <a:endParaRPr lang="zh-CN" altLang="zh-CN" sz="2400" kern="100" dirty="0">
              <a:effectLst/>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275098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F36F-D9FE-0B39-18FF-0F1D8A488E4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9B36CDD-8212-FC45-3D07-8DF5FC91AAB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常见的异常形式</a:t>
            </a:r>
          </a:p>
        </p:txBody>
      </p:sp>
      <p:sp>
        <p:nvSpPr>
          <p:cNvPr id="151" name="矩形: 圆角 55">
            <a:extLst>
              <a:ext uri="{FF2B5EF4-FFF2-40B4-BE49-F238E27FC236}">
                <a16:creationId xmlns:a16="http://schemas.microsoft.com/office/drawing/2014/main" id="{261A7818-D296-2F46-F0D7-35A4FE0DAB29}"/>
              </a:ext>
            </a:extLst>
          </p:cNvPr>
          <p:cNvSpPr/>
          <p:nvPr/>
        </p:nvSpPr>
        <p:spPr>
          <a:xfrm>
            <a:off x="296253" y="1102338"/>
            <a:ext cx="2895915" cy="103896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09585">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二维数据异常</a:t>
            </a:r>
          </a:p>
        </p:txBody>
      </p:sp>
      <p:sp>
        <p:nvSpPr>
          <p:cNvPr id="43" name="Rectangle 2">
            <a:extLst>
              <a:ext uri="{FF2B5EF4-FFF2-40B4-BE49-F238E27FC236}">
                <a16:creationId xmlns:a16="http://schemas.microsoft.com/office/drawing/2014/main" id="{09C4C00A-268A-ED05-C0A6-9EF0A6B1703D}"/>
              </a:ext>
            </a:extLst>
          </p:cNvPr>
          <p:cNvSpPr txBox="1">
            <a:spLocks noChangeArrowheads="1"/>
          </p:cNvSpPr>
          <p:nvPr/>
        </p:nvSpPr>
        <p:spPr>
          <a:xfrm>
            <a:off x="210312" y="3315831"/>
            <a:ext cx="3259836"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黄色值不属于任何簇，为</a:t>
            </a:r>
            <a:r>
              <a:rPr lang="zh-CN" altLang="en-US" sz="2400" u="sng" dirty="0">
                <a:solidFill>
                  <a:srgbClr val="00CCFF"/>
                </a:solidFill>
                <a:effectLst/>
              </a:rPr>
              <a:t>离群点</a:t>
            </a:r>
          </a:p>
        </p:txBody>
      </p:sp>
      <p:pic>
        <p:nvPicPr>
          <p:cNvPr id="2" name="图形 1">
            <a:extLst>
              <a:ext uri="{FF2B5EF4-FFF2-40B4-BE49-F238E27FC236}">
                <a16:creationId xmlns:a16="http://schemas.microsoft.com/office/drawing/2014/main" id="{ACF71D83-7681-F09C-6BAB-F05EDE32468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3880" t="8850" r="4735" b="2768"/>
          <a:stretch/>
        </p:blipFill>
        <p:spPr>
          <a:xfrm>
            <a:off x="4542713" y="998921"/>
            <a:ext cx="6643899" cy="5507618"/>
          </a:xfrm>
          <a:prstGeom prst="rect">
            <a:avLst/>
          </a:prstGeom>
        </p:spPr>
      </p:pic>
      <p:sp>
        <p:nvSpPr>
          <p:cNvPr id="5" name="椭圆 4">
            <a:extLst>
              <a:ext uri="{FF2B5EF4-FFF2-40B4-BE49-F238E27FC236}">
                <a16:creationId xmlns:a16="http://schemas.microsoft.com/office/drawing/2014/main" id="{DD1D09FC-2221-853B-4C59-AA55A2B4D315}"/>
              </a:ext>
            </a:extLst>
          </p:cNvPr>
          <p:cNvSpPr/>
          <p:nvPr/>
        </p:nvSpPr>
        <p:spPr>
          <a:xfrm>
            <a:off x="6917436" y="1225296"/>
            <a:ext cx="2153412" cy="2203704"/>
          </a:xfrm>
          <a:prstGeom prst="ellipse">
            <a:avLst/>
          </a:prstGeom>
          <a:noFill/>
          <a:ln w="571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92D3C7C5-47EC-3A04-67F3-AFB0BC8D0458}"/>
              </a:ext>
            </a:extLst>
          </p:cNvPr>
          <p:cNvCxnSpPr>
            <a:cxnSpLocks/>
          </p:cNvCxnSpPr>
          <p:nvPr/>
        </p:nvCxnSpPr>
        <p:spPr>
          <a:xfrm flipH="1">
            <a:off x="3291841" y="2715768"/>
            <a:ext cx="3694175" cy="1036962"/>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258793"/>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常见的异常形式</a:t>
            </a:r>
          </a:p>
        </p:txBody>
      </p:sp>
      <p:sp>
        <p:nvSpPr>
          <p:cNvPr id="151" name="矩形: 圆角 55">
            <a:extLst>
              <a:ext uri="{FF2B5EF4-FFF2-40B4-BE49-F238E27FC236}">
                <a16:creationId xmlns:a16="http://schemas.microsoft.com/office/drawing/2014/main" id="{B255021A-6CD7-B531-6635-CD81093D31BA}"/>
              </a:ext>
            </a:extLst>
          </p:cNvPr>
          <p:cNvSpPr/>
          <p:nvPr/>
        </p:nvSpPr>
        <p:spPr>
          <a:xfrm>
            <a:off x="296253" y="1102338"/>
            <a:ext cx="2895915" cy="103896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09585">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图结构数据异常</a:t>
            </a:r>
          </a:p>
        </p:txBody>
      </p:sp>
      <p:pic>
        <p:nvPicPr>
          <p:cNvPr id="42" name="图片 41">
            <a:extLst>
              <a:ext uri="{FF2B5EF4-FFF2-40B4-BE49-F238E27FC236}">
                <a16:creationId xmlns:a16="http://schemas.microsoft.com/office/drawing/2014/main" id="{E3EA8E91-0931-7A28-87A0-EF1303D4F372}"/>
              </a:ext>
            </a:extLst>
          </p:cNvPr>
          <p:cNvPicPr>
            <a:picLocks noChangeAspect="1"/>
          </p:cNvPicPr>
          <p:nvPr/>
        </p:nvPicPr>
        <p:blipFill>
          <a:blip r:embed="rId3"/>
          <a:stretch>
            <a:fillRect/>
          </a:stretch>
        </p:blipFill>
        <p:spPr>
          <a:xfrm>
            <a:off x="5096098" y="992153"/>
            <a:ext cx="6100630" cy="5865847"/>
          </a:xfrm>
          <a:prstGeom prst="rect">
            <a:avLst/>
          </a:prstGeom>
        </p:spPr>
      </p:pic>
      <p:sp>
        <p:nvSpPr>
          <p:cNvPr id="43" name="Rectangle 2">
            <a:extLst>
              <a:ext uri="{FF2B5EF4-FFF2-40B4-BE49-F238E27FC236}">
                <a16:creationId xmlns:a16="http://schemas.microsoft.com/office/drawing/2014/main" id="{81063CEA-8D62-FD4D-C5B6-7C9C3236B49A}"/>
              </a:ext>
            </a:extLst>
          </p:cNvPr>
          <p:cNvSpPr txBox="1">
            <a:spLocks noChangeArrowheads="1"/>
          </p:cNvSpPr>
          <p:nvPr/>
        </p:nvSpPr>
        <p:spPr>
          <a:xfrm>
            <a:off x="296253" y="3315831"/>
            <a:ext cx="2995588"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异常点</a:t>
            </a:r>
            <a:r>
              <a:rPr lang="en-US" altLang="zh-CN" sz="2400" dirty="0">
                <a:solidFill>
                  <a:srgbClr val="00CCFF"/>
                </a:solidFill>
                <a:effectLst/>
              </a:rPr>
              <a:t>A</a:t>
            </a:r>
            <a:r>
              <a:rPr lang="zh-CN" altLang="en-US" sz="2400" dirty="0">
                <a:solidFill>
                  <a:srgbClr val="00CCFF"/>
                </a:solidFill>
                <a:effectLst/>
              </a:rPr>
              <a:t>与其相邻节点具有</a:t>
            </a:r>
            <a:r>
              <a:rPr lang="zh-CN" altLang="en-US" sz="2400" u="sng" dirty="0">
                <a:solidFill>
                  <a:srgbClr val="00CCFF"/>
                </a:solidFill>
                <a:effectLst/>
              </a:rPr>
              <a:t>不同的类标签</a:t>
            </a:r>
          </a:p>
        </p:txBody>
      </p:sp>
      <p:cxnSp>
        <p:nvCxnSpPr>
          <p:cNvPr id="45" name="直接箭头连接符 44">
            <a:extLst>
              <a:ext uri="{FF2B5EF4-FFF2-40B4-BE49-F238E27FC236}">
                <a16:creationId xmlns:a16="http://schemas.microsoft.com/office/drawing/2014/main" id="{F958CF5A-CA06-C69A-B807-CF822F1EDCE1}"/>
              </a:ext>
            </a:extLst>
          </p:cNvPr>
          <p:cNvCxnSpPr>
            <a:endCxn id="43" idx="3"/>
          </p:cNvCxnSpPr>
          <p:nvPr/>
        </p:nvCxnSpPr>
        <p:spPr>
          <a:xfrm flipH="1">
            <a:off x="3291841" y="2635348"/>
            <a:ext cx="4393808" cy="1117382"/>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3455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44B1-A7FE-A52D-5EB3-02D02B6F1B6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6F25841-8D0F-D8CE-0FDC-BF0004AF79E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常见的异常形式</a:t>
            </a:r>
          </a:p>
        </p:txBody>
      </p:sp>
      <p:sp>
        <p:nvSpPr>
          <p:cNvPr id="151" name="矩形: 圆角 55">
            <a:extLst>
              <a:ext uri="{FF2B5EF4-FFF2-40B4-BE49-F238E27FC236}">
                <a16:creationId xmlns:a16="http://schemas.microsoft.com/office/drawing/2014/main" id="{769F7149-FA35-02F6-4B49-C09427FB6208}"/>
              </a:ext>
            </a:extLst>
          </p:cNvPr>
          <p:cNvSpPr/>
          <p:nvPr/>
        </p:nvSpPr>
        <p:spPr>
          <a:xfrm>
            <a:off x="296253" y="1102338"/>
            <a:ext cx="2895915" cy="103896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09585">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时序数据异常</a:t>
            </a:r>
          </a:p>
        </p:txBody>
      </p:sp>
      <p:sp>
        <p:nvSpPr>
          <p:cNvPr id="43" name="Rectangle 2">
            <a:extLst>
              <a:ext uri="{FF2B5EF4-FFF2-40B4-BE49-F238E27FC236}">
                <a16:creationId xmlns:a16="http://schemas.microsoft.com/office/drawing/2014/main" id="{77D0A308-32F8-D2D8-4C65-4A55DF3B5DB1}"/>
              </a:ext>
            </a:extLst>
          </p:cNvPr>
          <p:cNvSpPr txBox="1">
            <a:spLocks noChangeArrowheads="1"/>
          </p:cNvSpPr>
          <p:nvPr/>
        </p:nvSpPr>
        <p:spPr>
          <a:xfrm>
            <a:off x="296253" y="3315831"/>
            <a:ext cx="2995588"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异常段</a:t>
            </a:r>
            <a:r>
              <a:rPr lang="zh-CN" altLang="en-US" sz="2400" u="sng" dirty="0">
                <a:solidFill>
                  <a:srgbClr val="00CCFF"/>
                </a:solidFill>
                <a:effectLst/>
              </a:rPr>
              <a:t>偏离了正常的周期模式</a:t>
            </a:r>
          </a:p>
        </p:txBody>
      </p:sp>
      <p:pic>
        <p:nvPicPr>
          <p:cNvPr id="2" name="图形 1">
            <a:extLst>
              <a:ext uri="{FF2B5EF4-FFF2-40B4-BE49-F238E27FC236}">
                <a16:creationId xmlns:a16="http://schemas.microsoft.com/office/drawing/2014/main" id="{889BFCFC-1706-DDCE-C779-EB1F8E62E2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07471" y="1020013"/>
            <a:ext cx="6388330" cy="5589789"/>
          </a:xfrm>
          <a:prstGeom prst="rect">
            <a:avLst/>
          </a:prstGeom>
        </p:spPr>
      </p:pic>
      <p:sp>
        <p:nvSpPr>
          <p:cNvPr id="5" name="椭圆 4">
            <a:extLst>
              <a:ext uri="{FF2B5EF4-FFF2-40B4-BE49-F238E27FC236}">
                <a16:creationId xmlns:a16="http://schemas.microsoft.com/office/drawing/2014/main" id="{EAA624A4-9551-CAA8-299B-4A04B5129BE8}"/>
              </a:ext>
            </a:extLst>
          </p:cNvPr>
          <p:cNvSpPr/>
          <p:nvPr/>
        </p:nvSpPr>
        <p:spPr>
          <a:xfrm>
            <a:off x="5902452" y="2848356"/>
            <a:ext cx="2153412" cy="2203704"/>
          </a:xfrm>
          <a:prstGeom prst="ellipse">
            <a:avLst/>
          </a:prstGeom>
          <a:noFill/>
          <a:ln w="571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70D1D088-7EA8-C950-D0E8-1960D7DA552D}"/>
              </a:ext>
            </a:extLst>
          </p:cNvPr>
          <p:cNvCxnSpPr>
            <a:cxnSpLocks/>
            <a:endCxn id="43" idx="3"/>
          </p:cNvCxnSpPr>
          <p:nvPr/>
        </p:nvCxnSpPr>
        <p:spPr>
          <a:xfrm flipH="1" flipV="1">
            <a:off x="3291841" y="3752730"/>
            <a:ext cx="2610611" cy="216917"/>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0594703"/>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异常检测算法</a:t>
            </a:r>
          </a:p>
        </p:txBody>
      </p:sp>
      <p:graphicFrame>
        <p:nvGraphicFramePr>
          <p:cNvPr id="4" name="表格 3">
            <a:extLst>
              <a:ext uri="{FF2B5EF4-FFF2-40B4-BE49-F238E27FC236}">
                <a16:creationId xmlns:a16="http://schemas.microsoft.com/office/drawing/2014/main" id="{6E24D746-A589-9351-D352-51F7D107E8E3}"/>
              </a:ext>
            </a:extLst>
          </p:cNvPr>
          <p:cNvGraphicFramePr>
            <a:graphicFrameLocks noGrp="1"/>
          </p:cNvGraphicFramePr>
          <p:nvPr>
            <p:extLst>
              <p:ext uri="{D42A27DB-BD31-4B8C-83A1-F6EECF244321}">
                <p14:modId xmlns:p14="http://schemas.microsoft.com/office/powerpoint/2010/main" val="2857610349"/>
              </p:ext>
            </p:extLst>
          </p:nvPr>
        </p:nvGraphicFramePr>
        <p:xfrm>
          <a:off x="635390" y="1735922"/>
          <a:ext cx="10921219" cy="4035637"/>
        </p:xfrm>
        <a:graphic>
          <a:graphicData uri="http://schemas.openxmlformats.org/drawingml/2006/table">
            <a:tbl>
              <a:tblPr firstRow="1" bandRow="1">
                <a:tableStyleId>{5A111915-BE36-4E01-A7E5-04B1672EAD32}</a:tableStyleId>
              </a:tblPr>
              <a:tblGrid>
                <a:gridCol w="1088735">
                  <a:extLst>
                    <a:ext uri="{9D8B030D-6E8A-4147-A177-3AD203B41FA5}">
                      <a16:colId xmlns:a16="http://schemas.microsoft.com/office/drawing/2014/main" val="1518600766"/>
                    </a:ext>
                  </a:extLst>
                </a:gridCol>
                <a:gridCol w="2458121">
                  <a:extLst>
                    <a:ext uri="{9D8B030D-6E8A-4147-A177-3AD203B41FA5}">
                      <a16:colId xmlns:a16="http://schemas.microsoft.com/office/drawing/2014/main" val="1200837823"/>
                    </a:ext>
                  </a:extLst>
                </a:gridCol>
                <a:gridCol w="2458121">
                  <a:extLst>
                    <a:ext uri="{9D8B030D-6E8A-4147-A177-3AD203B41FA5}">
                      <a16:colId xmlns:a16="http://schemas.microsoft.com/office/drawing/2014/main" val="3908894314"/>
                    </a:ext>
                  </a:extLst>
                </a:gridCol>
                <a:gridCol w="2458121">
                  <a:extLst>
                    <a:ext uri="{9D8B030D-6E8A-4147-A177-3AD203B41FA5}">
                      <a16:colId xmlns:a16="http://schemas.microsoft.com/office/drawing/2014/main" val="3899643831"/>
                    </a:ext>
                  </a:extLst>
                </a:gridCol>
                <a:gridCol w="2458121">
                  <a:extLst>
                    <a:ext uri="{9D8B030D-6E8A-4147-A177-3AD203B41FA5}">
                      <a16:colId xmlns:a16="http://schemas.microsoft.com/office/drawing/2014/main" val="4278955492"/>
                    </a:ext>
                  </a:extLst>
                </a:gridCol>
              </a:tblGrid>
              <a:tr h="667032">
                <a:tc>
                  <a:txBody>
                    <a:bodyPr/>
                    <a:lstStyle/>
                    <a:p>
                      <a:pPr algn="ctr"/>
                      <a:r>
                        <a:rPr lang="zh-CN" altLang="en-US" dirty="0">
                          <a:latin typeface="微软雅黑" panose="020B0503020204020204" pitchFamily="34" charset="-122"/>
                          <a:ea typeface="微软雅黑" panose="020B0503020204020204" pitchFamily="34" charset="-122"/>
                        </a:rPr>
                        <a:t>类别</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统计理论</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空间分布</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降维</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预测</a:t>
                      </a:r>
                    </a:p>
                  </a:txBody>
                  <a:tcPr anchor="ctr"/>
                </a:tc>
                <a:extLst>
                  <a:ext uri="{0D108BD9-81ED-4DB2-BD59-A6C34878D82A}">
                    <a16:rowId xmlns:a16="http://schemas.microsoft.com/office/drawing/2014/main" val="2475130261"/>
                  </a:ext>
                </a:extLst>
              </a:tr>
              <a:tr h="2288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latin typeface="微软雅黑" panose="020B0503020204020204" pitchFamily="34" charset="-122"/>
                          <a:ea typeface="微软雅黑" panose="020B0503020204020204" pitchFamily="34" charset="-122"/>
                        </a:rPr>
                        <a:t>示意图</a:t>
                      </a:r>
                    </a:p>
                  </a:txBody>
                  <a:tcPr anchor="ctr"/>
                </a:tc>
                <a:tc>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0471394"/>
                  </a:ext>
                </a:extLst>
              </a:tr>
              <a:tr h="108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latin typeface="微软雅黑" panose="020B0503020204020204" pitchFamily="34" charset="-122"/>
                          <a:ea typeface="微软雅黑" panose="020B0503020204020204" pitchFamily="34" charset="-122"/>
                        </a:rPr>
                        <a:t>代表性算法</a:t>
                      </a: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3σ</a:t>
                      </a:r>
                      <a:r>
                        <a:rPr lang="zh-CN" altLang="en-US" sz="1600" dirty="0">
                          <a:latin typeface="微软雅黑" panose="020B0503020204020204" pitchFamily="34" charset="-122"/>
                          <a:ea typeface="微软雅黑" panose="020B0503020204020204" pitchFamily="34" charset="-122"/>
                        </a:rPr>
                        <a:t>准则、箱线图、直方图、累积和法</a:t>
                      </a:r>
                    </a:p>
                  </a:txBody>
                  <a:tcPr anchor="ctr"/>
                </a:tc>
                <a:tc>
                  <a:txBody>
                    <a:bodyPr/>
                    <a:lstStyle/>
                    <a:p>
                      <a:pPr algn="ctr"/>
                      <a:r>
                        <a:rPr lang="zh-CN" altLang="en-US" sz="1600" dirty="0">
                          <a:latin typeface="微软雅黑" panose="020B0503020204020204" pitchFamily="34" charset="-122"/>
                          <a:ea typeface="微软雅黑" panose="020B0503020204020204" pitchFamily="34" charset="-122"/>
                        </a:rPr>
                        <a:t>孤立森林、局部异常因子</a:t>
                      </a:r>
                    </a:p>
                  </a:txBody>
                  <a:tcPr anchor="ctr"/>
                </a:tc>
                <a:tc>
                  <a:txBody>
                    <a:bodyPr/>
                    <a:lstStyle/>
                    <a:p>
                      <a:pPr algn="ctr"/>
                      <a:r>
                        <a:rPr lang="zh-CN" altLang="en-US" sz="1600" dirty="0">
                          <a:latin typeface="微软雅黑" panose="020B0503020204020204" pitchFamily="34" charset="-122"/>
                          <a:ea typeface="微软雅黑" panose="020B0503020204020204" pitchFamily="34" charset="-122"/>
                        </a:rPr>
                        <a:t>主成分分析、自编码器</a:t>
                      </a:r>
                    </a:p>
                  </a:txBody>
                  <a:tcPr anchor="ctr"/>
                </a:tc>
                <a:tc>
                  <a:txBody>
                    <a:bodyPr/>
                    <a:lstStyle/>
                    <a:p>
                      <a:pPr algn="ctr"/>
                      <a:r>
                        <a:rPr lang="zh-CN" altLang="en-US" sz="1600" dirty="0">
                          <a:latin typeface="微软雅黑" panose="020B0503020204020204" pitchFamily="34" charset="-122"/>
                          <a:ea typeface="微软雅黑" panose="020B0503020204020204" pitchFamily="34" charset="-122"/>
                        </a:rPr>
                        <a:t>向量自回归模型、自回归差分移动平均模型、</a:t>
                      </a:r>
                      <a:r>
                        <a:rPr lang="en-US" altLang="zh-CN" sz="1600" dirty="0">
                          <a:latin typeface="微软雅黑" panose="020B0503020204020204" pitchFamily="34" charset="-122"/>
                          <a:ea typeface="微软雅黑" panose="020B0503020204020204" pitchFamily="34" charset="-122"/>
                        </a:rPr>
                        <a:t>LSTM</a:t>
                      </a:r>
                      <a:r>
                        <a:rPr lang="zh-CN" altLang="en-US" sz="1600" dirty="0">
                          <a:latin typeface="微软雅黑" panose="020B0503020204020204" pitchFamily="34" charset="-122"/>
                          <a:ea typeface="微软雅黑" panose="020B0503020204020204" pitchFamily="34" charset="-122"/>
                        </a:rPr>
                        <a:t>模型</a:t>
                      </a:r>
                    </a:p>
                  </a:txBody>
                  <a:tcPr anchor="ctr"/>
                </a:tc>
                <a:extLst>
                  <a:ext uri="{0D108BD9-81ED-4DB2-BD59-A6C34878D82A}">
                    <a16:rowId xmlns:a16="http://schemas.microsoft.com/office/drawing/2014/main" val="3624324451"/>
                  </a:ext>
                </a:extLst>
              </a:tr>
            </a:tbl>
          </a:graphicData>
        </a:graphic>
      </p:graphicFrame>
      <p:pic>
        <p:nvPicPr>
          <p:cNvPr id="6" name="图形 11">
            <a:extLst>
              <a:ext uri="{FF2B5EF4-FFF2-40B4-BE49-F238E27FC236}">
                <a16:creationId xmlns:a16="http://schemas.microsoft.com/office/drawing/2014/main" id="{6BF0D9E8-87EC-8A48-037C-72368BB78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1452" y="2877180"/>
            <a:ext cx="1983306" cy="1450055"/>
          </a:xfrm>
          <a:prstGeom prst="rect">
            <a:avLst/>
          </a:prstGeom>
        </p:spPr>
      </p:pic>
      <p:pic>
        <p:nvPicPr>
          <p:cNvPr id="12" name="图形 14">
            <a:extLst>
              <a:ext uri="{FF2B5EF4-FFF2-40B4-BE49-F238E27FC236}">
                <a16:creationId xmlns:a16="http://schemas.microsoft.com/office/drawing/2014/main" id="{192E8FC8-B498-4D14-7E14-0948832825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49912" y="2855005"/>
            <a:ext cx="1983306" cy="1472230"/>
          </a:xfrm>
          <a:prstGeom prst="rect">
            <a:avLst/>
          </a:prstGeom>
        </p:spPr>
      </p:pic>
      <p:pic>
        <p:nvPicPr>
          <p:cNvPr id="13" name="图形 13">
            <a:extLst>
              <a:ext uri="{FF2B5EF4-FFF2-40B4-BE49-F238E27FC236}">
                <a16:creationId xmlns:a16="http://schemas.microsoft.com/office/drawing/2014/main" id="{2C68D399-B170-8361-06F0-F8DAD9680F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08656" y="2854743"/>
            <a:ext cx="1983306" cy="1472492"/>
          </a:xfrm>
          <a:prstGeom prst="rect">
            <a:avLst/>
          </a:prstGeom>
        </p:spPr>
      </p:pic>
      <p:pic>
        <p:nvPicPr>
          <p:cNvPr id="14" name="图形 12">
            <a:extLst>
              <a:ext uri="{FF2B5EF4-FFF2-40B4-BE49-F238E27FC236}">
                <a16:creationId xmlns:a16="http://schemas.microsoft.com/office/drawing/2014/main" id="{47F58B2C-7FE8-A969-8274-E38FC687718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67401" y="2877232"/>
            <a:ext cx="1983305" cy="1472178"/>
          </a:xfrm>
          <a:prstGeom prst="rect">
            <a:avLst/>
          </a:prstGeom>
        </p:spPr>
      </p:pic>
    </p:spTree>
    <p:extLst>
      <p:ext uri="{BB962C8B-B14F-4D97-AF65-F5344CB8AC3E}">
        <p14:creationId xmlns:p14="http://schemas.microsoft.com/office/powerpoint/2010/main" val="17803613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异常检测任务</a:t>
            </a:r>
          </a:p>
        </p:txBody>
      </p:sp>
      <p:sp>
        <p:nvSpPr>
          <p:cNvPr id="151" name="矩形: 圆角 55">
            <a:extLst>
              <a:ext uri="{FF2B5EF4-FFF2-40B4-BE49-F238E27FC236}">
                <a16:creationId xmlns:a16="http://schemas.microsoft.com/office/drawing/2014/main" id="{B255021A-6CD7-B531-6635-CD81093D31BA}"/>
              </a:ext>
            </a:extLst>
          </p:cNvPr>
          <p:cNvSpPr/>
          <p:nvPr/>
        </p:nvSpPr>
        <p:spPr>
          <a:xfrm>
            <a:off x="413489" y="1665044"/>
            <a:ext cx="1941122" cy="1052029"/>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时间序列异常检测</a:t>
            </a:r>
          </a:p>
        </p:txBody>
      </p:sp>
      <p:sp>
        <p:nvSpPr>
          <p:cNvPr id="2" name="文本框 1">
            <a:extLst>
              <a:ext uri="{FF2B5EF4-FFF2-40B4-BE49-F238E27FC236}">
                <a16:creationId xmlns:a16="http://schemas.microsoft.com/office/drawing/2014/main" id="{D51B792D-0756-6C4A-DEAC-66A4D999D385}"/>
              </a:ext>
            </a:extLst>
          </p:cNvPr>
          <p:cNvSpPr txBox="1"/>
          <p:nvPr/>
        </p:nvSpPr>
        <p:spPr>
          <a:xfrm>
            <a:off x="2530764" y="1403927"/>
            <a:ext cx="8294254" cy="1689052"/>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时间序列异常检测任务的核心在于准确识别那些与正常模式显著不符的数据点，这些点与正常数据点之间的</a:t>
            </a:r>
            <a:r>
              <a:rPr lang="zh-CN" altLang="en-US" sz="2400" b="1" dirty="0">
                <a:solidFill>
                  <a:srgbClr val="FF0000"/>
                </a:solidFill>
                <a:latin typeface="微软雅黑" panose="020B0503020204020204" pitchFamily="34" charset="-122"/>
                <a:ea typeface="微软雅黑" panose="020B0503020204020204" pitchFamily="34" charset="-122"/>
              </a:rPr>
              <a:t>差异应尽可能大</a:t>
            </a:r>
            <a:r>
              <a:rPr lang="zh-CN" altLang="en-US" sz="2400" dirty="0">
                <a:latin typeface="微软雅黑" panose="020B0503020204020204" pitchFamily="34" charset="-122"/>
                <a:ea typeface="微软雅黑" panose="020B0503020204020204" pitchFamily="34" charset="-122"/>
              </a:rPr>
              <a:t>，或者从概率角度看，其</a:t>
            </a:r>
            <a:r>
              <a:rPr lang="zh-CN" altLang="en-US" sz="2400" b="1" dirty="0">
                <a:solidFill>
                  <a:srgbClr val="FF0000"/>
                </a:solidFill>
                <a:latin typeface="微软雅黑" panose="020B0503020204020204" pitchFamily="34" charset="-122"/>
                <a:ea typeface="微软雅黑" panose="020B0503020204020204" pitchFamily="34" charset="-122"/>
              </a:rPr>
              <a:t>出现的可能性应尽可能小</a:t>
            </a:r>
            <a:r>
              <a:rPr lang="zh-CN" altLang="en-US" sz="2400" dirty="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742092FA-9B91-000E-A143-CB0DCDA869BE}"/>
              </a:ext>
            </a:extLst>
          </p:cNvPr>
          <p:cNvPicPr>
            <a:picLocks noChangeAspect="1"/>
          </p:cNvPicPr>
          <p:nvPr/>
        </p:nvPicPr>
        <p:blipFill>
          <a:blip r:embed="rId3"/>
          <a:stretch>
            <a:fillRect/>
          </a:stretch>
        </p:blipFill>
        <p:spPr>
          <a:xfrm>
            <a:off x="1166975" y="3797872"/>
            <a:ext cx="9748762" cy="2861418"/>
          </a:xfrm>
          <a:prstGeom prst="rect">
            <a:avLst/>
          </a:prstGeom>
        </p:spPr>
      </p:pic>
      <p:sp>
        <p:nvSpPr>
          <p:cNvPr id="7" name="文本框 6">
            <a:extLst>
              <a:ext uri="{FF2B5EF4-FFF2-40B4-BE49-F238E27FC236}">
                <a16:creationId xmlns:a16="http://schemas.microsoft.com/office/drawing/2014/main" id="{4920F4E6-B43F-2C0E-2E3B-B27A3902825D}"/>
              </a:ext>
            </a:extLst>
          </p:cNvPr>
          <p:cNvSpPr txBox="1"/>
          <p:nvPr/>
        </p:nvSpPr>
        <p:spPr>
          <a:xfrm>
            <a:off x="913976" y="3138471"/>
            <a:ext cx="10180781" cy="581057"/>
          </a:xfrm>
          <a:prstGeom prst="rect">
            <a:avLst/>
          </a:prstGeom>
          <a:noFill/>
        </p:spPr>
        <p:txBody>
          <a:bodyPr wrap="square">
            <a:spAutoFit/>
          </a:bodyPr>
          <a:lstStyle/>
          <a:p>
            <a:pPr lvl="0">
              <a:lnSpc>
                <a:spcPct val="150000"/>
              </a:lnSpc>
              <a:defRPr/>
            </a:pPr>
            <a:r>
              <a:rPr lang="zh-CN" altLang="en-US" sz="2400" b="1" dirty="0">
                <a:solidFill>
                  <a:srgbClr val="00CCFF"/>
                </a:solidFill>
                <a:latin typeface="微软雅黑" pitchFamily="34" charset="-122"/>
                <a:ea typeface="微软雅黑" pitchFamily="34" charset="-122"/>
                <a:cs typeface="+mj-cs"/>
              </a:rPr>
              <a:t>异常类型：</a:t>
            </a:r>
            <a:r>
              <a:rPr lang="zh-CN" altLang="en-US" sz="1800" kern="0" dirty="0">
                <a:solidFill>
                  <a:schemeClr val="tx1">
                    <a:lumMod val="65000"/>
                    <a:lumOff val="35000"/>
                  </a:schemeClr>
                </a:solidFill>
                <a:latin typeface="微软雅黑" panose="020B0503020204020204" pitchFamily="34" charset="-122"/>
                <a:ea typeface="微软雅黑" panose="020B0503020204020204" pitchFamily="34" charset="-122"/>
              </a:rPr>
              <a:t>点异常（全局异常、上下文异常）；模式异常（形态异常、季节性异常、趋势性异常）</a:t>
            </a:r>
          </a:p>
        </p:txBody>
      </p:sp>
    </p:spTree>
    <p:extLst>
      <p:ext uri="{BB962C8B-B14F-4D97-AF65-F5344CB8AC3E}">
        <p14:creationId xmlns:p14="http://schemas.microsoft.com/office/powerpoint/2010/main" val="33143161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EC77B-9617-99C4-506A-5D06D966246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735F58C-AB17-9D7A-3BBE-2A8CFE7B7E6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异常检测任务</a:t>
            </a:r>
          </a:p>
        </p:txBody>
      </p:sp>
      <p:sp>
        <p:nvSpPr>
          <p:cNvPr id="151" name="矩形: 圆角 55">
            <a:extLst>
              <a:ext uri="{FF2B5EF4-FFF2-40B4-BE49-F238E27FC236}">
                <a16:creationId xmlns:a16="http://schemas.microsoft.com/office/drawing/2014/main" id="{32555BF2-E93A-AC84-7883-6C7F81A57C00}"/>
              </a:ext>
            </a:extLst>
          </p:cNvPr>
          <p:cNvSpPr/>
          <p:nvPr/>
        </p:nvSpPr>
        <p:spPr>
          <a:xfrm>
            <a:off x="413489" y="1665044"/>
            <a:ext cx="1941122" cy="1052029"/>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图像异常检测</a:t>
            </a:r>
          </a:p>
        </p:txBody>
      </p:sp>
      <p:sp>
        <p:nvSpPr>
          <p:cNvPr id="2" name="文本框 1">
            <a:extLst>
              <a:ext uri="{FF2B5EF4-FFF2-40B4-BE49-F238E27FC236}">
                <a16:creationId xmlns:a16="http://schemas.microsoft.com/office/drawing/2014/main" id="{308796BF-ED84-E290-E324-A7429C62D81D}"/>
              </a:ext>
            </a:extLst>
          </p:cNvPr>
          <p:cNvSpPr txBox="1"/>
          <p:nvPr/>
        </p:nvSpPr>
        <p:spPr>
          <a:xfrm>
            <a:off x="2526146" y="1524000"/>
            <a:ext cx="9000836" cy="1135054"/>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在图像异常检测任务中，算法的主要目标是识别那些与正常</a:t>
            </a:r>
            <a:r>
              <a:rPr lang="zh-CN" altLang="en-US" sz="2400" b="1" dirty="0">
                <a:solidFill>
                  <a:srgbClr val="FF0000"/>
                </a:solidFill>
                <a:latin typeface="微软雅黑" panose="020B0503020204020204" pitchFamily="34" charset="-122"/>
                <a:ea typeface="微软雅黑" panose="020B0503020204020204" pitchFamily="34" charset="-122"/>
              </a:rPr>
              <a:t>图像分布不一致</a:t>
            </a:r>
            <a:r>
              <a:rPr lang="zh-CN" altLang="en-US" sz="2400" dirty="0">
                <a:latin typeface="微软雅黑" panose="020B0503020204020204" pitchFamily="34" charset="-122"/>
                <a:ea typeface="微软雅黑" panose="020B0503020204020204" pitchFamily="34" charset="-122"/>
              </a:rPr>
              <a:t>的图像。</a:t>
            </a:r>
            <a:endParaRPr lang="en-US" altLang="zh-CN" sz="24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35838F7-1DCA-3BA8-0423-6C136964B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7149" y="2717073"/>
            <a:ext cx="5677192" cy="4038808"/>
          </a:xfrm>
          <a:prstGeom prst="rect">
            <a:avLst/>
          </a:prstGeom>
        </p:spPr>
      </p:pic>
      <p:sp>
        <p:nvSpPr>
          <p:cNvPr id="8" name="文本框 7">
            <a:extLst>
              <a:ext uri="{FF2B5EF4-FFF2-40B4-BE49-F238E27FC236}">
                <a16:creationId xmlns:a16="http://schemas.microsoft.com/office/drawing/2014/main" id="{96A1C041-D553-E7B6-3F91-33EE70EB8498}"/>
              </a:ext>
            </a:extLst>
          </p:cNvPr>
          <p:cNvSpPr txBox="1"/>
          <p:nvPr/>
        </p:nvSpPr>
        <p:spPr>
          <a:xfrm>
            <a:off x="818652" y="3549156"/>
            <a:ext cx="3935271" cy="2243050"/>
          </a:xfrm>
          <a:prstGeom prst="rect">
            <a:avLst/>
          </a:prstGeom>
          <a:noFill/>
          <a:ln w="28575">
            <a:solidFill>
              <a:srgbClr val="3484FF"/>
            </a:solidFill>
            <a:prstDash val="lgDash"/>
          </a:ln>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通常通过对图像的</a:t>
            </a:r>
            <a:r>
              <a:rPr lang="zh-CN" altLang="en-US" sz="2400" b="1" dirty="0">
                <a:solidFill>
                  <a:srgbClr val="FF0000"/>
                </a:solidFill>
                <a:latin typeface="微软雅黑" panose="020B0503020204020204" pitchFamily="34" charset="-122"/>
                <a:ea typeface="微软雅黑" panose="020B0503020204020204" pitchFamily="34" charset="-122"/>
              </a:rPr>
              <a:t>像素分布、纹理、结构</a:t>
            </a:r>
            <a:r>
              <a:rPr lang="zh-CN" altLang="en-US" sz="2400" dirty="0">
                <a:latin typeface="微软雅黑" panose="020B0503020204020204" pitchFamily="34" charset="-122"/>
                <a:ea typeface="微软雅黑" panose="020B0503020204020204" pitchFamily="34" charset="-122"/>
              </a:rPr>
              <a:t>等信息等特征进行挖掘，以判断图像是否异常。</a:t>
            </a:r>
          </a:p>
        </p:txBody>
      </p:sp>
    </p:spTree>
    <p:extLst>
      <p:ext uri="{BB962C8B-B14F-4D97-AF65-F5344CB8AC3E}">
        <p14:creationId xmlns:p14="http://schemas.microsoft.com/office/powerpoint/2010/main" val="4119746444"/>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2915-7D4E-FA75-F967-568D22A7A94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845BAFA-5727-6266-8417-E5C00AB51E1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异常检测任务</a:t>
            </a:r>
          </a:p>
        </p:txBody>
      </p:sp>
      <p:sp>
        <p:nvSpPr>
          <p:cNvPr id="151" name="矩形: 圆角 55">
            <a:extLst>
              <a:ext uri="{FF2B5EF4-FFF2-40B4-BE49-F238E27FC236}">
                <a16:creationId xmlns:a16="http://schemas.microsoft.com/office/drawing/2014/main" id="{9F73D8A5-E8B4-14D2-DA0A-9F878DB7B58B}"/>
              </a:ext>
            </a:extLst>
          </p:cNvPr>
          <p:cNvSpPr/>
          <p:nvPr/>
        </p:nvSpPr>
        <p:spPr>
          <a:xfrm>
            <a:off x="413489" y="1665044"/>
            <a:ext cx="1941122" cy="1052029"/>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视频异常检测</a:t>
            </a:r>
          </a:p>
        </p:txBody>
      </p:sp>
      <p:sp>
        <p:nvSpPr>
          <p:cNvPr id="2" name="文本框 1">
            <a:extLst>
              <a:ext uri="{FF2B5EF4-FFF2-40B4-BE49-F238E27FC236}">
                <a16:creationId xmlns:a16="http://schemas.microsoft.com/office/drawing/2014/main" id="{D84F17D6-8629-50C4-7B00-A2FBF5F1733A}"/>
              </a:ext>
            </a:extLst>
          </p:cNvPr>
          <p:cNvSpPr txBox="1"/>
          <p:nvPr/>
        </p:nvSpPr>
        <p:spPr>
          <a:xfrm>
            <a:off x="2526146" y="1524000"/>
            <a:ext cx="9000836" cy="1135054"/>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视频异常检测任务旨在识别</a:t>
            </a:r>
            <a:r>
              <a:rPr lang="zh-CN" altLang="en-US" sz="2400" b="1" dirty="0">
                <a:solidFill>
                  <a:srgbClr val="FF0000"/>
                </a:solidFill>
                <a:latin typeface="微软雅黑" panose="020B0503020204020204" pitchFamily="34" charset="-122"/>
                <a:ea typeface="微软雅黑" panose="020B0503020204020204" pitchFamily="34" charset="-122"/>
              </a:rPr>
              <a:t>不符合正常行为模式</a:t>
            </a:r>
            <a:r>
              <a:rPr lang="zh-CN" altLang="en-US" sz="2400" dirty="0">
                <a:latin typeface="微软雅黑" panose="020B0503020204020204" pitchFamily="34" charset="-122"/>
                <a:ea typeface="微软雅黑" panose="020B0503020204020204" pitchFamily="34" charset="-122"/>
              </a:rPr>
              <a:t>的视频片段，可能表现为突然的运动变化、外观变化或与其他的显著不一致性。</a:t>
            </a:r>
          </a:p>
        </p:txBody>
      </p:sp>
      <p:pic>
        <p:nvPicPr>
          <p:cNvPr id="5" name="图片 4">
            <a:extLst>
              <a:ext uri="{FF2B5EF4-FFF2-40B4-BE49-F238E27FC236}">
                <a16:creationId xmlns:a16="http://schemas.microsoft.com/office/drawing/2014/main" id="{56B10F1E-5104-3D89-B292-0E4B14D36BC7}"/>
              </a:ext>
            </a:extLst>
          </p:cNvPr>
          <p:cNvPicPr>
            <a:picLocks noChangeAspect="1"/>
          </p:cNvPicPr>
          <p:nvPr/>
        </p:nvPicPr>
        <p:blipFill>
          <a:blip r:embed="rId3"/>
          <a:stretch>
            <a:fillRect/>
          </a:stretch>
        </p:blipFill>
        <p:spPr>
          <a:xfrm>
            <a:off x="52662" y="3429000"/>
            <a:ext cx="11986140" cy="2943025"/>
          </a:xfrm>
          <a:prstGeom prst="rect">
            <a:avLst/>
          </a:prstGeom>
        </p:spPr>
      </p:pic>
    </p:spTree>
    <p:extLst>
      <p:ext uri="{BB962C8B-B14F-4D97-AF65-F5344CB8AC3E}">
        <p14:creationId xmlns:p14="http://schemas.microsoft.com/office/powerpoint/2010/main" val="317459230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常用数据集</a:t>
            </a:r>
          </a:p>
        </p:txBody>
      </p:sp>
      <p:pic>
        <p:nvPicPr>
          <p:cNvPr id="2" name="图形 3">
            <a:extLst>
              <a:ext uri="{FF2B5EF4-FFF2-40B4-BE49-F238E27FC236}">
                <a16:creationId xmlns:a16="http://schemas.microsoft.com/office/drawing/2014/main" id="{D7E75B46-226E-821E-6FFF-2632FDA10B7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993456"/>
            <a:ext cx="9383135" cy="5657720"/>
          </a:xfrm>
          <a:prstGeom prst="rect">
            <a:avLst/>
          </a:prstGeom>
        </p:spPr>
      </p:pic>
    </p:spTree>
    <p:extLst>
      <p:ext uri="{BB962C8B-B14F-4D97-AF65-F5344CB8AC3E}">
        <p14:creationId xmlns:p14="http://schemas.microsoft.com/office/powerpoint/2010/main" val="10091091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5405</TotalTime>
  <Words>387</Words>
  <Application>Microsoft Office PowerPoint</Application>
  <PresentationFormat>宽屏</PresentationFormat>
  <Paragraphs>53</Paragraphs>
  <Slides>11</Slides>
  <Notes>11</Notes>
  <HiddenSlides>0</HiddenSlides>
  <MMClips>0</MMClips>
  <ScaleCrop>false</ScaleCrop>
  <HeadingPairs>
    <vt:vector size="8" baseType="variant">
      <vt:variant>
        <vt:lpstr>已用的字体</vt:lpstr>
      </vt:variant>
      <vt:variant>
        <vt:i4>10</vt:i4>
      </vt:variant>
      <vt:variant>
        <vt:lpstr>主题</vt:lpstr>
      </vt:variant>
      <vt:variant>
        <vt:i4>12</vt:i4>
      </vt:variant>
      <vt:variant>
        <vt:lpstr>嵌入 OLE 服务器</vt:lpstr>
      </vt:variant>
      <vt:variant>
        <vt:i4>1</vt:i4>
      </vt:variant>
      <vt:variant>
        <vt:lpstr>幻灯片标题</vt:lpstr>
      </vt:variant>
      <vt:variant>
        <vt:i4>11</vt:i4>
      </vt:variant>
    </vt:vector>
  </HeadingPairs>
  <TitlesOfParts>
    <vt:vector size="34" baseType="lpstr">
      <vt:lpstr>等线</vt:lpstr>
      <vt:lpstr>华光综艺_CNKI</vt:lpstr>
      <vt:lpstr>楷体</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Mengxin Ou</cp:lastModifiedBy>
  <cp:revision>2913</cp:revision>
  <dcterms:created xsi:type="dcterms:W3CDTF">2022-05-23T09:13:00Z</dcterms:created>
  <dcterms:modified xsi:type="dcterms:W3CDTF">2025-04-17T07:55:08Z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