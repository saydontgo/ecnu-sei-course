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15638" r:id="rId2"/>
    <p:sldId id="15685" r:id="rId3"/>
    <p:sldId id="15686" r:id="rId4"/>
    <p:sldId id="15687" r:id="rId5"/>
    <p:sldId id="15688" r:id="rId6"/>
    <p:sldId id="15689" r:id="rId7"/>
    <p:sldId id="15690" r:id="rId8"/>
    <p:sldId id="15691" r:id="rId9"/>
    <p:sldId id="15693" r:id="rId10"/>
    <p:sldId id="15694" r:id="rId11"/>
    <p:sldId id="1550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163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1CBE-D0FA-F043-636D-D64D8CE9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F03DEB-D7A7-5EFB-BECF-CA1D6EE31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7AA7EA-8574-4B2F-6239-FB80488E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944465-7A27-00F9-4AF7-1737FBB84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80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4751-36BF-41F3-EC14-BEABEE847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F8142-ECB1-428B-95FF-3EAD268A0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0D1F18-FB85-EE70-DA95-2F812E9F2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B1C0B2-EBF9-4B79-3E73-9041FB427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85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C0464-1822-5E1C-69A6-BEB75480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47A18F-F580-7ADF-3CAD-F04452EB5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3466FF-5A97-BD10-F489-884A20D93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297059-7FA3-E261-88F8-4277065E4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441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3F74-B70B-7170-CA93-AC0A6A34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134AA1-407A-5AF3-0DDA-E669D9F57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E9EBD6-6897-9DDB-C42E-3341BDDA3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18F2FD-4C05-E3A0-EEE4-761BEA2E3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77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C943-22B7-D902-B824-B2CB32A7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A39D3D-C919-27FF-BB9F-FB110682A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AB15C0-0C0E-2C7F-54AC-6982177F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3F33C4-26AF-6B22-72B4-06BDEA60A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328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43B3C-D99A-120E-446E-2FC2E489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C72D0-B09A-F962-9151-92754609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738CDD-D7C2-5E36-8D77-BBE47E59B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8758F-42B0-D64B-977C-54577512F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325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7A2A-390B-387A-6CAF-E9A94860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C9EE57-6455-B0F3-FF13-DB8426730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1E14CA-0F90-B35C-C516-4F9451A82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502985-918F-E31D-88EA-0DAB2D3E1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95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12A5-1880-AC6D-C4F4-059957A8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B37BAE-42B3-D2F4-8626-16340672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99168A-99D8-1E59-1808-966E7359E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右图为层次聚类树状图，它展示了展示样本如何根据相似性逐渐合并成更大的簇，并通过设置不同的距离阈值可将数据集划分为多个聚类结果。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1FB4B1-2A42-811B-C46B-A9D49ABA7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056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EFE6-2474-7E32-E2CD-3689DDCB7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400392-9739-11B6-BA75-846E7CE7F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1E9333-BC7A-8036-F17E-2E8EDB587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右图为聚类结果，算法预设划分的簇数量为</a:t>
            </a:r>
            <a:r>
              <a:rPr lang="en-US" altLang="zh-CN" sz="1800" dirty="0"/>
              <a:t>3</a:t>
            </a:r>
            <a:r>
              <a:rPr lang="zh-CN" altLang="en-US" sz="1800" dirty="0"/>
              <a:t>，最终结果成功将种子数据划分为</a:t>
            </a:r>
            <a:r>
              <a:rPr lang="en-US" altLang="zh-CN" sz="1800" dirty="0"/>
              <a:t>3</a:t>
            </a:r>
            <a:r>
              <a:rPr lang="zh-CN" altLang="en-US" sz="1800" dirty="0"/>
              <a:t>个簇。由于数据集包含真实类别标签，最后使用</a:t>
            </a:r>
            <a:r>
              <a:rPr lang="en-US" altLang="zh-CN" sz="1800" dirty="0" err="1"/>
              <a:t>Calinski-Harabasz</a:t>
            </a:r>
            <a:r>
              <a:rPr lang="zh-CN" altLang="en-US" sz="1800" dirty="0"/>
              <a:t>指数和调整兰德系数值对聚类结果进行评估。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AF58AA-61F8-043F-901A-50A12D2DB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640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8.2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层次聚类</a:t>
            </a: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80D0-9414-EED2-822B-AD6E5DD8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27753F3-371F-8898-B199-14FE6C5983F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905F7BE8-F931-E6D4-46F3-A71C3A3A41B5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EC013FC3-0DD5-6BEE-ED9E-AE02F5ACDC15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B4367D-4E70-7181-848F-BE7B03F54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4D97385-BB75-B245-D0B1-4ABE211B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396FBA4-D9C9-9AEC-8D2F-7D3B2DB0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8AEF1E8-5E00-44D0-B7F7-D8A5C7B88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EF0B5B52-B67A-CDF2-B2FC-43A5FD894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83321032-B46E-4913-0DD4-D6A0FBA8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489B6338-C5E0-B412-61F5-DEAE80955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292E08-B6D2-8629-40E0-51F2740C7332}"/>
              </a:ext>
            </a:extLst>
          </p:cNvPr>
          <p:cNvSpPr/>
          <p:nvPr/>
        </p:nvSpPr>
        <p:spPr>
          <a:xfrm>
            <a:off x="2107276" y="1475436"/>
            <a:ext cx="9596750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层次聚类算法是一种探索数据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内在层次结构关系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的聚类方法，该算法通过整体到局部的分裂过程，或局部到整体的合并过程构建样本间的层次化组织。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算法的核心在于利用这种分裂或合并的顺序性操作，对数据集进行逐步细化或整合的聚类分析，最终通过直观的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层次化树状图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来清晰展示各样本或簇之间的相似度及其层次关系。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CD4F374-2999-3BC7-0265-2AFD50521CA9}"/>
              </a:ext>
            </a:extLst>
          </p:cNvPr>
          <p:cNvSpPr txBox="1">
            <a:spLocks noChangeArrowheads="1"/>
          </p:cNvSpPr>
          <p:nvPr/>
        </p:nvSpPr>
        <p:spPr>
          <a:xfrm>
            <a:off x="2107276" y="4903220"/>
            <a:ext cx="4223084" cy="149356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CCFF"/>
                </a:solidFill>
                <a:effectLst/>
              </a:rPr>
              <a:t>根据层次分解的顺序分类：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>
                <a:solidFill>
                  <a:schemeClr val="tx1"/>
                </a:solidFill>
                <a:effectLst/>
              </a:rPr>
              <a:t>自上向下的分裂型层次聚类算法</a:t>
            </a:r>
            <a:endParaRPr lang="en-US" altLang="zh-CN" sz="2000" b="0" dirty="0">
              <a:solidFill>
                <a:schemeClr val="tx1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>
                <a:solidFill>
                  <a:schemeClr val="tx1"/>
                </a:solidFill>
                <a:effectLst/>
              </a:rPr>
              <a:t>自下向上的凝聚型层次聚类算法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DE38ECC-B5A5-FBC8-7109-651893E9D8B7}"/>
              </a:ext>
            </a:extLst>
          </p:cNvPr>
          <p:cNvSpPr txBox="1">
            <a:spLocks noChangeArrowheads="1"/>
          </p:cNvSpPr>
          <p:nvPr/>
        </p:nvSpPr>
        <p:spPr>
          <a:xfrm>
            <a:off x="7852629" y="4899208"/>
            <a:ext cx="4223084" cy="154406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CCFF"/>
                </a:solidFill>
                <a:effectLst/>
              </a:rPr>
              <a:t>根据距离计算的方式分类：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>
                <a:solidFill>
                  <a:schemeClr val="tx1"/>
                </a:solidFill>
                <a:effectLst/>
              </a:rPr>
              <a:t>单链接</a:t>
            </a:r>
            <a:endParaRPr lang="en-US" altLang="zh-CN" sz="2000" b="0" dirty="0">
              <a:solidFill>
                <a:schemeClr val="tx1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>
                <a:solidFill>
                  <a:schemeClr val="tx1"/>
                </a:solidFill>
                <a:effectLst/>
              </a:rPr>
              <a:t>全链接</a:t>
            </a:r>
            <a:endParaRPr lang="en-US" altLang="zh-CN" sz="20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A18F956-5856-6E89-42F4-D6905C31AA96}"/>
              </a:ext>
            </a:extLst>
          </p:cNvPr>
          <p:cNvSpPr txBox="1">
            <a:spLocks noChangeArrowheads="1"/>
          </p:cNvSpPr>
          <p:nvPr/>
        </p:nvSpPr>
        <p:spPr>
          <a:xfrm>
            <a:off x="9964171" y="5492908"/>
            <a:ext cx="1971972" cy="95036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0" dirty="0">
                <a:solidFill>
                  <a:schemeClr val="tx1"/>
                </a:solidFill>
                <a:effectLst/>
              </a:rPr>
              <a:t>平均链接</a:t>
            </a:r>
            <a:endParaRPr lang="en-US" altLang="zh-CN" sz="2000" b="0" dirty="0">
              <a:solidFill>
                <a:schemeClr val="tx1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0" dirty="0">
                <a:solidFill>
                  <a:schemeClr val="tx1"/>
                </a:solidFill>
                <a:effectLst/>
              </a:rPr>
              <a:t>Ward</a:t>
            </a:r>
            <a:r>
              <a:rPr lang="zh-CN" altLang="en-US" sz="2000" b="0" dirty="0">
                <a:solidFill>
                  <a:schemeClr val="tx1"/>
                </a:solidFill>
                <a:effectLst/>
              </a:rPr>
              <a:t>链接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A8D1C7-4400-D850-13F4-31CB9D9EDE89}"/>
              </a:ext>
            </a:extLst>
          </p:cNvPr>
          <p:cNvSpPr/>
          <p:nvPr/>
        </p:nvSpPr>
        <p:spPr>
          <a:xfrm>
            <a:off x="2480165" y="5918929"/>
            <a:ext cx="3687097" cy="528358"/>
          </a:xfrm>
          <a:prstGeom prst="rect">
            <a:avLst/>
          </a:prstGeom>
          <a:noFill/>
          <a:ln w="57150">
            <a:solidFill>
              <a:srgbClr val="00CC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72D9062-3928-C526-4874-6DA167356009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67262" y="5289754"/>
            <a:ext cx="1685367" cy="893354"/>
          </a:xfrm>
          <a:prstGeom prst="straightConnector1">
            <a:avLst/>
          </a:prstGeom>
          <a:ln w="28575">
            <a:solidFill>
              <a:srgbClr val="00C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2B04E6-062C-974E-3FB7-8CB2EE73DC0C}"/>
              </a:ext>
            </a:extLst>
          </p:cNvPr>
          <p:cNvSpPr/>
          <p:nvPr/>
        </p:nvSpPr>
        <p:spPr>
          <a:xfrm>
            <a:off x="6315667" y="5918929"/>
            <a:ext cx="193272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进一步细分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BFC4C7FF-4506-A58F-DE4E-8730CE2677F2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基本原理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9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C8101-E6CF-3DB9-8C63-99250EC9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56D8B4A-1349-37BD-888E-F7E82195FDE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601A6338-C168-18D0-F5F5-7177FA315B20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C41620EB-0B02-A467-67C8-8148BB552553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B85D16-0080-3078-AE60-8C16623AE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5E4248C-BAEB-EC6B-C76D-B8FEA3788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15B99D-8290-89F2-FF29-230075D2C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ED058C2-207D-4C3F-48D0-E8F887749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D2B81F92-10F5-D2C8-9482-AF31E5635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DCC188B0-9F89-878A-DFF6-AC6DDBC9F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1D09A57E-5277-AB0A-D6C0-E816CDE72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5ECF3305-6094-EE4B-9E4C-E878E3A87CB2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基本原理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28B95B-ECA2-9C32-3374-8E6923E8D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229" y="2165933"/>
            <a:ext cx="4613541" cy="383615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5822210-02A4-E02F-F5B2-6FAE77F3C762}"/>
              </a:ext>
            </a:extLst>
          </p:cNvPr>
          <p:cNvSpPr txBox="1">
            <a:spLocks noChangeArrowheads="1"/>
          </p:cNvSpPr>
          <p:nvPr/>
        </p:nvSpPr>
        <p:spPr>
          <a:xfrm>
            <a:off x="3673368" y="6291193"/>
            <a:ext cx="4845261" cy="39732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CCFF"/>
                </a:solidFill>
                <a:effectLst/>
              </a:rPr>
              <a:t>分裂型层次聚类和凝聚型层次聚类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29E9EB2-A67D-A49E-BA98-1D1F51A3A125}"/>
              </a:ext>
            </a:extLst>
          </p:cNvPr>
          <p:cNvSpPr txBox="1">
            <a:spLocks noChangeArrowheads="1"/>
          </p:cNvSpPr>
          <p:nvPr/>
        </p:nvSpPr>
        <p:spPr>
          <a:xfrm>
            <a:off x="444495" y="3051829"/>
            <a:ext cx="2990773" cy="2064362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effectLst/>
              </a:rPr>
              <a:t>将所有样本视为一个整体的簇，然后逐步将簇分裂成更小的簇，持续迭代该过程，直到每个簇只包含一个样本，或达到预设的停止条件。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4A5DB8E8-3630-E5B9-2CB1-400C759EF9AD}"/>
              </a:ext>
            </a:extLst>
          </p:cNvPr>
          <p:cNvSpPr txBox="1">
            <a:spLocks noChangeArrowheads="1"/>
          </p:cNvSpPr>
          <p:nvPr/>
        </p:nvSpPr>
        <p:spPr>
          <a:xfrm>
            <a:off x="8756732" y="3051829"/>
            <a:ext cx="2990773" cy="2064362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effectLst/>
              </a:rPr>
              <a:t>将每个样本视为一个单独的簇，然后将最相似的簇合并在一起，持续迭代该过程，直到样本都被合并到一个簇中，或者达到预设的停止条件。</a:t>
            </a:r>
          </a:p>
        </p:txBody>
      </p:sp>
    </p:spTree>
    <p:extLst>
      <p:ext uri="{BB962C8B-B14F-4D97-AF65-F5344CB8AC3E}">
        <p14:creationId xmlns:p14="http://schemas.microsoft.com/office/powerpoint/2010/main" val="211903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9480-776E-0BEE-B855-3290595A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43B7F0B-64D4-418B-F586-7576FC8B009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31A5795A-3067-896C-DE78-D7C0512AAD43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D0E6A9D9-0572-BA1B-93F9-B9759AF572F2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9E7418-5E15-B2E3-76EB-3D78707F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EA4ED4C-D688-CE65-85EF-AB13C89FF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AF4FB3C-01BF-D35A-1D13-935A33A3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92B2269-4CCE-2AC0-3706-05F4393A0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48EB662-BF19-63E8-92B0-46E76EDDB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8B2C48E8-756D-1838-9299-7CB15C0EC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8ACD47FB-0920-BD0E-8784-811F20575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E860B0CC-2C2C-A95B-C28A-55342C7B4D94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基本原理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609CE65-22FC-56BE-D4E6-9AE898587A92}"/>
              </a:ext>
            </a:extLst>
          </p:cNvPr>
          <p:cNvSpPr txBox="1">
            <a:spLocks noChangeArrowheads="1"/>
          </p:cNvSpPr>
          <p:nvPr/>
        </p:nvSpPr>
        <p:spPr>
          <a:xfrm>
            <a:off x="4747032" y="5927400"/>
            <a:ext cx="2697932" cy="39732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CCFF"/>
                </a:solidFill>
                <a:effectLst/>
              </a:rPr>
              <a:t>四种链接方式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808503D-23F6-646A-ED4F-601419BB72D2}"/>
              </a:ext>
            </a:extLst>
          </p:cNvPr>
          <p:cNvSpPr txBox="1">
            <a:spLocks noChangeArrowheads="1"/>
          </p:cNvSpPr>
          <p:nvPr/>
        </p:nvSpPr>
        <p:spPr>
          <a:xfrm>
            <a:off x="166154" y="2829865"/>
            <a:ext cx="2242749" cy="1198270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</a:rPr>
              <a:t>将两个簇中距离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最近</a:t>
            </a:r>
            <a:r>
              <a:rPr lang="zh-CN" altLang="en-US" sz="1800" dirty="0">
                <a:solidFill>
                  <a:schemeClr val="tx1"/>
                </a:solidFill>
                <a:effectLst/>
              </a:rPr>
              <a:t>的样本之间的距离作为簇整体的距离。</a:t>
            </a:r>
            <a:endParaRPr lang="en-US" altLang="zh-CN" sz="1800" dirty="0">
              <a:solidFill>
                <a:schemeClr val="tx1"/>
              </a:solidFill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7E5A69-93F8-2FBB-132A-9837DE9168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8511" y="2686198"/>
            <a:ext cx="7154974" cy="3126388"/>
          </a:xfrm>
          <a:prstGeom prst="rect">
            <a:avLst/>
          </a:prstGeom>
          <a:noFill/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7ED3E32B-4382-DDAB-E400-65D2BB4E5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DD7F277-6E7A-AB24-92C9-B7DAB6E66DB7}"/>
              </a:ext>
            </a:extLst>
          </p:cNvPr>
          <p:cNvSpPr txBox="1">
            <a:spLocks noChangeArrowheads="1"/>
          </p:cNvSpPr>
          <p:nvPr/>
        </p:nvSpPr>
        <p:spPr>
          <a:xfrm>
            <a:off x="166153" y="4249392"/>
            <a:ext cx="2242749" cy="1198270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</a:rPr>
              <a:t>将两个簇中所有样本之间的距离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均值</a:t>
            </a:r>
            <a:r>
              <a:rPr lang="zh-CN" altLang="en-US" sz="1800" dirty="0">
                <a:solidFill>
                  <a:schemeClr val="tx1"/>
                </a:solidFill>
                <a:effectLst/>
              </a:rPr>
              <a:t>作为整体的距离。</a:t>
            </a:r>
            <a:endParaRPr lang="en-US" altLang="zh-CN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74B7E9D-4A39-5DE3-2EAA-53AF0BBD1B50}"/>
              </a:ext>
            </a:extLst>
          </p:cNvPr>
          <p:cNvSpPr txBox="1">
            <a:spLocks noChangeArrowheads="1"/>
          </p:cNvSpPr>
          <p:nvPr/>
        </p:nvSpPr>
        <p:spPr>
          <a:xfrm>
            <a:off x="9673485" y="2829865"/>
            <a:ext cx="2242749" cy="1198270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</a:rPr>
              <a:t>将两个簇中距离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最远</a:t>
            </a:r>
            <a:r>
              <a:rPr lang="zh-CN" altLang="en-US" sz="1800" dirty="0">
                <a:solidFill>
                  <a:schemeClr val="tx1"/>
                </a:solidFill>
                <a:effectLst/>
              </a:rPr>
              <a:t>的样本之间的距离作为整体的距离。</a:t>
            </a:r>
            <a:endParaRPr lang="en-US" altLang="zh-CN" sz="18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6522C73-821F-FBA6-F087-CA18FB04E924}"/>
              </a:ext>
            </a:extLst>
          </p:cNvPr>
          <p:cNvSpPr txBox="1">
            <a:spLocks noChangeArrowheads="1"/>
          </p:cNvSpPr>
          <p:nvPr/>
        </p:nvSpPr>
        <p:spPr>
          <a:xfrm>
            <a:off x="9673484" y="4116952"/>
            <a:ext cx="2242749" cy="1463150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</a:rPr>
              <a:t>两个簇以</a:t>
            </a:r>
            <a:r>
              <a:rPr lang="zh-CN" altLang="en-US" sz="1800" dirty="0">
                <a:solidFill>
                  <a:srgbClr val="FF0000"/>
                </a:solidFill>
                <a:effectLst/>
              </a:rPr>
              <a:t>内部方差增加量</a:t>
            </a:r>
            <a:r>
              <a:rPr lang="zh-CN" altLang="en-US" sz="1800" dirty="0">
                <a:solidFill>
                  <a:schemeClr val="tx1"/>
                </a:solidFill>
                <a:effectLst/>
              </a:rPr>
              <a:t>作为整体的距离，每次聚合使得合并后簇内方差增加的量最小。</a:t>
            </a:r>
            <a:endParaRPr lang="en-US" altLang="zh-CN" sz="18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983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/>
      <p:bldP spid="17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0603-6536-3E8A-A849-32348D8F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356494D-0EC4-F62B-1E9E-393BFE136F2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44A0E3BC-44B7-11E8-49BA-F4A0B78A8383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E48B982A-0B48-C8A7-89B5-A3819EF7957D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33F79F-7A2E-6730-B6BE-30E0ED04B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3E9035E-B9D6-D399-274C-415431CA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6D828CD4-31F1-8AF2-4B64-404AEC60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6F86B4D-8221-D2C6-098F-4C2D7BC5A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6993B11-2829-2A17-151F-9E21552D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C30AEADA-76E0-E346-2B6C-769128817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6139E49F-D9E2-9DB2-F099-47E7A8915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ACD74AB2-4657-96B8-AF34-316A9220687D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算法流程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F4C9F1F-0C7B-0084-4864-37CD2EF48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4EDD42-6DF8-6C35-14F6-4905C7FC1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118" y="3751442"/>
            <a:ext cx="9031066" cy="240234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BE1D58D-6B1D-EE78-25D3-20B5C2822377}"/>
              </a:ext>
            </a:extLst>
          </p:cNvPr>
          <p:cNvSpPr/>
          <p:nvPr/>
        </p:nvSpPr>
        <p:spPr>
          <a:xfrm>
            <a:off x="2107276" y="1581796"/>
            <a:ext cx="9596750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凝聚层次聚类算法从单个样本作为一个簇开始，逐渐将相似度高的簇合并，直到所有样本都被合并到一个簇。基于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单链接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的凝聚层次聚类算法流程如下：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35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A84A-5569-75EF-AD38-AE3124542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179514E-4ED8-9107-3EC5-B0D8F28C2D2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E12252FE-46D2-D6CF-D0FE-93C3EC5E5B5A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D1579328-57E2-9C2E-30D5-2A2BE86FB86D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193D68-1924-A889-6EEB-3C9B365E2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6D809D7-9A5A-2C72-8EEA-78C8807D6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A391A17-ABF3-722D-5B93-3D36EA9AC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8958552-3B98-EB57-ACDF-609BED41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B70E87B-B910-6F08-404D-FDCCDC70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61752629-3DA0-0758-547C-8E8996450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E36A0E9A-4CF8-B816-0A2B-283BA000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C8A94078-999C-0723-5B98-BFE525A42C6F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应用与评价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4F2B9AF-7631-D7B5-B014-F3AD2D8C9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25B0-4554-61EB-55D5-44876661C61D}"/>
              </a:ext>
            </a:extLst>
          </p:cNvPr>
          <p:cNvSpPr/>
          <p:nvPr/>
        </p:nvSpPr>
        <p:spPr>
          <a:xfrm>
            <a:off x="3055332" y="2660652"/>
            <a:ext cx="8970514" cy="3079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层次聚类生成的结果是数据的层次结构，用于描述簇数据的层次性和聚类关系。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该算法无需预先指定簇的数量，仅通过截断树状层次中的一层获得到不同数量的簇，适用于可视化聚类过程或簇数量不明确时的场景。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相比于其他聚类算法，层次聚类算法在分析过程中需要占用大规模的计算时间和空间资源，因此该类算法适用于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小规模数据集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分析。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DA2C2D-98B9-D0E4-7912-5D577BF3A5CD}"/>
              </a:ext>
            </a:extLst>
          </p:cNvPr>
          <p:cNvSpPr txBox="1">
            <a:spLocks noChangeArrowheads="1"/>
          </p:cNvSpPr>
          <p:nvPr/>
        </p:nvSpPr>
        <p:spPr>
          <a:xfrm>
            <a:off x="166154" y="2443079"/>
            <a:ext cx="2772017" cy="1873282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凝聚型层次聚类算法</a:t>
            </a:r>
            <a:endParaRPr lang="en-US" altLang="zh-CN" sz="2200" dirty="0">
              <a:solidFill>
                <a:srgbClr val="00CCFF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时间复杂度：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空间复杂度：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0093AEA-C059-8595-5802-5AC17C9D1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AC9FD76-3B05-6B69-7E43-C2DF892A8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860" y="3204368"/>
          <a:ext cx="6826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431640" progId="Equation.DSMT4">
                  <p:embed/>
                </p:oleObj>
              </mc:Choice>
              <mc:Fallback>
                <p:oleObj name="Equation" r:id="rId3" imgW="672840" imgH="4316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AC9FD76-3B05-6B69-7E43-C2DF892A8D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860" y="3204368"/>
                        <a:ext cx="682626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1C836ECF-B3BC-78DC-01CF-B00478802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A366D0A-49BF-8F82-6D7F-152934502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860" y="3749551"/>
          <a:ext cx="6969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431640" progId="Equation.DSMT4">
                  <p:embed/>
                </p:oleObj>
              </mc:Choice>
              <mc:Fallback>
                <p:oleObj name="Equation" r:id="rId5" imgW="685800" imgH="4316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A366D0A-49BF-8F82-6D7F-1529345021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860" y="3749551"/>
                        <a:ext cx="696912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8C240CA0-242C-B71F-11F6-DFC95520E50A}"/>
              </a:ext>
            </a:extLst>
          </p:cNvPr>
          <p:cNvSpPr txBox="1">
            <a:spLocks noChangeArrowheads="1"/>
          </p:cNvSpPr>
          <p:nvPr/>
        </p:nvSpPr>
        <p:spPr>
          <a:xfrm>
            <a:off x="166154" y="4570232"/>
            <a:ext cx="2772017" cy="1873282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分裂型层次聚类算法</a:t>
            </a:r>
            <a:endParaRPr lang="en-US" altLang="zh-CN" sz="2200" dirty="0">
              <a:solidFill>
                <a:srgbClr val="00CCFF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时间复杂度：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空间复杂度：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33B8BA31-4C57-EA2B-4F20-27BC25EE8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FF62FF20-9666-29C8-D857-F8339E42E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446" y="5347401"/>
          <a:ext cx="6953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431640" progId="Equation.DSMT4">
                  <p:embed/>
                </p:oleObj>
              </mc:Choice>
              <mc:Fallback>
                <p:oleObj name="Equation" r:id="rId7" imgW="685800" imgH="4316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FF62FF20-9666-29C8-D857-F8339E42E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446" y="5347401"/>
                        <a:ext cx="695326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8">
            <a:extLst>
              <a:ext uri="{FF2B5EF4-FFF2-40B4-BE49-F238E27FC236}">
                <a16:creationId xmlns:a16="http://schemas.microsoft.com/office/drawing/2014/main" id="{B00DE5C5-937D-4ABA-794C-08F7BB4E1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77B4724-B376-AB8D-4FE5-977467ABB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860" y="5881412"/>
          <a:ext cx="6953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431640" progId="Equation.DSMT4">
                  <p:embed/>
                </p:oleObj>
              </mc:Choice>
              <mc:Fallback>
                <p:oleObj name="Equation" r:id="rId9" imgW="685800" imgH="4316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A77B4724-B376-AB8D-4FE5-977467ABB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860" y="5881412"/>
                        <a:ext cx="695326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277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9AAC-5FCD-F414-84DD-CD278ED26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16E0988-DBCB-9C2D-6781-6735C871A7E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321A24F1-2A9F-78C9-945D-51940E0E6140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58DB1871-28BA-E06A-1EE0-813FC3752981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2AF1C3-0912-CA3E-09C7-D11D7D1ED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C09FE34-ADE4-2042-FA72-B2C08A966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20C7E42-2286-B0FC-E1E4-5898170A6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14FE3F3-8B8A-5179-26C7-3C55E9AD6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E70AD726-CA86-4EC0-7D80-C22B9D50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ADA0C53B-4ACD-16DD-95A3-C9DDCA45F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DC601453-2120-DC85-9FF3-3EB36885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55626448-9271-2E60-F903-03A6A3BF152E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E975549-A164-6DA5-6B29-66327B7EC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66378F6-4FAE-B6EF-8204-7AB9920B5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14DD4290-5977-DBB0-F5FB-D4BB9AA26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9E4EC77-3A40-4F6C-9512-F6ADC899F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D4FEEEC9-E6EF-74A6-84B3-DE81F8F74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CB2933-9E63-8DF8-4741-FE2C402BB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57" y="3614904"/>
            <a:ext cx="9865641" cy="2724531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69F25B60-1207-EDE1-7A2E-DB276CCFE1DC}"/>
              </a:ext>
            </a:extLst>
          </p:cNvPr>
          <p:cNvSpPr txBox="1">
            <a:spLocks noChangeArrowheads="1"/>
          </p:cNvSpPr>
          <p:nvPr/>
        </p:nvSpPr>
        <p:spPr>
          <a:xfrm>
            <a:off x="2208400" y="1783585"/>
            <a:ext cx="4416019" cy="39732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CCFF"/>
                </a:solidFill>
                <a:effectLst/>
              </a:rPr>
              <a:t>基于层次聚类的小麦种子聚类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B4B598-4FA2-0A9E-95D2-AA86346AE540}"/>
              </a:ext>
            </a:extLst>
          </p:cNvPr>
          <p:cNvSpPr/>
          <p:nvPr/>
        </p:nvSpPr>
        <p:spPr>
          <a:xfrm>
            <a:off x="5038005" y="2443080"/>
            <a:ext cx="193272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数据集示例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98782-FC0F-BD3C-EA80-142056DF8C02}"/>
              </a:ext>
            </a:extLst>
          </p:cNvPr>
          <p:cNvSpPr/>
          <p:nvPr/>
        </p:nvSpPr>
        <p:spPr>
          <a:xfrm>
            <a:off x="1072557" y="3049350"/>
            <a:ext cx="74473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EAF2DC-ED5F-7593-3A62-7A78ABC3866F}"/>
              </a:ext>
            </a:extLst>
          </p:cNvPr>
          <p:cNvSpPr/>
          <p:nvPr/>
        </p:nvSpPr>
        <p:spPr>
          <a:xfrm>
            <a:off x="1898884" y="3049350"/>
            <a:ext cx="74473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周长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605F12-0899-BE51-19AD-634999F5A59B}"/>
              </a:ext>
            </a:extLst>
          </p:cNvPr>
          <p:cNvSpPr/>
          <p:nvPr/>
        </p:nvSpPr>
        <p:spPr>
          <a:xfrm>
            <a:off x="4975316" y="3049350"/>
            <a:ext cx="112068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籽粒长度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CCE869-2D23-3FBB-382C-47FBD373D6CE}"/>
              </a:ext>
            </a:extLst>
          </p:cNvPr>
          <p:cNvSpPr/>
          <p:nvPr/>
        </p:nvSpPr>
        <p:spPr>
          <a:xfrm>
            <a:off x="2990560" y="3049350"/>
            <a:ext cx="136220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紧密度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03DB09-B941-BB87-5C09-83325A98695E}"/>
              </a:ext>
            </a:extLst>
          </p:cNvPr>
          <p:cNvSpPr/>
          <p:nvPr/>
        </p:nvSpPr>
        <p:spPr>
          <a:xfrm>
            <a:off x="6657231" y="3052408"/>
            <a:ext cx="112068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籽粒宽度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F31D5B-58AF-7F02-936B-BDFE0A4CBC2C}"/>
              </a:ext>
            </a:extLst>
          </p:cNvPr>
          <p:cNvSpPr/>
          <p:nvPr/>
        </p:nvSpPr>
        <p:spPr>
          <a:xfrm>
            <a:off x="8232383" y="3049350"/>
            <a:ext cx="166026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不对称系数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799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DC3F-B741-DC83-0B5B-4A7FE35D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55BFC44-BDC6-FBA0-AC94-E939760E454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4E375CD6-E15A-CC68-33AA-8494BF681E6E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31DE2909-BF53-FE39-DA3A-34B93973FD1F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E232E1-A81C-F410-1795-4599E74FC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647E8-6676-45AA-B2AB-C8FEEE466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C436416-E23C-FE52-3879-52ECCF4A6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ECE8A04-BDA8-A4E2-F368-8C4A420B6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1E9BDD0-9341-CEF9-4296-8BC63E6C0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ECF1874-9799-2964-9D00-26C8DAE09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AB1AA30D-F9B8-F609-D622-D3D5ECA67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560DEF73-7F5F-2C48-E8B0-46AC73AF9E5A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7AFF9E-2B74-642D-C43B-C58CB510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89F574E-B9C9-6317-5F3A-DA2F7152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6FAF4D4-77A5-3FD1-89C0-EBE4D5B0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4D148606-B2D7-CA88-7908-A49863EBF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C466876B-2252-26F4-6616-12B3EE061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C082BB-9DDB-3242-C792-AAB94E7234FA}"/>
              </a:ext>
            </a:extLst>
          </p:cNvPr>
          <p:cNvSpPr/>
          <p:nvPr/>
        </p:nvSpPr>
        <p:spPr>
          <a:xfrm>
            <a:off x="477326" y="3458691"/>
            <a:ext cx="11524174" cy="3269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主要参数：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n_clusters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：算法结束时聚类的数量；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metric”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：距离计算方式，用于确定样本之间距离，有“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euclidean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l1”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l2”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manhattan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cosine”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precomputed”5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种计算方法，默认为“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euclidean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linkage”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：链接方式，有“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ward”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complete”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average”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single”4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种方式，默认为“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ward”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distance_threshold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：距离阈值，是控制聚类停止的条件。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37510F2-DA27-7C1D-1A6D-B0244A860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26" y="2498006"/>
            <a:ext cx="11054082" cy="930447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EE2DA20E-C352-E098-99F4-A6BB41072AEB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4" y="1665045"/>
            <a:ext cx="1569726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CCFF"/>
                </a:solidFill>
                <a:effectLst/>
              </a:rPr>
              <a:t>模型构建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206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7DA9-2F53-B9A2-23F1-72ECF9A9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5282771-F6ED-6B99-7CEA-D48F73803BD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B7FA9247-2586-409B-B7BA-F1DEC5D8FED3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9294DD7E-983A-23A2-E102-4C82DF0D27ED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1F28B1-17C7-857E-BF97-49A1050C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1878A6C-EFBA-E9B5-44A3-7615E8B7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674E5B8-6A94-6F90-9F2F-623C18CD3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E4A6AA-6B1B-F5BB-8CD5-4BE0E3D1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81CC9AA-008C-45E5-CA40-6472857B4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D33ED134-A057-DB31-02C5-0C4C6789E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08C84C5F-B4E5-6CA2-4EC6-8BB1CDDBD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A9230823-3B9A-C134-A996-F298064BF513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8AED8AA-3210-C62F-0064-71F23AF7E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BEDA909-8DBD-DEAB-7969-B32FA0146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C29F113-746D-C19E-600E-88703EB80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39F4F16-EB89-60C6-6567-5ED915275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C2C4A44F-CAFA-6921-0A23-008AD889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9" name="图形 14">
            <a:extLst>
              <a:ext uri="{FF2B5EF4-FFF2-40B4-BE49-F238E27FC236}">
                <a16:creationId xmlns:a16="http://schemas.microsoft.com/office/drawing/2014/main" id="{872FF3D0-D3D0-20F7-1C9E-2F0A0CAEC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224" t="11413" r="8837" b="2913"/>
          <a:stretch>
            <a:fillRect/>
          </a:stretch>
        </p:blipFill>
        <p:spPr>
          <a:xfrm>
            <a:off x="7343991" y="2433137"/>
            <a:ext cx="4276509" cy="43648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AE4A06-AAB4-021A-1FE1-905076FF7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79" y="2443079"/>
            <a:ext cx="6768046" cy="4354943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9BA2CB62-3615-AC35-2B6C-BC7051B4D924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3" y="1665045"/>
            <a:ext cx="2322201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CCFF"/>
                </a:solidFill>
                <a:effectLst/>
              </a:rPr>
              <a:t>绘制树状层次图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562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54DB-725A-AB95-47E2-C67C5041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2CF6749-11C6-087E-A218-1DD2B109484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4F30A1EA-68A1-82E8-DF6B-916A39C7C2E9}"/>
              </a:ext>
            </a:extLst>
          </p:cNvPr>
          <p:cNvSpPr/>
          <p:nvPr/>
        </p:nvSpPr>
        <p:spPr>
          <a:xfrm>
            <a:off x="166155" y="976588"/>
            <a:ext cx="2772017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层次聚类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CC88AADC-7A48-481F-B11D-8776760654BD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759C3B0-D297-21A3-C8D7-1F6EC5001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BA6449A-8229-9736-5A53-61D3C98C4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87B5B37A-4AE9-37E3-3F91-B063E0B7F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57914D-EA35-77C5-F85B-9D89F6FDA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6C25320-CF9A-189D-C4BA-4F26A01AA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E0B6D192-AB53-B9AF-A5D0-23E33EC9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63105CA9-536C-0E1F-40A2-19D19FEE8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2E98B77D-1DA2-F6DD-7FA1-833DD1B3FA70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4F9930F-9E9F-8060-BD3A-86E0B51D6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AE296AD-E7F7-99C3-C68B-1AB24CB9C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7F54899-731C-A9FC-CA8C-8634E6CE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0CD1FF9-0373-5CE6-327E-E8E96959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791E3198-DBA6-6D98-8C60-1F79A250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E38ECD0-3EAC-9478-C9AB-56539DB0DD3A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3" y="1665045"/>
            <a:ext cx="2322201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CCFF"/>
                </a:solidFill>
                <a:effectLst/>
              </a:rPr>
              <a:t>聚类结果可视化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2A29FB1-4E6E-05A6-DEF9-1DE74D777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647" y="1982249"/>
            <a:ext cx="3602084" cy="3437266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E01CAF26-A59D-5DB1-FA9A-297777FD5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231" y="5679070"/>
            <a:ext cx="5480917" cy="600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簇为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时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Calinski-Harabasz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指数为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352.836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调整兰德系数值为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0.713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A7A25B3-2F2A-7A60-E8E5-A1203CAD5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740"/>
          <a:stretch/>
        </p:blipFill>
        <p:spPr>
          <a:xfrm>
            <a:off x="166154" y="2443079"/>
            <a:ext cx="6069549" cy="383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2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781</Words>
  <Application>Microsoft Office PowerPoint</Application>
  <PresentationFormat>宽屏</PresentationFormat>
  <Paragraphs>99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等线</vt:lpstr>
      <vt:lpstr>华光综艺_CNKI</vt:lpstr>
      <vt:lpstr>宋体</vt:lpstr>
      <vt:lpstr>微软雅黑</vt:lpstr>
      <vt:lpstr>Arial</vt:lpstr>
      <vt:lpstr>Calibri</vt:lpstr>
      <vt:lpstr>Courier New</vt:lpstr>
      <vt:lpstr>Impact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199</cp:revision>
  <dcterms:created xsi:type="dcterms:W3CDTF">2019-06-19T02:08:00Z</dcterms:created>
  <dcterms:modified xsi:type="dcterms:W3CDTF">2025-04-18T13:00:54Z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