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gif" ContentType="image/gif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2">
  <p:sldMasterIdLst>
    <p:sldMasterId id="2147483648" r:id="rId1"/>
    <p:sldMasterId id="2147483657" r:id="rId3"/>
    <p:sldMasterId id="2147483683" r:id="rId4"/>
    <p:sldMasterId id="2147483710" r:id="rId5"/>
    <p:sldMasterId id="2147483736" r:id="rId6"/>
    <p:sldMasterId id="2147483762" r:id="rId7"/>
    <p:sldMasterId id="2147483778" r:id="rId8"/>
    <p:sldMasterId id="2147483799" r:id="rId9"/>
    <p:sldMasterId id="2147483817" r:id="rId10"/>
    <p:sldMasterId id="2147483844" r:id="rId11"/>
    <p:sldMasterId id="2147483862" r:id="rId12"/>
    <p:sldMasterId id="2147483888" r:id="rId13"/>
  </p:sldMasterIdLst>
  <p:notesMasterIdLst>
    <p:notesMasterId r:id="rId15"/>
  </p:notesMasterIdLst>
  <p:handoutMasterIdLst>
    <p:handoutMasterId r:id="rId38"/>
  </p:handoutMasterIdLst>
  <p:sldIdLst>
    <p:sldId id="15638" r:id="rId14"/>
    <p:sldId id="15668" r:id="rId16"/>
    <p:sldId id="15771" r:id="rId17"/>
    <p:sldId id="15772" r:id="rId18"/>
    <p:sldId id="15773" r:id="rId19"/>
    <p:sldId id="15774" r:id="rId20"/>
    <p:sldId id="15775" r:id="rId21"/>
    <p:sldId id="15776" r:id="rId22"/>
    <p:sldId id="15777" r:id="rId23"/>
    <p:sldId id="15778" r:id="rId24"/>
    <p:sldId id="15779" r:id="rId25"/>
    <p:sldId id="15780" r:id="rId26"/>
    <p:sldId id="15781" r:id="rId27"/>
    <p:sldId id="15782" r:id="rId28"/>
    <p:sldId id="15783" r:id="rId29"/>
    <p:sldId id="15784" r:id="rId30"/>
    <p:sldId id="15785" r:id="rId31"/>
    <p:sldId id="15786" r:id="rId32"/>
    <p:sldId id="15787" r:id="rId33"/>
    <p:sldId id="15788" r:id="rId34"/>
    <p:sldId id="15789" r:id="rId35"/>
    <p:sldId id="15790" r:id="rId36"/>
    <p:sldId id="15502" r:id="rId37"/>
  </p:sldIdLst>
  <p:sldSz cx="12192000" cy="685800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2252" userDrawn="1">
          <p15:clr>
            <a:srgbClr val="A4A3A4"/>
          </p15:clr>
        </p15:guide>
        <p15:guide id="5" orient="horz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5C0C"/>
    <a:srgbClr val="FFFFFF"/>
    <a:srgbClr val="0066FF"/>
    <a:srgbClr val="7EA4EE"/>
    <a:srgbClr val="00FF00"/>
    <a:srgbClr val="F6F9FE"/>
    <a:srgbClr val="91CF50"/>
    <a:srgbClr val="FF66FF"/>
    <a:srgbClr val="00CCFF"/>
    <a:srgbClr val="009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2" autoAdjust="0"/>
    <p:restoredTop sz="88617" autoAdjust="0"/>
  </p:normalViewPr>
  <p:slideViewPr>
    <p:cSldViewPr snapToGrid="0" showGuides="1">
      <p:cViewPr varScale="1">
        <p:scale>
          <a:sx n="40" d="100"/>
          <a:sy n="40" d="100"/>
        </p:scale>
        <p:origin x="44" y="328"/>
      </p:cViewPr>
      <p:guideLst>
        <p:guide pos="2252"/>
        <p:guide orient="horz"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42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2" Type="http://schemas.openxmlformats.org/officeDocument/2006/relationships/tags" Target="tags/tag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Master" Target="slideMasters/slideMaster3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82E4-1D3E-4E21-8E57-F0A36E8AFB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971F6-C60D-4682-BD97-627ABF35534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80EC0-271A-47A3-B94A-5AACB63D0D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833C-0931-4030-8352-AFD9186768B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4" Type="http://schemas.microsoft.com/office/2007/relationships/hdphoto" Target="../media/image18.wdp"/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4" Type="http://schemas.microsoft.com/office/2007/relationships/hdphoto" Target="../media/image18.wdp"/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image" Target="../media/image25.png"/><Relationship Id="rId3" Type="http://schemas.openxmlformats.org/officeDocument/2006/relationships/oleObject" Target="../embeddings/oleObject1.bin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8.xml"/></Relationships>
</file>

<file path=ppt/slideLayouts/_rels/slideLayout15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image" Target="../media/image25.png"/><Relationship Id="rId3" Type="http://schemas.openxmlformats.org/officeDocument/2006/relationships/oleObject" Target="../embeddings/oleObject2.bin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8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image" Target="../media/image25.png"/><Relationship Id="rId3" Type="http://schemas.openxmlformats.org/officeDocument/2006/relationships/oleObject" Target="../embeddings/oleObject3.bin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0.xml"/></Relationships>
</file>

<file path=ppt/slideLayouts/_rels/slideLayout20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image" Target="../media/image25.png"/><Relationship Id="rId3" Type="http://schemas.openxmlformats.org/officeDocument/2006/relationships/oleObject" Target="../embeddings/oleObject4.bin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0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1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1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1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1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2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>
            <a:fillRect/>
          </a:stretch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>
            <a:fillRect/>
          </a:stretch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l="453"/>
          <a:stretch>
            <a:fillRect/>
          </a:stretch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二、主要工作</a:t>
            </a:r>
            <a:endParaRPr lang="zh-CN" altLang="en-US" sz="3200" b="1" spc="300" dirty="0">
              <a:solidFill>
                <a:srgbClr val="FFFF00"/>
              </a:solidFill>
              <a:effectLst>
                <a:outerShdw blurRad="38100" dist="762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三、总结展望</a:t>
            </a:r>
            <a:endParaRPr lang="zh-CN" altLang="en-US" sz="3200" b="1" spc="300" dirty="0">
              <a:solidFill>
                <a:srgbClr val="FFFF00"/>
              </a:solidFill>
              <a:effectLst>
                <a:outerShdw blurRad="38100" dist="762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  <a:endParaRPr lang="zh-CN" altLang="en-US" sz="3200" b="1" spc="300" dirty="0">
              <a:solidFill>
                <a:srgbClr val="FFFF00"/>
              </a:solidFill>
              <a:effectLst>
                <a:outerShdw blurRad="38100" dist="762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 userDrawn="1"/>
        </p:nvSpPr>
        <p:spPr bwMode="auto">
          <a:xfrm>
            <a:off x="565684" y="202985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Rectangle 1"/>
          <p:cNvSpPr/>
          <p:nvPr userDrawn="1"/>
        </p:nvSpPr>
        <p:spPr bwMode="auto">
          <a:xfrm>
            <a:off x="514478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40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972871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8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3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4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0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  <a:endParaRPr lang="zh-CN" altLang="en-US" sz="1800" b="1" spc="-110" baseline="0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Rectangle 1"/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40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972872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8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3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6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09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  <a:endParaRPr lang="zh-CN" altLang="en-US" sz="1800" b="1" spc="-111" baseline="0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86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0" y="137411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研究成果与主要创新</a:t>
            </a:r>
            <a:endParaRPr lang="zh-CN" altLang="en-US" sz="3600" b="1" spc="300" dirty="0">
              <a:solidFill>
                <a:schemeClr val="accent4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7"/>
          <p:cNvSpPr/>
          <p:nvPr userDrawn="1"/>
        </p:nvSpPr>
        <p:spPr>
          <a:xfrm>
            <a:off x="0" y="6713999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135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Rectangle 1"/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5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7" y="12441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11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  <a:endParaRPr lang="zh-CN" altLang="en-US" sz="1800" b="1" spc="-111" baseline="0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 userDrawn="1"/>
        </p:nvSpPr>
        <p:spPr bwMode="auto">
          <a:xfrm>
            <a:off x="565684" y="202986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0" y="87766"/>
            <a:ext cx="833913" cy="625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Rectangle 1"/>
          <p:cNvSpPr/>
          <p:nvPr userDrawn="1"/>
        </p:nvSpPr>
        <p:spPr bwMode="auto">
          <a:xfrm>
            <a:off x="514479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4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5" y="12441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1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  <a:endParaRPr lang="zh-CN" altLang="en-US" sz="1800" b="1" spc="-110" baseline="0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9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黄生俊   副教授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2509937" y="3182187"/>
            <a:ext cx="717212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第四讲 统计调查</a:t>
            </a:r>
            <a:endParaRPr kumimoji="0" lang="zh-CN" altLang="en-US" sz="4400" b="1" i="0" u="none" strike="noStrike" kern="1200" cap="none" spc="30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2749563" y="2348880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3791744" y="2380494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统计调查概述</a:t>
            </a:r>
            <a:endParaRPr kumimoji="0" lang="zh-CN" altLang="en-US" sz="3200" b="1" i="0" u="none" strike="noStrike" kern="1200" cap="none" spc="15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椭圆 22"/>
          <p:cNvSpPr/>
          <p:nvPr userDrawn="1"/>
        </p:nvSpPr>
        <p:spPr>
          <a:xfrm>
            <a:off x="2749563" y="3388677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3791744" y="3420291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统计调查的实施</a:t>
            </a:r>
            <a:endParaRPr kumimoji="0" lang="zh-CN" altLang="en-US" sz="3200" b="1" i="0" u="none" strike="noStrike" kern="1200" cap="none" spc="15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黑体" panose="020B0400000000000000" pitchFamily="34" charset="-122"/>
              </a:rPr>
              <a:t>CONTENTS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35627" y="4437112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3777808" y="4468726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调查问卷</a:t>
            </a:r>
            <a:endParaRPr kumimoji="0" lang="zh-CN" altLang="en-US" sz="3200" b="1" i="0" u="none" strike="noStrike" kern="1200" cap="none" spc="15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  <a:sym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  <a:sym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统计调查概述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一、统计调查概述</a:t>
            </a:r>
            <a:endParaRPr kumimoji="0" lang="zh-CN" altLang="en-US" sz="2600" b="1" i="0" u="none" strike="noStrike" kern="1200" cap="none" spc="15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统计调查的实施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二、统计调查的实施</a:t>
            </a:r>
            <a:endParaRPr kumimoji="0" lang="zh-CN" altLang="en-US" sz="2600" b="1" i="0" u="none" strike="noStrike" kern="1200" cap="none" spc="15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调查问卷</a:t>
            </a:r>
            <a:endParaRPr kumimoji="0" lang="zh-CN" altLang="en-US" sz="6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三、调查问卷</a:t>
            </a:r>
            <a:endParaRPr kumimoji="0" lang="zh-CN" altLang="en-US" sz="2600" b="1" i="0" u="none" strike="noStrike" kern="1200" cap="none" spc="15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课堂总结</a:t>
            </a:r>
            <a:endParaRPr kumimoji="0" lang="zh-CN" altLang="en-US" sz="2600" b="1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课后作业</a:t>
            </a:r>
            <a:endParaRPr kumimoji="0" lang="zh-CN" altLang="en-US" sz="2600" b="1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8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刘亚杰   研究员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1902991" y="3182187"/>
            <a:ext cx="838601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第四讲  抽样与估计</a:t>
            </a:r>
            <a:r>
              <a:rPr kumimoji="0" lang="en-US" altLang="zh-CN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1</a:t>
            </a:r>
            <a:endParaRPr kumimoji="0" lang="zh-CN" altLang="en-US" sz="4400" b="1" i="0" u="none" strike="noStrike" kern="1200" cap="none" spc="30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3387976" y="2204864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</a:t>
            </a:r>
            <a:endParaRPr kumimoji="0" lang="zh-CN" altLang="en-US" sz="2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4430158" y="223125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抽样的基本概念</a:t>
            </a:r>
            <a:endParaRPr kumimoji="0" lang="zh-CN" altLang="en-US" sz="3000" b="1" i="0" u="none" strike="noStrike" kern="1200" cap="none" spc="15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椭圆 20"/>
          <p:cNvSpPr/>
          <p:nvPr userDrawn="1"/>
        </p:nvSpPr>
        <p:spPr>
          <a:xfrm>
            <a:off x="3387976" y="3902552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</a:t>
            </a:r>
            <a:endParaRPr kumimoji="0" lang="zh-CN" altLang="en-US" sz="2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4430157" y="39315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分层抽样</a:t>
            </a:r>
            <a:endParaRPr kumimoji="0" lang="zh-CN" altLang="en-US" sz="3000" b="1" i="0" u="none" strike="noStrike" kern="1200" cap="none" spc="15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椭圆 22"/>
          <p:cNvSpPr/>
          <p:nvPr userDrawn="1"/>
        </p:nvSpPr>
        <p:spPr>
          <a:xfrm>
            <a:off x="3387976" y="3053708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</a:t>
            </a:r>
            <a:endParaRPr kumimoji="0" lang="zh-CN" altLang="en-US" sz="2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4430158" y="308140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简单随机抽样</a:t>
            </a:r>
            <a:endParaRPr kumimoji="0" lang="zh-CN" altLang="en-US" sz="3000" b="1" i="0" u="none" strike="noStrike" kern="1200" cap="none" spc="15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黑体" panose="020B0400000000000000" pitchFamily="34" charset="-122"/>
              </a:rPr>
              <a:t>CONTENTS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3387976" y="4751396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</a:t>
            </a:r>
            <a:endParaRPr kumimoji="0" lang="zh-CN" altLang="en-US" sz="2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4430157" y="478170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整群抽样</a:t>
            </a:r>
            <a:endParaRPr kumimoji="0" lang="zh-CN" altLang="en-US" sz="3000" b="1" i="0" u="none" strike="noStrike" kern="1200" cap="none" spc="15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椭圆 14"/>
          <p:cNvSpPr/>
          <p:nvPr userDrawn="1"/>
        </p:nvSpPr>
        <p:spPr>
          <a:xfrm>
            <a:off x="3387976" y="5600241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五</a:t>
            </a:r>
            <a:endParaRPr kumimoji="0" lang="zh-CN" altLang="en-US" sz="2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4430157" y="56318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系统抽样</a:t>
            </a:r>
            <a:endParaRPr kumimoji="0" lang="zh-CN" altLang="en-US" sz="3000" b="1" i="0" u="none" strike="noStrike" kern="1200" cap="none" spc="15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  <a:sym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  <a:sym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9" name="TextBox 11"/>
          <p:cNvSpPr txBox="1"/>
          <p:nvPr userDrawn="1"/>
        </p:nvSpPr>
        <p:spPr>
          <a:xfrm>
            <a:off x="1272000" y="2852936"/>
            <a:ext cx="9648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432000" rIns="432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抽样的基本概念</a:t>
            </a:r>
            <a:endParaRPr kumimoji="0" lang="zh-CN" altLang="en-US" sz="6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一、抽样的基本概念</a:t>
            </a:r>
            <a:endParaRPr kumimoji="0" lang="zh-CN" altLang="en-US" sz="2600" b="1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504000" rIns="504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简单随机抽样</a:t>
            </a:r>
            <a:endParaRPr kumimoji="0" lang="zh-CN" altLang="en-US" sz="6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二、简单随机抽样</a:t>
            </a:r>
            <a:endParaRPr kumimoji="0" lang="zh-CN" altLang="en-US" sz="2600" b="1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分层抽样</a:t>
            </a:r>
            <a:endParaRPr kumimoji="0" lang="zh-CN" altLang="en-US" sz="6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三、分层抽样</a:t>
            </a:r>
            <a:endParaRPr kumimoji="0" lang="zh-CN" altLang="en-US" sz="2600" b="1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第四部分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整群抽样</a:t>
            </a:r>
            <a:endParaRPr kumimoji="0" lang="zh-CN" altLang="en-US" sz="6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四、整群抽样</a:t>
            </a:r>
            <a:endParaRPr kumimoji="0" lang="zh-CN" altLang="en-US" sz="2600" b="1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第五部分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系统抽样</a:t>
            </a:r>
            <a:endParaRPr kumimoji="0" lang="zh-CN" altLang="en-US" sz="6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五、系统抽样</a:t>
            </a:r>
            <a:endParaRPr kumimoji="0" lang="zh-CN" altLang="en-US" sz="2600" b="1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课堂总结</a:t>
            </a:r>
            <a:endParaRPr kumimoji="0" lang="zh-CN" altLang="en-US" sz="2600" b="1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课后作业</a:t>
            </a:r>
            <a:endParaRPr kumimoji="0" lang="zh-CN" altLang="en-US" sz="2600" b="1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41"/>
            <a:ext cx="10362961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5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6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5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3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77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73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69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65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1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5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5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9" y="1535113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7765" indent="0">
              <a:buNone/>
              <a:defRPr sz="2135" b="1"/>
            </a:lvl5pPr>
            <a:lvl6pPr marL="3047365" indent="0">
              <a:buNone/>
              <a:defRPr sz="2135" b="1"/>
            </a:lvl6pPr>
            <a:lvl7pPr marL="3656965" indent="0">
              <a:buNone/>
              <a:defRPr sz="2135" b="1"/>
            </a:lvl7pPr>
            <a:lvl8pPr marL="4266565" indent="0">
              <a:buNone/>
              <a:defRPr sz="2135" b="1"/>
            </a:lvl8pPr>
            <a:lvl9pPr marL="4876165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9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3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7765" indent="0">
              <a:buNone/>
              <a:defRPr sz="2135" b="1"/>
            </a:lvl5pPr>
            <a:lvl6pPr marL="3047365" indent="0">
              <a:buNone/>
              <a:defRPr sz="2135" b="1"/>
            </a:lvl6pPr>
            <a:lvl7pPr marL="3656965" indent="0">
              <a:buNone/>
              <a:defRPr sz="2135" b="1"/>
            </a:lvl7pPr>
            <a:lvl8pPr marL="4266565" indent="0">
              <a:buNone/>
              <a:defRPr sz="2135" b="1"/>
            </a:lvl8pPr>
            <a:lvl9pPr marL="4876165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49"/>
            <a:ext cx="4010547" cy="1162051"/>
          </a:xfrm>
          <a:prstGeom prst="rect">
            <a:avLst/>
          </a:prstGeo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4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7765" indent="0">
              <a:buNone/>
              <a:defRPr sz="1200"/>
            </a:lvl5pPr>
            <a:lvl6pPr marL="3047365" indent="0">
              <a:buNone/>
              <a:defRPr sz="1200"/>
            </a:lvl6pPr>
            <a:lvl7pPr marL="3656965" indent="0">
              <a:buNone/>
              <a:defRPr sz="1200"/>
            </a:lvl7pPr>
            <a:lvl8pPr marL="4266565" indent="0">
              <a:buNone/>
              <a:defRPr sz="1200"/>
            </a:lvl8pPr>
            <a:lvl9pPr marL="487616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1"/>
            <a:ext cx="7316152" cy="566739"/>
          </a:xfrm>
          <a:prstGeom prst="rect">
            <a:avLst/>
          </a:prstGeo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7765" indent="0">
              <a:buNone/>
              <a:defRPr sz="2665"/>
            </a:lvl5pPr>
            <a:lvl6pPr marL="3047365" indent="0">
              <a:buNone/>
              <a:defRPr sz="2665"/>
            </a:lvl6pPr>
            <a:lvl7pPr marL="3656965" indent="0">
              <a:buNone/>
              <a:defRPr sz="2665"/>
            </a:lvl7pPr>
            <a:lvl8pPr marL="4266565" indent="0">
              <a:buNone/>
              <a:defRPr sz="2665"/>
            </a:lvl8pPr>
            <a:lvl9pPr marL="4876165" indent="0">
              <a:buNone/>
              <a:defRPr sz="2665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7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7765" indent="0">
              <a:buNone/>
              <a:defRPr sz="1200"/>
            </a:lvl5pPr>
            <a:lvl6pPr marL="3047365" indent="0">
              <a:buNone/>
              <a:defRPr sz="1200"/>
            </a:lvl6pPr>
            <a:lvl7pPr marL="3656965" indent="0">
              <a:buNone/>
              <a:defRPr sz="1200"/>
            </a:lvl7pPr>
            <a:lvl8pPr marL="4266565" indent="0">
              <a:buNone/>
              <a:defRPr sz="1200"/>
            </a:lvl8pPr>
            <a:lvl9pPr marL="487616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4" y="274644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4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5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/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/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/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/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/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/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/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/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/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/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/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/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/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/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/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/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/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/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/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/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/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/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/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/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/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/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/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/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/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/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/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/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/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/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/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/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/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/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/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/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/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/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/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/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/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/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/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/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/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/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/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/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/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/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/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/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/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/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/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/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/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/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/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/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/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/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/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/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/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/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/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/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/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/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/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/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/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/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/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/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/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/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/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/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/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/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/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/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/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/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/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/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/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/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/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/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/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/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/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/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/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/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/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/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/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/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/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/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/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5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</a:ln>
          <a:effectLst/>
        </p:spPr>
        <p:txBody>
          <a:bodyPr wrap="none" lIns="121907" tIns="60953" rIns="121907" bIns="60953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v"/>
              <a:defRPr/>
            </a:pPr>
            <a:endParaRPr lang="zh-CN" altLang="en-US" sz="1865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5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/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hoto Editor 照片" r:id="rId3" imgW="4324350" imgH="1343025" progId="">
                  <p:embed/>
                </p:oleObj>
              </mc:Choice>
              <mc:Fallback>
                <p:oleObj name="Photo Editor 照片" r:id="rId3" imgW="4324350" imgH="1343025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2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5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/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/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/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/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/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/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/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/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/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/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/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/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/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/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/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/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/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/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/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/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/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/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/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/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/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/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/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/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/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/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/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/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/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/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/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/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/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/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/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/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/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/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/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/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/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/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/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/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/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/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/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/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/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/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/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/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/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/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/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/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/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/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/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/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/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/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/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/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/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/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/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/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/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/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/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/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/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/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/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/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/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/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/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/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/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/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/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/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/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/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/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/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/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/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/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/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/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/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/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/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/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/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/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/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/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/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/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/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/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5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5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/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hoto Editor 照片" r:id="rId3" imgW="4324350" imgH="1343025" progId="">
                  <p:embed/>
                </p:oleObj>
              </mc:Choice>
              <mc:Fallback>
                <p:oleObj name="Photo Editor 照片" r:id="rId3" imgW="4324350" imgH="1343025" progId="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/>
          <p:nvPr userDrawn="1"/>
        </p:nvSpPr>
        <p:spPr>
          <a:xfrm>
            <a:off x="9168341" y="6381336"/>
            <a:ext cx="2844800" cy="365125"/>
          </a:xfrm>
          <a:prstGeom prst="rect">
            <a:avLst/>
          </a:prstGeom>
        </p:spPr>
        <p:txBody>
          <a:bodyPr vert="horz" lIns="121916" tIns="60959" rIns="121916" bIns="60959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5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 userDrawn="1"/>
        </p:nvSpPr>
        <p:spPr bwMode="auto">
          <a:xfrm>
            <a:off x="565685" y="202987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3" y="87768"/>
            <a:ext cx="833913" cy="6254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5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28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28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Rectangle 1"/>
          <p:cNvSpPr/>
          <p:nvPr userDrawn="1"/>
        </p:nvSpPr>
        <p:spPr bwMode="auto">
          <a:xfrm>
            <a:off x="514481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4" y="124412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  <a:endParaRPr lang="zh-CN" altLang="en-US" sz="1800" b="1" spc="-109" baseline="0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37"/>
            <a:ext cx="10362961" cy="14700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4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8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8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5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77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73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69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65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1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6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0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6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0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8" y="1535115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7765" indent="0">
              <a:buNone/>
              <a:defRPr sz="2135" b="1"/>
            </a:lvl5pPr>
            <a:lvl6pPr marL="3047365" indent="0">
              <a:buNone/>
              <a:defRPr sz="2135" b="1"/>
            </a:lvl6pPr>
            <a:lvl7pPr marL="3656965" indent="0">
              <a:buNone/>
              <a:defRPr sz="2135" b="1"/>
            </a:lvl7pPr>
            <a:lvl8pPr marL="4266565" indent="0">
              <a:buNone/>
              <a:defRPr sz="2135" b="1"/>
            </a:lvl8pPr>
            <a:lvl9pPr marL="4876165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8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5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7765" indent="0">
              <a:buNone/>
              <a:defRPr sz="2135" b="1"/>
            </a:lvl5pPr>
            <a:lvl6pPr marL="3047365" indent="0">
              <a:buNone/>
              <a:defRPr sz="2135" b="1"/>
            </a:lvl6pPr>
            <a:lvl7pPr marL="3656965" indent="0">
              <a:buNone/>
              <a:defRPr sz="2135" b="1"/>
            </a:lvl7pPr>
            <a:lvl8pPr marL="4266565" indent="0">
              <a:buNone/>
              <a:defRPr sz="2135" b="1"/>
            </a:lvl8pPr>
            <a:lvl9pPr marL="4876165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52"/>
            <a:ext cx="4010547" cy="1162049"/>
          </a:xfrm>
          <a:prstGeom prst="rect">
            <a:avLst/>
          </a:prstGeo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2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0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7765" indent="0">
              <a:buNone/>
              <a:defRPr sz="1200"/>
            </a:lvl5pPr>
            <a:lvl6pPr marL="3047365" indent="0">
              <a:buNone/>
              <a:defRPr sz="1200"/>
            </a:lvl6pPr>
            <a:lvl7pPr marL="3656965" indent="0">
              <a:buNone/>
              <a:defRPr sz="1200"/>
            </a:lvl7pPr>
            <a:lvl8pPr marL="4266565" indent="0">
              <a:buNone/>
              <a:defRPr sz="1200"/>
            </a:lvl8pPr>
            <a:lvl9pPr marL="487616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4"/>
            <a:ext cx="7316152" cy="566737"/>
          </a:xfrm>
          <a:prstGeom prst="rect">
            <a:avLst/>
          </a:prstGeo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0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7765" indent="0">
              <a:buNone/>
              <a:defRPr sz="2665"/>
            </a:lvl5pPr>
            <a:lvl6pPr marL="3047365" indent="0">
              <a:buNone/>
              <a:defRPr sz="2665"/>
            </a:lvl6pPr>
            <a:lvl7pPr marL="3656965" indent="0">
              <a:buNone/>
              <a:defRPr sz="2665"/>
            </a:lvl7pPr>
            <a:lvl8pPr marL="4266565" indent="0">
              <a:buNone/>
              <a:defRPr sz="2665"/>
            </a:lvl8pPr>
            <a:lvl9pPr marL="4876165" indent="0">
              <a:buNone/>
              <a:defRPr sz="2665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6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7765" indent="0">
              <a:buNone/>
              <a:defRPr sz="1200"/>
            </a:lvl5pPr>
            <a:lvl6pPr marL="3047365" indent="0">
              <a:buNone/>
              <a:defRPr sz="1200"/>
            </a:lvl6pPr>
            <a:lvl7pPr marL="3656965" indent="0">
              <a:buNone/>
              <a:defRPr sz="1200"/>
            </a:lvl7pPr>
            <a:lvl8pPr marL="4266565" indent="0">
              <a:buNone/>
              <a:defRPr sz="1200"/>
            </a:lvl8pPr>
            <a:lvl9pPr marL="487616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2" y="274646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6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0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/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/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/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/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/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/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/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/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/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/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/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/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/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/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/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/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/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/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/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/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/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/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/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/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/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/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/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/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/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/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/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/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/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/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/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/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/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/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/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/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/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/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/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/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/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/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/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/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/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/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/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/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/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/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/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/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/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/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/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/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/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/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/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/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/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/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/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/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/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/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/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/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/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/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/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/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/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/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/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/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/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/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/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/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/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/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/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/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/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/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/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/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/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/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/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/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/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/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/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/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/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/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/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/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/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/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/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/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/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0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</a:ln>
          <a:effectLst/>
        </p:spPr>
        <p:txBody>
          <a:bodyPr wrap="none" lIns="121904" tIns="60952" rIns="121904" bIns="60952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v"/>
              <a:defRPr/>
            </a:pPr>
            <a:endParaRPr lang="zh-CN" altLang="en-US" sz="1865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0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/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hoto Editor 照片" r:id="rId3" imgW="4324350" imgH="1343025" progId="">
                  <p:embed/>
                </p:oleObj>
              </mc:Choice>
              <mc:Fallback>
                <p:oleObj name="Photo Editor 照片" r:id="rId3" imgW="4324350" imgH="1343025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0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0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/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/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/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/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/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/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/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/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/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/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/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/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/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/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/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/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/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/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/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/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/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/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/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/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/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/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/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/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/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/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/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/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/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/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/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/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/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/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/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/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/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/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/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/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/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/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/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/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/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/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/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/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/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/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/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/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/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/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/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/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/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/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/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/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/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/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/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/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/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/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/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/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/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/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/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/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/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/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/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/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/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/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/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/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/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/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/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/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/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/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/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/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/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/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/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/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/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/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/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/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/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/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/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/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/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/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/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/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/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0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0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/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hoto Editor 照片" r:id="rId3" imgW="4324350" imgH="1343025" progId="">
                  <p:embed/>
                </p:oleObj>
              </mc:Choice>
              <mc:Fallback>
                <p:oleObj name="Photo Editor 照片" r:id="rId3" imgW="4324350" imgH="1343025" progId="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/>
          <p:nvPr userDrawn="1"/>
        </p:nvSpPr>
        <p:spPr>
          <a:xfrm>
            <a:off x="9168341" y="6381338"/>
            <a:ext cx="2844800" cy="365125"/>
          </a:xfrm>
          <a:prstGeom prst="rect">
            <a:avLst/>
          </a:prstGeom>
        </p:spPr>
        <p:txBody>
          <a:bodyPr vert="horz" lIns="121912" tIns="60956" rIns="121912" bIns="60956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5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 userDrawn="1"/>
        </p:nvSpPr>
        <p:spPr bwMode="auto">
          <a:xfrm>
            <a:off x="565687" y="202986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Rectangle 1"/>
          <p:cNvSpPr/>
          <p:nvPr userDrawn="1"/>
        </p:nvSpPr>
        <p:spPr bwMode="auto">
          <a:xfrm>
            <a:off x="514479" y="1316729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3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  <a:endParaRPr lang="zh-CN" altLang="en-US" sz="1800" b="1" spc="-109" baseline="0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（一）个人简历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59" y="124411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0" y="124411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1999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  <a:endParaRPr lang="zh-CN" altLang="en-US" sz="1800" b="1" spc="-109" baseline="0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jpe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8" Type="http://schemas.openxmlformats.org/officeDocument/2006/relationships/theme" Target="../theme/theme2.xml"/><Relationship Id="rId27" Type="http://schemas.openxmlformats.org/officeDocument/2006/relationships/image" Target="../media/image12.GIF"/><Relationship Id="rId26" Type="http://schemas.openxmlformats.org/officeDocument/2006/relationships/image" Target="../media/image11.jpeg"/><Relationship Id="rId25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9" Type="http://schemas.openxmlformats.org/officeDocument/2006/relationships/theme" Target="../theme/theme3.xml"/><Relationship Id="rId28" Type="http://schemas.openxmlformats.org/officeDocument/2006/relationships/image" Target="../media/image13.GIF"/><Relationship Id="rId27" Type="http://schemas.openxmlformats.org/officeDocument/2006/relationships/image" Target="../media/image11.jpeg"/><Relationship Id="rId26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2.xml"/><Relationship Id="rId28" Type="http://schemas.openxmlformats.org/officeDocument/2006/relationships/theme" Target="../theme/theme4.xml"/><Relationship Id="rId27" Type="http://schemas.openxmlformats.org/officeDocument/2006/relationships/image" Target="../media/image14.png"/><Relationship Id="rId26" Type="http://schemas.openxmlformats.org/officeDocument/2006/relationships/image" Target="../media/image11.jpeg"/><Relationship Id="rId25" Type="http://schemas.openxmlformats.org/officeDocument/2006/relationships/slideLayout" Target="../slideLayouts/slideLayout84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0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3.xml"/><Relationship Id="rId8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8.xml"/><Relationship Id="rId3" Type="http://schemas.openxmlformats.org/officeDocument/2006/relationships/slideLayout" Target="../slideLayouts/slideLayout87.xml"/><Relationship Id="rId28" Type="http://schemas.openxmlformats.org/officeDocument/2006/relationships/theme" Target="../theme/theme5.xml"/><Relationship Id="rId27" Type="http://schemas.openxmlformats.org/officeDocument/2006/relationships/image" Target="../media/image14.png"/><Relationship Id="rId26" Type="http://schemas.openxmlformats.org/officeDocument/2006/relationships/image" Target="../media/image11.jpeg"/><Relationship Id="rId25" Type="http://schemas.openxmlformats.org/officeDocument/2006/relationships/slideLayout" Target="../slideLayouts/slideLayout109.xml"/><Relationship Id="rId24" Type="http://schemas.openxmlformats.org/officeDocument/2006/relationships/slideLayout" Target="../slideLayouts/slideLayout108.xml"/><Relationship Id="rId23" Type="http://schemas.openxmlformats.org/officeDocument/2006/relationships/slideLayout" Target="../slideLayouts/slideLayout107.xml"/><Relationship Id="rId22" Type="http://schemas.openxmlformats.org/officeDocument/2006/relationships/slideLayout" Target="../slideLayouts/slideLayout106.xml"/><Relationship Id="rId21" Type="http://schemas.openxmlformats.org/officeDocument/2006/relationships/slideLayout" Target="../slideLayouts/slideLayout105.xml"/><Relationship Id="rId20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86.xml"/><Relationship Id="rId19" Type="http://schemas.openxmlformats.org/officeDocument/2006/relationships/slideLayout" Target="../slideLayouts/slideLayout103.xml"/><Relationship Id="rId18" Type="http://schemas.openxmlformats.org/officeDocument/2006/relationships/slideLayout" Target="../slideLayouts/slideLayout102.xml"/><Relationship Id="rId17" Type="http://schemas.openxmlformats.org/officeDocument/2006/relationships/slideLayout" Target="../slideLayouts/slideLayout101.xml"/><Relationship Id="rId16" Type="http://schemas.openxmlformats.org/officeDocument/2006/relationships/slideLayout" Target="../slideLayouts/slideLayout100.xml"/><Relationship Id="rId15" Type="http://schemas.openxmlformats.org/officeDocument/2006/relationships/slideLayout" Target="../slideLayouts/slideLayout99.xml"/><Relationship Id="rId14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4.xml"/><Relationship Id="rId1" Type="http://schemas.openxmlformats.org/officeDocument/2006/relationships/slideLayout" Target="../slideLayouts/slideLayout8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8.xml"/><Relationship Id="rId8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16.xml"/><Relationship Id="rId6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13.xml"/><Relationship Id="rId3" Type="http://schemas.openxmlformats.org/officeDocument/2006/relationships/slideLayout" Target="../slideLayouts/slideLayout112.xml"/><Relationship Id="rId2" Type="http://schemas.openxmlformats.org/officeDocument/2006/relationships/slideLayout" Target="../slideLayouts/slideLayout111.xml"/><Relationship Id="rId17" Type="http://schemas.openxmlformats.org/officeDocument/2006/relationships/theme" Target="../theme/theme6.xml"/><Relationship Id="rId16" Type="http://schemas.openxmlformats.org/officeDocument/2006/relationships/image" Target="../media/image23.png"/><Relationship Id="rId15" Type="http://schemas.openxmlformats.org/officeDocument/2006/relationships/slideLayout" Target="../slideLayouts/slideLayout124.xml"/><Relationship Id="rId14" Type="http://schemas.openxmlformats.org/officeDocument/2006/relationships/slideLayout" Target="../slideLayouts/slideLayout123.xml"/><Relationship Id="rId13" Type="http://schemas.openxmlformats.org/officeDocument/2006/relationships/slideLayout" Target="../slideLayouts/slideLayout122.xml"/><Relationship Id="rId12" Type="http://schemas.openxmlformats.org/officeDocument/2006/relationships/slideLayout" Target="../slideLayouts/slideLayout121.xml"/><Relationship Id="rId11" Type="http://schemas.openxmlformats.org/officeDocument/2006/relationships/slideLayout" Target="../slideLayouts/slideLayout120.xml"/><Relationship Id="rId10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10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7.xml"/><Relationship Id="rId22" Type="http://schemas.openxmlformats.org/officeDocument/2006/relationships/theme" Target="../theme/theme7.xml"/><Relationship Id="rId21" Type="http://schemas.openxmlformats.org/officeDocument/2006/relationships/image" Target="../media/image23.png"/><Relationship Id="rId20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26.xml"/><Relationship Id="rId19" Type="http://schemas.openxmlformats.org/officeDocument/2006/relationships/slideLayout" Target="../slideLayouts/slideLayout143.xml"/><Relationship Id="rId18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25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3.xml"/><Relationship Id="rId8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51.xml"/><Relationship Id="rId6" Type="http://schemas.openxmlformats.org/officeDocument/2006/relationships/slideLayout" Target="../slideLayouts/slideLayout150.xml"/><Relationship Id="rId5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147.xml"/><Relationship Id="rId2" Type="http://schemas.openxmlformats.org/officeDocument/2006/relationships/slideLayout" Target="../slideLayouts/slideLayout146.xml"/><Relationship Id="rId18" Type="http://schemas.openxmlformats.org/officeDocument/2006/relationships/theme" Target="../theme/theme8.xml"/><Relationship Id="rId17" Type="http://schemas.openxmlformats.org/officeDocument/2006/relationships/slideLayout" Target="../slideLayouts/slideLayout161.xml"/><Relationship Id="rId16" Type="http://schemas.openxmlformats.org/officeDocument/2006/relationships/slideLayout" Target="../slideLayouts/slideLayout160.xml"/><Relationship Id="rId15" Type="http://schemas.openxmlformats.org/officeDocument/2006/relationships/slideLayout" Target="../slideLayouts/slideLayout159.xml"/><Relationship Id="rId14" Type="http://schemas.openxmlformats.org/officeDocument/2006/relationships/slideLayout" Target="../slideLayouts/slideLayout158.xml"/><Relationship Id="rId13" Type="http://schemas.openxmlformats.org/officeDocument/2006/relationships/slideLayout" Target="../slideLayouts/slideLayout157.xml"/><Relationship Id="rId12" Type="http://schemas.openxmlformats.org/officeDocument/2006/relationships/slideLayout" Target="../slideLayouts/slideLayout156.xml"/><Relationship Id="rId11" Type="http://schemas.openxmlformats.org/officeDocument/2006/relationships/slideLayout" Target="../slideLayouts/slideLayout155.xml"/><Relationship Id="rId10" Type="http://schemas.openxmlformats.org/officeDocument/2006/relationships/slideLayout" Target="../slideLayouts/slideLayout154.xml"/><Relationship Id="rId1" Type="http://schemas.openxmlformats.org/officeDocument/2006/relationships/slideLayout" Target="../slideLayouts/slideLayout145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0.xml"/><Relationship Id="rId8" Type="http://schemas.openxmlformats.org/officeDocument/2006/relationships/slideLayout" Target="../slideLayouts/slideLayout169.xml"/><Relationship Id="rId7" Type="http://schemas.openxmlformats.org/officeDocument/2006/relationships/slideLayout" Target="../slideLayouts/slideLayout168.xml"/><Relationship Id="rId6" Type="http://schemas.openxmlformats.org/officeDocument/2006/relationships/slideLayout" Target="../slideLayouts/slideLayout167.xml"/><Relationship Id="rId5" Type="http://schemas.openxmlformats.org/officeDocument/2006/relationships/slideLayout" Target="../slideLayouts/slideLayout166.xml"/><Relationship Id="rId4" Type="http://schemas.openxmlformats.org/officeDocument/2006/relationships/slideLayout" Target="../slideLayouts/slideLayout165.xml"/><Relationship Id="rId3" Type="http://schemas.openxmlformats.org/officeDocument/2006/relationships/slideLayout" Target="../slideLayouts/slideLayout164.xml"/><Relationship Id="rId29" Type="http://schemas.openxmlformats.org/officeDocument/2006/relationships/theme" Target="../theme/theme9.xml"/><Relationship Id="rId28" Type="http://schemas.openxmlformats.org/officeDocument/2006/relationships/image" Target="../media/image14.png"/><Relationship Id="rId27" Type="http://schemas.openxmlformats.org/officeDocument/2006/relationships/image" Target="../media/image11.jpeg"/><Relationship Id="rId26" Type="http://schemas.openxmlformats.org/officeDocument/2006/relationships/slideLayout" Target="../slideLayouts/slideLayout187.xml"/><Relationship Id="rId25" Type="http://schemas.openxmlformats.org/officeDocument/2006/relationships/slideLayout" Target="../slideLayouts/slideLayout186.xml"/><Relationship Id="rId24" Type="http://schemas.openxmlformats.org/officeDocument/2006/relationships/slideLayout" Target="../slideLayouts/slideLayout185.xml"/><Relationship Id="rId23" Type="http://schemas.openxmlformats.org/officeDocument/2006/relationships/slideLayout" Target="../slideLayouts/slideLayout184.xml"/><Relationship Id="rId22" Type="http://schemas.openxmlformats.org/officeDocument/2006/relationships/slideLayout" Target="../slideLayouts/slideLayout183.xml"/><Relationship Id="rId21" Type="http://schemas.openxmlformats.org/officeDocument/2006/relationships/slideLayout" Target="../slideLayouts/slideLayout182.xml"/><Relationship Id="rId20" Type="http://schemas.openxmlformats.org/officeDocument/2006/relationships/slideLayout" Target="../slideLayouts/slideLayout181.xml"/><Relationship Id="rId2" Type="http://schemas.openxmlformats.org/officeDocument/2006/relationships/slideLayout" Target="../slideLayouts/slideLayout163.xml"/><Relationship Id="rId19" Type="http://schemas.openxmlformats.org/officeDocument/2006/relationships/slideLayout" Target="../slideLayouts/slideLayout180.xml"/><Relationship Id="rId18" Type="http://schemas.openxmlformats.org/officeDocument/2006/relationships/slideLayout" Target="../slideLayouts/slideLayout179.xml"/><Relationship Id="rId17" Type="http://schemas.openxmlformats.org/officeDocument/2006/relationships/slideLayout" Target="../slideLayouts/slideLayout178.xml"/><Relationship Id="rId16" Type="http://schemas.openxmlformats.org/officeDocument/2006/relationships/slideLayout" Target="../slideLayouts/slideLayout177.xml"/><Relationship Id="rId15" Type="http://schemas.openxmlformats.org/officeDocument/2006/relationships/slideLayout" Target="../slideLayouts/slideLayout176.xml"/><Relationship Id="rId14" Type="http://schemas.openxmlformats.org/officeDocument/2006/relationships/slideLayout" Target="../slideLayouts/slideLayout175.xml"/><Relationship Id="rId13" Type="http://schemas.openxmlformats.org/officeDocument/2006/relationships/slideLayout" Target="../slideLayouts/slideLayout174.xml"/><Relationship Id="rId12" Type="http://schemas.openxmlformats.org/officeDocument/2006/relationships/slideLayout" Target="../slideLayouts/slideLayout173.xml"/><Relationship Id="rId11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71.xml"/><Relationship Id="rId1" Type="http://schemas.openxmlformats.org/officeDocument/2006/relationships/slideLayout" Target="../slideLayouts/slideLayout162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9.xml"/><Relationship Id="rId18" Type="http://schemas.openxmlformats.org/officeDocument/2006/relationships/theme" Target="../theme/theme10.xml"/><Relationship Id="rId17" Type="http://schemas.openxmlformats.org/officeDocument/2006/relationships/slideLayout" Target="../slideLayouts/slideLayout204.xml"/><Relationship Id="rId16" Type="http://schemas.openxmlformats.org/officeDocument/2006/relationships/slideLayout" Target="../slideLayouts/slideLayout203.xml"/><Relationship Id="rId15" Type="http://schemas.openxmlformats.org/officeDocument/2006/relationships/slideLayout" Target="../slideLayouts/slideLayout202.xml"/><Relationship Id="rId14" Type="http://schemas.openxmlformats.org/officeDocument/2006/relationships/slideLayout" Target="../slideLayouts/slideLayout201.xml"/><Relationship Id="rId13" Type="http://schemas.openxmlformats.org/officeDocument/2006/relationships/slideLayout" Target="../slideLayouts/slideLayout200.xml"/><Relationship Id="rId12" Type="http://schemas.openxmlformats.org/officeDocument/2006/relationships/slideLayout" Target="../slideLayouts/slideLayout199.xml"/><Relationship Id="rId11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88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3.xml"/><Relationship Id="rId8" Type="http://schemas.openxmlformats.org/officeDocument/2006/relationships/slideLayout" Target="../slideLayouts/slideLayout212.xml"/><Relationship Id="rId7" Type="http://schemas.openxmlformats.org/officeDocument/2006/relationships/slideLayout" Target="../slideLayouts/slideLayout211.xml"/><Relationship Id="rId6" Type="http://schemas.openxmlformats.org/officeDocument/2006/relationships/slideLayout" Target="../slideLayouts/slideLayout210.xml"/><Relationship Id="rId5" Type="http://schemas.openxmlformats.org/officeDocument/2006/relationships/slideLayout" Target="../slideLayouts/slideLayout209.xml"/><Relationship Id="rId4" Type="http://schemas.openxmlformats.org/officeDocument/2006/relationships/slideLayout" Target="../slideLayouts/slideLayout208.xml"/><Relationship Id="rId3" Type="http://schemas.openxmlformats.org/officeDocument/2006/relationships/slideLayout" Target="../slideLayouts/slideLayout207.xml"/><Relationship Id="rId28" Type="http://schemas.openxmlformats.org/officeDocument/2006/relationships/theme" Target="../theme/theme11.xml"/><Relationship Id="rId27" Type="http://schemas.openxmlformats.org/officeDocument/2006/relationships/image" Target="../media/image14.png"/><Relationship Id="rId26" Type="http://schemas.openxmlformats.org/officeDocument/2006/relationships/image" Target="../media/image11.jpeg"/><Relationship Id="rId25" Type="http://schemas.openxmlformats.org/officeDocument/2006/relationships/slideLayout" Target="../slideLayouts/slideLayout229.xml"/><Relationship Id="rId24" Type="http://schemas.openxmlformats.org/officeDocument/2006/relationships/slideLayout" Target="../slideLayouts/slideLayout228.xml"/><Relationship Id="rId23" Type="http://schemas.openxmlformats.org/officeDocument/2006/relationships/slideLayout" Target="../slideLayouts/slideLayout227.xml"/><Relationship Id="rId22" Type="http://schemas.openxmlformats.org/officeDocument/2006/relationships/slideLayout" Target="../slideLayouts/slideLayout226.xml"/><Relationship Id="rId21" Type="http://schemas.openxmlformats.org/officeDocument/2006/relationships/slideLayout" Target="../slideLayouts/slideLayout225.xml"/><Relationship Id="rId20" Type="http://schemas.openxmlformats.org/officeDocument/2006/relationships/slideLayout" Target="../slideLayouts/slideLayout224.xml"/><Relationship Id="rId2" Type="http://schemas.openxmlformats.org/officeDocument/2006/relationships/slideLayout" Target="../slideLayouts/slideLayout206.xml"/><Relationship Id="rId19" Type="http://schemas.openxmlformats.org/officeDocument/2006/relationships/slideLayout" Target="../slideLayouts/slideLayout223.xml"/><Relationship Id="rId18" Type="http://schemas.openxmlformats.org/officeDocument/2006/relationships/slideLayout" Target="../slideLayouts/slideLayout222.xml"/><Relationship Id="rId17" Type="http://schemas.openxmlformats.org/officeDocument/2006/relationships/slideLayout" Target="../slideLayouts/slideLayout221.xml"/><Relationship Id="rId16" Type="http://schemas.openxmlformats.org/officeDocument/2006/relationships/slideLayout" Target="../slideLayouts/slideLayout220.xml"/><Relationship Id="rId15" Type="http://schemas.openxmlformats.org/officeDocument/2006/relationships/slideLayout" Target="../slideLayouts/slideLayout219.xml"/><Relationship Id="rId14" Type="http://schemas.openxmlformats.org/officeDocument/2006/relationships/slideLayout" Target="../slideLayouts/slideLayout218.xml"/><Relationship Id="rId13" Type="http://schemas.openxmlformats.org/officeDocument/2006/relationships/slideLayout" Target="../slideLayouts/slideLayout217.xml"/><Relationship Id="rId12" Type="http://schemas.openxmlformats.org/officeDocument/2006/relationships/slideLayout" Target="../slideLayouts/slideLayout216.xml"/><Relationship Id="rId11" Type="http://schemas.openxmlformats.org/officeDocument/2006/relationships/slideLayout" Target="../slideLayouts/slideLayout215.xml"/><Relationship Id="rId10" Type="http://schemas.openxmlformats.org/officeDocument/2006/relationships/slideLayout" Target="../slideLayouts/slideLayout214.xml"/><Relationship Id="rId1" Type="http://schemas.openxmlformats.org/officeDocument/2006/relationships/slideLayout" Target="../slideLayouts/slideLayout205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8.xml"/><Relationship Id="rId8" Type="http://schemas.openxmlformats.org/officeDocument/2006/relationships/slideLayout" Target="../slideLayouts/slideLayout237.xml"/><Relationship Id="rId7" Type="http://schemas.openxmlformats.org/officeDocument/2006/relationships/slideLayout" Target="../slideLayouts/slideLayout236.xml"/><Relationship Id="rId6" Type="http://schemas.openxmlformats.org/officeDocument/2006/relationships/slideLayout" Target="../slideLayouts/slideLayout235.xml"/><Relationship Id="rId5" Type="http://schemas.openxmlformats.org/officeDocument/2006/relationships/slideLayout" Target="../slideLayouts/slideLayout234.xml"/><Relationship Id="rId4" Type="http://schemas.openxmlformats.org/officeDocument/2006/relationships/slideLayout" Target="../slideLayouts/slideLayout233.xml"/><Relationship Id="rId3" Type="http://schemas.openxmlformats.org/officeDocument/2006/relationships/slideLayout" Target="../slideLayouts/slideLayout232.xml"/><Relationship Id="rId25" Type="http://schemas.openxmlformats.org/officeDocument/2006/relationships/theme" Target="../theme/theme12.xml"/><Relationship Id="rId24" Type="http://schemas.openxmlformats.org/officeDocument/2006/relationships/image" Target="../media/image14.png"/><Relationship Id="rId23" Type="http://schemas.openxmlformats.org/officeDocument/2006/relationships/image" Target="../media/image11.jpeg"/><Relationship Id="rId22" Type="http://schemas.openxmlformats.org/officeDocument/2006/relationships/slideLayout" Target="../slideLayouts/slideLayout251.xml"/><Relationship Id="rId21" Type="http://schemas.openxmlformats.org/officeDocument/2006/relationships/slideLayout" Target="../slideLayouts/slideLayout250.xml"/><Relationship Id="rId20" Type="http://schemas.openxmlformats.org/officeDocument/2006/relationships/slideLayout" Target="../slideLayouts/slideLayout249.xml"/><Relationship Id="rId2" Type="http://schemas.openxmlformats.org/officeDocument/2006/relationships/slideLayout" Target="../slideLayouts/slideLayout231.xml"/><Relationship Id="rId19" Type="http://schemas.openxmlformats.org/officeDocument/2006/relationships/slideLayout" Target="../slideLayouts/slideLayout248.xml"/><Relationship Id="rId18" Type="http://schemas.openxmlformats.org/officeDocument/2006/relationships/slideLayout" Target="../slideLayouts/slideLayout247.xml"/><Relationship Id="rId17" Type="http://schemas.openxmlformats.org/officeDocument/2006/relationships/slideLayout" Target="../slideLayouts/slideLayout246.xml"/><Relationship Id="rId16" Type="http://schemas.openxmlformats.org/officeDocument/2006/relationships/slideLayout" Target="../slideLayouts/slideLayout245.xml"/><Relationship Id="rId15" Type="http://schemas.openxmlformats.org/officeDocument/2006/relationships/slideLayout" Target="../slideLayouts/slideLayout244.xml"/><Relationship Id="rId14" Type="http://schemas.openxmlformats.org/officeDocument/2006/relationships/slideLayout" Target="../slideLayouts/slideLayout243.xml"/><Relationship Id="rId13" Type="http://schemas.openxmlformats.org/officeDocument/2006/relationships/slideLayout" Target="../slideLayouts/slideLayout242.xml"/><Relationship Id="rId12" Type="http://schemas.openxmlformats.org/officeDocument/2006/relationships/slideLayout" Target="../slideLayouts/slideLayout241.xml"/><Relationship Id="rId11" Type="http://schemas.openxmlformats.org/officeDocument/2006/relationships/slideLayout" Target="../slideLayouts/slideLayout240.xml"/><Relationship Id="rId10" Type="http://schemas.openxmlformats.org/officeDocument/2006/relationships/slideLayout" Target="../slideLayouts/slideLayout239.xml"/><Relationship Id="rId1" Type="http://schemas.openxmlformats.org/officeDocument/2006/relationships/slideLayout" Target="../slideLayouts/slideLayout2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/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>
            <a:fillRect/>
          </a:stretch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3" name="Picture 2" descr="A blue and white logo&#10;&#10;Description automatically generated"/>
          <p:cNvPicPr>
            <a:picLocks noChangeAspect="1"/>
          </p:cNvPicPr>
          <p:nvPr userDrawn="1"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9" t="23955" r="40919" b="37048"/>
          <a:stretch>
            <a:fillRect/>
          </a:stretch>
        </p:blipFill>
        <p:spPr>
          <a:xfrm>
            <a:off x="152401" y="50489"/>
            <a:ext cx="461681" cy="51741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</p:sldLayoutIdLst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41300" indent="-2413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605" indent="-2019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275" indent="-16065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5220" indent="-161925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530" indent="-16065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4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5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7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1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>
            <a:fillRect/>
          </a:stretch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35" y="0"/>
            <a:ext cx="612000" cy="61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</p:sldLayoutIdLst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393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41300" indent="-2413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605" indent="-2019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275" indent="-16065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5220" indent="-161925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530" indent="-16065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4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5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7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3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1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>
            <a:fillRect/>
          </a:stretch>
        </p:blipFill>
        <p:spPr>
          <a:xfrm>
            <a:off x="0" y="6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104823" y="9965"/>
            <a:ext cx="793019" cy="589809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21908" y="1393536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6000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</p:sldLayoutIdLst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393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24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41300" indent="-2413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1970" indent="-2019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275" indent="-16065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585" indent="-161925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530" indent="-16065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4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5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7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3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2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1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>
            <a:fillRect/>
          </a:stretch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104822" y="9963"/>
            <a:ext cx="793019" cy="589809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21908" y="1393536"/>
            <a:ext cx="7879080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6000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757" r:id="rId21"/>
    <p:sldLayoutId id="2147483758" r:id="rId22"/>
    <p:sldLayoutId id="2147483759" r:id="rId23"/>
    <p:sldLayoutId id="2147483760" r:id="rId24"/>
    <p:sldLayoutId id="2147483761" r:id="rId25"/>
  </p:sldLayoutIdLst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393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41300" indent="-2413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1970" indent="-2019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275" indent="-16065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585" indent="-161925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530" indent="-16065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4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5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7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3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1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C65BA3-EF8F-408F-A22D-18BBE8C1E8E8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</p:sldLayoutIdLst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3FF89-D6BC-427F-AEEF-1C1BC669514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  <p:sldLayoutId id="2147483795" r:id="rId17"/>
    <p:sldLayoutId id="2147483796" r:id="rId18"/>
    <p:sldLayoutId id="2147483797" r:id="rId19"/>
    <p:sldLayoutId id="2147483798" r:id="rId20"/>
  </p:sldLayoutIdLst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" name="Group 18"/>
          <p:cNvGrpSpPr/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/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/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/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/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/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/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/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/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/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/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/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/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/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/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/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/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/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/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/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/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/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/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/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/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/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/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/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/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/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/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/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/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/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/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/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/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/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/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/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/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/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/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/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/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/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/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/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/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/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/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/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/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/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/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/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/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/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/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/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/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/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/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/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/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/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/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/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/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/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/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/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/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/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/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/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/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/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/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/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/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/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/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/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/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/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/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/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/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/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/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/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/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/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/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/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/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/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/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/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/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/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/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/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/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/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/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/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/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3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  <p:sldLayoutId id="2147483816" r:id="rId17"/>
  </p:sldLayoutIdLs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25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1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>
            <a:fillRect/>
          </a:stretch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4" y="9968"/>
            <a:ext cx="793019" cy="589809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6000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1" r:id="rId14"/>
    <p:sldLayoutId id="2147483832" r:id="rId15"/>
    <p:sldLayoutId id="2147483833" r:id="rId16"/>
    <p:sldLayoutId id="2147483834" r:id="rId17"/>
    <p:sldLayoutId id="2147483835" r:id="rId18"/>
    <p:sldLayoutId id="2147483836" r:id="rId19"/>
    <p:sldLayoutId id="2147483837" r:id="rId20"/>
    <p:sldLayoutId id="2147483838" r:id="rId21"/>
    <p:sldLayoutId id="2147483839" r:id="rId22"/>
    <p:sldLayoutId id="2147483840" r:id="rId23"/>
    <p:sldLayoutId id="2147483841" r:id="rId24"/>
    <p:sldLayoutId id="2147483842" r:id="rId25"/>
    <p:sldLayoutId id="2147483843" r:id="rId2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393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24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41300" indent="-2413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1970" indent="-2019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275" indent="-16065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585" indent="-161925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5895" indent="-16065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205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515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09825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135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3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2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5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86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17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48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3330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" name="Group 18"/>
          <p:cNvGrpSpPr/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/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/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/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/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/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/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/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/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/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/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/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/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/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/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/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/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/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/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/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/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/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/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/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/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/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/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/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/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/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/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/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/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/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/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/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/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/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/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/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/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/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/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/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/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/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/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/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/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/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/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/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/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/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/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/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/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/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/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/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/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/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/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/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/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/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/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/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/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/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/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/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/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/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/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/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/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/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/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/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/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/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/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/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/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/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/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/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/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/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/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/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/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/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/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/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/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/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/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/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/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/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/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/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/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/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/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/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/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1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3330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  <p:sldLayoutId id="2147483859" r:id="rId15"/>
    <p:sldLayoutId id="2147483860" r:id="rId16"/>
    <p:sldLayoutId id="2147483861" r:id="rId17"/>
  </p:sldLayoutIdLs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2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25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1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>
            <a:fillRect/>
          </a:stretch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104823" y="9966"/>
            <a:ext cx="793019" cy="589809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6000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  <p:sldLayoutId id="2147483875" r:id="rId13"/>
    <p:sldLayoutId id="2147483876" r:id="rId14"/>
    <p:sldLayoutId id="2147483877" r:id="rId15"/>
    <p:sldLayoutId id="2147483878" r:id="rId16"/>
    <p:sldLayoutId id="2147483879" r:id="rId17"/>
    <p:sldLayoutId id="2147483880" r:id="rId18"/>
    <p:sldLayoutId id="2147483881" r:id="rId19"/>
    <p:sldLayoutId id="2147483882" r:id="rId20"/>
    <p:sldLayoutId id="2147483883" r:id="rId21"/>
    <p:sldLayoutId id="2147483884" r:id="rId22"/>
    <p:sldLayoutId id="2147483885" r:id="rId23"/>
    <p:sldLayoutId id="2147483886" r:id="rId24"/>
    <p:sldLayoutId id="2147483887" r:id="rId2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393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24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41300" indent="-2413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1970" indent="-2019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275" indent="-16065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585" indent="-161925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5895" indent="-16065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205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515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09825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7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3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2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5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86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17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48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>
            <a:fillRect/>
          </a:stretch>
        </p:blipFill>
        <p:spPr>
          <a:xfrm>
            <a:off x="0" y="0"/>
            <a:ext cx="12192000" cy="587029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04820" y="9961"/>
            <a:ext cx="793019" cy="5898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  <p:sldLayoutId id="2147483904" r:id="rId16"/>
    <p:sldLayoutId id="2147483905" r:id="rId17"/>
    <p:sldLayoutId id="2147483906" r:id="rId18"/>
    <p:sldLayoutId id="2147483907" r:id="rId19"/>
    <p:sldLayoutId id="2147483908" r:id="rId20"/>
    <p:sldLayoutId id="2147483909" r:id="rId21"/>
    <p:sldLayoutId id="2147483910" r:id="rId22"/>
  </p:sldLayoutIdLst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393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41300" indent="-2413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1970" indent="-2019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275" indent="-16065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5220" indent="-161925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530" indent="-16065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4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5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7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3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1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10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.5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en-US" altLang="zh-CN" b="0" dirty="0">
                <a:ea typeface="华光综艺_CNKI" panose="02000500000000000000" pitchFamily="2" charset="-122"/>
              </a:rPr>
              <a:t>XGBoost</a:t>
            </a:r>
            <a:endParaRPr lang="en-US" altLang="zh-CN" b="0" dirty="0"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1639570" y="2183765"/>
            <a:ext cx="8564245" cy="28613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48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极端梯度上升算法（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eXtreme Gradient Boosting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XGBoost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）是一种高效且灵活的梯度提升树算法，因其卓越的性能而被广泛应用于机器学习领域。其独特之处在于支持并行计算、引入正则化项和列采样等特性。在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Kaggle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DrivenData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和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Analytics Vidhya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等众多数据科学竞赛中，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XGBoost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以出色的表现脱颖而出，成为解决分类、回归等问题的首选算法。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6030504050203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基本原理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9735" y="2232025"/>
            <a:ext cx="11503660" cy="2953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基本原理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89" name="图片 4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975" y="1612900"/>
            <a:ext cx="7146925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8119110" y="1889760"/>
            <a:ext cx="3313430" cy="37846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48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XGBoost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延承了梯度提升算法的核心思想，仍然采用决策树作为基学习器，每颗决策树都被训练来修正前一颗树的预测误差，从而逐步提升整体模型的性能，如右图所示。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034655" y="1869440"/>
            <a:ext cx="3627120" cy="397700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基本原理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91" name="图片 4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410" y="1860550"/>
            <a:ext cx="5019675" cy="37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854075" y="1244918"/>
            <a:ext cx="5080000" cy="5015865"/>
          </a:xfrm>
          <a:prstGeom prst="rect">
            <a:avLst/>
          </a:prstGeom>
        </p:spPr>
        <p:txBody>
          <a:bodyPr>
            <a:spAutoFit/>
          </a:bodyPr>
          <a:p>
            <a:pPr marL="0" indent="3048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除此之外，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XGBoost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引入了一系列创新技术，包括并行化处理、正则化技术以及列采样等，成功克服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GBDT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在并行性和效率方面的限制。</a:t>
            </a:r>
            <a:endParaRPr lang="zh-CN" altLang="en-US" sz="1600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3048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）并行化处理。如右图，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XGBoost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采用了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Block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（块）存储结构，这种结构对特征进行分块并排序，每个块内保存了排序后的特征值以及对应样本的引用。这样的设计充分利用并行计算的优势，显著加速了模型的训练过程。</a:t>
            </a:r>
            <a:endParaRPr lang="zh-CN" altLang="en-US" sz="1600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3048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）正则化技术。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XGBoost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引入了正则化项，包括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L1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L2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正则化，其有助于防止过拟合，提高模型的泛化能力。</a:t>
            </a:r>
            <a:endParaRPr lang="zh-CN" altLang="en-US" sz="1600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3048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）列采样。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XGBoost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在每次决策树的构建过程中引入了列采样，即在每次迭代中对特征进行采样，防止模型过度依赖某些特定的特征。</a:t>
            </a:r>
            <a:endParaRPr lang="zh-CN" altLang="en-US" sz="1600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3048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这些技术的结合使得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XGBoost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能够更快地训练出强大的模型，并且在处理大规模数据集时表现优异。</a:t>
            </a:r>
            <a:endParaRPr lang="zh-CN" altLang="en-US" sz="1600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基本原理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1515" y="1179195"/>
            <a:ext cx="10809605" cy="5501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目标函数构建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5680" y="1081405"/>
            <a:ext cx="10029825" cy="5222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目标函数构建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6075" y="1703705"/>
            <a:ext cx="11497310" cy="41408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目标函数求解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78280" y="1001395"/>
            <a:ext cx="8720455" cy="29743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10055" y="4146550"/>
            <a:ext cx="8488680" cy="24307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目标函数求解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26920" y="1106170"/>
            <a:ext cx="8138795" cy="5514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目标函数求解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92" name="图片 4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8115" y="1074420"/>
            <a:ext cx="6253480" cy="2607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87880" y="3811905"/>
            <a:ext cx="8016240" cy="2750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目标函数求解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3720" y="1707515"/>
            <a:ext cx="11083925" cy="4247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目标函数求解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1955" y="976630"/>
            <a:ext cx="8990965" cy="5801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目标函数求解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4045" y="1553210"/>
            <a:ext cx="10604500" cy="4608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目标函数求解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56055" y="1089660"/>
            <a:ext cx="9206865" cy="54622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sym typeface="+mn-ea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算法应用与评价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1129030" y="1243965"/>
            <a:ext cx="9613265" cy="49390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48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XGBoost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通过对损失函数进行二阶导数的近似，为用户提供了更自由地定义和应用各种损失函数的能力。其次，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XGBoost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在正则化方面也表现出色，支持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L1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和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L2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正则化，有效防止模型过拟合。对于特征值缺失的样本，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XGBoost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利用稀疏感知算法能够自动学习出最优的树分裂方向，无需用户进行额外的数据处理，增强了模型对不完整数据的鲁棒性。同时，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XGBoost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通过特征并行和数据并行等方式实现并行化技术，在相同计算资源下通常比其他梯度提升算法更快。因此，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XGBoost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被广泛应用于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Kaggle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DrivenData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和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Analytics Vidhya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等知名数据科学竞赛中，例如在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Kaggle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的“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Porto Seguro's Safe Driver Prediction”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竞赛中，参赛团队使用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XGBoost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成功预测汽车保险索赔的概率。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/>
              <a:ea typeface="微软雅黑" panose="020B0503020204020204" pitchFamily="34" charset="-122"/>
            </a:endParaRPr>
          </a:p>
          <a:p>
            <a:pPr marL="0" indent="3048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chemeClr val="tx1"/>
              </a:solidFill>
              <a:uFillTx/>
              <a:latin typeface="Times New Roman" panose="02020603050405020304"/>
              <a:ea typeface="微软雅黑" panose="020B0503020204020204" pitchFamily="34" charset="-122"/>
            </a:endParaRPr>
          </a:p>
          <a:p>
            <a:pPr marL="0" indent="3048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chemeClr val="tx1"/>
              </a:solidFill>
              <a:uFillTx/>
              <a:latin typeface="Times New Roman" panose="02020603050405020304"/>
              <a:ea typeface="微软雅黑" panose="020B0503020204020204" pitchFamily="34" charset="-122"/>
            </a:endParaRPr>
          </a:p>
          <a:p>
            <a:pPr marL="0" indent="3048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然而，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XGBoost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拥有较多需要调整的参数，如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max_depth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和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learning_rate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等，因此，需要具备一定的专业知识和计算资源来优化模型性能。尽管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XGBoost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在处理大规模数据集时表现出色，但在小样本数据集上容易过拟合。同时，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XGBoost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pitchFamily="34" charset="-122"/>
              </a:rPr>
              <a:t>处理大规模数据时需要较大内存，这也成为使用该算法的一个限制因素。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76655" y="4674870"/>
            <a:ext cx="9606915" cy="153987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算法应用与评价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4825" y="1376680"/>
            <a:ext cx="11303635" cy="4528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算法的产品定价预测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514350" y="1285240"/>
            <a:ext cx="10841990" cy="1476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数据集（来源：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www.idatascience.cn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）包含了一系列手机产品的型号、各种配置信息以及价格范围（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0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：廉价，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：一般，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：昂贵，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：十分昂贵），总计包含了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2000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个数据样本。具体字段和部分数据样例如下表所示。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270000" y="2921635"/>
          <a:ext cx="9352915" cy="1724025"/>
        </p:xfrm>
        <a:graphic>
          <a:graphicData uri="http://schemas.openxmlformats.org/drawingml/2006/table">
            <a:tbl>
              <a:tblPr/>
              <a:tblGrid>
                <a:gridCol w="848995"/>
                <a:gridCol w="848995"/>
                <a:gridCol w="850265"/>
                <a:gridCol w="850265"/>
                <a:gridCol w="850265"/>
                <a:gridCol w="850900"/>
                <a:gridCol w="850265"/>
                <a:gridCol w="850265"/>
                <a:gridCol w="851535"/>
                <a:gridCol w="849630"/>
                <a:gridCol w="851535"/>
              </a:tblGrid>
              <a:tr h="431165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电池容量</a:t>
                      </a:r>
                      <a:endParaRPr lang="zh-CN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蓝牙</a:t>
                      </a:r>
                      <a:endParaRPr lang="zh-CN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CPU</a:t>
                      </a:r>
                      <a:endParaRPr lang="en-US" altLang="zh-CN" sz="1100" b="1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SIM</a:t>
                      </a: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卡</a:t>
                      </a:r>
                      <a:endParaRPr lang="zh-CN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前摄像素</a:t>
                      </a:r>
                      <a:endParaRPr lang="zh-CN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4G</a:t>
                      </a:r>
                      <a:endParaRPr lang="en-US" altLang="zh-CN" sz="1100" b="1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 </a:t>
                      </a:r>
                      <a:endParaRPr lang="en-US" altLang="zh-CN" sz="1100" b="1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内存</a:t>
                      </a:r>
                      <a:endParaRPr lang="zh-CN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厚度</a:t>
                      </a:r>
                      <a:endParaRPr lang="zh-CN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重量</a:t>
                      </a:r>
                      <a:endParaRPr lang="zh-CN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处理器数</a:t>
                      </a:r>
                      <a:endParaRPr lang="zh-CN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后摄像素</a:t>
                      </a:r>
                      <a:endParaRPr lang="zh-CN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265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842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2.2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7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0.6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188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2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2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1590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1021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0.5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53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0.7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136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3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6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5265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563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0.5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2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41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0.9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145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5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6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590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5265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1512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0.9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4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46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0.1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145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5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5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5265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510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2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5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45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0.9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168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6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16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1269365" y="5066030"/>
          <a:ext cx="9372600" cy="1466850"/>
        </p:xfrm>
        <a:graphic>
          <a:graphicData uri="http://schemas.openxmlformats.org/drawingml/2006/table">
            <a:tbl>
              <a:tblPr/>
              <a:tblGrid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</a:tblGrid>
              <a:tr h="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像素长</a:t>
                      </a:r>
                      <a:endParaRPr lang="zh-CN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像素宽</a:t>
                      </a:r>
                      <a:endParaRPr lang="zh-CN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RAM</a:t>
                      </a:r>
                      <a:endParaRPr lang="en-US" altLang="zh-CN" sz="1100" b="1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屏幕长度</a:t>
                      </a:r>
                      <a:endParaRPr lang="zh-CN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屏幕宽度</a:t>
                      </a:r>
                      <a:endParaRPr lang="zh-CN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通话</a:t>
                      </a:r>
                      <a:endParaRPr lang="zh-CN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3G</a:t>
                      </a:r>
                      <a:endParaRPr lang="en-US" altLang="zh-CN" sz="1100" b="1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触屏</a:t>
                      </a:r>
                      <a:endParaRPr lang="zh-CN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WiFi</a:t>
                      </a:r>
                      <a:endParaRPr lang="en-US" altLang="zh-CN" sz="1100" b="1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价格范围</a:t>
                      </a:r>
                      <a:endParaRPr lang="zh-CN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20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756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2549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9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7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19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905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1988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2631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17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3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7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2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1263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1716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2603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2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9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2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336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670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869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18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10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19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483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754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3919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19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4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2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3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603050405020304"/>
                        <a:ea typeface="等线" panose="02010600030101010101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算法的产品定价预测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1222375" y="1983105"/>
            <a:ext cx="9942195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607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模型构建。在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Python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中，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XGBoost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模型的构建可通过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Scikit-learn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库中的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xgboost.xgb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模块的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XGBClassifier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类实现，其函数如下：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48000" y="3606800"/>
            <a:ext cx="60960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14935" indent="0" algn="l" defTabSz="266700">
              <a:lnSpc>
                <a:spcPts val="1200"/>
              </a:lnSpc>
            </a:pPr>
            <a:r>
              <a:rPr lang="en-US" altLang="zh-CN" sz="1400">
                <a:solidFill>
                  <a:srgbClr val="A626A4"/>
                </a:solidFill>
                <a:latin typeface="Consolas" panose="020B0609020204030204"/>
                <a:ea typeface="Consolas" panose="020B0609020204030204"/>
                <a:sym typeface="+mn-ea"/>
              </a:rPr>
              <a:t>class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 </a:t>
            </a:r>
            <a:r>
              <a:rPr lang="en-US" altLang="zh-CN" sz="1400">
                <a:solidFill>
                  <a:srgbClr val="C18401"/>
                </a:solidFill>
                <a:latin typeface="Consolas" panose="020B0609020204030204"/>
                <a:ea typeface="Consolas" panose="020B0609020204030204"/>
                <a:sym typeface="+mn-ea"/>
              </a:rPr>
              <a:t>xgboost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.</a:t>
            </a:r>
            <a:r>
              <a:rPr lang="en-US" altLang="zh-CN" sz="1400">
                <a:solidFill>
                  <a:srgbClr val="C18401"/>
                </a:solidFill>
                <a:latin typeface="Consolas" panose="020B0609020204030204"/>
                <a:ea typeface="Consolas" panose="020B0609020204030204"/>
                <a:sym typeface="+mn-ea"/>
              </a:rPr>
              <a:t>sklearn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.</a:t>
            </a:r>
            <a:r>
              <a:rPr lang="en-US" altLang="zh-CN" sz="1400">
                <a:solidFill>
                  <a:srgbClr val="C18401"/>
                </a:solidFill>
                <a:latin typeface="Consolas" panose="020B0609020204030204"/>
                <a:ea typeface="Consolas" panose="020B0609020204030204"/>
                <a:sym typeface="+mn-ea"/>
              </a:rPr>
              <a:t>XGBClassifier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(max_depth=</a:t>
            </a:r>
            <a:r>
              <a:rPr lang="en-US" altLang="zh-CN" sz="14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3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learning_rate=</a:t>
            </a:r>
            <a:r>
              <a:rPr lang="en-US" altLang="zh-CN" sz="14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0.1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n_estimators=</a:t>
            </a:r>
            <a:r>
              <a:rPr lang="en-US" altLang="zh-CN" sz="14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100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subsample=</a:t>
            </a:r>
            <a:r>
              <a:rPr lang="en-US" altLang="zh-CN" sz="14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1.0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colsample_bytree=</a:t>
            </a:r>
            <a:r>
              <a:rPr lang="en-US" altLang="zh-CN" sz="14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1.0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objective=</a:t>
            </a:r>
            <a:r>
              <a:rPr lang="en-US" altLang="zh-CN" sz="1400">
                <a:solidFill>
                  <a:srgbClr val="50A14F"/>
                </a:solidFill>
                <a:latin typeface="Consolas" panose="020B0609020204030204"/>
                <a:ea typeface="Consolas" panose="020B0609020204030204"/>
                <a:sym typeface="+mn-ea"/>
              </a:rPr>
              <a:t>'binary:logistic'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booster=</a:t>
            </a:r>
            <a:r>
              <a:rPr lang="en-US" altLang="zh-CN" sz="1400">
                <a:solidFill>
                  <a:srgbClr val="50A14F"/>
                </a:solidFill>
                <a:latin typeface="Consolas" panose="020B0609020204030204"/>
                <a:ea typeface="Consolas" panose="020B0609020204030204"/>
                <a:sym typeface="+mn-ea"/>
              </a:rPr>
              <a:t>'gbtree'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n_jobs=</a:t>
            </a:r>
            <a:r>
              <a:rPr lang="en-US" altLang="zh-CN" sz="14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1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nthread=None, gamma=</a:t>
            </a:r>
            <a:r>
              <a:rPr lang="en-US" altLang="zh-CN" sz="14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0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min_child_weight=</a:t>
            </a:r>
            <a:r>
              <a:rPr lang="en-US" altLang="zh-CN" sz="14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1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max_delta_step=</a:t>
            </a:r>
            <a:r>
              <a:rPr lang="en-US" altLang="zh-CN" sz="14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0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subsample_for_bin=</a:t>
            </a:r>
            <a:r>
              <a:rPr lang="en-US" altLang="zh-CN" sz="14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200000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colsample_bylevel=</a:t>
            </a:r>
            <a:r>
              <a:rPr lang="en-US" altLang="zh-CN" sz="14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1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colsample_bynode=</a:t>
            </a:r>
            <a:r>
              <a:rPr lang="en-US" altLang="zh-CN" sz="14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1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reg_alpha=</a:t>
            </a:r>
            <a:r>
              <a:rPr lang="en-US" altLang="zh-CN" sz="14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0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reg_lambda=</a:t>
            </a:r>
            <a:r>
              <a:rPr lang="en-US" altLang="zh-CN" sz="14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1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scale_pos_weight=</a:t>
            </a:r>
            <a:r>
              <a:rPr lang="en-US" altLang="zh-CN" sz="14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1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base_score=</a:t>
            </a:r>
            <a:r>
              <a:rPr lang="en-US" altLang="zh-CN" sz="14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0.5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random_state=</a:t>
            </a:r>
            <a:r>
              <a:rPr lang="en-US" altLang="zh-CN" sz="14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0</a:t>
            </a:r>
            <a:r>
              <a:rPr lang="en-US" altLang="zh-CN" sz="14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seed=None, missing=None, **kwargs)</a:t>
            </a:r>
            <a:endParaRPr lang="en-US" altLang="zh-CN" sz="1400">
              <a:solidFill>
                <a:srgbClr val="5C5C5C"/>
              </a:solidFill>
              <a:latin typeface="Consolas" panose="020B0609020204030204"/>
              <a:ea typeface="Consolas" panose="020B0609020204030204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84830" y="3494405"/>
            <a:ext cx="6111240" cy="15113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算法的产品定价预测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572135" y="1490345"/>
            <a:ext cx="10340340" cy="42462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在构建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XGBoost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模型时，参数设置如下：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）参数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learning_rate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n_estimators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，其设置与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AdaBoost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类似。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num_leaves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表示叶子节点数，用于控制树的复杂度，通常在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20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到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100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之间选择。设置较大的值可能会提高模型的性能，但也可能导致过拟合，建议从较小的值开始，逐渐增加并在交叉验证中找到最佳值，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max_depth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用于限制每棵树的最大深度，防止过度生长，一般选择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到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10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4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min_child_weight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表示叶子节点的最小权重，通过调整可以控制模型复杂度。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4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subsample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决定每次迭代时用于训练模型的样本比例，可防止过拟合，通常在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0.5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到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1.0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之间选择。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colsample_bytree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定义每次迭代时用于训练模型的特征比例，有助于防止特征间的过拟合。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这些超参数在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XGBoost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中发挥关键作用，用于提升模型性能、预测能力以及加速模型训练的速度。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算法的产品定价预测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134110"/>
            <a:ext cx="5173980" cy="52501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010" y="3429000"/>
            <a:ext cx="515112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XGBoost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算法的产品定价预测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1108710" y="1417320"/>
            <a:ext cx="5080000" cy="2784475"/>
          </a:xfrm>
          <a:prstGeom prst="rect">
            <a:avLst/>
          </a:prstGeom>
        </p:spPr>
        <p:txBody>
          <a:bodyPr>
            <a:spAutoFit/>
          </a:bodyPr>
          <a:p>
            <a:pPr marL="0" indent="0" algn="l" defTabSz="266700">
              <a:lnSpc>
                <a:spcPct val="125000"/>
              </a:lnSpc>
              <a:spcBef>
                <a:spcPts val="40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C4591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输出结果：</a:t>
            </a:r>
            <a:endParaRPr lang="zh-CN" altLang="en-US" sz="2000" b="1">
              <a:solidFill>
                <a:srgbClr val="C4591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 algn="l" defTabSz="2667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>
                <a:solidFill>
                  <a:srgbClr val="C5591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***** </a:t>
            </a:r>
            <a:r>
              <a:rPr lang="zh-CN" altLang="en-US" sz="2000">
                <a:solidFill>
                  <a:srgbClr val="C5591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决策树 </a:t>
            </a:r>
            <a:r>
              <a:rPr lang="en-US" altLang="zh-CN" sz="2000">
                <a:solidFill>
                  <a:srgbClr val="C5591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*****</a:t>
            </a:r>
            <a:endParaRPr lang="en-US" altLang="zh-CN" sz="2000">
              <a:solidFill>
                <a:srgbClr val="C5591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 algn="l" defTabSz="2667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>
                <a:solidFill>
                  <a:srgbClr val="C5591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accuracy 0.826</a:t>
            </a:r>
            <a:endParaRPr lang="en-US" altLang="zh-CN" sz="2000">
              <a:solidFill>
                <a:srgbClr val="C5591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 algn="l" defTabSz="2667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>
                <a:solidFill>
                  <a:srgbClr val="C5591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***** GBDT *****</a:t>
            </a:r>
            <a:endParaRPr lang="en-US" altLang="zh-CN" sz="2000">
              <a:solidFill>
                <a:srgbClr val="C5591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 algn="l" defTabSz="2667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>
                <a:solidFill>
                  <a:srgbClr val="C5591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accuracy 0.906</a:t>
            </a:r>
            <a:endParaRPr lang="en-US" altLang="zh-CN" sz="2000">
              <a:solidFill>
                <a:srgbClr val="C5591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 algn="l" defTabSz="2667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>
                <a:solidFill>
                  <a:srgbClr val="C5591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***** XGBoost *****</a:t>
            </a:r>
            <a:endParaRPr lang="en-US" altLang="zh-CN" sz="2000">
              <a:solidFill>
                <a:srgbClr val="C5591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 algn="l" defTabSz="2667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>
                <a:solidFill>
                  <a:srgbClr val="C5591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accuracy 0.924</a:t>
            </a:r>
            <a:endParaRPr lang="en-US" altLang="zh-CN" sz="2000">
              <a:solidFill>
                <a:srgbClr val="C5591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0" name="图片 20" descr="Figure_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68950" y="1000125"/>
            <a:ext cx="5444490" cy="36188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43610" y="4618990"/>
            <a:ext cx="10304145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6070" algn="just" defTabSz="266700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本案例使用准确率对决策树、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GBDT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XGBoost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模型进行了对比。从输出结果可以观察到三种模型的准确率分别为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0.826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0.906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0.924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。其中，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XGBoost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表现出最高的预测准确率。此外，本案例使用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plot_importance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函数来展示每个特征在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XGBoost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模型中的重要性。从图中可以发现，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RAM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、电池容量、像素宽、像素长是影响产品价格的重要因素。为了更好地理解模型性能并进一步提升准确率，读者可以尝试调整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XGBoost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模型的超参数，如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max_depth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learning_rate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n_estimators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等，观察其对准确率的影响。通过调整这些参数，读者可以深入了解模型的行为，并找到最适合数据集的配置。</a:t>
            </a:r>
            <a:endParaRPr lang="zh-CN" altLang="en-US" sz="1600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40435" y="4618355"/>
            <a:ext cx="10314940" cy="19177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TABLE_ENDDRAG_ORIGIN_RECT" val="736*135"/>
  <p:tag name="TABLE_ENDDRAG_RECT" val="100*230*736*135"/>
</p:tagLst>
</file>

<file path=ppt/tags/tag2.xml><?xml version="1.0" encoding="utf-8"?>
<p:tagLst xmlns:p="http://schemas.openxmlformats.org/presentationml/2006/main">
  <p:tag name="TABLE_ENDDRAG_ORIGIN_RECT" val="737*132"/>
  <p:tag name="TABLE_ENDDRAG_RECT" val="100*398*737*132"/>
</p:tagLst>
</file>

<file path=ppt/tags/tag3.xml><?xml version="1.0" encoding="utf-8"?>
<p:tagLst xmlns:p="http://schemas.openxmlformats.org/presentationml/2006/main">
  <p:tag name="KSO_WPP_MARK_KEY" val="057fef28-e1f3-418f-8f7b-57f60670b37e"/>
  <p:tag name="COMMONDATA" val="eyJoZGlkIjoiNGZlODdkOGY2N2FkZjEzZjVmYjI5NGY1MTQ2NGRhN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7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muant0k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9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8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9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6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3148</Words>
  <Application>WPS 演示</Application>
  <PresentationFormat>宽屏</PresentationFormat>
  <Paragraphs>384</Paragraphs>
  <Slides>23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12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23</vt:i4>
      </vt:variant>
    </vt:vector>
  </HeadingPairs>
  <TitlesOfParts>
    <vt:vector size="59" baseType="lpstr">
      <vt:lpstr>Arial</vt:lpstr>
      <vt:lpstr>宋体</vt:lpstr>
      <vt:lpstr>Wingdings</vt:lpstr>
      <vt:lpstr>微软雅黑</vt:lpstr>
      <vt:lpstr>华光综艺_CNKI</vt:lpstr>
      <vt:lpstr>Arial</vt:lpstr>
      <vt:lpstr>Times New Roman</vt:lpstr>
      <vt:lpstr>Calibri</vt:lpstr>
      <vt:lpstr>Liberation Sans</vt:lpstr>
      <vt:lpstr>Segoe Print</vt:lpstr>
      <vt:lpstr>思源黑体 CN Bold</vt:lpstr>
      <vt:lpstr>Calibri</vt:lpstr>
      <vt:lpstr>思源黑体</vt:lpstr>
      <vt:lpstr>黑体</vt:lpstr>
      <vt:lpstr>Impact</vt:lpstr>
      <vt:lpstr>华文隶书</vt:lpstr>
      <vt:lpstr>Tw Cen MT</vt:lpstr>
      <vt:lpstr>华文仿宋</vt:lpstr>
      <vt:lpstr>等线</vt:lpstr>
      <vt:lpstr>楷体</vt:lpstr>
      <vt:lpstr>Arial Unicode MS</vt:lpstr>
      <vt:lpstr>Times New Roman</vt:lpstr>
      <vt:lpstr>Consolas</vt:lpstr>
      <vt:lpstr>Courier New</vt:lpstr>
      <vt:lpstr>Office 主题​​</vt:lpstr>
      <vt:lpstr>10_自定义设计方案</vt:lpstr>
      <vt:lpstr>17_自定义设计方案</vt:lpstr>
      <vt:lpstr>21_自定义设计方案</vt:lpstr>
      <vt:lpstr>11_自定义设计方案</vt:lpstr>
      <vt:lpstr>2_默认设计模板</vt:lpstr>
      <vt:lpstr>1_默认设计模板</vt:lpstr>
      <vt:lpstr>7_自定义设计方案</vt:lpstr>
      <vt:lpstr>18_自定义设计方案</vt:lpstr>
      <vt:lpstr>12_自定义设计方案</vt:lpstr>
      <vt:lpstr>19_自定义设计方案</vt:lpstr>
      <vt:lpstr>16_自定义设计方案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大数据分析-模版-吕欣.pptx</dc:title>
  <dc:creator>吕欣</dc:creator>
  <cp:lastModifiedBy>VE</cp:lastModifiedBy>
  <cp:revision>2893</cp:revision>
  <dcterms:created xsi:type="dcterms:W3CDTF">2022-05-23T09:13:00Z</dcterms:created>
  <dcterms:modified xsi:type="dcterms:W3CDTF">2025-04-17T13:22:28Z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03DF3E81453D43789918EC1D3CAC176D_12</vt:lpwstr>
  </property>
  <property fmtid="{D5CDD505-2E9C-101B-9397-08002B2CF9AE}" pid="3" name="KSOProductBuildVer">
    <vt:lpwstr>2052-12.1.0.20784</vt:lpwstr>
  </property>
</Properties>
</file>