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306" r:id="rId3"/>
    <p:sldId id="365" r:id="rId4"/>
    <p:sldId id="307" r:id="rId5"/>
    <p:sldId id="366" r:id="rId6"/>
    <p:sldId id="308" r:id="rId7"/>
    <p:sldId id="367" r:id="rId8"/>
    <p:sldId id="368" r:id="rId9"/>
    <p:sldId id="310" r:id="rId10"/>
    <p:sldId id="1550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48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3D35-23B4-1A7C-5C23-C8DB3DC6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6DEFC2-4BE2-0492-5EFF-52BE53A2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66F025-267B-BDC8-2FD3-E472F003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7633A-6BF1-42D1-7B79-379B2DA43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701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AEF8-3ED6-07E9-8427-6DD4FA22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C91C7C-4C17-622E-61B4-39AFC1F99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5BC9B8-F73C-247A-6E95-01CEDE39B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6926C-1741-6664-CFBF-F138DAA08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505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77B7-6C30-8288-2159-2769232E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80BEB-722E-2A25-9636-0E6AF2A65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9FCEBA-9682-CE87-3E67-B72C00C31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C29381-A42D-A707-ED6A-42278E4FF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18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CAA5-9EE1-F5E7-7742-D3B6134D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112022-95AE-C508-2BDC-7CAE2287D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FF1011-23DE-71B8-00D5-112EBF385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7A1C07-4B87-B69E-46D1-1D7C643A6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648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1.e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7.e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4.emf"/><Relationship Id="rId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4419-FBA4-834E-8F99-420B9A827AAF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5.2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>
                <a:ea typeface="华光综艺_CNKI" panose="02000500000000000000" pitchFamily="2" charset="-122"/>
              </a:rPr>
              <a:t>奇异值分解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奇异值分解基本概念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14106" y="1964424"/>
            <a:ext cx="9431278" cy="3166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lang="zh-CN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奇异值分解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Singular Value Decomposition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SVD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）是一种将</a:t>
            </a:r>
            <a:r>
              <a:rPr lang="zh-CN" altLang="zh-CN" sz="2800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高维矩阵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表示为三个</a:t>
            </a:r>
            <a:r>
              <a:rPr lang="zh-CN" altLang="zh-CN" sz="2800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低维矩阵</a:t>
            </a:r>
            <a:r>
              <a:rPr lang="zh-CN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乘积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矩阵分解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方法</a:t>
            </a:r>
            <a:r>
              <a:rPr lang="zh-CN" altLang="en-US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            </a:t>
            </a:r>
            <a:endParaRPr lang="en-US" altLang="zh-CN" sz="2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8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lang="en-US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SVD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通过用低维、少量的简单矩阵表示原始数据矩阵来实现数据降维。</a:t>
            </a:r>
            <a:endParaRPr lang="en-US" altLang="zh-CN" sz="2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endParaRPr lang="zh-CN" altLang="zh-CN" sz="24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C604-B38B-BBF5-BE90-60899F22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748B555-7346-ABEC-AF86-999A6189777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奇异值分解基本概念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8A57A6-EE40-D98B-9A20-9DB75DEF3490}"/>
              </a:ext>
            </a:extLst>
          </p:cNvPr>
          <p:cNvSpPr txBox="1"/>
          <p:nvPr/>
        </p:nvSpPr>
        <p:spPr>
          <a:xfrm>
            <a:off x="816263" y="2234312"/>
            <a:ext cx="7093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对于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数据量为</a:t>
            </a:r>
            <a:r>
              <a:rPr lang="en-US" altLang="zh-CN" sz="2000" i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，特征向量为</a:t>
            </a:r>
            <a:r>
              <a:rPr lang="en-US" altLang="zh-CN" sz="2000" i="1" kern="1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原始数据矩阵</a:t>
            </a:r>
            <a:r>
              <a:rPr lang="zh-CN" altLang="en-US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zh-CN" altLang="en-US" sz="2400" i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FE3620-5114-559D-AC9F-F8A52E6CF80A}"/>
              </a:ext>
            </a:extLst>
          </p:cNvPr>
          <p:cNvSpPr txBox="1"/>
          <p:nvPr/>
        </p:nvSpPr>
        <p:spPr>
          <a:xfrm>
            <a:off x="878486" y="3085080"/>
            <a:ext cx="486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算法希望将其分解为：</a:t>
            </a:r>
          </a:p>
        </p:txBody>
      </p:sp>
      <p:sp>
        <p:nvSpPr>
          <p:cNvPr id="15" name="箭头: 右弧形 14">
            <a:extLst>
              <a:ext uri="{FF2B5EF4-FFF2-40B4-BE49-F238E27FC236}">
                <a16:creationId xmlns:a16="http://schemas.microsoft.com/office/drawing/2014/main" id="{D067635E-726A-A70D-87D2-D3C9701D47AB}"/>
              </a:ext>
            </a:extLst>
          </p:cNvPr>
          <p:cNvSpPr/>
          <p:nvPr/>
        </p:nvSpPr>
        <p:spPr>
          <a:xfrm>
            <a:off x="9497983" y="2460285"/>
            <a:ext cx="673100" cy="102490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C6A6D1-F41B-8B4F-CBB8-B446088586C2}"/>
              </a:ext>
            </a:extLst>
          </p:cNvPr>
          <p:cNvSpPr txBox="1"/>
          <p:nvPr/>
        </p:nvSpPr>
        <p:spPr>
          <a:xfrm>
            <a:off x="878486" y="4154196"/>
            <a:ext cx="10227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其中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分别为左、右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奇异值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矩阵，且均为正交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为奇异值矩阵，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其主对角线上的值称为奇异值，其他位置元素都为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ACACFBB-139C-FA7A-ACBF-5037FCBC8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18971"/>
              </p:ext>
            </p:extLst>
          </p:nvPr>
        </p:nvGraphicFramePr>
        <p:xfrm>
          <a:off x="7146403" y="4233631"/>
          <a:ext cx="215900" cy="25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57600" imgH="4267200" progId="Equation.DSMT4">
                  <p:embed/>
                </p:oleObj>
              </mc:Choice>
              <mc:Fallback>
                <p:oleObj name="Equation" r:id="rId3" imgW="3657600" imgH="426720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6403" y="4233631"/>
                        <a:ext cx="215900" cy="251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6964DA4-5D67-9173-262C-130448455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540409"/>
              </p:ext>
            </p:extLst>
          </p:nvPr>
        </p:nvGraphicFramePr>
        <p:xfrm>
          <a:off x="5581938" y="3163889"/>
          <a:ext cx="37353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014400" imgH="5486400" progId="Equation.DSMT4">
                  <p:embed/>
                </p:oleObj>
              </mc:Choice>
              <mc:Fallback>
                <p:oleObj name="Equation" r:id="rId5" imgW="39014400" imgH="54864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1938" y="3163889"/>
                        <a:ext cx="3735388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9C88E9B-24D6-A5A3-DE59-98FB0DC53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45815"/>
              </p:ext>
            </p:extLst>
          </p:nvPr>
        </p:nvGraphicFramePr>
        <p:xfrm>
          <a:off x="7258440" y="2310370"/>
          <a:ext cx="832174" cy="46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9885" imgH="194310" progId="Equation.DSMT4">
                  <p:embed/>
                </p:oleObj>
              </mc:Choice>
              <mc:Fallback>
                <p:oleObj name="Equation" r:id="rId7" imgW="349885" imgH="19431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58440" y="2310370"/>
                        <a:ext cx="832174" cy="461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283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奇异值分解公式推导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55047" y="1512909"/>
            <a:ext cx="2636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算法分解后：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54" y="1247696"/>
            <a:ext cx="4121061" cy="830364"/>
          </a:xfrm>
          <a:prstGeom prst="rect">
            <a:avLst/>
          </a:prstGeom>
        </p:spPr>
      </p:pic>
      <p:sp>
        <p:nvSpPr>
          <p:cNvPr id="23" name="箭头: 燕尾形 22"/>
          <p:cNvSpPr/>
          <p:nvPr/>
        </p:nvSpPr>
        <p:spPr>
          <a:xfrm>
            <a:off x="942794" y="5104405"/>
            <a:ext cx="2648109" cy="1573485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求解左、右奇异矩阵</a:t>
            </a:r>
          </a:p>
        </p:txBody>
      </p:sp>
      <p:sp>
        <p:nvSpPr>
          <p:cNvPr id="28" name="箭头: 燕尾形 27"/>
          <p:cNvSpPr/>
          <p:nvPr/>
        </p:nvSpPr>
        <p:spPr>
          <a:xfrm>
            <a:off x="4478471" y="5104405"/>
            <a:ext cx="2636587" cy="1573485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求解奇异值矩阵</a:t>
            </a:r>
          </a:p>
        </p:txBody>
      </p:sp>
      <p:sp>
        <p:nvSpPr>
          <p:cNvPr id="29" name="箭头: 燕尾形 28"/>
          <p:cNvSpPr/>
          <p:nvPr/>
        </p:nvSpPr>
        <p:spPr>
          <a:xfrm>
            <a:off x="8002626" y="5104405"/>
            <a:ext cx="2406756" cy="1573485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求解分解结果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047" y="2491142"/>
            <a:ext cx="7014656" cy="209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13B6-3053-B706-B8A1-B7D5DA45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E483FBE-B1F8-C484-D844-68CCE5381EF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奇异值分解公式推导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AA50E05-5B17-3163-DC55-FB9673D6DC63}"/>
              </a:ext>
            </a:extLst>
          </p:cNvPr>
          <p:cNvSpPr/>
          <p:nvPr/>
        </p:nvSpPr>
        <p:spPr>
          <a:xfrm>
            <a:off x="1097710" y="2911328"/>
            <a:ext cx="2245010" cy="314960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燕尾形 22">
            <a:extLst>
              <a:ext uri="{FF2B5EF4-FFF2-40B4-BE49-F238E27FC236}">
                <a16:creationId xmlns:a16="http://schemas.microsoft.com/office/drawing/2014/main" id="{4F5827C3-A5BB-D1DE-C838-E31640BA0B0B}"/>
              </a:ext>
            </a:extLst>
          </p:cNvPr>
          <p:cNvSpPr/>
          <p:nvPr/>
        </p:nvSpPr>
        <p:spPr>
          <a:xfrm>
            <a:off x="757378" y="1551767"/>
            <a:ext cx="3154531" cy="1762638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求解左、右奇异矩阵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639123C-2F07-D8D6-8744-D9D5AEBD953F}"/>
              </a:ext>
            </a:extLst>
          </p:cNvPr>
          <p:cNvSpPr/>
          <p:nvPr/>
        </p:nvSpPr>
        <p:spPr>
          <a:xfrm>
            <a:off x="4584436" y="2911328"/>
            <a:ext cx="2245010" cy="314960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BBCA4AB-6741-B182-BFB8-BF7FAF310CDE}"/>
              </a:ext>
            </a:extLst>
          </p:cNvPr>
          <p:cNvSpPr/>
          <p:nvPr/>
        </p:nvSpPr>
        <p:spPr>
          <a:xfrm>
            <a:off x="7853654" y="2911328"/>
            <a:ext cx="3438216" cy="314960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燕尾形 27">
            <a:extLst>
              <a:ext uri="{FF2B5EF4-FFF2-40B4-BE49-F238E27FC236}">
                <a16:creationId xmlns:a16="http://schemas.microsoft.com/office/drawing/2014/main" id="{B8F8A8A3-16D7-933C-2223-370146AA6F77}"/>
              </a:ext>
            </a:extLst>
          </p:cNvPr>
          <p:cNvSpPr/>
          <p:nvPr/>
        </p:nvSpPr>
        <p:spPr>
          <a:xfrm>
            <a:off x="4470135" y="1551709"/>
            <a:ext cx="2636587" cy="1762638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求解奇异值矩阵</a:t>
            </a:r>
          </a:p>
        </p:txBody>
      </p:sp>
      <p:sp>
        <p:nvSpPr>
          <p:cNvPr id="29" name="箭头: 燕尾形 28">
            <a:extLst>
              <a:ext uri="{FF2B5EF4-FFF2-40B4-BE49-F238E27FC236}">
                <a16:creationId xmlns:a16="http://schemas.microsoft.com/office/drawing/2014/main" id="{6371E183-FA26-8192-E27E-B6E2F5805CB4}"/>
              </a:ext>
            </a:extLst>
          </p:cNvPr>
          <p:cNvSpPr/>
          <p:nvPr/>
        </p:nvSpPr>
        <p:spPr>
          <a:xfrm>
            <a:off x="7954181" y="1551709"/>
            <a:ext cx="3251458" cy="1762638"/>
          </a:xfrm>
          <a:prstGeom prst="notch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求解分解结果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B47797F-4CB5-6033-0E6E-23E8A6E1F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730663"/>
              </p:ext>
            </p:extLst>
          </p:nvPr>
        </p:nvGraphicFramePr>
        <p:xfrm>
          <a:off x="1337571" y="3314347"/>
          <a:ext cx="1527669" cy="40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41300" progId="Equation.DSMT4">
                  <p:embed/>
                </p:oleObj>
              </mc:Choice>
              <mc:Fallback>
                <p:oleObj name="Equation" r:id="rId3" imgW="914400" imgH="2413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571" y="3314347"/>
                        <a:ext cx="1527669" cy="403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7A0136-7033-D112-F73E-2BB7418A1E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064354"/>
              </p:ext>
            </p:extLst>
          </p:nvPr>
        </p:nvGraphicFramePr>
        <p:xfrm>
          <a:off x="1334595" y="4377820"/>
          <a:ext cx="1612540" cy="40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3770" imgH="239395" progId="Equation.DSMT4">
                  <p:embed/>
                </p:oleObj>
              </mc:Choice>
              <mc:Fallback>
                <p:oleObj name="Equation" r:id="rId5" imgW="953770" imgH="239395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4595" y="4377820"/>
                        <a:ext cx="1612540" cy="403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下 9">
            <a:extLst>
              <a:ext uri="{FF2B5EF4-FFF2-40B4-BE49-F238E27FC236}">
                <a16:creationId xmlns:a16="http://schemas.microsoft.com/office/drawing/2014/main" id="{1CEA60DD-BCC8-4F02-347B-2F15148BF0D4}"/>
              </a:ext>
            </a:extLst>
          </p:cNvPr>
          <p:cNvSpPr/>
          <p:nvPr/>
        </p:nvSpPr>
        <p:spPr>
          <a:xfrm>
            <a:off x="2101405" y="3717482"/>
            <a:ext cx="127874" cy="2572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C09E941-6F5D-4751-5753-71A6AE9BC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649408"/>
              </p:ext>
            </p:extLst>
          </p:nvPr>
        </p:nvGraphicFramePr>
        <p:xfrm>
          <a:off x="1362565" y="3954197"/>
          <a:ext cx="1556601" cy="332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5695" imgH="239395" progId="Equation.DSMT4">
                  <p:embed/>
                </p:oleObj>
              </mc:Choice>
              <mc:Fallback>
                <p:oleObj name="Equation" r:id="rId7" imgW="1115695" imgH="239395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2565" y="3954197"/>
                        <a:ext cx="1556601" cy="332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下 11">
            <a:extLst>
              <a:ext uri="{FF2B5EF4-FFF2-40B4-BE49-F238E27FC236}">
                <a16:creationId xmlns:a16="http://schemas.microsoft.com/office/drawing/2014/main" id="{F484C826-DB3E-3139-8B44-E3461729CF92}"/>
              </a:ext>
            </a:extLst>
          </p:cNvPr>
          <p:cNvSpPr/>
          <p:nvPr/>
        </p:nvSpPr>
        <p:spPr>
          <a:xfrm>
            <a:off x="2101405" y="4812320"/>
            <a:ext cx="127874" cy="2572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8B41971-A474-F7EE-0ECD-BBFF4ECA8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128851"/>
              </p:ext>
            </p:extLst>
          </p:nvPr>
        </p:nvGraphicFramePr>
        <p:xfrm>
          <a:off x="1362565" y="5162328"/>
          <a:ext cx="1590441" cy="31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73480" imgH="229870" progId="Equation.DSMT4">
                  <p:embed/>
                </p:oleObj>
              </mc:Choice>
              <mc:Fallback>
                <p:oleObj name="Equation" r:id="rId9" imgW="1173480" imgH="22987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62565" y="5162328"/>
                        <a:ext cx="1590441" cy="310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9248613-F479-A398-A9EE-3DB148E48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063210"/>
              </p:ext>
            </p:extLst>
          </p:nvPr>
        </p:nvGraphicFramePr>
        <p:xfrm>
          <a:off x="4759369" y="3274395"/>
          <a:ext cx="1964905" cy="678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699200" imgH="10972800" progId="Equation.DSMT4">
                  <p:embed/>
                </p:oleObj>
              </mc:Choice>
              <mc:Fallback>
                <p:oleObj name="Equation" r:id="rId11" imgW="31699200" imgH="1097280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59369" y="3274395"/>
                        <a:ext cx="1964905" cy="678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4E2DACE-67D2-BAAC-93D4-F2375CEE7C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796503"/>
              </p:ext>
            </p:extLst>
          </p:nvPr>
        </p:nvGraphicFramePr>
        <p:xfrm>
          <a:off x="4688655" y="4065512"/>
          <a:ext cx="471170" cy="261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229600" imgH="4572000" progId="Equation.DSMT4">
                  <p:embed/>
                </p:oleObj>
              </mc:Choice>
              <mc:Fallback>
                <p:oleObj name="Equation" r:id="rId13" imgW="8229600" imgH="45720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88655" y="4065512"/>
                        <a:ext cx="471170" cy="261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F4E4290A-5362-04E9-7992-4D2D17C7B11A}"/>
              </a:ext>
            </a:extLst>
          </p:cNvPr>
          <p:cNvSpPr txBox="1"/>
          <p:nvPr/>
        </p:nvSpPr>
        <p:spPr>
          <a:xfrm>
            <a:off x="5038643" y="4046710"/>
            <a:ext cx="1595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的特征值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A634C45-A28C-A6FB-2DAC-908B6D880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514507"/>
              </p:ext>
            </p:extLst>
          </p:nvPr>
        </p:nvGraphicFramePr>
        <p:xfrm>
          <a:off x="5963452" y="4050118"/>
          <a:ext cx="760822" cy="36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192000" imgH="5791200" progId="Equation.DSMT4">
                  <p:embed/>
                </p:oleObj>
              </mc:Choice>
              <mc:Fallback>
                <p:oleObj name="Equation" r:id="rId15" imgW="12192000" imgH="57912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63452" y="4050118"/>
                        <a:ext cx="760822" cy="361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71D11F8-6046-8EB9-AD49-18B4EB0DF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598190"/>
              </p:ext>
            </p:extLst>
          </p:nvPr>
        </p:nvGraphicFramePr>
        <p:xfrm>
          <a:off x="5159825" y="4799927"/>
          <a:ext cx="1134329" cy="61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48995" imgH="458470" progId="Equation.DSMT4">
                  <p:embed/>
                </p:oleObj>
              </mc:Choice>
              <mc:Fallback>
                <p:oleObj name="Equation" r:id="rId17" imgW="848995" imgH="458470" progId="Equation.DSMT4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59825" y="4799927"/>
                        <a:ext cx="1134329" cy="61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6D7E4B9-FCD6-7A4D-D134-4E06C357E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635723"/>
              </p:ext>
            </p:extLst>
          </p:nvPr>
        </p:nvGraphicFramePr>
        <p:xfrm>
          <a:off x="4736380" y="5385778"/>
          <a:ext cx="19764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6271200" imgH="6705600" progId="Equation.DSMT4">
                  <p:embed/>
                </p:oleObj>
              </mc:Choice>
              <mc:Fallback>
                <p:oleObj name="Equation" r:id="rId19" imgW="36271200" imgH="670560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36380" y="5385778"/>
                        <a:ext cx="1976437" cy="363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箭头: 下 31">
            <a:extLst>
              <a:ext uri="{FF2B5EF4-FFF2-40B4-BE49-F238E27FC236}">
                <a16:creationId xmlns:a16="http://schemas.microsoft.com/office/drawing/2014/main" id="{5114FF69-CDA6-F44E-318D-1EA400F177E4}"/>
              </a:ext>
            </a:extLst>
          </p:cNvPr>
          <p:cNvSpPr/>
          <p:nvPr/>
        </p:nvSpPr>
        <p:spPr>
          <a:xfrm>
            <a:off x="5724491" y="4433621"/>
            <a:ext cx="127874" cy="2572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C14B572-134A-485D-836D-197D92C71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98386"/>
              </p:ext>
            </p:extLst>
          </p:nvPr>
        </p:nvGraphicFramePr>
        <p:xfrm>
          <a:off x="8014301" y="3274395"/>
          <a:ext cx="3116922" cy="195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3398400" imgH="35966400" progId="Equation.DSMT4">
                  <p:embed/>
                </p:oleObj>
              </mc:Choice>
              <mc:Fallback>
                <p:oleObj name="Equation" r:id="rId21" imgW="63398400" imgH="3596640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014301" y="3274395"/>
                        <a:ext cx="3116922" cy="1950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244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奇异值分解公式推导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9923" y="1174139"/>
            <a:ext cx="10932621" cy="2047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截断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奇异值分解（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Truncated SVD</a:t>
            </a:r>
            <a:r>
              <a:rPr lang="zh-CN" altLang="zh-CN" sz="32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用前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d&lt;&lt;p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个最大的奇异值和对应的左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右奇异向量矩阵对原始数据矩阵进行</a:t>
            </a:r>
            <a:r>
              <a:rPr lang="zh-CN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近似描述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1B8E615-0FFD-328E-FC3D-9F524FD7F280}"/>
              </a:ext>
            </a:extLst>
          </p:cNvPr>
          <p:cNvGrpSpPr/>
          <p:nvPr/>
        </p:nvGrpSpPr>
        <p:grpSpPr>
          <a:xfrm>
            <a:off x="2002290" y="3307887"/>
            <a:ext cx="8420008" cy="3194513"/>
            <a:chOff x="2002290" y="3307887"/>
            <a:chExt cx="7329434" cy="278075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2290" y="3307887"/>
              <a:ext cx="7329434" cy="27807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乘号 4">
              <a:extLst>
                <a:ext uri="{FF2B5EF4-FFF2-40B4-BE49-F238E27FC236}">
                  <a16:creationId xmlns:a16="http://schemas.microsoft.com/office/drawing/2014/main" id="{5C4316E8-48CC-CC29-37C5-D127E3C8F73D}"/>
                </a:ext>
              </a:extLst>
            </p:cNvPr>
            <p:cNvSpPr/>
            <p:nvPr/>
          </p:nvSpPr>
          <p:spPr>
            <a:xfrm>
              <a:off x="4008826" y="4414517"/>
              <a:ext cx="454172" cy="408217"/>
            </a:xfrm>
            <a:prstGeom prst="mathMultiply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3D200F9-DAAE-09A0-7BB6-8299AD2D83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48926"/>
                </p:ext>
              </p:extLst>
            </p:nvPr>
          </p:nvGraphicFramePr>
          <p:xfrm>
            <a:off x="3993792" y="4091115"/>
            <a:ext cx="455076" cy="4550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26720" progId="Equation.DSMT4">
                    <p:embed/>
                  </p:oleObj>
                </mc:Choice>
                <mc:Fallback>
                  <p:oleObj name="Equation" r:id="rId4" imgW="1267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93792" y="4091115"/>
                          <a:ext cx="455076" cy="4550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4C4D-CFC5-AFAA-4928-4D6A0815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224EAAD-43DC-4C57-13F9-0F90D003B3B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奇异值分解公式推导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A54735-3614-F84D-4FE5-EE0ADAFF45EE}"/>
              </a:ext>
            </a:extLst>
          </p:cNvPr>
          <p:cNvSpPr txBox="1"/>
          <p:nvPr/>
        </p:nvSpPr>
        <p:spPr>
          <a:xfrm>
            <a:off x="883570" y="1370516"/>
            <a:ext cx="3521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截断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算法分解后：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A6CEFB6-DECF-CA14-9326-9CAF19CE2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088707"/>
              </p:ext>
            </p:extLst>
          </p:nvPr>
        </p:nvGraphicFramePr>
        <p:xfrm>
          <a:off x="1033113" y="3125930"/>
          <a:ext cx="4351337" cy="129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014400" imgH="11582400" progId="Equation.DSMT4">
                  <p:embed/>
                </p:oleObj>
              </mc:Choice>
              <mc:Fallback>
                <p:oleObj name="Equation" r:id="rId3" imgW="39014400" imgH="1158240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113" y="3125930"/>
                        <a:ext cx="4351337" cy="129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D5D0066A-79DB-2E0D-C9ED-DFA6A5F44193}"/>
              </a:ext>
            </a:extLst>
          </p:cNvPr>
          <p:cNvSpPr/>
          <p:nvPr/>
        </p:nvSpPr>
        <p:spPr>
          <a:xfrm>
            <a:off x="883570" y="2751684"/>
            <a:ext cx="4500879" cy="200406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E3103-CAB2-C482-78C9-63AA20CD7CD5}"/>
              </a:ext>
            </a:extLst>
          </p:cNvPr>
          <p:cNvSpPr txBox="1"/>
          <p:nvPr/>
        </p:nvSpPr>
        <p:spPr>
          <a:xfrm>
            <a:off x="777874" y="5487484"/>
            <a:ext cx="10744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利用截断后的部分奇异值和对应的左右奇异矩阵，重构近似的数据矩阵，实现对原始数据的压缩和降维</a:t>
            </a:r>
            <a:r>
              <a:rPr lang="zh-CN" altLang="en-US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12F6908-0000-958D-E058-1CB1EDB11EC3}"/>
              </a:ext>
            </a:extLst>
          </p:cNvPr>
          <p:cNvGrpSpPr/>
          <p:nvPr/>
        </p:nvGrpSpPr>
        <p:grpSpPr>
          <a:xfrm>
            <a:off x="5916349" y="2751684"/>
            <a:ext cx="4959561" cy="1871183"/>
            <a:chOff x="2002290" y="3307887"/>
            <a:chExt cx="7329434" cy="2780754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ED872FE-55EA-67A1-639E-73F8651ED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2290" y="3307887"/>
              <a:ext cx="7329434" cy="27807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乘号 18">
              <a:extLst>
                <a:ext uri="{FF2B5EF4-FFF2-40B4-BE49-F238E27FC236}">
                  <a16:creationId xmlns:a16="http://schemas.microsoft.com/office/drawing/2014/main" id="{6B120815-0FAD-B899-3BAD-B354EBE4BED5}"/>
                </a:ext>
              </a:extLst>
            </p:cNvPr>
            <p:cNvSpPr/>
            <p:nvPr/>
          </p:nvSpPr>
          <p:spPr>
            <a:xfrm>
              <a:off x="4008826" y="4414517"/>
              <a:ext cx="454172" cy="408217"/>
            </a:xfrm>
            <a:prstGeom prst="mathMultiply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4C4F0A3D-F8AF-AB00-6CDE-02BE15DE34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3468058"/>
                </p:ext>
              </p:extLst>
            </p:nvPr>
          </p:nvGraphicFramePr>
          <p:xfrm>
            <a:off x="3993792" y="4091115"/>
            <a:ext cx="455076" cy="4550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26720" progId="Equation.DSMT4">
                    <p:embed/>
                  </p:oleObj>
                </mc:Choice>
                <mc:Fallback>
                  <p:oleObj name="Equation" r:id="rId6" imgW="126720" imgH="126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3D200F9-DAAE-09A0-7BB6-8299AD2D83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93792" y="4091115"/>
                          <a:ext cx="455076" cy="4550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9875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74C4-344F-770F-6257-BD20E064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AEDFE12-2F0D-70E9-B628-847414EF125A}"/>
              </a:ext>
            </a:extLst>
          </p:cNvPr>
          <p:cNvSpPr/>
          <p:nvPr/>
        </p:nvSpPr>
        <p:spPr>
          <a:xfrm>
            <a:off x="995423" y="248198"/>
            <a:ext cx="10017888" cy="1077206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实践案例：基于奇异值分解的图像压缩</a:t>
            </a:r>
          </a:p>
          <a:p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0518C5-9940-6A16-602A-D63A4E7504A0}"/>
              </a:ext>
            </a:extLst>
          </p:cNvPr>
          <p:cNvSpPr txBox="1"/>
          <p:nvPr/>
        </p:nvSpPr>
        <p:spPr>
          <a:xfrm>
            <a:off x="27895" y="1266670"/>
            <a:ext cx="109854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SVD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算法可以通过使用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NumPy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库中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linalg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模块的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svd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函数实现。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CB806C8-5A19-59F1-B14D-30F2021F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58" y="1970589"/>
            <a:ext cx="7681576" cy="37131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EDCB291-FDCE-0E60-C23F-3DA7C7299DEE}"/>
              </a:ext>
            </a:extLst>
          </p:cNvPr>
          <p:cNvSpPr txBox="1"/>
          <p:nvPr/>
        </p:nvSpPr>
        <p:spPr>
          <a:xfrm>
            <a:off x="389101" y="2676248"/>
            <a:ext cx="11442681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”代表输入一个数据矩阵；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</a:rPr>
              <a:t>full_matrices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”表示是否返回完整的奇异矩阵，取值为‘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’时，返回的左奇异矩阵为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阶方阵，右奇异矩阵为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阶方阵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1689" y="3971882"/>
            <a:ext cx="11516572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3.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模型训练。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对一张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RGB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图像进行奇异值分解（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），构建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restore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函数接受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SVD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分解后得到的奇异值矩阵与左、右奇异矩阵，保留不同数量的奇异值对图像重构，并展示重建图像随奇异值数量变化的效果。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BA2C37-11BE-6F8A-9C55-62BC1B79E9CD}"/>
              </a:ext>
            </a:extLst>
          </p:cNvPr>
          <p:cNvSpPr txBox="1"/>
          <p:nvPr/>
        </p:nvSpPr>
        <p:spPr>
          <a:xfrm>
            <a:off x="389101" y="5422544"/>
            <a:ext cx="11267190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选取不同的奇异值数量，将压缩后的图像与原始图像进行对比分析</a:t>
            </a:r>
            <a:r>
              <a:rPr lang="en-US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通过观察发现，保留前</a:t>
            </a:r>
            <a:r>
              <a:rPr lang="en-US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50</a:t>
            </a:r>
            <a:r>
              <a:rPr lang="zh-CN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个奇异值的图像压缩情况较好，能够还原原始图像的大部分特征。</a:t>
            </a:r>
            <a:endParaRPr lang="zh-CN" altLang="en-US" sz="2000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40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实践案例：基于奇异值分解的图像压缩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60" y="877946"/>
            <a:ext cx="4172020" cy="46612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367" y="5539193"/>
            <a:ext cx="4172020" cy="12564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94" y="2307915"/>
            <a:ext cx="5059297" cy="28935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432</Words>
  <Application>Microsoft Office PowerPoint</Application>
  <PresentationFormat>宽屏</PresentationFormat>
  <Paragraphs>41</Paragraphs>
  <Slides>10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华光综艺_CNKI</vt:lpstr>
      <vt:lpstr>微软雅黑</vt:lpstr>
      <vt:lpstr>Arial</vt:lpstr>
      <vt:lpstr>Calibri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wy h</dc:creator>
  <cp:lastModifiedBy>Mengning Wang</cp:lastModifiedBy>
  <cp:revision>187</cp:revision>
  <dcterms:created xsi:type="dcterms:W3CDTF">2019-06-19T02:08:00Z</dcterms:created>
  <dcterms:modified xsi:type="dcterms:W3CDTF">2025-04-18T15:00:31Z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