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8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3"/>
  </p:notesMasterIdLst>
  <p:handoutMasterIdLst>
    <p:handoutMasterId r:id="rId24"/>
  </p:handoutMasterIdLst>
  <p:sldIdLst>
    <p:sldId id="15637" r:id="rId13"/>
    <p:sldId id="15675" r:id="rId14"/>
    <p:sldId id="15727" r:id="rId15"/>
    <p:sldId id="15759" r:id="rId16"/>
    <p:sldId id="15760" r:id="rId17"/>
    <p:sldId id="15761" r:id="rId18"/>
    <p:sldId id="15762" r:id="rId19"/>
    <p:sldId id="15729" r:id="rId20"/>
    <p:sldId id="15730" r:id="rId21"/>
    <p:sldId id="15502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637"/>
            <p14:sldId id="15675"/>
            <p14:sldId id="15727"/>
            <p14:sldId id="15759"/>
            <p14:sldId id="15760"/>
            <p14:sldId id="15761"/>
            <p14:sldId id="15762"/>
            <p14:sldId id="15729"/>
            <p14:sldId id="15730"/>
            <p14:sldId id="15502"/>
          </p14:sldIdLst>
        </p14:section>
        <p14:section name="第三节" id="{D73DEBA0-8DA1-425E-BF8D-3499E83F0652}">
          <p14:sldIdLst/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5AD"/>
    <a:srgbClr val="000080"/>
    <a:srgbClr val="FBE4D5"/>
    <a:srgbClr val="008ED7"/>
    <a:srgbClr val="D13400"/>
    <a:srgbClr val="0444AE"/>
    <a:srgbClr val="0347AF"/>
    <a:srgbClr val="0146AE"/>
    <a:srgbClr val="FF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63" autoAdjust="0"/>
    <p:restoredTop sz="86966" autoAdjust="0"/>
  </p:normalViewPr>
  <p:slideViewPr>
    <p:cSldViewPr snapToGrid="0">
      <p:cViewPr varScale="1">
        <p:scale>
          <a:sx n="93" d="100"/>
          <a:sy n="93" d="100"/>
        </p:scale>
        <p:origin x="184" y="80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056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E4DE-AD5F-9BDE-72DC-53159A4C9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16826E-83C2-2498-F013-6E05A54D9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4F5EE5-F8D1-DB7F-32D1-E41818CBF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03BE5C-4639-9A43-3472-E89170564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9850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74BB-F8EE-1B31-E883-5D0E2C2C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12C3AB-9F56-3A70-5D36-1D930FD0F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2D25E3-BC14-7E39-BB26-DCB6953BC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A12D9A-FF7D-7A78-77E0-035991621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165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3C7F-6F0D-3B15-848A-DB697B96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9E8646-EB0B-9B8E-6B13-4DF507E17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90AA72-3A8A-9387-B3DB-8F2E6D483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C7AB11-9D1E-441F-8168-B8B0E4F79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5860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3A850-AD67-E02D-7D23-D4715B03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484D22-1A00-3E28-AE00-A65168A50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F5F8B8-755A-C8B1-5BD8-A403ACB93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95C070-4094-694E-BE31-666B6E140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466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BC87A-C2DD-66C3-EBD1-110AE83A3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EBAF1F-3876-C07A-A57D-E34B829E2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DC5EA9-129B-598F-2A89-2D4C50792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38FB28-9027-837B-9502-1B1F15A84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390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57464-60CB-DF4F-FDEC-68FC827B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039321-CF81-0A4A-268A-542E7B56A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78A329-B228-A4CC-95C7-E9E32A542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096F5D-541E-6483-E3F5-F2BC30CD3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795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CD015-602E-6230-2B24-53ABADE6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D41365-49A1-5DC2-3F42-27FECF786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AB830D-2C03-1093-2CD6-D767EA817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FB00E-B100-0BC4-BF77-BBEC7D47A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22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B97DC-1EF3-6D01-64D8-4ABFB4B5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CF5B7A-5D6D-06D5-5548-220B8205C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E6D8CD-B81D-4414-CFB8-4E14FB3E4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7F7421-31EF-735F-FE17-25FCCB219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545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2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28.emf"/><Relationship Id="rId4" Type="http://schemas.openxmlformats.org/officeDocument/2006/relationships/image" Target="../media/image25.e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3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5.w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1930-C4A1-9313-191E-327AB6D116CC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6.4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Eclat</a:t>
            </a:r>
            <a:r>
              <a:rPr lang="zh-CN" altLang="en-US" b="0" dirty="0">
                <a:ea typeface="华光综艺_CNKI" panose="02000500000000000000" pitchFamily="2" charset="-122"/>
              </a:rPr>
              <a:t>算法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8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B270-BBAB-0B04-3DB3-0FD251CB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BCC4C77-FD50-808B-3830-64A23A0FC77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184F5825-C0D6-4B11-97FF-C13F96F0D19D}"/>
              </a:ext>
            </a:extLst>
          </p:cNvPr>
          <p:cNvSpPr/>
          <p:nvPr/>
        </p:nvSpPr>
        <p:spPr>
          <a:xfrm>
            <a:off x="173029" y="1293785"/>
            <a:ext cx="25897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垂直数据格式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32013C-B5D7-3DDE-FA81-C12BCB80F7A1}"/>
              </a:ext>
            </a:extLst>
          </p:cNvPr>
          <p:cNvSpPr txBox="1"/>
          <p:nvPr/>
        </p:nvSpPr>
        <p:spPr>
          <a:xfrm>
            <a:off x="405398" y="2098383"/>
            <a:ext cx="5278377" cy="3473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lang="en-US" altLang="zh-CN" sz="2400" b="1" i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TID</a:t>
            </a:r>
            <a:r>
              <a:rPr lang="en-US" altLang="zh-CN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set  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在事务数据库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TDB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中，包含项 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的所有事务的标识符的集合称为项 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set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垂直数据格式  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垂直数据格式即形如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{item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set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的数据格式。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item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为项的名称。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垂直数据格式下数据库中的每一条记录由一个作为索引的项及其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set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构成。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AA40EE5-6302-CE8B-67AA-9809D4B9F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246741"/>
              </p:ext>
            </p:extLst>
          </p:nvPr>
        </p:nvGraphicFramePr>
        <p:xfrm>
          <a:off x="9195325" y="3057740"/>
          <a:ext cx="2660650" cy="1723202"/>
        </p:xfrm>
        <a:graphic>
          <a:graphicData uri="http://schemas.openxmlformats.org/drawingml/2006/table">
            <a:tbl>
              <a:tblPr firstRow="1" firstCol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1122697805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1372103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360"/>
                        </a:spcBef>
                      </a:pPr>
                      <a:r>
                        <a:rPr lang="zh-CN" alt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360"/>
                        </a:spcBef>
                      </a:pPr>
                      <a:r>
                        <a:rPr lang="en-US" sz="2000" b="1" i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r>
                        <a:rPr lang="zh-CN" alt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669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{1, 3, 4, 7}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7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{1, 2, 5, 7}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4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{1, 3, 4, 5, 6, 7}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653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{3, 7, 8}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80264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D4D7667-E8DA-3BE2-6815-7236BF1F5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381743"/>
              </p:ext>
            </p:extLst>
          </p:nvPr>
        </p:nvGraphicFramePr>
        <p:xfrm>
          <a:off x="5953119" y="2464456"/>
          <a:ext cx="1956648" cy="3107250"/>
        </p:xfrm>
        <a:graphic>
          <a:graphicData uri="http://schemas.openxmlformats.org/drawingml/2006/table">
            <a:tbl>
              <a:tblPr firstRow="1" firstCol="1" bandRow="1"/>
              <a:tblGrid>
                <a:gridCol w="608063">
                  <a:extLst>
                    <a:ext uri="{9D8B030D-6E8A-4147-A177-3AD203B41FA5}">
                      <a16:colId xmlns:a16="http://schemas.microsoft.com/office/drawing/2014/main" val="3390425978"/>
                    </a:ext>
                  </a:extLst>
                </a:gridCol>
                <a:gridCol w="1348585">
                  <a:extLst>
                    <a:ext uri="{9D8B030D-6E8A-4147-A177-3AD203B41FA5}">
                      <a16:colId xmlns:a16="http://schemas.microsoft.com/office/drawing/2014/main" val="2434860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1" i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事务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02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5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6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52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224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83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14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7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79241"/>
                  </a:ext>
                </a:extLst>
              </a:tr>
            </a:tbl>
          </a:graphicData>
        </a:graphic>
      </p:graphicFrame>
      <p:sp>
        <p:nvSpPr>
          <p:cNvPr id="12" name="箭头: 右 11">
            <a:extLst>
              <a:ext uri="{FF2B5EF4-FFF2-40B4-BE49-F238E27FC236}">
                <a16:creationId xmlns:a16="http://schemas.microsoft.com/office/drawing/2014/main" id="{FFE2C52B-8436-0B58-1548-4CE987AB820B}"/>
              </a:ext>
            </a:extLst>
          </p:cNvPr>
          <p:cNvSpPr/>
          <p:nvPr/>
        </p:nvSpPr>
        <p:spPr>
          <a:xfrm>
            <a:off x="8041371" y="3919341"/>
            <a:ext cx="1022350" cy="20519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DF3555-E7E2-4C15-3AC9-E5D4EDAC8705}"/>
              </a:ext>
            </a:extLst>
          </p:cNvPr>
          <p:cNvSpPr txBox="1"/>
          <p:nvPr/>
        </p:nvSpPr>
        <p:spPr>
          <a:xfrm>
            <a:off x="8095180" y="3323449"/>
            <a:ext cx="914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垂直数据格式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936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FD971-F6FE-E257-4E91-18371654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5390613-75F4-CBE8-298B-212D9574BACE}"/>
              </a:ext>
            </a:extLst>
          </p:cNvPr>
          <p:cNvSpPr/>
          <p:nvPr/>
        </p:nvSpPr>
        <p:spPr>
          <a:xfrm>
            <a:off x="6021668" y="4141916"/>
            <a:ext cx="1103271" cy="1244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F0E173-B6F3-9D33-3DC9-06A8BE86E96C}"/>
              </a:ext>
            </a:extLst>
          </p:cNvPr>
          <p:cNvSpPr/>
          <p:nvPr/>
        </p:nvSpPr>
        <p:spPr>
          <a:xfrm>
            <a:off x="7266745" y="4127366"/>
            <a:ext cx="1103271" cy="12446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19EEBB-28B5-412D-5039-2937A89D04D7}"/>
              </a:ext>
            </a:extLst>
          </p:cNvPr>
          <p:cNvSpPr/>
          <p:nvPr/>
        </p:nvSpPr>
        <p:spPr>
          <a:xfrm>
            <a:off x="3180570" y="4166652"/>
            <a:ext cx="1817596" cy="1213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DEDDAE0-C828-1037-CF0E-7270D33A2605}"/>
              </a:ext>
            </a:extLst>
          </p:cNvPr>
          <p:cNvSpPr/>
          <p:nvPr/>
        </p:nvSpPr>
        <p:spPr>
          <a:xfrm>
            <a:off x="2136362" y="4166652"/>
            <a:ext cx="867904" cy="1213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76A27B-EE4D-EC01-28C6-4A306727E54F}"/>
              </a:ext>
            </a:extLst>
          </p:cNvPr>
          <p:cNvSpPr txBox="1"/>
          <p:nvPr/>
        </p:nvSpPr>
        <p:spPr>
          <a:xfrm>
            <a:off x="1150593" y="1621262"/>
            <a:ext cx="9226882" cy="189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Eclat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算法利用先验性质，由    连接生成      。每个候选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项集由两个频繁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项集合并生成，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Eclat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算法对这两个频繁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项集的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求交集，生成该候选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项集对应的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TID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set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的长度即为对应项集的支持度计数，可直接判断候选项集是否为频繁项集。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E537A58-3380-D9E9-8CCE-876BEDE11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799572"/>
              </p:ext>
            </p:extLst>
          </p:nvPr>
        </p:nvGraphicFramePr>
        <p:xfrm>
          <a:off x="4918790" y="1728773"/>
          <a:ext cx="295275" cy="410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338" imgH="237935" progId="Equation.DSMT4">
                  <p:embed/>
                </p:oleObj>
              </mc:Choice>
              <mc:Fallback>
                <p:oleObj name="Equation" r:id="rId3" imgW="171338" imgH="23793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8790" y="1728773"/>
                        <a:ext cx="295275" cy="410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68CBD07-CE2F-3F05-A53C-E82BBC92E5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105581"/>
              </p:ext>
            </p:extLst>
          </p:nvPr>
        </p:nvGraphicFramePr>
        <p:xfrm>
          <a:off x="6422154" y="1722423"/>
          <a:ext cx="487362" cy="42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6085" imgH="237935" progId="Equation.DSMT4">
                  <p:embed/>
                </p:oleObj>
              </mc:Choice>
              <mc:Fallback>
                <p:oleObj name="Equation" r:id="rId5" imgW="276085" imgH="23793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22154" y="1722423"/>
                        <a:ext cx="487362" cy="420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B277D0D-17CA-EFE0-F4A1-1AE0B56FF1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856609"/>
              </p:ext>
            </p:extLst>
          </p:nvPr>
        </p:nvGraphicFramePr>
        <p:xfrm>
          <a:off x="2136362" y="4251397"/>
          <a:ext cx="2641071" cy="443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38108" imgH="190420" progId="Equation.DSMT4">
                  <p:embed/>
                </p:oleObj>
              </mc:Choice>
              <mc:Fallback>
                <p:oleObj name="Equation" r:id="rId7" imgW="1038108" imgH="1904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6362" y="4251397"/>
                        <a:ext cx="2641071" cy="4432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AF5D404-CCE4-D94C-1074-6C021C4F9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819514"/>
              </p:ext>
            </p:extLst>
          </p:nvPr>
        </p:nvGraphicFramePr>
        <p:xfrm>
          <a:off x="2206212" y="4875647"/>
          <a:ext cx="2863165" cy="443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90369" imgH="190420" progId="Equation.DSMT4">
                  <p:embed/>
                </p:oleObj>
              </mc:Choice>
              <mc:Fallback>
                <p:oleObj name="Equation" r:id="rId9" imgW="1190369" imgH="1904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06212" y="4875647"/>
                        <a:ext cx="2863165" cy="4432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997A47F-1268-EF0A-7470-883D1EE0B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133726"/>
              </p:ext>
            </p:extLst>
          </p:nvPr>
        </p:nvGraphicFramePr>
        <p:xfrm>
          <a:off x="6003722" y="4473036"/>
          <a:ext cx="1301102" cy="44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58720" imgH="190440" progId="Equation.DSMT4">
                  <p:embed/>
                </p:oleObj>
              </mc:Choice>
              <mc:Fallback>
                <p:oleObj name="Equation" r:id="rId11" imgW="5587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03722" y="4473036"/>
                        <a:ext cx="1301102" cy="44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99170E4-B303-D5A0-C8A4-58602E393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943872"/>
              </p:ext>
            </p:extLst>
          </p:nvPr>
        </p:nvGraphicFramePr>
        <p:xfrm>
          <a:off x="7266745" y="4485736"/>
          <a:ext cx="1152525" cy="443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5297" imgH="190420" progId="Equation.DSMT4">
                  <p:embed/>
                </p:oleObj>
              </mc:Choice>
              <mc:Fallback>
                <p:oleObj name="Equation" r:id="rId13" imgW="495297" imgH="1904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66745" y="4485736"/>
                        <a:ext cx="1152525" cy="4432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左中括号 17">
            <a:extLst>
              <a:ext uri="{FF2B5EF4-FFF2-40B4-BE49-F238E27FC236}">
                <a16:creationId xmlns:a16="http://schemas.microsoft.com/office/drawing/2014/main" id="{6E6EB221-1DEF-456F-1CA0-8A9186C64177}"/>
              </a:ext>
            </a:extLst>
          </p:cNvPr>
          <p:cNvSpPr/>
          <p:nvPr/>
        </p:nvSpPr>
        <p:spPr>
          <a:xfrm>
            <a:off x="1962866" y="4105471"/>
            <a:ext cx="95250" cy="1277662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中括号 18">
            <a:extLst>
              <a:ext uri="{FF2B5EF4-FFF2-40B4-BE49-F238E27FC236}">
                <a16:creationId xmlns:a16="http://schemas.microsoft.com/office/drawing/2014/main" id="{7875DE9A-9917-4694-A068-447E7BDCA865}"/>
              </a:ext>
            </a:extLst>
          </p:cNvPr>
          <p:cNvSpPr/>
          <p:nvPr/>
        </p:nvSpPr>
        <p:spPr>
          <a:xfrm>
            <a:off x="4991837" y="4102499"/>
            <a:ext cx="95250" cy="1277662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74379950-9C6A-3310-6D6D-9057F644C321}"/>
              </a:ext>
            </a:extLst>
          </p:cNvPr>
          <p:cNvSpPr/>
          <p:nvPr/>
        </p:nvSpPr>
        <p:spPr>
          <a:xfrm>
            <a:off x="5131516" y="4649204"/>
            <a:ext cx="872206" cy="8491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弧形 22">
            <a:extLst>
              <a:ext uri="{FF2B5EF4-FFF2-40B4-BE49-F238E27FC236}">
                <a16:creationId xmlns:a16="http://schemas.microsoft.com/office/drawing/2014/main" id="{D2A039BF-823B-B287-EDA4-00495C63627C}"/>
              </a:ext>
            </a:extLst>
          </p:cNvPr>
          <p:cNvSpPr/>
          <p:nvPr/>
        </p:nvSpPr>
        <p:spPr>
          <a:xfrm>
            <a:off x="4226682" y="5371991"/>
            <a:ext cx="3625850" cy="35091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箭头: 上弧形 24">
            <a:extLst>
              <a:ext uri="{FF2B5EF4-FFF2-40B4-BE49-F238E27FC236}">
                <a16:creationId xmlns:a16="http://schemas.microsoft.com/office/drawing/2014/main" id="{6C877B29-DCA9-27E4-7AC7-516CA0622AEC}"/>
              </a:ext>
            </a:extLst>
          </p:cNvPr>
          <p:cNvSpPr/>
          <p:nvPr/>
        </p:nvSpPr>
        <p:spPr>
          <a:xfrm>
            <a:off x="2572803" y="3723082"/>
            <a:ext cx="4000500" cy="37876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B5F296B0-D4B2-B204-0675-55CAED86996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593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9E5FE-E2CD-ACB0-55CA-82EBCC55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55">
            <a:extLst>
              <a:ext uri="{FF2B5EF4-FFF2-40B4-BE49-F238E27FC236}">
                <a16:creationId xmlns:a16="http://schemas.microsoft.com/office/drawing/2014/main" id="{AD900BE3-C5B0-175F-50CC-D3E52F07D423}"/>
              </a:ext>
            </a:extLst>
          </p:cNvPr>
          <p:cNvSpPr/>
          <p:nvPr/>
        </p:nvSpPr>
        <p:spPr>
          <a:xfrm>
            <a:off x="344909" y="1176907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算法过程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8E6526-0F89-A2BF-B497-B768289B6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23" y="2155261"/>
            <a:ext cx="9876596" cy="3909646"/>
          </a:xfrm>
          <a:prstGeom prst="rect">
            <a:avLst/>
          </a:prstGeom>
        </p:spPr>
      </p:pic>
      <p:sp>
        <p:nvSpPr>
          <p:cNvPr id="5" name="矩形 26">
            <a:extLst>
              <a:ext uri="{FF2B5EF4-FFF2-40B4-BE49-F238E27FC236}">
                <a16:creationId xmlns:a16="http://schemas.microsoft.com/office/drawing/2014/main" id="{D63B33BF-AE5B-EF7F-7E7C-D2F899ACF78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算法原理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341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75C5-50F8-7C22-5EE4-9B04741F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5D7996D-F0DF-364A-2BB4-9F681C8AB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88923"/>
              </p:ext>
            </p:extLst>
          </p:nvPr>
        </p:nvGraphicFramePr>
        <p:xfrm>
          <a:off x="4798585" y="2726206"/>
          <a:ext cx="2714846" cy="24175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2635">
                  <a:extLst>
                    <a:ext uri="{9D8B030D-6E8A-4147-A177-3AD203B41FA5}">
                      <a16:colId xmlns:a16="http://schemas.microsoft.com/office/drawing/2014/main" val="4210718764"/>
                    </a:ext>
                  </a:extLst>
                </a:gridCol>
                <a:gridCol w="1362211">
                  <a:extLst>
                    <a:ext uri="{9D8B030D-6E8A-4147-A177-3AD203B41FA5}">
                      <a16:colId xmlns:a16="http://schemas.microsoft.com/office/drawing/2014/main" val="222703401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TID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89910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{1, 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9342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{1, 3, 4, 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38872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{3, 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719077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{1, 5, 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5964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b="0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="0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349692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{3, 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28997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A2A1A2F-A27E-132E-2BD7-7A2D193C6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336942"/>
              </p:ext>
            </p:extLst>
          </p:nvPr>
        </p:nvGraphicFramePr>
        <p:xfrm>
          <a:off x="8750663" y="3076740"/>
          <a:ext cx="2160270" cy="1381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6325">
                  <a:extLst>
                    <a:ext uri="{9D8B030D-6E8A-4147-A177-3AD203B41FA5}">
                      <a16:colId xmlns:a16="http://schemas.microsoft.com/office/drawing/2014/main" val="2956243251"/>
                    </a:ext>
                  </a:extLst>
                </a:gridCol>
                <a:gridCol w="1083945">
                  <a:extLst>
                    <a:ext uri="{9D8B030D-6E8A-4147-A177-3AD203B41FA5}">
                      <a16:colId xmlns:a16="http://schemas.microsoft.com/office/drawing/2014/main" val="3346320609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i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TID</a:t>
                      </a: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50300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{1, 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445855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{a, b, d}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strike="sngStrike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{7}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97786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b="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{3, 7}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45221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C72F138-BBF3-1D8E-29D3-C0A818725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90964"/>
              </p:ext>
            </p:extLst>
          </p:nvPr>
        </p:nvGraphicFramePr>
        <p:xfrm>
          <a:off x="900704" y="2827860"/>
          <a:ext cx="2660650" cy="1723202"/>
        </p:xfrm>
        <a:graphic>
          <a:graphicData uri="http://schemas.openxmlformats.org/drawingml/2006/table">
            <a:tbl>
              <a:tblPr firstRow="1" firstCol="1" bandRow="1"/>
              <a:tblGrid>
                <a:gridCol w="787400">
                  <a:extLst>
                    <a:ext uri="{9D8B030D-6E8A-4147-A177-3AD203B41FA5}">
                      <a16:colId xmlns:a16="http://schemas.microsoft.com/office/drawing/2014/main" val="1122697805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1372103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360"/>
                        </a:spcBef>
                      </a:pPr>
                      <a:r>
                        <a:rPr lang="zh-CN" alt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  <a:spcBef>
                          <a:spcPts val="360"/>
                        </a:spcBef>
                      </a:pPr>
                      <a:r>
                        <a:rPr lang="en-US" sz="2000" b="1" i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TID</a:t>
                      </a:r>
                      <a:r>
                        <a:rPr lang="zh-CN" alt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集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669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{1, 3, 4, 7}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647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{1, 2, 5, 7}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4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{1, 3, 4, 5, 6, 7}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653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sz="2000" i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{3, 7, 8}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80264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84B5DE43-28C6-681B-7CEE-DA60948C07E8}"/>
              </a:ext>
            </a:extLst>
          </p:cNvPr>
          <p:cNvSpPr txBox="1"/>
          <p:nvPr/>
        </p:nvSpPr>
        <p:spPr>
          <a:xfrm>
            <a:off x="564089" y="220133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将事务转化为垂直数据格式</a:t>
            </a:r>
            <a:endParaRPr lang="zh-CN" altLang="en-US" dirty="0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71710556-FF18-2889-1537-FB70604C8342}"/>
              </a:ext>
            </a:extLst>
          </p:cNvPr>
          <p:cNvSpPr/>
          <p:nvPr/>
        </p:nvSpPr>
        <p:spPr>
          <a:xfrm>
            <a:off x="2231029" y="4745790"/>
            <a:ext cx="172374" cy="24765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38549E-2141-54FD-ABBE-50356751E3F7}"/>
              </a:ext>
            </a:extLst>
          </p:cNvPr>
          <p:cNvSpPr txBox="1"/>
          <p:nvPr/>
        </p:nvSpPr>
        <p:spPr>
          <a:xfrm>
            <a:off x="602716" y="5170179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计数，得到频繁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</a:t>
            </a:r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BC343F1-15F8-5DBF-FBB5-BBDD74CE8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477529"/>
              </p:ext>
            </p:extLst>
          </p:nvPr>
        </p:nvGraphicFramePr>
        <p:xfrm>
          <a:off x="945154" y="5594568"/>
          <a:ext cx="2437591" cy="369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71560" imgH="237935" progId="Equation.DSMT4">
                  <p:embed/>
                </p:oleObj>
              </mc:Choice>
              <mc:Fallback>
                <p:oleObj name="Equation" r:id="rId3" imgW="1571560" imgH="237935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2E97F16-0383-717B-F646-F24D870CC8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5154" y="5594568"/>
                        <a:ext cx="2437591" cy="369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834E316B-8594-1B3A-B37B-F03D3539AEF0}"/>
              </a:ext>
            </a:extLst>
          </p:cNvPr>
          <p:cNvSpPr txBox="1"/>
          <p:nvPr/>
        </p:nvSpPr>
        <p:spPr>
          <a:xfrm>
            <a:off x="4219219" y="2201330"/>
            <a:ext cx="3817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生成候选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项集及对应的</a:t>
            </a:r>
            <a:r>
              <a:rPr lang="en-US" altLang="zh-CN" sz="1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set</a:t>
            </a:r>
            <a:endParaRPr lang="zh-CN" altLang="en-US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50D63AF-EC01-C653-D899-93BD75F51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668771"/>
              </p:ext>
            </p:extLst>
          </p:nvPr>
        </p:nvGraphicFramePr>
        <p:xfrm>
          <a:off x="4031716" y="5428397"/>
          <a:ext cx="4390935" cy="36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17640" imgH="228600" progId="Equation.DSMT4">
                  <p:embed/>
                </p:oleObj>
              </mc:Choice>
              <mc:Fallback>
                <p:oleObj name="Equation" r:id="rId5" imgW="271764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594B2D6D-AA11-5011-4AE6-1BBE20904D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31716" y="5428397"/>
                        <a:ext cx="4390935" cy="36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1A15786-C5EE-5F95-E851-6212138888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067725"/>
              </p:ext>
            </p:extLst>
          </p:nvPr>
        </p:nvGraphicFramePr>
        <p:xfrm>
          <a:off x="8605693" y="4634687"/>
          <a:ext cx="2605835" cy="36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12800" imgH="228600" progId="Equation.DSMT4">
                  <p:embed/>
                </p:oleObj>
              </mc:Choice>
              <mc:Fallback>
                <p:oleObj name="Equation" r:id="rId7" imgW="1612800" imgH="228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15ACCF8E-518E-B748-5AA5-C6732DCAAE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05693" y="4634687"/>
                        <a:ext cx="2605835" cy="36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D92F48A-EA25-880C-B889-1CDC5EE03FB0}"/>
              </a:ext>
            </a:extLst>
          </p:cNvPr>
          <p:cNvSpPr txBox="1"/>
          <p:nvPr/>
        </p:nvSpPr>
        <p:spPr>
          <a:xfrm>
            <a:off x="7999711" y="2188345"/>
            <a:ext cx="3817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生成候选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项集及对应的</a:t>
            </a:r>
            <a:r>
              <a:rPr lang="en-US" altLang="zh-CN" sz="1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set</a:t>
            </a:r>
            <a:endParaRPr lang="zh-CN" altLang="en-US" dirty="0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14DA3B45-0419-789F-8ACA-FAA5FDEB4038}"/>
              </a:ext>
            </a:extLst>
          </p:cNvPr>
          <p:cNvSpPr/>
          <p:nvPr/>
        </p:nvSpPr>
        <p:spPr>
          <a:xfrm>
            <a:off x="9933579" y="5050590"/>
            <a:ext cx="172374" cy="24765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ECCC0A-BBE8-ECD6-224A-3232C2D4DFF1}"/>
              </a:ext>
            </a:extLst>
          </p:cNvPr>
          <p:cNvSpPr txBox="1"/>
          <p:nvPr/>
        </p:nvSpPr>
        <p:spPr>
          <a:xfrm>
            <a:off x="9248371" y="5354845"/>
            <a:ext cx="159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 </a:t>
            </a:r>
            <a:r>
              <a:rPr lang="zh-CN" altLang="en-US" sz="1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算法终止</a:t>
            </a:r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C9E7D3C7-71C8-DC24-EF63-13D562333D81}"/>
              </a:ext>
            </a:extLst>
          </p:cNvPr>
          <p:cNvSpPr/>
          <p:nvPr/>
        </p:nvSpPr>
        <p:spPr>
          <a:xfrm>
            <a:off x="4031716" y="3767621"/>
            <a:ext cx="327487" cy="1971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CF94725F-9B5B-7CC2-14E6-DBACC27BB551}"/>
              </a:ext>
            </a:extLst>
          </p:cNvPr>
          <p:cNvSpPr/>
          <p:nvPr/>
        </p:nvSpPr>
        <p:spPr>
          <a:xfrm>
            <a:off x="7895818" y="3767621"/>
            <a:ext cx="327487" cy="19711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41416AF-3E18-008A-D9AE-A45B66AEFD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085272"/>
              </p:ext>
            </p:extLst>
          </p:nvPr>
        </p:nvGraphicFramePr>
        <p:xfrm>
          <a:off x="8766115" y="1487828"/>
          <a:ext cx="2679676" cy="426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9449" imgH="203112" progId="Equation.DSMT4">
                  <p:embed/>
                </p:oleObj>
              </mc:Choice>
              <mc:Fallback>
                <p:oleObj name="Equation" r:id="rId9" imgW="1269449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6115" y="1487828"/>
                        <a:ext cx="2679676" cy="4266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26">
            <a:extLst>
              <a:ext uri="{FF2B5EF4-FFF2-40B4-BE49-F238E27FC236}">
                <a16:creationId xmlns:a16="http://schemas.microsoft.com/office/drawing/2014/main" id="{D0BD88EE-4894-C9D0-F38B-3CC3FD05D86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算法示例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734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CFDA1-9175-28ED-1AC3-727B4437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3B8A5F-84DF-93DE-DBCF-F9F17CF335CB}"/>
              </a:ext>
            </a:extLst>
          </p:cNvPr>
          <p:cNvSpPr txBox="1"/>
          <p:nvPr/>
        </p:nvSpPr>
        <p:spPr>
          <a:xfrm>
            <a:off x="1176066" y="1604770"/>
            <a:ext cx="9656602" cy="438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优点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对候选项集的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set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中的元素直接计数来确定候选项集是否为频繁项集，无需像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Apriori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算法执行多次扫描事务数据库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缺点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需要先判断两个项集是否满足连接条件，当项集的长度较长时，连接条件判断的时间也会增长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两个项集执行并集操作后，对应的两个</a:t>
            </a:r>
            <a:r>
              <a:rPr kumimoji="1" lang="en-US" altLang="zh-CN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TID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集需要进行取交集操作，增加了时间消耗，长集合的交运算仍然运算时间较长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2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SzPct val="50000"/>
              <a:buFont typeface="Wingdings" panose="05000000000000000000" pitchFamily="2" charset="2"/>
              <a:buChar char="p"/>
              <a:tabLst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使用场景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短模式的数据集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D6C80AB9-5D7C-FACE-1223-181C3B19BB5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算法评价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059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01245-F14F-FF65-E328-65D1E370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49451B09-DF81-7C40-6008-F027873D7220}"/>
              </a:ext>
            </a:extLst>
          </p:cNvPr>
          <p:cNvSpPr txBox="1"/>
          <p:nvPr/>
        </p:nvSpPr>
        <p:spPr>
          <a:xfrm>
            <a:off x="900553" y="2360814"/>
            <a:ext cx="4295487" cy="399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数据集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  <a:p>
            <a:pPr marL="742950" marR="0" lvl="1" indent="-285750" defTabSz="457200" fontAlgn="auto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糖尿病患者特征数据集：每条数据对应一位患者的年龄，性别，和疾病特征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算法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pyEclat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库中的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Eclat</a:t>
            </a:r>
            <a:r>
              <a:rPr kumimoji="1" lang="zh-CN" altLang="en-US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endParaRPr kumimoji="1" lang="en-US" altLang="zh-CN" sz="2000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lvl="1" indent="-28575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SzPct val="55000"/>
              <a:buFont typeface="Wingdings" panose="05000000000000000000" pitchFamily="2" charset="2"/>
              <a:buChar char="p"/>
              <a:defRPr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指标设置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sup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0.25</a:t>
            </a:r>
          </a:p>
          <a:p>
            <a:pPr marL="742950" lvl="1" indent="-285750" defTabSz="457200">
              <a:lnSpc>
                <a:spcPct val="125000"/>
              </a:lnSpc>
              <a:spcBef>
                <a:spcPct val="20000"/>
              </a:spcBef>
              <a:buClr>
                <a:srgbClr val="0000FF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min</a:t>
            </a:r>
            <a:r>
              <a:rPr kumimoji="1" lang="en-US" altLang="zh-CN" sz="2000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_</a:t>
            </a:r>
            <a:r>
              <a:rPr kumimoji="1" lang="en-US" altLang="zh-CN" sz="2000" i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conf</a:t>
            </a:r>
            <a:r>
              <a:rPr kumimoji="1" lang="en-US" altLang="zh-CN" sz="2000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0.80</a:t>
            </a:r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FDBD5E8E-0577-FBC6-E00C-6819FBD73A0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3" name="矩形: 圆角 55">
            <a:extLst>
              <a:ext uri="{FF2B5EF4-FFF2-40B4-BE49-F238E27FC236}">
                <a16:creationId xmlns:a16="http://schemas.microsoft.com/office/drawing/2014/main" id="{60140BF1-DC3E-E7EA-4C04-B6591DE6E534}"/>
              </a:ext>
            </a:extLst>
          </p:cNvPr>
          <p:cNvSpPr/>
          <p:nvPr/>
        </p:nvSpPr>
        <p:spPr>
          <a:xfrm>
            <a:off x="241097" y="1259407"/>
            <a:ext cx="4425553" cy="830505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糖尿病病人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特征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关联分析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85A019E-7F43-18DC-69EC-65DD6C81F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859433"/>
              </p:ext>
            </p:extLst>
          </p:nvPr>
        </p:nvGraphicFramePr>
        <p:xfrm>
          <a:off x="6204827" y="832961"/>
          <a:ext cx="5086620" cy="5901817"/>
        </p:xfrm>
        <a:graphic>
          <a:graphicData uri="http://schemas.openxmlformats.org/drawingml/2006/table">
            <a:tbl>
              <a:tblPr firstRow="1" firstCol="1" bandRow="1"/>
              <a:tblGrid>
                <a:gridCol w="2376282">
                  <a:extLst>
                    <a:ext uri="{9D8B030D-6E8A-4147-A177-3AD203B41FA5}">
                      <a16:colId xmlns:a16="http://schemas.microsoft.com/office/drawing/2014/main" val="3618677065"/>
                    </a:ext>
                  </a:extLst>
                </a:gridCol>
                <a:gridCol w="2710338">
                  <a:extLst>
                    <a:ext uri="{9D8B030D-6E8A-4147-A177-3AD203B41FA5}">
                      <a16:colId xmlns:a16="http://schemas.microsoft.com/office/drawing/2014/main" val="2434928738"/>
                    </a:ext>
                  </a:extLst>
                </a:gridCol>
              </a:tblGrid>
              <a:tr h="2577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症状名称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b="1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症状说明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998798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polyuria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排尿过多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340287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polydipsia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过度口渴</a:t>
                      </a: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过量饮酒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6143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sudden_weight_loss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突然体重减轻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935399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weakness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虚弱发作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842778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polyphagia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过度</a:t>
                      </a: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极度饥饿发作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986351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genital_thrush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酵母菌感染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51648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visual_blurring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视力模糊发作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266183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itching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瘙痒发作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97307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irritability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易怒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449608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delayed_healing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愈合延迟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964699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partial_paresis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部分轻瘫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228415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muscle_stiffness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肌强直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012315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alopecia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脱发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971571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obesity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肥胖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77528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Class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糖尿病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84784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male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男性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92589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female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女性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50850"/>
                  </a:ext>
                </a:extLst>
              </a:tr>
              <a:tr h="2601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old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大于</a:t>
                      </a: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lang="zh-C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岁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5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6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E8A5-EA87-2508-4B61-B93C7E18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2679C5A-EDFC-8AAE-D4F4-3EB2FEB25927}"/>
              </a:ext>
            </a:extLst>
          </p:cNvPr>
          <p:cNvSpPr/>
          <p:nvPr/>
        </p:nvSpPr>
        <p:spPr>
          <a:xfrm>
            <a:off x="921274" y="1258160"/>
            <a:ext cx="10415911" cy="5242807"/>
          </a:xfrm>
          <a:prstGeom prst="rect">
            <a:avLst/>
          </a:prstGeom>
          <a:solidFill>
            <a:schemeClr val="bg1"/>
          </a:solidFill>
          <a:ln w="3175">
            <a:solidFill>
              <a:srgbClr val="0444A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D132A1-F95F-3F9F-6ADB-581026730619}"/>
              </a:ext>
            </a:extLst>
          </p:cNvPr>
          <p:cNvSpPr txBox="1"/>
          <p:nvPr/>
        </p:nvSpPr>
        <p:spPr>
          <a:xfrm>
            <a:off x="1216443" y="1311598"/>
            <a:ext cx="9861311" cy="5189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pandas </a:t>
            </a: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pd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pyECLAT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ECLAT 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from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mlxtend.frequent_patterns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import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association_rules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1.</a:t>
            </a:r>
            <a:r>
              <a:rPr lang="zh-CN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导入数据，并将其处理为特定格式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 =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pd.read_csv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'../data/</a:t>
            </a:r>
            <a:r>
              <a:rPr lang="zh-CN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糖尿病患者特征数据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.csv'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Data.columns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range(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len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Data.columns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eclat_instance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ECLAT(data = Data, verbose=</a:t>
            </a:r>
            <a:r>
              <a:rPr lang="en-US" altLang="zh-CN" sz="1400" kern="0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 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2.</a:t>
            </a:r>
            <a:r>
              <a:rPr lang="zh-CN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lang="en-US" altLang="zh-CN" sz="1400" i="1" kern="0" dirty="0" err="1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eclat_instance.fit</a:t>
            </a:r>
            <a:r>
              <a:rPr lang="zh-CN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函数生成频繁项集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get_ECLAT_indexes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get_ECLAT_supports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eclat_instance.fit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min_support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4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0.25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min_combination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4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max_combination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4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separator=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 &amp; '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,verbose=</a:t>
            </a:r>
            <a:r>
              <a:rPr lang="en-US" altLang="zh-CN" sz="1400" kern="0" dirty="0">
                <a:solidFill>
                  <a:srgbClr val="0184BB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eclat_instance.df_bin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</a:t>
            </a:r>
            <a:r>
              <a:rPr lang="en-US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</a:t>
            </a:r>
            <a:r>
              <a:rPr lang="zh-CN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数据展示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3.</a:t>
            </a:r>
            <a:r>
              <a:rPr lang="zh-CN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生成关联规则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items_list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[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frozenset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element.split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 &amp; '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 </a:t>
            </a: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element </a:t>
            </a:r>
            <a:r>
              <a:rPr lang="en-US" altLang="zh-CN" sz="1400" kern="0" dirty="0">
                <a:solidFill>
                  <a:srgbClr val="A626A4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list(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get_ECLAT_supports.keys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())]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frequentsets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 =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pd.DataFrame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(list(zip(list(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get_ECLAT_supports.values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()),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items_list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)), columns=[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'support'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400" kern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itemsets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]) </a:t>
            </a:r>
            <a:r>
              <a:rPr lang="en-US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</a:t>
            </a:r>
            <a:r>
              <a:rPr lang="zh-CN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将频繁项集处理成特定格式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rules =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association_rules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frequentsets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metric=</a:t>
            </a:r>
            <a:r>
              <a:rPr lang="en-US" altLang="zh-CN" sz="1400" kern="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"confidence"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min_threshold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400" kern="0" dirty="0">
                <a:solidFill>
                  <a:srgbClr val="98680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 4.</a:t>
            </a:r>
            <a:r>
              <a:rPr lang="zh-CN" altLang="zh-CN" sz="1400" i="1" kern="0" dirty="0">
                <a:solidFill>
                  <a:srgbClr val="A0A1A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结果展示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5000"/>
              </a:lnSpc>
              <a:tabLst>
                <a:tab pos="457200" algn="l"/>
              </a:tabLst>
            </a:pP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</a:t>
            </a:r>
            <a:r>
              <a:rPr lang="en-US" altLang="zh-CN" sz="1400" kern="0" dirty="0" err="1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frequentsets</a:t>
            </a:r>
            <a:r>
              <a:rPr lang="en-US" altLang="zh-CN" sz="1400" kern="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4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print(rules[[</a:t>
            </a:r>
            <a:r>
              <a:rPr lang="en-US" altLang="zh-CN" sz="14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'antecedents'</a:t>
            </a:r>
            <a:r>
              <a:rPr lang="en-US" altLang="zh-CN" sz="14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'consequents'</a:t>
            </a:r>
            <a:r>
              <a:rPr lang="en-US" altLang="zh-CN" sz="14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'support'</a:t>
            </a:r>
            <a:r>
              <a:rPr lang="en-US" altLang="zh-CN" sz="14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'confidence'</a:t>
            </a:r>
            <a:r>
              <a:rPr lang="en-US" altLang="zh-CN" sz="14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 </a:t>
            </a:r>
            <a:r>
              <a:rPr lang="en-US" altLang="zh-CN" sz="1400" dirty="0">
                <a:solidFill>
                  <a:srgbClr val="50A14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'lift'</a:t>
            </a:r>
            <a:r>
              <a:rPr lang="en-US" altLang="zh-CN" sz="1400" dirty="0">
                <a:solidFill>
                  <a:srgbClr val="5C5C5C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zh-CN" altLang="en-US" sz="1400" dirty="0"/>
          </a:p>
        </p:txBody>
      </p:sp>
      <p:sp>
        <p:nvSpPr>
          <p:cNvPr id="4" name="矩形 26">
            <a:extLst>
              <a:ext uri="{FF2B5EF4-FFF2-40B4-BE49-F238E27FC236}">
                <a16:creationId xmlns:a16="http://schemas.microsoft.com/office/drawing/2014/main" id="{495CD7DB-8BE5-AC5B-4636-681BBDE11CD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360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7831B-CBEA-7403-AD17-751DD840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91CAF48-C67B-1B38-8F79-6DEFEE6781A2}"/>
              </a:ext>
            </a:extLst>
          </p:cNvPr>
          <p:cNvSpPr txBox="1"/>
          <p:nvPr/>
        </p:nvSpPr>
        <p:spPr>
          <a:xfrm>
            <a:off x="5255992" y="2026457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关联规则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592FE54-444B-3027-E210-92CD6C427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10392"/>
              </p:ext>
            </p:extLst>
          </p:nvPr>
        </p:nvGraphicFramePr>
        <p:xfrm>
          <a:off x="135454" y="2812191"/>
          <a:ext cx="4947958" cy="3559750"/>
        </p:xfrm>
        <a:graphic>
          <a:graphicData uri="http://schemas.openxmlformats.org/drawingml/2006/table">
            <a:tbl>
              <a:tblPr firstRow="1" firstCol="1" bandRow="1"/>
              <a:tblGrid>
                <a:gridCol w="847727">
                  <a:extLst>
                    <a:ext uri="{9D8B030D-6E8A-4147-A177-3AD203B41FA5}">
                      <a16:colId xmlns:a16="http://schemas.microsoft.com/office/drawing/2014/main" val="1308810109"/>
                    </a:ext>
                  </a:extLst>
                </a:gridCol>
                <a:gridCol w="1131456">
                  <a:extLst>
                    <a:ext uri="{9D8B030D-6E8A-4147-A177-3AD203B41FA5}">
                      <a16:colId xmlns:a16="http://schemas.microsoft.com/office/drawing/2014/main" val="1100960080"/>
                    </a:ext>
                  </a:extLst>
                </a:gridCol>
                <a:gridCol w="2968775">
                  <a:extLst>
                    <a:ext uri="{9D8B030D-6E8A-4147-A177-3AD203B41FA5}">
                      <a16:colId xmlns:a16="http://schemas.microsoft.com/office/drawing/2014/main" val="204088752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05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2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b="1" i="0" kern="1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itemsets</a:t>
                      </a:r>
                      <a:endParaRPr lang="zh-CN" altLang="en-US" sz="2000" b="1" i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477076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0.430769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(partial_paresis)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1851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0.375000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muscle_stiffness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48603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0.555769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(old)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36885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94869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107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0.250000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(polydipsia, </a:t>
                      </a:r>
                      <a:r>
                        <a:rPr lang="en-US" sz="20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diabete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polyphagia, polyuria)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38941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108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0.251923</a:t>
                      </a:r>
                      <a:endParaRPr lang="zh-CN" altLang="en-US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diabete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polydipsia, polyuria, </a:t>
                      </a:r>
                      <a:r>
                        <a:rPr lang="en-US" sz="200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sudden_weight_loss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1143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9664237-C87C-FA26-47F5-0C8C10F33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45891"/>
              </p:ext>
            </p:extLst>
          </p:nvPr>
        </p:nvGraphicFramePr>
        <p:xfrm>
          <a:off x="370739" y="4252707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1DD40FA-A778-5F82-2345-FCEFB7E10B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39" y="4252707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F07E6C4-7700-37A7-AF67-52C6169B5F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493649"/>
              </p:ext>
            </p:extLst>
          </p:nvPr>
        </p:nvGraphicFramePr>
        <p:xfrm>
          <a:off x="1301562" y="4252707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5AE2930-7328-5810-0D2A-47CFCA03E6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562" y="4252707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EB4FBCC-64CA-4288-32D1-3903C24E6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1107617"/>
              </p:ext>
            </p:extLst>
          </p:nvPr>
        </p:nvGraphicFramePr>
        <p:xfrm>
          <a:off x="3349361" y="4252707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34BE649B-D335-C5DB-66A4-4E52627946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361" y="4252707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B1242D7-41CF-2BAC-359F-38BEC0E8E194}"/>
              </a:ext>
            </a:extLst>
          </p:cNvPr>
          <p:cNvSpPr txBox="1"/>
          <p:nvPr/>
        </p:nvSpPr>
        <p:spPr>
          <a:xfrm>
            <a:off x="369915" y="2154321"/>
            <a:ext cx="494795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zh-CN" altLang="en-US" sz="2400" b="1" dirty="0">
                <a:solidFill>
                  <a:srgbClr val="0245AD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频繁项集</a:t>
            </a:r>
            <a:endParaRPr lang="en-US" altLang="zh-CN" sz="2400" b="1" dirty="0">
              <a:solidFill>
                <a:srgbClr val="0245AD"/>
              </a:solidFill>
              <a:latin typeface="微软雅黑" pitchFamily="34" charset="-122"/>
              <a:ea typeface="微软雅黑" pitchFamily="34" charset="-122"/>
              <a:cs typeface="+mj-cs"/>
              <a:sym typeface="Symbol" panose="05050102010706020507" pitchFamily="18" charset="2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CD5677CB-A2A8-8152-F63A-AB7DBF8B7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128656"/>
              </p:ext>
            </p:extLst>
          </p:nvPr>
        </p:nvGraphicFramePr>
        <p:xfrm>
          <a:off x="5267686" y="2650354"/>
          <a:ext cx="6806287" cy="3881501"/>
        </p:xfrm>
        <a:graphic>
          <a:graphicData uri="http://schemas.openxmlformats.org/drawingml/2006/table">
            <a:tbl>
              <a:tblPr firstRow="1" firstCol="1" bandRow="1"/>
              <a:tblGrid>
                <a:gridCol w="586920">
                  <a:extLst>
                    <a:ext uri="{9D8B030D-6E8A-4147-A177-3AD203B41FA5}">
                      <a16:colId xmlns:a16="http://schemas.microsoft.com/office/drawing/2014/main" val="3250300086"/>
                    </a:ext>
                  </a:extLst>
                </a:gridCol>
                <a:gridCol w="1544673">
                  <a:extLst>
                    <a:ext uri="{9D8B030D-6E8A-4147-A177-3AD203B41FA5}">
                      <a16:colId xmlns:a16="http://schemas.microsoft.com/office/drawing/2014/main" val="2868529208"/>
                    </a:ext>
                  </a:extLst>
                </a:gridCol>
                <a:gridCol w="1477618">
                  <a:extLst>
                    <a:ext uri="{9D8B030D-6E8A-4147-A177-3AD203B41FA5}">
                      <a16:colId xmlns:a16="http://schemas.microsoft.com/office/drawing/2014/main" val="1561446241"/>
                    </a:ext>
                  </a:extLst>
                </a:gridCol>
                <a:gridCol w="1073426">
                  <a:extLst>
                    <a:ext uri="{9D8B030D-6E8A-4147-A177-3AD203B41FA5}">
                      <a16:colId xmlns:a16="http://schemas.microsoft.com/office/drawing/2014/main" val="3259206424"/>
                    </a:ext>
                  </a:extLst>
                </a:gridCol>
                <a:gridCol w="1020417">
                  <a:extLst>
                    <a:ext uri="{9D8B030D-6E8A-4147-A177-3AD203B41FA5}">
                      <a16:colId xmlns:a16="http://schemas.microsoft.com/office/drawing/2014/main" val="1297470154"/>
                    </a:ext>
                  </a:extLst>
                </a:gridCol>
                <a:gridCol w="1103233">
                  <a:extLst>
                    <a:ext uri="{9D8B030D-6E8A-4147-A177-3AD203B41FA5}">
                      <a16:colId xmlns:a16="http://schemas.microsoft.com/office/drawing/2014/main" val="2149392417"/>
                    </a:ext>
                  </a:extLst>
                </a:gridCol>
              </a:tblGrid>
              <a:tr h="2959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antecedents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consequents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support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4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confidence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</a:pPr>
                      <a:r>
                        <a:rPr lang="en-US" sz="1800" b="1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lift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719567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女性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糖尿病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0.332692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0.901042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1.464193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90676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突然体重减轻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糖尿病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0.361538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0.866359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1.407834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178455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排尿过多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糖尿病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0.467308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0.941860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1.530523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38668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274572"/>
                  </a:ext>
                </a:extLst>
              </a:tr>
              <a:tr h="29598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部分轻瘫，排尿过多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糖尿病，过度口渴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过量饮酒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0.269231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0.833333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1.925926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503719"/>
                  </a:ext>
                </a:extLst>
              </a:tr>
              <a:tr h="378693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部分轻瘫，过度口渴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过量饮酒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排尿过多，糖尿病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0.269231</a:t>
                      </a:r>
                      <a:endParaRPr lang="zh-CN" altLang="en-US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0.891720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25000"/>
                        </a:lnSpc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1.908207</a:t>
                      </a:r>
                      <a:endParaRPr lang="zh-CN" altLang="en-US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154781"/>
                  </a:ext>
                </a:extLst>
              </a:tr>
            </a:tbl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263B641-801A-89AD-C869-49CC2B4FA8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285664"/>
              </p:ext>
            </p:extLst>
          </p:nvPr>
        </p:nvGraphicFramePr>
        <p:xfrm>
          <a:off x="5421172" y="427861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DF57B725-3363-CAEF-C212-315F62ED5E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172" y="427861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156BE0A-B911-E1CB-5B13-8E1F6EECBC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240927"/>
              </p:ext>
            </p:extLst>
          </p:nvPr>
        </p:nvGraphicFramePr>
        <p:xfrm>
          <a:off x="6508178" y="427861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D1271A24-9A3C-1E68-0131-F7F4C89132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178" y="427861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35139B9-51BD-D71B-DDDF-29898F653D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818640"/>
              </p:ext>
            </p:extLst>
          </p:nvPr>
        </p:nvGraphicFramePr>
        <p:xfrm>
          <a:off x="7962055" y="427861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C2B651A5-B947-9C81-FB10-66B43E25DA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2055" y="427861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C829D39-E661-5979-8492-81C4F4C7D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865379"/>
              </p:ext>
            </p:extLst>
          </p:nvPr>
        </p:nvGraphicFramePr>
        <p:xfrm>
          <a:off x="9227577" y="427861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5" imgH="101468" progId="Equation.DSMT4">
                  <p:embed/>
                </p:oleObj>
              </mc:Choice>
              <mc:Fallback>
                <p:oleObj name="Equation" r:id="rId3" imgW="164885" imgH="101468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FEE10440-CA0D-896C-964C-83A2652329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7577" y="427861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E2D82F5-0585-D982-E5D5-D427ECB937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082887"/>
              </p:ext>
            </p:extLst>
          </p:nvPr>
        </p:nvGraphicFramePr>
        <p:xfrm>
          <a:off x="10227018" y="427861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5" imgH="101468" progId="Equation.DSMT4">
                  <p:embed/>
                </p:oleObj>
              </mc:Choice>
              <mc:Fallback>
                <p:oleObj name="Equation" r:id="rId5" imgW="164885" imgH="101468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2C533081-6ABF-5BBE-7F22-DCE8FC3C2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7018" y="427861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961AF0F-E8A8-B69C-DE99-45ED8AE9E4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430810"/>
              </p:ext>
            </p:extLst>
          </p:nvPr>
        </p:nvGraphicFramePr>
        <p:xfrm>
          <a:off x="11301226" y="4278610"/>
          <a:ext cx="457366" cy="291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101468" progId="Equation.DSMT4">
                  <p:embed/>
                </p:oleObj>
              </mc:Choice>
              <mc:Fallback>
                <p:oleObj name="Equation" r:id="rId6" imgW="164885" imgH="101468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2BED99E7-7BBB-D375-76DC-981DAB119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1226" y="4278610"/>
                        <a:ext cx="457366" cy="291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: 圆角 55">
            <a:extLst>
              <a:ext uri="{FF2B5EF4-FFF2-40B4-BE49-F238E27FC236}">
                <a16:creationId xmlns:a16="http://schemas.microsoft.com/office/drawing/2014/main" id="{1623A81C-2DD7-7D82-EFF0-B8D8689ADD27}"/>
              </a:ext>
            </a:extLst>
          </p:cNvPr>
          <p:cNvSpPr/>
          <p:nvPr/>
        </p:nvSpPr>
        <p:spPr>
          <a:xfrm>
            <a:off x="241097" y="1259407"/>
            <a:ext cx="4425553" cy="830505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糖尿病病人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特征</a:t>
            </a: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关联分析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3CF2265C-3480-0653-5C3A-1C06DF5E649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Eclat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算法实践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252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6107</TotalTime>
  <Words>1142</Words>
  <Application>Microsoft Office PowerPoint</Application>
  <PresentationFormat>宽屏</PresentationFormat>
  <Paragraphs>222</Paragraphs>
  <Slides>10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34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qing zhang</cp:lastModifiedBy>
  <cp:revision>2471</cp:revision>
  <dcterms:created xsi:type="dcterms:W3CDTF">2022-05-23T09:13:00Z</dcterms:created>
  <dcterms:modified xsi:type="dcterms:W3CDTF">2025-04-18T03:53:52Z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