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2">
  <p:sldMasterIdLst>
    <p:sldMasterId id="2147483648" r:id="rId1"/>
    <p:sldMasterId id="2147483657" r:id="rId3"/>
    <p:sldMasterId id="2147483683" r:id="rId4"/>
    <p:sldMasterId id="2147483710" r:id="rId5"/>
    <p:sldMasterId id="2147483736" r:id="rId6"/>
    <p:sldMasterId id="2147483762" r:id="rId7"/>
    <p:sldMasterId id="2147483778" r:id="rId8"/>
    <p:sldMasterId id="2147483799" r:id="rId9"/>
    <p:sldMasterId id="2147483817" r:id="rId10"/>
    <p:sldMasterId id="2147483844" r:id="rId11"/>
    <p:sldMasterId id="2147483862" r:id="rId12"/>
    <p:sldMasterId id="2147483888" r:id="rId13"/>
  </p:sldMasterIdLst>
  <p:notesMasterIdLst>
    <p:notesMasterId r:id="rId15"/>
  </p:notesMasterIdLst>
  <p:handoutMasterIdLst>
    <p:handoutMasterId r:id="rId36"/>
  </p:handoutMasterIdLst>
  <p:sldIdLst>
    <p:sldId id="15638" r:id="rId14"/>
    <p:sldId id="15691" r:id="rId16"/>
    <p:sldId id="15710" r:id="rId17"/>
    <p:sldId id="15711" r:id="rId18"/>
    <p:sldId id="15712" r:id="rId19"/>
    <p:sldId id="15713" r:id="rId20"/>
    <p:sldId id="15714" r:id="rId21"/>
    <p:sldId id="15715" r:id="rId22"/>
    <p:sldId id="15716" r:id="rId23"/>
    <p:sldId id="15717" r:id="rId24"/>
    <p:sldId id="15718" r:id="rId25"/>
    <p:sldId id="15719" r:id="rId26"/>
    <p:sldId id="15720" r:id="rId27"/>
    <p:sldId id="15721" r:id="rId28"/>
    <p:sldId id="15722" r:id="rId29"/>
    <p:sldId id="15723" r:id="rId30"/>
    <p:sldId id="15724" r:id="rId31"/>
    <p:sldId id="15725" r:id="rId32"/>
    <p:sldId id="15726" r:id="rId33"/>
    <p:sldId id="15727" r:id="rId34"/>
    <p:sldId id="15502" r:id="rId35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227" userDrawn="1">
          <p15:clr>
            <a:srgbClr val="A4A3A4"/>
          </p15:clr>
        </p15:guide>
        <p15:guide id="5" orient="horz" pos="2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C0C"/>
    <a:srgbClr val="FFFFFF"/>
    <a:srgbClr val="0066FF"/>
    <a:srgbClr val="7EA4EE"/>
    <a:srgbClr val="00FF00"/>
    <a:srgbClr val="F6F9FE"/>
    <a:srgbClr val="91CF50"/>
    <a:srgbClr val="FF66FF"/>
    <a:srgbClr val="00CCFF"/>
    <a:srgbClr val="009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2" autoAdjust="0"/>
    <p:restoredTop sz="88617" autoAdjust="0"/>
  </p:normalViewPr>
  <p:slideViewPr>
    <p:cSldViewPr snapToGrid="0" showGuides="1">
      <p:cViewPr varScale="1">
        <p:scale>
          <a:sx n="40" d="100"/>
          <a:sy n="40" d="100"/>
        </p:scale>
        <p:origin x="44" y="328"/>
      </p:cViewPr>
      <p:guideLst>
        <p:guide pos="2227"/>
        <p:guide orient="horz" pos="24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0" Type="http://schemas.openxmlformats.org/officeDocument/2006/relationships/tags" Target="tags/tag2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4" Type="http://schemas.microsoft.com/office/2007/relationships/hdphoto" Target="../media/image18.wdp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4" Type="http://schemas.microsoft.com/office/2007/relationships/hdphoto" Target="../media/image18.wdp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1.bin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8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3.bin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0.xml"/></Relationships>
</file>

<file path=ppt/slideLayouts/_rels/slideLayout20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4.bin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0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  <a:endParaRPr lang="zh-CN" altLang="en-US" sz="3200" b="1" spc="300" dirty="0">
              <a:solidFill>
                <a:srgbClr val="FFFF00"/>
              </a:solidFill>
              <a:effectLst>
                <a:outerShdw blurRad="38100" dist="762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  <a:endParaRPr lang="zh-CN" altLang="en-US" sz="3200" b="1" spc="300" dirty="0">
              <a:solidFill>
                <a:srgbClr val="FFFF00"/>
              </a:solidFill>
              <a:effectLst>
                <a:outerShdw blurRad="38100" dist="762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  <a:endParaRPr lang="zh-CN" altLang="en-US" sz="3200" b="1" spc="300" dirty="0">
              <a:solidFill>
                <a:srgbClr val="FFFF00"/>
              </a:solidFill>
              <a:effectLst>
                <a:outerShdw blurRad="38100" dist="762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10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11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135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11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10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第四讲 统计调查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统计调查概述</a:t>
            </a:r>
            <a:endParaRPr kumimoji="0" lang="zh-CN" altLang="en-US" sz="3200" b="1" i="0" u="none" strike="noStrike" kern="1200" cap="none" spc="15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统计调查的实施</a:t>
            </a:r>
            <a:endParaRPr kumimoji="0" lang="zh-CN" altLang="en-US" sz="3200" b="1" i="0" u="none" strike="noStrike" kern="1200" cap="none" spc="15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" panose="020B0400000000000000" pitchFamily="34" charset="-122"/>
              </a:rPr>
              <a:t>CONTENTS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调查问卷</a:t>
            </a:r>
            <a:endParaRPr kumimoji="0" lang="zh-CN" altLang="en-US" sz="3200" b="1" i="0" u="none" strike="noStrike" kern="1200" cap="none" spc="15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  <a:sym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  <a:sym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统计调查概述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一、统计调查概述</a:t>
            </a:r>
            <a:endParaRPr kumimoji="0" lang="zh-CN" altLang="en-US" sz="2600" b="1" i="0" u="none" strike="noStrike" kern="1200" cap="none" spc="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统计调查的实施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二、统计调查的实施</a:t>
            </a:r>
            <a:endParaRPr kumimoji="0" lang="zh-CN" altLang="en-US" sz="2600" b="1" i="0" u="none" strike="noStrike" kern="1200" cap="none" spc="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调查问卷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三、调查问卷</a:t>
            </a:r>
            <a:endParaRPr kumimoji="0" lang="zh-CN" altLang="en-US" sz="2600" b="1" i="0" u="none" strike="noStrike" kern="1200" cap="none" spc="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课堂总结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课后作业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抽样的基本概念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分层抽样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简单随机抽样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" panose="020B0400000000000000" pitchFamily="34" charset="-122"/>
              </a:rPr>
              <a:t>CONTENTS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整群抽样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五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系统抽样</a:t>
            </a:r>
            <a:endParaRPr kumimoji="0" lang="zh-CN" altLang="en-US" sz="3000" b="1" i="0" u="none" strike="noStrike" kern="1200" cap="none" spc="15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  <a:sym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  <a:sym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抽样的基本概念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一、抽样的基本概念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简单随机抽样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二、简单随机抽样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分层抽样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三、分层抽样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整群抽样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四、整群抽样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—</a:t>
            </a: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系统抽样</a:t>
            </a:r>
            <a:endParaRPr kumimoji="0" lang="zh-CN" altLang="en-US" sz="6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五、系统抽样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课堂总结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课后作业</a:t>
            </a:r>
            <a:endParaRPr kumimoji="0" lang="zh-CN" altLang="en-US" sz="2600" b="1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65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1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616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616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7765" indent="0">
              <a:buNone/>
              <a:defRPr sz="2665"/>
            </a:lvl5pPr>
            <a:lvl6pPr marL="3047365" indent="0">
              <a:buNone/>
              <a:defRPr sz="2665"/>
            </a:lvl6pPr>
            <a:lvl7pPr marL="3656965" indent="0">
              <a:buNone/>
              <a:defRPr sz="2665"/>
            </a:lvl7pPr>
            <a:lvl8pPr marL="4266565" indent="0">
              <a:buNone/>
              <a:defRPr sz="2665"/>
            </a:lvl8pPr>
            <a:lvl9pPr marL="4876165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5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/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/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/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/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/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/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/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/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/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/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/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/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/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/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/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/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/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/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/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/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/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/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/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/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/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/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/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/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/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/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/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/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/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/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/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/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/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/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/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/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/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/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/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/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/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/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/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/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/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/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/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/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/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/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/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/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/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/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/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/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/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/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/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/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/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/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/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/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/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/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/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/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/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/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/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/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/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/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/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/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/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/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/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/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/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/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/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/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/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/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/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/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/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/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/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/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/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/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/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/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/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/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/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/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/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/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/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/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/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5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v"/>
              <a:defRPr/>
            </a:pPr>
            <a:endParaRPr lang="zh-CN" altLang="en-US" sz="1865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5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/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hoto Editor 照片" r:id="rId3" imgW="4324350" imgH="1343025" progId="">
                  <p:embed/>
                </p:oleObj>
              </mc:Choice>
              <mc:Fallback>
                <p:oleObj name="Photo Editor 照片" r:id="rId3" imgW="4324350" imgH="1343025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5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/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/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/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/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/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/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/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/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/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/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/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/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/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/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/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/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/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/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/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/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/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/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/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/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/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/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/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/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/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/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/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/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/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/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/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/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/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/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/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/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/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/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/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/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/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/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/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/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/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/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/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/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/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/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/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/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/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/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/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/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/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/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/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/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/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/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/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/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/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/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/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/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/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/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/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/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/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/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/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/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/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/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/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/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/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/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/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/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/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/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/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/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/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/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/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/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/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/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/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/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/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/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/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/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/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/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/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/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/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5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5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/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Photo Editor 照片" r:id="rId3" imgW="4324350" imgH="1343025" progId="">
                  <p:embed/>
                </p:oleObj>
              </mc:Choice>
              <mc:Fallback>
                <p:oleObj name="Photo Editor 照片" r:id="rId3" imgW="4324350" imgH="1343025" progId="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/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5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28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28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09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65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16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0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0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616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616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0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0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7765" indent="0">
              <a:buNone/>
              <a:defRPr sz="2665"/>
            </a:lvl5pPr>
            <a:lvl6pPr marL="3047365" indent="0">
              <a:buNone/>
              <a:defRPr sz="2665"/>
            </a:lvl6pPr>
            <a:lvl7pPr marL="3656965" indent="0">
              <a:buNone/>
              <a:defRPr sz="2665"/>
            </a:lvl7pPr>
            <a:lvl8pPr marL="4266565" indent="0">
              <a:buNone/>
              <a:defRPr sz="2665"/>
            </a:lvl8pPr>
            <a:lvl9pPr marL="4876165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/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/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/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/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/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/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/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/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/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/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/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/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/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/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/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/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/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/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/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/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/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/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/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/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/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/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/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/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/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/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/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/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/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/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/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/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/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/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/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/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/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/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/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/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/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/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/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/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/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/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/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/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/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/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/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/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/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/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/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/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/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/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/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/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/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/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/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/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/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/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/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/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/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/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/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/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/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/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/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/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/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/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/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/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/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/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/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/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/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/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/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/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/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/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/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/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/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/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/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/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/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/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/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/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/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/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/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/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/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v"/>
              <a:defRPr/>
            </a:pPr>
            <a:endParaRPr lang="zh-CN" altLang="en-US" sz="1865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0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/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hoto Editor 照片" r:id="rId3" imgW="4324350" imgH="1343025" progId="">
                  <p:embed/>
                </p:oleObj>
              </mc:Choice>
              <mc:Fallback>
                <p:oleObj name="Photo Editor 照片" r:id="rId3" imgW="4324350" imgH="1343025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/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/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/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/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/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/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/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/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/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/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/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/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/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/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/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/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/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/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/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/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/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/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/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/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/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/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/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/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/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/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/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/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/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/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/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/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/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/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/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/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/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/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/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/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/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/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/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/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/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/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/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/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/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/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/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/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/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/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/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/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/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/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/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/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/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/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/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/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/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/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/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/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/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/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/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/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/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/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/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/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/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/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/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/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/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/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/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/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/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/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/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/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/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/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/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/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/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/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/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/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/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/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/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/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/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/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/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/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/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0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/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Photo Editor 照片" r:id="rId3" imgW="4324350" imgH="1343025" progId="">
                  <p:embed/>
                </p:oleObj>
              </mc:Choice>
              <mc:Fallback>
                <p:oleObj name="Photo Editor 照片" r:id="rId3" imgW="4324350" imgH="1343025" progId="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/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华文隶书" panose="02010800040101010101" pitchFamily="2" charset="-122"/>
                <a:cs typeface="Times New Roman" panose="02020603050405020304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5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/>
          <a:lstStyle/>
          <a:p>
            <a:pPr marL="0" marR="0" indent="0" algn="l" defTabSz="12998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09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>
            <a:fillRect/>
          </a:stretch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/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Freeform 5"/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5"/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45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  提纲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标题 1"/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标题 1"/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  <a:endParaRPr kumimoji="0" lang="zh-CN" altLang="en-US" sz="3000" b="1" i="0" u="none" strike="noStrike" kern="0" cap="none" spc="225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Freeform 5"/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  <a:endParaRPr lang="zh-CN" altLang="en-US" sz="2400" b="1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  <a:endParaRPr lang="zh-CN" altLang="en-US" sz="1800" b="1" spc="-109" baseline="0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  <a:endParaRPr lang="zh-CN" altLang="en-US" sz="2000" b="1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  <a:endParaRPr lang="zh-CN" altLang="en-US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8" Type="http://schemas.openxmlformats.org/officeDocument/2006/relationships/theme" Target="../theme/theme2.xml"/><Relationship Id="rId27" Type="http://schemas.openxmlformats.org/officeDocument/2006/relationships/image" Target="../media/image12.GIF"/><Relationship Id="rId26" Type="http://schemas.openxmlformats.org/officeDocument/2006/relationships/image" Target="../media/image11.jpeg"/><Relationship Id="rId25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9" Type="http://schemas.openxmlformats.org/officeDocument/2006/relationships/theme" Target="../theme/theme3.xml"/><Relationship Id="rId28" Type="http://schemas.openxmlformats.org/officeDocument/2006/relationships/image" Target="../media/image13.GIF"/><Relationship Id="rId27" Type="http://schemas.openxmlformats.org/officeDocument/2006/relationships/image" Target="../media/image11.jpeg"/><Relationship Id="rId26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2.xml"/><Relationship Id="rId28" Type="http://schemas.openxmlformats.org/officeDocument/2006/relationships/theme" Target="../theme/theme4.xml"/><Relationship Id="rId27" Type="http://schemas.openxmlformats.org/officeDocument/2006/relationships/image" Target="../media/image14.png"/><Relationship Id="rId26" Type="http://schemas.openxmlformats.org/officeDocument/2006/relationships/image" Target="../media/image11.jpeg"/><Relationship Id="rId25" Type="http://schemas.openxmlformats.org/officeDocument/2006/relationships/slideLayout" Target="../slideLayouts/slideLayout84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7.xml"/><Relationship Id="rId28" Type="http://schemas.openxmlformats.org/officeDocument/2006/relationships/theme" Target="../theme/theme5.xml"/><Relationship Id="rId27" Type="http://schemas.openxmlformats.org/officeDocument/2006/relationships/image" Target="../media/image14.png"/><Relationship Id="rId26" Type="http://schemas.openxmlformats.org/officeDocument/2006/relationships/image" Target="../media/image11.jpeg"/><Relationship Id="rId25" Type="http://schemas.openxmlformats.org/officeDocument/2006/relationships/slideLayout" Target="../slideLayouts/slideLayout109.xml"/><Relationship Id="rId24" Type="http://schemas.openxmlformats.org/officeDocument/2006/relationships/slideLayout" Target="../slideLayouts/slideLayout108.xml"/><Relationship Id="rId23" Type="http://schemas.openxmlformats.org/officeDocument/2006/relationships/slideLayout" Target="../slideLayouts/slideLayout107.xml"/><Relationship Id="rId22" Type="http://schemas.openxmlformats.org/officeDocument/2006/relationships/slideLayout" Target="../slideLayouts/slideLayout106.xml"/><Relationship Id="rId21" Type="http://schemas.openxmlformats.org/officeDocument/2006/relationships/slideLayout" Target="../slideLayouts/slideLayout105.xml"/><Relationship Id="rId20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1.xml"/><Relationship Id="rId16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4.xml"/><Relationship Id="rId1" Type="http://schemas.openxmlformats.org/officeDocument/2006/relationships/slideLayout" Target="../slideLayouts/slideLayout8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11.xml"/><Relationship Id="rId17" Type="http://schemas.openxmlformats.org/officeDocument/2006/relationships/theme" Target="../theme/theme6.xml"/><Relationship Id="rId16" Type="http://schemas.openxmlformats.org/officeDocument/2006/relationships/image" Target="../media/image23.png"/><Relationship Id="rId15" Type="http://schemas.openxmlformats.org/officeDocument/2006/relationships/slideLayout" Target="../slideLayouts/slideLayout124.xml"/><Relationship Id="rId14" Type="http://schemas.openxmlformats.org/officeDocument/2006/relationships/slideLayout" Target="../slideLayouts/slideLayout123.xml"/><Relationship Id="rId13" Type="http://schemas.openxmlformats.org/officeDocument/2006/relationships/slideLayout" Target="../slideLayouts/slideLayout122.xml"/><Relationship Id="rId12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0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2" Type="http://schemas.openxmlformats.org/officeDocument/2006/relationships/theme" Target="../theme/theme7.xml"/><Relationship Id="rId21" Type="http://schemas.openxmlformats.org/officeDocument/2006/relationships/image" Target="../media/image23.png"/><Relationship Id="rId20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26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6.xml"/><Relationship Id="rId18" Type="http://schemas.openxmlformats.org/officeDocument/2006/relationships/theme" Target="../theme/theme8.xml"/><Relationship Id="rId17" Type="http://schemas.openxmlformats.org/officeDocument/2006/relationships/slideLayout" Target="../slideLayouts/slideLayout161.xml"/><Relationship Id="rId16" Type="http://schemas.openxmlformats.org/officeDocument/2006/relationships/slideLayout" Target="../slideLayouts/slideLayout160.xml"/><Relationship Id="rId15" Type="http://schemas.openxmlformats.org/officeDocument/2006/relationships/slideLayout" Target="../slideLayouts/slideLayout159.xml"/><Relationship Id="rId14" Type="http://schemas.openxmlformats.org/officeDocument/2006/relationships/slideLayout" Target="../slideLayouts/slideLayout158.xml"/><Relationship Id="rId13" Type="http://schemas.openxmlformats.org/officeDocument/2006/relationships/slideLayout" Target="../slideLayouts/slideLayout157.xml"/><Relationship Id="rId12" Type="http://schemas.openxmlformats.org/officeDocument/2006/relationships/slideLayout" Target="../slideLayouts/slideLayout156.xml"/><Relationship Id="rId11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4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0.xml"/><Relationship Id="rId8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4.xml"/><Relationship Id="rId29" Type="http://schemas.openxmlformats.org/officeDocument/2006/relationships/theme" Target="../theme/theme9.xml"/><Relationship Id="rId28" Type="http://schemas.openxmlformats.org/officeDocument/2006/relationships/image" Target="../media/image14.png"/><Relationship Id="rId27" Type="http://schemas.openxmlformats.org/officeDocument/2006/relationships/image" Target="../media/image11.jpeg"/><Relationship Id="rId26" Type="http://schemas.openxmlformats.org/officeDocument/2006/relationships/slideLayout" Target="../slideLayouts/slideLayout187.xml"/><Relationship Id="rId25" Type="http://schemas.openxmlformats.org/officeDocument/2006/relationships/slideLayout" Target="../slideLayouts/slideLayout186.xml"/><Relationship Id="rId24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84.xml"/><Relationship Id="rId22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182.xml"/><Relationship Id="rId20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63.xml"/><Relationship Id="rId19" Type="http://schemas.openxmlformats.org/officeDocument/2006/relationships/slideLayout" Target="../slideLayouts/slideLayout180.xml"/><Relationship Id="rId18" Type="http://schemas.openxmlformats.org/officeDocument/2006/relationships/slideLayout" Target="../slideLayouts/slideLayout179.xml"/><Relationship Id="rId17" Type="http://schemas.openxmlformats.org/officeDocument/2006/relationships/slideLayout" Target="../slideLayouts/slideLayout178.xml"/><Relationship Id="rId16" Type="http://schemas.openxmlformats.org/officeDocument/2006/relationships/slideLayout" Target="../slideLayouts/slideLayout177.xml"/><Relationship Id="rId15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75.xml"/><Relationship Id="rId13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62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8" Type="http://schemas.openxmlformats.org/officeDocument/2006/relationships/theme" Target="../theme/theme10.xml"/><Relationship Id="rId17" Type="http://schemas.openxmlformats.org/officeDocument/2006/relationships/slideLayout" Target="../slideLayouts/slideLayout204.xml"/><Relationship Id="rId16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02.xml"/><Relationship Id="rId14" Type="http://schemas.openxmlformats.org/officeDocument/2006/relationships/slideLayout" Target="../slideLayouts/slideLayout201.xml"/><Relationship Id="rId13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3.xml"/><Relationship Id="rId8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1.xml"/><Relationship Id="rId6" Type="http://schemas.openxmlformats.org/officeDocument/2006/relationships/slideLayout" Target="../slideLayouts/slideLayout210.xml"/><Relationship Id="rId5" Type="http://schemas.openxmlformats.org/officeDocument/2006/relationships/slideLayout" Target="../slideLayouts/slideLayout209.xml"/><Relationship Id="rId4" Type="http://schemas.openxmlformats.org/officeDocument/2006/relationships/slideLayout" Target="../slideLayouts/slideLayout208.xml"/><Relationship Id="rId3" Type="http://schemas.openxmlformats.org/officeDocument/2006/relationships/slideLayout" Target="../slideLayouts/slideLayout207.xml"/><Relationship Id="rId28" Type="http://schemas.openxmlformats.org/officeDocument/2006/relationships/theme" Target="../theme/theme11.xml"/><Relationship Id="rId27" Type="http://schemas.openxmlformats.org/officeDocument/2006/relationships/image" Target="../media/image14.png"/><Relationship Id="rId26" Type="http://schemas.openxmlformats.org/officeDocument/2006/relationships/image" Target="../media/image11.jpeg"/><Relationship Id="rId25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228.xml"/><Relationship Id="rId23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226.xml"/><Relationship Id="rId21" Type="http://schemas.openxmlformats.org/officeDocument/2006/relationships/slideLayout" Target="../slideLayouts/slideLayout225.xml"/><Relationship Id="rId20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206.xml"/><Relationship Id="rId19" Type="http://schemas.openxmlformats.org/officeDocument/2006/relationships/slideLayout" Target="../slideLayouts/slideLayout223.xml"/><Relationship Id="rId18" Type="http://schemas.openxmlformats.org/officeDocument/2006/relationships/slideLayout" Target="../slideLayouts/slideLayout222.xml"/><Relationship Id="rId17" Type="http://schemas.openxmlformats.org/officeDocument/2006/relationships/slideLayout" Target="../slideLayouts/slideLayout221.xml"/><Relationship Id="rId16" Type="http://schemas.openxmlformats.org/officeDocument/2006/relationships/slideLayout" Target="../slideLayouts/slideLayout220.xml"/><Relationship Id="rId15" Type="http://schemas.openxmlformats.org/officeDocument/2006/relationships/slideLayout" Target="../slideLayouts/slideLayout219.xml"/><Relationship Id="rId14" Type="http://schemas.openxmlformats.org/officeDocument/2006/relationships/slideLayout" Target="../slideLayouts/slideLayout218.xml"/><Relationship Id="rId13" Type="http://schemas.openxmlformats.org/officeDocument/2006/relationships/slideLayout" Target="../slideLayouts/slideLayout217.xml"/><Relationship Id="rId12" Type="http://schemas.openxmlformats.org/officeDocument/2006/relationships/slideLayout" Target="../slideLayouts/slideLayout216.xml"/><Relationship Id="rId11" Type="http://schemas.openxmlformats.org/officeDocument/2006/relationships/slideLayout" Target="../slideLayouts/slideLayout215.xml"/><Relationship Id="rId10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205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8.xml"/><Relationship Id="rId8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36.xml"/><Relationship Id="rId6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233.xml"/><Relationship Id="rId3" Type="http://schemas.openxmlformats.org/officeDocument/2006/relationships/slideLayout" Target="../slideLayouts/slideLayout232.xml"/><Relationship Id="rId25" Type="http://schemas.openxmlformats.org/officeDocument/2006/relationships/theme" Target="../theme/theme12.xml"/><Relationship Id="rId24" Type="http://schemas.openxmlformats.org/officeDocument/2006/relationships/image" Target="../media/image14.png"/><Relationship Id="rId23" Type="http://schemas.openxmlformats.org/officeDocument/2006/relationships/image" Target="../media/image11.jpeg"/><Relationship Id="rId22" Type="http://schemas.openxmlformats.org/officeDocument/2006/relationships/slideLayout" Target="../slideLayouts/slideLayout251.xml"/><Relationship Id="rId21" Type="http://schemas.openxmlformats.org/officeDocument/2006/relationships/slideLayout" Target="../slideLayouts/slideLayout250.xml"/><Relationship Id="rId20" Type="http://schemas.openxmlformats.org/officeDocument/2006/relationships/slideLayout" Target="../slideLayouts/slideLayout249.xml"/><Relationship Id="rId2" Type="http://schemas.openxmlformats.org/officeDocument/2006/relationships/slideLayout" Target="../slideLayouts/slideLayout231.xml"/><Relationship Id="rId19" Type="http://schemas.openxmlformats.org/officeDocument/2006/relationships/slideLayout" Target="../slideLayouts/slideLayout248.xml"/><Relationship Id="rId18" Type="http://schemas.openxmlformats.org/officeDocument/2006/relationships/slideLayout" Target="../slideLayouts/slideLayout247.xml"/><Relationship Id="rId17" Type="http://schemas.openxmlformats.org/officeDocument/2006/relationships/slideLayout" Target="../slideLayouts/slideLayout246.xml"/><Relationship Id="rId16" Type="http://schemas.openxmlformats.org/officeDocument/2006/relationships/slideLayout" Target="../slideLayouts/slideLayout245.xml"/><Relationship Id="rId15" Type="http://schemas.openxmlformats.org/officeDocument/2006/relationships/slideLayout" Target="../slideLayouts/slideLayout244.xml"/><Relationship Id="rId14" Type="http://schemas.openxmlformats.org/officeDocument/2006/relationships/slideLayout" Target="../slideLayouts/slideLayout243.xml"/><Relationship Id="rId13" Type="http://schemas.openxmlformats.org/officeDocument/2006/relationships/slideLayout" Target="../slideLayouts/slideLayout242.xml"/><Relationship Id="rId12" Type="http://schemas.openxmlformats.org/officeDocument/2006/relationships/slideLayout" Target="../slideLayouts/slideLayout241.xml"/><Relationship Id="rId11" Type="http://schemas.openxmlformats.org/officeDocument/2006/relationships/slideLayout" Target="../slideLayouts/slideLayout240.xml"/><Relationship Id="rId10" Type="http://schemas.openxmlformats.org/officeDocument/2006/relationships/slideLayout" Target="../slideLayouts/slideLayout239.xml"/><Relationship Id="rId1" Type="http://schemas.openxmlformats.org/officeDocument/2006/relationships/slideLayout" Target="../slideLayouts/slideLayout2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/>
          <p:cNvPicPr>
            <a:picLocks noChangeAspect="1"/>
          </p:cNvPicPr>
          <p:nvPr userDrawn="1"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>
            <a:fillRect/>
          </a:stretch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605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5220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605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5220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6000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24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585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2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6000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585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  <p:sldLayoutId id="2147483796" r:id="rId18"/>
    <p:sldLayoutId id="2147483797" r:id="rId19"/>
    <p:sldLayoutId id="2147483798" r:id="rId20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Group 18"/>
          <p:cNvGrpSpPr/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/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/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/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/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/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/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/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/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/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/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/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/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/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/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/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/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/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/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/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/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/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/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/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/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/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/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/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/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/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/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/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/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/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/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/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/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/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/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/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/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/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/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/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/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/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/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/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/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/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/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/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/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/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/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/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/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/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/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/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/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/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/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/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/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/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/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/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/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/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/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/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/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/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/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/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/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/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6000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  <p:sldLayoutId id="2147483835" r:id="rId18"/>
    <p:sldLayoutId id="2147483836" r:id="rId19"/>
    <p:sldLayoutId id="2147483837" r:id="rId20"/>
    <p:sldLayoutId id="2147483838" r:id="rId21"/>
    <p:sldLayoutId id="2147483839" r:id="rId22"/>
    <p:sldLayoutId id="2147483840" r:id="rId23"/>
    <p:sldLayoutId id="2147483841" r:id="rId24"/>
    <p:sldLayoutId id="2147483842" r:id="rId25"/>
    <p:sldLayoutId id="2147483843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24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585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895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0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51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82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13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2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5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86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17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48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0">
              <a:solidFill>
                <a:srgbClr val="09357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Group 18"/>
          <p:cNvGrpSpPr/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/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/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/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/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/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/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/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/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/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/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/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/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/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/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/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/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/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/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/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/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/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/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/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/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/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/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/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/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/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/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/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/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/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/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/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/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/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/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/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/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/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/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/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/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/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/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/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/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/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/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/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/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/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/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/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/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/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/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/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/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/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/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/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/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/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/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/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/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/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/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/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/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/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/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/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/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/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Char char="v"/>
                <a:defRPr/>
              </a:pPr>
              <a:endParaRPr lang="zh-CN" altLang="en-US" sz="333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6000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  <p:sldLayoutId id="2147483880" r:id="rId18"/>
    <p:sldLayoutId id="2147483881" r:id="rId19"/>
    <p:sldLayoutId id="2147483882" r:id="rId20"/>
    <p:sldLayoutId id="2147483883" r:id="rId21"/>
    <p:sldLayoutId id="2147483884" r:id="rId22"/>
    <p:sldLayoutId id="2147483885" r:id="rId23"/>
    <p:sldLayoutId id="2147483886" r:id="rId24"/>
    <p:sldLayoutId id="2147483887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24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585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895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0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51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825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2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5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86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17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48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>
            <a:fillRect/>
          </a:stretch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  <p:sldLayoutId id="2147483906" r:id="rId18"/>
    <p:sldLayoutId id="2147483907" r:id="rId19"/>
    <p:sldLayoutId id="2147483908" r:id="rId20"/>
    <p:sldLayoutId id="2147483909" r:id="rId21"/>
    <p:sldLayoutId id="2147483910" r:id="rId22"/>
  </p:sldLayoutIdLst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393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41300" indent="-2413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1970" indent="-2019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275" indent="-16065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5220" indent="-161925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530" indent="-16065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4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5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70" indent="-16065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3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1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hyperlink" Target="https://archive.ics.uci.edu/dataset/47/horse+colic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10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.3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>
                <a:ea typeface="华光综艺_CNKI" panose="02000500000000000000" pitchFamily="2" charset="-122"/>
              </a:rPr>
              <a:t>AdaBoost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介绍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911860" y="1871345"/>
            <a:ext cx="10368915" cy="37001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自适应增强算法（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Adaptive Boosting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是一种强大的集成学习算法，通过迭代训练弱分类器，并加权调整错误样本的重要性，从而构建出一个强分类器。其独特之处在于，每个弱分类器的训练都依赖于前一轮中模型的性能，使得模型能够集中精力纠正先前错误。这种自适应性使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在处理复杂数据和噪声数据时表现出色，成为机器学习领域不可或缺的工具之一。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9900" y="1731645"/>
            <a:ext cx="11252200" cy="3744595"/>
          </a:xfrm>
          <a:prstGeom prst="rect">
            <a:avLst/>
          </a:prstGeom>
        </p:spPr>
      </p:pic>
      <p:sp>
        <p:nvSpPr>
          <p:cNvPr id="7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加法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模型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1466610085" name="图形 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1510" y="1950085"/>
            <a:ext cx="6563995" cy="40913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46035" y="2886075"/>
            <a:ext cx="3729355" cy="20148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如左图所示，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增加前一轮判断错误的样本权重，并降低前一轮判断正确的样本权重，以此提高对判断错误样本的关注度。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81265" y="2766695"/>
            <a:ext cx="3919855" cy="2342515"/>
          </a:xfrm>
          <a:prstGeom prst="rect">
            <a:avLst/>
          </a:prstGeom>
          <a:ln>
            <a:solidFill>
              <a:srgbClr val="023FAA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加法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模型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190" y="1597025"/>
            <a:ext cx="11944985" cy="4264660"/>
          </a:xfrm>
          <a:prstGeom prst="rect">
            <a:avLst/>
          </a:prstGeom>
        </p:spPr>
      </p:pic>
      <p:sp>
        <p:nvSpPr>
          <p:cNvPr id="7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加法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模型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加法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模型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5755" y="2020570"/>
            <a:ext cx="11541125" cy="3383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加法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模型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3240" y="1646555"/>
            <a:ext cx="11078210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的目标是构建一个加法模型，其通过逐步迭代，每次都学习一个新的弱学习器，并更新加法模型的权重，使得模型在训练数据上的表现不断提高。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8020" y="2908935"/>
            <a:ext cx="10933430" cy="332041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06095" y="1586230"/>
            <a:ext cx="11174730" cy="1189990"/>
          </a:xfrm>
          <a:prstGeom prst="rect">
            <a:avLst/>
          </a:prstGeom>
          <a:ln>
            <a:solidFill>
              <a:srgbClr val="023FAA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" name="矩形 26"/>
          <p:cNvSpPr/>
          <p:nvPr/>
        </p:nvSpPr>
        <p:spPr>
          <a:xfrm>
            <a:off x="958215" y="1821180"/>
            <a:ext cx="10074275" cy="175196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加法模型描述了</a:t>
            </a:r>
            <a:r>
              <a: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模型的整体结构，接下来，介绍</a:t>
            </a:r>
            <a:r>
              <a: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在逐步迭代中用于更新样本权重的关键方法</a:t>
            </a:r>
            <a:r>
              <a: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前向分布算法。前向分布算法</a:t>
            </a:r>
            <a:endParaRPr lang="zh-CN" altLang="en-US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4730" y="4218305"/>
            <a:ext cx="1001776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前向分布算法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是一种用于逐步构建强分类器的方法，它通过迭代地训练一系列弱分类器，并根据其表现调整样本权重，使得后续弱分类器更加关注被前一轮分类器错分的样本。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前向分布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570" y="1276985"/>
            <a:ext cx="9937115" cy="4964430"/>
          </a:xfrm>
          <a:prstGeom prst="rect">
            <a:avLst/>
          </a:prstGeom>
        </p:spPr>
      </p:pic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前向分布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求解步骤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9130" y="1695450"/>
            <a:ext cx="10873740" cy="4203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求解步骤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380" y="1231900"/>
            <a:ext cx="10246360" cy="5093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求解步骤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5695" y="1045845"/>
            <a:ext cx="9777730" cy="544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求解步骤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7380" y="1695450"/>
            <a:ext cx="10937240" cy="4213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求解步骤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6385" y="1278255"/>
            <a:ext cx="11436985" cy="4962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  <a:sym typeface="+mn-ea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算法应用与评价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6140" y="1704975"/>
            <a:ext cx="10444480" cy="1822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通过动态调整训练样本的权重，使模型聚焦于先前分类错误的样本，从而更加关注难以分类的样本。这种自适应性使得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在处理复杂数据集时能有效提升分类性能，并适应不同数据分布和特征的变化。同时，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具有较强的泛化能力，通过结合多个弱学习器，可以显著减少过拟合的风险，提高对新数据的预测准确性。此外，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的训练过程相对简单，易于实现，这使得该算法在实际应用中更易于调优和部署。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0910" y="3994785"/>
            <a:ext cx="10379710" cy="1822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然而，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噪声数据相对敏感，因为它在每一轮训练中都会聚焦于先前分类错误的样本。如果数据中存在噪声，可能导致模型过度关注噪声数据，从而影响整体性能。同时，当数据集非常复杂或包含大量重叠类别时，可能导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过拟合训练数据。这是由于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在每一轮迭代中都尝试修正先前分类错误的样本，这将使模型过于专注重叠类别数据，而忽略了真正的数据分布特征，从而降低泛化能力。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2335" y="3994785"/>
            <a:ext cx="10466705" cy="1927225"/>
          </a:xfrm>
          <a:prstGeom prst="rect">
            <a:avLst/>
          </a:prstGeom>
          <a:ln>
            <a:solidFill>
              <a:srgbClr val="023FAA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算法的马疝病预测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4510" y="1237615"/>
            <a:ext cx="10973435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数据集（来源：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hlinkClick r:id="rId1"/>
              </a:rPr>
              <a:t>Horse Colic - UCI 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hlinkClick r:id="rId1"/>
              </a:rPr>
              <a:t>机器学习存储库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）包含了医院记录的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368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匹马检测马疝病的指标记录，部分数据样例见下表，具体字段包括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27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个指标数据和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label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标签数据（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表示病变，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表示未病变）。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840230" y="2978150"/>
          <a:ext cx="8328025" cy="3150235"/>
        </p:xfrm>
        <a:graphic>
          <a:graphicData uri="http://schemas.openxmlformats.org/drawingml/2006/table">
            <a:tbl>
              <a:tblPr/>
              <a:tblGrid>
                <a:gridCol w="857250"/>
                <a:gridCol w="856615"/>
                <a:gridCol w="1011555"/>
                <a:gridCol w="988060"/>
                <a:gridCol w="999490"/>
                <a:gridCol w="906145"/>
                <a:gridCol w="950595"/>
                <a:gridCol w="906145"/>
                <a:gridCol w="852170"/>
              </a:tblGrid>
              <a:tr h="42799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指标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指标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指标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 b="1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指标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24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指标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25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指标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26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指标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27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label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530101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11300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534817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2208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530334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577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530612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2208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534618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6112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算法的马疝病预测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3555" y="1405890"/>
            <a:ext cx="11001375" cy="3322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607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数据预处理。在使用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前，务必确保数据集经过适当的准备，使用均值填充缺失值，并对数据进行了适当的缩放和标准化。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607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模型构建。在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模型的构建可通过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Scikit-learn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ensemble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模块的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AdaBoostClassifier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类实现。首先定义分类器，代码如下：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classifier=ensemble.AdaBoostClassifier()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，然后通过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fit()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函数对分类器进行训练。</a:t>
            </a:r>
            <a:endParaRPr lang="zh-CN" altLang="en-US" sz="2800">
              <a:solidFill>
                <a:srgbClr val="5C5C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37485" y="524827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14935" indent="0" algn="l" defTabSz="266700">
              <a:lnSpc>
                <a:spcPts val="1200"/>
              </a:lnSpc>
            </a:pPr>
            <a:r>
              <a:rPr lang="en-US" altLang="zh-CN" sz="1600">
                <a:solidFill>
                  <a:srgbClr val="A626A4"/>
                </a:solidFill>
                <a:latin typeface="Consolas" panose="020B0609020204030204"/>
                <a:ea typeface="Consolas" panose="020B0609020204030204"/>
                <a:sym typeface="+mn-ea"/>
              </a:rPr>
              <a:t>class</a:t>
            </a:r>
            <a:r>
              <a:rPr lang="en-US" altLang="zh-CN" sz="16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 </a:t>
            </a:r>
            <a:r>
              <a:rPr lang="en-US" altLang="zh-CN" sz="1600">
                <a:solidFill>
                  <a:srgbClr val="C18401"/>
                </a:solidFill>
                <a:latin typeface="Consolas" panose="020B0609020204030204"/>
                <a:ea typeface="Consolas" panose="020B0609020204030204"/>
                <a:sym typeface="+mn-ea"/>
              </a:rPr>
              <a:t>sklearn</a:t>
            </a:r>
            <a:r>
              <a:rPr lang="en-US" altLang="zh-CN" sz="16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.</a:t>
            </a:r>
            <a:r>
              <a:rPr lang="en-US" altLang="zh-CN" sz="1600">
                <a:solidFill>
                  <a:srgbClr val="C18401"/>
                </a:solidFill>
                <a:latin typeface="Consolas" panose="020B0609020204030204"/>
                <a:ea typeface="Consolas" panose="020B0609020204030204"/>
                <a:sym typeface="+mn-ea"/>
              </a:rPr>
              <a:t>ensemble</a:t>
            </a:r>
            <a:r>
              <a:rPr lang="en-US" altLang="zh-CN" sz="16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.</a:t>
            </a:r>
            <a:r>
              <a:rPr lang="en-US" altLang="zh-CN" sz="1600">
                <a:solidFill>
                  <a:srgbClr val="C18401"/>
                </a:solidFill>
                <a:latin typeface="Consolas" panose="020B0609020204030204"/>
                <a:ea typeface="Consolas" panose="020B0609020204030204"/>
                <a:sym typeface="+mn-ea"/>
              </a:rPr>
              <a:t>AdaBoostClassifier</a:t>
            </a:r>
            <a:r>
              <a:rPr lang="en-US" altLang="zh-CN" sz="16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(estimator=None, *, n_estimators=</a:t>
            </a:r>
            <a:r>
              <a:rPr lang="en-US" altLang="zh-CN" sz="16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50</a:t>
            </a:r>
            <a:r>
              <a:rPr lang="en-US" altLang="zh-CN" sz="16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learning_rate=</a:t>
            </a:r>
            <a:r>
              <a:rPr lang="en-US" altLang="zh-CN" sz="1600">
                <a:solidFill>
                  <a:srgbClr val="986801"/>
                </a:solidFill>
                <a:latin typeface="Consolas" panose="020B0609020204030204"/>
                <a:ea typeface="Consolas" panose="020B0609020204030204"/>
                <a:sym typeface="+mn-ea"/>
              </a:rPr>
              <a:t>1.0</a:t>
            </a:r>
            <a:r>
              <a:rPr lang="en-US" altLang="zh-CN" sz="16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algorithm=</a:t>
            </a:r>
            <a:r>
              <a:rPr lang="en-US" altLang="zh-CN" sz="1600">
                <a:solidFill>
                  <a:srgbClr val="50A14F"/>
                </a:solidFill>
                <a:latin typeface="Consolas" panose="020B0609020204030204"/>
                <a:ea typeface="Consolas" panose="020B0609020204030204"/>
                <a:sym typeface="+mn-ea"/>
              </a:rPr>
              <a:t>'SAMME.R'</a:t>
            </a:r>
            <a:r>
              <a:rPr lang="en-US" altLang="zh-CN" sz="16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, random_state=None, base_estimator=</a:t>
            </a:r>
            <a:r>
              <a:rPr lang="en-US" altLang="zh-CN" sz="1600">
                <a:solidFill>
                  <a:srgbClr val="50A14F"/>
                </a:solidFill>
                <a:latin typeface="Consolas" panose="020B0609020204030204"/>
                <a:ea typeface="Consolas" panose="020B0609020204030204"/>
                <a:sym typeface="+mn-ea"/>
              </a:rPr>
              <a:t>'deprecated'</a:t>
            </a:r>
            <a:r>
              <a:rPr lang="en-US" altLang="zh-CN" sz="1600">
                <a:solidFill>
                  <a:srgbClr val="5C5C5C"/>
                </a:solidFill>
                <a:latin typeface="Consolas" panose="020B0609020204030204"/>
                <a:ea typeface="Consolas" panose="020B0609020204030204"/>
                <a:sym typeface="+mn-ea"/>
              </a:rPr>
              <a:t>)</a:t>
            </a:r>
            <a:endParaRPr lang="en-US" altLang="zh-CN" sz="1600">
              <a:solidFill>
                <a:srgbClr val="5C5C5C"/>
              </a:solidFill>
              <a:latin typeface="Consolas" panose="020B0609020204030204"/>
              <a:ea typeface="Consolas" panose="020B0609020204030204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25420" y="5156835"/>
            <a:ext cx="6102350" cy="868680"/>
          </a:xfrm>
          <a:prstGeom prst="rect">
            <a:avLst/>
          </a:prstGeom>
          <a:ln>
            <a:solidFill>
              <a:srgbClr val="023FAA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算法的马疝病预测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6610" y="1325245"/>
            <a:ext cx="10001885" cy="4759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6070" algn="just" defTabSz="266700">
              <a:lnSpc>
                <a:spcPct val="125000"/>
              </a:lnSpc>
              <a:spcBef>
                <a:spcPts val="800"/>
              </a:spcBef>
              <a:spcAft>
                <a:spcPct val="0"/>
              </a:spcAft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参数调整。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时，为确保模型的有效性和泛化能力，需要仔细调整关键参数。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6070" algn="just" defTabSz="266700">
              <a:lnSpc>
                <a:spcPct val="125000"/>
              </a:lnSpc>
              <a:spcBef>
                <a:spcPts val="80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）参数“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base_estimator”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用于指定基学习器，可选择决策树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DecisionTreeClassifier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和支持向量机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SVC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等。为避免过度拟合，建议选择简单而稳定的基础分类器。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6070" algn="just" defTabSz="266700">
              <a:lnSpc>
                <a:spcPct val="125000"/>
              </a:lnSpc>
              <a:spcBef>
                <a:spcPts val="80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）通过参数“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n_estimators”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的迭代次数，增加迭代次数通常有助于提高性能，但需注意防止过拟合。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6070" algn="just" defTabSz="266700">
              <a:lnSpc>
                <a:spcPct val="125000"/>
              </a:lnSpc>
              <a:spcBef>
                <a:spcPts val="80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）学习率“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learning_rate”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用于调整每个弱分类器的权重调整幅度，推荐设置在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0.01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之间。较小的学习率有助于提高模型的稳定性，但可能需要更多的迭代次数。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6070" algn="just" defTabSz="266700">
              <a:lnSpc>
                <a:spcPct val="125000"/>
              </a:lnSpc>
              <a:spcBef>
                <a:spcPts val="80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）参数“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base_estimator”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用于指定基础算法的类型，其中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SAMME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适用于一般分类，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SAMME.R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适用于概率估计。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306070" algn="just" defTabSz="266700">
              <a:lnSpc>
                <a:spcPct val="125000"/>
              </a:lnSpc>
              <a:spcBef>
                <a:spcPts val="80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此外，需对基分类器本身的参数进行调整，以确保其与数据集和任务相匹配。最后，通过采用网格搜索等技术系统地搜索参数空间，以找到最佳的参数组合。通过精心调整这些参数，可以更充分地发挥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算法的优势，从而提升模型的性能和鲁棒性。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7245" y="4967605"/>
            <a:ext cx="10022840" cy="112458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算法的马疝病预测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680" y="1409700"/>
            <a:ext cx="4701540" cy="45491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140" y="2451100"/>
            <a:ext cx="4617720" cy="2087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3" name="矩形 26"/>
          <p:cNvSpPr/>
          <p:nvPr/>
        </p:nvSpPr>
        <p:spPr>
          <a:xfrm>
            <a:off x="995423" y="248198"/>
            <a:ext cx="10017888" cy="582295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AdaBoost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算法的马疝病预测</a:t>
            </a:r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3150" y="1542415"/>
            <a:ext cx="6130290" cy="27654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0390" y="1732280"/>
            <a:ext cx="398462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C45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输出结果：</a:t>
            </a:r>
            <a:endParaRPr lang="zh-CN" altLang="en-US" sz="2800" b="1">
              <a:solidFill>
                <a:srgbClr val="C4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8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决策树平均准确率：</a:t>
            </a: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0.8184</a:t>
            </a:r>
            <a:endParaRPr lang="en-US" altLang="zh-CN" sz="2000">
              <a:solidFill>
                <a:srgbClr val="C5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AdaBoost</a:t>
            </a:r>
            <a:r>
              <a:rPr lang="zh-CN" altLang="en-US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平均准确率： </a:t>
            </a:r>
            <a:r>
              <a:rPr lang="en-US" altLang="zh-CN" sz="2000">
                <a:solidFill>
                  <a:srgbClr val="C5591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0.8417</a:t>
            </a:r>
            <a:endParaRPr lang="en-US" altLang="zh-CN" sz="2000">
              <a:solidFill>
                <a:srgbClr val="C5591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0390" y="4732020"/>
            <a:ext cx="1078484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just" defTabSz="266700">
              <a:lnSpc>
                <a:spcPct val="125000"/>
              </a:lnSpc>
              <a:spcBef>
                <a:spcPts val="80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本例考虑通过多次重复实验来确认结果的稳定性。在不同的数据子集下进行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次重复实验后，通过比较累计平均准确率可以发现，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表现出比决策树更高的预测准确率。具体而言，决策树算法的平均准确率为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0.8184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的平均准确率为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0.8417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。这一提升可以归因于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作为一种集成学习方法，通过组合多个弱分类器构建一个强分类器。读者可尝试调整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和决策树的参数，以进一步优化它们的性能。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43560" y="4712970"/>
            <a:ext cx="10929620" cy="1416685"/>
          </a:xfrm>
          <a:prstGeom prst="rect">
            <a:avLst/>
          </a:prstGeom>
          <a:ln>
            <a:solidFill>
              <a:srgbClr val="023FAA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655*250"/>
  <p:tag name="TABLE_ENDDRAG_RECT" val="30*212*655*250"/>
</p:tagLst>
</file>

<file path=ppt/tags/tag2.xml><?xml version="1.0" encoding="utf-8"?>
<p:tagLst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2444</Words>
  <Application>WPS 演示</Application>
  <PresentationFormat>宽屏</PresentationFormat>
  <Paragraphs>204</Paragraphs>
  <Slides>21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21</vt:i4>
      </vt:variant>
    </vt:vector>
  </HeadingPairs>
  <TitlesOfParts>
    <vt:vector size="55" baseType="lpstr">
      <vt:lpstr>Arial</vt:lpstr>
      <vt:lpstr>宋体</vt:lpstr>
      <vt:lpstr>Wingdings</vt:lpstr>
      <vt:lpstr>微软雅黑</vt:lpstr>
      <vt:lpstr>华光综艺_CNKI</vt:lpstr>
      <vt:lpstr>Arial</vt:lpstr>
      <vt:lpstr>Times New Roman</vt:lpstr>
      <vt:lpstr>Calibri</vt:lpstr>
      <vt:lpstr>Liberation Sans</vt:lpstr>
      <vt:lpstr>Segoe Print</vt:lpstr>
      <vt:lpstr>思源黑体 CN Bold</vt:lpstr>
      <vt:lpstr>Calibri</vt:lpstr>
      <vt:lpstr>思源黑体</vt:lpstr>
      <vt:lpstr>黑体</vt:lpstr>
      <vt:lpstr>Impact</vt:lpstr>
      <vt:lpstr>华文隶书</vt:lpstr>
      <vt:lpstr>Tw Cen MT</vt:lpstr>
      <vt:lpstr>华文仿宋</vt:lpstr>
      <vt:lpstr>等线</vt:lpstr>
      <vt:lpstr>Arial Unicode MS</vt:lpstr>
      <vt:lpstr>Times New Roman</vt:lpstr>
      <vt:lpstr>Consolas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VE</cp:lastModifiedBy>
  <cp:revision>2900</cp:revision>
  <dcterms:created xsi:type="dcterms:W3CDTF">2022-05-23T09:13:00Z</dcterms:created>
  <dcterms:modified xsi:type="dcterms:W3CDTF">2025-04-17T14:07:22Z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2052-12.1.0.20784</vt:lpwstr>
  </property>
</Properties>
</file>