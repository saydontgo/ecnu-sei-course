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34"/>
  </p:handoutMasterIdLst>
  <p:sldIdLst>
    <p:sldId id="15638" r:id="rId14"/>
    <p:sldId id="15667" r:id="rId16"/>
    <p:sldId id="15751" r:id="rId17"/>
    <p:sldId id="15752" r:id="rId18"/>
    <p:sldId id="15753" r:id="rId19"/>
    <p:sldId id="15754" r:id="rId20"/>
    <p:sldId id="15755" r:id="rId21"/>
    <p:sldId id="15756" r:id="rId22"/>
    <p:sldId id="15757" r:id="rId23"/>
    <p:sldId id="15758" r:id="rId24"/>
    <p:sldId id="15759" r:id="rId25"/>
    <p:sldId id="15760" r:id="rId26"/>
    <p:sldId id="15761" r:id="rId27"/>
    <p:sldId id="15762" r:id="rId28"/>
    <p:sldId id="15763" r:id="rId29"/>
    <p:sldId id="15764" r:id="rId30"/>
    <p:sldId id="15765" r:id="rId31"/>
    <p:sldId id="15766" r:id="rId32"/>
    <p:sldId id="15502" r:id="rId33"/>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52"/>
        <p:guide orient="horz" pos="24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gs" Target="tags/tag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1.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10</a:t>
            </a:r>
            <a:r>
              <a:rPr lang="en-US" altLang="zh-CN" sz="5400" b="0" dirty="0">
                <a:solidFill>
                  <a:schemeClr val="bg1"/>
                </a:solidFill>
                <a:ea typeface="华光综艺_CNKI" panose="02000500000000000000" pitchFamily="2" charset="-122"/>
              </a:rPr>
              <a:t>.4</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梯度提升</a:t>
            </a:r>
            <a:r>
              <a:rPr lang="zh-CN" altLang="en-US" b="0" dirty="0">
                <a:ea typeface="华光综艺_CNKI" panose="02000500000000000000" pitchFamily="2" charset="-122"/>
              </a:rPr>
              <a:t>树</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回归</a:t>
            </a:r>
            <a:r>
              <a:rPr lang="zh-CN" altLang="en-US" sz="3200" dirty="0">
                <a:solidFill>
                  <a:srgbClr val="FFFF00"/>
                </a:solidFill>
                <a:latin typeface="华光综艺_CNKI" panose="02000500000000000000" pitchFamily="2" charset="-122"/>
                <a:ea typeface="华光综艺_CNKI" panose="02000500000000000000" pitchFamily="2" charset="-122"/>
              </a:rPr>
              <a:t>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528320" y="1253490"/>
            <a:ext cx="10865485" cy="1129665"/>
          </a:xfrm>
          <a:prstGeom prst="rect">
            <a:avLst/>
          </a:prstGeom>
        </p:spPr>
        <p:txBody>
          <a:bodyPr wrap="square">
            <a:spAutoFit/>
          </a:bodyPr>
          <a:p>
            <a:pPr marL="0" indent="0" algn="just" defTabSz="266700">
              <a:lnSpc>
                <a:spcPct val="125000"/>
              </a:lnSpc>
              <a:spcBef>
                <a:spcPct val="0"/>
              </a:spcBef>
              <a:spcAft>
                <a:spcPct val="0"/>
              </a:spcAft>
            </a:pPr>
            <a:r>
              <a:rPr lang="en-US" altLang="zh-CN">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a:latin typeface="微软雅黑" panose="020B0503020204020204" pitchFamily="34" charset="-122"/>
                <a:ea typeface="微软雅黑" panose="020B0503020204020204" pitchFamily="34" charset="-122"/>
                <a:cs typeface="微软雅黑" panose="020B0503020204020204" pitchFamily="34" charset="-122"/>
              </a:rPr>
              <a:t>决策树的树形结构和分裂准则展现出极大的灵活性，使其不仅仅局限于分类任务，同时也适用于回归任务，因此也被称为回归树。尽管回归树保持了树形结构的特征，但其在特征选择、生长方式等方面与分类树存在一些显著差异。</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533400" y="2682717"/>
            <a:ext cx="5080000" cy="3476625"/>
          </a:xfrm>
          <a:prstGeom prst="rect">
            <a:avLst/>
          </a:prstGeom>
        </p:spPr>
        <p:txBody>
          <a:bodyPr>
            <a:spAutoFit/>
          </a:bodyPr>
          <a:p>
            <a:pPr indent="406400" algn="just" defTabSz="266700" fontAlgn="auto">
              <a:lnSpc>
                <a:spcPct val="125000"/>
              </a:lnSpc>
              <a:spcBef>
                <a:spcPct val="0"/>
              </a:spcBef>
              <a:spcAft>
                <a:spcPct val="0"/>
              </a:spcAft>
              <a:extLst>
                <a:ext uri="{35155182-B16C-46BC-9424-99874614C6A1}">
                  <wpsdc:indentchars xmlns:wpsdc="http://www.wps.cn/officeDocument/2017/drawingmlCustomData" val="200" checksum="1740828767"/>
                </a:ext>
              </a:extLs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在回归任务中，</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决策树同样对输入特征进行递归二分，不同之处在于每个叶子节点不再表示一个离散型的类别，而是对应一个连续型的数值。</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indent="406400" algn="just" defTabSz="266700" fontAlgn="auto">
              <a:lnSpc>
                <a:spcPct val="125000"/>
              </a:lnSpc>
              <a:spcBef>
                <a:spcPct val="0"/>
              </a:spcBef>
              <a:spcAft>
                <a:spcPct val="0"/>
              </a:spcAft>
              <a:extLst>
                <a:ext uri="{35155182-B16C-46BC-9424-99874614C6A1}">
                  <wpsdc:indentchars xmlns:wpsdc="http://www.wps.cn/officeDocument/2017/drawingmlCustomData" val="200" checksum="1740828767"/>
                </a:ext>
              </a:extLs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如</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右图所示，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决策树将输入空间划分为多个子区域</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每个子区域的输出为该区域内所有训练样本的平均值。为了确保所构建的回归树在预测时表现最为有效，即预测值之间的差异最小，需要使每一个区域内样本的纯度最高。因此，构建回归树的关键在于优化每个子区域的样本纯度，使得每个区域内样本的平均值能够最好地反映该区域的特性。</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0" indent="406400" algn="just" defTabSz="266700" fontAlgn="auto">
              <a:lnSpc>
                <a:spcPct val="125000"/>
              </a:lnSpc>
              <a:spcBef>
                <a:spcPct val="0"/>
              </a:spcBef>
              <a:spcAft>
                <a:spcPct val="0"/>
              </a:spcAft>
              <a:extLst>
                <a:ext uri="{35155182-B16C-46BC-9424-99874614C6A1}">
                  <wpsdc:indentchars xmlns:wpsdc="http://www.wps.cn/officeDocument/2017/drawingmlCustomData" val="200" checksum="1740828767"/>
                </a:ext>
              </a:extLst>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0" name="图片 422"/>
          <p:cNvPicPr>
            <a:picLocks noChangeAspect="1"/>
          </p:cNvPicPr>
          <p:nvPr/>
        </p:nvPicPr>
        <p:blipFill>
          <a:blip r:embed="rId1">
            <a:clrChange>
              <a:clrFrom>
                <a:srgbClr val="FFFFFF">
                  <a:alpha val="100000"/>
                </a:srgbClr>
              </a:clrFrom>
              <a:clrTo>
                <a:srgbClr val="FFFFFF">
                  <a:alpha val="100000"/>
                  <a:alpha val="0"/>
                </a:srgbClr>
              </a:clrTo>
            </a:clrChange>
          </a:blip>
          <a:srcRect b="2401"/>
          <a:stretch>
            <a:fillRect/>
          </a:stretch>
        </p:blipFill>
        <p:spPr>
          <a:xfrm>
            <a:off x="5797550" y="2682875"/>
            <a:ext cx="5700395" cy="3019425"/>
          </a:xfrm>
          <a:prstGeom prst="rect">
            <a:avLst/>
          </a:prstGeom>
          <a:noFill/>
          <a:ln>
            <a:noFill/>
          </a:ln>
        </p:spPr>
      </p:pic>
      <p:sp>
        <p:nvSpPr>
          <p:cNvPr id="7" name="矩形 6"/>
          <p:cNvSpPr/>
          <p:nvPr/>
        </p:nvSpPr>
        <p:spPr>
          <a:xfrm>
            <a:off x="528955" y="2766695"/>
            <a:ext cx="5073015" cy="304165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回归</a:t>
            </a:r>
            <a:r>
              <a:rPr lang="zh-CN" altLang="en-US" sz="3200" dirty="0">
                <a:solidFill>
                  <a:srgbClr val="FFFF00"/>
                </a:solidFill>
                <a:latin typeface="华光综艺_CNKI" panose="02000500000000000000" pitchFamily="2" charset="-122"/>
                <a:ea typeface="华光综艺_CNKI" panose="02000500000000000000" pitchFamily="2" charset="-122"/>
              </a:rPr>
              <a:t>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文本框 4"/>
          <p:cNvSpPr txBox="1"/>
          <p:nvPr/>
        </p:nvSpPr>
        <p:spPr>
          <a:xfrm>
            <a:off x="872490" y="1028700"/>
            <a:ext cx="5080000" cy="475615"/>
          </a:xfrm>
          <a:prstGeom prst="rect">
            <a:avLst/>
          </a:prstGeom>
        </p:spPr>
        <p:txBody>
          <a:bodyPr>
            <a:spAutoFit/>
          </a:bodyPr>
          <a:p>
            <a:pPr marL="0" indent="0" algn="just" defTabSz="266700">
              <a:lnSpc>
                <a:spcPct val="125000"/>
              </a:lnSpc>
              <a:spcBef>
                <a:spcPct val="0"/>
              </a:spcBef>
              <a:spcAft>
                <a:spcPct val="0"/>
              </a:spcAft>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建立</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回归树的步骤</a:t>
            </a:r>
            <a:endParaRPr lang="zh-CN" altLang="en-US" sz="20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872490" y="1702435"/>
            <a:ext cx="10263505" cy="45980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回归</a:t>
            </a:r>
            <a:r>
              <a:rPr lang="zh-CN" altLang="en-US" sz="3200" dirty="0">
                <a:solidFill>
                  <a:srgbClr val="FFFF00"/>
                </a:solidFill>
                <a:latin typeface="华光综艺_CNKI" panose="02000500000000000000" pitchFamily="2" charset="-122"/>
                <a:ea typeface="华光综艺_CNKI" panose="02000500000000000000" pitchFamily="2" charset="-122"/>
              </a:rPr>
              <a:t>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21030" y="1569085"/>
            <a:ext cx="10950575" cy="43611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回归</a:t>
            </a:r>
            <a:r>
              <a:rPr lang="zh-CN" altLang="en-US" sz="3200" dirty="0">
                <a:solidFill>
                  <a:srgbClr val="FFFF00"/>
                </a:solidFill>
                <a:latin typeface="华光综艺_CNKI" panose="02000500000000000000" pitchFamily="2" charset="-122"/>
                <a:ea typeface="华光综艺_CNKI" panose="02000500000000000000" pitchFamily="2" charset="-122"/>
              </a:rPr>
              <a:t>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995680" y="1377315"/>
            <a:ext cx="10283190" cy="4707890"/>
          </a:xfrm>
          <a:prstGeom prst="rect">
            <a:avLst/>
          </a:prstGeom>
        </p:spPr>
        <p:txBody>
          <a:bodyPr wrap="square">
            <a:spAutoFit/>
          </a:bodyPr>
          <a:p>
            <a:pPr indent="0" algn="just" defTabSz="266700" fontAlgn="auto">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在划分过程中，通常使用</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RSS</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来度量每个节点的纯度，</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RSS</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越小，则纯度越高。对于某个节点，划分特征和划分点的选择是通过最小化该节点的</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RSS</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来实现的。对于每一次划分，选择能够最大程度地减少节点内部样本</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RSS</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的划分特征和划分点，能使每个子区域内样本在类别上预测结果的平均值更加接近样本在类别上的真实值，从而提高模型的预测性能。</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RSS</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最小时，选择最佳的特征和切分点来划分数据集，其划分的方法主要有两种：非递归切分和二分递归切分。</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indent="0" algn="just" defTabSz="266700" fontAlgn="auto">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）非递归切分是指在构建决策树时，通过迭代遍历可能的切分点来进行数据集的分割，而不采用递归调用。</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）二分递归切分是在每一步通过递归选择最优的切分点将数据集划分为两个子集，直到满足停止条件。</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996950" y="3692525"/>
            <a:ext cx="10343515" cy="239014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回归</a:t>
            </a:r>
            <a:r>
              <a:rPr lang="zh-CN" altLang="en-US" sz="3200" dirty="0">
                <a:solidFill>
                  <a:srgbClr val="FFFF00"/>
                </a:solidFill>
                <a:latin typeface="华光综艺_CNKI" panose="02000500000000000000" pitchFamily="2" charset="-122"/>
                <a:ea typeface="华光综艺_CNKI" panose="02000500000000000000" pitchFamily="2" charset="-122"/>
              </a:rPr>
              <a:t>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69" name="图片 421"/>
          <p:cNvPicPr>
            <a:picLocks noChangeAspect="1"/>
          </p:cNvPicPr>
          <p:nvPr/>
        </p:nvPicPr>
        <p:blipFill>
          <a:blip r:embed="rId1">
            <a:clrChange>
              <a:clrFrom>
                <a:srgbClr val="FFFFFF">
                  <a:alpha val="100000"/>
                </a:srgbClr>
              </a:clrFrom>
              <a:clrTo>
                <a:srgbClr val="FFFFFF">
                  <a:alpha val="100000"/>
                  <a:alpha val="0"/>
                </a:srgbClr>
              </a:clrTo>
            </a:clrChange>
          </a:blip>
          <a:srcRect r="2467" b="1698"/>
          <a:stretch>
            <a:fillRect/>
          </a:stretch>
        </p:blipFill>
        <p:spPr>
          <a:xfrm>
            <a:off x="357505" y="1142365"/>
            <a:ext cx="6827520" cy="3419475"/>
          </a:xfrm>
          <a:prstGeom prst="rect">
            <a:avLst/>
          </a:prstGeom>
          <a:noFill/>
          <a:ln>
            <a:noFill/>
          </a:ln>
        </p:spPr>
      </p:pic>
      <p:sp>
        <p:nvSpPr>
          <p:cNvPr id="2" name="文本框 1"/>
          <p:cNvSpPr txBox="1"/>
          <p:nvPr/>
        </p:nvSpPr>
        <p:spPr>
          <a:xfrm>
            <a:off x="7626350" y="1590675"/>
            <a:ext cx="4107815" cy="2245360"/>
          </a:xfrm>
          <a:prstGeom prst="rect">
            <a:avLst/>
          </a:prstGeom>
        </p:spPr>
        <p:txBody>
          <a:bodyPr wrap="square">
            <a:spAutoFit/>
          </a:bodyPr>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如</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右图所示，通过对比非递归切分（</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）和二分递归切分（</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在空间划分方面的效果，可以观察到在非递归切分的情况下，空间的划分可能更加灵活，按照不同的规则进行。而在二分递归切分中，划分的方式更加有规律性，每一步都在之前划分的基础上将某个区域进一步细分为两部分。</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728980" y="4873625"/>
            <a:ext cx="11109325" cy="163004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a:off x="728980" y="4873625"/>
            <a:ext cx="10993120" cy="1630045"/>
          </a:xfrm>
          <a:prstGeom prst="rect">
            <a:avLst/>
          </a:prstGeom>
        </p:spPr>
        <p:txBody>
          <a:bodyPr wrap="square">
            <a:spAutoFit/>
          </a:bodyPr>
          <a:p>
            <a:pPr marL="0" indent="304800" algn="just" defTabSz="266700">
              <a:lnSpc>
                <a:spcPct val="125000"/>
              </a:lnSpc>
              <a:spcBef>
                <a:spcPct val="0"/>
              </a:spcBef>
              <a:spcAft>
                <a:spcPct val="0"/>
              </a:spcAft>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通常采用二分递归切分来构建回归树。这意味着在构建回归树的过程时，</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通过贪心策略在每一步中选择当前最优的切分方式，将当前区域划分为两部分。通过这样的递归过程，能够有效地将输入空间细分为多个子区域，从而在建立模型时更好地捕捉数据的特征和变化。此外，二分递归切分具有规律性，能够保持树形结构的纵深性，并在大多数情况下保证模型具备较高的计算效率，因为其避免了穷举所有可能性所带来的高计算成本。尽管二分递归切分不能保证找到全局最优解，但在实际应用中，这一方法通常能够得到有效模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1190368" y="2515783"/>
            <a:ext cx="10017888" cy="255206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梯度提升树算法（</a:t>
            </a:r>
            <a:r>
              <a:rPr lang="en-US" altLang="zh-CN"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Gradient Boosting Decision Tree</a:t>
            </a:r>
            <a:r>
              <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是一种以</a:t>
            </a:r>
            <a:r>
              <a:rPr lang="en-US" altLang="zh-CN"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CART</a:t>
            </a:r>
            <a:r>
              <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回归树为基学习器的集成学习算法，其以梯度下降思想为基础，通过损失函数的负梯度方向来调整模型参数，以提升整体性能。梯度提升树基本原理</a:t>
            </a:r>
            <a:endPar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87" name="图片 439"/>
          <p:cNvPicPr>
            <a:picLocks noChangeAspect="1"/>
          </p:cNvPicPr>
          <p:nvPr/>
        </p:nvPicPr>
        <p:blipFill>
          <a:blip r:embed="rId1"/>
          <a:stretch>
            <a:fillRect/>
          </a:stretch>
        </p:blipFill>
        <p:spPr>
          <a:xfrm>
            <a:off x="386080" y="1526540"/>
            <a:ext cx="6130925" cy="4753610"/>
          </a:xfrm>
          <a:prstGeom prst="rect">
            <a:avLst/>
          </a:prstGeom>
          <a:noFill/>
          <a:ln>
            <a:noFill/>
          </a:ln>
        </p:spPr>
      </p:pic>
      <p:sp>
        <p:nvSpPr>
          <p:cNvPr id="2" name="文本框 1"/>
          <p:cNvSpPr txBox="1"/>
          <p:nvPr/>
        </p:nvSpPr>
        <p:spPr>
          <a:xfrm>
            <a:off x="6790690" y="2210277"/>
            <a:ext cx="5080000" cy="3169285"/>
          </a:xfrm>
          <a:prstGeom prst="rect">
            <a:avLst/>
          </a:prstGeom>
        </p:spPr>
        <p:txBody>
          <a:bodyPr>
            <a:spAutoFit/>
          </a:bodyPr>
          <a:p>
            <a:pPr marL="0" indent="30480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相比于</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AdaBoost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算法，</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每轮以当前预测为基准，通过拟合误差函数对预测值的残差进行调整。如</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左图所示，基于训练集</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训练决策树</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，得到预测结果</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sym typeface="+mn-ea"/>
              </a:rPr>
              <a:t>h</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并计算预测残差</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sym typeface="+mn-ea"/>
              </a:rPr>
              <a:t>y</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sym typeface="+mn-ea"/>
              </a:rPr>
              <a:t>h</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；结合加权训练集（对预测错误的样本进行加权），继续拟合决策树</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的残差，得到决策树</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，并纳入加法模型中，此时</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sym typeface="+mn-ea"/>
              </a:rPr>
              <a:t>h</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为决策树</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和决策树</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预测结果的相加。在</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GBDT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中，每一棵树逐步拟合前一棵树的残差，这种渐进的方式能有效地通过多轮迭代不断提升模型性能，最终得到精准而可靠的预测结果。</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6740525" y="2200275"/>
            <a:ext cx="5186045" cy="298450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3" name="文本框 2"/>
          <p:cNvSpPr txBox="1"/>
          <p:nvPr/>
        </p:nvSpPr>
        <p:spPr>
          <a:xfrm>
            <a:off x="1033780" y="1304925"/>
            <a:ext cx="9652000" cy="1822450"/>
          </a:xfrm>
          <a:prstGeom prst="rect">
            <a:avLst/>
          </a:prstGeom>
        </p:spPr>
        <p:txBody>
          <a:bodyPr wrap="square">
            <a:spAutoFit/>
          </a:bodyPr>
          <a:p>
            <a:pPr marL="0" indent="0" algn="just" defTabSz="266700">
              <a:lnSpc>
                <a:spcPct val="125000"/>
              </a:lnSpc>
              <a:spcBef>
                <a:spcPts val="400"/>
              </a:spcBef>
              <a:spcAft>
                <a:spcPct val="0"/>
              </a:spcAft>
            </a:pPr>
            <a:r>
              <a:rPr lang="zh-CN" altLang="en-US" b="1">
                <a:solidFill>
                  <a:srgbClr val="C55911"/>
                </a:solidFill>
                <a:latin typeface="微软雅黑" panose="020B0503020204020204" pitchFamily="34" charset="-122"/>
                <a:ea typeface="微软雅黑" panose="020B0503020204020204" pitchFamily="34" charset="-122"/>
                <a:cs typeface="微软雅黑" panose="020B0503020204020204" pitchFamily="34" charset="-122"/>
              </a:rPr>
              <a:t>算一算：</a:t>
            </a:r>
            <a:r>
              <a:rPr lang="zh-CN" altLang="en-US">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a:latin typeface="微软雅黑" panose="020B0503020204020204" pitchFamily="34" charset="-122"/>
                <a:ea typeface="微软雅黑" panose="020B0503020204020204" pitchFamily="34" charset="-122"/>
                <a:cs typeface="微软雅黑" panose="020B0503020204020204" pitchFamily="34" charset="-122"/>
              </a:rPr>
              <a:t>1014</a:t>
            </a:r>
            <a:r>
              <a:rPr lang="zh-CN" altLang="en-US">
                <a:latin typeface="微软雅黑" panose="020B0503020204020204" pitchFamily="34" charset="-122"/>
                <a:ea typeface="微软雅黑" panose="020B0503020204020204" pitchFamily="34" charset="-122"/>
                <a:cs typeface="微软雅黑" panose="020B0503020204020204" pitchFamily="34" charset="-122"/>
              </a:rPr>
              <a:t>所示，某产品的真实价格为</a:t>
            </a:r>
            <a:r>
              <a:rPr lang="en-US" altLang="zh-CN">
                <a:latin typeface="微软雅黑" panose="020B0503020204020204" pitchFamily="34" charset="-122"/>
                <a:ea typeface="微软雅黑" panose="020B0503020204020204" pitchFamily="34" charset="-122"/>
                <a:cs typeface="微软雅黑" panose="020B0503020204020204" pitchFamily="34" charset="-122"/>
              </a:rPr>
              <a:t>2000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元，使用</a:t>
            </a:r>
            <a:r>
              <a:rPr lang="en-US" altLang="zh-CN">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a:latin typeface="微软雅黑" panose="020B0503020204020204" pitchFamily="34" charset="-122"/>
                <a:ea typeface="微软雅黑" panose="020B0503020204020204" pitchFamily="34" charset="-122"/>
                <a:cs typeface="微软雅黑" panose="020B0503020204020204" pitchFamily="34" charset="-122"/>
              </a:rPr>
              <a:t>对该产品进行价格预测，第一颗决策树的预测金额为</a:t>
            </a:r>
            <a:r>
              <a:rPr lang="en-US" altLang="zh-CN">
                <a:latin typeface="微软雅黑" panose="020B0503020204020204" pitchFamily="34" charset="-122"/>
                <a:ea typeface="微软雅黑" panose="020B0503020204020204" pitchFamily="34" charset="-122"/>
                <a:cs typeface="微软雅黑" panose="020B0503020204020204" pitchFamily="34" charset="-122"/>
              </a:rPr>
              <a:t>1500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，其残差为</a:t>
            </a:r>
            <a:r>
              <a:rPr lang="en-US" altLang="zh-CN">
                <a:latin typeface="微软雅黑" panose="020B0503020204020204" pitchFamily="34" charset="-122"/>
                <a:ea typeface="微软雅黑" panose="020B0503020204020204" pitchFamily="34" charset="-122"/>
                <a:cs typeface="微软雅黑" panose="020B0503020204020204" pitchFamily="34" charset="-122"/>
              </a:rPr>
              <a:t>2000-1500=500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元；第二棵树需要预测第一棵树的残差，即</a:t>
            </a:r>
            <a:r>
              <a:rPr lang="en-US" altLang="zh-CN">
                <a:latin typeface="微软雅黑" panose="020B0503020204020204" pitchFamily="34" charset="-122"/>
                <a:ea typeface="微软雅黑" panose="020B0503020204020204" pitchFamily="34" charset="-122"/>
                <a:cs typeface="微软雅黑" panose="020B0503020204020204" pitchFamily="34" charset="-122"/>
              </a:rPr>
              <a:t>500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元，第二棵树的预测结果为</a:t>
            </a:r>
            <a:r>
              <a:rPr lang="en-US" altLang="zh-CN">
                <a:latin typeface="微软雅黑" panose="020B0503020204020204" pitchFamily="34" charset="-122"/>
                <a:ea typeface="微软雅黑" panose="020B0503020204020204" pitchFamily="34" charset="-122"/>
                <a:cs typeface="微软雅黑" panose="020B0503020204020204" pitchFamily="34" charset="-122"/>
              </a:rPr>
              <a:t>400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，其残差为</a:t>
            </a:r>
            <a:r>
              <a:rPr lang="en-US" altLang="zh-CN">
                <a:latin typeface="微软雅黑" panose="020B0503020204020204" pitchFamily="34" charset="-122"/>
                <a:ea typeface="微软雅黑" panose="020B0503020204020204" pitchFamily="34" charset="-122"/>
                <a:cs typeface="微软雅黑" panose="020B0503020204020204" pitchFamily="34" charset="-122"/>
              </a:rPr>
              <a:t>500-400=100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元；以此类推，第四颗树的残差为</a:t>
            </a:r>
            <a:r>
              <a:rPr lang="en-US" altLang="zh-CN">
                <a:latin typeface="微软雅黑" panose="020B0503020204020204" pitchFamily="34" charset="-122"/>
                <a:ea typeface="微软雅黑" panose="020B0503020204020204" pitchFamily="34" charset="-122"/>
                <a:cs typeface="微软雅黑" panose="020B0503020204020204" pitchFamily="34" charset="-122"/>
              </a:rPr>
              <a:t>0</a:t>
            </a:r>
            <a:r>
              <a:rPr lang="zh-CN" altLang="en-US">
                <a:latin typeface="微软雅黑" panose="020B0503020204020204" pitchFamily="34" charset="-122"/>
                <a:ea typeface="微软雅黑" panose="020B0503020204020204" pitchFamily="34" charset="-122"/>
                <a:cs typeface="微软雅黑" panose="020B0503020204020204" pitchFamily="34" charset="-122"/>
              </a:rPr>
              <a:t>，停止迭代，最终的价格为每棵树的预测结果之和，即</a:t>
            </a:r>
            <a:r>
              <a:rPr lang="en-US" altLang="zh-CN">
                <a:latin typeface="微软雅黑" panose="020B0503020204020204" pitchFamily="34" charset="-122"/>
                <a:ea typeface="微软雅黑" panose="020B0503020204020204" pitchFamily="34" charset="-122"/>
                <a:cs typeface="微软雅黑" panose="020B0503020204020204" pitchFamily="34" charset="-122"/>
              </a:rPr>
              <a:t>1500+400+80+20=2000</a:t>
            </a:r>
            <a:r>
              <a:rPr lang="zh-CN" altLang="en-US">
                <a:latin typeface="微软雅黑" panose="020B0503020204020204" pitchFamily="34" charset="-122"/>
                <a:ea typeface="微软雅黑" panose="020B0503020204020204" pitchFamily="34" charset="-122"/>
                <a:cs typeface="微软雅黑" panose="020B0503020204020204" pitchFamily="34" charset="-122"/>
              </a:rPr>
              <a:t>元。</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8" name="图片 440"/>
          <p:cNvPicPr>
            <a:picLocks noChangeAspect="1"/>
          </p:cNvPicPr>
          <p:nvPr/>
        </p:nvPicPr>
        <p:blipFill>
          <a:blip r:embed="rId1"/>
          <a:stretch>
            <a:fillRect/>
          </a:stretch>
        </p:blipFill>
        <p:spPr>
          <a:xfrm>
            <a:off x="2832735" y="3335020"/>
            <a:ext cx="6318250" cy="3151505"/>
          </a:xfrm>
          <a:prstGeom prst="rect">
            <a:avLst/>
          </a:prstGeom>
          <a:noFill/>
          <a:ln>
            <a:noFill/>
          </a:ln>
        </p:spPr>
      </p:pic>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21030" y="1889125"/>
            <a:ext cx="11083290" cy="3598545"/>
          </a:xfrm>
          <a:prstGeom prst="rect">
            <a:avLst/>
          </a:prstGeom>
        </p:spPr>
      </p:pic>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067435" y="1173480"/>
            <a:ext cx="10052050" cy="5290185"/>
          </a:xfrm>
          <a:prstGeom prst="rect">
            <a:avLst/>
          </a:prstGeom>
        </p:spPr>
      </p:pic>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28930" y="1995805"/>
            <a:ext cx="11663045" cy="3408045"/>
          </a:xfrm>
          <a:prstGeom prst="rect">
            <a:avLst/>
          </a:prstGeom>
        </p:spPr>
      </p:pic>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29590" y="1409700"/>
            <a:ext cx="11278235" cy="4681855"/>
          </a:xfrm>
          <a:prstGeom prst="rect">
            <a:avLst/>
          </a:prstGeom>
        </p:spPr>
      </p:pic>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梯度提升树基本原理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梯度提升树算法应用与评价</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3" name="文本框 2"/>
          <p:cNvSpPr txBox="1"/>
          <p:nvPr/>
        </p:nvSpPr>
        <p:spPr>
          <a:xfrm>
            <a:off x="609600" y="1315720"/>
            <a:ext cx="10652125" cy="4707890"/>
          </a:xfrm>
          <a:prstGeom prst="rect">
            <a:avLst/>
          </a:prstGeom>
        </p:spPr>
        <p:txBody>
          <a:bodyPr wrap="square">
            <a:spAutoFit/>
          </a:bodyPr>
          <a:p>
            <a:pPr marL="0" indent="304800" algn="just" defTabSz="266700">
              <a:lnSpc>
                <a:spcPct val="125000"/>
              </a:lnSpc>
              <a:spcBef>
                <a:spcPct val="0"/>
              </a:spcBef>
              <a:spcAft>
                <a:spcPct val="0"/>
              </a:spcAft>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算法是一种强大的集成学习方法，通过迭代训练弱分类器（决策树），不断纠正之前模型的残差，逐步提升整体模型性能。同时，</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能处理复杂的非线性关系，并对异常值和噪声相对鲁棒，而且其在回归和分类任务中表现出色，具有良好的泛化能力和抗过拟合能力。</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然而，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在处理高维稀疏数据时可能效率较差，尤其在文本特征上表现相对较弱。总体而言，</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在实际应用中广泛受到欢迎，如在工业制造领域，</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GBDT</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被应用于设备故障预测、质量控制、生产优化等任务，这使其成为机器学习领域的重要算法之一。</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p:nvPr/>
        </p:nvSpPr>
        <p:spPr>
          <a:xfrm>
            <a:off x="609600" y="4041775"/>
            <a:ext cx="10683875" cy="212598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实践案例：基于梯度提升树算法的充电桩故障状态预测</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文本框 1"/>
          <p:cNvSpPr txBox="1"/>
          <p:nvPr/>
        </p:nvSpPr>
        <p:spPr>
          <a:xfrm>
            <a:off x="779145" y="1250950"/>
            <a:ext cx="10331450" cy="1630045"/>
          </a:xfrm>
          <a:prstGeom prst="rect">
            <a:avLst/>
          </a:prstGeom>
        </p:spPr>
        <p:txBody>
          <a:bodyPr wrap="square">
            <a:spAutoFit/>
          </a:bodyPr>
          <a:p>
            <a:pPr marL="0" indent="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数据集（来源：百度新手赛中提供的新能源汽车充电桩记录数据集）包含了</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85500</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个充电桩记录，部分数据样例见下表，具体字段包括：</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ID</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K1K2</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驱动信号，电子锁驱动信号，急停信号，门禁信号，</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THDV-M</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（电压的总谐波失真），</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THDI-M</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（电流的总谐波失真），</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label</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（状态标签，</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为正常，</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为故障）。</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表格 5"/>
          <p:cNvGraphicFramePr/>
          <p:nvPr>
            <p:custDataLst>
              <p:tags r:id="rId1"/>
            </p:custDataLst>
          </p:nvPr>
        </p:nvGraphicFramePr>
        <p:xfrm>
          <a:off x="1185545" y="3275965"/>
          <a:ext cx="9481185" cy="2808605"/>
        </p:xfrm>
        <a:graphic>
          <a:graphicData uri="http://schemas.openxmlformats.org/drawingml/2006/table">
            <a:tbl>
              <a:tblPr/>
              <a:tblGrid>
                <a:gridCol w="641985"/>
                <a:gridCol w="1280160"/>
                <a:gridCol w="1474470"/>
                <a:gridCol w="1256030"/>
                <a:gridCol w="1336040"/>
                <a:gridCol w="1297305"/>
                <a:gridCol w="1459230"/>
                <a:gridCol w="735965"/>
              </a:tblGrid>
              <a:tr h="431800">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Times New Roman" panose="02020603050405020304"/>
                        </a:rPr>
                        <a:t>id</a:t>
                      </a:r>
                      <a:endParaRPr lang="en-US" altLang="zh-CN" sz="1100" b="1">
                        <a:solidFill>
                          <a:srgbClr val="000000"/>
                        </a:solidFill>
                        <a:latin typeface="Times New Roman" panose="02020603050405020304"/>
                        <a:ea typeface="Times New Roman" panose="02020603050405020304"/>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Times New Roman" panose="02020603050405020304"/>
                        </a:rPr>
                        <a:t>K1K2</a:t>
                      </a:r>
                      <a:r>
                        <a:rPr lang="zh-CN" sz="1100" b="1">
                          <a:solidFill>
                            <a:srgbClr val="000000"/>
                          </a:solidFill>
                          <a:latin typeface="Times New Roman" panose="02020603050405020304"/>
                          <a:ea typeface="宋体" panose="02010600030101010101" pitchFamily="2" charset="-122"/>
                        </a:rPr>
                        <a:t>驱动信号</a:t>
                      </a:r>
                      <a:endParaRPr 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Times New Roman" panose="02020603050405020304"/>
                          <a:ea typeface="宋体" panose="02010600030101010101" pitchFamily="2" charset="-122"/>
                        </a:rPr>
                        <a:t>电子锁驱动信号</a:t>
                      </a:r>
                      <a:endParaRPr 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Times New Roman" panose="02020603050405020304"/>
                          <a:ea typeface="宋体" panose="02010600030101010101" pitchFamily="2" charset="-122"/>
                        </a:rPr>
                        <a:t>急停信号</a:t>
                      </a:r>
                      <a:endParaRPr 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Times New Roman" panose="02020603050405020304"/>
                          <a:ea typeface="宋体" panose="02010600030101010101" pitchFamily="2" charset="-122"/>
                        </a:rPr>
                        <a:t>门禁信号</a:t>
                      </a:r>
                      <a:endParaRPr 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THDV-M</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THDI-M</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Times New Roman" panose="02020603050405020304"/>
                        </a:rPr>
                        <a:t>l</a:t>
                      </a:r>
                      <a:r>
                        <a:rPr lang="en-US" altLang="zh-CN" sz="1100" b="1">
                          <a:solidFill>
                            <a:srgbClr val="000000"/>
                          </a:solidFill>
                          <a:latin typeface="Times New Roman" panose="02020603050405020304"/>
                          <a:ea typeface="宋体" panose="02010600030101010101" pitchFamily="2" charset="-122"/>
                        </a:rPr>
                        <a:t>abel</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3243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11.802741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12.122681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-0.05744</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12.089629</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11.809618</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11.468398</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431800">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2</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11.818357</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12.135362</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-0.055879</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12.056373</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11.671259</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38.840074</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43243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3</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11.802741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12.121097</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-0.060561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12.038968</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12.163057</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14.761536</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15900">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3243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27</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11.815237</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12.122681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-0.038702</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12.075375</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12.426496</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417.83033</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431800">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28</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11.818357</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12.138529</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-0.077738</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12.105465</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15.48184</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27.51479</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Times New Roman" panose="02020603050405020304"/>
                        </a:rPr>
                        <a:t>1</a:t>
                      </a:r>
                      <a:endParaRPr lang="en-US" altLang="zh-CN" sz="11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实践案例：基于梯度提升树算法的充电桩故障状态预测</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3" name="文本框 2"/>
          <p:cNvSpPr txBox="1"/>
          <p:nvPr/>
        </p:nvSpPr>
        <p:spPr>
          <a:xfrm>
            <a:off x="730250" y="1321435"/>
            <a:ext cx="10547985" cy="3322955"/>
          </a:xfrm>
          <a:prstGeom prst="rect">
            <a:avLst/>
          </a:prstGeom>
        </p:spPr>
        <p:txBody>
          <a:bodyPr wrap="square">
            <a:spAutoFit/>
          </a:bodyPr>
          <a:p>
            <a:pPr indent="0" algn="just" defTabSz="266700" fontAlgn="auto">
              <a:lnSpc>
                <a:spcPct val="125000"/>
              </a:lnSpc>
              <a:spcBef>
                <a:spcPct val="0"/>
              </a:spcBef>
              <a:spcAft>
                <a:spcPct val="0"/>
              </a:spcAft>
            </a:pP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模型构建。在</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Python</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中，</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GBDT</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模型的构建可通过</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Scikit-learn</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中</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ensemble</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模块的</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GradientBoostingClassifier</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类实现。首先定义分类器，代码如下：</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classifier=ensemble.GradientBoostingClassifie ()</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，然后通过</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fit()</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函数对分类器进行训练。</a:t>
            </a:r>
            <a:endPar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endPar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参数调整。在使用</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GBDT</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时，为确保模型的有效性和泛化能力，需要仔细调整关键参数。参数“</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n_estimators”</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表示构建的决策树数量，默认为</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100</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；参数“</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max_features”</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表示最佳分裂节点之前使用的最大特征数；参数“</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mini_sample_leaf”</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表示确定分裂内部节点所需的最小叶子数。这些超参数在</a:t>
            </a:r>
            <a:r>
              <a:rPr lang="en-US" altLang="zh-CN"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GBDT</a:t>
            </a:r>
            <a:r>
              <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中用于增强模型的性能和预测能力以及提高模型的速度。</a:t>
            </a:r>
            <a:endParaRPr lang="zh-CN" altLang="en-US" sz="210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文本框 3"/>
          <p:cNvSpPr txBox="1"/>
          <p:nvPr/>
        </p:nvSpPr>
        <p:spPr>
          <a:xfrm>
            <a:off x="3048000" y="4910455"/>
            <a:ext cx="6096000" cy="1322070"/>
          </a:xfrm>
          <a:prstGeom prst="rect">
            <a:avLst/>
          </a:prstGeom>
          <a:noFill/>
        </p:spPr>
        <p:txBody>
          <a:bodyPr wrap="square" rtlCol="0" anchor="t">
            <a:spAutoFit/>
          </a:bodyPr>
          <a:p>
            <a:pPr marL="114935" indent="0" algn="l" defTabSz="266700">
              <a:lnSpc>
                <a:spcPts val="1200"/>
              </a:lnSpc>
            </a:pPr>
            <a:r>
              <a:rPr lang="en-US" altLang="zh-CN" sz="1400">
                <a:solidFill>
                  <a:srgbClr val="A626A4"/>
                </a:solidFill>
                <a:latin typeface="Consolas" panose="020B0609020204030204"/>
                <a:ea typeface="Consolas" panose="020B0609020204030204"/>
                <a:sym typeface="+mn-ea"/>
              </a:rPr>
              <a:t>class</a:t>
            </a:r>
            <a:r>
              <a:rPr lang="en-US" altLang="zh-CN" sz="1400">
                <a:solidFill>
                  <a:srgbClr val="5C5C5C"/>
                </a:solidFill>
                <a:latin typeface="Consolas" panose="020B0609020204030204"/>
                <a:ea typeface="Consolas" panose="020B0609020204030204"/>
                <a:sym typeface="+mn-ea"/>
              </a:rPr>
              <a:t> </a:t>
            </a:r>
            <a:r>
              <a:rPr lang="en-US" altLang="zh-CN" sz="1400">
                <a:solidFill>
                  <a:srgbClr val="C18401"/>
                </a:solidFill>
                <a:latin typeface="Consolas" panose="020B0609020204030204"/>
                <a:ea typeface="Consolas" panose="020B0609020204030204"/>
                <a:sym typeface="+mn-ea"/>
              </a:rPr>
              <a:t>sklearn</a:t>
            </a:r>
            <a:r>
              <a:rPr lang="en-US" altLang="zh-CN" sz="1400">
                <a:solidFill>
                  <a:srgbClr val="5C5C5C"/>
                </a:solidFill>
                <a:latin typeface="Consolas" panose="020B0609020204030204"/>
                <a:ea typeface="Consolas" panose="020B0609020204030204"/>
                <a:sym typeface="+mn-ea"/>
              </a:rPr>
              <a:t>.</a:t>
            </a:r>
            <a:r>
              <a:rPr lang="en-US" altLang="zh-CN" sz="1400">
                <a:solidFill>
                  <a:srgbClr val="C18401"/>
                </a:solidFill>
                <a:latin typeface="Consolas" panose="020B0609020204030204"/>
                <a:ea typeface="Consolas" panose="020B0609020204030204"/>
                <a:sym typeface="+mn-ea"/>
              </a:rPr>
              <a:t>ensemble</a:t>
            </a:r>
            <a:r>
              <a:rPr lang="en-US" altLang="zh-CN" sz="1400">
                <a:solidFill>
                  <a:srgbClr val="5C5C5C"/>
                </a:solidFill>
                <a:latin typeface="Consolas" panose="020B0609020204030204"/>
                <a:ea typeface="Consolas" panose="020B0609020204030204"/>
                <a:sym typeface="+mn-ea"/>
              </a:rPr>
              <a:t>.</a:t>
            </a:r>
            <a:r>
              <a:rPr lang="en-US" altLang="zh-CN" sz="1400">
                <a:solidFill>
                  <a:srgbClr val="C18401"/>
                </a:solidFill>
                <a:latin typeface="Consolas" panose="020B0609020204030204"/>
                <a:ea typeface="Consolas" panose="020B0609020204030204"/>
                <a:sym typeface="+mn-ea"/>
              </a:rPr>
              <a:t>GradientBoostingClassifier</a:t>
            </a:r>
            <a:r>
              <a:rPr lang="en-US" altLang="zh-CN" sz="1400">
                <a:solidFill>
                  <a:srgbClr val="5C5C5C"/>
                </a:solidFill>
                <a:latin typeface="Consolas" panose="020B0609020204030204"/>
                <a:ea typeface="Consolas" panose="020B0609020204030204"/>
                <a:sym typeface="+mn-ea"/>
              </a:rPr>
              <a:t>(*, loss=</a:t>
            </a:r>
            <a:r>
              <a:rPr lang="en-US" altLang="zh-CN" sz="1400">
                <a:solidFill>
                  <a:srgbClr val="50A14F"/>
                </a:solidFill>
                <a:latin typeface="Consolas" panose="020B0609020204030204"/>
                <a:ea typeface="Consolas" panose="020B0609020204030204"/>
                <a:sym typeface="+mn-ea"/>
              </a:rPr>
              <a:t>'log_loss'</a:t>
            </a:r>
            <a:r>
              <a:rPr lang="en-US" altLang="zh-CN" sz="1400">
                <a:solidFill>
                  <a:srgbClr val="5C5C5C"/>
                </a:solidFill>
                <a:latin typeface="Consolas" panose="020B0609020204030204"/>
                <a:ea typeface="Consolas" panose="020B0609020204030204"/>
                <a:sym typeface="+mn-ea"/>
              </a:rPr>
              <a:t>, learning_rate=</a:t>
            </a:r>
            <a:r>
              <a:rPr lang="en-US" altLang="zh-CN" sz="1400">
                <a:solidFill>
                  <a:srgbClr val="986801"/>
                </a:solidFill>
                <a:latin typeface="Consolas" panose="020B0609020204030204"/>
                <a:ea typeface="Consolas" panose="020B0609020204030204"/>
                <a:sym typeface="+mn-ea"/>
              </a:rPr>
              <a:t>0.1</a:t>
            </a:r>
            <a:r>
              <a:rPr lang="en-US" altLang="zh-CN" sz="1400">
                <a:solidFill>
                  <a:srgbClr val="5C5C5C"/>
                </a:solidFill>
                <a:latin typeface="Consolas" panose="020B0609020204030204"/>
                <a:ea typeface="Consolas" panose="020B0609020204030204"/>
                <a:sym typeface="+mn-ea"/>
              </a:rPr>
              <a:t>, n_estimators=</a:t>
            </a:r>
            <a:r>
              <a:rPr lang="en-US" altLang="zh-CN" sz="1400">
                <a:solidFill>
                  <a:srgbClr val="986801"/>
                </a:solidFill>
                <a:latin typeface="Consolas" panose="020B0609020204030204"/>
                <a:ea typeface="Consolas" panose="020B0609020204030204"/>
                <a:sym typeface="+mn-ea"/>
              </a:rPr>
              <a:t>100</a:t>
            </a:r>
            <a:r>
              <a:rPr lang="en-US" altLang="zh-CN" sz="1400">
                <a:solidFill>
                  <a:srgbClr val="5C5C5C"/>
                </a:solidFill>
                <a:latin typeface="Consolas" panose="020B0609020204030204"/>
                <a:ea typeface="Consolas" panose="020B0609020204030204"/>
                <a:sym typeface="+mn-ea"/>
              </a:rPr>
              <a:t>, subsample=</a:t>
            </a:r>
            <a:r>
              <a:rPr lang="en-US" altLang="zh-CN" sz="1400">
                <a:solidFill>
                  <a:srgbClr val="986801"/>
                </a:solidFill>
                <a:latin typeface="Consolas" panose="020B0609020204030204"/>
                <a:ea typeface="Consolas" panose="020B0609020204030204"/>
                <a:sym typeface="+mn-ea"/>
              </a:rPr>
              <a:t>1.0</a:t>
            </a:r>
            <a:r>
              <a:rPr lang="en-US" altLang="zh-CN" sz="1400">
                <a:solidFill>
                  <a:srgbClr val="5C5C5C"/>
                </a:solidFill>
                <a:latin typeface="Consolas" panose="020B0609020204030204"/>
                <a:ea typeface="Consolas" panose="020B0609020204030204"/>
                <a:sym typeface="+mn-ea"/>
              </a:rPr>
              <a:t>, criterion=</a:t>
            </a:r>
            <a:r>
              <a:rPr lang="en-US" altLang="zh-CN" sz="1400">
                <a:solidFill>
                  <a:srgbClr val="50A14F"/>
                </a:solidFill>
                <a:latin typeface="Consolas" panose="020B0609020204030204"/>
                <a:ea typeface="Consolas" panose="020B0609020204030204"/>
                <a:sym typeface="+mn-ea"/>
              </a:rPr>
              <a:t>'friedman_mse'</a:t>
            </a:r>
            <a:r>
              <a:rPr lang="en-US" altLang="zh-CN" sz="1400">
                <a:solidFill>
                  <a:srgbClr val="5C5C5C"/>
                </a:solidFill>
                <a:latin typeface="Consolas" panose="020B0609020204030204"/>
                <a:ea typeface="Consolas" panose="020B0609020204030204"/>
                <a:sym typeface="+mn-ea"/>
              </a:rPr>
              <a:t>, min_samples_split=</a:t>
            </a:r>
            <a:r>
              <a:rPr lang="en-US" altLang="zh-CN" sz="1400">
                <a:solidFill>
                  <a:srgbClr val="986801"/>
                </a:solidFill>
                <a:latin typeface="Consolas" panose="020B0609020204030204"/>
                <a:ea typeface="Consolas" panose="020B0609020204030204"/>
                <a:sym typeface="+mn-ea"/>
              </a:rPr>
              <a:t>2</a:t>
            </a:r>
            <a:r>
              <a:rPr lang="en-US" altLang="zh-CN" sz="1400">
                <a:solidFill>
                  <a:srgbClr val="5C5C5C"/>
                </a:solidFill>
                <a:latin typeface="Consolas" panose="020B0609020204030204"/>
                <a:ea typeface="Consolas" panose="020B0609020204030204"/>
                <a:sym typeface="+mn-ea"/>
              </a:rPr>
              <a:t>, min_samples_leaf=</a:t>
            </a:r>
            <a:r>
              <a:rPr lang="en-US" altLang="zh-CN" sz="1400">
                <a:solidFill>
                  <a:srgbClr val="986801"/>
                </a:solidFill>
                <a:latin typeface="Consolas" panose="020B0609020204030204"/>
                <a:ea typeface="Consolas" panose="020B0609020204030204"/>
                <a:sym typeface="+mn-ea"/>
              </a:rPr>
              <a:t>1</a:t>
            </a:r>
            <a:r>
              <a:rPr lang="en-US" altLang="zh-CN" sz="1400">
                <a:solidFill>
                  <a:srgbClr val="5C5C5C"/>
                </a:solidFill>
                <a:latin typeface="Consolas" panose="020B0609020204030204"/>
                <a:ea typeface="Consolas" panose="020B0609020204030204"/>
                <a:sym typeface="+mn-ea"/>
              </a:rPr>
              <a:t>, min_weight_fraction_leaf=</a:t>
            </a:r>
            <a:r>
              <a:rPr lang="en-US" altLang="zh-CN" sz="1400">
                <a:solidFill>
                  <a:srgbClr val="986801"/>
                </a:solidFill>
                <a:latin typeface="Consolas" panose="020B0609020204030204"/>
                <a:ea typeface="Consolas" panose="020B0609020204030204"/>
                <a:sym typeface="+mn-ea"/>
              </a:rPr>
              <a:t>0.0</a:t>
            </a:r>
            <a:r>
              <a:rPr lang="en-US" altLang="zh-CN" sz="1400">
                <a:solidFill>
                  <a:srgbClr val="5C5C5C"/>
                </a:solidFill>
                <a:latin typeface="Consolas" panose="020B0609020204030204"/>
                <a:ea typeface="Consolas" panose="020B0609020204030204"/>
                <a:sym typeface="+mn-ea"/>
              </a:rPr>
              <a:t>, max_depth=</a:t>
            </a:r>
            <a:r>
              <a:rPr lang="en-US" altLang="zh-CN" sz="1400">
                <a:solidFill>
                  <a:srgbClr val="986801"/>
                </a:solidFill>
                <a:latin typeface="Consolas" panose="020B0609020204030204"/>
                <a:ea typeface="Consolas" panose="020B0609020204030204"/>
                <a:sym typeface="+mn-ea"/>
              </a:rPr>
              <a:t>3</a:t>
            </a:r>
            <a:r>
              <a:rPr lang="en-US" altLang="zh-CN" sz="1400">
                <a:solidFill>
                  <a:srgbClr val="5C5C5C"/>
                </a:solidFill>
                <a:latin typeface="Consolas" panose="020B0609020204030204"/>
                <a:ea typeface="Consolas" panose="020B0609020204030204"/>
                <a:sym typeface="+mn-ea"/>
              </a:rPr>
              <a:t>, min_impurity_decrease=</a:t>
            </a:r>
            <a:r>
              <a:rPr lang="en-US" altLang="zh-CN" sz="1400">
                <a:solidFill>
                  <a:srgbClr val="986801"/>
                </a:solidFill>
                <a:latin typeface="Consolas" panose="020B0609020204030204"/>
                <a:ea typeface="Consolas" panose="020B0609020204030204"/>
                <a:sym typeface="+mn-ea"/>
              </a:rPr>
              <a:t>0.0</a:t>
            </a:r>
            <a:r>
              <a:rPr lang="en-US" altLang="zh-CN" sz="1400">
                <a:solidFill>
                  <a:srgbClr val="5C5C5C"/>
                </a:solidFill>
                <a:latin typeface="Consolas" panose="020B0609020204030204"/>
                <a:ea typeface="Consolas" panose="020B0609020204030204"/>
                <a:sym typeface="+mn-ea"/>
              </a:rPr>
              <a:t>, init=None, random_state=None, max_features=None, verbose=</a:t>
            </a:r>
            <a:r>
              <a:rPr lang="en-US" altLang="zh-CN" sz="1400">
                <a:solidFill>
                  <a:srgbClr val="986801"/>
                </a:solidFill>
                <a:latin typeface="Consolas" panose="020B0609020204030204"/>
                <a:ea typeface="Consolas" panose="020B0609020204030204"/>
                <a:sym typeface="+mn-ea"/>
              </a:rPr>
              <a:t>0</a:t>
            </a:r>
            <a:r>
              <a:rPr lang="en-US" altLang="zh-CN" sz="1400">
                <a:solidFill>
                  <a:srgbClr val="5C5C5C"/>
                </a:solidFill>
                <a:latin typeface="Consolas" panose="020B0609020204030204"/>
                <a:ea typeface="Consolas" panose="020B0609020204030204"/>
                <a:sym typeface="+mn-ea"/>
              </a:rPr>
              <a:t>, max_leaf_nodes=None, warm_start=False, validation_fraction=</a:t>
            </a:r>
            <a:r>
              <a:rPr lang="en-US" altLang="zh-CN" sz="1400">
                <a:solidFill>
                  <a:srgbClr val="986801"/>
                </a:solidFill>
                <a:latin typeface="Consolas" panose="020B0609020204030204"/>
                <a:ea typeface="Consolas" panose="020B0609020204030204"/>
                <a:sym typeface="+mn-ea"/>
              </a:rPr>
              <a:t>0.1</a:t>
            </a:r>
            <a:r>
              <a:rPr lang="en-US" altLang="zh-CN" sz="1400">
                <a:solidFill>
                  <a:srgbClr val="5C5C5C"/>
                </a:solidFill>
                <a:latin typeface="Consolas" panose="020B0609020204030204"/>
                <a:ea typeface="Consolas" panose="020B0609020204030204"/>
                <a:sym typeface="+mn-ea"/>
              </a:rPr>
              <a:t>, n_iter_no_change=None, tol=</a:t>
            </a:r>
            <a:r>
              <a:rPr lang="en-US" altLang="zh-CN" sz="1400">
                <a:solidFill>
                  <a:srgbClr val="986801"/>
                </a:solidFill>
                <a:latin typeface="Consolas" panose="020B0609020204030204"/>
                <a:ea typeface="Consolas" panose="020B0609020204030204"/>
                <a:sym typeface="+mn-ea"/>
              </a:rPr>
              <a:t>0.0001</a:t>
            </a:r>
            <a:r>
              <a:rPr lang="en-US" altLang="zh-CN" sz="1400">
                <a:solidFill>
                  <a:srgbClr val="5C5C5C"/>
                </a:solidFill>
                <a:latin typeface="Consolas" panose="020B0609020204030204"/>
                <a:ea typeface="Consolas" panose="020B0609020204030204"/>
                <a:sym typeface="+mn-ea"/>
              </a:rPr>
              <a:t>, ccp_alpha=</a:t>
            </a:r>
            <a:r>
              <a:rPr lang="en-US" altLang="zh-CN" sz="1400">
                <a:solidFill>
                  <a:srgbClr val="986801"/>
                </a:solidFill>
                <a:latin typeface="Consolas" panose="020B0609020204030204"/>
                <a:ea typeface="Consolas" panose="020B0609020204030204"/>
                <a:sym typeface="+mn-ea"/>
              </a:rPr>
              <a:t>0.0</a:t>
            </a:r>
            <a:r>
              <a:rPr lang="en-US" altLang="zh-CN" sz="1400">
                <a:solidFill>
                  <a:srgbClr val="5C5C5C"/>
                </a:solidFill>
                <a:latin typeface="Consolas" panose="020B0609020204030204"/>
                <a:ea typeface="Consolas" panose="020B0609020204030204"/>
                <a:sym typeface="+mn-ea"/>
              </a:rPr>
              <a:t>)</a:t>
            </a:r>
            <a:endParaRPr lang="en-US" altLang="zh-CN" sz="1400">
              <a:solidFill>
                <a:srgbClr val="5C5C5C"/>
              </a:solidFill>
              <a:latin typeface="Consolas" panose="020B0609020204030204"/>
              <a:ea typeface="Consolas" panose="020B0609020204030204"/>
              <a:sym typeface="+mn-ea"/>
            </a:endParaRPr>
          </a:p>
        </p:txBody>
      </p:sp>
      <p:sp>
        <p:nvSpPr>
          <p:cNvPr id="7" name="矩形 6"/>
          <p:cNvSpPr/>
          <p:nvPr/>
        </p:nvSpPr>
        <p:spPr>
          <a:xfrm>
            <a:off x="3150870" y="4882515"/>
            <a:ext cx="6007735" cy="142684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实践案例：基于梯度提升树算法的充电桩故障状态预测</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pic>
        <p:nvPicPr>
          <p:cNvPr id="2" name="图片 1"/>
          <p:cNvPicPr>
            <a:picLocks noChangeAspect="1"/>
          </p:cNvPicPr>
          <p:nvPr/>
        </p:nvPicPr>
        <p:blipFill>
          <a:blip r:embed="rId1"/>
          <a:stretch>
            <a:fillRect/>
          </a:stretch>
        </p:blipFill>
        <p:spPr>
          <a:xfrm>
            <a:off x="363220" y="1145540"/>
            <a:ext cx="5669280" cy="5265420"/>
          </a:xfrm>
          <a:prstGeom prst="rect">
            <a:avLst/>
          </a:prstGeom>
        </p:spPr>
      </p:pic>
      <p:pic>
        <p:nvPicPr>
          <p:cNvPr id="6" name="图片 5"/>
          <p:cNvPicPr>
            <a:picLocks noChangeAspect="1"/>
          </p:cNvPicPr>
          <p:nvPr/>
        </p:nvPicPr>
        <p:blipFill>
          <a:blip r:embed="rId2"/>
          <a:stretch>
            <a:fillRect/>
          </a:stretch>
        </p:blipFill>
        <p:spPr>
          <a:xfrm>
            <a:off x="6224270" y="1845945"/>
            <a:ext cx="5722620" cy="3505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5" name="矩形 26"/>
          <p:cNvSpPr/>
          <p:nvPr/>
        </p:nvSpPr>
        <p:spPr>
          <a:xfrm>
            <a:off x="995423" y="248198"/>
            <a:ext cx="10017888" cy="582295"/>
          </a:xfrm>
          <a:prstGeom prst="rect">
            <a:avLst/>
          </a:prstGeom>
          <a:noFill/>
        </p:spPr>
        <p:txBody>
          <a:bodyPr wrap="square" lIns="91429" tIns="45714" rIns="91429" bIns="45714">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实践案例：基于梯度提升树算法的充电桩故障状态预测</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3" name="文本框 2"/>
          <p:cNvSpPr txBox="1"/>
          <p:nvPr/>
        </p:nvSpPr>
        <p:spPr>
          <a:xfrm>
            <a:off x="617855" y="1750060"/>
            <a:ext cx="5146040" cy="2515235"/>
          </a:xfrm>
          <a:prstGeom prst="rect">
            <a:avLst/>
          </a:prstGeom>
        </p:spPr>
        <p:txBody>
          <a:bodyPr wrap="square">
            <a:spAutoFit/>
          </a:bodyPr>
          <a:p>
            <a:pPr marL="0" indent="0" algn="l" defTabSz="266700">
              <a:lnSpc>
                <a:spcPct val="125000"/>
              </a:lnSpc>
              <a:spcBef>
                <a:spcPts val="400"/>
              </a:spcBef>
              <a:spcAft>
                <a:spcPct val="0"/>
              </a:spcAft>
            </a:pPr>
            <a:r>
              <a:rPr lang="zh-CN" altLang="en-US" b="1">
                <a:solidFill>
                  <a:srgbClr val="C45911"/>
                </a:solidFill>
                <a:latin typeface="Times New Roman" panose="02020603050405020304" pitchFamily="18" charset="0"/>
                <a:ea typeface="微软雅黑" panose="020B0503020204020204" pitchFamily="34" charset="-122"/>
              </a:rPr>
              <a:t>输出结果：</a:t>
            </a:r>
            <a:endParaRPr lang="zh-CN" altLang="en-US" b="1">
              <a:solidFill>
                <a:srgbClr val="C4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a:solidFill>
                  <a:srgbClr val="C55911"/>
                </a:solidFill>
                <a:latin typeface="Times New Roman" panose="02020603050405020304" pitchFamily="18" charset="0"/>
                <a:ea typeface="微软雅黑" panose="020B0503020204020204" pitchFamily="34" charset="-122"/>
              </a:rPr>
              <a:t>1    42750</a:t>
            </a:r>
            <a:endParaRPr lang="en-US" altLang="zh-CN">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a:solidFill>
                  <a:srgbClr val="C55911"/>
                </a:solidFill>
                <a:latin typeface="Times New Roman" panose="02020603050405020304" pitchFamily="18" charset="0"/>
                <a:ea typeface="微软雅黑" panose="020B0503020204020204" pitchFamily="34" charset="-122"/>
              </a:rPr>
              <a:t>0    42750</a:t>
            </a:r>
            <a:endParaRPr lang="en-US" altLang="zh-CN">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a:solidFill>
                  <a:srgbClr val="C55911"/>
                </a:solidFill>
                <a:latin typeface="Times New Roman" panose="02020603050405020304" pitchFamily="18" charset="0"/>
                <a:ea typeface="微软雅黑" panose="020B0503020204020204" pitchFamily="34" charset="-122"/>
              </a:rPr>
              <a:t>Name: label, dtype: int64</a:t>
            </a:r>
            <a:endParaRPr lang="en-US" altLang="zh-CN">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zh-CN" altLang="en-US">
                <a:solidFill>
                  <a:srgbClr val="C55911"/>
                </a:solidFill>
                <a:latin typeface="Times New Roman" panose="02020603050405020304" pitchFamily="18" charset="0"/>
                <a:ea typeface="微软雅黑" panose="020B0503020204020204" pitchFamily="34" charset="-122"/>
                <a:sym typeface="+mn-ea"/>
              </a:rPr>
              <a:t>决策树的平均准确率：</a:t>
            </a:r>
            <a:r>
              <a:rPr lang="en-US" altLang="zh-CN">
                <a:solidFill>
                  <a:srgbClr val="C55911"/>
                </a:solidFill>
                <a:latin typeface="Times New Roman" panose="02020603050405020304" pitchFamily="18" charset="0"/>
                <a:ea typeface="微软雅黑" panose="020B0503020204020204" pitchFamily="34" charset="-122"/>
                <a:sym typeface="+mn-ea"/>
              </a:rPr>
              <a:t>0.9090647953216375</a:t>
            </a:r>
            <a:endParaRPr lang="en-US" altLang="zh-CN">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a:solidFill>
                  <a:srgbClr val="C55911"/>
                </a:solidFill>
                <a:latin typeface="Times New Roman" panose="02020603050405020304" pitchFamily="18" charset="0"/>
                <a:ea typeface="微软雅黑" panose="020B0503020204020204" pitchFamily="34" charset="-122"/>
                <a:sym typeface="+mn-ea"/>
              </a:rPr>
              <a:t>AdaBoost</a:t>
            </a:r>
            <a:r>
              <a:rPr lang="zh-CN" altLang="en-US">
                <a:solidFill>
                  <a:srgbClr val="C55911"/>
                </a:solidFill>
                <a:latin typeface="Times New Roman" panose="02020603050405020304" pitchFamily="18" charset="0"/>
                <a:ea typeface="微软雅黑" panose="020B0503020204020204" pitchFamily="34" charset="-122"/>
                <a:sym typeface="+mn-ea"/>
              </a:rPr>
              <a:t>的平均准确率： </a:t>
            </a:r>
            <a:r>
              <a:rPr lang="en-US" altLang="zh-CN">
                <a:solidFill>
                  <a:srgbClr val="C55911"/>
                </a:solidFill>
                <a:latin typeface="Times New Roman" panose="02020603050405020304" pitchFamily="18" charset="0"/>
                <a:ea typeface="微软雅黑" panose="020B0503020204020204" pitchFamily="34" charset="-122"/>
                <a:sym typeface="+mn-ea"/>
              </a:rPr>
              <a:t>0.9090900584795323</a:t>
            </a:r>
            <a:endParaRPr lang="en-US" altLang="zh-CN">
              <a:solidFill>
                <a:srgbClr val="C55911"/>
              </a:solidFill>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en-US" altLang="zh-CN">
                <a:solidFill>
                  <a:srgbClr val="C55911"/>
                </a:solidFill>
                <a:latin typeface="Times New Roman" panose="02020603050405020304" pitchFamily="18" charset="0"/>
                <a:ea typeface="微软雅黑" panose="020B0503020204020204" pitchFamily="34" charset="-122"/>
                <a:sym typeface="+mn-ea"/>
              </a:rPr>
              <a:t>GBDT</a:t>
            </a:r>
            <a:r>
              <a:rPr lang="zh-CN" altLang="en-US">
                <a:solidFill>
                  <a:srgbClr val="C55911"/>
                </a:solidFill>
                <a:latin typeface="Times New Roman" panose="02020603050405020304" pitchFamily="18" charset="0"/>
                <a:ea typeface="微软雅黑" panose="020B0503020204020204" pitchFamily="34" charset="-122"/>
                <a:sym typeface="+mn-ea"/>
              </a:rPr>
              <a:t>的平均准确率：</a:t>
            </a:r>
            <a:r>
              <a:rPr lang="en-US" altLang="zh-CN">
                <a:solidFill>
                  <a:srgbClr val="C55911"/>
                </a:solidFill>
                <a:latin typeface="Times New Roman" panose="02020603050405020304" pitchFamily="18" charset="0"/>
                <a:ea typeface="微软雅黑" panose="020B0503020204020204" pitchFamily="34" charset="-122"/>
                <a:sym typeface="+mn-ea"/>
              </a:rPr>
              <a:t>0.9456832748538012</a:t>
            </a:r>
            <a:endParaRPr lang="en-US" altLang="zh-CN">
              <a:solidFill>
                <a:srgbClr val="C55911"/>
              </a:solidFill>
              <a:latin typeface="Times New Roman" panose="02020603050405020304" pitchFamily="18" charset="0"/>
              <a:ea typeface="微软雅黑" panose="020B0503020204020204" pitchFamily="34" charset="-122"/>
            </a:endParaRPr>
          </a:p>
        </p:txBody>
      </p:sp>
      <p:pic>
        <p:nvPicPr>
          <p:cNvPr id="4" name="图片 3"/>
          <p:cNvPicPr/>
          <p:nvPr/>
        </p:nvPicPr>
        <p:blipFill>
          <a:blip r:embed="rId1">
            <a:clrChange>
              <a:clrFrom>
                <a:srgbClr val="FFFFFF">
                  <a:alpha val="100000"/>
                </a:srgbClr>
              </a:clrFrom>
              <a:clrTo>
                <a:srgbClr val="FFFFFF">
                  <a:alpha val="100000"/>
                  <a:alpha val="0"/>
                </a:srgbClr>
              </a:clrTo>
            </a:clrChange>
          </a:blip>
          <a:stretch>
            <a:fillRect/>
          </a:stretch>
        </p:blipFill>
        <p:spPr>
          <a:xfrm>
            <a:off x="6219190" y="1435100"/>
            <a:ext cx="5396865" cy="2900045"/>
          </a:xfrm>
          <a:prstGeom prst="rect">
            <a:avLst/>
          </a:prstGeom>
        </p:spPr>
      </p:pic>
      <p:sp>
        <p:nvSpPr>
          <p:cNvPr id="8" name="文本框 7"/>
          <p:cNvSpPr txBox="1"/>
          <p:nvPr/>
        </p:nvSpPr>
        <p:spPr>
          <a:xfrm>
            <a:off x="683895" y="5029200"/>
            <a:ext cx="10548620" cy="1014730"/>
          </a:xfrm>
          <a:prstGeom prst="rect">
            <a:avLst/>
          </a:prstGeom>
        </p:spPr>
        <p:txBody>
          <a:bodyPr wrap="square">
            <a:spAutoFit/>
          </a:bodyPr>
          <a:p>
            <a:pPr marL="0" indent="304800" algn="just" defTabSz="266700">
              <a:lnSpc>
                <a:spcPct val="125000"/>
              </a:lnSpc>
              <a:spcBef>
                <a:spcPts val="800"/>
              </a:spcBef>
              <a:spcAft>
                <a:spcPct val="0"/>
              </a:spcAft>
            </a:pPr>
            <a:r>
              <a:rPr lang="zh-CN" altLang="en-US" sz="1600">
                <a:latin typeface="Times New Roman" panose="02020603050405020304"/>
                <a:ea typeface="宋体" panose="02010600030101010101" pitchFamily="2" charset="-122"/>
              </a:rPr>
              <a:t>本例通过多次重复实验来确认结果的稳定性，并与决策树和</a:t>
            </a:r>
            <a:r>
              <a:rPr lang="en-US" altLang="zh-CN" sz="1600">
                <a:latin typeface="Times New Roman" panose="02020603050405020304"/>
                <a:ea typeface="Times New Roman" panose="02020603050405020304"/>
              </a:rPr>
              <a:t>Ada</a:t>
            </a:r>
            <a:r>
              <a:rPr lang="en-US" altLang="zh-CN" sz="1600">
                <a:latin typeface="Times New Roman" panose="02020603050405020304"/>
                <a:ea typeface="宋体" panose="02010600030101010101" pitchFamily="2" charset="-122"/>
              </a:rPr>
              <a:t>Boost</a:t>
            </a:r>
            <a:r>
              <a:rPr lang="zh-CN" altLang="en-US" sz="1600">
                <a:latin typeface="Times New Roman" panose="02020603050405020304"/>
                <a:ea typeface="宋体" panose="02010600030101010101" pitchFamily="2" charset="-122"/>
              </a:rPr>
              <a:t>进行了对比。在绝大多数情况下，</a:t>
            </a:r>
            <a:r>
              <a:rPr lang="en-US" altLang="zh-CN" sz="1600">
                <a:latin typeface="Times New Roman" panose="02020603050405020304"/>
                <a:ea typeface="Times New Roman" panose="02020603050405020304"/>
              </a:rPr>
              <a:t>GBDT</a:t>
            </a:r>
            <a:r>
              <a:rPr lang="zh-CN" altLang="en-US" sz="1600">
                <a:latin typeface="Times New Roman" panose="02020603050405020304"/>
                <a:ea typeface="宋体" panose="02010600030101010101" pitchFamily="2" charset="-122"/>
              </a:rPr>
              <a:t>表现出比决策树和</a:t>
            </a:r>
            <a:r>
              <a:rPr lang="en-US" altLang="zh-CN" sz="1600">
                <a:latin typeface="Times New Roman" panose="02020603050405020304"/>
                <a:ea typeface="Times New Roman" panose="02020603050405020304"/>
              </a:rPr>
              <a:t>Ada</a:t>
            </a:r>
            <a:r>
              <a:rPr lang="en-US" altLang="zh-CN" sz="1600">
                <a:latin typeface="Times New Roman" panose="02020603050405020304"/>
                <a:ea typeface="宋体" panose="02010600030101010101" pitchFamily="2" charset="-122"/>
              </a:rPr>
              <a:t>Boost</a:t>
            </a:r>
            <a:r>
              <a:rPr lang="zh-CN" altLang="en-US" sz="1600">
                <a:latin typeface="Times New Roman" panose="02020603050405020304"/>
                <a:ea typeface="宋体" panose="02010600030101010101" pitchFamily="2" charset="-122"/>
              </a:rPr>
              <a:t>更高的预测准确率。具体而言，决策树和</a:t>
            </a:r>
            <a:r>
              <a:rPr lang="en-US" altLang="zh-CN" sz="1600">
                <a:latin typeface="Times New Roman" panose="02020603050405020304"/>
                <a:ea typeface="Times New Roman" panose="02020603050405020304"/>
              </a:rPr>
              <a:t>AdaBoost</a:t>
            </a:r>
            <a:r>
              <a:rPr lang="zh-CN" altLang="en-US" sz="1600">
                <a:latin typeface="Times New Roman" panose="02020603050405020304"/>
                <a:ea typeface="宋体" panose="02010600030101010101" pitchFamily="2" charset="-122"/>
              </a:rPr>
              <a:t>的平均准确率均为</a:t>
            </a:r>
            <a:r>
              <a:rPr lang="en-US" altLang="zh-CN" sz="1600">
                <a:latin typeface="Times New Roman" panose="02020603050405020304"/>
                <a:ea typeface="Times New Roman" panose="02020603050405020304"/>
              </a:rPr>
              <a:t>0</a:t>
            </a:r>
            <a:r>
              <a:rPr lang="en-US" altLang="zh-CN" sz="1600">
                <a:latin typeface="Times New Roman" panose="02020603050405020304"/>
                <a:ea typeface="宋体" panose="02010600030101010101" pitchFamily="2" charset="-122"/>
              </a:rPr>
              <a:t>.91</a:t>
            </a:r>
            <a:r>
              <a:rPr lang="zh-CN" altLang="en-US" sz="1600">
                <a:latin typeface="Times New Roman" panose="02020603050405020304"/>
                <a:ea typeface="宋体" panose="02010600030101010101" pitchFamily="2" charset="-122"/>
              </a:rPr>
              <a:t>，而</a:t>
            </a:r>
            <a:r>
              <a:rPr lang="en-US" altLang="zh-CN" sz="1600">
                <a:latin typeface="Times New Roman" panose="02020603050405020304"/>
                <a:ea typeface="Times New Roman" panose="02020603050405020304"/>
              </a:rPr>
              <a:t>GBDT</a:t>
            </a:r>
            <a:r>
              <a:rPr lang="zh-CN" altLang="en-US" sz="1600">
                <a:latin typeface="Times New Roman" panose="02020603050405020304"/>
                <a:ea typeface="宋体" panose="02010600030101010101" pitchFamily="2" charset="-122"/>
              </a:rPr>
              <a:t>的平均准确率为</a:t>
            </a:r>
            <a:r>
              <a:rPr lang="en-US" altLang="zh-CN" sz="1600">
                <a:latin typeface="Times New Roman" panose="02020603050405020304"/>
                <a:ea typeface="Times New Roman" panose="02020603050405020304"/>
              </a:rPr>
              <a:t>0</a:t>
            </a:r>
            <a:r>
              <a:rPr lang="en-US" altLang="zh-CN" sz="1600">
                <a:latin typeface="Times New Roman" panose="02020603050405020304"/>
                <a:ea typeface="宋体" panose="02010600030101010101" pitchFamily="2" charset="-122"/>
              </a:rPr>
              <a:t>.95</a:t>
            </a:r>
            <a:r>
              <a:rPr lang="zh-CN" altLang="en-US" sz="1600">
                <a:latin typeface="Times New Roman" panose="02020603050405020304"/>
                <a:ea typeface="宋体" panose="02010600030101010101" pitchFamily="2" charset="-122"/>
              </a:rPr>
              <a:t>。读者可尝试调整</a:t>
            </a:r>
            <a:r>
              <a:rPr lang="en-US" altLang="zh-CN" sz="1600">
                <a:latin typeface="Times New Roman" panose="02020603050405020304"/>
                <a:ea typeface="Times New Roman" panose="02020603050405020304"/>
              </a:rPr>
              <a:t>GBDT</a:t>
            </a: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AdaBoost</a:t>
            </a:r>
            <a:r>
              <a:rPr lang="zh-CN" altLang="en-US" sz="1600">
                <a:latin typeface="Times New Roman" panose="02020603050405020304"/>
                <a:ea typeface="宋体" panose="02010600030101010101" pitchFamily="2" charset="-122"/>
              </a:rPr>
              <a:t>和决策树的参数，以进一步优化它们的性能。</a:t>
            </a:r>
            <a:endParaRPr lang="zh-CN" altLang="en-US" sz="1600">
              <a:latin typeface="Times New Roman" panose="02020603050405020304"/>
              <a:ea typeface="宋体" panose="02010600030101010101" pitchFamily="2" charset="-122"/>
            </a:endParaRPr>
          </a:p>
        </p:txBody>
      </p:sp>
      <p:sp>
        <p:nvSpPr>
          <p:cNvPr id="9" name="矩形 8"/>
          <p:cNvSpPr/>
          <p:nvPr/>
        </p:nvSpPr>
        <p:spPr>
          <a:xfrm>
            <a:off x="723265" y="5081270"/>
            <a:ext cx="10541635" cy="102933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TABLE_ENDDRAG_ORIGIN_RECT" val="746*221"/>
  <p:tag name="TABLE_ENDDRAG_RECT" val="128*245*746*221"/>
</p:tagLst>
</file>

<file path=ppt/tags/tag2.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3576</Words>
  <Application>WPS 演示</Application>
  <PresentationFormat>宽屏</PresentationFormat>
  <Paragraphs>200</Paragraphs>
  <Slides>19</Slides>
  <Notes>25</Notes>
  <HiddenSlides>0</HiddenSlides>
  <MMClips>0</MMClips>
  <ScaleCrop>false</ScaleCrop>
  <HeadingPairs>
    <vt:vector size="8" baseType="variant">
      <vt:variant>
        <vt:lpstr>已用的字体</vt:lpstr>
      </vt:variant>
      <vt:variant>
        <vt:i4>32</vt:i4>
      </vt:variant>
      <vt:variant>
        <vt:lpstr>主题</vt:lpstr>
      </vt:variant>
      <vt:variant>
        <vt:i4>12</vt:i4>
      </vt:variant>
      <vt:variant>
        <vt:lpstr>嵌入 OLE 服务器</vt:lpstr>
      </vt:variant>
      <vt:variant>
        <vt:i4>0</vt:i4>
      </vt:variant>
      <vt:variant>
        <vt:lpstr>幻灯片标题</vt:lpstr>
      </vt:variant>
      <vt:variant>
        <vt:i4>19</vt:i4>
      </vt:variant>
    </vt:vector>
  </HeadingPairs>
  <TitlesOfParts>
    <vt:vector size="63"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楷体</vt:lpstr>
      <vt:lpstr>华文新魏</vt:lpstr>
      <vt:lpstr>Arial Unicode MS</vt:lpstr>
      <vt:lpstr>楷体_GB2312</vt:lpstr>
      <vt:lpstr>新宋体</vt:lpstr>
      <vt:lpstr>Tahoma</vt:lpstr>
      <vt:lpstr>Times New Roman</vt:lpstr>
      <vt:lpstr>微软雅黑 Light</vt:lpstr>
      <vt:lpstr>华光淡古印_CNKI</vt:lpstr>
      <vt:lpstr>华光敦韵宋_CNKI</vt:lpstr>
      <vt:lpstr>Consolas</vt:lpstr>
      <vt:lpstr>Calibri Light</vt:lpstr>
      <vt:lpstr>Courier New</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VE</cp:lastModifiedBy>
  <cp:revision>2905</cp:revision>
  <dcterms:created xsi:type="dcterms:W3CDTF">2022-05-23T09:13:00Z</dcterms:created>
  <dcterms:modified xsi:type="dcterms:W3CDTF">2025-04-17T12:59:20Z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2052-12.1.0.20784</vt:lpwstr>
  </property>
</Properties>
</file>