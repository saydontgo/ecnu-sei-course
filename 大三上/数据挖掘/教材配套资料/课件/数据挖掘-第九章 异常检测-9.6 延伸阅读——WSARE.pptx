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24"/>
  </p:notesMasterIdLst>
  <p:handoutMasterIdLst>
    <p:handoutMasterId r:id="rId25"/>
  </p:handoutMasterIdLst>
  <p:sldIdLst>
    <p:sldId id="15638" r:id="rId13"/>
    <p:sldId id="15669" r:id="rId14"/>
    <p:sldId id="15771" r:id="rId15"/>
    <p:sldId id="15870" r:id="rId16"/>
    <p:sldId id="15871" r:id="rId17"/>
    <p:sldId id="15872" r:id="rId18"/>
    <p:sldId id="15873" r:id="rId19"/>
    <p:sldId id="15874" r:id="rId20"/>
    <p:sldId id="15875" r:id="rId21"/>
    <p:sldId id="15876" r:id="rId22"/>
    <p:sldId id="15502" r:id="rId23"/>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5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p:cViewPr varScale="1">
        <p:scale>
          <a:sx n="94" d="100"/>
          <a:sy n="94" d="100"/>
        </p:scale>
        <p:origin x="726" y="78"/>
      </p:cViewPr>
      <p:guideLst>
        <p:guide pos="2252"/>
        <p:guide orient="horz" pos="245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2364-C4ED-C4F6-5139-791D90C5A7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208D54-AB53-7A3D-FE9F-B742B0538D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B1F1FB-5D20-0CC0-48E6-5024F25A69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C2DC0CC-ECDA-C7C5-4E37-F0F8AC80CE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39968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F808B-8B6B-876C-4873-82E7F5D885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A3B2AF-6C1D-EEF6-89F5-0A5C719344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11878E-66BA-AAE1-0D42-623D3FC1F76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817A170-5736-4367-B77C-C762C1E306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8399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C3A09-53FD-AE4F-D606-704B28358D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D42CBA-527B-6360-0EE8-CC94837B51A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A498F3E-FBEF-233B-FCE3-07B91085AE6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91CC356-8282-CF08-0118-AAE384BA9F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11207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CB388-F2F4-B7B7-AD46-32846B47C8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064584-ABC3-1BF8-1A6F-D0D97638CE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976339-959E-9A6B-1FB2-DBCD695BCDE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AB98BE5-DB49-712F-B397-60C0FE2A06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41426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3BEB7-1519-FC2E-CB77-EA318A4EBA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789638-E6C7-9D7D-E5C3-C952A812DC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CF8338-8FDF-3250-E8A0-1F33605BD72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13DB5F5-14B4-ACB7-6CBA-B0B6363E3F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31207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A8070-962F-9C68-8BD9-5D40EE35E8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69B83B-622D-4390-7128-EEC8E9B0FE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D3190E-F652-F2F5-D2DB-345B26D7CE7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1F21E75-F589-429F-88A9-D26B5940BA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64300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EFA1D-5582-2974-7632-1262A5C4AC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789329-B12B-F151-4347-509A7DE132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A355FA-0194-8332-D2B2-D73FCC19EE3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E44D309-C084-643A-1076-E17FDFEAEB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25824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33188-E8E1-995A-F9B4-A7029311D9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EE38EA-FC58-5D35-EA06-FB446979FAF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DEA05E-C783-8321-B9B0-7AF87FE5E55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32C621D-29BB-B6E7-C7EA-933CCA2998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54112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238C4-F802-328B-B7C1-2EA215FE98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E38F44-B2FD-2E24-D25A-E0C3810C8E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227DAB-9B8B-EAC2-67F0-65856240F7A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578C6A5-8F2A-908E-2DE7-71C8EB4536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32376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4/17/2025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4/17/2025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9.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CBC5161-4448-DA26-9386-B6055113A398}"/>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9.6</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延伸阅读</a:t>
            </a:r>
            <a:r>
              <a:rPr lang="en-US" altLang="zh-CN" b="0" dirty="0">
                <a:ea typeface="华光综艺_CNKI" panose="02000500000000000000" pitchFamily="2" charset="-122"/>
              </a:rPr>
              <a:t>——</a:t>
            </a:r>
            <a:r>
              <a:rPr lang="de-DE" altLang="zh-CN" b="0" dirty="0">
                <a:ea typeface="华光综艺_CNKI" panose="02000500000000000000" pitchFamily="2" charset="-122"/>
              </a:rPr>
              <a:t>WSARE</a:t>
            </a:r>
            <a:endParaRPr lang="zh-CN" altLang="en-US" b="0" dirty="0">
              <a:ea typeface="华光综艺_CNKI" panose="02000500000000000000" pitchFamily="2" charset="-122"/>
            </a:endParaRP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4B536-A18F-2B1B-8F1F-2882FB9ED22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B537DC0-F4BE-6724-1330-CDCA8268D233}"/>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基本原理</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0FDBF35D-1811-E453-3027-485898E79B3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文本框 4">
            <a:extLst>
              <a:ext uri="{FF2B5EF4-FFF2-40B4-BE49-F238E27FC236}">
                <a16:creationId xmlns:a16="http://schemas.microsoft.com/office/drawing/2014/main" id="{F22DA8F2-5A41-E557-62CC-A17193D507C9}"/>
              </a:ext>
            </a:extLst>
          </p:cNvPr>
          <p:cNvSpPr txBox="1"/>
          <p:nvPr/>
        </p:nvSpPr>
        <p:spPr>
          <a:xfrm>
            <a:off x="685165" y="2221428"/>
            <a:ext cx="10821670" cy="2730491"/>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306070" algn="just">
              <a:lnSpc>
                <a:spcPct val="125000"/>
              </a:lnSpc>
            </a:pPr>
            <a:r>
              <a:rPr lang="de-DE" altLang="zh-CN"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WSARE</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What’s Strange About Recent Event</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通过基于</a:t>
            </a: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规则</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的方法将最近的数据与基线分布数据相比较，发现两者间比例变化最大的亚组，并通过随机化检验确定该差异产生的概率进行探测预警。</a:t>
            </a:r>
            <a:r>
              <a:rPr lang="en-US"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WSARE</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是一种基于规则的异常模式探测方法，适用于</a:t>
            </a: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非连续、多维</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的时序数据集。</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58464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30A7A-7077-A8E3-CC2F-86BC11CD007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336A6A0-2B84-F164-4AC9-3D5570D9366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步骤</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31A5F329-1383-8C25-D93D-C509036A9F3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9976B954-5F5D-373B-C795-A6C857F0A440}"/>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文本框 1">
            <a:extLst>
              <a:ext uri="{FF2B5EF4-FFF2-40B4-BE49-F238E27FC236}">
                <a16:creationId xmlns:a16="http://schemas.microsoft.com/office/drawing/2014/main" id="{5A791F07-C39D-E18B-40E8-F720B8D2AA7A}"/>
              </a:ext>
            </a:extLst>
          </p:cNvPr>
          <p:cNvSpPr txBox="1"/>
          <p:nvPr/>
        </p:nvSpPr>
        <p:spPr>
          <a:xfrm>
            <a:off x="487487" y="1283084"/>
            <a:ext cx="11033760" cy="2797048"/>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）基线构建</a:t>
            </a:r>
          </a:p>
          <a:p>
            <a:pPr>
              <a:lnSpc>
                <a:spcPct val="150000"/>
              </a:lnSpc>
            </a:pPr>
            <a:r>
              <a:rPr lang="en-US" altLang="zh-CN" sz="2400" dirty="0">
                <a:latin typeface="微软雅黑" panose="020B0503020204020204" pitchFamily="34" charset="-122"/>
                <a:ea typeface="微软雅黑" panose="020B0503020204020204" pitchFamily="34" charset="-122"/>
              </a:rPr>
              <a:t>WSARE</a:t>
            </a:r>
            <a:r>
              <a:rPr lang="zh-CN" altLang="en-US" sz="2400" dirty="0">
                <a:latin typeface="微软雅黑" panose="020B0503020204020204" pitchFamily="34" charset="-122"/>
                <a:ea typeface="微软雅黑" panose="020B0503020204020204" pitchFamily="34" charset="-122"/>
              </a:rPr>
              <a:t>算法旨在探测最近发生的事件中的异常情况。其中，“</a:t>
            </a:r>
            <a:r>
              <a:rPr lang="zh-CN" altLang="en-US" sz="2400" b="1" dirty="0">
                <a:solidFill>
                  <a:srgbClr val="FF0000"/>
                </a:solidFill>
                <a:latin typeface="微软雅黑" panose="020B0503020204020204" pitchFamily="34" charset="-122"/>
                <a:ea typeface="微软雅黑" panose="020B0503020204020204" pitchFamily="34" charset="-122"/>
              </a:rPr>
              <a:t>最近事件</a:t>
            </a:r>
            <a:r>
              <a:rPr lang="zh-CN" altLang="en-US" sz="2400" dirty="0">
                <a:latin typeface="微软雅黑" panose="020B0503020204020204" pitchFamily="34" charset="-122"/>
                <a:ea typeface="微软雅黑" panose="020B0503020204020204" pitchFamily="34" charset="-122"/>
              </a:rPr>
              <a:t>”定义为评价时间段内的所有记录，该时间段可以是任意时段，并不严格限定。为了定义“异常”，首先需要确定“正常”，即</a:t>
            </a:r>
            <a:r>
              <a:rPr lang="zh-CN" altLang="en-US" sz="2400" b="1" dirty="0">
                <a:solidFill>
                  <a:srgbClr val="FF0000"/>
                </a:solidFill>
                <a:latin typeface="微软雅黑" panose="020B0503020204020204" pitchFamily="34" charset="-122"/>
                <a:ea typeface="微软雅黑" panose="020B0503020204020204" pitchFamily="34" charset="-122"/>
              </a:rPr>
              <a:t>基线</a:t>
            </a:r>
            <a:r>
              <a:rPr lang="zh-CN" altLang="en-US" sz="2400" dirty="0">
                <a:latin typeface="微软雅黑" panose="020B0503020204020204" pitchFamily="34" charset="-122"/>
                <a:ea typeface="微软雅黑" panose="020B0503020204020204" pitchFamily="34" charset="-122"/>
              </a:rPr>
              <a:t>的概念。</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当以历史数据作为基线时，选择基线时间段需要平衡两个因素：</a:t>
            </a:r>
          </a:p>
        </p:txBody>
      </p:sp>
      <p:sp>
        <p:nvSpPr>
          <p:cNvPr id="4" name="文本框 3">
            <a:extLst>
              <a:ext uri="{FF2B5EF4-FFF2-40B4-BE49-F238E27FC236}">
                <a16:creationId xmlns:a16="http://schemas.microsoft.com/office/drawing/2014/main" id="{0085AF49-DA0B-6348-B038-527CBF3AF330}"/>
              </a:ext>
            </a:extLst>
          </p:cNvPr>
          <p:cNvSpPr txBox="1"/>
          <p:nvPr/>
        </p:nvSpPr>
        <p:spPr>
          <a:xfrm>
            <a:off x="525384" y="4461150"/>
            <a:ext cx="10572272" cy="1113766"/>
          </a:xfrm>
          <a:prstGeom prst="rect">
            <a:avLst/>
          </a:prstGeom>
          <a:noFill/>
          <a:ln w="19050">
            <a:solidFill>
              <a:srgbClr val="3484FF"/>
            </a:solidFill>
            <a:prstDash val="dash"/>
          </a:ln>
        </p:spPr>
        <p:txBody>
          <a:bodyPr wrap="square" rtlCol="0">
            <a:spAutoFit/>
          </a:bodyPr>
          <a:lstStyle/>
          <a:p>
            <a:pPr>
              <a:lnSpc>
                <a:spcPct val="150000"/>
              </a:lnSpc>
            </a:pPr>
            <a:r>
              <a:rPr lang="zh-CN" altLang="en-US" sz="2400" dirty="0">
                <a:latin typeface="楷体" panose="02010609060101010101" pitchFamily="49" charset="-122"/>
                <a:ea typeface="楷体" panose="02010609060101010101" pitchFamily="49" charset="-122"/>
              </a:rPr>
              <a:t>一方面要</a:t>
            </a:r>
            <a:r>
              <a:rPr lang="zh-CN" altLang="en-US" sz="2400" b="1" dirty="0">
                <a:solidFill>
                  <a:srgbClr val="FF0000"/>
                </a:solidFill>
                <a:latin typeface="楷体" panose="02010609060101010101" pitchFamily="49" charset="-122"/>
                <a:ea typeface="楷体" panose="02010609060101010101" pitchFamily="49" charset="-122"/>
              </a:rPr>
              <a:t>尽可能接近</a:t>
            </a:r>
            <a:r>
              <a:rPr lang="zh-CN" altLang="en-US" sz="2400" dirty="0">
                <a:latin typeface="楷体" panose="02010609060101010101" pitchFamily="49" charset="-122"/>
                <a:ea typeface="楷体" panose="02010609060101010101" pitchFamily="49" charset="-122"/>
              </a:rPr>
              <a:t>“最近事件”，以捕捉季节效应或近期趋势；</a:t>
            </a:r>
            <a:endParaRPr lang="en-US" altLang="zh-CN" sz="2400" dirty="0">
              <a:latin typeface="楷体" panose="02010609060101010101" pitchFamily="49" charset="-122"/>
              <a:ea typeface="楷体" panose="02010609060101010101" pitchFamily="49" charset="-122"/>
            </a:endParaRPr>
          </a:p>
          <a:p>
            <a:pPr>
              <a:lnSpc>
                <a:spcPct val="150000"/>
              </a:lnSpc>
            </a:pPr>
            <a:r>
              <a:rPr lang="zh-CN" altLang="en-US" sz="2400" dirty="0">
                <a:latin typeface="楷体" panose="02010609060101010101" pitchFamily="49" charset="-122"/>
                <a:ea typeface="楷体" panose="02010609060101010101" pitchFamily="49" charset="-122"/>
              </a:rPr>
              <a:t>另一方面要与“最近事件”</a:t>
            </a:r>
            <a:r>
              <a:rPr lang="zh-CN" altLang="en-US" sz="2400" b="1" dirty="0">
                <a:solidFill>
                  <a:srgbClr val="FF0000"/>
                </a:solidFill>
                <a:latin typeface="楷体" panose="02010609060101010101" pitchFamily="49" charset="-122"/>
                <a:ea typeface="楷体" panose="02010609060101010101" pitchFamily="49" charset="-122"/>
              </a:rPr>
              <a:t>有足够的间隔</a:t>
            </a:r>
            <a:r>
              <a:rPr lang="zh-CN" altLang="en-US" sz="2400" dirty="0">
                <a:latin typeface="楷体" panose="02010609060101010101" pitchFamily="49" charset="-122"/>
                <a:ea typeface="楷体" panose="02010609060101010101" pitchFamily="49" charset="-122"/>
              </a:rPr>
              <a:t>，以避免遗漏最近发生的异常情况。</a:t>
            </a:r>
          </a:p>
        </p:txBody>
      </p:sp>
    </p:spTree>
    <p:extLst>
      <p:ext uri="{BB962C8B-B14F-4D97-AF65-F5344CB8AC3E}">
        <p14:creationId xmlns:p14="http://schemas.microsoft.com/office/powerpoint/2010/main" val="31607919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F5146-D83E-24AE-2BC3-1E2B538BE84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AB5EBC2-A6C3-CC5A-1A15-499D3090C0E8}"/>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步骤</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4CD7CFD7-1070-7407-5A2E-2FDDECB8DF9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73B84F00-2403-9BB6-84DE-CFF266947AA3}"/>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文本框 1">
            <a:extLst>
              <a:ext uri="{FF2B5EF4-FFF2-40B4-BE49-F238E27FC236}">
                <a16:creationId xmlns:a16="http://schemas.microsoft.com/office/drawing/2014/main" id="{4805BC2E-A220-BA17-4F4B-F5396D877C29}"/>
              </a:ext>
            </a:extLst>
          </p:cNvPr>
          <p:cNvSpPr txBox="1"/>
          <p:nvPr/>
        </p:nvSpPr>
        <p:spPr>
          <a:xfrm>
            <a:off x="487487" y="1283084"/>
            <a:ext cx="11033760"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）最佳得分规则选取</a:t>
            </a:r>
            <a:endParaRPr lang="en-US" altLang="zh-CN" sz="240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DD81B236-B69F-A9D1-9763-38C0FC140289}"/>
              </a:ext>
            </a:extLst>
          </p:cNvPr>
          <p:cNvPicPr>
            <a:picLocks noChangeAspect="1"/>
          </p:cNvPicPr>
          <p:nvPr/>
        </p:nvPicPr>
        <p:blipFill>
          <a:blip r:embed="rId3"/>
          <a:stretch>
            <a:fillRect/>
          </a:stretch>
        </p:blipFill>
        <p:spPr>
          <a:xfrm>
            <a:off x="958850" y="2244342"/>
            <a:ext cx="10274299" cy="3780536"/>
          </a:xfrm>
          <a:prstGeom prst="rect">
            <a:avLst/>
          </a:prstGeom>
        </p:spPr>
      </p:pic>
    </p:spTree>
    <p:extLst>
      <p:ext uri="{BB962C8B-B14F-4D97-AF65-F5344CB8AC3E}">
        <p14:creationId xmlns:p14="http://schemas.microsoft.com/office/powerpoint/2010/main" val="1691196577"/>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AF722-718A-5A57-37D6-DD76728C65F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F8D5464-6513-7D9A-BBDC-5FF36B7D946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步骤</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81B22B52-964A-3632-3CBA-FA48A05B915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539CF79E-A977-E7F8-93F2-54E82E22404D}"/>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文本框 1">
            <a:extLst>
              <a:ext uri="{FF2B5EF4-FFF2-40B4-BE49-F238E27FC236}">
                <a16:creationId xmlns:a16="http://schemas.microsoft.com/office/drawing/2014/main" id="{368B4A93-13E2-169D-B759-679E623920FA}"/>
              </a:ext>
            </a:extLst>
          </p:cNvPr>
          <p:cNvSpPr txBox="1"/>
          <p:nvPr/>
        </p:nvSpPr>
        <p:spPr>
          <a:xfrm>
            <a:off x="487487" y="1283084"/>
            <a:ext cx="11033760"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）最佳得分规则选取</a:t>
            </a:r>
            <a:endParaRPr lang="en-US" altLang="zh-CN" sz="2400"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C9644F8C-7474-9CD8-8D27-D56173ED0689}"/>
              </a:ext>
            </a:extLst>
          </p:cNvPr>
          <p:cNvPicPr>
            <a:picLocks noChangeAspect="1"/>
          </p:cNvPicPr>
          <p:nvPr/>
        </p:nvPicPr>
        <p:blipFill>
          <a:blip r:embed="rId3"/>
          <a:stretch>
            <a:fillRect/>
          </a:stretch>
        </p:blipFill>
        <p:spPr>
          <a:xfrm>
            <a:off x="1014267" y="2314264"/>
            <a:ext cx="10163466" cy="3751230"/>
          </a:xfrm>
          <a:prstGeom prst="rect">
            <a:avLst/>
          </a:prstGeom>
        </p:spPr>
      </p:pic>
    </p:spTree>
    <p:extLst>
      <p:ext uri="{BB962C8B-B14F-4D97-AF65-F5344CB8AC3E}">
        <p14:creationId xmlns:p14="http://schemas.microsoft.com/office/powerpoint/2010/main" val="2396093818"/>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C9688-FDCA-871F-0139-ABF63F414ED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F37BDA7-DD18-1563-CF54-1D637BC4046B}"/>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步骤</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B81A1808-724F-D22C-BF44-A741B9D396C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F5787DF1-7C0C-8F08-3CBF-FF16EE7496A7}"/>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文本框 1">
            <a:extLst>
              <a:ext uri="{FF2B5EF4-FFF2-40B4-BE49-F238E27FC236}">
                <a16:creationId xmlns:a16="http://schemas.microsoft.com/office/drawing/2014/main" id="{A70624E1-56AF-FD7A-FBAF-8C81A30EDFF0}"/>
              </a:ext>
            </a:extLst>
          </p:cNvPr>
          <p:cNvSpPr txBox="1"/>
          <p:nvPr/>
        </p:nvSpPr>
        <p:spPr>
          <a:xfrm>
            <a:off x="487487" y="1283084"/>
            <a:ext cx="11033760"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）最佳得分规则选取</a:t>
            </a:r>
            <a:endParaRPr lang="en-US" altLang="zh-CN" sz="2400"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57F4616A-44B6-DAB0-C4AE-4AC87E2B6AD5}"/>
              </a:ext>
            </a:extLst>
          </p:cNvPr>
          <p:cNvPicPr>
            <a:picLocks noChangeAspect="1"/>
          </p:cNvPicPr>
          <p:nvPr/>
        </p:nvPicPr>
        <p:blipFill>
          <a:blip r:embed="rId3"/>
          <a:stretch>
            <a:fillRect/>
          </a:stretch>
        </p:blipFill>
        <p:spPr>
          <a:xfrm>
            <a:off x="299599" y="3170654"/>
            <a:ext cx="11618201" cy="3169793"/>
          </a:xfrm>
          <a:prstGeom prst="rect">
            <a:avLst/>
          </a:prstGeom>
        </p:spPr>
      </p:pic>
      <p:sp>
        <p:nvSpPr>
          <p:cNvPr id="5" name="矩形 4">
            <a:extLst>
              <a:ext uri="{FF2B5EF4-FFF2-40B4-BE49-F238E27FC236}">
                <a16:creationId xmlns:a16="http://schemas.microsoft.com/office/drawing/2014/main" id="{BAAF89CB-82F3-49B1-19B9-79D7F30081A4}"/>
              </a:ext>
            </a:extLst>
          </p:cNvPr>
          <p:cNvSpPr/>
          <p:nvPr/>
        </p:nvSpPr>
        <p:spPr>
          <a:xfrm>
            <a:off x="5020216" y="2173981"/>
            <a:ext cx="2151568" cy="607817"/>
          </a:xfrm>
          <a:prstGeom prst="rect">
            <a:avLst/>
          </a:prstGeom>
          <a:solidFill>
            <a:srgbClr val="0140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微软雅黑" panose="020B0503020204020204" pitchFamily="34" charset="-122"/>
                <a:ea typeface="微软雅黑" panose="020B0503020204020204" pitchFamily="34" charset="-122"/>
              </a:rPr>
              <a:t>两成分四格表</a:t>
            </a:r>
          </a:p>
        </p:txBody>
      </p:sp>
    </p:spTree>
    <p:extLst>
      <p:ext uri="{BB962C8B-B14F-4D97-AF65-F5344CB8AC3E}">
        <p14:creationId xmlns:p14="http://schemas.microsoft.com/office/powerpoint/2010/main" val="2118851443"/>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1C5B0-D804-04E3-1593-6EA5BF08309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31B3846-4DEE-D1AA-D349-85FCD7BF667E}"/>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步骤</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902DACAF-A3F8-8028-1A42-0B2FA74B0D5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17EC7B17-110D-7DB3-8EC2-885699729261}"/>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文本框 1">
            <a:extLst>
              <a:ext uri="{FF2B5EF4-FFF2-40B4-BE49-F238E27FC236}">
                <a16:creationId xmlns:a16="http://schemas.microsoft.com/office/drawing/2014/main" id="{2FEB94BC-050D-C6DC-7205-0DC90F4F00BA}"/>
              </a:ext>
            </a:extLst>
          </p:cNvPr>
          <p:cNvSpPr txBox="1"/>
          <p:nvPr/>
        </p:nvSpPr>
        <p:spPr>
          <a:xfrm>
            <a:off x="487487" y="1283084"/>
            <a:ext cx="11033760"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）规则</a:t>
            </a:r>
            <a:r>
              <a:rPr lang="en-US" altLang="zh-CN" sz="2400" dirty="0">
                <a:latin typeface="微软雅黑" panose="020B0503020204020204" pitchFamily="34" charset="-122"/>
                <a:ea typeface="微软雅黑" panose="020B0503020204020204" pitchFamily="34" charset="-122"/>
              </a:rPr>
              <a:t>P</a:t>
            </a:r>
            <a:r>
              <a:rPr lang="zh-CN" altLang="en-US" sz="2400" dirty="0">
                <a:latin typeface="微软雅黑" panose="020B0503020204020204" pitchFamily="34" charset="-122"/>
                <a:ea typeface="微软雅黑" panose="020B0503020204020204" pitchFamily="34" charset="-122"/>
              </a:rPr>
              <a:t>值的确定</a:t>
            </a:r>
            <a:endParaRPr lang="en-US" altLang="zh-CN" sz="240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0A73E047-F41F-9486-8434-F72F88FAFD84}"/>
              </a:ext>
            </a:extLst>
          </p:cNvPr>
          <p:cNvPicPr>
            <a:picLocks noChangeAspect="1"/>
          </p:cNvPicPr>
          <p:nvPr/>
        </p:nvPicPr>
        <p:blipFill>
          <a:blip r:embed="rId3"/>
          <a:stretch>
            <a:fillRect/>
          </a:stretch>
        </p:blipFill>
        <p:spPr>
          <a:xfrm>
            <a:off x="579119" y="2067884"/>
            <a:ext cx="11033761" cy="2722232"/>
          </a:xfrm>
          <a:prstGeom prst="rect">
            <a:avLst/>
          </a:prstGeom>
        </p:spPr>
      </p:pic>
      <p:graphicFrame>
        <p:nvGraphicFramePr>
          <p:cNvPr id="7" name="对象 6">
            <a:extLst>
              <a:ext uri="{FF2B5EF4-FFF2-40B4-BE49-F238E27FC236}">
                <a16:creationId xmlns:a16="http://schemas.microsoft.com/office/drawing/2014/main" id="{2F3CF745-1346-5A84-18A4-C91FF8217904}"/>
              </a:ext>
            </a:extLst>
          </p:cNvPr>
          <p:cNvGraphicFramePr>
            <a:graphicFrameLocks noChangeAspect="1"/>
          </p:cNvGraphicFramePr>
          <p:nvPr>
            <p:extLst>
              <p:ext uri="{D42A27DB-BD31-4B8C-83A1-F6EECF244321}">
                <p14:modId xmlns:p14="http://schemas.microsoft.com/office/powerpoint/2010/main" val="1557684973"/>
              </p:ext>
            </p:extLst>
          </p:nvPr>
        </p:nvGraphicFramePr>
        <p:xfrm>
          <a:off x="2694499" y="4790116"/>
          <a:ext cx="6619736" cy="1137701"/>
        </p:xfrm>
        <a:graphic>
          <a:graphicData uri="http://schemas.openxmlformats.org/presentationml/2006/ole">
            <mc:AlternateContent xmlns:mc="http://schemas.openxmlformats.org/markup-compatibility/2006">
              <mc:Choice xmlns:v="urn:schemas-microsoft-com:vml" Requires="v">
                <p:oleObj name="Equation" r:id="rId4" imgW="2494449" imgH="428745" progId="Equation.DSMT4">
                  <p:embed/>
                </p:oleObj>
              </mc:Choice>
              <mc:Fallback>
                <p:oleObj name="Equation" r:id="rId4" imgW="2494449" imgH="428745" progId="Equation.DSMT4">
                  <p:embed/>
                  <p:pic>
                    <p:nvPicPr>
                      <p:cNvPr id="0" name=""/>
                      <p:cNvPicPr/>
                      <p:nvPr/>
                    </p:nvPicPr>
                    <p:blipFill>
                      <a:blip r:embed="rId5"/>
                      <a:stretch>
                        <a:fillRect/>
                      </a:stretch>
                    </p:blipFill>
                    <p:spPr>
                      <a:xfrm>
                        <a:off x="2694499" y="4790116"/>
                        <a:ext cx="6619736" cy="1137701"/>
                      </a:xfrm>
                      <a:prstGeom prst="rect">
                        <a:avLst/>
                      </a:prstGeom>
                    </p:spPr>
                  </p:pic>
                </p:oleObj>
              </mc:Fallback>
            </mc:AlternateContent>
          </a:graphicData>
        </a:graphic>
      </p:graphicFrame>
    </p:spTree>
    <p:extLst>
      <p:ext uri="{BB962C8B-B14F-4D97-AF65-F5344CB8AC3E}">
        <p14:creationId xmlns:p14="http://schemas.microsoft.com/office/powerpoint/2010/main" val="1108040455"/>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4FAAE-9623-223A-7368-4064173A2D2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E7D2E0F-FE67-0F86-2347-725C54B03183}"/>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WSARE</a:t>
            </a:r>
            <a:r>
              <a:rPr lang="zh-CN" altLang="en-US" sz="3200" dirty="0">
                <a:solidFill>
                  <a:srgbClr val="FFFF00"/>
                </a:solidFill>
                <a:latin typeface="华光综艺_CNKI" panose="02000500000000000000" pitchFamily="2" charset="-122"/>
                <a:ea typeface="华光综艺_CNKI" panose="02000500000000000000" pitchFamily="2" charset="-122"/>
              </a:rPr>
              <a:t>工作流程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5D644C85-8D5B-F670-0D29-976E2FF345C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3E05AD64-C44D-D633-57A8-305AA340116B}"/>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图形 14">
            <a:extLst>
              <a:ext uri="{FF2B5EF4-FFF2-40B4-BE49-F238E27FC236}">
                <a16:creationId xmlns:a16="http://schemas.microsoft.com/office/drawing/2014/main" id="{0991549F-DA05-41F2-8BC2-092F7CBA7CB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8483" y="1651952"/>
            <a:ext cx="11540434" cy="4261167"/>
          </a:xfrm>
          <a:prstGeom prst="rect">
            <a:avLst/>
          </a:prstGeom>
        </p:spPr>
      </p:pic>
    </p:spTree>
    <p:extLst>
      <p:ext uri="{BB962C8B-B14F-4D97-AF65-F5344CB8AC3E}">
        <p14:creationId xmlns:p14="http://schemas.microsoft.com/office/powerpoint/2010/main" val="3661199938"/>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39ED9-8433-6A66-6490-43C49CA2BC7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8A5FBE6-0985-170D-1516-7EA00128B20B}"/>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WSARE</a:t>
            </a:r>
            <a:r>
              <a:rPr lang="zh-CN" altLang="en-US" sz="3200" dirty="0">
                <a:solidFill>
                  <a:srgbClr val="FFFF00"/>
                </a:solidFill>
                <a:latin typeface="华光综艺_CNKI" panose="02000500000000000000" pitchFamily="2" charset="-122"/>
                <a:ea typeface="华光综艺_CNKI" panose="02000500000000000000" pitchFamily="2" charset="-122"/>
              </a:rPr>
              <a:t>工作流程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1E8D1043-7869-701A-0BCF-D08783568FD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92C46E99-02DB-237E-CE43-778B8ACE5311}"/>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图形 14">
            <a:extLst>
              <a:ext uri="{FF2B5EF4-FFF2-40B4-BE49-F238E27FC236}">
                <a16:creationId xmlns:a16="http://schemas.microsoft.com/office/drawing/2014/main" id="{4D74FB05-5F17-927D-F82B-55D9A0B810F7}"/>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8483" y="1651952"/>
            <a:ext cx="11540434" cy="4261167"/>
          </a:xfrm>
          <a:prstGeom prst="rect">
            <a:avLst/>
          </a:prstGeom>
        </p:spPr>
      </p:pic>
    </p:spTree>
    <p:extLst>
      <p:ext uri="{BB962C8B-B14F-4D97-AF65-F5344CB8AC3E}">
        <p14:creationId xmlns:p14="http://schemas.microsoft.com/office/powerpoint/2010/main" val="1539599408"/>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C4CBB-371D-458B-5337-1317A6ACB98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F4267B1-84EF-D0B2-57B9-9C8A0421CD8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WSARE</a:t>
            </a:r>
            <a:r>
              <a:rPr lang="zh-CN" altLang="en-US" sz="3200" dirty="0">
                <a:solidFill>
                  <a:srgbClr val="FFFF00"/>
                </a:solidFill>
                <a:latin typeface="华光综艺_CNKI" panose="02000500000000000000" pitchFamily="2" charset="-122"/>
                <a:ea typeface="华光综艺_CNKI" panose="02000500000000000000" pitchFamily="2" charset="-122"/>
              </a:rPr>
              <a:t>适用范围</a:t>
            </a:r>
            <a:endParaRPr kumimoji="0" lang="de-DE"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4C0E4A76-260F-7A5E-28AD-275FBFFA979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等线"/>
              <a:ea typeface="+mn-ea"/>
              <a:cs typeface="+mn-cs"/>
            </a:endParaRPr>
          </a:p>
        </p:txBody>
      </p:sp>
      <p:sp>
        <p:nvSpPr>
          <p:cNvPr id="16" name="Rectangle 4">
            <a:extLst>
              <a:ext uri="{FF2B5EF4-FFF2-40B4-BE49-F238E27FC236}">
                <a16:creationId xmlns:a16="http://schemas.microsoft.com/office/drawing/2014/main" id="{AE972678-F04A-AF19-2ADE-304B957BCDC4}"/>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文本框 9">
            <a:extLst>
              <a:ext uri="{FF2B5EF4-FFF2-40B4-BE49-F238E27FC236}">
                <a16:creationId xmlns:a16="http://schemas.microsoft.com/office/drawing/2014/main" id="{FBA1952F-875F-A9BB-92F9-1EEABF84A8E4}"/>
              </a:ext>
            </a:extLst>
          </p:cNvPr>
          <p:cNvSpPr txBox="1"/>
          <p:nvPr/>
        </p:nvSpPr>
        <p:spPr>
          <a:xfrm>
            <a:off x="1103376" y="1763713"/>
            <a:ext cx="9985248" cy="4454233"/>
          </a:xfrm>
          <a:prstGeom prst="rect">
            <a:avLst/>
          </a:prstGeom>
          <a:noFill/>
          <a:ln w="19050">
            <a:solidFill>
              <a:srgbClr val="3484FF"/>
            </a:solidFill>
            <a:prstDash val="dash"/>
          </a:ln>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rPr>
              <a:t>以传染病监测预警领域为例，对于短期的监测预警，如大型会议和体育活动等，由于对数据收集的时间不长，而且一般不易获得环境属性资料，因此可采用基于历史数据基线的</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rPr>
              <a:t>WSARE</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rPr>
              <a:t>算法。</a:t>
            </a:r>
            <a:endPar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rPr>
              <a:t>而基于贝叶斯网络基线的算法是以长期的历史数据构造贝叶斯网络，并纳入环境属性，考虑了季节等时间趋势因素，对于长期监测预警，如对法定传染病、慢性疾病监测等，采用该算法具有明显优势。此外，该方法只能用于类型变量数据，对于数值变量数据可以在数据预处理时将其转换为类型变量进行探测分析。</a:t>
            </a:r>
          </a:p>
        </p:txBody>
      </p:sp>
    </p:spTree>
    <p:extLst>
      <p:ext uri="{BB962C8B-B14F-4D97-AF65-F5344CB8AC3E}">
        <p14:creationId xmlns:p14="http://schemas.microsoft.com/office/powerpoint/2010/main" val="18664920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5107</TotalTime>
  <Words>385</Words>
  <Application>Microsoft Office PowerPoint</Application>
  <PresentationFormat>宽屏</PresentationFormat>
  <Paragraphs>44</Paragraphs>
  <Slides>11</Slides>
  <Notes>11</Notes>
  <HiddenSlides>0</HiddenSlides>
  <MMClips>0</MMClips>
  <ScaleCrop>false</ScaleCrop>
  <HeadingPairs>
    <vt:vector size="8" baseType="variant">
      <vt:variant>
        <vt:lpstr>已用的字体</vt:lpstr>
      </vt:variant>
      <vt:variant>
        <vt:i4>10</vt:i4>
      </vt:variant>
      <vt:variant>
        <vt:lpstr>主题</vt:lpstr>
      </vt:variant>
      <vt:variant>
        <vt:i4>12</vt:i4>
      </vt:variant>
      <vt:variant>
        <vt:lpstr>嵌入 OLE 服务器</vt:lpstr>
      </vt:variant>
      <vt:variant>
        <vt:i4>2</vt:i4>
      </vt:variant>
      <vt:variant>
        <vt:lpstr>幻灯片标题</vt:lpstr>
      </vt:variant>
      <vt:variant>
        <vt:i4>11</vt:i4>
      </vt:variant>
    </vt:vector>
  </HeadingPairs>
  <TitlesOfParts>
    <vt:vector size="35" baseType="lpstr">
      <vt:lpstr>等线</vt:lpstr>
      <vt:lpstr>华光综艺_CNKI</vt:lpstr>
      <vt:lpstr>楷体</vt:lpstr>
      <vt:lpstr>思源黑体</vt:lpstr>
      <vt:lpstr>思源黑体 CN Bold</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Photo Editor 照片</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Mengxin Ou</cp:lastModifiedBy>
  <cp:revision>2900</cp:revision>
  <dcterms:created xsi:type="dcterms:W3CDTF">2022-05-23T09:13:00Z</dcterms:created>
  <dcterms:modified xsi:type="dcterms:W3CDTF">2025-04-17T16:02:42Z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