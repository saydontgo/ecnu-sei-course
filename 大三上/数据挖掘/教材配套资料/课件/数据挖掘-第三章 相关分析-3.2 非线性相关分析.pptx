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4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31"/>
  </p:handoutMasterIdLst>
  <p:sldIdLst>
    <p:sldId id="15638" r:id="rId14"/>
    <p:sldId id="15709" r:id="rId16"/>
    <p:sldId id="15710" r:id="rId17"/>
    <p:sldId id="15711" r:id="rId18"/>
    <p:sldId id="15712" r:id="rId19"/>
    <p:sldId id="15713" r:id="rId20"/>
    <p:sldId id="15714" r:id="rId21"/>
    <p:sldId id="15715" r:id="rId22"/>
    <p:sldId id="15723" r:id="rId23"/>
    <p:sldId id="15724" r:id="rId24"/>
    <p:sldId id="15717" r:id="rId25"/>
    <p:sldId id="15718" r:id="rId26"/>
    <p:sldId id="15719" r:id="rId27"/>
    <p:sldId id="15720" r:id="rId28"/>
    <p:sldId id="15721" r:id="rId29"/>
    <p:sldId id="15502" r:id="rId30"/>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40" userDrawn="1">
          <p15:clr>
            <a:srgbClr val="A4A3A4"/>
          </p15:clr>
        </p15:guide>
        <p15:guide id="5" orient="horz" pos="24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40"/>
        <p:guide orient="horz" pos="242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5" Type="http://schemas.openxmlformats.org/officeDocument/2006/relationships/tags" Target="tags/tag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29.wmf"/><Relationship Id="rId5" Type="http://schemas.openxmlformats.org/officeDocument/2006/relationships/oleObject" Target="../embeddings/oleObject6.bin"/><Relationship Id="rId4" Type="http://schemas.openxmlformats.org/officeDocument/2006/relationships/image" Target="../media/image28.emf"/><Relationship Id="rId3" Type="http://schemas.openxmlformats.org/officeDocument/2006/relationships/image" Target="../media/image27.wmf"/><Relationship Id="rId2" Type="http://schemas.openxmlformats.org/officeDocument/2006/relationships/oleObject" Target="../embeddings/oleObject5.bin"/><Relationship Id="rId1" Type="http://schemas.openxmlformats.org/officeDocument/2006/relationships/image" Target="../media/image26.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oleObject" Target="../embeddings/oleObject8.bin"/><Relationship Id="rId3" Type="http://schemas.openxmlformats.org/officeDocument/2006/relationships/image" Target="../media/image31.emf"/><Relationship Id="rId2" Type="http://schemas.openxmlformats.org/officeDocument/2006/relationships/image" Target="../media/image30.wmf"/><Relationship Id="rId1"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4.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37.wmf"/><Relationship Id="rId2" Type="http://schemas.openxmlformats.org/officeDocument/2006/relationships/oleObject" Target="../embeddings/oleObject9.bin"/><Relationship Id="rId1" Type="http://schemas.openxmlformats.org/officeDocument/2006/relationships/image" Target="../media/image36.emf"/></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8.vml"/><Relationship Id="rId4" Type="http://schemas.openxmlformats.org/officeDocument/2006/relationships/slideLayout" Target="../slideLayouts/slideLayout2.xml"/><Relationship Id="rId3" Type="http://schemas.openxmlformats.org/officeDocument/2006/relationships/image" Target="../media/image39.emf"/><Relationship Id="rId2" Type="http://schemas.openxmlformats.org/officeDocument/2006/relationships/image" Target="../media/image38.wmf"/><Relationship Id="rId1"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image" Target="../media/image41.emf"/><Relationship Id="rId2" Type="http://schemas.openxmlformats.org/officeDocument/2006/relationships/oleObject" Target="../embeddings/oleObject11.bin"/><Relationship Id="rId1" Type="http://schemas.openxmlformats.org/officeDocument/2006/relationships/image" Target="../media/image40.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2.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3.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4.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5.emf"/></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47.svg"/><Relationship Id="rId1" Type="http://schemas.openxmlformats.org/officeDocument/2006/relationships/image" Target="../media/image4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3</a:t>
            </a:r>
            <a:r>
              <a:rPr lang="en-US" altLang="zh-CN" sz="5400" b="0" dirty="0">
                <a:solidFill>
                  <a:schemeClr val="bg1"/>
                </a:solidFill>
                <a:ea typeface="华光综艺_CNKI" panose="02000500000000000000" pitchFamily="2" charset="-122"/>
              </a:rPr>
              <a:t>.2</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非线性</a:t>
            </a:r>
            <a:r>
              <a:rPr lang="zh-CN" altLang="en-US" b="0" dirty="0">
                <a:ea typeface="华光综艺_CNKI" panose="02000500000000000000" pitchFamily="2" charset="-122"/>
              </a:rPr>
              <a:t>相关分析</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3036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互信息</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stretch>
            <a:fillRect/>
          </a:stretch>
        </p:blipFill>
        <p:spPr>
          <a:xfrm>
            <a:off x="245110" y="1720850"/>
            <a:ext cx="11701780" cy="1100455"/>
          </a:xfrm>
          <a:prstGeom prst="rect">
            <a:avLst/>
          </a:prstGeom>
        </p:spPr>
      </p:pic>
      <p:graphicFrame>
        <p:nvGraphicFramePr>
          <p:cNvPr id="4" name="对象 -2147482469"/>
          <p:cNvGraphicFramePr>
            <a:graphicFrameLocks noChangeAspect="1"/>
          </p:cNvGraphicFramePr>
          <p:nvPr/>
        </p:nvGraphicFramePr>
        <p:xfrm>
          <a:off x="3320415" y="2732405"/>
          <a:ext cx="5585460" cy="1064895"/>
        </p:xfrm>
        <a:graphic>
          <a:graphicData uri="http://schemas.openxmlformats.org/presentationml/2006/ole">
            <mc:AlternateContent xmlns:mc="http://schemas.openxmlformats.org/markup-compatibility/2006">
              <mc:Choice xmlns:v="urn:schemas-microsoft-com:vml" Requires="v">
                <p:oleObj spid="_x0000_s3076" name="" r:id="rId2" imgW="2463165" imgH="457200" progId="Equation.DSMT4">
                  <p:embed/>
                </p:oleObj>
              </mc:Choice>
              <mc:Fallback>
                <p:oleObj name="" r:id="rId2" imgW="2463165" imgH="457200" progId="Equation.DSMT4">
                  <p:embed/>
                  <p:pic>
                    <p:nvPicPr>
                      <p:cNvPr id="0" name="图片 3075"/>
                      <p:cNvPicPr/>
                      <p:nvPr/>
                    </p:nvPicPr>
                    <p:blipFill>
                      <a:blip r:embed="rId3"/>
                      <a:stretch>
                        <a:fillRect/>
                      </a:stretch>
                    </p:blipFill>
                    <p:spPr>
                      <a:xfrm>
                        <a:off x="3320415" y="2732405"/>
                        <a:ext cx="5585460" cy="1064895"/>
                      </a:xfrm>
                      <a:prstGeom prst="rect">
                        <a:avLst/>
                      </a:prstGeom>
                      <a:noFill/>
                      <a:ln w="38100">
                        <a:noFill/>
                        <a:miter/>
                      </a:ln>
                    </p:spPr>
                  </p:pic>
                </p:oleObj>
              </mc:Fallback>
            </mc:AlternateContent>
          </a:graphicData>
        </a:graphic>
      </p:graphicFrame>
      <p:pic>
        <p:nvPicPr>
          <p:cNvPr id="10" name="图片 9"/>
          <p:cNvPicPr>
            <a:picLocks noChangeAspect="1"/>
          </p:cNvPicPr>
          <p:nvPr/>
        </p:nvPicPr>
        <p:blipFill>
          <a:blip r:embed="rId4"/>
          <a:stretch>
            <a:fillRect/>
          </a:stretch>
        </p:blipFill>
        <p:spPr>
          <a:xfrm>
            <a:off x="277495" y="3887470"/>
            <a:ext cx="11787505" cy="1149985"/>
          </a:xfrm>
          <a:prstGeom prst="rect">
            <a:avLst/>
          </a:prstGeom>
        </p:spPr>
      </p:pic>
      <p:sp>
        <p:nvSpPr>
          <p:cNvPr id="12" name="文本框 11"/>
          <p:cNvSpPr txBox="1"/>
          <p:nvPr/>
        </p:nvSpPr>
        <p:spPr>
          <a:xfrm>
            <a:off x="767080" y="4988560"/>
            <a:ext cx="8507730" cy="478790"/>
          </a:xfrm>
          <a:prstGeom prst="rect">
            <a:avLst/>
          </a:prstGeom>
        </p:spPr>
        <p:txBody>
          <a:bodyPr wrap="square">
            <a:noAutofit/>
          </a:bodyPr>
          <a:p>
            <a:pPr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在随机变量为</a:t>
            </a:r>
            <a:r>
              <a:rPr lang="zh-CN" altLang="en-US" sz="2400">
                <a:solidFill>
                  <a:srgbClr val="00B0F0"/>
                </a:solidFill>
                <a:latin typeface="微软雅黑" panose="020B0503020204020204" pitchFamily="34" charset="-122"/>
                <a:ea typeface="微软雅黑" panose="020B0503020204020204" pitchFamily="34" charset="-122"/>
              </a:rPr>
              <a:t>连续型</a:t>
            </a:r>
            <a:r>
              <a:rPr lang="zh-CN" altLang="en-US" sz="2400">
                <a:latin typeface="微软雅黑" panose="020B0503020204020204" pitchFamily="34" charset="-122"/>
                <a:ea typeface="微软雅黑" panose="020B0503020204020204" pitchFamily="34" charset="-122"/>
              </a:rPr>
              <a:t>的情况下，公式转换为：</a:t>
            </a:r>
            <a:endParaRPr lang="zh-CN" altLang="en-US" sz="2400">
              <a:latin typeface="微软雅黑" panose="020B0503020204020204" pitchFamily="34" charset="-122"/>
              <a:ea typeface="微软雅黑" panose="020B0503020204020204" pitchFamily="34" charset="-122"/>
            </a:endParaRPr>
          </a:p>
        </p:txBody>
      </p:sp>
      <p:graphicFrame>
        <p:nvGraphicFramePr>
          <p:cNvPr id="5" name="对象 -2147482461"/>
          <p:cNvGraphicFramePr>
            <a:graphicFrameLocks noChangeAspect="1"/>
          </p:cNvGraphicFramePr>
          <p:nvPr/>
        </p:nvGraphicFramePr>
        <p:xfrm>
          <a:off x="3320415" y="5493385"/>
          <a:ext cx="6233160" cy="1102995"/>
        </p:xfrm>
        <a:graphic>
          <a:graphicData uri="http://schemas.openxmlformats.org/presentationml/2006/ole">
            <mc:AlternateContent xmlns:mc="http://schemas.openxmlformats.org/markup-compatibility/2006">
              <mc:Choice xmlns:v="urn:schemas-microsoft-com:vml" Requires="v">
                <p:oleObj spid="_x0000_s16" name="" r:id="rId5" imgW="2679700" imgH="457200" progId="Equation.DSMT4">
                  <p:embed/>
                </p:oleObj>
              </mc:Choice>
              <mc:Fallback>
                <p:oleObj name="" r:id="rId5" imgW="2679700" imgH="457200" progId="Equation.DSMT4">
                  <p:embed/>
                  <p:pic>
                    <p:nvPicPr>
                      <p:cNvPr id="0" name="图片 15"/>
                      <p:cNvPicPr/>
                      <p:nvPr/>
                    </p:nvPicPr>
                    <p:blipFill>
                      <a:blip r:embed="rId6"/>
                      <a:stretch>
                        <a:fillRect/>
                      </a:stretch>
                    </p:blipFill>
                    <p:spPr>
                      <a:xfrm>
                        <a:off x="3320415" y="5493385"/>
                        <a:ext cx="6233160" cy="110299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3036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互信息</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386080" y="1851660"/>
            <a:ext cx="10843895" cy="478790"/>
          </a:xfrm>
          <a:prstGeom prst="rect">
            <a:avLst/>
          </a:prstGeom>
        </p:spPr>
        <p:txBody>
          <a:bodyPr wrap="square">
            <a:noAutofit/>
          </a:bodyPr>
          <a:p>
            <a:pPr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互信息是信息论中的一项重要指标，它用于定量衡量两个随机变量间的相关程度。互信息量度量一个随机变量包含关于另一随机变量的信息量，或可以视为一个随机变量在已知另一随机变量情况下的不确定性减少量。互信息的值越高表明两个变量之间存在越强的相关性，即根据一个变量的值能够更准确地预测另一个变量的值。</a:t>
            </a:r>
            <a:endParaRPr lang="zh-CN" altLang="en-US" sz="2400">
              <a:latin typeface="微软雅黑" panose="020B0503020204020204" pitchFamily="34" charset="-122"/>
              <a:ea typeface="微软雅黑" panose="020B0503020204020204" pitchFamily="34" charset="-122"/>
            </a:endParaRPr>
          </a:p>
          <a:p>
            <a:pPr marL="342900" indent="-342900" algn="just" defTabSz="266700" fontAlgn="auto">
              <a:lnSpc>
                <a:spcPct val="125000"/>
              </a:lnSpc>
              <a:spcBef>
                <a:spcPts val="180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正的互信息量：</a:t>
            </a:r>
            <a:r>
              <a:rPr lang="zh-CN" altLang="en-US" sz="2400">
                <a:latin typeface="微软雅黑" panose="020B0503020204020204" pitchFamily="34" charset="-122"/>
                <a:ea typeface="微软雅黑" panose="020B0503020204020204" pitchFamily="34" charset="-122"/>
              </a:rPr>
              <a:t>即</a:t>
            </a:r>
            <a:r>
              <a:rPr lang="en-US" altLang="zh-CN" sz="2400">
                <a:latin typeface="微软雅黑" panose="020B0503020204020204" pitchFamily="34" charset="-122"/>
                <a:ea typeface="微软雅黑" panose="020B0503020204020204" pitchFamily="34" charset="-122"/>
              </a:rPr>
              <a:t>X</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Y</a:t>
            </a:r>
            <a:r>
              <a:rPr lang="zh-CN" altLang="en-US" sz="2400">
                <a:latin typeface="微软雅黑" panose="020B0503020204020204" pitchFamily="34" charset="-122"/>
                <a:ea typeface="微软雅黑" panose="020B0503020204020204" pitchFamily="34" charset="-122"/>
              </a:rPr>
              <a:t>之间存在正相关性或信息共享；</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2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互信息量为零：</a:t>
            </a:r>
            <a:r>
              <a:rPr lang="zh-CN" altLang="en-US" sz="2400">
                <a:latin typeface="微软雅黑" panose="020B0503020204020204" pitchFamily="34" charset="-122"/>
                <a:ea typeface="微软雅黑" panose="020B0503020204020204" pitchFamily="34" charset="-122"/>
                <a:sym typeface="+mn-ea"/>
              </a:rPr>
              <a:t>即</a:t>
            </a:r>
            <a:r>
              <a:rPr lang="en-US" altLang="zh-CN" sz="2400">
                <a:latin typeface="微软雅黑" panose="020B0503020204020204" pitchFamily="34" charset="-122"/>
                <a:ea typeface="微软雅黑" panose="020B0503020204020204" pitchFamily="34" charset="-122"/>
                <a:sym typeface="+mn-ea"/>
              </a:rPr>
              <a:t>X</a:t>
            </a:r>
            <a:r>
              <a:rPr lang="zh-CN" altLang="en-US" sz="2400">
                <a:latin typeface="微软雅黑" panose="020B0503020204020204" pitchFamily="34" charset="-122"/>
                <a:ea typeface="微软雅黑" panose="020B0503020204020204" pitchFamily="34" charset="-122"/>
                <a:sym typeface="+mn-ea"/>
              </a:rPr>
              <a:t>和</a:t>
            </a:r>
            <a:r>
              <a:rPr lang="en-US" altLang="zh-CN" sz="2400">
                <a:latin typeface="微软雅黑" panose="020B0503020204020204" pitchFamily="34" charset="-122"/>
                <a:ea typeface="微软雅黑" panose="020B0503020204020204" pitchFamily="34" charset="-122"/>
                <a:sym typeface="+mn-ea"/>
              </a:rPr>
              <a:t>Y</a:t>
            </a:r>
            <a:r>
              <a:rPr lang="zh-CN" altLang="en-US" sz="2400">
                <a:latin typeface="微软雅黑" panose="020B0503020204020204" pitchFamily="34" charset="-122"/>
                <a:ea typeface="微软雅黑" panose="020B0503020204020204" pitchFamily="34" charset="-122"/>
                <a:sym typeface="+mn-ea"/>
              </a:rPr>
              <a:t>之间</a:t>
            </a:r>
            <a:r>
              <a:rPr lang="zh-CN" altLang="en-US" sz="2400">
                <a:latin typeface="微软雅黑" panose="020B0503020204020204" pitchFamily="34" charset="-122"/>
                <a:ea typeface="微软雅黑" panose="020B0503020204020204" pitchFamily="34" charset="-122"/>
              </a:rPr>
              <a:t>不存在信息共享或依赖性，它们是相互独立的。</a:t>
            </a:r>
            <a:endParaRPr lang="zh-CN" altLang="en-US" sz="2400">
              <a:latin typeface="微软雅黑" panose="020B0503020204020204" pitchFamily="34" charset="-122"/>
              <a:ea typeface="微软雅黑" panose="020B0503020204020204" pitchFamily="34" charset="-122"/>
            </a:endParaRPr>
          </a:p>
          <a:p>
            <a:pPr indent="0" algn="just" defTabSz="266700" fontAlgn="auto">
              <a:lnSpc>
                <a:spcPct val="125000"/>
              </a:lnSpc>
              <a:spcBef>
                <a:spcPts val="600"/>
              </a:spcBef>
              <a:spcAft>
                <a:spcPct val="0"/>
              </a:spcAft>
              <a:buFont typeface="Arial" panose="020B0604020202020204" pitchFamily="34" charset="0"/>
              <a:buNone/>
            </a:pP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3036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互信息</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文本框 11"/>
          <p:cNvSpPr txBox="1"/>
          <p:nvPr/>
        </p:nvSpPr>
        <p:spPr>
          <a:xfrm>
            <a:off x="294005" y="1667510"/>
            <a:ext cx="10843895" cy="478790"/>
          </a:xfrm>
          <a:prstGeom prst="rect">
            <a:avLst/>
          </a:prstGeom>
        </p:spPr>
        <p:txBody>
          <a:bodyPr wrap="square">
            <a:noAutofit/>
          </a:bodyPr>
          <a:p>
            <a:pPr indent="0" algn="just" defTabSz="266700" fontAlgn="auto">
              <a:lnSpc>
                <a:spcPct val="125000"/>
              </a:lnSpc>
              <a:spcBef>
                <a:spcPts val="600"/>
              </a:spcBef>
              <a:spcAft>
                <a:spcPct val="0"/>
              </a:spcAft>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互信息可以等价地表示为：</a:t>
            </a:r>
            <a:endParaRPr lang="zh-CN" altLang="en-US" sz="2400">
              <a:latin typeface="微软雅黑" panose="020B0503020204020204" pitchFamily="34" charset="-122"/>
              <a:ea typeface="微软雅黑" panose="020B0503020204020204" pitchFamily="34" charset="-122"/>
            </a:endParaRPr>
          </a:p>
        </p:txBody>
      </p:sp>
      <p:graphicFrame>
        <p:nvGraphicFramePr>
          <p:cNvPr id="4" name="对象 -2147482452"/>
          <p:cNvGraphicFramePr>
            <a:graphicFrameLocks noChangeAspect="1"/>
          </p:cNvGraphicFramePr>
          <p:nvPr/>
        </p:nvGraphicFramePr>
        <p:xfrm>
          <a:off x="563880" y="2625725"/>
          <a:ext cx="5701665" cy="1949450"/>
        </p:xfrm>
        <a:graphic>
          <a:graphicData uri="http://schemas.openxmlformats.org/presentationml/2006/ole">
            <mc:AlternateContent xmlns:mc="http://schemas.openxmlformats.org/markup-compatibility/2006">
              <mc:Choice xmlns:v="urn:schemas-microsoft-com:vml" Requires="v">
                <p:oleObj spid="_x0000_s8" name="" r:id="rId1" imgW="2552700" imgH="889000" progId="Equation.DSMT4">
                  <p:embed/>
                </p:oleObj>
              </mc:Choice>
              <mc:Fallback>
                <p:oleObj name="" r:id="rId1" imgW="2552700" imgH="889000" progId="Equation.DSMT4">
                  <p:embed/>
                  <p:pic>
                    <p:nvPicPr>
                      <p:cNvPr id="0" name="图片 7"/>
                      <p:cNvPicPr/>
                      <p:nvPr/>
                    </p:nvPicPr>
                    <p:blipFill>
                      <a:blip r:embed="rId2"/>
                      <a:stretch>
                        <a:fillRect/>
                      </a:stretch>
                    </p:blipFill>
                    <p:spPr>
                      <a:xfrm>
                        <a:off x="563880" y="2625725"/>
                        <a:ext cx="5701665" cy="1949450"/>
                      </a:xfrm>
                      <a:prstGeom prst="rect">
                        <a:avLst/>
                      </a:prstGeom>
                      <a:noFill/>
                      <a:ln w="38100">
                        <a:noFill/>
                        <a:miter/>
                      </a:ln>
                    </p:spPr>
                  </p:pic>
                </p:oleObj>
              </mc:Fallback>
            </mc:AlternateContent>
          </a:graphicData>
        </a:graphic>
      </p:graphicFrame>
      <p:pic>
        <p:nvPicPr>
          <p:cNvPr id="5" name="图片 4"/>
          <p:cNvPicPr>
            <a:picLocks noChangeAspect="1"/>
          </p:cNvPicPr>
          <p:nvPr/>
        </p:nvPicPr>
        <p:blipFill>
          <a:blip r:embed="rId3"/>
          <a:stretch>
            <a:fillRect/>
          </a:stretch>
        </p:blipFill>
        <p:spPr>
          <a:xfrm>
            <a:off x="418465" y="5207635"/>
            <a:ext cx="10873740" cy="1139825"/>
          </a:xfrm>
          <a:prstGeom prst="rect">
            <a:avLst/>
          </a:prstGeom>
        </p:spPr>
      </p:pic>
      <p:graphicFrame>
        <p:nvGraphicFramePr>
          <p:cNvPr id="6" name="对象 -2147482438"/>
          <p:cNvGraphicFramePr/>
          <p:nvPr/>
        </p:nvGraphicFramePr>
        <p:xfrm>
          <a:off x="6095365" y="1992630"/>
          <a:ext cx="5591175" cy="3215005"/>
        </p:xfrm>
        <a:graphic>
          <a:graphicData uri="http://schemas.openxmlformats.org/presentationml/2006/ole">
            <mc:AlternateContent xmlns:mc="http://schemas.openxmlformats.org/markup-compatibility/2006">
              <mc:Choice xmlns:v="urn:schemas-microsoft-com:vml" Requires="v">
                <p:oleObj spid="_x0000_s3076" name="" r:id="rId4" imgW="2408555" imgH="1409065" progId="Visio.Drawing.15">
                  <p:embed/>
                </p:oleObj>
              </mc:Choice>
              <mc:Fallback>
                <p:oleObj name="" r:id="rId4" imgW="2408555" imgH="1409065" progId="Visio.Drawing.15">
                  <p:embed/>
                  <p:pic>
                    <p:nvPicPr>
                      <p:cNvPr id="0" name="图片 3075"/>
                      <p:cNvPicPr/>
                      <p:nvPr/>
                    </p:nvPicPr>
                    <p:blipFill>
                      <a:blip r:embed="rId5"/>
                      <a:stretch>
                        <a:fillRect/>
                      </a:stretch>
                    </p:blipFill>
                    <p:spPr>
                      <a:xfrm>
                        <a:off x="6095365" y="1992630"/>
                        <a:ext cx="5591175" cy="321500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3036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互信息</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9" name="图片 8"/>
          <p:cNvPicPr>
            <a:picLocks noChangeAspect="1"/>
          </p:cNvPicPr>
          <p:nvPr/>
        </p:nvPicPr>
        <p:blipFill>
          <a:blip r:embed="rId1"/>
          <a:stretch>
            <a:fillRect/>
          </a:stretch>
        </p:blipFill>
        <p:spPr>
          <a:xfrm>
            <a:off x="349250" y="1521460"/>
            <a:ext cx="11416665" cy="53422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3036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互信息</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1" name="矩形: 圆角 55"/>
          <p:cNvSpPr/>
          <p:nvPr/>
        </p:nvSpPr>
        <p:spPr>
          <a:xfrm>
            <a:off x="444500" y="2040890"/>
            <a:ext cx="1826895" cy="544830"/>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算一算</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21" name="图片 20"/>
          <p:cNvPicPr>
            <a:picLocks noChangeAspect="1"/>
          </p:cNvPicPr>
          <p:nvPr/>
        </p:nvPicPr>
        <p:blipFill>
          <a:blip r:embed="rId1"/>
          <a:stretch>
            <a:fillRect/>
          </a:stretch>
        </p:blipFill>
        <p:spPr>
          <a:xfrm>
            <a:off x="444500" y="3336290"/>
            <a:ext cx="11299190" cy="10344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23036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互信息</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.1</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51" name="矩形: 圆角 55"/>
          <p:cNvSpPr/>
          <p:nvPr/>
        </p:nvSpPr>
        <p:spPr>
          <a:xfrm>
            <a:off x="2757170" y="976630"/>
            <a:ext cx="1826895" cy="544830"/>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算一算</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1" name="图片 10"/>
          <p:cNvPicPr>
            <a:picLocks noChangeAspect="1"/>
          </p:cNvPicPr>
          <p:nvPr/>
        </p:nvPicPr>
        <p:blipFill>
          <a:blip r:embed="rId1"/>
          <a:stretch>
            <a:fillRect/>
          </a:stretch>
        </p:blipFill>
        <p:spPr>
          <a:xfrm>
            <a:off x="361950" y="1539875"/>
            <a:ext cx="11035030" cy="53047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2942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最大信息</a:t>
            </a: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系数</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7" name="图片 36"/>
          <p:cNvPicPr>
            <a:picLocks noChangeAspect="1"/>
          </p:cNvPicPr>
          <p:nvPr/>
        </p:nvPicPr>
        <p:blipFill>
          <a:blip r:embed="rId1"/>
          <a:stretch>
            <a:fillRect/>
          </a:stretch>
        </p:blipFill>
        <p:spPr>
          <a:xfrm>
            <a:off x="477520" y="1756410"/>
            <a:ext cx="11237595" cy="3858260"/>
          </a:xfrm>
          <a:prstGeom prst="rect">
            <a:avLst/>
          </a:prstGeom>
        </p:spPr>
      </p:pic>
      <p:graphicFrame>
        <p:nvGraphicFramePr>
          <p:cNvPr id="4" name="对象 -2147482388"/>
          <p:cNvGraphicFramePr>
            <a:graphicFrameLocks noChangeAspect="1"/>
          </p:cNvGraphicFramePr>
          <p:nvPr/>
        </p:nvGraphicFramePr>
        <p:xfrm>
          <a:off x="4450715" y="5614670"/>
          <a:ext cx="3265805" cy="939800"/>
        </p:xfrm>
        <a:graphic>
          <a:graphicData uri="http://schemas.openxmlformats.org/presentationml/2006/ole">
            <mc:AlternateContent xmlns:mc="http://schemas.openxmlformats.org/markup-compatibility/2006">
              <mc:Choice xmlns:v="urn:schemas-microsoft-com:vml" Requires="v">
                <p:oleObj spid="_x0000_s38" name="" r:id="rId2" imgW="1587500" imgH="457200" progId="Equation.DSMT4">
                  <p:embed/>
                </p:oleObj>
              </mc:Choice>
              <mc:Fallback>
                <p:oleObj name="" r:id="rId2" imgW="1587500" imgH="457200" progId="Equation.DSMT4">
                  <p:embed/>
                  <p:pic>
                    <p:nvPicPr>
                      <p:cNvPr id="0" name="图片 37"/>
                      <p:cNvPicPr/>
                      <p:nvPr/>
                    </p:nvPicPr>
                    <p:blipFill>
                      <a:blip r:embed="rId3"/>
                      <a:stretch>
                        <a:fillRect/>
                      </a:stretch>
                    </p:blipFill>
                    <p:spPr>
                      <a:xfrm>
                        <a:off x="4450715" y="5614670"/>
                        <a:ext cx="3265805" cy="9398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2942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最大信息</a:t>
            </a: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系数</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2147482385"/>
          <p:cNvGraphicFramePr>
            <a:graphicFrameLocks noChangeAspect="1"/>
          </p:cNvGraphicFramePr>
          <p:nvPr/>
        </p:nvGraphicFramePr>
        <p:xfrm>
          <a:off x="3485515" y="2296160"/>
          <a:ext cx="5249545" cy="1132840"/>
        </p:xfrm>
        <a:graphic>
          <a:graphicData uri="http://schemas.openxmlformats.org/presentationml/2006/ole">
            <mc:AlternateContent xmlns:mc="http://schemas.openxmlformats.org/markup-compatibility/2006">
              <mc:Choice xmlns:v="urn:schemas-microsoft-com:vml" Requires="v">
                <p:oleObj spid="_x0000_s3076" name="" r:id="rId1" imgW="1993900" imgH="431800" progId="Equation.DSMT4">
                  <p:embed/>
                </p:oleObj>
              </mc:Choice>
              <mc:Fallback>
                <p:oleObj name="" r:id="rId1" imgW="1993900" imgH="431800" progId="Equation.DSMT4">
                  <p:embed/>
                  <p:pic>
                    <p:nvPicPr>
                      <p:cNvPr id="0" name="图片 3075"/>
                      <p:cNvPicPr/>
                      <p:nvPr/>
                    </p:nvPicPr>
                    <p:blipFill>
                      <a:blip r:embed="rId2"/>
                      <a:stretch>
                        <a:fillRect/>
                      </a:stretch>
                    </p:blipFill>
                    <p:spPr>
                      <a:xfrm>
                        <a:off x="3485515" y="2296160"/>
                        <a:ext cx="5249545" cy="1132840"/>
                      </a:xfrm>
                      <a:prstGeom prst="rect">
                        <a:avLst/>
                      </a:prstGeom>
                      <a:noFill/>
                      <a:ln w="38100">
                        <a:noFill/>
                        <a:miter/>
                      </a:ln>
                    </p:spPr>
                  </p:pic>
                </p:oleObj>
              </mc:Fallback>
            </mc:AlternateContent>
          </a:graphicData>
        </a:graphic>
      </p:graphicFrame>
      <p:pic>
        <p:nvPicPr>
          <p:cNvPr id="5" name="图片 4"/>
          <p:cNvPicPr>
            <a:picLocks noChangeAspect="1"/>
          </p:cNvPicPr>
          <p:nvPr/>
        </p:nvPicPr>
        <p:blipFill>
          <a:blip r:embed="rId3"/>
          <a:stretch>
            <a:fillRect/>
          </a:stretch>
        </p:blipFill>
        <p:spPr>
          <a:xfrm>
            <a:off x="93345" y="1845310"/>
            <a:ext cx="11693525" cy="450850"/>
          </a:xfrm>
          <a:prstGeom prst="rect">
            <a:avLst/>
          </a:prstGeom>
        </p:spPr>
      </p:pic>
      <p:sp>
        <p:nvSpPr>
          <p:cNvPr id="6" name="文本框 5"/>
          <p:cNvSpPr txBox="1"/>
          <p:nvPr/>
        </p:nvSpPr>
        <p:spPr>
          <a:xfrm>
            <a:off x="662305" y="4116070"/>
            <a:ext cx="10895965" cy="2368550"/>
          </a:xfrm>
          <a:prstGeom prst="rect">
            <a:avLst/>
          </a:prstGeom>
          <a:noFill/>
        </p:spPr>
        <p:txBody>
          <a:bodyPr wrap="square" rtlCol="0">
            <a:spAutoFit/>
            <a:scene3d>
              <a:camera prst="orthographicFront"/>
              <a:lightRig rig="threePt" dir="t"/>
            </a:scene3d>
          </a:bodyPr>
          <a:p>
            <a:pPr>
              <a:lnSpc>
                <a:spcPct val="110000"/>
              </a:lnSpc>
            </a:pP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可以理解为一种</a:t>
            </a:r>
            <a:r>
              <a:rPr lang="zh-CN" altLang="en-US" sz="20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网格离散化的、被归一化的最大互信息</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，且相较于互信息有更高的准确度，其值介于</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之间，其中</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表示没有相关性，</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表示完全相关。</a:t>
            </a:r>
            <a:endPar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80000"/>
              </a:lnSpc>
            </a:pPr>
            <a:endParaRPr lang="zh-CN" altLang="en-US" sz="2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的优点在于可以发现各种类型的关系且</a:t>
            </a:r>
            <a:r>
              <a:rPr lang="zh-CN" altLang="en-US" sz="20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不受线性假设的限制</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，不论变量是函数相关、超函数相关、还是没有任何函数关系的相关，</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都可以探测到变量间的相关性，因此在</a:t>
            </a:r>
            <a:r>
              <a:rPr lang="zh-CN" altLang="en-US" sz="20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复杂数据分析中尤其适用</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。然而，</a:t>
            </a:r>
            <a:r>
              <a:rPr lang="en-US" altLang="zh-CN"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的计算可能比传统的相关性方法</a:t>
            </a:r>
            <a:r>
              <a:rPr lang="zh-CN" altLang="en-US" sz="2000">
                <a:solidFill>
                  <a:srgbClr val="FF0000"/>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更耗时</a:t>
            </a:r>
            <a:r>
              <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，特别是对于大型数据集，在应用时需要考虑计算成本。</a:t>
            </a:r>
            <a:endParaRPr lang="zh-CN" altLang="en-US" sz="2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563880" y="3429000"/>
            <a:ext cx="6812280" cy="391160"/>
          </a:xfrm>
          <a:prstGeom prst="rect">
            <a:avLst/>
          </a:prstGeom>
        </p:spPr>
        <p:txBody>
          <a:bodyPr wrap="square" rtlCol="0">
            <a:noAutofit/>
          </a:bodyPr>
          <a:p>
            <a:r>
              <a:rPr lang="en-US" altLang="zh-CN" sz="2400">
                <a:latin typeface="楷体" panose="02010609060101010101" charset="-122"/>
                <a:ea typeface="楷体" panose="02010609060101010101" charset="-122"/>
                <a:cs typeface="楷体" panose="02010609060101010101" charset="-122"/>
              </a:rPr>
              <a:t> </a:t>
            </a:r>
            <a:r>
              <a:rPr lang="zh-CN" altLang="en-US" sz="2400">
                <a:latin typeface="楷体" panose="02010609060101010101" charset="-122"/>
                <a:ea typeface="楷体" panose="02010609060101010101" charset="-122"/>
                <a:cs typeface="楷体" panose="02010609060101010101" charset="-122"/>
              </a:rPr>
              <a:t>其中，</a:t>
            </a:r>
            <a:r>
              <a:rPr lang="en-US" altLang="zh-CN" sz="2400">
                <a:latin typeface="楷体" panose="02010609060101010101" charset="-122"/>
                <a:ea typeface="楷体" panose="02010609060101010101" charset="-122"/>
                <a:cs typeface="楷体" panose="02010609060101010101" charset="-122"/>
              </a:rPr>
              <a:t>a*b&lt;B</a:t>
            </a:r>
            <a:r>
              <a:rPr lang="zh-CN" altLang="en-US" sz="2400">
                <a:latin typeface="楷体" panose="02010609060101010101" charset="-122"/>
                <a:ea typeface="楷体" panose="02010609060101010101" charset="-122"/>
                <a:cs typeface="楷体" panose="02010609060101010101" charset="-122"/>
              </a:rPr>
              <a:t>是指网格划分数小于</a:t>
            </a:r>
            <a:r>
              <a:rPr lang="en-US" altLang="zh-CN" sz="2400">
                <a:latin typeface="楷体" panose="02010609060101010101" charset="-122"/>
                <a:ea typeface="楷体" panose="02010609060101010101" charset="-122"/>
                <a:cs typeface="楷体" panose="02010609060101010101" charset="-122"/>
              </a:rPr>
              <a:t>B</a:t>
            </a:r>
            <a:r>
              <a:rPr lang="zh-CN" altLang="en-US" sz="2400">
                <a:latin typeface="楷体" panose="02010609060101010101" charset="-122"/>
                <a:ea typeface="楷体" panose="02010609060101010101" charset="-122"/>
                <a:cs typeface="楷体" panose="02010609060101010101" charset="-122"/>
              </a:rPr>
              <a:t>。</a:t>
            </a:r>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32942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最大信息</a:t>
            </a: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系数</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.2</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 name="图片 4"/>
          <p:cNvPicPr>
            <a:picLocks noChangeAspect="1"/>
          </p:cNvPicPr>
          <p:nvPr/>
        </p:nvPicPr>
        <p:blipFill>
          <a:blip r:embed="rId1"/>
          <a:stretch>
            <a:fillRect/>
          </a:stretch>
        </p:blipFill>
        <p:spPr>
          <a:xfrm>
            <a:off x="272415" y="1892300"/>
            <a:ext cx="8322310" cy="4071620"/>
          </a:xfrm>
          <a:prstGeom prst="rect">
            <a:avLst/>
          </a:prstGeom>
        </p:spPr>
      </p:pic>
      <p:graphicFrame>
        <p:nvGraphicFramePr>
          <p:cNvPr id="4" name="对象 -2147482563"/>
          <p:cNvGraphicFramePr/>
          <p:nvPr/>
        </p:nvGraphicFramePr>
        <p:xfrm>
          <a:off x="8689975" y="976630"/>
          <a:ext cx="3262630" cy="5979795"/>
        </p:xfrm>
        <a:graphic>
          <a:graphicData uri="http://schemas.openxmlformats.org/presentationml/2006/ole">
            <mc:AlternateContent xmlns:mc="http://schemas.openxmlformats.org/markup-compatibility/2006">
              <mc:Choice xmlns:v="urn:schemas-microsoft-com:vml" Requires="v">
                <p:oleObj spid="_x0000_s3076" name="" r:id="rId2" imgW="2962910" imgH="6261100" progId="Visio.Drawing.15">
                  <p:embed/>
                </p:oleObj>
              </mc:Choice>
              <mc:Fallback>
                <p:oleObj name="" r:id="rId2" imgW="2962910" imgH="6261100" progId="Visio.Drawing.15">
                  <p:embed/>
                  <p:pic>
                    <p:nvPicPr>
                      <p:cNvPr id="0" name="图片 3075"/>
                      <p:cNvPicPr/>
                      <p:nvPr/>
                    </p:nvPicPr>
                    <p:blipFill>
                      <a:blip r:embed="rId3"/>
                      <a:stretch>
                        <a:fillRect/>
                      </a:stretch>
                    </p:blipFill>
                    <p:spPr>
                      <a:xfrm>
                        <a:off x="8689975" y="976630"/>
                        <a:ext cx="3262630" cy="597979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935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实践案例：桥梁震动的相关分析</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307975" y="1949450"/>
            <a:ext cx="11094085" cy="1568450"/>
          </a:xfrm>
          <a:prstGeom prst="rect">
            <a:avLst/>
          </a:prstGeom>
          <a:noFill/>
        </p:spPr>
        <p:txBody>
          <a:bodyPr wrap="square" rtlCol="0">
            <a:spAutoFit/>
          </a:bodyPr>
          <a:p>
            <a:r>
              <a:rPr lang="zh-CN" altLang="en-US" sz="2400">
                <a:latin typeface="微软雅黑" panose="020B0503020204020204" pitchFamily="34" charset="-122"/>
                <a:ea typeface="微软雅黑" panose="020B0503020204020204" pitchFamily="34" charset="-122"/>
                <a:cs typeface="微软雅黑" panose="020B0503020204020204" pitchFamily="34" charset="-122"/>
              </a:rPr>
              <a:t>选取</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2020</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时至</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2020</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24</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时的某沿海桥梁潮汐影响振动时序数据作为样本，数据集包含</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个字段，分别为时间戳（</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timestamp</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）、桥梁振动幅度（</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amplitude</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）和桥梁震动频率（</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frequency</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）。现要探究潮汐周期与桥梁振动幅度的相关性。</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307975" y="3851910"/>
            <a:ext cx="11094085" cy="21786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935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实践案例：桥梁震动的相关分析</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325755" y="1786255"/>
            <a:ext cx="11540490" cy="1789430"/>
          </a:xfrm>
          <a:prstGeom prst="rect">
            <a:avLst/>
          </a:prstGeom>
          <a:noFill/>
        </p:spPr>
        <p:txBody>
          <a:bodyPr wrap="square" rtlCol="0">
            <a:spAutoFit/>
          </a:bodyPr>
          <a:p>
            <a:pPr marL="342900" indent="-342900">
              <a:lnSpc>
                <a:spcPct val="120000"/>
              </a:lnSpc>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数据准备</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pandas</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库的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read_csv</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函数加载数据文件，再把数据存储在名为</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vibration_data</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DataFrame</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中。</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1414145" y="3429000"/>
            <a:ext cx="9130030" cy="26511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935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实践案例：桥梁震动的相关分析</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304800" y="1769110"/>
            <a:ext cx="11400155" cy="977265"/>
          </a:xfrm>
          <a:prstGeom prst="rect">
            <a:avLst/>
          </a:prstGeom>
          <a:noFill/>
        </p:spPr>
        <p:txBody>
          <a:bodyPr wrap="square" rtlCol="0">
            <a:spAutoFit/>
          </a:bodyPr>
          <a:p>
            <a:pPr marL="342900" indent="-342900">
              <a:lnSpc>
                <a:spcPct val="120000"/>
              </a:lnSpc>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绘制散点图</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matplotlib</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库中的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plt.scatter</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函数将时间戳与振动幅度的关系绘制成散点图。</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530985" y="2879725"/>
            <a:ext cx="8198485" cy="2380615"/>
          </a:xfrm>
          <a:prstGeom prst="rect">
            <a:avLst/>
          </a:prstGeom>
        </p:spPr>
      </p:pic>
      <p:sp>
        <p:nvSpPr>
          <p:cNvPr id="8" name="文本框 7"/>
          <p:cNvSpPr txBox="1"/>
          <p:nvPr/>
        </p:nvSpPr>
        <p:spPr>
          <a:xfrm>
            <a:off x="473075" y="5393690"/>
            <a:ext cx="11315065" cy="1245235"/>
          </a:xfrm>
          <a:prstGeom prst="rect">
            <a:avLst/>
          </a:prstGeom>
        </p:spPr>
        <p:txBody>
          <a:bodyPr wrap="square">
            <a:spAutoFit/>
          </a:bodyPr>
          <a:p>
            <a:pPr marL="0" indent="306070" algn="just" defTabSz="266700">
              <a:lnSpc>
                <a:spcPct val="125000"/>
              </a:lnSpc>
              <a:spcBef>
                <a:spcPct val="0"/>
              </a:spcBef>
              <a:spcAft>
                <a:spcPct val="0"/>
              </a:spcAft>
            </a:pPr>
            <a:r>
              <a:rPr lang="zh-CN" altLang="en-US"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结果显示，潮汐周期与桥梁振动幅度之间呈现接近正弦波形的周期变化模式。为了全面了解线性相关性与非线性相关性度量在不同条件下的适用性及其差异，运用线性相关系数（如</a:t>
            </a:r>
            <a:r>
              <a:rPr lang="en-US" altLang="zh-CN"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Pearson</a:t>
            </a:r>
            <a:r>
              <a:rPr lang="zh-CN" altLang="en-US"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相关系数）和非线性相关系数（如互信息和</a:t>
            </a:r>
            <a:r>
              <a:rPr lang="en-US" altLang="zh-CN"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）同时定量衡量时间和振动幅度之间的相关性。</a:t>
            </a:r>
            <a:endParaRPr lang="zh-CN" altLang="en-US" sz="20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935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实践案例：桥梁震动的相关分析</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304800" y="1667510"/>
            <a:ext cx="11400155" cy="1645285"/>
          </a:xfrm>
          <a:prstGeom prst="rect">
            <a:avLst/>
          </a:prstGeom>
          <a:noFill/>
        </p:spPr>
        <p:txBody>
          <a:bodyPr wrap="square" rtlCol="0">
            <a:spAutoFit/>
          </a:bodyPr>
          <a:p>
            <a:pPr marL="342900" indent="-342900">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相关性分析</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spcBef>
                <a:spcPts val="600"/>
              </a:spcBef>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为保证分析过程的精确性，计算出每个时间戳距离观测开始时刻的总秒数。分别使用</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sklearn.feature_selection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模块中的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mutual_info_regression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函数和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MINE</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库中的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MINE</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类计算互信息和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值，再计算</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Pearson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Spearman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和以及</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Kendall</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相关系数。</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2114550" y="3448050"/>
            <a:ext cx="7340600" cy="31927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二、非线性</a:t>
            </a:r>
            <a:r>
              <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rPr>
              <a:t>相关分析</a:t>
            </a:r>
            <a:endParaRPr kumimoji="0" lang="zh-CN" altLang="en-US" sz="3200" b="0" i="0" u="none" strike="noStrike" kern="1200" cap="none" spc="0" normalizeH="0" baseline="0" noProof="0" dirty="0">
              <a:ln>
                <a:noFill/>
              </a:ln>
              <a:solidFill>
                <a:srgbClr val="FFFF00"/>
              </a:solidFill>
              <a:effectLst/>
              <a:uLnTx/>
              <a:uFillTx/>
              <a:latin typeface="华光综艺_CNKI" panose="02000500000000000000" pitchFamily="2" charset="-122"/>
              <a:ea typeface="华光综艺_CNKI" panose="02000500000000000000" pitchFamily="2" charset="-122"/>
              <a:cs typeface="+mn-cs"/>
            </a:endParaRPr>
          </a:p>
        </p:txBody>
      </p:sp>
      <p:sp>
        <p:nvSpPr>
          <p:cNvPr id="2" name="矩形: 圆角 12"/>
          <p:cNvSpPr/>
          <p:nvPr/>
        </p:nvSpPr>
        <p:spPr>
          <a:xfrm>
            <a:off x="166155" y="976670"/>
            <a:ext cx="593581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marL="0" marR="0" lvl="0" indent="0" algn="l" defTabSz="1460500" rtl="0" eaLnBrk="1" fontAlgn="auto" latinLnBrk="0" hangingPunct="1">
              <a:lnSpc>
                <a:spcPct val="100000"/>
              </a:lnSpc>
              <a:spcBef>
                <a:spcPct val="30000"/>
              </a:spcBef>
              <a:spcAft>
                <a:spcPts val="0"/>
              </a:spcAft>
              <a:buClrTx/>
              <a:buSzTx/>
              <a:buFontTx/>
              <a:buNone/>
              <a:defRPr/>
            </a:pPr>
            <a:r>
              <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rPr>
              <a:t>实践案例：桥梁震动的相关分析</a:t>
            </a:r>
            <a:endParaRPr lang="zh-CN" altLang="en-US" sz="2600" b="1" dirty="0">
              <a:solidFill>
                <a:srgbClr val="5B9BD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5" y="976589"/>
            <a:ext cx="1079640"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a:t>
            </a:r>
            <a:r>
              <a:rPr kumimoji="0" lang="en-US" altLang="zh-CN"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rPr>
              <a:t>.3</a:t>
            </a:r>
            <a:endParaRPr kumimoji="0" lang="zh-CN" altLang="en-US" sz="36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charset="-122"/>
              <a:cs typeface="+mn-cs"/>
              <a:sym typeface="Times New Roman" panose="02020603050405020304" pitchFamily="18" charset="0"/>
            </a:endParaRPr>
          </a:p>
        </p:txBody>
      </p:sp>
      <p:sp>
        <p:nvSpPr>
          <p:cNvPr id="15"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26" name="Rectangle 11"/>
          <p:cNvSpPr>
            <a:spLocks noChangeArrowheads="1"/>
          </p:cNvSpPr>
          <p:nvPr/>
        </p:nvSpPr>
        <p:spPr bwMode="auto">
          <a:xfrm>
            <a:off x="563563" y="-1273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文本框 7"/>
          <p:cNvSpPr txBox="1"/>
          <p:nvPr/>
        </p:nvSpPr>
        <p:spPr>
          <a:xfrm>
            <a:off x="166370" y="1813560"/>
            <a:ext cx="5080000" cy="553085"/>
          </a:xfrm>
          <a:prstGeom prst="rect">
            <a:avLst/>
          </a:prstGeom>
        </p:spPr>
        <p:txBody>
          <a:bodyPr>
            <a:spAutoFit/>
          </a:bodyPr>
          <a:p>
            <a:pPr marL="0" indent="0" algn="l" defTabSz="266700">
              <a:lnSpc>
                <a:spcPct val="125000"/>
              </a:lnSpc>
              <a:spcBef>
                <a:spcPts val="400"/>
              </a:spcBef>
              <a:spcAft>
                <a:spcPct val="0"/>
              </a:spcAft>
            </a:pPr>
            <a:r>
              <a:rPr lang="zh-CN" altLang="en-US" sz="2400" b="1">
                <a:solidFill>
                  <a:srgbClr val="FF0000"/>
                </a:solidFill>
                <a:latin typeface="微软雅黑" panose="020B0503020204020204" pitchFamily="34" charset="-122"/>
                <a:ea typeface="微软雅黑" panose="020B0503020204020204" pitchFamily="34" charset="-122"/>
              </a:rPr>
              <a:t>输出结果：</a:t>
            </a:r>
            <a:endParaRPr lang="zh-CN" altLang="en-US" sz="2400" b="1">
              <a:solidFill>
                <a:srgbClr val="FF0000"/>
              </a:solidFill>
              <a:latin typeface="微软雅黑" panose="020B0503020204020204" pitchFamily="34" charset="-122"/>
              <a:ea typeface="微软雅黑" panose="020B0503020204020204" pitchFamily="34" charset="-122"/>
            </a:endParaRPr>
          </a:p>
        </p:txBody>
      </p:sp>
      <p:pic>
        <p:nvPicPr>
          <p:cNvPr id="9" name="图片 3" descr="D:/all_files/edge_files/相关分析/vibration_plot.svgvibration_plot"/>
          <p:cNvPicPr>
            <a:picLocks noChangeAspect="1"/>
          </p:cNvPicPr>
          <p:nvPr/>
        </p:nvPicPr>
        <p:blipFill>
          <a:blip r:embed="rId1">
            <a:extLst>
              <a:ext uri="{96DAC541-7B7A-43D3-8B79-37D633B846F1}">
                <asvg:svgBlip xmlns:asvg="http://schemas.microsoft.com/office/drawing/2016/SVG/main" r:embed="rId2"/>
              </a:ext>
            </a:extLst>
          </a:blip>
          <a:srcRect t="8" b="8"/>
          <a:stretch>
            <a:fillRect/>
          </a:stretch>
        </p:blipFill>
        <p:spPr>
          <a:xfrm>
            <a:off x="2383790" y="1667510"/>
            <a:ext cx="7423785" cy="3182620"/>
          </a:xfrm>
          <a:prstGeom prst="rect">
            <a:avLst/>
          </a:prstGeom>
        </p:spPr>
      </p:pic>
      <p:sp>
        <p:nvSpPr>
          <p:cNvPr id="10" name="文本框 9"/>
          <p:cNvSpPr txBox="1"/>
          <p:nvPr/>
        </p:nvSpPr>
        <p:spPr>
          <a:xfrm>
            <a:off x="2493645" y="4996180"/>
            <a:ext cx="7748270" cy="1822450"/>
          </a:xfrm>
          <a:prstGeom prst="rect">
            <a:avLst/>
          </a:prstGeom>
        </p:spPr>
        <p:txBody>
          <a:bodyPr wrap="square">
            <a:spAutoFit/>
          </a:bodyPr>
          <a:p>
            <a:pPr marL="0" indent="0" algn="l" defTabSz="266700">
              <a:lnSpc>
                <a:spcPct val="125000"/>
              </a:lnSpc>
              <a:spcBef>
                <a:spcPct val="0"/>
              </a:spcBef>
              <a:spcAft>
                <a:spcPct val="0"/>
              </a:spcAft>
            </a:pP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互信息</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0.44000134210884845</a:t>
            </a:r>
            <a:endPar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l" defTabSz="266700">
              <a:lnSpc>
                <a:spcPct val="125000"/>
              </a:lnSpc>
              <a:spcBef>
                <a:spcPct val="0"/>
              </a:spcBef>
              <a:spcAft>
                <a:spcPct val="0"/>
              </a:spcAft>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MIC</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值</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0.5184138187959586</a:t>
            </a:r>
            <a:endPar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l" defTabSz="266700">
              <a:lnSpc>
                <a:spcPct val="125000"/>
              </a:lnSpc>
              <a:spcBef>
                <a:spcPct val="0"/>
              </a:spcBef>
              <a:spcAft>
                <a:spcPct val="0"/>
              </a:spcAft>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Pearson</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相关系数</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-0.09501360828617346</a:t>
            </a:r>
            <a:endPar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l" defTabSz="266700">
              <a:lnSpc>
                <a:spcPct val="125000"/>
              </a:lnSpc>
              <a:spcBef>
                <a:spcPct val="0"/>
              </a:spcBef>
              <a:spcAft>
                <a:spcPct val="0"/>
              </a:spcAft>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Spearman</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相关系数</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-0.09623069749917582</a:t>
            </a:r>
            <a:endPar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defTabSz="266700">
              <a:lnSpc>
                <a:spcPct val="125000"/>
              </a:lnSpc>
              <a:spcBef>
                <a:spcPct val="0"/>
              </a:spcBef>
              <a:spcAft>
                <a:spcPct val="0"/>
              </a:spcAft>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Kendall</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相关系数</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-0.06455328328288883</a:t>
            </a:r>
            <a:endPar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1450</Words>
  <Application>WPS 演示</Application>
  <PresentationFormat>宽屏</PresentationFormat>
  <Paragraphs>130</Paragraphs>
  <Slides>16</Slides>
  <Notes>28</Notes>
  <HiddenSlides>0</HiddenSlides>
  <MMClips>0</MMClips>
  <ScaleCrop>false</ScaleCrop>
  <HeadingPairs>
    <vt:vector size="8" baseType="variant">
      <vt:variant>
        <vt:lpstr>已用的字体</vt:lpstr>
      </vt:variant>
      <vt:variant>
        <vt:i4>21</vt:i4>
      </vt:variant>
      <vt:variant>
        <vt:lpstr>主题</vt:lpstr>
      </vt:variant>
      <vt:variant>
        <vt:i4>12</vt:i4>
      </vt:variant>
      <vt:variant>
        <vt:lpstr>嵌入 OLE 服务器</vt:lpstr>
      </vt:variant>
      <vt:variant>
        <vt:i4>7</vt:i4>
      </vt:variant>
      <vt:variant>
        <vt:lpstr>幻灯片标题</vt:lpstr>
      </vt:variant>
      <vt:variant>
        <vt:i4>16</vt:i4>
      </vt:variant>
    </vt:vector>
  </HeadingPairs>
  <TitlesOfParts>
    <vt:vector size="56"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楷体</vt:lpstr>
      <vt:lpstr>Arial Unicode MS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Equation.DSMT4</vt:lpstr>
      <vt:lpstr>Visio.Drawing.15</vt:lpstr>
      <vt:lpstr>Equation.DSMT4</vt:lpstr>
      <vt:lpstr>Equation.DSMT4</vt:lpstr>
      <vt:lpstr>Equation.DSMT4</vt:lpstr>
      <vt:lpstr>Visio.Drawing.15</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鄧映华</cp:lastModifiedBy>
  <cp:revision>2914</cp:revision>
  <dcterms:created xsi:type="dcterms:W3CDTF">2022-05-23T09:13:00Z</dcterms:created>
  <dcterms:modified xsi:type="dcterms:W3CDTF">2025-04-17T11:30:13Z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E4D199B06BC14398B0E0EF241D97F0E0_13</vt:lpwstr>
  </property>
  <property fmtid="{D5CDD505-2E9C-101B-9397-08002B2CF9AE}" pid="3" name="KSOProductBuildVer">
    <vt:lpwstr>2052-12.1.0.20305</vt:lpwstr>
  </property>
</Properties>
</file>