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15638" r:id="rId2"/>
    <p:sldId id="371" r:id="rId3"/>
    <p:sldId id="372" r:id="rId4"/>
    <p:sldId id="373" r:id="rId5"/>
    <p:sldId id="15724" r:id="rId6"/>
    <p:sldId id="15725" r:id="rId7"/>
    <p:sldId id="15713" r:id="rId8"/>
    <p:sldId id="15714" r:id="rId9"/>
    <p:sldId id="15717" r:id="rId10"/>
    <p:sldId id="378" r:id="rId11"/>
    <p:sldId id="15502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3E35C62-3D39-4AB8-8AB7-59FFB5AA4980}">
          <p14:sldIdLst>
            <p14:sldId id="15638"/>
            <p14:sldId id="371"/>
            <p14:sldId id="372"/>
            <p14:sldId id="373"/>
            <p14:sldId id="15724"/>
            <p14:sldId id="15725"/>
            <p14:sldId id="15713"/>
            <p14:sldId id="15714"/>
            <p14:sldId id="15717"/>
            <p14:sldId id="378"/>
            <p14:sldId id="155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38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7" autoAdjust="0"/>
    <p:restoredTop sz="76549" autoAdjust="0"/>
  </p:normalViewPr>
  <p:slideViewPr>
    <p:cSldViewPr snapToGrid="0" showGuides="1">
      <p:cViewPr varScale="1">
        <p:scale>
          <a:sx n="91" d="100"/>
          <a:sy n="91" d="100"/>
        </p:scale>
        <p:origin x="2256" y="77"/>
      </p:cViewPr>
      <p:guideLst>
        <p:guide orient="horz" pos="2134"/>
        <p:guide pos="387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672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E146E-9C77-800F-1C7D-F1E02A490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69A2FC0-3555-6D6A-5589-16FD0F67EB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0BEF96-8D72-BC8B-CCEA-DFBF28623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52717F-0BBA-B7F3-1C87-FA65BFE9F1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5930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32261-620F-426D-A9F2-7CDD461E6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31ABD8-EFBB-1E5C-326D-4A1472C62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131C1C-D8CD-4720-3E24-F5E12A9D5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988B28-2F51-84A3-2207-7FD4ED681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2458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75962-84E3-B65A-B2E4-E934E7F4E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612774-3F45-3DB7-6F40-B1048B9E3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54F3BE-AA86-C2A3-E83B-622C942C5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82F969-61E3-A1D4-ECB5-BA7116601A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2725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4053A-FF72-DFA8-403F-7BF4020D1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4B5B56-E404-4BBD-AFC7-046897105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C2EA9B-E6CE-E32F-27ED-8BCC9E6AA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9EA483-23CC-E6FB-E02C-0A4EC580D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5912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833E5-DC69-062F-28E1-B059B1753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99FABCD-6911-2964-48F9-88A13CA62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E08600-885B-D031-A1C5-25CCE3818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8DFDEB-9776-E5CF-9450-AFA205158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2293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40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>
            <a:fillRect/>
          </a:stretch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>
            <a:fillRect/>
          </a:stretch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/>
          <a:srcRect l="453"/>
          <a:stretch>
            <a:fillRect/>
          </a:stretch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二、主要工作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三、总结展望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结束语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D:\works\工作\周琴\56-2019-大数据与复杂网络\模板设计\内页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77" y="0"/>
            <a:ext cx="12192000" cy="686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15 June, 2011</a:t>
            </a:r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IHCAR</a:t>
            </a:r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46203-2B80-4CBC-A257-89A48550B42A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375374" y="1"/>
            <a:ext cx="140967" cy="962147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11735683" y="6617464"/>
            <a:ext cx="140967" cy="240536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‹#›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8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F8D0B-5064-2AF9-7424-3F1097559ACE}"/>
              </a:ext>
            </a:extLst>
          </p:cNvPr>
          <p:cNvSpPr txBox="1">
            <a:spLocks/>
          </p:cNvSpPr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8.5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en-US" altLang="zh-CN" b="0" dirty="0">
                <a:ea typeface="华光综艺_CNKI" panose="02000500000000000000" pitchFamily="2" charset="-122"/>
              </a:rPr>
              <a:t>DBSCAN</a:t>
            </a:r>
            <a:r>
              <a:rPr lang="zh-CN" altLang="en-US" b="0">
                <a:ea typeface="华光综艺_CNKI" panose="02000500000000000000" pitchFamily="2" charset="-122"/>
              </a:rPr>
              <a:t>聚类</a:t>
            </a:r>
            <a:endParaRPr lang="zh-CN" altLang="en-US" b="0" dirty="0"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095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3D730-5085-66A2-1538-4446EA15B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4A73381-200B-105E-E71D-146231A9D1CC}"/>
              </a:ext>
            </a:extLst>
          </p:cNvPr>
          <p:cNvSpPr txBox="1"/>
          <p:nvPr/>
        </p:nvSpPr>
        <p:spPr>
          <a:xfrm>
            <a:off x="2107276" y="1587976"/>
            <a:ext cx="9771298" cy="1422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  <a:tabLst>
                <a:tab pos="304800" algn="l"/>
              </a:tabLst>
            </a:pPr>
            <a:r>
              <a:rPr lang="en-US" altLang="zh-CN" sz="2000" b="1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DBSCAN</a:t>
            </a:r>
            <a:r>
              <a:rPr lang="zh-CN" altLang="en-US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是一种</a:t>
            </a:r>
            <a:r>
              <a:rPr lang="zh-CN" altLang="en-US" sz="2000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基于密度</a:t>
            </a:r>
            <a:r>
              <a:rPr lang="zh-CN" altLang="en-US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的聚类算法，根据数据分布的密集程度来划分簇。该算法将数据分为</a:t>
            </a:r>
            <a:r>
              <a:rPr lang="zh-CN" altLang="en-US" sz="2000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核心对象</a:t>
            </a:r>
            <a:r>
              <a:rPr lang="zh-CN" altLang="en-US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、</a:t>
            </a:r>
            <a:r>
              <a:rPr lang="zh-CN" altLang="en-US" sz="2000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边界对象</a:t>
            </a:r>
            <a:r>
              <a:rPr lang="zh-CN" altLang="en-US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lang="zh-CN" altLang="en-US" sz="2000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噪声对象</a:t>
            </a:r>
            <a:r>
              <a:rPr lang="zh-CN" altLang="en-US" sz="20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，在不同密度区域检测任意形状的簇，并识别噪声数据</a:t>
            </a:r>
          </a:p>
        </p:txBody>
      </p:sp>
      <p:sp>
        <p:nvSpPr>
          <p:cNvPr id="6" name="矩形: 圆角 12">
            <a:extLst>
              <a:ext uri="{FF2B5EF4-FFF2-40B4-BE49-F238E27FC236}">
                <a16:creationId xmlns:a16="http://schemas.microsoft.com/office/drawing/2014/main" id="{3DCF2455-5B27-0325-3400-94D62785B861}"/>
              </a:ext>
            </a:extLst>
          </p:cNvPr>
          <p:cNvSpPr/>
          <p:nvPr/>
        </p:nvSpPr>
        <p:spPr>
          <a:xfrm>
            <a:off x="166155" y="976588"/>
            <a:ext cx="2656409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基本原理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F05DAEB0-6033-5762-F94A-046136D90FBA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  <a:sym typeface="Times New Roman" panose="02020603050405020304" pitchFamily="18" charset="0"/>
              </a:rPr>
              <a:t>5.1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charset="-122"/>
              <a:sym typeface="Times New Roman" panose="02020603050405020304" pitchFamily="18" charset="0"/>
            </a:endParaRPr>
          </a:p>
        </p:txBody>
      </p:sp>
      <p:sp>
        <p:nvSpPr>
          <p:cNvPr id="8" name="矩形: 圆角 55">
            <a:extLst>
              <a:ext uri="{FF2B5EF4-FFF2-40B4-BE49-F238E27FC236}">
                <a16:creationId xmlns:a16="http://schemas.microsoft.com/office/drawing/2014/main" id="{51CF8C0A-5D97-246F-60D0-2061470A8AEE}"/>
              </a:ext>
            </a:extLst>
          </p:cNvPr>
          <p:cNvSpPr/>
          <p:nvPr/>
        </p:nvSpPr>
        <p:spPr>
          <a:xfrm>
            <a:off x="166154" y="1665045"/>
            <a:ext cx="1941122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基本概念</a:t>
            </a:r>
          </a:p>
        </p:txBody>
      </p:sp>
      <p:sp>
        <p:nvSpPr>
          <p:cNvPr id="9" name="矩形 26">
            <a:extLst>
              <a:ext uri="{FF2B5EF4-FFF2-40B4-BE49-F238E27FC236}">
                <a16:creationId xmlns:a16="http://schemas.microsoft.com/office/drawing/2014/main" id="{35E358D4-EEFC-AC52-97D5-C42F1CCFAA18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五、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DBSCAN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38" name="Rectangle 13">
            <a:extLst>
              <a:ext uri="{FF2B5EF4-FFF2-40B4-BE49-F238E27FC236}">
                <a16:creationId xmlns:a16="http://schemas.microsoft.com/office/drawing/2014/main" id="{E87F0624-7AA5-A460-9479-F528ECD56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55" y="43182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1" name="Rectangle 16">
            <a:extLst>
              <a:ext uri="{FF2B5EF4-FFF2-40B4-BE49-F238E27FC236}">
                <a16:creationId xmlns:a16="http://schemas.microsoft.com/office/drawing/2014/main" id="{9681C13E-9074-4085-6056-481C15FDD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55" y="505163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3BC36A2C-C798-18E1-190F-D1CFDF472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852" y="3055410"/>
            <a:ext cx="8642205" cy="1494407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81BEB5E9-19BA-A4B2-0D8A-D13D21A77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276" y="4472955"/>
            <a:ext cx="8642205" cy="1026338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D6C8005D-8750-5623-7D03-3B9531E0D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853" y="5499293"/>
            <a:ext cx="8642204" cy="133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2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43991-0B22-2459-DB02-A3BAE943B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55">
            <a:extLst>
              <a:ext uri="{FF2B5EF4-FFF2-40B4-BE49-F238E27FC236}">
                <a16:creationId xmlns:a16="http://schemas.microsoft.com/office/drawing/2014/main" id="{BF72B8A7-407F-709F-94AE-9940648C0BA6}"/>
              </a:ext>
            </a:extLst>
          </p:cNvPr>
          <p:cNvSpPr/>
          <p:nvPr/>
        </p:nvSpPr>
        <p:spPr>
          <a:xfrm>
            <a:off x="166154" y="1665045"/>
            <a:ext cx="1941122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基本概念</a:t>
            </a:r>
          </a:p>
        </p:txBody>
      </p:sp>
      <p:sp>
        <p:nvSpPr>
          <p:cNvPr id="9" name="矩形 26">
            <a:extLst>
              <a:ext uri="{FF2B5EF4-FFF2-40B4-BE49-F238E27FC236}">
                <a16:creationId xmlns:a16="http://schemas.microsoft.com/office/drawing/2014/main" id="{4100838D-76E2-E881-CACA-635CED0DC90A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五、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DBSCAN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38" name="Rectangle 13">
            <a:extLst>
              <a:ext uri="{FF2B5EF4-FFF2-40B4-BE49-F238E27FC236}">
                <a16:creationId xmlns:a16="http://schemas.microsoft.com/office/drawing/2014/main" id="{1CDE2642-F28A-CD62-249A-356CDC221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55" y="431820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1" name="Rectangle 16">
            <a:extLst>
              <a:ext uri="{FF2B5EF4-FFF2-40B4-BE49-F238E27FC236}">
                <a16:creationId xmlns:a16="http://schemas.microsoft.com/office/drawing/2014/main" id="{751A1A75-1F36-8300-0DD2-150D22D88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955" y="505163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FEF4B03B-DEBC-CC5B-3865-F84E295AD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998" y="1813643"/>
            <a:ext cx="8801562" cy="1437547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9A857956-2D88-6525-6737-19619FFAB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997" y="3324405"/>
            <a:ext cx="8801561" cy="1814934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01DE1525-E581-17E6-8D70-B2AC9A2003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9997" y="5237404"/>
            <a:ext cx="8801562" cy="958365"/>
          </a:xfrm>
          <a:prstGeom prst="rect">
            <a:avLst/>
          </a:prstGeom>
        </p:spPr>
      </p:pic>
      <p:sp>
        <p:nvSpPr>
          <p:cNvPr id="2" name="矩形: 圆角 12">
            <a:extLst>
              <a:ext uri="{FF2B5EF4-FFF2-40B4-BE49-F238E27FC236}">
                <a16:creationId xmlns:a16="http://schemas.microsoft.com/office/drawing/2014/main" id="{9699D8B2-BBB0-1D66-EFD2-994EAF3205B4}"/>
              </a:ext>
            </a:extLst>
          </p:cNvPr>
          <p:cNvSpPr/>
          <p:nvPr/>
        </p:nvSpPr>
        <p:spPr>
          <a:xfrm>
            <a:off x="349955" y="1007720"/>
            <a:ext cx="2656409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基本原理</a:t>
            </a:r>
          </a:p>
        </p:txBody>
      </p:sp>
      <p:sp>
        <p:nvSpPr>
          <p:cNvPr id="3" name="箭头: 五边形 11">
            <a:extLst>
              <a:ext uri="{FF2B5EF4-FFF2-40B4-BE49-F238E27FC236}">
                <a16:creationId xmlns:a16="http://schemas.microsoft.com/office/drawing/2014/main" id="{278F96E1-6DD3-F87B-B302-D20C75054F61}"/>
              </a:ext>
            </a:extLst>
          </p:cNvPr>
          <p:cNvSpPr/>
          <p:nvPr/>
        </p:nvSpPr>
        <p:spPr>
          <a:xfrm>
            <a:off x="349954" y="1007721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  <a:sym typeface="Times New Roman" panose="02020603050405020304" pitchFamily="18" charset="0"/>
              </a:rPr>
              <a:t>5.1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charset="-122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00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607787C-2120-4DF0-59DD-36C9627901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36217" y="2964603"/>
            <a:ext cx="4867473" cy="3893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9C2F20E-1875-377B-B4BB-6957EFC78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176" y="987778"/>
            <a:ext cx="9531068" cy="2624695"/>
          </a:xfrm>
          <a:prstGeom prst="rect">
            <a:avLst/>
          </a:prstGeom>
        </p:spPr>
      </p:pic>
      <p:sp>
        <p:nvSpPr>
          <p:cNvPr id="5" name="矩形 26">
            <a:extLst>
              <a:ext uri="{FF2B5EF4-FFF2-40B4-BE49-F238E27FC236}">
                <a16:creationId xmlns:a16="http://schemas.microsoft.com/office/drawing/2014/main" id="{4A250562-268B-2FB2-6F4F-AB1C88B24BA9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五、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DBSCAN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141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08A9F-8604-F867-2B0C-8A66E81C6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2">
            <a:extLst>
              <a:ext uri="{FF2B5EF4-FFF2-40B4-BE49-F238E27FC236}">
                <a16:creationId xmlns:a16="http://schemas.microsoft.com/office/drawing/2014/main" id="{333B515D-DF7A-FD26-A689-0139080C211B}"/>
              </a:ext>
            </a:extLst>
          </p:cNvPr>
          <p:cNvSpPr/>
          <p:nvPr/>
        </p:nvSpPr>
        <p:spPr>
          <a:xfrm>
            <a:off x="166155" y="976588"/>
            <a:ext cx="2656409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>
              <a:spcBef>
                <a:spcPct val="30000"/>
              </a:spcBef>
              <a:defRPr/>
            </a:pPr>
            <a:r>
              <a:rPr lang="zh-CN" altLang="en-US" sz="260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聚类流程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BD387977-E063-C51E-23C9-5BAFC486A2C8}"/>
              </a:ext>
            </a:extLst>
          </p:cNvPr>
          <p:cNvSpPr/>
          <p:nvPr/>
        </p:nvSpPr>
        <p:spPr>
          <a:xfrm>
            <a:off x="166155" y="976589"/>
            <a:ext cx="1079640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5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rPr>
              <a:t>.</a:t>
            </a:r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3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等线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DA35B904-B398-1624-AC3E-223A394A6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C4823F84-D958-FC4E-55B8-916B13DD5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CF1AD3-CD1B-2D7C-C341-5FE6FB93A638}"/>
              </a:ext>
            </a:extLst>
          </p:cNvPr>
          <p:cNvSpPr txBox="1"/>
          <p:nvPr/>
        </p:nvSpPr>
        <p:spPr>
          <a:xfrm>
            <a:off x="917157" y="1763712"/>
            <a:ext cx="60938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高斯混合聚类</a:t>
            </a:r>
            <a:r>
              <a:rPr lang="zh-CN" altLang="zh-CN" dirty="0"/>
              <a:t>算法的</a:t>
            </a:r>
            <a:r>
              <a:rPr lang="zh-CN" altLang="en-US" dirty="0"/>
              <a:t>流程</a:t>
            </a:r>
            <a:r>
              <a:rPr lang="zh-CN" altLang="zh-CN" dirty="0"/>
              <a:t>如下：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BFB310-D1BD-ECFF-6DE0-5811F207A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57" y="2412723"/>
            <a:ext cx="9600162" cy="4238470"/>
          </a:xfrm>
          <a:prstGeom prst="rect">
            <a:avLst/>
          </a:prstGeom>
        </p:spPr>
      </p:pic>
      <p:sp>
        <p:nvSpPr>
          <p:cNvPr id="8" name="矩形 26">
            <a:extLst>
              <a:ext uri="{FF2B5EF4-FFF2-40B4-BE49-F238E27FC236}">
                <a16:creationId xmlns:a16="http://schemas.microsoft.com/office/drawing/2014/main" id="{BE3FD753-B3DF-A590-C982-9ED1961656CE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五、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DBSCAN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065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1C527-2FC7-BB88-43C7-FB53F0063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2">
            <a:extLst>
              <a:ext uri="{FF2B5EF4-FFF2-40B4-BE49-F238E27FC236}">
                <a16:creationId xmlns:a16="http://schemas.microsoft.com/office/drawing/2014/main" id="{96C00AA8-7BB9-2659-CE9F-D6FD64E980B2}"/>
              </a:ext>
            </a:extLst>
          </p:cNvPr>
          <p:cNvSpPr/>
          <p:nvPr/>
        </p:nvSpPr>
        <p:spPr>
          <a:xfrm>
            <a:off x="166155" y="976588"/>
            <a:ext cx="2967855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>
              <a:spcBef>
                <a:spcPct val="30000"/>
              </a:spcBef>
              <a:defRPr/>
            </a:pPr>
            <a:r>
              <a:rPr lang="zh-CN" altLang="en-US" sz="260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应用与评价</a:t>
            </a:r>
            <a:endParaRPr kumimoji="0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2CE92360-1F01-4491-C4B4-7EDB41D3DF1A}"/>
              </a:ext>
            </a:extLst>
          </p:cNvPr>
          <p:cNvSpPr/>
          <p:nvPr/>
        </p:nvSpPr>
        <p:spPr>
          <a:xfrm>
            <a:off x="166155" y="976589"/>
            <a:ext cx="1079640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5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rPr>
              <a:t>.</a:t>
            </a:r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4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等线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1BD9044-3359-BD14-737E-81857414E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76E1339F-2514-8F26-3B9C-D8DB18193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3A7E77F-AB5D-C3B3-11B6-E62278D873F7}"/>
              </a:ext>
            </a:extLst>
          </p:cNvPr>
          <p:cNvGrpSpPr/>
          <p:nvPr/>
        </p:nvGrpSpPr>
        <p:grpSpPr>
          <a:xfrm>
            <a:off x="626147" y="2334714"/>
            <a:ext cx="11195304" cy="3763488"/>
            <a:chOff x="660400" y="473037"/>
            <a:chExt cx="10858500" cy="3650267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162E4969-3E51-6071-0EB8-DDD36873113D}"/>
                </a:ext>
              </a:extLst>
            </p:cNvPr>
            <p:cNvSpPr/>
            <p:nvPr/>
          </p:nvSpPr>
          <p:spPr>
            <a:xfrm>
              <a:off x="4007877" y="2641600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n-GB" sz="1200">
                <a:solidFill>
                  <a:srgbClr val="FFFFFF"/>
                </a:solidFill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A8CEDA9E-8646-6FB4-B46E-78CBD03E8A88}"/>
                </a:ext>
              </a:extLst>
            </p:cNvPr>
            <p:cNvSpPr/>
            <p:nvPr/>
          </p:nvSpPr>
          <p:spPr>
            <a:xfrm>
              <a:off x="8027424" y="2641600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n-GB" sz="1200">
                <a:solidFill>
                  <a:srgbClr val="FFFFFF"/>
                </a:solidFill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C84179B4-955F-0578-CE38-F8D8B6FA0840}"/>
                </a:ext>
              </a:extLst>
            </p:cNvPr>
            <p:cNvGrpSpPr/>
            <p:nvPr/>
          </p:nvGrpSpPr>
          <p:grpSpPr>
            <a:xfrm>
              <a:off x="660400" y="473037"/>
              <a:ext cx="10858500" cy="3650267"/>
              <a:chOff x="660400" y="473037"/>
              <a:chExt cx="10858500" cy="3650267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57C6A807-3E64-C9F7-94ED-902B4EC61CBC}"/>
                  </a:ext>
                </a:extLst>
              </p:cNvPr>
              <p:cNvGrpSpPr/>
              <p:nvPr/>
            </p:nvGrpSpPr>
            <p:grpSpPr>
              <a:xfrm>
                <a:off x="660400" y="1303897"/>
                <a:ext cx="2819407" cy="2819407"/>
                <a:chOff x="1295400" y="2508250"/>
                <a:chExt cx="2247900" cy="2247900"/>
              </a:xfrm>
            </p:grpSpPr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314CC72D-F61E-6266-3709-70193ACD5FA5}"/>
                    </a:ext>
                  </a:extLst>
                </p:cNvPr>
                <p:cNvSpPr/>
                <p:nvPr/>
              </p:nvSpPr>
              <p:spPr>
                <a:xfrm>
                  <a:off x="1295400" y="2508250"/>
                  <a:ext cx="2247900" cy="2247900"/>
                </a:xfrm>
                <a:prstGeom prst="ellipse">
                  <a:avLst/>
                </a:prstGeom>
                <a:solidFill>
                  <a:schemeClr val="accent1">
                    <a:alpha val="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3765">
                    <a:lnSpc>
                      <a:spcPct val="150000"/>
                    </a:lnSpc>
                    <a:buSzPct val="25000"/>
                    <a:defRPr/>
                  </a:pPr>
                  <a:endPara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2E3E0FF4-0997-09CF-AF44-1C591D4D7021}"/>
                    </a:ext>
                  </a:extLst>
                </p:cNvPr>
                <p:cNvSpPr txBox="1"/>
                <p:nvPr/>
              </p:nvSpPr>
              <p:spPr>
                <a:xfrm>
                  <a:off x="1551965" y="3108680"/>
                  <a:ext cx="1734770" cy="10374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30000"/>
                    </a:lnSpc>
                  </a:pPr>
                  <a:r>
                    <a:rPr lang="en-US" altLang="zh-CN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DBSCAN</a:t>
                  </a:r>
                  <a:r>
                    <a:rPr lang="zh-CN" altLang="en-US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是一种基于密度的聚类算法</a:t>
                  </a:r>
                  <a:r>
                    <a:rPr lang="zh-CN" altLang="en-US" sz="16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，能够发现任意形状的簇，并且能自动处理噪声数据</a:t>
                  </a:r>
                  <a:endParaRPr kumimoji="1"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570C5971-A8C3-C756-62FD-7B008F2A703F}"/>
                  </a:ext>
                </a:extLst>
              </p:cNvPr>
              <p:cNvGrpSpPr/>
              <p:nvPr/>
            </p:nvGrpSpPr>
            <p:grpSpPr>
              <a:xfrm>
                <a:off x="4679947" y="1303897"/>
                <a:ext cx="2819407" cy="2819407"/>
                <a:chOff x="1295400" y="2508250"/>
                <a:chExt cx="2247900" cy="2247900"/>
              </a:xfrm>
            </p:grpSpPr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EBB03965-8A95-AC67-BFBE-F49ACBAE6035}"/>
                    </a:ext>
                  </a:extLst>
                </p:cNvPr>
                <p:cNvSpPr/>
                <p:nvPr/>
              </p:nvSpPr>
              <p:spPr>
                <a:xfrm>
                  <a:off x="1295400" y="2508250"/>
                  <a:ext cx="2247900" cy="2247900"/>
                </a:xfrm>
                <a:prstGeom prst="ellipse">
                  <a:avLst/>
                </a:prstGeom>
                <a:solidFill>
                  <a:schemeClr val="accent1">
                    <a:alpha val="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3765">
                    <a:lnSpc>
                      <a:spcPct val="150000"/>
                    </a:lnSpc>
                    <a:buSzPct val="25000"/>
                    <a:defRPr/>
                  </a:pPr>
                  <a:endPara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AA461E3D-91F8-EA58-B443-6080E0F2B2F3}"/>
                    </a:ext>
                  </a:extLst>
                </p:cNvPr>
                <p:cNvSpPr txBox="1"/>
                <p:nvPr/>
              </p:nvSpPr>
              <p:spPr>
                <a:xfrm>
                  <a:off x="1551964" y="2607578"/>
                  <a:ext cx="1734770" cy="17850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914354"/>
                  <a:r>
                    <a:rPr lang="zh-CN" altLang="en-US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时间复杂度</a:t>
                  </a:r>
                  <a:endParaRPr lang="en-US" altLang="zh-CN" sz="16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354"/>
                  <a:endParaRPr lang="en-US" altLang="zh-CN" sz="16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354"/>
                  <a:endParaRPr lang="en-US" altLang="zh-CN" sz="16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354"/>
                  <a:endParaRPr lang="en-US" altLang="zh-CN" sz="16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354"/>
                  <a:r>
                    <a:rPr lang="zh-CN" altLang="en-US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使用</a:t>
                  </a:r>
                  <a:r>
                    <a:rPr lang="en-US" altLang="zh-CN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KD-Tree</a:t>
                  </a:r>
                  <a:r>
                    <a:rPr lang="zh-CN" altLang="en-US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或</a:t>
                  </a:r>
                  <a:r>
                    <a:rPr lang="en-US" altLang="zh-CN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R-Tree</a:t>
                  </a:r>
                  <a:r>
                    <a:rPr lang="zh-CN" altLang="en-US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进行空间索引</a:t>
                  </a:r>
                  <a:endParaRPr lang="en-US" altLang="zh-CN" sz="16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354"/>
                  <a:endParaRPr lang="en-US" altLang="zh-CN" sz="16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354"/>
                  <a:endParaRPr lang="en-US" altLang="zh-CN" sz="16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914354"/>
                  <a:r>
                    <a:rPr lang="zh-CN" altLang="en-US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空间复杂度</a:t>
                  </a:r>
                  <a:endParaRPr lang="en-US" altLang="zh-CN" sz="16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1EEC7D71-8052-69A9-A388-AD37CA56F648}"/>
                  </a:ext>
                </a:extLst>
              </p:cNvPr>
              <p:cNvGrpSpPr/>
              <p:nvPr/>
            </p:nvGrpSpPr>
            <p:grpSpPr>
              <a:xfrm>
                <a:off x="1065340" y="473037"/>
                <a:ext cx="10453560" cy="3650266"/>
                <a:chOff x="-4791274" y="1845809"/>
                <a:chExt cx="8334574" cy="2910341"/>
              </a:xfrm>
            </p:grpSpPr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BF20D279-EEF2-9672-9A0C-BD0E11D9268D}"/>
                    </a:ext>
                  </a:extLst>
                </p:cNvPr>
                <p:cNvSpPr/>
                <p:nvPr/>
              </p:nvSpPr>
              <p:spPr>
                <a:xfrm>
                  <a:off x="1295400" y="2508250"/>
                  <a:ext cx="2247900" cy="2247900"/>
                </a:xfrm>
                <a:prstGeom prst="ellipse">
                  <a:avLst/>
                </a:prstGeom>
                <a:solidFill>
                  <a:schemeClr val="accent1">
                    <a:alpha val="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913765">
                    <a:lnSpc>
                      <a:spcPct val="150000"/>
                    </a:lnSpc>
                    <a:buSzPct val="25000"/>
                    <a:defRPr/>
                  </a:pPr>
                  <a:endParaRPr kumimoji="0" lang="en-US" altLang="zh-CN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CD8474B-6966-B12C-82C0-F37A5767E3A2}"/>
                    </a:ext>
                  </a:extLst>
                </p:cNvPr>
                <p:cNvSpPr txBox="1"/>
                <p:nvPr/>
              </p:nvSpPr>
              <p:spPr>
                <a:xfrm>
                  <a:off x="-4791274" y="1845809"/>
                  <a:ext cx="7649107" cy="3094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zh-CN" altLang="en-US" sz="2000" b="1" dirty="0">
                      <a:solidFill>
                        <a:schemeClr val="accent1">
                          <a:lumMod val="75000"/>
                        </a:schemeClr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应用场景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effectLst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：适用于识别复杂形状的簇，并且能够有效识别和处理异常点</a:t>
                  </a:r>
                  <a:endParaRPr kumimoji="1" lang="en-US" altLang="zh-CN" sz="2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B3CC4BA-0B14-9ABF-162B-D159230B6995}"/>
                    </a:ext>
                  </a:extLst>
                </p:cNvPr>
                <p:cNvSpPr txBox="1"/>
                <p:nvPr/>
              </p:nvSpPr>
              <p:spPr>
                <a:xfrm>
                  <a:off x="1610874" y="2745587"/>
                  <a:ext cx="1734770" cy="17799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30000"/>
                    </a:lnSpc>
                  </a:pPr>
                  <a:r>
                    <a:rPr kumimoji="1" lang="zh-CN" altLang="en-US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优点</a:t>
                  </a:r>
                  <a:r>
                    <a:rPr kumimoji="1" lang="zh-CN" altLang="en-US" sz="1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：不需要在提前指定簇的数量，便可识别任意形状的簇</a:t>
                  </a:r>
                  <a:endParaRPr kumimoji="1" lang="en-US" altLang="zh-CN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just">
                    <a:lnSpc>
                      <a:spcPct val="130000"/>
                    </a:lnSpc>
                  </a:pPr>
                  <a:r>
                    <a:rPr kumimoji="1" lang="zh-CN" altLang="en-US" sz="16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缺点</a:t>
                  </a:r>
                  <a:r>
                    <a:rPr kumimoji="1" lang="zh-CN" altLang="en-US" sz="1600" dirty="0">
                      <a:solidFill>
                        <a:schemeClr val="tx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：聚类结果依赖于参数的选择，参数设置不当可能导致过多噪声点或簇的合并</a:t>
                  </a:r>
                  <a:endParaRPr kumimoji="1" lang="en-US" altLang="zh-CN" sz="16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8F5B9CCF-4CBF-954C-ECB3-82CC2E35AD4B}"/>
              </a:ext>
            </a:extLst>
          </p:cNvPr>
          <p:cNvSpPr/>
          <p:nvPr/>
        </p:nvSpPr>
        <p:spPr>
          <a:xfrm>
            <a:off x="433962" y="2296965"/>
            <a:ext cx="609685" cy="530966"/>
          </a:xfrm>
          <a:custGeom>
            <a:avLst/>
            <a:gdLst>
              <a:gd name="connsiteX0" fmla="*/ 102985 w 606407"/>
              <a:gd name="connsiteY0" fmla="*/ 131491 h 528112"/>
              <a:gd name="connsiteX1" fmla="*/ 89892 w 606407"/>
              <a:gd name="connsiteY1" fmla="*/ 218810 h 528112"/>
              <a:gd name="connsiteX2" fmla="*/ 102985 w 606407"/>
              <a:gd name="connsiteY2" fmla="*/ 236740 h 528112"/>
              <a:gd name="connsiteX3" fmla="*/ 103265 w 606407"/>
              <a:gd name="connsiteY3" fmla="*/ 236740 h 528112"/>
              <a:gd name="connsiteX4" fmla="*/ 116358 w 606407"/>
              <a:gd name="connsiteY4" fmla="*/ 218810 h 528112"/>
              <a:gd name="connsiteX5" fmla="*/ 103265 w 606407"/>
              <a:gd name="connsiteY5" fmla="*/ 131491 h 528112"/>
              <a:gd name="connsiteX6" fmla="*/ 335836 w 606407"/>
              <a:gd name="connsiteY6" fmla="*/ 85949 h 528112"/>
              <a:gd name="connsiteX7" fmla="*/ 351924 w 606407"/>
              <a:gd name="connsiteY7" fmla="*/ 101910 h 528112"/>
              <a:gd name="connsiteX8" fmla="*/ 346966 w 606407"/>
              <a:gd name="connsiteY8" fmla="*/ 113484 h 528112"/>
              <a:gd name="connsiteX9" fmla="*/ 392799 w 606407"/>
              <a:gd name="connsiteY9" fmla="*/ 159220 h 528112"/>
              <a:gd name="connsiteX10" fmla="*/ 404304 w 606407"/>
              <a:gd name="connsiteY10" fmla="*/ 154273 h 528112"/>
              <a:gd name="connsiteX11" fmla="*/ 416744 w 606407"/>
              <a:gd name="connsiteY11" fmla="*/ 160153 h 528112"/>
              <a:gd name="connsiteX12" fmla="*/ 455561 w 606407"/>
              <a:gd name="connsiteY12" fmla="*/ 140365 h 528112"/>
              <a:gd name="connsiteX13" fmla="*/ 455561 w 606407"/>
              <a:gd name="connsiteY13" fmla="*/ 139712 h 528112"/>
              <a:gd name="connsiteX14" fmla="*/ 471649 w 606407"/>
              <a:gd name="connsiteY14" fmla="*/ 123751 h 528112"/>
              <a:gd name="connsiteX15" fmla="*/ 487644 w 606407"/>
              <a:gd name="connsiteY15" fmla="*/ 139712 h 528112"/>
              <a:gd name="connsiteX16" fmla="*/ 483154 w 606407"/>
              <a:gd name="connsiteY16" fmla="*/ 150819 h 528112"/>
              <a:gd name="connsiteX17" fmla="*/ 496717 w 606407"/>
              <a:gd name="connsiteY17" fmla="*/ 164353 h 528112"/>
              <a:gd name="connsiteX18" fmla="*/ 504387 w 606407"/>
              <a:gd name="connsiteY18" fmla="*/ 162393 h 528112"/>
              <a:gd name="connsiteX19" fmla="*/ 509906 w 606407"/>
              <a:gd name="connsiteY19" fmla="*/ 163420 h 528112"/>
              <a:gd name="connsiteX20" fmla="*/ 540118 w 606407"/>
              <a:gd name="connsiteY20" fmla="*/ 117964 h 528112"/>
              <a:gd name="connsiteX21" fmla="*/ 535160 w 606407"/>
              <a:gd name="connsiteY21" fmla="*/ 106390 h 528112"/>
              <a:gd name="connsiteX22" fmla="*/ 551155 w 606407"/>
              <a:gd name="connsiteY22" fmla="*/ 90429 h 528112"/>
              <a:gd name="connsiteX23" fmla="*/ 567243 w 606407"/>
              <a:gd name="connsiteY23" fmla="*/ 106390 h 528112"/>
              <a:gd name="connsiteX24" fmla="*/ 551155 w 606407"/>
              <a:gd name="connsiteY24" fmla="*/ 122444 h 528112"/>
              <a:gd name="connsiteX25" fmla="*/ 547507 w 606407"/>
              <a:gd name="connsiteY25" fmla="*/ 121978 h 528112"/>
              <a:gd name="connsiteX26" fmla="*/ 516734 w 606407"/>
              <a:gd name="connsiteY26" fmla="*/ 168180 h 528112"/>
              <a:gd name="connsiteX27" fmla="*/ 520475 w 606407"/>
              <a:gd name="connsiteY27" fmla="*/ 178447 h 528112"/>
              <a:gd name="connsiteX28" fmla="*/ 504481 w 606407"/>
              <a:gd name="connsiteY28" fmla="*/ 194408 h 528112"/>
              <a:gd name="connsiteX29" fmla="*/ 488392 w 606407"/>
              <a:gd name="connsiteY29" fmla="*/ 178447 h 528112"/>
              <a:gd name="connsiteX30" fmla="*/ 490731 w 606407"/>
              <a:gd name="connsiteY30" fmla="*/ 170140 h 528112"/>
              <a:gd name="connsiteX31" fmla="*/ 475765 w 606407"/>
              <a:gd name="connsiteY31" fmla="*/ 155113 h 528112"/>
              <a:gd name="connsiteX32" fmla="*/ 471649 w 606407"/>
              <a:gd name="connsiteY32" fmla="*/ 155673 h 528112"/>
              <a:gd name="connsiteX33" fmla="*/ 458180 w 606407"/>
              <a:gd name="connsiteY33" fmla="*/ 148393 h 528112"/>
              <a:gd name="connsiteX34" fmla="*/ 420111 w 606407"/>
              <a:gd name="connsiteY34" fmla="*/ 167714 h 528112"/>
              <a:gd name="connsiteX35" fmla="*/ 420392 w 606407"/>
              <a:gd name="connsiteY35" fmla="*/ 170234 h 528112"/>
              <a:gd name="connsiteX36" fmla="*/ 404304 w 606407"/>
              <a:gd name="connsiteY36" fmla="*/ 186288 h 528112"/>
              <a:gd name="connsiteX37" fmla="*/ 388309 w 606407"/>
              <a:gd name="connsiteY37" fmla="*/ 170234 h 528112"/>
              <a:gd name="connsiteX38" fmla="*/ 388683 w 606407"/>
              <a:gd name="connsiteY38" fmla="*/ 166873 h 528112"/>
              <a:gd name="connsiteX39" fmla="*/ 339203 w 606407"/>
              <a:gd name="connsiteY39" fmla="*/ 117591 h 528112"/>
              <a:gd name="connsiteX40" fmla="*/ 335836 w 606407"/>
              <a:gd name="connsiteY40" fmla="*/ 117871 h 528112"/>
              <a:gd name="connsiteX41" fmla="*/ 319841 w 606407"/>
              <a:gd name="connsiteY41" fmla="*/ 101910 h 528112"/>
              <a:gd name="connsiteX42" fmla="*/ 335836 w 606407"/>
              <a:gd name="connsiteY42" fmla="*/ 85949 h 528112"/>
              <a:gd name="connsiteX43" fmla="*/ 304990 w 606407"/>
              <a:gd name="connsiteY43" fmla="*/ 45200 h 528112"/>
              <a:gd name="connsiteX44" fmla="*/ 304990 w 606407"/>
              <a:gd name="connsiteY44" fmla="*/ 82929 h 528112"/>
              <a:gd name="connsiteX45" fmla="*/ 340060 w 606407"/>
              <a:gd name="connsiteY45" fmla="*/ 55099 h 528112"/>
              <a:gd name="connsiteX46" fmla="*/ 345578 w 606407"/>
              <a:gd name="connsiteY46" fmla="*/ 62010 h 528112"/>
              <a:gd name="connsiteX47" fmla="*/ 304990 w 606407"/>
              <a:gd name="connsiteY47" fmla="*/ 94416 h 528112"/>
              <a:gd name="connsiteX48" fmla="*/ 304990 w 606407"/>
              <a:gd name="connsiteY48" fmla="*/ 250842 h 528112"/>
              <a:gd name="connsiteX49" fmla="*/ 307234 w 606407"/>
              <a:gd name="connsiteY49" fmla="*/ 253083 h 528112"/>
              <a:gd name="connsiteX50" fmla="*/ 581531 w 606407"/>
              <a:gd name="connsiteY50" fmla="*/ 253083 h 528112"/>
              <a:gd name="connsiteX51" fmla="*/ 583775 w 606407"/>
              <a:gd name="connsiteY51" fmla="*/ 250842 h 528112"/>
              <a:gd name="connsiteX52" fmla="*/ 583775 w 606407"/>
              <a:gd name="connsiteY52" fmla="*/ 45200 h 528112"/>
              <a:gd name="connsiteX53" fmla="*/ 103240 w 606407"/>
              <a:gd name="connsiteY53" fmla="*/ 4375 h 528112"/>
              <a:gd name="connsiteX54" fmla="*/ 157540 w 606407"/>
              <a:gd name="connsiteY54" fmla="*/ 58534 h 528112"/>
              <a:gd name="connsiteX55" fmla="*/ 103240 w 606407"/>
              <a:gd name="connsiteY55" fmla="*/ 112693 h 528112"/>
              <a:gd name="connsiteX56" fmla="*/ 48940 w 606407"/>
              <a:gd name="connsiteY56" fmla="*/ 58534 h 528112"/>
              <a:gd name="connsiteX57" fmla="*/ 103240 w 606407"/>
              <a:gd name="connsiteY57" fmla="*/ 4375 h 528112"/>
              <a:gd name="connsiteX58" fmla="*/ 443774 w 606407"/>
              <a:gd name="connsiteY58" fmla="*/ 0 h 528112"/>
              <a:gd name="connsiteX59" fmla="*/ 444990 w 606407"/>
              <a:gd name="connsiteY59" fmla="*/ 0 h 528112"/>
              <a:gd name="connsiteX60" fmla="*/ 456306 w 606407"/>
              <a:gd name="connsiteY60" fmla="*/ 11300 h 528112"/>
              <a:gd name="connsiteX61" fmla="*/ 456306 w 606407"/>
              <a:gd name="connsiteY61" fmla="*/ 15783 h 528112"/>
              <a:gd name="connsiteX62" fmla="*/ 606407 w 606407"/>
              <a:gd name="connsiteY62" fmla="*/ 15783 h 528112"/>
              <a:gd name="connsiteX63" fmla="*/ 606407 w 606407"/>
              <a:gd name="connsiteY63" fmla="*/ 45200 h 528112"/>
              <a:gd name="connsiteX64" fmla="*/ 597429 w 606407"/>
              <a:gd name="connsiteY64" fmla="*/ 45200 h 528112"/>
              <a:gd name="connsiteX65" fmla="*/ 597429 w 606407"/>
              <a:gd name="connsiteY65" fmla="*/ 250748 h 528112"/>
              <a:gd name="connsiteX66" fmla="*/ 581531 w 606407"/>
              <a:gd name="connsiteY66" fmla="*/ 266624 h 528112"/>
              <a:gd name="connsiteX67" fmla="*/ 453407 w 606407"/>
              <a:gd name="connsiteY67" fmla="*/ 266624 h 528112"/>
              <a:gd name="connsiteX68" fmla="*/ 453407 w 606407"/>
              <a:gd name="connsiteY68" fmla="*/ 429214 h 528112"/>
              <a:gd name="connsiteX69" fmla="*/ 520368 w 606407"/>
              <a:gd name="connsiteY69" fmla="*/ 480858 h 528112"/>
              <a:gd name="connsiteX70" fmla="*/ 521958 w 606407"/>
              <a:gd name="connsiteY70" fmla="*/ 493558 h 528112"/>
              <a:gd name="connsiteX71" fmla="*/ 514757 w 606407"/>
              <a:gd name="connsiteY71" fmla="*/ 497014 h 528112"/>
              <a:gd name="connsiteX72" fmla="*/ 509239 w 606407"/>
              <a:gd name="connsiteY72" fmla="*/ 495146 h 528112"/>
              <a:gd name="connsiteX73" fmla="*/ 453407 w 606407"/>
              <a:gd name="connsiteY73" fmla="*/ 452094 h 528112"/>
              <a:gd name="connsiteX74" fmla="*/ 453407 w 606407"/>
              <a:gd name="connsiteY74" fmla="*/ 487021 h 528112"/>
              <a:gd name="connsiteX75" fmla="*/ 453407 w 606407"/>
              <a:gd name="connsiteY75" fmla="*/ 518960 h 528112"/>
              <a:gd name="connsiteX76" fmla="*/ 444336 w 606407"/>
              <a:gd name="connsiteY76" fmla="*/ 528112 h 528112"/>
              <a:gd name="connsiteX77" fmla="*/ 435264 w 606407"/>
              <a:gd name="connsiteY77" fmla="*/ 518960 h 528112"/>
              <a:gd name="connsiteX78" fmla="*/ 435264 w 606407"/>
              <a:gd name="connsiteY78" fmla="*/ 452094 h 528112"/>
              <a:gd name="connsiteX79" fmla="*/ 379432 w 606407"/>
              <a:gd name="connsiteY79" fmla="*/ 495146 h 528112"/>
              <a:gd name="connsiteX80" fmla="*/ 373914 w 606407"/>
              <a:gd name="connsiteY80" fmla="*/ 497014 h 528112"/>
              <a:gd name="connsiteX81" fmla="*/ 366713 w 606407"/>
              <a:gd name="connsiteY81" fmla="*/ 493558 h 528112"/>
              <a:gd name="connsiteX82" fmla="*/ 368303 w 606407"/>
              <a:gd name="connsiteY82" fmla="*/ 480858 h 528112"/>
              <a:gd name="connsiteX83" fmla="*/ 435264 w 606407"/>
              <a:gd name="connsiteY83" fmla="*/ 429214 h 528112"/>
              <a:gd name="connsiteX84" fmla="*/ 435264 w 606407"/>
              <a:gd name="connsiteY84" fmla="*/ 266624 h 528112"/>
              <a:gd name="connsiteX85" fmla="*/ 307234 w 606407"/>
              <a:gd name="connsiteY85" fmla="*/ 266624 h 528112"/>
              <a:gd name="connsiteX86" fmla="*/ 291336 w 606407"/>
              <a:gd name="connsiteY86" fmla="*/ 250748 h 528112"/>
              <a:gd name="connsiteX87" fmla="*/ 291336 w 606407"/>
              <a:gd name="connsiteY87" fmla="*/ 105249 h 528112"/>
              <a:gd name="connsiteX88" fmla="*/ 267768 w 606407"/>
              <a:gd name="connsiteY88" fmla="*/ 124020 h 528112"/>
              <a:gd name="connsiteX89" fmla="*/ 261315 w 606407"/>
              <a:gd name="connsiteY89" fmla="*/ 149609 h 528112"/>
              <a:gd name="connsiteX90" fmla="*/ 180794 w 606407"/>
              <a:gd name="connsiteY90" fmla="*/ 185563 h 528112"/>
              <a:gd name="connsiteX91" fmla="*/ 158723 w 606407"/>
              <a:gd name="connsiteY91" fmla="*/ 182575 h 528112"/>
              <a:gd name="connsiteX92" fmla="*/ 158723 w 606407"/>
              <a:gd name="connsiteY92" fmla="*/ 282594 h 528112"/>
              <a:gd name="connsiteX93" fmla="*/ 154982 w 606407"/>
              <a:gd name="connsiteY93" fmla="*/ 302112 h 528112"/>
              <a:gd name="connsiteX94" fmla="*/ 173219 w 606407"/>
              <a:gd name="connsiteY94" fmla="*/ 501030 h 528112"/>
              <a:gd name="connsiteX95" fmla="*/ 150587 w 606407"/>
              <a:gd name="connsiteY95" fmla="*/ 527925 h 528112"/>
              <a:gd name="connsiteX96" fmla="*/ 148436 w 606407"/>
              <a:gd name="connsiteY96" fmla="*/ 528112 h 528112"/>
              <a:gd name="connsiteX97" fmla="*/ 123653 w 606407"/>
              <a:gd name="connsiteY97" fmla="*/ 505325 h 528112"/>
              <a:gd name="connsiteX98" fmla="*/ 107287 w 606407"/>
              <a:gd name="connsiteY98" fmla="*/ 330222 h 528112"/>
              <a:gd name="connsiteX99" fmla="*/ 103172 w 606407"/>
              <a:gd name="connsiteY99" fmla="*/ 330409 h 528112"/>
              <a:gd name="connsiteX100" fmla="*/ 99244 w 606407"/>
              <a:gd name="connsiteY100" fmla="*/ 330315 h 528112"/>
              <a:gd name="connsiteX101" fmla="*/ 86899 w 606407"/>
              <a:gd name="connsiteY101" fmla="*/ 505139 h 528112"/>
              <a:gd name="connsiteX102" fmla="*/ 62116 w 606407"/>
              <a:gd name="connsiteY102" fmla="*/ 528019 h 528112"/>
              <a:gd name="connsiteX103" fmla="*/ 60152 w 606407"/>
              <a:gd name="connsiteY103" fmla="*/ 528019 h 528112"/>
              <a:gd name="connsiteX104" fmla="*/ 37240 w 606407"/>
              <a:gd name="connsiteY104" fmla="*/ 501310 h 528112"/>
              <a:gd name="connsiteX105" fmla="*/ 52577 w 606407"/>
              <a:gd name="connsiteY105" fmla="*/ 302672 h 528112"/>
              <a:gd name="connsiteX106" fmla="*/ 47621 w 606407"/>
              <a:gd name="connsiteY106" fmla="*/ 282594 h 528112"/>
              <a:gd name="connsiteX107" fmla="*/ 47621 w 606407"/>
              <a:gd name="connsiteY107" fmla="*/ 215074 h 528112"/>
              <a:gd name="connsiteX108" fmla="*/ 43225 w 606407"/>
              <a:gd name="connsiteY108" fmla="*/ 289318 h 528112"/>
              <a:gd name="connsiteX109" fmla="*/ 23866 w 606407"/>
              <a:gd name="connsiteY109" fmla="*/ 311918 h 528112"/>
              <a:gd name="connsiteX110" fmla="*/ 22183 w 606407"/>
              <a:gd name="connsiteY110" fmla="*/ 312011 h 528112"/>
              <a:gd name="connsiteX111" fmla="*/ 1234 w 606407"/>
              <a:gd name="connsiteY111" fmla="*/ 292586 h 528112"/>
              <a:gd name="connsiteX112" fmla="*/ 67073 w 606407"/>
              <a:gd name="connsiteY112" fmla="*/ 125981 h 528112"/>
              <a:gd name="connsiteX113" fmla="*/ 89611 w 606407"/>
              <a:gd name="connsiteY113" fmla="*/ 115895 h 528112"/>
              <a:gd name="connsiteX114" fmla="*/ 103172 w 606407"/>
              <a:gd name="connsiteY114" fmla="*/ 129437 h 528112"/>
              <a:gd name="connsiteX115" fmla="*/ 116265 w 606407"/>
              <a:gd name="connsiteY115" fmla="*/ 115709 h 528112"/>
              <a:gd name="connsiteX116" fmla="*/ 116358 w 606407"/>
              <a:gd name="connsiteY116" fmla="*/ 115802 h 528112"/>
              <a:gd name="connsiteX117" fmla="*/ 140674 w 606407"/>
              <a:gd name="connsiteY117" fmla="*/ 126822 h 528112"/>
              <a:gd name="connsiteX118" fmla="*/ 235878 w 606407"/>
              <a:gd name="connsiteY118" fmla="*/ 116082 h 528112"/>
              <a:gd name="connsiteX119" fmla="*/ 262344 w 606407"/>
              <a:gd name="connsiteY119" fmla="*/ 116829 h 528112"/>
              <a:gd name="connsiteX120" fmla="*/ 291336 w 606407"/>
              <a:gd name="connsiteY120" fmla="*/ 93762 h 528112"/>
              <a:gd name="connsiteX121" fmla="*/ 291336 w 606407"/>
              <a:gd name="connsiteY121" fmla="*/ 45200 h 528112"/>
              <a:gd name="connsiteX122" fmla="*/ 282264 w 606407"/>
              <a:gd name="connsiteY122" fmla="*/ 45200 h 528112"/>
              <a:gd name="connsiteX123" fmla="*/ 282264 w 606407"/>
              <a:gd name="connsiteY123" fmla="*/ 15783 h 528112"/>
              <a:gd name="connsiteX124" fmla="*/ 432458 w 606407"/>
              <a:gd name="connsiteY124" fmla="*/ 15783 h 528112"/>
              <a:gd name="connsiteX125" fmla="*/ 432458 w 606407"/>
              <a:gd name="connsiteY125" fmla="*/ 11300 h 528112"/>
              <a:gd name="connsiteX126" fmla="*/ 443774 w 606407"/>
              <a:gd name="connsiteY126" fmla="*/ 0 h 528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606407" h="528112">
                <a:moveTo>
                  <a:pt x="102985" y="131491"/>
                </a:moveTo>
                <a:lnTo>
                  <a:pt x="89892" y="218810"/>
                </a:lnTo>
                <a:lnTo>
                  <a:pt x="102985" y="236740"/>
                </a:lnTo>
                <a:lnTo>
                  <a:pt x="103265" y="236740"/>
                </a:lnTo>
                <a:lnTo>
                  <a:pt x="116358" y="218810"/>
                </a:lnTo>
                <a:lnTo>
                  <a:pt x="103265" y="131491"/>
                </a:lnTo>
                <a:close/>
                <a:moveTo>
                  <a:pt x="335836" y="85949"/>
                </a:moveTo>
                <a:cubicBezTo>
                  <a:pt x="344722" y="85949"/>
                  <a:pt x="351924" y="93136"/>
                  <a:pt x="351924" y="101910"/>
                </a:cubicBezTo>
                <a:cubicBezTo>
                  <a:pt x="351924" y="106484"/>
                  <a:pt x="349960" y="110591"/>
                  <a:pt x="346966" y="113484"/>
                </a:cubicBezTo>
                <a:lnTo>
                  <a:pt x="392799" y="159220"/>
                </a:lnTo>
                <a:cubicBezTo>
                  <a:pt x="395698" y="156140"/>
                  <a:pt x="399814" y="154273"/>
                  <a:pt x="404304" y="154273"/>
                </a:cubicBezTo>
                <a:cubicBezTo>
                  <a:pt x="409355" y="154273"/>
                  <a:pt x="413751" y="156513"/>
                  <a:pt x="416744" y="160153"/>
                </a:cubicBezTo>
                <a:lnTo>
                  <a:pt x="455561" y="140365"/>
                </a:lnTo>
                <a:cubicBezTo>
                  <a:pt x="455561" y="140179"/>
                  <a:pt x="455561" y="139899"/>
                  <a:pt x="455561" y="139712"/>
                </a:cubicBezTo>
                <a:cubicBezTo>
                  <a:pt x="455561" y="130845"/>
                  <a:pt x="462764" y="123751"/>
                  <a:pt x="471649" y="123751"/>
                </a:cubicBezTo>
                <a:cubicBezTo>
                  <a:pt x="480442" y="123751"/>
                  <a:pt x="487644" y="130845"/>
                  <a:pt x="487644" y="139712"/>
                </a:cubicBezTo>
                <a:cubicBezTo>
                  <a:pt x="487644" y="144006"/>
                  <a:pt x="485960" y="147926"/>
                  <a:pt x="483154" y="150819"/>
                </a:cubicBezTo>
                <a:lnTo>
                  <a:pt x="496717" y="164353"/>
                </a:lnTo>
                <a:cubicBezTo>
                  <a:pt x="499055" y="163140"/>
                  <a:pt x="501581" y="162393"/>
                  <a:pt x="504387" y="162393"/>
                </a:cubicBezTo>
                <a:cubicBezTo>
                  <a:pt x="506351" y="162393"/>
                  <a:pt x="508222" y="162767"/>
                  <a:pt x="509906" y="163420"/>
                </a:cubicBezTo>
                <a:lnTo>
                  <a:pt x="540118" y="117964"/>
                </a:lnTo>
                <a:cubicBezTo>
                  <a:pt x="537031" y="115071"/>
                  <a:pt x="535160" y="110964"/>
                  <a:pt x="535160" y="106390"/>
                </a:cubicBezTo>
                <a:cubicBezTo>
                  <a:pt x="535160" y="97617"/>
                  <a:pt x="542363" y="90429"/>
                  <a:pt x="551155" y="90429"/>
                </a:cubicBezTo>
                <a:cubicBezTo>
                  <a:pt x="560041" y="90429"/>
                  <a:pt x="567243" y="97617"/>
                  <a:pt x="567243" y="106390"/>
                </a:cubicBezTo>
                <a:cubicBezTo>
                  <a:pt x="567243" y="115257"/>
                  <a:pt x="560041" y="122444"/>
                  <a:pt x="551155" y="122444"/>
                </a:cubicBezTo>
                <a:cubicBezTo>
                  <a:pt x="549939" y="122444"/>
                  <a:pt x="548629" y="122258"/>
                  <a:pt x="547507" y="121978"/>
                </a:cubicBezTo>
                <a:lnTo>
                  <a:pt x="516734" y="168180"/>
                </a:lnTo>
                <a:cubicBezTo>
                  <a:pt x="519072" y="170980"/>
                  <a:pt x="520475" y="174527"/>
                  <a:pt x="520475" y="178447"/>
                </a:cubicBezTo>
                <a:cubicBezTo>
                  <a:pt x="520475" y="187221"/>
                  <a:pt x="513273" y="194408"/>
                  <a:pt x="504481" y="194408"/>
                </a:cubicBezTo>
                <a:cubicBezTo>
                  <a:pt x="495501" y="194408"/>
                  <a:pt x="488392" y="187221"/>
                  <a:pt x="488392" y="178447"/>
                </a:cubicBezTo>
                <a:cubicBezTo>
                  <a:pt x="488392" y="175367"/>
                  <a:pt x="489234" y="172567"/>
                  <a:pt x="490731" y="170140"/>
                </a:cubicBezTo>
                <a:lnTo>
                  <a:pt x="475765" y="155113"/>
                </a:lnTo>
                <a:cubicBezTo>
                  <a:pt x="474456" y="155486"/>
                  <a:pt x="473053" y="155673"/>
                  <a:pt x="471649" y="155673"/>
                </a:cubicBezTo>
                <a:cubicBezTo>
                  <a:pt x="465944" y="155673"/>
                  <a:pt x="461080" y="152779"/>
                  <a:pt x="458180" y="148393"/>
                </a:cubicBezTo>
                <a:lnTo>
                  <a:pt x="420111" y="167714"/>
                </a:lnTo>
                <a:cubicBezTo>
                  <a:pt x="420298" y="168554"/>
                  <a:pt x="420392" y="169394"/>
                  <a:pt x="420392" y="170234"/>
                </a:cubicBezTo>
                <a:cubicBezTo>
                  <a:pt x="420392" y="179101"/>
                  <a:pt x="413190" y="186288"/>
                  <a:pt x="404304" y="186288"/>
                </a:cubicBezTo>
                <a:cubicBezTo>
                  <a:pt x="395418" y="186288"/>
                  <a:pt x="388309" y="179101"/>
                  <a:pt x="388309" y="170234"/>
                </a:cubicBezTo>
                <a:cubicBezTo>
                  <a:pt x="388309" y="169114"/>
                  <a:pt x="388403" y="167994"/>
                  <a:pt x="388683" y="166873"/>
                </a:cubicBezTo>
                <a:lnTo>
                  <a:pt x="339203" y="117591"/>
                </a:lnTo>
                <a:cubicBezTo>
                  <a:pt x="338174" y="117778"/>
                  <a:pt x="337052" y="117871"/>
                  <a:pt x="335836" y="117871"/>
                </a:cubicBezTo>
                <a:cubicBezTo>
                  <a:pt x="326950" y="117871"/>
                  <a:pt x="319841" y="110777"/>
                  <a:pt x="319841" y="101910"/>
                </a:cubicBezTo>
                <a:cubicBezTo>
                  <a:pt x="319841" y="93136"/>
                  <a:pt x="326950" y="85949"/>
                  <a:pt x="335836" y="85949"/>
                </a:cubicBezTo>
                <a:close/>
                <a:moveTo>
                  <a:pt x="304990" y="45200"/>
                </a:moveTo>
                <a:lnTo>
                  <a:pt x="304990" y="82929"/>
                </a:lnTo>
                <a:lnTo>
                  <a:pt x="340060" y="55099"/>
                </a:lnTo>
                <a:lnTo>
                  <a:pt x="345578" y="62010"/>
                </a:lnTo>
                <a:lnTo>
                  <a:pt x="304990" y="94416"/>
                </a:lnTo>
                <a:lnTo>
                  <a:pt x="304990" y="250842"/>
                </a:lnTo>
                <a:cubicBezTo>
                  <a:pt x="304990" y="252056"/>
                  <a:pt x="305925" y="253083"/>
                  <a:pt x="307234" y="253083"/>
                </a:cubicBezTo>
                <a:lnTo>
                  <a:pt x="581531" y="253083"/>
                </a:lnTo>
                <a:cubicBezTo>
                  <a:pt x="582746" y="253083"/>
                  <a:pt x="583775" y="252056"/>
                  <a:pt x="583775" y="250842"/>
                </a:cubicBezTo>
                <a:lnTo>
                  <a:pt x="583775" y="45200"/>
                </a:lnTo>
                <a:close/>
                <a:moveTo>
                  <a:pt x="103240" y="4375"/>
                </a:moveTo>
                <a:cubicBezTo>
                  <a:pt x="133229" y="4375"/>
                  <a:pt x="157540" y="28623"/>
                  <a:pt x="157540" y="58534"/>
                </a:cubicBezTo>
                <a:cubicBezTo>
                  <a:pt x="157540" y="88445"/>
                  <a:pt x="133229" y="112693"/>
                  <a:pt x="103240" y="112693"/>
                </a:cubicBezTo>
                <a:cubicBezTo>
                  <a:pt x="73251" y="112693"/>
                  <a:pt x="48940" y="88445"/>
                  <a:pt x="48940" y="58534"/>
                </a:cubicBezTo>
                <a:cubicBezTo>
                  <a:pt x="48940" y="28623"/>
                  <a:pt x="73251" y="4375"/>
                  <a:pt x="103240" y="4375"/>
                </a:cubicBezTo>
                <a:close/>
                <a:moveTo>
                  <a:pt x="443774" y="0"/>
                </a:moveTo>
                <a:lnTo>
                  <a:pt x="444990" y="0"/>
                </a:lnTo>
                <a:cubicBezTo>
                  <a:pt x="451163" y="0"/>
                  <a:pt x="456306" y="5043"/>
                  <a:pt x="456306" y="11300"/>
                </a:cubicBezTo>
                <a:lnTo>
                  <a:pt x="456306" y="15783"/>
                </a:lnTo>
                <a:lnTo>
                  <a:pt x="606407" y="15783"/>
                </a:lnTo>
                <a:lnTo>
                  <a:pt x="606407" y="45200"/>
                </a:lnTo>
                <a:lnTo>
                  <a:pt x="597429" y="45200"/>
                </a:lnTo>
                <a:lnTo>
                  <a:pt x="597429" y="250748"/>
                </a:lnTo>
                <a:cubicBezTo>
                  <a:pt x="597429" y="259527"/>
                  <a:pt x="590321" y="266624"/>
                  <a:pt x="581531" y="266624"/>
                </a:cubicBezTo>
                <a:lnTo>
                  <a:pt x="453407" y="266624"/>
                </a:lnTo>
                <a:lnTo>
                  <a:pt x="453407" y="429214"/>
                </a:lnTo>
                <a:lnTo>
                  <a:pt x="520368" y="480858"/>
                </a:lnTo>
                <a:cubicBezTo>
                  <a:pt x="524296" y="483846"/>
                  <a:pt x="525044" y="489543"/>
                  <a:pt x="521958" y="493558"/>
                </a:cubicBezTo>
                <a:cubicBezTo>
                  <a:pt x="520181" y="495800"/>
                  <a:pt x="517469" y="497014"/>
                  <a:pt x="514757" y="497014"/>
                </a:cubicBezTo>
                <a:cubicBezTo>
                  <a:pt x="512886" y="497014"/>
                  <a:pt x="510922" y="496360"/>
                  <a:pt x="509239" y="495146"/>
                </a:cubicBezTo>
                <a:lnTo>
                  <a:pt x="453407" y="452094"/>
                </a:lnTo>
                <a:lnTo>
                  <a:pt x="453407" y="487021"/>
                </a:lnTo>
                <a:lnTo>
                  <a:pt x="453407" y="518960"/>
                </a:lnTo>
                <a:cubicBezTo>
                  <a:pt x="453407" y="524003"/>
                  <a:pt x="449386" y="528112"/>
                  <a:pt x="444336" y="528112"/>
                </a:cubicBezTo>
                <a:cubicBezTo>
                  <a:pt x="439379" y="528112"/>
                  <a:pt x="435264" y="524097"/>
                  <a:pt x="435264" y="518960"/>
                </a:cubicBezTo>
                <a:lnTo>
                  <a:pt x="435264" y="452094"/>
                </a:lnTo>
                <a:lnTo>
                  <a:pt x="379432" y="495146"/>
                </a:lnTo>
                <a:cubicBezTo>
                  <a:pt x="377749" y="496360"/>
                  <a:pt x="375878" y="497014"/>
                  <a:pt x="373914" y="497014"/>
                </a:cubicBezTo>
                <a:cubicBezTo>
                  <a:pt x="371202" y="497014"/>
                  <a:pt x="368490" y="495800"/>
                  <a:pt x="366713" y="493558"/>
                </a:cubicBezTo>
                <a:cubicBezTo>
                  <a:pt x="363627" y="489543"/>
                  <a:pt x="364375" y="483846"/>
                  <a:pt x="368303" y="480858"/>
                </a:cubicBezTo>
                <a:lnTo>
                  <a:pt x="435264" y="429214"/>
                </a:lnTo>
                <a:lnTo>
                  <a:pt x="435264" y="266624"/>
                </a:lnTo>
                <a:lnTo>
                  <a:pt x="307234" y="266624"/>
                </a:lnTo>
                <a:cubicBezTo>
                  <a:pt x="298443" y="266624"/>
                  <a:pt x="291336" y="259527"/>
                  <a:pt x="291336" y="250748"/>
                </a:cubicBezTo>
                <a:lnTo>
                  <a:pt x="291336" y="105249"/>
                </a:lnTo>
                <a:lnTo>
                  <a:pt x="267768" y="124020"/>
                </a:lnTo>
                <a:cubicBezTo>
                  <a:pt x="271790" y="132799"/>
                  <a:pt x="269358" y="143445"/>
                  <a:pt x="261315" y="149609"/>
                </a:cubicBezTo>
                <a:cubicBezTo>
                  <a:pt x="235317" y="169314"/>
                  <a:pt x="210253" y="185563"/>
                  <a:pt x="180794" y="185563"/>
                </a:cubicBezTo>
                <a:cubicBezTo>
                  <a:pt x="173687" y="185563"/>
                  <a:pt x="166392" y="184629"/>
                  <a:pt x="158723" y="182575"/>
                </a:cubicBezTo>
                <a:lnTo>
                  <a:pt x="158723" y="282594"/>
                </a:lnTo>
                <a:cubicBezTo>
                  <a:pt x="158723" y="288291"/>
                  <a:pt x="157227" y="298283"/>
                  <a:pt x="154982" y="302112"/>
                </a:cubicBezTo>
                <a:cubicBezTo>
                  <a:pt x="155076" y="302486"/>
                  <a:pt x="173219" y="501030"/>
                  <a:pt x="173219" y="501030"/>
                </a:cubicBezTo>
                <a:cubicBezTo>
                  <a:pt x="174435" y="514758"/>
                  <a:pt x="164241" y="526805"/>
                  <a:pt x="150587" y="527925"/>
                </a:cubicBezTo>
                <a:cubicBezTo>
                  <a:pt x="149839" y="528019"/>
                  <a:pt x="149091" y="528112"/>
                  <a:pt x="148436" y="528112"/>
                </a:cubicBezTo>
                <a:cubicBezTo>
                  <a:pt x="135624" y="528112"/>
                  <a:pt x="124775" y="518306"/>
                  <a:pt x="123653" y="505325"/>
                </a:cubicBezTo>
                <a:lnTo>
                  <a:pt x="107287" y="330222"/>
                </a:lnTo>
                <a:cubicBezTo>
                  <a:pt x="105510" y="330315"/>
                  <a:pt x="104949" y="330409"/>
                  <a:pt x="103172" y="330409"/>
                </a:cubicBezTo>
                <a:cubicBezTo>
                  <a:pt x="102237" y="330409"/>
                  <a:pt x="100086" y="330315"/>
                  <a:pt x="99244" y="330315"/>
                </a:cubicBezTo>
                <a:lnTo>
                  <a:pt x="86899" y="505139"/>
                </a:lnTo>
                <a:cubicBezTo>
                  <a:pt x="85871" y="518120"/>
                  <a:pt x="74929" y="528019"/>
                  <a:pt x="62116" y="528019"/>
                </a:cubicBezTo>
                <a:cubicBezTo>
                  <a:pt x="61462" y="528019"/>
                  <a:pt x="60807" y="528019"/>
                  <a:pt x="60152" y="528019"/>
                </a:cubicBezTo>
                <a:cubicBezTo>
                  <a:pt x="46405" y="526898"/>
                  <a:pt x="36211" y="514944"/>
                  <a:pt x="37240" y="501310"/>
                </a:cubicBezTo>
                <a:lnTo>
                  <a:pt x="52577" y="302672"/>
                </a:lnTo>
                <a:cubicBezTo>
                  <a:pt x="49398" y="296696"/>
                  <a:pt x="47621" y="289972"/>
                  <a:pt x="47621" y="282594"/>
                </a:cubicBezTo>
                <a:lnTo>
                  <a:pt x="47621" y="215074"/>
                </a:lnTo>
                <a:cubicBezTo>
                  <a:pt x="42664" y="232818"/>
                  <a:pt x="40700" y="256538"/>
                  <a:pt x="43225" y="289318"/>
                </a:cubicBezTo>
                <a:cubicBezTo>
                  <a:pt x="44160" y="300898"/>
                  <a:pt x="35463" y="310984"/>
                  <a:pt x="23866" y="311918"/>
                </a:cubicBezTo>
                <a:cubicBezTo>
                  <a:pt x="23305" y="311918"/>
                  <a:pt x="22744" y="312011"/>
                  <a:pt x="22183" y="312011"/>
                </a:cubicBezTo>
                <a:cubicBezTo>
                  <a:pt x="11335" y="312011"/>
                  <a:pt x="2076" y="303606"/>
                  <a:pt x="1234" y="292586"/>
                </a:cubicBezTo>
                <a:cubicBezTo>
                  <a:pt x="-7089" y="186590"/>
                  <a:pt x="27981" y="149889"/>
                  <a:pt x="67073" y="125981"/>
                </a:cubicBezTo>
                <a:cubicBezTo>
                  <a:pt x="68195" y="125234"/>
                  <a:pt x="82971" y="117483"/>
                  <a:pt x="89611" y="115895"/>
                </a:cubicBezTo>
                <a:lnTo>
                  <a:pt x="103172" y="129437"/>
                </a:lnTo>
                <a:lnTo>
                  <a:pt x="116265" y="115709"/>
                </a:lnTo>
                <a:cubicBezTo>
                  <a:pt x="116265" y="115709"/>
                  <a:pt x="116358" y="115709"/>
                  <a:pt x="116358" y="115802"/>
                </a:cubicBezTo>
                <a:cubicBezTo>
                  <a:pt x="123279" y="117390"/>
                  <a:pt x="137401" y="124767"/>
                  <a:pt x="140674" y="126822"/>
                </a:cubicBezTo>
                <a:cubicBezTo>
                  <a:pt x="181823" y="152877"/>
                  <a:pt x="196038" y="146247"/>
                  <a:pt x="235878" y="116082"/>
                </a:cubicBezTo>
                <a:cubicBezTo>
                  <a:pt x="243921" y="109919"/>
                  <a:pt x="254956" y="110572"/>
                  <a:pt x="262344" y="116829"/>
                </a:cubicBezTo>
                <a:lnTo>
                  <a:pt x="291336" y="93762"/>
                </a:lnTo>
                <a:lnTo>
                  <a:pt x="291336" y="45200"/>
                </a:lnTo>
                <a:lnTo>
                  <a:pt x="282264" y="45200"/>
                </a:lnTo>
                <a:lnTo>
                  <a:pt x="282264" y="15783"/>
                </a:lnTo>
                <a:lnTo>
                  <a:pt x="432458" y="15783"/>
                </a:lnTo>
                <a:lnTo>
                  <a:pt x="432458" y="11300"/>
                </a:lnTo>
                <a:cubicBezTo>
                  <a:pt x="432458" y="5043"/>
                  <a:pt x="437509" y="0"/>
                  <a:pt x="4437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26">
            <a:extLst>
              <a:ext uri="{FF2B5EF4-FFF2-40B4-BE49-F238E27FC236}">
                <a16:creationId xmlns:a16="http://schemas.microsoft.com/office/drawing/2014/main" id="{D0892F03-BDF9-2C14-8DC8-4A116CE5E85B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五、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DBSCAN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7C0A8C88-2017-8660-BA89-0ACECBCDAC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120296"/>
              </p:ext>
            </p:extLst>
          </p:nvPr>
        </p:nvGraphicFramePr>
        <p:xfrm>
          <a:off x="5812468" y="3673504"/>
          <a:ext cx="822658" cy="55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8153" imgH="295211" progId="Equation.DSMT4">
                  <p:embed/>
                </p:oleObj>
              </mc:Choice>
              <mc:Fallback>
                <p:oleObj name="Equation" r:id="rId3" imgW="438153" imgH="29521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12468" y="3673504"/>
                        <a:ext cx="822658" cy="55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3518EA78-437C-25D4-875E-539B03504A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426305"/>
              </p:ext>
            </p:extLst>
          </p:nvPr>
        </p:nvGraphicFramePr>
        <p:xfrm>
          <a:off x="5851011" y="5585958"/>
          <a:ext cx="745572" cy="55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71548" imgH="276130" progId="Equation.DSMT4">
                  <p:embed/>
                </p:oleObj>
              </mc:Choice>
              <mc:Fallback>
                <p:oleObj name="Equation" r:id="rId5" imgW="371548" imgH="27613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851011" y="5585958"/>
                        <a:ext cx="745572" cy="55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E85C1DDD-631F-70E8-E81E-1F8FC46E25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051868"/>
              </p:ext>
            </p:extLst>
          </p:nvPr>
        </p:nvGraphicFramePr>
        <p:xfrm>
          <a:off x="5317566" y="4817592"/>
          <a:ext cx="1812462" cy="55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09700" imgH="247689" progId="Equation.DSMT4">
                  <p:embed/>
                </p:oleObj>
              </mc:Choice>
              <mc:Fallback>
                <p:oleObj name="Equation" r:id="rId7" imgW="809700" imgH="24768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17566" y="4817592"/>
                        <a:ext cx="1812462" cy="55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85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6C9C6-DDDC-373D-5CF4-6FB4304EF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2">
            <a:extLst>
              <a:ext uri="{FF2B5EF4-FFF2-40B4-BE49-F238E27FC236}">
                <a16:creationId xmlns:a16="http://schemas.microsoft.com/office/drawing/2014/main" id="{7E6EC26F-4418-9FBD-6B6E-2BEE3F84D838}"/>
              </a:ext>
            </a:extLst>
          </p:cNvPr>
          <p:cNvSpPr/>
          <p:nvPr/>
        </p:nvSpPr>
        <p:spPr>
          <a:xfrm>
            <a:off x="166155" y="976588"/>
            <a:ext cx="8311091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>
              <a:spcBef>
                <a:spcPct val="30000"/>
              </a:spcBef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实践案例：基于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DBSCAN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的用户信用卡数据聚类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ABF54ED0-BD5C-CEF2-D3FE-CF00BD2CC3EA}"/>
              </a:ext>
            </a:extLst>
          </p:cNvPr>
          <p:cNvSpPr/>
          <p:nvPr/>
        </p:nvSpPr>
        <p:spPr>
          <a:xfrm>
            <a:off x="166155" y="976589"/>
            <a:ext cx="1079640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5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rPr>
              <a:t>.5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等线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3F7296D-9C93-9337-6D35-5D8E5F738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933E5198-94EE-36F1-A428-E371218C9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" y="17637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13B9D932-1B31-125D-9171-F6BD4D3D9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960" y="84543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41600" algn="ctr"/>
                <a:tab pos="5270500" algn="r"/>
              </a:tabLst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4D2DB74-0A46-D664-6240-B8BBAB857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72" y="1904990"/>
            <a:ext cx="1124559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来自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Kaggle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的用户信用卡数据集，该数据集包含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8950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个用户的信用卡数据，具体字段包括：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CUST_ID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（用户编号）、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BALANCE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（余额）、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BALANCE_FREQUENCY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（余额频率），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PRC_FULL_PAYMENT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（全款支付占比），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TENURE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（信用卡期限）等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个字段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76914E3-F213-B855-FF7B-B6DFD0DEE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001775"/>
              </p:ext>
            </p:extLst>
          </p:nvPr>
        </p:nvGraphicFramePr>
        <p:xfrm>
          <a:off x="496887" y="3651328"/>
          <a:ext cx="11381146" cy="2764713"/>
        </p:xfrm>
        <a:graphic>
          <a:graphicData uri="http://schemas.openxmlformats.org/drawingml/2006/table">
            <a:tbl>
              <a:tblPr firstRow="1" firstCol="1" bandRow="1"/>
              <a:tblGrid>
                <a:gridCol w="1373706">
                  <a:extLst>
                    <a:ext uri="{9D8B030D-6E8A-4147-A177-3AD203B41FA5}">
                      <a16:colId xmlns:a16="http://schemas.microsoft.com/office/drawing/2014/main" val="468718638"/>
                    </a:ext>
                  </a:extLst>
                </a:gridCol>
                <a:gridCol w="1561846">
                  <a:extLst>
                    <a:ext uri="{9D8B030D-6E8A-4147-A177-3AD203B41FA5}">
                      <a16:colId xmlns:a16="http://schemas.microsoft.com/office/drawing/2014/main" val="2997579513"/>
                    </a:ext>
                  </a:extLst>
                </a:gridCol>
                <a:gridCol w="3529027">
                  <a:extLst>
                    <a:ext uri="{9D8B030D-6E8A-4147-A177-3AD203B41FA5}">
                      <a16:colId xmlns:a16="http://schemas.microsoft.com/office/drawing/2014/main" val="2664912737"/>
                    </a:ext>
                  </a:extLst>
                </a:gridCol>
                <a:gridCol w="392883">
                  <a:extLst>
                    <a:ext uri="{9D8B030D-6E8A-4147-A177-3AD203B41FA5}">
                      <a16:colId xmlns:a16="http://schemas.microsoft.com/office/drawing/2014/main" val="139607228"/>
                    </a:ext>
                  </a:extLst>
                </a:gridCol>
                <a:gridCol w="3151362">
                  <a:extLst>
                    <a:ext uri="{9D8B030D-6E8A-4147-A177-3AD203B41FA5}">
                      <a16:colId xmlns:a16="http://schemas.microsoft.com/office/drawing/2014/main" val="4247412690"/>
                    </a:ext>
                  </a:extLst>
                </a:gridCol>
                <a:gridCol w="1372322">
                  <a:extLst>
                    <a:ext uri="{9D8B030D-6E8A-4147-A177-3AD203B41FA5}">
                      <a16:colId xmlns:a16="http://schemas.microsoft.com/office/drawing/2014/main" val="2253076999"/>
                    </a:ext>
                  </a:extLst>
                </a:gridCol>
              </a:tblGrid>
              <a:tr h="394959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CUST_ID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BALANCE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BALANCE_FREQUENCY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zh-CN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PRC_FULL_PAYMENT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TENURE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705963"/>
                  </a:ext>
                </a:extLst>
              </a:tr>
              <a:tr h="394959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C10001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40.90075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0.818182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689159"/>
                  </a:ext>
                </a:extLst>
              </a:tr>
              <a:tr h="394959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C10002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3202.467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0.909091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0.222222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202905"/>
                  </a:ext>
                </a:extLst>
              </a:tr>
              <a:tr h="394959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C10003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2495.149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5176682"/>
                  </a:ext>
                </a:extLst>
              </a:tr>
              <a:tr h="394959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879806"/>
                  </a:ext>
                </a:extLst>
              </a:tr>
              <a:tr h="394959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C10007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627.2608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605749"/>
                  </a:ext>
                </a:extLst>
              </a:tr>
              <a:tr h="394959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C10008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1823.653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20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192190"/>
                  </a:ext>
                </a:extLst>
              </a:tr>
            </a:tbl>
          </a:graphicData>
        </a:graphic>
      </p:graphicFrame>
      <p:sp>
        <p:nvSpPr>
          <p:cNvPr id="4" name="矩形 26">
            <a:extLst>
              <a:ext uri="{FF2B5EF4-FFF2-40B4-BE49-F238E27FC236}">
                <a16:creationId xmlns:a16="http://schemas.microsoft.com/office/drawing/2014/main" id="{C95633D6-02E8-76DC-4ABA-3089A0CC8092}"/>
              </a:ext>
            </a:extLst>
          </p:cNvPr>
          <p:cNvSpPr/>
          <p:nvPr/>
        </p:nvSpPr>
        <p:spPr>
          <a:xfrm>
            <a:off x="1087056" y="235457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五、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DBSCAN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832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B18F5-7A4A-C022-6FA0-D93D8DFA2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7E36D25A-21A6-738E-5498-C559767A1241}"/>
              </a:ext>
            </a:extLst>
          </p:cNvPr>
          <p:cNvSpPr txBox="1"/>
          <p:nvPr/>
        </p:nvSpPr>
        <p:spPr>
          <a:xfrm>
            <a:off x="168715" y="1683223"/>
            <a:ext cx="11270367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304800" algn="l"/>
              </a:tabLst>
            </a:pPr>
            <a:r>
              <a:rPr lang="en-US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1.</a:t>
            </a:r>
            <a:r>
              <a:rPr lang="zh-CN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模型构建。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在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Python</a:t>
            </a:r>
            <a:r>
              <a:rPr lang="zh-CN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中，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DBSCAN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算法可以调用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sklearn.cluster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模块中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DBSCAN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类构建学习器进行实现</a:t>
            </a:r>
            <a:endParaRPr lang="zh-CN" altLang="zh-CN" sz="2000" kern="100" dirty="0"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5015A42-EAB9-AE74-8BD2-6BC59CCDA00D}"/>
              </a:ext>
            </a:extLst>
          </p:cNvPr>
          <p:cNvSpPr txBox="1"/>
          <p:nvPr/>
        </p:nvSpPr>
        <p:spPr>
          <a:xfrm>
            <a:off x="168715" y="3494774"/>
            <a:ext cx="11270367" cy="2346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2.</a:t>
            </a:r>
            <a:r>
              <a:rPr lang="zh-CN" altLang="zh-CN" sz="2000" b="1" kern="100" dirty="0">
                <a:solidFill>
                  <a:schemeClr val="accent1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参数调整。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eps”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参数表示 邻域半径；“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min_samples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参数表示数据成为核心点时，其 邻域内的最小数据量；“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metric”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参数表示数据之间的距离计算方式，有“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cityblock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cosine”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euclidean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l1”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l2”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manhattan”6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种距离，默认为“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euclidean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；“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algorithm”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参数表示最近邻模块通过计算距离寻找最近邻居的算法，有“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auto”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ball_tree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2000" kern="100" dirty="0" err="1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kd_tree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brute”4</a:t>
            </a:r>
            <a:r>
              <a:rPr lang="zh-CN" altLang="en-US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种算法，默认为“</a:t>
            </a:r>
            <a:r>
              <a:rPr lang="en-US" altLang="zh-CN" sz="2000" kern="100" dirty="0"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auto ”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35D4C4E-7080-1D7A-C428-4D53B8C03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15" y="2749332"/>
            <a:ext cx="11286763" cy="634407"/>
          </a:xfrm>
          <a:prstGeom prst="rect">
            <a:avLst/>
          </a:prstGeom>
        </p:spPr>
      </p:pic>
      <p:sp>
        <p:nvSpPr>
          <p:cNvPr id="4" name="矩形 26">
            <a:extLst>
              <a:ext uri="{FF2B5EF4-FFF2-40B4-BE49-F238E27FC236}">
                <a16:creationId xmlns:a16="http://schemas.microsoft.com/office/drawing/2014/main" id="{567D04F9-72D4-DD83-BDA1-748DC141E407}"/>
              </a:ext>
            </a:extLst>
          </p:cNvPr>
          <p:cNvSpPr/>
          <p:nvPr/>
        </p:nvSpPr>
        <p:spPr>
          <a:xfrm>
            <a:off x="1087056" y="235457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五、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DBSCAN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5" name="矩形: 圆角 12">
            <a:extLst>
              <a:ext uri="{FF2B5EF4-FFF2-40B4-BE49-F238E27FC236}">
                <a16:creationId xmlns:a16="http://schemas.microsoft.com/office/drawing/2014/main" id="{CBDB0434-43D1-2535-11FA-DEF244E3669D}"/>
              </a:ext>
            </a:extLst>
          </p:cNvPr>
          <p:cNvSpPr/>
          <p:nvPr/>
        </p:nvSpPr>
        <p:spPr>
          <a:xfrm>
            <a:off x="166155" y="976588"/>
            <a:ext cx="8311091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>
              <a:spcBef>
                <a:spcPct val="30000"/>
              </a:spcBef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实践案例：基于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DBSCAN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的用户信用卡数据聚类</a:t>
            </a:r>
          </a:p>
        </p:txBody>
      </p:sp>
      <p:sp>
        <p:nvSpPr>
          <p:cNvPr id="6" name="箭头: 五边形 11">
            <a:extLst>
              <a:ext uri="{FF2B5EF4-FFF2-40B4-BE49-F238E27FC236}">
                <a16:creationId xmlns:a16="http://schemas.microsoft.com/office/drawing/2014/main" id="{B519EB94-0409-693B-AABD-BFEAC376EE9F}"/>
              </a:ext>
            </a:extLst>
          </p:cNvPr>
          <p:cNvSpPr/>
          <p:nvPr/>
        </p:nvSpPr>
        <p:spPr>
          <a:xfrm>
            <a:off x="166155" y="976589"/>
            <a:ext cx="1079640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5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rPr>
              <a:t>.5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等线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764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BA12E-2500-1E6B-EE4F-C0EF0F8A1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821F062-0965-0241-30FF-4554AD7EB2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271"/>
          <a:stretch/>
        </p:blipFill>
        <p:spPr>
          <a:xfrm>
            <a:off x="5146648" y="1729738"/>
            <a:ext cx="6516925" cy="5014012"/>
          </a:xfrm>
          <a:prstGeom prst="rect">
            <a:avLst/>
          </a:prstGeom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EFEDD01B-7125-AB52-A8AF-6AE3D4A70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ABFC2A01-E1DA-920C-D263-1A8840E52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960" y="845439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3048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641600" algn="ctr"/>
                <a:tab pos="5270500" algn="r"/>
              </a:tabLst>
            </a:pP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199115-AC68-2079-5018-8ABAD52D744F}"/>
              </a:ext>
            </a:extLst>
          </p:cNvPr>
          <p:cNvSpPr txBox="1"/>
          <p:nvPr/>
        </p:nvSpPr>
        <p:spPr>
          <a:xfrm>
            <a:off x="459060" y="2008805"/>
            <a:ext cx="244089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数据预处理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标准化；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降维：高维数据转化为二维数据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09A5BB7-0913-6B20-6D5D-C36A123E835F}"/>
              </a:ext>
            </a:extLst>
          </p:cNvPr>
          <p:cNvCxnSpPr>
            <a:cxnSpLocks/>
          </p:cNvCxnSpPr>
          <p:nvPr/>
        </p:nvCxnSpPr>
        <p:spPr>
          <a:xfrm flipH="1" flipV="1">
            <a:off x="2730137" y="3240455"/>
            <a:ext cx="3365863" cy="23814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8A2D2DA-0634-63F1-8408-930D831EA4ED}"/>
              </a:ext>
            </a:extLst>
          </p:cNvPr>
          <p:cNvCxnSpPr>
            <a:cxnSpLocks/>
          </p:cNvCxnSpPr>
          <p:nvPr/>
        </p:nvCxnSpPr>
        <p:spPr>
          <a:xfrm flipH="1" flipV="1">
            <a:off x="2399211" y="4407037"/>
            <a:ext cx="3346269" cy="16291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: 圆角 12">
            <a:extLst>
              <a:ext uri="{FF2B5EF4-FFF2-40B4-BE49-F238E27FC236}">
                <a16:creationId xmlns:a16="http://schemas.microsoft.com/office/drawing/2014/main" id="{C243D226-20DA-76D4-674D-EC819FA87D45}"/>
              </a:ext>
            </a:extLst>
          </p:cNvPr>
          <p:cNvSpPr/>
          <p:nvPr/>
        </p:nvSpPr>
        <p:spPr>
          <a:xfrm>
            <a:off x="166155" y="976588"/>
            <a:ext cx="8311091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>
              <a:spcBef>
                <a:spcPct val="30000"/>
              </a:spcBef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实践案例：基于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DBSCAN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的用户信用卡数据聚类</a:t>
            </a:r>
          </a:p>
        </p:txBody>
      </p:sp>
      <p:sp>
        <p:nvSpPr>
          <p:cNvPr id="5" name="箭头: 五边形 11">
            <a:extLst>
              <a:ext uri="{FF2B5EF4-FFF2-40B4-BE49-F238E27FC236}">
                <a16:creationId xmlns:a16="http://schemas.microsoft.com/office/drawing/2014/main" id="{94E76C79-77E8-9975-D130-D5AA89136CF6}"/>
              </a:ext>
            </a:extLst>
          </p:cNvPr>
          <p:cNvSpPr/>
          <p:nvPr/>
        </p:nvSpPr>
        <p:spPr>
          <a:xfrm>
            <a:off x="166155" y="976589"/>
            <a:ext cx="1079640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5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rPr>
              <a:t>.5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等线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8" name="矩形 26">
            <a:extLst>
              <a:ext uri="{FF2B5EF4-FFF2-40B4-BE49-F238E27FC236}">
                <a16:creationId xmlns:a16="http://schemas.microsoft.com/office/drawing/2014/main" id="{4B5B9C38-EA34-2548-60F6-0C131CF8130E}"/>
              </a:ext>
            </a:extLst>
          </p:cNvPr>
          <p:cNvSpPr/>
          <p:nvPr/>
        </p:nvSpPr>
        <p:spPr>
          <a:xfrm>
            <a:off x="1087056" y="235457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五、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DBSCAN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3687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39D51-E288-6662-84DC-626C651E1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15">
            <a:extLst>
              <a:ext uri="{FF2B5EF4-FFF2-40B4-BE49-F238E27FC236}">
                <a16:creationId xmlns:a16="http://schemas.microsoft.com/office/drawing/2014/main" id="{1AF94AC5-1809-038F-12C8-D9791C8EEF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42" t="5177" r="9244"/>
          <a:stretch/>
        </p:blipFill>
        <p:spPr bwMode="auto">
          <a:xfrm>
            <a:off x="2499520" y="3523071"/>
            <a:ext cx="4684244" cy="333492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图形 17">
            <a:extLst>
              <a:ext uri="{FF2B5EF4-FFF2-40B4-BE49-F238E27FC236}">
                <a16:creationId xmlns:a16="http://schemas.microsoft.com/office/drawing/2014/main" id="{447A1234-D12A-92A4-997C-5617AAF707D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779" t="5393" r="9174" b="824"/>
          <a:stretch/>
        </p:blipFill>
        <p:spPr bwMode="auto">
          <a:xfrm>
            <a:off x="7183764" y="3523072"/>
            <a:ext cx="4704227" cy="333492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48B124C3-87B6-8176-CF94-4A21FDECCDE4}"/>
              </a:ext>
            </a:extLst>
          </p:cNvPr>
          <p:cNvSpPr txBox="1"/>
          <p:nvPr/>
        </p:nvSpPr>
        <p:spPr>
          <a:xfrm>
            <a:off x="2499520" y="1669672"/>
            <a:ext cx="9161902" cy="178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ts val="600"/>
              </a:spcBef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从输出结果可以发现，经过降维处理，数据被降维到为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两个属性。通过设置适当的参数，使得两个算法能够将数据集划分为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个簇。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DBSCAN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算法能根据将非线性数据的高密度区域进行聚类，而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K-means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算法则无法有效的聚类此类型的数据。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DBSCAN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K-means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算法结果的轮廓系数值表明，在同一聚类数量时，此数据集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DBSCAN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算法的聚类结果要优于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K-means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654E46-3BC7-7E79-3346-1246FDF0D46E}"/>
              </a:ext>
            </a:extLst>
          </p:cNvPr>
          <p:cNvSpPr txBox="1"/>
          <p:nvPr/>
        </p:nvSpPr>
        <p:spPr>
          <a:xfrm>
            <a:off x="166155" y="3392893"/>
            <a:ext cx="3193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1" dirty="0">
                <a:solidFill>
                  <a:srgbClr val="FF0000"/>
                </a:solidFill>
              </a:rPr>
              <a:t>输出结果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648F45F-4ADE-D2A9-5D88-6F09DA38C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90" y="4759501"/>
            <a:ext cx="2321843" cy="11541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DBSCAN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算法的轮廓系数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: 0.801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K-means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算法的轮廓系数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CC3300"/>
                </a:solidFill>
                <a:effectLst/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: 0.460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矩形 26">
            <a:extLst>
              <a:ext uri="{FF2B5EF4-FFF2-40B4-BE49-F238E27FC236}">
                <a16:creationId xmlns:a16="http://schemas.microsoft.com/office/drawing/2014/main" id="{D22F8919-42AB-B949-109F-EAE94C6EFE83}"/>
              </a:ext>
            </a:extLst>
          </p:cNvPr>
          <p:cNvSpPr/>
          <p:nvPr/>
        </p:nvSpPr>
        <p:spPr>
          <a:xfrm>
            <a:off x="1087056" y="235457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五、</a:t>
            </a:r>
            <a:r>
              <a:rPr lang="en-US" altLang="zh-CN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DBSCAN</a:t>
            </a:r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6" name="矩形: 圆角 12">
            <a:extLst>
              <a:ext uri="{FF2B5EF4-FFF2-40B4-BE49-F238E27FC236}">
                <a16:creationId xmlns:a16="http://schemas.microsoft.com/office/drawing/2014/main" id="{2D6AB661-576F-EF66-6EE6-FFF9A636C115}"/>
              </a:ext>
            </a:extLst>
          </p:cNvPr>
          <p:cNvSpPr/>
          <p:nvPr/>
        </p:nvSpPr>
        <p:spPr>
          <a:xfrm>
            <a:off x="166155" y="976588"/>
            <a:ext cx="8311091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>
              <a:spcBef>
                <a:spcPct val="30000"/>
              </a:spcBef>
              <a:defRPr/>
            </a:pP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实践案例：基于</a:t>
            </a:r>
            <a:r>
              <a:rPr kumimoji="0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DBSCAN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+mn-cs"/>
                <a:sym typeface="Times New Roman" panose="02020603050405020304" pitchFamily="18" charset="0"/>
              </a:rPr>
              <a:t>的用户信用卡数据聚类</a:t>
            </a:r>
          </a:p>
        </p:txBody>
      </p:sp>
      <p:sp>
        <p:nvSpPr>
          <p:cNvPr id="11" name="箭头: 五边形 11">
            <a:extLst>
              <a:ext uri="{FF2B5EF4-FFF2-40B4-BE49-F238E27FC236}">
                <a16:creationId xmlns:a16="http://schemas.microsoft.com/office/drawing/2014/main" id="{5BB0B863-3030-1F8E-4A95-BD6FDCF07B84}"/>
              </a:ext>
            </a:extLst>
          </p:cNvPr>
          <p:cNvSpPr/>
          <p:nvPr/>
        </p:nvSpPr>
        <p:spPr>
          <a:xfrm>
            <a:off x="166155" y="976589"/>
            <a:ext cx="1079640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5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mpact" panose="020B0806030902050204" pitchFamily="34" charset="0"/>
                <a:ea typeface="等线" panose="02010600030101010101" pitchFamily="2" charset="-122"/>
                <a:cs typeface="+mn-cs"/>
                <a:sym typeface="Times New Roman" panose="02020603050405020304" pitchFamily="18" charset="0"/>
              </a:rPr>
              <a:t>.5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 pitchFamily="34" charset="0"/>
              <a:ea typeface="等线" panose="02010600030101010101" pitchFamily="2" charset="-122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52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035ED6-ED79-6653-E473-3F5FCA3CC077}"/>
              </a:ext>
            </a:extLst>
          </p:cNvPr>
          <p:cNvSpPr txBox="1">
            <a:spLocks/>
          </p:cNvSpPr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35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等线 Light"/>
        <a:ea typeface="等线 Light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</TotalTime>
  <Words>628</Words>
  <Application>Microsoft Office PowerPoint</Application>
  <PresentationFormat>宽屏</PresentationFormat>
  <Paragraphs>112</Paragraphs>
  <Slides>11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等线</vt:lpstr>
      <vt:lpstr>华光综艺_CNKI</vt:lpstr>
      <vt:lpstr>宋体</vt:lpstr>
      <vt:lpstr>微软雅黑</vt:lpstr>
      <vt:lpstr>Arial</vt:lpstr>
      <vt:lpstr>Calibri</vt:lpstr>
      <vt:lpstr>Courier New</vt:lpstr>
      <vt:lpstr>Impact</vt:lpstr>
      <vt:lpstr>Times New Roman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Black</dc:creator>
  <cp:lastModifiedBy>Star Champion</cp:lastModifiedBy>
  <cp:revision>198</cp:revision>
  <dcterms:created xsi:type="dcterms:W3CDTF">2019-06-19T02:08:00Z</dcterms:created>
  <dcterms:modified xsi:type="dcterms:W3CDTF">2025-04-18T13:04:26Z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2052-12.1.0.18912</vt:lpwstr>
  </property>
  <property fmtid="{D5CDD505-2E9C-101B-9397-08002B2CF9AE}" pid="3" name="ICV">
    <vt:lpwstr>290520E9665F40D5BBE3CCA2763F3BF4_11</vt:lpwstr>
  </property>
</Properties>
</file>