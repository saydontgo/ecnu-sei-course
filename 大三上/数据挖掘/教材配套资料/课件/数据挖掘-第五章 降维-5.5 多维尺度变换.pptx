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7" r:id="rId2"/>
    <p:sldId id="331" r:id="rId3"/>
    <p:sldId id="376" r:id="rId4"/>
    <p:sldId id="332" r:id="rId5"/>
    <p:sldId id="378" r:id="rId6"/>
    <p:sldId id="377" r:id="rId7"/>
    <p:sldId id="333" r:id="rId8"/>
    <p:sldId id="379" r:id="rId9"/>
    <p:sldId id="334" r:id="rId10"/>
    <p:sldId id="335" r:id="rId11"/>
    <p:sldId id="15502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38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7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14" y="48"/>
      </p:cViewPr>
      <p:guideLst>
        <p:guide orient="horz" pos="2134"/>
        <p:guide pos="387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833C-0931-4030-8352-AFD9186768B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u="sng" dirty="0"/>
              <a:t>自治系统（</a:t>
            </a:r>
            <a:r>
              <a:rPr lang="en-US" altLang="zh-CN" sz="1800" u="sng" dirty="0"/>
              <a:t>AS</a:t>
            </a:r>
            <a:r>
              <a:rPr lang="zh-CN" altLang="en-US" sz="1800" u="sng" dirty="0"/>
              <a:t>）级流量交换的一个重要且不断增长的部分发生在互联网交换点（</a:t>
            </a:r>
            <a:r>
              <a:rPr lang="en-US" altLang="zh-CN" sz="1800" u="sng" dirty="0"/>
              <a:t>IXP</a:t>
            </a:r>
            <a:r>
              <a:rPr lang="zh-CN" altLang="en-US" sz="1800" u="sng" dirty="0"/>
              <a:t>）。</a:t>
            </a:r>
            <a:r>
              <a:rPr lang="en-US" altLang="zh-CN" sz="1800" u="sng" dirty="0" err="1"/>
              <a:t>PeeringDB</a:t>
            </a:r>
            <a:r>
              <a:rPr lang="zh-CN" altLang="en-US" sz="1800" u="sng" dirty="0"/>
              <a:t>是一个数据库，网络运营商在其中报告信息以找到新的对等体，从而促进了这种类型的互连。</a:t>
            </a:r>
            <a:r>
              <a:rPr lang="en-US" altLang="zh-CN" sz="1800" u="sng" dirty="0" err="1"/>
              <a:t>PeeringDB</a:t>
            </a:r>
            <a:r>
              <a:rPr lang="zh-CN" altLang="en-US" sz="1800" u="sng" dirty="0"/>
              <a:t>被认为是一个权威的信息来源，由</a:t>
            </a:r>
            <a:r>
              <a:rPr lang="en-US" altLang="zh-CN" sz="1800" u="sng" dirty="0"/>
              <a:t>10000</a:t>
            </a:r>
            <a:r>
              <a:rPr lang="zh-CN" altLang="en-US" sz="1800" u="sng" dirty="0"/>
              <a:t>个</a:t>
            </a:r>
            <a:r>
              <a:rPr lang="en-US" altLang="zh-CN" sz="1800" u="sng" dirty="0"/>
              <a:t>AS</a:t>
            </a:r>
            <a:r>
              <a:rPr lang="zh-CN" altLang="en-US" sz="1800" u="sng" dirty="0"/>
              <a:t>组成，报告了全球</a:t>
            </a:r>
            <a:r>
              <a:rPr lang="en-US" altLang="zh-CN" sz="1800" u="sng" dirty="0"/>
              <a:t>800</a:t>
            </a:r>
            <a:r>
              <a:rPr lang="zh-CN" altLang="en-US" sz="1800" u="sng" dirty="0"/>
              <a:t>个</a:t>
            </a:r>
            <a:r>
              <a:rPr lang="en-US" altLang="zh-CN" sz="1800" u="sng" dirty="0"/>
              <a:t>IXP</a:t>
            </a:r>
            <a:r>
              <a:rPr lang="zh-CN" altLang="en-US" sz="1800" u="sng" dirty="0"/>
              <a:t>的</a:t>
            </a:r>
            <a:r>
              <a:rPr lang="en-US" altLang="zh-CN" sz="1800" u="sng" dirty="0"/>
              <a:t>30000</a:t>
            </a:r>
            <a:r>
              <a:rPr lang="zh-CN" altLang="en-US" sz="1800" u="sng" dirty="0"/>
              <a:t>个端口。这种规模使得对等互联生态系统难以全面理解。 为了更好地理解这一点，我和图卢兹大学的同事、日本互联网倡议组织建议将</a:t>
            </a:r>
            <a:r>
              <a:rPr lang="en-US" altLang="zh-CN" sz="1800" u="sng" dirty="0"/>
              <a:t>as</a:t>
            </a:r>
            <a:r>
              <a:rPr lang="zh-CN" altLang="en-US" sz="1800" u="sng" dirty="0"/>
              <a:t>在</a:t>
            </a:r>
            <a:r>
              <a:rPr lang="en-US" altLang="zh-CN" sz="1800" u="sng" dirty="0"/>
              <a:t>IXP</a:t>
            </a:r>
            <a:r>
              <a:rPr lang="zh-CN" altLang="en-US" sz="1800" u="sng" dirty="0"/>
              <a:t>上的端口大小建模为加权、有向二分图。这种新的互联网模型显示了一个复杂网络的相关特征，该网络将</a:t>
            </a:r>
            <a:r>
              <a:rPr lang="en-US" altLang="zh-CN" sz="1800" u="sng" dirty="0"/>
              <a:t>AS</a:t>
            </a:r>
            <a:r>
              <a:rPr lang="zh-CN" altLang="en-US" sz="1800" u="sng" dirty="0"/>
              <a:t>和</a:t>
            </a:r>
            <a:r>
              <a:rPr lang="en-US" altLang="zh-CN" sz="1800" u="sng" dirty="0"/>
              <a:t>IXP</a:t>
            </a:r>
            <a:r>
              <a:rPr lang="zh-CN" altLang="en-US" sz="1800" u="sng" dirty="0"/>
              <a:t>分组到受影响的地理区域中（图</a:t>
            </a:r>
            <a:r>
              <a:rPr lang="en-US" altLang="zh-CN" sz="1800" u="sng" dirty="0"/>
              <a:t>1</a:t>
            </a:r>
            <a:r>
              <a:rPr lang="zh-CN" altLang="en-US" sz="1800" u="sng" dirty="0"/>
              <a:t>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BF9D7-EB82-A70A-1F27-BDFF6ECFD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C30238-4D97-8C33-0583-5B7E321376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556082-387F-19CC-A55E-8536A7CDCE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u="sng" dirty="0"/>
              <a:t>自治系统（</a:t>
            </a:r>
            <a:r>
              <a:rPr lang="en-US" altLang="zh-CN" sz="1800" u="sng" dirty="0"/>
              <a:t>AS</a:t>
            </a:r>
            <a:r>
              <a:rPr lang="zh-CN" altLang="en-US" sz="1800" u="sng" dirty="0"/>
              <a:t>）级流量交换的一个重要且不断增长的部分发生在互联网交换点（</a:t>
            </a:r>
            <a:r>
              <a:rPr lang="en-US" altLang="zh-CN" sz="1800" u="sng" dirty="0"/>
              <a:t>IXP</a:t>
            </a:r>
            <a:r>
              <a:rPr lang="zh-CN" altLang="en-US" sz="1800" u="sng" dirty="0"/>
              <a:t>）。</a:t>
            </a:r>
            <a:r>
              <a:rPr lang="en-US" altLang="zh-CN" sz="1800" u="sng" dirty="0" err="1"/>
              <a:t>PeeringDB</a:t>
            </a:r>
            <a:r>
              <a:rPr lang="zh-CN" altLang="en-US" sz="1800" u="sng" dirty="0"/>
              <a:t>是一个数据库，网络运营商在其中报告信息以找到新的对等体，从而促进了这种类型的互连。</a:t>
            </a:r>
            <a:r>
              <a:rPr lang="en-US" altLang="zh-CN" sz="1800" u="sng" dirty="0" err="1"/>
              <a:t>PeeringDB</a:t>
            </a:r>
            <a:r>
              <a:rPr lang="zh-CN" altLang="en-US" sz="1800" u="sng" dirty="0"/>
              <a:t>被认为是一个权威的信息来源，由</a:t>
            </a:r>
            <a:r>
              <a:rPr lang="en-US" altLang="zh-CN" sz="1800" u="sng" dirty="0"/>
              <a:t>10000</a:t>
            </a:r>
            <a:r>
              <a:rPr lang="zh-CN" altLang="en-US" sz="1800" u="sng" dirty="0"/>
              <a:t>个</a:t>
            </a:r>
            <a:r>
              <a:rPr lang="en-US" altLang="zh-CN" sz="1800" u="sng" dirty="0"/>
              <a:t>AS</a:t>
            </a:r>
            <a:r>
              <a:rPr lang="zh-CN" altLang="en-US" sz="1800" u="sng" dirty="0"/>
              <a:t>组成，报告了全球</a:t>
            </a:r>
            <a:r>
              <a:rPr lang="en-US" altLang="zh-CN" sz="1800" u="sng" dirty="0"/>
              <a:t>800</a:t>
            </a:r>
            <a:r>
              <a:rPr lang="zh-CN" altLang="en-US" sz="1800" u="sng" dirty="0"/>
              <a:t>个</a:t>
            </a:r>
            <a:r>
              <a:rPr lang="en-US" altLang="zh-CN" sz="1800" u="sng" dirty="0"/>
              <a:t>IXP</a:t>
            </a:r>
            <a:r>
              <a:rPr lang="zh-CN" altLang="en-US" sz="1800" u="sng" dirty="0"/>
              <a:t>的</a:t>
            </a:r>
            <a:r>
              <a:rPr lang="en-US" altLang="zh-CN" sz="1800" u="sng" dirty="0"/>
              <a:t>30000</a:t>
            </a:r>
            <a:r>
              <a:rPr lang="zh-CN" altLang="en-US" sz="1800" u="sng" dirty="0"/>
              <a:t>个端口。这种规模使得对等互联生态系统难以全面理解。 为了更好地理解这一点，我和图卢兹大学的同事、日本互联网倡议组织建议将</a:t>
            </a:r>
            <a:r>
              <a:rPr lang="en-US" altLang="zh-CN" sz="1800" u="sng" dirty="0"/>
              <a:t>as</a:t>
            </a:r>
            <a:r>
              <a:rPr lang="zh-CN" altLang="en-US" sz="1800" u="sng" dirty="0"/>
              <a:t>在</a:t>
            </a:r>
            <a:r>
              <a:rPr lang="en-US" altLang="zh-CN" sz="1800" u="sng" dirty="0"/>
              <a:t>IXP</a:t>
            </a:r>
            <a:r>
              <a:rPr lang="zh-CN" altLang="en-US" sz="1800" u="sng" dirty="0"/>
              <a:t>上的端口大小建模为加权、有向二分图。这种新的互联网模型显示了一个复杂网络的相关特征，该网络将</a:t>
            </a:r>
            <a:r>
              <a:rPr lang="en-US" altLang="zh-CN" sz="1800" u="sng" dirty="0"/>
              <a:t>AS</a:t>
            </a:r>
            <a:r>
              <a:rPr lang="zh-CN" altLang="en-US" sz="1800" u="sng" dirty="0"/>
              <a:t>和</a:t>
            </a:r>
            <a:r>
              <a:rPr lang="en-US" altLang="zh-CN" sz="1800" u="sng" dirty="0"/>
              <a:t>IXP</a:t>
            </a:r>
            <a:r>
              <a:rPr lang="zh-CN" altLang="en-US" sz="1800" u="sng" dirty="0"/>
              <a:t>分组到受影响的地理区域中（图</a:t>
            </a:r>
            <a:r>
              <a:rPr lang="en-US" altLang="zh-CN" sz="1800" u="sng" dirty="0"/>
              <a:t>1</a:t>
            </a:r>
            <a:r>
              <a:rPr lang="zh-CN" altLang="en-US" sz="1800" u="sng" dirty="0"/>
              <a:t>）。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6C69E4-F737-7327-91D3-EE2E64D65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5648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06597-0A77-2979-008C-B78B49431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F2B81D8-FD74-53EF-03AC-52D1E9371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30FCF7-8A8A-85B7-424D-095755CAD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741259-CEBD-89C0-858D-0066DA9390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9767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C77FE-0BB2-3635-1A22-2F824C972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85173FE-9FDE-92E7-9A47-FAE806B10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5F4257-4547-A705-196C-8CA6EC91A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087341-9EC3-1D61-FD41-33DAADE65A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0834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D991-C319-59C6-1615-07F46D9CC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2F0A9C-B4A9-2CB0-B888-89E62FD09C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060661-721B-4EA2-3ACA-600718486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1216F2-8DE4-8F2F-0EBF-D6C2A4B33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39458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409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0" y="1771650"/>
            <a:ext cx="12192000" cy="126149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2394901"/>
            <a:ext cx="12192000" cy="379649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928495"/>
            <a:endParaRPr lang="zh-CN" altLang="en-US" sz="1400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0" y="2291460"/>
            <a:ext cx="12192000" cy="4004169"/>
            <a:chOff x="1960583" y="2188019"/>
            <a:chExt cx="9297266" cy="4004169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rot="10800000" flipH="1">
              <a:off x="1960583" y="6087956"/>
              <a:ext cx="9297266" cy="104232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flipH="1">
              <a:off x="1960583" y="2188019"/>
              <a:ext cx="9297266" cy="10423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5"/>
          <a:stretch>
            <a:fillRect/>
          </a:stretch>
        </p:blipFill>
        <p:spPr>
          <a:xfrm>
            <a:off x="916640" y="227763"/>
            <a:ext cx="11161059" cy="603504"/>
          </a:xfrm>
          <a:prstGeom prst="rect">
            <a:avLst/>
          </a:prstGeom>
        </p:spPr>
      </p:pic>
      <p:pic>
        <p:nvPicPr>
          <p:cNvPr id="3" name="Picture 2" descr="A logo with dots and lines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>
            <a:fillRect/>
          </a:stretch>
        </p:blipFill>
        <p:spPr>
          <a:xfrm>
            <a:off x="11249224" y="166730"/>
            <a:ext cx="828475" cy="7255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/>
          <a:srcRect l="453"/>
          <a:stretch>
            <a:fillRect/>
          </a:stretch>
        </p:blipFill>
        <p:spPr>
          <a:xfrm>
            <a:off x="0" y="0"/>
            <a:ext cx="12192000" cy="1014998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5982657" y="0"/>
            <a:ext cx="202179" cy="1014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二、主要工作</a:t>
            </a: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三、总结展望</a:t>
            </a: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1531166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结束语</a:t>
            </a: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背景带校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D:\works\工作\周琴\56-2019-大数据与复杂网络\模板设计\内页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77" y="0"/>
            <a:ext cx="12192000" cy="686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15 June, 2011</a:t>
            </a:r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IHCAR</a:t>
            </a:r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46203-2B80-4CBC-A257-89A48550B42A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375374" y="1"/>
            <a:ext cx="140967" cy="962147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11735683" y="6617464"/>
            <a:ext cx="140967" cy="240536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03774" y="6581013"/>
            <a:ext cx="372196" cy="276987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fld id="{5E083074-D3FF-49A6-8E12-2ECAA15AAAA1}" type="slidenum">
              <a:rPr lang="zh-CN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‹#›</a:t>
            </a:fld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2.emf"/><Relationship Id="rId4" Type="http://schemas.openxmlformats.org/officeDocument/2006/relationships/image" Target="../media/image9.e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3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13" Type="http://schemas.openxmlformats.org/officeDocument/2006/relationships/oleObject" Target="../embeddings/oleObject14.bin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20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9.wmf"/><Relationship Id="rId4" Type="http://schemas.openxmlformats.org/officeDocument/2006/relationships/image" Target="../media/image16.e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2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3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99BC3-F6D1-A39E-3B9C-5E96D01F56E0}"/>
              </a:ext>
            </a:extLst>
          </p:cNvPr>
          <p:cNvSpPr txBox="1">
            <a:spLocks/>
          </p:cNvSpPr>
          <p:nvPr/>
        </p:nvSpPr>
        <p:spPr>
          <a:xfrm>
            <a:off x="408972" y="1926317"/>
            <a:ext cx="11374056" cy="218340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第</a:t>
            </a:r>
            <a:r>
              <a:rPr lang="en-US" altLang="zh-CN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5.5</a:t>
            </a: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节</a:t>
            </a:r>
            <a:endParaRPr lang="en-US" altLang="zh-CN" sz="5400" b="0" dirty="0">
              <a:solidFill>
                <a:schemeClr val="bg1"/>
              </a:solidFill>
              <a:ea typeface="华光综艺_CNKI" panose="02000500000000000000" pitchFamily="2" charset="-122"/>
            </a:endParaRPr>
          </a:p>
          <a:p>
            <a:r>
              <a:rPr lang="zh-CN" altLang="en-US" b="0" dirty="0">
                <a:ea typeface="华光综艺_CNKI" panose="02000500000000000000" pitchFamily="2" charset="-122"/>
              </a:rPr>
              <a:t>多维尺度变换</a:t>
            </a:r>
            <a:endParaRPr lang="en-US" altLang="zh-CN" b="0" dirty="0"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多维尺度变换基本思想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14497" y="2566378"/>
            <a:ext cx="10229826" cy="195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  </a:t>
            </a:r>
            <a:r>
              <a:rPr lang="zh-CN" altLang="zh-CN" sz="2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多维尺度变换</a:t>
            </a:r>
            <a:r>
              <a:rPr lang="zh-CN" altLang="zh-CN" sz="2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（</a:t>
            </a:r>
            <a:r>
              <a:rPr lang="en-US" altLang="zh-CN" sz="2800" kern="100" dirty="0">
                <a:effectLst/>
                <a:latin typeface="微软雅黑" panose="020B0503020204020204" charset="-122"/>
                <a:ea typeface="微软雅黑" panose="020B0503020204020204" charset="-122"/>
              </a:rPr>
              <a:t>Multidimensional Scaling</a:t>
            </a:r>
            <a:r>
              <a:rPr lang="zh-CN" altLang="zh-CN" sz="2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MDS</a:t>
            </a:r>
            <a:r>
              <a:rPr lang="zh-CN" altLang="zh-CN" sz="2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）的基本思想是在尽可能保持数据点之间的相似性不变的前提下，将高维坐标的数据点投影到低维的坐标系中的一种降维方法。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BCB18-4F45-4C8A-AFBE-7532E75D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CE6DE576-A5E8-BAE9-9C2B-FAA6A27E8D08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多维尺度变换基本思想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25D9D2C-2E72-7818-FE0D-D7ABC930CDA4}"/>
              </a:ext>
            </a:extLst>
          </p:cNvPr>
          <p:cNvGrpSpPr/>
          <p:nvPr/>
        </p:nvGrpSpPr>
        <p:grpSpPr>
          <a:xfrm>
            <a:off x="875798" y="1788059"/>
            <a:ext cx="8093337" cy="541137"/>
            <a:chOff x="-1040874" y="3296115"/>
            <a:chExt cx="8093337" cy="541137"/>
          </a:xfrm>
        </p:grpSpPr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6AC168E6-6C07-DD82-3E41-2EEB8BDCF2F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33090" y="3369892"/>
            <a:ext cx="1592486" cy="467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877570" imgH="259080" progId="Equation.DSMT4">
                    <p:embed/>
                  </p:oleObj>
                </mc:Choice>
                <mc:Fallback>
                  <p:oleObj name="Equation" r:id="rId3" imgW="877570" imgH="259080" progId="Equation.DSMT4">
                    <p:embed/>
                    <p:pic>
                      <p:nvPicPr>
                        <p:cNvPr id="8" name="对象 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133090" y="3369892"/>
                          <a:ext cx="1592486" cy="46736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9B80575-DAA2-580A-E962-AB689CFE392C}"/>
                </a:ext>
              </a:extLst>
            </p:cNvPr>
            <p:cNvSpPr txBox="1"/>
            <p:nvPr/>
          </p:nvSpPr>
          <p:spPr>
            <a:xfrm>
              <a:off x="-1040874" y="3369892"/>
              <a:ext cx="698348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kern="100" dirty="0">
                  <a:effectLst/>
                  <a:latin typeface="微软雅黑" panose="020B0503020204020204" charset="-122"/>
                  <a:ea typeface="微软雅黑" panose="020B0503020204020204" charset="-122"/>
                </a:rPr>
                <a:t>高维空间中有</a:t>
              </a:r>
              <a:r>
                <a:rPr lang="en-US" altLang="zh-CN" sz="2000" i="1" kern="100" dirty="0">
                  <a:effectLst/>
                  <a:latin typeface="微软雅黑" panose="020B0503020204020204" charset="-122"/>
                  <a:ea typeface="微软雅黑" panose="020B0503020204020204" charset="-122"/>
                </a:rPr>
                <a:t>N </a:t>
              </a:r>
              <a:r>
                <a:rPr lang="zh-CN" altLang="zh-CN" sz="2000" kern="100" dirty="0">
                  <a:effectLst/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个数据点的</a:t>
              </a:r>
              <a:r>
                <a:rPr lang="zh-CN" altLang="zh-CN" sz="2000" kern="100" dirty="0">
                  <a:solidFill>
                    <a:schemeClr val="accent1">
                      <a:lumMod val="7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距离</a:t>
              </a:r>
              <a:r>
                <a:rPr lang="zh-CN" altLang="zh-CN" sz="2000" kern="100" dirty="0">
                  <a:effectLst/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矩阵</a:t>
              </a:r>
              <a:r>
                <a:rPr lang="en-US" altLang="zh-CN" sz="2000" kern="100" dirty="0">
                  <a:effectLst/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                      ,</a:t>
              </a:r>
              <a:r>
                <a:rPr lang="zh-CN" altLang="en-US" sz="2000" kern="100" dirty="0">
                  <a:effectLst/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rPr>
                <a:t>其中</a:t>
              </a:r>
              <a:endParaRPr lang="zh-CN" altLang="en-US" sz="2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81B36716-9570-778E-BD85-A6618442AEE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2000033"/>
                </p:ext>
              </p:extLst>
            </p:nvPr>
          </p:nvGraphicFramePr>
          <p:xfrm>
            <a:off x="5378948" y="3296115"/>
            <a:ext cx="1673515" cy="533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868680" imgH="277495" progId="Equation.DSMT4">
                    <p:embed/>
                  </p:oleObj>
                </mc:Choice>
                <mc:Fallback>
                  <p:oleObj name="Equation" r:id="rId5" imgW="868680" imgH="277495" progId="Equation.DSMT4">
                    <p:embed/>
                    <p:pic>
                      <p:nvPicPr>
                        <p:cNvPr id="12" name="对象 1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378948" y="3296115"/>
                          <a:ext cx="1673515" cy="53331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274E7FDC-92FE-779E-C8AA-67A9A94ADDDB}"/>
              </a:ext>
            </a:extLst>
          </p:cNvPr>
          <p:cNvSpPr txBox="1"/>
          <p:nvPr/>
        </p:nvSpPr>
        <p:spPr>
          <a:xfrm>
            <a:off x="875798" y="245159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低维空间中的数据矩阵为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394B5AFB-9AEB-993F-FE47-F6C57CE702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9394709"/>
              </p:ext>
            </p:extLst>
          </p:nvPr>
        </p:nvGraphicFramePr>
        <p:xfrm>
          <a:off x="3773019" y="2479645"/>
          <a:ext cx="1189037" cy="406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54380" imgH="259080" progId="Equation.DSMT4">
                  <p:embed/>
                </p:oleObj>
              </mc:Choice>
              <mc:Fallback>
                <p:oleObj name="Equation" r:id="rId7" imgW="754380" imgH="259080" progId="Equation.DSMT4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73019" y="2479645"/>
                        <a:ext cx="1189037" cy="4063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52751A98-CCC4-53EE-9903-9CD186B3A4C0}"/>
              </a:ext>
            </a:extLst>
          </p:cNvPr>
          <p:cNvSpPr txBox="1"/>
          <p:nvPr/>
        </p:nvSpPr>
        <p:spPr>
          <a:xfrm>
            <a:off x="4851162" y="248591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数据点的</a:t>
            </a:r>
            <a:r>
              <a:rPr lang="zh-CN" altLang="zh-C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内积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矩阵为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D15702ED-4103-0748-9E34-606DA376BC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9553514"/>
              </p:ext>
            </p:extLst>
          </p:nvPr>
        </p:nvGraphicFramePr>
        <p:xfrm>
          <a:off x="7499973" y="2485915"/>
          <a:ext cx="2002797" cy="422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20470" imgH="259080" progId="Equation.DSMT4">
                  <p:embed/>
                </p:oleObj>
              </mc:Choice>
              <mc:Fallback>
                <p:oleObj name="Equation" r:id="rId9" imgW="1220470" imgH="259080" progId="Equation.DSMT4">
                  <p:embed/>
                  <p:pic>
                    <p:nvPicPr>
                      <p:cNvPr id="21" name="对象 2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499973" y="2485915"/>
                        <a:ext cx="2002797" cy="4224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A3A40989-EFAA-690E-9A06-9168B583C32A}"/>
              </a:ext>
            </a:extLst>
          </p:cNvPr>
          <p:cNvSpPr txBox="1"/>
          <p:nvPr/>
        </p:nvSpPr>
        <p:spPr>
          <a:xfrm>
            <a:off x="484806" y="3139437"/>
            <a:ext cx="10468130" cy="16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kern="100" dirty="0">
                <a:effectLst/>
                <a:latin typeface="微软雅黑" panose="020B0503020204020204" charset="-122"/>
                <a:ea typeface="微软雅黑" panose="020B0503020204020204" charset="-122"/>
              </a:rPr>
              <a:t>      MDS</a:t>
            </a:r>
            <a:r>
              <a:rPr lang="zh-CN" altLang="zh-CN" sz="24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的目的是在</a:t>
            </a:r>
            <a:r>
              <a:rPr lang="zh-CN" altLang="zh-CN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不改变数据点间距离的前提</a:t>
            </a:r>
            <a:r>
              <a:rPr lang="zh-CN" altLang="zh-CN" sz="24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下，从距离集合中重构出数据集的坐标表示，实现数据降维，即</a:t>
            </a:r>
            <a:r>
              <a:rPr lang="en-US" altLang="zh-CN" sz="2400" i="1" kern="100" dirty="0">
                <a:effectLst/>
                <a:latin typeface="微软雅黑" panose="020B0503020204020204" charset="-122"/>
                <a:ea typeface="微软雅黑" panose="020B0503020204020204" charset="-122"/>
              </a:rPr>
              <a:t>k</a:t>
            </a:r>
            <a:r>
              <a:rPr lang="zh-CN" altLang="zh-CN" sz="24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维空间中任意两个数据点的距离等于高维空间的距离</a:t>
            </a:r>
            <a:r>
              <a:rPr lang="zh-CN" altLang="en-US" sz="24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9AA45E69-6F94-2DA6-E5E4-8C10848BF4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0598677"/>
              </p:ext>
            </p:extLst>
          </p:nvPr>
        </p:nvGraphicFramePr>
        <p:xfrm>
          <a:off x="4410582" y="4504044"/>
          <a:ext cx="1908175" cy="651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10895" imgH="277495" progId="Equation.DSMT4">
                  <p:embed/>
                </p:oleObj>
              </mc:Choice>
              <mc:Fallback>
                <p:oleObj name="Equation" r:id="rId11" imgW="810895" imgH="277495" progId="Equation.DSMT4">
                  <p:embed/>
                  <p:pic>
                    <p:nvPicPr>
                      <p:cNvPr id="25" name="对象 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10582" y="4504044"/>
                        <a:ext cx="1908175" cy="6510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848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多维尺度变换公式推导</a:t>
            </a: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418809"/>
              </p:ext>
            </p:extLst>
          </p:nvPr>
        </p:nvGraphicFramePr>
        <p:xfrm>
          <a:off x="4821839" y="1805714"/>
          <a:ext cx="1859473" cy="634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10895" imgH="277495" progId="Equation.DSMT4">
                  <p:embed/>
                </p:oleObj>
              </mc:Choice>
              <mc:Fallback>
                <p:oleObj name="Equation" r:id="rId3" imgW="810895" imgH="277495" progId="Equation.DSMT4">
                  <p:embed/>
                  <p:pic>
                    <p:nvPicPr>
                      <p:cNvPr id="0" name="对象 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21839" y="1805714"/>
                        <a:ext cx="1859473" cy="6344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8569721"/>
              </p:ext>
            </p:extLst>
          </p:nvPr>
        </p:nvGraphicFramePr>
        <p:xfrm>
          <a:off x="3096752" y="3331296"/>
          <a:ext cx="5673674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11070" imgH="554990" progId="Equation.DSMT4">
                  <p:embed/>
                </p:oleObj>
              </mc:Choice>
              <mc:Fallback>
                <p:oleObj name="Equation" r:id="rId5" imgW="2211070" imgH="55499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96752" y="3331296"/>
                        <a:ext cx="5673674" cy="1014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5627725"/>
              </p:ext>
            </p:extLst>
          </p:nvPr>
        </p:nvGraphicFramePr>
        <p:xfrm>
          <a:off x="4330549" y="5148216"/>
          <a:ext cx="2439549" cy="711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72870" imgH="400685" progId="Equation.DSMT4">
                  <p:embed/>
                </p:oleObj>
              </mc:Choice>
              <mc:Fallback>
                <p:oleObj name="Equation" r:id="rId7" imgW="1372870" imgH="400685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30549" y="5148216"/>
                        <a:ext cx="2439549" cy="7115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箭头: 右 8"/>
          <p:cNvSpPr/>
          <p:nvPr/>
        </p:nvSpPr>
        <p:spPr>
          <a:xfrm rot="5400000">
            <a:off x="5483194" y="2830162"/>
            <a:ext cx="536761" cy="1110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8">
            <a:extLst>
              <a:ext uri="{FF2B5EF4-FFF2-40B4-BE49-F238E27FC236}">
                <a16:creationId xmlns:a16="http://schemas.microsoft.com/office/drawing/2014/main" id="{0789BD3D-66BD-70DC-3BDF-E221D04C715F}"/>
              </a:ext>
            </a:extLst>
          </p:cNvPr>
          <p:cNvSpPr/>
          <p:nvPr/>
        </p:nvSpPr>
        <p:spPr>
          <a:xfrm rot="5400000">
            <a:off x="5483194" y="4824289"/>
            <a:ext cx="536761" cy="1110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38602-67B6-D944-8BBE-49BFB7CC1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E7DEC54C-25CF-6642-3A1D-637FB3A97E32}"/>
              </a:ext>
            </a:extLst>
          </p:cNvPr>
          <p:cNvSpPr/>
          <p:nvPr/>
        </p:nvSpPr>
        <p:spPr>
          <a:xfrm>
            <a:off x="705702" y="2919333"/>
            <a:ext cx="3006634" cy="21113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6">
            <a:extLst>
              <a:ext uri="{FF2B5EF4-FFF2-40B4-BE49-F238E27FC236}">
                <a16:creationId xmlns:a16="http://schemas.microsoft.com/office/drawing/2014/main" id="{04126FE7-3A87-0312-0F5B-AB649482F816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多维尺度变换公式推导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2D33324-FCEE-587C-7293-417555FD27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4400408"/>
              </p:ext>
            </p:extLst>
          </p:nvPr>
        </p:nvGraphicFramePr>
        <p:xfrm>
          <a:off x="6272425" y="2291152"/>
          <a:ext cx="3930631" cy="822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49780" imgH="429895" progId="Equation.DSMT4">
                  <p:embed/>
                </p:oleObj>
              </mc:Choice>
              <mc:Fallback>
                <p:oleObj name="Equation" r:id="rId3" imgW="2049780" imgH="429895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72425" y="2291152"/>
                        <a:ext cx="3930631" cy="8226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DF4EB4B0-A0B9-2A34-3B7E-C3B5ACE7F1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5530472"/>
              </p:ext>
            </p:extLst>
          </p:nvPr>
        </p:nvGraphicFramePr>
        <p:xfrm>
          <a:off x="6154795" y="5010749"/>
          <a:ext cx="2606357" cy="935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49680" imgH="449580" progId="Equation.DSMT4">
                  <p:embed/>
                </p:oleObj>
              </mc:Choice>
              <mc:Fallback>
                <p:oleObj name="Equation" r:id="rId5" imgW="1249680" imgH="44958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54795" y="5010749"/>
                        <a:ext cx="2606357" cy="9351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D4616C5B-2E63-8ED8-EBC6-84C136D079E2}"/>
              </a:ext>
            </a:extLst>
          </p:cNvPr>
          <p:cNvSpPr txBox="1"/>
          <p:nvPr/>
        </p:nvSpPr>
        <p:spPr>
          <a:xfrm>
            <a:off x="7310125" y="4458270"/>
            <a:ext cx="1366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求和得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8F5927B-D97D-34A0-4D7B-CD61F8383BB9}"/>
              </a:ext>
            </a:extLst>
          </p:cNvPr>
          <p:cNvSpPr txBox="1"/>
          <p:nvPr/>
        </p:nvSpPr>
        <p:spPr>
          <a:xfrm>
            <a:off x="329672" y="2098858"/>
            <a:ext cx="2074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由于数据 </a:t>
            </a:r>
            <a:r>
              <a:rPr lang="en-US" altLang="zh-CN" b="1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Z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满足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95EDF87E-17EA-389C-A062-7678E932A4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6217067"/>
              </p:ext>
            </p:extLst>
          </p:nvPr>
        </p:nvGraphicFramePr>
        <p:xfrm>
          <a:off x="2109581" y="1920309"/>
          <a:ext cx="977404" cy="758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54990" imgH="429895" progId="Equation.DSMT4">
                  <p:embed/>
                </p:oleObj>
              </mc:Choice>
              <mc:Fallback>
                <p:oleObj name="Equation" r:id="rId7" imgW="554990" imgH="429895" progId="Equation.DSMT4">
                  <p:embed/>
                  <p:pic>
                    <p:nvPicPr>
                      <p:cNvPr id="19" name="对象 1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09581" y="1920309"/>
                        <a:ext cx="977404" cy="758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8A768BA6-B6DA-3A1C-D864-2B60E1E758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951736"/>
              </p:ext>
            </p:extLst>
          </p:nvPr>
        </p:nvGraphicFramePr>
        <p:xfrm>
          <a:off x="1105499" y="3008390"/>
          <a:ext cx="2388251" cy="1778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06360" imgH="888840" progId="Equation.DSMT4">
                  <p:embed/>
                </p:oleObj>
              </mc:Choice>
              <mc:Fallback>
                <p:oleObj name="Equation" r:id="rId9" imgW="1206360" imgH="888840" progId="Equation.DSMT4">
                  <p:embed/>
                  <p:pic>
                    <p:nvPicPr>
                      <p:cNvPr id="22" name="对象 2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05499" y="3008390"/>
                        <a:ext cx="2388251" cy="1778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6">
            <a:extLst>
              <a:ext uri="{FF2B5EF4-FFF2-40B4-BE49-F238E27FC236}">
                <a16:creationId xmlns:a16="http://schemas.microsoft.com/office/drawing/2014/main" id="{AC97389F-AA4E-404E-2774-AE025A091798}"/>
              </a:ext>
            </a:extLst>
          </p:cNvPr>
          <p:cNvSpPr txBox="1"/>
          <p:nvPr/>
        </p:nvSpPr>
        <p:spPr>
          <a:xfrm>
            <a:off x="2974581" y="2065403"/>
            <a:ext cx="1366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，则有：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8CE2A03-189C-D945-C5CF-644FB7657E4B}"/>
              </a:ext>
            </a:extLst>
          </p:cNvPr>
          <p:cNvSpPr txBox="1"/>
          <p:nvPr/>
        </p:nvSpPr>
        <p:spPr>
          <a:xfrm>
            <a:off x="4591574" y="2457668"/>
            <a:ext cx="18318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矩阵 </a:t>
            </a:r>
            <a:r>
              <a:rPr lang="en-US" altLang="zh-CN" sz="24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B </a:t>
            </a:r>
            <a:r>
              <a:rPr lang="zh-CN" altLang="zh-CN" sz="24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的迹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D58CE630-E337-AC80-53A6-D89293604CDF}"/>
              </a:ext>
            </a:extLst>
          </p:cNvPr>
          <p:cNvSpPr/>
          <p:nvPr/>
        </p:nvSpPr>
        <p:spPr>
          <a:xfrm rot="5400000">
            <a:off x="6643485" y="4637335"/>
            <a:ext cx="402640" cy="1625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D1F8892A-0A8B-F0E4-6613-762C7F8AD3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9304532"/>
              </p:ext>
            </p:extLst>
          </p:nvPr>
        </p:nvGraphicFramePr>
        <p:xfrm>
          <a:off x="5281589" y="3459783"/>
          <a:ext cx="5329282" cy="82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8884800" imgH="10668000" progId="Equation.DSMT4">
                  <p:embed/>
                </p:oleObj>
              </mc:Choice>
              <mc:Fallback>
                <p:oleObj name="Equation" r:id="rId11" imgW="68884800" imgH="10668000" progId="Equation.DSMT4">
                  <p:embed/>
                  <p:pic>
                    <p:nvPicPr>
                      <p:cNvPr id="38" name="对象 3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81589" y="3459783"/>
                        <a:ext cx="5329282" cy="823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90A984C6-77A9-7BE4-E3E5-13E7810FD65C}"/>
              </a:ext>
            </a:extLst>
          </p:cNvPr>
          <p:cNvSpPr txBox="1"/>
          <p:nvPr/>
        </p:nvSpPr>
        <p:spPr>
          <a:xfrm>
            <a:off x="5600376" y="2999660"/>
            <a:ext cx="554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令</a:t>
            </a:r>
            <a:r>
              <a:rPr lang="zh-CN" altLang="en-US" dirty="0"/>
              <a:t>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A0B6F87-EF61-B45C-CC7F-02A4E172DB12}"/>
              </a:ext>
            </a:extLst>
          </p:cNvPr>
          <p:cNvSpPr txBox="1"/>
          <p:nvPr/>
        </p:nvSpPr>
        <p:spPr>
          <a:xfrm>
            <a:off x="4591574" y="179264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数据点的</a:t>
            </a:r>
            <a:r>
              <a:rPr lang="zh-CN" altLang="zh-CN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内积</a:t>
            </a:r>
            <a:r>
              <a:rPr lang="zh-CN" altLang="zh-CN" sz="24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矩阵为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D763AAB-2F67-807E-304D-8B8D85C861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9171162"/>
              </p:ext>
            </p:extLst>
          </p:nvPr>
        </p:nvGraphicFramePr>
        <p:xfrm>
          <a:off x="7451498" y="1815922"/>
          <a:ext cx="2260214" cy="4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002829" imgH="422295" progId="Equation.DSMT4">
                  <p:embed/>
                </p:oleObj>
              </mc:Choice>
              <mc:Fallback>
                <p:oleObj name="Equation" r:id="rId13" imgW="2002829" imgH="42229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451498" y="1815922"/>
                        <a:ext cx="2260214" cy="47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箭头: 上弧形 11">
            <a:extLst>
              <a:ext uri="{FF2B5EF4-FFF2-40B4-BE49-F238E27FC236}">
                <a16:creationId xmlns:a16="http://schemas.microsoft.com/office/drawing/2014/main" id="{9C1BDEF7-DE27-EE62-A104-9904D29727A0}"/>
              </a:ext>
            </a:extLst>
          </p:cNvPr>
          <p:cNvSpPr/>
          <p:nvPr/>
        </p:nvSpPr>
        <p:spPr>
          <a:xfrm rot="5400000">
            <a:off x="10247452" y="2097873"/>
            <a:ext cx="584761" cy="385339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574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C6547-39CA-63C6-C0B9-58FEA7E34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F64D6D28-AD21-8DA3-9727-700B656DE7AB}"/>
              </a:ext>
            </a:extLst>
          </p:cNvPr>
          <p:cNvSpPr/>
          <p:nvPr/>
        </p:nvSpPr>
        <p:spPr>
          <a:xfrm>
            <a:off x="2115838" y="4818722"/>
            <a:ext cx="7224544" cy="80229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6">
            <a:extLst>
              <a:ext uri="{FF2B5EF4-FFF2-40B4-BE49-F238E27FC236}">
                <a16:creationId xmlns:a16="http://schemas.microsoft.com/office/drawing/2014/main" id="{2CFB9AB3-26FC-6F1F-1DAD-E53426869509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多维尺度变换公式推导</a:t>
            </a:r>
          </a:p>
        </p:txBody>
      </p: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58F48F7C-396A-488E-0AE7-D375E715EA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2405115"/>
              </p:ext>
            </p:extLst>
          </p:nvPr>
        </p:nvGraphicFramePr>
        <p:xfrm>
          <a:off x="4422410" y="2008260"/>
          <a:ext cx="3627400" cy="2437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01495" imgH="1211580" progId="Equation.DSMT4">
                  <p:embed/>
                </p:oleObj>
              </mc:Choice>
              <mc:Fallback>
                <p:oleObj name="Equation" r:id="rId3" imgW="1801495" imgH="1211580" progId="Equation.DSMT4">
                  <p:embed/>
                  <p:pic>
                    <p:nvPicPr>
                      <p:cNvPr id="40" name="对象 3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22410" y="2008260"/>
                        <a:ext cx="3627400" cy="24374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文本框 40">
            <a:extLst>
              <a:ext uri="{FF2B5EF4-FFF2-40B4-BE49-F238E27FC236}">
                <a16:creationId xmlns:a16="http://schemas.microsoft.com/office/drawing/2014/main" id="{E5A31C7C-F17C-A1CD-D98D-85E393C5ABB5}"/>
              </a:ext>
            </a:extLst>
          </p:cNvPr>
          <p:cNvSpPr txBox="1"/>
          <p:nvPr/>
        </p:nvSpPr>
        <p:spPr>
          <a:xfrm>
            <a:off x="2735916" y="2235052"/>
            <a:ext cx="1686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最终得到：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E2D2F05-FA77-BD14-80D9-9694A025533B}"/>
              </a:ext>
            </a:extLst>
          </p:cNvPr>
          <p:cNvSpPr txBox="1"/>
          <p:nvPr/>
        </p:nvSpPr>
        <p:spPr>
          <a:xfrm>
            <a:off x="2227915" y="4920111"/>
            <a:ext cx="73043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内积矩阵</a:t>
            </a:r>
            <a:r>
              <a:rPr lang="en-US" altLang="zh-CN" sz="24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B</a:t>
            </a:r>
            <a:r>
              <a:rPr lang="zh-CN" altLang="zh-CN" sz="24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可以通过高维空间的距离矩阵</a:t>
            </a:r>
            <a:r>
              <a:rPr lang="en-US" altLang="zh-CN" sz="24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D</a:t>
            </a:r>
            <a:r>
              <a:rPr lang="zh-CN" altLang="en-US" sz="24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求解得到</a:t>
            </a:r>
            <a:r>
              <a:rPr lang="zh-CN" altLang="en-US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！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140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多维尺度变换公式推导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6768738"/>
              </p:ext>
            </p:extLst>
          </p:nvPr>
        </p:nvGraphicFramePr>
        <p:xfrm>
          <a:off x="5279809" y="2462430"/>
          <a:ext cx="1632381" cy="476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87070" imgH="201295" progId="Equation.DSMT4">
                  <p:embed/>
                </p:oleObj>
              </mc:Choice>
              <mc:Fallback>
                <p:oleObj name="Equation" r:id="rId3" imgW="687070" imgH="201295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79809" y="2462430"/>
                        <a:ext cx="1632381" cy="4761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995423" y="1634125"/>
            <a:ext cx="6111481" cy="505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得到内存矩阵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后，对内积矩阵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进行特征值分解</a:t>
            </a:r>
            <a:r>
              <a:rPr lang="zh-CN" altLang="en-US" sz="2000" dirty="0"/>
              <a:t>：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69539" y="3451655"/>
            <a:ext cx="11238446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  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若将原始数据降维到</a:t>
            </a:r>
            <a:r>
              <a:rPr lang="en-US" altLang="zh-CN" sz="2000" i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k 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维空间，那么从大到小选择前</a:t>
            </a:r>
            <a:r>
              <a:rPr lang="en-US" altLang="zh-CN" sz="2000" i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k 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个非零特征值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，最终得到</a:t>
            </a:r>
            <a:endParaRPr lang="en-US" altLang="zh-CN" sz="20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降维后得到</a:t>
            </a:r>
            <a:r>
              <a:rPr lang="en-US" altLang="zh-CN" sz="2000" i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k</a:t>
            </a:r>
            <a:r>
              <a:rPr lang="en-US" altLang="zh-CN" sz="2000" i="1" kern="100" dirty="0">
                <a:effectLst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维空间中的点集坐标矩阵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1450042"/>
              </p:ext>
            </p:extLst>
          </p:nvPr>
        </p:nvGraphicFramePr>
        <p:xfrm>
          <a:off x="3362646" y="4645282"/>
          <a:ext cx="5466708" cy="578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12390" imgH="277495" progId="Equation.DSMT4">
                  <p:embed/>
                </p:oleObj>
              </mc:Choice>
              <mc:Fallback>
                <p:oleObj name="Equation" r:id="rId5" imgW="2612390" imgH="277495" progId="Equation.DSMT4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62646" y="4645282"/>
                        <a:ext cx="5466708" cy="5785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5BFD0-D582-3939-9C89-67E275CA6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358A91DE-F307-3354-9E6F-85910948DD5B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多维尺度变换公式推导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CA7E983-C610-AE31-DB3A-0AFC3511C11A}"/>
              </a:ext>
            </a:extLst>
          </p:cNvPr>
          <p:cNvSpPr txBox="1"/>
          <p:nvPr/>
        </p:nvSpPr>
        <p:spPr>
          <a:xfrm>
            <a:off x="528127" y="1676533"/>
            <a:ext cx="10952480" cy="3504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zh-CN" sz="2400" kern="100" dirty="0">
                <a:effectLst/>
                <a:latin typeface="微软雅黑" panose="020B0503020204020204" charset="-122"/>
                <a:ea typeface="微软雅黑" panose="020B0503020204020204" charset="-122"/>
              </a:rPr>
              <a:t>  MDS</a:t>
            </a:r>
            <a:r>
              <a:rPr lang="zh-CN" altLang="zh-CN" sz="24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算法是一种非参数化的降维方法。能够有效地保留数据的全局结构，使得降维后的数据布局反映原始数据的相似性和差异性。</a:t>
            </a:r>
            <a:r>
              <a:rPr lang="en-US" altLang="zh-CN" sz="2400" kern="100" dirty="0">
                <a:effectLst/>
                <a:latin typeface="微软雅黑" panose="020B0503020204020204" charset="-122"/>
                <a:ea typeface="微软雅黑" panose="020B0503020204020204" charset="-122"/>
              </a:rPr>
              <a:t>MDS</a:t>
            </a:r>
            <a:r>
              <a:rPr lang="zh-CN" altLang="zh-CN" sz="24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算法处理数据速度快且无需进行参数的调整。</a:t>
            </a:r>
            <a:endParaRPr lang="en-US" altLang="zh-CN" sz="2400" kern="10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108000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zh-CN" sz="24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</a:t>
            </a:r>
            <a:r>
              <a:rPr lang="zh-CN" altLang="zh-CN" sz="24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但</a:t>
            </a:r>
            <a:r>
              <a:rPr lang="en-US" altLang="zh-CN" sz="2400" kern="100" dirty="0">
                <a:effectLst/>
                <a:latin typeface="微软雅黑" panose="020B0503020204020204" charset="-122"/>
                <a:ea typeface="微软雅黑" panose="020B0503020204020204" charset="-122"/>
              </a:rPr>
              <a:t>MDS</a:t>
            </a:r>
            <a:r>
              <a:rPr lang="zh-CN" altLang="zh-CN" sz="24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算法使用的前提是原始数据集为线性的，即数据点之间的距离可以用线性函数表示，采用欧式距离作为数据点之间的距离度量，这使得</a:t>
            </a:r>
            <a:r>
              <a:rPr lang="en-US" altLang="zh-CN" sz="2400" kern="100" dirty="0">
                <a:effectLst/>
                <a:latin typeface="微软雅黑" panose="020B0503020204020204" charset="-122"/>
                <a:ea typeface="微软雅黑" panose="020B0503020204020204" charset="-122"/>
              </a:rPr>
              <a:t>MDS</a:t>
            </a:r>
            <a:r>
              <a:rPr lang="zh-CN" altLang="zh-CN" sz="24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算法在处理非线性数据时可能效果不佳。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5032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1077206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实践案例：基于多维尺度变换的人脸数据集降维</a:t>
            </a:r>
          </a:p>
          <a:p>
            <a:endParaRPr lang="zh-CN" altLang="en-US" sz="320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20614" y="3908065"/>
            <a:ext cx="10537277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fontAlgn="auto">
              <a:lnSpc>
                <a:spcPct val="150000"/>
              </a:lnSpc>
              <a:tabLst>
                <a:tab pos="304800" algn="l"/>
              </a:tabLst>
            </a:pP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模型构建。</a:t>
            </a:r>
            <a:r>
              <a:rPr lang="zh-CN" altLang="zh-CN" sz="1800" kern="100" dirty="0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在</a:t>
            </a:r>
            <a:r>
              <a:rPr lang="en-US" altLang="zh-CN" sz="1800" kern="100" dirty="0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Python</a:t>
            </a:r>
            <a:r>
              <a:rPr lang="zh-CN" altLang="zh-CN" sz="1800" kern="100" dirty="0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中，</a:t>
            </a:r>
            <a:r>
              <a:rPr lang="en-US" altLang="zh-CN" sz="1800" kern="100" dirty="0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MDS</a:t>
            </a:r>
            <a:r>
              <a:rPr lang="zh-CN" altLang="zh-CN" sz="1800" kern="100" dirty="0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算法可以通过调用</a:t>
            </a:r>
            <a:r>
              <a:rPr lang="en-US" altLang="zh-CN" sz="1800" kern="100" dirty="0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Scikit-learn</a:t>
            </a:r>
            <a:r>
              <a:rPr lang="zh-CN" altLang="zh-CN" sz="1800" kern="100" dirty="0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库中的</a:t>
            </a:r>
            <a:r>
              <a:rPr lang="en-US" altLang="zh-CN" sz="1800" kern="100" dirty="0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manifold</a:t>
            </a:r>
            <a:r>
              <a:rPr lang="zh-CN" altLang="zh-CN" sz="1800" kern="100" dirty="0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模块的</a:t>
            </a:r>
            <a:r>
              <a:rPr lang="en-US" altLang="zh-CN" sz="1800" kern="100" dirty="0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MDS</a:t>
            </a:r>
            <a:r>
              <a:rPr lang="zh-CN" altLang="zh-CN" sz="1800" kern="100" dirty="0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函数实现。首先创建</a:t>
            </a:r>
            <a:r>
              <a:rPr lang="en-US" altLang="zh-CN" sz="1800" kern="100" dirty="0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MDS</a:t>
            </a:r>
            <a:r>
              <a:rPr lang="zh-CN" altLang="zh-CN" sz="1800" kern="100" dirty="0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对象并设置参数，然后通过调用</a:t>
            </a:r>
            <a:r>
              <a:rPr lang="en-US" altLang="zh-CN" sz="1800" kern="100" dirty="0" err="1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fit_transform</a:t>
            </a:r>
            <a:r>
              <a:rPr lang="zh-CN" altLang="zh-CN" sz="1800" kern="100" dirty="0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方法拟合数据并进行降维。</a:t>
            </a:r>
            <a:endParaRPr lang="zh-CN" altLang="zh-CN" sz="18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66" y="4835267"/>
            <a:ext cx="8833567" cy="549807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420614" y="5631314"/>
            <a:ext cx="10775326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参数调整。</a:t>
            </a:r>
            <a:r>
              <a:rPr lang="en-US" altLang="zh-CN" sz="1800" kern="100" dirty="0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MDS</a:t>
            </a:r>
            <a:r>
              <a:rPr lang="zh-CN" altLang="zh-CN" sz="1800" kern="100" dirty="0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类的参数“</a:t>
            </a:r>
            <a:r>
              <a:rPr lang="en-US" altLang="zh-CN" sz="1800" kern="100" dirty="0" err="1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n_components</a:t>
            </a:r>
            <a:r>
              <a:rPr lang="zh-CN" altLang="zh-CN" sz="1800" kern="100" dirty="0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”表示嵌入空间的维数，默认值为</a:t>
            </a:r>
            <a:r>
              <a:rPr lang="en-US" altLang="zh-CN" sz="1800" kern="100" dirty="0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zh-CN" sz="1800" kern="100" dirty="0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；参数“</a:t>
            </a:r>
            <a:r>
              <a:rPr lang="en-US" altLang="zh-CN" sz="1800" kern="100" dirty="0" err="1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metri</a:t>
            </a:r>
            <a:r>
              <a:rPr lang="zh-CN" altLang="zh-CN" sz="1800" kern="100" dirty="0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”表示用于计算距离矩阵的距离度量，默认取值‘</a:t>
            </a:r>
            <a:r>
              <a:rPr lang="en-US" altLang="zh-CN" sz="1800" kern="100" dirty="0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True</a:t>
            </a:r>
            <a:r>
              <a:rPr lang="zh-CN" altLang="zh-CN" sz="1800" kern="100" dirty="0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’表示执行度量</a:t>
            </a:r>
            <a:r>
              <a:rPr lang="en-US" altLang="zh-CN" sz="1800" kern="100" dirty="0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MDS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DE9E642-7E48-D8D9-35CE-00406673D165}"/>
              </a:ext>
            </a:extLst>
          </p:cNvPr>
          <p:cNvSpPr txBox="1"/>
          <p:nvPr/>
        </p:nvSpPr>
        <p:spPr>
          <a:xfrm>
            <a:off x="589252" y="1353820"/>
            <a:ext cx="5415115" cy="17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  <a:spcBef>
                <a:spcPts val="600"/>
              </a:spcBef>
              <a:tabLst>
                <a:tab pos="304800" algn="l"/>
              </a:tabLst>
            </a:pPr>
            <a:r>
              <a:rPr lang="en-US" altLang="zh-CN" sz="1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Scikit-learn</a:t>
            </a:r>
            <a:r>
              <a:rPr lang="zh-CN" altLang="zh-CN" sz="18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中内置数据集——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Olivetti Faces(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人脸数据库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共有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40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个志愿者的不同表情和光照条件下的人脸照片。为了更好地演示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MDS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的降维效果，下面分析过程只处理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5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个人的数据。</a:t>
            </a:r>
            <a:endParaRPr lang="zh-CN" altLang="zh-CN" sz="18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5A768BB-AB17-E696-3E97-B9BF8EF9E1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463" y="864044"/>
            <a:ext cx="4228848" cy="29209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/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二、主要线性降维算法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t="27064"/>
          <a:stretch>
            <a:fillRect/>
          </a:stretch>
        </p:blipFill>
        <p:spPr>
          <a:xfrm>
            <a:off x="6383056" y="993458"/>
            <a:ext cx="3987993" cy="27487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056" y="3742178"/>
            <a:ext cx="4114671" cy="3001801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69684" y="4890700"/>
            <a:ext cx="54508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kern="100" dirty="0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MDS</a:t>
            </a:r>
            <a:r>
              <a:rPr lang="zh-CN" altLang="zh-CN" sz="2000" kern="100" dirty="0">
                <a:solidFill>
                  <a:srgbClr val="01010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算法在二维空间中展示了不同人脸数据点的分布情况，不同的人脸被表示为不同的点，颜色以及编码代表不同的人物类别</a:t>
            </a:r>
            <a:r>
              <a:rPr lang="zh-CN" altLang="en-US" sz="2000" kern="100" dirty="0">
                <a:solidFill>
                  <a:srgbClr val="01010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743F88B-EBD3-A6E4-ABFF-BBC1707BFF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7430" y="1582869"/>
            <a:ext cx="3855348" cy="2879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035ED6-ED79-6653-E473-3F5FCA3CC077}"/>
              </a:ext>
            </a:extLst>
          </p:cNvPr>
          <p:cNvSpPr txBox="1">
            <a:spLocks/>
          </p:cNvSpPr>
          <p:nvPr/>
        </p:nvSpPr>
        <p:spPr>
          <a:xfrm>
            <a:off x="2974694" y="2267379"/>
            <a:ext cx="7326776" cy="1352550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dist"/>
            <a:r>
              <a:rPr lang="zh-CN" altLang="en-US" b="0" dirty="0">
                <a:solidFill>
                  <a:schemeClr val="bg1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恳请批评指正！</a:t>
            </a:r>
            <a:endParaRPr lang="en-US" b="0" dirty="0">
              <a:solidFill>
                <a:schemeClr val="bg1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353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1723</TotalTime>
  <Words>901</Words>
  <Application>Microsoft Office PowerPoint</Application>
  <PresentationFormat>宽屏</PresentationFormat>
  <Paragraphs>47</Paragraphs>
  <Slides>11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等线</vt:lpstr>
      <vt:lpstr>华光综艺_CNKI</vt:lpstr>
      <vt:lpstr>微软雅黑</vt:lpstr>
      <vt:lpstr>Arial</vt:lpstr>
      <vt:lpstr>Calibri</vt:lpstr>
      <vt:lpstr>Times New Roman</vt:lpstr>
      <vt:lpstr>Wingdings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wy h</dc:creator>
  <cp:lastModifiedBy>Mengning Wang</cp:lastModifiedBy>
  <cp:revision>186</cp:revision>
  <dcterms:created xsi:type="dcterms:W3CDTF">2019-06-19T02:08:00Z</dcterms:created>
  <dcterms:modified xsi:type="dcterms:W3CDTF">2025-04-18T15:18:29Z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2052-12.1.0.18912</vt:lpwstr>
  </property>
  <property fmtid="{D5CDD505-2E9C-101B-9397-08002B2CF9AE}" pid="3" name="ICV">
    <vt:lpwstr>290520E9665F40D5BBE3CCA2763F3BF4_11</vt:lpwstr>
  </property>
</Properties>
</file>