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15638" r:id="rId2"/>
    <p:sldId id="384" r:id="rId3"/>
    <p:sldId id="385" r:id="rId4"/>
    <p:sldId id="15728" r:id="rId5"/>
    <p:sldId id="386" r:id="rId6"/>
    <p:sldId id="15727" r:id="rId7"/>
    <p:sldId id="15729" r:id="rId8"/>
    <p:sldId id="15730" r:id="rId9"/>
    <p:sldId id="15731" r:id="rId10"/>
    <p:sldId id="15720" r:id="rId11"/>
    <p:sldId id="15716" r:id="rId12"/>
    <p:sldId id="15719" r:id="rId13"/>
    <p:sldId id="389" r:id="rId14"/>
    <p:sldId id="1550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3E35C62-3D39-4AB8-8AB7-59FFB5AA4980}">
          <p14:sldIdLst>
            <p14:sldId id="15638"/>
            <p14:sldId id="384"/>
            <p14:sldId id="385"/>
            <p14:sldId id="15728"/>
            <p14:sldId id="386"/>
            <p14:sldId id="15727"/>
            <p14:sldId id="15729"/>
            <p14:sldId id="15730"/>
            <p14:sldId id="15731"/>
            <p14:sldId id="15720"/>
            <p14:sldId id="15716"/>
            <p14:sldId id="15719"/>
            <p14:sldId id="389"/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76549" autoAdjust="0"/>
  </p:normalViewPr>
  <p:slideViewPr>
    <p:cSldViewPr snapToGrid="0" showGuides="1">
      <p:cViewPr varScale="1">
        <p:scale>
          <a:sx n="91" d="100"/>
          <a:sy n="91" d="100"/>
        </p:scale>
        <p:origin x="163" y="77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07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5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FCAD-915E-F8E0-7E90-C85B6713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7D5037-0862-57CB-9916-55F9ACD28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2DF842-6095-8C12-0546-5661739B9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660F06-9204-EC87-DA0F-CB7722D9C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910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8074-356F-3726-8164-2567222A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C19C3E-A60D-8A13-E482-56DE8F665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A8DC2F-7442-CE0E-23DF-0FB1BC550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CC217D-FB12-29BB-6B24-65914D5CE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89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AA54-CB5E-0577-FFEC-B8C53B6E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3DAD23-EABB-A77A-5247-214764B6B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B3A4A8-4A0C-602E-E7D7-7313A814B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A08B94-0F8E-9590-30A4-E43702C71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123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4A06-2E93-9343-3034-63C6CD96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F8784E-E512-6403-7D99-12C66D60D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4E7AA8-E8E3-93BA-339E-27A14EED7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3EED71-3FB2-14BA-A0CA-B7AD55E2D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781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CA17-8786-11CE-BBE9-60FF389B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B2307E-58AE-0978-B350-0767D3AA0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DE2195-7416-ABC4-C178-BDC53519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05AAA-BC70-FA96-78F6-D835497F2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9457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2E12-1388-402E-58F5-FFE462BF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C09744-20AD-141E-74A0-3D27668E4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245487-35E2-F829-C676-676BAD161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B5F282-CF1D-95C9-1A7D-2A088BCB9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6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D0B-5064-2AF9-7424-3F1097559AC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8.7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谱聚类</a:t>
            </a: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1430-035B-6683-0246-67382C48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BAABFFF-4A07-F1C5-8E83-7029A5EB9A85}"/>
              </a:ext>
            </a:extLst>
          </p:cNvPr>
          <p:cNvSpPr txBox="1"/>
          <p:nvPr/>
        </p:nvSpPr>
        <p:spPr>
          <a:xfrm>
            <a:off x="2118274" y="1482294"/>
            <a:ext cx="9771298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zh-CN" altLang="en-US" sz="20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谱聚类算法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是一种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基于图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的聚类方法，通过利用数据的谱（特征值）属性来进行聚类。该算法首先构建样本的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相似性矩阵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，然后创建代表样本相互关系的图，通过图的拉普拉斯矩阵进行特性分解，构建新的特征空间，最后使用传统聚类算法对特征空间进行聚类。</a:t>
            </a: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1D086B8B-A602-80BA-B33D-A6A01297B206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8C1C4813-159A-A286-2864-E4718993546D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ECF613A6-BC72-0A18-CF91-325E781DA7D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0033CE81-3E3A-5D7A-E561-BDF760CB2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6393FB8F-F410-F1AC-1737-401130DF1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28504AF-74CC-583A-29B4-F606719C0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340911"/>
              </p:ext>
            </p:extLst>
          </p:nvPr>
        </p:nvGraphicFramePr>
        <p:xfrm>
          <a:off x="722544" y="4599441"/>
          <a:ext cx="2921084" cy="1928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2146" imgH="1295327" progId="Equation.DSMT4">
                  <p:embed/>
                </p:oleObj>
              </mc:Choice>
              <mc:Fallback>
                <p:oleObj name="Equation" r:id="rId2" imgW="1962146" imgH="129532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2544" y="4599441"/>
                        <a:ext cx="2921084" cy="1928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55">
            <a:extLst>
              <a:ext uri="{FF2B5EF4-FFF2-40B4-BE49-F238E27FC236}">
                <a16:creationId xmlns:a16="http://schemas.microsoft.com/office/drawing/2014/main" id="{CA4E0C7F-3F3C-4EFA-A8C7-C79B3E1E0CA5}"/>
              </a:ext>
            </a:extLst>
          </p:cNvPr>
          <p:cNvSpPr/>
          <p:nvPr/>
        </p:nvSpPr>
        <p:spPr>
          <a:xfrm>
            <a:off x="166153" y="1665045"/>
            <a:ext cx="2077087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600">
              <a:defRPr/>
            </a:pPr>
            <a:r>
              <a:rPr lang="zh-CN" altLang="en-US" sz="2665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图基础知识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0BFE215F-D73A-7A00-41F5-BA3E2633B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094" y="4173471"/>
            <a:ext cx="7681883" cy="268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FF8FD36-E790-E882-51CA-9E4A96992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970" y="3357270"/>
            <a:ext cx="6923974" cy="118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2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44B9-681A-458B-C366-F0D3966E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55">
            <a:extLst>
              <a:ext uri="{FF2B5EF4-FFF2-40B4-BE49-F238E27FC236}">
                <a16:creationId xmlns:a16="http://schemas.microsoft.com/office/drawing/2014/main" id="{0A5F9EDB-A267-D5EA-34B2-DE2EE6236F7F}"/>
              </a:ext>
            </a:extLst>
          </p:cNvPr>
          <p:cNvSpPr/>
          <p:nvPr/>
        </p:nvSpPr>
        <p:spPr>
          <a:xfrm>
            <a:off x="166153" y="1665045"/>
            <a:ext cx="2077087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600">
              <a:defRPr/>
            </a:pPr>
            <a:r>
              <a:rPr lang="zh-CN" altLang="en-US" sz="2665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图基础知识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C62D3365-3ABD-008D-6477-0057E27D2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CD46408A-C512-F3DC-DAA8-189CE3FC3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B4A746-EFAC-BCDA-AEA1-4028972D4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42" y="1578388"/>
            <a:ext cx="9301137" cy="1390579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DB9F718-1AF6-4EBD-327B-92CD6F2CB4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112547"/>
              </p:ext>
            </p:extLst>
          </p:nvPr>
        </p:nvGraphicFramePr>
        <p:xfrm>
          <a:off x="649406" y="3341343"/>
          <a:ext cx="3611705" cy="2434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24169" imgH="1162122" progId="Equation.DSMT4">
                  <p:embed/>
                </p:oleObj>
              </mc:Choice>
              <mc:Fallback>
                <p:oleObj name="Equation" r:id="rId3" imgW="1724169" imgH="116212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9406" y="3341343"/>
                        <a:ext cx="3611705" cy="2434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6CC1A5D8-DB2C-1D68-F597-3A34DE837DA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655D099D-F09D-8DB3-A143-EB79FEE837C9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10" name="箭头: 五边形 11">
            <a:extLst>
              <a:ext uri="{FF2B5EF4-FFF2-40B4-BE49-F238E27FC236}">
                <a16:creationId xmlns:a16="http://schemas.microsoft.com/office/drawing/2014/main" id="{AA6B2521-B032-FE5D-0CE1-36B782A22FC3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pic>
        <p:nvPicPr>
          <p:cNvPr id="19488" name="Picture 32">
            <a:extLst>
              <a:ext uri="{FF2B5EF4-FFF2-40B4-BE49-F238E27FC236}">
                <a16:creationId xmlns:a16="http://schemas.microsoft.com/office/drawing/2014/main" id="{1706477A-054C-3C10-443C-490AEE4C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446" y="3252146"/>
            <a:ext cx="7613033" cy="262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16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936A-F758-4461-BA5C-512BB136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55">
            <a:extLst>
              <a:ext uri="{FF2B5EF4-FFF2-40B4-BE49-F238E27FC236}">
                <a16:creationId xmlns:a16="http://schemas.microsoft.com/office/drawing/2014/main" id="{BB307490-92C4-9764-7EE5-7336E2496D3B}"/>
              </a:ext>
            </a:extLst>
          </p:cNvPr>
          <p:cNvSpPr/>
          <p:nvPr/>
        </p:nvSpPr>
        <p:spPr>
          <a:xfrm>
            <a:off x="166153" y="1665045"/>
            <a:ext cx="2077087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600">
              <a:defRPr/>
            </a:pPr>
            <a:r>
              <a:rPr lang="zh-CN" altLang="en-US" sz="2665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图基础知识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B09F90D3-CB94-531E-3F96-BD56D9D9C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3F8E1FEC-D38F-1238-428B-99FF250C6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80CCA31-7A36-295A-A878-AD3FE39FE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240" y="2145689"/>
            <a:ext cx="9301137" cy="886822"/>
          </a:xfrm>
          <a:prstGeom prst="rect">
            <a:avLst/>
          </a:prstGeom>
        </p:spPr>
      </p:pic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65CA3AB-5B86-AF31-9042-D270CE080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767657"/>
              </p:ext>
            </p:extLst>
          </p:nvPr>
        </p:nvGraphicFramePr>
        <p:xfrm>
          <a:off x="304730" y="5448120"/>
          <a:ext cx="4666630" cy="508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2022" imgH="324012" progId="Equation.DSMT4">
                  <p:embed/>
                </p:oleObj>
              </mc:Choice>
              <mc:Fallback>
                <p:oleObj name="Equation" r:id="rId4" imgW="2972022" imgH="324012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5C155EC9-421C-DBB4-EB35-6CF13488E0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730" y="5448120"/>
                        <a:ext cx="4666630" cy="508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5A8D383-9F65-1815-74D4-7AA733312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674141"/>
              </p:ext>
            </p:extLst>
          </p:nvPr>
        </p:nvGraphicFramePr>
        <p:xfrm>
          <a:off x="304730" y="3429000"/>
          <a:ext cx="4702350" cy="1925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8812" imgH="1162122" progId="Equation.DSMT4">
                  <p:embed/>
                </p:oleObj>
              </mc:Choice>
              <mc:Fallback>
                <p:oleObj name="Equation" r:id="rId6" imgW="2838812" imgH="1162122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4D933BA9-ED86-763D-81D4-EB636DFFB5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4730" y="3429000"/>
                        <a:ext cx="4702350" cy="1925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846FA367-B170-C058-FB49-D5021B154A7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1D1B4C63-F4DE-4FB5-B0CA-6F68294B7D4A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10" name="箭头: 五边形 11">
            <a:extLst>
              <a:ext uri="{FF2B5EF4-FFF2-40B4-BE49-F238E27FC236}">
                <a16:creationId xmlns:a16="http://schemas.microsoft.com/office/drawing/2014/main" id="{2F5B1CE8-3BF3-67F8-95F5-68AF32E6C77E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8EEC05-0C0C-CA9C-9FB3-CFA7F0BD699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80" y="3317382"/>
            <a:ext cx="6917841" cy="281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0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DD0A6-C543-A8E6-F825-539FE7B1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55">
            <a:extLst>
              <a:ext uri="{FF2B5EF4-FFF2-40B4-BE49-F238E27FC236}">
                <a16:creationId xmlns:a16="http://schemas.microsoft.com/office/drawing/2014/main" id="{D90F0B91-1C2B-71A2-6DE9-C2D844A38378}"/>
              </a:ext>
            </a:extLst>
          </p:cNvPr>
          <p:cNvSpPr/>
          <p:nvPr/>
        </p:nvSpPr>
        <p:spPr>
          <a:xfrm>
            <a:off x="166154" y="1665045"/>
            <a:ext cx="2102484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600">
              <a:defRPr/>
            </a:pPr>
            <a:r>
              <a:rPr lang="zh-CN" altLang="en-US" sz="2665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相似性矩阵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87E2B7D-DE5D-BCB8-683F-40CE4C961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522320"/>
              </p:ext>
            </p:extLst>
          </p:nvPr>
        </p:nvGraphicFramePr>
        <p:xfrm>
          <a:off x="4629407" y="2349016"/>
          <a:ext cx="2255602" cy="1084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794" imgH="476297" progId="Equation.DSMT4">
                  <p:embed/>
                </p:oleObj>
              </mc:Choice>
              <mc:Fallback>
                <p:oleObj name="Equation" r:id="rId3" imgW="990794" imgH="4762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29407" y="2349016"/>
                        <a:ext cx="2255602" cy="1084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32E66D54-1AAE-D9E4-5569-598019F6A6A3}"/>
              </a:ext>
            </a:extLst>
          </p:cNvPr>
          <p:cNvSpPr txBox="1"/>
          <p:nvPr/>
        </p:nvSpPr>
        <p:spPr>
          <a:xfrm>
            <a:off x="2124234" y="3425133"/>
            <a:ext cx="7760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</a:t>
            </a: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近邻法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选择样本中距离最近的前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个样本作为邻居节点，并进行连接。分为两种策略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BD7AB75-E0B5-CBAF-2FA2-EB53C77C7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590693"/>
              </p:ext>
            </p:extLst>
          </p:nvPr>
        </p:nvGraphicFramePr>
        <p:xfrm>
          <a:off x="891504" y="4333921"/>
          <a:ext cx="4485012" cy="102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43569" imgH="762147" progId="Equation.DSMT4">
                  <p:embed/>
                </p:oleObj>
              </mc:Choice>
              <mc:Fallback>
                <p:oleObj name="Equation" r:id="rId5" imgW="3343569" imgH="7621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1504" y="4333921"/>
                        <a:ext cx="4485012" cy="102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A59E2AA-271C-33A2-C61B-F89EF8269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180858"/>
              </p:ext>
            </p:extLst>
          </p:nvPr>
        </p:nvGraphicFramePr>
        <p:xfrm>
          <a:off x="6282229" y="4317417"/>
          <a:ext cx="4447440" cy="10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15127" imgH="762147" progId="Equation.DSMT4">
                  <p:embed/>
                </p:oleObj>
              </mc:Choice>
              <mc:Fallback>
                <p:oleObj name="Equation" r:id="rId7" imgW="3315127" imgH="7621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82229" y="4317417"/>
                        <a:ext cx="4447440" cy="102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A90C4FD5-B20F-B05C-5FA1-964CBDA61601}"/>
              </a:ext>
            </a:extLst>
          </p:cNvPr>
          <p:cNvSpPr txBox="1"/>
          <p:nvPr/>
        </p:nvSpPr>
        <p:spPr>
          <a:xfrm>
            <a:off x="2215867" y="5541491"/>
            <a:ext cx="7760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全连接法</a:t>
            </a:r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要求所有样本之间的连边权重均大于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，权重通过核函数确定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78B7B64-49B9-9AF4-B310-C9CE70B32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767684"/>
              </p:ext>
            </p:extLst>
          </p:nvPr>
        </p:nvGraphicFramePr>
        <p:xfrm>
          <a:off x="5528873" y="5894494"/>
          <a:ext cx="1731621" cy="93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43095" imgH="399974" progId="Equation.DSMT4">
                  <p:embed/>
                </p:oleObj>
              </mc:Choice>
              <mc:Fallback>
                <p:oleObj name="Equation" r:id="rId9" imgW="743095" imgH="3999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28873" y="5894494"/>
                        <a:ext cx="1731621" cy="93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26">
            <a:extLst>
              <a:ext uri="{FF2B5EF4-FFF2-40B4-BE49-F238E27FC236}">
                <a16:creationId xmlns:a16="http://schemas.microsoft.com/office/drawing/2014/main" id="{D20B0391-95E8-4231-5646-D383545679D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AAF9906-452E-9A97-DBFC-36EC7EF8FE4F}"/>
              </a:ext>
            </a:extLst>
          </p:cNvPr>
          <p:cNvGrpSpPr/>
          <p:nvPr/>
        </p:nvGrpSpPr>
        <p:grpSpPr>
          <a:xfrm>
            <a:off x="2268638" y="1788610"/>
            <a:ext cx="1484714" cy="369332"/>
            <a:chOff x="2566425" y="1730303"/>
            <a:chExt cx="1484714" cy="36933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8BAB3F-7570-B6D6-7E18-1C330B672079}"/>
                </a:ext>
              </a:extLst>
            </p:cNvPr>
            <p:cNvSpPr txBox="1"/>
            <p:nvPr/>
          </p:nvSpPr>
          <p:spPr>
            <a:xfrm>
              <a:off x="2956367" y="1730303"/>
              <a:ext cx="10947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近邻法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5BAAE2A0-2C4F-03B2-4C89-C11B647A39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1495754"/>
                </p:ext>
              </p:extLst>
            </p:nvPr>
          </p:nvGraphicFramePr>
          <p:xfrm>
            <a:off x="2566425" y="1755145"/>
            <a:ext cx="560387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41200" imgH="139680" progId="Equation.DSMT4">
                    <p:embed/>
                  </p:oleObj>
                </mc:Choice>
                <mc:Fallback>
                  <p:oleObj name="Equation" r:id="rId11" imgW="24120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66425" y="1755145"/>
                          <a:ext cx="560387" cy="325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D2002D5-BC27-E3F6-F602-7FB1DF8B0151}"/>
              </a:ext>
            </a:extLst>
          </p:cNvPr>
          <p:cNvSpPr txBox="1"/>
          <p:nvPr/>
        </p:nvSpPr>
        <p:spPr>
          <a:xfrm>
            <a:off x="3578746" y="178387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通过计算样本之间的欧氏距离和确定距离阈值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2">
            <a:extLst>
              <a:ext uri="{FF2B5EF4-FFF2-40B4-BE49-F238E27FC236}">
                <a16:creationId xmlns:a16="http://schemas.microsoft.com/office/drawing/2014/main" id="{2A02B793-74AB-E52A-0B14-DC9B4A2FE551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20" name="箭头: 五边形 11">
            <a:extLst>
              <a:ext uri="{FF2B5EF4-FFF2-40B4-BE49-F238E27FC236}">
                <a16:creationId xmlns:a16="http://schemas.microsoft.com/office/drawing/2014/main" id="{6F741266-A3A6-020C-9902-687CD44DE616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3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D0E1-2C4E-9E0F-C71B-680A723F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55">
            <a:extLst>
              <a:ext uri="{FF2B5EF4-FFF2-40B4-BE49-F238E27FC236}">
                <a16:creationId xmlns:a16="http://schemas.microsoft.com/office/drawing/2014/main" id="{08F456BC-DA18-56A4-CE9A-5F2BFDD50958}"/>
              </a:ext>
            </a:extLst>
          </p:cNvPr>
          <p:cNvSpPr/>
          <p:nvPr/>
        </p:nvSpPr>
        <p:spPr>
          <a:xfrm>
            <a:off x="443117" y="2290520"/>
            <a:ext cx="2102484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600">
              <a:defRPr/>
            </a:pPr>
            <a:r>
              <a:rPr lang="zh-CN" altLang="en-US" sz="2665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图划分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9C000542-E5D8-6B86-AB07-897451B0975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6" name="矩形: 圆角 12">
            <a:extLst>
              <a:ext uri="{FF2B5EF4-FFF2-40B4-BE49-F238E27FC236}">
                <a16:creationId xmlns:a16="http://schemas.microsoft.com/office/drawing/2014/main" id="{4EE8EF9F-1927-9B09-E718-5260604A56BF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20" name="箭头: 五边形 11">
            <a:extLst>
              <a:ext uri="{FF2B5EF4-FFF2-40B4-BE49-F238E27FC236}">
                <a16:creationId xmlns:a16="http://schemas.microsoft.com/office/drawing/2014/main" id="{2F00FBE1-0610-BAE5-ECD2-19EC22C2F444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2347F34-3A96-8801-06E3-B8AECFABB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647" y="4657222"/>
            <a:ext cx="9366725" cy="219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876782-3702-7BA9-FE52-F03E34685000}"/>
              </a:ext>
            </a:extLst>
          </p:cNvPr>
          <p:cNvSpPr txBox="1"/>
          <p:nvPr/>
        </p:nvSpPr>
        <p:spPr>
          <a:xfrm>
            <a:off x="443117" y="1675137"/>
            <a:ext cx="11571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谱聚类算法通过相似性矩阵的构建将数据转为无向图，然后将聚类问题转化为图划分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45CC99-5210-D73D-347F-6F6C446EDB28}"/>
              </a:ext>
            </a:extLst>
          </p:cNvPr>
          <p:cNvSpPr txBox="1"/>
          <p:nvPr/>
        </p:nvSpPr>
        <p:spPr>
          <a:xfrm>
            <a:off x="443116" y="3105834"/>
            <a:ext cx="115717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在图划分问题中，切图将无向图划分为多个</a:t>
            </a:r>
            <a:r>
              <a:rPr lang="zh-CN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子图</a:t>
            </a:r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，使得子图</a:t>
            </a:r>
            <a:r>
              <a:rPr lang="zh-CN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内部节点相似</a:t>
            </a:r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zh-CN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子图间节点相异</a:t>
            </a:r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，每个子图对应一个</a:t>
            </a:r>
            <a:r>
              <a:rPr lang="zh-CN" altLang="zh-CN" sz="24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簇</a:t>
            </a:r>
            <a:endParaRPr lang="zh-CN" altLang="en-US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590EBF4-4AA1-BBBD-46F2-F7E12C028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028060"/>
              </p:ext>
            </p:extLst>
          </p:nvPr>
        </p:nvGraphicFramePr>
        <p:xfrm>
          <a:off x="1574157" y="4139294"/>
          <a:ext cx="2702937" cy="517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90959" imgH="304931" progId="Equation.DSMT4">
                  <p:embed/>
                </p:oleObj>
              </mc:Choice>
              <mc:Fallback>
                <p:oleObj name="Equation" r:id="rId4" imgW="1590959" imgH="30493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4157" y="4139294"/>
                        <a:ext cx="2702937" cy="517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87528EFE-FEEA-E8EC-EB78-44D830DFF6D7}"/>
              </a:ext>
            </a:extLst>
          </p:cNvPr>
          <p:cNvSpPr txBox="1"/>
          <p:nvPr/>
        </p:nvSpPr>
        <p:spPr>
          <a:xfrm>
            <a:off x="443116" y="4193677"/>
            <a:ext cx="1131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子图权重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081D14-76F6-B6BA-5ED9-5DFF0EE53D0D}"/>
              </a:ext>
            </a:extLst>
          </p:cNvPr>
          <p:cNvSpPr txBox="1"/>
          <p:nvPr/>
        </p:nvSpPr>
        <p:spPr>
          <a:xfrm>
            <a:off x="5408135" y="4225875"/>
            <a:ext cx="1131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切图定义</a:t>
            </a:r>
            <a:endParaRPr lang="zh-CN" altLang="en-US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50BC1EE-8D9C-8713-93B5-225870B11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266281"/>
              </p:ext>
            </p:extLst>
          </p:nvPr>
        </p:nvGraphicFramePr>
        <p:xfrm>
          <a:off x="6539176" y="4071778"/>
          <a:ext cx="4049024" cy="677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90938" imgH="399974" progId="Equation.DSMT4">
                  <p:embed/>
                </p:oleObj>
              </mc:Choice>
              <mc:Fallback>
                <p:oleObj name="Equation" r:id="rId6" imgW="2390938" imgH="3999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39176" y="4071778"/>
                        <a:ext cx="4049024" cy="677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038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7EFF-EC50-4AFC-1779-522F21AB6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55">
            <a:extLst>
              <a:ext uri="{FF2B5EF4-FFF2-40B4-BE49-F238E27FC236}">
                <a16:creationId xmlns:a16="http://schemas.microsoft.com/office/drawing/2014/main" id="{28BCA827-ED41-B078-7E32-933351D8B091}"/>
              </a:ext>
            </a:extLst>
          </p:cNvPr>
          <p:cNvSpPr/>
          <p:nvPr/>
        </p:nvSpPr>
        <p:spPr>
          <a:xfrm>
            <a:off x="443117" y="1665045"/>
            <a:ext cx="2102484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600">
              <a:defRPr/>
            </a:pPr>
            <a:r>
              <a:rPr lang="zh-CN" altLang="en-US" sz="2665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图划分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8DF6372E-2F71-BB4B-6ADF-80CD049EF5D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6" name="矩形: 圆角 12">
            <a:extLst>
              <a:ext uri="{FF2B5EF4-FFF2-40B4-BE49-F238E27FC236}">
                <a16:creationId xmlns:a16="http://schemas.microsoft.com/office/drawing/2014/main" id="{3519AE35-BD94-5069-843F-976274EE8236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20" name="箭头: 五边形 11">
            <a:extLst>
              <a:ext uri="{FF2B5EF4-FFF2-40B4-BE49-F238E27FC236}">
                <a16:creationId xmlns:a16="http://schemas.microsoft.com/office/drawing/2014/main" id="{6C5ADEEA-97B7-14FF-C1D8-61BE46CBCC8E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26620-C1B5-9EBE-8082-289B4A895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912" y="1665045"/>
            <a:ext cx="568642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F7387DE-8D2D-C384-FDDF-4DBE92CA5B01}"/>
              </a:ext>
            </a:extLst>
          </p:cNvPr>
          <p:cNvSpPr txBox="1"/>
          <p:nvPr/>
        </p:nvSpPr>
        <p:spPr>
          <a:xfrm>
            <a:off x="3058912" y="1064337"/>
            <a:ext cx="1290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如何切图？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D8CF21A-613B-7085-D1E2-C340967F4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752310"/>
              </p:ext>
            </p:extLst>
          </p:nvPr>
        </p:nvGraphicFramePr>
        <p:xfrm>
          <a:off x="3348362" y="3759471"/>
          <a:ext cx="6021570" cy="1140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4963" imgH="514458" progId="Equation.DSMT4">
                  <p:embed/>
                </p:oleObj>
              </mc:Choice>
              <mc:Fallback>
                <p:oleObj name="Equation" r:id="rId4" imgW="2714963" imgH="5144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48362" y="3759471"/>
                        <a:ext cx="6021570" cy="1140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A1FBB438-5973-22EF-F111-7494345D18D0}"/>
              </a:ext>
            </a:extLst>
          </p:cNvPr>
          <p:cNvSpPr txBox="1"/>
          <p:nvPr/>
        </p:nvSpPr>
        <p:spPr>
          <a:xfrm>
            <a:off x="1012785" y="4087763"/>
            <a:ext cx="254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RatioCut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切图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24AD1E-BE9F-9F0A-BC69-2453DF75A614}"/>
              </a:ext>
            </a:extLst>
          </p:cNvPr>
          <p:cNvSpPr txBox="1"/>
          <p:nvPr/>
        </p:nvSpPr>
        <p:spPr>
          <a:xfrm>
            <a:off x="1093808" y="551386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Ncut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切图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D8BE4A5-71CA-E612-59C0-31E1ABF94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716132"/>
              </p:ext>
            </p:extLst>
          </p:nvPr>
        </p:nvGraphicFramePr>
        <p:xfrm>
          <a:off x="3348362" y="5127926"/>
          <a:ext cx="5367867" cy="114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9380" imgH="514458" progId="Equation.DSMT4">
                  <p:embed/>
                </p:oleObj>
              </mc:Choice>
              <mc:Fallback>
                <p:oleObj name="Equation" r:id="rId6" imgW="2419380" imgH="5144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48362" y="5127926"/>
                        <a:ext cx="5367867" cy="114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942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DE0EF-5D61-CA28-1732-DF736085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F92D30C2-85C1-DC9C-7D48-6922F3183B86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聚类流程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667D7AC4-3ED5-7FF0-0D14-E289641C0B58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7.2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D608E43-CE7F-AE0D-623F-58CA2F4B4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9CD39C3-6668-7C60-115F-1104F061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0B0387-2D5F-E651-E222-F3E43662296D}"/>
              </a:ext>
            </a:extLst>
          </p:cNvPr>
          <p:cNvSpPr txBox="1"/>
          <p:nvPr/>
        </p:nvSpPr>
        <p:spPr>
          <a:xfrm>
            <a:off x="917157" y="1763712"/>
            <a:ext cx="6093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谱聚类</a:t>
            </a:r>
            <a:r>
              <a:rPr lang="zh-CN" altLang="zh-CN" dirty="0"/>
              <a:t>算法的</a:t>
            </a:r>
            <a:r>
              <a:rPr lang="zh-CN" altLang="en-US" dirty="0"/>
              <a:t>流程</a:t>
            </a:r>
            <a:r>
              <a:rPr lang="zh-CN" altLang="zh-CN" dirty="0"/>
              <a:t>如下：</a:t>
            </a:r>
          </a:p>
        </p:txBody>
      </p:sp>
      <p:sp>
        <p:nvSpPr>
          <p:cNvPr id="3" name="矩形 26">
            <a:extLst>
              <a:ext uri="{FF2B5EF4-FFF2-40B4-BE49-F238E27FC236}">
                <a16:creationId xmlns:a16="http://schemas.microsoft.com/office/drawing/2014/main" id="{947B11A6-C94C-4D6B-BC63-D86109DEEDD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915F30B-82A0-9005-97C3-6C04EC3A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795" y="2452170"/>
            <a:ext cx="10202517" cy="382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4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582F-C3C8-0F00-4F9D-19818665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12">
            <a:extLst>
              <a:ext uri="{FF2B5EF4-FFF2-40B4-BE49-F238E27FC236}">
                <a16:creationId xmlns:a16="http://schemas.microsoft.com/office/drawing/2014/main" id="{D1B5B313-8B67-74A9-7BC8-4293F9FEDDD8}"/>
              </a:ext>
            </a:extLst>
          </p:cNvPr>
          <p:cNvSpPr/>
          <p:nvPr/>
        </p:nvSpPr>
        <p:spPr>
          <a:xfrm>
            <a:off x="166155" y="976588"/>
            <a:ext cx="2967855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应用与评价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" name="箭头: 五边形 11">
            <a:extLst>
              <a:ext uri="{FF2B5EF4-FFF2-40B4-BE49-F238E27FC236}">
                <a16:creationId xmlns:a16="http://schemas.microsoft.com/office/drawing/2014/main" id="{9C8555B8-AC28-1C1F-D6D2-88774581C5F1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7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939AF-2B73-7293-3A6F-E3C8C71BF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1C07A90-9FED-4D2B-86C9-FCA0D9656A27}"/>
              </a:ext>
            </a:extLst>
          </p:cNvPr>
          <p:cNvGrpSpPr/>
          <p:nvPr/>
        </p:nvGrpSpPr>
        <p:grpSpPr>
          <a:xfrm>
            <a:off x="626147" y="2334714"/>
            <a:ext cx="11195304" cy="3763488"/>
            <a:chOff x="660400" y="473037"/>
            <a:chExt cx="10858500" cy="3650267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EB9BA84-939A-2716-EE89-81C653AE757A}"/>
                </a:ext>
              </a:extLst>
            </p:cNvPr>
            <p:cNvSpPr/>
            <p:nvPr/>
          </p:nvSpPr>
          <p:spPr>
            <a:xfrm>
              <a:off x="4007877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2366BCA-75F7-B58E-5E64-62B5E3214809}"/>
                </a:ext>
              </a:extLst>
            </p:cNvPr>
            <p:cNvSpPr/>
            <p:nvPr/>
          </p:nvSpPr>
          <p:spPr>
            <a:xfrm>
              <a:off x="8027424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EED534F-1892-BA60-A1DA-E7AAE5695D6F}"/>
                </a:ext>
              </a:extLst>
            </p:cNvPr>
            <p:cNvGrpSpPr/>
            <p:nvPr/>
          </p:nvGrpSpPr>
          <p:grpSpPr>
            <a:xfrm>
              <a:off x="660400" y="473037"/>
              <a:ext cx="10858500" cy="3650267"/>
              <a:chOff x="660400" y="473037"/>
              <a:chExt cx="10858500" cy="365026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372D9828-D0DE-924D-C18A-BB3C49F37702}"/>
                  </a:ext>
                </a:extLst>
              </p:cNvPr>
              <p:cNvGrpSpPr/>
              <p:nvPr/>
            </p:nvGrpSpPr>
            <p:grpSpPr>
              <a:xfrm>
                <a:off x="660400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9FAA5F6-CF3E-79D7-50F1-09B752AC9523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83623CB-9F60-94C4-AD79-EE3660ED20CB}"/>
                    </a:ext>
                  </a:extLst>
                </p:cNvPr>
                <p:cNvSpPr txBox="1"/>
                <p:nvPr/>
              </p:nvSpPr>
              <p:spPr>
                <a:xfrm>
                  <a:off x="1580965" y="2963528"/>
                  <a:ext cx="1734770" cy="1532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谱聚类算法是一种基于图论的聚类算法，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它通过构建数据点的相似性图，并通过图的谱（特征值和特征向量）来对数据进行聚类</a:t>
                  </a:r>
                  <a:endParaRPr kumimoji="1"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5833889-3831-9011-E46F-CF08E99C0016}"/>
                  </a:ext>
                </a:extLst>
              </p:cNvPr>
              <p:cNvGrpSpPr/>
              <p:nvPr/>
            </p:nvGrpSpPr>
            <p:grpSpPr>
              <a:xfrm>
                <a:off x="4679947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0E25473-2FAE-20E5-6E5D-FF643C39BFD3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FAE3ADC-81F8-F385-D05A-F635255BAB28}"/>
                    </a:ext>
                  </a:extLst>
                </p:cNvPr>
                <p:cNvSpPr txBox="1"/>
                <p:nvPr/>
              </p:nvSpPr>
              <p:spPr>
                <a:xfrm>
                  <a:off x="1551962" y="2963528"/>
                  <a:ext cx="1734770" cy="1023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空间复杂度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3DB8ADBF-EAD9-A9D5-6145-263FE9041EFF}"/>
                  </a:ext>
                </a:extLst>
              </p:cNvPr>
              <p:cNvGrpSpPr/>
              <p:nvPr/>
            </p:nvGrpSpPr>
            <p:grpSpPr>
              <a:xfrm>
                <a:off x="1065340" y="473037"/>
                <a:ext cx="10453560" cy="3650266"/>
                <a:chOff x="-4791274" y="1845809"/>
                <a:chExt cx="8334574" cy="2910341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0495F7C7-8354-6994-EC70-BEED2EAC5F84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7F2F2D6-CAF4-991D-908C-3016FC29DDAF}"/>
                    </a:ext>
                  </a:extLst>
                </p:cNvPr>
                <p:cNvSpPr txBox="1"/>
                <p:nvPr/>
              </p:nvSpPr>
              <p:spPr>
                <a:xfrm>
                  <a:off x="-4791274" y="1845809"/>
                  <a:ext cx="7649107" cy="3094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zh-CN" altLang="en-US" sz="2000" b="1" dirty="0">
                      <a:solidFill>
                        <a:schemeClr val="accent1">
                          <a:lumMod val="7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应用场景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：适合于解决传统聚类算法难以处理的非凸形状簇的场景</a:t>
                  </a:r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1F01B4E-DBB1-B534-24B9-57E5833CC891}"/>
                    </a:ext>
                  </a:extLst>
                </p:cNvPr>
                <p:cNvSpPr txBox="1"/>
                <p:nvPr/>
              </p:nvSpPr>
              <p:spPr>
                <a:xfrm>
                  <a:off x="1551965" y="2989730"/>
                  <a:ext cx="1734770" cy="12849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优点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：适用于处理非凸形状簇；捕捉数据的深层次关系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缺点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：计算和存储开销较大；对参数较为敏感。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1A8506EC-9005-F30D-7687-501D2F980428}"/>
              </a:ext>
            </a:extLst>
          </p:cNvPr>
          <p:cNvSpPr/>
          <p:nvPr/>
        </p:nvSpPr>
        <p:spPr>
          <a:xfrm>
            <a:off x="433962" y="2296965"/>
            <a:ext cx="609685" cy="530966"/>
          </a:xfrm>
          <a:custGeom>
            <a:avLst/>
            <a:gdLst>
              <a:gd name="connsiteX0" fmla="*/ 102985 w 606407"/>
              <a:gd name="connsiteY0" fmla="*/ 131491 h 528112"/>
              <a:gd name="connsiteX1" fmla="*/ 89892 w 606407"/>
              <a:gd name="connsiteY1" fmla="*/ 218810 h 528112"/>
              <a:gd name="connsiteX2" fmla="*/ 102985 w 606407"/>
              <a:gd name="connsiteY2" fmla="*/ 236740 h 528112"/>
              <a:gd name="connsiteX3" fmla="*/ 103265 w 606407"/>
              <a:gd name="connsiteY3" fmla="*/ 236740 h 528112"/>
              <a:gd name="connsiteX4" fmla="*/ 116358 w 606407"/>
              <a:gd name="connsiteY4" fmla="*/ 218810 h 528112"/>
              <a:gd name="connsiteX5" fmla="*/ 103265 w 606407"/>
              <a:gd name="connsiteY5" fmla="*/ 131491 h 528112"/>
              <a:gd name="connsiteX6" fmla="*/ 335836 w 606407"/>
              <a:gd name="connsiteY6" fmla="*/ 85949 h 528112"/>
              <a:gd name="connsiteX7" fmla="*/ 351924 w 606407"/>
              <a:gd name="connsiteY7" fmla="*/ 101910 h 528112"/>
              <a:gd name="connsiteX8" fmla="*/ 346966 w 606407"/>
              <a:gd name="connsiteY8" fmla="*/ 113484 h 528112"/>
              <a:gd name="connsiteX9" fmla="*/ 392799 w 606407"/>
              <a:gd name="connsiteY9" fmla="*/ 159220 h 528112"/>
              <a:gd name="connsiteX10" fmla="*/ 404304 w 606407"/>
              <a:gd name="connsiteY10" fmla="*/ 154273 h 528112"/>
              <a:gd name="connsiteX11" fmla="*/ 416744 w 606407"/>
              <a:gd name="connsiteY11" fmla="*/ 160153 h 528112"/>
              <a:gd name="connsiteX12" fmla="*/ 455561 w 606407"/>
              <a:gd name="connsiteY12" fmla="*/ 140365 h 528112"/>
              <a:gd name="connsiteX13" fmla="*/ 455561 w 606407"/>
              <a:gd name="connsiteY13" fmla="*/ 139712 h 528112"/>
              <a:gd name="connsiteX14" fmla="*/ 471649 w 606407"/>
              <a:gd name="connsiteY14" fmla="*/ 123751 h 528112"/>
              <a:gd name="connsiteX15" fmla="*/ 487644 w 606407"/>
              <a:gd name="connsiteY15" fmla="*/ 139712 h 528112"/>
              <a:gd name="connsiteX16" fmla="*/ 483154 w 606407"/>
              <a:gd name="connsiteY16" fmla="*/ 150819 h 528112"/>
              <a:gd name="connsiteX17" fmla="*/ 496717 w 606407"/>
              <a:gd name="connsiteY17" fmla="*/ 164353 h 528112"/>
              <a:gd name="connsiteX18" fmla="*/ 504387 w 606407"/>
              <a:gd name="connsiteY18" fmla="*/ 162393 h 528112"/>
              <a:gd name="connsiteX19" fmla="*/ 509906 w 606407"/>
              <a:gd name="connsiteY19" fmla="*/ 163420 h 528112"/>
              <a:gd name="connsiteX20" fmla="*/ 540118 w 606407"/>
              <a:gd name="connsiteY20" fmla="*/ 117964 h 528112"/>
              <a:gd name="connsiteX21" fmla="*/ 535160 w 606407"/>
              <a:gd name="connsiteY21" fmla="*/ 106390 h 528112"/>
              <a:gd name="connsiteX22" fmla="*/ 551155 w 606407"/>
              <a:gd name="connsiteY22" fmla="*/ 90429 h 528112"/>
              <a:gd name="connsiteX23" fmla="*/ 567243 w 606407"/>
              <a:gd name="connsiteY23" fmla="*/ 106390 h 528112"/>
              <a:gd name="connsiteX24" fmla="*/ 551155 w 606407"/>
              <a:gd name="connsiteY24" fmla="*/ 122444 h 528112"/>
              <a:gd name="connsiteX25" fmla="*/ 547507 w 606407"/>
              <a:gd name="connsiteY25" fmla="*/ 121978 h 528112"/>
              <a:gd name="connsiteX26" fmla="*/ 516734 w 606407"/>
              <a:gd name="connsiteY26" fmla="*/ 168180 h 528112"/>
              <a:gd name="connsiteX27" fmla="*/ 520475 w 606407"/>
              <a:gd name="connsiteY27" fmla="*/ 178447 h 528112"/>
              <a:gd name="connsiteX28" fmla="*/ 504481 w 606407"/>
              <a:gd name="connsiteY28" fmla="*/ 194408 h 528112"/>
              <a:gd name="connsiteX29" fmla="*/ 488392 w 606407"/>
              <a:gd name="connsiteY29" fmla="*/ 178447 h 528112"/>
              <a:gd name="connsiteX30" fmla="*/ 490731 w 606407"/>
              <a:gd name="connsiteY30" fmla="*/ 170140 h 528112"/>
              <a:gd name="connsiteX31" fmla="*/ 475765 w 606407"/>
              <a:gd name="connsiteY31" fmla="*/ 155113 h 528112"/>
              <a:gd name="connsiteX32" fmla="*/ 471649 w 606407"/>
              <a:gd name="connsiteY32" fmla="*/ 155673 h 528112"/>
              <a:gd name="connsiteX33" fmla="*/ 458180 w 606407"/>
              <a:gd name="connsiteY33" fmla="*/ 148393 h 528112"/>
              <a:gd name="connsiteX34" fmla="*/ 420111 w 606407"/>
              <a:gd name="connsiteY34" fmla="*/ 167714 h 528112"/>
              <a:gd name="connsiteX35" fmla="*/ 420392 w 606407"/>
              <a:gd name="connsiteY35" fmla="*/ 170234 h 528112"/>
              <a:gd name="connsiteX36" fmla="*/ 404304 w 606407"/>
              <a:gd name="connsiteY36" fmla="*/ 186288 h 528112"/>
              <a:gd name="connsiteX37" fmla="*/ 388309 w 606407"/>
              <a:gd name="connsiteY37" fmla="*/ 170234 h 528112"/>
              <a:gd name="connsiteX38" fmla="*/ 388683 w 606407"/>
              <a:gd name="connsiteY38" fmla="*/ 166873 h 528112"/>
              <a:gd name="connsiteX39" fmla="*/ 339203 w 606407"/>
              <a:gd name="connsiteY39" fmla="*/ 117591 h 528112"/>
              <a:gd name="connsiteX40" fmla="*/ 335836 w 606407"/>
              <a:gd name="connsiteY40" fmla="*/ 117871 h 528112"/>
              <a:gd name="connsiteX41" fmla="*/ 319841 w 606407"/>
              <a:gd name="connsiteY41" fmla="*/ 101910 h 528112"/>
              <a:gd name="connsiteX42" fmla="*/ 335836 w 606407"/>
              <a:gd name="connsiteY42" fmla="*/ 85949 h 528112"/>
              <a:gd name="connsiteX43" fmla="*/ 304990 w 606407"/>
              <a:gd name="connsiteY43" fmla="*/ 45200 h 528112"/>
              <a:gd name="connsiteX44" fmla="*/ 304990 w 606407"/>
              <a:gd name="connsiteY44" fmla="*/ 82929 h 528112"/>
              <a:gd name="connsiteX45" fmla="*/ 340060 w 606407"/>
              <a:gd name="connsiteY45" fmla="*/ 55099 h 528112"/>
              <a:gd name="connsiteX46" fmla="*/ 345578 w 606407"/>
              <a:gd name="connsiteY46" fmla="*/ 62010 h 528112"/>
              <a:gd name="connsiteX47" fmla="*/ 304990 w 606407"/>
              <a:gd name="connsiteY47" fmla="*/ 94416 h 528112"/>
              <a:gd name="connsiteX48" fmla="*/ 304990 w 606407"/>
              <a:gd name="connsiteY48" fmla="*/ 250842 h 528112"/>
              <a:gd name="connsiteX49" fmla="*/ 307234 w 606407"/>
              <a:gd name="connsiteY49" fmla="*/ 253083 h 528112"/>
              <a:gd name="connsiteX50" fmla="*/ 581531 w 606407"/>
              <a:gd name="connsiteY50" fmla="*/ 253083 h 528112"/>
              <a:gd name="connsiteX51" fmla="*/ 583775 w 606407"/>
              <a:gd name="connsiteY51" fmla="*/ 250842 h 528112"/>
              <a:gd name="connsiteX52" fmla="*/ 583775 w 606407"/>
              <a:gd name="connsiteY52" fmla="*/ 45200 h 528112"/>
              <a:gd name="connsiteX53" fmla="*/ 103240 w 606407"/>
              <a:gd name="connsiteY53" fmla="*/ 4375 h 528112"/>
              <a:gd name="connsiteX54" fmla="*/ 157540 w 606407"/>
              <a:gd name="connsiteY54" fmla="*/ 58534 h 528112"/>
              <a:gd name="connsiteX55" fmla="*/ 103240 w 606407"/>
              <a:gd name="connsiteY55" fmla="*/ 112693 h 528112"/>
              <a:gd name="connsiteX56" fmla="*/ 48940 w 606407"/>
              <a:gd name="connsiteY56" fmla="*/ 58534 h 528112"/>
              <a:gd name="connsiteX57" fmla="*/ 103240 w 606407"/>
              <a:gd name="connsiteY57" fmla="*/ 4375 h 528112"/>
              <a:gd name="connsiteX58" fmla="*/ 443774 w 606407"/>
              <a:gd name="connsiteY58" fmla="*/ 0 h 528112"/>
              <a:gd name="connsiteX59" fmla="*/ 444990 w 606407"/>
              <a:gd name="connsiteY59" fmla="*/ 0 h 528112"/>
              <a:gd name="connsiteX60" fmla="*/ 456306 w 606407"/>
              <a:gd name="connsiteY60" fmla="*/ 11300 h 528112"/>
              <a:gd name="connsiteX61" fmla="*/ 456306 w 606407"/>
              <a:gd name="connsiteY61" fmla="*/ 15783 h 528112"/>
              <a:gd name="connsiteX62" fmla="*/ 606407 w 606407"/>
              <a:gd name="connsiteY62" fmla="*/ 15783 h 528112"/>
              <a:gd name="connsiteX63" fmla="*/ 606407 w 606407"/>
              <a:gd name="connsiteY63" fmla="*/ 45200 h 528112"/>
              <a:gd name="connsiteX64" fmla="*/ 597429 w 606407"/>
              <a:gd name="connsiteY64" fmla="*/ 45200 h 528112"/>
              <a:gd name="connsiteX65" fmla="*/ 597429 w 606407"/>
              <a:gd name="connsiteY65" fmla="*/ 250748 h 528112"/>
              <a:gd name="connsiteX66" fmla="*/ 581531 w 606407"/>
              <a:gd name="connsiteY66" fmla="*/ 266624 h 528112"/>
              <a:gd name="connsiteX67" fmla="*/ 453407 w 606407"/>
              <a:gd name="connsiteY67" fmla="*/ 266624 h 528112"/>
              <a:gd name="connsiteX68" fmla="*/ 453407 w 606407"/>
              <a:gd name="connsiteY68" fmla="*/ 429214 h 528112"/>
              <a:gd name="connsiteX69" fmla="*/ 520368 w 606407"/>
              <a:gd name="connsiteY69" fmla="*/ 480858 h 528112"/>
              <a:gd name="connsiteX70" fmla="*/ 521958 w 606407"/>
              <a:gd name="connsiteY70" fmla="*/ 493558 h 528112"/>
              <a:gd name="connsiteX71" fmla="*/ 514757 w 606407"/>
              <a:gd name="connsiteY71" fmla="*/ 497014 h 528112"/>
              <a:gd name="connsiteX72" fmla="*/ 509239 w 606407"/>
              <a:gd name="connsiteY72" fmla="*/ 495146 h 528112"/>
              <a:gd name="connsiteX73" fmla="*/ 453407 w 606407"/>
              <a:gd name="connsiteY73" fmla="*/ 452094 h 528112"/>
              <a:gd name="connsiteX74" fmla="*/ 453407 w 606407"/>
              <a:gd name="connsiteY74" fmla="*/ 487021 h 528112"/>
              <a:gd name="connsiteX75" fmla="*/ 453407 w 606407"/>
              <a:gd name="connsiteY75" fmla="*/ 518960 h 528112"/>
              <a:gd name="connsiteX76" fmla="*/ 444336 w 606407"/>
              <a:gd name="connsiteY76" fmla="*/ 528112 h 528112"/>
              <a:gd name="connsiteX77" fmla="*/ 435264 w 606407"/>
              <a:gd name="connsiteY77" fmla="*/ 518960 h 528112"/>
              <a:gd name="connsiteX78" fmla="*/ 435264 w 606407"/>
              <a:gd name="connsiteY78" fmla="*/ 452094 h 528112"/>
              <a:gd name="connsiteX79" fmla="*/ 379432 w 606407"/>
              <a:gd name="connsiteY79" fmla="*/ 495146 h 528112"/>
              <a:gd name="connsiteX80" fmla="*/ 373914 w 606407"/>
              <a:gd name="connsiteY80" fmla="*/ 497014 h 528112"/>
              <a:gd name="connsiteX81" fmla="*/ 366713 w 606407"/>
              <a:gd name="connsiteY81" fmla="*/ 493558 h 528112"/>
              <a:gd name="connsiteX82" fmla="*/ 368303 w 606407"/>
              <a:gd name="connsiteY82" fmla="*/ 480858 h 528112"/>
              <a:gd name="connsiteX83" fmla="*/ 435264 w 606407"/>
              <a:gd name="connsiteY83" fmla="*/ 429214 h 528112"/>
              <a:gd name="connsiteX84" fmla="*/ 435264 w 606407"/>
              <a:gd name="connsiteY84" fmla="*/ 266624 h 528112"/>
              <a:gd name="connsiteX85" fmla="*/ 307234 w 606407"/>
              <a:gd name="connsiteY85" fmla="*/ 266624 h 528112"/>
              <a:gd name="connsiteX86" fmla="*/ 291336 w 606407"/>
              <a:gd name="connsiteY86" fmla="*/ 250748 h 528112"/>
              <a:gd name="connsiteX87" fmla="*/ 291336 w 606407"/>
              <a:gd name="connsiteY87" fmla="*/ 105249 h 528112"/>
              <a:gd name="connsiteX88" fmla="*/ 267768 w 606407"/>
              <a:gd name="connsiteY88" fmla="*/ 124020 h 528112"/>
              <a:gd name="connsiteX89" fmla="*/ 261315 w 606407"/>
              <a:gd name="connsiteY89" fmla="*/ 149609 h 528112"/>
              <a:gd name="connsiteX90" fmla="*/ 180794 w 606407"/>
              <a:gd name="connsiteY90" fmla="*/ 185563 h 528112"/>
              <a:gd name="connsiteX91" fmla="*/ 158723 w 606407"/>
              <a:gd name="connsiteY91" fmla="*/ 182575 h 528112"/>
              <a:gd name="connsiteX92" fmla="*/ 158723 w 606407"/>
              <a:gd name="connsiteY92" fmla="*/ 282594 h 528112"/>
              <a:gd name="connsiteX93" fmla="*/ 154982 w 606407"/>
              <a:gd name="connsiteY93" fmla="*/ 302112 h 528112"/>
              <a:gd name="connsiteX94" fmla="*/ 173219 w 606407"/>
              <a:gd name="connsiteY94" fmla="*/ 501030 h 528112"/>
              <a:gd name="connsiteX95" fmla="*/ 150587 w 606407"/>
              <a:gd name="connsiteY95" fmla="*/ 527925 h 528112"/>
              <a:gd name="connsiteX96" fmla="*/ 148436 w 606407"/>
              <a:gd name="connsiteY96" fmla="*/ 528112 h 528112"/>
              <a:gd name="connsiteX97" fmla="*/ 123653 w 606407"/>
              <a:gd name="connsiteY97" fmla="*/ 505325 h 528112"/>
              <a:gd name="connsiteX98" fmla="*/ 107287 w 606407"/>
              <a:gd name="connsiteY98" fmla="*/ 330222 h 528112"/>
              <a:gd name="connsiteX99" fmla="*/ 103172 w 606407"/>
              <a:gd name="connsiteY99" fmla="*/ 330409 h 528112"/>
              <a:gd name="connsiteX100" fmla="*/ 99244 w 606407"/>
              <a:gd name="connsiteY100" fmla="*/ 330315 h 528112"/>
              <a:gd name="connsiteX101" fmla="*/ 86899 w 606407"/>
              <a:gd name="connsiteY101" fmla="*/ 505139 h 528112"/>
              <a:gd name="connsiteX102" fmla="*/ 62116 w 606407"/>
              <a:gd name="connsiteY102" fmla="*/ 528019 h 528112"/>
              <a:gd name="connsiteX103" fmla="*/ 60152 w 606407"/>
              <a:gd name="connsiteY103" fmla="*/ 528019 h 528112"/>
              <a:gd name="connsiteX104" fmla="*/ 37240 w 606407"/>
              <a:gd name="connsiteY104" fmla="*/ 501310 h 528112"/>
              <a:gd name="connsiteX105" fmla="*/ 52577 w 606407"/>
              <a:gd name="connsiteY105" fmla="*/ 302672 h 528112"/>
              <a:gd name="connsiteX106" fmla="*/ 47621 w 606407"/>
              <a:gd name="connsiteY106" fmla="*/ 282594 h 528112"/>
              <a:gd name="connsiteX107" fmla="*/ 47621 w 606407"/>
              <a:gd name="connsiteY107" fmla="*/ 215074 h 528112"/>
              <a:gd name="connsiteX108" fmla="*/ 43225 w 606407"/>
              <a:gd name="connsiteY108" fmla="*/ 289318 h 528112"/>
              <a:gd name="connsiteX109" fmla="*/ 23866 w 606407"/>
              <a:gd name="connsiteY109" fmla="*/ 311918 h 528112"/>
              <a:gd name="connsiteX110" fmla="*/ 22183 w 606407"/>
              <a:gd name="connsiteY110" fmla="*/ 312011 h 528112"/>
              <a:gd name="connsiteX111" fmla="*/ 1234 w 606407"/>
              <a:gd name="connsiteY111" fmla="*/ 292586 h 528112"/>
              <a:gd name="connsiteX112" fmla="*/ 67073 w 606407"/>
              <a:gd name="connsiteY112" fmla="*/ 125981 h 528112"/>
              <a:gd name="connsiteX113" fmla="*/ 89611 w 606407"/>
              <a:gd name="connsiteY113" fmla="*/ 115895 h 528112"/>
              <a:gd name="connsiteX114" fmla="*/ 103172 w 606407"/>
              <a:gd name="connsiteY114" fmla="*/ 129437 h 528112"/>
              <a:gd name="connsiteX115" fmla="*/ 116265 w 606407"/>
              <a:gd name="connsiteY115" fmla="*/ 115709 h 528112"/>
              <a:gd name="connsiteX116" fmla="*/ 116358 w 606407"/>
              <a:gd name="connsiteY116" fmla="*/ 115802 h 528112"/>
              <a:gd name="connsiteX117" fmla="*/ 140674 w 606407"/>
              <a:gd name="connsiteY117" fmla="*/ 126822 h 528112"/>
              <a:gd name="connsiteX118" fmla="*/ 235878 w 606407"/>
              <a:gd name="connsiteY118" fmla="*/ 116082 h 528112"/>
              <a:gd name="connsiteX119" fmla="*/ 262344 w 606407"/>
              <a:gd name="connsiteY119" fmla="*/ 116829 h 528112"/>
              <a:gd name="connsiteX120" fmla="*/ 291336 w 606407"/>
              <a:gd name="connsiteY120" fmla="*/ 93762 h 528112"/>
              <a:gd name="connsiteX121" fmla="*/ 291336 w 606407"/>
              <a:gd name="connsiteY121" fmla="*/ 45200 h 528112"/>
              <a:gd name="connsiteX122" fmla="*/ 282264 w 606407"/>
              <a:gd name="connsiteY122" fmla="*/ 45200 h 528112"/>
              <a:gd name="connsiteX123" fmla="*/ 282264 w 606407"/>
              <a:gd name="connsiteY123" fmla="*/ 15783 h 528112"/>
              <a:gd name="connsiteX124" fmla="*/ 432458 w 606407"/>
              <a:gd name="connsiteY124" fmla="*/ 15783 h 528112"/>
              <a:gd name="connsiteX125" fmla="*/ 432458 w 606407"/>
              <a:gd name="connsiteY125" fmla="*/ 11300 h 528112"/>
              <a:gd name="connsiteX126" fmla="*/ 443774 w 606407"/>
              <a:gd name="connsiteY126" fmla="*/ 0 h 52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407" h="528112">
                <a:moveTo>
                  <a:pt x="102985" y="131491"/>
                </a:moveTo>
                <a:lnTo>
                  <a:pt x="89892" y="218810"/>
                </a:lnTo>
                <a:lnTo>
                  <a:pt x="102985" y="236740"/>
                </a:lnTo>
                <a:lnTo>
                  <a:pt x="103265" y="236740"/>
                </a:lnTo>
                <a:lnTo>
                  <a:pt x="116358" y="218810"/>
                </a:lnTo>
                <a:lnTo>
                  <a:pt x="103265" y="131491"/>
                </a:lnTo>
                <a:close/>
                <a:moveTo>
                  <a:pt x="335836" y="85949"/>
                </a:moveTo>
                <a:cubicBezTo>
                  <a:pt x="344722" y="85949"/>
                  <a:pt x="351924" y="93136"/>
                  <a:pt x="351924" y="101910"/>
                </a:cubicBezTo>
                <a:cubicBezTo>
                  <a:pt x="351924" y="106484"/>
                  <a:pt x="349960" y="110591"/>
                  <a:pt x="346966" y="113484"/>
                </a:cubicBezTo>
                <a:lnTo>
                  <a:pt x="392799" y="159220"/>
                </a:lnTo>
                <a:cubicBezTo>
                  <a:pt x="395698" y="156140"/>
                  <a:pt x="399814" y="154273"/>
                  <a:pt x="404304" y="154273"/>
                </a:cubicBezTo>
                <a:cubicBezTo>
                  <a:pt x="409355" y="154273"/>
                  <a:pt x="413751" y="156513"/>
                  <a:pt x="416744" y="160153"/>
                </a:cubicBezTo>
                <a:lnTo>
                  <a:pt x="455561" y="140365"/>
                </a:lnTo>
                <a:cubicBezTo>
                  <a:pt x="455561" y="140179"/>
                  <a:pt x="455561" y="139899"/>
                  <a:pt x="455561" y="139712"/>
                </a:cubicBezTo>
                <a:cubicBezTo>
                  <a:pt x="455561" y="130845"/>
                  <a:pt x="462764" y="123751"/>
                  <a:pt x="471649" y="123751"/>
                </a:cubicBezTo>
                <a:cubicBezTo>
                  <a:pt x="480442" y="123751"/>
                  <a:pt x="487644" y="130845"/>
                  <a:pt x="487644" y="139712"/>
                </a:cubicBezTo>
                <a:cubicBezTo>
                  <a:pt x="487644" y="144006"/>
                  <a:pt x="485960" y="147926"/>
                  <a:pt x="483154" y="150819"/>
                </a:cubicBezTo>
                <a:lnTo>
                  <a:pt x="496717" y="164353"/>
                </a:lnTo>
                <a:cubicBezTo>
                  <a:pt x="499055" y="163140"/>
                  <a:pt x="501581" y="162393"/>
                  <a:pt x="504387" y="162393"/>
                </a:cubicBezTo>
                <a:cubicBezTo>
                  <a:pt x="506351" y="162393"/>
                  <a:pt x="508222" y="162767"/>
                  <a:pt x="509906" y="163420"/>
                </a:cubicBezTo>
                <a:lnTo>
                  <a:pt x="540118" y="117964"/>
                </a:lnTo>
                <a:cubicBezTo>
                  <a:pt x="537031" y="115071"/>
                  <a:pt x="535160" y="110964"/>
                  <a:pt x="535160" y="106390"/>
                </a:cubicBezTo>
                <a:cubicBezTo>
                  <a:pt x="535160" y="97617"/>
                  <a:pt x="542363" y="90429"/>
                  <a:pt x="551155" y="90429"/>
                </a:cubicBezTo>
                <a:cubicBezTo>
                  <a:pt x="560041" y="90429"/>
                  <a:pt x="567243" y="97617"/>
                  <a:pt x="567243" y="106390"/>
                </a:cubicBezTo>
                <a:cubicBezTo>
                  <a:pt x="567243" y="115257"/>
                  <a:pt x="560041" y="122444"/>
                  <a:pt x="551155" y="122444"/>
                </a:cubicBezTo>
                <a:cubicBezTo>
                  <a:pt x="549939" y="122444"/>
                  <a:pt x="548629" y="122258"/>
                  <a:pt x="547507" y="121978"/>
                </a:cubicBezTo>
                <a:lnTo>
                  <a:pt x="516734" y="168180"/>
                </a:lnTo>
                <a:cubicBezTo>
                  <a:pt x="519072" y="170980"/>
                  <a:pt x="520475" y="174527"/>
                  <a:pt x="520475" y="178447"/>
                </a:cubicBezTo>
                <a:cubicBezTo>
                  <a:pt x="520475" y="187221"/>
                  <a:pt x="513273" y="194408"/>
                  <a:pt x="504481" y="194408"/>
                </a:cubicBezTo>
                <a:cubicBezTo>
                  <a:pt x="495501" y="194408"/>
                  <a:pt x="488392" y="187221"/>
                  <a:pt x="488392" y="178447"/>
                </a:cubicBezTo>
                <a:cubicBezTo>
                  <a:pt x="488392" y="175367"/>
                  <a:pt x="489234" y="172567"/>
                  <a:pt x="490731" y="170140"/>
                </a:cubicBezTo>
                <a:lnTo>
                  <a:pt x="475765" y="155113"/>
                </a:lnTo>
                <a:cubicBezTo>
                  <a:pt x="474456" y="155486"/>
                  <a:pt x="473053" y="155673"/>
                  <a:pt x="471649" y="155673"/>
                </a:cubicBezTo>
                <a:cubicBezTo>
                  <a:pt x="465944" y="155673"/>
                  <a:pt x="461080" y="152779"/>
                  <a:pt x="458180" y="148393"/>
                </a:cubicBezTo>
                <a:lnTo>
                  <a:pt x="420111" y="167714"/>
                </a:lnTo>
                <a:cubicBezTo>
                  <a:pt x="420298" y="168554"/>
                  <a:pt x="420392" y="169394"/>
                  <a:pt x="420392" y="170234"/>
                </a:cubicBezTo>
                <a:cubicBezTo>
                  <a:pt x="420392" y="179101"/>
                  <a:pt x="413190" y="186288"/>
                  <a:pt x="404304" y="186288"/>
                </a:cubicBezTo>
                <a:cubicBezTo>
                  <a:pt x="395418" y="186288"/>
                  <a:pt x="388309" y="179101"/>
                  <a:pt x="388309" y="170234"/>
                </a:cubicBezTo>
                <a:cubicBezTo>
                  <a:pt x="388309" y="169114"/>
                  <a:pt x="388403" y="167994"/>
                  <a:pt x="388683" y="166873"/>
                </a:cubicBezTo>
                <a:lnTo>
                  <a:pt x="339203" y="117591"/>
                </a:lnTo>
                <a:cubicBezTo>
                  <a:pt x="338174" y="117778"/>
                  <a:pt x="337052" y="117871"/>
                  <a:pt x="335836" y="117871"/>
                </a:cubicBezTo>
                <a:cubicBezTo>
                  <a:pt x="326950" y="117871"/>
                  <a:pt x="319841" y="110777"/>
                  <a:pt x="319841" y="101910"/>
                </a:cubicBezTo>
                <a:cubicBezTo>
                  <a:pt x="319841" y="93136"/>
                  <a:pt x="326950" y="85949"/>
                  <a:pt x="335836" y="85949"/>
                </a:cubicBezTo>
                <a:close/>
                <a:moveTo>
                  <a:pt x="304990" y="45200"/>
                </a:moveTo>
                <a:lnTo>
                  <a:pt x="304990" y="82929"/>
                </a:lnTo>
                <a:lnTo>
                  <a:pt x="340060" y="55099"/>
                </a:lnTo>
                <a:lnTo>
                  <a:pt x="345578" y="62010"/>
                </a:lnTo>
                <a:lnTo>
                  <a:pt x="304990" y="94416"/>
                </a:lnTo>
                <a:lnTo>
                  <a:pt x="304990" y="250842"/>
                </a:lnTo>
                <a:cubicBezTo>
                  <a:pt x="304990" y="252056"/>
                  <a:pt x="305925" y="253083"/>
                  <a:pt x="307234" y="253083"/>
                </a:cubicBezTo>
                <a:lnTo>
                  <a:pt x="581531" y="253083"/>
                </a:lnTo>
                <a:cubicBezTo>
                  <a:pt x="582746" y="253083"/>
                  <a:pt x="583775" y="252056"/>
                  <a:pt x="583775" y="250842"/>
                </a:cubicBezTo>
                <a:lnTo>
                  <a:pt x="583775" y="45200"/>
                </a:lnTo>
                <a:close/>
                <a:moveTo>
                  <a:pt x="103240" y="4375"/>
                </a:moveTo>
                <a:cubicBezTo>
                  <a:pt x="133229" y="4375"/>
                  <a:pt x="157540" y="28623"/>
                  <a:pt x="157540" y="58534"/>
                </a:cubicBezTo>
                <a:cubicBezTo>
                  <a:pt x="157540" y="88445"/>
                  <a:pt x="133229" y="112693"/>
                  <a:pt x="103240" y="112693"/>
                </a:cubicBezTo>
                <a:cubicBezTo>
                  <a:pt x="73251" y="112693"/>
                  <a:pt x="48940" y="88445"/>
                  <a:pt x="48940" y="58534"/>
                </a:cubicBezTo>
                <a:cubicBezTo>
                  <a:pt x="48940" y="28623"/>
                  <a:pt x="73251" y="4375"/>
                  <a:pt x="103240" y="4375"/>
                </a:cubicBezTo>
                <a:close/>
                <a:moveTo>
                  <a:pt x="443774" y="0"/>
                </a:moveTo>
                <a:lnTo>
                  <a:pt x="444990" y="0"/>
                </a:lnTo>
                <a:cubicBezTo>
                  <a:pt x="451163" y="0"/>
                  <a:pt x="456306" y="5043"/>
                  <a:pt x="456306" y="11300"/>
                </a:cubicBezTo>
                <a:lnTo>
                  <a:pt x="456306" y="15783"/>
                </a:lnTo>
                <a:lnTo>
                  <a:pt x="606407" y="15783"/>
                </a:lnTo>
                <a:lnTo>
                  <a:pt x="606407" y="45200"/>
                </a:lnTo>
                <a:lnTo>
                  <a:pt x="597429" y="45200"/>
                </a:lnTo>
                <a:lnTo>
                  <a:pt x="597429" y="250748"/>
                </a:lnTo>
                <a:cubicBezTo>
                  <a:pt x="597429" y="259527"/>
                  <a:pt x="590321" y="266624"/>
                  <a:pt x="581531" y="266624"/>
                </a:cubicBezTo>
                <a:lnTo>
                  <a:pt x="453407" y="266624"/>
                </a:lnTo>
                <a:lnTo>
                  <a:pt x="453407" y="429214"/>
                </a:lnTo>
                <a:lnTo>
                  <a:pt x="520368" y="480858"/>
                </a:lnTo>
                <a:cubicBezTo>
                  <a:pt x="524296" y="483846"/>
                  <a:pt x="525044" y="489543"/>
                  <a:pt x="521958" y="493558"/>
                </a:cubicBezTo>
                <a:cubicBezTo>
                  <a:pt x="520181" y="495800"/>
                  <a:pt x="517469" y="497014"/>
                  <a:pt x="514757" y="497014"/>
                </a:cubicBezTo>
                <a:cubicBezTo>
                  <a:pt x="512886" y="497014"/>
                  <a:pt x="510922" y="496360"/>
                  <a:pt x="509239" y="495146"/>
                </a:cubicBezTo>
                <a:lnTo>
                  <a:pt x="453407" y="452094"/>
                </a:lnTo>
                <a:lnTo>
                  <a:pt x="453407" y="487021"/>
                </a:lnTo>
                <a:lnTo>
                  <a:pt x="453407" y="518960"/>
                </a:lnTo>
                <a:cubicBezTo>
                  <a:pt x="453407" y="524003"/>
                  <a:pt x="449386" y="528112"/>
                  <a:pt x="444336" y="528112"/>
                </a:cubicBezTo>
                <a:cubicBezTo>
                  <a:pt x="439379" y="528112"/>
                  <a:pt x="435264" y="524097"/>
                  <a:pt x="435264" y="518960"/>
                </a:cubicBezTo>
                <a:lnTo>
                  <a:pt x="435264" y="452094"/>
                </a:lnTo>
                <a:lnTo>
                  <a:pt x="379432" y="495146"/>
                </a:lnTo>
                <a:cubicBezTo>
                  <a:pt x="377749" y="496360"/>
                  <a:pt x="375878" y="497014"/>
                  <a:pt x="373914" y="497014"/>
                </a:cubicBezTo>
                <a:cubicBezTo>
                  <a:pt x="371202" y="497014"/>
                  <a:pt x="368490" y="495800"/>
                  <a:pt x="366713" y="493558"/>
                </a:cubicBezTo>
                <a:cubicBezTo>
                  <a:pt x="363627" y="489543"/>
                  <a:pt x="364375" y="483846"/>
                  <a:pt x="368303" y="480858"/>
                </a:cubicBezTo>
                <a:lnTo>
                  <a:pt x="435264" y="429214"/>
                </a:lnTo>
                <a:lnTo>
                  <a:pt x="435264" y="266624"/>
                </a:lnTo>
                <a:lnTo>
                  <a:pt x="307234" y="266624"/>
                </a:lnTo>
                <a:cubicBezTo>
                  <a:pt x="298443" y="266624"/>
                  <a:pt x="291336" y="259527"/>
                  <a:pt x="291336" y="250748"/>
                </a:cubicBezTo>
                <a:lnTo>
                  <a:pt x="291336" y="105249"/>
                </a:lnTo>
                <a:lnTo>
                  <a:pt x="267768" y="124020"/>
                </a:lnTo>
                <a:cubicBezTo>
                  <a:pt x="271790" y="132799"/>
                  <a:pt x="269358" y="143445"/>
                  <a:pt x="261315" y="149609"/>
                </a:cubicBezTo>
                <a:cubicBezTo>
                  <a:pt x="235317" y="169314"/>
                  <a:pt x="210253" y="185563"/>
                  <a:pt x="180794" y="185563"/>
                </a:cubicBezTo>
                <a:cubicBezTo>
                  <a:pt x="173687" y="185563"/>
                  <a:pt x="166392" y="184629"/>
                  <a:pt x="158723" y="182575"/>
                </a:cubicBezTo>
                <a:lnTo>
                  <a:pt x="158723" y="282594"/>
                </a:lnTo>
                <a:cubicBezTo>
                  <a:pt x="158723" y="288291"/>
                  <a:pt x="157227" y="298283"/>
                  <a:pt x="154982" y="302112"/>
                </a:cubicBezTo>
                <a:cubicBezTo>
                  <a:pt x="155076" y="302486"/>
                  <a:pt x="173219" y="501030"/>
                  <a:pt x="173219" y="501030"/>
                </a:cubicBezTo>
                <a:cubicBezTo>
                  <a:pt x="174435" y="514758"/>
                  <a:pt x="164241" y="526805"/>
                  <a:pt x="150587" y="527925"/>
                </a:cubicBezTo>
                <a:cubicBezTo>
                  <a:pt x="149839" y="528019"/>
                  <a:pt x="149091" y="528112"/>
                  <a:pt x="148436" y="528112"/>
                </a:cubicBezTo>
                <a:cubicBezTo>
                  <a:pt x="135624" y="528112"/>
                  <a:pt x="124775" y="518306"/>
                  <a:pt x="123653" y="505325"/>
                </a:cubicBezTo>
                <a:lnTo>
                  <a:pt x="107287" y="330222"/>
                </a:lnTo>
                <a:cubicBezTo>
                  <a:pt x="105510" y="330315"/>
                  <a:pt x="104949" y="330409"/>
                  <a:pt x="103172" y="330409"/>
                </a:cubicBezTo>
                <a:cubicBezTo>
                  <a:pt x="102237" y="330409"/>
                  <a:pt x="100086" y="330315"/>
                  <a:pt x="99244" y="330315"/>
                </a:cubicBezTo>
                <a:lnTo>
                  <a:pt x="86899" y="505139"/>
                </a:lnTo>
                <a:cubicBezTo>
                  <a:pt x="85871" y="518120"/>
                  <a:pt x="74929" y="528019"/>
                  <a:pt x="62116" y="528019"/>
                </a:cubicBezTo>
                <a:cubicBezTo>
                  <a:pt x="61462" y="528019"/>
                  <a:pt x="60807" y="528019"/>
                  <a:pt x="60152" y="528019"/>
                </a:cubicBezTo>
                <a:cubicBezTo>
                  <a:pt x="46405" y="526898"/>
                  <a:pt x="36211" y="514944"/>
                  <a:pt x="37240" y="501310"/>
                </a:cubicBezTo>
                <a:lnTo>
                  <a:pt x="52577" y="302672"/>
                </a:lnTo>
                <a:cubicBezTo>
                  <a:pt x="49398" y="296696"/>
                  <a:pt x="47621" y="289972"/>
                  <a:pt x="47621" y="282594"/>
                </a:cubicBezTo>
                <a:lnTo>
                  <a:pt x="47621" y="215074"/>
                </a:lnTo>
                <a:cubicBezTo>
                  <a:pt x="42664" y="232818"/>
                  <a:pt x="40700" y="256538"/>
                  <a:pt x="43225" y="289318"/>
                </a:cubicBezTo>
                <a:cubicBezTo>
                  <a:pt x="44160" y="300898"/>
                  <a:pt x="35463" y="310984"/>
                  <a:pt x="23866" y="311918"/>
                </a:cubicBezTo>
                <a:cubicBezTo>
                  <a:pt x="23305" y="311918"/>
                  <a:pt x="22744" y="312011"/>
                  <a:pt x="22183" y="312011"/>
                </a:cubicBezTo>
                <a:cubicBezTo>
                  <a:pt x="11335" y="312011"/>
                  <a:pt x="2076" y="303606"/>
                  <a:pt x="1234" y="292586"/>
                </a:cubicBezTo>
                <a:cubicBezTo>
                  <a:pt x="-7089" y="186590"/>
                  <a:pt x="27981" y="149889"/>
                  <a:pt x="67073" y="125981"/>
                </a:cubicBezTo>
                <a:cubicBezTo>
                  <a:pt x="68195" y="125234"/>
                  <a:pt x="82971" y="117483"/>
                  <a:pt x="89611" y="115895"/>
                </a:cubicBezTo>
                <a:lnTo>
                  <a:pt x="103172" y="129437"/>
                </a:lnTo>
                <a:lnTo>
                  <a:pt x="116265" y="115709"/>
                </a:lnTo>
                <a:cubicBezTo>
                  <a:pt x="116265" y="115709"/>
                  <a:pt x="116358" y="115709"/>
                  <a:pt x="116358" y="115802"/>
                </a:cubicBezTo>
                <a:cubicBezTo>
                  <a:pt x="123279" y="117390"/>
                  <a:pt x="137401" y="124767"/>
                  <a:pt x="140674" y="126822"/>
                </a:cubicBezTo>
                <a:cubicBezTo>
                  <a:pt x="181823" y="152877"/>
                  <a:pt x="196038" y="146247"/>
                  <a:pt x="235878" y="116082"/>
                </a:cubicBezTo>
                <a:cubicBezTo>
                  <a:pt x="243921" y="109919"/>
                  <a:pt x="254956" y="110572"/>
                  <a:pt x="262344" y="116829"/>
                </a:cubicBezTo>
                <a:lnTo>
                  <a:pt x="291336" y="93762"/>
                </a:lnTo>
                <a:lnTo>
                  <a:pt x="291336" y="45200"/>
                </a:lnTo>
                <a:lnTo>
                  <a:pt x="282264" y="45200"/>
                </a:lnTo>
                <a:lnTo>
                  <a:pt x="282264" y="15783"/>
                </a:lnTo>
                <a:lnTo>
                  <a:pt x="432458" y="15783"/>
                </a:lnTo>
                <a:lnTo>
                  <a:pt x="432458" y="11300"/>
                </a:lnTo>
                <a:cubicBezTo>
                  <a:pt x="432458" y="5043"/>
                  <a:pt x="437509" y="0"/>
                  <a:pt x="443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AE729C3-43A3-1524-699F-E9CEF83E5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063341"/>
              </p:ext>
            </p:extLst>
          </p:nvPr>
        </p:nvGraphicFramePr>
        <p:xfrm>
          <a:off x="5819775" y="4186238"/>
          <a:ext cx="8096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279360" progId="Equation.DSMT4">
                  <p:embed/>
                </p:oleObj>
              </mc:Choice>
              <mc:Fallback>
                <p:oleObj name="Equation" r:id="rId2" imgW="431640" imgH="2793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96D5A8D-6841-AE48-45B7-D7A5436B5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19775" y="4186238"/>
                        <a:ext cx="809625" cy="525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267FC62-2046-6B11-1972-7580A99852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2966" y="5119743"/>
          <a:ext cx="8223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1581" imgH="553340" progId="Equation.DSMT4">
                  <p:embed/>
                </p:oleObj>
              </mc:Choice>
              <mc:Fallback>
                <p:oleObj name="Equation" r:id="rId4" imgW="821581" imgH="5533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89C6D86-78A7-46BF-B4D2-EF4F0889C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2966" y="5119743"/>
                        <a:ext cx="822325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26">
            <a:extLst>
              <a:ext uri="{FF2B5EF4-FFF2-40B4-BE49-F238E27FC236}">
                <a16:creationId xmlns:a16="http://schemas.microsoft.com/office/drawing/2014/main" id="{8FE620F0-AC2A-B2AA-DE6A-B01724819A6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233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5C96-900C-22F5-CD7A-C6D0FFD5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EAF13AD2-FE61-4BF2-EA06-3A3A6C8F7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41595FE-5511-6425-B7F4-32083E665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B05949E-2B7D-4BDE-29E7-21058BA56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CC87E2C-9C6B-FB49-ED1A-97416C56A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05" y="2140770"/>
            <a:ext cx="11245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的上市公司股票数据集，包含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490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个企业的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天的股票价格信息，具体字段包括：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（日期），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ABBV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等属性均为相应公司当日的股价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644DA4-4589-1EB2-737F-A46954B6F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739408"/>
              </p:ext>
            </p:extLst>
          </p:nvPr>
        </p:nvGraphicFramePr>
        <p:xfrm>
          <a:off x="705975" y="3332557"/>
          <a:ext cx="10580561" cy="2548854"/>
        </p:xfrm>
        <a:graphic>
          <a:graphicData uri="http://schemas.openxmlformats.org/drawingml/2006/table">
            <a:tbl>
              <a:tblPr firstRow="1" firstCol="1" bandRow="1"/>
              <a:tblGrid>
                <a:gridCol w="1518979">
                  <a:extLst>
                    <a:ext uri="{9D8B030D-6E8A-4147-A177-3AD203B41FA5}">
                      <a16:colId xmlns:a16="http://schemas.microsoft.com/office/drawing/2014/main" val="1814094826"/>
                    </a:ext>
                  </a:extLst>
                </a:gridCol>
                <a:gridCol w="1434804">
                  <a:extLst>
                    <a:ext uri="{9D8B030D-6E8A-4147-A177-3AD203B41FA5}">
                      <a16:colId xmlns:a16="http://schemas.microsoft.com/office/drawing/2014/main" val="859268647"/>
                    </a:ext>
                  </a:extLst>
                </a:gridCol>
                <a:gridCol w="1604429">
                  <a:extLst>
                    <a:ext uri="{9D8B030D-6E8A-4147-A177-3AD203B41FA5}">
                      <a16:colId xmlns:a16="http://schemas.microsoft.com/office/drawing/2014/main" val="2823000377"/>
                    </a:ext>
                  </a:extLst>
                </a:gridCol>
                <a:gridCol w="1627386">
                  <a:extLst>
                    <a:ext uri="{9D8B030D-6E8A-4147-A177-3AD203B41FA5}">
                      <a16:colId xmlns:a16="http://schemas.microsoft.com/office/drawing/2014/main" val="896973005"/>
                    </a:ext>
                  </a:extLst>
                </a:gridCol>
                <a:gridCol w="1284309">
                  <a:extLst>
                    <a:ext uri="{9D8B030D-6E8A-4147-A177-3AD203B41FA5}">
                      <a16:colId xmlns:a16="http://schemas.microsoft.com/office/drawing/2014/main" val="2633457359"/>
                    </a:ext>
                  </a:extLst>
                </a:gridCol>
                <a:gridCol w="1614632">
                  <a:extLst>
                    <a:ext uri="{9D8B030D-6E8A-4147-A177-3AD203B41FA5}">
                      <a16:colId xmlns:a16="http://schemas.microsoft.com/office/drawing/2014/main" val="2135887843"/>
                    </a:ext>
                  </a:extLst>
                </a:gridCol>
                <a:gridCol w="1496022">
                  <a:extLst>
                    <a:ext uri="{9D8B030D-6E8A-4147-A177-3AD203B41FA5}">
                      <a16:colId xmlns:a16="http://schemas.microsoft.com/office/drawing/2014/main" val="1631887636"/>
                    </a:ext>
                  </a:extLst>
                </a:gridCol>
              </a:tblGrid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Date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ABT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ABBV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ACN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ZION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ZTS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926544"/>
                  </a:ext>
                </a:extLst>
              </a:tr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2001/2/15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42.888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61.42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85.243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27.793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42.639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835511"/>
                  </a:ext>
                </a:extLst>
              </a:tr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2001/5/15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42.897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60.264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83.803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26.752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42.383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00299"/>
                  </a:ext>
                </a:extLst>
              </a:tr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2001/6/15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42.41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59.966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83.199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25.73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41.969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831547"/>
                  </a:ext>
                </a:extLst>
              </a:tr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240462"/>
                  </a:ext>
                </a:extLst>
              </a:tr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2012/8/16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38.68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60.9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121.74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43.09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51.68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975948"/>
                  </a:ext>
                </a:extLst>
              </a:tr>
              <a:tr h="3641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2012/9/16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39.2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61.54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123.31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43.23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1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51.89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7741" marR="13774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223644"/>
                  </a:ext>
                </a:extLst>
              </a:tr>
            </a:tbl>
          </a:graphicData>
        </a:graphic>
      </p:graphicFrame>
      <p:sp>
        <p:nvSpPr>
          <p:cNvPr id="9" name="矩形: 圆角 12">
            <a:extLst>
              <a:ext uri="{FF2B5EF4-FFF2-40B4-BE49-F238E27FC236}">
                <a16:creationId xmlns:a16="http://schemas.microsoft.com/office/drawing/2014/main" id="{4E9F0391-041B-EBA5-91F8-1920E1BBF9DF}"/>
              </a:ext>
            </a:extLst>
          </p:cNvPr>
          <p:cNvSpPr/>
          <p:nvPr/>
        </p:nvSpPr>
        <p:spPr>
          <a:xfrm>
            <a:off x="166155" y="976588"/>
            <a:ext cx="532440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基于谱聚类的股票数据聚类</a:t>
            </a:r>
          </a:p>
        </p:txBody>
      </p:sp>
      <p:sp>
        <p:nvSpPr>
          <p:cNvPr id="10" name="箭头: 五边形 11">
            <a:extLst>
              <a:ext uri="{FF2B5EF4-FFF2-40B4-BE49-F238E27FC236}">
                <a16:creationId xmlns:a16="http://schemas.microsoft.com/office/drawing/2014/main" id="{E3CFF195-1BBB-9278-5344-43BF842978F5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7.4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11" name="矩形 26">
            <a:extLst>
              <a:ext uri="{FF2B5EF4-FFF2-40B4-BE49-F238E27FC236}">
                <a16:creationId xmlns:a16="http://schemas.microsoft.com/office/drawing/2014/main" id="{075EAB24-96E2-6832-8355-391D092339D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33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C1D0-429C-BC00-6B1F-134634FF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24FBEB2A-ACCA-46B7-9D5A-886003060A5C}"/>
              </a:ext>
            </a:extLst>
          </p:cNvPr>
          <p:cNvSpPr txBox="1"/>
          <p:nvPr/>
        </p:nvSpPr>
        <p:spPr>
          <a:xfrm>
            <a:off x="168715" y="1683223"/>
            <a:ext cx="1127036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谱聚类可以调用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sklearn.cluster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模块中的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SpectralClustering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类构建学习器进行实现</a:t>
            </a:r>
            <a:endParaRPr lang="zh-CN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F8EBD6-8050-AB3D-78F5-81D754184C5C}"/>
              </a:ext>
            </a:extLst>
          </p:cNvPr>
          <p:cNvSpPr txBox="1"/>
          <p:nvPr/>
        </p:nvSpPr>
        <p:spPr>
          <a:xfrm>
            <a:off x="212593" y="4093294"/>
            <a:ext cx="11270367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affinity”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表示似矩阵构建方法，有“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nearest_neighbors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rbf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precomputed”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precomputed_nearest_neighbors”4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种方法，默认“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fbf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；参数“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assign_labels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表示特征向量的聚类方法，有“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kmeans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discretize”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cluster_qr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三种方法，默认“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kmeans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FAD5E-ED8C-1334-5342-3D88A861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3" y="2744926"/>
            <a:ext cx="11128887" cy="1247954"/>
          </a:xfrm>
          <a:prstGeom prst="rect">
            <a:avLst/>
          </a:prstGeom>
        </p:spPr>
      </p:pic>
      <p:sp>
        <p:nvSpPr>
          <p:cNvPr id="2" name="矩形 26">
            <a:extLst>
              <a:ext uri="{FF2B5EF4-FFF2-40B4-BE49-F238E27FC236}">
                <a16:creationId xmlns:a16="http://schemas.microsoft.com/office/drawing/2014/main" id="{0353254D-D4CA-C0F1-3C62-1552557F50C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7E572335-3537-0B25-8936-43AF65CB6C4F}"/>
              </a:ext>
            </a:extLst>
          </p:cNvPr>
          <p:cNvSpPr/>
          <p:nvPr/>
        </p:nvSpPr>
        <p:spPr>
          <a:xfrm>
            <a:off x="166155" y="976588"/>
            <a:ext cx="532440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基于谱聚类的股票数据聚类</a:t>
            </a:r>
          </a:p>
        </p:txBody>
      </p:sp>
      <p:sp>
        <p:nvSpPr>
          <p:cNvPr id="5" name="箭头: 五边形 11">
            <a:extLst>
              <a:ext uri="{FF2B5EF4-FFF2-40B4-BE49-F238E27FC236}">
                <a16:creationId xmlns:a16="http://schemas.microsoft.com/office/drawing/2014/main" id="{0131C921-99C4-9E1C-7173-F235821F1BEA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7.4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49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3FCC-0763-8E97-C8D1-2FA516DE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A6D610-004C-8919-15E6-9BE644CC46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282"/>
          <a:stretch/>
        </p:blipFill>
        <p:spPr>
          <a:xfrm>
            <a:off x="3796069" y="1521418"/>
            <a:ext cx="8219553" cy="4944757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3485D0EA-8CFE-2D52-FEB1-F61C61648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0ABFD14-093C-1C26-93F6-2B501B5A8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3C00F6-9E97-A804-3D38-EE83389A9B6F}"/>
              </a:ext>
            </a:extLst>
          </p:cNvPr>
          <p:cNvSpPr txBox="1"/>
          <p:nvPr/>
        </p:nvSpPr>
        <p:spPr>
          <a:xfrm>
            <a:off x="459060" y="2008805"/>
            <a:ext cx="24408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T-SNE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降维：高维数据转化为二维数据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7A96FB0-72BA-160C-66E3-16D74FD72407}"/>
              </a:ext>
            </a:extLst>
          </p:cNvPr>
          <p:cNvCxnSpPr>
            <a:cxnSpLocks/>
          </p:cNvCxnSpPr>
          <p:nvPr/>
        </p:nvCxnSpPr>
        <p:spPr>
          <a:xfrm flipH="1" flipV="1">
            <a:off x="2730137" y="3240455"/>
            <a:ext cx="3196101" cy="21880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4A8C289-D64B-9313-0005-EC33EC294B33}"/>
              </a:ext>
            </a:extLst>
          </p:cNvPr>
          <p:cNvCxnSpPr>
            <a:cxnSpLocks/>
          </p:cNvCxnSpPr>
          <p:nvPr/>
        </p:nvCxnSpPr>
        <p:spPr>
          <a:xfrm flipH="1" flipV="1">
            <a:off x="2399211" y="4407037"/>
            <a:ext cx="3346269" cy="16291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43332526-BEF2-1815-9F5D-335FFD9E2840}"/>
              </a:ext>
            </a:extLst>
          </p:cNvPr>
          <p:cNvSpPr/>
          <p:nvPr/>
        </p:nvSpPr>
        <p:spPr>
          <a:xfrm>
            <a:off x="166155" y="976588"/>
            <a:ext cx="532440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基于谱聚类的股票数据聚类</a:t>
            </a:r>
          </a:p>
        </p:txBody>
      </p:sp>
      <p:sp>
        <p:nvSpPr>
          <p:cNvPr id="8" name="箭头: 五边形 11">
            <a:extLst>
              <a:ext uri="{FF2B5EF4-FFF2-40B4-BE49-F238E27FC236}">
                <a16:creationId xmlns:a16="http://schemas.microsoft.com/office/drawing/2014/main" id="{03C91DA5-A761-7136-A479-3F97F4ADB856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7.4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13" name="矩形 26">
            <a:extLst>
              <a:ext uri="{FF2B5EF4-FFF2-40B4-BE49-F238E27FC236}">
                <a16:creationId xmlns:a16="http://schemas.microsoft.com/office/drawing/2014/main" id="{71C7CB12-DE14-8DC6-A168-1042C1289BD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00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B1FAC-3D88-13C7-99D8-7F950321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182613033">
            <a:extLst>
              <a:ext uri="{FF2B5EF4-FFF2-40B4-BE49-F238E27FC236}">
                <a16:creationId xmlns:a16="http://schemas.microsoft.com/office/drawing/2014/main" id="{76683FEC-A173-353C-A182-E1AAE7C5E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56" t="4270"/>
          <a:stretch>
            <a:fillRect/>
          </a:stretch>
        </p:blipFill>
        <p:spPr>
          <a:xfrm>
            <a:off x="2224873" y="3774383"/>
            <a:ext cx="4804366" cy="3071743"/>
          </a:xfrm>
          <a:prstGeom prst="rect">
            <a:avLst/>
          </a:prstGeom>
        </p:spPr>
      </p:pic>
      <p:pic>
        <p:nvPicPr>
          <p:cNvPr id="4" name="图形 1182613034">
            <a:extLst>
              <a:ext uri="{FF2B5EF4-FFF2-40B4-BE49-F238E27FC236}">
                <a16:creationId xmlns:a16="http://schemas.microsoft.com/office/drawing/2014/main" id="{8F6D1373-FA68-7D35-3AC5-C83794F51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89" t="6068"/>
          <a:stretch>
            <a:fillRect/>
          </a:stretch>
        </p:blipFill>
        <p:spPr>
          <a:xfrm>
            <a:off x="7029239" y="3786257"/>
            <a:ext cx="4873521" cy="30717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687AF1-2CF0-9E1F-D243-F474772CAEF4}"/>
              </a:ext>
            </a:extLst>
          </p:cNvPr>
          <p:cNvSpPr txBox="1"/>
          <p:nvPr/>
        </p:nvSpPr>
        <p:spPr>
          <a:xfrm>
            <a:off x="2442257" y="2294343"/>
            <a:ext cx="8565265" cy="144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从输出结果可以发现，经过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t-SNE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算法降维，数据被降维到为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两个属性。当聚类数为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Davies_Bouldin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指数达到最优值，表明将数据集适宜划分为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个簇。谱聚类和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Davies_Bouldin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指数值表明，在同一聚类数量时，谱聚类的结果要优于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算法。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A44BE9-EAB5-B405-E0A7-2A3489F0F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32" y="4088605"/>
            <a:ext cx="2120841" cy="24432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最佳聚类数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10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谱聚类最佳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指数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0.643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K-means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最佳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DB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指数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:0.789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7A53F5-104A-CA0B-225F-8FD00DEACCE1}"/>
              </a:ext>
            </a:extLst>
          </p:cNvPr>
          <p:cNvSpPr txBox="1"/>
          <p:nvPr/>
        </p:nvSpPr>
        <p:spPr>
          <a:xfrm>
            <a:off x="166155" y="3198167"/>
            <a:ext cx="3193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FF0000"/>
                </a:solidFill>
              </a:rPr>
              <a:t>输出结果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9" name="矩形: 圆角 12">
            <a:extLst>
              <a:ext uri="{FF2B5EF4-FFF2-40B4-BE49-F238E27FC236}">
                <a16:creationId xmlns:a16="http://schemas.microsoft.com/office/drawing/2014/main" id="{E4ADAF45-B46A-478F-5B60-B55A091347E1}"/>
              </a:ext>
            </a:extLst>
          </p:cNvPr>
          <p:cNvSpPr/>
          <p:nvPr/>
        </p:nvSpPr>
        <p:spPr>
          <a:xfrm>
            <a:off x="166155" y="976588"/>
            <a:ext cx="532440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基于谱聚类的股票数据聚类</a:t>
            </a:r>
          </a:p>
        </p:txBody>
      </p:sp>
      <p:sp>
        <p:nvSpPr>
          <p:cNvPr id="10" name="箭头: 五边形 11">
            <a:extLst>
              <a:ext uri="{FF2B5EF4-FFF2-40B4-BE49-F238E27FC236}">
                <a16:creationId xmlns:a16="http://schemas.microsoft.com/office/drawing/2014/main" id="{9009FF0F-8D88-247E-0BEF-5A77A913BC0B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7.4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11" name="矩形 26">
            <a:extLst>
              <a:ext uri="{FF2B5EF4-FFF2-40B4-BE49-F238E27FC236}">
                <a16:creationId xmlns:a16="http://schemas.microsoft.com/office/drawing/2014/main" id="{30CD1739-099F-07B9-92D6-05B18BAB6D4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七、谱聚类算法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666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727</Words>
  <Application>Microsoft Office PowerPoint</Application>
  <PresentationFormat>宽屏</PresentationFormat>
  <Paragraphs>147</Paragraphs>
  <Slides>14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华光综艺_CNKI</vt:lpstr>
      <vt:lpstr>微软雅黑</vt:lpstr>
      <vt:lpstr>Arial</vt:lpstr>
      <vt:lpstr>Calibri</vt:lpstr>
      <vt:lpstr>Courier New</vt:lpstr>
      <vt:lpstr>Impact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Black</dc:creator>
  <cp:lastModifiedBy>Star Champion</cp:lastModifiedBy>
  <cp:revision>197</cp:revision>
  <dcterms:created xsi:type="dcterms:W3CDTF">2019-06-19T02:08:00Z</dcterms:created>
  <dcterms:modified xsi:type="dcterms:W3CDTF">2025-04-18T13:04:03Z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