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31"/>
  </p:handoutMasterIdLst>
  <p:sldIdLst>
    <p:sldId id="15638" r:id="rId14"/>
    <p:sldId id="15514" r:id="rId16"/>
    <p:sldId id="15682" r:id="rId17"/>
    <p:sldId id="15683" r:id="rId18"/>
    <p:sldId id="15684" r:id="rId19"/>
    <p:sldId id="15685" r:id="rId20"/>
    <p:sldId id="15686" r:id="rId21"/>
    <p:sldId id="15687" r:id="rId22"/>
    <p:sldId id="15688" r:id="rId23"/>
    <p:sldId id="15689" r:id="rId24"/>
    <p:sldId id="15690" r:id="rId25"/>
    <p:sldId id="15691" r:id="rId26"/>
    <p:sldId id="15692" r:id="rId27"/>
    <p:sldId id="15693" r:id="rId28"/>
    <p:sldId id="15694" r:id="rId29"/>
    <p:sldId id="15502" r:id="rId30"/>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85" userDrawn="1">
          <p15:clr>
            <a:srgbClr val="A4A3A4"/>
          </p15:clr>
        </p15:guide>
        <p15:guide id="5" orient="horz" pos="24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5B9BD5"/>
    <a:srgbClr val="ED7D31"/>
    <a:srgbClr val="FD5C0C"/>
    <a:srgbClr val="FFFFFF"/>
    <a:srgbClr val="0066FF"/>
    <a:srgbClr val="7EA4EE"/>
    <a:srgbClr val="00FF00"/>
    <a:srgbClr val="F6F9FE"/>
    <a:srgbClr val="91C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85"/>
        <p:guide orient="horz" pos="240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5" Type="http://schemas.openxmlformats.org/officeDocument/2006/relationships/tags" Target="tags/tag27.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7.bin"/><Relationship Id="rId4" Type="http://schemas.openxmlformats.org/officeDocument/2006/relationships/image" Target="../media/image28.wmf"/><Relationship Id="rId3" Type="http://schemas.openxmlformats.org/officeDocument/2006/relationships/oleObject" Target="../embeddings/oleObject6.bin"/><Relationship Id="rId2" Type="http://schemas.openxmlformats.org/officeDocument/2006/relationships/image" Target="../media/image27.wmf"/><Relationship Id="rId1"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4.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0" Type="http://schemas.openxmlformats.org/officeDocument/2006/relationships/notesSlide" Target="../notesSlides/notesSlide11.xml"/><Relationship Id="rId2" Type="http://schemas.openxmlformats.org/officeDocument/2006/relationships/tags" Target="../tags/tag3.xml"/><Relationship Id="rId19" Type="http://schemas.openxmlformats.org/officeDocument/2006/relationships/slideLayout" Target="../slideLayouts/slideLayout2.xml"/><Relationship Id="rId18" Type="http://schemas.openxmlformats.org/officeDocument/2006/relationships/image" Target="../media/image38.png"/><Relationship Id="rId17" Type="http://schemas.openxmlformats.org/officeDocument/2006/relationships/tags" Target="../tags/tag16.xml"/><Relationship Id="rId16" Type="http://schemas.openxmlformats.org/officeDocument/2006/relationships/image" Target="../media/image37.png"/><Relationship Id="rId15" Type="http://schemas.openxmlformats.org/officeDocument/2006/relationships/tags" Target="../tags/tag15.xml"/><Relationship Id="rId14" Type="http://schemas.openxmlformats.org/officeDocument/2006/relationships/image" Target="../media/image36.png"/><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2" Type="http://schemas.openxmlformats.org/officeDocument/2006/relationships/notesSlide" Target="../notesSlides/notesSlide12.xml"/><Relationship Id="rId11" Type="http://schemas.openxmlformats.org/officeDocument/2006/relationships/slideLayout" Target="../slideLayouts/slideLayout2.xml"/><Relationship Id="rId10" Type="http://schemas.openxmlformats.org/officeDocument/2006/relationships/tags" Target="../tags/tag26.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10</a:t>
            </a:r>
            <a:r>
              <a:rPr lang="en-US" altLang="zh-CN" sz="5400" b="0" dirty="0">
                <a:solidFill>
                  <a:schemeClr val="bg1"/>
                </a:solidFill>
                <a:ea typeface="华光综艺_CNKI" panose="02000500000000000000" pitchFamily="2" charset="-122"/>
              </a:rPr>
              <a:t>.1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集成</a:t>
            </a:r>
            <a:r>
              <a:rPr lang="zh-CN" altLang="en-US" b="0" dirty="0">
                <a:ea typeface="华光综艺_CNKI" panose="02000500000000000000" pitchFamily="2" charset="-122"/>
              </a:rPr>
              <a:t>学习概要</a:t>
            </a:r>
            <a:endParaRPr lang="en-US" altLang="zh-CN"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a:t>
            </a:r>
            <a:r>
              <a:rPr lang="zh-CN" altLang="en-US" sz="3200" dirty="0">
                <a:solidFill>
                  <a:srgbClr val="FFFF00"/>
                </a:solidFill>
                <a:latin typeface="华光综艺_CNKI" panose="02000500000000000000" pitchFamily="2" charset="-122"/>
                <a:ea typeface="华光综艺_CNKI" panose="02000500000000000000" pitchFamily="2" charset="-122"/>
              </a:rPr>
              <a:t>学习定义及</a:t>
            </a:r>
            <a:r>
              <a:rPr lang="zh-CN" altLang="en-US" sz="3200" dirty="0">
                <a:solidFill>
                  <a:srgbClr val="FFFF00"/>
                </a:solidFill>
                <a:latin typeface="华光综艺_CNKI" panose="02000500000000000000" pitchFamily="2" charset="-122"/>
                <a:ea typeface="华光综艺_CNKI" panose="02000500000000000000" pitchFamily="2" charset="-122"/>
              </a:rPr>
              <a:t>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文本框 1"/>
          <p:cNvSpPr txBox="1"/>
          <p:nvPr/>
        </p:nvSpPr>
        <p:spPr>
          <a:xfrm>
            <a:off x="1071245" y="1696720"/>
            <a:ext cx="10340340" cy="4341495"/>
          </a:xfrm>
          <a:prstGeom prst="rect">
            <a:avLst/>
          </a:prstGeom>
        </p:spPr>
        <p:txBody>
          <a:bodyPr>
            <a:noAutofit/>
          </a:bodyPr>
          <a:p>
            <a:pPr indent="0" algn="l" defTabSz="266700" fontAlgn="auto">
              <a:lnSpc>
                <a:spcPct val="125000"/>
              </a:lnSpc>
              <a:spcBef>
                <a:spcPct val="0"/>
              </a:spcBef>
              <a:spcAft>
                <a:spcPct val="0"/>
              </a:spcAft>
            </a:pP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集成学习（</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rPr>
              <a:t>Ensemble learning</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是一种通过构建并结合多个学习器来完成学习任务的机器学习技术，其旨在解决单一模型在面对复杂数据预测问题时所遇到的挑战，如噪声干扰、过拟合和欠拟合等。</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endParaRPr>
          </a:p>
          <a:p>
            <a:pPr indent="0" algn="l" defTabSz="266700" fontAlgn="auto">
              <a:lnSpc>
                <a:spcPct val="125000"/>
              </a:lnSpc>
              <a:spcBef>
                <a:spcPct val="0"/>
              </a:spcBef>
              <a:spcAft>
                <a:spcPct val="0"/>
              </a:spcAft>
            </a:pP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个体学习器（</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rPr>
              <a:t>Individual learner</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是集成学习中的基本组成单位，它是指单独的一个学习算法或模型，用于从数据中学习某种规律或模式。</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a:t>
            </a:r>
            <a:r>
              <a:rPr lang="zh-CN" altLang="en-US" sz="3200" dirty="0">
                <a:solidFill>
                  <a:srgbClr val="FFFF00"/>
                </a:solidFill>
                <a:latin typeface="华光综艺_CNKI" panose="02000500000000000000" pitchFamily="2" charset="-122"/>
                <a:ea typeface="华光综艺_CNKI" panose="02000500000000000000" pitchFamily="2" charset="-122"/>
              </a:rPr>
              <a:t>学习定义及</a:t>
            </a:r>
            <a:r>
              <a:rPr lang="zh-CN" altLang="en-US" sz="3200" dirty="0">
                <a:solidFill>
                  <a:srgbClr val="FFFF00"/>
                </a:solidFill>
                <a:latin typeface="华光综艺_CNKI" panose="02000500000000000000" pitchFamily="2" charset="-122"/>
                <a:ea typeface="华光综艺_CNKI" panose="02000500000000000000" pitchFamily="2" charset="-122"/>
              </a:rPr>
              <a:t>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pic>
        <p:nvPicPr>
          <p:cNvPr id="86" name="图片 438"/>
          <p:cNvPicPr>
            <a:picLocks noChangeAspect="1"/>
          </p:cNvPicPr>
          <p:nvPr/>
        </p:nvPicPr>
        <p:blipFill>
          <a:blip r:embed="rId1"/>
          <a:stretch>
            <a:fillRect/>
          </a:stretch>
        </p:blipFill>
        <p:spPr>
          <a:xfrm>
            <a:off x="1496060" y="3409950"/>
            <a:ext cx="9017000" cy="2984500"/>
          </a:xfrm>
          <a:prstGeom prst="rect">
            <a:avLst/>
          </a:prstGeom>
          <a:noFill/>
          <a:ln>
            <a:noFill/>
          </a:ln>
        </p:spPr>
      </p:pic>
      <p:sp>
        <p:nvSpPr>
          <p:cNvPr id="4" name="文本框 3"/>
          <p:cNvSpPr txBox="1"/>
          <p:nvPr/>
        </p:nvSpPr>
        <p:spPr>
          <a:xfrm>
            <a:off x="1052830" y="1130300"/>
            <a:ext cx="10086975" cy="1938020"/>
          </a:xfrm>
          <a:prstGeom prst="rect">
            <a:avLst/>
          </a:prstGeom>
        </p:spPr>
        <p:txBody>
          <a:bodyPr wrap="square">
            <a:sp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在集成学习中，首先根据训练数据构建多个不同的个体学习器，这些个体学习器可以是朴素贝叶斯、决策树、支持向量机和神经网络等。进一步地，通过采用特定的结合策略将这些个体学习器的预测结果合并，从而获得比单个学习器更好的预测性能，如下图</a:t>
            </a:r>
            <a:r>
              <a:rPr lang="zh-CN" altLang="en-US" sz="2400">
                <a:latin typeface="微软雅黑" panose="020B0503020204020204" pitchFamily="34" charset="-122"/>
                <a:ea typeface="微软雅黑" panose="020B0503020204020204" pitchFamily="34" charset="-122"/>
              </a:rPr>
              <a:t>所示。</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a:t>
            </a:r>
            <a:r>
              <a:rPr lang="zh-CN" altLang="en-US" sz="3200" dirty="0">
                <a:solidFill>
                  <a:srgbClr val="FFFF00"/>
                </a:solidFill>
                <a:latin typeface="华光综艺_CNKI" panose="02000500000000000000" pitchFamily="2" charset="-122"/>
                <a:ea typeface="华光综艺_CNKI" panose="02000500000000000000" pitchFamily="2" charset="-122"/>
              </a:rPr>
              <a:t>学习定义及</a:t>
            </a:r>
            <a:r>
              <a:rPr lang="zh-CN" altLang="en-US" sz="3200" dirty="0">
                <a:solidFill>
                  <a:srgbClr val="FFFF00"/>
                </a:solidFill>
                <a:latin typeface="华光综艺_CNKI" panose="02000500000000000000" pitchFamily="2" charset="-122"/>
                <a:ea typeface="华光综艺_CNKI" panose="02000500000000000000" pitchFamily="2" charset="-122"/>
              </a:rPr>
              <a:t>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文本框 1"/>
          <p:cNvSpPr txBox="1"/>
          <p:nvPr/>
        </p:nvSpPr>
        <p:spPr>
          <a:xfrm>
            <a:off x="561340" y="1414145"/>
            <a:ext cx="10955655" cy="1476375"/>
          </a:xfrm>
          <a:prstGeom prst="rect">
            <a:avLst/>
          </a:prstGeom>
        </p:spPr>
        <p:txBody>
          <a:bodyPr wrap="square">
            <a:spAutoFit/>
          </a:bodyPr>
          <a:p>
            <a:pPr indent="0" algn="just" defTabSz="266700" fontAlgn="auto">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在集成学习中，弱学习器并非要在任务中表现出色，只需在性能上略微领先于随机猜测的学习器即可。通过以下计算可知，只要对大量弱学习器进行集成，便足以获得良好的预测性能。</a:t>
            </a:r>
            <a:endParaRPr lang="zh-CN" altLang="en-US" sz="2400">
              <a:latin typeface="微软雅黑" panose="020B0503020204020204" pitchFamily="34" charset="-122"/>
              <a:ea typeface="微软雅黑" panose="020B0503020204020204" pitchFamily="34" charset="-122"/>
            </a:endParaRPr>
          </a:p>
        </p:txBody>
      </p:sp>
      <p:sp>
        <p:nvSpPr>
          <p:cNvPr id="5" name="文本框 4"/>
          <p:cNvSpPr txBox="1"/>
          <p:nvPr/>
        </p:nvSpPr>
        <p:spPr>
          <a:xfrm>
            <a:off x="288925" y="3025140"/>
            <a:ext cx="11020425" cy="475615"/>
          </a:xfrm>
          <a:prstGeom prst="rect">
            <a:avLst/>
          </a:prstGeom>
        </p:spPr>
        <p:txBody>
          <a:bodyPr wrap="square">
            <a:spAutoFit/>
          </a:bodyPr>
          <a:p>
            <a:pPr indent="306070" defTabSz="266700">
              <a:lnSpc>
                <a:spcPct val="125000"/>
              </a:lnSpc>
              <a:buClrTx/>
              <a:buSzTx/>
              <a:buFontTx/>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弱学习器（Weak leaner）  是指在特定学习任务上性能略高于随机猜测的学习器。</a:t>
            </a:r>
            <a:endParaRPr lang="zh-CN" altLang="en-US" sz="20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61340" y="3853180"/>
            <a:ext cx="11193780" cy="264477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文本框 7"/>
          <p:cNvSpPr txBox="1"/>
          <p:nvPr/>
        </p:nvSpPr>
        <p:spPr>
          <a:xfrm>
            <a:off x="747395" y="4022090"/>
            <a:ext cx="10561955" cy="2306955"/>
          </a:xfrm>
          <a:prstGeom prst="rect">
            <a:avLst/>
          </a:prstGeom>
          <a:noFill/>
        </p:spPr>
        <p:txBody>
          <a:bodyPr wrap="square" rtlCol="0">
            <a:spAutoFit/>
          </a:bodyPr>
          <a:p>
            <a:r>
              <a:rPr lang="zh-CN" altLang="en-US" b="1">
                <a:latin typeface="微软雅黑" panose="020B0503020204020204" pitchFamily="34" charset="-122"/>
                <a:ea typeface="微软雅黑" panose="020B0503020204020204" pitchFamily="34" charset="-122"/>
                <a:cs typeface="微软雅黑" panose="020B0503020204020204" pitchFamily="34" charset="-122"/>
              </a:rPr>
              <a:t>案例：</a:t>
            </a:r>
            <a:r>
              <a:rPr lang="zh-CN" altLang="en-US">
                <a:latin typeface="微软雅黑" panose="020B0503020204020204" pitchFamily="34" charset="-122"/>
                <a:ea typeface="微软雅黑" panose="020B0503020204020204" pitchFamily="34" charset="-122"/>
                <a:cs typeface="微软雅黑" panose="020B0503020204020204" pitchFamily="34" charset="-122"/>
              </a:rPr>
              <a:t>假设有一个总体数据无偏的二分类问题，随机猜测的准确率为</a:t>
            </a:r>
            <a:r>
              <a:rPr lang="en-US" altLang="zh-CN">
                <a:latin typeface="微软雅黑" panose="020B0503020204020204" pitchFamily="34" charset="-122"/>
                <a:ea typeface="微软雅黑" panose="020B0503020204020204" pitchFamily="34" charset="-122"/>
                <a:cs typeface="微软雅黑" panose="020B0503020204020204" pitchFamily="34" charset="-122"/>
              </a:rPr>
              <a:t>50%</a:t>
            </a:r>
            <a:r>
              <a:rPr lang="zh-CN" altLang="en-US">
                <a:latin typeface="微软雅黑" panose="020B0503020204020204" pitchFamily="34" charset="-122"/>
                <a:ea typeface="微软雅黑" panose="020B0503020204020204" pitchFamily="34" charset="-122"/>
                <a:cs typeface="微软雅黑" panose="020B0503020204020204" pitchFamily="34" charset="-122"/>
              </a:rPr>
              <a:t>，个体学习器的准确率为</a:t>
            </a:r>
            <a:r>
              <a:rPr lang="en-US" altLang="zh-CN">
                <a:latin typeface="微软雅黑" panose="020B0503020204020204" pitchFamily="34" charset="-122"/>
                <a:ea typeface="微软雅黑" panose="020B0503020204020204" pitchFamily="34" charset="-122"/>
                <a:cs typeface="微软雅黑" panose="020B0503020204020204" pitchFamily="34" charset="-122"/>
              </a:rPr>
              <a:t>60%</a:t>
            </a:r>
            <a:r>
              <a:rPr lang="zh-CN" altLang="en-US">
                <a:latin typeface="微软雅黑" panose="020B0503020204020204" pitchFamily="34" charset="-122"/>
                <a:ea typeface="微软雅黑" panose="020B0503020204020204" pitchFamily="34" charset="-122"/>
                <a:cs typeface="微软雅黑" panose="020B0503020204020204" pitchFamily="34" charset="-122"/>
              </a:rPr>
              <a:t>，集成结果通过投票法（即少数服从多数）产生。分别计算个体学习器数量为</a:t>
            </a:r>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3</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500</a:t>
            </a:r>
            <a:r>
              <a:rPr lang="zh-CN" altLang="en-US">
                <a:latin typeface="微软雅黑" panose="020B0503020204020204" pitchFamily="34" charset="-122"/>
                <a:ea typeface="微软雅黑" panose="020B0503020204020204" pitchFamily="34" charset="-122"/>
                <a:cs typeface="微软雅黑" panose="020B0503020204020204" pitchFamily="34" charset="-122"/>
              </a:rPr>
              <a:t>时，整体预测的准确率。</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rPr>
              <a:t>当个体学习器数量为</a:t>
            </a:r>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zh-CN" altLang="en-US">
                <a:latin typeface="微软雅黑" panose="020B0503020204020204" pitchFamily="34" charset="-122"/>
                <a:ea typeface="微软雅黑" panose="020B0503020204020204" pitchFamily="34" charset="-122"/>
                <a:cs typeface="微软雅黑" panose="020B0503020204020204" pitchFamily="34" charset="-122"/>
              </a:rPr>
              <a:t>时，整体预测的准确率即为</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rPr>
              <a:t>当个体学习器数量为</a:t>
            </a:r>
            <a:r>
              <a:rPr lang="en-US" altLang="zh-CN">
                <a:latin typeface="微软雅黑" panose="020B0503020204020204" pitchFamily="34" charset="-122"/>
                <a:ea typeface="微软雅黑" panose="020B0503020204020204" pitchFamily="34" charset="-122"/>
                <a:cs typeface="微软雅黑" panose="020B0503020204020204" pitchFamily="34" charset="-122"/>
              </a:rPr>
              <a:t>3</a:t>
            </a:r>
            <a:r>
              <a:rPr lang="zh-CN" altLang="en-US">
                <a:latin typeface="微软雅黑" panose="020B0503020204020204" pitchFamily="34" charset="-122"/>
                <a:ea typeface="微软雅黑" panose="020B0503020204020204" pitchFamily="34" charset="-122"/>
                <a:cs typeface="微软雅黑" panose="020B0503020204020204" pitchFamily="34" charset="-122"/>
              </a:rPr>
              <a:t>时，要使待预测问题正确分类，至少需要有</a:t>
            </a:r>
            <a:r>
              <a:rPr lang="en-US" altLang="zh-CN">
                <a:latin typeface="微软雅黑" panose="020B0503020204020204" pitchFamily="34" charset="-122"/>
                <a:ea typeface="微软雅黑" panose="020B0503020204020204" pitchFamily="34" charset="-122"/>
                <a:cs typeface="微软雅黑" panose="020B0503020204020204" pitchFamily="34" charset="-122"/>
              </a:rPr>
              <a:t>2</a:t>
            </a:r>
            <a:r>
              <a:rPr lang="zh-CN" altLang="en-US">
                <a:latin typeface="微软雅黑" panose="020B0503020204020204" pitchFamily="34" charset="-122"/>
                <a:ea typeface="微软雅黑" panose="020B0503020204020204" pitchFamily="34" charset="-122"/>
                <a:cs typeface="微软雅黑" panose="020B0503020204020204" pitchFamily="34" charset="-122"/>
              </a:rPr>
              <a:t>个个体学习器预测正确，此时整体预测的准确率则为</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rPr>
              <a:t>当个体学习器数量为</a:t>
            </a:r>
            <a:r>
              <a:rPr lang="en-US" altLang="zh-CN">
                <a:latin typeface="微软雅黑" panose="020B0503020204020204" pitchFamily="34" charset="-122"/>
                <a:ea typeface="微软雅黑" panose="020B0503020204020204" pitchFamily="34" charset="-122"/>
                <a:cs typeface="微软雅黑" panose="020B0503020204020204" pitchFamily="34" charset="-122"/>
              </a:rPr>
              <a:t>500</a:t>
            </a:r>
            <a:r>
              <a:rPr lang="zh-CN" altLang="en-US">
                <a:latin typeface="微软雅黑" panose="020B0503020204020204" pitchFamily="34" charset="-122"/>
                <a:ea typeface="微软雅黑" panose="020B0503020204020204" pitchFamily="34" charset="-122"/>
                <a:cs typeface="微软雅黑" panose="020B0503020204020204" pitchFamily="34" charset="-122"/>
              </a:rPr>
              <a:t>时，要使待预测问题得到正确分类，至少需要有</a:t>
            </a:r>
            <a:r>
              <a:rPr lang="en-US" altLang="zh-CN">
                <a:latin typeface="微软雅黑" panose="020B0503020204020204" pitchFamily="34" charset="-122"/>
                <a:ea typeface="微软雅黑" panose="020B0503020204020204" pitchFamily="34" charset="-122"/>
                <a:cs typeface="微软雅黑" panose="020B0503020204020204" pitchFamily="34" charset="-122"/>
              </a:rPr>
              <a:t>251</a:t>
            </a:r>
            <a:r>
              <a:rPr lang="zh-CN" altLang="en-US">
                <a:latin typeface="微软雅黑" panose="020B0503020204020204" pitchFamily="34" charset="-122"/>
                <a:ea typeface="微软雅黑" panose="020B0503020204020204" pitchFamily="34" charset="-122"/>
                <a:cs typeface="微软雅黑" panose="020B0503020204020204" pitchFamily="34" charset="-122"/>
              </a:rPr>
              <a:t>个个体学习器预测正确，此时整体预测的准确率则为</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4" name="对象 13"/>
          <p:cNvGraphicFramePr/>
          <p:nvPr/>
        </p:nvGraphicFramePr>
        <p:xfrm>
          <a:off x="2441575" y="5396865"/>
          <a:ext cx="1831340" cy="380365"/>
        </p:xfrm>
        <a:graphic>
          <a:graphicData uri="http://schemas.openxmlformats.org/presentationml/2006/ole">
            <mc:AlternateContent xmlns:mc="http://schemas.openxmlformats.org/markup-compatibility/2006">
              <mc:Choice xmlns:v="urn:schemas-microsoft-com:vml" Requires="v">
                <p:oleObj spid="_x0000_s15" name="" r:id="rId1" imgW="1422400" imgH="215900" progId="Equation.DSMT4">
                  <p:embed/>
                </p:oleObj>
              </mc:Choice>
              <mc:Fallback>
                <p:oleObj name="" r:id="rId1" imgW="1422400" imgH="215900" progId="Equation.DSMT4">
                  <p:embed/>
                  <p:pic>
                    <p:nvPicPr>
                      <p:cNvPr id="0" name="图片 14"/>
                      <p:cNvPicPr/>
                      <p:nvPr/>
                    </p:nvPicPr>
                    <p:blipFill>
                      <a:blip r:embed="rId2"/>
                      <a:stretch>
                        <a:fillRect/>
                      </a:stretch>
                    </p:blipFill>
                    <p:spPr>
                      <a:xfrm>
                        <a:off x="2441575" y="5396865"/>
                        <a:ext cx="1831340" cy="380365"/>
                      </a:xfrm>
                      <a:prstGeom prst="rect">
                        <a:avLst/>
                      </a:prstGeom>
                    </p:spPr>
                  </p:pic>
                </p:oleObj>
              </mc:Fallback>
            </mc:AlternateContent>
          </a:graphicData>
        </a:graphic>
      </p:graphicFrame>
      <p:graphicFrame>
        <p:nvGraphicFramePr>
          <p:cNvPr id="16" name="对象 15"/>
          <p:cNvGraphicFramePr/>
          <p:nvPr/>
        </p:nvGraphicFramePr>
        <p:xfrm>
          <a:off x="5815648" y="4906645"/>
          <a:ext cx="376555" cy="291465"/>
        </p:xfrm>
        <a:graphic>
          <a:graphicData uri="http://schemas.openxmlformats.org/presentationml/2006/ole">
            <mc:AlternateContent xmlns:mc="http://schemas.openxmlformats.org/markup-compatibility/2006">
              <mc:Choice xmlns:v="urn:schemas-microsoft-com:vml" Requires="v">
                <p:oleObj spid="_x0000_s17" name="" r:id="rId3" imgW="292100" imgH="165100" progId="Equation.DSMT4">
                  <p:embed/>
                </p:oleObj>
              </mc:Choice>
              <mc:Fallback>
                <p:oleObj name="" r:id="rId3" imgW="292100" imgH="165100" progId="Equation.DSMT4">
                  <p:embed/>
                  <p:pic>
                    <p:nvPicPr>
                      <p:cNvPr id="0" name="图片 14"/>
                      <p:cNvPicPr/>
                      <p:nvPr/>
                    </p:nvPicPr>
                    <p:blipFill>
                      <a:blip r:embed="rId4"/>
                      <a:stretch>
                        <a:fillRect/>
                      </a:stretch>
                    </p:blipFill>
                    <p:spPr>
                      <a:xfrm>
                        <a:off x="5815648" y="4906645"/>
                        <a:ext cx="376555" cy="291465"/>
                      </a:xfrm>
                      <a:prstGeom prst="rect">
                        <a:avLst/>
                      </a:prstGeom>
                    </p:spPr>
                  </p:pic>
                </p:oleObj>
              </mc:Fallback>
            </mc:AlternateContent>
          </a:graphicData>
        </a:graphic>
      </p:graphicFrame>
      <p:graphicFrame>
        <p:nvGraphicFramePr>
          <p:cNvPr id="18" name="对象 17"/>
          <p:cNvGraphicFramePr/>
          <p:nvPr/>
        </p:nvGraphicFramePr>
        <p:xfrm>
          <a:off x="3571240" y="5959475"/>
          <a:ext cx="2330450" cy="347980"/>
        </p:xfrm>
        <a:graphic>
          <a:graphicData uri="http://schemas.openxmlformats.org/presentationml/2006/ole">
            <mc:AlternateContent xmlns:mc="http://schemas.openxmlformats.org/markup-compatibility/2006">
              <mc:Choice xmlns:v="urn:schemas-microsoft-com:vml" Requires="v">
                <p:oleObj spid="_x0000_s19" name="" r:id="rId5" imgW="2095500" imgH="266700" progId="Equation.DSMT4">
                  <p:embed/>
                </p:oleObj>
              </mc:Choice>
              <mc:Fallback>
                <p:oleObj name="" r:id="rId5" imgW="2095500" imgH="266700" progId="Equation.DSMT4">
                  <p:embed/>
                  <p:pic>
                    <p:nvPicPr>
                      <p:cNvPr id="0" name="图片 14"/>
                      <p:cNvPicPr/>
                      <p:nvPr/>
                    </p:nvPicPr>
                    <p:blipFill>
                      <a:blip r:embed="rId6"/>
                      <a:stretch>
                        <a:fillRect/>
                      </a:stretch>
                    </p:blipFill>
                    <p:spPr>
                      <a:xfrm>
                        <a:off x="3571240" y="5959475"/>
                        <a:ext cx="2330450" cy="34798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a:t>
            </a:r>
            <a:r>
              <a:rPr lang="zh-CN" altLang="en-US" sz="3200" dirty="0">
                <a:solidFill>
                  <a:srgbClr val="FFFF00"/>
                </a:solidFill>
                <a:latin typeface="华光综艺_CNKI" panose="02000500000000000000" pitchFamily="2" charset="-122"/>
                <a:ea typeface="华光综艺_CNKI" panose="02000500000000000000" pitchFamily="2" charset="-122"/>
              </a:rPr>
              <a:t>学习定义及</a:t>
            </a:r>
            <a:r>
              <a:rPr lang="zh-CN" altLang="en-US" sz="3200" dirty="0">
                <a:solidFill>
                  <a:srgbClr val="FFFF00"/>
                </a:solidFill>
                <a:latin typeface="华光综艺_CNKI" panose="02000500000000000000" pitchFamily="2" charset="-122"/>
                <a:ea typeface="华光综艺_CNKI" panose="02000500000000000000" pitchFamily="2" charset="-122"/>
              </a:rPr>
              <a:t>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pic>
        <p:nvPicPr>
          <p:cNvPr id="85" name="图片 437"/>
          <p:cNvPicPr>
            <a:picLocks noChangeAspect="1"/>
          </p:cNvPicPr>
          <p:nvPr/>
        </p:nvPicPr>
        <p:blipFill>
          <a:blip r:embed="rId1"/>
          <a:stretch>
            <a:fillRect/>
          </a:stretch>
        </p:blipFill>
        <p:spPr>
          <a:xfrm>
            <a:off x="871855" y="1104900"/>
            <a:ext cx="10829290" cy="2691130"/>
          </a:xfrm>
          <a:prstGeom prst="rect">
            <a:avLst/>
          </a:prstGeom>
          <a:noFill/>
          <a:ln>
            <a:noFill/>
          </a:ln>
        </p:spPr>
      </p:pic>
      <p:sp>
        <p:nvSpPr>
          <p:cNvPr id="2" name="文本框 1"/>
          <p:cNvSpPr txBox="1"/>
          <p:nvPr/>
        </p:nvSpPr>
        <p:spPr>
          <a:xfrm>
            <a:off x="871855" y="4164965"/>
            <a:ext cx="3380105" cy="1938020"/>
          </a:xfrm>
          <a:prstGeom prst="rect">
            <a:avLst/>
          </a:prstGeom>
        </p:spPr>
        <p:txBody>
          <a:bodyPr wrap="square">
            <a:spAutoFit/>
          </a:bodyPr>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在集成学习中，个体学习器之间的差异性是提高集成模型性能的重要因素，通常期望个体学习器拥有较好的预测性能，同时还期望不同的个体学习器存在差异，即“</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good but different”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（好而不同）。</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4377690" y="4164965"/>
            <a:ext cx="7319010" cy="2245360"/>
          </a:xfrm>
          <a:prstGeom prst="rect">
            <a:avLst/>
          </a:prstGeom>
        </p:spPr>
        <p:txBody>
          <a:bodyPr wrap="square">
            <a:spAutoFit/>
          </a:bodyPr>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以上图为例，</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1600" i="1" baseline="-2500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1600" i="1" baseline="-250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1600" i="1">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1600" i="1" baseline="-250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分别是三个不同的个体学习器，</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test1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test2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test3</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是不同的测试样例，集成结果由投票法产生：</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当个体学习器均有较好预测性能且不同学习器之间具备差异性时，集成学习通过博采众长，能够获得比单个学习器更好的预测性能；</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）尽管个体学习器均有较好预测性能，但彼此之间缺乏差异性，导致它们的预测结果相似，从而使得集成模型的性能并不能得到有效提升；</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）个体学习器的预测性能过低可能会对集成学习的表现产生负面影响。</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矩形 7"/>
          <p:cNvSpPr/>
          <p:nvPr/>
        </p:nvSpPr>
        <p:spPr>
          <a:xfrm>
            <a:off x="873760" y="4145915"/>
            <a:ext cx="10825480" cy="2332990"/>
          </a:xfrm>
          <a:prstGeom prst="rect">
            <a:avLst/>
          </a:prstGeom>
          <a:ln>
            <a:solidFill>
              <a:schemeClr val="accent2"/>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a:t>
            </a:r>
            <a:r>
              <a:rPr lang="zh-CN" altLang="en-US" sz="3200" dirty="0">
                <a:solidFill>
                  <a:srgbClr val="FFFF00"/>
                </a:solidFill>
                <a:latin typeface="华光综艺_CNKI" panose="02000500000000000000" pitchFamily="2" charset="-122"/>
                <a:ea typeface="华光综艺_CNKI" panose="02000500000000000000" pitchFamily="2" charset="-122"/>
              </a:rPr>
              <a:t>学习定义及</a:t>
            </a:r>
            <a:r>
              <a:rPr lang="zh-CN" altLang="en-US" sz="3200" dirty="0">
                <a:solidFill>
                  <a:srgbClr val="FFFF00"/>
                </a:solidFill>
                <a:latin typeface="华光综艺_CNKI" panose="02000500000000000000" pitchFamily="2" charset="-122"/>
                <a:ea typeface="华光综艺_CNKI" panose="02000500000000000000" pitchFamily="2" charset="-122"/>
              </a:rPr>
              <a:t>原理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4" name="文本框 3"/>
          <p:cNvSpPr txBox="1"/>
          <p:nvPr/>
        </p:nvSpPr>
        <p:spPr>
          <a:xfrm>
            <a:off x="608965" y="1328420"/>
            <a:ext cx="11133455" cy="1245235"/>
          </a:xfrm>
          <a:prstGeom prst="rect">
            <a:avLst/>
          </a:prstGeom>
        </p:spPr>
        <p:txBody>
          <a:bodyPr wrap="square">
            <a:spAutoFit/>
          </a:bodyPr>
          <a:p>
            <a:pPr marL="0" indent="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根据个体学习器的生成方式，集成学习方法大致可分为两大类：</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一是个体学习器间存在强依赖关系的并行化方法，例如</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Bagging</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Bootstrap aggregating</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二是个体学习器间不存在强依赖关系的序列化方法，例如</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Boosting</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AutoShape 2"/>
          <p:cNvSpPr/>
          <p:nvPr/>
        </p:nvSpPr>
        <p:spPr>
          <a:xfrm>
            <a:off x="330835" y="3638550"/>
            <a:ext cx="3510915" cy="2244090"/>
          </a:xfrm>
          <a:prstGeom prst="roundRect">
            <a:avLst>
              <a:gd name="adj" fmla="val 3900"/>
            </a:avLst>
          </a:prstGeom>
          <a:solidFill>
            <a:srgbClr val="FFFFFF">
              <a:alpha val="50000"/>
            </a:srgbClr>
          </a:solidFill>
          <a:ln>
            <a:noFill/>
          </a:ln>
        </p:spPr>
        <p:txBody>
          <a:bodyPr vert="horz" lIns="91440" tIns="45720" rIns="91440" bIns="45720" anchor="t">
            <a:normAutofit/>
          </a:bodyPr>
          <a:p>
            <a:pPr marL="0" algn="ctr"/>
          </a:p>
        </p:txBody>
      </p:sp>
      <p:sp>
        <p:nvSpPr>
          <p:cNvPr id="6" name="AutoShape 3"/>
          <p:cNvSpPr/>
          <p:nvPr/>
        </p:nvSpPr>
        <p:spPr>
          <a:xfrm>
            <a:off x="468023" y="4159671"/>
            <a:ext cx="3272543" cy="815340"/>
          </a:xfrm>
          <a:prstGeom prst="rect">
            <a:avLst/>
          </a:prstGeom>
        </p:spPr>
        <p:txBody>
          <a:bodyPr vert="horz" wrap="square" lIns="91440" tIns="45720" rIns="91440" bIns="45720" anchor="t">
            <a:spAutoFit/>
          </a:bodyPr>
          <a:p>
            <a:pPr marL="0" algn="ctr">
              <a:lnSpc>
                <a:spcPct val="150000"/>
              </a:lnSpc>
            </a:pPr>
            <a:r>
              <a:rPr lang="zh-CN" altLang="en-US" sz="1400" b="0" i="0" u="none" baseline="0">
                <a:solidFill>
                  <a:srgbClr val="000000"/>
                </a:solidFill>
                <a:latin typeface="微软雅黑" panose="020B0503020204020204" pitchFamily="34" charset="-122"/>
                <a:ea typeface="微软雅黑" panose="020B0503020204020204" pitchFamily="34" charset="-122"/>
              </a:rPr>
              <a:t>个体学习器间存在强依赖关系，例如Bagging；Bagging通过训练多个独立的基学习器，将它们的预测结果进行平均或投票。</a:t>
            </a:r>
            <a:endParaRPr lang="zh-CN" altLang="en-US" sz="1400" b="0" i="0" u="none" baseline="0">
              <a:solidFill>
                <a:srgbClr val="000000"/>
              </a:solidFill>
              <a:latin typeface="微软雅黑" panose="020B0503020204020204" pitchFamily="34" charset="-122"/>
              <a:ea typeface="微软雅黑" panose="020B0503020204020204" pitchFamily="34" charset="-122"/>
            </a:endParaRPr>
          </a:p>
        </p:txBody>
      </p:sp>
      <p:sp>
        <p:nvSpPr>
          <p:cNvPr id="9" name="AutoShape 4"/>
          <p:cNvSpPr/>
          <p:nvPr/>
        </p:nvSpPr>
        <p:spPr>
          <a:xfrm>
            <a:off x="330975" y="3132458"/>
            <a:ext cx="3510604" cy="727689"/>
          </a:xfrm>
          <a:prstGeom prst="roundRect">
            <a:avLst>
              <a:gd name="adj" fmla="val 50000"/>
            </a:avLst>
          </a:prstGeom>
          <a:solidFill>
            <a:srgbClr val="5B9BD5"/>
          </a:solidFill>
          <a:ln cap="rnd">
            <a:noFill/>
            <a:prstDash val="solid"/>
          </a:ln>
          <a:effectLst>
            <a:outerShdw blurRad="254000" dist="127000" algn="ctr" rotWithShape="0">
              <a:schemeClr val="accent2">
                <a:alpha val="32000"/>
              </a:schemeClr>
            </a:outerShdw>
          </a:effectLst>
        </p:spPr>
        <p:txBody>
          <a:bodyPr rot="0" vert="horz" wrap="none" lIns="91440" tIns="45720" rIns="91440" bIns="45720" anchor="ctr">
            <a:noAutofit/>
          </a:bodyPr>
          <a:p>
            <a:pPr marL="0" algn="ctr">
              <a:lnSpc>
                <a:spcPct val="100000"/>
              </a:lnSpc>
            </a:pPr>
            <a:r>
              <a:rPr lang="zh-CN" altLang="en-US" sz="1600" b="1" i="0" u="none" baseline="0">
                <a:solidFill>
                  <a:schemeClr val="lt1"/>
                </a:solidFill>
                <a:latin typeface="微软雅黑" panose="020B0503020204020204" pitchFamily="34" charset="-122"/>
                <a:ea typeface="微软雅黑" panose="020B0503020204020204" pitchFamily="34" charset="-122"/>
              </a:rPr>
              <a:t>并行化方法：Bagging</a:t>
            </a:r>
            <a:endParaRPr lang="zh-CN" altLang="en-US" sz="1600" b="1" i="0" u="none" baseline="0">
              <a:solidFill>
                <a:schemeClr val="lt1"/>
              </a:solidFill>
              <a:latin typeface="微软雅黑" panose="020B0503020204020204" pitchFamily="34" charset="-122"/>
              <a:ea typeface="微软雅黑" panose="020B0503020204020204" pitchFamily="34" charset="-122"/>
            </a:endParaRPr>
          </a:p>
        </p:txBody>
      </p:sp>
      <p:sp>
        <p:nvSpPr>
          <p:cNvPr id="10" name="AutoShape 5"/>
          <p:cNvSpPr/>
          <p:nvPr/>
        </p:nvSpPr>
        <p:spPr>
          <a:xfrm>
            <a:off x="4152900" y="3638550"/>
            <a:ext cx="3510915" cy="2243455"/>
          </a:xfrm>
          <a:prstGeom prst="roundRect">
            <a:avLst>
              <a:gd name="adj" fmla="val 3900"/>
            </a:avLst>
          </a:prstGeom>
          <a:solidFill>
            <a:srgbClr val="FFFFFF">
              <a:alpha val="50000"/>
            </a:srgbClr>
          </a:solidFill>
          <a:ln>
            <a:noFill/>
          </a:ln>
        </p:spPr>
        <p:txBody>
          <a:bodyPr vert="horz" lIns="91440" tIns="45720" rIns="91440" bIns="45720" anchor="t">
            <a:normAutofit/>
          </a:bodyPr>
          <a:p>
            <a:pPr marL="0" algn="ctr"/>
          </a:p>
        </p:txBody>
      </p:sp>
      <p:sp>
        <p:nvSpPr>
          <p:cNvPr id="11" name="AutoShape 6"/>
          <p:cNvSpPr/>
          <p:nvPr/>
        </p:nvSpPr>
        <p:spPr>
          <a:xfrm>
            <a:off x="4290127" y="4159671"/>
            <a:ext cx="3272543" cy="1177290"/>
          </a:xfrm>
          <a:prstGeom prst="rect">
            <a:avLst/>
          </a:prstGeom>
        </p:spPr>
        <p:txBody>
          <a:bodyPr vert="horz" wrap="square" lIns="91440" tIns="45720" rIns="91440" bIns="45720" anchor="t">
            <a:spAutoFit/>
          </a:bodyPr>
          <a:p>
            <a:pPr marL="0" algn="ctr">
              <a:lnSpc>
                <a:spcPct val="150000"/>
              </a:lnSpc>
            </a:pPr>
            <a:r>
              <a:rPr lang="zh-CN" altLang="en-US" sz="1400" b="0" i="0" u="none" baseline="0">
                <a:solidFill>
                  <a:srgbClr val="000000"/>
                </a:solidFill>
                <a:latin typeface="微软雅黑" panose="020B0503020204020204" pitchFamily="34" charset="-122"/>
                <a:ea typeface="微软雅黑" panose="020B0503020204020204" pitchFamily="34" charset="-122"/>
              </a:rPr>
              <a:t>个体学习器间不存在强依赖关系，例如Boosting；Boosting通过训练一系列基学习器，将它们加权结合成一个泛化性能强的强学习器。</a:t>
            </a:r>
            <a:endParaRPr lang="zh-CN" altLang="en-US" sz="1400" b="0" i="0" u="none" baseline="0">
              <a:solidFill>
                <a:srgbClr val="000000"/>
              </a:solidFill>
              <a:latin typeface="微软雅黑" panose="020B0503020204020204" pitchFamily="34" charset="-122"/>
              <a:ea typeface="微软雅黑" panose="020B0503020204020204" pitchFamily="34" charset="-122"/>
            </a:endParaRPr>
          </a:p>
        </p:txBody>
      </p:sp>
      <p:sp>
        <p:nvSpPr>
          <p:cNvPr id="12" name="AutoShape 7"/>
          <p:cNvSpPr/>
          <p:nvPr/>
        </p:nvSpPr>
        <p:spPr>
          <a:xfrm>
            <a:off x="4153079" y="3132458"/>
            <a:ext cx="3510604" cy="727689"/>
          </a:xfrm>
          <a:prstGeom prst="roundRect">
            <a:avLst>
              <a:gd name="adj" fmla="val 50000"/>
            </a:avLst>
          </a:prstGeom>
          <a:solidFill>
            <a:schemeClr val="accent1"/>
          </a:solidFill>
          <a:ln cap="flat">
            <a:noFill/>
            <a:prstDash val="solid"/>
            <a:miter lim="800000"/>
          </a:ln>
          <a:effectLst>
            <a:outerShdw blurRad="127000" dist="63500" dir="2700000" algn="tl" rotWithShape="0">
              <a:schemeClr val="accent1">
                <a:alpha val="40000"/>
              </a:schemeClr>
            </a:outerShdw>
          </a:effectLst>
        </p:spPr>
        <p:txBody>
          <a:bodyPr vert="horz" lIns="91440" tIns="45720" rIns="91440" bIns="45720" anchor="ctr">
            <a:noAutofit/>
          </a:bodyPr>
          <a:p>
            <a:pPr marL="0" algn="ctr"/>
            <a:r>
              <a:rPr lang="zh-CN" altLang="en-US" sz="1600" b="1" i="0" u="none" baseline="0">
                <a:solidFill>
                  <a:srgbClr val="FFFFFF"/>
                </a:solidFill>
                <a:latin typeface="微软雅黑" panose="020B0503020204020204" pitchFamily="34" charset="-122"/>
                <a:ea typeface="微软雅黑" panose="020B0503020204020204" pitchFamily="34" charset="-122"/>
              </a:rPr>
              <a:t>序列化方法：Boosting</a:t>
            </a:r>
            <a:endParaRPr lang="zh-CN" altLang="en-US" sz="1600" b="1" i="0" u="none" baseline="0">
              <a:solidFill>
                <a:srgbClr val="FFFFFF"/>
              </a:solidFill>
              <a:latin typeface="微软雅黑" panose="020B0503020204020204" pitchFamily="34" charset="-122"/>
              <a:ea typeface="微软雅黑" panose="020B0503020204020204" pitchFamily="34" charset="-122"/>
            </a:endParaRPr>
          </a:p>
        </p:txBody>
      </p:sp>
      <p:sp>
        <p:nvSpPr>
          <p:cNvPr id="13" name="AutoShape 8"/>
          <p:cNvSpPr/>
          <p:nvPr/>
        </p:nvSpPr>
        <p:spPr>
          <a:xfrm>
            <a:off x="7974965" y="3638550"/>
            <a:ext cx="3510915" cy="2243455"/>
          </a:xfrm>
          <a:prstGeom prst="roundRect">
            <a:avLst>
              <a:gd name="adj" fmla="val 3900"/>
            </a:avLst>
          </a:prstGeom>
          <a:solidFill>
            <a:srgbClr val="FFFFFF">
              <a:alpha val="50000"/>
            </a:srgbClr>
          </a:solidFill>
          <a:ln>
            <a:noFill/>
          </a:ln>
        </p:spPr>
        <p:txBody>
          <a:bodyPr vert="horz" lIns="91440" tIns="45720" rIns="91440" bIns="45720" anchor="t">
            <a:normAutofit/>
          </a:bodyPr>
          <a:p>
            <a:pPr marL="0" algn="ctr"/>
          </a:p>
        </p:txBody>
      </p:sp>
      <p:sp>
        <p:nvSpPr>
          <p:cNvPr id="14" name="AutoShape 9"/>
          <p:cNvSpPr/>
          <p:nvPr/>
        </p:nvSpPr>
        <p:spPr>
          <a:xfrm>
            <a:off x="8112231" y="4159671"/>
            <a:ext cx="3272543" cy="1177290"/>
          </a:xfrm>
          <a:prstGeom prst="rect">
            <a:avLst/>
          </a:prstGeom>
        </p:spPr>
        <p:txBody>
          <a:bodyPr vert="horz" wrap="square" lIns="91440" tIns="45720" rIns="91440" bIns="45720" anchor="t">
            <a:spAutoFit/>
          </a:bodyPr>
          <a:p>
            <a:pPr marL="0" algn="ctr">
              <a:lnSpc>
                <a:spcPct val="150000"/>
              </a:lnSpc>
            </a:pPr>
            <a:r>
              <a:rPr lang="zh-CN" altLang="en-US" sz="1400" b="0" i="0" u="none" baseline="0">
                <a:solidFill>
                  <a:srgbClr val="000000"/>
                </a:solidFill>
                <a:latin typeface="微软雅黑" panose="020B0503020204020204" pitchFamily="34" charset="-122"/>
                <a:ea typeface="微软雅黑" panose="020B0503020204020204" pitchFamily="34" charset="-122"/>
              </a:rPr>
              <a:t>同质集成指集成的多个模型属于同种类型；异质集成指集成的多个模型不属于同一类型，Stacking、Blending通常是异质集成。</a:t>
            </a:r>
            <a:endParaRPr lang="zh-CN" altLang="en-US" sz="1400" b="0" i="0" u="none" baseline="0">
              <a:solidFill>
                <a:srgbClr val="000000"/>
              </a:solidFill>
              <a:latin typeface="微软雅黑" panose="020B0503020204020204" pitchFamily="34" charset="-122"/>
              <a:ea typeface="微软雅黑" panose="020B0503020204020204" pitchFamily="34" charset="-122"/>
            </a:endParaRPr>
          </a:p>
        </p:txBody>
      </p:sp>
      <p:sp>
        <p:nvSpPr>
          <p:cNvPr id="15" name="AutoShape 10"/>
          <p:cNvSpPr/>
          <p:nvPr/>
        </p:nvSpPr>
        <p:spPr>
          <a:xfrm>
            <a:off x="7975183" y="3132458"/>
            <a:ext cx="3510604" cy="727689"/>
          </a:xfrm>
          <a:prstGeom prst="roundRect">
            <a:avLst>
              <a:gd name="adj" fmla="val 50000"/>
            </a:avLst>
          </a:prstGeom>
          <a:solidFill>
            <a:srgbClr val="ED7D31"/>
          </a:solidFill>
          <a:ln cap="flat">
            <a:noFill/>
            <a:prstDash val="solid"/>
            <a:miter lim="800000"/>
          </a:ln>
          <a:effectLst>
            <a:outerShdw blurRad="127000" dist="63500" dir="2700000" algn="tl" rotWithShape="0">
              <a:schemeClr val="accent1">
                <a:alpha val="40000"/>
              </a:schemeClr>
            </a:outerShdw>
          </a:effectLst>
        </p:spPr>
        <p:txBody>
          <a:bodyPr vert="horz" lIns="91440" tIns="45720" rIns="91440" bIns="45720" anchor="ctr">
            <a:noAutofit/>
          </a:bodyPr>
          <a:p>
            <a:pPr marL="0" algn="ctr"/>
            <a:r>
              <a:rPr lang="zh-CN" altLang="en-US" sz="1600" b="1" i="0" u="none" baseline="0">
                <a:solidFill>
                  <a:srgbClr val="FFFFFF"/>
                </a:solidFill>
                <a:latin typeface="微软雅黑" panose="020B0503020204020204" pitchFamily="34" charset="-122"/>
                <a:ea typeface="微软雅黑" panose="020B0503020204020204" pitchFamily="34" charset="-122"/>
              </a:rPr>
              <a:t>同质与异质集成</a:t>
            </a:r>
            <a:endParaRPr lang="zh-CN" altLang="en-US" sz="1600" b="1" i="0" u="none" baseline="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Bagging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AutoShape 3"/>
          <p:cNvSpPr/>
          <p:nvPr/>
        </p:nvSpPr>
        <p:spPr>
          <a:xfrm>
            <a:off x="1424503" y="1465922"/>
            <a:ext cx="2562149" cy="2299071"/>
          </a:xfrm>
          <a:prstGeom prst="rect">
            <a:avLst/>
          </a:prstGeom>
          <a:blipFill>
            <a:blip r:embed="rId1"/>
            <a:srcRect t="148" b="148"/>
            <a:stretch>
              <a:fillRect/>
            </a:stretch>
          </a:blipFill>
          <a:ln>
            <a:noFill/>
          </a:ln>
          <a:effectLst/>
        </p:spPr>
        <p:txBody>
          <a:bodyPr rot="0" vert="horz" wrap="square" lIns="91440" tIns="45720" rIns="91440" bIns="45720" anchor="t">
            <a:noAutofit/>
          </a:bodyPr>
          <a:p>
            <a:pPr marL="0" algn="ctr"/>
          </a:p>
        </p:txBody>
      </p:sp>
      <p:sp>
        <p:nvSpPr>
          <p:cNvPr id="7" name="TextBox 4"/>
          <p:cNvSpPr txBox="1"/>
          <p:nvPr/>
        </p:nvSpPr>
        <p:spPr>
          <a:xfrm>
            <a:off x="1424503" y="4183750"/>
            <a:ext cx="2973631" cy="338554"/>
          </a:xfrm>
          <a:prstGeom prst="rect">
            <a:avLst/>
          </a:prstGeom>
          <a:noFill/>
          <a:ln>
            <a:noFill/>
          </a:ln>
        </p:spPr>
        <p:txBody>
          <a:bodyPr vert="horz" wrap="square" lIns="91440" tIns="45720" rIns="91440" bIns="45720" rtlCol="0" anchor="b">
            <a:spAutoFit/>
          </a:bodyPr>
          <a:p>
            <a:pPr marL="0" marR="0" indent="0" algn="l" fontAlgn="auto">
              <a:lnSpc>
                <a:spcPct val="100000"/>
              </a:lnSpc>
              <a:spcBef>
                <a:spcPct val="0"/>
              </a:spcBef>
              <a:spcAft>
                <a:spcPct val="0"/>
              </a:spcAft>
              <a:defRPr/>
            </a:pPr>
            <a:r>
              <a:rPr lang="zh-CN" altLang="en-US" sz="1600" b="1" i="0" u="none" baseline="0">
                <a:solidFill>
                  <a:srgbClr val="000000"/>
                </a:solidFill>
                <a:effectLst/>
                <a:latin typeface="微软雅黑" panose="020B0503020204020204" pitchFamily="34" charset="-122"/>
                <a:ea typeface="微软雅黑" panose="020B0503020204020204" pitchFamily="34" charset="-122"/>
              </a:rPr>
              <a:t>Bagging 定义</a:t>
            </a:r>
            <a:endParaRPr lang="en-US" sz="1100"/>
          </a:p>
        </p:txBody>
      </p:sp>
      <p:sp>
        <p:nvSpPr>
          <p:cNvPr id="8" name="AutoShape 5"/>
          <p:cNvSpPr/>
          <p:nvPr/>
        </p:nvSpPr>
        <p:spPr>
          <a:xfrm flipH="1">
            <a:off x="1424500" y="4714052"/>
            <a:ext cx="2973631" cy="1177290"/>
          </a:xfrm>
          <a:prstGeom prst="rect">
            <a:avLst/>
          </a:prstGeom>
          <a:ln>
            <a:noFill/>
          </a:ln>
        </p:spPr>
        <p:txBody>
          <a:bodyPr vert="horz" wrap="square" lIns="91440" tIns="45720" rIns="91440" bIns="45720" anchor="t">
            <a:spAutoFit/>
          </a:bodyPr>
          <a:p>
            <a:pPr marL="0" marR="0" indent="0" algn="l" fontAlgn="auto">
              <a:lnSpc>
                <a:spcPct val="150000"/>
              </a:lnSpc>
              <a:spcBef>
                <a:spcPct val="0"/>
              </a:spcBef>
              <a:spcAft>
                <a:spcPct val="0"/>
              </a:spcAft>
            </a:pPr>
            <a:r>
              <a:rPr lang="zh-CN" altLang="en-US" sz="1400" b="0" i="0" u="none" baseline="0">
                <a:solidFill>
                  <a:srgbClr val="000000"/>
                </a:solidFill>
                <a:effectLst/>
                <a:latin typeface="微软雅黑" panose="020B0503020204020204" pitchFamily="34" charset="-122"/>
                <a:ea typeface="微软雅黑" panose="020B0503020204020204" pitchFamily="34" charset="-122"/>
              </a:rPr>
              <a:t>Bagging是一族并行化集成学习算法，通过训练多个独立的基学习器，将它们的预测结果进行平均或投票，以得到最优结果。</a:t>
            </a:r>
            <a:endParaRPr lang="zh-CN" altLang="en-US" sz="1400" b="0" i="0" u="none" baseline="0">
              <a:solidFill>
                <a:srgbClr val="000000"/>
              </a:solidFill>
              <a:effectLst/>
              <a:latin typeface="微软雅黑" panose="020B0503020204020204" pitchFamily="34" charset="-122"/>
              <a:ea typeface="微软雅黑" panose="020B0503020204020204" pitchFamily="34" charset="-122"/>
            </a:endParaRPr>
          </a:p>
        </p:txBody>
      </p:sp>
      <p:sp>
        <p:nvSpPr>
          <p:cNvPr id="16" name="AutoShape 6"/>
          <p:cNvSpPr/>
          <p:nvPr/>
        </p:nvSpPr>
        <p:spPr>
          <a:xfrm>
            <a:off x="1617294" y="1224622"/>
            <a:ext cx="114142" cy="492731"/>
          </a:xfrm>
          <a:prstGeom prst="rect">
            <a:avLst/>
          </a:prstGeom>
          <a:solidFill>
            <a:schemeClr val="accent6"/>
          </a:solidFill>
          <a:ln cap="rnd">
            <a:noFill/>
            <a:prstDash val="solid"/>
          </a:ln>
          <a:effectLst>
            <a:outerShdw blurRad="254000" dist="127000" algn="ctr" rotWithShape="0">
              <a:schemeClr val="accent6">
                <a:alpha val="32000"/>
              </a:schemeClr>
            </a:outerShdw>
          </a:effectLst>
        </p:spPr>
        <p:txBody>
          <a:bodyPr rot="0" vert="horz" wrap="square" lIns="91440" tIns="45720" rIns="91440" bIns="45720" anchor="ctr">
            <a:noAutofit/>
          </a:bodyPr>
          <a:p>
            <a:pPr marL="0" algn="ctr"/>
          </a:p>
        </p:txBody>
      </p:sp>
      <p:sp>
        <p:nvSpPr>
          <p:cNvPr id="17" name="TextBox 7"/>
          <p:cNvSpPr txBox="1"/>
          <p:nvPr/>
        </p:nvSpPr>
        <p:spPr>
          <a:xfrm>
            <a:off x="1424502" y="3223859"/>
            <a:ext cx="1158746" cy="1015663"/>
          </a:xfrm>
          <a:prstGeom prst="rect">
            <a:avLst/>
          </a:prstGeom>
          <a:noFill/>
        </p:spPr>
        <p:txBody>
          <a:bodyPr vert="horz" wrap="square" lIns="91440" tIns="45720" rIns="91440" bIns="45720" rtlCol="0" anchor="t">
            <a:spAutoFit/>
          </a:bodyPr>
          <a:p>
            <a:pPr marL="0" algn="l">
              <a:defRPr/>
            </a:pPr>
            <a:r>
              <a:rPr lang="en-US" sz="6000" b="1" i="0" u="none" baseline="0">
                <a:solidFill>
                  <a:srgbClr val="000000">
                    <a:alpha val="40000"/>
                    <a:lumMod val="10000"/>
                    <a:lumOff val="90000"/>
                  </a:srgbClr>
                </a:solidFill>
                <a:latin typeface="Arial" panose="020B0604020202020204"/>
                <a:ea typeface="Arial" panose="020B0604020202020204"/>
              </a:rPr>
              <a:t>01</a:t>
            </a:r>
            <a:endParaRPr lang="en-US" sz="1100"/>
          </a:p>
        </p:txBody>
      </p:sp>
      <p:sp>
        <p:nvSpPr>
          <p:cNvPr id="18" name="AutoShape 8"/>
          <p:cNvSpPr/>
          <p:nvPr/>
        </p:nvSpPr>
        <p:spPr>
          <a:xfrm>
            <a:off x="4759286" y="1465922"/>
            <a:ext cx="2562149" cy="2299071"/>
          </a:xfrm>
          <a:prstGeom prst="rect">
            <a:avLst/>
          </a:prstGeom>
          <a:blipFill>
            <a:blip r:embed="rId2"/>
            <a:srcRect t="148" b="148"/>
            <a:stretch>
              <a:fillRect/>
            </a:stretch>
          </a:blipFill>
          <a:ln>
            <a:noFill/>
          </a:ln>
          <a:effectLst/>
        </p:spPr>
        <p:txBody>
          <a:bodyPr rot="0" vert="horz" wrap="square" lIns="91440" tIns="45720" rIns="91440" bIns="45720" anchor="t">
            <a:noAutofit/>
          </a:bodyPr>
          <a:p>
            <a:pPr marL="0" algn="ctr"/>
          </a:p>
        </p:txBody>
      </p:sp>
      <p:sp>
        <p:nvSpPr>
          <p:cNvPr id="19" name="TextBox 9"/>
          <p:cNvSpPr txBox="1"/>
          <p:nvPr/>
        </p:nvSpPr>
        <p:spPr>
          <a:xfrm>
            <a:off x="4759286" y="4183750"/>
            <a:ext cx="2973631" cy="338554"/>
          </a:xfrm>
          <a:prstGeom prst="rect">
            <a:avLst/>
          </a:prstGeom>
          <a:noFill/>
          <a:ln>
            <a:noFill/>
          </a:ln>
        </p:spPr>
        <p:txBody>
          <a:bodyPr vert="horz" wrap="square" lIns="91440" tIns="45720" rIns="91440" bIns="45720" rtlCol="0" anchor="b">
            <a:spAutoFit/>
          </a:bodyPr>
          <a:p>
            <a:pPr marL="0" marR="0" indent="0" algn="l" fontAlgn="auto">
              <a:lnSpc>
                <a:spcPct val="100000"/>
              </a:lnSpc>
              <a:spcBef>
                <a:spcPct val="0"/>
              </a:spcBef>
              <a:spcAft>
                <a:spcPct val="0"/>
              </a:spcAft>
              <a:defRPr/>
            </a:pPr>
            <a:r>
              <a:rPr lang="zh-CN" altLang="en-US" sz="1600" b="1" i="0" u="none" baseline="0">
                <a:solidFill>
                  <a:srgbClr val="000000"/>
                </a:solidFill>
                <a:effectLst/>
                <a:latin typeface="微软雅黑" panose="020B0503020204020204" pitchFamily="34" charset="-122"/>
                <a:ea typeface="微软雅黑" panose="020B0503020204020204" pitchFamily="34" charset="-122"/>
              </a:rPr>
              <a:t>自助采样</a:t>
            </a:r>
            <a:endParaRPr lang="en-US" sz="1100"/>
          </a:p>
        </p:txBody>
      </p:sp>
      <p:sp>
        <p:nvSpPr>
          <p:cNvPr id="20" name="AutoShape 10"/>
          <p:cNvSpPr/>
          <p:nvPr/>
        </p:nvSpPr>
        <p:spPr>
          <a:xfrm flipH="1">
            <a:off x="4759283" y="4714052"/>
            <a:ext cx="2973631" cy="1177290"/>
          </a:xfrm>
          <a:prstGeom prst="rect">
            <a:avLst/>
          </a:prstGeom>
          <a:ln>
            <a:noFill/>
          </a:ln>
        </p:spPr>
        <p:txBody>
          <a:bodyPr vert="horz" wrap="square" lIns="91440" tIns="45720" rIns="91440" bIns="45720" anchor="t">
            <a:spAutoFit/>
          </a:bodyPr>
          <a:p>
            <a:pPr marL="0" marR="0" indent="0" algn="l" fontAlgn="auto">
              <a:lnSpc>
                <a:spcPct val="150000"/>
              </a:lnSpc>
              <a:spcBef>
                <a:spcPct val="0"/>
              </a:spcBef>
              <a:spcAft>
                <a:spcPct val="0"/>
              </a:spcAft>
            </a:pPr>
            <a:r>
              <a:rPr lang="zh-CN" altLang="en-US" sz="1400" b="0" i="0" u="none" baseline="0">
                <a:solidFill>
                  <a:srgbClr val="000000"/>
                </a:solidFill>
                <a:effectLst/>
                <a:latin typeface="微软雅黑" panose="020B0503020204020204" pitchFamily="34" charset="-122"/>
                <a:ea typeface="微软雅黑" panose="020B0503020204020204" pitchFamily="34" charset="-122"/>
              </a:rPr>
              <a:t>Bagging通过自助采样（Bootstrap）的方式，有放回地从训练样本集中随机抽取T个样本集合，每个样本集合都独立地训练一个基学习器。</a:t>
            </a:r>
            <a:endParaRPr lang="zh-CN" altLang="en-US" sz="1400" b="0" i="0" u="none" baseline="0">
              <a:solidFill>
                <a:srgbClr val="000000"/>
              </a:solidFill>
              <a:effectLst/>
              <a:latin typeface="微软雅黑" panose="020B0503020204020204" pitchFamily="34" charset="-122"/>
              <a:ea typeface="微软雅黑" panose="020B0503020204020204" pitchFamily="34" charset="-122"/>
            </a:endParaRPr>
          </a:p>
        </p:txBody>
      </p:sp>
      <p:sp>
        <p:nvSpPr>
          <p:cNvPr id="21" name="AutoShape 11"/>
          <p:cNvSpPr/>
          <p:nvPr/>
        </p:nvSpPr>
        <p:spPr>
          <a:xfrm>
            <a:off x="4952077" y="1224622"/>
            <a:ext cx="114142" cy="492731"/>
          </a:xfrm>
          <a:prstGeom prst="rect">
            <a:avLst/>
          </a:prstGeom>
          <a:solidFill>
            <a:schemeClr val="accent5"/>
          </a:solidFill>
          <a:ln cap="rnd">
            <a:noFill/>
            <a:prstDash val="solid"/>
          </a:ln>
          <a:effectLst>
            <a:outerShdw blurRad="254000" dist="127000" algn="ctr" rotWithShape="0">
              <a:schemeClr val="accent5">
                <a:alpha val="32000"/>
              </a:schemeClr>
            </a:outerShdw>
          </a:effectLst>
        </p:spPr>
        <p:txBody>
          <a:bodyPr rot="0" vert="horz" wrap="square" lIns="91440" tIns="45720" rIns="91440" bIns="45720" anchor="ctr">
            <a:noAutofit/>
          </a:bodyPr>
          <a:p>
            <a:pPr marL="0" algn="ctr"/>
          </a:p>
        </p:txBody>
      </p:sp>
      <p:sp>
        <p:nvSpPr>
          <p:cNvPr id="22" name="TextBox 12"/>
          <p:cNvSpPr txBox="1"/>
          <p:nvPr/>
        </p:nvSpPr>
        <p:spPr>
          <a:xfrm>
            <a:off x="4759285" y="3223859"/>
            <a:ext cx="1158746" cy="1015663"/>
          </a:xfrm>
          <a:prstGeom prst="rect">
            <a:avLst/>
          </a:prstGeom>
          <a:noFill/>
        </p:spPr>
        <p:txBody>
          <a:bodyPr vert="horz" wrap="square" lIns="91440" tIns="45720" rIns="91440" bIns="45720" rtlCol="0" anchor="t">
            <a:spAutoFit/>
          </a:bodyPr>
          <a:p>
            <a:pPr marL="0" algn="l">
              <a:defRPr/>
            </a:pPr>
            <a:r>
              <a:rPr lang="en-US" sz="6000" b="1" i="0" u="none" baseline="0">
                <a:solidFill>
                  <a:srgbClr val="000000">
                    <a:alpha val="40000"/>
                    <a:lumMod val="10000"/>
                    <a:lumOff val="90000"/>
                  </a:srgbClr>
                </a:solidFill>
                <a:latin typeface="Arial" panose="020B0604020202020204"/>
                <a:ea typeface="Arial" panose="020B0604020202020204"/>
              </a:rPr>
              <a:t>02</a:t>
            </a:r>
            <a:endParaRPr lang="en-US" sz="1100"/>
          </a:p>
        </p:txBody>
      </p:sp>
      <p:sp>
        <p:nvSpPr>
          <p:cNvPr id="23" name="AutoShape 13"/>
          <p:cNvSpPr/>
          <p:nvPr/>
        </p:nvSpPr>
        <p:spPr>
          <a:xfrm>
            <a:off x="8051967" y="1465922"/>
            <a:ext cx="2562149" cy="2299071"/>
          </a:xfrm>
          <a:prstGeom prst="rect">
            <a:avLst/>
          </a:prstGeom>
          <a:blipFill>
            <a:blip r:embed="rId3"/>
            <a:srcRect t="148" b="148"/>
            <a:stretch>
              <a:fillRect/>
            </a:stretch>
          </a:blipFill>
          <a:ln>
            <a:noFill/>
          </a:ln>
          <a:effectLst/>
        </p:spPr>
        <p:txBody>
          <a:bodyPr rot="0" vert="horz" wrap="square" lIns="91440" tIns="45720" rIns="91440" bIns="45720" anchor="t">
            <a:noAutofit/>
          </a:bodyPr>
          <a:p>
            <a:pPr marL="0" algn="ctr"/>
          </a:p>
        </p:txBody>
      </p:sp>
      <p:sp>
        <p:nvSpPr>
          <p:cNvPr id="24" name="TextBox 14"/>
          <p:cNvSpPr txBox="1"/>
          <p:nvPr/>
        </p:nvSpPr>
        <p:spPr>
          <a:xfrm>
            <a:off x="8051967" y="4183750"/>
            <a:ext cx="2973631" cy="338554"/>
          </a:xfrm>
          <a:prstGeom prst="rect">
            <a:avLst/>
          </a:prstGeom>
          <a:noFill/>
          <a:ln>
            <a:noFill/>
          </a:ln>
        </p:spPr>
        <p:txBody>
          <a:bodyPr vert="horz" wrap="square" lIns="91440" tIns="45720" rIns="91440" bIns="45720" rtlCol="0" anchor="b">
            <a:spAutoFit/>
          </a:bodyPr>
          <a:p>
            <a:pPr marL="0" marR="0" indent="0" algn="l" fontAlgn="auto">
              <a:lnSpc>
                <a:spcPct val="100000"/>
              </a:lnSpc>
              <a:spcBef>
                <a:spcPct val="0"/>
              </a:spcBef>
              <a:spcAft>
                <a:spcPct val="0"/>
              </a:spcAft>
              <a:defRPr/>
            </a:pPr>
            <a:r>
              <a:rPr lang="zh-CN" altLang="en-US" sz="1600" b="1" i="0" u="none" baseline="0">
                <a:solidFill>
                  <a:srgbClr val="000000"/>
                </a:solidFill>
                <a:effectLst/>
                <a:latin typeface="微软雅黑" panose="020B0503020204020204" pitchFamily="34" charset="-122"/>
                <a:ea typeface="微软雅黑" panose="020B0503020204020204" pitchFamily="34" charset="-122"/>
              </a:rPr>
              <a:t>最终预测结果</a:t>
            </a:r>
            <a:endParaRPr lang="en-US" sz="1100"/>
          </a:p>
        </p:txBody>
      </p:sp>
      <p:sp>
        <p:nvSpPr>
          <p:cNvPr id="25" name="AutoShape 15"/>
          <p:cNvSpPr/>
          <p:nvPr/>
        </p:nvSpPr>
        <p:spPr>
          <a:xfrm flipH="1">
            <a:off x="8051964" y="4714052"/>
            <a:ext cx="2973631" cy="1023357"/>
          </a:xfrm>
          <a:prstGeom prst="rect">
            <a:avLst/>
          </a:prstGeom>
          <a:ln>
            <a:noFill/>
          </a:ln>
        </p:spPr>
        <p:txBody>
          <a:bodyPr vert="horz" wrap="square" lIns="91440" tIns="45720" rIns="91440" bIns="45720" anchor="t">
            <a:spAutoFit/>
          </a:bodyPr>
          <a:p>
            <a:pPr marL="0" marR="0" indent="0" algn="l" fontAlgn="auto">
              <a:lnSpc>
                <a:spcPct val="150000"/>
              </a:lnSpc>
              <a:spcBef>
                <a:spcPct val="0"/>
              </a:spcBef>
              <a:spcAft>
                <a:spcPct val="0"/>
              </a:spcAft>
            </a:pPr>
            <a:r>
              <a:rPr lang="zh-CN" altLang="en-US" sz="1400" b="0" i="0" u="none" baseline="0">
                <a:solidFill>
                  <a:srgbClr val="000000"/>
                </a:solidFill>
                <a:effectLst/>
                <a:latin typeface="微软雅黑" panose="020B0503020204020204" pitchFamily="34" charset="-122"/>
                <a:ea typeface="微软雅黑" panose="020B0503020204020204" pitchFamily="34" charset="-122"/>
              </a:rPr>
              <a:t>通过对T个基学习器的预测结果使用投票法或平均法进行集成，得到最终的预测结果。</a:t>
            </a:r>
            <a:endParaRPr lang="zh-CN" altLang="en-US" sz="1400" b="0" i="0" u="none" baseline="0">
              <a:solidFill>
                <a:srgbClr val="000000"/>
              </a:solidFill>
              <a:effectLst/>
              <a:latin typeface="微软雅黑" panose="020B0503020204020204" pitchFamily="34" charset="-122"/>
              <a:ea typeface="微软雅黑" panose="020B0503020204020204" pitchFamily="34" charset="-122"/>
            </a:endParaRPr>
          </a:p>
        </p:txBody>
      </p:sp>
      <p:sp>
        <p:nvSpPr>
          <p:cNvPr id="26" name="AutoShape 16"/>
          <p:cNvSpPr/>
          <p:nvPr/>
        </p:nvSpPr>
        <p:spPr>
          <a:xfrm>
            <a:off x="8244758" y="1224622"/>
            <a:ext cx="114142" cy="492731"/>
          </a:xfrm>
          <a:prstGeom prst="rect">
            <a:avLst/>
          </a:prstGeom>
          <a:solidFill>
            <a:schemeClr val="accent2"/>
          </a:solidFill>
          <a:ln cap="rnd">
            <a:noFill/>
            <a:prstDash val="solid"/>
          </a:ln>
          <a:effectLst>
            <a:outerShdw blurRad="254000" dist="127000" algn="ctr" rotWithShape="0">
              <a:schemeClr val="accent2">
                <a:alpha val="32000"/>
              </a:schemeClr>
            </a:outerShdw>
          </a:effectLst>
        </p:spPr>
        <p:txBody>
          <a:bodyPr rot="0" vert="horz" wrap="square" lIns="91440" tIns="45720" rIns="91440" bIns="45720" anchor="ctr">
            <a:normAutofit/>
          </a:bodyPr>
          <a:p>
            <a:pPr marL="0" algn="ctr"/>
          </a:p>
        </p:txBody>
      </p:sp>
      <p:sp>
        <p:nvSpPr>
          <p:cNvPr id="27" name="TextBox 17"/>
          <p:cNvSpPr txBox="1"/>
          <p:nvPr/>
        </p:nvSpPr>
        <p:spPr>
          <a:xfrm>
            <a:off x="8051966" y="3223859"/>
            <a:ext cx="1158746" cy="1015663"/>
          </a:xfrm>
          <a:prstGeom prst="rect">
            <a:avLst/>
          </a:prstGeom>
          <a:noFill/>
        </p:spPr>
        <p:txBody>
          <a:bodyPr vert="horz" wrap="square" lIns="91440" tIns="45720" rIns="91440" bIns="45720" rtlCol="0" anchor="t">
            <a:spAutoFit/>
          </a:bodyPr>
          <a:p>
            <a:pPr marL="0" algn="l">
              <a:defRPr/>
            </a:pPr>
            <a:r>
              <a:rPr lang="en-US" sz="6000" b="1" i="0" u="none" baseline="0">
                <a:solidFill>
                  <a:srgbClr val="000000">
                    <a:alpha val="40000"/>
                    <a:lumMod val="10000"/>
                    <a:lumOff val="90000"/>
                  </a:srgbClr>
                </a:solidFill>
                <a:latin typeface="Arial" panose="020B0604020202020204"/>
                <a:ea typeface="Arial" panose="020B0604020202020204"/>
              </a:rPr>
              <a:t>03</a:t>
            </a:r>
            <a:endParaRPr lang="en-US" sz="110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Bagging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pic>
        <p:nvPicPr>
          <p:cNvPr id="80" name="图片 43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756275" y="2345055"/>
            <a:ext cx="6108700" cy="3216910"/>
          </a:xfrm>
          <a:prstGeom prst="rect">
            <a:avLst/>
          </a:prstGeom>
          <a:noFill/>
          <a:ln>
            <a:noFill/>
          </a:ln>
        </p:spPr>
      </p:pic>
      <p:sp>
        <p:nvSpPr>
          <p:cNvPr id="4" name="Freeform 3"/>
          <p:cNvSpPr/>
          <p:nvPr/>
        </p:nvSpPr>
        <p:spPr>
          <a:xfrm>
            <a:off x="614045" y="1149985"/>
            <a:ext cx="4660900" cy="2553970"/>
          </a:xfrm>
          <a:custGeom>
            <a:avLst/>
            <a:gdLst/>
            <a:ahLst/>
            <a:cxnLst/>
            <a:rect l="l" t="t" r="r" b="b"/>
            <a:pathLst>
              <a:path w="3090098" h="2061095">
                <a:moveTo>
                  <a:pt x="0" y="0"/>
                </a:moveTo>
                <a:lnTo>
                  <a:pt x="3090098" y="0"/>
                </a:lnTo>
                <a:lnTo>
                  <a:pt x="3090098" y="2061095"/>
                </a:lnTo>
                <a:lnTo>
                  <a:pt x="0" y="2061095"/>
                </a:lnTo>
                <a:lnTo>
                  <a:pt x="0" y="0"/>
                </a:lnTo>
                <a:close/>
              </a:path>
            </a:pathLst>
          </a:custGeom>
          <a:gradFill>
            <a:gsLst>
              <a:gs pos="0">
                <a:srgbClr val="2DA6E9">
                  <a:alpha val="80000"/>
                  <a:lumMod val="40000"/>
                  <a:lumOff val="60000"/>
                </a:srgbClr>
              </a:gs>
              <a:gs pos="85000">
                <a:srgbClr val="2DA6E9">
                  <a:alpha val="90000"/>
                  <a:lumMod val="10000"/>
                  <a:lumOff val="90000"/>
                </a:srgbClr>
              </a:gs>
            </a:gsLst>
            <a:lin ang="5400000"/>
          </a:gradFill>
          <a:ln w="12700" cap="flat" cmpd="sng">
            <a:solidFill>
              <a:schemeClr val="accent1">
                <a:alpha val="90000"/>
                <a:lumOff val="0"/>
                <a:satOff val="0"/>
                <a:tint val="40000"/>
              </a:schemeClr>
            </a:solidFill>
            <a:prstDash val="solid"/>
          </a:ln>
          <a:scene3d>
            <a:camera prst="perspectiveRight"/>
            <a:lightRig rig="threePt" dir="t"/>
          </a:scene3d>
        </p:spPr>
        <p:txBody>
          <a:bodyPr vert="horz" wrap="square" lIns="494416" tIns="433832" rIns="433832" bIns="433832" anchor="ctr">
            <a:noAutofit/>
          </a:bodyPr>
          <a:p>
            <a:pPr marL="0" algn="just">
              <a:lnSpc>
                <a:spcPct val="90000"/>
              </a:lnSpc>
              <a:spcBef>
                <a:spcPct val="0"/>
              </a:spcBef>
              <a:spcAft>
                <a:spcPct val="35000"/>
              </a:spcAft>
            </a:pPr>
          </a:p>
        </p:txBody>
      </p:sp>
      <p:sp>
        <p:nvSpPr>
          <p:cNvPr id="5" name="TextBox 4"/>
          <p:cNvSpPr txBox="1"/>
          <p:nvPr/>
        </p:nvSpPr>
        <p:spPr>
          <a:xfrm>
            <a:off x="832876" y="1669056"/>
            <a:ext cx="4006949" cy="246221"/>
          </a:xfrm>
          <a:prstGeom prst="rect">
            <a:avLst/>
          </a:prstGeom>
          <a:noFill/>
          <a:scene3d>
            <a:camera prst="perspectiveRight"/>
            <a:lightRig rig="threePt" dir="t"/>
          </a:scene3d>
        </p:spPr>
        <p:txBody>
          <a:bodyPr vert="horz" wrap="square" lIns="0" tIns="0" rIns="0" bIns="0" rtlCol="0" anchor="b">
            <a:spAutoFit/>
          </a:bodyPr>
          <a:p>
            <a:pPr marL="0" algn="l">
              <a:defRPr/>
            </a:pPr>
            <a:r>
              <a:rPr lang="zh-CN" altLang="en-US" sz="1600" b="1" i="0" u="none" baseline="0">
                <a:solidFill>
                  <a:srgbClr val="000000"/>
                </a:solidFill>
                <a:latin typeface="微软雅黑" panose="020B0503020204020204" pitchFamily="34" charset="-122"/>
                <a:ea typeface="微软雅黑" panose="020B0503020204020204" pitchFamily="34" charset="-122"/>
              </a:rPr>
              <a:t>约 36.8% 样本未被选中</a:t>
            </a:r>
            <a:endParaRPr lang="en-US" sz="1100"/>
          </a:p>
        </p:txBody>
      </p:sp>
      <p:cxnSp>
        <p:nvCxnSpPr>
          <p:cNvPr id="6" name="Connector 5"/>
          <p:cNvCxnSpPr/>
          <p:nvPr/>
        </p:nvCxnSpPr>
        <p:spPr>
          <a:xfrm>
            <a:off x="1435331" y="2110389"/>
            <a:ext cx="2483052" cy="0"/>
          </a:xfrm>
          <a:prstGeom prst="line">
            <a:avLst/>
          </a:prstGeom>
          <a:ln w="12700">
            <a:solidFill>
              <a:schemeClr val="accent5"/>
            </a:solidFill>
          </a:ln>
        </p:spPr>
      </p:cxnSp>
      <p:sp>
        <p:nvSpPr>
          <p:cNvPr id="9" name="Freeform 6"/>
          <p:cNvSpPr/>
          <p:nvPr/>
        </p:nvSpPr>
        <p:spPr>
          <a:xfrm>
            <a:off x="546100" y="3896995"/>
            <a:ext cx="4944110" cy="2781935"/>
          </a:xfrm>
          <a:custGeom>
            <a:avLst/>
            <a:gdLst/>
            <a:ahLst/>
            <a:cxnLst/>
            <a:rect l="l" t="t" r="r" b="b"/>
            <a:pathLst>
              <a:path w="3090098" h="2061095">
                <a:moveTo>
                  <a:pt x="0" y="0"/>
                </a:moveTo>
                <a:lnTo>
                  <a:pt x="3090098" y="0"/>
                </a:lnTo>
                <a:lnTo>
                  <a:pt x="3090098" y="2061095"/>
                </a:lnTo>
                <a:lnTo>
                  <a:pt x="0" y="2061095"/>
                </a:lnTo>
                <a:lnTo>
                  <a:pt x="0" y="0"/>
                </a:lnTo>
                <a:close/>
              </a:path>
            </a:pathLst>
          </a:custGeom>
          <a:gradFill>
            <a:gsLst>
              <a:gs pos="0">
                <a:srgbClr val="2DA6E9">
                  <a:alpha val="80000"/>
                  <a:lumMod val="40000"/>
                  <a:lumOff val="60000"/>
                </a:srgbClr>
              </a:gs>
              <a:gs pos="85000">
                <a:srgbClr val="2DA6E9">
                  <a:alpha val="90000"/>
                  <a:lumMod val="10000"/>
                  <a:lumOff val="90000"/>
                </a:srgbClr>
              </a:gs>
            </a:gsLst>
            <a:lin ang="5400000"/>
          </a:gradFill>
          <a:ln w="12700" cap="flat" cmpd="sng">
            <a:solidFill>
              <a:schemeClr val="accent1">
                <a:alpha val="90000"/>
                <a:lumOff val="0"/>
                <a:satOff val="0"/>
                <a:tint val="40000"/>
              </a:schemeClr>
            </a:solidFill>
            <a:prstDash val="solid"/>
          </a:ln>
          <a:scene3d>
            <a:camera prst="perspectiveLeft"/>
            <a:lightRig rig="threePt" dir="t"/>
          </a:scene3d>
        </p:spPr>
        <p:txBody>
          <a:bodyPr vert="horz" wrap="square" lIns="494416" tIns="433832" rIns="433832" bIns="433832" anchor="ctr">
            <a:noAutofit/>
          </a:bodyPr>
          <a:p>
            <a:pPr marL="0" algn="just">
              <a:lnSpc>
                <a:spcPct val="90000"/>
              </a:lnSpc>
              <a:spcBef>
                <a:spcPct val="0"/>
              </a:spcBef>
              <a:spcAft>
                <a:spcPct val="35000"/>
              </a:spcAft>
            </a:pPr>
          </a:p>
        </p:txBody>
      </p:sp>
      <p:sp>
        <p:nvSpPr>
          <p:cNvPr id="10" name="TextBox 7"/>
          <p:cNvSpPr txBox="1"/>
          <p:nvPr/>
        </p:nvSpPr>
        <p:spPr>
          <a:xfrm>
            <a:off x="1062598" y="4423126"/>
            <a:ext cx="4006950" cy="246221"/>
          </a:xfrm>
          <a:prstGeom prst="rect">
            <a:avLst/>
          </a:prstGeom>
          <a:noFill/>
          <a:scene3d>
            <a:camera prst="perspectiveLeft"/>
            <a:lightRig rig="threePt" dir="t"/>
          </a:scene3d>
        </p:spPr>
        <p:txBody>
          <a:bodyPr vert="horz" wrap="square" lIns="0" tIns="0" rIns="0" bIns="0" rtlCol="0" anchor="b">
            <a:spAutoFit/>
          </a:bodyPr>
          <a:p>
            <a:pPr marL="0" algn="l">
              <a:defRPr/>
            </a:pPr>
            <a:r>
              <a:rPr lang="zh-CN" altLang="en-US" sz="1600" b="1" i="0" u="none" baseline="0">
                <a:solidFill>
                  <a:srgbClr val="000000"/>
                </a:solidFill>
                <a:effectLst/>
                <a:latin typeface="微软雅黑" panose="020B0503020204020204" pitchFamily="34" charset="-122"/>
                <a:ea typeface="微软雅黑" panose="020B0503020204020204" pitchFamily="34" charset="-122"/>
              </a:rPr>
              <a:t>OOB 样本作为测试集</a:t>
            </a:r>
            <a:endParaRPr lang="en-US" sz="1100"/>
          </a:p>
        </p:txBody>
      </p:sp>
      <p:sp>
        <p:nvSpPr>
          <p:cNvPr id="11" name="TextBox 8"/>
          <p:cNvSpPr txBox="1"/>
          <p:nvPr/>
        </p:nvSpPr>
        <p:spPr>
          <a:xfrm>
            <a:off x="1062598" y="5158598"/>
            <a:ext cx="4006949" cy="2224070"/>
          </a:xfrm>
          <a:prstGeom prst="rect">
            <a:avLst/>
          </a:prstGeom>
          <a:noFill/>
          <a:scene3d>
            <a:camera prst="perspectiveLeft"/>
            <a:lightRig rig="threePt" dir="t"/>
          </a:scene3d>
        </p:spPr>
        <p:txBody>
          <a:bodyPr vert="horz" wrap="square" lIns="0" tIns="0" rIns="0" bIns="0" rtlCol="0" anchor="t">
            <a:spAutoFit/>
          </a:bodyPr>
          <a:p>
            <a:pPr marL="0" algn="just">
              <a:lnSpc>
                <a:spcPct val="15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为避免信息损失，在Bagging集成中，可将未被选中的样本作为测试集，而不用预先对数据集划分训练集和测试集。</a:t>
            </a:r>
            <a:endParaRPr lang="en-US" sz="1100"/>
          </a:p>
          <a:p>
            <a:pPr marL="0" algn="just">
              <a:lnSpc>
                <a:spcPct val="150000"/>
              </a:lnSpc>
            </a:pPr>
          </a:p>
        </p:txBody>
      </p:sp>
      <p:cxnSp>
        <p:nvCxnSpPr>
          <p:cNvPr id="12" name="Connector 9"/>
          <p:cNvCxnSpPr/>
          <p:nvPr/>
        </p:nvCxnSpPr>
        <p:spPr>
          <a:xfrm>
            <a:off x="1322544" y="4870219"/>
            <a:ext cx="2633998" cy="0"/>
          </a:xfrm>
          <a:prstGeom prst="line">
            <a:avLst/>
          </a:prstGeom>
          <a:ln w="12700">
            <a:solidFill>
              <a:schemeClr val="accent5"/>
            </a:solidFill>
          </a:ln>
        </p:spPr>
      </p:cxnSp>
      <p:cxnSp>
        <p:nvCxnSpPr>
          <p:cNvPr id="13" name="Connector 10"/>
          <p:cNvCxnSpPr/>
          <p:nvPr/>
        </p:nvCxnSpPr>
        <p:spPr>
          <a:xfrm>
            <a:off x="5395595" y="1368709"/>
            <a:ext cx="0" cy="2335457"/>
          </a:xfrm>
          <a:prstGeom prst="line">
            <a:avLst/>
          </a:prstGeom>
          <a:ln w="19050">
            <a:gradFill>
              <a:gsLst>
                <a:gs pos="0">
                  <a:srgbClr val="2DA6E9"/>
                </a:gs>
                <a:gs pos="100000">
                  <a:srgbClr val="2DA6E9">
                    <a:lumMod val="5000"/>
                    <a:lumOff val="95000"/>
                  </a:srgbClr>
                </a:gs>
              </a:gsLst>
              <a:lin ang="5400000"/>
            </a:gradFill>
          </a:ln>
        </p:spPr>
      </p:cxnSp>
      <p:cxnSp>
        <p:nvCxnSpPr>
          <p:cNvPr id="28" name="Connector 14"/>
          <p:cNvCxnSpPr/>
          <p:nvPr/>
        </p:nvCxnSpPr>
        <p:spPr>
          <a:xfrm>
            <a:off x="5321268" y="4964772"/>
            <a:ext cx="0" cy="1353524"/>
          </a:xfrm>
          <a:prstGeom prst="line">
            <a:avLst/>
          </a:prstGeom>
          <a:ln w="12700">
            <a:gradFill>
              <a:gsLst>
                <a:gs pos="0">
                  <a:srgbClr val="2DA6E9"/>
                </a:gs>
                <a:gs pos="100000">
                  <a:srgbClr val="2DA6E9">
                    <a:alpha val="0"/>
                    <a:lumMod val="0"/>
                    <a:lumOff val="100000"/>
                  </a:srgbClr>
                </a:gs>
              </a:gsLst>
              <a:lin ang="5400000"/>
            </a:gradFill>
          </a:ln>
        </p:spPr>
      </p:cxnSp>
      <p:sp>
        <p:nvSpPr>
          <p:cNvPr id="29" name="TextBox 15"/>
          <p:cNvSpPr txBox="1"/>
          <p:nvPr/>
        </p:nvSpPr>
        <p:spPr>
          <a:xfrm>
            <a:off x="879231" y="2740702"/>
            <a:ext cx="4006949" cy="2224070"/>
          </a:xfrm>
          <a:prstGeom prst="rect">
            <a:avLst/>
          </a:prstGeom>
          <a:noFill/>
          <a:scene3d>
            <a:camera prst="perspectiveLeft"/>
            <a:lightRig rig="threePt" dir="t"/>
          </a:scene3d>
        </p:spPr>
        <p:txBody>
          <a:bodyPr vert="horz" wrap="square" lIns="0" tIns="0" rIns="0" bIns="0" rtlCol="0" anchor="t">
            <a:spAutoFit/>
          </a:bodyPr>
          <a:p>
            <a:pPr marL="0" algn="just">
              <a:lnSpc>
                <a:spcPct val="15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Bagging采用有放回的抽取，理论上会有部分样本可能一直没有被选中，约有36.8%的样本未被选中（Out Of the Bag，OOB）。</a:t>
            </a:r>
            <a:endParaRPr lang="en-US" sz="1100"/>
          </a:p>
          <a:p>
            <a:pPr marL="0" algn="just">
              <a:lnSpc>
                <a:spcPct val="150000"/>
              </a:lnSpc>
            </a:p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Bagging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文本框 1"/>
          <p:cNvSpPr txBox="1"/>
          <p:nvPr/>
        </p:nvSpPr>
        <p:spPr>
          <a:xfrm>
            <a:off x="513715" y="1339850"/>
            <a:ext cx="11276965" cy="1322070"/>
          </a:xfrm>
          <a:prstGeom prst="rect">
            <a:avLst/>
          </a:prstGeom>
        </p:spPr>
        <p:txBody>
          <a:bodyPr wrap="square">
            <a:spAutoFit/>
          </a:bodyPr>
          <a:p>
            <a:pPr marL="0" indent="0" algn="just" defTabSz="266700">
              <a:lnSpc>
                <a:spcPct val="125000"/>
              </a:lnSpc>
              <a:spcBef>
                <a:spcPct val="0"/>
              </a:spcBef>
              <a:spcAft>
                <a:spcPct val="0"/>
              </a:spcAft>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Bagging</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采用自助采样生成不同的训练子集，使得个体学习器在多样化的训练子集上训练，再通过集成方法降低各子集特定误差对最终模型的影响，进而提升整体模型的泛化性能。在实际应用中，对于特征数量多的样本数据集，可以在</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Bagging</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的基础上引入特征随机采样（</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Random subspaces</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），或者同时对样本和特征进行随机采样（</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Random patches</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），以增加基学习器之间的差异性，如下</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所示。</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9" name="图片 431"/>
          <p:cNvPicPr>
            <a:picLocks noChangeAspect="1"/>
          </p:cNvPicPr>
          <p:nvPr/>
        </p:nvPicPr>
        <p:blipFill>
          <a:blip r:embed="rId1"/>
          <a:stretch>
            <a:fillRect/>
          </a:stretch>
        </p:blipFill>
        <p:spPr>
          <a:xfrm>
            <a:off x="1301115" y="2879090"/>
            <a:ext cx="9516745" cy="371348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3"/>
          <p:cNvSpPr/>
          <p:nvPr>
            <p:custDataLst>
              <p:tags r:id="rId1"/>
            </p:custDataLst>
          </p:nvPr>
        </p:nvSpPr>
        <p:spPr>
          <a:xfrm>
            <a:off x="0" y="3385725"/>
            <a:ext cx="12192000" cy="3472275"/>
          </a:xfrm>
          <a:prstGeom prst="rect">
            <a:avLst/>
          </a:prstGeom>
          <a:solidFill>
            <a:schemeClr val="accent1">
              <a:lumMod val="40000"/>
              <a:lumOff val="60000"/>
            </a:schemeClr>
          </a:solidFill>
          <a:ln>
            <a:noFill/>
          </a:ln>
        </p:spPr>
        <p:txBody>
          <a:bodyPr vert="horz" lIns="91440" tIns="45720" rIns="91440" bIns="45720" anchor="ctr">
            <a:spAutoFit/>
          </a:bodyPr>
          <a:p>
            <a:pPr marL="0" algn="ctr"/>
          </a:p>
        </p:txBody>
      </p:sp>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Bagging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4" name="Freeform 4"/>
          <p:cNvSpPr/>
          <p:nvPr/>
        </p:nvSpPr>
        <p:spPr>
          <a:xfrm>
            <a:off x="368935" y="1353820"/>
            <a:ext cx="3488055" cy="2421890"/>
          </a:xfrm>
          <a:custGeom>
            <a:avLst/>
            <a:gdLst/>
            <a:ahLst/>
            <a:cxnLst/>
            <a:rect l="l" t="t" r="r" b="b"/>
            <a:pathLst>
              <a:path w="3487810" h="4621846">
                <a:moveTo>
                  <a:pt x="0" y="0"/>
                </a:moveTo>
                <a:lnTo>
                  <a:pt x="0" y="0"/>
                </a:lnTo>
                <a:lnTo>
                  <a:pt x="3487810" y="0"/>
                </a:lnTo>
                <a:lnTo>
                  <a:pt x="3487810" y="0"/>
                </a:lnTo>
                <a:lnTo>
                  <a:pt x="3487810" y="4621846"/>
                </a:lnTo>
                <a:lnTo>
                  <a:pt x="3487810" y="4621846"/>
                </a:lnTo>
                <a:lnTo>
                  <a:pt x="0" y="4621846"/>
                </a:lnTo>
                <a:lnTo>
                  <a:pt x="0" y="4621846"/>
                </a:lnTo>
                <a:lnTo>
                  <a:pt x="0" y="0"/>
                </a:lnTo>
                <a:close/>
              </a:path>
            </a:pathLst>
          </a:custGeom>
          <a:solidFill>
            <a:srgbClr val="FFFFFF"/>
          </a:solidFill>
          <a:ln>
            <a:noFill/>
          </a:ln>
          <a:effectLst>
            <a:outerShdw blurRad="152400" dir="18900000" sy="23000" algn="bl" rotWithShape="0">
              <a:srgbClr val="000000">
                <a:alpha val="10000"/>
              </a:srgbClr>
            </a:outerShdw>
          </a:effectLst>
        </p:spPr>
        <p:txBody>
          <a:bodyPr vert="horz" lIns="91440" tIns="45720" rIns="91440" bIns="45720" anchor="ctr">
            <a:noAutofit/>
          </a:bodyPr>
          <a:p>
            <a:pPr marL="0" algn="ctr"/>
          </a:p>
        </p:txBody>
      </p:sp>
      <p:sp>
        <p:nvSpPr>
          <p:cNvPr id="5" name="AutoShape 5"/>
          <p:cNvSpPr/>
          <p:nvPr/>
        </p:nvSpPr>
        <p:spPr>
          <a:xfrm>
            <a:off x="600617" y="2136827"/>
            <a:ext cx="3024359" cy="1347677"/>
          </a:xfrm>
          <a:prstGeom prst="rect">
            <a:avLst/>
          </a:prstGeom>
        </p:spPr>
        <p:txBody>
          <a:bodyPr vert="horz" wrap="square" lIns="91440" tIns="45720" rIns="91440" bIns="45720" anchor="t">
            <a:spAutoFit/>
          </a:bodyPr>
          <a:p>
            <a:pPr marL="0" algn="just">
              <a:lnSpc>
                <a:spcPct val="150000"/>
              </a:lnSpc>
            </a:pPr>
            <a:r>
              <a:rPr lang="zh-CN" altLang="en-US" sz="1400" b="0" i="0" u="none" baseline="0">
                <a:solidFill>
                  <a:srgbClr val="000000">
                    <a:lumMod val="75000"/>
                    <a:lumOff val="25000"/>
                  </a:srgbClr>
                </a:solidFill>
                <a:latin typeface="微软雅黑" panose="020B0503020204020204" pitchFamily="34" charset="-122"/>
                <a:ea typeface="微软雅黑" panose="020B0503020204020204" pitchFamily="34" charset="-122"/>
              </a:rPr>
              <a:t>Bagging采用自助采样生成不同的训练子集，降低各子集特定误差对最终模型的影响，进而提升整体模型的泛化性能。</a:t>
            </a:r>
            <a:endParaRPr lang="zh-CN" altLang="en-US" sz="1400" b="0" i="0" u="none" baseline="0">
              <a:solidFill>
                <a:srgbClr val="000000">
                  <a:lumMod val="75000"/>
                  <a:lumOff val="25000"/>
                </a:srgbClr>
              </a:solidFill>
              <a:latin typeface="微软雅黑" panose="020B0503020204020204" pitchFamily="34" charset="-122"/>
              <a:ea typeface="微软雅黑" panose="020B0503020204020204" pitchFamily="34" charset="-122"/>
            </a:endParaRPr>
          </a:p>
        </p:txBody>
      </p:sp>
      <p:cxnSp>
        <p:nvCxnSpPr>
          <p:cNvPr id="6" name="Connector 6"/>
          <p:cNvCxnSpPr/>
          <p:nvPr/>
        </p:nvCxnSpPr>
        <p:spPr>
          <a:xfrm>
            <a:off x="709031" y="1969415"/>
            <a:ext cx="2807530" cy="0"/>
          </a:xfrm>
          <a:prstGeom prst="line">
            <a:avLst/>
          </a:prstGeom>
          <a:ln w="12700" cap="rnd">
            <a:solidFill>
              <a:srgbClr val="FFFFFF">
                <a:lumMod val="75000"/>
              </a:srgbClr>
            </a:solidFill>
          </a:ln>
        </p:spPr>
      </p:cxnSp>
      <p:sp>
        <p:nvSpPr>
          <p:cNvPr id="7" name="AutoShape 7"/>
          <p:cNvSpPr/>
          <p:nvPr/>
        </p:nvSpPr>
        <p:spPr>
          <a:xfrm>
            <a:off x="368891" y="1188210"/>
            <a:ext cx="3487810" cy="45719"/>
          </a:xfrm>
          <a:prstGeom prst="rect">
            <a:avLst/>
          </a:prstGeom>
          <a:gradFill>
            <a:gsLst>
              <a:gs pos="0">
                <a:srgbClr val="2DA6E9"/>
              </a:gs>
              <a:gs pos="100000">
                <a:srgbClr val="2DA6E9">
                  <a:lumMod val="75000"/>
                </a:srgbClr>
              </a:gs>
            </a:gsLst>
          </a:gradFill>
          <a:ln>
            <a:noFill/>
          </a:ln>
        </p:spPr>
        <p:txBody>
          <a:bodyPr vert="horz" lIns="91440" tIns="45720" rIns="91440" bIns="45720" anchor="ctr">
            <a:spAutoFit/>
          </a:bodyPr>
          <a:p>
            <a:pPr marL="0" algn="ctr"/>
          </a:p>
        </p:txBody>
      </p:sp>
      <p:sp>
        <p:nvSpPr>
          <p:cNvPr id="8" name="AutoShape 8"/>
          <p:cNvSpPr/>
          <p:nvPr/>
        </p:nvSpPr>
        <p:spPr>
          <a:xfrm>
            <a:off x="600617" y="1493302"/>
            <a:ext cx="3024359" cy="338554"/>
          </a:xfrm>
          <a:prstGeom prst="rect">
            <a:avLst/>
          </a:prstGeom>
        </p:spPr>
        <p:txBody>
          <a:bodyPr vert="horz" wrap="square" lIns="91440" tIns="45720" rIns="91440" bIns="45720" anchor="b">
            <a:spAutoFit/>
          </a:bodyPr>
          <a:p>
            <a:pPr marL="0" algn="l"/>
            <a:r>
              <a:rPr lang="zh-CN" altLang="en-US" sz="1600" b="1" i="0" u="none" baseline="0">
                <a:solidFill>
                  <a:srgbClr val="00B0F0"/>
                </a:solidFill>
                <a:latin typeface="微软雅黑" panose="020B0503020204020204" pitchFamily="34" charset="-122"/>
                <a:ea typeface="微软雅黑" panose="020B0503020204020204" pitchFamily="34" charset="-122"/>
              </a:rPr>
              <a:t>提升泛化性能</a:t>
            </a:r>
            <a:endParaRPr lang="zh-CN" altLang="en-US" sz="1600" b="1" i="0" u="none" baseline="0">
              <a:solidFill>
                <a:srgbClr val="00B0F0"/>
              </a:solidFill>
              <a:latin typeface="微软雅黑" panose="020B0503020204020204" pitchFamily="34" charset="-122"/>
              <a:ea typeface="微软雅黑" panose="020B0503020204020204" pitchFamily="34" charset="-122"/>
            </a:endParaRPr>
          </a:p>
        </p:txBody>
      </p:sp>
      <p:sp>
        <p:nvSpPr>
          <p:cNvPr id="9" name="AutoShape 9"/>
          <p:cNvSpPr/>
          <p:nvPr/>
        </p:nvSpPr>
        <p:spPr>
          <a:xfrm>
            <a:off x="4350385" y="2660650"/>
            <a:ext cx="3488055" cy="2421255"/>
          </a:xfrm>
          <a:prstGeom prst="roundRect">
            <a:avLst>
              <a:gd name="adj" fmla="val 0"/>
            </a:avLst>
          </a:prstGeom>
          <a:solidFill>
            <a:srgbClr val="FFFFFF"/>
          </a:solidFill>
          <a:ln>
            <a:noFill/>
          </a:ln>
          <a:effectLst>
            <a:outerShdw blurRad="152400" dir="18900000" sy="23000" algn="bl" rotWithShape="0">
              <a:srgbClr val="000000">
                <a:alpha val="10000"/>
              </a:srgbClr>
            </a:outerShdw>
          </a:effectLst>
        </p:spPr>
        <p:txBody>
          <a:bodyPr vert="horz" lIns="91440" tIns="45720" rIns="91440" bIns="45720" anchor="ctr">
            <a:noAutofit/>
          </a:bodyPr>
          <a:p>
            <a:pPr marL="0" algn="ctr"/>
          </a:p>
        </p:txBody>
      </p:sp>
      <p:sp>
        <p:nvSpPr>
          <p:cNvPr id="10" name="AutoShape 10"/>
          <p:cNvSpPr/>
          <p:nvPr/>
        </p:nvSpPr>
        <p:spPr>
          <a:xfrm>
            <a:off x="4582390" y="3443657"/>
            <a:ext cx="3024359" cy="1994007"/>
          </a:xfrm>
          <a:prstGeom prst="rect">
            <a:avLst/>
          </a:prstGeom>
        </p:spPr>
        <p:txBody>
          <a:bodyPr vert="horz" wrap="square" lIns="91440" tIns="45720" rIns="91440" bIns="45720" anchor="t">
            <a:spAutoFit/>
          </a:bodyPr>
          <a:p>
            <a:pPr marL="0" algn="just">
              <a:lnSpc>
                <a:spcPct val="150000"/>
              </a:lnSpc>
            </a:pPr>
            <a:r>
              <a:rPr lang="zh-CN" altLang="en-US" sz="1400" b="0" i="0" u="none" baseline="0">
                <a:solidFill>
                  <a:srgbClr val="000000">
                    <a:lumMod val="75000"/>
                    <a:lumOff val="25000"/>
                  </a:srgbClr>
                </a:solidFill>
                <a:latin typeface="微软雅黑" panose="020B0503020204020204" pitchFamily="34" charset="-122"/>
                <a:ea typeface="微软雅黑" panose="020B0503020204020204" pitchFamily="34" charset="-122"/>
              </a:rPr>
              <a:t>对于特征数量多的样本数据集，可以在Bagging的基础上引入特征随机采样（Random subspaces），增加基学习器之间的差异性。</a:t>
            </a:r>
            <a:endParaRPr lang="zh-CN" altLang="en-US" sz="1400" b="0" i="0" u="none" baseline="0">
              <a:solidFill>
                <a:srgbClr val="000000">
                  <a:lumMod val="75000"/>
                  <a:lumOff val="25000"/>
                </a:srgbClr>
              </a:solidFill>
              <a:latin typeface="微软雅黑" panose="020B0503020204020204" pitchFamily="34" charset="-122"/>
              <a:ea typeface="微软雅黑" panose="020B0503020204020204" pitchFamily="34" charset="-122"/>
            </a:endParaRPr>
          </a:p>
        </p:txBody>
      </p:sp>
      <p:cxnSp>
        <p:nvCxnSpPr>
          <p:cNvPr id="11" name="Connector 11"/>
          <p:cNvCxnSpPr/>
          <p:nvPr/>
        </p:nvCxnSpPr>
        <p:spPr>
          <a:xfrm>
            <a:off x="4690804" y="3276245"/>
            <a:ext cx="2807530" cy="0"/>
          </a:xfrm>
          <a:prstGeom prst="line">
            <a:avLst/>
          </a:prstGeom>
          <a:ln w="12700" cap="rnd">
            <a:solidFill>
              <a:srgbClr val="FFFFFF">
                <a:lumMod val="75000"/>
              </a:srgbClr>
            </a:solidFill>
          </a:ln>
        </p:spPr>
      </p:cxnSp>
      <p:sp>
        <p:nvSpPr>
          <p:cNvPr id="12" name="AutoShape 12"/>
          <p:cNvSpPr/>
          <p:nvPr/>
        </p:nvSpPr>
        <p:spPr>
          <a:xfrm>
            <a:off x="4350664" y="2495040"/>
            <a:ext cx="3487810" cy="45719"/>
          </a:xfrm>
          <a:prstGeom prst="rect">
            <a:avLst/>
          </a:prstGeom>
          <a:gradFill>
            <a:gsLst>
              <a:gs pos="0">
                <a:srgbClr val="2DA6E9"/>
              </a:gs>
              <a:gs pos="100000">
                <a:srgbClr val="2DA6E9">
                  <a:lumMod val="75000"/>
                </a:srgbClr>
              </a:gs>
            </a:gsLst>
          </a:gradFill>
          <a:ln>
            <a:noFill/>
          </a:ln>
        </p:spPr>
        <p:txBody>
          <a:bodyPr vert="horz" lIns="91440" tIns="45720" rIns="91440" bIns="45720" anchor="ctr">
            <a:spAutoFit/>
          </a:bodyPr>
          <a:p>
            <a:pPr marL="0" algn="ctr"/>
          </a:p>
        </p:txBody>
      </p:sp>
      <p:sp>
        <p:nvSpPr>
          <p:cNvPr id="13" name="AutoShape 13"/>
          <p:cNvSpPr/>
          <p:nvPr/>
        </p:nvSpPr>
        <p:spPr>
          <a:xfrm>
            <a:off x="4582390" y="2800132"/>
            <a:ext cx="3024359" cy="338554"/>
          </a:xfrm>
          <a:prstGeom prst="rect">
            <a:avLst/>
          </a:prstGeom>
        </p:spPr>
        <p:txBody>
          <a:bodyPr vert="horz" wrap="square" lIns="91440" tIns="45720" rIns="91440" bIns="45720" anchor="b">
            <a:spAutoFit/>
          </a:bodyPr>
          <a:p>
            <a:pPr marL="0" algn="l"/>
            <a:r>
              <a:rPr lang="zh-CN" altLang="en-US" sz="1600" b="1" i="0" u="none" baseline="0">
                <a:solidFill>
                  <a:srgbClr val="00B0F0"/>
                </a:solidFill>
                <a:latin typeface="微软雅黑" panose="020B0503020204020204" pitchFamily="34" charset="-122"/>
                <a:ea typeface="微软雅黑" panose="020B0503020204020204" pitchFamily="34" charset="-122"/>
              </a:rPr>
              <a:t>特征随机采样</a:t>
            </a:r>
            <a:endParaRPr lang="zh-CN" altLang="en-US" sz="1600" b="1" i="0" u="none" baseline="0">
              <a:solidFill>
                <a:srgbClr val="00B0F0"/>
              </a:solidFill>
              <a:latin typeface="微软雅黑" panose="020B0503020204020204" pitchFamily="34" charset="-122"/>
              <a:ea typeface="微软雅黑" panose="020B0503020204020204" pitchFamily="34" charset="-122"/>
            </a:endParaRPr>
          </a:p>
        </p:txBody>
      </p:sp>
      <p:sp>
        <p:nvSpPr>
          <p:cNvPr id="14" name="AutoShape 14"/>
          <p:cNvSpPr/>
          <p:nvPr/>
        </p:nvSpPr>
        <p:spPr>
          <a:xfrm>
            <a:off x="8331835" y="3896360"/>
            <a:ext cx="3488055" cy="2422525"/>
          </a:xfrm>
          <a:prstGeom prst="roundRect">
            <a:avLst>
              <a:gd name="adj" fmla="val 0"/>
            </a:avLst>
          </a:prstGeom>
          <a:solidFill>
            <a:srgbClr val="FFFFFF"/>
          </a:solidFill>
          <a:ln>
            <a:noFill/>
          </a:ln>
          <a:effectLst>
            <a:outerShdw blurRad="152400" dir="18900000" sy="23000" algn="bl" rotWithShape="0">
              <a:srgbClr val="000000">
                <a:alpha val="10000"/>
              </a:srgbClr>
            </a:outerShdw>
          </a:effectLst>
        </p:spPr>
        <p:txBody>
          <a:bodyPr vert="horz" lIns="91440" tIns="45720" rIns="91440" bIns="45720" anchor="ctr">
            <a:noAutofit/>
          </a:bodyPr>
          <a:p>
            <a:pPr marL="0" algn="ctr"/>
          </a:p>
        </p:txBody>
      </p:sp>
      <p:sp>
        <p:nvSpPr>
          <p:cNvPr id="15" name="AutoShape 15"/>
          <p:cNvSpPr/>
          <p:nvPr/>
        </p:nvSpPr>
        <p:spPr>
          <a:xfrm>
            <a:off x="8563256" y="4679367"/>
            <a:ext cx="3024359" cy="1024511"/>
          </a:xfrm>
          <a:prstGeom prst="rect">
            <a:avLst/>
          </a:prstGeom>
        </p:spPr>
        <p:txBody>
          <a:bodyPr vert="horz" wrap="square" lIns="91440" tIns="45720" rIns="91440" bIns="45720" anchor="t">
            <a:spAutoFit/>
          </a:bodyPr>
          <a:p>
            <a:pPr marL="0" algn="just">
              <a:lnSpc>
                <a:spcPct val="150000"/>
              </a:lnSpc>
            </a:pPr>
            <a:r>
              <a:rPr lang="zh-CN" altLang="en-US" sz="1400" b="0" i="0" u="none" baseline="0">
                <a:solidFill>
                  <a:srgbClr val="000000">
                    <a:lumMod val="75000"/>
                    <a:lumOff val="25000"/>
                  </a:srgbClr>
                </a:solidFill>
                <a:latin typeface="微软雅黑" panose="020B0503020204020204" pitchFamily="34" charset="-122"/>
                <a:ea typeface="微软雅黑" panose="020B0503020204020204" pitchFamily="34" charset="-122"/>
              </a:rPr>
              <a:t>可以同时对样本和特征进行随机采样（Random patches），以更加灵活的增加基学习器之间的差异性。</a:t>
            </a:r>
            <a:endParaRPr lang="zh-CN" altLang="en-US" sz="1400" b="0" i="0" u="none" baseline="0">
              <a:solidFill>
                <a:srgbClr val="000000">
                  <a:lumMod val="75000"/>
                  <a:lumOff val="25000"/>
                </a:srgbClr>
              </a:solidFill>
              <a:latin typeface="微软雅黑" panose="020B0503020204020204" pitchFamily="34" charset="-122"/>
              <a:ea typeface="微软雅黑" panose="020B0503020204020204" pitchFamily="34" charset="-122"/>
            </a:endParaRPr>
          </a:p>
        </p:txBody>
      </p:sp>
      <p:cxnSp>
        <p:nvCxnSpPr>
          <p:cNvPr id="16" name="Connector 16"/>
          <p:cNvCxnSpPr/>
          <p:nvPr/>
        </p:nvCxnSpPr>
        <p:spPr>
          <a:xfrm>
            <a:off x="8671671" y="4511955"/>
            <a:ext cx="2807530" cy="0"/>
          </a:xfrm>
          <a:prstGeom prst="line">
            <a:avLst/>
          </a:prstGeom>
          <a:ln w="12700" cap="rnd">
            <a:solidFill>
              <a:srgbClr val="FFFFFF">
                <a:lumMod val="75000"/>
              </a:srgbClr>
            </a:solidFill>
          </a:ln>
        </p:spPr>
      </p:cxnSp>
      <p:sp>
        <p:nvSpPr>
          <p:cNvPr id="17" name="AutoShape 17"/>
          <p:cNvSpPr/>
          <p:nvPr/>
        </p:nvSpPr>
        <p:spPr>
          <a:xfrm>
            <a:off x="8331531" y="3730750"/>
            <a:ext cx="3487810" cy="45719"/>
          </a:xfrm>
          <a:prstGeom prst="rect">
            <a:avLst/>
          </a:prstGeom>
          <a:gradFill>
            <a:gsLst>
              <a:gs pos="0">
                <a:srgbClr val="2DA6E9"/>
              </a:gs>
              <a:gs pos="100000">
                <a:srgbClr val="2DA6E9">
                  <a:lumMod val="75000"/>
                </a:srgbClr>
              </a:gs>
            </a:gsLst>
          </a:gradFill>
          <a:ln>
            <a:noFill/>
          </a:ln>
        </p:spPr>
        <p:txBody>
          <a:bodyPr vert="horz" lIns="91440" tIns="45720" rIns="91440" bIns="45720" anchor="ctr">
            <a:spAutoFit/>
          </a:bodyPr>
          <a:p>
            <a:pPr marL="0" algn="ctr"/>
          </a:p>
        </p:txBody>
      </p:sp>
      <p:sp>
        <p:nvSpPr>
          <p:cNvPr id="18" name="AutoShape 18"/>
          <p:cNvSpPr/>
          <p:nvPr/>
        </p:nvSpPr>
        <p:spPr>
          <a:xfrm>
            <a:off x="8563256" y="4035842"/>
            <a:ext cx="3024359" cy="338554"/>
          </a:xfrm>
          <a:prstGeom prst="rect">
            <a:avLst/>
          </a:prstGeom>
        </p:spPr>
        <p:txBody>
          <a:bodyPr vert="horz" wrap="square" lIns="91440" tIns="45720" rIns="91440" bIns="45720" anchor="b">
            <a:spAutoFit/>
          </a:bodyPr>
          <a:p>
            <a:pPr marL="0" algn="l"/>
            <a:r>
              <a:rPr lang="zh-CN" altLang="en-US" sz="1600" b="1" i="0" u="none" baseline="0">
                <a:solidFill>
                  <a:srgbClr val="00B0F0"/>
                </a:solidFill>
                <a:latin typeface="微软雅黑" panose="020B0503020204020204" pitchFamily="34" charset="-122"/>
                <a:ea typeface="微软雅黑" panose="020B0503020204020204" pitchFamily="34" charset="-122"/>
              </a:rPr>
              <a:t>样本+特征同时采样</a:t>
            </a:r>
            <a:endParaRPr lang="zh-CN" altLang="en-US" sz="1600" b="1" i="0" u="none" baseline="0">
              <a:solidFill>
                <a:srgbClr val="00B0F0"/>
              </a:solidFill>
              <a:latin typeface="微软雅黑" panose="020B0503020204020204" pitchFamily="34" charset="-122"/>
              <a:ea typeface="微软雅黑" panose="020B0503020204020204" pitchFamily="34" charset="-122"/>
            </a:endParaRPr>
          </a:p>
        </p:txBody>
      </p:sp>
      <p:sp>
        <p:nvSpPr>
          <p:cNvPr id="20" name="AutoShape 2"/>
          <p:cNvSpPr/>
          <p:nvPr/>
        </p:nvSpPr>
        <p:spPr>
          <a:xfrm>
            <a:off x="4284345" y="1176655"/>
            <a:ext cx="3768090" cy="536575"/>
          </a:xfrm>
          <a:prstGeom prst="rect">
            <a:avLst/>
          </a:prstGeom>
        </p:spPr>
        <p:txBody>
          <a:bodyPr vert="horz" wrap="square" lIns="91440" tIns="45720" rIns="91440" bIns="45720" anchor="b">
            <a:normAutofit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spcBef>
                <a:spcPct val="0"/>
              </a:spcBef>
            </a:pPr>
            <a:r>
              <a:rPr lang="en-US" sz="2800" b="1" i="0" u="none" baseline="0">
                <a:solidFill>
                  <a:schemeClr val="accent1">
                    <a:lumMod val="75000"/>
                  </a:schemeClr>
                </a:solidFill>
                <a:latin typeface="微软雅黑" panose="020B0503020204020204" pitchFamily="34" charset="-122"/>
                <a:ea typeface="微软雅黑" panose="020B0503020204020204" pitchFamily="34" charset="-122"/>
              </a:rPr>
              <a:t>Bagging 优势与应用</a:t>
            </a:r>
            <a:endParaRPr lang="en-US" sz="2800" b="1" i="0" u="none" baseline="0">
              <a:solidFill>
                <a:schemeClr val="accent1">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Boosting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AutoShape 4"/>
          <p:cNvSpPr/>
          <p:nvPr>
            <p:custDataLst>
              <p:tags r:id="rId1"/>
            </p:custDataLst>
          </p:nvPr>
        </p:nvSpPr>
        <p:spPr>
          <a:xfrm>
            <a:off x="4311015" y="1480185"/>
            <a:ext cx="3599815" cy="3650615"/>
          </a:xfrm>
          <a:prstGeom prst="roundRect">
            <a:avLst>
              <a:gd name="adj" fmla="val 0"/>
            </a:avLst>
          </a:prstGeom>
          <a:solidFill>
            <a:srgbClr val="FFFFFF"/>
          </a:solidFill>
          <a:ln>
            <a:noFill/>
          </a:ln>
          <a:effectLst>
            <a:outerShdw blurRad="381000" dist="762000" dir="5400000" sx="84000" sy="84000" algn="t" rotWithShape="0">
              <a:srgbClr val="000000">
                <a:alpha val="40000"/>
              </a:srgbClr>
            </a:outerShdw>
          </a:effectLst>
        </p:spPr>
        <p:txBody>
          <a:bodyPr vert="horz" lIns="91440" tIns="45720" rIns="91440" bIns="45720" anchor="ctr">
            <a:noAutofit/>
          </a:bodyPr>
          <a:p>
            <a:pPr marL="0" marR="0" indent="0" algn="ctr" fontAlgn="auto">
              <a:lnSpc>
                <a:spcPct val="100000"/>
              </a:lnSpc>
              <a:spcBef>
                <a:spcPct val="0"/>
              </a:spcBef>
              <a:spcAft>
                <a:spcPct val="0"/>
              </a:spcAft>
            </a:pPr>
          </a:p>
        </p:txBody>
      </p:sp>
      <p:sp>
        <p:nvSpPr>
          <p:cNvPr id="21" name="AutoShape 5"/>
          <p:cNvSpPr/>
          <p:nvPr>
            <p:custDataLst>
              <p:tags r:id="rId2"/>
            </p:custDataLst>
          </p:nvPr>
        </p:nvSpPr>
        <p:spPr>
          <a:xfrm>
            <a:off x="8276590" y="1480185"/>
            <a:ext cx="3599815" cy="3650615"/>
          </a:xfrm>
          <a:prstGeom prst="roundRect">
            <a:avLst>
              <a:gd name="adj" fmla="val 0"/>
            </a:avLst>
          </a:prstGeom>
          <a:solidFill>
            <a:srgbClr val="FFFFFF"/>
          </a:solidFill>
          <a:ln>
            <a:noFill/>
          </a:ln>
          <a:effectLst>
            <a:outerShdw blurRad="381000" dist="762000" dir="5400000" sx="84000" sy="84000" algn="t" rotWithShape="0">
              <a:srgbClr val="000000">
                <a:alpha val="40000"/>
              </a:srgbClr>
            </a:outerShdw>
          </a:effectLst>
        </p:spPr>
        <p:txBody>
          <a:bodyPr vert="horz" lIns="91440" tIns="45720" rIns="91440" bIns="45720" anchor="ctr">
            <a:noAutofit/>
          </a:bodyPr>
          <a:p>
            <a:pPr marL="0" marR="0" indent="0" algn="ctr" fontAlgn="auto">
              <a:lnSpc>
                <a:spcPct val="100000"/>
              </a:lnSpc>
              <a:spcBef>
                <a:spcPct val="0"/>
              </a:spcBef>
              <a:spcAft>
                <a:spcPct val="0"/>
              </a:spcAft>
            </a:pPr>
          </a:p>
        </p:txBody>
      </p:sp>
      <p:sp>
        <p:nvSpPr>
          <p:cNvPr id="22" name="AutoShape 6"/>
          <p:cNvSpPr/>
          <p:nvPr>
            <p:custDataLst>
              <p:tags r:id="rId3"/>
            </p:custDataLst>
          </p:nvPr>
        </p:nvSpPr>
        <p:spPr>
          <a:xfrm>
            <a:off x="306705" y="1480185"/>
            <a:ext cx="3599815" cy="3650615"/>
          </a:xfrm>
          <a:prstGeom prst="roundRect">
            <a:avLst>
              <a:gd name="adj" fmla="val 0"/>
            </a:avLst>
          </a:prstGeom>
          <a:solidFill>
            <a:srgbClr val="FFFFFF"/>
          </a:solidFill>
          <a:ln>
            <a:noFill/>
          </a:ln>
          <a:effectLst>
            <a:outerShdw blurRad="381000" dist="762000" dir="5400000" sx="84000" sy="84000" algn="t" rotWithShape="0">
              <a:srgbClr val="000000">
                <a:alpha val="40000"/>
              </a:srgbClr>
            </a:outerShdw>
          </a:effectLst>
        </p:spPr>
        <p:txBody>
          <a:bodyPr vert="horz" lIns="91440" tIns="45720" rIns="91440" bIns="45720" anchor="ctr">
            <a:noAutofit/>
          </a:bodyPr>
          <a:p>
            <a:pPr marL="0" marR="0" indent="0" algn="ctr" fontAlgn="auto">
              <a:lnSpc>
                <a:spcPct val="100000"/>
              </a:lnSpc>
              <a:spcBef>
                <a:spcPct val="0"/>
              </a:spcBef>
              <a:spcAft>
                <a:spcPct val="0"/>
              </a:spcAft>
            </a:pPr>
          </a:p>
        </p:txBody>
      </p:sp>
      <p:sp>
        <p:nvSpPr>
          <p:cNvPr id="23" name="TextBox 7"/>
          <p:cNvSpPr txBox="1"/>
          <p:nvPr>
            <p:custDataLst>
              <p:tags r:id="rId4"/>
            </p:custDataLst>
          </p:nvPr>
        </p:nvSpPr>
        <p:spPr>
          <a:xfrm>
            <a:off x="529742" y="2906799"/>
            <a:ext cx="2899269" cy="246221"/>
          </a:xfrm>
          <a:prstGeom prst="rect">
            <a:avLst/>
          </a:prstGeom>
          <a:noFill/>
        </p:spPr>
        <p:txBody>
          <a:bodyPr vert="horz" wrap="square" lIns="0" tIns="0" rIns="0" bIns="0" rtlCol="0" anchor="b">
            <a:spAutoFit/>
          </a:bodyPr>
          <a:p>
            <a:pPr marL="0" algn="l">
              <a:defRPr/>
            </a:pPr>
            <a:r>
              <a:rPr lang="zh-CN" altLang="en-US" sz="1600" b="1" i="0" u="none" baseline="0">
                <a:solidFill>
                  <a:srgbClr val="000000"/>
                </a:solidFill>
                <a:latin typeface="微软雅黑" panose="020B0503020204020204" pitchFamily="34" charset="-122"/>
                <a:ea typeface="微软雅黑" panose="020B0503020204020204" pitchFamily="34" charset="-122"/>
              </a:rPr>
              <a:t>Boosting 定义</a:t>
            </a:r>
            <a:endParaRPr lang="en-US" sz="1100"/>
          </a:p>
        </p:txBody>
      </p:sp>
      <p:sp>
        <p:nvSpPr>
          <p:cNvPr id="24" name="TextBox 8"/>
          <p:cNvSpPr txBox="1"/>
          <p:nvPr>
            <p:custDataLst>
              <p:tags r:id="rId5"/>
            </p:custDataLst>
          </p:nvPr>
        </p:nvSpPr>
        <p:spPr>
          <a:xfrm>
            <a:off x="529742" y="3484284"/>
            <a:ext cx="2811108" cy="1025217"/>
          </a:xfrm>
          <a:prstGeom prst="rect">
            <a:avLst/>
          </a:prstGeom>
          <a:noFill/>
        </p:spPr>
        <p:txBody>
          <a:bodyPr vert="horz" wrap="square" lIns="91440" tIns="45720" rIns="91440" bIns="45720" rtlCol="0" anchor="t">
            <a:spAutoFit/>
          </a:bodyPr>
          <a:p>
            <a:pPr marL="0" algn="just">
              <a:lnSpc>
                <a:spcPct val="150000"/>
              </a:lnSpc>
              <a:defRPr/>
            </a:pPr>
            <a:r>
              <a:rPr lang="zh-CN" altLang="en-US" sz="1400" b="0" i="0" u="none" baseline="0">
                <a:gradFill>
                  <a:gsLst>
                    <a:gs pos="0">
                      <a:srgbClr val="2C2C2C">
                        <a:alpha val="77000"/>
                      </a:srgbClr>
                    </a:gs>
                    <a:gs pos="100000">
                      <a:srgbClr val="2C2C2C"/>
                    </a:gs>
                  </a:gsLst>
                  <a:lin ang="4200000"/>
                </a:gradFill>
                <a:latin typeface="+mn-ea"/>
                <a:ea typeface="+mn-ea"/>
              </a:rPr>
              <a:t>Boosting是一族序列化集成学习算法，通过训练一系列基学习器，将它们加权结合成一个泛化性能强的强学习器。</a:t>
            </a:r>
            <a:endParaRPr lang="en-US" sz="1100"/>
          </a:p>
        </p:txBody>
      </p:sp>
      <p:cxnSp>
        <p:nvCxnSpPr>
          <p:cNvPr id="25" name="Connector 9"/>
          <p:cNvCxnSpPr/>
          <p:nvPr>
            <p:custDataLst>
              <p:tags r:id="rId6"/>
            </p:custDataLst>
          </p:nvPr>
        </p:nvCxnSpPr>
        <p:spPr>
          <a:xfrm>
            <a:off x="529742" y="3301649"/>
            <a:ext cx="2457450" cy="0"/>
          </a:xfrm>
          <a:prstGeom prst="line">
            <a:avLst/>
          </a:prstGeom>
          <a:ln w="12700">
            <a:solidFill>
              <a:schemeClr val="accent4"/>
            </a:solidFill>
          </a:ln>
        </p:spPr>
      </p:cxnSp>
      <p:sp>
        <p:nvSpPr>
          <p:cNvPr id="26" name="TextBox 10"/>
          <p:cNvSpPr txBox="1"/>
          <p:nvPr>
            <p:custDataLst>
              <p:tags r:id="rId7"/>
            </p:custDataLst>
          </p:nvPr>
        </p:nvSpPr>
        <p:spPr>
          <a:xfrm>
            <a:off x="4534003" y="2906799"/>
            <a:ext cx="2899269" cy="246221"/>
          </a:xfrm>
          <a:prstGeom prst="rect">
            <a:avLst/>
          </a:prstGeom>
          <a:noFill/>
        </p:spPr>
        <p:txBody>
          <a:bodyPr vert="horz" wrap="square" lIns="0" tIns="0" rIns="0" bIns="0" rtlCol="0" anchor="b">
            <a:spAutoFit/>
          </a:bodyPr>
          <a:p>
            <a:pPr marL="0" algn="l">
              <a:defRPr/>
            </a:pPr>
            <a:r>
              <a:rPr lang="zh-CN" altLang="en-US" sz="1600" b="1" i="0" u="none" baseline="0">
                <a:solidFill>
                  <a:srgbClr val="000000">
                    <a:lumMod val="85000"/>
                    <a:lumOff val="15000"/>
                  </a:srgbClr>
                </a:solidFill>
                <a:latin typeface="微软雅黑" panose="020B0503020204020204" pitchFamily="34" charset="-122"/>
                <a:ea typeface="微软雅黑" panose="020B0503020204020204" pitchFamily="34" charset="-122"/>
              </a:rPr>
              <a:t>关注错误样本</a:t>
            </a:r>
            <a:endParaRPr lang="en-US" sz="1100"/>
          </a:p>
        </p:txBody>
      </p:sp>
      <p:sp>
        <p:nvSpPr>
          <p:cNvPr id="27" name="TextBox 11"/>
          <p:cNvSpPr txBox="1"/>
          <p:nvPr>
            <p:custDataLst>
              <p:tags r:id="rId8"/>
            </p:custDataLst>
          </p:nvPr>
        </p:nvSpPr>
        <p:spPr>
          <a:xfrm>
            <a:off x="4534003" y="3484284"/>
            <a:ext cx="2899269" cy="702052"/>
          </a:xfrm>
          <a:prstGeom prst="rect">
            <a:avLst/>
          </a:prstGeom>
          <a:noFill/>
        </p:spPr>
        <p:txBody>
          <a:bodyPr vert="horz" wrap="square" lIns="91440" tIns="45720" rIns="91440" bIns="45720" rtlCol="0" anchor="t">
            <a:spAutoFit/>
          </a:bodyPr>
          <a:p>
            <a:pPr marL="0" algn="just">
              <a:lnSpc>
                <a:spcPct val="150000"/>
              </a:lnSpc>
              <a:defRPr/>
            </a:pPr>
            <a:r>
              <a:rPr lang="zh-CN" altLang="en-US" sz="1400" b="0" i="0" u="none" baseline="0">
                <a:gradFill>
                  <a:gsLst>
                    <a:gs pos="0">
                      <a:srgbClr val="2C2C2C">
                        <a:alpha val="77000"/>
                      </a:srgbClr>
                    </a:gs>
                    <a:gs pos="100000">
                      <a:srgbClr val="2C2C2C"/>
                    </a:gs>
                  </a:gsLst>
                  <a:lin ang="4200000"/>
                </a:gradFill>
                <a:latin typeface="+mn-ea"/>
                <a:ea typeface="+mn-ea"/>
              </a:rPr>
              <a:t>对于前序基学习器预测错误的样本，Boosting会重新赋予更高的权重，使下一个基学习器更关注这些样本。</a:t>
            </a:r>
            <a:endParaRPr lang="en-US" sz="1100"/>
          </a:p>
        </p:txBody>
      </p:sp>
      <p:cxnSp>
        <p:nvCxnSpPr>
          <p:cNvPr id="28" name="Connector 12"/>
          <p:cNvCxnSpPr/>
          <p:nvPr>
            <p:custDataLst>
              <p:tags r:id="rId9"/>
            </p:custDataLst>
          </p:nvPr>
        </p:nvCxnSpPr>
        <p:spPr>
          <a:xfrm>
            <a:off x="4534003" y="3301649"/>
            <a:ext cx="2457450" cy="0"/>
          </a:xfrm>
          <a:prstGeom prst="line">
            <a:avLst/>
          </a:prstGeom>
          <a:ln w="12700">
            <a:solidFill>
              <a:schemeClr val="accent4"/>
            </a:solidFill>
          </a:ln>
        </p:spPr>
      </p:cxnSp>
      <p:sp>
        <p:nvSpPr>
          <p:cNvPr id="29" name="TextBox 13"/>
          <p:cNvSpPr txBox="1"/>
          <p:nvPr>
            <p:custDataLst>
              <p:tags r:id="rId10"/>
            </p:custDataLst>
          </p:nvPr>
        </p:nvSpPr>
        <p:spPr>
          <a:xfrm>
            <a:off x="8499078" y="2906799"/>
            <a:ext cx="2899269" cy="246221"/>
          </a:xfrm>
          <a:prstGeom prst="rect">
            <a:avLst/>
          </a:prstGeom>
          <a:noFill/>
        </p:spPr>
        <p:txBody>
          <a:bodyPr vert="horz" wrap="square" lIns="0" tIns="0" rIns="0" bIns="0" rtlCol="0" anchor="b">
            <a:spAutoFit/>
          </a:bodyPr>
          <a:p>
            <a:pPr marL="0" algn="l">
              <a:defRPr/>
            </a:pPr>
            <a:r>
              <a:rPr lang="zh-CN" altLang="en-US" sz="1600" b="1" i="0" u="none" baseline="0">
                <a:solidFill>
                  <a:srgbClr val="000000">
                    <a:lumMod val="85000"/>
                    <a:lumOff val="15000"/>
                  </a:srgbClr>
                </a:solidFill>
                <a:latin typeface="微软雅黑" panose="020B0503020204020204" pitchFamily="34" charset="-122"/>
                <a:ea typeface="微软雅黑" panose="020B0503020204020204" pitchFamily="34" charset="-122"/>
              </a:rPr>
              <a:t>训练过程</a:t>
            </a:r>
            <a:endParaRPr lang="en-US" sz="1100"/>
          </a:p>
        </p:txBody>
      </p:sp>
      <p:sp>
        <p:nvSpPr>
          <p:cNvPr id="30" name="TextBox 14"/>
          <p:cNvSpPr txBox="1"/>
          <p:nvPr>
            <p:custDataLst>
              <p:tags r:id="rId11"/>
            </p:custDataLst>
          </p:nvPr>
        </p:nvSpPr>
        <p:spPr>
          <a:xfrm>
            <a:off x="8499078" y="3484284"/>
            <a:ext cx="2899269" cy="1062990"/>
          </a:xfrm>
          <a:prstGeom prst="rect">
            <a:avLst/>
          </a:prstGeom>
          <a:noFill/>
        </p:spPr>
        <p:txBody>
          <a:bodyPr vert="horz" wrap="square" lIns="91440" tIns="45720" rIns="91440" bIns="45720" rtlCol="0" anchor="t">
            <a:spAutoFit/>
          </a:bodyPr>
          <a:p>
            <a:pPr marL="0" algn="just">
              <a:lnSpc>
                <a:spcPct val="150000"/>
              </a:lnSpc>
              <a:defRPr/>
            </a:pPr>
            <a:r>
              <a:rPr lang="zh-CN" altLang="en-US" sz="1400" b="0" i="0" u="none" baseline="0">
                <a:gradFill>
                  <a:gsLst>
                    <a:gs pos="0">
                      <a:srgbClr val="2C2C2C">
                        <a:alpha val="77000"/>
                      </a:srgbClr>
                    </a:gs>
                    <a:gs pos="100000">
                      <a:srgbClr val="2C2C2C"/>
                    </a:gs>
                  </a:gsLst>
                  <a:lin ang="4200000"/>
                </a:gradFill>
                <a:latin typeface="+mn-ea"/>
                <a:ea typeface="+mn-ea"/>
              </a:rPr>
              <a:t>通过不断地修正训练集分布、调整基学习器，直到达到最大训练轮数T；最终，对这T个学习器根据其性能进行加权结合。</a:t>
            </a:r>
            <a:endParaRPr lang="en-US" sz="1100"/>
          </a:p>
        </p:txBody>
      </p:sp>
      <p:cxnSp>
        <p:nvCxnSpPr>
          <p:cNvPr id="31" name="Connector 15"/>
          <p:cNvCxnSpPr/>
          <p:nvPr>
            <p:custDataLst>
              <p:tags r:id="rId12"/>
            </p:custDataLst>
          </p:nvPr>
        </p:nvCxnSpPr>
        <p:spPr>
          <a:xfrm>
            <a:off x="8499078" y="3301649"/>
            <a:ext cx="2457450" cy="0"/>
          </a:xfrm>
          <a:prstGeom prst="line">
            <a:avLst/>
          </a:prstGeom>
          <a:ln w="12700">
            <a:solidFill>
              <a:schemeClr val="accent4"/>
            </a:solidFill>
          </a:ln>
        </p:spPr>
      </p:cxnSp>
      <p:pic>
        <p:nvPicPr>
          <p:cNvPr id="32" name="image18.png"/>
          <p:cNvPicPr>
            <a:picLocks noChangeAspect="1"/>
          </p:cNvPicPr>
          <p:nvPr>
            <p:custDataLst>
              <p:tags r:id="rId13"/>
            </p:custDataLst>
          </p:nvPr>
        </p:nvPicPr>
        <p:blipFill>
          <a:blip r:embed="rId14"/>
          <a:stretch>
            <a:fillRect/>
          </a:stretch>
        </p:blipFill>
        <p:spPr>
          <a:xfrm>
            <a:off x="627707" y="1688739"/>
            <a:ext cx="1178876" cy="1178875"/>
          </a:xfrm>
          <a:prstGeom prst="rect">
            <a:avLst/>
          </a:prstGeom>
        </p:spPr>
      </p:pic>
      <p:pic>
        <p:nvPicPr>
          <p:cNvPr id="33" name="image20.png"/>
          <p:cNvPicPr>
            <a:picLocks noChangeAspect="1"/>
          </p:cNvPicPr>
          <p:nvPr>
            <p:custDataLst>
              <p:tags r:id="rId15"/>
            </p:custDataLst>
          </p:nvPr>
        </p:nvPicPr>
        <p:blipFill>
          <a:blip r:embed="rId16"/>
          <a:stretch>
            <a:fillRect/>
          </a:stretch>
        </p:blipFill>
        <p:spPr>
          <a:xfrm>
            <a:off x="4631968" y="1688739"/>
            <a:ext cx="1178876" cy="1178875"/>
          </a:xfrm>
          <a:prstGeom prst="rect">
            <a:avLst/>
          </a:prstGeom>
        </p:spPr>
      </p:pic>
      <p:pic>
        <p:nvPicPr>
          <p:cNvPr id="34" name="image22.png"/>
          <p:cNvPicPr>
            <a:picLocks noChangeAspect="1"/>
          </p:cNvPicPr>
          <p:nvPr>
            <p:custDataLst>
              <p:tags r:id="rId17"/>
            </p:custDataLst>
          </p:nvPr>
        </p:nvPicPr>
        <p:blipFill>
          <a:blip r:embed="rId18"/>
          <a:stretch>
            <a:fillRect/>
          </a:stretch>
        </p:blipFill>
        <p:spPr>
          <a:xfrm>
            <a:off x="8597043" y="1688739"/>
            <a:ext cx="1178876" cy="1178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AutoShape 7"/>
          <p:cNvSpPr/>
          <p:nvPr/>
        </p:nvSpPr>
        <p:spPr>
          <a:xfrm>
            <a:off x="5710678" y="4547843"/>
            <a:ext cx="6352597" cy="1865119"/>
          </a:xfrm>
          <a:prstGeom prst="roundRect">
            <a:avLst>
              <a:gd name="adj" fmla="val 1551"/>
            </a:avLst>
          </a:prstGeom>
          <a:gradFill>
            <a:gsLst>
              <a:gs pos="0">
                <a:srgbClr val="2DA6E9">
                  <a:alpha val="28000"/>
                </a:srgbClr>
              </a:gs>
              <a:gs pos="100000">
                <a:srgbClr val="24C6FF">
                  <a:alpha val="8000"/>
                </a:srgbClr>
              </a:gs>
            </a:gsLst>
            <a:lin ang="5400000"/>
          </a:gradFill>
          <a:ln w="19050">
            <a:gradFill>
              <a:gsLst>
                <a:gs pos="0">
                  <a:srgbClr val="2DA6E9"/>
                </a:gs>
                <a:gs pos="100000">
                  <a:srgbClr val="24C6FF"/>
                </a:gs>
              </a:gsLst>
              <a:lin ang="2700000"/>
            </a:gradFill>
          </a:ln>
        </p:spPr>
        <p:txBody>
          <a:bodyPr vert="horz" lIns="91440" tIns="45720" rIns="91440" bIns="45720" anchor="ctr">
            <a:noAutofit/>
          </a:bodyPr>
          <a:p>
            <a:pPr marL="0" algn="ctr"/>
          </a:p>
        </p:txBody>
      </p:sp>
      <p:sp>
        <p:nvSpPr>
          <p:cNvPr id="38" name="AutoShape 4"/>
          <p:cNvSpPr/>
          <p:nvPr/>
        </p:nvSpPr>
        <p:spPr>
          <a:xfrm>
            <a:off x="5710678" y="2210962"/>
            <a:ext cx="6352597" cy="1865119"/>
          </a:xfrm>
          <a:prstGeom prst="roundRect">
            <a:avLst>
              <a:gd name="adj" fmla="val 1551"/>
            </a:avLst>
          </a:prstGeom>
          <a:gradFill>
            <a:gsLst>
              <a:gs pos="0">
                <a:srgbClr val="2DA6E9">
                  <a:alpha val="28000"/>
                </a:srgbClr>
              </a:gs>
              <a:gs pos="100000">
                <a:srgbClr val="24C6FF">
                  <a:alpha val="8000"/>
                </a:srgbClr>
              </a:gs>
            </a:gsLst>
            <a:lin ang="5400000"/>
          </a:gradFill>
          <a:ln w="19050">
            <a:gradFill>
              <a:gsLst>
                <a:gs pos="0">
                  <a:srgbClr val="2DA6E9"/>
                </a:gs>
                <a:gs pos="100000">
                  <a:srgbClr val="24C6FF"/>
                </a:gs>
              </a:gsLst>
              <a:lin ang="2700000"/>
            </a:gradFill>
          </a:ln>
        </p:spPr>
        <p:txBody>
          <a:bodyPr vert="horz" lIns="91440" tIns="45720" rIns="91440" bIns="45720" anchor="ctr">
            <a:noAutofit/>
          </a:bodyPr>
          <a:p>
            <a:pPr marL="0" algn="ctr"/>
          </a:p>
        </p:txBody>
      </p:sp>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Boosting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4" name="AutoShape 2"/>
          <p:cNvSpPr/>
          <p:nvPr>
            <p:custDataLst>
              <p:tags r:id="rId1"/>
            </p:custDataLst>
          </p:nvPr>
        </p:nvSpPr>
        <p:spPr>
          <a:xfrm rot="17100000">
            <a:off x="6300625" y="5210094"/>
            <a:ext cx="1076440" cy="1076440"/>
          </a:xfrm>
          <a:prstGeom prst="ellipse">
            <a:avLst/>
          </a:prstGeom>
          <a:gradFill>
            <a:gsLst>
              <a:gs pos="0">
                <a:srgbClr val="D16200">
                  <a:alpha val="0"/>
                  <a:lumMod val="20000"/>
                  <a:lumOff val="80000"/>
                </a:srgbClr>
              </a:gs>
              <a:gs pos="60000">
                <a:srgbClr val="D16200">
                  <a:alpha val="25000"/>
                  <a:lumMod val="60000"/>
                  <a:lumOff val="40000"/>
                </a:srgbClr>
              </a:gs>
              <a:gs pos="100000">
                <a:srgbClr val="D16200">
                  <a:alpha val="30000"/>
                </a:srgbClr>
              </a:gs>
            </a:gsLst>
            <a:lin ang="7200000"/>
          </a:gradFill>
          <a:ln>
            <a:noFill/>
          </a:ln>
        </p:spPr>
        <p:txBody>
          <a:bodyPr vert="horz" wrap="square" lIns="91440" tIns="45720" rIns="91440" bIns="45720" anchor="t">
            <a:normAutofit/>
          </a:bodyPr>
          <a:p>
            <a:pPr marL="0" algn="l"/>
          </a:p>
        </p:txBody>
      </p:sp>
      <p:sp>
        <p:nvSpPr>
          <p:cNvPr id="5" name="AutoShape 3"/>
          <p:cNvSpPr/>
          <p:nvPr/>
        </p:nvSpPr>
        <p:spPr>
          <a:xfrm rot="17100000">
            <a:off x="5223563" y="6245673"/>
            <a:ext cx="470273" cy="470273"/>
          </a:xfrm>
          <a:prstGeom prst="ellipse">
            <a:avLst/>
          </a:prstGeom>
          <a:gradFill>
            <a:gsLst>
              <a:gs pos="0">
                <a:srgbClr val="D16200">
                  <a:alpha val="0"/>
                  <a:lumMod val="20000"/>
                  <a:lumOff val="80000"/>
                </a:srgbClr>
              </a:gs>
              <a:gs pos="60000">
                <a:srgbClr val="D16200">
                  <a:alpha val="25000"/>
                  <a:lumMod val="60000"/>
                  <a:lumOff val="40000"/>
                </a:srgbClr>
              </a:gs>
              <a:gs pos="100000">
                <a:srgbClr val="D16200">
                  <a:alpha val="30000"/>
                </a:srgbClr>
              </a:gs>
            </a:gsLst>
            <a:lin ang="7200000"/>
          </a:gradFill>
          <a:ln>
            <a:noFill/>
          </a:ln>
        </p:spPr>
        <p:txBody>
          <a:bodyPr vert="horz" wrap="square" lIns="91440" tIns="45720" rIns="91440" bIns="45720" anchor="t">
            <a:normAutofit fontScale="90000" lnSpcReduction="10000"/>
          </a:bodyPr>
          <a:p>
            <a:pPr marL="0" algn="l"/>
          </a:p>
        </p:txBody>
      </p:sp>
      <p:sp>
        <p:nvSpPr>
          <p:cNvPr id="6" name="AutoShape 4"/>
          <p:cNvSpPr/>
          <p:nvPr>
            <p:custDataLst>
              <p:tags r:id="rId2"/>
            </p:custDataLst>
          </p:nvPr>
        </p:nvSpPr>
        <p:spPr>
          <a:xfrm>
            <a:off x="363994" y="1439877"/>
            <a:ext cx="7340552" cy="1550491"/>
          </a:xfrm>
          <a:prstGeom prst="roundRect">
            <a:avLst>
              <a:gd name="adj" fmla="val 7400"/>
            </a:avLst>
          </a:prstGeom>
          <a:solidFill>
            <a:srgbClr val="FFFFFF">
              <a:alpha val="50000"/>
            </a:srgbClr>
          </a:solidFill>
          <a:ln>
            <a:noFill/>
          </a:ln>
        </p:spPr>
        <p:txBody>
          <a:bodyPr vert="horz" wrap="square" lIns="91440" tIns="45720" rIns="91440" bIns="45720" anchor="ctr">
            <a:noAutofit/>
          </a:bodyPr>
          <a:p>
            <a:pPr marL="0" algn="ctr"/>
          </a:p>
        </p:txBody>
      </p:sp>
      <p:sp>
        <p:nvSpPr>
          <p:cNvPr id="10" name="TextBox 8"/>
          <p:cNvSpPr txBox="1"/>
          <p:nvPr>
            <p:custDataLst>
              <p:tags r:id="rId3"/>
            </p:custDataLst>
          </p:nvPr>
        </p:nvSpPr>
        <p:spPr>
          <a:xfrm>
            <a:off x="500189" y="1530754"/>
            <a:ext cx="6146262"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solidFill>
                <a:latin typeface="微软雅黑" panose="020B0503020204020204" pitchFamily="34" charset="-122"/>
                <a:ea typeface="微软雅黑" panose="020B0503020204020204" pitchFamily="34" charset="-122"/>
              </a:rPr>
              <a:t>紧密依赖关系</a:t>
            </a:r>
            <a:endParaRPr lang="en-US" sz="1100"/>
          </a:p>
        </p:txBody>
      </p:sp>
      <p:sp>
        <p:nvSpPr>
          <p:cNvPr id="11" name="TextBox 9"/>
          <p:cNvSpPr txBox="1"/>
          <p:nvPr>
            <p:custDataLst>
              <p:tags r:id="rId4"/>
            </p:custDataLst>
          </p:nvPr>
        </p:nvSpPr>
        <p:spPr>
          <a:xfrm>
            <a:off x="500380" y="1901190"/>
            <a:ext cx="4881245" cy="650240"/>
          </a:xfrm>
          <a:prstGeom prst="rect">
            <a:avLst/>
          </a:prstGeom>
          <a:noFill/>
        </p:spPr>
        <p:txBody>
          <a:bodyPr vert="horz" wrap="square" lIns="91440" tIns="45720" rIns="91440" bIns="45720" rtlCol="0" anchor="t">
            <a:spAutoFit/>
          </a:bodyPr>
          <a:p>
            <a:pPr marL="0" algn="l">
              <a:lnSpc>
                <a:spcPct val="130000"/>
              </a:lnSpc>
              <a:buClrTx/>
              <a:buSzTx/>
              <a:buFontTx/>
              <a:defRPr/>
            </a:pPr>
            <a:r>
              <a:rPr lang="zh-CN" altLang="en-US" sz="1400" b="0" i="0" u="none" baseline="0">
                <a:solidFill>
                  <a:srgbClr val="000000"/>
                </a:solidFill>
                <a:latin typeface="微软雅黑" panose="020B0503020204020204" pitchFamily="34" charset="-122"/>
                <a:ea typeface="微软雅黑" panose="020B0503020204020204" pitchFamily="34" charset="-122"/>
              </a:rPr>
              <a:t>Boosting各个基学习器之间存在着紧密的依赖关系，必须按照严格的顺序生成，依次训练，不断弥补前者的不足。</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12" name="AutoShape 10"/>
          <p:cNvSpPr/>
          <p:nvPr>
            <p:custDataLst>
              <p:tags r:id="rId5"/>
            </p:custDataLst>
          </p:nvPr>
        </p:nvSpPr>
        <p:spPr>
          <a:xfrm>
            <a:off x="363994" y="3148441"/>
            <a:ext cx="7340552" cy="1550491"/>
          </a:xfrm>
          <a:prstGeom prst="roundRect">
            <a:avLst>
              <a:gd name="adj" fmla="val 7400"/>
            </a:avLst>
          </a:prstGeom>
          <a:solidFill>
            <a:srgbClr val="FFFFFF">
              <a:alpha val="50000"/>
            </a:srgbClr>
          </a:solidFill>
          <a:ln>
            <a:noFill/>
          </a:ln>
        </p:spPr>
        <p:txBody>
          <a:bodyPr vert="horz" wrap="square" lIns="91440" tIns="45720" rIns="91440" bIns="45720" anchor="ctr">
            <a:noAutofit/>
          </a:bodyPr>
          <a:p>
            <a:pPr marL="0" algn="ctr"/>
          </a:p>
        </p:txBody>
      </p:sp>
      <p:sp>
        <p:nvSpPr>
          <p:cNvPr id="13" name="TextBox 11"/>
          <p:cNvSpPr txBox="1"/>
          <p:nvPr>
            <p:custDataLst>
              <p:tags r:id="rId6"/>
            </p:custDataLst>
          </p:nvPr>
        </p:nvSpPr>
        <p:spPr>
          <a:xfrm>
            <a:off x="500189" y="3239318"/>
            <a:ext cx="6146262"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solidFill>
                <a:latin typeface="微软雅黑" panose="020B0503020204020204" pitchFamily="34" charset="-122"/>
                <a:ea typeface="微软雅黑" panose="020B0503020204020204" pitchFamily="34" charset="-122"/>
              </a:rPr>
              <a:t>串行训练方式</a:t>
            </a:r>
            <a:endParaRPr lang="en-US" sz="1100"/>
          </a:p>
        </p:txBody>
      </p:sp>
      <p:sp>
        <p:nvSpPr>
          <p:cNvPr id="14" name="TextBox 12"/>
          <p:cNvSpPr txBox="1"/>
          <p:nvPr>
            <p:custDataLst>
              <p:tags r:id="rId7"/>
            </p:custDataLst>
          </p:nvPr>
        </p:nvSpPr>
        <p:spPr>
          <a:xfrm>
            <a:off x="500380" y="3609975"/>
            <a:ext cx="4881245" cy="650240"/>
          </a:xfrm>
          <a:prstGeom prst="rect">
            <a:avLst/>
          </a:prstGeom>
          <a:noFill/>
        </p:spPr>
        <p:txBody>
          <a:bodyPr vert="horz" wrap="square" lIns="91440" tIns="45720" rIns="91440" bIns="45720" rtlCol="0" anchor="t">
            <a:spAutoFit/>
          </a:bodyPr>
          <a:p>
            <a:pPr marL="0" algn="l">
              <a:lnSpc>
                <a:spcPct val="130000"/>
              </a:lnSpc>
              <a:buClrTx/>
              <a:buSzTx/>
              <a:buFontTx/>
              <a:defRPr/>
            </a:pPr>
            <a:r>
              <a:rPr lang="zh-CN" altLang="en-US" sz="1400" b="0" i="0" u="none" baseline="0">
                <a:solidFill>
                  <a:srgbClr val="000000"/>
                </a:solidFill>
                <a:latin typeface="微软雅黑" panose="020B0503020204020204" pitchFamily="34" charset="-122"/>
                <a:ea typeface="微软雅黑" panose="020B0503020204020204" pitchFamily="34" charset="-122"/>
              </a:rPr>
              <a:t>串行训练方式可能会增加训练时间，但也为Boosting方法带来了更高的预测性能和更好的泛化能力。</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15" name="AutoShape 13"/>
          <p:cNvSpPr/>
          <p:nvPr>
            <p:custDataLst>
              <p:tags r:id="rId8"/>
            </p:custDataLst>
          </p:nvPr>
        </p:nvSpPr>
        <p:spPr>
          <a:xfrm>
            <a:off x="363994" y="4857005"/>
            <a:ext cx="7340552" cy="1550491"/>
          </a:xfrm>
          <a:prstGeom prst="roundRect">
            <a:avLst>
              <a:gd name="adj" fmla="val 7400"/>
            </a:avLst>
          </a:prstGeom>
          <a:solidFill>
            <a:srgbClr val="FFFFFF">
              <a:alpha val="50000"/>
            </a:srgbClr>
          </a:solidFill>
          <a:ln>
            <a:noFill/>
          </a:ln>
        </p:spPr>
        <p:txBody>
          <a:bodyPr vert="horz" wrap="square" lIns="91440" tIns="45720" rIns="91440" bIns="45720" anchor="ctr">
            <a:noAutofit/>
          </a:bodyPr>
          <a:p>
            <a:pPr marL="0" algn="ctr"/>
          </a:p>
        </p:txBody>
      </p:sp>
      <p:sp>
        <p:nvSpPr>
          <p:cNvPr id="16" name="TextBox 14"/>
          <p:cNvSpPr txBox="1"/>
          <p:nvPr>
            <p:custDataLst>
              <p:tags r:id="rId9"/>
            </p:custDataLst>
          </p:nvPr>
        </p:nvSpPr>
        <p:spPr>
          <a:xfrm>
            <a:off x="500189" y="4947882"/>
            <a:ext cx="6146262"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solidFill>
                <a:latin typeface="微软雅黑" panose="020B0503020204020204" pitchFamily="34" charset="-122"/>
                <a:ea typeface="微软雅黑" panose="020B0503020204020204" pitchFamily="34" charset="-122"/>
              </a:rPr>
              <a:t>弱学习器</a:t>
            </a:r>
            <a:endParaRPr lang="en-US" sz="1100"/>
          </a:p>
        </p:txBody>
      </p:sp>
      <p:sp>
        <p:nvSpPr>
          <p:cNvPr id="17" name="TextBox 15"/>
          <p:cNvSpPr txBox="1"/>
          <p:nvPr>
            <p:custDataLst>
              <p:tags r:id="rId10"/>
            </p:custDataLst>
          </p:nvPr>
        </p:nvSpPr>
        <p:spPr>
          <a:xfrm>
            <a:off x="500380" y="5318125"/>
            <a:ext cx="4881245" cy="650240"/>
          </a:xfrm>
          <a:prstGeom prst="rect">
            <a:avLst/>
          </a:prstGeom>
          <a:noFill/>
        </p:spPr>
        <p:txBody>
          <a:bodyPr vert="horz" wrap="square" lIns="91440" tIns="45720" rIns="91440" bIns="45720" rtlCol="0" anchor="t">
            <a:spAutoFit/>
          </a:bodyPr>
          <a:p>
            <a:pPr marL="0" algn="l">
              <a:lnSpc>
                <a:spcPct val="130000"/>
              </a:lnSpc>
              <a:buClrTx/>
              <a:buSzTx/>
              <a:buFontTx/>
              <a:defRPr/>
            </a:pPr>
            <a:r>
              <a:rPr lang="zh-CN" altLang="en-US" sz="1400" b="0" i="0" u="none" baseline="0">
                <a:solidFill>
                  <a:srgbClr val="000000"/>
                </a:solidFill>
                <a:latin typeface="微软雅黑" panose="020B0503020204020204" pitchFamily="34" charset="-122"/>
                <a:ea typeface="微软雅黑" panose="020B0503020204020204" pitchFamily="34" charset="-122"/>
              </a:rPr>
              <a:t>使用Boosting集成时，为防止过拟合以及欠拟合，通常会选择弱学习器来进行学习。</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39" name="TextBox 5"/>
          <p:cNvSpPr txBox="1"/>
          <p:nvPr/>
        </p:nvSpPr>
        <p:spPr>
          <a:xfrm>
            <a:off x="6093553" y="2736127"/>
            <a:ext cx="5754189" cy="629920"/>
          </a:xfrm>
          <a:prstGeom prst="rect">
            <a:avLst/>
          </a:prstGeom>
        </p:spPr>
        <p:txBody>
          <a:bodyPr vert="horz" wrap="square" lIns="0" tIns="36000" rIns="0" bIns="36000" rtlCol="0" anchor="t">
            <a:spAutoFit/>
          </a:bodyPr>
          <a:p>
            <a:pPr marL="0" algn="l">
              <a:lnSpc>
                <a:spcPct val="130000"/>
              </a:lnSpc>
              <a:buClrTx/>
              <a:buSzTx/>
              <a:buFontTx/>
              <a:defRPr/>
            </a:pPr>
            <a:r>
              <a:rPr lang="zh-CN" altLang="en-US" sz="1400" b="0" i="0" u="none" baseline="0">
                <a:solidFill>
                  <a:srgbClr val="000000"/>
                </a:solidFill>
                <a:latin typeface="微软雅黑" panose="020B0503020204020204" pitchFamily="34" charset="-122"/>
                <a:ea typeface="微软雅黑" panose="020B0503020204020204" pitchFamily="34" charset="-122"/>
              </a:rPr>
              <a:t>Boosting训练过程中会赋予错误预测样本更高的权重，异常值或噪声数据会对学习器产生负面影响，因此需要进行数据清洗。</a:t>
            </a:r>
            <a:endParaRPr lang="zh-CN" altLang="en-US" sz="1400">
              <a:solidFill>
                <a:srgbClr val="000000"/>
              </a:solidFill>
              <a:latin typeface="微软雅黑" panose="020B0503020204020204" pitchFamily="34" charset="-122"/>
              <a:ea typeface="微软雅黑" panose="020B0503020204020204" pitchFamily="34" charset="-122"/>
            </a:endParaRPr>
          </a:p>
        </p:txBody>
      </p:sp>
      <p:sp>
        <p:nvSpPr>
          <p:cNvPr id="40" name="TextBox 6"/>
          <p:cNvSpPr txBox="1"/>
          <p:nvPr/>
        </p:nvSpPr>
        <p:spPr>
          <a:xfrm>
            <a:off x="6093553" y="2303912"/>
            <a:ext cx="5754190" cy="318924"/>
          </a:xfrm>
          <a:prstGeom prst="rect">
            <a:avLst/>
          </a:prstGeom>
        </p:spPr>
        <p:txBody>
          <a:bodyPr vert="horz" wrap="square" lIns="0" tIns="36000" rIns="0" bIns="36000" rtlCol="0" anchor="t">
            <a:spAutoFit/>
          </a:bodyPr>
          <a:p>
            <a:pPr marL="0" algn="l">
              <a:defRPr/>
            </a:pPr>
            <a:r>
              <a:rPr lang="zh-CN" altLang="en-US" sz="1600" b="1" i="0" u="none" baseline="0">
                <a:gradFill>
                  <a:gsLst>
                    <a:gs pos="0">
                      <a:srgbClr val="2DA6E9"/>
                    </a:gs>
                    <a:gs pos="100000">
                      <a:srgbClr val="24C6FF"/>
                    </a:gs>
                  </a:gsLst>
                  <a:lin ang="2700000"/>
                </a:gradFill>
                <a:latin typeface="微软雅黑" panose="020B0503020204020204" pitchFamily="34" charset="-122"/>
                <a:ea typeface="微软雅黑" panose="020B0503020204020204" pitchFamily="34" charset="-122"/>
              </a:rPr>
              <a:t>数据预处理</a:t>
            </a:r>
            <a:endParaRPr lang="en-US" sz="1100"/>
          </a:p>
        </p:txBody>
      </p:sp>
      <p:sp>
        <p:nvSpPr>
          <p:cNvPr id="42" name="TextBox 8"/>
          <p:cNvSpPr txBox="1"/>
          <p:nvPr/>
        </p:nvSpPr>
        <p:spPr>
          <a:xfrm>
            <a:off x="6093553" y="5088883"/>
            <a:ext cx="5754189" cy="629920"/>
          </a:xfrm>
          <a:prstGeom prst="rect">
            <a:avLst/>
          </a:prstGeom>
        </p:spPr>
        <p:txBody>
          <a:bodyPr vert="horz" wrap="square" lIns="0" tIns="36000" rIns="0" bIns="36000" rtlCol="0" anchor="t">
            <a:spAutoFit/>
          </a:bodyPr>
          <a:p>
            <a:pPr marL="0" algn="l">
              <a:lnSpc>
                <a:spcPct val="13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数据清洗工作包括对数据进行缺失值、异常值等处理，以确保数据质量，提升模型训练效果。</a:t>
            </a:r>
            <a:endParaRPr lang="en-US" sz="1100">
              <a:latin typeface="微软雅黑" panose="020B0503020204020204" pitchFamily="34" charset="-122"/>
              <a:ea typeface="微软雅黑" panose="020B0503020204020204" pitchFamily="34" charset="-122"/>
            </a:endParaRPr>
          </a:p>
        </p:txBody>
      </p:sp>
      <p:sp>
        <p:nvSpPr>
          <p:cNvPr id="43" name="TextBox 9"/>
          <p:cNvSpPr txBox="1"/>
          <p:nvPr/>
        </p:nvSpPr>
        <p:spPr>
          <a:xfrm>
            <a:off x="6093553" y="4640793"/>
            <a:ext cx="5754190" cy="318924"/>
          </a:xfrm>
          <a:prstGeom prst="rect">
            <a:avLst/>
          </a:prstGeom>
        </p:spPr>
        <p:txBody>
          <a:bodyPr vert="horz" wrap="square" lIns="0" tIns="36000" rIns="0" bIns="36000" rtlCol="0" anchor="t">
            <a:spAutoFit/>
          </a:bodyPr>
          <a:p>
            <a:pPr marL="0" algn="l">
              <a:defRPr/>
            </a:pPr>
            <a:r>
              <a:rPr lang="zh-CN" altLang="en-US" sz="1600" b="1" i="0" u="none" baseline="0">
                <a:gradFill>
                  <a:gsLst>
                    <a:gs pos="0">
                      <a:srgbClr val="2DA6E9"/>
                    </a:gs>
                    <a:gs pos="100000">
                      <a:srgbClr val="24C6FF"/>
                    </a:gs>
                  </a:gsLst>
                  <a:lin ang="2700000"/>
                </a:gradFill>
                <a:latin typeface="微软雅黑" panose="020B0503020204020204" pitchFamily="34" charset="-122"/>
                <a:ea typeface="微软雅黑" panose="020B0503020204020204" pitchFamily="34" charset="-122"/>
              </a:rPr>
              <a:t>数据质量</a:t>
            </a:r>
            <a:endParaRPr lang="en-US" sz="110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a:t>
            </a:r>
            <a:r>
              <a:rPr lang="en-US" altLang="zh-CN" sz="3200" dirty="0">
                <a:solidFill>
                  <a:srgbClr val="FFFF00"/>
                </a:solidFill>
                <a:latin typeface="华光综艺_CNKI" panose="02000500000000000000" pitchFamily="2" charset="-122"/>
                <a:ea typeface="华光综艺_CNKI" panose="02000500000000000000" pitchFamily="2" charset="-122"/>
              </a:rPr>
              <a:t>Stacking</a:t>
            </a:r>
            <a:r>
              <a:rPr lang="zh-CN" altLang="en-US" sz="3200" dirty="0">
                <a:solidFill>
                  <a:srgbClr val="FFFF00"/>
                </a:solidFill>
                <a:latin typeface="华光综艺_CNKI" panose="02000500000000000000" pitchFamily="2" charset="-122"/>
                <a:ea typeface="华光综艺_CNKI" panose="02000500000000000000" pitchFamily="2" charset="-122"/>
              </a:rPr>
              <a:t>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grpSp>
        <p:nvGrpSpPr>
          <p:cNvPr id="2" name="Group 2"/>
          <p:cNvGrpSpPr/>
          <p:nvPr/>
        </p:nvGrpSpPr>
        <p:grpSpPr>
          <a:xfrm>
            <a:off x="244661" y="1421720"/>
            <a:ext cx="577572" cy="577570"/>
            <a:chOff x="3866383" y="1968240"/>
            <a:chExt cx="444222" cy="444220"/>
          </a:xfrm>
        </p:grpSpPr>
        <p:sp>
          <p:nvSpPr>
            <p:cNvPr id="7" name="AutoShape 3"/>
            <p:cNvSpPr/>
            <p:nvPr/>
          </p:nvSpPr>
          <p:spPr>
            <a:xfrm>
              <a:off x="3866383" y="1968240"/>
              <a:ext cx="444222" cy="444220"/>
            </a:xfrm>
            <a:prstGeom prst="ellipse">
              <a:avLst/>
            </a:prstGeom>
            <a:solidFill>
              <a:schemeClr val="accent1"/>
            </a:solidFill>
            <a:ln cap="rnd">
              <a:noFill/>
              <a:prstDash val="solid"/>
            </a:ln>
            <a:effectLst>
              <a:outerShdw blurRad="254000" dist="127000" algn="ctr" rotWithShape="0">
                <a:schemeClr val="accent1">
                  <a:alpha val="32000"/>
                </a:schemeClr>
              </a:outerShdw>
            </a:effectLst>
          </p:spPr>
          <p:txBody>
            <a:bodyPr rot="0" vert="horz" wrap="square" lIns="91440" tIns="45720" rIns="91440" bIns="45720" anchor="ctr">
              <a:normAutofit/>
            </a:bodyPr>
            <a:p>
              <a:pPr marL="0" algn="ctr"/>
            </a:p>
          </p:txBody>
        </p:sp>
        <p:sp>
          <p:nvSpPr>
            <p:cNvPr id="8" name="Freeform 4"/>
            <p:cNvSpPr/>
            <p:nvPr/>
          </p:nvSpPr>
          <p:spPr>
            <a:xfrm>
              <a:off x="3985714" y="2113265"/>
              <a:ext cx="205561" cy="154170"/>
            </a:xfrm>
            <a:custGeom>
              <a:avLst/>
              <a:gdLst/>
              <a:ahLst/>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vert="horz" lIns="91440" tIns="45720" rIns="91440" bIns="45720" anchor="t">
              <a:normAutofit/>
            </a:bodyPr>
            <a:p>
              <a:pPr marL="0" algn="l"/>
            </a:p>
          </p:txBody>
        </p:sp>
      </p:grpSp>
      <p:sp>
        <p:nvSpPr>
          <p:cNvPr id="9" name="TextBox 5"/>
          <p:cNvSpPr txBox="1"/>
          <p:nvPr/>
        </p:nvSpPr>
        <p:spPr>
          <a:xfrm>
            <a:off x="863937" y="1373748"/>
            <a:ext cx="3089596"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lumMod val="95000"/>
                    <a:lumOff val="5000"/>
                  </a:srgbClr>
                </a:solidFill>
                <a:latin typeface="微软雅黑" panose="020B0503020204020204" pitchFamily="34" charset="-122"/>
                <a:ea typeface="微软雅黑" panose="020B0503020204020204" pitchFamily="34" charset="-122"/>
              </a:rPr>
              <a:t>Stacking 定义</a:t>
            </a:r>
            <a:endParaRPr lang="en-US" sz="1100"/>
          </a:p>
        </p:txBody>
      </p:sp>
      <p:sp>
        <p:nvSpPr>
          <p:cNvPr id="18" name="TextBox 6"/>
          <p:cNvSpPr txBox="1"/>
          <p:nvPr/>
        </p:nvSpPr>
        <p:spPr>
          <a:xfrm>
            <a:off x="863937" y="1823620"/>
            <a:ext cx="3089595" cy="657102"/>
          </a:xfrm>
          <a:prstGeom prst="rect">
            <a:avLst/>
          </a:prstGeom>
          <a:noFill/>
        </p:spPr>
        <p:txBody>
          <a:bodyPr vert="horz" wrap="square" lIns="91440" tIns="45720" rIns="91440" bIns="45720" rtlCol="0" anchor="t">
            <a:spAutoFit/>
          </a:bodyPr>
          <a:p>
            <a:pPr marL="0" algn="l">
              <a:lnSpc>
                <a:spcPct val="12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Stacking是一种集成学习技术，训练多个基学习器来获得预测结果，并使用这些预测结果训练一个次级学习器。</a:t>
            </a:r>
            <a:endParaRPr lang="en-US" sz="1100"/>
          </a:p>
        </p:txBody>
      </p:sp>
      <p:sp>
        <p:nvSpPr>
          <p:cNvPr id="19" name="AutoShape 7"/>
          <p:cNvSpPr/>
          <p:nvPr/>
        </p:nvSpPr>
        <p:spPr>
          <a:xfrm>
            <a:off x="4176108" y="1421720"/>
            <a:ext cx="577572" cy="577570"/>
          </a:xfrm>
          <a:prstGeom prst="ellipse">
            <a:avLst/>
          </a:prstGeom>
          <a:solidFill>
            <a:schemeClr val="accent2"/>
          </a:solidFill>
          <a:ln cap="rnd">
            <a:noFill/>
            <a:prstDash val="solid"/>
          </a:ln>
          <a:effectLst>
            <a:outerShdw blurRad="254000" dist="127000" algn="ctr" rotWithShape="0">
              <a:schemeClr val="accent2">
                <a:alpha val="32000"/>
              </a:schemeClr>
            </a:outerShdw>
          </a:effectLst>
        </p:spPr>
        <p:txBody>
          <a:bodyPr rot="0" vert="horz" wrap="square" lIns="91440" tIns="45720" rIns="91440" bIns="45720" anchor="ctr">
            <a:normAutofit/>
          </a:bodyPr>
          <a:p>
            <a:pPr marL="0" algn="ctr"/>
          </a:p>
        </p:txBody>
      </p:sp>
      <p:sp>
        <p:nvSpPr>
          <p:cNvPr id="20" name="Freeform 8"/>
          <p:cNvSpPr/>
          <p:nvPr/>
        </p:nvSpPr>
        <p:spPr>
          <a:xfrm>
            <a:off x="4331261" y="1599253"/>
            <a:ext cx="267268" cy="222504"/>
          </a:xfrm>
          <a:custGeom>
            <a:avLst/>
            <a:gdLst/>
            <a:ahLst/>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a:noFill/>
          </a:ln>
        </p:spPr>
        <p:txBody>
          <a:bodyPr vert="horz" lIns="91440" tIns="45720" rIns="91440" bIns="45720" anchor="t">
            <a:normAutofit fontScale="40000"/>
          </a:bodyPr>
          <a:p>
            <a:pPr marL="0" algn="l"/>
          </a:p>
        </p:txBody>
      </p:sp>
      <p:sp>
        <p:nvSpPr>
          <p:cNvPr id="21" name="TextBox 9"/>
          <p:cNvSpPr txBox="1"/>
          <p:nvPr/>
        </p:nvSpPr>
        <p:spPr>
          <a:xfrm>
            <a:off x="4795383" y="1373748"/>
            <a:ext cx="2641829"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lumMod val="95000"/>
                    <a:lumOff val="5000"/>
                  </a:srgbClr>
                </a:solidFill>
                <a:latin typeface="微软雅黑" panose="020B0503020204020204" pitchFamily="34" charset="-122"/>
                <a:ea typeface="微软雅黑" panose="020B0503020204020204" pitchFamily="34" charset="-122"/>
              </a:rPr>
              <a:t>基学习器差异性</a:t>
            </a:r>
            <a:endParaRPr lang="en-US" sz="1100"/>
          </a:p>
        </p:txBody>
      </p:sp>
      <p:sp>
        <p:nvSpPr>
          <p:cNvPr id="22" name="TextBox 10"/>
          <p:cNvSpPr txBox="1"/>
          <p:nvPr/>
        </p:nvSpPr>
        <p:spPr>
          <a:xfrm>
            <a:off x="4795385" y="1823620"/>
            <a:ext cx="2641828" cy="670560"/>
          </a:xfrm>
          <a:prstGeom prst="rect">
            <a:avLst/>
          </a:prstGeom>
          <a:noFill/>
        </p:spPr>
        <p:txBody>
          <a:bodyPr vert="horz" wrap="square" lIns="91440" tIns="45720" rIns="91440" bIns="45720" rtlCol="0" anchor="t">
            <a:spAutoFit/>
          </a:bodyPr>
          <a:p>
            <a:pPr marL="0" algn="l">
              <a:lnSpc>
                <a:spcPct val="12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基学习器通常能够学习到问题的一部分，但不能学习整个问题空间，存在一定的局限性。</a:t>
            </a:r>
            <a:endParaRPr lang="en-US" sz="1100"/>
          </a:p>
        </p:txBody>
      </p:sp>
      <p:grpSp>
        <p:nvGrpSpPr>
          <p:cNvPr id="23" name="Group 11"/>
          <p:cNvGrpSpPr/>
          <p:nvPr/>
        </p:nvGrpSpPr>
        <p:grpSpPr>
          <a:xfrm>
            <a:off x="7607935" y="1400175"/>
            <a:ext cx="601980" cy="577850"/>
            <a:chOff x="5472389" y="1968240"/>
            <a:chExt cx="444222" cy="444220"/>
          </a:xfrm>
        </p:grpSpPr>
        <p:sp>
          <p:nvSpPr>
            <p:cNvPr id="24" name="AutoShape 12"/>
            <p:cNvSpPr/>
            <p:nvPr/>
          </p:nvSpPr>
          <p:spPr>
            <a:xfrm>
              <a:off x="5472389" y="1968240"/>
              <a:ext cx="444222" cy="444220"/>
            </a:xfrm>
            <a:prstGeom prst="ellipse">
              <a:avLst/>
            </a:prstGeom>
            <a:solidFill>
              <a:schemeClr val="accent1"/>
            </a:solidFill>
            <a:ln cap="flat">
              <a:noFill/>
              <a:prstDash val="solid"/>
              <a:miter lim="800000"/>
            </a:ln>
            <a:effectLst>
              <a:outerShdw blurRad="127000" dist="63500" dir="2700000" algn="tl" rotWithShape="0">
                <a:schemeClr val="accent1">
                  <a:alpha val="40000"/>
                </a:schemeClr>
              </a:outerShdw>
            </a:effectLst>
          </p:spPr>
          <p:txBody>
            <a:bodyPr vert="horz" lIns="91440" tIns="45720" rIns="91440" bIns="45720" anchor="ctr">
              <a:normAutofit/>
            </a:bodyPr>
            <a:p>
              <a:pPr marL="0" algn="l"/>
            </a:p>
          </p:txBody>
        </p:sp>
        <p:sp>
          <p:nvSpPr>
            <p:cNvPr id="25" name="Freeform 13"/>
            <p:cNvSpPr/>
            <p:nvPr/>
          </p:nvSpPr>
          <p:spPr>
            <a:xfrm>
              <a:off x="5591719" y="2096747"/>
              <a:ext cx="205561" cy="187207"/>
            </a:xfrm>
            <a:custGeom>
              <a:avLst/>
              <a:gdLst/>
              <a:ahLst/>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vert="horz" lIns="91440" tIns="45720" rIns="91440" bIns="45720" anchor="t">
              <a:normAutofit fontScale="50000"/>
            </a:bodyPr>
            <a:p>
              <a:pPr marL="0" algn="l"/>
            </a:p>
          </p:txBody>
        </p:sp>
      </p:grpSp>
      <p:sp>
        <p:nvSpPr>
          <p:cNvPr id="26" name="TextBox 14"/>
          <p:cNvSpPr txBox="1"/>
          <p:nvPr/>
        </p:nvSpPr>
        <p:spPr>
          <a:xfrm>
            <a:off x="8227695" y="1353185"/>
            <a:ext cx="2753360" cy="337185"/>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lumMod val="95000"/>
                    <a:lumOff val="5000"/>
                  </a:srgbClr>
                </a:solidFill>
                <a:latin typeface="微软雅黑" panose="020B0503020204020204" pitchFamily="34" charset="-122"/>
                <a:ea typeface="微软雅黑" panose="020B0503020204020204" pitchFamily="34" charset="-122"/>
              </a:rPr>
              <a:t>次级学习器整合</a:t>
            </a:r>
            <a:endParaRPr lang="en-US" sz="1100"/>
          </a:p>
        </p:txBody>
      </p:sp>
      <p:sp>
        <p:nvSpPr>
          <p:cNvPr id="27" name="TextBox 15"/>
          <p:cNvSpPr txBox="1"/>
          <p:nvPr/>
        </p:nvSpPr>
        <p:spPr>
          <a:xfrm>
            <a:off x="8227695" y="1802130"/>
            <a:ext cx="3791585" cy="866140"/>
          </a:xfrm>
          <a:prstGeom prst="rect">
            <a:avLst/>
          </a:prstGeom>
          <a:noFill/>
        </p:spPr>
        <p:txBody>
          <a:bodyPr vert="horz" wrap="square" lIns="91440" tIns="45720" rIns="91440" bIns="45720" rtlCol="0" anchor="t">
            <a:spAutoFit/>
          </a:bodyPr>
          <a:p>
            <a:pPr marL="0" algn="l">
              <a:lnSpc>
                <a:spcPct val="12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通过次级学习器将多个基学习器的预测结果进行整合，从而得到最终的预测结果Y，可以采用不同类型的学习器来解决同一个预测问题。</a:t>
            </a:r>
            <a:endParaRPr lang="en-US" sz="1100"/>
          </a:p>
        </p:txBody>
      </p:sp>
      <p:sp>
        <p:nvSpPr>
          <p:cNvPr id="29" name="TextBox 2"/>
          <p:cNvSpPr txBox="1"/>
          <p:nvPr/>
        </p:nvSpPr>
        <p:spPr>
          <a:xfrm>
            <a:off x="4742230" y="3037249"/>
            <a:ext cx="1185333" cy="775597"/>
          </a:xfrm>
          <a:prstGeom prst="rect">
            <a:avLst/>
          </a:prstGeom>
          <a:noFill/>
        </p:spPr>
        <p:txBody>
          <a:bodyPr vert="horz" wrap="square" lIns="0" tIns="45720" rIns="0" bIns="45720" rtlCol="0" anchor="t">
            <a:spAutoFit/>
          </a:bodyPr>
          <a:p>
            <a:pPr marL="0" algn="l">
              <a:lnSpc>
                <a:spcPct val="90000"/>
              </a:lnSpc>
              <a:defRPr/>
            </a:pPr>
            <a:r>
              <a:rPr lang="en-US" sz="4800" b="1" i="0" u="none" baseline="0">
                <a:solidFill>
                  <a:srgbClr val="FFFFFF">
                    <a:lumMod val="75000"/>
                  </a:srgbClr>
                </a:solidFill>
                <a:latin typeface="微软雅黑" panose="020B0503020204020204" pitchFamily="34" charset="-122"/>
                <a:ea typeface="微软雅黑" panose="020B0503020204020204" pitchFamily="34" charset="-122"/>
              </a:rPr>
              <a:t>01</a:t>
            </a:r>
            <a:endParaRPr lang="en-US" sz="1100"/>
          </a:p>
        </p:txBody>
      </p:sp>
      <p:sp>
        <p:nvSpPr>
          <p:cNvPr id="30" name="TextBox 3"/>
          <p:cNvSpPr txBox="1"/>
          <p:nvPr/>
        </p:nvSpPr>
        <p:spPr>
          <a:xfrm>
            <a:off x="4694605" y="4892869"/>
            <a:ext cx="1185333" cy="775597"/>
          </a:xfrm>
          <a:prstGeom prst="rect">
            <a:avLst/>
          </a:prstGeom>
          <a:noFill/>
        </p:spPr>
        <p:txBody>
          <a:bodyPr vert="horz" wrap="square" lIns="0" tIns="45720" rIns="0" bIns="45720" rtlCol="0" anchor="t">
            <a:spAutoFit/>
          </a:bodyPr>
          <a:p>
            <a:pPr marL="0" algn="l">
              <a:lnSpc>
                <a:spcPct val="90000"/>
              </a:lnSpc>
              <a:defRPr/>
            </a:pPr>
            <a:r>
              <a:rPr lang="en-US" sz="4800" b="1" i="0" u="none" baseline="0">
                <a:solidFill>
                  <a:srgbClr val="FFFFFF">
                    <a:lumMod val="75000"/>
                  </a:srgbClr>
                </a:solidFill>
                <a:latin typeface="微软雅黑" panose="020B0503020204020204" pitchFamily="34" charset="-122"/>
                <a:ea typeface="微软雅黑" panose="020B0503020204020204" pitchFamily="34" charset="-122"/>
              </a:rPr>
              <a:t>02</a:t>
            </a:r>
            <a:endParaRPr lang="en-US" sz="1100"/>
          </a:p>
        </p:txBody>
      </p:sp>
      <p:cxnSp>
        <p:nvCxnSpPr>
          <p:cNvPr id="31" name="Connector 5"/>
          <p:cNvCxnSpPr/>
          <p:nvPr/>
        </p:nvCxnSpPr>
        <p:spPr>
          <a:xfrm>
            <a:off x="2031331" y="4795333"/>
            <a:ext cx="3268133" cy="0"/>
          </a:xfrm>
          <a:prstGeom prst="line">
            <a:avLst/>
          </a:prstGeom>
          <a:ln w="101600">
            <a:solidFill>
              <a:schemeClr val="accent1"/>
            </a:solidFill>
          </a:ln>
        </p:spPr>
      </p:cxnSp>
      <p:cxnSp>
        <p:nvCxnSpPr>
          <p:cNvPr id="32" name="Connector 6"/>
          <p:cNvCxnSpPr/>
          <p:nvPr/>
        </p:nvCxnSpPr>
        <p:spPr>
          <a:xfrm>
            <a:off x="2078956" y="2934148"/>
            <a:ext cx="3268133" cy="0"/>
          </a:xfrm>
          <a:prstGeom prst="line">
            <a:avLst/>
          </a:prstGeom>
          <a:ln w="101600">
            <a:solidFill>
              <a:schemeClr val="accent1"/>
            </a:solidFill>
          </a:ln>
        </p:spPr>
      </p:cxnSp>
      <p:sp>
        <p:nvSpPr>
          <p:cNvPr id="33" name="TextBox 7"/>
          <p:cNvSpPr txBox="1"/>
          <p:nvPr/>
        </p:nvSpPr>
        <p:spPr>
          <a:xfrm>
            <a:off x="596781" y="3257346"/>
            <a:ext cx="4145449" cy="313932"/>
          </a:xfrm>
          <a:prstGeom prst="rect">
            <a:avLst/>
          </a:prstGeom>
          <a:noFill/>
        </p:spPr>
        <p:txBody>
          <a:bodyPr vert="horz" wrap="square" lIns="0" tIns="45720" rIns="0" bIns="45720" rtlCol="0" anchor="t">
            <a:spAutoFit/>
          </a:bodyPr>
          <a:p>
            <a:pPr marL="0" algn="r">
              <a:lnSpc>
                <a:spcPct val="90000"/>
              </a:lnSpc>
              <a:defRPr/>
            </a:pPr>
            <a:r>
              <a:rPr lang="zh-CN" altLang="en-US" sz="1600" b="1" i="0" u="none" baseline="0">
                <a:gradFill>
                  <a:gsLst>
                    <a:gs pos="0">
                      <a:srgbClr val="2DA6E9"/>
                    </a:gs>
                    <a:gs pos="100000">
                      <a:srgbClr val="24C6FF"/>
                    </a:gs>
                  </a:gsLst>
                  <a:lin ang="2700000"/>
                </a:gradFill>
                <a:latin typeface="微软雅黑" panose="020B0503020204020204" pitchFamily="34" charset="-122"/>
                <a:ea typeface="微软雅黑" panose="020B0503020204020204" pitchFamily="34" charset="-122"/>
              </a:rPr>
              <a:t>纠正错误</a:t>
            </a:r>
            <a:endParaRPr lang="en-US" sz="1100"/>
          </a:p>
        </p:txBody>
      </p:sp>
      <p:sp>
        <p:nvSpPr>
          <p:cNvPr id="34" name="TextBox 8"/>
          <p:cNvSpPr txBox="1"/>
          <p:nvPr/>
        </p:nvSpPr>
        <p:spPr>
          <a:xfrm>
            <a:off x="400050" y="3707130"/>
            <a:ext cx="4942205" cy="929640"/>
          </a:xfrm>
          <a:prstGeom prst="rect">
            <a:avLst/>
          </a:prstGeom>
          <a:noFill/>
        </p:spPr>
        <p:txBody>
          <a:bodyPr vert="horz" wrap="square" lIns="90000" tIns="45720" rIns="91440" bIns="45720" rtlCol="0" anchor="t">
            <a:spAutoFit/>
          </a:bodyPr>
          <a:p>
            <a:pPr marL="0" algn="just">
              <a:lnSpc>
                <a:spcPct val="130000"/>
              </a:lnSpc>
              <a:defRPr/>
            </a:pPr>
            <a:r>
              <a:rPr lang="zh-CN" altLang="en-US" sz="1400" b="0" i="0" u="none" baseline="0">
                <a:solidFill>
                  <a:srgbClr val="000000"/>
                </a:solidFill>
                <a:effectLst/>
                <a:latin typeface="+mn-ea"/>
                <a:ea typeface="+mn-ea"/>
              </a:rPr>
              <a:t>如果某个基学习器在特征空间中错误地学习了某个区域，那么次级学习器通过综合其他基学习器的学习行为，能够有效地纠正这种错误。</a:t>
            </a:r>
            <a:endParaRPr lang="en-US" sz="1100"/>
          </a:p>
        </p:txBody>
      </p:sp>
      <p:sp>
        <p:nvSpPr>
          <p:cNvPr id="35" name="TextBox 9"/>
          <p:cNvSpPr txBox="1"/>
          <p:nvPr/>
        </p:nvSpPr>
        <p:spPr>
          <a:xfrm>
            <a:off x="549156" y="5098797"/>
            <a:ext cx="4145450" cy="313932"/>
          </a:xfrm>
          <a:prstGeom prst="rect">
            <a:avLst/>
          </a:prstGeom>
          <a:noFill/>
        </p:spPr>
        <p:txBody>
          <a:bodyPr vert="horz" wrap="square" lIns="0" tIns="45720" rIns="0" bIns="45720" rtlCol="0" anchor="t">
            <a:spAutoFit/>
          </a:bodyPr>
          <a:p>
            <a:pPr marL="0" algn="r">
              <a:lnSpc>
                <a:spcPct val="90000"/>
              </a:lnSpc>
              <a:defRPr/>
            </a:pPr>
            <a:r>
              <a:rPr lang="zh-CN" altLang="en-US" sz="1600" b="1" i="0" u="none" baseline="0">
                <a:gradFill>
                  <a:gsLst>
                    <a:gs pos="0">
                      <a:srgbClr val="2DA6E9"/>
                    </a:gs>
                    <a:gs pos="100000">
                      <a:srgbClr val="24C6FF"/>
                    </a:gs>
                  </a:gsLst>
                  <a:lin ang="2700000"/>
                </a:gradFill>
                <a:latin typeface="微软雅黑" panose="020B0503020204020204" pitchFamily="34" charset="-122"/>
                <a:ea typeface="微软雅黑" panose="020B0503020204020204" pitchFamily="34" charset="-122"/>
              </a:rPr>
              <a:t>提高准确性和鲁棒性</a:t>
            </a:r>
            <a:endParaRPr lang="en-US" sz="1100"/>
          </a:p>
        </p:txBody>
      </p:sp>
      <p:sp>
        <p:nvSpPr>
          <p:cNvPr id="36" name="TextBox 10"/>
          <p:cNvSpPr txBox="1"/>
          <p:nvPr/>
        </p:nvSpPr>
        <p:spPr>
          <a:xfrm>
            <a:off x="596900" y="5568315"/>
            <a:ext cx="4697730" cy="797560"/>
          </a:xfrm>
          <a:prstGeom prst="rect">
            <a:avLst/>
          </a:prstGeom>
          <a:noFill/>
        </p:spPr>
        <p:txBody>
          <a:bodyPr vert="horz" wrap="square" lIns="90000" tIns="45720" rIns="91440" bIns="45720" rtlCol="0" anchor="t">
            <a:noAutofit/>
          </a:bodyPr>
          <a:p>
            <a:pPr marL="0" algn="just">
              <a:lnSpc>
                <a:spcPct val="130000"/>
              </a:lnSpc>
              <a:defRPr/>
            </a:pPr>
            <a:r>
              <a:rPr lang="zh-CN" altLang="en-US" sz="1400" b="0" i="0" u="none" baseline="0">
                <a:solidFill>
                  <a:srgbClr val="000000"/>
                </a:solidFill>
                <a:effectLst/>
                <a:latin typeface="+mn-ea"/>
                <a:ea typeface="+mn-ea"/>
              </a:rPr>
              <a:t>Stacking的核心思想在于通过整合多个基学习器的预测结果，从而提高整体预测的准确性和鲁棒性。</a:t>
            </a:r>
            <a:endParaRPr lang="en-US" sz="1100"/>
          </a:p>
        </p:txBody>
      </p:sp>
      <p:pic>
        <p:nvPicPr>
          <p:cNvPr id="77" name="图片 429"/>
          <p:cNvPicPr>
            <a:picLocks noChangeAspect="1"/>
          </p:cNvPicPr>
          <p:nvPr/>
        </p:nvPicPr>
        <p:blipFill>
          <a:blip r:embed="rId1"/>
          <a:stretch>
            <a:fillRect/>
          </a:stretch>
        </p:blipFill>
        <p:spPr>
          <a:xfrm>
            <a:off x="6246495" y="2839720"/>
            <a:ext cx="5461000" cy="346202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集成学习的结合策略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5" name="AutoShape 5"/>
          <p:cNvSpPr/>
          <p:nvPr/>
        </p:nvSpPr>
        <p:spPr>
          <a:xfrm>
            <a:off x="765039" y="2966909"/>
            <a:ext cx="5116475" cy="2520000"/>
          </a:xfrm>
          <a:prstGeom prst="rect">
            <a:avLst/>
          </a:prstGeom>
        </p:spPr>
        <p:style>
          <a:lnRef idx="0">
            <a:srgbClr val="FFFFFF"/>
          </a:lnRef>
          <a:fillRef idx="1">
            <a:schemeClr val="accent5"/>
          </a:fillRef>
          <a:effectRef idx="0">
            <a:srgbClr val="FFFFFF"/>
          </a:effectRef>
          <a:fontRef idx="minor">
            <a:schemeClr val="lt1"/>
          </a:fontRef>
        </p:style>
        <p:txBody>
          <a:bodyPr vert="horz" lIns="91440" tIns="45720" rIns="91440" bIns="45720" anchor="ctr">
            <a:spAutoFit/>
          </a:bodyPr>
          <a:p>
            <a:pPr marL="0" algn="ctr"/>
          </a:p>
        </p:txBody>
      </p:sp>
      <p:sp>
        <p:nvSpPr>
          <p:cNvPr id="6" name="TextBox 6"/>
          <p:cNvSpPr txBox="1"/>
          <p:nvPr/>
        </p:nvSpPr>
        <p:spPr>
          <a:xfrm>
            <a:off x="1394298" y="3687723"/>
            <a:ext cx="3964099" cy="573106"/>
          </a:xfrm>
          <a:prstGeom prst="rect">
            <a:avLst/>
          </a:prstGeom>
          <a:noFill/>
        </p:spPr>
        <p:txBody>
          <a:bodyPr vert="horz" wrap="square" lIns="0" tIns="0" rIns="0" bIns="0" rtlCol="0" anchor="t">
            <a:spAutoFit/>
          </a:bodyPr>
          <a:p>
            <a:pPr marL="0" algn="l">
              <a:lnSpc>
                <a:spcPct val="150000"/>
              </a:lnSpc>
              <a:defRPr/>
            </a:pPr>
            <a:r>
              <a:rPr lang="zh-CN" altLang="en-US" sz="1400" b="0" i="0" u="none" baseline="0">
                <a:solidFill>
                  <a:srgbClr val="FFFFFF"/>
                </a:solidFill>
                <a:latin typeface="+mn-ea"/>
                <a:ea typeface="+mn-ea"/>
              </a:rPr>
              <a:t>对所有个体学习器的输出进行简单平均，即每个学习器的预测结果等权重地汇总，计算公式：，其中是学习器i的输出结果。</a:t>
            </a:r>
            <a:endParaRPr lang="en-US" sz="1100"/>
          </a:p>
        </p:txBody>
      </p:sp>
      <p:sp>
        <p:nvSpPr>
          <p:cNvPr id="4" name="AutoShape 7"/>
          <p:cNvSpPr/>
          <p:nvPr/>
        </p:nvSpPr>
        <p:spPr>
          <a:xfrm>
            <a:off x="1394298" y="3562767"/>
            <a:ext cx="1473436" cy="45719"/>
          </a:xfrm>
          <a:prstGeom prst="rect">
            <a:avLst/>
          </a:prstGeom>
          <a:solidFill>
            <a:schemeClr val="accent1"/>
          </a:solidFill>
          <a:ln>
            <a:noFill/>
          </a:ln>
        </p:spPr>
        <p:txBody>
          <a:bodyPr vert="horz" lIns="91440" tIns="45720" rIns="91440" bIns="45720" anchor="ctr">
            <a:noAutofit/>
          </a:bodyPr>
          <a:p>
            <a:pPr marL="0" algn="ctr"/>
          </a:p>
        </p:txBody>
      </p:sp>
      <p:sp>
        <p:nvSpPr>
          <p:cNvPr id="10" name="TextBox 8"/>
          <p:cNvSpPr txBox="1"/>
          <p:nvPr/>
        </p:nvSpPr>
        <p:spPr>
          <a:xfrm>
            <a:off x="1394299" y="3233450"/>
            <a:ext cx="3964098" cy="246221"/>
          </a:xfrm>
          <a:prstGeom prst="rect">
            <a:avLst/>
          </a:prstGeom>
          <a:noFill/>
        </p:spPr>
        <p:txBody>
          <a:bodyPr vert="horz" wrap="square" lIns="0" tIns="0" rIns="0" bIns="0" rtlCol="0" anchor="b">
            <a:spAutoFit/>
          </a:bodyPr>
          <a:p>
            <a:pPr marL="0" algn="l">
              <a:defRPr/>
            </a:pPr>
            <a:r>
              <a:rPr lang="zh-CN" altLang="en-US" sz="1600" b="1" i="0" u="none" baseline="0">
                <a:solidFill>
                  <a:srgbClr val="FFFFFF"/>
                </a:solidFill>
                <a:latin typeface="微软雅黑" panose="020B0503020204020204" pitchFamily="34" charset="-122"/>
                <a:ea typeface="微软雅黑" panose="020B0503020204020204" pitchFamily="34" charset="-122"/>
              </a:rPr>
              <a:t>简单平均法</a:t>
            </a:r>
            <a:endParaRPr lang="en-US" sz="1100"/>
          </a:p>
        </p:txBody>
      </p:sp>
      <p:sp>
        <p:nvSpPr>
          <p:cNvPr id="11" name="AutoShape 10"/>
          <p:cNvSpPr/>
          <p:nvPr/>
        </p:nvSpPr>
        <p:spPr>
          <a:xfrm>
            <a:off x="6245718" y="2966909"/>
            <a:ext cx="5116475" cy="2520000"/>
          </a:xfrm>
          <a:prstGeom prst="rect">
            <a:avLst/>
          </a:prstGeom>
          <a:solidFill>
            <a:srgbClr val="4472C4"/>
          </a:solidFill>
          <a:ln>
            <a:solidFill>
              <a:srgbClr val="FFFFFF"/>
            </a:solidFill>
          </a:ln>
        </p:spPr>
        <p:txBody>
          <a:bodyPr vert="horz" lIns="91440" tIns="45720" rIns="91440" bIns="45720" anchor="ctr">
            <a:spAutoFit/>
          </a:bodyPr>
          <a:p>
            <a:pPr marL="0" algn="ctr"/>
          </a:p>
        </p:txBody>
      </p:sp>
      <p:sp>
        <p:nvSpPr>
          <p:cNvPr id="12" name="TextBox 11"/>
          <p:cNvSpPr txBox="1"/>
          <p:nvPr/>
        </p:nvSpPr>
        <p:spPr>
          <a:xfrm>
            <a:off x="6874978" y="3687723"/>
            <a:ext cx="3964099" cy="573106"/>
          </a:xfrm>
          <a:prstGeom prst="rect">
            <a:avLst/>
          </a:prstGeom>
          <a:noFill/>
        </p:spPr>
        <p:txBody>
          <a:bodyPr vert="horz" wrap="square" lIns="0" tIns="0" rIns="0" bIns="0" rtlCol="0" anchor="t">
            <a:spAutoFit/>
          </a:bodyPr>
          <a:p>
            <a:pPr marL="0" algn="l">
              <a:lnSpc>
                <a:spcPct val="150000"/>
              </a:lnSpc>
              <a:defRPr/>
            </a:pPr>
            <a:r>
              <a:rPr lang="zh-CN" altLang="en-US" sz="1400" b="0" i="0" u="none" baseline="0">
                <a:solidFill>
                  <a:srgbClr val="FFFFFF"/>
                </a:solidFill>
                <a:latin typeface="+mn-ea"/>
                <a:ea typeface="+mn-ea"/>
              </a:rPr>
              <a:t>给予每个学习器不同的权重，这些权重通常由各个学习器在训练集上的性能表现而确定，加权公式：，为学习器的权重。</a:t>
            </a:r>
            <a:endParaRPr lang="en-US" sz="1100"/>
          </a:p>
        </p:txBody>
      </p:sp>
      <p:sp>
        <p:nvSpPr>
          <p:cNvPr id="13" name="AutoShape 12"/>
          <p:cNvSpPr/>
          <p:nvPr/>
        </p:nvSpPr>
        <p:spPr>
          <a:xfrm>
            <a:off x="6874978" y="3562767"/>
            <a:ext cx="1473436" cy="45719"/>
          </a:xfrm>
          <a:prstGeom prst="rect">
            <a:avLst/>
          </a:prstGeom>
          <a:solidFill>
            <a:schemeClr val="accent1"/>
          </a:solidFill>
          <a:ln>
            <a:noFill/>
          </a:ln>
        </p:spPr>
        <p:txBody>
          <a:bodyPr vert="horz" lIns="91440" tIns="45720" rIns="91440" bIns="45720" anchor="ctr">
            <a:noAutofit/>
          </a:bodyPr>
          <a:p>
            <a:pPr marL="0" algn="ctr"/>
          </a:p>
        </p:txBody>
      </p:sp>
      <p:sp>
        <p:nvSpPr>
          <p:cNvPr id="14" name="TextBox 13"/>
          <p:cNvSpPr txBox="1"/>
          <p:nvPr/>
        </p:nvSpPr>
        <p:spPr>
          <a:xfrm>
            <a:off x="6874979" y="3233450"/>
            <a:ext cx="3964098" cy="246221"/>
          </a:xfrm>
          <a:prstGeom prst="rect">
            <a:avLst/>
          </a:prstGeom>
          <a:noFill/>
        </p:spPr>
        <p:txBody>
          <a:bodyPr vert="horz" wrap="square" lIns="0" tIns="0" rIns="0" bIns="0" rtlCol="0" anchor="b">
            <a:spAutoFit/>
          </a:bodyPr>
          <a:p>
            <a:pPr marL="0" algn="l">
              <a:defRPr/>
            </a:pPr>
            <a:r>
              <a:rPr lang="zh-CN" altLang="en-US" sz="1600" b="1" i="0" u="none" baseline="0">
                <a:solidFill>
                  <a:srgbClr val="FFFFFF"/>
                </a:solidFill>
                <a:latin typeface="微软雅黑" panose="020B0503020204020204" pitchFamily="34" charset="-122"/>
                <a:ea typeface="微软雅黑" panose="020B0503020204020204" pitchFamily="34" charset="-122"/>
              </a:rPr>
              <a:t>加权平均法</a:t>
            </a:r>
            <a:endParaRPr lang="en-US" sz="1100"/>
          </a:p>
        </p:txBody>
      </p:sp>
      <p:sp>
        <p:nvSpPr>
          <p:cNvPr id="15" name="文本框 14"/>
          <p:cNvSpPr txBox="1"/>
          <p:nvPr/>
        </p:nvSpPr>
        <p:spPr>
          <a:xfrm>
            <a:off x="764540" y="1696720"/>
            <a:ext cx="10597515" cy="783590"/>
          </a:xfrm>
          <a:prstGeom prst="rect">
            <a:avLst/>
          </a:prstGeom>
        </p:spPr>
        <p:txBody>
          <a:bodyPr wrap="square">
            <a:spAutoFit/>
          </a:bodyPr>
          <a:p>
            <a:pPr indent="0" algn="just" defTabSz="266700" fontAlgn="auto">
              <a:lnSpc>
                <a:spcPct val="125000"/>
              </a:lnSpc>
              <a:spcBef>
                <a:spcPct val="0"/>
              </a:spcBef>
              <a:spcAft>
                <a:spcPct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rPr>
              <a:t>在处理输出为连续型数值的回归任务时，平均法是一种常见的集成策略，其中包括简单平均法（</a:t>
            </a:r>
            <a:r>
              <a:rPr lang="en-US" altLang="zh-CN">
                <a:latin typeface="微软雅黑" panose="020B0503020204020204" pitchFamily="34" charset="-122"/>
                <a:ea typeface="微软雅黑" panose="020B0503020204020204" pitchFamily="34" charset="-122"/>
                <a:cs typeface="微软雅黑" panose="020B0503020204020204" pitchFamily="34" charset="-122"/>
              </a:rPr>
              <a:t>Simple averaging</a:t>
            </a:r>
            <a:r>
              <a:rPr lang="zh-CN" altLang="en-US">
                <a:latin typeface="微软雅黑" panose="020B0503020204020204" pitchFamily="34" charset="-122"/>
                <a:ea typeface="微软雅黑" panose="020B0503020204020204" pitchFamily="34" charset="-122"/>
                <a:cs typeface="微软雅黑" panose="020B0503020204020204" pitchFamily="34" charset="-122"/>
              </a:rPr>
              <a:t>）和加权平均法（</a:t>
            </a:r>
            <a:r>
              <a:rPr lang="en-US" altLang="zh-CN">
                <a:latin typeface="微软雅黑" panose="020B0503020204020204" pitchFamily="34" charset="-122"/>
                <a:ea typeface="微软雅黑" panose="020B0503020204020204" pitchFamily="34" charset="-122"/>
                <a:cs typeface="微软雅黑" panose="020B0503020204020204" pitchFamily="34" charset="-122"/>
              </a:rPr>
              <a:t>Weighted averaging</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集成学习的结合策略</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cxnSp>
        <p:nvCxnSpPr>
          <p:cNvPr id="2" name="Connector 2"/>
          <p:cNvCxnSpPr/>
          <p:nvPr/>
        </p:nvCxnSpPr>
        <p:spPr>
          <a:xfrm>
            <a:off x="363765" y="1705312"/>
            <a:ext cx="0" cy="1077278"/>
          </a:xfrm>
          <a:prstGeom prst="line">
            <a:avLst/>
          </a:prstGeom>
          <a:noFill/>
          <a:ln w="25400" cap="flat">
            <a:solidFill>
              <a:schemeClr val="accent5"/>
            </a:solidFill>
            <a:prstDash val="solid"/>
            <a:bevel/>
          </a:ln>
        </p:spPr>
      </p:cxnSp>
      <p:sp>
        <p:nvSpPr>
          <p:cNvPr id="7" name="TextBox 3"/>
          <p:cNvSpPr txBox="1"/>
          <p:nvPr/>
        </p:nvSpPr>
        <p:spPr>
          <a:xfrm>
            <a:off x="487134" y="1736090"/>
            <a:ext cx="5339443"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solidFill>
                <a:latin typeface="微软雅黑" panose="020B0503020204020204" pitchFamily="34" charset="-122"/>
                <a:ea typeface="微软雅黑" panose="020B0503020204020204" pitchFamily="34" charset="-122"/>
              </a:rPr>
              <a:t>硬投票法</a:t>
            </a:r>
            <a:endParaRPr lang="en-US" sz="1100"/>
          </a:p>
        </p:txBody>
      </p:sp>
      <p:sp>
        <p:nvSpPr>
          <p:cNvPr id="8" name="TextBox 4"/>
          <p:cNvSpPr txBox="1"/>
          <p:nvPr/>
        </p:nvSpPr>
        <p:spPr>
          <a:xfrm>
            <a:off x="487045" y="2074545"/>
            <a:ext cx="4347845" cy="607695"/>
          </a:xfrm>
          <a:prstGeom prst="rect">
            <a:avLst/>
          </a:prstGeom>
          <a:noFill/>
        </p:spPr>
        <p:txBody>
          <a:bodyPr vert="horz" wrap="square" lIns="91440" tIns="45720" rIns="91440" bIns="45720" rtlCol="0" anchor="t">
            <a:spAutoFit/>
          </a:bodyPr>
          <a:p>
            <a:pPr marL="0" algn="l">
              <a:lnSpc>
                <a:spcPct val="12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选择得到最高票数的类别作为最终的预测结果，即少数服从多数，适合多个模型预测结果差异大的情况。</a:t>
            </a:r>
            <a:endParaRPr lang="en-US" sz="1100"/>
          </a:p>
        </p:txBody>
      </p:sp>
      <p:cxnSp>
        <p:nvCxnSpPr>
          <p:cNvPr id="9" name="Connector 5"/>
          <p:cNvCxnSpPr/>
          <p:nvPr/>
        </p:nvCxnSpPr>
        <p:spPr>
          <a:xfrm>
            <a:off x="363765" y="3455282"/>
            <a:ext cx="0" cy="1052741"/>
          </a:xfrm>
          <a:prstGeom prst="line">
            <a:avLst/>
          </a:prstGeom>
          <a:noFill/>
          <a:ln w="25400" cap="flat">
            <a:solidFill>
              <a:schemeClr val="accent2"/>
            </a:solidFill>
            <a:prstDash val="solid"/>
            <a:bevel/>
          </a:ln>
        </p:spPr>
      </p:cxnSp>
      <p:sp>
        <p:nvSpPr>
          <p:cNvPr id="16" name="TextBox 6"/>
          <p:cNvSpPr txBox="1"/>
          <p:nvPr/>
        </p:nvSpPr>
        <p:spPr>
          <a:xfrm>
            <a:off x="487134" y="3486060"/>
            <a:ext cx="5339443"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solidFill>
                <a:latin typeface="微软雅黑" panose="020B0503020204020204" pitchFamily="34" charset="-122"/>
                <a:ea typeface="微软雅黑" panose="020B0503020204020204" pitchFamily="34" charset="-122"/>
              </a:rPr>
              <a:t>软投票法</a:t>
            </a:r>
            <a:endParaRPr lang="en-US" sz="1100"/>
          </a:p>
        </p:txBody>
      </p:sp>
      <p:sp>
        <p:nvSpPr>
          <p:cNvPr id="17" name="TextBox 7"/>
          <p:cNvSpPr txBox="1"/>
          <p:nvPr/>
        </p:nvSpPr>
        <p:spPr>
          <a:xfrm>
            <a:off x="487045" y="3824605"/>
            <a:ext cx="4347845" cy="866140"/>
          </a:xfrm>
          <a:prstGeom prst="rect">
            <a:avLst/>
          </a:prstGeom>
          <a:noFill/>
        </p:spPr>
        <p:txBody>
          <a:bodyPr vert="horz" wrap="square" lIns="91440" tIns="45720" rIns="91440" bIns="45720" rtlCol="0" anchor="t">
            <a:spAutoFit/>
          </a:bodyPr>
          <a:p>
            <a:pPr marL="0" algn="l">
              <a:lnSpc>
                <a:spcPct val="12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赋予了每个学习器一个权重，该权重取决于其在给定输入上的分类置信度或概率，然后加权求和得到最终的预测结果。</a:t>
            </a:r>
            <a:endParaRPr lang="en-US" sz="1100"/>
          </a:p>
        </p:txBody>
      </p:sp>
      <p:cxnSp>
        <p:nvCxnSpPr>
          <p:cNvPr id="18" name="Connector 8"/>
          <p:cNvCxnSpPr/>
          <p:nvPr/>
        </p:nvCxnSpPr>
        <p:spPr>
          <a:xfrm>
            <a:off x="363765" y="5205250"/>
            <a:ext cx="0" cy="1209968"/>
          </a:xfrm>
          <a:prstGeom prst="line">
            <a:avLst/>
          </a:prstGeom>
          <a:noFill/>
          <a:ln w="25400" cap="flat">
            <a:solidFill>
              <a:schemeClr val="accent3"/>
            </a:solidFill>
            <a:prstDash val="solid"/>
            <a:bevel/>
          </a:ln>
        </p:spPr>
      </p:cxnSp>
      <p:sp>
        <p:nvSpPr>
          <p:cNvPr id="19" name="TextBox 9"/>
          <p:cNvSpPr txBox="1"/>
          <p:nvPr/>
        </p:nvSpPr>
        <p:spPr>
          <a:xfrm>
            <a:off x="487133" y="5236028"/>
            <a:ext cx="5339443" cy="338554"/>
          </a:xfrm>
          <a:prstGeom prst="rect">
            <a:avLst/>
          </a:prstGeom>
          <a:noFill/>
        </p:spPr>
        <p:txBody>
          <a:bodyPr vert="horz" wrap="square" lIns="91440" tIns="45720" rIns="91440" bIns="45720" rtlCol="0" anchor="b">
            <a:spAutoFit/>
          </a:bodyPr>
          <a:p>
            <a:pPr marL="0" algn="l">
              <a:lnSpc>
                <a:spcPct val="100000"/>
              </a:lnSpc>
              <a:defRPr/>
            </a:pPr>
            <a:r>
              <a:rPr lang="zh-CN" altLang="en-US" sz="1600" b="1" i="0" u="none" baseline="0">
                <a:solidFill>
                  <a:srgbClr val="000000"/>
                </a:solidFill>
                <a:latin typeface="微软雅黑" panose="020B0503020204020204" pitchFamily="34" charset="-122"/>
                <a:ea typeface="微软雅黑" panose="020B0503020204020204" pitchFamily="34" charset="-122"/>
              </a:rPr>
              <a:t>分类置信度</a:t>
            </a:r>
            <a:endParaRPr lang="en-US" sz="1100"/>
          </a:p>
        </p:txBody>
      </p:sp>
      <p:sp>
        <p:nvSpPr>
          <p:cNvPr id="20" name="TextBox 10"/>
          <p:cNvSpPr txBox="1"/>
          <p:nvPr/>
        </p:nvSpPr>
        <p:spPr>
          <a:xfrm>
            <a:off x="487045" y="5574665"/>
            <a:ext cx="4347845" cy="607695"/>
          </a:xfrm>
          <a:prstGeom prst="rect">
            <a:avLst/>
          </a:prstGeom>
          <a:noFill/>
        </p:spPr>
        <p:txBody>
          <a:bodyPr vert="horz" wrap="square" lIns="91440" tIns="45720" rIns="91440" bIns="45720" rtlCol="0" anchor="t">
            <a:spAutoFit/>
          </a:bodyPr>
          <a:p>
            <a:pPr marL="0" algn="l">
              <a:lnSpc>
                <a:spcPct val="120000"/>
              </a:lnSpc>
              <a:defRPr/>
            </a:pPr>
            <a:r>
              <a:rPr lang="zh-CN" altLang="en-US" sz="1400" b="0" i="0" u="none" baseline="0">
                <a:solidFill>
                  <a:srgbClr val="000000"/>
                </a:solidFill>
                <a:latin typeface="微软雅黑" panose="020B0503020204020204" pitchFamily="34" charset="-122"/>
                <a:ea typeface="微软雅黑" panose="020B0503020204020204" pitchFamily="34" charset="-122"/>
              </a:rPr>
              <a:t>分类置信度是分类模型对于其预测结果的确定性程度，通常以概率形式表示，取值范围在0到1之间。</a:t>
            </a:r>
            <a:endParaRPr lang="en-US" sz="1100"/>
          </a:p>
        </p:txBody>
      </p:sp>
      <p:sp>
        <p:nvSpPr>
          <p:cNvPr id="21" name="AutoShape 4"/>
          <p:cNvSpPr/>
          <p:nvPr/>
        </p:nvSpPr>
        <p:spPr>
          <a:xfrm>
            <a:off x="5504815" y="2353945"/>
            <a:ext cx="6352540" cy="1288415"/>
          </a:xfrm>
          <a:prstGeom prst="roundRect">
            <a:avLst>
              <a:gd name="adj" fmla="val 1551"/>
            </a:avLst>
          </a:prstGeom>
          <a:gradFill>
            <a:gsLst>
              <a:gs pos="0">
                <a:srgbClr val="2DA6E9">
                  <a:alpha val="28000"/>
                </a:srgbClr>
              </a:gs>
              <a:gs pos="100000">
                <a:srgbClr val="24C6FF">
                  <a:alpha val="8000"/>
                </a:srgbClr>
              </a:gs>
            </a:gsLst>
            <a:lin ang="5400000"/>
          </a:gradFill>
          <a:ln w="19050">
            <a:gradFill>
              <a:gsLst>
                <a:gs pos="0">
                  <a:srgbClr val="2DA6E9"/>
                </a:gs>
                <a:gs pos="100000">
                  <a:srgbClr val="24C6FF"/>
                </a:gs>
              </a:gsLst>
              <a:lin ang="2700000"/>
            </a:gradFill>
          </a:ln>
        </p:spPr>
        <p:txBody>
          <a:bodyPr vert="horz" lIns="91440" tIns="45720" rIns="91440" bIns="45720" anchor="ctr">
            <a:noAutofit/>
          </a:bodyPr>
          <a:p>
            <a:pPr marL="0" algn="ctr"/>
          </a:p>
        </p:txBody>
      </p:sp>
      <p:sp>
        <p:nvSpPr>
          <p:cNvPr id="22" name="TextBox 5"/>
          <p:cNvSpPr txBox="1"/>
          <p:nvPr/>
        </p:nvSpPr>
        <p:spPr>
          <a:xfrm>
            <a:off x="5887813" y="2879002"/>
            <a:ext cx="5754189" cy="885618"/>
          </a:xfrm>
          <a:prstGeom prst="rect">
            <a:avLst/>
          </a:prstGeom>
        </p:spPr>
        <p:txBody>
          <a:bodyPr vert="horz" wrap="square" lIns="0" tIns="36000" rIns="0" bIns="36000" rtlCol="0" anchor="t">
            <a:spAutoFit/>
          </a:bodyPr>
          <a:p>
            <a:pPr marL="0" algn="l">
              <a:lnSpc>
                <a:spcPct val="130000"/>
              </a:lnSpc>
              <a:defRPr/>
            </a:pPr>
            <a:r>
              <a:rPr lang="zh-CN" altLang="en-US" sz="1400" b="0" i="0" u="none" baseline="0">
                <a:solidFill>
                  <a:srgbClr val="000000"/>
                </a:solidFill>
                <a:latin typeface="+mn-ea"/>
                <a:ea typeface="+mn-ea"/>
              </a:rPr>
              <a:t>学习法是一种通过使用学习器对弱学习器的输出进行整合的集成方法，相比于简单的平均法和投票法，学习法具有更强的表达能力。</a:t>
            </a:r>
            <a:endParaRPr lang="en-US" sz="1100"/>
          </a:p>
        </p:txBody>
      </p:sp>
      <p:sp>
        <p:nvSpPr>
          <p:cNvPr id="23" name="TextBox 6"/>
          <p:cNvSpPr txBox="1"/>
          <p:nvPr/>
        </p:nvSpPr>
        <p:spPr>
          <a:xfrm>
            <a:off x="5887813" y="2446787"/>
            <a:ext cx="5754190" cy="318924"/>
          </a:xfrm>
          <a:prstGeom prst="rect">
            <a:avLst/>
          </a:prstGeom>
        </p:spPr>
        <p:txBody>
          <a:bodyPr vert="horz" wrap="square" lIns="0" tIns="36000" rIns="0" bIns="36000" rtlCol="0" anchor="t">
            <a:spAutoFit/>
          </a:bodyPr>
          <a:p>
            <a:pPr marL="0" algn="l">
              <a:defRPr/>
            </a:pPr>
            <a:r>
              <a:rPr lang="zh-CN" altLang="en-US" sz="1600" b="1" i="0" u="none" baseline="0">
                <a:gradFill>
                  <a:gsLst>
                    <a:gs pos="0">
                      <a:srgbClr val="2DA6E9"/>
                    </a:gs>
                    <a:gs pos="100000">
                      <a:srgbClr val="24C6FF"/>
                    </a:gs>
                  </a:gsLst>
                  <a:lin ang="2700000"/>
                </a:gradFill>
                <a:latin typeface="微软雅黑" panose="020B0503020204020204" pitchFamily="34" charset="-122"/>
                <a:ea typeface="微软雅黑" panose="020B0503020204020204" pitchFamily="34" charset="-122"/>
              </a:rPr>
              <a:t>学习法定义</a:t>
            </a:r>
            <a:endParaRPr lang="en-US" sz="1100"/>
          </a:p>
        </p:txBody>
      </p:sp>
      <p:sp>
        <p:nvSpPr>
          <p:cNvPr id="24" name="AutoShape 7"/>
          <p:cNvSpPr/>
          <p:nvPr/>
        </p:nvSpPr>
        <p:spPr>
          <a:xfrm>
            <a:off x="5504815" y="4690745"/>
            <a:ext cx="6352540" cy="1012825"/>
          </a:xfrm>
          <a:prstGeom prst="roundRect">
            <a:avLst>
              <a:gd name="adj" fmla="val 1551"/>
            </a:avLst>
          </a:prstGeom>
          <a:gradFill>
            <a:gsLst>
              <a:gs pos="0">
                <a:srgbClr val="2DA6E9">
                  <a:alpha val="28000"/>
                </a:srgbClr>
              </a:gs>
              <a:gs pos="100000">
                <a:srgbClr val="24C6FF">
                  <a:alpha val="8000"/>
                </a:srgbClr>
              </a:gs>
            </a:gsLst>
            <a:lin ang="5400000"/>
          </a:gradFill>
          <a:ln w="19050">
            <a:gradFill>
              <a:gsLst>
                <a:gs pos="0">
                  <a:srgbClr val="2DA6E9"/>
                </a:gs>
                <a:gs pos="100000">
                  <a:srgbClr val="24C6FF"/>
                </a:gs>
              </a:gsLst>
              <a:lin ang="2700000"/>
            </a:gradFill>
          </a:ln>
        </p:spPr>
        <p:txBody>
          <a:bodyPr vert="horz" lIns="91440" tIns="45720" rIns="91440" bIns="45720" anchor="ctr">
            <a:noAutofit/>
          </a:bodyPr>
          <a:p>
            <a:pPr marL="0" algn="ctr"/>
          </a:p>
        </p:txBody>
      </p:sp>
      <p:sp>
        <p:nvSpPr>
          <p:cNvPr id="25" name="TextBox 8"/>
          <p:cNvSpPr txBox="1"/>
          <p:nvPr/>
        </p:nvSpPr>
        <p:spPr>
          <a:xfrm>
            <a:off x="5887813" y="5215883"/>
            <a:ext cx="5754189" cy="885618"/>
          </a:xfrm>
          <a:prstGeom prst="rect">
            <a:avLst/>
          </a:prstGeom>
        </p:spPr>
        <p:txBody>
          <a:bodyPr vert="horz" wrap="square" lIns="0" tIns="36000" rIns="0" bIns="36000" rtlCol="0" anchor="t">
            <a:spAutoFit/>
          </a:bodyPr>
          <a:p>
            <a:pPr marL="0" algn="l">
              <a:lnSpc>
                <a:spcPct val="130000"/>
              </a:lnSpc>
              <a:defRPr/>
            </a:pPr>
            <a:r>
              <a:rPr lang="zh-CN" altLang="en-US" sz="1400" b="0" i="0" u="none" baseline="0">
                <a:solidFill>
                  <a:srgbClr val="000000"/>
                </a:solidFill>
                <a:latin typeface="+mn-ea"/>
                <a:ea typeface="+mn-ea"/>
              </a:rPr>
              <a:t>Stacking（堆叠）是学习法的典型代表。</a:t>
            </a:r>
            <a:endParaRPr lang="en-US" sz="1100"/>
          </a:p>
        </p:txBody>
      </p:sp>
      <p:sp>
        <p:nvSpPr>
          <p:cNvPr id="26" name="TextBox 9"/>
          <p:cNvSpPr txBox="1"/>
          <p:nvPr/>
        </p:nvSpPr>
        <p:spPr>
          <a:xfrm>
            <a:off x="5887813" y="4783668"/>
            <a:ext cx="5754190" cy="318924"/>
          </a:xfrm>
          <a:prstGeom prst="rect">
            <a:avLst/>
          </a:prstGeom>
        </p:spPr>
        <p:txBody>
          <a:bodyPr vert="horz" wrap="square" lIns="0" tIns="36000" rIns="0" bIns="36000" rtlCol="0" anchor="t">
            <a:spAutoFit/>
          </a:bodyPr>
          <a:p>
            <a:pPr marL="0" algn="l">
              <a:defRPr/>
            </a:pPr>
            <a:r>
              <a:rPr lang="zh-CN" altLang="en-US" sz="1600" b="1" i="0" u="none" baseline="0">
                <a:gradFill>
                  <a:gsLst>
                    <a:gs pos="0">
                      <a:srgbClr val="2DA6E9"/>
                    </a:gs>
                    <a:gs pos="100000">
                      <a:srgbClr val="24C6FF"/>
                    </a:gs>
                  </a:gsLst>
                  <a:lin ang="2700000"/>
                </a:gradFill>
                <a:latin typeface="微软雅黑" panose="020B0503020204020204" pitchFamily="34" charset="-122"/>
                <a:ea typeface="微软雅黑" panose="020B0503020204020204" pitchFamily="34" charset="-122"/>
              </a:rPr>
              <a:t>Stacking</a:t>
            </a:r>
            <a:endParaRPr lang="en-US" sz="1100"/>
          </a:p>
        </p:txBody>
      </p:sp>
      <p:sp>
        <p:nvSpPr>
          <p:cNvPr id="27" name="文本框 26"/>
          <p:cNvSpPr txBox="1"/>
          <p:nvPr/>
        </p:nvSpPr>
        <p:spPr>
          <a:xfrm>
            <a:off x="241300" y="1040130"/>
            <a:ext cx="3942715" cy="521970"/>
          </a:xfrm>
          <a:prstGeom prst="rect">
            <a:avLst/>
          </a:prstGeom>
          <a:noFill/>
        </p:spPr>
        <p:txBody>
          <a:bodyPr wrap="square" rtlCol="0" anchor="t">
            <a:spAutoFit/>
          </a:bodyPr>
          <a:p>
            <a:r>
              <a:rPr lang="en-US" sz="2800" b="1">
                <a:solidFill>
                  <a:schemeClr val="accent1">
                    <a:lumMod val="75000"/>
                  </a:schemeClr>
                </a:solidFill>
                <a:latin typeface="微软雅黑" panose="020B0503020204020204" pitchFamily="34" charset="-122"/>
                <a:ea typeface="微软雅黑" panose="020B0503020204020204" pitchFamily="34" charset="-122"/>
                <a:sym typeface="+mn-ea"/>
              </a:rPr>
              <a:t>投票法：分类任务</a:t>
            </a:r>
            <a:endParaRPr lang="en-US" altLang="en-US" sz="2800" b="1">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28" name="文本框 27"/>
          <p:cNvSpPr txBox="1"/>
          <p:nvPr/>
        </p:nvSpPr>
        <p:spPr>
          <a:xfrm>
            <a:off x="5437505" y="1042670"/>
            <a:ext cx="6096000" cy="521970"/>
          </a:xfrm>
          <a:prstGeom prst="rect">
            <a:avLst/>
          </a:prstGeom>
          <a:noFill/>
        </p:spPr>
        <p:txBody>
          <a:bodyPr wrap="square" rtlCol="0" anchor="t">
            <a:spAutoFit/>
          </a:bodyPr>
          <a:p>
            <a:pPr algn="l">
              <a:lnSpc>
                <a:spcPct val="100000"/>
              </a:lnSpc>
              <a:spcBef>
                <a:spcPct val="0"/>
              </a:spcBef>
            </a:pPr>
            <a:r>
              <a:rPr lang="en-US" sz="2800" b="1">
                <a:solidFill>
                  <a:schemeClr val="accent1">
                    <a:lumMod val="75000"/>
                  </a:schemeClr>
                </a:solidFill>
                <a:latin typeface="微软雅黑" panose="020B0503020204020204" pitchFamily="34" charset="-122"/>
                <a:ea typeface="微软雅黑" panose="020B0503020204020204" pitchFamily="34" charset="-122"/>
                <a:sym typeface="+mn-ea"/>
              </a:rPr>
              <a:t>学习法：更强表达</a:t>
            </a:r>
            <a:endParaRPr lang="en-US" altLang="en-US" sz="2800" b="1">
              <a:solidFill>
                <a:schemeClr val="accent1">
                  <a:lumMod val="7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KSO_WM_DIAGRAM_VIRTUALLY_FRAME" val="{&quot;height&quot;:446.44015748031495,&quot;left&quot;:0,&quot;top&quot;:93.55984251968503,&quot;width&quot;:960}"/>
</p:tagLst>
</file>

<file path=ppt/tags/tag2.xml><?xml version="1.0" encoding="utf-8"?>
<p:tagLst xmlns:p="http://schemas.openxmlformats.org/presentationml/2006/main">
  <p:tag name="KSO_WM_DIAGRAM_VIRTUALLY_FRAME" val="{&quot;height&quot;:303.85,&quot;left&quot;:24.15,&quot;top&quot;:100.15,&quot;width&quot;:911.75}"/>
</p:tagLst>
</file>

<file path=ppt/tags/tag3.xml><?xml version="1.0" encoding="utf-8"?>
<p:tagLst xmlns:p="http://schemas.openxmlformats.org/presentationml/2006/main">
  <p:tag name="KSO_WM_DIAGRAM_VIRTUALLY_FRAME" val="{&quot;height&quot;:303.85,&quot;left&quot;:24.15,&quot;top&quot;:100.15,&quot;width&quot;:911.75}"/>
</p:tagLst>
</file>

<file path=ppt/tags/tag4.xml><?xml version="1.0" encoding="utf-8"?>
<p:tagLst xmlns:p="http://schemas.openxmlformats.org/presentationml/2006/main">
  <p:tag name="KSO_WM_DIAGRAM_VIRTUALLY_FRAME" val="{&quot;height&quot;:303.85,&quot;left&quot;:24.15,&quot;top&quot;:100.15,&quot;width&quot;:911.75}"/>
</p:tagLst>
</file>

<file path=ppt/tags/tag5.xml><?xml version="1.0" encoding="utf-8"?>
<p:tagLst xmlns:p="http://schemas.openxmlformats.org/presentationml/2006/main">
  <p:tag name="KSO_WM_DIAGRAM_VIRTUALLY_FRAME" val="{&quot;height&quot;:303.85,&quot;left&quot;:24.15,&quot;top&quot;:100.15,&quot;width&quot;:911.75}"/>
</p:tagLst>
</file>

<file path=ppt/tags/tag6.xml><?xml version="1.0" encoding="utf-8"?>
<p:tagLst xmlns:p="http://schemas.openxmlformats.org/presentationml/2006/main">
  <p:tag name="KSO_WM_DIAGRAM_VIRTUALLY_FRAME" val="{&quot;height&quot;:303.85,&quot;left&quot;:24.15,&quot;top&quot;:100.15,&quot;width&quot;:911.75}"/>
</p:tagLst>
</file>

<file path=ppt/tags/tag7.xml><?xml version="1.0" encoding="utf-8"?>
<p:tagLst xmlns:p="http://schemas.openxmlformats.org/presentationml/2006/main">
  <p:tag name="KSO_WM_DIAGRAM_VIRTUALLY_FRAME" val="{&quot;height&quot;:303.85,&quot;left&quot;:24.15,&quot;top&quot;:100.15,&quot;width&quot;:911.75}"/>
</p:tagLst>
</file>

<file path=ppt/tags/tag8.xml><?xml version="1.0" encoding="utf-8"?>
<p:tagLst xmlns:p="http://schemas.openxmlformats.org/presentationml/2006/main">
  <p:tag name="KSO_WM_DIAGRAM_VIRTUALLY_FRAME" val="{&quot;height&quot;:303.85,&quot;left&quot;:24.15,&quot;top&quot;:100.15,&quot;width&quot;:911.75}"/>
</p:tagLst>
</file>

<file path=ppt/tags/tag9.xml><?xml version="1.0" encoding="utf-8"?>
<p:tagLst xmlns:p="http://schemas.openxmlformats.org/presentationml/2006/main">
  <p:tag name="KSO_WM_DIAGRAM_VIRTUALLY_FRAME" val="{&quot;height&quot;:303.85,&quot;left&quot;:24.15,&quot;top&quot;:100.15,&quot;width&quot;:911.75}"/>
</p:tagLst>
</file>

<file path=ppt/tags/tag10.xml><?xml version="1.0" encoding="utf-8"?>
<p:tagLst xmlns:p="http://schemas.openxmlformats.org/presentationml/2006/main">
  <p:tag name="KSO_WM_DIAGRAM_VIRTUALLY_FRAME" val="{&quot;height&quot;:303.85,&quot;left&quot;:24.15,&quot;top&quot;:100.15,&quot;width&quot;:911.75}"/>
</p:tagLst>
</file>

<file path=ppt/tags/tag11.xml><?xml version="1.0" encoding="utf-8"?>
<p:tagLst xmlns:p="http://schemas.openxmlformats.org/presentationml/2006/main">
  <p:tag name="KSO_WM_DIAGRAM_VIRTUALLY_FRAME" val="{&quot;height&quot;:303.85,&quot;left&quot;:24.15,&quot;top&quot;:100.15,&quot;width&quot;:911.75}"/>
</p:tagLst>
</file>

<file path=ppt/tags/tag12.xml><?xml version="1.0" encoding="utf-8"?>
<p:tagLst xmlns:p="http://schemas.openxmlformats.org/presentationml/2006/main">
  <p:tag name="KSO_WM_DIAGRAM_VIRTUALLY_FRAME" val="{&quot;height&quot;:303.85,&quot;left&quot;:24.15,&quot;top&quot;:100.15,&quot;width&quot;:911.75}"/>
</p:tagLst>
</file>

<file path=ppt/tags/tag13.xml><?xml version="1.0" encoding="utf-8"?>
<p:tagLst xmlns:p="http://schemas.openxmlformats.org/presentationml/2006/main">
  <p:tag name="KSO_WM_DIAGRAM_VIRTUALLY_FRAME" val="{&quot;height&quot;:303.85,&quot;left&quot;:24.15,&quot;top&quot;:100.15,&quot;width&quot;:911.75}"/>
</p:tagLst>
</file>

<file path=ppt/tags/tag14.xml><?xml version="1.0" encoding="utf-8"?>
<p:tagLst xmlns:p="http://schemas.openxmlformats.org/presentationml/2006/main">
  <p:tag name="KSO_WM_DIAGRAM_VIRTUALLY_FRAME" val="{&quot;height&quot;:303.85,&quot;left&quot;:24.15,&quot;top&quot;:100.15,&quot;width&quot;:911.75}"/>
</p:tagLst>
</file>

<file path=ppt/tags/tag15.xml><?xml version="1.0" encoding="utf-8"?>
<p:tagLst xmlns:p="http://schemas.openxmlformats.org/presentationml/2006/main">
  <p:tag name="KSO_WM_DIAGRAM_VIRTUALLY_FRAME" val="{&quot;height&quot;:303.85,&quot;left&quot;:24.15,&quot;top&quot;:100.15,&quot;width&quot;:911.75}"/>
</p:tagLst>
</file>

<file path=ppt/tags/tag16.xml><?xml version="1.0" encoding="utf-8"?>
<p:tagLst xmlns:p="http://schemas.openxmlformats.org/presentationml/2006/main">
  <p:tag name="KSO_WM_DIAGRAM_VIRTUALLY_FRAME" val="{&quot;height&quot;:303.85,&quot;left&quot;:24.15,&quot;top&quot;:100.15,&quot;width&quot;:911.75}"/>
</p:tagLst>
</file>

<file path=ppt/tags/tag17.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18.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19.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0.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1.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2.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3.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4.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5.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6.xml><?xml version="1.0" encoding="utf-8"?>
<p:tagLst xmlns:p="http://schemas.openxmlformats.org/presentationml/2006/main">
  <p:tag name="KSO_WM_DIAGRAM_VIRTUALLY_FRAME" val="{&quot;height&quot;:391.1511169039669,&quot;left&quot;:28.66094488188969,&quot;top&quot;:113.37614173228344,&quot;width&quot;:577.9962204724409}"/>
</p:tagLst>
</file>

<file path=ppt/tags/tag27.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3431</Words>
  <Application>WPS 演示</Application>
  <PresentationFormat>宽屏</PresentationFormat>
  <Paragraphs>204</Paragraphs>
  <Slides>16</Slides>
  <Notes>28</Notes>
  <HiddenSlides>0</HiddenSlides>
  <MMClips>0</MMClips>
  <ScaleCrop>false</ScaleCrop>
  <HeadingPairs>
    <vt:vector size="8" baseType="variant">
      <vt:variant>
        <vt:lpstr>已用的字体</vt:lpstr>
      </vt:variant>
      <vt:variant>
        <vt:i4>32</vt:i4>
      </vt:variant>
      <vt:variant>
        <vt:lpstr>主题</vt:lpstr>
      </vt:variant>
      <vt:variant>
        <vt:i4>12</vt:i4>
      </vt:variant>
      <vt:variant>
        <vt:lpstr>嵌入 OLE 服务器</vt:lpstr>
      </vt:variant>
      <vt:variant>
        <vt:i4>3</vt:i4>
      </vt:variant>
      <vt:variant>
        <vt:lpstr>幻灯片标题</vt:lpstr>
      </vt:variant>
      <vt:variant>
        <vt:i4>16</vt:i4>
      </vt:variant>
    </vt:vector>
  </HeadingPairs>
  <TitlesOfParts>
    <vt:vector size="63"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Verdana</vt:lpstr>
      <vt:lpstr>华文细黑</vt:lpstr>
      <vt:lpstr>Arial Unicode MS</vt:lpstr>
      <vt:lpstr>Garamond</vt:lpstr>
      <vt:lpstr>仿宋</vt:lpstr>
      <vt:lpstr>华文新魏</vt:lpstr>
      <vt:lpstr>楷体_GB2312</vt:lpstr>
      <vt:lpstr>新宋体</vt:lpstr>
      <vt:lpstr>Tahoma</vt:lpstr>
      <vt:lpstr>楷体</vt:lpstr>
      <vt:lpstr>Cambria</vt:lpstr>
      <vt:lpstr>微软雅黑 Light</vt:lpstr>
      <vt:lpstr>Times New Roman</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Bagging 优势与应用</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VE</cp:lastModifiedBy>
  <cp:revision>2912</cp:revision>
  <dcterms:created xsi:type="dcterms:W3CDTF">2022-05-23T09:13:00Z</dcterms:created>
  <dcterms:modified xsi:type="dcterms:W3CDTF">2025-04-17T10:47:55Z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2052-12.1.0.20784</vt:lpwstr>
  </property>
</Properties>
</file>