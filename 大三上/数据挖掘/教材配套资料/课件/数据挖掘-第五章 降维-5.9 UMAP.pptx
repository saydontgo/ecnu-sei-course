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7" r:id="rId2"/>
    <p:sldId id="281" r:id="rId3"/>
    <p:sldId id="392" r:id="rId4"/>
    <p:sldId id="283" r:id="rId5"/>
    <p:sldId id="393" r:id="rId6"/>
    <p:sldId id="394" r:id="rId7"/>
    <p:sldId id="301" r:id="rId8"/>
    <p:sldId id="395" r:id="rId9"/>
    <p:sldId id="354" r:id="rId10"/>
    <p:sldId id="396" r:id="rId11"/>
    <p:sldId id="284" r:id="rId12"/>
    <p:sldId id="397" r:id="rId13"/>
    <p:sldId id="356" r:id="rId14"/>
    <p:sldId id="358" r:id="rId15"/>
    <p:sldId id="357" r:id="rId16"/>
    <p:sldId id="15502"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7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7" autoAdjust="0"/>
    <p:restoredTop sz="94660"/>
  </p:normalViewPr>
  <p:slideViewPr>
    <p:cSldViewPr snapToGrid="0" showGuides="1">
      <p:cViewPr varScale="1">
        <p:scale>
          <a:sx n="83" d="100"/>
          <a:sy n="83" d="100"/>
        </p:scale>
        <p:origin x="614" y="48"/>
      </p:cViewPr>
      <p:guideLst>
        <p:guide orient="horz" pos="2137"/>
        <p:guide pos="3874"/>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2025/4/18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96F833C-0931-4030-8352-AFD9186768B5}"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F97A0-058B-21B5-3A47-7F12A28748E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23821EF-7F63-B1C4-C71E-7E5E70C2F1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849C886-56AD-F753-95ED-0B3A13F3356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5069080F-A25D-C219-66BB-885D9D7CB5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12220711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725B8-2931-6866-4E78-E928856ADA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9067BC1-AD9D-A7D7-D8F5-3A8AEC9D8CA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BD06E2-1650-9AC2-7D82-114870D2B30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745606DF-A1E8-65B6-00EC-96D1AF8CE0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5698269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3F7EEE-467A-0856-00A3-E4DBCF5D330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D97614-FA40-9792-DC75-4900B01E613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A608621-08AD-4B90-FED8-912C75591AB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AF116812-4C61-1353-17D4-6846218A741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6</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1731556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7</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BD5DC-5E95-301A-D95C-ECC61716BD2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AB210D7-9A2E-D2A3-B284-2273D25A6B1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B8B47B2-381F-BC97-693F-F272298A6F8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008FC089-244C-404A-52F7-17175534B7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8</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14259078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9</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847095-DC20-20B8-CE09-B8387432EA8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0082E42-3075-F95A-C06B-1A422A7E24F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4149B39-D650-2AE7-C1D7-72E6EE66649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884FA95C-BAB3-B9F7-5D13-BFB9F1EF23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10</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40753116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11</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33B51-7444-8CB2-5267-078D8F6E26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494187-5B3F-0818-A248-5A30E404E4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C3CD1BE-FAE2-28C6-A8FD-E88C07F9AD7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a:extLst>
              <a:ext uri="{FF2B5EF4-FFF2-40B4-BE49-F238E27FC236}">
                <a16:creationId xmlns:a16="http://schemas.microsoft.com/office/drawing/2014/main" id="{C7AA7FB7-5E8D-813C-7FE9-73B28183DF9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12</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extLst>
      <p:ext uri="{BB962C8B-B14F-4D97-AF65-F5344CB8AC3E}">
        <p14:creationId xmlns:p14="http://schemas.microsoft.com/office/powerpoint/2010/main" val="239236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13</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14</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sz="1800" u="sng"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t>15</a:t>
            </a:fld>
            <a:endParaRPr kumimoji="0"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6F833C-0931-4030-8352-AFD9186768B5}" type="slidenum">
              <a:rPr kumimoji="0" lang="zh-CN" altLang="en-US" sz="1200" b="0" i="0" u="none" strike="noStrike" kern="1200" cap="none" spc="0" normalizeH="0" baseline="0" noProof="0" smtClean="0">
                <a:ln>
                  <a:noFill/>
                </a:ln>
                <a:solidFill>
                  <a:prstClr val="black"/>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40524093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主要内容">
    <p:spTree>
      <p:nvGrpSpPr>
        <p:cNvPr id="1" name=""/>
        <p:cNvGrpSpPr/>
        <p:nvPr/>
      </p:nvGrpSpPr>
      <p:grpSpPr>
        <a:xfrm>
          <a:off x="0" y="0"/>
          <a:ext cx="0" cy="0"/>
          <a:chOff x="0" y="0"/>
          <a:chExt cx="0" cy="0"/>
        </a:xfrm>
      </p:grpSpPr>
      <p:sp>
        <p:nvSpPr>
          <p:cNvPr id="6" name="矩形 5"/>
          <p:cNvSpPr/>
          <p:nvPr userDrawn="1"/>
        </p:nvSpPr>
        <p:spPr bwMode="auto">
          <a:xfrm>
            <a:off x="0" y="1771650"/>
            <a:ext cx="12192000" cy="1261491"/>
          </a:xfrm>
          <a:prstGeom prst="rect">
            <a:avLst/>
          </a:prstGeom>
          <a:gradFill flip="none" rotWithShape="1">
            <a:gsLst>
              <a:gs pos="0">
                <a:schemeClr val="accent5">
                  <a:lumMod val="20000"/>
                  <a:lumOff val="80000"/>
                </a:schemeClr>
              </a:gs>
              <a:gs pos="50000">
                <a:schemeClr val="accent5">
                  <a:lumMod val="20000"/>
                  <a:lumOff val="80000"/>
                </a:schemeClr>
              </a:gs>
              <a:gs pos="100000">
                <a:schemeClr val="bg1"/>
              </a:gs>
            </a:gsLst>
            <a:lin ang="16200000" scaled="1"/>
            <a:tileRect/>
          </a:gradFill>
          <a:ln>
            <a:noFill/>
            <a:headEnd type="none" w="med" len="med"/>
            <a:tailEnd type="none" w="med" len="me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spAutoFit/>
          </a:bodyPr>
          <a:lstStyle/>
          <a:p>
            <a:pPr algn="ctr">
              <a:spcBef>
                <a:spcPct val="50000"/>
              </a:spcBef>
            </a:pPr>
            <a:endParaRPr lang="zh-CN" altLang="en-US" sz="2800" b="1" dirty="0">
              <a:latin typeface="微软雅黑" panose="020B0503020204020204" charset="-122"/>
              <a:ea typeface="微软雅黑" panose="020B0503020204020204" charset="-122"/>
            </a:endParaRPr>
          </a:p>
        </p:txBody>
      </p:sp>
      <p:sp>
        <p:nvSpPr>
          <p:cNvPr id="7" name="矩形 6"/>
          <p:cNvSpPr/>
          <p:nvPr userDrawn="1"/>
        </p:nvSpPr>
        <p:spPr>
          <a:xfrm>
            <a:off x="0" y="2394901"/>
            <a:ext cx="12192000" cy="3796496"/>
          </a:xfrm>
          <a:prstGeom prst="rect">
            <a:avLst/>
          </a:prstGeom>
          <a:solidFill>
            <a:schemeClr val="bg1"/>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928495"/>
            <a:endParaRPr lang="zh-CN" altLang="en-US" sz="1400" dirty="0"/>
          </a:p>
        </p:txBody>
      </p:sp>
      <p:grpSp>
        <p:nvGrpSpPr>
          <p:cNvPr id="22" name="组合 21"/>
          <p:cNvGrpSpPr/>
          <p:nvPr userDrawn="1"/>
        </p:nvGrpSpPr>
        <p:grpSpPr>
          <a:xfrm>
            <a:off x="0" y="2291460"/>
            <a:ext cx="12192000" cy="4004169"/>
            <a:chOff x="1960583" y="2188019"/>
            <a:chExt cx="9297266" cy="4004169"/>
          </a:xfrm>
        </p:grpSpPr>
        <p:pic>
          <p:nvPicPr>
            <p:cNvPr id="23" name="图片 22"/>
            <p:cNvPicPr>
              <a:picLocks noChangeAspect="1"/>
            </p:cNvPicPr>
            <p:nvPr/>
          </p:nvPicPr>
          <p:blipFill rotWithShape="1">
            <a:blip r:embed="rId2">
              <a:grayscl/>
            </a:blip>
            <a:srcRect b="72279"/>
            <a:stretch>
              <a:fillRect/>
            </a:stretch>
          </p:blipFill>
          <p:spPr>
            <a:xfrm rot="10800000" flipH="1">
              <a:off x="1960583" y="6087956"/>
              <a:ext cx="9297266" cy="104232"/>
            </a:xfrm>
            <a:prstGeom prst="rect">
              <a:avLst/>
            </a:prstGeom>
          </p:spPr>
        </p:pic>
        <p:pic>
          <p:nvPicPr>
            <p:cNvPr id="24" name="图片 23"/>
            <p:cNvPicPr>
              <a:picLocks noChangeAspect="1"/>
            </p:cNvPicPr>
            <p:nvPr/>
          </p:nvPicPr>
          <p:blipFill rotWithShape="1">
            <a:blip r:embed="rId2">
              <a:grayscl/>
            </a:blip>
            <a:srcRect b="72279"/>
            <a:stretch>
              <a:fillRect/>
            </a:stretch>
          </p:blipFill>
          <p:spPr>
            <a:xfrm flipH="1">
              <a:off x="1960583" y="2188019"/>
              <a:ext cx="9297266" cy="104232"/>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第一节">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a:extLst>
              <a:ext uri="{28A0092B-C50C-407E-A947-70E740481C1C}">
                <a14:useLocalDpi xmlns:a14="http://schemas.microsoft.com/office/drawing/2010/main" val="0"/>
              </a:ext>
            </a:extLst>
          </a:blip>
          <a:srcRect l="8455"/>
          <a:stretch>
            <a:fillRect/>
          </a:stretch>
        </p:blipFill>
        <p:spPr>
          <a:xfrm>
            <a:off x="916640" y="227763"/>
            <a:ext cx="11161059" cy="603504"/>
          </a:xfrm>
          <a:prstGeom prst="rect">
            <a:avLst/>
          </a:prstGeom>
        </p:spPr>
      </p:pic>
      <p:pic>
        <p:nvPicPr>
          <p:cNvPr id="3" name="Picture 2" descr="A logo with dots and lines&#10;&#10;Description automatically generated"/>
          <p:cNvPicPr>
            <a:picLocks noChangeAspect="1"/>
          </p:cNvPicPr>
          <p:nvPr userDrawn="1"/>
        </p:nvPicPr>
        <p:blipFill rotWithShape="1">
          <a:blip r:embed="rId3" cstate="print">
            <a:extLst>
              <a:ext uri="{28A0092B-C50C-407E-A947-70E740481C1C}">
                <a14:useLocalDpi xmlns:a14="http://schemas.microsoft.com/office/drawing/2010/main" val="0"/>
              </a:ext>
            </a:extLst>
          </a:blip>
          <a:srcRect l="3808" r="8389" b="36069"/>
          <a:stretch>
            <a:fillRect/>
          </a:stretch>
        </p:blipFill>
        <p:spPr>
          <a:xfrm>
            <a:off x="11249224" y="166730"/>
            <a:ext cx="828475" cy="725570"/>
          </a:xfrm>
          <a:prstGeom prst="ellipse">
            <a:avLst/>
          </a:prstGeom>
          <a:ln>
            <a:noFill/>
          </a:ln>
          <a:effectLst>
            <a:softEdge rad="112500"/>
          </a:effectLst>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第一节">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l="453"/>
          <a:stretch>
            <a:fillRect/>
          </a:stretch>
        </p:blipFill>
        <p:spPr>
          <a:xfrm>
            <a:off x="0" y="0"/>
            <a:ext cx="12192000" cy="1014998"/>
          </a:xfrm>
          <a:prstGeom prst="rect">
            <a:avLst/>
          </a:prstGeom>
        </p:spPr>
      </p:pic>
      <p:sp>
        <p:nvSpPr>
          <p:cNvPr id="2" name="Rectangle 1"/>
          <p:cNvSpPr/>
          <p:nvPr userDrawn="1"/>
        </p:nvSpPr>
        <p:spPr>
          <a:xfrm>
            <a:off x="5982657" y="0"/>
            <a:ext cx="202179" cy="1014998"/>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第一节">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第二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二、主要工作</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第三节">
    <p:spTree>
      <p:nvGrpSpPr>
        <p:cNvPr id="1" name=""/>
        <p:cNvGrpSpPr/>
        <p:nvPr/>
      </p:nvGrpSpPr>
      <p:grpSpPr>
        <a:xfrm>
          <a:off x="0" y="0"/>
          <a:ext cx="0" cy="0"/>
          <a:chOff x="0" y="0"/>
          <a:chExt cx="0" cy="0"/>
        </a:xfrm>
      </p:grpSpPr>
      <p:sp>
        <p:nvSpPr>
          <p:cNvPr id="7" name="矩形 6"/>
          <p:cNvSpPr/>
          <p:nvPr userDrawn="1"/>
        </p:nvSpPr>
        <p:spPr>
          <a:xfrm>
            <a:off x="978805" y="232958"/>
            <a:ext cx="2877689"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三、总结展望</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结束">
    <p:spTree>
      <p:nvGrpSpPr>
        <p:cNvPr id="1" name=""/>
        <p:cNvGrpSpPr/>
        <p:nvPr/>
      </p:nvGrpSpPr>
      <p:grpSpPr>
        <a:xfrm>
          <a:off x="0" y="0"/>
          <a:ext cx="0" cy="0"/>
          <a:chOff x="0" y="0"/>
          <a:chExt cx="0" cy="0"/>
        </a:xfrm>
      </p:grpSpPr>
      <p:sp>
        <p:nvSpPr>
          <p:cNvPr id="7" name="矩形 6"/>
          <p:cNvSpPr/>
          <p:nvPr userDrawn="1"/>
        </p:nvSpPr>
        <p:spPr>
          <a:xfrm>
            <a:off x="978805" y="232958"/>
            <a:ext cx="1531166" cy="584763"/>
          </a:xfrm>
          <a:prstGeom prst="rect">
            <a:avLst/>
          </a:prstGeom>
        </p:spPr>
        <p:txBody>
          <a:bodyPr wrap="none" lIns="91429" tIns="45714" rIns="91429" bIns="45714">
            <a:spAutoFit/>
          </a:bodyPr>
          <a:lstStyle/>
          <a:p>
            <a:pPr lvl="0"/>
            <a:r>
              <a:rPr lang="zh-CN" altLang="en-US" sz="3200" b="1" spc="300" dirty="0">
                <a:solidFill>
                  <a:srgbClr val="FFFF00"/>
                </a:solidFill>
                <a:effectLst>
                  <a:outerShdw blurRad="38100" dist="76200" dir="2700000" algn="tl">
                    <a:srgbClr val="000000">
                      <a:alpha val="43137"/>
                    </a:srgbClr>
                  </a:outerShdw>
                </a:effectLst>
                <a:latin typeface="微软雅黑" panose="020B0503020204020204" charset="-122"/>
                <a:ea typeface="微软雅黑" panose="020B0503020204020204" charset="-122"/>
              </a:rPr>
              <a:t>结束语</a:t>
            </a:r>
          </a:p>
        </p:txBody>
      </p:sp>
      <p:sp>
        <p:nvSpPr>
          <p:cNvPr id="2" name="矩形 26"/>
          <p:cNvSpPr/>
          <p:nvPr userDrawn="1"/>
        </p:nvSpPr>
        <p:spPr>
          <a:xfrm>
            <a:off x="11281576" y="231052"/>
            <a:ext cx="800197" cy="584763"/>
          </a:xfrm>
          <a:prstGeom prst="rect">
            <a:avLst/>
          </a:prstGeom>
          <a:blipFill>
            <a:blip r:embed="rId2"/>
            <a:stretch>
              <a:fillRect/>
            </a:stretch>
          </a:blipFill>
        </p:spPr>
        <p:txBody>
          <a:bodyPr wrap="square" lIns="91429" tIns="45714" rIns="91429" bIns="45714">
            <a:spAutoFit/>
          </a:bodyPr>
          <a:lstStyle/>
          <a:p>
            <a:pPr algn="dist"/>
            <a:r>
              <a:rPr lang="zh-CN" altLang="en-US"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rPr>
              <a:t>大数据</a:t>
            </a:r>
            <a:endParaRPr lang="en-US" altLang="zh-CN" sz="1600" b="0" dirty="0">
              <a:solidFill>
                <a:srgbClr val="FD5C0C"/>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a:p>
            <a:pPr algn="dist"/>
            <a:r>
              <a:rPr lang="zh-CN" altLang="en-US" sz="1600" b="0" dirty="0">
                <a:solidFill>
                  <a:srgbClr val="FFFF00"/>
                </a:solidFill>
                <a:effectLst>
                  <a:outerShdw blurRad="38100" dist="38100" dir="2700000" algn="tl">
                    <a:srgbClr val="000000">
                      <a:alpha val="43137"/>
                    </a:srgbClr>
                  </a:outerShdw>
                </a:effectLst>
                <a:highlight>
                  <a:srgbClr val="FD5C0C"/>
                </a:highlight>
                <a:latin typeface="华光综艺_CNKI" panose="02000500000000000000" pitchFamily="2" charset="-122"/>
                <a:ea typeface="华光综艺_CNKI" panose="02000500000000000000" pitchFamily="2" charset="-122"/>
              </a:rPr>
              <a:t>可</a:t>
            </a:r>
            <a:r>
              <a:rPr lang="zh-CN" altLang="en-US" sz="1600" b="0" dirty="0">
                <a:solidFill>
                  <a:srgbClr val="00CCFF"/>
                </a:solidFill>
                <a:effectLst>
                  <a:outerShdw blurRad="38100" dist="38100" dir="2700000" algn="tl">
                    <a:srgbClr val="000000">
                      <a:alpha val="43137"/>
                    </a:srgbClr>
                  </a:outerShdw>
                </a:effectLst>
                <a:highlight>
                  <a:srgbClr val="FFFF00"/>
                </a:highlight>
                <a:latin typeface="华光综艺_CNKI" panose="02000500000000000000" pitchFamily="2" charset="-122"/>
                <a:ea typeface="华光综艺_CNKI" panose="02000500000000000000" pitchFamily="2" charset="-122"/>
              </a:rPr>
              <a:t>视</a:t>
            </a:r>
            <a:r>
              <a:rPr lang="zh-CN" altLang="en-US" sz="1600" b="0" dirty="0">
                <a:solidFill>
                  <a:srgbClr val="00FF00"/>
                </a:solidFill>
                <a:effectLst>
                  <a:outerShdw blurRad="38100" dist="38100" dir="2700000" algn="tl">
                    <a:srgbClr val="000000">
                      <a:alpha val="43137"/>
                    </a:srgbClr>
                  </a:outerShdw>
                </a:effectLst>
                <a:highlight>
                  <a:srgbClr val="00CCFF"/>
                </a:highlight>
                <a:latin typeface="华光综艺_CNKI" panose="02000500000000000000" pitchFamily="2" charset="-122"/>
                <a:ea typeface="华光综艺_CNKI" panose="02000500000000000000" pitchFamily="2" charset="-122"/>
              </a:rPr>
              <a:t>化</a:t>
            </a:r>
            <a:endParaRPr lang="en-US" sz="1600" b="0" dirty="0">
              <a:solidFill>
                <a:schemeClr val="bg1"/>
              </a:solidFill>
              <a:effectLst>
                <a:outerShdw blurRad="38100" dist="38100" dir="2700000" algn="tl">
                  <a:srgbClr val="000000">
                    <a:alpha val="43137"/>
                  </a:srgbClr>
                </a:outerShdw>
              </a:effectLst>
              <a:latin typeface="华光综艺_CNKI" panose="02000500000000000000" pitchFamily="2" charset="-122"/>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纯背景带校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7" name="Picture 4" descr="D:\works\工作\周琴\56-2019-大数据与复杂网络\模板设计\内页.jp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677" y="0"/>
            <a:ext cx="12192000" cy="68600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15 June, 2011</a:t>
            </a:r>
            <a:endParaRPr lang="en-GB" dirty="0">
              <a:solidFill>
                <a:prstClr val="black">
                  <a:tint val="75000"/>
                </a:prstClr>
              </a:solidFill>
            </a:endParaRPr>
          </a:p>
        </p:txBody>
      </p:sp>
      <p:sp>
        <p:nvSpPr>
          <p:cNvPr id="3" name="Footer Placeholder 2"/>
          <p:cNvSpPr>
            <a:spLocks noGrp="1"/>
          </p:cNvSpPr>
          <p:nvPr>
            <p:ph type="ftr" sz="quarter" idx="11"/>
          </p:nvPr>
        </p:nvSpPr>
        <p:spPr/>
        <p:txBody>
          <a:bodyPr/>
          <a:lstStyle/>
          <a:p>
            <a:r>
              <a:rPr lang="en-US">
                <a:solidFill>
                  <a:prstClr val="black">
                    <a:tint val="75000"/>
                  </a:prstClr>
                </a:solidFill>
              </a:rPr>
              <a:t>IHCAR</a:t>
            </a:r>
            <a:endParaRPr lang="en-GB"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25446203-2B80-4CBC-A257-89A48550B42A}" type="slidenum">
              <a:rPr lang="en-GB" smtClean="0">
                <a:solidFill>
                  <a:prstClr val="black">
                    <a:tint val="75000"/>
                  </a:prstClr>
                </a:solidFill>
              </a:rPr>
              <a:t>‹#›</a:t>
            </a:fld>
            <a:endParaRPr lang="en-GB" dirty="0">
              <a:solidFill>
                <a:prstClr val="black">
                  <a:tint val="75000"/>
                </a:prstClr>
              </a:solidFil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grpSp>
        <p:nvGrpSpPr>
          <p:cNvPr id="2" name="组合 1"/>
          <p:cNvGrpSpPr/>
          <p:nvPr userDrawn="1"/>
        </p:nvGrpSpPr>
        <p:grpSpPr>
          <a:xfrm>
            <a:off x="375374" y="1"/>
            <a:ext cx="140967" cy="962147"/>
            <a:chOff x="281524" y="0"/>
            <a:chExt cx="105725" cy="721610"/>
          </a:xfrm>
          <a:solidFill>
            <a:srgbClr val="1A7BAE"/>
          </a:solidFill>
        </p:grpSpPr>
        <p:sp>
          <p:nvSpPr>
            <p:cNvPr id="5" name="矩形 4"/>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sp>
          <p:nvSpPr>
            <p:cNvPr id="6" name="矩形 5"/>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grpSp>
      <p:grpSp>
        <p:nvGrpSpPr>
          <p:cNvPr id="7" name="组合 6"/>
          <p:cNvGrpSpPr/>
          <p:nvPr userDrawn="1"/>
        </p:nvGrpSpPr>
        <p:grpSpPr>
          <a:xfrm rot="10800000">
            <a:off x="11735683" y="6617464"/>
            <a:ext cx="140967" cy="240536"/>
            <a:chOff x="281524" y="0"/>
            <a:chExt cx="105725" cy="721610"/>
          </a:xfrm>
          <a:solidFill>
            <a:srgbClr val="1A7BAE"/>
          </a:solidFill>
        </p:grpSpPr>
        <p:sp>
          <p:nvSpPr>
            <p:cNvPr id="10" name="矩形 9"/>
            <p:cNvSpPr/>
            <p:nvPr/>
          </p:nvSpPr>
          <p:spPr>
            <a:xfrm>
              <a:off x="281524"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sp>
          <p:nvSpPr>
            <p:cNvPr id="11" name="矩形 10"/>
            <p:cNvSpPr/>
            <p:nvPr/>
          </p:nvSpPr>
          <p:spPr>
            <a:xfrm>
              <a:off x="341530" y="0"/>
              <a:ext cx="45719" cy="7216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561465"/>
              <a:endParaRPr lang="zh-CN" altLang="en-US" sz="3065">
                <a:solidFill>
                  <a:prstClr val="white"/>
                </a:solidFill>
              </a:endParaRPr>
            </a:p>
          </p:txBody>
        </p:sp>
      </p:gr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11803774" y="6581013"/>
            <a:ext cx="372196" cy="276987"/>
          </a:xfrm>
          <a:prstGeom prst="rect">
            <a:avLst/>
          </a:prstGeom>
        </p:spPr>
        <p:txBody>
          <a:bodyPr wrap="none" lIns="91429" tIns="45714" rIns="91429" bIns="45714">
            <a:spAutoFit/>
          </a:bodyPr>
          <a:lstStyle/>
          <a:p>
            <a:fld id="{5E083074-D3FF-49A6-8E12-2ECAA15AAAA1}" type="slidenum">
              <a:rPr lang="zh-CN" altLang="en-US" sz="1200" smtClean="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rPr>
              <a:t>‹#›</a:t>
            </a:fld>
            <a:endParaRPr lang="zh-CN" altLang="en-US" sz="1200" dirty="0">
              <a:solidFill>
                <a:schemeClr val="tx1">
                  <a:lumMod val="50000"/>
                  <a:lumOff val="50000"/>
                </a:schemeClr>
              </a:solidFill>
              <a:latin typeface="Arial" panose="020B0604020202020204" pitchFamily="34" charset="0"/>
              <a:ea typeface="微软雅黑" panose="020B0503020204020204" charset="-122"/>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hf sldNum="0"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notesSlide" Target="../notesSlides/notesSlide3.xml"/><Relationship Id="rId7" Type="http://schemas.openxmlformats.org/officeDocument/2006/relationships/image" Target="../media/image10.wmf"/><Relationship Id="rId12"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oleObject" Target="../embeddings/oleObject2.bin"/><Relationship Id="rId11" Type="http://schemas.openxmlformats.org/officeDocument/2006/relationships/oleObject" Target="../embeddings/oleObject4.bin"/><Relationship Id="rId5" Type="http://schemas.openxmlformats.org/officeDocument/2006/relationships/image" Target="../media/image9.wmf"/><Relationship Id="rId10" Type="http://schemas.openxmlformats.org/officeDocument/2006/relationships/image" Target="../media/image12.wmf"/><Relationship Id="rId4" Type="http://schemas.openxmlformats.org/officeDocument/2006/relationships/oleObject" Target="../embeddings/oleObject1.bin"/><Relationship Id="rId9" Type="http://schemas.openxmlformats.org/officeDocument/2006/relationships/oleObject" Target="../embeddings/oleObject3.bin"/></Relationships>
</file>

<file path=ppt/slides/_rels/slide4.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image" Target="../media/image13.png"/><Relationship Id="rId7" Type="http://schemas.openxmlformats.org/officeDocument/2006/relationships/oleObject" Target="../embeddings/oleObject7.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wmf"/><Relationship Id="rId4" Type="http://schemas.openxmlformats.org/officeDocument/2006/relationships/oleObject" Target="../embeddings/oleObject6.bin"/></Relationships>
</file>

<file path=ppt/slides/_rels/slide5.x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oleObject" Target="../embeddings/oleObject8.bin"/><Relationship Id="rId7" Type="http://schemas.openxmlformats.org/officeDocument/2006/relationships/oleObject" Target="../embeddings/oleObject9.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wmf"/></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22.emf"/><Relationship Id="rId4" Type="http://schemas.openxmlformats.org/officeDocument/2006/relationships/oleObject" Target="../embeddings/oleObject10.bin"/></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wmf"/><Relationship Id="rId4" Type="http://schemas.openxmlformats.org/officeDocument/2006/relationships/oleObject" Target="../embeddings/oleObject11.bin"/></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4.wmf"/></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wmf"/><Relationship Id="rId4"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8" Type="http://schemas.openxmlformats.org/officeDocument/2006/relationships/image" Target="../media/image31.wmf"/><Relationship Id="rId13" Type="http://schemas.openxmlformats.org/officeDocument/2006/relationships/oleObject" Target="../embeddings/oleObject17.bin"/><Relationship Id="rId3" Type="http://schemas.openxmlformats.org/officeDocument/2006/relationships/oleObject" Target="../embeddings/oleObject12.bin"/><Relationship Id="rId7" Type="http://schemas.openxmlformats.org/officeDocument/2006/relationships/oleObject" Target="../embeddings/oleObject14.bin"/><Relationship Id="rId12" Type="http://schemas.openxmlformats.org/officeDocument/2006/relationships/image" Target="../media/image33.wmf"/><Relationship Id="rId2" Type="http://schemas.openxmlformats.org/officeDocument/2006/relationships/notesSlide" Target="../notesSlides/notesSlide10.xml"/><Relationship Id="rId16" Type="http://schemas.openxmlformats.org/officeDocument/2006/relationships/image" Target="../media/image35.wmf"/><Relationship Id="rId1" Type="http://schemas.openxmlformats.org/officeDocument/2006/relationships/slideLayout" Target="../slideLayouts/slideLayout2.xml"/><Relationship Id="rId6" Type="http://schemas.openxmlformats.org/officeDocument/2006/relationships/image" Target="../media/image30.wmf"/><Relationship Id="rId11" Type="http://schemas.openxmlformats.org/officeDocument/2006/relationships/oleObject" Target="../embeddings/oleObject16.bin"/><Relationship Id="rId5" Type="http://schemas.openxmlformats.org/officeDocument/2006/relationships/oleObject" Target="../embeddings/oleObject13.bin"/><Relationship Id="rId15" Type="http://schemas.openxmlformats.org/officeDocument/2006/relationships/oleObject" Target="../embeddings/oleObject18.bin"/><Relationship Id="rId10" Type="http://schemas.openxmlformats.org/officeDocument/2006/relationships/image" Target="../media/image32.wmf"/><Relationship Id="rId4" Type="http://schemas.openxmlformats.org/officeDocument/2006/relationships/image" Target="../media/image28.wmf"/><Relationship Id="rId9" Type="http://schemas.openxmlformats.org/officeDocument/2006/relationships/oleObject" Target="../embeddings/oleObject15.bin"/><Relationship Id="rId14" Type="http://schemas.openxmlformats.org/officeDocument/2006/relationships/image" Target="../media/image34.wmf"/></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43.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11131-5BAF-8959-F2DB-2CBF396DB33A}"/>
              </a:ext>
            </a:extLst>
          </p:cNvPr>
          <p:cNvSpPr txBox="1">
            <a:spLocks/>
          </p:cNvSpPr>
          <p:nvPr/>
        </p:nvSpPr>
        <p:spPr>
          <a:xfrm>
            <a:off x="408972" y="1926317"/>
            <a:ext cx="11374056" cy="2183408"/>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nSpc>
                <a:spcPct val="200000"/>
              </a:lnSpc>
              <a:spcAft>
                <a:spcPts val="1200"/>
              </a:spcAft>
            </a:pPr>
            <a:r>
              <a:rPr lang="zh-CN" altLang="en-US" sz="5400" b="0" dirty="0">
                <a:solidFill>
                  <a:schemeClr val="bg1"/>
                </a:solidFill>
                <a:ea typeface="华光综艺_CNKI" panose="02000500000000000000" pitchFamily="2" charset="-122"/>
              </a:rPr>
              <a:t>第</a:t>
            </a:r>
            <a:r>
              <a:rPr lang="en-US" altLang="zh-CN" sz="5400" b="0" dirty="0">
                <a:solidFill>
                  <a:schemeClr val="bg1"/>
                </a:solidFill>
                <a:ea typeface="华光综艺_CNKI" panose="02000500000000000000" pitchFamily="2" charset="-122"/>
              </a:rPr>
              <a:t>5.9</a:t>
            </a:r>
            <a:r>
              <a:rPr lang="zh-CN" altLang="en-US" sz="5400" b="0" dirty="0">
                <a:solidFill>
                  <a:schemeClr val="bg1"/>
                </a:solidFill>
                <a:ea typeface="华光综艺_CNKI" panose="02000500000000000000" pitchFamily="2" charset="-122"/>
              </a:rPr>
              <a:t>节</a:t>
            </a:r>
            <a:endParaRPr lang="en-US" altLang="zh-CN" sz="5400" b="0" dirty="0">
              <a:solidFill>
                <a:schemeClr val="bg1"/>
              </a:solidFill>
              <a:ea typeface="华光综艺_CNKI" panose="02000500000000000000" pitchFamily="2" charset="-122"/>
            </a:endParaRPr>
          </a:p>
          <a:p>
            <a:r>
              <a:rPr lang="zh-CN" altLang="en-US" b="0" dirty="0">
                <a:ea typeface="华光综艺_CNKI" panose="02000500000000000000" pitchFamily="2" charset="-122"/>
              </a:rPr>
              <a:t> 统一流形逼近与投影</a:t>
            </a:r>
            <a:endParaRPr lang="en-US" altLang="zh-CN" b="0" dirty="0">
              <a:ea typeface="华光综艺_CNKI" panose="02000500000000000000" pitchFamily="2" charset="-122"/>
            </a:endParaRPr>
          </a:p>
          <a:p>
            <a:r>
              <a:rPr lang="en-US" altLang="zh-CN" b="0" dirty="0">
                <a:ea typeface="华光综艺_CNKI" panose="02000500000000000000" pitchFamily="2" charset="-122"/>
              </a:rPr>
              <a:t>UMAP</a:t>
            </a:r>
            <a:endParaRPr lang="zh-CN" altLang="en-US" b="0" dirty="0">
              <a:ea typeface="华光综艺_CNKI" panose="02000500000000000000" pitchFamily="2" charset="-122"/>
            </a:endParaRP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 </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UMAP</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基本概念</a:t>
            </a:r>
          </a:p>
        </p:txBody>
      </p:sp>
      <p:sp>
        <p:nvSpPr>
          <p:cNvPr id="4" name="文本框 3"/>
          <p:cNvSpPr txBox="1"/>
          <p:nvPr/>
        </p:nvSpPr>
        <p:spPr>
          <a:xfrm>
            <a:off x="686462" y="1408607"/>
            <a:ext cx="10635808" cy="2601290"/>
          </a:xfrm>
          <a:prstGeom prst="rect">
            <a:avLst/>
          </a:prstGeom>
        </p:spPr>
        <p:txBody>
          <a:bodyPr wrap="square">
            <a:spAutoFit/>
          </a:bodyPr>
          <a:lstStyle/>
          <a:p>
            <a:pPr indent="0" algn="just" defTabSz="266700" fontAlgn="base">
              <a:lnSpc>
                <a:spcPct val="150000"/>
              </a:lnSpc>
              <a:spcBef>
                <a:spcPct val="0"/>
              </a:spcBef>
              <a:spcAft>
                <a:spcPct val="0"/>
              </a:spcAft>
            </a:pPr>
            <a:r>
              <a:rPr lang="en-US" altLang="zh-CN" sz="2800" b="1" dirty="0">
                <a:latin typeface="Times New Roman" panose="02020603050405020304"/>
                <a:ea typeface="微软雅黑" panose="020B0503020204020204" charset="-122"/>
              </a:rPr>
              <a:t>      UMAP</a:t>
            </a:r>
            <a:r>
              <a:rPr lang="zh-CN" altLang="en-US" sz="2800" b="1" dirty="0">
                <a:latin typeface="Times New Roman" panose="02020603050405020304"/>
                <a:ea typeface="微软雅黑" panose="020B0503020204020204" charset="-122"/>
              </a:rPr>
              <a:t>（</a:t>
            </a:r>
            <a:r>
              <a:rPr lang="en-US" altLang="zh-CN" sz="2800" b="1" dirty="0">
                <a:latin typeface="Times New Roman" panose="02020603050405020304"/>
                <a:ea typeface="微软雅黑" panose="020B0503020204020204" charset="-122"/>
              </a:rPr>
              <a:t>Uniform Manifold Approximation and Projection</a:t>
            </a:r>
            <a:r>
              <a:rPr lang="zh-CN" altLang="en-US" sz="2800" b="1" dirty="0">
                <a:latin typeface="Times New Roman" panose="02020603050405020304"/>
                <a:ea typeface="微软雅黑" panose="020B0503020204020204" charset="-122"/>
              </a:rPr>
              <a:t>）</a:t>
            </a:r>
            <a:r>
              <a:rPr lang="zh-CN" altLang="en-US" sz="2800" dirty="0">
                <a:latin typeface="Times New Roman" panose="02020603050405020304"/>
                <a:ea typeface="微软雅黑" panose="020B0503020204020204" charset="-122"/>
              </a:rPr>
              <a:t>是一种在降低数据样本维数的同时尽可能最大限度地保留数据的全局结构特性的降维技术。</a:t>
            </a:r>
            <a:r>
              <a:rPr lang="en-US" altLang="zh-CN" sz="2800" dirty="0">
                <a:latin typeface="Times New Roman" panose="02020603050405020304"/>
                <a:ea typeface="微软雅黑" panose="020B0503020204020204" charset="-122"/>
              </a:rPr>
              <a:t> </a:t>
            </a:r>
            <a:r>
              <a:rPr lang="zh-CN" altLang="en-US" sz="2800" dirty="0">
                <a:latin typeface="Times New Roman" panose="02020603050405020304"/>
                <a:ea typeface="微软雅黑" panose="020B0503020204020204" charset="-122"/>
              </a:rPr>
              <a:t>该算法将高维数据映射到低维空间，同时尽可能保留数据的全局结构特性。</a:t>
            </a:r>
          </a:p>
        </p:txBody>
      </p:sp>
      <p:sp>
        <p:nvSpPr>
          <p:cNvPr id="19" name="文本框 18">
            <a:extLst>
              <a:ext uri="{FF2B5EF4-FFF2-40B4-BE49-F238E27FC236}">
                <a16:creationId xmlns:a16="http://schemas.microsoft.com/office/drawing/2014/main" id="{5ACACD60-201B-5B02-5554-73E81C1C81F4}"/>
              </a:ext>
            </a:extLst>
          </p:cNvPr>
          <p:cNvSpPr txBox="1"/>
          <p:nvPr/>
        </p:nvSpPr>
        <p:spPr>
          <a:xfrm>
            <a:off x="438274" y="4275565"/>
            <a:ext cx="11132185" cy="2197333"/>
          </a:xfrm>
          <a:prstGeom prst="rect">
            <a:avLst/>
          </a:prstGeom>
        </p:spPr>
        <p:txBody>
          <a:bodyPr wrap="square">
            <a:spAutoFit/>
          </a:bodyPr>
          <a:lstStyle/>
          <a:p>
            <a:pPr indent="0" algn="just" defTabSz="266700" fontAlgn="auto">
              <a:lnSpc>
                <a:spcPct val="125000"/>
              </a:lnSpc>
              <a:spcBef>
                <a:spcPct val="0"/>
              </a:spcBef>
              <a:spcAft>
                <a:spcPct val="0"/>
              </a:spcAft>
            </a:pPr>
            <a:r>
              <a:rPr lang="en-US" altLang="zh-CN" sz="2800" dirty="0">
                <a:latin typeface="Times New Roman" panose="02020603050405020304" pitchFamily="18" charset="0"/>
                <a:ea typeface="微软雅黑" panose="020B0503020204020204" charset="-122"/>
              </a:rPr>
              <a:t>      UMAP</a:t>
            </a:r>
            <a:r>
              <a:rPr lang="zh-CN" altLang="en-US" sz="2800" dirty="0">
                <a:latin typeface="Times New Roman" panose="02020603050405020304" pitchFamily="18" charset="0"/>
                <a:ea typeface="微软雅黑" panose="020B0503020204020204" charset="-122"/>
              </a:rPr>
              <a:t>算法与</a:t>
            </a:r>
            <a:r>
              <a:rPr lang="en-US" altLang="zh-CN" sz="2800" dirty="0">
                <a:latin typeface="Times New Roman" panose="02020603050405020304" pitchFamily="18" charset="0"/>
                <a:ea typeface="微软雅黑" panose="020B0503020204020204" charset="-122"/>
              </a:rPr>
              <a:t>t-SNE</a:t>
            </a:r>
            <a:r>
              <a:rPr lang="zh-CN" altLang="en-US" sz="2800" dirty="0">
                <a:latin typeface="Times New Roman" panose="02020603050405020304" pitchFamily="18" charset="0"/>
                <a:ea typeface="微软雅黑" panose="020B0503020204020204" charset="-122"/>
              </a:rPr>
              <a:t>算法类似，其基本思想是：</a:t>
            </a:r>
          </a:p>
          <a:p>
            <a:pPr indent="0" algn="just" defTabSz="266700" fontAlgn="auto">
              <a:lnSpc>
                <a:spcPct val="125000"/>
              </a:lnSpc>
              <a:spcBef>
                <a:spcPct val="0"/>
              </a:spcBef>
              <a:spcAft>
                <a:spcPct val="0"/>
              </a:spcAft>
            </a:pPr>
            <a:r>
              <a:rPr lang="zh-CN" altLang="en-US" sz="2800" dirty="0">
                <a:latin typeface="Times New Roman" panose="02020603050405020304" pitchFamily="18" charset="0"/>
                <a:ea typeface="微软雅黑" panose="020B0503020204020204" charset="-122"/>
              </a:rPr>
              <a:t>（</a:t>
            </a:r>
            <a:r>
              <a:rPr lang="en-US" altLang="zh-CN" sz="2800" dirty="0">
                <a:latin typeface="Times New Roman" panose="02020603050405020304" pitchFamily="18" charset="0"/>
                <a:ea typeface="微软雅黑" panose="020B0503020204020204" charset="-122"/>
              </a:rPr>
              <a:t>1</a:t>
            </a:r>
            <a:r>
              <a:rPr lang="zh-CN" altLang="en-US" sz="2800" dirty="0">
                <a:latin typeface="Times New Roman" panose="02020603050405020304" pitchFamily="18" charset="0"/>
                <a:ea typeface="微软雅黑" panose="020B0503020204020204" charset="-122"/>
              </a:rPr>
              <a:t>）构建高维空间的局部结构；</a:t>
            </a:r>
          </a:p>
          <a:p>
            <a:pPr indent="0" algn="just" defTabSz="266700" fontAlgn="auto">
              <a:lnSpc>
                <a:spcPct val="125000"/>
              </a:lnSpc>
              <a:spcBef>
                <a:spcPct val="0"/>
              </a:spcBef>
              <a:spcAft>
                <a:spcPct val="0"/>
              </a:spcAft>
            </a:pPr>
            <a:r>
              <a:rPr lang="zh-CN" altLang="en-US" sz="2800" dirty="0">
                <a:latin typeface="Times New Roman" panose="02020603050405020304" pitchFamily="18" charset="0"/>
                <a:ea typeface="微软雅黑" panose="020B0503020204020204" charset="-122"/>
              </a:rPr>
              <a:t>（</a:t>
            </a:r>
            <a:r>
              <a:rPr lang="en-US" altLang="zh-CN" sz="2800" dirty="0">
                <a:latin typeface="Times New Roman" panose="02020603050405020304" pitchFamily="18" charset="0"/>
                <a:ea typeface="微软雅黑" panose="020B0503020204020204" charset="-122"/>
              </a:rPr>
              <a:t>2</a:t>
            </a:r>
            <a:r>
              <a:rPr lang="zh-CN" altLang="en-US" sz="2800" dirty="0">
                <a:latin typeface="Times New Roman" panose="02020603050405020304" pitchFamily="18" charset="0"/>
                <a:ea typeface="微软雅黑" panose="020B0503020204020204" charset="-122"/>
              </a:rPr>
              <a:t>）通过梯度下降算法最优化目标函数，以保持低维空间中数据点的局部关系和全局结构。</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D2444-D8CE-5C5C-57B5-581D26F71E2D}"/>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10057CA-54B3-23C4-7EA1-43E5D5292124}"/>
              </a:ext>
            </a:extLst>
          </p:cNvPr>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 </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UMAP</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算法步骤</a:t>
            </a:r>
          </a:p>
        </p:txBody>
      </p:sp>
      <p:sp>
        <p:nvSpPr>
          <p:cNvPr id="8" name="文本框 7">
            <a:extLst>
              <a:ext uri="{FF2B5EF4-FFF2-40B4-BE49-F238E27FC236}">
                <a16:creationId xmlns:a16="http://schemas.microsoft.com/office/drawing/2014/main" id="{183338FD-B816-A31B-3F68-45569C56441A}"/>
              </a:ext>
            </a:extLst>
          </p:cNvPr>
          <p:cNvSpPr txBox="1"/>
          <p:nvPr/>
        </p:nvSpPr>
        <p:spPr>
          <a:xfrm>
            <a:off x="226036" y="2279316"/>
            <a:ext cx="5467985" cy="826445"/>
          </a:xfrm>
          <a:prstGeom prst="rect">
            <a:avLst/>
          </a:prstGeom>
        </p:spPr>
        <p:txBody>
          <a:bodyPr wrap="square">
            <a:spAutoFit/>
          </a:bodyPr>
          <a:lstStyle/>
          <a:p>
            <a:pPr indent="0" algn="just" defTabSz="266700" fontAlgn="auto">
              <a:lnSpc>
                <a:spcPct val="125000"/>
              </a:lnSpc>
              <a:spcBef>
                <a:spcPct val="0"/>
              </a:spcBef>
              <a:spcAft>
                <a:spcPct val="0"/>
              </a:spcAft>
            </a:pPr>
            <a:r>
              <a:rPr lang="en-US" altLang="zh-CN" sz="2000" dirty="0">
                <a:latin typeface="Times New Roman" panose="02020603050405020304"/>
                <a:ea typeface="微软雅黑" panose="020B0503020204020204" charset="-122"/>
              </a:rPr>
              <a:t>    t-SNE</a:t>
            </a:r>
            <a:r>
              <a:rPr lang="zh-CN" altLang="en-US" sz="2000" dirty="0">
                <a:latin typeface="Times New Roman" panose="02020603050405020304"/>
                <a:ea typeface="微软雅黑" panose="020B0503020204020204" charset="-122"/>
              </a:rPr>
              <a:t>使用</a:t>
            </a:r>
            <a:r>
              <a:rPr lang="en-US" altLang="zh-CN" sz="2000" i="1" dirty="0">
                <a:latin typeface="Times New Roman" panose="02020603050405020304"/>
                <a:ea typeface="微软雅黑" panose="020B0503020204020204" charset="-122"/>
              </a:rPr>
              <a:t>KL</a:t>
            </a:r>
            <a:r>
              <a:rPr lang="zh-CN" altLang="en-US" sz="2000" dirty="0">
                <a:latin typeface="Times New Roman" panose="02020603050405020304"/>
                <a:ea typeface="微软雅黑" panose="020B0503020204020204" charset="-122"/>
              </a:rPr>
              <a:t>散度来度量概率分布之间的相似，其最小化目标函数的目的是：</a:t>
            </a:r>
          </a:p>
        </p:txBody>
      </p:sp>
      <p:graphicFrame>
        <p:nvGraphicFramePr>
          <p:cNvPr id="9" name="对象 -2147482043">
            <a:extLst>
              <a:ext uri="{FF2B5EF4-FFF2-40B4-BE49-F238E27FC236}">
                <a16:creationId xmlns:a16="http://schemas.microsoft.com/office/drawing/2014/main" id="{E6182CC4-3E5E-F336-417D-5525A684DFB8}"/>
              </a:ext>
            </a:extLst>
          </p:cNvPr>
          <p:cNvGraphicFramePr>
            <a:graphicFrameLocks noChangeAspect="1"/>
          </p:cNvGraphicFramePr>
          <p:nvPr>
            <p:extLst>
              <p:ext uri="{D42A27DB-BD31-4B8C-83A1-F6EECF244321}">
                <p14:modId xmlns:p14="http://schemas.microsoft.com/office/powerpoint/2010/main" val="2812766224"/>
              </p:ext>
            </p:extLst>
          </p:nvPr>
        </p:nvGraphicFramePr>
        <p:xfrm>
          <a:off x="695068" y="3204883"/>
          <a:ext cx="637586" cy="709028"/>
        </p:xfrm>
        <a:graphic>
          <a:graphicData uri="http://schemas.openxmlformats.org/presentationml/2006/ole">
            <mc:AlternateContent xmlns:mc="http://schemas.openxmlformats.org/markup-compatibility/2006">
              <mc:Choice xmlns:v="urn:schemas-microsoft-com:vml" Requires="v">
                <p:oleObj r:id="rId4" imgW="228600" imgH="254000" progId="Equation.DSMT4">
                  <p:embed/>
                </p:oleObj>
              </mc:Choice>
              <mc:Fallback>
                <p:oleObj r:id="rId4" imgW="228600" imgH="254000" progId="Equation.DSMT4">
                  <p:embed/>
                  <p:pic>
                    <p:nvPicPr>
                      <p:cNvPr id="9" name="对象 -2147482043"/>
                      <p:cNvPicPr/>
                      <p:nvPr/>
                    </p:nvPicPr>
                    <p:blipFill>
                      <a:blip r:embed="rId5"/>
                      <a:stretch>
                        <a:fillRect/>
                      </a:stretch>
                    </p:blipFill>
                    <p:spPr>
                      <a:xfrm>
                        <a:off x="695068" y="3204883"/>
                        <a:ext cx="637586" cy="709028"/>
                      </a:xfrm>
                      <a:prstGeom prst="rect">
                        <a:avLst/>
                      </a:prstGeom>
                      <a:noFill/>
                      <a:ln w="38100">
                        <a:noFill/>
                        <a:miter/>
                      </a:ln>
                    </p:spPr>
                  </p:pic>
                </p:oleObj>
              </mc:Fallback>
            </mc:AlternateContent>
          </a:graphicData>
        </a:graphic>
      </p:graphicFrame>
      <p:graphicFrame>
        <p:nvGraphicFramePr>
          <p:cNvPr id="12" name="对象 -2147482148">
            <a:extLst>
              <a:ext uri="{FF2B5EF4-FFF2-40B4-BE49-F238E27FC236}">
                <a16:creationId xmlns:a16="http://schemas.microsoft.com/office/drawing/2014/main" id="{6A52D9EC-2E6B-DE2D-3E4D-30EBDC206A87}"/>
              </a:ext>
            </a:extLst>
          </p:cNvPr>
          <p:cNvGraphicFramePr>
            <a:graphicFrameLocks noChangeAspect="1"/>
          </p:cNvGraphicFramePr>
          <p:nvPr>
            <p:extLst>
              <p:ext uri="{D42A27DB-BD31-4B8C-83A1-F6EECF244321}">
                <p14:modId xmlns:p14="http://schemas.microsoft.com/office/powerpoint/2010/main" val="892402612"/>
              </p:ext>
            </p:extLst>
          </p:nvPr>
        </p:nvGraphicFramePr>
        <p:xfrm>
          <a:off x="1517228" y="3204883"/>
          <a:ext cx="637586" cy="735162"/>
        </p:xfrm>
        <a:graphic>
          <a:graphicData uri="http://schemas.openxmlformats.org/presentationml/2006/ole">
            <mc:AlternateContent xmlns:mc="http://schemas.openxmlformats.org/markup-compatibility/2006">
              <mc:Choice xmlns:v="urn:schemas-microsoft-com:vml" Requires="v">
                <p:oleObj r:id="rId6" imgW="215900" imgH="254000" progId="Equation.DSMT4">
                  <p:embed/>
                </p:oleObj>
              </mc:Choice>
              <mc:Fallback>
                <p:oleObj r:id="rId6" imgW="215900" imgH="254000" progId="Equation.DSMT4">
                  <p:embed/>
                  <p:pic>
                    <p:nvPicPr>
                      <p:cNvPr id="12" name="对象 -2147482148"/>
                      <p:cNvPicPr/>
                      <p:nvPr/>
                    </p:nvPicPr>
                    <p:blipFill>
                      <a:blip r:embed="rId7"/>
                      <a:stretch>
                        <a:fillRect/>
                      </a:stretch>
                    </p:blipFill>
                    <p:spPr>
                      <a:xfrm>
                        <a:off x="1517228" y="3204883"/>
                        <a:ext cx="637586" cy="735162"/>
                      </a:xfrm>
                      <a:prstGeom prst="rect">
                        <a:avLst/>
                      </a:prstGeom>
                      <a:noFill/>
                      <a:ln w="38100">
                        <a:noFill/>
                        <a:miter/>
                      </a:ln>
                    </p:spPr>
                  </p:pic>
                </p:oleObj>
              </mc:Fallback>
            </mc:AlternateContent>
          </a:graphicData>
        </a:graphic>
      </p:graphicFrame>
      <p:sp>
        <p:nvSpPr>
          <p:cNvPr id="10" name="文本框 9">
            <a:extLst>
              <a:ext uri="{FF2B5EF4-FFF2-40B4-BE49-F238E27FC236}">
                <a16:creationId xmlns:a16="http://schemas.microsoft.com/office/drawing/2014/main" id="{060BC3B9-D180-5FCB-FF7E-24883031ECEC}"/>
              </a:ext>
            </a:extLst>
          </p:cNvPr>
          <p:cNvSpPr txBox="1"/>
          <p:nvPr/>
        </p:nvSpPr>
        <p:spPr>
          <a:xfrm>
            <a:off x="3148624" y="3424269"/>
            <a:ext cx="1315085" cy="398780"/>
          </a:xfrm>
          <a:prstGeom prst="rect">
            <a:avLst/>
          </a:prstGeom>
        </p:spPr>
        <p:txBody>
          <a:bodyPr wrap="square">
            <a:spAutoFit/>
          </a:bodyPr>
          <a:lstStyle/>
          <a:p>
            <a:pPr algn="just" defTabSz="266700">
              <a:lnSpc>
                <a:spcPct val="125000"/>
              </a:lnSpc>
              <a:buClrTx/>
              <a:buSzTx/>
              <a:buFontTx/>
            </a:pPr>
            <a:r>
              <a:rPr lang="en-US" altLang="zh-CN" sz="1600">
                <a:latin typeface="Times New Roman" panose="02020603050405020304"/>
                <a:ea typeface="微软雅黑" panose="020B0503020204020204" charset="-122"/>
              </a:rPr>
              <a:t>尽可能接近</a:t>
            </a:r>
          </a:p>
        </p:txBody>
      </p:sp>
      <p:sp>
        <p:nvSpPr>
          <p:cNvPr id="11" name="右箭头 10">
            <a:extLst>
              <a:ext uri="{FF2B5EF4-FFF2-40B4-BE49-F238E27FC236}">
                <a16:creationId xmlns:a16="http://schemas.microsoft.com/office/drawing/2014/main" id="{41E006DD-F44B-1C1C-5855-F768F7DADDE6}"/>
              </a:ext>
            </a:extLst>
          </p:cNvPr>
          <p:cNvSpPr/>
          <p:nvPr/>
        </p:nvSpPr>
        <p:spPr>
          <a:xfrm>
            <a:off x="2382179" y="3533489"/>
            <a:ext cx="577850" cy="216535"/>
          </a:xfrm>
          <a:prstGeom prst="rightArrow">
            <a:avLst/>
          </a:prstGeom>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0C3CF719-15FE-C92D-9CA4-9CB6DA48BBA2}"/>
              </a:ext>
            </a:extLst>
          </p:cNvPr>
          <p:cNvSpPr txBox="1"/>
          <p:nvPr/>
        </p:nvSpPr>
        <p:spPr>
          <a:xfrm>
            <a:off x="6222301" y="1898855"/>
            <a:ext cx="4898583" cy="3731086"/>
          </a:xfrm>
          <a:prstGeom prst="rect">
            <a:avLst/>
          </a:prstGeom>
        </p:spPr>
        <p:txBody>
          <a:bodyPr wrap="square">
            <a:spAutoFit/>
          </a:bodyPr>
          <a:lstStyle/>
          <a:p>
            <a:pPr indent="0" algn="just" defTabSz="266700" fontAlgn="auto">
              <a:lnSpc>
                <a:spcPct val="150000"/>
              </a:lnSpc>
              <a:spcBef>
                <a:spcPct val="0"/>
              </a:spcBef>
              <a:spcAft>
                <a:spcPct val="0"/>
              </a:spcAft>
            </a:pPr>
            <a:r>
              <a:rPr lang="zh-CN" altLang="en-US" sz="2000" dirty="0">
                <a:solidFill>
                  <a:schemeClr val="tx1"/>
                </a:solidFill>
                <a:uFillTx/>
                <a:latin typeface="Times New Roman" panose="02020603050405020304"/>
                <a:ea typeface="微软雅黑" panose="020B0503020204020204" charset="-122"/>
              </a:rPr>
              <a:t>    当高维空间中两个数据点距离较近，映射到低维空间后距离较远时，将得到一个很高的惩罚值；但如果高维空间中两个数据点距离较远，映射到低维空间距离较近时，惩罚值反而很低。因此，为进一步改进对数据点局部结构的描述，</a:t>
            </a:r>
            <a:r>
              <a:rPr lang="en-US" altLang="zh-CN" sz="2000" dirty="0">
                <a:solidFill>
                  <a:schemeClr val="tx1"/>
                </a:solidFill>
                <a:uFillTx/>
                <a:latin typeface="Times New Roman" panose="02020603050405020304"/>
                <a:ea typeface="微软雅黑" panose="020B0503020204020204" charset="-122"/>
              </a:rPr>
              <a:t>UMAP</a:t>
            </a:r>
            <a:r>
              <a:rPr lang="zh-CN" altLang="en-US" sz="2000" dirty="0">
                <a:solidFill>
                  <a:schemeClr val="tx1"/>
                </a:solidFill>
                <a:uFillTx/>
                <a:latin typeface="Times New Roman" panose="02020603050405020304"/>
                <a:ea typeface="微软雅黑" panose="020B0503020204020204" charset="-122"/>
              </a:rPr>
              <a:t>算法构造了新的目标函数以度量两个概率分布之间相似性。</a:t>
            </a:r>
          </a:p>
        </p:txBody>
      </p:sp>
      <p:graphicFrame>
        <p:nvGraphicFramePr>
          <p:cNvPr id="19" name="对象 -2147482147">
            <a:extLst>
              <a:ext uri="{FF2B5EF4-FFF2-40B4-BE49-F238E27FC236}">
                <a16:creationId xmlns:a16="http://schemas.microsoft.com/office/drawing/2014/main" id="{CD6D5F97-D2EB-BB42-D357-7E559EC57BA0}"/>
              </a:ext>
            </a:extLst>
          </p:cNvPr>
          <p:cNvGraphicFramePr>
            <a:graphicFrameLocks noChangeAspect="1"/>
          </p:cNvGraphicFramePr>
          <p:nvPr>
            <p:extLst>
              <p:ext uri="{D42A27DB-BD31-4B8C-83A1-F6EECF244321}">
                <p14:modId xmlns:p14="http://schemas.microsoft.com/office/powerpoint/2010/main" val="4079659334"/>
              </p:ext>
            </p:extLst>
          </p:nvPr>
        </p:nvGraphicFramePr>
        <p:xfrm>
          <a:off x="374407" y="4261667"/>
          <a:ext cx="502012" cy="557791"/>
        </p:xfrm>
        <a:graphic>
          <a:graphicData uri="http://schemas.openxmlformats.org/presentationml/2006/ole">
            <mc:AlternateContent xmlns:mc="http://schemas.openxmlformats.org/markup-compatibility/2006">
              <mc:Choice xmlns:v="urn:schemas-microsoft-com:vml" Requires="v">
                <p:oleObj r:id="rId4" imgW="228600" imgH="254000" progId="Equation.DSMT4">
                  <p:embed/>
                </p:oleObj>
              </mc:Choice>
              <mc:Fallback>
                <p:oleObj r:id="rId4" imgW="228600" imgH="254000" progId="Equation.DSMT4">
                  <p:embed/>
                  <p:pic>
                    <p:nvPicPr>
                      <p:cNvPr id="13" name="对象 -2147482147">
                        <a:extLst>
                          <a:ext uri="{FF2B5EF4-FFF2-40B4-BE49-F238E27FC236}">
                            <a16:creationId xmlns:a16="http://schemas.microsoft.com/office/drawing/2014/main" id="{CD6D5F97-D2EB-BB42-D357-7E559EC57BA0}"/>
                          </a:ext>
                        </a:extLst>
                      </p:cNvPr>
                      <p:cNvPicPr/>
                      <p:nvPr/>
                    </p:nvPicPr>
                    <p:blipFill>
                      <a:blip r:embed="rId8"/>
                      <a:stretch>
                        <a:fillRect/>
                      </a:stretch>
                    </p:blipFill>
                    <p:spPr>
                      <a:xfrm>
                        <a:off x="374407" y="4261667"/>
                        <a:ext cx="502012" cy="557791"/>
                      </a:xfrm>
                      <a:prstGeom prst="rect">
                        <a:avLst/>
                      </a:prstGeom>
                      <a:noFill/>
                      <a:ln w="38100">
                        <a:noFill/>
                        <a:miter/>
                      </a:ln>
                    </p:spPr>
                  </p:pic>
                </p:oleObj>
              </mc:Fallback>
            </mc:AlternateContent>
          </a:graphicData>
        </a:graphic>
      </p:graphicFrame>
      <p:graphicFrame>
        <p:nvGraphicFramePr>
          <p:cNvPr id="21" name="对象 -2147482042">
            <a:extLst>
              <a:ext uri="{FF2B5EF4-FFF2-40B4-BE49-F238E27FC236}">
                <a16:creationId xmlns:a16="http://schemas.microsoft.com/office/drawing/2014/main" id="{B906E77C-5562-BF23-F961-3545D9C1EE4E}"/>
              </a:ext>
            </a:extLst>
          </p:cNvPr>
          <p:cNvGraphicFramePr>
            <a:graphicFrameLocks noChangeAspect="1"/>
          </p:cNvGraphicFramePr>
          <p:nvPr>
            <p:extLst>
              <p:ext uri="{D42A27DB-BD31-4B8C-83A1-F6EECF244321}">
                <p14:modId xmlns:p14="http://schemas.microsoft.com/office/powerpoint/2010/main" val="580946355"/>
              </p:ext>
            </p:extLst>
          </p:nvPr>
        </p:nvGraphicFramePr>
        <p:xfrm>
          <a:off x="1624586" y="4264285"/>
          <a:ext cx="483688" cy="557565"/>
        </p:xfrm>
        <a:graphic>
          <a:graphicData uri="http://schemas.openxmlformats.org/presentationml/2006/ole">
            <mc:AlternateContent xmlns:mc="http://schemas.openxmlformats.org/markup-compatibility/2006">
              <mc:Choice xmlns:v="urn:schemas-microsoft-com:vml" Requires="v">
                <p:oleObj r:id="rId9" imgW="215900" imgH="254000" progId="Equation.DSMT4">
                  <p:embed/>
                </p:oleObj>
              </mc:Choice>
              <mc:Fallback>
                <p:oleObj r:id="rId9" imgW="215900" imgH="254000" progId="Equation.DSMT4">
                  <p:embed/>
                  <p:pic>
                    <p:nvPicPr>
                      <p:cNvPr id="18" name="对象 -2147482042">
                        <a:extLst>
                          <a:ext uri="{FF2B5EF4-FFF2-40B4-BE49-F238E27FC236}">
                            <a16:creationId xmlns:a16="http://schemas.microsoft.com/office/drawing/2014/main" id="{B906E77C-5562-BF23-F961-3545D9C1EE4E}"/>
                          </a:ext>
                        </a:extLst>
                      </p:cNvPr>
                      <p:cNvPicPr/>
                      <p:nvPr/>
                    </p:nvPicPr>
                    <p:blipFill>
                      <a:blip r:embed="rId10"/>
                      <a:stretch>
                        <a:fillRect/>
                      </a:stretch>
                    </p:blipFill>
                    <p:spPr>
                      <a:xfrm>
                        <a:off x="1624586" y="4264285"/>
                        <a:ext cx="483688" cy="557565"/>
                      </a:xfrm>
                      <a:prstGeom prst="rect">
                        <a:avLst/>
                      </a:prstGeom>
                      <a:noFill/>
                      <a:ln w="38100">
                        <a:noFill/>
                        <a:miter/>
                      </a:ln>
                    </p:spPr>
                  </p:pic>
                </p:oleObj>
              </mc:Fallback>
            </mc:AlternateContent>
          </a:graphicData>
        </a:graphic>
      </p:graphicFrame>
      <p:sp>
        <p:nvSpPr>
          <p:cNvPr id="23" name="文本框 22">
            <a:extLst>
              <a:ext uri="{FF2B5EF4-FFF2-40B4-BE49-F238E27FC236}">
                <a16:creationId xmlns:a16="http://schemas.microsoft.com/office/drawing/2014/main" id="{23FED46C-2B90-1F62-F5A2-71590195E41D}"/>
              </a:ext>
            </a:extLst>
          </p:cNvPr>
          <p:cNvSpPr txBox="1"/>
          <p:nvPr/>
        </p:nvSpPr>
        <p:spPr>
          <a:xfrm>
            <a:off x="742206" y="4324270"/>
            <a:ext cx="857250" cy="403316"/>
          </a:xfrm>
          <a:prstGeom prst="rect">
            <a:avLst/>
          </a:prstGeom>
        </p:spPr>
        <p:txBody>
          <a:bodyPr wrap="square">
            <a:spAutoFit/>
          </a:bodyPr>
          <a:lstStyle/>
          <a:p>
            <a:pPr marL="0" indent="127000" algn="just" defTabSz="266700">
              <a:lnSpc>
                <a:spcPct val="125000"/>
              </a:lnSpc>
              <a:spcBef>
                <a:spcPct val="0"/>
              </a:spcBef>
              <a:spcAft>
                <a:spcPct val="0"/>
              </a:spcAft>
            </a:pPr>
            <a:r>
              <a:rPr lang="zh-CN" altLang="en-US" dirty="0">
                <a:latin typeface="Times New Roman" panose="02020603050405020304"/>
                <a:ea typeface="宋体" panose="02010600030101010101" pitchFamily="2" charset="-122"/>
              </a:rPr>
              <a:t>较大</a:t>
            </a:r>
          </a:p>
        </p:txBody>
      </p:sp>
      <p:sp>
        <p:nvSpPr>
          <p:cNvPr id="30" name="文本框 29">
            <a:extLst>
              <a:ext uri="{FF2B5EF4-FFF2-40B4-BE49-F238E27FC236}">
                <a16:creationId xmlns:a16="http://schemas.microsoft.com/office/drawing/2014/main" id="{5837D494-2D6F-5DB7-5598-E3C7982D159A}"/>
              </a:ext>
            </a:extLst>
          </p:cNvPr>
          <p:cNvSpPr txBox="1"/>
          <p:nvPr/>
        </p:nvSpPr>
        <p:spPr>
          <a:xfrm>
            <a:off x="1967255" y="4359531"/>
            <a:ext cx="857250" cy="403316"/>
          </a:xfrm>
          <a:prstGeom prst="rect">
            <a:avLst/>
          </a:prstGeom>
        </p:spPr>
        <p:txBody>
          <a:bodyPr wrap="square">
            <a:spAutoFit/>
          </a:bodyPr>
          <a:lstStyle/>
          <a:p>
            <a:pPr marL="0" indent="127000" algn="just" defTabSz="266700">
              <a:lnSpc>
                <a:spcPct val="125000"/>
              </a:lnSpc>
              <a:spcBef>
                <a:spcPct val="0"/>
              </a:spcBef>
              <a:spcAft>
                <a:spcPct val="0"/>
              </a:spcAft>
            </a:pPr>
            <a:r>
              <a:rPr lang="zh-CN" altLang="en-US" dirty="0">
                <a:latin typeface="Times New Roman" panose="02020603050405020304"/>
                <a:ea typeface="宋体" panose="02010600030101010101" pitchFamily="2" charset="-122"/>
              </a:rPr>
              <a:t>较小</a:t>
            </a:r>
          </a:p>
        </p:txBody>
      </p:sp>
      <p:sp>
        <p:nvSpPr>
          <p:cNvPr id="31" name="文本框 30">
            <a:extLst>
              <a:ext uri="{FF2B5EF4-FFF2-40B4-BE49-F238E27FC236}">
                <a16:creationId xmlns:a16="http://schemas.microsoft.com/office/drawing/2014/main" id="{6720AB29-25B6-573B-0ED3-DAAF9A4997AE}"/>
              </a:ext>
            </a:extLst>
          </p:cNvPr>
          <p:cNvSpPr txBox="1"/>
          <p:nvPr/>
        </p:nvSpPr>
        <p:spPr>
          <a:xfrm>
            <a:off x="3738183" y="4313886"/>
            <a:ext cx="1590675" cy="406778"/>
          </a:xfrm>
          <a:prstGeom prst="rect">
            <a:avLst/>
          </a:prstGeom>
        </p:spPr>
        <p:txBody>
          <a:bodyPr wrap="square">
            <a:spAutoFit/>
          </a:bodyPr>
          <a:lstStyle/>
          <a:p>
            <a:pPr algn="just" defTabSz="266700">
              <a:lnSpc>
                <a:spcPct val="125000"/>
              </a:lnSpc>
              <a:buClrTx/>
              <a:buSzTx/>
              <a:buFontTx/>
            </a:pPr>
            <a:r>
              <a:rPr lang="zh-CN" altLang="en-US" dirty="0">
                <a:latin typeface="Times New Roman" panose="02020603050405020304"/>
                <a:ea typeface="微软雅黑" panose="020B0503020204020204" charset="-122"/>
              </a:rPr>
              <a:t>目标函数值高</a:t>
            </a:r>
          </a:p>
        </p:txBody>
      </p:sp>
      <p:sp>
        <p:nvSpPr>
          <p:cNvPr id="32" name="右箭头 16">
            <a:extLst>
              <a:ext uri="{FF2B5EF4-FFF2-40B4-BE49-F238E27FC236}">
                <a16:creationId xmlns:a16="http://schemas.microsoft.com/office/drawing/2014/main" id="{8774F7BD-3CB0-B788-DA67-2D3D7280F223}"/>
              </a:ext>
            </a:extLst>
          </p:cNvPr>
          <p:cNvSpPr/>
          <p:nvPr>
            <p:custDataLst>
              <p:tags r:id="rId1"/>
            </p:custDataLst>
          </p:nvPr>
        </p:nvSpPr>
        <p:spPr>
          <a:xfrm>
            <a:off x="2971738" y="4423106"/>
            <a:ext cx="577850" cy="216535"/>
          </a:xfrm>
          <a:prstGeom prst="rightArrow">
            <a:avLst/>
          </a:prstGeom>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graphicFrame>
        <p:nvGraphicFramePr>
          <p:cNvPr id="33" name="对象 -2147482147">
            <a:extLst>
              <a:ext uri="{FF2B5EF4-FFF2-40B4-BE49-F238E27FC236}">
                <a16:creationId xmlns:a16="http://schemas.microsoft.com/office/drawing/2014/main" id="{A32C4F3E-C711-737E-167E-A29CDE8F28E3}"/>
              </a:ext>
            </a:extLst>
          </p:cNvPr>
          <p:cNvGraphicFramePr>
            <a:graphicFrameLocks noChangeAspect="1"/>
          </p:cNvGraphicFramePr>
          <p:nvPr>
            <p:extLst>
              <p:ext uri="{D42A27DB-BD31-4B8C-83A1-F6EECF244321}">
                <p14:modId xmlns:p14="http://schemas.microsoft.com/office/powerpoint/2010/main" val="3275403904"/>
              </p:ext>
            </p:extLst>
          </p:nvPr>
        </p:nvGraphicFramePr>
        <p:xfrm>
          <a:off x="372661" y="4843475"/>
          <a:ext cx="502012" cy="557791"/>
        </p:xfrm>
        <a:graphic>
          <a:graphicData uri="http://schemas.openxmlformats.org/presentationml/2006/ole">
            <mc:AlternateContent xmlns:mc="http://schemas.openxmlformats.org/markup-compatibility/2006">
              <mc:Choice xmlns:v="urn:schemas-microsoft-com:vml" Requires="v">
                <p:oleObj r:id="rId11" imgW="228600" imgH="254000" progId="Equation.DSMT4">
                  <p:embed/>
                </p:oleObj>
              </mc:Choice>
              <mc:Fallback>
                <p:oleObj r:id="rId11" imgW="228600" imgH="254000" progId="Equation.DSMT4">
                  <p:embed/>
                  <p:pic>
                    <p:nvPicPr>
                      <p:cNvPr id="20" name="对象 -2147482147">
                        <a:extLst>
                          <a:ext uri="{FF2B5EF4-FFF2-40B4-BE49-F238E27FC236}">
                            <a16:creationId xmlns:a16="http://schemas.microsoft.com/office/drawing/2014/main" id="{A32C4F3E-C711-737E-167E-A29CDE8F28E3}"/>
                          </a:ext>
                        </a:extLst>
                      </p:cNvPr>
                      <p:cNvPicPr/>
                      <p:nvPr/>
                    </p:nvPicPr>
                    <p:blipFill>
                      <a:blip r:embed="rId8"/>
                      <a:stretch>
                        <a:fillRect/>
                      </a:stretch>
                    </p:blipFill>
                    <p:spPr>
                      <a:xfrm>
                        <a:off x="372661" y="4843475"/>
                        <a:ext cx="502012" cy="557791"/>
                      </a:xfrm>
                      <a:prstGeom prst="rect">
                        <a:avLst/>
                      </a:prstGeom>
                      <a:noFill/>
                      <a:ln w="38100">
                        <a:noFill/>
                        <a:miter/>
                      </a:ln>
                    </p:spPr>
                  </p:pic>
                </p:oleObj>
              </mc:Fallback>
            </mc:AlternateContent>
          </a:graphicData>
        </a:graphic>
      </p:graphicFrame>
      <p:graphicFrame>
        <p:nvGraphicFramePr>
          <p:cNvPr id="34" name="对象 -2147482042">
            <a:extLst>
              <a:ext uri="{FF2B5EF4-FFF2-40B4-BE49-F238E27FC236}">
                <a16:creationId xmlns:a16="http://schemas.microsoft.com/office/drawing/2014/main" id="{E6B0D594-3FEB-CCF2-447A-7AE75EC42709}"/>
              </a:ext>
            </a:extLst>
          </p:cNvPr>
          <p:cNvGraphicFramePr>
            <a:graphicFrameLocks noChangeAspect="1"/>
          </p:cNvGraphicFramePr>
          <p:nvPr>
            <p:extLst>
              <p:ext uri="{D42A27DB-BD31-4B8C-83A1-F6EECF244321}">
                <p14:modId xmlns:p14="http://schemas.microsoft.com/office/powerpoint/2010/main" val="3706368476"/>
              </p:ext>
            </p:extLst>
          </p:nvPr>
        </p:nvGraphicFramePr>
        <p:xfrm>
          <a:off x="1638733" y="4843475"/>
          <a:ext cx="455781" cy="557565"/>
        </p:xfrm>
        <a:graphic>
          <a:graphicData uri="http://schemas.openxmlformats.org/presentationml/2006/ole">
            <mc:AlternateContent xmlns:mc="http://schemas.openxmlformats.org/markup-compatibility/2006">
              <mc:Choice xmlns:v="urn:schemas-microsoft-com:vml" Requires="v">
                <p:oleObj r:id="rId12" imgW="215900" imgH="254000" progId="Equation.DSMT4">
                  <p:embed/>
                </p:oleObj>
              </mc:Choice>
              <mc:Fallback>
                <p:oleObj r:id="rId12" imgW="215900" imgH="254000" progId="Equation.DSMT4">
                  <p:embed/>
                  <p:pic>
                    <p:nvPicPr>
                      <p:cNvPr id="22" name="对象 -2147482042">
                        <a:extLst>
                          <a:ext uri="{FF2B5EF4-FFF2-40B4-BE49-F238E27FC236}">
                            <a16:creationId xmlns:a16="http://schemas.microsoft.com/office/drawing/2014/main" id="{E6B0D594-3FEB-CCF2-447A-7AE75EC42709}"/>
                          </a:ext>
                        </a:extLst>
                      </p:cNvPr>
                      <p:cNvPicPr/>
                      <p:nvPr/>
                    </p:nvPicPr>
                    <p:blipFill>
                      <a:blip r:embed="rId10"/>
                      <a:stretch>
                        <a:fillRect/>
                      </a:stretch>
                    </p:blipFill>
                    <p:spPr>
                      <a:xfrm>
                        <a:off x="1638733" y="4843475"/>
                        <a:ext cx="455781" cy="557565"/>
                      </a:xfrm>
                      <a:prstGeom prst="rect">
                        <a:avLst/>
                      </a:prstGeom>
                      <a:noFill/>
                      <a:ln w="38100">
                        <a:noFill/>
                        <a:miter/>
                      </a:ln>
                    </p:spPr>
                  </p:pic>
                </p:oleObj>
              </mc:Fallback>
            </mc:AlternateContent>
          </a:graphicData>
        </a:graphic>
      </p:graphicFrame>
      <p:sp>
        <p:nvSpPr>
          <p:cNvPr id="35" name="文本框 34">
            <a:extLst>
              <a:ext uri="{FF2B5EF4-FFF2-40B4-BE49-F238E27FC236}">
                <a16:creationId xmlns:a16="http://schemas.microsoft.com/office/drawing/2014/main" id="{BE8709AB-3E52-9270-66A9-008E9564B418}"/>
              </a:ext>
            </a:extLst>
          </p:cNvPr>
          <p:cNvSpPr txBox="1"/>
          <p:nvPr/>
        </p:nvSpPr>
        <p:spPr>
          <a:xfrm>
            <a:off x="767336" y="4965556"/>
            <a:ext cx="857250" cy="403316"/>
          </a:xfrm>
          <a:prstGeom prst="rect">
            <a:avLst/>
          </a:prstGeom>
        </p:spPr>
        <p:txBody>
          <a:bodyPr wrap="square">
            <a:spAutoFit/>
          </a:bodyPr>
          <a:lstStyle/>
          <a:p>
            <a:pPr marL="0" indent="127000" algn="just" defTabSz="266700">
              <a:lnSpc>
                <a:spcPct val="125000"/>
              </a:lnSpc>
              <a:spcBef>
                <a:spcPct val="0"/>
              </a:spcBef>
              <a:spcAft>
                <a:spcPct val="0"/>
              </a:spcAft>
            </a:pPr>
            <a:r>
              <a:rPr lang="zh-CN" altLang="en-US" dirty="0">
                <a:latin typeface="Times New Roman" panose="02020603050405020304"/>
                <a:ea typeface="宋体" panose="02010600030101010101" pitchFamily="2" charset="-122"/>
              </a:rPr>
              <a:t>较小</a:t>
            </a:r>
          </a:p>
        </p:txBody>
      </p:sp>
      <p:sp>
        <p:nvSpPr>
          <p:cNvPr id="36" name="文本框 35">
            <a:extLst>
              <a:ext uri="{FF2B5EF4-FFF2-40B4-BE49-F238E27FC236}">
                <a16:creationId xmlns:a16="http://schemas.microsoft.com/office/drawing/2014/main" id="{3F92E11B-5E1C-A8F0-13DD-2552F1C34364}"/>
              </a:ext>
            </a:extLst>
          </p:cNvPr>
          <p:cNvSpPr txBox="1"/>
          <p:nvPr/>
        </p:nvSpPr>
        <p:spPr>
          <a:xfrm>
            <a:off x="1987488" y="4992312"/>
            <a:ext cx="857250" cy="403316"/>
          </a:xfrm>
          <a:prstGeom prst="rect">
            <a:avLst/>
          </a:prstGeom>
        </p:spPr>
        <p:txBody>
          <a:bodyPr wrap="square">
            <a:spAutoFit/>
          </a:bodyPr>
          <a:lstStyle/>
          <a:p>
            <a:pPr marL="0" indent="127000" algn="just" defTabSz="266700">
              <a:lnSpc>
                <a:spcPct val="125000"/>
              </a:lnSpc>
              <a:spcBef>
                <a:spcPct val="0"/>
              </a:spcBef>
              <a:spcAft>
                <a:spcPct val="0"/>
              </a:spcAft>
            </a:pPr>
            <a:r>
              <a:rPr lang="zh-CN" altLang="en-US" dirty="0">
                <a:latin typeface="Times New Roman" panose="02020603050405020304"/>
                <a:ea typeface="宋体" panose="02010600030101010101" pitchFamily="2" charset="-122"/>
              </a:rPr>
              <a:t>较大</a:t>
            </a:r>
          </a:p>
        </p:txBody>
      </p:sp>
      <p:sp>
        <p:nvSpPr>
          <p:cNvPr id="37" name="文本框 36">
            <a:extLst>
              <a:ext uri="{FF2B5EF4-FFF2-40B4-BE49-F238E27FC236}">
                <a16:creationId xmlns:a16="http://schemas.microsoft.com/office/drawing/2014/main" id="{8A443DA7-35DA-24F5-CFBD-5F868844185F}"/>
              </a:ext>
            </a:extLst>
          </p:cNvPr>
          <p:cNvSpPr txBox="1"/>
          <p:nvPr/>
        </p:nvSpPr>
        <p:spPr>
          <a:xfrm>
            <a:off x="3738182" y="4988850"/>
            <a:ext cx="1590675" cy="406778"/>
          </a:xfrm>
          <a:prstGeom prst="rect">
            <a:avLst/>
          </a:prstGeom>
        </p:spPr>
        <p:txBody>
          <a:bodyPr wrap="square">
            <a:spAutoFit/>
          </a:bodyPr>
          <a:lstStyle/>
          <a:p>
            <a:pPr algn="just" defTabSz="266700">
              <a:lnSpc>
                <a:spcPct val="125000"/>
              </a:lnSpc>
              <a:buClrTx/>
              <a:buSzTx/>
              <a:buFontTx/>
            </a:pPr>
            <a:r>
              <a:rPr lang="zh-CN" altLang="en-US" dirty="0">
                <a:latin typeface="Times New Roman" panose="02020603050405020304"/>
                <a:ea typeface="微软雅黑" panose="020B0503020204020204" charset="-122"/>
              </a:rPr>
              <a:t>目标函数值低</a:t>
            </a:r>
          </a:p>
        </p:txBody>
      </p:sp>
      <p:sp>
        <p:nvSpPr>
          <p:cNvPr id="38" name="右箭头 26">
            <a:extLst>
              <a:ext uri="{FF2B5EF4-FFF2-40B4-BE49-F238E27FC236}">
                <a16:creationId xmlns:a16="http://schemas.microsoft.com/office/drawing/2014/main" id="{7C270036-D557-385C-2503-21E9F394F24C}"/>
              </a:ext>
            </a:extLst>
          </p:cNvPr>
          <p:cNvSpPr/>
          <p:nvPr/>
        </p:nvSpPr>
        <p:spPr>
          <a:xfrm>
            <a:off x="2965570" y="5105354"/>
            <a:ext cx="577850" cy="216535"/>
          </a:xfrm>
          <a:prstGeom prst="rightArrow">
            <a:avLst/>
          </a:prstGeom>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3905617887"/>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 </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UMAP</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公式推导</a:t>
            </a:r>
          </a:p>
        </p:txBody>
      </p:sp>
      <p:pic>
        <p:nvPicPr>
          <p:cNvPr id="4" name="图片 3"/>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717755" y="1801335"/>
            <a:ext cx="11028746" cy="1819320"/>
          </a:xfrm>
          <a:prstGeom prst="rect">
            <a:avLst/>
          </a:prstGeom>
        </p:spPr>
      </p:pic>
      <p:graphicFrame>
        <p:nvGraphicFramePr>
          <p:cNvPr id="6" name="对象 -2147482046"/>
          <p:cNvGraphicFramePr>
            <a:graphicFrameLocks noChangeAspect="1"/>
          </p:cNvGraphicFramePr>
          <p:nvPr>
            <p:extLst>
              <p:ext uri="{D42A27DB-BD31-4B8C-83A1-F6EECF244321}">
                <p14:modId xmlns:p14="http://schemas.microsoft.com/office/powerpoint/2010/main" val="4017623498"/>
              </p:ext>
            </p:extLst>
          </p:nvPr>
        </p:nvGraphicFramePr>
        <p:xfrm>
          <a:off x="3277870" y="3852099"/>
          <a:ext cx="5061108" cy="675232"/>
        </p:xfrm>
        <a:graphic>
          <a:graphicData uri="http://schemas.openxmlformats.org/presentationml/2006/ole">
            <mc:AlternateContent xmlns:mc="http://schemas.openxmlformats.org/markup-compatibility/2006">
              <mc:Choice xmlns:v="urn:schemas-microsoft-com:vml" Requires="v">
                <p:oleObj r:id="rId4" imgW="2565400" imgH="304800" progId="Equation.DSMT4">
                  <p:embed/>
                </p:oleObj>
              </mc:Choice>
              <mc:Fallback>
                <p:oleObj r:id="rId4" imgW="2565400" imgH="304800" progId="Equation.DSMT4">
                  <p:embed/>
                  <p:pic>
                    <p:nvPicPr>
                      <p:cNvPr id="0" name="图片 3075"/>
                      <p:cNvPicPr/>
                      <p:nvPr/>
                    </p:nvPicPr>
                    <p:blipFill>
                      <a:blip r:embed="rId5"/>
                      <a:stretch>
                        <a:fillRect/>
                      </a:stretch>
                    </p:blipFill>
                    <p:spPr>
                      <a:xfrm>
                        <a:off x="3277870" y="3852099"/>
                        <a:ext cx="5061108" cy="675232"/>
                      </a:xfrm>
                      <a:prstGeom prst="rect">
                        <a:avLst/>
                      </a:prstGeom>
                      <a:noFill/>
                      <a:ln w="38100">
                        <a:noFill/>
                        <a:miter/>
                      </a:ln>
                    </p:spPr>
                  </p:pic>
                </p:oleObj>
              </mc:Fallback>
            </mc:AlternateContent>
          </a:graphicData>
        </a:graphic>
      </p:graphicFrame>
      <p:pic>
        <p:nvPicPr>
          <p:cNvPr id="5" name="图片 4"/>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856301" y="4791368"/>
            <a:ext cx="10361620" cy="1101432"/>
          </a:xfrm>
          <a:prstGeom prst="rect">
            <a:avLst/>
          </a:prstGeom>
        </p:spPr>
      </p:pic>
      <p:graphicFrame>
        <p:nvGraphicFramePr>
          <p:cNvPr id="8" name="对象 -2147482128"/>
          <p:cNvGraphicFramePr>
            <a:graphicFrameLocks noChangeAspect="1"/>
          </p:cNvGraphicFramePr>
          <p:nvPr>
            <p:extLst>
              <p:ext uri="{D42A27DB-BD31-4B8C-83A1-F6EECF244321}">
                <p14:modId xmlns:p14="http://schemas.microsoft.com/office/powerpoint/2010/main" val="2606031025"/>
              </p:ext>
            </p:extLst>
          </p:nvPr>
        </p:nvGraphicFramePr>
        <p:xfrm>
          <a:off x="4171891" y="5756568"/>
          <a:ext cx="2753581" cy="1101432"/>
        </p:xfrm>
        <a:graphic>
          <a:graphicData uri="http://schemas.openxmlformats.org/presentationml/2006/ole">
            <mc:AlternateContent xmlns:mc="http://schemas.openxmlformats.org/markup-compatibility/2006">
              <mc:Choice xmlns:v="urn:schemas-microsoft-com:vml" Requires="v">
                <p:oleObj r:id="rId7" imgW="1016000" imgH="405765" progId="Equation.DSMT4">
                  <p:embed/>
                </p:oleObj>
              </mc:Choice>
              <mc:Fallback>
                <p:oleObj r:id="rId7" imgW="1016000" imgH="405765" progId="Equation.DSMT4">
                  <p:embed/>
                  <p:pic>
                    <p:nvPicPr>
                      <p:cNvPr id="0" name="图片 5"/>
                      <p:cNvPicPr/>
                      <p:nvPr/>
                    </p:nvPicPr>
                    <p:blipFill>
                      <a:blip r:embed="rId8"/>
                      <a:stretch>
                        <a:fillRect/>
                      </a:stretch>
                    </p:blipFill>
                    <p:spPr>
                      <a:xfrm>
                        <a:off x="4171891" y="5756568"/>
                        <a:ext cx="2753581" cy="1101432"/>
                      </a:xfrm>
                      <a:prstGeom prst="rect">
                        <a:avLst/>
                      </a:prstGeom>
                      <a:noFill/>
                      <a:ln w="38100">
                        <a:noFill/>
                        <a:miter/>
                      </a:ln>
                    </p:spPr>
                  </p:pic>
                </p:oleObj>
              </mc:Fallback>
            </mc:AlternateContent>
          </a:graphicData>
        </a:graphic>
      </p:graphicFrame>
      <p:sp>
        <p:nvSpPr>
          <p:cNvPr id="14" name="文本框 13"/>
          <p:cNvSpPr txBox="1"/>
          <p:nvPr/>
        </p:nvSpPr>
        <p:spPr>
          <a:xfrm>
            <a:off x="564789" y="1040839"/>
            <a:ext cx="5080000" cy="511615"/>
          </a:xfrm>
          <a:prstGeom prst="rect">
            <a:avLst/>
          </a:prstGeom>
        </p:spPr>
        <p:txBody>
          <a:bodyPr>
            <a:spAutoFit/>
          </a:bodyPr>
          <a:lstStyle/>
          <a:p>
            <a:pPr algn="just" defTabSz="266700">
              <a:lnSpc>
                <a:spcPct val="125000"/>
              </a:lnSpc>
              <a:spcBef>
                <a:spcPct val="0"/>
              </a:spcBef>
              <a:spcAft>
                <a:spcPct val="0"/>
              </a:spcAft>
            </a:pPr>
            <a:r>
              <a:rPr lang="zh-CN" altLang="en-US" sz="2400" b="1" dirty="0">
                <a:solidFill>
                  <a:schemeClr val="tx1"/>
                </a:solidFill>
                <a:uFillTx/>
                <a:latin typeface="Times New Roman" panose="02020603050405020304"/>
                <a:ea typeface="微软雅黑" panose="020B0503020204020204" charset="-122"/>
              </a:rPr>
              <a:t>构造高维空间的条件概率分布函数</a:t>
            </a:r>
            <a:r>
              <a:rPr lang="en-US" altLang="zh-CN" sz="2400" b="1" i="1" dirty="0">
                <a:solidFill>
                  <a:schemeClr val="tx1"/>
                </a:solidFill>
                <a:uFillTx/>
                <a:latin typeface="Times New Roman" panose="02020603050405020304"/>
                <a:ea typeface="微软雅黑" panose="020B0503020204020204" charset="-122"/>
              </a:rPr>
              <a:t>P</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444D7-B5F7-4232-5231-F4AC9F3D2EF4}"/>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97BF93F6-47DB-268B-08BF-841ED3B4C3A9}"/>
              </a:ext>
            </a:extLst>
          </p:cNvPr>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 </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UMAP</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公式推导</a:t>
            </a:r>
          </a:p>
        </p:txBody>
      </p:sp>
      <p:graphicFrame>
        <p:nvGraphicFramePr>
          <p:cNvPr id="9" name="对象 -2147482115">
            <a:extLst>
              <a:ext uri="{FF2B5EF4-FFF2-40B4-BE49-F238E27FC236}">
                <a16:creationId xmlns:a16="http://schemas.microsoft.com/office/drawing/2014/main" id="{4A4F6566-6CBE-EE9F-77D6-8517E1723CD0}"/>
              </a:ext>
            </a:extLst>
          </p:cNvPr>
          <p:cNvGraphicFramePr>
            <a:graphicFrameLocks noChangeAspect="1"/>
          </p:cNvGraphicFramePr>
          <p:nvPr>
            <p:extLst>
              <p:ext uri="{D42A27DB-BD31-4B8C-83A1-F6EECF244321}">
                <p14:modId xmlns:p14="http://schemas.microsoft.com/office/powerpoint/2010/main" val="4096248724"/>
              </p:ext>
            </p:extLst>
          </p:nvPr>
        </p:nvGraphicFramePr>
        <p:xfrm>
          <a:off x="4799387" y="3229246"/>
          <a:ext cx="3285079" cy="874012"/>
        </p:xfrm>
        <a:graphic>
          <a:graphicData uri="http://schemas.openxmlformats.org/presentationml/2006/ole">
            <mc:AlternateContent xmlns:mc="http://schemas.openxmlformats.org/markup-compatibility/2006">
              <mc:Choice xmlns:v="urn:schemas-microsoft-com:vml" Requires="v">
                <p:oleObj r:id="rId3" imgW="1587500" imgH="419100" progId="Equation.DSMT4">
                  <p:embed/>
                </p:oleObj>
              </mc:Choice>
              <mc:Fallback>
                <p:oleObj r:id="rId3" imgW="1587500" imgH="419100" progId="Equation.DSMT4">
                  <p:embed/>
                  <p:pic>
                    <p:nvPicPr>
                      <p:cNvPr id="9" name="对象 -2147482115"/>
                      <p:cNvPicPr/>
                      <p:nvPr/>
                    </p:nvPicPr>
                    <p:blipFill>
                      <a:blip r:embed="rId4"/>
                      <a:stretch>
                        <a:fillRect/>
                      </a:stretch>
                    </p:blipFill>
                    <p:spPr>
                      <a:xfrm>
                        <a:off x="4799387" y="3229246"/>
                        <a:ext cx="3285079" cy="874012"/>
                      </a:xfrm>
                      <a:prstGeom prst="rect">
                        <a:avLst/>
                      </a:prstGeom>
                      <a:noFill/>
                      <a:ln w="38100">
                        <a:noFill/>
                        <a:miter/>
                      </a:ln>
                    </p:spPr>
                  </p:pic>
                </p:oleObj>
              </mc:Fallback>
            </mc:AlternateContent>
          </a:graphicData>
        </a:graphic>
      </p:graphicFrame>
      <p:pic>
        <p:nvPicPr>
          <p:cNvPr id="10" name="图片 9">
            <a:extLst>
              <a:ext uri="{FF2B5EF4-FFF2-40B4-BE49-F238E27FC236}">
                <a16:creationId xmlns:a16="http://schemas.microsoft.com/office/drawing/2014/main" id="{A50FF7FD-5E28-341E-5AD1-698D94F8CC14}"/>
              </a:ext>
            </a:extLst>
          </p:cNvPr>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1315946" y="4298092"/>
            <a:ext cx="9162915" cy="1457465"/>
          </a:xfrm>
          <a:prstGeom prst="rect">
            <a:avLst/>
          </a:prstGeom>
        </p:spPr>
      </p:pic>
      <p:pic>
        <p:nvPicPr>
          <p:cNvPr id="11" name="图片 10">
            <a:extLst>
              <a:ext uri="{FF2B5EF4-FFF2-40B4-BE49-F238E27FC236}">
                <a16:creationId xmlns:a16="http://schemas.microsoft.com/office/drawing/2014/main" id="{528F6865-1DEC-3BA5-611E-933CCB073C1B}"/>
              </a:ext>
            </a:extLst>
          </p:cNvPr>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1159964" y="1183920"/>
            <a:ext cx="9240182" cy="1998513"/>
          </a:xfrm>
          <a:prstGeom prst="rect">
            <a:avLst/>
          </a:prstGeom>
        </p:spPr>
      </p:pic>
      <p:graphicFrame>
        <p:nvGraphicFramePr>
          <p:cNvPr id="12" name="对象 -2147482107">
            <a:extLst>
              <a:ext uri="{FF2B5EF4-FFF2-40B4-BE49-F238E27FC236}">
                <a16:creationId xmlns:a16="http://schemas.microsoft.com/office/drawing/2014/main" id="{764312EF-702E-71FD-8939-5570432003CD}"/>
              </a:ext>
            </a:extLst>
          </p:cNvPr>
          <p:cNvGraphicFramePr>
            <a:graphicFrameLocks noChangeAspect="1"/>
          </p:cNvGraphicFramePr>
          <p:nvPr>
            <p:extLst>
              <p:ext uri="{D42A27DB-BD31-4B8C-83A1-F6EECF244321}">
                <p14:modId xmlns:p14="http://schemas.microsoft.com/office/powerpoint/2010/main" val="120442290"/>
              </p:ext>
            </p:extLst>
          </p:nvPr>
        </p:nvGraphicFramePr>
        <p:xfrm>
          <a:off x="4873277" y="5950391"/>
          <a:ext cx="3935035" cy="659411"/>
        </p:xfrm>
        <a:graphic>
          <a:graphicData uri="http://schemas.openxmlformats.org/presentationml/2006/ole">
            <mc:AlternateContent xmlns:mc="http://schemas.openxmlformats.org/markup-compatibility/2006">
              <mc:Choice xmlns:v="urn:schemas-microsoft-com:vml" Requires="v">
                <p:oleObj r:id="rId7" imgW="1511300" imgH="254000" progId="Equation.DSMT4">
                  <p:embed/>
                </p:oleObj>
              </mc:Choice>
              <mc:Fallback>
                <p:oleObj r:id="rId7" imgW="1511300" imgH="254000" progId="Equation.DSMT4">
                  <p:embed/>
                  <p:pic>
                    <p:nvPicPr>
                      <p:cNvPr id="12" name="对象 -2147482107"/>
                      <p:cNvPicPr/>
                      <p:nvPr/>
                    </p:nvPicPr>
                    <p:blipFill>
                      <a:blip r:embed="rId8"/>
                      <a:stretch>
                        <a:fillRect/>
                      </a:stretch>
                    </p:blipFill>
                    <p:spPr>
                      <a:xfrm>
                        <a:off x="4873277" y="5950391"/>
                        <a:ext cx="3935035" cy="659411"/>
                      </a:xfrm>
                      <a:prstGeom prst="rect">
                        <a:avLst/>
                      </a:prstGeom>
                      <a:noFill/>
                      <a:ln w="38100">
                        <a:noFill/>
                        <a:miter/>
                      </a:ln>
                    </p:spPr>
                  </p:pic>
                </p:oleObj>
              </mc:Fallback>
            </mc:AlternateContent>
          </a:graphicData>
        </a:graphic>
      </p:graphicFrame>
    </p:spTree>
    <p:extLst>
      <p:ext uri="{BB962C8B-B14F-4D97-AF65-F5344CB8AC3E}">
        <p14:creationId xmlns:p14="http://schemas.microsoft.com/office/powerpoint/2010/main" val="149742889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A4686-6494-ED67-52C7-2608BAA08ECE}"/>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33C7FC0F-939C-87D1-DFB2-380CFD2E331D}"/>
              </a:ext>
            </a:extLst>
          </p:cNvPr>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 </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UMAP</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公式推导</a:t>
            </a:r>
          </a:p>
        </p:txBody>
      </p:sp>
      <p:pic>
        <p:nvPicPr>
          <p:cNvPr id="13" name="图片 12">
            <a:extLst>
              <a:ext uri="{FF2B5EF4-FFF2-40B4-BE49-F238E27FC236}">
                <a16:creationId xmlns:a16="http://schemas.microsoft.com/office/drawing/2014/main" id="{7BED6D31-29A9-2DC7-7C8B-072DDB214D37}"/>
              </a:ext>
            </a:extLst>
          </p:cNvPr>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181880" y="3238369"/>
            <a:ext cx="10227698" cy="1689100"/>
          </a:xfrm>
          <a:prstGeom prst="rect">
            <a:avLst/>
          </a:prstGeom>
        </p:spPr>
      </p:pic>
      <p:graphicFrame>
        <p:nvGraphicFramePr>
          <p:cNvPr id="4" name="对象 3">
            <a:extLst>
              <a:ext uri="{FF2B5EF4-FFF2-40B4-BE49-F238E27FC236}">
                <a16:creationId xmlns:a16="http://schemas.microsoft.com/office/drawing/2014/main" id="{3D9E61B5-078F-6EB2-9D02-F870F109274C}"/>
              </a:ext>
            </a:extLst>
          </p:cNvPr>
          <p:cNvGraphicFramePr>
            <a:graphicFrameLocks noChangeAspect="1"/>
          </p:cNvGraphicFramePr>
          <p:nvPr>
            <p:extLst>
              <p:ext uri="{D42A27DB-BD31-4B8C-83A1-F6EECF244321}">
                <p14:modId xmlns:p14="http://schemas.microsoft.com/office/powerpoint/2010/main" val="3169686828"/>
              </p:ext>
            </p:extLst>
          </p:nvPr>
        </p:nvGraphicFramePr>
        <p:xfrm>
          <a:off x="3914545" y="1952715"/>
          <a:ext cx="4905758" cy="822367"/>
        </p:xfrm>
        <a:graphic>
          <a:graphicData uri="http://schemas.openxmlformats.org/presentationml/2006/ole">
            <mc:AlternateContent xmlns:mc="http://schemas.openxmlformats.org/markup-compatibility/2006">
              <mc:Choice xmlns:v="urn:schemas-microsoft-com:vml" Requires="v">
                <p:oleObj name="Equation" r:id="rId4" imgW="3285965" imgH="550460" progId="Equation.DSMT4">
                  <p:embed/>
                </p:oleObj>
              </mc:Choice>
              <mc:Fallback>
                <p:oleObj name="Equation" r:id="rId4" imgW="3285965" imgH="550460" progId="Equation.DSMT4">
                  <p:embed/>
                  <p:pic>
                    <p:nvPicPr>
                      <p:cNvPr id="0" name=""/>
                      <p:cNvPicPr/>
                      <p:nvPr/>
                    </p:nvPicPr>
                    <p:blipFill>
                      <a:blip r:embed="rId5"/>
                      <a:stretch>
                        <a:fillRect/>
                      </a:stretch>
                    </p:blipFill>
                    <p:spPr>
                      <a:xfrm>
                        <a:off x="3914545" y="1952715"/>
                        <a:ext cx="4905758" cy="822367"/>
                      </a:xfrm>
                      <a:prstGeom prst="rect">
                        <a:avLst/>
                      </a:prstGeom>
                    </p:spPr>
                  </p:pic>
                </p:oleObj>
              </mc:Fallback>
            </mc:AlternateContent>
          </a:graphicData>
        </a:graphic>
      </p:graphicFrame>
    </p:spTree>
    <p:extLst>
      <p:ext uri="{BB962C8B-B14F-4D97-AF65-F5344CB8AC3E}">
        <p14:creationId xmlns:p14="http://schemas.microsoft.com/office/powerpoint/2010/main" val="1539755298"/>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 </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UMAP</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公式推导</a:t>
            </a:r>
          </a:p>
        </p:txBody>
      </p:sp>
      <p:pic>
        <p:nvPicPr>
          <p:cNvPr id="4" name="图片 3"/>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761183" y="2384972"/>
            <a:ext cx="7966153" cy="1454958"/>
          </a:xfrm>
          <a:prstGeom prst="rect">
            <a:avLst/>
          </a:prstGeom>
        </p:spPr>
      </p:pic>
      <p:graphicFrame>
        <p:nvGraphicFramePr>
          <p:cNvPr id="8" name="对象 -2147482045"/>
          <p:cNvGraphicFramePr>
            <a:graphicFrameLocks noChangeAspect="1"/>
          </p:cNvGraphicFramePr>
          <p:nvPr>
            <p:extLst>
              <p:ext uri="{D42A27DB-BD31-4B8C-83A1-F6EECF244321}">
                <p14:modId xmlns:p14="http://schemas.microsoft.com/office/powerpoint/2010/main" val="3085167936"/>
              </p:ext>
            </p:extLst>
          </p:nvPr>
        </p:nvGraphicFramePr>
        <p:xfrm>
          <a:off x="2578215" y="3839930"/>
          <a:ext cx="2134293" cy="659550"/>
        </p:xfrm>
        <a:graphic>
          <a:graphicData uri="http://schemas.openxmlformats.org/presentationml/2006/ole">
            <mc:AlternateContent xmlns:mc="http://schemas.openxmlformats.org/markup-compatibility/2006">
              <mc:Choice xmlns:v="urn:schemas-microsoft-com:vml" Requires="v">
                <p:oleObj name="Equation" r:id="rId4" imgW="1587240" imgH="393480" progId="Equation.DSMT4">
                  <p:embed/>
                </p:oleObj>
              </mc:Choice>
              <mc:Fallback>
                <p:oleObj name="Equation" r:id="rId4" imgW="1587240" imgH="393480" progId="Equation.DSMT4">
                  <p:embed/>
                  <p:pic>
                    <p:nvPicPr>
                      <p:cNvPr id="0" name="图片 3075"/>
                      <p:cNvPicPr/>
                      <p:nvPr/>
                    </p:nvPicPr>
                    <p:blipFill>
                      <a:blip r:embed="rId5"/>
                      <a:stretch>
                        <a:fillRect/>
                      </a:stretch>
                    </p:blipFill>
                    <p:spPr>
                      <a:xfrm>
                        <a:off x="2578215" y="3839930"/>
                        <a:ext cx="2134293" cy="659550"/>
                      </a:xfrm>
                      <a:prstGeom prst="rect">
                        <a:avLst/>
                      </a:prstGeom>
                      <a:noFill/>
                      <a:ln w="38100">
                        <a:noFill/>
                        <a:miter/>
                      </a:ln>
                    </p:spPr>
                  </p:pic>
                </p:oleObj>
              </mc:Fallback>
            </mc:AlternateContent>
          </a:graphicData>
        </a:graphic>
      </p:graphicFrame>
      <p:pic>
        <p:nvPicPr>
          <p:cNvPr id="5" name="图片 4"/>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900891" y="4955341"/>
            <a:ext cx="7438583" cy="922615"/>
          </a:xfrm>
          <a:prstGeom prst="rect">
            <a:avLst/>
          </a:prstGeom>
        </p:spPr>
      </p:pic>
      <p:pic>
        <p:nvPicPr>
          <p:cNvPr id="6" name="图片 5"/>
          <p:cNvPicPr>
            <a:picLocks noChangeAspect="1"/>
          </p:cNvPicPr>
          <p:nvPr/>
        </p:nvPicPr>
        <p:blipFill>
          <a:blip r:embed="rId7">
            <a:clrChange>
              <a:clrFrom>
                <a:srgbClr val="FFFFFF">
                  <a:alpha val="100000"/>
                </a:srgbClr>
              </a:clrFrom>
              <a:clrTo>
                <a:srgbClr val="FFFFFF">
                  <a:alpha val="100000"/>
                  <a:alpha val="0"/>
                </a:srgbClr>
              </a:clrTo>
            </a:clrChange>
          </a:blip>
          <a:stretch>
            <a:fillRect/>
          </a:stretch>
        </p:blipFill>
        <p:spPr>
          <a:xfrm>
            <a:off x="5229976" y="3561165"/>
            <a:ext cx="5958840" cy="1363980"/>
          </a:xfrm>
          <a:prstGeom prst="rect">
            <a:avLst/>
          </a:prstGeom>
        </p:spPr>
      </p:pic>
      <p:sp>
        <p:nvSpPr>
          <p:cNvPr id="11" name="文本框 10"/>
          <p:cNvSpPr txBox="1"/>
          <p:nvPr/>
        </p:nvSpPr>
        <p:spPr>
          <a:xfrm>
            <a:off x="761183" y="1303131"/>
            <a:ext cx="5080000" cy="511615"/>
          </a:xfrm>
          <a:prstGeom prst="rect">
            <a:avLst/>
          </a:prstGeom>
        </p:spPr>
        <p:txBody>
          <a:bodyPr>
            <a:spAutoFit/>
          </a:bodyPr>
          <a:lstStyle/>
          <a:p>
            <a:pPr algn="just" defTabSz="266700" fontAlgn="base">
              <a:lnSpc>
                <a:spcPct val="125000"/>
              </a:lnSpc>
              <a:spcBef>
                <a:spcPct val="0"/>
              </a:spcBef>
              <a:spcAft>
                <a:spcPct val="0"/>
              </a:spcAft>
            </a:pPr>
            <a:r>
              <a:rPr lang="zh-CN" altLang="en-US" sz="2400" b="1" dirty="0">
                <a:solidFill>
                  <a:schemeClr val="tx1"/>
                </a:solidFill>
                <a:uFillTx/>
                <a:latin typeface="Times New Roman" panose="02020603050405020304"/>
                <a:ea typeface="微软雅黑" panose="020B0503020204020204" charset="-122"/>
              </a:rPr>
              <a:t>构造低维空间的条件概率分布函数</a:t>
            </a:r>
            <a:r>
              <a:rPr lang="en-US" altLang="zh-CN" sz="2400" b="1" i="1" dirty="0">
                <a:solidFill>
                  <a:schemeClr val="tx1"/>
                </a:solidFill>
                <a:uFillTx/>
                <a:latin typeface="Times New Roman" panose="02020603050405020304"/>
                <a:ea typeface="微软雅黑" panose="020B0503020204020204" charset="-122"/>
              </a:rPr>
              <a:t>Q</a:t>
            </a:r>
          </a:p>
        </p:txBody>
      </p:sp>
      <p:sp>
        <p:nvSpPr>
          <p:cNvPr id="13" name="矩形 12"/>
          <p:cNvSpPr/>
          <p:nvPr/>
        </p:nvSpPr>
        <p:spPr>
          <a:xfrm>
            <a:off x="5203306" y="3479250"/>
            <a:ext cx="5895340" cy="1564005"/>
          </a:xfrm>
          <a:prstGeom prst="rect">
            <a:avLst/>
          </a:prstGeom>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1856B-88C1-DADC-FDA7-228E5C20ECD2}"/>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B8FDA1D6-4126-7250-C419-2D80E233D597}"/>
              </a:ext>
            </a:extLst>
          </p:cNvPr>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 </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UMAP</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公式推导</a:t>
            </a:r>
          </a:p>
        </p:txBody>
      </p:sp>
      <p:graphicFrame>
        <p:nvGraphicFramePr>
          <p:cNvPr id="8" name="对象 -2147482045">
            <a:extLst>
              <a:ext uri="{FF2B5EF4-FFF2-40B4-BE49-F238E27FC236}">
                <a16:creationId xmlns:a16="http://schemas.microsoft.com/office/drawing/2014/main" id="{73D73114-F421-22D6-CAFC-AE1A6BB3B8D9}"/>
              </a:ext>
            </a:extLst>
          </p:cNvPr>
          <p:cNvGraphicFramePr>
            <a:graphicFrameLocks noChangeAspect="1"/>
          </p:cNvGraphicFramePr>
          <p:nvPr>
            <p:extLst>
              <p:ext uri="{D42A27DB-BD31-4B8C-83A1-F6EECF244321}">
                <p14:modId xmlns:p14="http://schemas.microsoft.com/office/powerpoint/2010/main" val="1433541314"/>
              </p:ext>
            </p:extLst>
          </p:nvPr>
        </p:nvGraphicFramePr>
        <p:xfrm>
          <a:off x="604931" y="3333820"/>
          <a:ext cx="3489814" cy="1078440"/>
        </p:xfrm>
        <a:graphic>
          <a:graphicData uri="http://schemas.openxmlformats.org/presentationml/2006/ole">
            <mc:AlternateContent xmlns:mc="http://schemas.openxmlformats.org/markup-compatibility/2006">
              <mc:Choice xmlns:v="urn:schemas-microsoft-com:vml" Requires="v">
                <p:oleObj name="Equation" r:id="rId3" imgW="1587240" imgH="393480" progId="Equation.DSMT4">
                  <p:embed/>
                </p:oleObj>
              </mc:Choice>
              <mc:Fallback>
                <p:oleObj name="Equation" r:id="rId3" imgW="1587240" imgH="393480" progId="Equation.DSMT4">
                  <p:embed/>
                  <p:pic>
                    <p:nvPicPr>
                      <p:cNvPr id="8" name="对象 -2147482045"/>
                      <p:cNvPicPr/>
                      <p:nvPr/>
                    </p:nvPicPr>
                    <p:blipFill>
                      <a:blip r:embed="rId4"/>
                      <a:stretch>
                        <a:fillRect/>
                      </a:stretch>
                    </p:blipFill>
                    <p:spPr>
                      <a:xfrm>
                        <a:off x="604931" y="3333820"/>
                        <a:ext cx="3489814" cy="1078440"/>
                      </a:xfrm>
                      <a:prstGeom prst="rect">
                        <a:avLst/>
                      </a:prstGeom>
                      <a:noFill/>
                      <a:ln w="38100">
                        <a:noFill/>
                        <a:miter/>
                      </a:ln>
                    </p:spPr>
                  </p:pic>
                </p:oleObj>
              </mc:Fallback>
            </mc:AlternateContent>
          </a:graphicData>
        </a:graphic>
      </p:graphicFrame>
      <p:pic>
        <p:nvPicPr>
          <p:cNvPr id="6" name="图片 5">
            <a:extLst>
              <a:ext uri="{FF2B5EF4-FFF2-40B4-BE49-F238E27FC236}">
                <a16:creationId xmlns:a16="http://schemas.microsoft.com/office/drawing/2014/main" id="{78C37C32-7107-9698-CCC9-2313B51A704F}"/>
              </a:ext>
            </a:extLst>
          </p:cNvPr>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4464482" y="3279418"/>
            <a:ext cx="7727518" cy="1768831"/>
          </a:xfrm>
          <a:prstGeom prst="rect">
            <a:avLst/>
          </a:prstGeom>
        </p:spPr>
      </p:pic>
      <p:sp>
        <p:nvSpPr>
          <p:cNvPr id="11" name="文本框 10">
            <a:extLst>
              <a:ext uri="{FF2B5EF4-FFF2-40B4-BE49-F238E27FC236}">
                <a16:creationId xmlns:a16="http://schemas.microsoft.com/office/drawing/2014/main" id="{0818CBC4-FC18-72A0-E488-7A27F094D2CD}"/>
              </a:ext>
            </a:extLst>
          </p:cNvPr>
          <p:cNvSpPr txBox="1"/>
          <p:nvPr/>
        </p:nvSpPr>
        <p:spPr>
          <a:xfrm>
            <a:off x="604931" y="1667515"/>
            <a:ext cx="5080000" cy="511615"/>
          </a:xfrm>
          <a:prstGeom prst="rect">
            <a:avLst/>
          </a:prstGeom>
        </p:spPr>
        <p:txBody>
          <a:bodyPr>
            <a:spAutoFit/>
          </a:bodyPr>
          <a:lstStyle/>
          <a:p>
            <a:pPr algn="just" defTabSz="266700" fontAlgn="base">
              <a:lnSpc>
                <a:spcPct val="125000"/>
              </a:lnSpc>
              <a:spcBef>
                <a:spcPct val="0"/>
              </a:spcBef>
              <a:spcAft>
                <a:spcPct val="0"/>
              </a:spcAft>
            </a:pPr>
            <a:r>
              <a:rPr lang="zh-CN" altLang="en-US" sz="2400" b="1" dirty="0">
                <a:solidFill>
                  <a:schemeClr val="tx1"/>
                </a:solidFill>
                <a:uFillTx/>
                <a:latin typeface="Times New Roman" panose="02020603050405020304"/>
                <a:ea typeface="微软雅黑" panose="020B0503020204020204" charset="-122"/>
              </a:rPr>
              <a:t>构造低维空间的条件概率分布函数</a:t>
            </a:r>
            <a:r>
              <a:rPr lang="en-US" altLang="zh-CN" sz="2400" b="1" i="1" dirty="0">
                <a:solidFill>
                  <a:schemeClr val="tx1"/>
                </a:solidFill>
                <a:uFillTx/>
                <a:latin typeface="Times New Roman" panose="02020603050405020304"/>
                <a:ea typeface="微软雅黑" panose="020B0503020204020204" charset="-122"/>
              </a:rPr>
              <a:t>Q</a:t>
            </a:r>
          </a:p>
        </p:txBody>
      </p:sp>
      <p:sp>
        <p:nvSpPr>
          <p:cNvPr id="13" name="矩形 12">
            <a:extLst>
              <a:ext uri="{FF2B5EF4-FFF2-40B4-BE49-F238E27FC236}">
                <a16:creationId xmlns:a16="http://schemas.microsoft.com/office/drawing/2014/main" id="{D6EEA646-57F8-B7C8-6C34-A46527A448F1}"/>
              </a:ext>
            </a:extLst>
          </p:cNvPr>
          <p:cNvSpPr/>
          <p:nvPr/>
        </p:nvSpPr>
        <p:spPr>
          <a:xfrm>
            <a:off x="4354756" y="2995011"/>
            <a:ext cx="7614993" cy="2485039"/>
          </a:xfrm>
          <a:prstGeom prst="rect">
            <a:avLst/>
          </a:prstGeom>
        </p:spPr>
        <p:style>
          <a:lnRef idx="3">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Tree>
    <p:extLst>
      <p:ext uri="{BB962C8B-B14F-4D97-AF65-F5344CB8AC3E}">
        <p14:creationId xmlns:p14="http://schemas.microsoft.com/office/powerpoint/2010/main" val="2227434833"/>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sym typeface="+mn-ea"/>
              </a:rPr>
              <a:t>UMAP</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目标函数</a:t>
            </a:r>
            <a:endParaRPr lang="en-US" altLang="zh-CN" sz="3200" b="0" dirty="0">
              <a:solidFill>
                <a:srgbClr val="FFFF00"/>
              </a:solidFill>
              <a:latin typeface="华光综艺_CNKI" panose="02000500000000000000" pitchFamily="2" charset="-122"/>
              <a:ea typeface="华光综艺_CNKI" panose="02000500000000000000" pitchFamily="2" charset="-122"/>
            </a:endParaRPr>
          </a:p>
        </p:txBody>
      </p:sp>
      <p:pic>
        <p:nvPicPr>
          <p:cNvPr id="9" name="图片 8"/>
          <p:cNvPicPr>
            <a:picLocks noChangeAspect="1"/>
          </p:cNvPicPr>
          <p:nvPr/>
        </p:nvPicPr>
        <p:blipFill>
          <a:blip r:embed="rId3">
            <a:clrChange>
              <a:clrFrom>
                <a:srgbClr val="FFFFFF">
                  <a:alpha val="100000"/>
                </a:srgbClr>
              </a:clrFrom>
              <a:clrTo>
                <a:srgbClr val="FFFFFF">
                  <a:alpha val="100000"/>
                  <a:alpha val="0"/>
                </a:srgbClr>
              </a:clrTo>
            </a:clrChange>
          </a:blip>
          <a:stretch>
            <a:fillRect/>
          </a:stretch>
        </p:blipFill>
        <p:spPr>
          <a:xfrm>
            <a:off x="1058731" y="2502737"/>
            <a:ext cx="3852806" cy="441723"/>
          </a:xfrm>
          <a:prstGeom prst="rect">
            <a:avLst/>
          </a:prstGeom>
        </p:spPr>
      </p:pic>
      <p:graphicFrame>
        <p:nvGraphicFramePr>
          <p:cNvPr id="10" name="对象 -2147482083"/>
          <p:cNvGraphicFramePr>
            <a:graphicFrameLocks noChangeAspect="1"/>
          </p:cNvGraphicFramePr>
          <p:nvPr>
            <p:extLst>
              <p:ext uri="{D42A27DB-BD31-4B8C-83A1-F6EECF244321}">
                <p14:modId xmlns:p14="http://schemas.microsoft.com/office/powerpoint/2010/main" val="4105684733"/>
              </p:ext>
            </p:extLst>
          </p:nvPr>
        </p:nvGraphicFramePr>
        <p:xfrm>
          <a:off x="2755007" y="3247034"/>
          <a:ext cx="4808068" cy="853440"/>
        </p:xfrm>
        <a:graphic>
          <a:graphicData uri="http://schemas.openxmlformats.org/presentationml/2006/ole">
            <mc:AlternateContent xmlns:mc="http://schemas.openxmlformats.org/markup-compatibility/2006">
              <mc:Choice xmlns:v="urn:schemas-microsoft-com:vml" Requires="v">
                <p:oleObj r:id="rId4" imgW="2857500" imgH="508000" progId="Equation.DSMT4">
                  <p:embed/>
                </p:oleObj>
              </mc:Choice>
              <mc:Fallback>
                <p:oleObj r:id="rId4" imgW="2857500" imgH="508000" progId="Equation.DSMT4">
                  <p:embed/>
                  <p:pic>
                    <p:nvPicPr>
                      <p:cNvPr id="0" name="图片 8"/>
                      <p:cNvPicPr/>
                      <p:nvPr/>
                    </p:nvPicPr>
                    <p:blipFill>
                      <a:blip r:embed="rId5"/>
                      <a:stretch>
                        <a:fillRect/>
                      </a:stretch>
                    </p:blipFill>
                    <p:spPr>
                      <a:xfrm>
                        <a:off x="2755007" y="3247034"/>
                        <a:ext cx="4808068" cy="853440"/>
                      </a:xfrm>
                      <a:prstGeom prst="rect">
                        <a:avLst/>
                      </a:prstGeom>
                      <a:noFill/>
                      <a:ln w="38100">
                        <a:noFill/>
                        <a:miter/>
                      </a:ln>
                    </p:spPr>
                  </p:pic>
                </p:oleObj>
              </mc:Fallback>
            </mc:AlternateContent>
          </a:graphicData>
        </a:graphic>
      </p:graphicFrame>
      <p:pic>
        <p:nvPicPr>
          <p:cNvPr id="12" name="图片 11"/>
          <p:cNvPicPr>
            <a:picLocks noChangeAspect="1"/>
          </p:cNvPicPr>
          <p:nvPr/>
        </p:nvPicPr>
        <p:blipFill>
          <a:blip r:embed="rId6">
            <a:clrChange>
              <a:clrFrom>
                <a:srgbClr val="FFFFFF">
                  <a:alpha val="100000"/>
                </a:srgbClr>
              </a:clrFrom>
              <a:clrTo>
                <a:srgbClr val="FFFFFF">
                  <a:alpha val="100000"/>
                  <a:alpha val="0"/>
                </a:srgbClr>
              </a:clrTo>
            </a:clrChange>
          </a:blip>
          <a:stretch>
            <a:fillRect/>
          </a:stretch>
        </p:blipFill>
        <p:spPr>
          <a:xfrm>
            <a:off x="995423" y="4499841"/>
            <a:ext cx="8921296" cy="1320800"/>
          </a:xfrm>
          <a:prstGeom prst="rect">
            <a:avLst/>
          </a:prstGeom>
        </p:spPr>
      </p:pic>
      <p:sp>
        <p:nvSpPr>
          <p:cNvPr id="14" name="文本框 13"/>
          <p:cNvSpPr txBox="1"/>
          <p:nvPr/>
        </p:nvSpPr>
        <p:spPr>
          <a:xfrm>
            <a:off x="1070725" y="1340345"/>
            <a:ext cx="2974975" cy="511615"/>
          </a:xfrm>
          <a:prstGeom prst="rect">
            <a:avLst/>
          </a:prstGeom>
        </p:spPr>
        <p:txBody>
          <a:bodyPr wrap="square">
            <a:spAutoFit/>
          </a:bodyPr>
          <a:lstStyle/>
          <a:p>
            <a:pPr algn="just" defTabSz="266700" fontAlgn="base">
              <a:lnSpc>
                <a:spcPct val="125000"/>
              </a:lnSpc>
              <a:spcBef>
                <a:spcPct val="0"/>
              </a:spcBef>
              <a:spcAft>
                <a:spcPct val="0"/>
              </a:spcAft>
            </a:pPr>
            <a:r>
              <a:rPr lang="zh-CN" altLang="en-US" sz="2400" b="1" dirty="0">
                <a:latin typeface="Times New Roman" panose="02020603050405020304"/>
                <a:ea typeface="微软雅黑" panose="020B0503020204020204" charset="-122"/>
              </a:rPr>
              <a:t>构建目标函数</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21DD9-A861-B1CD-A328-45DE770FBAE1}"/>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477D92F1-60BA-002F-6908-E5461F07620B}"/>
              </a:ext>
            </a:extLst>
          </p:cNvPr>
          <p:cNvSpPr/>
          <p:nvPr/>
        </p:nvSpPr>
        <p:spPr>
          <a:xfrm>
            <a:off x="995423" y="248198"/>
            <a:ext cx="10017888" cy="582295"/>
          </a:xfrm>
          <a:prstGeom prst="rect">
            <a:avLst/>
          </a:prstGeom>
          <a:noFill/>
        </p:spPr>
        <p:txBody>
          <a:bodyPr wrap="square" lIns="91429" tIns="45714" rIns="91429" bIns="45714">
            <a:spAutoFit/>
          </a:bodyPr>
          <a:lstStyle/>
          <a:p>
            <a:r>
              <a:rPr lang="en-US" altLang="zh-CN" sz="3200" dirty="0">
                <a:solidFill>
                  <a:srgbClr val="FFFF00"/>
                </a:solidFill>
                <a:latin typeface="华光综艺_CNKI" panose="02000500000000000000" pitchFamily="2" charset="-122"/>
                <a:ea typeface="华光综艺_CNKI" panose="02000500000000000000" pitchFamily="2" charset="-122"/>
                <a:sym typeface="+mn-ea"/>
              </a:rPr>
              <a:t>UMAP</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目标函数</a:t>
            </a:r>
            <a:endParaRPr lang="en-US" sz="3200" b="0" dirty="0">
              <a:solidFill>
                <a:srgbClr val="FFFF00"/>
              </a:solidFill>
              <a:latin typeface="华光综艺_CNKI" panose="02000500000000000000" pitchFamily="2" charset="-122"/>
              <a:ea typeface="华光综艺_CNKI" panose="02000500000000000000" pitchFamily="2" charset="-122"/>
            </a:endParaRPr>
          </a:p>
        </p:txBody>
      </p:sp>
      <p:graphicFrame>
        <p:nvGraphicFramePr>
          <p:cNvPr id="10" name="对象 -2147482083">
            <a:extLst>
              <a:ext uri="{FF2B5EF4-FFF2-40B4-BE49-F238E27FC236}">
                <a16:creationId xmlns:a16="http://schemas.microsoft.com/office/drawing/2014/main" id="{57CBDAE6-9E09-D2BA-A201-23B06C1B9BD4}"/>
              </a:ext>
            </a:extLst>
          </p:cNvPr>
          <p:cNvGraphicFramePr>
            <a:graphicFrameLocks noChangeAspect="1"/>
          </p:cNvGraphicFramePr>
          <p:nvPr>
            <p:extLst>
              <p:ext uri="{D42A27DB-BD31-4B8C-83A1-F6EECF244321}">
                <p14:modId xmlns:p14="http://schemas.microsoft.com/office/powerpoint/2010/main" val="4201156567"/>
              </p:ext>
            </p:extLst>
          </p:nvPr>
        </p:nvGraphicFramePr>
        <p:xfrm>
          <a:off x="6472899" y="1602565"/>
          <a:ext cx="4620551" cy="820155"/>
        </p:xfrm>
        <a:graphic>
          <a:graphicData uri="http://schemas.openxmlformats.org/presentationml/2006/ole">
            <mc:AlternateContent xmlns:mc="http://schemas.openxmlformats.org/markup-compatibility/2006">
              <mc:Choice xmlns:v="urn:schemas-microsoft-com:vml" Requires="v">
                <p:oleObj r:id="rId3" imgW="2857500" imgH="508000" progId="Equation.DSMT4">
                  <p:embed/>
                </p:oleObj>
              </mc:Choice>
              <mc:Fallback>
                <p:oleObj r:id="rId3" imgW="2857500" imgH="508000" progId="Equation.DSMT4">
                  <p:embed/>
                  <p:pic>
                    <p:nvPicPr>
                      <p:cNvPr id="10" name="对象 -2147482083"/>
                      <p:cNvPicPr/>
                      <p:nvPr/>
                    </p:nvPicPr>
                    <p:blipFill>
                      <a:blip r:embed="rId4"/>
                      <a:stretch>
                        <a:fillRect/>
                      </a:stretch>
                    </p:blipFill>
                    <p:spPr>
                      <a:xfrm>
                        <a:off x="6472899" y="1602565"/>
                        <a:ext cx="4620551" cy="820155"/>
                      </a:xfrm>
                      <a:prstGeom prst="rect">
                        <a:avLst/>
                      </a:prstGeom>
                      <a:noFill/>
                      <a:ln w="38100">
                        <a:noFill/>
                        <a:miter/>
                      </a:ln>
                    </p:spPr>
                  </p:pic>
                </p:oleObj>
              </mc:Fallback>
            </mc:AlternateContent>
          </a:graphicData>
        </a:graphic>
      </p:graphicFrame>
      <p:sp>
        <p:nvSpPr>
          <p:cNvPr id="15" name="文本框 14">
            <a:extLst>
              <a:ext uri="{FF2B5EF4-FFF2-40B4-BE49-F238E27FC236}">
                <a16:creationId xmlns:a16="http://schemas.microsoft.com/office/drawing/2014/main" id="{31DA9328-88B8-C6AF-C528-EA1AABA848C5}"/>
              </a:ext>
            </a:extLst>
          </p:cNvPr>
          <p:cNvSpPr txBox="1"/>
          <p:nvPr/>
        </p:nvSpPr>
        <p:spPr>
          <a:xfrm>
            <a:off x="1098550" y="1774836"/>
            <a:ext cx="5080000" cy="475615"/>
          </a:xfrm>
          <a:prstGeom prst="rect">
            <a:avLst/>
          </a:prstGeom>
        </p:spPr>
        <p:txBody>
          <a:bodyPr>
            <a:spAutoFit/>
          </a:bodyPr>
          <a:lstStyle/>
          <a:p>
            <a:pPr indent="127000" algn="just" defTabSz="266700">
              <a:lnSpc>
                <a:spcPct val="125000"/>
              </a:lnSpc>
              <a:spcBef>
                <a:spcPct val="0"/>
              </a:spcBef>
              <a:spcAft>
                <a:spcPct val="0"/>
              </a:spcAft>
            </a:pPr>
            <a:r>
              <a:rPr lang="zh-CN" altLang="zh-CN" sz="2000" b="1" kern="100" dirty="0">
                <a:solidFill>
                  <a:schemeClr val="accent1">
                    <a:lumMod val="75000"/>
                  </a:schemeClr>
                </a:solidFill>
                <a:latin typeface="微软雅黑" panose="020B0503020204020204" charset="-122"/>
                <a:ea typeface="微软雅黑" panose="020B0503020204020204" charset="-122"/>
                <a:cs typeface="Times New Roman" panose="02020603050405020304" pitchFamily="18" charset="0"/>
              </a:rPr>
              <a:t>目标函数的构造</a:t>
            </a:r>
            <a:r>
              <a:rPr lang="zh-CN" altLang="en-US" sz="2000" dirty="0">
                <a:latin typeface="Times New Roman" panose="02020603050405020304"/>
                <a:ea typeface="微软雅黑" panose="020B0503020204020204" charset="-122"/>
              </a:rPr>
              <a:t>主要考虑以下几个因素：</a:t>
            </a:r>
          </a:p>
        </p:txBody>
      </p:sp>
      <p:sp>
        <p:nvSpPr>
          <p:cNvPr id="16" name="文本框 15">
            <a:extLst>
              <a:ext uri="{FF2B5EF4-FFF2-40B4-BE49-F238E27FC236}">
                <a16:creationId xmlns:a16="http://schemas.microsoft.com/office/drawing/2014/main" id="{A3B1E3AB-4CB5-DDE1-6081-A4711A2DD157}"/>
              </a:ext>
            </a:extLst>
          </p:cNvPr>
          <p:cNvSpPr txBox="1"/>
          <p:nvPr/>
        </p:nvSpPr>
        <p:spPr>
          <a:xfrm>
            <a:off x="768985" y="2823291"/>
            <a:ext cx="2132330" cy="398780"/>
          </a:xfrm>
          <a:prstGeom prst="rect">
            <a:avLst/>
          </a:prstGeom>
        </p:spPr>
        <p:txBody>
          <a:bodyPr wrap="square">
            <a:spAutoFit/>
          </a:bodyPr>
          <a:lstStyle/>
          <a:p>
            <a:pPr indent="127000" algn="just" defTabSz="266700">
              <a:lnSpc>
                <a:spcPct val="125000"/>
              </a:lnSpc>
              <a:spcBef>
                <a:spcPct val="0"/>
              </a:spcBef>
              <a:spcAft>
                <a:spcPct val="0"/>
              </a:spcAft>
            </a:pPr>
            <a:r>
              <a:rPr lang="zh-CN" altLang="en-US" sz="1600" dirty="0">
                <a:latin typeface="Times New Roman" panose="02020603050405020304"/>
                <a:ea typeface="微软雅黑" panose="020B0503020204020204" charset="-122"/>
              </a:rPr>
              <a:t>（1）</a:t>
            </a:r>
            <a:r>
              <a:rPr lang="zh-CN" altLang="zh-CN" sz="1600" kern="100" dirty="0">
                <a:solidFill>
                  <a:schemeClr val="accent1">
                    <a:lumMod val="75000"/>
                  </a:schemeClr>
                </a:solidFill>
                <a:latin typeface="微软雅黑" panose="020B0503020204020204" charset="-122"/>
                <a:ea typeface="微软雅黑" panose="020B0503020204020204" charset="-122"/>
                <a:cs typeface="Times New Roman" panose="02020603050405020304" pitchFamily="18" charset="0"/>
              </a:rPr>
              <a:t>保持局部结构</a:t>
            </a:r>
          </a:p>
        </p:txBody>
      </p:sp>
      <p:sp>
        <p:nvSpPr>
          <p:cNvPr id="17" name="文本框 16">
            <a:extLst>
              <a:ext uri="{FF2B5EF4-FFF2-40B4-BE49-F238E27FC236}">
                <a16:creationId xmlns:a16="http://schemas.microsoft.com/office/drawing/2014/main" id="{C2F25CAC-EEDA-8D92-273F-D046A0454747}"/>
              </a:ext>
            </a:extLst>
          </p:cNvPr>
          <p:cNvSpPr txBox="1"/>
          <p:nvPr/>
        </p:nvSpPr>
        <p:spPr>
          <a:xfrm>
            <a:off x="768985" y="4070431"/>
            <a:ext cx="2131695" cy="398780"/>
          </a:xfrm>
          <a:prstGeom prst="rect">
            <a:avLst/>
          </a:prstGeom>
        </p:spPr>
        <p:txBody>
          <a:bodyPr wrap="square">
            <a:spAutoFit/>
          </a:bodyPr>
          <a:lstStyle/>
          <a:p>
            <a:pPr indent="127000" algn="just" defTabSz="266700">
              <a:lnSpc>
                <a:spcPct val="125000"/>
              </a:lnSpc>
              <a:buClrTx/>
              <a:buSzTx/>
              <a:buFontTx/>
            </a:pPr>
            <a:r>
              <a:rPr lang="zh-CN" altLang="en-US" sz="1600">
                <a:latin typeface="Times New Roman" panose="02020603050405020304"/>
                <a:ea typeface="微软雅黑" panose="020B0503020204020204" charset="-122"/>
              </a:rPr>
              <a:t>（2）</a:t>
            </a:r>
            <a:r>
              <a:rPr lang="zh-CN" altLang="zh-CN" sz="1600" kern="100" dirty="0">
                <a:solidFill>
                  <a:schemeClr val="accent1">
                    <a:lumMod val="75000"/>
                  </a:schemeClr>
                </a:solidFill>
                <a:latin typeface="微软雅黑" panose="020B0503020204020204" charset="-122"/>
                <a:ea typeface="微软雅黑" panose="020B0503020204020204" charset="-122"/>
                <a:cs typeface="Times New Roman" panose="02020603050405020304" pitchFamily="18" charset="0"/>
              </a:rPr>
              <a:t>保持全局结构</a:t>
            </a:r>
            <a:endParaRPr lang="zh-CN" altLang="en-US" sz="1600">
              <a:latin typeface="Times New Roman" panose="02020603050405020304"/>
              <a:ea typeface="微软雅黑" panose="020B0503020204020204" charset="-122"/>
            </a:endParaRPr>
          </a:p>
        </p:txBody>
      </p:sp>
      <p:sp>
        <p:nvSpPr>
          <p:cNvPr id="18" name="文本框 17">
            <a:extLst>
              <a:ext uri="{FF2B5EF4-FFF2-40B4-BE49-F238E27FC236}">
                <a16:creationId xmlns:a16="http://schemas.microsoft.com/office/drawing/2014/main" id="{1E6A6028-F679-91F0-6274-EBB6F5F374FE}"/>
              </a:ext>
            </a:extLst>
          </p:cNvPr>
          <p:cNvSpPr txBox="1"/>
          <p:nvPr/>
        </p:nvSpPr>
        <p:spPr>
          <a:xfrm>
            <a:off x="793115" y="5501086"/>
            <a:ext cx="2769870" cy="398780"/>
          </a:xfrm>
          <a:prstGeom prst="rect">
            <a:avLst/>
          </a:prstGeom>
        </p:spPr>
        <p:txBody>
          <a:bodyPr wrap="square">
            <a:spAutoFit/>
          </a:bodyPr>
          <a:lstStyle/>
          <a:p>
            <a:pPr indent="127000" algn="just" defTabSz="266700">
              <a:lnSpc>
                <a:spcPct val="125000"/>
              </a:lnSpc>
              <a:buClrTx/>
              <a:buSzTx/>
              <a:buFontTx/>
            </a:pPr>
            <a:r>
              <a:rPr lang="zh-CN" altLang="en-US" sz="1600">
                <a:latin typeface="Times New Roman" panose="02020603050405020304"/>
                <a:ea typeface="微软雅黑" panose="020B0503020204020204" charset="-122"/>
              </a:rPr>
              <a:t>（3）</a:t>
            </a:r>
            <a:r>
              <a:rPr lang="zh-CN" altLang="zh-CN" sz="1600" kern="100" dirty="0">
                <a:solidFill>
                  <a:schemeClr val="accent1">
                    <a:lumMod val="75000"/>
                  </a:schemeClr>
                </a:solidFill>
                <a:latin typeface="微软雅黑" panose="020B0503020204020204" charset="-122"/>
                <a:ea typeface="微软雅黑" panose="020B0503020204020204" charset="-122"/>
                <a:cs typeface="Times New Roman" panose="02020603050405020304" pitchFamily="18" charset="0"/>
              </a:rPr>
              <a:t>对称性和对角线约束</a:t>
            </a:r>
            <a:endParaRPr lang="zh-CN" altLang="en-US" sz="1600">
              <a:latin typeface="Times New Roman" panose="02020603050405020304"/>
              <a:ea typeface="微软雅黑" panose="020B0503020204020204" charset="-122"/>
            </a:endParaRPr>
          </a:p>
        </p:txBody>
      </p:sp>
      <p:graphicFrame>
        <p:nvGraphicFramePr>
          <p:cNvPr id="4" name="对象 -2147482044">
            <a:extLst>
              <a:ext uri="{FF2B5EF4-FFF2-40B4-BE49-F238E27FC236}">
                <a16:creationId xmlns:a16="http://schemas.microsoft.com/office/drawing/2014/main" id="{EB2CC886-B3D3-8891-88F5-F0DA19D3ECC5}"/>
              </a:ext>
            </a:extLst>
          </p:cNvPr>
          <p:cNvGraphicFramePr>
            <a:graphicFrameLocks noChangeAspect="1"/>
          </p:cNvGraphicFramePr>
          <p:nvPr>
            <p:extLst>
              <p:ext uri="{D42A27DB-BD31-4B8C-83A1-F6EECF244321}">
                <p14:modId xmlns:p14="http://schemas.microsoft.com/office/powerpoint/2010/main" val="3032219608"/>
              </p:ext>
            </p:extLst>
          </p:nvPr>
        </p:nvGraphicFramePr>
        <p:xfrm>
          <a:off x="3902753" y="2612975"/>
          <a:ext cx="1261535" cy="841294"/>
        </p:xfrm>
        <a:graphic>
          <a:graphicData uri="http://schemas.openxmlformats.org/presentationml/2006/ole">
            <mc:AlternateContent xmlns:mc="http://schemas.openxmlformats.org/markup-compatibility/2006">
              <mc:Choice xmlns:v="urn:schemas-microsoft-com:vml" Requires="v">
                <p:oleObj r:id="rId5" imgW="711200" imgH="469900" progId="Equation.DSMT4">
                  <p:embed/>
                </p:oleObj>
              </mc:Choice>
              <mc:Fallback>
                <p:oleObj r:id="rId5" imgW="711200" imgH="469900" progId="Equation.DSMT4">
                  <p:embed/>
                  <p:pic>
                    <p:nvPicPr>
                      <p:cNvPr id="4" name="对象 -2147482044"/>
                      <p:cNvPicPr/>
                      <p:nvPr/>
                    </p:nvPicPr>
                    <p:blipFill>
                      <a:blip r:embed="rId6"/>
                      <a:stretch>
                        <a:fillRect/>
                      </a:stretch>
                    </p:blipFill>
                    <p:spPr>
                      <a:xfrm>
                        <a:off x="3902753" y="2612975"/>
                        <a:ext cx="1261535" cy="841294"/>
                      </a:xfrm>
                      <a:prstGeom prst="rect">
                        <a:avLst/>
                      </a:prstGeom>
                      <a:noFill/>
                      <a:ln w="38100">
                        <a:noFill/>
                        <a:miter/>
                      </a:ln>
                    </p:spPr>
                  </p:pic>
                </p:oleObj>
              </mc:Fallback>
            </mc:AlternateContent>
          </a:graphicData>
        </a:graphic>
      </p:graphicFrame>
      <p:sp>
        <p:nvSpPr>
          <p:cNvPr id="20" name="文本框 19">
            <a:extLst>
              <a:ext uri="{FF2B5EF4-FFF2-40B4-BE49-F238E27FC236}">
                <a16:creationId xmlns:a16="http://schemas.microsoft.com/office/drawing/2014/main" id="{314545AB-74E3-7512-8252-79027D3E3737}"/>
              </a:ext>
            </a:extLst>
          </p:cNvPr>
          <p:cNvSpPr txBox="1"/>
          <p:nvPr/>
        </p:nvSpPr>
        <p:spPr>
          <a:xfrm>
            <a:off x="5716970" y="2793711"/>
            <a:ext cx="4327525" cy="679673"/>
          </a:xfrm>
          <a:prstGeom prst="rect">
            <a:avLst/>
          </a:prstGeom>
        </p:spPr>
        <p:txBody>
          <a:bodyPr wrap="square">
            <a:spAutoFit/>
          </a:bodyPr>
          <a:lstStyle/>
          <a:p>
            <a:pPr indent="0" algn="just" defTabSz="266700" fontAlgn="auto">
              <a:lnSpc>
                <a:spcPct val="125000"/>
              </a:lnSpc>
              <a:spcBef>
                <a:spcPct val="0"/>
              </a:spcBef>
              <a:spcAft>
                <a:spcPct val="0"/>
              </a:spcAft>
            </a:pPr>
            <a:r>
              <a:rPr lang="zh-CN" altLang="en-US" sz="1600" dirty="0">
                <a:latin typeface="Times New Roman" panose="02020603050405020304"/>
                <a:ea typeface="微软雅黑" panose="020B0503020204020204" charset="-122"/>
              </a:rPr>
              <a:t>鼓励在低维空间中保持高维空间中较近的样本也较近，即保持局部的结构信息。</a:t>
            </a:r>
          </a:p>
        </p:txBody>
      </p:sp>
      <p:graphicFrame>
        <p:nvGraphicFramePr>
          <p:cNvPr id="5" name="对象 -2147482075">
            <a:extLst>
              <a:ext uri="{FF2B5EF4-FFF2-40B4-BE49-F238E27FC236}">
                <a16:creationId xmlns:a16="http://schemas.microsoft.com/office/drawing/2014/main" id="{123934DE-4277-D548-4BAA-CF4DA41015C1}"/>
              </a:ext>
            </a:extLst>
          </p:cNvPr>
          <p:cNvGraphicFramePr>
            <a:graphicFrameLocks noChangeAspect="1"/>
          </p:cNvGraphicFramePr>
          <p:nvPr>
            <p:extLst>
              <p:ext uri="{D42A27DB-BD31-4B8C-83A1-F6EECF244321}">
                <p14:modId xmlns:p14="http://schemas.microsoft.com/office/powerpoint/2010/main" val="1277647488"/>
              </p:ext>
            </p:extLst>
          </p:nvPr>
        </p:nvGraphicFramePr>
        <p:xfrm>
          <a:off x="3377163" y="3821653"/>
          <a:ext cx="2061611" cy="841294"/>
        </p:xfrm>
        <a:graphic>
          <a:graphicData uri="http://schemas.openxmlformats.org/presentationml/2006/ole">
            <mc:AlternateContent xmlns:mc="http://schemas.openxmlformats.org/markup-compatibility/2006">
              <mc:Choice xmlns:v="urn:schemas-microsoft-com:vml" Requires="v">
                <p:oleObj r:id="rId7" imgW="1244600" imgH="508000" progId="Equation.DSMT4">
                  <p:embed/>
                </p:oleObj>
              </mc:Choice>
              <mc:Fallback>
                <p:oleObj r:id="rId7" imgW="1244600" imgH="508000" progId="Equation.DSMT4">
                  <p:embed/>
                  <p:pic>
                    <p:nvPicPr>
                      <p:cNvPr id="5" name="对象 -2147482075"/>
                      <p:cNvPicPr/>
                      <p:nvPr/>
                    </p:nvPicPr>
                    <p:blipFill>
                      <a:blip r:embed="rId8"/>
                      <a:stretch>
                        <a:fillRect/>
                      </a:stretch>
                    </p:blipFill>
                    <p:spPr>
                      <a:xfrm>
                        <a:off x="3377163" y="3821653"/>
                        <a:ext cx="2061611" cy="841294"/>
                      </a:xfrm>
                      <a:prstGeom prst="rect">
                        <a:avLst/>
                      </a:prstGeom>
                      <a:noFill/>
                      <a:ln w="38100">
                        <a:noFill/>
                        <a:miter/>
                      </a:ln>
                    </p:spPr>
                  </p:pic>
                </p:oleObj>
              </mc:Fallback>
            </mc:AlternateContent>
          </a:graphicData>
        </a:graphic>
      </p:graphicFrame>
      <p:sp>
        <p:nvSpPr>
          <p:cNvPr id="22" name="文本框 21">
            <a:extLst>
              <a:ext uri="{FF2B5EF4-FFF2-40B4-BE49-F238E27FC236}">
                <a16:creationId xmlns:a16="http://schemas.microsoft.com/office/drawing/2014/main" id="{EBE79702-71FE-5C70-C756-0FC7225718E0}"/>
              </a:ext>
            </a:extLst>
          </p:cNvPr>
          <p:cNvSpPr txBox="1"/>
          <p:nvPr/>
        </p:nvSpPr>
        <p:spPr>
          <a:xfrm>
            <a:off x="5716970" y="4024777"/>
            <a:ext cx="4327525" cy="679673"/>
          </a:xfrm>
          <a:prstGeom prst="rect">
            <a:avLst/>
          </a:prstGeom>
        </p:spPr>
        <p:txBody>
          <a:bodyPr wrap="square">
            <a:spAutoFit/>
          </a:bodyPr>
          <a:lstStyle/>
          <a:p>
            <a:pPr indent="0" algn="just" defTabSz="266700" fontAlgn="auto">
              <a:lnSpc>
                <a:spcPct val="125000"/>
              </a:lnSpc>
              <a:buClrTx/>
              <a:buSzTx/>
              <a:buFontTx/>
            </a:pPr>
            <a:r>
              <a:rPr lang="zh-CN" altLang="en-US" sz="1600" dirty="0">
                <a:latin typeface="Times New Roman" panose="02020603050405020304"/>
                <a:ea typeface="微软雅黑" panose="020B0503020204020204" charset="-122"/>
              </a:rPr>
              <a:t>鼓励在低维空间中，那些在高维空间中很远的样本也尽量保持远离。</a:t>
            </a:r>
          </a:p>
        </p:txBody>
      </p:sp>
      <p:graphicFrame>
        <p:nvGraphicFramePr>
          <p:cNvPr id="6" name="对象 -2147482074">
            <a:extLst>
              <a:ext uri="{FF2B5EF4-FFF2-40B4-BE49-F238E27FC236}">
                <a16:creationId xmlns:a16="http://schemas.microsoft.com/office/drawing/2014/main" id="{4DDEF5E0-684A-04F4-FCB1-225F1F94D11C}"/>
              </a:ext>
            </a:extLst>
          </p:cNvPr>
          <p:cNvGraphicFramePr>
            <a:graphicFrameLocks noChangeAspect="1"/>
          </p:cNvGraphicFramePr>
          <p:nvPr>
            <p:extLst>
              <p:ext uri="{D42A27DB-BD31-4B8C-83A1-F6EECF244321}">
                <p14:modId xmlns:p14="http://schemas.microsoft.com/office/powerpoint/2010/main" val="3775057206"/>
              </p:ext>
            </p:extLst>
          </p:nvPr>
        </p:nvGraphicFramePr>
        <p:xfrm>
          <a:off x="3638550" y="5197476"/>
          <a:ext cx="672718" cy="407383"/>
        </p:xfrm>
        <a:graphic>
          <a:graphicData uri="http://schemas.openxmlformats.org/presentationml/2006/ole">
            <mc:AlternateContent xmlns:mc="http://schemas.openxmlformats.org/markup-compatibility/2006">
              <mc:Choice xmlns:v="urn:schemas-microsoft-com:vml" Requires="v">
                <p:oleObj r:id="rId9" imgW="317500" imgH="190500" progId="Equation.DSMT4">
                  <p:embed/>
                </p:oleObj>
              </mc:Choice>
              <mc:Fallback>
                <p:oleObj r:id="rId9" imgW="317500" imgH="190500" progId="Equation.DSMT4">
                  <p:embed/>
                  <p:pic>
                    <p:nvPicPr>
                      <p:cNvPr id="6" name="对象 -2147482074"/>
                      <p:cNvPicPr/>
                      <p:nvPr/>
                    </p:nvPicPr>
                    <p:blipFill>
                      <a:blip r:embed="rId10"/>
                      <a:stretch>
                        <a:fillRect/>
                      </a:stretch>
                    </p:blipFill>
                    <p:spPr>
                      <a:xfrm>
                        <a:off x="3638550" y="5197476"/>
                        <a:ext cx="672718" cy="407383"/>
                      </a:xfrm>
                      <a:prstGeom prst="rect">
                        <a:avLst/>
                      </a:prstGeom>
                      <a:noFill/>
                      <a:ln w="38100">
                        <a:noFill/>
                        <a:miter/>
                      </a:ln>
                    </p:spPr>
                  </p:pic>
                </p:oleObj>
              </mc:Fallback>
            </mc:AlternateContent>
          </a:graphicData>
        </a:graphic>
      </p:graphicFrame>
      <p:graphicFrame>
        <p:nvGraphicFramePr>
          <p:cNvPr id="8" name="对象 -2147482072">
            <a:extLst>
              <a:ext uri="{FF2B5EF4-FFF2-40B4-BE49-F238E27FC236}">
                <a16:creationId xmlns:a16="http://schemas.microsoft.com/office/drawing/2014/main" id="{6708A2C8-C99A-79CB-C76E-0E5811759AB4}"/>
              </a:ext>
            </a:extLst>
          </p:cNvPr>
          <p:cNvGraphicFramePr>
            <a:graphicFrameLocks noChangeAspect="1"/>
          </p:cNvGraphicFramePr>
          <p:nvPr>
            <p:extLst>
              <p:ext uri="{D42A27DB-BD31-4B8C-83A1-F6EECF244321}">
                <p14:modId xmlns:p14="http://schemas.microsoft.com/office/powerpoint/2010/main" val="2876343397"/>
              </p:ext>
            </p:extLst>
          </p:nvPr>
        </p:nvGraphicFramePr>
        <p:xfrm>
          <a:off x="3638550" y="5827066"/>
          <a:ext cx="672718" cy="407935"/>
        </p:xfrm>
        <a:graphic>
          <a:graphicData uri="http://schemas.openxmlformats.org/presentationml/2006/ole">
            <mc:AlternateContent xmlns:mc="http://schemas.openxmlformats.org/markup-compatibility/2006">
              <mc:Choice xmlns:v="urn:schemas-microsoft-com:vml" Requires="v">
                <p:oleObj r:id="rId11" imgW="317500" imgH="190500" progId="Equation.DSMT4">
                  <p:embed/>
                </p:oleObj>
              </mc:Choice>
              <mc:Fallback>
                <p:oleObj r:id="rId11" imgW="317500" imgH="190500" progId="Equation.DSMT4">
                  <p:embed/>
                  <p:pic>
                    <p:nvPicPr>
                      <p:cNvPr id="8" name="对象 -2147482072"/>
                      <p:cNvPicPr/>
                      <p:nvPr/>
                    </p:nvPicPr>
                    <p:blipFill>
                      <a:blip r:embed="rId12"/>
                      <a:stretch>
                        <a:fillRect/>
                      </a:stretch>
                    </p:blipFill>
                    <p:spPr>
                      <a:xfrm>
                        <a:off x="3638550" y="5827066"/>
                        <a:ext cx="672718" cy="407935"/>
                      </a:xfrm>
                      <a:prstGeom prst="rect">
                        <a:avLst/>
                      </a:prstGeom>
                      <a:noFill/>
                      <a:ln w="38100">
                        <a:noFill/>
                        <a:miter/>
                      </a:ln>
                    </p:spPr>
                  </p:pic>
                </p:oleObj>
              </mc:Fallback>
            </mc:AlternateContent>
          </a:graphicData>
        </a:graphic>
      </p:graphicFrame>
      <p:graphicFrame>
        <p:nvGraphicFramePr>
          <p:cNvPr id="11" name="对象 -2147482073">
            <a:extLst>
              <a:ext uri="{FF2B5EF4-FFF2-40B4-BE49-F238E27FC236}">
                <a16:creationId xmlns:a16="http://schemas.microsoft.com/office/drawing/2014/main" id="{318D92C8-F849-6DAB-49A1-00F3EB74C533}"/>
              </a:ext>
            </a:extLst>
          </p:cNvPr>
          <p:cNvGraphicFramePr>
            <a:graphicFrameLocks noChangeAspect="1"/>
          </p:cNvGraphicFramePr>
          <p:nvPr>
            <p:extLst>
              <p:ext uri="{D42A27DB-BD31-4B8C-83A1-F6EECF244321}">
                <p14:modId xmlns:p14="http://schemas.microsoft.com/office/powerpoint/2010/main" val="816679877"/>
              </p:ext>
            </p:extLst>
          </p:nvPr>
        </p:nvGraphicFramePr>
        <p:xfrm>
          <a:off x="4498607" y="5164587"/>
          <a:ext cx="940167" cy="433726"/>
        </p:xfrm>
        <a:graphic>
          <a:graphicData uri="http://schemas.openxmlformats.org/presentationml/2006/ole">
            <mc:AlternateContent xmlns:mc="http://schemas.openxmlformats.org/markup-compatibility/2006">
              <mc:Choice xmlns:v="urn:schemas-microsoft-com:vml" Requires="v">
                <p:oleObj r:id="rId13" imgW="533400" imgH="241300" progId="Equation.DSMT4">
                  <p:embed/>
                </p:oleObj>
              </mc:Choice>
              <mc:Fallback>
                <p:oleObj r:id="rId13" imgW="533400" imgH="241300" progId="Equation.DSMT4">
                  <p:embed/>
                  <p:pic>
                    <p:nvPicPr>
                      <p:cNvPr id="11" name="对象 -2147482073"/>
                      <p:cNvPicPr/>
                      <p:nvPr/>
                    </p:nvPicPr>
                    <p:blipFill>
                      <a:blip r:embed="rId14"/>
                      <a:stretch>
                        <a:fillRect/>
                      </a:stretch>
                    </p:blipFill>
                    <p:spPr>
                      <a:xfrm>
                        <a:off x="4498607" y="5164587"/>
                        <a:ext cx="940167" cy="433726"/>
                      </a:xfrm>
                      <a:prstGeom prst="rect">
                        <a:avLst/>
                      </a:prstGeom>
                      <a:noFill/>
                      <a:ln w="38100">
                        <a:noFill/>
                        <a:miter/>
                      </a:ln>
                    </p:spPr>
                  </p:pic>
                </p:oleObj>
              </mc:Fallback>
            </mc:AlternateContent>
          </a:graphicData>
        </a:graphic>
      </p:graphicFrame>
      <p:graphicFrame>
        <p:nvGraphicFramePr>
          <p:cNvPr id="13" name="对象 -2147482071">
            <a:extLst>
              <a:ext uri="{FF2B5EF4-FFF2-40B4-BE49-F238E27FC236}">
                <a16:creationId xmlns:a16="http://schemas.microsoft.com/office/drawing/2014/main" id="{B2F508B1-DC9B-82DE-AF18-F1DE5EE625D0}"/>
              </a:ext>
            </a:extLst>
          </p:cNvPr>
          <p:cNvGraphicFramePr>
            <a:graphicFrameLocks noChangeAspect="1"/>
          </p:cNvGraphicFramePr>
          <p:nvPr>
            <p:extLst>
              <p:ext uri="{D42A27DB-BD31-4B8C-83A1-F6EECF244321}">
                <p14:modId xmlns:p14="http://schemas.microsoft.com/office/powerpoint/2010/main" val="3591156843"/>
              </p:ext>
            </p:extLst>
          </p:nvPr>
        </p:nvGraphicFramePr>
        <p:xfrm>
          <a:off x="4493862" y="5827066"/>
          <a:ext cx="729294" cy="415736"/>
        </p:xfrm>
        <a:graphic>
          <a:graphicData uri="http://schemas.openxmlformats.org/presentationml/2006/ole">
            <mc:AlternateContent xmlns:mc="http://schemas.openxmlformats.org/markup-compatibility/2006">
              <mc:Choice xmlns:v="urn:schemas-microsoft-com:vml" Requires="v">
                <p:oleObj r:id="rId15" imgW="431800" imgH="241300" progId="Equation.DSMT4">
                  <p:embed/>
                </p:oleObj>
              </mc:Choice>
              <mc:Fallback>
                <p:oleObj r:id="rId15" imgW="431800" imgH="241300" progId="Equation.DSMT4">
                  <p:embed/>
                  <p:pic>
                    <p:nvPicPr>
                      <p:cNvPr id="13" name="对象 -2147482071"/>
                      <p:cNvPicPr/>
                      <p:nvPr/>
                    </p:nvPicPr>
                    <p:blipFill>
                      <a:blip r:embed="rId16"/>
                      <a:stretch>
                        <a:fillRect/>
                      </a:stretch>
                    </p:blipFill>
                    <p:spPr>
                      <a:xfrm>
                        <a:off x="4493862" y="5827066"/>
                        <a:ext cx="729294" cy="415736"/>
                      </a:xfrm>
                      <a:prstGeom prst="rect">
                        <a:avLst/>
                      </a:prstGeom>
                      <a:noFill/>
                      <a:ln w="38100">
                        <a:noFill/>
                        <a:miter/>
                      </a:ln>
                    </p:spPr>
                  </p:pic>
                </p:oleObj>
              </mc:Fallback>
            </mc:AlternateContent>
          </a:graphicData>
        </a:graphic>
      </p:graphicFrame>
      <p:sp>
        <p:nvSpPr>
          <p:cNvPr id="27" name="文本框 26">
            <a:extLst>
              <a:ext uri="{FF2B5EF4-FFF2-40B4-BE49-F238E27FC236}">
                <a16:creationId xmlns:a16="http://schemas.microsoft.com/office/drawing/2014/main" id="{4F894123-6B9A-C390-C5DF-5C8834205BC3}"/>
              </a:ext>
            </a:extLst>
          </p:cNvPr>
          <p:cNvSpPr txBox="1"/>
          <p:nvPr/>
        </p:nvSpPr>
        <p:spPr>
          <a:xfrm>
            <a:off x="5716971" y="5351360"/>
            <a:ext cx="4327525" cy="679673"/>
          </a:xfrm>
          <a:prstGeom prst="rect">
            <a:avLst/>
          </a:prstGeom>
        </p:spPr>
        <p:txBody>
          <a:bodyPr wrap="square">
            <a:spAutoFit/>
          </a:bodyPr>
          <a:lstStyle/>
          <a:p>
            <a:pPr algn="just" defTabSz="266700" fontAlgn="auto">
              <a:lnSpc>
                <a:spcPct val="125000"/>
              </a:lnSpc>
              <a:buClrTx/>
              <a:buSzTx/>
              <a:buFontTx/>
            </a:pPr>
            <a:r>
              <a:rPr lang="zh-CN" altLang="en-US" sz="1600" dirty="0">
                <a:latin typeface="Times New Roman" panose="02020603050405020304"/>
                <a:ea typeface="微软雅黑" panose="020B0503020204020204" charset="-122"/>
              </a:rPr>
              <a:t>对称性和对角线约束是基于距离矩阵的性质而来，确保了低维表示的合理性和有效性。</a:t>
            </a:r>
          </a:p>
        </p:txBody>
      </p:sp>
    </p:spTree>
    <p:extLst>
      <p:ext uri="{BB962C8B-B14F-4D97-AF65-F5344CB8AC3E}">
        <p14:creationId xmlns:p14="http://schemas.microsoft.com/office/powerpoint/2010/main" val="172456414"/>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4763"/>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实践案例：基于</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UMAP</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的手写数字数据集降维</a:t>
            </a:r>
          </a:p>
        </p:txBody>
      </p:sp>
      <p:sp>
        <p:nvSpPr>
          <p:cNvPr id="4" name="文本框 3"/>
          <p:cNvSpPr txBox="1"/>
          <p:nvPr/>
        </p:nvSpPr>
        <p:spPr>
          <a:xfrm>
            <a:off x="492384" y="1823528"/>
            <a:ext cx="4707890" cy="3210944"/>
          </a:xfrm>
          <a:prstGeom prst="rect">
            <a:avLst/>
          </a:prstGeom>
        </p:spPr>
        <p:txBody>
          <a:bodyPr wrap="square">
            <a:spAutoFit/>
          </a:bodyPr>
          <a:lstStyle/>
          <a:p>
            <a:pPr algn="just" defTabSz="266700">
              <a:lnSpc>
                <a:spcPct val="150000"/>
              </a:lnSpc>
              <a:spcBef>
                <a:spcPct val="0"/>
              </a:spcBef>
              <a:spcAft>
                <a:spcPct val="0"/>
              </a:spcAft>
            </a:pPr>
            <a:r>
              <a:rPr lang="zh-CN" altLang="en-US" sz="2000" dirty="0">
                <a:solidFill>
                  <a:schemeClr val="tx1"/>
                </a:solidFill>
                <a:uFillTx/>
                <a:latin typeface="Times New Roman" panose="02020603050405020304"/>
                <a:ea typeface="微软雅黑" panose="020B0503020204020204" charset="-122"/>
              </a:rPr>
              <a:t>   本案例使用</a:t>
            </a:r>
            <a:r>
              <a:rPr lang="en-US" altLang="zh-CN" sz="2000" dirty="0">
                <a:solidFill>
                  <a:schemeClr val="tx1"/>
                </a:solidFill>
                <a:uFillTx/>
                <a:latin typeface="Times New Roman" panose="02020603050405020304"/>
                <a:ea typeface="微软雅黑" panose="020B0503020204020204" charset="-122"/>
              </a:rPr>
              <a:t>UMAP</a:t>
            </a:r>
            <a:r>
              <a:rPr lang="zh-CN" altLang="en-US" sz="2000" dirty="0">
                <a:solidFill>
                  <a:schemeClr val="tx1"/>
                </a:solidFill>
                <a:uFillTx/>
                <a:latin typeface="Times New Roman" panose="02020603050405020304"/>
                <a:ea typeface="微软雅黑" panose="020B0503020204020204" charset="-122"/>
              </a:rPr>
              <a:t>算法对手写数据集进行降维，并与</a:t>
            </a:r>
            <a:r>
              <a:rPr lang="en-US" altLang="zh-CN" sz="2000" dirty="0">
                <a:solidFill>
                  <a:schemeClr val="tx1"/>
                </a:solidFill>
                <a:uFillTx/>
                <a:latin typeface="Times New Roman" panose="02020603050405020304"/>
                <a:ea typeface="微软雅黑" panose="020B0503020204020204" charset="-122"/>
              </a:rPr>
              <a:t>t-SNE</a:t>
            </a:r>
            <a:r>
              <a:rPr lang="zh-CN" altLang="en-US" sz="2000" dirty="0">
                <a:solidFill>
                  <a:schemeClr val="tx1"/>
                </a:solidFill>
                <a:uFillTx/>
                <a:latin typeface="Times New Roman" panose="02020603050405020304"/>
                <a:ea typeface="微软雅黑" panose="020B0503020204020204" charset="-122"/>
              </a:rPr>
              <a:t>算法进行对比。</a:t>
            </a:r>
            <a:endParaRPr lang="en-US" altLang="zh-CN" sz="2000" dirty="0">
              <a:solidFill>
                <a:schemeClr val="tx1"/>
              </a:solidFill>
              <a:uFillTx/>
              <a:latin typeface="Times New Roman" panose="02020603050405020304"/>
              <a:ea typeface="微软雅黑" panose="020B0503020204020204" charset="-122"/>
            </a:endParaRPr>
          </a:p>
          <a:p>
            <a:pPr algn="just" defTabSz="266700">
              <a:lnSpc>
                <a:spcPct val="150000"/>
              </a:lnSpc>
              <a:spcBef>
                <a:spcPct val="0"/>
              </a:spcBef>
              <a:spcAft>
                <a:spcPct val="0"/>
              </a:spcAft>
            </a:pPr>
            <a:r>
              <a:rPr lang="en-US" altLang="zh-CN" sz="2000" dirty="0">
                <a:latin typeface="Times New Roman" panose="02020603050405020304"/>
                <a:ea typeface="微软雅黑" panose="020B0503020204020204" charset="-122"/>
                <a:sym typeface="+mn-ea"/>
              </a:rPr>
              <a:t>    </a:t>
            </a:r>
            <a:r>
              <a:rPr lang="zh-CN" altLang="en-US" sz="2000" dirty="0">
                <a:solidFill>
                  <a:srgbClr val="000000"/>
                </a:solidFill>
                <a:latin typeface="Times New Roman" panose="02020603050405020304" pitchFamily="18" charset="0"/>
                <a:ea typeface="微软雅黑" panose="020B0503020204020204" charset="-122"/>
                <a:sym typeface="+mn-ea"/>
              </a:rPr>
              <a:t>该数据集常用于机器学习和模式识别领域，一共有</a:t>
            </a:r>
            <a:r>
              <a:rPr lang="en-US" altLang="zh-CN" sz="2000" dirty="0">
                <a:solidFill>
                  <a:srgbClr val="000000"/>
                </a:solidFill>
                <a:latin typeface="Times New Roman" panose="02020603050405020304" pitchFamily="18" charset="0"/>
                <a:ea typeface="微软雅黑" panose="020B0503020204020204" charset="-122"/>
                <a:sym typeface="+mn-ea"/>
              </a:rPr>
              <a:t>1797</a:t>
            </a:r>
            <a:r>
              <a:rPr lang="zh-CN" altLang="en-US" sz="2000" dirty="0">
                <a:solidFill>
                  <a:srgbClr val="000000"/>
                </a:solidFill>
                <a:latin typeface="Times New Roman" panose="02020603050405020304" pitchFamily="18" charset="0"/>
                <a:ea typeface="微软雅黑" panose="020B0503020204020204" charset="-122"/>
                <a:sym typeface="+mn-ea"/>
              </a:rPr>
              <a:t>张分辨率为</a:t>
            </a:r>
            <a:r>
              <a:rPr lang="en-US" altLang="zh-CN" sz="2000" dirty="0">
                <a:solidFill>
                  <a:srgbClr val="000000"/>
                </a:solidFill>
                <a:latin typeface="Times New Roman" panose="02020603050405020304" pitchFamily="18" charset="0"/>
                <a:ea typeface="微软雅黑" panose="020B0503020204020204" charset="-122"/>
                <a:sym typeface="+mn-ea"/>
              </a:rPr>
              <a:t>8×8</a:t>
            </a:r>
            <a:r>
              <a:rPr lang="zh-CN" altLang="en-US" sz="2000" dirty="0">
                <a:solidFill>
                  <a:srgbClr val="000000"/>
                </a:solidFill>
                <a:latin typeface="Times New Roman" panose="02020603050405020304" pitchFamily="18" charset="0"/>
                <a:ea typeface="微软雅黑" panose="020B0503020204020204" charset="-122"/>
                <a:sym typeface="+mn-ea"/>
              </a:rPr>
              <a:t>像素的手写数字图片，包含从</a:t>
            </a:r>
            <a:r>
              <a:rPr lang="en-US" altLang="zh-CN" sz="2000" dirty="0">
                <a:solidFill>
                  <a:srgbClr val="000000"/>
                </a:solidFill>
                <a:latin typeface="Times New Roman" panose="02020603050405020304" pitchFamily="18" charset="0"/>
                <a:ea typeface="微软雅黑" panose="020B0503020204020204" charset="-122"/>
                <a:sym typeface="+mn-ea"/>
              </a:rPr>
              <a:t>0</a:t>
            </a:r>
            <a:r>
              <a:rPr lang="zh-CN" altLang="en-US" sz="2000" dirty="0">
                <a:solidFill>
                  <a:srgbClr val="000000"/>
                </a:solidFill>
                <a:latin typeface="Times New Roman" panose="02020603050405020304" pitchFamily="18" charset="0"/>
                <a:ea typeface="微软雅黑" panose="020B0503020204020204" charset="-122"/>
                <a:sym typeface="+mn-ea"/>
              </a:rPr>
              <a:t>到</a:t>
            </a:r>
            <a:r>
              <a:rPr lang="en-US" altLang="zh-CN" sz="2000" dirty="0">
                <a:solidFill>
                  <a:srgbClr val="000000"/>
                </a:solidFill>
                <a:latin typeface="Times New Roman" panose="02020603050405020304" pitchFamily="18" charset="0"/>
                <a:ea typeface="微软雅黑" panose="020B0503020204020204" charset="-122"/>
                <a:sym typeface="+mn-ea"/>
              </a:rPr>
              <a:t>9</a:t>
            </a:r>
            <a:r>
              <a:rPr lang="zh-CN" altLang="en-US" sz="2000" dirty="0">
                <a:solidFill>
                  <a:srgbClr val="000000"/>
                </a:solidFill>
                <a:latin typeface="Times New Roman" panose="02020603050405020304" pitchFamily="18" charset="0"/>
                <a:ea typeface="微软雅黑" panose="020B0503020204020204" charset="-122"/>
                <a:sym typeface="+mn-ea"/>
              </a:rPr>
              <a:t>共十类数字，本案例中选取从</a:t>
            </a:r>
            <a:r>
              <a:rPr lang="en-US" altLang="zh-CN" sz="2000" dirty="0">
                <a:solidFill>
                  <a:srgbClr val="000000"/>
                </a:solidFill>
                <a:latin typeface="Times New Roman" panose="02020603050405020304" pitchFamily="18" charset="0"/>
                <a:ea typeface="微软雅黑" panose="020B0503020204020204" charset="-122"/>
                <a:sym typeface="+mn-ea"/>
              </a:rPr>
              <a:t>0</a:t>
            </a:r>
            <a:r>
              <a:rPr lang="zh-CN" altLang="en-US" sz="2000" dirty="0">
                <a:solidFill>
                  <a:srgbClr val="000000"/>
                </a:solidFill>
                <a:latin typeface="Times New Roman" panose="02020603050405020304" pitchFamily="18" charset="0"/>
                <a:ea typeface="微软雅黑" panose="020B0503020204020204" charset="-122"/>
                <a:sym typeface="+mn-ea"/>
              </a:rPr>
              <a:t>到</a:t>
            </a:r>
            <a:r>
              <a:rPr lang="en-US" altLang="zh-CN" sz="2000" dirty="0">
                <a:solidFill>
                  <a:srgbClr val="000000"/>
                </a:solidFill>
                <a:latin typeface="Times New Roman" panose="02020603050405020304" pitchFamily="18" charset="0"/>
                <a:ea typeface="微软雅黑" panose="020B0503020204020204" charset="-122"/>
                <a:sym typeface="+mn-ea"/>
              </a:rPr>
              <a:t>4</a:t>
            </a:r>
            <a:r>
              <a:rPr lang="zh-CN" altLang="en-US" sz="2000" dirty="0">
                <a:solidFill>
                  <a:srgbClr val="000000"/>
                </a:solidFill>
                <a:latin typeface="Times New Roman" panose="02020603050405020304" pitchFamily="18" charset="0"/>
                <a:ea typeface="微软雅黑" panose="020B0503020204020204" charset="-122"/>
                <a:sym typeface="+mn-ea"/>
              </a:rPr>
              <a:t>共五类数字。</a:t>
            </a:r>
          </a:p>
          <a:p>
            <a:pPr indent="0" algn="just" defTabSz="266700" fontAlgn="auto">
              <a:lnSpc>
                <a:spcPct val="125000"/>
              </a:lnSpc>
              <a:spcBef>
                <a:spcPct val="0"/>
              </a:spcBef>
              <a:spcAft>
                <a:spcPct val="0"/>
              </a:spcAft>
            </a:pPr>
            <a:endParaRPr lang="zh-CN" altLang="en-US" sz="2000" dirty="0">
              <a:solidFill>
                <a:schemeClr val="tx1"/>
              </a:solidFill>
              <a:uFillTx/>
              <a:latin typeface="Times New Roman" panose="02020603050405020304"/>
              <a:ea typeface="微软雅黑" panose="020B0503020204020204" charset="-122"/>
            </a:endParaRPr>
          </a:p>
        </p:txBody>
      </p:sp>
      <p:pic>
        <p:nvPicPr>
          <p:cNvPr id="8" name="图片 278">
            <a:extLst>
              <a:ext uri="{FF2B5EF4-FFF2-40B4-BE49-F238E27FC236}">
                <a16:creationId xmlns:a16="http://schemas.microsoft.com/office/drawing/2014/main" id="{5A559E59-17DE-1D0B-EB75-E6A3BD4A0492}"/>
              </a:ext>
            </a:extLst>
          </p:cNvPr>
          <p:cNvPicPr>
            <a:picLocks noChangeAspect="1"/>
          </p:cNvPicPr>
          <p:nvPr/>
        </p:nvPicPr>
        <p:blipFill>
          <a:blip r:embed="rId3"/>
          <a:srcRect/>
          <a:stretch>
            <a:fillRect/>
          </a:stretch>
        </p:blipFill>
        <p:spPr>
          <a:xfrm>
            <a:off x="6879506" y="1584671"/>
            <a:ext cx="3856988" cy="3856988"/>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B8E57-1992-5879-FEBD-8A46DB31E0BB}"/>
            </a:ext>
          </a:extLst>
        </p:cNvPr>
        <p:cNvGrpSpPr/>
        <p:nvPr/>
      </p:nvGrpSpPr>
      <p:grpSpPr>
        <a:xfrm>
          <a:off x="0" y="0"/>
          <a:ext cx="0" cy="0"/>
          <a:chOff x="0" y="0"/>
          <a:chExt cx="0" cy="0"/>
        </a:xfrm>
      </p:grpSpPr>
      <p:sp>
        <p:nvSpPr>
          <p:cNvPr id="3" name="矩形 26">
            <a:extLst>
              <a:ext uri="{FF2B5EF4-FFF2-40B4-BE49-F238E27FC236}">
                <a16:creationId xmlns:a16="http://schemas.microsoft.com/office/drawing/2014/main" id="{CD9A5698-0C99-9E01-11A3-8B887A5E4968}"/>
              </a:ext>
            </a:extLst>
          </p:cNvPr>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实践案例：基于</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UMAP</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的手写数字数据集降维</a:t>
            </a:r>
          </a:p>
        </p:txBody>
      </p:sp>
      <p:pic>
        <p:nvPicPr>
          <p:cNvPr id="6" name="图片 5" descr="14">
            <a:extLst>
              <a:ext uri="{FF2B5EF4-FFF2-40B4-BE49-F238E27FC236}">
                <a16:creationId xmlns:a16="http://schemas.microsoft.com/office/drawing/2014/main" id="{34CDCAA0-E037-40EF-7C3A-A27A0319002B}"/>
              </a:ext>
            </a:extLst>
          </p:cNvPr>
          <p:cNvPicPr>
            <a:picLocks noChangeAspect="1"/>
          </p:cNvPicPr>
          <p:nvPr/>
        </p:nvPicPr>
        <p:blipFill>
          <a:blip r:embed="rId3">
            <a:clrChange>
              <a:clrFrom>
                <a:srgbClr val="FFFFFF">
                  <a:alpha val="100000"/>
                </a:srgbClr>
              </a:clrFrom>
              <a:clrTo>
                <a:srgbClr val="FFFFFF">
                  <a:alpha val="100000"/>
                  <a:alpha val="0"/>
                </a:srgbClr>
              </a:clrTo>
            </a:clrChange>
          </a:blip>
          <a:srcRect l="3424" t="7532" b="7532"/>
          <a:stretch>
            <a:fillRect/>
          </a:stretch>
        </p:blipFill>
        <p:spPr>
          <a:xfrm>
            <a:off x="6652667" y="1295442"/>
            <a:ext cx="5319450" cy="4194091"/>
          </a:xfrm>
          <a:prstGeom prst="rect">
            <a:avLst/>
          </a:prstGeom>
        </p:spPr>
      </p:pic>
      <p:sp>
        <p:nvSpPr>
          <p:cNvPr id="12" name="文本框 11">
            <a:extLst>
              <a:ext uri="{FF2B5EF4-FFF2-40B4-BE49-F238E27FC236}">
                <a16:creationId xmlns:a16="http://schemas.microsoft.com/office/drawing/2014/main" id="{C2BBAF0E-431B-47C6-71AC-CA50BD6478D9}"/>
              </a:ext>
            </a:extLst>
          </p:cNvPr>
          <p:cNvSpPr txBox="1"/>
          <p:nvPr/>
        </p:nvSpPr>
        <p:spPr>
          <a:xfrm>
            <a:off x="83127" y="1068068"/>
            <a:ext cx="6427470" cy="2807756"/>
          </a:xfrm>
          <a:prstGeom prst="rect">
            <a:avLst/>
          </a:prstGeom>
          <a:noFill/>
        </p:spPr>
        <p:txBody>
          <a:bodyPr wrap="square">
            <a:spAutoFit/>
          </a:bodyPr>
          <a:lstStyle/>
          <a:p>
            <a:pPr indent="304800" algn="just" defTabSz="266700">
              <a:lnSpc>
                <a:spcPct val="150000"/>
              </a:lnSpc>
              <a:spcBef>
                <a:spcPct val="0"/>
              </a:spcBef>
              <a:spcAft>
                <a:spcPct val="0"/>
              </a:spcAft>
              <a:buNone/>
              <a:tabLst>
                <a:tab pos="304800" algn="l"/>
              </a:tabLst>
            </a:pPr>
            <a:r>
              <a:rPr lang="zh-CN" altLang="zh-CN" sz="2000" dirty="0">
                <a:solidFill>
                  <a:srgbClr val="000000"/>
                </a:solidFill>
                <a:latin typeface="Times New Roman" panose="02020603050405020304" pitchFamily="18" charset="0"/>
                <a:ea typeface="微软雅黑" panose="020B0503020204020204" charset="-122"/>
              </a:rPr>
              <a:t>模型构建。在</a:t>
            </a:r>
            <a:r>
              <a:rPr lang="en-US" altLang="zh-CN" sz="2000" dirty="0">
                <a:solidFill>
                  <a:srgbClr val="000000"/>
                </a:solidFill>
                <a:latin typeface="Times New Roman" panose="02020603050405020304" pitchFamily="18" charset="0"/>
                <a:ea typeface="微软雅黑" panose="020B0503020204020204" charset="-122"/>
              </a:rPr>
              <a:t>Python</a:t>
            </a:r>
            <a:r>
              <a:rPr lang="zh-CN" altLang="zh-CN" sz="2000" dirty="0">
                <a:solidFill>
                  <a:srgbClr val="000000"/>
                </a:solidFill>
                <a:latin typeface="Times New Roman" panose="02020603050405020304" pitchFamily="18" charset="0"/>
                <a:ea typeface="微软雅黑" panose="020B0503020204020204" charset="-122"/>
              </a:rPr>
              <a:t>中，</a:t>
            </a:r>
            <a:r>
              <a:rPr lang="en-US" altLang="zh-CN" sz="2000" dirty="0">
                <a:solidFill>
                  <a:srgbClr val="000000"/>
                </a:solidFill>
                <a:latin typeface="Times New Roman" panose="02020603050405020304" pitchFamily="18" charset="0"/>
                <a:ea typeface="微软雅黑" panose="020B0503020204020204" charset="-122"/>
              </a:rPr>
              <a:t>UMAP</a:t>
            </a:r>
            <a:r>
              <a:rPr lang="zh-CN" altLang="zh-CN" sz="2000" dirty="0">
                <a:solidFill>
                  <a:srgbClr val="000000"/>
                </a:solidFill>
                <a:latin typeface="Times New Roman" panose="02020603050405020304" pitchFamily="18" charset="0"/>
                <a:ea typeface="微软雅黑" panose="020B0503020204020204" charset="-122"/>
              </a:rPr>
              <a:t>算法可以通过调用</a:t>
            </a:r>
            <a:r>
              <a:rPr lang="en-US" altLang="zh-CN" sz="2000" dirty="0">
                <a:solidFill>
                  <a:srgbClr val="000000"/>
                </a:solidFill>
                <a:latin typeface="Times New Roman" panose="02020603050405020304" pitchFamily="18" charset="0"/>
                <a:ea typeface="微软雅黑" panose="020B0503020204020204" charset="-122"/>
              </a:rPr>
              <a:t>Scikit-learn</a:t>
            </a:r>
            <a:r>
              <a:rPr lang="zh-CN" altLang="zh-CN" sz="2000" dirty="0">
                <a:solidFill>
                  <a:srgbClr val="000000"/>
                </a:solidFill>
                <a:latin typeface="Times New Roman" panose="02020603050405020304" pitchFamily="18" charset="0"/>
                <a:ea typeface="微软雅黑" panose="020B0503020204020204" charset="-122"/>
              </a:rPr>
              <a:t>中</a:t>
            </a:r>
            <a:r>
              <a:rPr lang="en-US" altLang="zh-CN" sz="2000" dirty="0" err="1">
                <a:solidFill>
                  <a:srgbClr val="000000"/>
                </a:solidFill>
                <a:latin typeface="Times New Roman" panose="02020603050405020304" pitchFamily="18" charset="0"/>
                <a:ea typeface="微软雅黑" panose="020B0503020204020204" charset="-122"/>
              </a:rPr>
              <a:t>umap</a:t>
            </a:r>
            <a:r>
              <a:rPr lang="zh-CN" altLang="zh-CN" sz="2000" dirty="0">
                <a:solidFill>
                  <a:srgbClr val="000000"/>
                </a:solidFill>
                <a:latin typeface="Times New Roman" panose="02020603050405020304" pitchFamily="18" charset="0"/>
                <a:ea typeface="微软雅黑" panose="020B0503020204020204" charset="-122"/>
              </a:rPr>
              <a:t>模块中的</a:t>
            </a:r>
            <a:r>
              <a:rPr lang="en-US" altLang="zh-CN" sz="2000" dirty="0">
                <a:solidFill>
                  <a:srgbClr val="000000"/>
                </a:solidFill>
                <a:latin typeface="Times New Roman" panose="02020603050405020304" pitchFamily="18" charset="0"/>
                <a:ea typeface="微软雅黑" panose="020B0503020204020204" charset="-122"/>
              </a:rPr>
              <a:t>UMAP</a:t>
            </a:r>
            <a:r>
              <a:rPr lang="zh-CN" altLang="zh-CN" sz="2000" dirty="0">
                <a:solidFill>
                  <a:srgbClr val="000000"/>
                </a:solidFill>
                <a:latin typeface="Times New Roman" panose="02020603050405020304" pitchFamily="18" charset="0"/>
                <a:ea typeface="微软雅黑" panose="020B0503020204020204" charset="-122"/>
              </a:rPr>
              <a:t>函数实现。首先创建对象并设置参数，然后调用</a:t>
            </a:r>
            <a:r>
              <a:rPr lang="en-US" altLang="zh-CN" sz="2000" dirty="0" err="1">
                <a:solidFill>
                  <a:srgbClr val="000000"/>
                </a:solidFill>
                <a:latin typeface="Times New Roman" panose="02020603050405020304" pitchFamily="18" charset="0"/>
                <a:ea typeface="微软雅黑" panose="020B0503020204020204" charset="-122"/>
              </a:rPr>
              <a:t>fit_transform</a:t>
            </a:r>
            <a:r>
              <a:rPr lang="zh-CN" altLang="zh-CN" sz="2000" dirty="0">
                <a:solidFill>
                  <a:srgbClr val="000000"/>
                </a:solidFill>
                <a:latin typeface="Times New Roman" panose="02020603050405020304" pitchFamily="18" charset="0"/>
                <a:ea typeface="微软雅黑" panose="020B0503020204020204" charset="-122"/>
              </a:rPr>
              <a:t>方法拟合数据并进行降维。</a:t>
            </a:r>
          </a:p>
          <a:p>
            <a:pPr algn="just" defTabSz="266700">
              <a:lnSpc>
                <a:spcPct val="150000"/>
              </a:lnSpc>
              <a:spcBef>
                <a:spcPct val="0"/>
              </a:spcBef>
              <a:spcAft>
                <a:spcPct val="0"/>
              </a:spcAft>
              <a:buNone/>
            </a:pPr>
            <a:r>
              <a:rPr lang="en-US" altLang="zh-CN" sz="2000" dirty="0">
                <a:solidFill>
                  <a:srgbClr val="000000"/>
                </a:solidFill>
                <a:latin typeface="Times New Roman" panose="02020603050405020304" pitchFamily="18" charset="0"/>
                <a:ea typeface="微软雅黑" panose="020B0503020204020204" charset="-122"/>
              </a:rPr>
              <a:t>     </a:t>
            </a:r>
            <a:r>
              <a:rPr lang="zh-CN" altLang="zh-CN" sz="2000" dirty="0">
                <a:solidFill>
                  <a:srgbClr val="000000"/>
                </a:solidFill>
                <a:latin typeface="Times New Roman" panose="02020603050405020304" pitchFamily="18" charset="0"/>
                <a:ea typeface="微软雅黑" panose="020B0503020204020204" charset="-122"/>
              </a:rPr>
              <a:t>参数调整。</a:t>
            </a:r>
            <a:r>
              <a:rPr lang="en-US" altLang="zh-CN" sz="2000" dirty="0">
                <a:solidFill>
                  <a:srgbClr val="000000"/>
                </a:solidFill>
                <a:latin typeface="Times New Roman" panose="02020603050405020304" pitchFamily="18" charset="0"/>
                <a:ea typeface="微软雅黑" panose="020B0503020204020204" charset="-122"/>
              </a:rPr>
              <a:t>UMAP</a:t>
            </a:r>
            <a:r>
              <a:rPr lang="zh-CN" altLang="zh-CN" sz="2000" dirty="0">
                <a:solidFill>
                  <a:srgbClr val="000000"/>
                </a:solidFill>
                <a:latin typeface="Times New Roman" panose="02020603050405020304" pitchFamily="18" charset="0"/>
                <a:ea typeface="微软雅黑" panose="020B0503020204020204" charset="-122"/>
              </a:rPr>
              <a:t>函数的主要参数“</a:t>
            </a:r>
            <a:r>
              <a:rPr lang="en-US" altLang="zh-CN" sz="2000" dirty="0" err="1">
                <a:solidFill>
                  <a:srgbClr val="000000"/>
                </a:solidFill>
                <a:latin typeface="Times New Roman" panose="02020603050405020304" pitchFamily="18" charset="0"/>
                <a:ea typeface="微软雅黑" panose="020B0503020204020204" charset="-122"/>
              </a:rPr>
              <a:t>n_neighbors</a:t>
            </a:r>
            <a:r>
              <a:rPr lang="zh-CN" altLang="zh-CN" sz="2000" dirty="0">
                <a:solidFill>
                  <a:srgbClr val="000000"/>
                </a:solidFill>
                <a:latin typeface="Times New Roman" panose="02020603050405020304" pitchFamily="18" charset="0"/>
                <a:ea typeface="微软雅黑" panose="020B0503020204020204" charset="-122"/>
              </a:rPr>
              <a:t>”为最近邻点数量，用于控制流形逼近的局部邻域的大小；</a:t>
            </a:r>
            <a:endParaRPr lang="en-US" altLang="zh-CN" sz="2000" dirty="0">
              <a:solidFill>
                <a:srgbClr val="000000"/>
              </a:solidFill>
              <a:latin typeface="Times New Roman" panose="02020603050405020304" pitchFamily="18" charset="0"/>
              <a:ea typeface="微软雅黑" panose="020B0503020204020204" charset="-122"/>
            </a:endParaRPr>
          </a:p>
        </p:txBody>
      </p:sp>
      <p:sp>
        <p:nvSpPr>
          <p:cNvPr id="14" name="文本框 13">
            <a:extLst>
              <a:ext uri="{FF2B5EF4-FFF2-40B4-BE49-F238E27FC236}">
                <a16:creationId xmlns:a16="http://schemas.microsoft.com/office/drawing/2014/main" id="{96FF7AEE-F2FF-3D3C-170B-26F4DC732D0F}"/>
              </a:ext>
            </a:extLst>
          </p:cNvPr>
          <p:cNvSpPr txBox="1"/>
          <p:nvPr/>
        </p:nvSpPr>
        <p:spPr>
          <a:xfrm>
            <a:off x="219883" y="4089788"/>
            <a:ext cx="6290714" cy="1631216"/>
          </a:xfrm>
          <a:prstGeom prst="rect">
            <a:avLst/>
          </a:prstGeom>
          <a:noFill/>
        </p:spPr>
        <p:txBody>
          <a:bodyPr wrap="square">
            <a:spAutoFit/>
          </a:bodyPr>
          <a:lstStyle/>
          <a:p>
            <a:r>
              <a:rPr lang="zh-CN" altLang="zh-CN" sz="2000" dirty="0">
                <a:solidFill>
                  <a:srgbClr val="000000"/>
                </a:solidFill>
                <a:latin typeface="Times New Roman" panose="02020603050405020304" pitchFamily="18" charset="0"/>
                <a:ea typeface="微软雅黑" panose="020B0503020204020204" charset="-122"/>
              </a:rPr>
              <a:t>“</a:t>
            </a:r>
            <a:r>
              <a:rPr lang="en-US" altLang="zh-CN" sz="2000" dirty="0" err="1">
                <a:solidFill>
                  <a:srgbClr val="000000"/>
                </a:solidFill>
                <a:latin typeface="Times New Roman" panose="02020603050405020304" pitchFamily="18" charset="0"/>
                <a:ea typeface="微软雅黑" panose="020B0503020204020204" charset="-122"/>
              </a:rPr>
              <a:t>n_components</a:t>
            </a:r>
            <a:r>
              <a:rPr lang="zh-CN" altLang="zh-CN" sz="2000" dirty="0">
                <a:solidFill>
                  <a:srgbClr val="000000"/>
                </a:solidFill>
                <a:latin typeface="Times New Roman" panose="02020603050405020304" pitchFamily="18" charset="0"/>
                <a:ea typeface="微软雅黑" panose="020B0503020204020204" charset="-122"/>
              </a:rPr>
              <a:t>”为降维后的目标空间维数；“</a:t>
            </a:r>
            <a:r>
              <a:rPr lang="en-US" altLang="zh-CN" sz="2000" dirty="0">
                <a:solidFill>
                  <a:srgbClr val="000000"/>
                </a:solidFill>
                <a:latin typeface="Times New Roman" panose="02020603050405020304" pitchFamily="18" charset="0"/>
                <a:ea typeface="微软雅黑" panose="020B0503020204020204" charset="-122"/>
              </a:rPr>
              <a:t>metric</a:t>
            </a:r>
            <a:r>
              <a:rPr lang="zh-CN" altLang="zh-CN" sz="2000" dirty="0">
                <a:solidFill>
                  <a:srgbClr val="000000"/>
                </a:solidFill>
                <a:latin typeface="Times New Roman" panose="02020603050405020304" pitchFamily="18" charset="0"/>
                <a:ea typeface="微软雅黑" panose="020B0503020204020204" charset="-122"/>
              </a:rPr>
              <a:t>”用于测量数据点之间距离的度量方式，其取值主要有：‘</a:t>
            </a:r>
            <a:r>
              <a:rPr lang="en-US" altLang="zh-CN" sz="2000" dirty="0" err="1">
                <a:solidFill>
                  <a:srgbClr val="000000"/>
                </a:solidFill>
                <a:latin typeface="Times New Roman" panose="02020603050405020304" pitchFamily="18" charset="0"/>
                <a:ea typeface="微软雅黑" panose="020B0503020204020204" charset="-122"/>
              </a:rPr>
              <a:t>euclidean</a:t>
            </a:r>
            <a:r>
              <a:rPr lang="zh-CN" altLang="zh-CN" sz="2000" dirty="0">
                <a:solidFill>
                  <a:srgbClr val="000000"/>
                </a:solidFill>
                <a:latin typeface="Times New Roman" panose="02020603050405020304" pitchFamily="18" charset="0"/>
                <a:ea typeface="微软雅黑" panose="020B0503020204020204" charset="-122"/>
              </a:rPr>
              <a:t>’、 ‘</a:t>
            </a:r>
            <a:r>
              <a:rPr lang="en-US" altLang="zh-CN" sz="2000" dirty="0">
                <a:solidFill>
                  <a:srgbClr val="000000"/>
                </a:solidFill>
                <a:latin typeface="Times New Roman" panose="02020603050405020304" pitchFamily="18" charset="0"/>
                <a:ea typeface="微软雅黑" panose="020B0503020204020204" charset="-122"/>
              </a:rPr>
              <a:t>cosine</a:t>
            </a:r>
            <a:r>
              <a:rPr lang="zh-CN" altLang="zh-CN" sz="2000" dirty="0">
                <a:solidFill>
                  <a:srgbClr val="000000"/>
                </a:solidFill>
                <a:latin typeface="Times New Roman" panose="02020603050405020304" pitchFamily="18" charset="0"/>
                <a:ea typeface="微软雅黑" panose="020B0503020204020204" charset="-122"/>
              </a:rPr>
              <a:t>’、‘</a:t>
            </a:r>
            <a:r>
              <a:rPr lang="en-US" altLang="zh-CN" sz="2000" dirty="0" err="1">
                <a:solidFill>
                  <a:srgbClr val="000000"/>
                </a:solidFill>
                <a:latin typeface="Times New Roman" panose="02020603050405020304" pitchFamily="18" charset="0"/>
                <a:ea typeface="微软雅黑" panose="020B0503020204020204" charset="-122"/>
              </a:rPr>
              <a:t>manhattan</a:t>
            </a:r>
            <a:r>
              <a:rPr lang="zh-CN" altLang="zh-CN" sz="2000" dirty="0">
                <a:solidFill>
                  <a:srgbClr val="000000"/>
                </a:solidFill>
                <a:latin typeface="Times New Roman" panose="02020603050405020304" pitchFamily="18" charset="0"/>
                <a:ea typeface="微软雅黑" panose="020B0503020204020204" charset="-122"/>
              </a:rPr>
              <a:t>’以及‘</a:t>
            </a:r>
            <a:r>
              <a:rPr lang="en-US" altLang="zh-CN" sz="2000" dirty="0" err="1">
                <a:solidFill>
                  <a:srgbClr val="000000"/>
                </a:solidFill>
                <a:latin typeface="Times New Roman" panose="02020603050405020304" pitchFamily="18" charset="0"/>
                <a:ea typeface="微软雅黑" panose="020B0503020204020204" charset="-122"/>
              </a:rPr>
              <a:t>chebyshev</a:t>
            </a:r>
            <a:r>
              <a:rPr lang="zh-CN" altLang="zh-CN" sz="2000" dirty="0">
                <a:solidFill>
                  <a:srgbClr val="000000"/>
                </a:solidFill>
                <a:latin typeface="Times New Roman" panose="02020603050405020304" pitchFamily="18" charset="0"/>
                <a:ea typeface="微软雅黑" panose="020B0503020204020204" charset="-122"/>
              </a:rPr>
              <a:t>’等，其分别代表欧氏距离、余弦相似度、曼哈顿距离和切比雪夫距离</a:t>
            </a:r>
            <a:r>
              <a:rPr lang="zh-CN" altLang="en-US" sz="2000" dirty="0">
                <a:solidFill>
                  <a:srgbClr val="000000"/>
                </a:solidFill>
                <a:latin typeface="Times New Roman" panose="02020603050405020304" pitchFamily="18" charset="0"/>
                <a:ea typeface="微软雅黑" panose="020B0503020204020204" charset="-122"/>
              </a:rPr>
              <a:t>。</a:t>
            </a:r>
          </a:p>
        </p:txBody>
      </p:sp>
    </p:spTree>
    <p:extLst>
      <p:ext uri="{BB962C8B-B14F-4D97-AF65-F5344CB8AC3E}">
        <p14:creationId xmlns:p14="http://schemas.microsoft.com/office/powerpoint/2010/main" val="851444812"/>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实践案例：基于</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UMAP</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的手写数字数据集降维</a:t>
            </a:r>
          </a:p>
        </p:txBody>
      </p:sp>
      <p:pic>
        <p:nvPicPr>
          <p:cNvPr id="8" name="图片 7"/>
          <p:cNvPicPr>
            <a:picLocks noChangeAspect="1"/>
          </p:cNvPicPr>
          <p:nvPr/>
        </p:nvPicPr>
        <p:blipFill>
          <a:blip r:embed="rId3"/>
          <a:stretch>
            <a:fillRect/>
          </a:stretch>
        </p:blipFill>
        <p:spPr>
          <a:xfrm>
            <a:off x="256540" y="1423958"/>
            <a:ext cx="5829300" cy="3802380"/>
          </a:xfrm>
          <a:prstGeom prst="rect">
            <a:avLst/>
          </a:prstGeom>
        </p:spPr>
      </p:pic>
      <p:pic>
        <p:nvPicPr>
          <p:cNvPr id="9" name="图片 8"/>
          <p:cNvPicPr>
            <a:picLocks noChangeAspect="1"/>
          </p:cNvPicPr>
          <p:nvPr/>
        </p:nvPicPr>
        <p:blipFill>
          <a:blip r:embed="rId4"/>
          <a:stretch>
            <a:fillRect/>
          </a:stretch>
        </p:blipFill>
        <p:spPr>
          <a:xfrm>
            <a:off x="6085840" y="1285875"/>
            <a:ext cx="5844540" cy="50673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实践案例：基于</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UMAP</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的手写数字数据集降维</a:t>
            </a:r>
          </a:p>
        </p:txBody>
      </p:sp>
      <p:pic>
        <p:nvPicPr>
          <p:cNvPr id="4" name="图片 3"/>
          <p:cNvPicPr>
            <a:picLocks noChangeAspect="1"/>
          </p:cNvPicPr>
          <p:nvPr/>
        </p:nvPicPr>
        <p:blipFill>
          <a:blip r:embed="rId3"/>
          <a:stretch>
            <a:fillRect/>
          </a:stretch>
        </p:blipFill>
        <p:spPr>
          <a:xfrm>
            <a:off x="256540" y="1356360"/>
            <a:ext cx="5821680" cy="4145280"/>
          </a:xfrm>
          <a:prstGeom prst="rect">
            <a:avLst/>
          </a:prstGeom>
        </p:spPr>
      </p:pic>
      <p:pic>
        <p:nvPicPr>
          <p:cNvPr id="5" name="图片 4"/>
          <p:cNvPicPr>
            <a:picLocks noChangeAspect="1"/>
          </p:cNvPicPr>
          <p:nvPr/>
        </p:nvPicPr>
        <p:blipFill>
          <a:blip r:embed="rId4"/>
          <a:stretch>
            <a:fillRect/>
          </a:stretch>
        </p:blipFill>
        <p:spPr>
          <a:xfrm>
            <a:off x="6149975" y="2720340"/>
            <a:ext cx="5745480" cy="141732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6"/>
          <p:cNvSpPr/>
          <p:nvPr/>
        </p:nvSpPr>
        <p:spPr>
          <a:xfrm>
            <a:off x="995423" y="248198"/>
            <a:ext cx="10017888" cy="582295"/>
          </a:xfrm>
          <a:prstGeom prst="rect">
            <a:avLst/>
          </a:prstGeom>
          <a:noFill/>
        </p:spPr>
        <p:txBody>
          <a:bodyPr wrap="square" lIns="91429" tIns="45714" rIns="91429" bIns="45714">
            <a:spAutoFit/>
          </a:bodyPr>
          <a:lstStyle/>
          <a:p>
            <a:r>
              <a:rPr lang="zh-CN" altLang="en-US" sz="3200" dirty="0">
                <a:solidFill>
                  <a:srgbClr val="FFFF00"/>
                </a:solidFill>
                <a:latin typeface="华光综艺_CNKI" panose="02000500000000000000" pitchFamily="2" charset="-122"/>
                <a:ea typeface="华光综艺_CNKI" panose="02000500000000000000" pitchFamily="2" charset="-122"/>
                <a:sym typeface="+mn-ea"/>
              </a:rPr>
              <a:t>实践案例：基于</a:t>
            </a:r>
            <a:r>
              <a:rPr lang="en-US" altLang="zh-CN" sz="3200" dirty="0">
                <a:solidFill>
                  <a:srgbClr val="FFFF00"/>
                </a:solidFill>
                <a:latin typeface="华光综艺_CNKI" panose="02000500000000000000" pitchFamily="2" charset="-122"/>
                <a:ea typeface="华光综艺_CNKI" panose="02000500000000000000" pitchFamily="2" charset="-122"/>
                <a:sym typeface="+mn-ea"/>
              </a:rPr>
              <a:t>UMAP</a:t>
            </a:r>
            <a:r>
              <a:rPr lang="zh-CN" altLang="en-US" sz="3200" dirty="0">
                <a:solidFill>
                  <a:srgbClr val="FFFF00"/>
                </a:solidFill>
                <a:latin typeface="华光综艺_CNKI" panose="02000500000000000000" pitchFamily="2" charset="-122"/>
                <a:ea typeface="华光综艺_CNKI" panose="02000500000000000000" pitchFamily="2" charset="-122"/>
                <a:sym typeface="+mn-ea"/>
              </a:rPr>
              <a:t>的手写数字数据集降维</a:t>
            </a:r>
          </a:p>
        </p:txBody>
      </p:sp>
      <p:pic>
        <p:nvPicPr>
          <p:cNvPr id="28" name="图片 28" descr="代码5-8 输出"/>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6705" y="1646872"/>
            <a:ext cx="7148195" cy="3564255"/>
          </a:xfrm>
          <a:prstGeom prst="rect">
            <a:avLst/>
          </a:prstGeom>
        </p:spPr>
      </p:pic>
      <p:sp>
        <p:nvSpPr>
          <p:cNvPr id="8" name="文本框 7"/>
          <p:cNvSpPr txBox="1"/>
          <p:nvPr/>
        </p:nvSpPr>
        <p:spPr>
          <a:xfrm>
            <a:off x="7743825" y="1646872"/>
            <a:ext cx="4141470" cy="3938270"/>
          </a:xfrm>
          <a:prstGeom prst="rect">
            <a:avLst/>
          </a:prstGeom>
        </p:spPr>
        <p:txBody>
          <a:bodyPr wrap="square">
            <a:spAutoFit/>
          </a:bodyPr>
          <a:lstStyle/>
          <a:p>
            <a:pPr marL="0" indent="307340" algn="just" defTabSz="266700" fontAlgn="base">
              <a:lnSpc>
                <a:spcPct val="125000"/>
              </a:lnSpc>
              <a:spcBef>
                <a:spcPts val="800"/>
              </a:spcBef>
              <a:spcAft>
                <a:spcPct val="0"/>
              </a:spcAft>
            </a:pPr>
            <a:r>
              <a:rPr lang="zh-CN" altLang="en-US" sz="2000" dirty="0">
                <a:solidFill>
                  <a:schemeClr val="tx1"/>
                </a:solidFill>
                <a:uFillTx/>
                <a:latin typeface="Times New Roman" panose="02020603050405020304" pitchFamily="18" charset="0"/>
                <a:ea typeface="微软雅黑" panose="020B0503020204020204" charset="-122"/>
              </a:rPr>
              <a:t>根据结果看出，</a:t>
            </a:r>
            <a:r>
              <a:rPr lang="en-US" altLang="zh-CN" sz="2000" dirty="0">
                <a:solidFill>
                  <a:schemeClr val="tx1"/>
                </a:solidFill>
                <a:uFillTx/>
                <a:latin typeface="Times New Roman" panose="02020603050405020304" pitchFamily="18" charset="0"/>
                <a:ea typeface="微软雅黑" panose="020B0503020204020204" charset="-122"/>
              </a:rPr>
              <a:t>UMAP</a:t>
            </a:r>
            <a:r>
              <a:rPr lang="zh-CN" altLang="en-US" sz="2000" dirty="0">
                <a:solidFill>
                  <a:schemeClr val="tx1"/>
                </a:solidFill>
                <a:uFillTx/>
                <a:latin typeface="Times New Roman" panose="02020603050405020304" pitchFamily="18" charset="0"/>
                <a:ea typeface="微软雅黑" panose="020B0503020204020204" charset="-122"/>
              </a:rPr>
              <a:t>算法和</a:t>
            </a:r>
            <a:r>
              <a:rPr lang="en-US" altLang="zh-CN" sz="2000" dirty="0">
                <a:solidFill>
                  <a:schemeClr val="tx1"/>
                </a:solidFill>
                <a:uFillTx/>
                <a:latin typeface="Times New Roman" panose="02020603050405020304" pitchFamily="18" charset="0"/>
                <a:ea typeface="微软雅黑" panose="020B0503020204020204" charset="-122"/>
              </a:rPr>
              <a:t>t-SNE</a:t>
            </a:r>
            <a:r>
              <a:rPr lang="zh-CN" altLang="en-US" sz="2000" dirty="0">
                <a:solidFill>
                  <a:schemeClr val="tx1"/>
                </a:solidFill>
                <a:uFillTx/>
                <a:latin typeface="Times New Roman" panose="02020603050405020304" pitchFamily="18" charset="0"/>
                <a:ea typeface="微软雅黑" panose="020B0503020204020204" charset="-122"/>
              </a:rPr>
              <a:t>算法均可将不同类别的数字进行分离，形成清晰的簇，使其更容易被区分。同时，从上述结果可看出，相比于</a:t>
            </a:r>
            <a:r>
              <a:rPr lang="en-US" altLang="zh-CN" sz="2000" dirty="0">
                <a:solidFill>
                  <a:schemeClr val="tx1"/>
                </a:solidFill>
                <a:uFillTx/>
                <a:latin typeface="Times New Roman" panose="02020603050405020304" pitchFamily="18" charset="0"/>
                <a:ea typeface="微软雅黑" panose="020B0503020204020204" charset="-122"/>
              </a:rPr>
              <a:t>t-SNE</a:t>
            </a:r>
            <a:r>
              <a:rPr lang="zh-CN" altLang="en-US" sz="2000" dirty="0">
                <a:solidFill>
                  <a:schemeClr val="tx1"/>
                </a:solidFill>
                <a:uFillTx/>
                <a:latin typeface="Times New Roman" panose="02020603050405020304" pitchFamily="18" charset="0"/>
                <a:ea typeface="微软雅黑" panose="020B0503020204020204" charset="-122"/>
              </a:rPr>
              <a:t>算法，</a:t>
            </a:r>
            <a:r>
              <a:rPr lang="en-US" altLang="zh-CN" sz="2000" dirty="0">
                <a:solidFill>
                  <a:schemeClr val="tx1"/>
                </a:solidFill>
                <a:uFillTx/>
                <a:latin typeface="Times New Roman" panose="02020603050405020304" pitchFamily="18" charset="0"/>
                <a:ea typeface="微软雅黑" panose="020B0503020204020204" charset="-122"/>
              </a:rPr>
              <a:t>UMAP</a:t>
            </a:r>
            <a:r>
              <a:rPr lang="zh-CN" altLang="en-US" sz="2000" dirty="0">
                <a:solidFill>
                  <a:schemeClr val="tx1"/>
                </a:solidFill>
                <a:uFillTx/>
                <a:latin typeface="Times New Roman" panose="02020603050405020304" pitchFamily="18" charset="0"/>
                <a:ea typeface="微软雅黑" panose="020B0503020204020204" charset="-122"/>
              </a:rPr>
              <a:t>算法形成的簇间距离更大，簇内距离更小，这充分地展示出了</a:t>
            </a:r>
            <a:r>
              <a:rPr lang="en-US" altLang="zh-CN" sz="2000" dirty="0">
                <a:solidFill>
                  <a:schemeClr val="tx1"/>
                </a:solidFill>
                <a:uFillTx/>
                <a:latin typeface="Times New Roman" panose="02020603050405020304" pitchFamily="18" charset="0"/>
                <a:ea typeface="微软雅黑" panose="020B0503020204020204" charset="-122"/>
              </a:rPr>
              <a:t>UMAP</a:t>
            </a:r>
            <a:r>
              <a:rPr lang="zh-CN" altLang="en-US" sz="2000" dirty="0">
                <a:solidFill>
                  <a:schemeClr val="tx1"/>
                </a:solidFill>
                <a:uFillTx/>
                <a:latin typeface="Times New Roman" panose="02020603050405020304" pitchFamily="18" charset="0"/>
                <a:ea typeface="微软雅黑" panose="020B0503020204020204" charset="-122"/>
              </a:rPr>
              <a:t>算法更好的分类效果。考虑到不同的参数对结果有较大的影响，读者可通过调整参数来观察算法的分类结果。</a:t>
            </a:r>
          </a:p>
        </p:txBody>
      </p:sp>
    </p:spTree>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1035ED6-ED79-6653-E473-3F5FCA3CC077}"/>
              </a:ext>
            </a:extLst>
          </p:cNvPr>
          <p:cNvSpPr txBox="1">
            <a:spLocks/>
          </p:cNvSpPr>
          <p:nvPr/>
        </p:nvSpPr>
        <p:spPr>
          <a:xfrm>
            <a:off x="2974694" y="2267379"/>
            <a:ext cx="7326776" cy="1352550"/>
          </a:xfrm>
          <a:prstGeom prst="rect">
            <a:avLst/>
          </a:prstGeom>
          <a:noFill/>
        </p:spPr>
        <p:txBody>
          <a:bodyPr anchor="ctr"/>
          <a:lstStyle>
            <a:defPPr>
              <a:defRPr lang="zh-CN"/>
            </a:defPPr>
            <a:lvl1pPr algn="ctr" eaLnBrk="0" fontAlgn="base" hangingPunct="0">
              <a:lnSpc>
                <a:spcPct val="110000"/>
              </a:lnSpc>
              <a:spcBef>
                <a:spcPts val="0"/>
              </a:spcBef>
              <a:spcAft>
                <a:spcPct val="0"/>
              </a:spcAft>
              <a:defRPr sz="6600" b="1" spc="300">
                <a:solidFill>
                  <a:srgbClr val="FFFF00"/>
                </a:solidFill>
                <a:effectLst>
                  <a:outerShdw blurRad="38100" dist="1270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2pPr>
            <a:lvl3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3pPr>
            <a:lvl4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4pPr>
            <a:lvl5pPr eaLnBrk="0" fontAlgn="base" hangingPunct="0">
              <a:spcBef>
                <a:spcPct val="0"/>
              </a:spcBef>
              <a:spcAft>
                <a:spcPct val="0"/>
              </a:spcAft>
              <a:defRPr sz="3300">
                <a:solidFill>
                  <a:schemeClr val="tx2"/>
                </a:solidFill>
                <a:latin typeface="Tw Cen MT" panose="020B0602020104020603" pitchFamily="34" charset="0"/>
                <a:ea typeface="华文仿宋" panose="02010600040101010101" pitchFamily="2" charset="-122"/>
              </a:defRPr>
            </a:lvl5pPr>
            <a:lvl6pPr marL="3429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6pPr>
            <a:lvl7pPr marL="6858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7pPr>
            <a:lvl8pPr marL="10287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8pPr>
            <a:lvl9pPr marL="1371600" fontAlgn="base">
              <a:spcBef>
                <a:spcPct val="0"/>
              </a:spcBef>
              <a:spcAft>
                <a:spcPct val="0"/>
              </a:spcAft>
              <a:defRPr sz="3300">
                <a:solidFill>
                  <a:schemeClr val="tx2"/>
                </a:solidFill>
                <a:latin typeface="Tw Cen MT" panose="020B0602020104020603" pitchFamily="34" charset="0"/>
                <a:ea typeface="华文仿宋" panose="02010600040101010101" pitchFamily="2" charset="-122"/>
              </a:defRPr>
            </a:lvl9pPr>
          </a:lstStyle>
          <a:p>
            <a:pPr algn="dist"/>
            <a:r>
              <a:rPr lang="zh-CN" altLang="en-US" b="0" dirty="0">
                <a:solidFill>
                  <a:schemeClr val="bg1"/>
                </a:solidFill>
                <a:latin typeface="华光综艺_CNKI" panose="02000500000000000000" pitchFamily="2" charset="-122"/>
                <a:ea typeface="华光综艺_CNKI" panose="02000500000000000000" pitchFamily="2" charset="-122"/>
              </a:rPr>
              <a:t>恳请批评指正！</a:t>
            </a:r>
            <a:endParaRPr lang="en-US" b="0" dirty="0">
              <a:solidFill>
                <a:schemeClr val="bg1"/>
              </a:solidFill>
              <a:latin typeface="华光综艺_CNKI" panose="02000500000000000000" pitchFamily="2" charset="-122"/>
              <a:ea typeface="华光综艺_CNKI" panose="02000500000000000000" pitchFamily="2" charset="-122"/>
            </a:endParaRPr>
          </a:p>
        </p:txBody>
      </p:sp>
    </p:spTree>
    <p:extLst>
      <p:ext uri="{BB962C8B-B14F-4D97-AF65-F5344CB8AC3E}">
        <p14:creationId xmlns:p14="http://schemas.microsoft.com/office/powerpoint/2010/main" val="623532789"/>
      </p:ext>
    </p:extLst>
  </p:cSld>
  <p:clrMapOvr>
    <a:masterClrMapping/>
  </p:clrMapOvr>
  <mc:AlternateContent xmlns:mc="http://schemas.openxmlformats.org/markup-compatibility/2006" xmlns:p14="http://schemas.microsoft.com/office/powerpoint/2010/main">
    <mc:Choice Requires="p14">
      <p:transition p14:dur="1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182.1,&quot;left&quot;:271.15,&quot;top&quot;:352.25,&quot;width&quot;:601.5}"/>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1714</TotalTime>
  <Words>763</Words>
  <Application>Microsoft Office PowerPoint</Application>
  <PresentationFormat>宽屏</PresentationFormat>
  <Paragraphs>64</Paragraphs>
  <Slides>16</Slides>
  <Notes>16</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2</vt:i4>
      </vt:variant>
      <vt:variant>
        <vt:lpstr>幻灯片标题</vt:lpstr>
      </vt:variant>
      <vt:variant>
        <vt:i4>16</vt:i4>
      </vt:variant>
    </vt:vector>
  </HeadingPairs>
  <TitlesOfParts>
    <vt:vector size="25" baseType="lpstr">
      <vt:lpstr>等线</vt:lpstr>
      <vt:lpstr>华光综艺_CNKI</vt:lpstr>
      <vt:lpstr>微软雅黑</vt:lpstr>
      <vt:lpstr>Arial</vt:lpstr>
      <vt:lpstr>Calibri</vt:lpstr>
      <vt:lpstr>Times New Roman</vt:lpstr>
      <vt:lpstr>Office 主题​​</vt:lpstr>
      <vt:lpstr>MathType 7.0 Equation</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wy h</dc:creator>
  <cp:lastModifiedBy>Mengning Wang</cp:lastModifiedBy>
  <cp:revision>186</cp:revision>
  <dcterms:created xsi:type="dcterms:W3CDTF">2019-06-19T02:08:00Z</dcterms:created>
  <dcterms:modified xsi:type="dcterms:W3CDTF">2025-04-18T15:06:04Z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2052-12.1.0.18912</vt:lpwstr>
  </property>
  <property fmtid="{D5CDD505-2E9C-101B-9397-08002B2CF9AE}" pid="3" name="ICV">
    <vt:lpwstr>290520E9665F40D5BBE3CCA2763F3BF4_11</vt:lpwstr>
  </property>
</Properties>
</file>