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42"/>
  </p:notesMasterIdLst>
  <p:handoutMasterIdLst>
    <p:handoutMasterId r:id="rId43"/>
  </p:handoutMasterIdLst>
  <p:sldIdLst>
    <p:sldId id="15638" r:id="rId13"/>
    <p:sldId id="15669" r:id="rId14"/>
    <p:sldId id="15771" r:id="rId15"/>
    <p:sldId id="15772" r:id="rId16"/>
    <p:sldId id="15773" r:id="rId17"/>
    <p:sldId id="15774" r:id="rId18"/>
    <p:sldId id="15775" r:id="rId19"/>
    <p:sldId id="15776" r:id="rId20"/>
    <p:sldId id="15817" r:id="rId21"/>
    <p:sldId id="15818" r:id="rId22"/>
    <p:sldId id="15819" r:id="rId23"/>
    <p:sldId id="15820" r:id="rId24"/>
    <p:sldId id="15821" r:id="rId25"/>
    <p:sldId id="15822" r:id="rId26"/>
    <p:sldId id="15823" r:id="rId27"/>
    <p:sldId id="15835" r:id="rId28"/>
    <p:sldId id="15836" r:id="rId29"/>
    <p:sldId id="15837" r:id="rId30"/>
    <p:sldId id="15845" r:id="rId31"/>
    <p:sldId id="15846" r:id="rId32"/>
    <p:sldId id="15849" r:id="rId33"/>
    <p:sldId id="15861" r:id="rId34"/>
    <p:sldId id="15865" r:id="rId35"/>
    <p:sldId id="15866" r:id="rId36"/>
    <p:sldId id="15850" r:id="rId37"/>
    <p:sldId id="15867" r:id="rId38"/>
    <p:sldId id="15868" r:id="rId39"/>
    <p:sldId id="15869" r:id="rId40"/>
    <p:sldId id="15502" r:id="rId41"/>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40" d="100"/>
          <a:sy n="40" d="100"/>
        </p:scale>
        <p:origin x="44" y="328"/>
      </p:cViewPr>
      <p:guideLst>
        <p:guide pos="2252"/>
        <p:guide orient="horz" pos="24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2364-C4ED-C4F6-5139-791D90C5A7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08D54-AB53-7A3D-FE9F-B742B0538D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B1F1FB-5D20-0CC0-48E6-5024F25A69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2DC0CC-ECDA-C7C5-4E37-F0F8AC80CE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39968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808B-8B6B-876C-4873-82E7F5D885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A3B2AF-6C1D-EEF6-89F5-0A5C719344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11878E-66BA-AAE1-0D42-623D3FC1F76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817A170-5736-4367-B77C-C762C1E306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8399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6E554-75CF-5A65-B810-42E36A683D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1F06C3-2A71-99B6-B78D-AA3567844D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98CCE1-BB65-A77B-7133-818562C1846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3A62295-F3E0-8D7F-4FA4-ACB8E9B50B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88567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26D67-403F-BD90-EB19-7BC05C3700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7C0B51-0716-82AB-E7CC-1DF808F013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B4764C-10AA-C091-42D8-D208F6A2B5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46A1B0-C1CE-7008-143D-AAA5AA6047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55342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D4FDB-2AD9-87C8-7507-FE68117720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D12ABA-2387-F383-B66D-2C68E8FA54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E76C09-86CF-B511-B799-3C52929D3C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55B3BF2-1ADE-0993-3007-8A18945DA9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22487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43FEF-A7B4-C58E-0182-24E7143160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A4B122-005F-14C5-3C04-49E570B865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6F9D4E-0BDC-C5EC-3311-661FEF8971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323E93A-DCD2-CCC8-0386-C1B95DEEBE3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66171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ED02C-B622-7769-4C67-7D1314A434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F1EDCA-E409-03D5-10BB-B7454FDB4C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2BFA59-B774-F712-4BA6-6552BAF13AA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0BC3C47-93D7-455E-44C5-AF37BAC4C1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21742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1F637-FA58-CDEC-7601-F5E9FF24FE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63B5FC-FEB9-5AE2-AB1E-502FBB48CF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9BDBCD-D592-8529-675E-8DAEA836B25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011CC5F-A357-433F-1D48-B5D98338E5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93911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3497B-5F32-AB09-5E83-33EA73A356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E83C19-B38E-8028-ECC9-4275F46252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C72F3A-C053-97A6-1B15-603EAD6E48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C931A0A-B32F-D2D6-F989-3C6510F34F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30610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A1247-AB99-349B-7651-0EDD5B5A42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52440D-1513-5DFC-2DBD-FA4C00AB46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0FF8F7-66F4-103B-5A02-5C39A24230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85FEBA-92C4-CBFF-1C8C-B8B851E5BC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85082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65548-EA84-1E5D-18ED-CB52F8BD2E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36ED46-AD26-1ECB-0940-7A66B47459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3FDB80-EDA5-EA76-D55D-20F602D1749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B776F08-9877-B752-3EAD-2D6E4EAB5D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3666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DAA3-B7A7-4388-7995-71C62A0D03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6FD09E-604C-8C6F-772F-78A88A04B3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3609CC-1EC3-29B2-B23C-4D742FC9BA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77586F-33DC-745D-352A-CAB92C287D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15515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D09B2-E23A-7917-7150-0145113895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872F20-1985-38C5-D548-CBC92BF069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6A94DB-9728-3755-4F94-FBAFF0BD203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978F9B7-3046-160A-5C65-F20654D218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45376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66E1C-4EF4-4DE0-8FFB-66556396B6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2426D6-AA6E-A505-6AEC-01751F9EB3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908E60-A2CE-6ABC-CB60-E4231FFCA4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EC8EA63-CCE9-796B-A52A-B8F1DBAA8C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88382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6D7C2-DA39-4AE9-79C1-E4AEC6A6BF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091471-8AB3-74F6-5563-458003F632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504424-A038-76E1-5CFB-C9E9F431F16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C7EBC4-F593-D7D8-0E35-2F7AF8DC23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5592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6F80-EE72-C655-B64C-448D906079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99BC35-33FA-03F1-7B85-4F9CD23061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10720C-3683-8DE5-8DCC-7258598677A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83EF7F7-E1FE-4EDE-DBD3-35950AFEF9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06504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B0EC9-13F8-9922-BB06-52A835B5AE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81EB3D-1A31-6DC7-B6AF-672C625D14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7750BF-E3E7-4824-FE5F-A4491668405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FF97513-F058-8A1B-4D88-E906192747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9294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7367-D004-4B2A-5288-2F5F1CA38C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36663A-ACFF-94FB-14DA-1B73433DAC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1F0101-E38C-EA31-22F1-D61ACA02D7C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B606073-426D-8493-0057-DAEA5A4806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51871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7B7A9-D66E-6CF2-FD80-8F28C2B1A7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4678D4-0650-3C23-6BE7-1C391316F7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0FFD50-4BB3-B3A6-463D-C59832332EF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DDB6BC8-63DE-F7E5-4803-72B9EC2F42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95198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1EFE6-3D5F-45F4-E645-B37645E1C7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260178-81D1-448B-3141-91E9789E02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518670-906A-5A89-6EBC-A4A30A6C06E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F6A17F-76B9-3BE5-501A-8373ED1274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16253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968B-2661-B9EC-ECC1-13960CE1EC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428DBC-A038-C8FD-B4B9-0C552B6CDF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7EC6DB-B8E4-FD08-3F4F-287425322A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5EE400-F2E4-A397-17D0-9C21395E02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582339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7A19B-F9AD-F666-63A8-0466340E56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58296E-4752-C230-9714-9E453BA520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146BEE-1374-9674-0855-70A355DFDE2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3CBF93-48CC-B613-65DA-1206CDADD8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14899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E0813-CA34-521F-CBF3-09E994A725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48FE54-DF06-821E-177A-E25E75E358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F43921-E12D-213D-F9CE-C93F8B8754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2F6CBD-FF83-2618-59D9-0C6C5ED46C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360626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1AC82-2BA1-260A-4749-460E71B8B3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255D39-6108-AA4F-D421-E4D793E4F8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45A93-6C92-CC3A-9356-EF3B65935FC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EDDC318-15C3-7F19-015B-0EAAFE596B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6235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6EF7-1128-D6E2-1678-D3C3290A10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D59989-A60A-F73B-0ED8-3B37246CB0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A468BC-2CD6-C6F7-15DB-9ABF8AE7A0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66016B-7367-CB90-2F3E-F10353F504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97712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30266-73F7-7A36-9467-620C2BAF85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44FEBD-F80E-912A-B19D-5F2923656D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28005F-6F37-AD52-CCFE-CB5943D74C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109A5A8-D535-92BA-CD4A-15977E522B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990539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2E2DB-5785-798F-41DD-BFEAA11738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BE3F2A-EED8-2AC6-5F18-6262017C4C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9B5FF3-CD75-778D-20F9-4C863F0B02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6D5545-0914-74CA-B639-549A97426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374963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4.bin"/><Relationship Id="rId4" Type="http://schemas.openxmlformats.org/officeDocument/2006/relationships/image" Target="../media/image28.wmf"/></Relationships>
</file>

<file path=ppt/slides/_rels/slide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8" Type="http://schemas.openxmlformats.org/officeDocument/2006/relationships/image" Target="../media/image35.e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37.wmf"/><Relationship Id="rId17" Type="http://schemas.openxmlformats.org/officeDocument/2006/relationships/image" Target="../media/image40.emf"/><Relationship Id="rId2" Type="http://schemas.openxmlformats.org/officeDocument/2006/relationships/notesSlide" Target="../notesSlides/notesSlide7.xml"/><Relationship Id="rId16"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image" Target="../media/image34.e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image" Target="../media/image39.emf"/><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9.bin"/><Relationship Id="rId14" Type="http://schemas.openxmlformats.org/officeDocument/2006/relationships/image" Target="../media/image38.emf"/></Relationships>
</file>

<file path=ppt/slides/_rels/slide8.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2.emf"/><Relationship Id="rId5" Type="http://schemas.openxmlformats.org/officeDocument/2006/relationships/oleObject" Target="../embeddings/oleObject14.bin"/><Relationship Id="rId4" Type="http://schemas.openxmlformats.org/officeDocument/2006/relationships/image" Target="../media/image41.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oleObject" Target="../embeddings/oleObject16.bin"/><Relationship Id="rId7" Type="http://schemas.openxmlformats.org/officeDocument/2006/relationships/image" Target="../media/image46.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5.emf"/><Relationship Id="rId11" Type="http://schemas.openxmlformats.org/officeDocument/2006/relationships/image" Target="../media/image48.emf"/><Relationship Id="rId5" Type="http://schemas.openxmlformats.org/officeDocument/2006/relationships/oleObject" Target="../embeddings/oleObject17.bin"/><Relationship Id="rId10" Type="http://schemas.openxmlformats.org/officeDocument/2006/relationships/oleObject" Target="../embeddings/oleObject19.bin"/><Relationship Id="rId4" Type="http://schemas.openxmlformats.org/officeDocument/2006/relationships/image" Target="../media/image44.emf"/><Relationship Id="rId9" Type="http://schemas.openxmlformats.org/officeDocument/2006/relationships/image" Target="../media/image47.emf"/></Relationships>
</file>

<file path=ppt/slides/_rels/slide10.xml.rels><?xml version="1.0" encoding="UTF-8" standalone="yes"?>
<Relationships xmlns="http://schemas.openxmlformats.org/package/2006/relationships"><Relationship Id="rId8" Type="http://schemas.openxmlformats.org/officeDocument/2006/relationships/image" Target="../media/image52.emf"/><Relationship Id="rId13" Type="http://schemas.openxmlformats.org/officeDocument/2006/relationships/oleObject" Target="../embeddings/oleObject24.bin"/><Relationship Id="rId3" Type="http://schemas.openxmlformats.org/officeDocument/2006/relationships/image" Target="../media/image49.emf"/><Relationship Id="rId7" Type="http://schemas.openxmlformats.org/officeDocument/2006/relationships/oleObject" Target="../embeddings/oleObject21.bin"/><Relationship Id="rId12" Type="http://schemas.openxmlformats.org/officeDocument/2006/relationships/image" Target="../media/image54.emf"/><Relationship Id="rId2" Type="http://schemas.openxmlformats.org/officeDocument/2006/relationships/notesSlide" Target="../notesSlides/notesSlide10.xml"/><Relationship Id="rId16" Type="http://schemas.openxmlformats.org/officeDocument/2006/relationships/image" Target="../media/image56.emf"/><Relationship Id="rId1" Type="http://schemas.openxmlformats.org/officeDocument/2006/relationships/slideLayout" Target="../slideLayouts/slideLayout2.xml"/><Relationship Id="rId6" Type="http://schemas.openxmlformats.org/officeDocument/2006/relationships/image" Target="../media/image51.e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53.emf"/><Relationship Id="rId4" Type="http://schemas.openxmlformats.org/officeDocument/2006/relationships/image" Target="../media/image50.emf"/><Relationship Id="rId9" Type="http://schemas.openxmlformats.org/officeDocument/2006/relationships/oleObject" Target="../embeddings/oleObject22.bin"/><Relationship Id="rId14" Type="http://schemas.openxmlformats.org/officeDocument/2006/relationships/image" Target="../media/image55.emf"/></Relationships>
</file>

<file path=ppt/slides/_rels/slide11.xml.rels><?xml version="1.0" encoding="UTF-8" standalone="yes"?>
<Relationships xmlns="http://schemas.openxmlformats.org/package/2006/relationships"><Relationship Id="rId3" Type="http://schemas.openxmlformats.org/officeDocument/2006/relationships/image" Target="../media/image57.emf"/><Relationship Id="rId7" Type="http://schemas.openxmlformats.org/officeDocument/2006/relationships/image" Target="../media/image59.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58.emf"/><Relationship Id="rId4" Type="http://schemas.openxmlformats.org/officeDocument/2006/relationships/oleObject" Target="../embeddings/oleObject26.bin"/></Relationships>
</file>

<file path=ppt/slides/_rels/slide12.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oleObject" Target="../embeddings/oleObject27.bin"/><Relationship Id="rId7" Type="http://schemas.openxmlformats.org/officeDocument/2006/relationships/oleObject" Target="../embeddings/oleObject28.bin"/><Relationship Id="rId12" Type="http://schemas.openxmlformats.org/officeDocument/2006/relationships/image" Target="../media/image64.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1.emf"/><Relationship Id="rId11" Type="http://schemas.openxmlformats.org/officeDocument/2006/relationships/oleObject" Target="../embeddings/oleObject30.bin"/><Relationship Id="rId5" Type="http://schemas.openxmlformats.org/officeDocument/2006/relationships/image" Target="../media/image60.emf"/><Relationship Id="rId10" Type="http://schemas.openxmlformats.org/officeDocument/2006/relationships/image" Target="../media/image63.emf"/><Relationship Id="rId4" Type="http://schemas.openxmlformats.org/officeDocument/2006/relationships/image" Target="../media/image59.emf"/><Relationship Id="rId9" Type="http://schemas.openxmlformats.org/officeDocument/2006/relationships/oleObject" Target="../embeddings/oleObject29.bin"/></Relationships>
</file>

<file path=ppt/slides/_rels/slide13.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image" Target="../media/image65.emf"/><Relationship Id="rId7" Type="http://schemas.openxmlformats.org/officeDocument/2006/relationships/oleObject" Target="../embeddings/oleObject31.bin"/><Relationship Id="rId12" Type="http://schemas.openxmlformats.org/officeDocument/2006/relationships/image" Target="../media/image72.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8.emf"/><Relationship Id="rId11" Type="http://schemas.openxmlformats.org/officeDocument/2006/relationships/oleObject" Target="../embeddings/oleObject32.bin"/><Relationship Id="rId5" Type="http://schemas.openxmlformats.org/officeDocument/2006/relationships/image" Target="../media/image67.emf"/><Relationship Id="rId10" Type="http://schemas.openxmlformats.org/officeDocument/2006/relationships/image" Target="../media/image71.emf"/><Relationship Id="rId4" Type="http://schemas.openxmlformats.org/officeDocument/2006/relationships/image" Target="../media/image66.emf"/><Relationship Id="rId9" Type="http://schemas.openxmlformats.org/officeDocument/2006/relationships/image" Target="../media/image70.emf"/></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4.svg"/><Relationship Id="rId4" Type="http://schemas.openxmlformats.org/officeDocument/2006/relationships/image" Target="../media/image7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4.svg"/><Relationship Id="rId4" Type="http://schemas.openxmlformats.org/officeDocument/2006/relationships/image" Target="../media/image73.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78.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7.emf"/><Relationship Id="rId5" Type="http://schemas.openxmlformats.org/officeDocument/2006/relationships/image" Target="../media/image76.emf"/><Relationship Id="rId4" Type="http://schemas.openxmlformats.org/officeDocument/2006/relationships/image" Target="../media/image75.emf"/></Relationships>
</file>

<file path=ppt/slides/_rels/slide17.xml.rels><?xml version="1.0" encoding="UTF-8" standalone="yes"?>
<Relationships xmlns="http://schemas.openxmlformats.org/package/2006/relationships"><Relationship Id="rId8" Type="http://schemas.openxmlformats.org/officeDocument/2006/relationships/image" Target="../media/image81.e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0.emf"/><Relationship Id="rId5" Type="http://schemas.openxmlformats.org/officeDocument/2006/relationships/oleObject" Target="../embeddings/oleObject35.bin"/><Relationship Id="rId4" Type="http://schemas.openxmlformats.org/officeDocument/2006/relationships/image" Target="../media/image79.wmf"/></Relationships>
</file>

<file path=ppt/slides/_rels/slide18.xml.rels><?xml version="1.0" encoding="UTF-8" standalone="yes"?>
<Relationships xmlns="http://schemas.openxmlformats.org/package/2006/relationships"><Relationship Id="rId8" Type="http://schemas.openxmlformats.org/officeDocument/2006/relationships/image" Target="../media/image85.emf"/><Relationship Id="rId13" Type="http://schemas.openxmlformats.org/officeDocument/2006/relationships/oleObject" Target="../embeddings/oleObject41.bin"/><Relationship Id="rId18" Type="http://schemas.openxmlformats.org/officeDocument/2006/relationships/image" Target="../media/image90.emf"/><Relationship Id="rId3" Type="http://schemas.openxmlformats.org/officeDocument/2006/relationships/image" Target="../media/image82.emf"/><Relationship Id="rId7" Type="http://schemas.openxmlformats.org/officeDocument/2006/relationships/oleObject" Target="../embeddings/oleObject38.bin"/><Relationship Id="rId12" Type="http://schemas.openxmlformats.org/officeDocument/2006/relationships/image" Target="../media/image87.emf"/><Relationship Id="rId17" Type="http://schemas.openxmlformats.org/officeDocument/2006/relationships/oleObject" Target="../embeddings/oleObject43.bin"/><Relationship Id="rId2" Type="http://schemas.openxmlformats.org/officeDocument/2006/relationships/notesSlide" Target="../notesSlides/notesSlide18.xml"/><Relationship Id="rId16" Type="http://schemas.openxmlformats.org/officeDocument/2006/relationships/image" Target="../media/image89.emf"/><Relationship Id="rId1" Type="http://schemas.openxmlformats.org/officeDocument/2006/relationships/slideLayout" Target="../slideLayouts/slideLayout2.xml"/><Relationship Id="rId6" Type="http://schemas.openxmlformats.org/officeDocument/2006/relationships/image" Target="../media/image84.e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86.emf"/><Relationship Id="rId4" Type="http://schemas.openxmlformats.org/officeDocument/2006/relationships/image" Target="../media/image83.emf"/><Relationship Id="rId9" Type="http://schemas.openxmlformats.org/officeDocument/2006/relationships/oleObject" Target="../embeddings/oleObject39.bin"/><Relationship Id="rId14" Type="http://schemas.openxmlformats.org/officeDocument/2006/relationships/image" Target="../media/image88.emf"/></Relationships>
</file>

<file path=ppt/slides/_rels/slide1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3.emf"/><Relationship Id="rId4" Type="http://schemas.openxmlformats.org/officeDocument/2006/relationships/oleObject" Target="../embeddings/oleObject44.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emf"/></Relationships>
</file>

<file path=ppt/slides/_rels/slide2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08.emf"/><Relationship Id="rId13" Type="http://schemas.openxmlformats.org/officeDocument/2006/relationships/oleObject" Target="../embeddings/oleObject53.bin"/><Relationship Id="rId3" Type="http://schemas.openxmlformats.org/officeDocument/2006/relationships/image" Target="../media/image105.png"/><Relationship Id="rId7" Type="http://schemas.openxmlformats.org/officeDocument/2006/relationships/oleObject" Target="../embeddings/oleObject50.bin"/><Relationship Id="rId12" Type="http://schemas.openxmlformats.org/officeDocument/2006/relationships/image" Target="../media/image110.emf"/><Relationship Id="rId2" Type="http://schemas.openxmlformats.org/officeDocument/2006/relationships/notesSlide" Target="../notesSlides/notesSlide28.xml"/><Relationship Id="rId16" Type="http://schemas.openxmlformats.org/officeDocument/2006/relationships/image" Target="../media/image112.emf"/><Relationship Id="rId1" Type="http://schemas.openxmlformats.org/officeDocument/2006/relationships/slideLayout" Target="../slideLayouts/slideLayout2.xml"/><Relationship Id="rId6" Type="http://schemas.openxmlformats.org/officeDocument/2006/relationships/image" Target="../media/image107.emf"/><Relationship Id="rId11" Type="http://schemas.openxmlformats.org/officeDocument/2006/relationships/oleObject" Target="../embeddings/oleObject52.bin"/><Relationship Id="rId5" Type="http://schemas.openxmlformats.org/officeDocument/2006/relationships/oleObject" Target="../embeddings/oleObject49.bin"/><Relationship Id="rId15" Type="http://schemas.openxmlformats.org/officeDocument/2006/relationships/oleObject" Target="../embeddings/oleObject54.bin"/><Relationship Id="rId10" Type="http://schemas.openxmlformats.org/officeDocument/2006/relationships/image" Target="../media/image109.emf"/><Relationship Id="rId4" Type="http://schemas.openxmlformats.org/officeDocument/2006/relationships/image" Target="../media/image106.svg"/><Relationship Id="rId9" Type="http://schemas.openxmlformats.org/officeDocument/2006/relationships/oleObject" Target="../embeddings/oleObject51.bin"/><Relationship Id="rId14" Type="http://schemas.openxmlformats.org/officeDocument/2006/relationships/image" Target="../media/image111.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BC5161-4448-DA26-9386-B6055113A398}"/>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7.6</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支持向量机</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4B536-A18F-2B1B-8F1F-2882FB9ED22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B537DC0-F4BE-6724-1330-CDCA8268D233}"/>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支持向量机基本原理</a:t>
            </a:r>
            <a:endParaRPr kumimoji="0" 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a:extLst>
              <a:ext uri="{FF2B5EF4-FFF2-40B4-BE49-F238E27FC236}">
                <a16:creationId xmlns:a16="http://schemas.microsoft.com/office/drawing/2014/main" id="{0FDBF35D-1811-E453-3027-485898E79B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文本框 12">
            <a:extLst>
              <a:ext uri="{FF2B5EF4-FFF2-40B4-BE49-F238E27FC236}">
                <a16:creationId xmlns:a16="http://schemas.microsoft.com/office/drawing/2014/main" id="{5AD098E4-9374-2881-E182-628D9EB32F9B}"/>
              </a:ext>
            </a:extLst>
          </p:cNvPr>
          <p:cNvSpPr txBox="1"/>
          <p:nvPr/>
        </p:nvSpPr>
        <p:spPr>
          <a:xfrm>
            <a:off x="350803" y="1344862"/>
            <a:ext cx="11307127" cy="1435136"/>
          </a:xfrm>
          <a:prstGeom prst="rect">
            <a:avLst/>
          </a:prstGeom>
          <a:noFill/>
        </p:spPr>
        <p:txBody>
          <a:bodyPr wrap="square">
            <a:spAutoFit/>
          </a:bodyPr>
          <a:lstStyle/>
          <a:p>
            <a:pPr indent="304800" algn="just">
              <a:lnSpc>
                <a:spcPct val="125000"/>
              </a:lnSpc>
            </a:pPr>
            <a:r>
              <a:rPr lang="en-US" altLang="zh-CN" sz="2400" dirty="0">
                <a:latin typeface="微软雅黑" panose="020B0503020204020204" pitchFamily="34" charset="-122"/>
                <a:ea typeface="微软雅黑" panose="020B0503020204020204" pitchFamily="34" charset="-122"/>
              </a:rPr>
              <a:t>SVM</a:t>
            </a:r>
            <a:r>
              <a:rPr lang="zh-CN" altLang="zh-CN" sz="2400" dirty="0">
                <a:latin typeface="微软雅黑" panose="020B0503020204020204" pitchFamily="34" charset="-122"/>
                <a:ea typeface="微软雅黑" panose="020B0503020204020204" pitchFamily="34" charset="-122"/>
              </a:rPr>
              <a:t>的主要思想是寻找能够有效区分不同类别的决策边界（或超平面），并使得这个决策边界与各类别的最近数据点之间的间隔最大化。这种最大间隔的决策边界有助于提高模型的泛化能力，从而在新数据上表现更为优越。</a:t>
            </a:r>
          </a:p>
        </p:txBody>
      </p:sp>
      <p:sp>
        <p:nvSpPr>
          <p:cNvPr id="17" name="文本框 16">
            <a:extLst>
              <a:ext uri="{FF2B5EF4-FFF2-40B4-BE49-F238E27FC236}">
                <a16:creationId xmlns:a16="http://schemas.microsoft.com/office/drawing/2014/main" id="{18F1E02E-C53B-5AE0-F571-706441FEFD70}"/>
              </a:ext>
            </a:extLst>
          </p:cNvPr>
          <p:cNvSpPr txBox="1"/>
          <p:nvPr/>
        </p:nvSpPr>
        <p:spPr>
          <a:xfrm>
            <a:off x="166154" y="3024203"/>
            <a:ext cx="11138115" cy="3213957"/>
          </a:xfrm>
          <a:prstGeom prst="rect">
            <a:avLst/>
          </a:prstGeom>
          <a:noFill/>
        </p:spPr>
        <p:txBody>
          <a:bodyPr wrap="square">
            <a:spAutoFit/>
          </a:bodyPr>
          <a:lstStyle/>
          <a:p>
            <a:pPr marL="685800" lvl="1" indent="-228600">
              <a:lnSpc>
                <a:spcPct val="90000"/>
              </a:lnSpc>
              <a:spcBef>
                <a:spcPts val="500"/>
              </a:spcBef>
              <a:buFont typeface="Arial" panose="020B0604020202020204" pitchFamily="34" charset="0"/>
              <a:buChar char="•"/>
            </a:pPr>
            <a:r>
              <a:rPr lang="zh-CN" altLang="zh-CN" sz="2400" dirty="0">
                <a:solidFill>
                  <a:srgbClr val="FF0000"/>
                </a:solidFill>
                <a:ea typeface="华文新魏" panose="02010800040101010101" pitchFamily="2" charset="-122"/>
              </a:rPr>
              <a:t>线性可分</a:t>
            </a:r>
            <a:r>
              <a:rPr lang="en-US" altLang="zh-CN" sz="2400" dirty="0">
                <a:solidFill>
                  <a:srgbClr val="FF0000"/>
                </a:solidFill>
                <a:ea typeface="华文新魏" panose="02010800040101010101" pitchFamily="2" charset="-122"/>
              </a:rPr>
              <a:t>SVM</a:t>
            </a:r>
            <a:r>
              <a:rPr lang="zh-CN" altLang="zh-CN" sz="2400" dirty="0">
                <a:ea typeface="华文新魏" panose="02010800040101010101" pitchFamily="2" charset="-122"/>
              </a:rPr>
              <a:t>是</a:t>
            </a:r>
            <a:r>
              <a:rPr lang="en-US" altLang="zh-CN" sz="2400" dirty="0">
                <a:ea typeface="华文新魏" panose="02010800040101010101" pitchFamily="2" charset="-122"/>
              </a:rPr>
              <a:t>SVM</a:t>
            </a:r>
            <a:r>
              <a:rPr lang="zh-CN" altLang="zh-CN" sz="2400" dirty="0">
                <a:ea typeface="华文新魏" panose="02010800040101010101" pitchFamily="2" charset="-122"/>
              </a:rPr>
              <a:t>的一种特殊情况，它假设训练数据集是线性可分的，即存在一个超平面能够将正样本和负样本完全分开。其目标是找到一个最优的超平面，使得所有正样本和负样本到这个超平面的距离最大。</a:t>
            </a:r>
          </a:p>
          <a:p>
            <a:pPr marL="685800" lvl="1" indent="-228600">
              <a:lnSpc>
                <a:spcPct val="90000"/>
              </a:lnSpc>
              <a:spcBef>
                <a:spcPts val="500"/>
              </a:spcBef>
              <a:buFont typeface="Arial" panose="020B0604020202020204" pitchFamily="34" charset="0"/>
              <a:buChar char="•"/>
            </a:pPr>
            <a:r>
              <a:rPr lang="zh-CN" altLang="zh-CN" sz="2400" dirty="0">
                <a:solidFill>
                  <a:srgbClr val="FF0000"/>
                </a:solidFill>
                <a:ea typeface="华文新魏" panose="02010800040101010101" pitchFamily="2" charset="-122"/>
              </a:rPr>
              <a:t>线性</a:t>
            </a:r>
            <a:r>
              <a:rPr lang="en-US" altLang="zh-CN" sz="2400" dirty="0">
                <a:solidFill>
                  <a:srgbClr val="FF0000"/>
                </a:solidFill>
                <a:ea typeface="华文新魏" panose="02010800040101010101" pitchFamily="2" charset="-122"/>
              </a:rPr>
              <a:t>SVM</a:t>
            </a:r>
            <a:r>
              <a:rPr lang="zh-CN" altLang="zh-CN" sz="2400" dirty="0">
                <a:ea typeface="华文新魏" panose="02010800040101010101" pitchFamily="2" charset="-122"/>
              </a:rPr>
              <a:t>是</a:t>
            </a:r>
            <a:r>
              <a:rPr lang="en-US" altLang="zh-CN" sz="2400" dirty="0">
                <a:ea typeface="华文新魏" panose="02010800040101010101" pitchFamily="2" charset="-122"/>
              </a:rPr>
              <a:t>SVM</a:t>
            </a:r>
            <a:r>
              <a:rPr lang="zh-CN" altLang="zh-CN" sz="2400" dirty="0">
                <a:ea typeface="华文新魏" panose="02010800040101010101" pitchFamily="2" charset="-122"/>
              </a:rPr>
              <a:t>的一般形式，它并不假设训练数据集是线性可分的，即使数据集线性不可分，线性</a:t>
            </a:r>
            <a:r>
              <a:rPr lang="en-US" altLang="zh-CN" sz="2400" dirty="0">
                <a:ea typeface="华文新魏" panose="02010800040101010101" pitchFamily="2" charset="-122"/>
              </a:rPr>
              <a:t>SVM</a:t>
            </a:r>
            <a:r>
              <a:rPr lang="zh-CN" altLang="zh-CN" sz="2400" dirty="0">
                <a:ea typeface="华文新魏" panose="02010800040101010101" pitchFamily="2" charset="-122"/>
              </a:rPr>
              <a:t>仍然可以通过引入松弛变量来容忍一些分类错误。</a:t>
            </a:r>
          </a:p>
          <a:p>
            <a:pPr marL="685800" lvl="1" indent="-228600">
              <a:lnSpc>
                <a:spcPct val="90000"/>
              </a:lnSpc>
              <a:spcBef>
                <a:spcPts val="500"/>
              </a:spcBef>
              <a:buFont typeface="Arial" panose="020B0604020202020204" pitchFamily="34" charset="0"/>
              <a:buChar char="•"/>
            </a:pPr>
            <a:r>
              <a:rPr lang="zh-CN" altLang="zh-CN" sz="2400" dirty="0">
                <a:solidFill>
                  <a:srgbClr val="FF0000"/>
                </a:solidFill>
                <a:ea typeface="华文新魏" panose="02010800040101010101" pitchFamily="2" charset="-122"/>
              </a:rPr>
              <a:t>非线性</a:t>
            </a:r>
            <a:r>
              <a:rPr lang="en-US" altLang="zh-CN" sz="2400" dirty="0">
                <a:solidFill>
                  <a:srgbClr val="FF0000"/>
                </a:solidFill>
                <a:ea typeface="华文新魏" panose="02010800040101010101" pitchFamily="2" charset="-122"/>
              </a:rPr>
              <a:t>SVM</a:t>
            </a:r>
            <a:r>
              <a:rPr lang="zh-CN" altLang="zh-CN" sz="2400" dirty="0">
                <a:ea typeface="华文新魏" panose="02010800040101010101" pitchFamily="2" charset="-122"/>
              </a:rPr>
              <a:t>是</a:t>
            </a:r>
            <a:r>
              <a:rPr lang="en-US" altLang="zh-CN" sz="2400" dirty="0">
                <a:ea typeface="华文新魏" panose="02010800040101010101" pitchFamily="2" charset="-122"/>
              </a:rPr>
              <a:t>SVM</a:t>
            </a:r>
            <a:r>
              <a:rPr lang="zh-CN" altLang="zh-CN" sz="2400" dirty="0">
                <a:ea typeface="华文新魏" panose="02010800040101010101" pitchFamily="2" charset="-122"/>
              </a:rPr>
              <a:t>用于处理非线性可分数据集的一种扩展形式。在实际问题中，许多数据集并不是线性可分的，因此需要引入核函数将数据映射到高维空间，从而使其在高维空间中变得线性可分。通过使用核函数，非线性</a:t>
            </a:r>
            <a:r>
              <a:rPr lang="en-US" altLang="zh-CN" sz="2400" dirty="0">
                <a:ea typeface="华文新魏" panose="02010800040101010101" pitchFamily="2" charset="-122"/>
              </a:rPr>
              <a:t>SVM</a:t>
            </a:r>
            <a:r>
              <a:rPr lang="zh-CN" altLang="zh-CN" sz="2400" dirty="0">
                <a:ea typeface="华文新魏" panose="02010800040101010101" pitchFamily="2" charset="-122"/>
              </a:rPr>
              <a:t>可以在更高维的空间中找到一个能够划分不同类别的超平面。</a:t>
            </a:r>
          </a:p>
        </p:txBody>
      </p:sp>
    </p:spTree>
    <p:extLst>
      <p:ext uri="{BB962C8B-B14F-4D97-AF65-F5344CB8AC3E}">
        <p14:creationId xmlns:p14="http://schemas.microsoft.com/office/powerpoint/2010/main" val="3058464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30A7A-7077-A8E3-CC2F-86BC11CD0077}"/>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51696F20-4EDD-9BC9-6292-17B2866070A9}"/>
              </a:ext>
            </a:extLst>
          </p:cNvPr>
          <p:cNvPicPr>
            <a:picLocks noChangeAspect="1"/>
          </p:cNvPicPr>
          <p:nvPr/>
        </p:nvPicPr>
        <p:blipFill>
          <a:blip r:embed="rId3"/>
          <a:srcRect r="52588"/>
          <a:stretch/>
        </p:blipFill>
        <p:spPr>
          <a:xfrm>
            <a:off x="1791325" y="3006022"/>
            <a:ext cx="4483745" cy="3676934"/>
          </a:xfrm>
          <a:prstGeom prst="rect">
            <a:avLst/>
          </a:prstGeom>
        </p:spPr>
      </p:pic>
      <p:sp>
        <p:nvSpPr>
          <p:cNvPr id="3" name="矩形 26">
            <a:extLst>
              <a:ext uri="{FF2B5EF4-FFF2-40B4-BE49-F238E27FC236}">
                <a16:creationId xmlns:a16="http://schemas.microsoft.com/office/drawing/2014/main" id="{9336A6A0-2B84-F164-4AC9-3D5570D9366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31A5F329-1383-8C25-D93D-C509036A9F3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9976B954-5F5D-373B-C795-A6C857F0A440}"/>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49DDBD15-A980-E308-1636-75F59011218F}"/>
              </a:ext>
            </a:extLst>
          </p:cNvPr>
          <p:cNvSpPr txBox="1"/>
          <p:nvPr/>
        </p:nvSpPr>
        <p:spPr>
          <a:xfrm>
            <a:off x="166155" y="1053943"/>
            <a:ext cx="11524298" cy="1896801"/>
          </a:xfrm>
          <a:prstGeom prst="rect">
            <a:avLst/>
          </a:prstGeom>
          <a:noFill/>
        </p:spPr>
        <p:txBody>
          <a:bodyPr wrap="square">
            <a:spAutoFit/>
          </a:bodyPr>
          <a:lstStyle>
            <a:defPPr>
              <a:defRPr lang="zh-CN"/>
            </a:defPPr>
            <a:lvl1pPr indent="304800" algn="just">
              <a:lnSpc>
                <a:spcPct val="125000"/>
              </a:lnSpc>
              <a:defRPr sz="2400">
                <a:latin typeface="微软雅黑" panose="020B0503020204020204" pitchFamily="34" charset="-122"/>
                <a:ea typeface="微软雅黑" panose="020B0503020204020204" pitchFamily="34" charset="-122"/>
              </a:defRPr>
            </a:lvl1pPr>
          </a:lstStyle>
          <a:p>
            <a:r>
              <a:rPr lang="zh-CN" altLang="zh-CN" dirty="0"/>
              <a:t>线性可分</a:t>
            </a:r>
            <a:r>
              <a:rPr lang="en-US" altLang="zh-CN" dirty="0"/>
              <a:t>SVM</a:t>
            </a:r>
            <a:r>
              <a:rPr lang="zh-CN" altLang="zh-CN" dirty="0"/>
              <a:t>的基本原理是根据样本大小为</a:t>
            </a:r>
            <a:r>
              <a:rPr lang="en-US" altLang="zh-CN" dirty="0"/>
              <a:t>n</a:t>
            </a:r>
            <a:r>
              <a:rPr lang="zh-CN" altLang="zh-CN" dirty="0"/>
              <a:t>，特征维度为</a:t>
            </a:r>
            <a:r>
              <a:rPr lang="en-US" altLang="zh-CN" dirty="0"/>
              <a:t>m</a:t>
            </a:r>
            <a:r>
              <a:rPr lang="zh-CN" altLang="zh-CN" dirty="0"/>
              <a:t>的数据集</a:t>
            </a:r>
            <a:r>
              <a:rPr lang="en-US" altLang="zh-CN" dirty="0"/>
              <a:t>D</a:t>
            </a:r>
            <a:r>
              <a:rPr lang="zh-CN" altLang="zh-CN" dirty="0"/>
              <a:t>，在</a:t>
            </a:r>
            <a:r>
              <a:rPr lang="en-US" altLang="zh-CN" dirty="0"/>
              <a:t>m-1</a:t>
            </a:r>
            <a:r>
              <a:rPr lang="zh-CN" altLang="zh-CN" dirty="0"/>
              <a:t>维空间中，训练得到一个能够将两类样本分隔开的超平面（在二维空间中是一条直线，三维空间中是一个平面），它能够尽可能多地将两类样本分开，并使得两类样本到超平面的距离尽可能大。</a:t>
            </a:r>
          </a:p>
        </p:txBody>
      </p:sp>
      <p:pic>
        <p:nvPicPr>
          <p:cNvPr id="8" name="图形 1">
            <a:extLst>
              <a:ext uri="{FF2B5EF4-FFF2-40B4-BE49-F238E27FC236}">
                <a16:creationId xmlns:a16="http://schemas.microsoft.com/office/drawing/2014/main" id="{22C33927-4BEC-30E9-B19C-1AC70E47AD22}"/>
              </a:ext>
            </a:extLst>
          </p:cNvPr>
          <p:cNvPicPr>
            <a:picLocks noChangeAspect="1"/>
          </p:cNvPicPr>
          <p:nvPr/>
        </p:nvPicPr>
        <p:blipFill>
          <a:blip r:embed="rId4">
            <a:extLst>
              <a:ext uri="{96DAC541-7B7A-43D3-8B79-37D633B846F1}">
                <asvg:svgBlip xmlns:asvg="http://schemas.microsoft.com/office/drawing/2016/SVG/main" r:embed="rId5"/>
              </a:ext>
            </a:extLst>
          </a:blip>
          <a:srcRect r="51733"/>
          <a:stretch/>
        </p:blipFill>
        <p:spPr>
          <a:xfrm>
            <a:off x="1851285" y="3037620"/>
            <a:ext cx="4423785" cy="3627764"/>
          </a:xfrm>
          <a:prstGeom prst="rect">
            <a:avLst/>
          </a:prstGeom>
        </p:spPr>
      </p:pic>
      <p:sp>
        <p:nvSpPr>
          <p:cNvPr id="12" name="文本框 11">
            <a:extLst>
              <a:ext uri="{FF2B5EF4-FFF2-40B4-BE49-F238E27FC236}">
                <a16:creationId xmlns:a16="http://schemas.microsoft.com/office/drawing/2014/main" id="{0E5913E5-0D5F-ADC1-42DC-2A8DB7B746F5}"/>
              </a:ext>
            </a:extLst>
          </p:cNvPr>
          <p:cNvSpPr txBox="1"/>
          <p:nvPr/>
        </p:nvSpPr>
        <p:spPr>
          <a:xfrm>
            <a:off x="6457950" y="4338039"/>
            <a:ext cx="5543549" cy="1092607"/>
          </a:xfrm>
          <a:prstGeom prst="rect">
            <a:avLst/>
          </a:prstGeom>
          <a:noFill/>
        </p:spPr>
        <p:txBody>
          <a:bodyPr wrap="square">
            <a:spAutoFit/>
          </a:bodyPr>
          <a:lstStyle/>
          <a:p>
            <a:pPr indent="306070" algn="just">
              <a:lnSpc>
                <a:spcPct val="125000"/>
              </a:lnSpc>
            </a:pPr>
            <a:r>
              <a:rPr lang="en-US" altLang="zh-CN" sz="2800" kern="100" dirty="0">
                <a:solidFill>
                  <a:srgbClr val="FF0000"/>
                </a:solidFill>
                <a:effectLst/>
                <a:latin typeface="方正舒体" panose="02010601030101010101" pitchFamily="2" charset="-122"/>
                <a:ea typeface="方正舒体" panose="02010601030101010101" pitchFamily="2" charset="-122"/>
                <a:cs typeface="Times New Roman" panose="02020603050405020304" pitchFamily="18" charset="0"/>
              </a:rPr>
              <a:t>H1,H2</a:t>
            </a:r>
            <a:r>
              <a:rPr lang="zh-CN" altLang="en-US" sz="2800" kern="100" dirty="0">
                <a:solidFill>
                  <a:srgbClr val="FF0000"/>
                </a:solidFill>
                <a:effectLst/>
                <a:latin typeface="方正舒体" panose="02010601030101010101" pitchFamily="2" charset="-122"/>
                <a:ea typeface="方正舒体" panose="02010601030101010101" pitchFamily="2" charset="-122"/>
                <a:cs typeface="Times New Roman" panose="02020603050405020304" pitchFamily="18" charset="0"/>
              </a:rPr>
              <a:t>谁更好？</a:t>
            </a:r>
            <a:endParaRPr lang="en-US" altLang="zh-CN" sz="2800" kern="100" dirty="0">
              <a:solidFill>
                <a:srgbClr val="FF0000"/>
              </a:solidFill>
              <a:effectLst/>
              <a:latin typeface="方正舒体" panose="02010601030101010101" pitchFamily="2" charset="-122"/>
              <a:ea typeface="方正舒体" panose="02010601030101010101" pitchFamily="2" charset="-122"/>
              <a:cs typeface="Times New Roman" panose="02020603050405020304" pitchFamily="18" charset="0"/>
            </a:endParaRPr>
          </a:p>
          <a:p>
            <a:pPr indent="306070" algn="just">
              <a:lnSpc>
                <a:spcPct val="125000"/>
              </a:lnSpc>
            </a:pPr>
            <a:r>
              <a:rPr lang="zh-CN" altLang="zh-CN" sz="2800" kern="100" dirty="0">
                <a:solidFill>
                  <a:srgbClr val="FF0000"/>
                </a:solidFill>
                <a:effectLst/>
                <a:latin typeface="方正舒体" panose="02010601030101010101" pitchFamily="2" charset="-122"/>
                <a:ea typeface="方正舒体" panose="02010601030101010101" pitchFamily="2" charset="-122"/>
                <a:cs typeface="Times New Roman" panose="02020603050405020304" pitchFamily="18" charset="0"/>
              </a:rPr>
              <a:t>如何去衡量决策边界的优劣呢？</a:t>
            </a:r>
          </a:p>
        </p:txBody>
      </p:sp>
    </p:spTree>
    <p:extLst>
      <p:ext uri="{BB962C8B-B14F-4D97-AF65-F5344CB8AC3E}">
        <p14:creationId xmlns:p14="http://schemas.microsoft.com/office/powerpoint/2010/main" val="31607919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57A67-0160-44A1-A966-03B59952A87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2C509F0-80A7-652D-BC02-F377E658DF5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0D827F71-DA99-405F-9CDA-46AA8E796CA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65503EF8-19DE-DB61-F5BA-A82C9C15E3A1}"/>
              </a:ext>
            </a:extLst>
          </p:cNvPr>
          <p:cNvSpPr>
            <a:spLocks noChangeArrowheads="1"/>
          </p:cNvSpPr>
          <p:nvPr/>
        </p:nvSpPr>
        <p:spPr bwMode="auto">
          <a:xfrm>
            <a:off x="5840036" y="1609825"/>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22DA8F2-5A41-E557-62CC-A17193D507C9}"/>
              </a:ext>
            </a:extLst>
          </p:cNvPr>
          <p:cNvSpPr txBox="1"/>
          <p:nvPr/>
        </p:nvSpPr>
        <p:spPr>
          <a:xfrm>
            <a:off x="551180" y="1228083"/>
            <a:ext cx="10821670" cy="1114664"/>
          </a:xfrm>
          <a:prstGeom prst="rect">
            <a:avLst/>
          </a:prstGeom>
          <a:noFill/>
        </p:spPr>
        <p:txBody>
          <a:bodyPr wrap="square">
            <a:spAutoFit/>
          </a:bodyPr>
          <a:lstStyle/>
          <a:p>
            <a:pPr indent="306070" algn="just">
              <a:lnSpc>
                <a:spcPct val="125000"/>
              </a:lnSpc>
            </a:pPr>
            <a:r>
              <a:rPr lang="zh-CN"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支持向量</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Support vector</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是训练数据集中距离超平面最近的样本点，其直接决定了超平面的位置和方向。</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B44F6B44-B326-6AC1-AB9F-E420148170E0}"/>
              </a:ext>
            </a:extLst>
          </p:cNvPr>
          <p:cNvSpPr txBox="1"/>
          <p:nvPr/>
        </p:nvSpPr>
        <p:spPr>
          <a:xfrm>
            <a:off x="551179" y="2499973"/>
            <a:ext cx="10924541" cy="576055"/>
          </a:xfrm>
          <a:prstGeom prst="rect">
            <a:avLst/>
          </a:prstGeom>
          <a:noFill/>
        </p:spPr>
        <p:txBody>
          <a:bodyPr wrap="square">
            <a:spAutoFit/>
          </a:bodyPr>
          <a:lstStyle/>
          <a:p>
            <a:pPr indent="306070" algn="just">
              <a:lnSpc>
                <a:spcPct val="125000"/>
              </a:lnSpc>
            </a:pPr>
            <a:r>
              <a:rPr lang="zh-CN"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间隔</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Margin</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  是两类支持向量到超平面的距离之和。</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45C80BF0-55EE-3725-6002-72C229E2565D}"/>
              </a:ext>
            </a:extLst>
          </p:cNvPr>
          <p:cNvPicPr>
            <a:picLocks noChangeAspect="1"/>
          </p:cNvPicPr>
          <p:nvPr/>
        </p:nvPicPr>
        <p:blipFill>
          <a:blip r:embed="rId3"/>
          <a:srcRect l="45884"/>
          <a:stretch/>
        </p:blipFill>
        <p:spPr>
          <a:xfrm>
            <a:off x="7231380" y="3464586"/>
            <a:ext cx="4377690" cy="3145216"/>
          </a:xfrm>
          <a:prstGeom prst="rect">
            <a:avLst/>
          </a:prstGeom>
        </p:spPr>
      </p:pic>
      <p:pic>
        <p:nvPicPr>
          <p:cNvPr id="6" name="图形 1">
            <a:extLst>
              <a:ext uri="{FF2B5EF4-FFF2-40B4-BE49-F238E27FC236}">
                <a16:creationId xmlns:a16="http://schemas.microsoft.com/office/drawing/2014/main" id="{34452D1D-D207-50CD-39F9-4CCEDA70DD08}"/>
              </a:ext>
            </a:extLst>
          </p:cNvPr>
          <p:cNvPicPr>
            <a:picLocks noChangeAspect="1"/>
          </p:cNvPicPr>
          <p:nvPr/>
        </p:nvPicPr>
        <p:blipFill>
          <a:blip r:embed="rId4">
            <a:extLst>
              <a:ext uri="{96DAC541-7B7A-43D3-8B79-37D633B846F1}">
                <asvg:svgBlip xmlns:asvg="http://schemas.microsoft.com/office/drawing/2016/SVG/main" r:embed="rId5"/>
              </a:ext>
            </a:extLst>
          </a:blip>
          <a:srcRect l="47062"/>
          <a:stretch/>
        </p:blipFill>
        <p:spPr>
          <a:xfrm>
            <a:off x="7112551" y="3559543"/>
            <a:ext cx="4034595" cy="3016629"/>
          </a:xfrm>
          <a:prstGeom prst="rect">
            <a:avLst/>
          </a:prstGeom>
        </p:spPr>
      </p:pic>
      <p:sp>
        <p:nvSpPr>
          <p:cNvPr id="11" name="文本框 10">
            <a:extLst>
              <a:ext uri="{FF2B5EF4-FFF2-40B4-BE49-F238E27FC236}">
                <a16:creationId xmlns:a16="http://schemas.microsoft.com/office/drawing/2014/main" id="{7CFB9ED9-A13F-0083-3FDD-367ED38D0666}"/>
              </a:ext>
            </a:extLst>
          </p:cNvPr>
          <p:cNvSpPr txBox="1"/>
          <p:nvPr/>
        </p:nvSpPr>
        <p:spPr>
          <a:xfrm>
            <a:off x="551181" y="3857961"/>
            <a:ext cx="6120764" cy="2358466"/>
          </a:xfrm>
          <a:prstGeom prst="rect">
            <a:avLst/>
          </a:prstGeom>
          <a:noFill/>
        </p:spPr>
        <p:txBody>
          <a:bodyPr wrap="square">
            <a:spAutoFit/>
          </a:bodyPr>
          <a:lstStyle>
            <a:defPPr>
              <a:defRPr lang="zh-CN"/>
            </a:defPPr>
            <a:lvl1pPr indent="304800" algn="just">
              <a:lnSpc>
                <a:spcPct val="125000"/>
              </a:lnSpc>
              <a:defRPr sz="2400">
                <a:latin typeface="微软雅黑" panose="020B0503020204020204" pitchFamily="34" charset="-122"/>
                <a:ea typeface="微软雅黑" panose="020B0503020204020204" pitchFamily="34" charset="-122"/>
              </a:defRPr>
            </a:lvl1pPr>
          </a:lstStyle>
          <a:p>
            <a:r>
              <a:rPr lang="zh-CN" altLang="zh-CN" dirty="0"/>
              <a:t>直观上看，最好的超平面应该位于两类训练样本“正中间”，该划分超平面对训练样本局部扰动的“容忍性”最好，所产生的分类结果理论上是最鲁棒的，对未见实例的泛化能力是最强的。</a:t>
            </a:r>
          </a:p>
        </p:txBody>
      </p:sp>
    </p:spTree>
    <p:extLst>
      <p:ext uri="{BB962C8B-B14F-4D97-AF65-F5344CB8AC3E}">
        <p14:creationId xmlns:p14="http://schemas.microsoft.com/office/powerpoint/2010/main" val="385578760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5DB34-12DB-2DB2-956A-85BEB360E56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6818841-0B24-0B5E-D5DB-CAF432EA030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9BF30654-AE84-8622-56E8-BF8E3B3B518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5372A5EE-8B4C-C65E-F10E-DEFC8DEEAD22}"/>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文本框 30">
            <a:extLst>
              <a:ext uri="{FF2B5EF4-FFF2-40B4-BE49-F238E27FC236}">
                <a16:creationId xmlns:a16="http://schemas.microsoft.com/office/drawing/2014/main" id="{3BAE9FD6-F2A8-F26C-E1F3-B41C6AAC4549}"/>
              </a:ext>
            </a:extLst>
          </p:cNvPr>
          <p:cNvSpPr txBox="1"/>
          <p:nvPr/>
        </p:nvSpPr>
        <p:spPr>
          <a:xfrm>
            <a:off x="307228" y="1301700"/>
            <a:ext cx="11385662" cy="1896801"/>
          </a:xfrm>
          <a:prstGeom prst="rect">
            <a:avLst/>
          </a:prstGeom>
          <a:noFill/>
        </p:spPr>
        <p:txBody>
          <a:bodyPr wrap="square">
            <a:spAutoFit/>
          </a:bodyPr>
          <a:lstStyle>
            <a:defPPr>
              <a:defRPr lang="zh-CN"/>
            </a:defPPr>
            <a:lvl1pPr indent="304800" algn="just">
              <a:lnSpc>
                <a:spcPct val="125000"/>
              </a:lnSpc>
              <a:defRPr sz="2400">
                <a:latin typeface="微软雅黑" panose="020B0503020204020204" pitchFamily="34" charset="-122"/>
                <a:ea typeface="微软雅黑" panose="020B0503020204020204" pitchFamily="34" charset="-122"/>
              </a:defRPr>
            </a:lvl1pPr>
          </a:lstStyle>
          <a:p>
            <a:r>
              <a:rPr lang="zh-CN" altLang="en-US" dirty="0">
                <a:latin typeface="Times New Roman" panose="02020603050405020304" pitchFamily="18" charset="0"/>
                <a:cs typeface="Times New Roman" panose="02020603050405020304" pitchFamily="18" charset="0"/>
              </a:rPr>
              <a:t>假设某数据集</a:t>
            </a:r>
            <a:r>
              <a:rPr lang="en-US" altLang="zh-CN" i="1" dirty="0">
                <a:latin typeface="Times New Roman" panose="02020603050405020304" pitchFamily="18" charset="0"/>
                <a:cs typeface="Times New Roman" panose="02020603050405020304" pitchFamily="18" charset="0"/>
              </a:rPr>
              <a:t>D</a:t>
            </a:r>
            <a:r>
              <a:rPr lang="zh-CN" altLang="en-US" dirty="0">
                <a:latin typeface="Times New Roman" panose="02020603050405020304" pitchFamily="18" charset="0"/>
                <a:cs typeface="Times New Roman" panose="02020603050405020304" pitchFamily="18" charset="0"/>
              </a:rPr>
              <a:t>有两类属于不同类别的样本，</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表示样本特征， </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表示类别（为便于推导， 取</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或者</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，分别代表两个不同的类别）。线性可分</a:t>
            </a:r>
            <a:r>
              <a:rPr lang="en-US" altLang="zh-CN" dirty="0">
                <a:latin typeface="Times New Roman" panose="02020603050405020304" pitchFamily="18" charset="0"/>
                <a:cs typeface="Times New Roman" panose="02020603050405020304" pitchFamily="18" charset="0"/>
              </a:rPr>
              <a:t>SVM</a:t>
            </a:r>
            <a:r>
              <a:rPr lang="zh-CN" altLang="en-US" dirty="0">
                <a:latin typeface="Times New Roman" panose="02020603050405020304" pitchFamily="18" charset="0"/>
                <a:cs typeface="Times New Roman" panose="02020603050405020304" pitchFamily="18" charset="0"/>
              </a:rPr>
              <a:t>的学习目标是在高维空间中找到一个超平面，将两类样本点分隔开，并且使得该超平面到最近的样本点的距离尽可能远，这个超平面的方程可以表示为</a:t>
            </a:r>
          </a:p>
        </p:txBody>
      </p:sp>
      <p:graphicFrame>
        <p:nvGraphicFramePr>
          <p:cNvPr id="32" name="对象 31">
            <a:extLst>
              <a:ext uri="{FF2B5EF4-FFF2-40B4-BE49-F238E27FC236}">
                <a16:creationId xmlns:a16="http://schemas.microsoft.com/office/drawing/2014/main" id="{ED81E6CB-1DCD-721C-0EF9-5D90759BD032}"/>
              </a:ext>
            </a:extLst>
          </p:cNvPr>
          <p:cNvGraphicFramePr>
            <a:graphicFrameLocks noChangeAspect="1"/>
          </p:cNvGraphicFramePr>
          <p:nvPr>
            <p:extLst>
              <p:ext uri="{D42A27DB-BD31-4B8C-83A1-F6EECF244321}">
                <p14:modId xmlns:p14="http://schemas.microsoft.com/office/powerpoint/2010/main" val="2139520815"/>
              </p:ext>
            </p:extLst>
          </p:nvPr>
        </p:nvGraphicFramePr>
        <p:xfrm>
          <a:off x="4889602" y="3720705"/>
          <a:ext cx="2220913" cy="592138"/>
        </p:xfrm>
        <a:graphic>
          <a:graphicData uri="http://schemas.openxmlformats.org/presentationml/2006/ole">
            <mc:AlternateContent xmlns:mc="http://schemas.openxmlformats.org/markup-compatibility/2006">
              <mc:Choice xmlns:v="urn:schemas-microsoft-com:vml" Requires="v">
                <p:oleObj name="Equation" r:id="rId3" imgW="761760" imgH="203040" progId="Equation.DSMT4">
                  <p:embed/>
                </p:oleObj>
              </mc:Choice>
              <mc:Fallback>
                <p:oleObj name="Equation" r:id="rId3" imgW="761760" imgH="203040" progId="Equation.DSMT4">
                  <p:embed/>
                  <p:pic>
                    <p:nvPicPr>
                      <p:cNvPr id="0" name=""/>
                      <p:cNvPicPr/>
                      <p:nvPr/>
                    </p:nvPicPr>
                    <p:blipFill>
                      <a:blip r:embed="rId4"/>
                      <a:stretch>
                        <a:fillRect/>
                      </a:stretch>
                    </p:blipFill>
                    <p:spPr>
                      <a:xfrm>
                        <a:off x="4889602" y="3720705"/>
                        <a:ext cx="2220913" cy="592138"/>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EADF48C0-09FC-C01B-D45D-126DBB40C975}"/>
              </a:ext>
            </a:extLst>
          </p:cNvPr>
          <p:cNvGraphicFramePr>
            <a:graphicFrameLocks noChangeAspect="1"/>
          </p:cNvGraphicFramePr>
          <p:nvPr>
            <p:extLst>
              <p:ext uri="{D42A27DB-BD31-4B8C-83A1-F6EECF244321}">
                <p14:modId xmlns:p14="http://schemas.microsoft.com/office/powerpoint/2010/main" val="2499842828"/>
              </p:ext>
            </p:extLst>
          </p:nvPr>
        </p:nvGraphicFramePr>
        <p:xfrm>
          <a:off x="2187914" y="4846320"/>
          <a:ext cx="2292693" cy="463550"/>
        </p:xfrm>
        <a:graphic>
          <a:graphicData uri="http://schemas.openxmlformats.org/presentationml/2006/ole">
            <mc:AlternateContent xmlns:mc="http://schemas.openxmlformats.org/markup-compatibility/2006">
              <mc:Choice xmlns:v="urn:schemas-microsoft-com:vml" Requires="v">
                <p:oleObj name="Equation" r:id="rId5" imgW="1168400" imgH="228600" progId="Equation.DSMT4">
                  <p:embed/>
                </p:oleObj>
              </mc:Choice>
              <mc:Fallback>
                <p:oleObj name="Equation" r:id="rId5" imgW="1168400" imgH="22860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7914" y="4846320"/>
                        <a:ext cx="2292693" cy="463550"/>
                      </a:xfrm>
                      <a:prstGeom prst="rect">
                        <a:avLst/>
                      </a:prstGeom>
                      <a:noFill/>
                    </p:spPr>
                  </p:pic>
                </p:oleObj>
              </mc:Fallback>
            </mc:AlternateContent>
          </a:graphicData>
        </a:graphic>
      </p:graphicFrame>
      <p:sp>
        <p:nvSpPr>
          <p:cNvPr id="37" name="Rectangle 19">
            <a:extLst>
              <a:ext uri="{FF2B5EF4-FFF2-40B4-BE49-F238E27FC236}">
                <a16:creationId xmlns:a16="http://schemas.microsoft.com/office/drawing/2014/main" id="{FCD252F2-EFE4-8636-E644-1AF2EE88FEA9}"/>
              </a:ext>
            </a:extLst>
          </p:cNvPr>
          <p:cNvSpPr>
            <a:spLocks noChangeArrowheads="1"/>
          </p:cNvSpPr>
          <p:nvPr/>
        </p:nvSpPr>
        <p:spPr bwMode="auto">
          <a:xfrm>
            <a:off x="2004409" y="5417481"/>
            <a:ext cx="26597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CN" altLang="en-US" sz="24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法向量</a:t>
            </a:r>
            <a:endParaRPr lang="en-US" altLang="zh-CN" sz="24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zh-CN" altLang="en-US" sz="24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决定超平面的方向</a:t>
            </a:r>
          </a:p>
        </p:txBody>
      </p:sp>
      <p:sp>
        <p:nvSpPr>
          <p:cNvPr id="38" name="Rectangle 20">
            <a:extLst>
              <a:ext uri="{FF2B5EF4-FFF2-40B4-BE49-F238E27FC236}">
                <a16:creationId xmlns:a16="http://schemas.microsoft.com/office/drawing/2014/main" id="{6A49DA90-EC84-2202-E7FF-147E4BBD440C}"/>
              </a:ext>
            </a:extLst>
          </p:cNvPr>
          <p:cNvSpPr>
            <a:spLocks noChangeArrowheads="1"/>
          </p:cNvSpPr>
          <p:nvPr/>
        </p:nvSpPr>
        <p:spPr bwMode="auto">
          <a:xfrm>
            <a:off x="7213343" y="5309870"/>
            <a:ext cx="420660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位移项</a:t>
            </a:r>
            <a:endParaRPr lang="en-US" altLang="zh-CN" sz="24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决定超平面与原点之间的距离</a:t>
            </a:r>
          </a:p>
        </p:txBody>
      </p:sp>
      <p:cxnSp>
        <p:nvCxnSpPr>
          <p:cNvPr id="40" name="直接箭头连接符 39">
            <a:extLst>
              <a:ext uri="{FF2B5EF4-FFF2-40B4-BE49-F238E27FC236}">
                <a16:creationId xmlns:a16="http://schemas.microsoft.com/office/drawing/2014/main" id="{7ED36BF7-E6B1-259E-635E-C408B90DE268}"/>
              </a:ext>
            </a:extLst>
          </p:cNvPr>
          <p:cNvCxnSpPr>
            <a:cxnSpLocks/>
          </p:cNvCxnSpPr>
          <p:nvPr/>
        </p:nvCxnSpPr>
        <p:spPr>
          <a:xfrm flipV="1">
            <a:off x="4480607" y="4312843"/>
            <a:ext cx="697183" cy="11964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F560708F-D9DA-6826-48E9-400F553D432D}"/>
              </a:ext>
            </a:extLst>
          </p:cNvPr>
          <p:cNvCxnSpPr>
            <a:cxnSpLocks/>
          </p:cNvCxnSpPr>
          <p:nvPr/>
        </p:nvCxnSpPr>
        <p:spPr>
          <a:xfrm flipH="1" flipV="1">
            <a:off x="6229350" y="4373035"/>
            <a:ext cx="1424638" cy="9368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9930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9D21-88C2-834A-E244-C0EC226D1BE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D7F3167-A458-981F-B317-859DEC21D23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399E1954-72D0-7CC7-6EEF-10D9C17FEF1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8" name="图片 17">
            <a:extLst>
              <a:ext uri="{FF2B5EF4-FFF2-40B4-BE49-F238E27FC236}">
                <a16:creationId xmlns:a16="http://schemas.microsoft.com/office/drawing/2014/main" id="{07ABA83E-3C7F-B843-C5C0-7FD88DA66336}"/>
              </a:ext>
            </a:extLst>
          </p:cNvPr>
          <p:cNvPicPr>
            <a:picLocks noChangeAspect="1"/>
          </p:cNvPicPr>
          <p:nvPr/>
        </p:nvPicPr>
        <p:blipFill>
          <a:blip r:embed="rId3"/>
          <a:stretch>
            <a:fillRect/>
          </a:stretch>
        </p:blipFill>
        <p:spPr>
          <a:xfrm>
            <a:off x="546831" y="1274428"/>
            <a:ext cx="11123737" cy="1368446"/>
          </a:xfrm>
          <a:prstGeom prst="rect">
            <a:avLst/>
          </a:prstGeom>
        </p:spPr>
      </p:pic>
      <p:graphicFrame>
        <p:nvGraphicFramePr>
          <p:cNvPr id="19" name="对象 18">
            <a:extLst>
              <a:ext uri="{FF2B5EF4-FFF2-40B4-BE49-F238E27FC236}">
                <a16:creationId xmlns:a16="http://schemas.microsoft.com/office/drawing/2014/main" id="{7517B7F9-C1DA-F561-1CEA-32469DA19778}"/>
              </a:ext>
            </a:extLst>
          </p:cNvPr>
          <p:cNvGraphicFramePr>
            <a:graphicFrameLocks noChangeAspect="1"/>
          </p:cNvGraphicFramePr>
          <p:nvPr>
            <p:extLst>
              <p:ext uri="{D42A27DB-BD31-4B8C-83A1-F6EECF244321}">
                <p14:modId xmlns:p14="http://schemas.microsoft.com/office/powerpoint/2010/main" val="3078343461"/>
              </p:ext>
            </p:extLst>
          </p:nvPr>
        </p:nvGraphicFramePr>
        <p:xfrm>
          <a:off x="4120964" y="2801514"/>
          <a:ext cx="3766806" cy="2528570"/>
        </p:xfrm>
        <a:graphic>
          <a:graphicData uri="http://schemas.openxmlformats.org/presentationml/2006/ole">
            <mc:AlternateContent xmlns:mc="http://schemas.openxmlformats.org/markup-compatibility/2006">
              <mc:Choice xmlns:v="urn:schemas-microsoft-com:vml" Requires="v">
                <p:oleObj name="Equation" r:id="rId4" imgW="1491788" imgH="1001675" progId="Equation.DSMT4">
                  <p:embed/>
                </p:oleObj>
              </mc:Choice>
              <mc:Fallback>
                <p:oleObj name="Equation" r:id="rId4" imgW="1491788" imgH="1001675" progId="Equation.DSMT4">
                  <p:embed/>
                  <p:pic>
                    <p:nvPicPr>
                      <p:cNvPr id="0" name=""/>
                      <p:cNvPicPr/>
                      <p:nvPr/>
                    </p:nvPicPr>
                    <p:blipFill>
                      <a:blip r:embed="rId5"/>
                      <a:stretch>
                        <a:fillRect/>
                      </a:stretch>
                    </p:blipFill>
                    <p:spPr>
                      <a:xfrm>
                        <a:off x="4120964" y="2801514"/>
                        <a:ext cx="3766806" cy="2528570"/>
                      </a:xfrm>
                      <a:prstGeom prst="rect">
                        <a:avLst/>
                      </a:prstGeom>
                    </p:spPr>
                  </p:pic>
                </p:oleObj>
              </mc:Fallback>
            </mc:AlternateContent>
          </a:graphicData>
        </a:graphic>
      </p:graphicFrame>
      <p:pic>
        <p:nvPicPr>
          <p:cNvPr id="20" name="图片 19">
            <a:extLst>
              <a:ext uri="{FF2B5EF4-FFF2-40B4-BE49-F238E27FC236}">
                <a16:creationId xmlns:a16="http://schemas.microsoft.com/office/drawing/2014/main" id="{7C988442-86E6-994E-063F-334B9B7C3495}"/>
              </a:ext>
            </a:extLst>
          </p:cNvPr>
          <p:cNvPicPr>
            <a:picLocks noChangeAspect="1"/>
          </p:cNvPicPr>
          <p:nvPr/>
        </p:nvPicPr>
        <p:blipFill>
          <a:blip r:embed="rId6"/>
          <a:srcRect r="61119"/>
          <a:stretch/>
        </p:blipFill>
        <p:spPr>
          <a:xfrm>
            <a:off x="1166277" y="5724546"/>
            <a:ext cx="4637757" cy="863575"/>
          </a:xfrm>
          <a:prstGeom prst="rect">
            <a:avLst/>
          </a:prstGeom>
        </p:spPr>
      </p:pic>
    </p:spTree>
    <p:extLst>
      <p:ext uri="{BB962C8B-B14F-4D97-AF65-F5344CB8AC3E}">
        <p14:creationId xmlns:p14="http://schemas.microsoft.com/office/powerpoint/2010/main" val="959279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63E32-AE7E-DE55-070D-150106F51432}"/>
            </a:ext>
          </a:extLst>
        </p:cNvPr>
        <p:cNvGrpSpPr/>
        <p:nvPr/>
      </p:nvGrpSpPr>
      <p:grpSpPr>
        <a:xfrm>
          <a:off x="0" y="0"/>
          <a:ext cx="0" cy="0"/>
          <a:chOff x="0" y="0"/>
          <a:chExt cx="0" cy="0"/>
        </a:xfrm>
      </p:grpSpPr>
      <p:sp>
        <p:nvSpPr>
          <p:cNvPr id="43" name="矩形 42">
            <a:extLst>
              <a:ext uri="{FF2B5EF4-FFF2-40B4-BE49-F238E27FC236}">
                <a16:creationId xmlns:a16="http://schemas.microsoft.com/office/drawing/2014/main" id="{9ECDDE8D-A52F-C2CA-1B52-AD9EC77E465F}"/>
              </a:ext>
            </a:extLst>
          </p:cNvPr>
          <p:cNvSpPr/>
          <p:nvPr/>
        </p:nvSpPr>
        <p:spPr>
          <a:xfrm>
            <a:off x="335279" y="4210337"/>
            <a:ext cx="7076431" cy="173148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6">
            <a:extLst>
              <a:ext uri="{FF2B5EF4-FFF2-40B4-BE49-F238E27FC236}">
                <a16:creationId xmlns:a16="http://schemas.microsoft.com/office/drawing/2014/main" id="{97D47437-309C-9E8A-7EBA-74086DBCC06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9C90DF38-43C4-7264-F309-77C4C9245CC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对象 7">
            <a:extLst>
              <a:ext uri="{FF2B5EF4-FFF2-40B4-BE49-F238E27FC236}">
                <a16:creationId xmlns:a16="http://schemas.microsoft.com/office/drawing/2014/main" id="{21E3129A-1D3A-64AC-9C3D-23B1AB7B14D2}"/>
              </a:ext>
            </a:extLst>
          </p:cNvPr>
          <p:cNvGraphicFramePr>
            <a:graphicFrameLocks noChangeAspect="1"/>
          </p:cNvGraphicFramePr>
          <p:nvPr>
            <p:extLst>
              <p:ext uri="{D42A27DB-BD31-4B8C-83A1-F6EECF244321}">
                <p14:modId xmlns:p14="http://schemas.microsoft.com/office/powerpoint/2010/main" val="2538101504"/>
              </p:ext>
            </p:extLst>
          </p:nvPr>
        </p:nvGraphicFramePr>
        <p:xfrm>
          <a:off x="94647" y="1472446"/>
          <a:ext cx="3001362" cy="2005165"/>
        </p:xfrm>
        <a:graphic>
          <a:graphicData uri="http://schemas.openxmlformats.org/presentationml/2006/ole">
            <mc:AlternateContent xmlns:mc="http://schemas.openxmlformats.org/markup-compatibility/2006">
              <mc:Choice xmlns:v="urn:schemas-microsoft-com:vml" Requires="v">
                <p:oleObj name="Equation" r:id="rId3" imgW="1485900" imgH="965200" progId="Equation.DSMT4">
                  <p:embed/>
                </p:oleObj>
              </mc:Choice>
              <mc:Fallback>
                <p:oleObj name="Equation" r:id="rId3" imgW="1485900" imgH="9652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47" y="1472446"/>
                        <a:ext cx="3001362" cy="2005165"/>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B9F3B411-9744-062F-E349-26DD2FB3B81E}"/>
              </a:ext>
            </a:extLst>
          </p:cNvPr>
          <p:cNvGraphicFramePr>
            <a:graphicFrameLocks noChangeAspect="1"/>
          </p:cNvGraphicFramePr>
          <p:nvPr>
            <p:extLst>
              <p:ext uri="{D42A27DB-BD31-4B8C-83A1-F6EECF244321}">
                <p14:modId xmlns:p14="http://schemas.microsoft.com/office/powerpoint/2010/main" val="1973528715"/>
              </p:ext>
            </p:extLst>
          </p:nvPr>
        </p:nvGraphicFramePr>
        <p:xfrm>
          <a:off x="4574840" y="1472446"/>
          <a:ext cx="2910823" cy="2005164"/>
        </p:xfrm>
        <a:graphic>
          <a:graphicData uri="http://schemas.openxmlformats.org/presentationml/2006/ole">
            <mc:AlternateContent xmlns:mc="http://schemas.openxmlformats.org/markup-compatibility/2006">
              <mc:Choice xmlns:v="urn:schemas-microsoft-com:vml" Requires="v">
                <p:oleObj name="Equation" r:id="rId5" imgW="1453721" imgH="1001675" progId="Equation.DSMT4">
                  <p:embed/>
                </p:oleObj>
              </mc:Choice>
              <mc:Fallback>
                <p:oleObj name="Equation" r:id="rId5" imgW="1453721" imgH="1001675" progId="Equation.DSMT4">
                  <p:embed/>
                  <p:pic>
                    <p:nvPicPr>
                      <p:cNvPr id="0" name=""/>
                      <p:cNvPicPr/>
                      <p:nvPr/>
                    </p:nvPicPr>
                    <p:blipFill>
                      <a:blip r:embed="rId6"/>
                      <a:stretch>
                        <a:fillRect/>
                      </a:stretch>
                    </p:blipFill>
                    <p:spPr>
                      <a:xfrm>
                        <a:off x="4574840" y="1472446"/>
                        <a:ext cx="2910823" cy="200516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DFA9762-6406-4C3D-9E1E-02F7BB47238B}"/>
              </a:ext>
            </a:extLst>
          </p:cNvPr>
          <p:cNvGraphicFramePr>
            <a:graphicFrameLocks noChangeAspect="1"/>
          </p:cNvGraphicFramePr>
          <p:nvPr>
            <p:extLst>
              <p:ext uri="{D42A27DB-BD31-4B8C-83A1-F6EECF244321}">
                <p14:modId xmlns:p14="http://schemas.microsoft.com/office/powerpoint/2010/main" val="2279383290"/>
              </p:ext>
            </p:extLst>
          </p:nvPr>
        </p:nvGraphicFramePr>
        <p:xfrm>
          <a:off x="8924310" y="1910230"/>
          <a:ext cx="3119748" cy="1146455"/>
        </p:xfrm>
        <a:graphic>
          <a:graphicData uri="http://schemas.openxmlformats.org/presentationml/2006/ole">
            <mc:AlternateContent xmlns:mc="http://schemas.openxmlformats.org/markup-compatibility/2006">
              <mc:Choice xmlns:v="urn:schemas-microsoft-com:vml" Requires="v">
                <p:oleObj name="Equation" r:id="rId7" imgW="1425350" imgH="524635" progId="Equation.DSMT4">
                  <p:embed/>
                </p:oleObj>
              </mc:Choice>
              <mc:Fallback>
                <p:oleObj name="Equation" r:id="rId7" imgW="1425350" imgH="524635" progId="Equation.DSMT4">
                  <p:embed/>
                  <p:pic>
                    <p:nvPicPr>
                      <p:cNvPr id="0" name=""/>
                      <p:cNvPicPr/>
                      <p:nvPr/>
                    </p:nvPicPr>
                    <p:blipFill>
                      <a:blip r:embed="rId8"/>
                      <a:stretch>
                        <a:fillRect/>
                      </a:stretch>
                    </p:blipFill>
                    <p:spPr>
                      <a:xfrm>
                        <a:off x="8924310" y="1910230"/>
                        <a:ext cx="3119748" cy="1146455"/>
                      </a:xfrm>
                      <a:prstGeom prst="rect">
                        <a:avLst/>
                      </a:prstGeom>
                    </p:spPr>
                  </p:pic>
                </p:oleObj>
              </mc:Fallback>
            </mc:AlternateContent>
          </a:graphicData>
        </a:graphic>
      </p:graphicFrame>
      <p:cxnSp>
        <p:nvCxnSpPr>
          <p:cNvPr id="11" name="直接箭头连接符 10">
            <a:extLst>
              <a:ext uri="{FF2B5EF4-FFF2-40B4-BE49-F238E27FC236}">
                <a16:creationId xmlns:a16="http://schemas.microsoft.com/office/drawing/2014/main" id="{D8829390-1994-B7B0-F63F-4543451C140A}"/>
              </a:ext>
            </a:extLst>
          </p:cNvPr>
          <p:cNvCxnSpPr>
            <a:cxnSpLocks/>
          </p:cNvCxnSpPr>
          <p:nvPr/>
        </p:nvCxnSpPr>
        <p:spPr>
          <a:xfrm>
            <a:off x="3055303" y="2795661"/>
            <a:ext cx="153955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Rectangle 4">
            <a:extLst>
              <a:ext uri="{FF2B5EF4-FFF2-40B4-BE49-F238E27FC236}">
                <a16:creationId xmlns:a16="http://schemas.microsoft.com/office/drawing/2014/main" id="{D82FA626-D205-E2EE-B759-3FED4960F110}"/>
              </a:ext>
            </a:extLst>
          </p:cNvPr>
          <p:cNvSpPr>
            <a:spLocks noChangeArrowheads="1"/>
          </p:cNvSpPr>
          <p:nvPr/>
        </p:nvSpPr>
        <p:spPr bwMode="auto">
          <a:xfrm>
            <a:off x="2966048" y="1681084"/>
            <a:ext cx="153770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左右两侧</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algn="ctr" eaLnBrk="0" fontAlgn="base" hangingPunct="0">
              <a:spcBef>
                <a:spcPct val="0"/>
              </a:spcBef>
              <a:spcAft>
                <a:spcPct val="0"/>
              </a:spcAft>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同时除以</a:t>
            </a:r>
            <a:r>
              <a:rPr lang="en-US" altLang="zh-CN" sz="2000" i="1" kern="100"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kern="100"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sz="2000" kern="100" dirty="0">
                <a:latin typeface="Times New Roman" panose="02020603050405020304" pitchFamily="18" charset="0"/>
                <a:ea typeface="楷体" panose="02010609060101010101" pitchFamily="49" charset="-122"/>
                <a:cs typeface="Times New Roman" panose="02020603050405020304" pitchFamily="18" charset="0"/>
              </a:rPr>
              <a:t>&gt;0)</a:t>
            </a:r>
            <a:endParaRPr lang="zh-CN" altLang="en-US" sz="2000" kern="1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0" name="直接箭头连接符 19">
            <a:extLst>
              <a:ext uri="{FF2B5EF4-FFF2-40B4-BE49-F238E27FC236}">
                <a16:creationId xmlns:a16="http://schemas.microsoft.com/office/drawing/2014/main" id="{9704B459-8A7E-B859-669D-2E4B17AD8EBE}"/>
              </a:ext>
            </a:extLst>
          </p:cNvPr>
          <p:cNvCxnSpPr>
            <a:cxnSpLocks/>
          </p:cNvCxnSpPr>
          <p:nvPr/>
        </p:nvCxnSpPr>
        <p:spPr>
          <a:xfrm>
            <a:off x="7485663" y="2795661"/>
            <a:ext cx="140533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6" name="Rectangle 10">
            <a:extLst>
              <a:ext uri="{FF2B5EF4-FFF2-40B4-BE49-F238E27FC236}">
                <a16:creationId xmlns:a16="http://schemas.microsoft.com/office/drawing/2014/main" id="{D1EC4E9C-BC74-56E3-D3FC-F1A797DD29DF}"/>
              </a:ext>
            </a:extLst>
          </p:cNvPr>
          <p:cNvSpPr>
            <a:spLocks noChangeArrowheads="1"/>
          </p:cNvSpPr>
          <p:nvPr/>
        </p:nvSpPr>
        <p:spPr bwMode="auto">
          <a:xfrm>
            <a:off x="2129742" y="56106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 name="对象 26">
            <a:extLst>
              <a:ext uri="{FF2B5EF4-FFF2-40B4-BE49-F238E27FC236}">
                <a16:creationId xmlns:a16="http://schemas.microsoft.com/office/drawing/2014/main" id="{F6DFC6FE-B83E-DAA4-782B-82D6CD48871E}"/>
              </a:ext>
            </a:extLst>
          </p:cNvPr>
          <p:cNvGraphicFramePr>
            <a:graphicFrameLocks noChangeAspect="1"/>
          </p:cNvGraphicFramePr>
          <p:nvPr>
            <p:extLst>
              <p:ext uri="{D42A27DB-BD31-4B8C-83A1-F6EECF244321}">
                <p14:modId xmlns:p14="http://schemas.microsoft.com/office/powerpoint/2010/main" val="4077029623"/>
              </p:ext>
            </p:extLst>
          </p:nvPr>
        </p:nvGraphicFramePr>
        <p:xfrm>
          <a:off x="7488712" y="2309111"/>
          <a:ext cx="487728" cy="404906"/>
        </p:xfrm>
        <a:graphic>
          <a:graphicData uri="http://schemas.openxmlformats.org/presentationml/2006/ole">
            <mc:AlternateContent xmlns:mc="http://schemas.openxmlformats.org/markup-compatibility/2006">
              <mc:Choice xmlns:v="urn:schemas-microsoft-com:vml" Requires="v">
                <p:oleObj name="Equation" r:id="rId9" imgW="355292" imgH="253780" progId="Equation.DSMT4">
                  <p:embed/>
                </p:oleObj>
              </mc:Choice>
              <mc:Fallback>
                <p:oleObj name="Equation" r:id="rId9" imgW="355292" imgH="25378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88712" y="2309111"/>
                        <a:ext cx="487728" cy="404906"/>
                      </a:xfrm>
                      <a:prstGeom prst="rect">
                        <a:avLst/>
                      </a:prstGeom>
                      <a:noFill/>
                    </p:spPr>
                  </p:pic>
                </p:oleObj>
              </mc:Fallback>
            </mc:AlternateContent>
          </a:graphicData>
        </a:graphic>
      </p:graphicFrame>
      <p:sp>
        <p:nvSpPr>
          <p:cNvPr id="28" name="Rectangle 11">
            <a:extLst>
              <a:ext uri="{FF2B5EF4-FFF2-40B4-BE49-F238E27FC236}">
                <a16:creationId xmlns:a16="http://schemas.microsoft.com/office/drawing/2014/main" id="{AC335081-6E96-A1A3-8C36-747B5A077966}"/>
              </a:ext>
            </a:extLst>
          </p:cNvPr>
          <p:cNvSpPr>
            <a:spLocks noChangeArrowheads="1"/>
          </p:cNvSpPr>
          <p:nvPr/>
        </p:nvSpPr>
        <p:spPr bwMode="auto">
          <a:xfrm>
            <a:off x="7853741" y="2289464"/>
            <a:ext cx="9749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为常数</a:t>
            </a:r>
            <a:r>
              <a:rPr kumimoji="0" lang="zh-CN" altLang="en-US" sz="700" b="0" i="0" u="none" strike="noStrike" cap="none" normalizeH="0" baseline="0" dirty="0">
                <a:ln>
                  <a:noFill/>
                </a:ln>
                <a:solidFill>
                  <a:schemeClr val="tx1"/>
                </a:solidFill>
                <a:effectLst/>
              </a:rPr>
              <a:t> </a:t>
            </a: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E1073AFC-CC7E-9E17-C2B6-8FC182C70878}"/>
              </a:ext>
            </a:extLst>
          </p:cNvPr>
          <p:cNvSpPr>
            <a:spLocks noChangeArrowheads="1"/>
          </p:cNvSpPr>
          <p:nvPr/>
        </p:nvSpPr>
        <p:spPr bwMode="auto">
          <a:xfrm>
            <a:off x="9696450" y="353463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各项乘以</a:t>
            </a:r>
          </a:p>
        </p:txBody>
      </p:sp>
      <p:graphicFrame>
        <p:nvGraphicFramePr>
          <p:cNvPr id="31" name="对象 30">
            <a:extLst>
              <a:ext uri="{FF2B5EF4-FFF2-40B4-BE49-F238E27FC236}">
                <a16:creationId xmlns:a16="http://schemas.microsoft.com/office/drawing/2014/main" id="{C0053CF7-893F-68D5-A426-893B1DB33A3E}"/>
              </a:ext>
            </a:extLst>
          </p:cNvPr>
          <p:cNvGraphicFramePr>
            <a:graphicFrameLocks noChangeAspect="1"/>
          </p:cNvGraphicFramePr>
          <p:nvPr>
            <p:extLst>
              <p:ext uri="{D42A27DB-BD31-4B8C-83A1-F6EECF244321}">
                <p14:modId xmlns:p14="http://schemas.microsoft.com/office/powerpoint/2010/main" val="251735367"/>
              </p:ext>
            </p:extLst>
          </p:nvPr>
        </p:nvGraphicFramePr>
        <p:xfrm>
          <a:off x="10797664" y="3485105"/>
          <a:ext cx="234223" cy="436507"/>
        </p:xfrm>
        <a:graphic>
          <a:graphicData uri="http://schemas.openxmlformats.org/presentationml/2006/ole">
            <mc:AlternateContent xmlns:mc="http://schemas.openxmlformats.org/markup-compatibility/2006">
              <mc:Choice xmlns:v="urn:schemas-microsoft-com:vml" Requires="v">
                <p:oleObj name="Equation" r:id="rId11" imgW="152334" imgH="228501" progId="Equation.DSMT4">
                  <p:embed/>
                </p:oleObj>
              </mc:Choice>
              <mc:Fallback>
                <p:oleObj name="Equation" r:id="rId11" imgW="152334" imgH="228501"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97664" y="3485105"/>
                        <a:ext cx="234223" cy="436507"/>
                      </a:xfrm>
                      <a:prstGeom prst="rect">
                        <a:avLst/>
                      </a:prstGeom>
                      <a:noFill/>
                    </p:spPr>
                  </p:pic>
                </p:oleObj>
              </mc:Fallback>
            </mc:AlternateContent>
          </a:graphicData>
        </a:graphic>
      </p:graphicFrame>
      <p:cxnSp>
        <p:nvCxnSpPr>
          <p:cNvPr id="33" name="直接箭头连接符 32">
            <a:extLst>
              <a:ext uri="{FF2B5EF4-FFF2-40B4-BE49-F238E27FC236}">
                <a16:creationId xmlns:a16="http://schemas.microsoft.com/office/drawing/2014/main" id="{BED5375E-C6BD-2F9B-484F-79FF97B675E9}"/>
              </a:ext>
            </a:extLst>
          </p:cNvPr>
          <p:cNvCxnSpPr>
            <a:cxnSpLocks/>
          </p:cNvCxnSpPr>
          <p:nvPr/>
        </p:nvCxnSpPr>
        <p:spPr>
          <a:xfrm>
            <a:off x="9631089" y="3232251"/>
            <a:ext cx="0" cy="13742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aphicFrame>
        <p:nvGraphicFramePr>
          <p:cNvPr id="35" name="对象 34">
            <a:extLst>
              <a:ext uri="{FF2B5EF4-FFF2-40B4-BE49-F238E27FC236}">
                <a16:creationId xmlns:a16="http://schemas.microsoft.com/office/drawing/2014/main" id="{4500E023-7228-E2A9-0778-319E44403F32}"/>
              </a:ext>
            </a:extLst>
          </p:cNvPr>
          <p:cNvGraphicFramePr>
            <a:graphicFrameLocks noChangeAspect="1"/>
          </p:cNvGraphicFramePr>
          <p:nvPr>
            <p:extLst>
              <p:ext uri="{D42A27DB-BD31-4B8C-83A1-F6EECF244321}">
                <p14:modId xmlns:p14="http://schemas.microsoft.com/office/powerpoint/2010/main" val="614379370"/>
              </p:ext>
            </p:extLst>
          </p:nvPr>
        </p:nvGraphicFramePr>
        <p:xfrm>
          <a:off x="9305888" y="4685910"/>
          <a:ext cx="2513714" cy="636284"/>
        </p:xfrm>
        <a:graphic>
          <a:graphicData uri="http://schemas.openxmlformats.org/presentationml/2006/ole">
            <mc:AlternateContent xmlns:mc="http://schemas.openxmlformats.org/markup-compatibility/2006">
              <mc:Choice xmlns:v="urn:schemas-microsoft-com:vml" Requires="v">
                <p:oleObj name="Equation" r:id="rId13" imgW="1016671" imgH="257450" progId="Equation.DSMT4">
                  <p:embed/>
                </p:oleObj>
              </mc:Choice>
              <mc:Fallback>
                <p:oleObj name="Equation" r:id="rId13" imgW="1016671" imgH="257450" progId="Equation.DSMT4">
                  <p:embed/>
                  <p:pic>
                    <p:nvPicPr>
                      <p:cNvPr id="0" name=""/>
                      <p:cNvPicPr/>
                      <p:nvPr/>
                    </p:nvPicPr>
                    <p:blipFill>
                      <a:blip r:embed="rId14"/>
                      <a:stretch>
                        <a:fillRect/>
                      </a:stretch>
                    </p:blipFill>
                    <p:spPr>
                      <a:xfrm>
                        <a:off x="9305888" y="4685910"/>
                        <a:ext cx="2513714" cy="636284"/>
                      </a:xfrm>
                      <a:prstGeom prst="rect">
                        <a:avLst/>
                      </a:prstGeom>
                    </p:spPr>
                  </p:pic>
                </p:oleObj>
              </mc:Fallback>
            </mc:AlternateContent>
          </a:graphicData>
        </a:graphic>
      </p:graphicFrame>
      <p:cxnSp>
        <p:nvCxnSpPr>
          <p:cNvPr id="38" name="直接箭头连接符 37">
            <a:extLst>
              <a:ext uri="{FF2B5EF4-FFF2-40B4-BE49-F238E27FC236}">
                <a16:creationId xmlns:a16="http://schemas.microsoft.com/office/drawing/2014/main" id="{50E4D43F-3C4F-6F91-E423-7C1C0E251E09}"/>
              </a:ext>
            </a:extLst>
          </p:cNvPr>
          <p:cNvCxnSpPr>
            <a:cxnSpLocks/>
          </p:cNvCxnSpPr>
          <p:nvPr/>
        </p:nvCxnSpPr>
        <p:spPr>
          <a:xfrm flipH="1">
            <a:off x="7776740" y="5165558"/>
            <a:ext cx="126749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33306A43-A45F-70B0-34D5-105D314B2BC6}"/>
              </a:ext>
            </a:extLst>
          </p:cNvPr>
          <p:cNvPicPr>
            <a:picLocks noChangeAspect="1"/>
          </p:cNvPicPr>
          <p:nvPr/>
        </p:nvPicPr>
        <p:blipFill>
          <a:blip r:embed="rId15"/>
          <a:stretch>
            <a:fillRect/>
          </a:stretch>
        </p:blipFill>
        <p:spPr>
          <a:xfrm>
            <a:off x="-62139" y="4210337"/>
            <a:ext cx="12604658" cy="769969"/>
          </a:xfrm>
          <a:prstGeom prst="rect">
            <a:avLst/>
          </a:prstGeom>
        </p:spPr>
      </p:pic>
      <p:graphicFrame>
        <p:nvGraphicFramePr>
          <p:cNvPr id="42" name="对象 41">
            <a:extLst>
              <a:ext uri="{FF2B5EF4-FFF2-40B4-BE49-F238E27FC236}">
                <a16:creationId xmlns:a16="http://schemas.microsoft.com/office/drawing/2014/main" id="{F6F1AB6A-F923-5AE2-A1A0-C61A1F0425DF}"/>
              </a:ext>
            </a:extLst>
          </p:cNvPr>
          <p:cNvGraphicFramePr>
            <a:graphicFrameLocks noChangeAspect="1"/>
          </p:cNvGraphicFramePr>
          <p:nvPr>
            <p:extLst>
              <p:ext uri="{D42A27DB-BD31-4B8C-83A1-F6EECF244321}">
                <p14:modId xmlns:p14="http://schemas.microsoft.com/office/powerpoint/2010/main" val="1155270979"/>
              </p:ext>
            </p:extLst>
          </p:nvPr>
        </p:nvGraphicFramePr>
        <p:xfrm>
          <a:off x="2744425" y="4937751"/>
          <a:ext cx="1980953" cy="971915"/>
        </p:xfrm>
        <a:graphic>
          <a:graphicData uri="http://schemas.openxmlformats.org/presentationml/2006/ole">
            <mc:AlternateContent xmlns:mc="http://schemas.openxmlformats.org/markup-compatibility/2006">
              <mc:Choice xmlns:v="urn:schemas-microsoft-com:vml" Requires="v">
                <p:oleObj name="Equation" r:id="rId16" imgW="931200" imgH="457929" progId="Equation.DSMT4">
                  <p:embed/>
                </p:oleObj>
              </mc:Choice>
              <mc:Fallback>
                <p:oleObj name="Equation" r:id="rId16" imgW="931200" imgH="457929" progId="Equation.DSMT4">
                  <p:embed/>
                  <p:pic>
                    <p:nvPicPr>
                      <p:cNvPr id="0" name=""/>
                      <p:cNvPicPr/>
                      <p:nvPr/>
                    </p:nvPicPr>
                    <p:blipFill>
                      <a:blip r:embed="rId17"/>
                      <a:stretch>
                        <a:fillRect/>
                      </a:stretch>
                    </p:blipFill>
                    <p:spPr>
                      <a:xfrm>
                        <a:off x="2744425" y="4937751"/>
                        <a:ext cx="1980953" cy="971915"/>
                      </a:xfrm>
                      <a:prstGeom prst="rect">
                        <a:avLst/>
                      </a:prstGeom>
                    </p:spPr>
                  </p:pic>
                </p:oleObj>
              </mc:Fallback>
            </mc:AlternateContent>
          </a:graphicData>
        </a:graphic>
      </p:graphicFrame>
    </p:spTree>
    <p:extLst>
      <p:ext uri="{BB962C8B-B14F-4D97-AF65-F5344CB8AC3E}">
        <p14:creationId xmlns:p14="http://schemas.microsoft.com/office/powerpoint/2010/main" val="36805478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0C4A7-F9D9-41E2-D978-7C92991CAA8D}"/>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D6EA556A-A013-A94F-205F-CE0A5765EA51}"/>
              </a:ext>
            </a:extLst>
          </p:cNvPr>
          <p:cNvSpPr/>
          <p:nvPr/>
        </p:nvSpPr>
        <p:spPr>
          <a:xfrm>
            <a:off x="7802881" y="4542211"/>
            <a:ext cx="4081988" cy="173148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6">
            <a:extLst>
              <a:ext uri="{FF2B5EF4-FFF2-40B4-BE49-F238E27FC236}">
                <a16:creationId xmlns:a16="http://schemas.microsoft.com/office/drawing/2014/main" id="{ECC4CADB-7698-1A6A-2ADA-167840B75F9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6E0B8DD4-4C3B-6E4A-ED09-E7B7402B912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064DD814-406C-FC2B-2371-15C67E2CCCDD}"/>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矩形: 圆角 55">
            <a:extLst>
              <a:ext uri="{FF2B5EF4-FFF2-40B4-BE49-F238E27FC236}">
                <a16:creationId xmlns:a16="http://schemas.microsoft.com/office/drawing/2014/main" id="{6DE4F691-641A-39E7-842C-BB9321A20F17}"/>
              </a:ext>
            </a:extLst>
          </p:cNvPr>
          <p:cNvSpPr/>
          <p:nvPr/>
        </p:nvSpPr>
        <p:spPr>
          <a:xfrm>
            <a:off x="9478252" y="1190683"/>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目标函数</a:t>
            </a:r>
          </a:p>
        </p:txBody>
      </p:sp>
      <p:sp>
        <p:nvSpPr>
          <p:cNvPr id="9" name="文本框 8">
            <a:extLst>
              <a:ext uri="{FF2B5EF4-FFF2-40B4-BE49-F238E27FC236}">
                <a16:creationId xmlns:a16="http://schemas.microsoft.com/office/drawing/2014/main" id="{45B43BAB-4332-B563-01BC-0AA01363B703}"/>
              </a:ext>
            </a:extLst>
          </p:cNvPr>
          <p:cNvSpPr txBox="1"/>
          <p:nvPr/>
        </p:nvSpPr>
        <p:spPr>
          <a:xfrm>
            <a:off x="433988" y="1122322"/>
            <a:ext cx="8430879" cy="830997"/>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训练线性可分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的目标是最大化“间隔”，即使得两类样本的支持向量到超平面的距离最大。</a:t>
            </a:r>
          </a:p>
        </p:txBody>
      </p:sp>
      <p:graphicFrame>
        <p:nvGraphicFramePr>
          <p:cNvPr id="10" name="对象 9">
            <a:extLst>
              <a:ext uri="{FF2B5EF4-FFF2-40B4-BE49-F238E27FC236}">
                <a16:creationId xmlns:a16="http://schemas.microsoft.com/office/drawing/2014/main" id="{845C8929-D2AD-B9A6-5F7F-E59543E6511C}"/>
              </a:ext>
            </a:extLst>
          </p:cNvPr>
          <p:cNvGraphicFramePr>
            <a:graphicFrameLocks noChangeAspect="1"/>
          </p:cNvGraphicFramePr>
          <p:nvPr>
            <p:extLst>
              <p:ext uri="{D42A27DB-BD31-4B8C-83A1-F6EECF244321}">
                <p14:modId xmlns:p14="http://schemas.microsoft.com/office/powerpoint/2010/main" val="2890074588"/>
              </p:ext>
            </p:extLst>
          </p:nvPr>
        </p:nvGraphicFramePr>
        <p:xfrm>
          <a:off x="4287375" y="2200425"/>
          <a:ext cx="4081988" cy="1520348"/>
        </p:xfrm>
        <a:graphic>
          <a:graphicData uri="http://schemas.openxmlformats.org/presentationml/2006/ole">
            <mc:AlternateContent xmlns:mc="http://schemas.openxmlformats.org/markup-compatibility/2006">
              <mc:Choice xmlns:v="urn:schemas-microsoft-com:vml" Requires="v">
                <p:oleObj name="Equation" r:id="rId3" imgW="1947871" imgH="725115" progId="Equation.DSMT4">
                  <p:embed/>
                </p:oleObj>
              </mc:Choice>
              <mc:Fallback>
                <p:oleObj name="Equation" r:id="rId3" imgW="1947871" imgH="725115" progId="Equation.DSMT4">
                  <p:embed/>
                  <p:pic>
                    <p:nvPicPr>
                      <p:cNvPr id="0" name=""/>
                      <p:cNvPicPr/>
                      <p:nvPr/>
                    </p:nvPicPr>
                    <p:blipFill>
                      <a:blip r:embed="rId4"/>
                      <a:stretch>
                        <a:fillRect/>
                      </a:stretch>
                    </p:blipFill>
                    <p:spPr>
                      <a:xfrm>
                        <a:off x="4287375" y="2200425"/>
                        <a:ext cx="4081988" cy="152034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BF072F2-9E15-CE2B-0CC8-E77E62A4EF2D}"/>
              </a:ext>
            </a:extLst>
          </p:cNvPr>
          <p:cNvGraphicFramePr>
            <a:graphicFrameLocks noChangeAspect="1"/>
          </p:cNvGraphicFramePr>
          <p:nvPr>
            <p:extLst>
              <p:ext uri="{D42A27DB-BD31-4B8C-83A1-F6EECF244321}">
                <p14:modId xmlns:p14="http://schemas.microsoft.com/office/powerpoint/2010/main" val="1327109954"/>
              </p:ext>
            </p:extLst>
          </p:nvPr>
        </p:nvGraphicFramePr>
        <p:xfrm>
          <a:off x="1377853" y="4752739"/>
          <a:ext cx="3834225" cy="1371822"/>
        </p:xfrm>
        <a:graphic>
          <a:graphicData uri="http://schemas.openxmlformats.org/presentationml/2006/ole">
            <mc:AlternateContent xmlns:mc="http://schemas.openxmlformats.org/markup-compatibility/2006">
              <mc:Choice xmlns:v="urn:schemas-microsoft-com:vml" Requires="v">
                <p:oleObj name="Equation" r:id="rId5" imgW="1947871" imgH="696269" progId="Equation.DSMT4">
                  <p:embed/>
                </p:oleObj>
              </mc:Choice>
              <mc:Fallback>
                <p:oleObj name="Equation" r:id="rId5" imgW="1947871" imgH="696269" progId="Equation.DSMT4">
                  <p:embed/>
                  <p:pic>
                    <p:nvPicPr>
                      <p:cNvPr id="0" name=""/>
                      <p:cNvPicPr/>
                      <p:nvPr/>
                    </p:nvPicPr>
                    <p:blipFill>
                      <a:blip r:embed="rId6"/>
                      <a:stretch>
                        <a:fillRect/>
                      </a:stretch>
                    </p:blipFill>
                    <p:spPr>
                      <a:xfrm>
                        <a:off x="1377853" y="4752739"/>
                        <a:ext cx="3834225" cy="137182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76AFCA74-3418-EEF6-A902-FB258CE8489C}"/>
              </a:ext>
            </a:extLst>
          </p:cNvPr>
          <p:cNvGraphicFramePr>
            <a:graphicFrameLocks noChangeAspect="1"/>
          </p:cNvGraphicFramePr>
          <p:nvPr>
            <p:extLst>
              <p:ext uri="{D42A27DB-BD31-4B8C-83A1-F6EECF244321}">
                <p14:modId xmlns:p14="http://schemas.microsoft.com/office/powerpoint/2010/main" val="955536952"/>
              </p:ext>
            </p:extLst>
          </p:nvPr>
        </p:nvGraphicFramePr>
        <p:xfrm>
          <a:off x="7981706" y="4778288"/>
          <a:ext cx="3834225" cy="1259326"/>
        </p:xfrm>
        <a:graphic>
          <a:graphicData uri="http://schemas.openxmlformats.org/presentationml/2006/ole">
            <mc:AlternateContent xmlns:mc="http://schemas.openxmlformats.org/markup-compatibility/2006">
              <mc:Choice xmlns:v="urn:schemas-microsoft-com:vml" Requires="v">
                <p:oleObj name="Equation" r:id="rId7" imgW="1947871" imgH="639298" progId="Equation.DSMT4">
                  <p:embed/>
                </p:oleObj>
              </mc:Choice>
              <mc:Fallback>
                <p:oleObj name="Equation" r:id="rId7" imgW="1947871" imgH="639298" progId="Equation.DSMT4">
                  <p:embed/>
                  <p:pic>
                    <p:nvPicPr>
                      <p:cNvPr id="0" name=""/>
                      <p:cNvPicPr/>
                      <p:nvPr/>
                    </p:nvPicPr>
                    <p:blipFill>
                      <a:blip r:embed="rId8"/>
                      <a:stretch>
                        <a:fillRect/>
                      </a:stretch>
                    </p:blipFill>
                    <p:spPr>
                      <a:xfrm>
                        <a:off x="7981706" y="4778288"/>
                        <a:ext cx="3834225" cy="1259326"/>
                      </a:xfrm>
                      <a:prstGeom prst="rect">
                        <a:avLst/>
                      </a:prstGeom>
                    </p:spPr>
                  </p:pic>
                </p:oleObj>
              </mc:Fallback>
            </mc:AlternateContent>
          </a:graphicData>
        </a:graphic>
      </p:graphicFrame>
      <p:cxnSp>
        <p:nvCxnSpPr>
          <p:cNvPr id="13" name="直接箭头连接符 12">
            <a:extLst>
              <a:ext uri="{FF2B5EF4-FFF2-40B4-BE49-F238E27FC236}">
                <a16:creationId xmlns:a16="http://schemas.microsoft.com/office/drawing/2014/main" id="{1F7C1E55-BE80-2850-87CC-FEEC2B473E47}"/>
              </a:ext>
            </a:extLst>
          </p:cNvPr>
          <p:cNvCxnSpPr>
            <a:cxnSpLocks/>
          </p:cNvCxnSpPr>
          <p:nvPr/>
        </p:nvCxnSpPr>
        <p:spPr>
          <a:xfrm flipH="1">
            <a:off x="2667000" y="3611078"/>
            <a:ext cx="1620375" cy="11374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94954B4-F564-2FF3-D439-84287F0D90EB}"/>
              </a:ext>
            </a:extLst>
          </p:cNvPr>
          <p:cNvCxnSpPr>
            <a:cxnSpLocks/>
          </p:cNvCxnSpPr>
          <p:nvPr/>
        </p:nvCxnSpPr>
        <p:spPr>
          <a:xfrm>
            <a:off x="3611563" y="5438650"/>
            <a:ext cx="419131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97ED5D7E-ECB2-9900-95B0-DD7BA17B0530}"/>
              </a:ext>
            </a:extLst>
          </p:cNvPr>
          <p:cNvSpPr txBox="1"/>
          <p:nvPr/>
        </p:nvSpPr>
        <p:spPr>
          <a:xfrm>
            <a:off x="1659651" y="3440287"/>
            <a:ext cx="1973885" cy="707886"/>
          </a:xfrm>
          <a:prstGeom prst="rect">
            <a:avLst/>
          </a:prstGeom>
          <a:noFill/>
        </p:spPr>
        <p:txBody>
          <a:bodyPr wrap="square">
            <a:spAutoFit/>
          </a:bodyPr>
          <a:lstStyle/>
          <a:p>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对于任意支持向量</a:t>
            </a:r>
            <a:r>
              <a:rPr lang="zh-CN" altLang="en-US" sz="2000" i="1"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i="1" kern="100"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 均等于</a:t>
            </a:r>
            <a:r>
              <a:rPr lang="en-US" altLang="zh-CN" sz="2000" kern="100" dirty="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000" kern="1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文本框 24">
            <a:extLst>
              <a:ext uri="{FF2B5EF4-FFF2-40B4-BE49-F238E27FC236}">
                <a16:creationId xmlns:a16="http://schemas.microsoft.com/office/drawing/2014/main" id="{1B90F26A-AB83-B7C0-FB0F-18DB1D3405B8}"/>
              </a:ext>
            </a:extLst>
          </p:cNvPr>
          <p:cNvSpPr txBox="1"/>
          <p:nvPr/>
        </p:nvSpPr>
        <p:spPr>
          <a:xfrm>
            <a:off x="5267379" y="5017709"/>
            <a:ext cx="1973885" cy="400110"/>
          </a:xfrm>
          <a:prstGeom prst="rect">
            <a:avLst/>
          </a:prstGeom>
          <a:noFill/>
        </p:spPr>
        <p:txBody>
          <a:bodyPr wrap="square">
            <a:spAutoFit/>
          </a:bodyPr>
          <a:lstStyle/>
          <a:p>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等价于</a:t>
            </a:r>
          </a:p>
        </p:txBody>
      </p:sp>
    </p:spTree>
    <p:extLst>
      <p:ext uri="{BB962C8B-B14F-4D97-AF65-F5344CB8AC3E}">
        <p14:creationId xmlns:p14="http://schemas.microsoft.com/office/powerpoint/2010/main" val="36642817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36E2-A410-89C8-48E8-72BCA2800018}"/>
            </a:ext>
          </a:extLst>
        </p:cNvPr>
        <p:cNvGrpSpPr/>
        <p:nvPr/>
      </p:nvGrpSpPr>
      <p:grpSpPr>
        <a:xfrm>
          <a:off x="0" y="0"/>
          <a:ext cx="0" cy="0"/>
          <a:chOff x="0" y="0"/>
          <a:chExt cx="0" cy="0"/>
        </a:xfrm>
      </p:grpSpPr>
      <p:sp>
        <p:nvSpPr>
          <p:cNvPr id="27" name="矩形 26">
            <a:extLst>
              <a:ext uri="{FF2B5EF4-FFF2-40B4-BE49-F238E27FC236}">
                <a16:creationId xmlns:a16="http://schemas.microsoft.com/office/drawing/2014/main" id="{BB5B5027-985A-BCB9-97F7-6AFE2743908F}"/>
              </a:ext>
            </a:extLst>
          </p:cNvPr>
          <p:cNvSpPr/>
          <p:nvPr/>
        </p:nvSpPr>
        <p:spPr>
          <a:xfrm>
            <a:off x="3089223" y="5438647"/>
            <a:ext cx="2658715" cy="84174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6">
            <a:extLst>
              <a:ext uri="{FF2B5EF4-FFF2-40B4-BE49-F238E27FC236}">
                <a16:creationId xmlns:a16="http://schemas.microsoft.com/office/drawing/2014/main" id="{42DF77AF-9631-DF70-BBB1-0ED27D26518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E7D5AF2C-72C6-C6D0-F735-9A439650406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622F4264-9ADC-1A6E-CB2D-B5AD59820B6D}"/>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矩形: 圆角 55">
            <a:extLst>
              <a:ext uri="{FF2B5EF4-FFF2-40B4-BE49-F238E27FC236}">
                <a16:creationId xmlns:a16="http://schemas.microsoft.com/office/drawing/2014/main" id="{F9A005BC-C3E6-E6CA-F7C0-85816A672895}"/>
              </a:ext>
            </a:extLst>
          </p:cNvPr>
          <p:cNvSpPr/>
          <p:nvPr/>
        </p:nvSpPr>
        <p:spPr>
          <a:xfrm>
            <a:off x="9652977" y="2082283"/>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对偶问题</a:t>
            </a:r>
          </a:p>
        </p:txBody>
      </p:sp>
      <p:sp>
        <p:nvSpPr>
          <p:cNvPr id="7" name="文本框 6">
            <a:extLst>
              <a:ext uri="{FF2B5EF4-FFF2-40B4-BE49-F238E27FC236}">
                <a16:creationId xmlns:a16="http://schemas.microsoft.com/office/drawing/2014/main" id="{8BF6E66C-6277-C9B0-572F-BF16224432C3}"/>
              </a:ext>
            </a:extLst>
          </p:cNvPr>
          <p:cNvSpPr txBox="1"/>
          <p:nvPr/>
        </p:nvSpPr>
        <p:spPr>
          <a:xfrm>
            <a:off x="342363" y="1050222"/>
            <a:ext cx="11430274" cy="1200329"/>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求解线性可分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的目标函数是一个凸二次规划问题，原问题和对偶问题满足对偶关系。为了降低计算复杂度，可通过求解原问题的对偶问题得到原问题的解。下面使用对偶算法求解线性可分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p:txBody>
      </p:sp>
      <p:graphicFrame>
        <p:nvGraphicFramePr>
          <p:cNvPr id="8" name="对象 7">
            <a:extLst>
              <a:ext uri="{FF2B5EF4-FFF2-40B4-BE49-F238E27FC236}">
                <a16:creationId xmlns:a16="http://schemas.microsoft.com/office/drawing/2014/main" id="{A30F5F5B-DCE5-849B-F400-DD018F285F22}"/>
              </a:ext>
            </a:extLst>
          </p:cNvPr>
          <p:cNvGraphicFramePr>
            <a:graphicFrameLocks noChangeAspect="1"/>
          </p:cNvGraphicFramePr>
          <p:nvPr>
            <p:extLst>
              <p:ext uri="{D42A27DB-BD31-4B8C-83A1-F6EECF244321}">
                <p14:modId xmlns:p14="http://schemas.microsoft.com/office/powerpoint/2010/main" val="105632767"/>
              </p:ext>
            </p:extLst>
          </p:nvPr>
        </p:nvGraphicFramePr>
        <p:xfrm>
          <a:off x="528497" y="3498938"/>
          <a:ext cx="3654598" cy="1200329"/>
        </p:xfrm>
        <a:graphic>
          <a:graphicData uri="http://schemas.openxmlformats.org/presentationml/2006/ole">
            <mc:AlternateContent xmlns:mc="http://schemas.openxmlformats.org/markup-compatibility/2006">
              <mc:Choice xmlns:v="urn:schemas-microsoft-com:vml" Requires="v">
                <p:oleObj name="Equation" r:id="rId3" imgW="1947871" imgH="639298" progId="Equation.DSMT4">
                  <p:embed/>
                </p:oleObj>
              </mc:Choice>
              <mc:Fallback>
                <p:oleObj name="Equation" r:id="rId3" imgW="1947871" imgH="639298" progId="Equation.DSMT4">
                  <p:embed/>
                  <p:pic>
                    <p:nvPicPr>
                      <p:cNvPr id="0" name=""/>
                      <p:cNvPicPr/>
                      <p:nvPr/>
                    </p:nvPicPr>
                    <p:blipFill>
                      <a:blip r:embed="rId4"/>
                      <a:stretch>
                        <a:fillRect/>
                      </a:stretch>
                    </p:blipFill>
                    <p:spPr>
                      <a:xfrm>
                        <a:off x="528497" y="3498938"/>
                        <a:ext cx="3654598" cy="120032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CF5E033E-45CA-63BA-EF03-03FB04EA21A0}"/>
              </a:ext>
            </a:extLst>
          </p:cNvPr>
          <p:cNvGraphicFramePr>
            <a:graphicFrameLocks noChangeAspect="1"/>
          </p:cNvGraphicFramePr>
          <p:nvPr>
            <p:extLst>
              <p:ext uri="{D42A27DB-BD31-4B8C-83A1-F6EECF244321}">
                <p14:modId xmlns:p14="http://schemas.microsoft.com/office/powerpoint/2010/main" val="698071530"/>
              </p:ext>
            </p:extLst>
          </p:nvPr>
        </p:nvGraphicFramePr>
        <p:xfrm>
          <a:off x="5173884" y="3707282"/>
          <a:ext cx="6646514" cy="835827"/>
        </p:xfrm>
        <a:graphic>
          <a:graphicData uri="http://schemas.openxmlformats.org/presentationml/2006/ole">
            <mc:AlternateContent xmlns:mc="http://schemas.openxmlformats.org/markup-compatibility/2006">
              <mc:Choice xmlns:v="urn:schemas-microsoft-com:vml" Requires="v">
                <p:oleObj name="Equation" r:id="rId5" imgW="3420626" imgH="429444" progId="Equation.DSMT4">
                  <p:embed/>
                </p:oleObj>
              </mc:Choice>
              <mc:Fallback>
                <p:oleObj name="Equation" r:id="rId5" imgW="3420626" imgH="429444" progId="Equation.DSMT4">
                  <p:embed/>
                  <p:pic>
                    <p:nvPicPr>
                      <p:cNvPr id="0" name=""/>
                      <p:cNvPicPr/>
                      <p:nvPr/>
                    </p:nvPicPr>
                    <p:blipFill>
                      <a:blip r:embed="rId6"/>
                      <a:stretch>
                        <a:fillRect/>
                      </a:stretch>
                    </p:blipFill>
                    <p:spPr>
                      <a:xfrm>
                        <a:off x="5173884" y="3707282"/>
                        <a:ext cx="6646514" cy="835827"/>
                      </a:xfrm>
                      <a:prstGeom prst="rect">
                        <a:avLst/>
                      </a:prstGeom>
                    </p:spPr>
                  </p:pic>
                </p:oleObj>
              </mc:Fallback>
            </mc:AlternateContent>
          </a:graphicData>
        </a:graphic>
      </p:graphicFrame>
      <p:cxnSp>
        <p:nvCxnSpPr>
          <p:cNvPr id="10" name="直接箭头连接符 9">
            <a:extLst>
              <a:ext uri="{FF2B5EF4-FFF2-40B4-BE49-F238E27FC236}">
                <a16:creationId xmlns:a16="http://schemas.microsoft.com/office/drawing/2014/main" id="{738EDDC5-7711-E855-6800-EC42012B72F4}"/>
              </a:ext>
            </a:extLst>
          </p:cNvPr>
          <p:cNvCxnSpPr>
            <a:cxnSpLocks/>
          </p:cNvCxnSpPr>
          <p:nvPr/>
        </p:nvCxnSpPr>
        <p:spPr>
          <a:xfrm>
            <a:off x="2627977" y="4026535"/>
            <a:ext cx="217551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37387A07-5188-D849-BBCB-8BBDD0468AE1}"/>
              </a:ext>
            </a:extLst>
          </p:cNvPr>
          <p:cNvPicPr>
            <a:picLocks noChangeAspect="1"/>
          </p:cNvPicPr>
          <p:nvPr/>
        </p:nvPicPr>
        <p:blipFill>
          <a:blip r:embed="rId7"/>
          <a:stretch>
            <a:fillRect/>
          </a:stretch>
        </p:blipFill>
        <p:spPr>
          <a:xfrm>
            <a:off x="401175" y="2853469"/>
            <a:ext cx="9761397" cy="607327"/>
          </a:xfrm>
          <a:prstGeom prst="rect">
            <a:avLst/>
          </a:prstGeom>
        </p:spPr>
      </p:pic>
      <p:graphicFrame>
        <p:nvGraphicFramePr>
          <p:cNvPr id="14" name="对象 13">
            <a:extLst>
              <a:ext uri="{FF2B5EF4-FFF2-40B4-BE49-F238E27FC236}">
                <a16:creationId xmlns:a16="http://schemas.microsoft.com/office/drawing/2014/main" id="{E23ECF1C-34A1-FCB1-ED35-E498A0C87237}"/>
              </a:ext>
            </a:extLst>
          </p:cNvPr>
          <p:cNvGraphicFramePr>
            <a:graphicFrameLocks noChangeAspect="1"/>
          </p:cNvGraphicFramePr>
          <p:nvPr>
            <p:extLst>
              <p:ext uri="{D42A27DB-BD31-4B8C-83A1-F6EECF244321}">
                <p14:modId xmlns:p14="http://schemas.microsoft.com/office/powerpoint/2010/main" val="2723770662"/>
              </p:ext>
            </p:extLst>
          </p:nvPr>
        </p:nvGraphicFramePr>
        <p:xfrm>
          <a:off x="7341305" y="5620855"/>
          <a:ext cx="2311672" cy="394035"/>
        </p:xfrm>
        <a:graphic>
          <a:graphicData uri="http://schemas.openxmlformats.org/presentationml/2006/ole">
            <mc:AlternateContent xmlns:mc="http://schemas.openxmlformats.org/markup-compatibility/2006">
              <mc:Choice xmlns:v="urn:schemas-microsoft-com:vml" Requires="v">
                <p:oleObj name="Equation" r:id="rId8" imgW="1396621" imgH="238340" progId="Equation.DSMT4">
                  <p:embed/>
                </p:oleObj>
              </mc:Choice>
              <mc:Fallback>
                <p:oleObj name="Equation" r:id="rId8" imgW="1396621" imgH="238340" progId="Equation.DSMT4">
                  <p:embed/>
                  <p:pic>
                    <p:nvPicPr>
                      <p:cNvPr id="0" name=""/>
                      <p:cNvPicPr/>
                      <p:nvPr/>
                    </p:nvPicPr>
                    <p:blipFill>
                      <a:blip r:embed="rId9"/>
                      <a:stretch>
                        <a:fillRect/>
                      </a:stretch>
                    </p:blipFill>
                    <p:spPr>
                      <a:xfrm>
                        <a:off x="7341305" y="5620855"/>
                        <a:ext cx="2311672" cy="394035"/>
                      </a:xfrm>
                      <a:prstGeom prst="rect">
                        <a:avLst/>
                      </a:prstGeom>
                    </p:spPr>
                  </p:pic>
                </p:oleObj>
              </mc:Fallback>
            </mc:AlternateContent>
          </a:graphicData>
        </a:graphic>
      </p:graphicFrame>
      <p:cxnSp>
        <p:nvCxnSpPr>
          <p:cNvPr id="17" name="直接箭头连接符 16">
            <a:extLst>
              <a:ext uri="{FF2B5EF4-FFF2-40B4-BE49-F238E27FC236}">
                <a16:creationId xmlns:a16="http://schemas.microsoft.com/office/drawing/2014/main" id="{07DFA889-9838-023B-3D13-9C5B1D3C17E2}"/>
              </a:ext>
            </a:extLst>
          </p:cNvPr>
          <p:cNvCxnSpPr>
            <a:cxnSpLocks/>
          </p:cNvCxnSpPr>
          <p:nvPr/>
        </p:nvCxnSpPr>
        <p:spPr>
          <a:xfrm>
            <a:off x="8196604" y="4699267"/>
            <a:ext cx="0" cy="77883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4">
            <a:extLst>
              <a:ext uri="{FF2B5EF4-FFF2-40B4-BE49-F238E27FC236}">
                <a16:creationId xmlns:a16="http://schemas.microsoft.com/office/drawing/2014/main" id="{AD4EB787-204E-5DDB-8B78-A717066AB279}"/>
              </a:ext>
            </a:extLst>
          </p:cNvPr>
          <p:cNvSpPr>
            <a:spLocks noChangeArrowheads="1"/>
          </p:cNvSpPr>
          <p:nvPr/>
        </p:nvSpPr>
        <p:spPr bwMode="auto">
          <a:xfrm>
            <a:off x="7885290" y="4815814"/>
            <a:ext cx="153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等价于</a:t>
            </a:r>
          </a:p>
        </p:txBody>
      </p:sp>
      <p:cxnSp>
        <p:nvCxnSpPr>
          <p:cNvPr id="20" name="直接箭头连接符 19">
            <a:extLst>
              <a:ext uri="{FF2B5EF4-FFF2-40B4-BE49-F238E27FC236}">
                <a16:creationId xmlns:a16="http://schemas.microsoft.com/office/drawing/2014/main" id="{6E5C5D9E-AE41-812F-2EFF-8A4C1EF636C3}"/>
              </a:ext>
            </a:extLst>
          </p:cNvPr>
          <p:cNvCxnSpPr>
            <a:cxnSpLocks/>
          </p:cNvCxnSpPr>
          <p:nvPr/>
        </p:nvCxnSpPr>
        <p:spPr>
          <a:xfrm flipH="1">
            <a:off x="5775767" y="5817872"/>
            <a:ext cx="134266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Rectangle 4">
            <a:extLst>
              <a:ext uri="{FF2B5EF4-FFF2-40B4-BE49-F238E27FC236}">
                <a16:creationId xmlns:a16="http://schemas.microsoft.com/office/drawing/2014/main" id="{1359E821-7AE7-C0A1-8743-AB3B01008EFB}"/>
              </a:ext>
            </a:extLst>
          </p:cNvPr>
          <p:cNvSpPr>
            <a:spLocks noChangeArrowheads="1"/>
          </p:cNvSpPr>
          <p:nvPr/>
        </p:nvSpPr>
        <p:spPr bwMode="auto">
          <a:xfrm>
            <a:off x="5775767" y="5433151"/>
            <a:ext cx="153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2000" kern="100" dirty="0">
                <a:latin typeface="Times New Roman" panose="02020603050405020304" pitchFamily="18" charset="0"/>
                <a:ea typeface="楷体" panose="02010609060101010101" pitchFamily="49" charset="-122"/>
                <a:cs typeface="Times New Roman" panose="02020603050405020304" pitchFamily="18" charset="0"/>
              </a:rPr>
              <a:t>对偶问题</a:t>
            </a:r>
          </a:p>
        </p:txBody>
      </p:sp>
      <p:graphicFrame>
        <p:nvGraphicFramePr>
          <p:cNvPr id="24" name="对象 23">
            <a:extLst>
              <a:ext uri="{FF2B5EF4-FFF2-40B4-BE49-F238E27FC236}">
                <a16:creationId xmlns:a16="http://schemas.microsoft.com/office/drawing/2014/main" id="{A6BED8BF-681A-6FAD-AC26-BF0A6FFA3633}"/>
              </a:ext>
            </a:extLst>
          </p:cNvPr>
          <p:cNvGraphicFramePr>
            <a:graphicFrameLocks noChangeAspect="1"/>
          </p:cNvGraphicFramePr>
          <p:nvPr>
            <p:extLst>
              <p:ext uri="{D42A27DB-BD31-4B8C-83A1-F6EECF244321}">
                <p14:modId xmlns:p14="http://schemas.microsoft.com/office/powerpoint/2010/main" val="2013513698"/>
              </p:ext>
            </p:extLst>
          </p:nvPr>
        </p:nvGraphicFramePr>
        <p:xfrm>
          <a:off x="3156584" y="5673793"/>
          <a:ext cx="2556629" cy="435789"/>
        </p:xfrm>
        <a:graphic>
          <a:graphicData uri="http://schemas.openxmlformats.org/presentationml/2006/ole">
            <mc:AlternateContent xmlns:mc="http://schemas.openxmlformats.org/markup-compatibility/2006">
              <mc:Choice xmlns:v="urn:schemas-microsoft-com:vml" Requires="v">
                <p:oleObj name="Equation" r:id="rId10" imgW="1396621" imgH="238340" progId="Equation.DSMT4">
                  <p:embed/>
                </p:oleObj>
              </mc:Choice>
              <mc:Fallback>
                <p:oleObj name="Equation" r:id="rId10" imgW="1396621" imgH="238340" progId="Equation.DSMT4">
                  <p:embed/>
                  <p:pic>
                    <p:nvPicPr>
                      <p:cNvPr id="0" name=""/>
                      <p:cNvPicPr/>
                      <p:nvPr/>
                    </p:nvPicPr>
                    <p:blipFill>
                      <a:blip r:embed="rId11"/>
                      <a:stretch>
                        <a:fillRect/>
                      </a:stretch>
                    </p:blipFill>
                    <p:spPr>
                      <a:xfrm>
                        <a:off x="3156584" y="5673793"/>
                        <a:ext cx="2556629" cy="435789"/>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4B1751C2-0716-2899-26F4-4CCA4914C15C}"/>
              </a:ext>
            </a:extLst>
          </p:cNvPr>
          <p:cNvSpPr txBox="1"/>
          <p:nvPr/>
        </p:nvSpPr>
        <p:spPr>
          <a:xfrm>
            <a:off x="2490892" y="3487452"/>
            <a:ext cx="24496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algn="ctr" eaLnBrk="0" fontAlgn="base" hangingPunct="0">
              <a:spcBef>
                <a:spcPct val="0"/>
              </a:spcBef>
              <a:spcAft>
                <a:spcPct val="0"/>
              </a:spcAft>
              <a:defRPr kern="100">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2000" dirty="0"/>
              <a:t>构造拉格朗日函数</a:t>
            </a:r>
          </a:p>
        </p:txBody>
      </p:sp>
    </p:spTree>
    <p:extLst>
      <p:ext uri="{BB962C8B-B14F-4D97-AF65-F5344CB8AC3E}">
        <p14:creationId xmlns:p14="http://schemas.microsoft.com/office/powerpoint/2010/main" val="7444801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7D3A1-C1E8-CABE-C2C0-51E3E7DA50F4}"/>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4B4A62F5-CFB8-F944-21AF-54D69A157F65}"/>
              </a:ext>
            </a:extLst>
          </p:cNvPr>
          <p:cNvSpPr/>
          <p:nvPr/>
        </p:nvSpPr>
        <p:spPr>
          <a:xfrm>
            <a:off x="2738015" y="5744062"/>
            <a:ext cx="4081988" cy="86574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6">
            <a:extLst>
              <a:ext uri="{FF2B5EF4-FFF2-40B4-BE49-F238E27FC236}">
                <a16:creationId xmlns:a16="http://schemas.microsoft.com/office/drawing/2014/main" id="{B1DA6AFE-DA33-58EE-9802-F28486DB379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D26D96D8-6CB3-A17C-60F0-8BF89FC5A6F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73373E77-919D-0176-1DEA-56BC21A1196A}"/>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5E72FFD0-BAAA-61AE-0187-33A48EB15DC7}"/>
              </a:ext>
            </a:extLst>
          </p:cNvPr>
          <p:cNvPicPr>
            <a:picLocks noChangeAspect="1"/>
          </p:cNvPicPr>
          <p:nvPr/>
        </p:nvPicPr>
        <p:blipFill>
          <a:blip r:embed="rId3"/>
          <a:stretch>
            <a:fillRect/>
          </a:stretch>
        </p:blipFill>
        <p:spPr>
          <a:xfrm>
            <a:off x="244102" y="1028334"/>
            <a:ext cx="10188937" cy="656979"/>
          </a:xfrm>
          <a:prstGeom prst="rect">
            <a:avLst/>
          </a:prstGeom>
        </p:spPr>
      </p:pic>
      <p:pic>
        <p:nvPicPr>
          <p:cNvPr id="7" name="图片 6">
            <a:extLst>
              <a:ext uri="{FF2B5EF4-FFF2-40B4-BE49-F238E27FC236}">
                <a16:creationId xmlns:a16="http://schemas.microsoft.com/office/drawing/2014/main" id="{CDCD865B-68E5-040C-8324-4E86009D151F}"/>
              </a:ext>
            </a:extLst>
          </p:cNvPr>
          <p:cNvPicPr>
            <a:picLocks noChangeAspect="1"/>
          </p:cNvPicPr>
          <p:nvPr/>
        </p:nvPicPr>
        <p:blipFill>
          <a:blip r:embed="rId4"/>
          <a:stretch>
            <a:fillRect/>
          </a:stretch>
        </p:blipFill>
        <p:spPr>
          <a:xfrm>
            <a:off x="306296" y="1697385"/>
            <a:ext cx="8945426" cy="546440"/>
          </a:xfrm>
          <a:prstGeom prst="rect">
            <a:avLst/>
          </a:prstGeom>
        </p:spPr>
      </p:pic>
      <p:graphicFrame>
        <p:nvGraphicFramePr>
          <p:cNvPr id="8" name="对象 7">
            <a:extLst>
              <a:ext uri="{FF2B5EF4-FFF2-40B4-BE49-F238E27FC236}">
                <a16:creationId xmlns:a16="http://schemas.microsoft.com/office/drawing/2014/main" id="{D139B2DE-829C-3E5E-7A17-761A0E291C14}"/>
              </a:ext>
            </a:extLst>
          </p:cNvPr>
          <p:cNvGraphicFramePr>
            <a:graphicFrameLocks noChangeAspect="1"/>
          </p:cNvGraphicFramePr>
          <p:nvPr>
            <p:extLst>
              <p:ext uri="{D42A27DB-BD31-4B8C-83A1-F6EECF244321}">
                <p14:modId xmlns:p14="http://schemas.microsoft.com/office/powerpoint/2010/main" val="2569992200"/>
              </p:ext>
            </p:extLst>
          </p:nvPr>
        </p:nvGraphicFramePr>
        <p:xfrm>
          <a:off x="119855" y="2127306"/>
          <a:ext cx="3195627" cy="734534"/>
        </p:xfrm>
        <a:graphic>
          <a:graphicData uri="http://schemas.openxmlformats.org/presentationml/2006/ole">
            <mc:AlternateContent xmlns:mc="http://schemas.openxmlformats.org/markup-compatibility/2006">
              <mc:Choice xmlns:v="urn:schemas-microsoft-com:vml" Requires="v">
                <p:oleObj name="Equation" r:id="rId5" imgW="1871738" imgH="429444" progId="Equation.DSMT4">
                  <p:embed/>
                </p:oleObj>
              </mc:Choice>
              <mc:Fallback>
                <p:oleObj name="Equation" r:id="rId5" imgW="1871738" imgH="429444" progId="Equation.DSMT4">
                  <p:embed/>
                  <p:pic>
                    <p:nvPicPr>
                      <p:cNvPr id="0" name=""/>
                      <p:cNvPicPr/>
                      <p:nvPr/>
                    </p:nvPicPr>
                    <p:blipFill>
                      <a:blip r:embed="rId6"/>
                      <a:stretch>
                        <a:fillRect/>
                      </a:stretch>
                    </p:blipFill>
                    <p:spPr>
                      <a:xfrm>
                        <a:off x="119855" y="2127306"/>
                        <a:ext cx="3195627" cy="73453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9802724-5E7A-2BC0-6810-F3747D911034}"/>
              </a:ext>
            </a:extLst>
          </p:cNvPr>
          <p:cNvGraphicFramePr>
            <a:graphicFrameLocks noChangeAspect="1"/>
          </p:cNvGraphicFramePr>
          <p:nvPr>
            <p:extLst>
              <p:ext uri="{D42A27DB-BD31-4B8C-83A1-F6EECF244321}">
                <p14:modId xmlns:p14="http://schemas.microsoft.com/office/powerpoint/2010/main" val="3989732664"/>
              </p:ext>
            </p:extLst>
          </p:nvPr>
        </p:nvGraphicFramePr>
        <p:xfrm>
          <a:off x="166155" y="3017775"/>
          <a:ext cx="2866412" cy="772166"/>
        </p:xfrm>
        <a:graphic>
          <a:graphicData uri="http://schemas.openxmlformats.org/presentationml/2006/ole">
            <mc:AlternateContent xmlns:mc="http://schemas.openxmlformats.org/markup-compatibility/2006">
              <mc:Choice xmlns:v="urn:schemas-microsoft-com:vml" Requires="v">
                <p:oleObj name="Equation" r:id="rId7" imgW="1596292" imgH="429444" progId="Equation.DSMT4">
                  <p:embed/>
                </p:oleObj>
              </mc:Choice>
              <mc:Fallback>
                <p:oleObj name="Equation" r:id="rId7" imgW="1596292" imgH="429444" progId="Equation.DSMT4">
                  <p:embed/>
                  <p:pic>
                    <p:nvPicPr>
                      <p:cNvPr id="0" name=""/>
                      <p:cNvPicPr/>
                      <p:nvPr/>
                    </p:nvPicPr>
                    <p:blipFill>
                      <a:blip r:embed="rId8"/>
                      <a:stretch>
                        <a:fillRect/>
                      </a:stretch>
                    </p:blipFill>
                    <p:spPr>
                      <a:xfrm>
                        <a:off x="166155" y="3017775"/>
                        <a:ext cx="2866412" cy="772166"/>
                      </a:xfrm>
                      <a:prstGeom prst="rect">
                        <a:avLst/>
                      </a:prstGeom>
                    </p:spPr>
                  </p:pic>
                </p:oleObj>
              </mc:Fallback>
            </mc:AlternateContent>
          </a:graphicData>
        </a:graphic>
      </p:graphicFrame>
      <p:sp>
        <p:nvSpPr>
          <p:cNvPr id="11" name="右大括号 10">
            <a:extLst>
              <a:ext uri="{FF2B5EF4-FFF2-40B4-BE49-F238E27FC236}">
                <a16:creationId xmlns:a16="http://schemas.microsoft.com/office/drawing/2014/main" id="{6F32642A-67B6-9494-1E08-A8829512B336}"/>
              </a:ext>
            </a:extLst>
          </p:cNvPr>
          <p:cNvSpPr/>
          <p:nvPr/>
        </p:nvSpPr>
        <p:spPr>
          <a:xfrm>
            <a:off x="3365010" y="2430474"/>
            <a:ext cx="335666" cy="1174601"/>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aphicFrame>
        <p:nvGraphicFramePr>
          <p:cNvPr id="12" name="对象 11">
            <a:extLst>
              <a:ext uri="{FF2B5EF4-FFF2-40B4-BE49-F238E27FC236}">
                <a16:creationId xmlns:a16="http://schemas.microsoft.com/office/drawing/2014/main" id="{D4DFE123-543E-D167-9EA7-318A5FD8E2BF}"/>
              </a:ext>
            </a:extLst>
          </p:cNvPr>
          <p:cNvGraphicFramePr>
            <a:graphicFrameLocks noChangeAspect="1"/>
          </p:cNvGraphicFramePr>
          <p:nvPr>
            <p:extLst>
              <p:ext uri="{D42A27DB-BD31-4B8C-83A1-F6EECF244321}">
                <p14:modId xmlns:p14="http://schemas.microsoft.com/office/powerpoint/2010/main" val="285970339"/>
              </p:ext>
            </p:extLst>
          </p:nvPr>
        </p:nvGraphicFramePr>
        <p:xfrm>
          <a:off x="3847919" y="2127306"/>
          <a:ext cx="1465594" cy="765337"/>
        </p:xfrm>
        <a:graphic>
          <a:graphicData uri="http://schemas.openxmlformats.org/presentationml/2006/ole">
            <mc:AlternateContent xmlns:mc="http://schemas.openxmlformats.org/markup-compatibility/2006">
              <mc:Choice xmlns:v="urn:schemas-microsoft-com:vml" Requires="v">
                <p:oleObj name="Equation" r:id="rId9" imgW="893133" imgH="467304" progId="Equation.DSMT4">
                  <p:embed/>
                </p:oleObj>
              </mc:Choice>
              <mc:Fallback>
                <p:oleObj name="Equation" r:id="rId9" imgW="893133" imgH="467304" progId="Equation.DSMT4">
                  <p:embed/>
                  <p:pic>
                    <p:nvPicPr>
                      <p:cNvPr id="0" name=""/>
                      <p:cNvPicPr/>
                      <p:nvPr/>
                    </p:nvPicPr>
                    <p:blipFill>
                      <a:blip r:embed="rId10"/>
                      <a:stretch>
                        <a:fillRect/>
                      </a:stretch>
                    </p:blipFill>
                    <p:spPr>
                      <a:xfrm>
                        <a:off x="3847919" y="2127306"/>
                        <a:ext cx="1465594" cy="76533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2EFD341-5BE6-1D4C-4752-6A06888FDDEB}"/>
              </a:ext>
            </a:extLst>
          </p:cNvPr>
          <p:cNvGraphicFramePr>
            <a:graphicFrameLocks noChangeAspect="1"/>
          </p:cNvGraphicFramePr>
          <p:nvPr>
            <p:extLst>
              <p:ext uri="{D42A27DB-BD31-4B8C-83A1-F6EECF244321}">
                <p14:modId xmlns:p14="http://schemas.microsoft.com/office/powerpoint/2010/main" val="2640078853"/>
              </p:ext>
            </p:extLst>
          </p:nvPr>
        </p:nvGraphicFramePr>
        <p:xfrm>
          <a:off x="3847919" y="2854886"/>
          <a:ext cx="1200068" cy="765337"/>
        </p:xfrm>
        <a:graphic>
          <a:graphicData uri="http://schemas.openxmlformats.org/presentationml/2006/ole">
            <mc:AlternateContent xmlns:mc="http://schemas.openxmlformats.org/markup-compatibility/2006">
              <mc:Choice xmlns:v="urn:schemas-microsoft-com:vml" Requires="v">
                <p:oleObj name="Equation" r:id="rId11" imgW="731529" imgH="467304" progId="Equation.DSMT4">
                  <p:embed/>
                </p:oleObj>
              </mc:Choice>
              <mc:Fallback>
                <p:oleObj name="Equation" r:id="rId11" imgW="731529" imgH="467304" progId="Equation.DSMT4">
                  <p:embed/>
                  <p:pic>
                    <p:nvPicPr>
                      <p:cNvPr id="0" name=""/>
                      <p:cNvPicPr/>
                      <p:nvPr/>
                    </p:nvPicPr>
                    <p:blipFill>
                      <a:blip r:embed="rId12"/>
                      <a:stretch>
                        <a:fillRect/>
                      </a:stretch>
                    </p:blipFill>
                    <p:spPr>
                      <a:xfrm>
                        <a:off x="3847919" y="2854886"/>
                        <a:ext cx="1200068" cy="76533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3DC0934-E51C-5DBD-14F2-9624C4DADA1E}"/>
              </a:ext>
            </a:extLst>
          </p:cNvPr>
          <p:cNvGraphicFramePr>
            <a:graphicFrameLocks noChangeAspect="1"/>
          </p:cNvGraphicFramePr>
          <p:nvPr>
            <p:extLst>
              <p:ext uri="{D42A27DB-BD31-4B8C-83A1-F6EECF244321}">
                <p14:modId xmlns:p14="http://schemas.microsoft.com/office/powerpoint/2010/main" val="3985470294"/>
              </p:ext>
            </p:extLst>
          </p:nvPr>
        </p:nvGraphicFramePr>
        <p:xfrm>
          <a:off x="2323381" y="4283157"/>
          <a:ext cx="7657433" cy="2181042"/>
        </p:xfrm>
        <a:graphic>
          <a:graphicData uri="http://schemas.openxmlformats.org/presentationml/2006/ole">
            <mc:AlternateContent xmlns:mc="http://schemas.openxmlformats.org/markup-compatibility/2006">
              <mc:Choice xmlns:v="urn:schemas-microsoft-com:vml" Requires="v">
                <p:oleObj name="Equation" r:id="rId13" imgW="4855313" imgH="1383163" progId="Equation.DSMT4">
                  <p:embed/>
                </p:oleObj>
              </mc:Choice>
              <mc:Fallback>
                <p:oleObj name="Equation" r:id="rId13" imgW="4855313" imgH="1383163" progId="Equation.DSMT4">
                  <p:embed/>
                  <p:pic>
                    <p:nvPicPr>
                      <p:cNvPr id="0" name=""/>
                      <p:cNvPicPr/>
                      <p:nvPr/>
                    </p:nvPicPr>
                    <p:blipFill>
                      <a:blip r:embed="rId14"/>
                      <a:stretch>
                        <a:fillRect/>
                      </a:stretch>
                    </p:blipFill>
                    <p:spPr>
                      <a:xfrm>
                        <a:off x="2323381" y="4283157"/>
                        <a:ext cx="7657433" cy="2181042"/>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F67C5EAA-83F0-F47D-73B1-B4506C9D1DE9}"/>
              </a:ext>
            </a:extLst>
          </p:cNvPr>
          <p:cNvGraphicFramePr>
            <a:graphicFrameLocks noChangeAspect="1"/>
          </p:cNvGraphicFramePr>
          <p:nvPr>
            <p:extLst>
              <p:ext uri="{D42A27DB-BD31-4B8C-83A1-F6EECF244321}">
                <p14:modId xmlns:p14="http://schemas.microsoft.com/office/powerpoint/2010/main" val="2459077390"/>
              </p:ext>
            </p:extLst>
          </p:nvPr>
        </p:nvGraphicFramePr>
        <p:xfrm>
          <a:off x="6344027" y="2654633"/>
          <a:ext cx="5357975" cy="674386"/>
        </p:xfrm>
        <a:graphic>
          <a:graphicData uri="http://schemas.openxmlformats.org/presentationml/2006/ole">
            <mc:AlternateContent xmlns:mc="http://schemas.openxmlformats.org/markup-compatibility/2006">
              <mc:Choice xmlns:v="urn:schemas-microsoft-com:vml" Requires="v">
                <p:oleObj name="Equation" r:id="rId15" imgW="6646456" imgH="836670" progId="Equation.DSMT4">
                  <p:embed/>
                </p:oleObj>
              </mc:Choice>
              <mc:Fallback>
                <p:oleObj name="Equation" r:id="rId15" imgW="6646456" imgH="836670" progId="Equation.DSMT4">
                  <p:embed/>
                  <p:pic>
                    <p:nvPicPr>
                      <p:cNvPr id="0" name=""/>
                      <p:cNvPicPr/>
                      <p:nvPr/>
                    </p:nvPicPr>
                    <p:blipFill>
                      <a:blip r:embed="rId16"/>
                      <a:stretch>
                        <a:fillRect/>
                      </a:stretch>
                    </p:blipFill>
                    <p:spPr>
                      <a:xfrm>
                        <a:off x="6344027" y="2654633"/>
                        <a:ext cx="5357975" cy="674386"/>
                      </a:xfrm>
                      <a:prstGeom prst="rect">
                        <a:avLst/>
                      </a:prstGeom>
                    </p:spPr>
                  </p:pic>
                </p:oleObj>
              </mc:Fallback>
            </mc:AlternateContent>
          </a:graphicData>
        </a:graphic>
      </p:graphicFrame>
      <p:cxnSp>
        <p:nvCxnSpPr>
          <p:cNvPr id="18" name="直接箭头连接符 17">
            <a:extLst>
              <a:ext uri="{FF2B5EF4-FFF2-40B4-BE49-F238E27FC236}">
                <a16:creationId xmlns:a16="http://schemas.microsoft.com/office/drawing/2014/main" id="{6E71315C-C568-9BEF-F17A-CD344E4F6B79}"/>
              </a:ext>
            </a:extLst>
          </p:cNvPr>
          <p:cNvCxnSpPr>
            <a:cxnSpLocks/>
          </p:cNvCxnSpPr>
          <p:nvPr/>
        </p:nvCxnSpPr>
        <p:spPr>
          <a:xfrm>
            <a:off x="5056747" y="2938224"/>
            <a:ext cx="103925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6FB4E29D-4C4D-133F-965E-6C9027841E0C}"/>
              </a:ext>
            </a:extLst>
          </p:cNvPr>
          <p:cNvSpPr txBox="1"/>
          <p:nvPr/>
        </p:nvSpPr>
        <p:spPr>
          <a:xfrm>
            <a:off x="4480607" y="2470730"/>
            <a:ext cx="24496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zh-CN"/>
            </a:defPPr>
            <a:lvl1pPr algn="ctr" eaLnBrk="0" fontAlgn="base" hangingPunct="0">
              <a:spcBef>
                <a:spcPct val="0"/>
              </a:spcBef>
              <a:spcAft>
                <a:spcPct val="0"/>
              </a:spcAft>
              <a:defRPr kern="100">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2000" dirty="0"/>
              <a:t>代入</a:t>
            </a:r>
          </a:p>
        </p:txBody>
      </p:sp>
      <p:cxnSp>
        <p:nvCxnSpPr>
          <p:cNvPr id="21" name="直接箭头连接符 20">
            <a:extLst>
              <a:ext uri="{FF2B5EF4-FFF2-40B4-BE49-F238E27FC236}">
                <a16:creationId xmlns:a16="http://schemas.microsoft.com/office/drawing/2014/main" id="{723AA9B7-61FE-7304-8B2D-04B75B7FA4C6}"/>
              </a:ext>
            </a:extLst>
          </p:cNvPr>
          <p:cNvCxnSpPr>
            <a:cxnSpLocks/>
          </p:cNvCxnSpPr>
          <p:nvPr/>
        </p:nvCxnSpPr>
        <p:spPr>
          <a:xfrm>
            <a:off x="8843598" y="3380892"/>
            <a:ext cx="0" cy="85039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8113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CC672-AB7B-063D-7235-DA02D53E42F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B180B91-17EE-7E17-D4E5-D92C173CF351}"/>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EFEBDAF7-2BE8-9443-335C-5D4DB33BF03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AA8C3F82-DBC1-2F9F-06D9-C14187CE8732}"/>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图片 1">
            <a:extLst>
              <a:ext uri="{FF2B5EF4-FFF2-40B4-BE49-F238E27FC236}">
                <a16:creationId xmlns:a16="http://schemas.microsoft.com/office/drawing/2014/main" id="{410672BE-5587-06A5-65FF-43C176CD0B63}"/>
              </a:ext>
            </a:extLst>
          </p:cNvPr>
          <p:cNvPicPr>
            <a:picLocks noChangeAspect="1"/>
          </p:cNvPicPr>
          <p:nvPr/>
        </p:nvPicPr>
        <p:blipFill>
          <a:blip r:embed="rId3"/>
          <a:stretch>
            <a:fillRect/>
          </a:stretch>
        </p:blipFill>
        <p:spPr>
          <a:xfrm>
            <a:off x="247077" y="976588"/>
            <a:ext cx="11183791" cy="721127"/>
          </a:xfrm>
          <a:prstGeom prst="rect">
            <a:avLst/>
          </a:prstGeom>
        </p:spPr>
      </p:pic>
      <p:graphicFrame>
        <p:nvGraphicFramePr>
          <p:cNvPr id="7" name="对象 6">
            <a:extLst>
              <a:ext uri="{FF2B5EF4-FFF2-40B4-BE49-F238E27FC236}">
                <a16:creationId xmlns:a16="http://schemas.microsoft.com/office/drawing/2014/main" id="{097E9684-2F02-0B62-B850-1FC8BC431EB2}"/>
              </a:ext>
            </a:extLst>
          </p:cNvPr>
          <p:cNvGraphicFramePr>
            <a:graphicFrameLocks noChangeAspect="1"/>
          </p:cNvGraphicFramePr>
          <p:nvPr>
            <p:extLst>
              <p:ext uri="{D42A27DB-BD31-4B8C-83A1-F6EECF244321}">
                <p14:modId xmlns:p14="http://schemas.microsoft.com/office/powerpoint/2010/main" val="1314648119"/>
              </p:ext>
            </p:extLst>
          </p:nvPr>
        </p:nvGraphicFramePr>
        <p:xfrm>
          <a:off x="349767" y="1667847"/>
          <a:ext cx="5487123" cy="2543546"/>
        </p:xfrm>
        <a:graphic>
          <a:graphicData uri="http://schemas.openxmlformats.org/presentationml/2006/ole">
            <mc:AlternateContent xmlns:mc="http://schemas.openxmlformats.org/markup-compatibility/2006">
              <mc:Choice xmlns:v="urn:schemas-microsoft-com:vml" Requires="v">
                <p:oleObj name="Equation" r:id="rId4" imgW="2612963" imgH="1211529" progId="Equation.DSMT4">
                  <p:embed/>
                </p:oleObj>
              </mc:Choice>
              <mc:Fallback>
                <p:oleObj name="Equation" r:id="rId4" imgW="2612963" imgH="1211529" progId="Equation.DSMT4">
                  <p:embed/>
                  <p:pic>
                    <p:nvPicPr>
                      <p:cNvPr id="0" name=""/>
                      <p:cNvPicPr/>
                      <p:nvPr/>
                    </p:nvPicPr>
                    <p:blipFill>
                      <a:blip r:embed="rId5"/>
                      <a:stretch>
                        <a:fillRect/>
                      </a:stretch>
                    </p:blipFill>
                    <p:spPr>
                      <a:xfrm>
                        <a:off x="349767" y="1667847"/>
                        <a:ext cx="5487123" cy="2543546"/>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D88D6338-5D47-861D-B9FF-6FE6C0F00D3C}"/>
              </a:ext>
            </a:extLst>
          </p:cNvPr>
          <p:cNvSpPr txBox="1"/>
          <p:nvPr/>
        </p:nvSpPr>
        <p:spPr>
          <a:xfrm>
            <a:off x="4896091" y="3012311"/>
            <a:ext cx="5888620" cy="830997"/>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将目标函数由求极大转为求极小，便得到求解线性可分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问题的对偶最优化问题：</a:t>
            </a:r>
          </a:p>
        </p:txBody>
      </p:sp>
      <p:cxnSp>
        <p:nvCxnSpPr>
          <p:cNvPr id="10" name="直接箭头连接符 9">
            <a:extLst>
              <a:ext uri="{FF2B5EF4-FFF2-40B4-BE49-F238E27FC236}">
                <a16:creationId xmlns:a16="http://schemas.microsoft.com/office/drawing/2014/main" id="{7D29A358-175D-82D6-91DC-942003F6C573}"/>
              </a:ext>
            </a:extLst>
          </p:cNvPr>
          <p:cNvCxnSpPr>
            <a:cxnSpLocks/>
          </p:cNvCxnSpPr>
          <p:nvPr/>
        </p:nvCxnSpPr>
        <p:spPr>
          <a:xfrm>
            <a:off x="3441354" y="3480624"/>
            <a:ext cx="124639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58B1B2AE-0A10-E087-A629-075C6FA139AC}"/>
              </a:ext>
            </a:extLst>
          </p:cNvPr>
          <p:cNvCxnSpPr>
            <a:cxnSpLocks/>
          </p:cNvCxnSpPr>
          <p:nvPr/>
        </p:nvCxnSpPr>
        <p:spPr>
          <a:xfrm>
            <a:off x="8171727" y="3843308"/>
            <a:ext cx="0" cy="75184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对象 16">
            <a:extLst>
              <a:ext uri="{FF2B5EF4-FFF2-40B4-BE49-F238E27FC236}">
                <a16:creationId xmlns:a16="http://schemas.microsoft.com/office/drawing/2014/main" id="{73496A39-4DC3-C3C5-ACA0-3A5C97470F29}"/>
              </a:ext>
            </a:extLst>
          </p:cNvPr>
          <p:cNvGraphicFramePr>
            <a:graphicFrameLocks noChangeAspect="1"/>
          </p:cNvGraphicFramePr>
          <p:nvPr>
            <p:extLst>
              <p:ext uri="{D42A27DB-BD31-4B8C-83A1-F6EECF244321}">
                <p14:modId xmlns:p14="http://schemas.microsoft.com/office/powerpoint/2010/main" val="2402220323"/>
              </p:ext>
            </p:extLst>
          </p:nvPr>
        </p:nvGraphicFramePr>
        <p:xfrm>
          <a:off x="5174251" y="4453687"/>
          <a:ext cx="5332299" cy="2411610"/>
        </p:xfrm>
        <a:graphic>
          <a:graphicData uri="http://schemas.openxmlformats.org/presentationml/2006/ole">
            <mc:AlternateContent xmlns:mc="http://schemas.openxmlformats.org/markup-compatibility/2006">
              <mc:Choice xmlns:v="urn:schemas-microsoft-com:vml" Requires="v">
                <p:oleObj name="Equation" r:id="rId6" imgW="2593929" imgH="1173308" progId="Equation.DSMT4">
                  <p:embed/>
                </p:oleObj>
              </mc:Choice>
              <mc:Fallback>
                <p:oleObj name="Equation" r:id="rId6" imgW="2593929" imgH="1173308" progId="Equation.DSMT4">
                  <p:embed/>
                  <p:pic>
                    <p:nvPicPr>
                      <p:cNvPr id="0" name=""/>
                      <p:cNvPicPr/>
                      <p:nvPr/>
                    </p:nvPicPr>
                    <p:blipFill>
                      <a:blip r:embed="rId7"/>
                      <a:stretch>
                        <a:fillRect/>
                      </a:stretch>
                    </p:blipFill>
                    <p:spPr>
                      <a:xfrm>
                        <a:off x="5174251" y="4453687"/>
                        <a:ext cx="5332299" cy="2411610"/>
                      </a:xfrm>
                      <a:prstGeom prst="rect">
                        <a:avLst/>
                      </a:prstGeom>
                    </p:spPr>
                  </p:pic>
                </p:oleObj>
              </mc:Fallback>
            </mc:AlternateContent>
          </a:graphicData>
        </a:graphic>
      </p:graphicFrame>
    </p:spTree>
    <p:extLst>
      <p:ext uri="{BB962C8B-B14F-4D97-AF65-F5344CB8AC3E}">
        <p14:creationId xmlns:p14="http://schemas.microsoft.com/office/powerpoint/2010/main" val="4235261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1D98-BCE1-3F60-11B4-477FEF69078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E1A66738-8881-2FB8-23B1-6C4AC0A45DCD}"/>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0AB79399-1E94-1E0A-CF6C-13DA40928E4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矩形: 圆角 55">
            <a:extLst>
              <a:ext uri="{FF2B5EF4-FFF2-40B4-BE49-F238E27FC236}">
                <a16:creationId xmlns:a16="http://schemas.microsoft.com/office/drawing/2014/main" id="{0C438E18-7DC4-7624-5CBE-B2FCBABAC227}"/>
              </a:ext>
            </a:extLst>
          </p:cNvPr>
          <p:cNvSpPr/>
          <p:nvPr/>
        </p:nvSpPr>
        <p:spPr>
          <a:xfrm>
            <a:off x="438873" y="1196636"/>
            <a:ext cx="5034736"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基于</a:t>
            </a: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SMO</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算法求解目标函数</a:t>
            </a:r>
          </a:p>
        </p:txBody>
      </p:sp>
      <p:sp>
        <p:nvSpPr>
          <p:cNvPr id="9" name="文本框 8">
            <a:extLst>
              <a:ext uri="{FF2B5EF4-FFF2-40B4-BE49-F238E27FC236}">
                <a16:creationId xmlns:a16="http://schemas.microsoft.com/office/drawing/2014/main" id="{00F82E19-5CA8-9AC5-CCAB-F6801630818D}"/>
              </a:ext>
            </a:extLst>
          </p:cNvPr>
          <p:cNvSpPr txBox="1"/>
          <p:nvPr/>
        </p:nvSpPr>
        <p:spPr>
          <a:xfrm>
            <a:off x="438873" y="2115799"/>
            <a:ext cx="11314253" cy="830997"/>
          </a:xfrm>
          <a:prstGeom prst="rect">
            <a:avLst/>
          </a:prstGeom>
          <a:noFill/>
        </p:spPr>
        <p:txBody>
          <a:bodyPr wrap="square">
            <a:spAutoFit/>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SMO</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Sequential Minimal Optimization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）是一种启发式算法，其基本思想是每次只优化一个参数，并固定其他参数，仅求当前优化参数的极值。</a:t>
            </a:r>
          </a:p>
        </p:txBody>
      </p:sp>
      <p:graphicFrame>
        <p:nvGraphicFramePr>
          <p:cNvPr id="10" name="对象 9">
            <a:extLst>
              <a:ext uri="{FF2B5EF4-FFF2-40B4-BE49-F238E27FC236}">
                <a16:creationId xmlns:a16="http://schemas.microsoft.com/office/drawing/2014/main" id="{49B04AA5-A59F-1B65-2B90-1FF665795F12}"/>
              </a:ext>
            </a:extLst>
          </p:cNvPr>
          <p:cNvGraphicFramePr>
            <a:graphicFrameLocks noChangeAspect="1"/>
          </p:cNvGraphicFramePr>
          <p:nvPr>
            <p:extLst>
              <p:ext uri="{D42A27DB-BD31-4B8C-83A1-F6EECF244321}">
                <p14:modId xmlns:p14="http://schemas.microsoft.com/office/powerpoint/2010/main" val="2158569312"/>
              </p:ext>
            </p:extLst>
          </p:nvPr>
        </p:nvGraphicFramePr>
        <p:xfrm>
          <a:off x="166155" y="3205382"/>
          <a:ext cx="4507821" cy="2038728"/>
        </p:xfrm>
        <a:graphic>
          <a:graphicData uri="http://schemas.openxmlformats.org/presentationml/2006/ole">
            <mc:AlternateContent xmlns:mc="http://schemas.openxmlformats.org/markup-compatibility/2006">
              <mc:Choice xmlns:v="urn:schemas-microsoft-com:vml" Requires="v">
                <p:oleObj name="Equation" r:id="rId3" imgW="2593929" imgH="1173308" progId="Equation.DSMT4">
                  <p:embed/>
                </p:oleObj>
              </mc:Choice>
              <mc:Fallback>
                <p:oleObj name="Equation" r:id="rId3" imgW="2593929" imgH="1173308" progId="Equation.DSMT4">
                  <p:embed/>
                  <p:pic>
                    <p:nvPicPr>
                      <p:cNvPr id="17" name="对象 16">
                        <a:extLst>
                          <a:ext uri="{FF2B5EF4-FFF2-40B4-BE49-F238E27FC236}">
                            <a16:creationId xmlns:a16="http://schemas.microsoft.com/office/drawing/2014/main" id="{73496A39-4DC3-C3C5-ACA0-3A5C97470F29}"/>
                          </a:ext>
                        </a:extLst>
                      </p:cNvPr>
                      <p:cNvPicPr/>
                      <p:nvPr/>
                    </p:nvPicPr>
                    <p:blipFill>
                      <a:blip r:embed="rId4"/>
                      <a:stretch>
                        <a:fillRect/>
                      </a:stretch>
                    </p:blipFill>
                    <p:spPr>
                      <a:xfrm>
                        <a:off x="166155" y="3205382"/>
                        <a:ext cx="4507821" cy="2038728"/>
                      </a:xfrm>
                      <a:prstGeom prst="rect">
                        <a:avLst/>
                      </a:prstGeom>
                    </p:spPr>
                  </p:pic>
                </p:oleObj>
              </mc:Fallback>
            </mc:AlternateContent>
          </a:graphicData>
        </a:graphic>
      </p:graphicFrame>
      <p:pic>
        <p:nvPicPr>
          <p:cNvPr id="11" name="图片 10">
            <a:extLst>
              <a:ext uri="{FF2B5EF4-FFF2-40B4-BE49-F238E27FC236}">
                <a16:creationId xmlns:a16="http://schemas.microsoft.com/office/drawing/2014/main" id="{81F0576A-1546-43BC-AE13-B03575BBCB66}"/>
              </a:ext>
            </a:extLst>
          </p:cNvPr>
          <p:cNvPicPr>
            <a:picLocks noChangeAspect="1"/>
          </p:cNvPicPr>
          <p:nvPr/>
        </p:nvPicPr>
        <p:blipFill>
          <a:blip r:embed="rId5"/>
          <a:stretch>
            <a:fillRect/>
          </a:stretch>
        </p:blipFill>
        <p:spPr>
          <a:xfrm>
            <a:off x="3144565" y="4224746"/>
            <a:ext cx="9047435" cy="608962"/>
          </a:xfrm>
          <a:prstGeom prst="rect">
            <a:avLst/>
          </a:prstGeom>
        </p:spPr>
      </p:pic>
      <p:pic>
        <p:nvPicPr>
          <p:cNvPr id="14" name="图片 13">
            <a:extLst>
              <a:ext uri="{FF2B5EF4-FFF2-40B4-BE49-F238E27FC236}">
                <a16:creationId xmlns:a16="http://schemas.microsoft.com/office/drawing/2014/main" id="{D7A352BC-F0A6-7F53-0B6B-E45D6BF3D632}"/>
              </a:ext>
            </a:extLst>
          </p:cNvPr>
          <p:cNvPicPr>
            <a:picLocks noChangeAspect="1"/>
          </p:cNvPicPr>
          <p:nvPr/>
        </p:nvPicPr>
        <p:blipFill>
          <a:blip r:embed="rId6"/>
          <a:stretch>
            <a:fillRect/>
          </a:stretch>
        </p:blipFill>
        <p:spPr>
          <a:xfrm>
            <a:off x="3144565" y="4788081"/>
            <a:ext cx="9047435" cy="608962"/>
          </a:xfrm>
          <a:prstGeom prst="rect">
            <a:avLst/>
          </a:prstGeom>
        </p:spPr>
      </p:pic>
      <p:graphicFrame>
        <p:nvGraphicFramePr>
          <p:cNvPr id="17" name="对象 16">
            <a:extLst>
              <a:ext uri="{FF2B5EF4-FFF2-40B4-BE49-F238E27FC236}">
                <a16:creationId xmlns:a16="http://schemas.microsoft.com/office/drawing/2014/main" id="{1AD53597-2C1D-023E-C712-C97E9E29D0A2}"/>
              </a:ext>
            </a:extLst>
          </p:cNvPr>
          <p:cNvGraphicFramePr>
            <a:graphicFrameLocks noChangeAspect="1"/>
          </p:cNvGraphicFramePr>
          <p:nvPr>
            <p:extLst>
              <p:ext uri="{D42A27DB-BD31-4B8C-83A1-F6EECF244321}">
                <p14:modId xmlns:p14="http://schemas.microsoft.com/office/powerpoint/2010/main" val="436411769"/>
              </p:ext>
            </p:extLst>
          </p:nvPr>
        </p:nvGraphicFramePr>
        <p:xfrm>
          <a:off x="2216286" y="5531053"/>
          <a:ext cx="3879714" cy="552783"/>
        </p:xfrm>
        <a:graphic>
          <a:graphicData uri="http://schemas.openxmlformats.org/presentationml/2006/ole">
            <mc:AlternateContent xmlns:mc="http://schemas.openxmlformats.org/markup-compatibility/2006">
              <mc:Choice xmlns:v="urn:schemas-microsoft-com:vml" Requires="v">
                <p:oleObj name="Equation" r:id="rId7" imgW="1805300" imgH="257450" progId="Equation.DSMT4">
                  <p:embed/>
                </p:oleObj>
              </mc:Choice>
              <mc:Fallback>
                <p:oleObj name="Equation" r:id="rId7" imgW="1805300" imgH="257450" progId="Equation.DSMT4">
                  <p:embed/>
                  <p:pic>
                    <p:nvPicPr>
                      <p:cNvPr id="0" name=""/>
                      <p:cNvPicPr/>
                      <p:nvPr/>
                    </p:nvPicPr>
                    <p:blipFill>
                      <a:blip r:embed="rId8"/>
                      <a:stretch>
                        <a:fillRect/>
                      </a:stretch>
                    </p:blipFill>
                    <p:spPr>
                      <a:xfrm>
                        <a:off x="2216286" y="5531053"/>
                        <a:ext cx="3879714" cy="55278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ED72E6EE-1DCF-E095-3EF0-65C9A2E4B01A}"/>
              </a:ext>
            </a:extLst>
          </p:cNvPr>
          <p:cNvGraphicFramePr>
            <a:graphicFrameLocks noChangeAspect="1"/>
          </p:cNvGraphicFramePr>
          <p:nvPr>
            <p:extLst>
              <p:ext uri="{D42A27DB-BD31-4B8C-83A1-F6EECF244321}">
                <p14:modId xmlns:p14="http://schemas.microsoft.com/office/powerpoint/2010/main" val="3215173346"/>
              </p:ext>
            </p:extLst>
          </p:nvPr>
        </p:nvGraphicFramePr>
        <p:xfrm>
          <a:off x="2216286" y="6122492"/>
          <a:ext cx="2077887" cy="544507"/>
        </p:xfrm>
        <a:graphic>
          <a:graphicData uri="http://schemas.openxmlformats.org/presentationml/2006/ole">
            <mc:AlternateContent xmlns:mc="http://schemas.openxmlformats.org/markup-compatibility/2006">
              <mc:Choice xmlns:v="urn:schemas-microsoft-com:vml" Requires="v">
                <p:oleObj name="Equation" r:id="rId9" imgW="1054738" imgH="276560" progId="Equation.DSMT4">
                  <p:embed/>
                </p:oleObj>
              </mc:Choice>
              <mc:Fallback>
                <p:oleObj name="Equation" r:id="rId9" imgW="1054738" imgH="276560" progId="Equation.DSMT4">
                  <p:embed/>
                  <p:pic>
                    <p:nvPicPr>
                      <p:cNvPr id="0" name=""/>
                      <p:cNvPicPr/>
                      <p:nvPr/>
                    </p:nvPicPr>
                    <p:blipFill>
                      <a:blip r:embed="rId10"/>
                      <a:stretch>
                        <a:fillRect/>
                      </a:stretch>
                    </p:blipFill>
                    <p:spPr>
                      <a:xfrm>
                        <a:off x="2216286" y="6122492"/>
                        <a:ext cx="2077887" cy="544507"/>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2FD56A8-C7FB-5D48-DB83-6BB07188CF14}"/>
              </a:ext>
            </a:extLst>
          </p:cNvPr>
          <p:cNvGraphicFramePr>
            <a:graphicFrameLocks noChangeAspect="1"/>
          </p:cNvGraphicFramePr>
          <p:nvPr>
            <p:extLst>
              <p:ext uri="{D42A27DB-BD31-4B8C-83A1-F6EECF244321}">
                <p14:modId xmlns:p14="http://schemas.microsoft.com/office/powerpoint/2010/main" val="34479262"/>
              </p:ext>
            </p:extLst>
          </p:nvPr>
        </p:nvGraphicFramePr>
        <p:xfrm>
          <a:off x="6776302" y="5775683"/>
          <a:ext cx="2814331" cy="693617"/>
        </p:xfrm>
        <a:graphic>
          <a:graphicData uri="http://schemas.openxmlformats.org/presentationml/2006/ole">
            <mc:AlternateContent xmlns:mc="http://schemas.openxmlformats.org/markup-compatibility/2006">
              <mc:Choice xmlns:v="urn:schemas-microsoft-com:vml" Requires="v">
                <p:oleObj name="Equation" r:id="rId11" imgW="1121175" imgH="276560" progId="Equation.DSMT4">
                  <p:embed/>
                </p:oleObj>
              </mc:Choice>
              <mc:Fallback>
                <p:oleObj name="Equation" r:id="rId11" imgW="1121175" imgH="276560" progId="Equation.DSMT4">
                  <p:embed/>
                  <p:pic>
                    <p:nvPicPr>
                      <p:cNvPr id="0" name=""/>
                      <p:cNvPicPr/>
                      <p:nvPr/>
                    </p:nvPicPr>
                    <p:blipFill>
                      <a:blip r:embed="rId12"/>
                      <a:stretch>
                        <a:fillRect/>
                      </a:stretch>
                    </p:blipFill>
                    <p:spPr>
                      <a:xfrm>
                        <a:off x="6776302" y="5775683"/>
                        <a:ext cx="2814331" cy="693617"/>
                      </a:xfrm>
                      <a:prstGeom prst="rect">
                        <a:avLst/>
                      </a:prstGeom>
                    </p:spPr>
                  </p:pic>
                </p:oleObj>
              </mc:Fallback>
            </mc:AlternateContent>
          </a:graphicData>
        </a:graphic>
      </p:graphicFrame>
      <p:sp>
        <p:nvSpPr>
          <p:cNvPr id="20" name="右大括号 19">
            <a:extLst>
              <a:ext uri="{FF2B5EF4-FFF2-40B4-BE49-F238E27FC236}">
                <a16:creationId xmlns:a16="http://schemas.microsoft.com/office/drawing/2014/main" id="{B526E7F7-BE0F-CB45-81B0-D697DF55F832}"/>
              </a:ext>
            </a:extLst>
          </p:cNvPr>
          <p:cNvSpPr/>
          <p:nvPr/>
        </p:nvSpPr>
        <p:spPr>
          <a:xfrm>
            <a:off x="6309456" y="5698478"/>
            <a:ext cx="253390" cy="93411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497479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D9FF-71E6-9FD7-D156-AAA774DE590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4FB352F-D1AF-C090-3F6D-81A6B7D62FB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线性可分支持向量机</a:t>
            </a:r>
          </a:p>
        </p:txBody>
      </p:sp>
      <p:sp>
        <p:nvSpPr>
          <p:cNvPr id="15" name="Rectangle 3">
            <a:extLst>
              <a:ext uri="{FF2B5EF4-FFF2-40B4-BE49-F238E27FC236}">
                <a16:creationId xmlns:a16="http://schemas.microsoft.com/office/drawing/2014/main" id="{2540F9B9-824A-57E9-C7C3-CB458847375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图片 5">
            <a:extLst>
              <a:ext uri="{FF2B5EF4-FFF2-40B4-BE49-F238E27FC236}">
                <a16:creationId xmlns:a16="http://schemas.microsoft.com/office/drawing/2014/main" id="{0AD3E283-2807-18B9-9276-F199686D9379}"/>
              </a:ext>
            </a:extLst>
          </p:cNvPr>
          <p:cNvPicPr>
            <a:picLocks noChangeAspect="1"/>
          </p:cNvPicPr>
          <p:nvPr/>
        </p:nvPicPr>
        <p:blipFill>
          <a:blip r:embed="rId3"/>
          <a:stretch>
            <a:fillRect/>
          </a:stretch>
        </p:blipFill>
        <p:spPr>
          <a:xfrm>
            <a:off x="625882" y="1846168"/>
            <a:ext cx="9528109" cy="614369"/>
          </a:xfrm>
          <a:prstGeom prst="rect">
            <a:avLst/>
          </a:prstGeom>
        </p:spPr>
      </p:pic>
      <p:pic>
        <p:nvPicPr>
          <p:cNvPr id="7" name="图片 6">
            <a:extLst>
              <a:ext uri="{FF2B5EF4-FFF2-40B4-BE49-F238E27FC236}">
                <a16:creationId xmlns:a16="http://schemas.microsoft.com/office/drawing/2014/main" id="{2D67F7FE-3989-6366-1568-900D5975F646}"/>
              </a:ext>
            </a:extLst>
          </p:cNvPr>
          <p:cNvPicPr>
            <a:picLocks noChangeAspect="1"/>
          </p:cNvPicPr>
          <p:nvPr/>
        </p:nvPicPr>
        <p:blipFill>
          <a:blip r:embed="rId4"/>
          <a:stretch>
            <a:fillRect/>
          </a:stretch>
        </p:blipFill>
        <p:spPr>
          <a:xfrm>
            <a:off x="10378182" y="1850427"/>
            <a:ext cx="9797058" cy="609545"/>
          </a:xfrm>
          <a:prstGeom prst="rect">
            <a:avLst/>
          </a:prstGeom>
        </p:spPr>
      </p:pic>
      <p:sp>
        <p:nvSpPr>
          <p:cNvPr id="9" name="文本框 8">
            <a:extLst>
              <a:ext uri="{FF2B5EF4-FFF2-40B4-BE49-F238E27FC236}">
                <a16:creationId xmlns:a16="http://schemas.microsoft.com/office/drawing/2014/main" id="{FD811EFE-82DC-B503-2B95-54F624A236F0}"/>
              </a:ext>
            </a:extLst>
          </p:cNvPr>
          <p:cNvSpPr txBox="1"/>
          <p:nvPr/>
        </p:nvSpPr>
        <p:spPr>
          <a:xfrm>
            <a:off x="10093980" y="1930975"/>
            <a:ext cx="9972040" cy="369332"/>
          </a:xfrm>
          <a:prstGeom prst="rect">
            <a:avLst/>
          </a:prstGeom>
          <a:noFill/>
        </p:spPr>
        <p:txBody>
          <a:bodyPr wrap="square">
            <a:spAutoFit/>
          </a:bodyPr>
          <a:lstStyle/>
          <a:p>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pic>
        <p:nvPicPr>
          <p:cNvPr id="11" name="图片 10">
            <a:extLst>
              <a:ext uri="{FF2B5EF4-FFF2-40B4-BE49-F238E27FC236}">
                <a16:creationId xmlns:a16="http://schemas.microsoft.com/office/drawing/2014/main" id="{F51EEF33-260D-CCA1-65F1-21C4090F11B8}"/>
              </a:ext>
            </a:extLst>
          </p:cNvPr>
          <p:cNvPicPr>
            <a:picLocks noChangeAspect="1"/>
          </p:cNvPicPr>
          <p:nvPr/>
        </p:nvPicPr>
        <p:blipFill>
          <a:blip r:embed="rId5"/>
          <a:srcRect b="56069"/>
          <a:stretch/>
        </p:blipFill>
        <p:spPr>
          <a:xfrm>
            <a:off x="77697" y="2459972"/>
            <a:ext cx="9810543" cy="544830"/>
          </a:xfrm>
          <a:prstGeom prst="rect">
            <a:avLst/>
          </a:prstGeom>
        </p:spPr>
      </p:pic>
      <p:pic>
        <p:nvPicPr>
          <p:cNvPr id="12" name="图片 11">
            <a:extLst>
              <a:ext uri="{FF2B5EF4-FFF2-40B4-BE49-F238E27FC236}">
                <a16:creationId xmlns:a16="http://schemas.microsoft.com/office/drawing/2014/main" id="{E8D6662A-D4B0-8082-96A0-F0B72E1E6B37}"/>
              </a:ext>
            </a:extLst>
          </p:cNvPr>
          <p:cNvPicPr>
            <a:picLocks noChangeAspect="1"/>
          </p:cNvPicPr>
          <p:nvPr/>
        </p:nvPicPr>
        <p:blipFill>
          <a:blip r:embed="rId5"/>
          <a:srcRect l="1" t="50463" r="77309" b="10002"/>
          <a:stretch/>
        </p:blipFill>
        <p:spPr>
          <a:xfrm>
            <a:off x="9888240" y="2489199"/>
            <a:ext cx="2226063" cy="490320"/>
          </a:xfrm>
          <a:prstGeom prst="rect">
            <a:avLst/>
          </a:prstGeom>
        </p:spPr>
      </p:pic>
      <p:pic>
        <p:nvPicPr>
          <p:cNvPr id="13" name="图片 12">
            <a:extLst>
              <a:ext uri="{FF2B5EF4-FFF2-40B4-BE49-F238E27FC236}">
                <a16:creationId xmlns:a16="http://schemas.microsoft.com/office/drawing/2014/main" id="{714D4081-A7A7-8D87-C359-40A4DC7DFCE0}"/>
              </a:ext>
            </a:extLst>
          </p:cNvPr>
          <p:cNvPicPr>
            <a:picLocks noChangeAspect="1"/>
          </p:cNvPicPr>
          <p:nvPr/>
        </p:nvPicPr>
        <p:blipFill>
          <a:blip r:embed="rId5"/>
          <a:srcRect l="22568" t="48923"/>
          <a:stretch/>
        </p:blipFill>
        <p:spPr>
          <a:xfrm>
            <a:off x="77697" y="3074341"/>
            <a:ext cx="7596453" cy="633452"/>
          </a:xfrm>
          <a:prstGeom prst="rect">
            <a:avLst/>
          </a:prstGeom>
        </p:spPr>
      </p:pic>
      <p:pic>
        <p:nvPicPr>
          <p:cNvPr id="14" name="图片 13">
            <a:extLst>
              <a:ext uri="{FF2B5EF4-FFF2-40B4-BE49-F238E27FC236}">
                <a16:creationId xmlns:a16="http://schemas.microsoft.com/office/drawing/2014/main" id="{594E6A0F-B546-AE72-2A5E-7C7BD23377AF}"/>
              </a:ext>
            </a:extLst>
          </p:cNvPr>
          <p:cNvPicPr>
            <a:picLocks noChangeAspect="1"/>
          </p:cNvPicPr>
          <p:nvPr/>
        </p:nvPicPr>
        <p:blipFill>
          <a:blip r:embed="rId6"/>
          <a:stretch>
            <a:fillRect/>
          </a:stretch>
        </p:blipFill>
        <p:spPr>
          <a:xfrm>
            <a:off x="77697" y="3707793"/>
            <a:ext cx="9745052" cy="595286"/>
          </a:xfrm>
          <a:prstGeom prst="rect">
            <a:avLst/>
          </a:prstGeom>
        </p:spPr>
      </p:pic>
      <p:graphicFrame>
        <p:nvGraphicFramePr>
          <p:cNvPr id="17" name="对象 16">
            <a:extLst>
              <a:ext uri="{FF2B5EF4-FFF2-40B4-BE49-F238E27FC236}">
                <a16:creationId xmlns:a16="http://schemas.microsoft.com/office/drawing/2014/main" id="{12A389BA-322A-F5C4-88F6-54F4D60219B0}"/>
              </a:ext>
            </a:extLst>
          </p:cNvPr>
          <p:cNvGraphicFramePr>
            <a:graphicFrameLocks noChangeAspect="1"/>
          </p:cNvGraphicFramePr>
          <p:nvPr>
            <p:extLst>
              <p:ext uri="{D42A27DB-BD31-4B8C-83A1-F6EECF244321}">
                <p14:modId xmlns:p14="http://schemas.microsoft.com/office/powerpoint/2010/main" val="2440051806"/>
              </p:ext>
            </p:extLst>
          </p:nvPr>
        </p:nvGraphicFramePr>
        <p:xfrm>
          <a:off x="6971984" y="3391067"/>
          <a:ext cx="2850765" cy="1615806"/>
        </p:xfrm>
        <a:graphic>
          <a:graphicData uri="http://schemas.openxmlformats.org/presentationml/2006/ole">
            <mc:AlternateContent xmlns:mc="http://schemas.openxmlformats.org/markup-compatibility/2006">
              <mc:Choice xmlns:v="urn:schemas-microsoft-com:vml" Requires="v">
                <p:oleObj name="Equation" r:id="rId7" imgW="1615325" imgH="915858" progId="Equation.DSMT4">
                  <p:embed/>
                </p:oleObj>
              </mc:Choice>
              <mc:Fallback>
                <p:oleObj name="Equation" r:id="rId7" imgW="1615325" imgH="915858" progId="Equation.DSMT4">
                  <p:embed/>
                  <p:pic>
                    <p:nvPicPr>
                      <p:cNvPr id="0" name=""/>
                      <p:cNvPicPr/>
                      <p:nvPr/>
                    </p:nvPicPr>
                    <p:blipFill>
                      <a:blip r:embed="rId8"/>
                      <a:stretch>
                        <a:fillRect/>
                      </a:stretch>
                    </p:blipFill>
                    <p:spPr>
                      <a:xfrm>
                        <a:off x="6971984" y="3391067"/>
                        <a:ext cx="2850765" cy="1615806"/>
                      </a:xfrm>
                      <a:prstGeom prst="rect">
                        <a:avLst/>
                      </a:prstGeom>
                    </p:spPr>
                  </p:pic>
                </p:oleObj>
              </mc:Fallback>
            </mc:AlternateContent>
          </a:graphicData>
        </a:graphic>
      </p:graphicFrame>
      <p:pic>
        <p:nvPicPr>
          <p:cNvPr id="18" name="图片 17">
            <a:extLst>
              <a:ext uri="{FF2B5EF4-FFF2-40B4-BE49-F238E27FC236}">
                <a16:creationId xmlns:a16="http://schemas.microsoft.com/office/drawing/2014/main" id="{E5C284EE-D740-6B2E-B39D-27422B7119D5}"/>
              </a:ext>
            </a:extLst>
          </p:cNvPr>
          <p:cNvPicPr>
            <a:picLocks noChangeAspect="1"/>
          </p:cNvPicPr>
          <p:nvPr/>
        </p:nvPicPr>
        <p:blipFill>
          <a:blip r:embed="rId9"/>
          <a:stretch>
            <a:fillRect/>
          </a:stretch>
        </p:blipFill>
        <p:spPr>
          <a:xfrm>
            <a:off x="613453" y="4902818"/>
            <a:ext cx="9764729" cy="607534"/>
          </a:xfrm>
          <a:prstGeom prst="rect">
            <a:avLst/>
          </a:prstGeom>
        </p:spPr>
      </p:pic>
      <p:pic>
        <p:nvPicPr>
          <p:cNvPr id="19" name="图片 18">
            <a:extLst>
              <a:ext uri="{FF2B5EF4-FFF2-40B4-BE49-F238E27FC236}">
                <a16:creationId xmlns:a16="http://schemas.microsoft.com/office/drawing/2014/main" id="{38082A25-C65A-5726-A1CF-52A105969168}"/>
              </a:ext>
            </a:extLst>
          </p:cNvPr>
          <p:cNvPicPr>
            <a:picLocks noChangeAspect="1"/>
          </p:cNvPicPr>
          <p:nvPr/>
        </p:nvPicPr>
        <p:blipFill>
          <a:blip r:embed="rId10"/>
          <a:stretch>
            <a:fillRect/>
          </a:stretch>
        </p:blipFill>
        <p:spPr>
          <a:xfrm>
            <a:off x="100603" y="5510352"/>
            <a:ext cx="9764729" cy="596488"/>
          </a:xfrm>
          <a:prstGeom prst="rect">
            <a:avLst/>
          </a:prstGeom>
        </p:spPr>
      </p:pic>
      <p:graphicFrame>
        <p:nvGraphicFramePr>
          <p:cNvPr id="20" name="对象 19">
            <a:extLst>
              <a:ext uri="{FF2B5EF4-FFF2-40B4-BE49-F238E27FC236}">
                <a16:creationId xmlns:a16="http://schemas.microsoft.com/office/drawing/2014/main" id="{8D08242D-642C-E62C-6898-64321A5F9D50}"/>
              </a:ext>
            </a:extLst>
          </p:cNvPr>
          <p:cNvGraphicFramePr>
            <a:graphicFrameLocks noChangeAspect="1"/>
          </p:cNvGraphicFramePr>
          <p:nvPr>
            <p:extLst>
              <p:ext uri="{D42A27DB-BD31-4B8C-83A1-F6EECF244321}">
                <p14:modId xmlns:p14="http://schemas.microsoft.com/office/powerpoint/2010/main" val="3007767202"/>
              </p:ext>
            </p:extLst>
          </p:nvPr>
        </p:nvGraphicFramePr>
        <p:xfrm>
          <a:off x="4383144" y="6013314"/>
          <a:ext cx="3594834" cy="596488"/>
        </p:xfrm>
        <a:graphic>
          <a:graphicData uri="http://schemas.openxmlformats.org/presentationml/2006/ole">
            <mc:AlternateContent xmlns:mc="http://schemas.openxmlformats.org/markup-compatibility/2006">
              <mc:Choice xmlns:v="urn:schemas-microsoft-com:vml" Requires="v">
                <p:oleObj name="Equation" r:id="rId11" imgW="1434688" imgH="238340" progId="Equation.DSMT4">
                  <p:embed/>
                </p:oleObj>
              </mc:Choice>
              <mc:Fallback>
                <p:oleObj name="Equation" r:id="rId11" imgW="1434688" imgH="238340" progId="Equation.DSMT4">
                  <p:embed/>
                  <p:pic>
                    <p:nvPicPr>
                      <p:cNvPr id="0" name=""/>
                      <p:cNvPicPr/>
                      <p:nvPr/>
                    </p:nvPicPr>
                    <p:blipFill>
                      <a:blip r:embed="rId12"/>
                      <a:stretch>
                        <a:fillRect/>
                      </a:stretch>
                    </p:blipFill>
                    <p:spPr>
                      <a:xfrm>
                        <a:off x="4383144" y="6013314"/>
                        <a:ext cx="3594834" cy="596488"/>
                      </a:xfrm>
                      <a:prstGeom prst="rect">
                        <a:avLst/>
                      </a:prstGeom>
                    </p:spPr>
                  </p:pic>
                </p:oleObj>
              </mc:Fallback>
            </mc:AlternateContent>
          </a:graphicData>
        </a:graphic>
      </p:graphicFrame>
      <p:sp>
        <p:nvSpPr>
          <p:cNvPr id="8" name="矩形: 圆角 55">
            <a:extLst>
              <a:ext uri="{FF2B5EF4-FFF2-40B4-BE49-F238E27FC236}">
                <a16:creationId xmlns:a16="http://schemas.microsoft.com/office/drawing/2014/main" id="{0D2F7729-C56C-B5A3-3B99-CEFD43CF76A1}"/>
              </a:ext>
            </a:extLst>
          </p:cNvPr>
          <p:cNvSpPr/>
          <p:nvPr/>
        </p:nvSpPr>
        <p:spPr>
          <a:xfrm>
            <a:off x="438873" y="1196636"/>
            <a:ext cx="5034736"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基于</a:t>
            </a: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SMO</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算法求解目标函数</a:t>
            </a:r>
          </a:p>
        </p:txBody>
      </p:sp>
    </p:spTree>
    <p:extLst>
      <p:ext uri="{BB962C8B-B14F-4D97-AF65-F5344CB8AC3E}">
        <p14:creationId xmlns:p14="http://schemas.microsoft.com/office/powerpoint/2010/main" val="13584326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83B8-2B61-A75E-2FB1-B1C12B5A6C3D}"/>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498EC9F2-DDB9-4457-8465-EA6598908618}"/>
              </a:ext>
            </a:extLst>
          </p:cNvPr>
          <p:cNvPicPr>
            <a:picLocks noChangeAspect="1"/>
          </p:cNvPicPr>
          <p:nvPr/>
        </p:nvPicPr>
        <p:blipFill>
          <a:blip r:embed="rId3"/>
          <a:srcRect r="52588"/>
          <a:stretch/>
        </p:blipFill>
        <p:spPr>
          <a:xfrm>
            <a:off x="3807309" y="3293533"/>
            <a:ext cx="4332486" cy="3552892"/>
          </a:xfrm>
          <a:prstGeom prst="rect">
            <a:avLst/>
          </a:prstGeom>
        </p:spPr>
      </p:pic>
      <p:sp>
        <p:nvSpPr>
          <p:cNvPr id="3" name="矩形 26">
            <a:extLst>
              <a:ext uri="{FF2B5EF4-FFF2-40B4-BE49-F238E27FC236}">
                <a16:creationId xmlns:a16="http://schemas.microsoft.com/office/drawing/2014/main" id="{92563D89-F013-2142-AC07-466E3B168169}"/>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线性支持向量机</a:t>
            </a:r>
          </a:p>
        </p:txBody>
      </p:sp>
      <p:sp>
        <p:nvSpPr>
          <p:cNvPr id="15" name="Rectangle 3">
            <a:extLst>
              <a:ext uri="{FF2B5EF4-FFF2-40B4-BE49-F238E27FC236}">
                <a16:creationId xmlns:a16="http://schemas.microsoft.com/office/drawing/2014/main" id="{FF8F1BB9-5E0B-1004-8843-433A396114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F2C11B04-C5B0-9077-C07D-061DBE27887A}"/>
              </a:ext>
            </a:extLst>
          </p:cNvPr>
          <p:cNvSpPr>
            <a:spLocks noChangeArrowheads="1"/>
          </p:cNvSpPr>
          <p:nvPr/>
        </p:nvSpPr>
        <p:spPr bwMode="auto">
          <a:xfrm>
            <a:off x="12700" y="114769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C82BCA73-BBBF-071A-9091-A1A4835305DD}"/>
              </a:ext>
            </a:extLst>
          </p:cNvPr>
          <p:cNvSpPr txBox="1"/>
          <p:nvPr/>
        </p:nvSpPr>
        <p:spPr>
          <a:xfrm>
            <a:off x="166154" y="1147694"/>
            <a:ext cx="11755769" cy="1107996"/>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在线性可分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中，训练样本假定在特征空间中是线性可分的，即存在一个超平面能将不同类别的样本完全划分开。</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这种</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的间隔被称为</a:t>
            </a:r>
            <a:r>
              <a:rPr lang="zh-CN"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“硬间隔”（</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hard margin</a:t>
            </a:r>
            <a:r>
              <a:rPr lang="zh-CN"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dirty="0"/>
          </a:p>
        </p:txBody>
      </p:sp>
      <p:sp>
        <p:nvSpPr>
          <p:cNvPr id="9" name="文本框 8">
            <a:extLst>
              <a:ext uri="{FF2B5EF4-FFF2-40B4-BE49-F238E27FC236}">
                <a16:creationId xmlns:a16="http://schemas.microsoft.com/office/drawing/2014/main" id="{DAEDBB9C-C800-68BB-95CA-445710EE4830}"/>
              </a:ext>
            </a:extLst>
          </p:cNvPr>
          <p:cNvSpPr txBox="1"/>
          <p:nvPr/>
        </p:nvSpPr>
        <p:spPr>
          <a:xfrm>
            <a:off x="166154" y="2064868"/>
            <a:ext cx="11755769" cy="830997"/>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然而，在现实世界的数据中往往是硬间隔不可分的，即正样本和负样本很难被一个超平面完全分开，没有一条直线可以完美地分离这两类样本。</a:t>
            </a:r>
          </a:p>
        </p:txBody>
      </p:sp>
      <p:pic>
        <p:nvPicPr>
          <p:cNvPr id="10" name="图形 1">
            <a:extLst>
              <a:ext uri="{FF2B5EF4-FFF2-40B4-BE49-F238E27FC236}">
                <a16:creationId xmlns:a16="http://schemas.microsoft.com/office/drawing/2014/main" id="{EC3F0F62-3B60-06E1-7D0B-E4AC1D0D26FE}"/>
              </a:ext>
            </a:extLst>
          </p:cNvPr>
          <p:cNvPicPr>
            <a:picLocks noChangeAspect="1"/>
          </p:cNvPicPr>
          <p:nvPr/>
        </p:nvPicPr>
        <p:blipFill>
          <a:blip r:embed="rId4">
            <a:extLst>
              <a:ext uri="{96DAC541-7B7A-43D3-8B79-37D633B846F1}">
                <asvg:svgBlip xmlns:asvg="http://schemas.microsoft.com/office/drawing/2016/SVG/main" r:embed="rId5"/>
              </a:ext>
            </a:extLst>
          </a:blip>
          <a:srcRect r="48333"/>
          <a:stretch/>
        </p:blipFill>
        <p:spPr>
          <a:xfrm>
            <a:off x="3890150" y="3219652"/>
            <a:ext cx="4772587" cy="3638348"/>
          </a:xfrm>
          <a:prstGeom prst="rect">
            <a:avLst/>
          </a:prstGeom>
        </p:spPr>
      </p:pic>
    </p:spTree>
    <p:extLst>
      <p:ext uri="{BB962C8B-B14F-4D97-AF65-F5344CB8AC3E}">
        <p14:creationId xmlns:p14="http://schemas.microsoft.com/office/powerpoint/2010/main" val="3837423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EF46-109D-71F3-1040-A90A00EECD09}"/>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5DBF6DB3-306E-6144-8FC4-0B635FCD9132}"/>
              </a:ext>
            </a:extLst>
          </p:cNvPr>
          <p:cNvPicPr>
            <a:picLocks noChangeAspect="1"/>
          </p:cNvPicPr>
          <p:nvPr/>
        </p:nvPicPr>
        <p:blipFill>
          <a:blip r:embed="rId3"/>
          <a:srcRect r="52588"/>
          <a:stretch/>
        </p:blipFill>
        <p:spPr>
          <a:xfrm>
            <a:off x="7013860" y="2584138"/>
            <a:ext cx="4276681" cy="3507129"/>
          </a:xfrm>
          <a:prstGeom prst="rect">
            <a:avLst/>
          </a:prstGeom>
        </p:spPr>
      </p:pic>
      <p:sp>
        <p:nvSpPr>
          <p:cNvPr id="3" name="矩形 26">
            <a:extLst>
              <a:ext uri="{FF2B5EF4-FFF2-40B4-BE49-F238E27FC236}">
                <a16:creationId xmlns:a16="http://schemas.microsoft.com/office/drawing/2014/main" id="{CEB06D16-9DA0-C603-AED3-7B9246EA8EB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线性支持向量机</a:t>
            </a:r>
          </a:p>
        </p:txBody>
      </p:sp>
      <p:sp>
        <p:nvSpPr>
          <p:cNvPr id="15" name="Rectangle 3">
            <a:extLst>
              <a:ext uri="{FF2B5EF4-FFF2-40B4-BE49-F238E27FC236}">
                <a16:creationId xmlns:a16="http://schemas.microsoft.com/office/drawing/2014/main" id="{2CC9B9A9-0EEF-F3DD-FCBF-7551ECF8293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DA3EE7D8-9293-A56F-9FC3-B75EC1485109}"/>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D7553F82-8E4A-4CD3-D056-25A761E063F2}"/>
              </a:ext>
            </a:extLst>
          </p:cNvPr>
          <p:cNvSpPr txBox="1"/>
          <p:nvPr/>
        </p:nvSpPr>
        <p:spPr>
          <a:xfrm>
            <a:off x="339775" y="1238328"/>
            <a:ext cx="11466402" cy="1200329"/>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为了解决上述线性不可分的情况，</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Cortes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Vapnik</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于</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1995</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年提出了</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“软间隔”</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Soft margin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）的概念。软间隔是指在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中允许一些样本点不被正确分类，也就是在求解最优间隔时允许一些样本点不严格满足约束条件，这类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被称为“线性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 name="文本框 9">
            <a:extLst>
              <a:ext uri="{FF2B5EF4-FFF2-40B4-BE49-F238E27FC236}">
                <a16:creationId xmlns:a16="http://schemas.microsoft.com/office/drawing/2014/main" id="{DB219166-E5D1-9525-9F86-3F3660A6F56E}"/>
              </a:ext>
            </a:extLst>
          </p:cNvPr>
          <p:cNvSpPr txBox="1"/>
          <p:nvPr/>
        </p:nvSpPr>
        <p:spPr>
          <a:xfrm>
            <a:off x="339775" y="2850357"/>
            <a:ext cx="5756225" cy="2308324"/>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线性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不仅可以更好地防止过拟合，同时更不易受数据集中异常值的影响。在线性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中，每一个样本都加入松弛变量 ，即训练过程中允许数据点位于超平面的错误一侧或位于间隔边界附近，落入两条虚线之间的样本不计算损失。</a:t>
            </a:r>
          </a:p>
        </p:txBody>
      </p:sp>
      <p:pic>
        <p:nvPicPr>
          <p:cNvPr id="11" name="图形 1">
            <a:extLst>
              <a:ext uri="{FF2B5EF4-FFF2-40B4-BE49-F238E27FC236}">
                <a16:creationId xmlns:a16="http://schemas.microsoft.com/office/drawing/2014/main" id="{E38260FE-3554-AF43-F211-E477071ADB9A}"/>
              </a:ext>
            </a:extLst>
          </p:cNvPr>
          <p:cNvPicPr>
            <a:picLocks noChangeAspect="1"/>
          </p:cNvPicPr>
          <p:nvPr/>
        </p:nvPicPr>
        <p:blipFill>
          <a:blip r:embed="rId4">
            <a:extLst>
              <a:ext uri="{96DAC541-7B7A-43D3-8B79-37D633B846F1}">
                <asvg:svgBlip xmlns:asvg="http://schemas.microsoft.com/office/drawing/2016/SVG/main" r:embed="rId5"/>
              </a:ext>
            </a:extLst>
          </a:blip>
          <a:srcRect l="57194"/>
          <a:stretch/>
        </p:blipFill>
        <p:spPr>
          <a:xfrm>
            <a:off x="7348397" y="2607289"/>
            <a:ext cx="3704602" cy="3408744"/>
          </a:xfrm>
          <a:prstGeom prst="rect">
            <a:avLst/>
          </a:prstGeom>
        </p:spPr>
      </p:pic>
    </p:spTree>
    <p:extLst>
      <p:ext uri="{BB962C8B-B14F-4D97-AF65-F5344CB8AC3E}">
        <p14:creationId xmlns:p14="http://schemas.microsoft.com/office/powerpoint/2010/main" val="27168873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9B0B5-429B-3D1F-7A0F-C2A1A840129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14B2A2A-F5C9-4E78-863C-3FC8447FF290}"/>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线性支持向量机</a:t>
            </a:r>
          </a:p>
        </p:txBody>
      </p:sp>
      <p:sp>
        <p:nvSpPr>
          <p:cNvPr id="15" name="Rectangle 3">
            <a:extLst>
              <a:ext uri="{FF2B5EF4-FFF2-40B4-BE49-F238E27FC236}">
                <a16:creationId xmlns:a16="http://schemas.microsoft.com/office/drawing/2014/main" id="{073582AE-05FF-656B-9451-ABA964A6011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503F2796-9B65-7EDA-977A-775CBE0D04AF}"/>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AD3CDC31-FB75-FF01-6C36-98CEED0F89F8}"/>
              </a:ext>
            </a:extLst>
          </p:cNvPr>
          <p:cNvSpPr txBox="1"/>
          <p:nvPr/>
        </p:nvSpPr>
        <p:spPr>
          <a:xfrm>
            <a:off x="166155" y="1908641"/>
            <a:ext cx="6117220" cy="461665"/>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线性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的最优化目标可写为：</a:t>
            </a:r>
          </a:p>
        </p:txBody>
      </p:sp>
      <p:sp>
        <p:nvSpPr>
          <p:cNvPr id="7" name="矩形: 圆角 55">
            <a:extLst>
              <a:ext uri="{FF2B5EF4-FFF2-40B4-BE49-F238E27FC236}">
                <a16:creationId xmlns:a16="http://schemas.microsoft.com/office/drawing/2014/main" id="{2731FBD3-D6B1-D3BE-A0AD-C1040A8C47D8}"/>
              </a:ext>
            </a:extLst>
          </p:cNvPr>
          <p:cNvSpPr/>
          <p:nvPr/>
        </p:nvSpPr>
        <p:spPr>
          <a:xfrm>
            <a:off x="351661" y="1034022"/>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目标函数</a:t>
            </a:r>
          </a:p>
        </p:txBody>
      </p:sp>
      <p:graphicFrame>
        <p:nvGraphicFramePr>
          <p:cNvPr id="8" name="对象 7">
            <a:extLst>
              <a:ext uri="{FF2B5EF4-FFF2-40B4-BE49-F238E27FC236}">
                <a16:creationId xmlns:a16="http://schemas.microsoft.com/office/drawing/2014/main" id="{7902FA40-E645-C420-04E8-849966EF37A4}"/>
              </a:ext>
            </a:extLst>
          </p:cNvPr>
          <p:cNvGraphicFramePr>
            <a:graphicFrameLocks noChangeAspect="1"/>
          </p:cNvGraphicFramePr>
          <p:nvPr>
            <p:extLst>
              <p:ext uri="{D42A27DB-BD31-4B8C-83A1-F6EECF244321}">
                <p14:modId xmlns:p14="http://schemas.microsoft.com/office/powerpoint/2010/main" val="3277826020"/>
              </p:ext>
            </p:extLst>
          </p:nvPr>
        </p:nvGraphicFramePr>
        <p:xfrm>
          <a:off x="2955823" y="2549565"/>
          <a:ext cx="6280353" cy="2611035"/>
        </p:xfrm>
        <a:graphic>
          <a:graphicData uri="http://schemas.openxmlformats.org/presentationml/2006/ole">
            <mc:AlternateContent xmlns:mc="http://schemas.openxmlformats.org/markup-compatibility/2006">
              <mc:Choice xmlns:v="urn:schemas-microsoft-com:vml" Requires="v">
                <p:oleObj name="Equation" r:id="rId3" imgW="2156879" imgH="896748" progId="Equation.DSMT4">
                  <p:embed/>
                </p:oleObj>
              </mc:Choice>
              <mc:Fallback>
                <p:oleObj name="Equation" r:id="rId3" imgW="2156879" imgH="896748" progId="Equation.DSMT4">
                  <p:embed/>
                  <p:pic>
                    <p:nvPicPr>
                      <p:cNvPr id="0" name=""/>
                      <p:cNvPicPr/>
                      <p:nvPr/>
                    </p:nvPicPr>
                    <p:blipFill>
                      <a:blip r:embed="rId4"/>
                      <a:stretch>
                        <a:fillRect/>
                      </a:stretch>
                    </p:blipFill>
                    <p:spPr>
                      <a:xfrm>
                        <a:off x="2955823" y="2549565"/>
                        <a:ext cx="6280353" cy="2611035"/>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id="{D84F2DA9-EC53-7BAB-F77F-211B410E70E2}"/>
              </a:ext>
            </a:extLst>
          </p:cNvPr>
          <p:cNvSpPr txBox="1"/>
          <p:nvPr/>
        </p:nvSpPr>
        <p:spPr>
          <a:xfrm>
            <a:off x="7039540" y="1012220"/>
            <a:ext cx="2382252" cy="1200329"/>
          </a:xfrm>
          <a:prstGeom prst="rect">
            <a:avLst/>
          </a:prstGeom>
          <a:solidFill>
            <a:schemeClr val="accent1">
              <a:lumMod val="40000"/>
              <a:lumOff val="60000"/>
            </a:schemeClr>
          </a:solidFill>
        </p:spPr>
        <p:txBody>
          <a:bodyPr wrap="square">
            <a:spAutoFit/>
          </a:bodyPr>
          <a:lstStyle/>
          <a:p>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大于</a:t>
            </a:r>
            <a:r>
              <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的超参数，用于平衡两部分的重要程度</a:t>
            </a:r>
          </a:p>
        </p:txBody>
      </p:sp>
      <p:cxnSp>
        <p:nvCxnSpPr>
          <p:cNvPr id="22" name="直接箭头连接符 21">
            <a:extLst>
              <a:ext uri="{FF2B5EF4-FFF2-40B4-BE49-F238E27FC236}">
                <a16:creationId xmlns:a16="http://schemas.microsoft.com/office/drawing/2014/main" id="{66BE25B0-DAEA-C1E2-9ECE-F568FBADEAE3}"/>
              </a:ext>
            </a:extLst>
          </p:cNvPr>
          <p:cNvCxnSpPr>
            <a:cxnSpLocks/>
          </p:cNvCxnSpPr>
          <p:nvPr/>
        </p:nvCxnSpPr>
        <p:spPr>
          <a:xfrm flipV="1">
            <a:off x="5428527" y="1794077"/>
            <a:ext cx="1611013" cy="112274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6BCBE23E-DA2A-34B1-ED08-021F0D5E05E3}"/>
              </a:ext>
            </a:extLst>
          </p:cNvPr>
          <p:cNvCxnSpPr>
            <a:cxnSpLocks/>
          </p:cNvCxnSpPr>
          <p:nvPr/>
        </p:nvCxnSpPr>
        <p:spPr>
          <a:xfrm>
            <a:off x="5806303" y="3836859"/>
            <a:ext cx="2466474" cy="2032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9" name="图片 28">
            <a:extLst>
              <a:ext uri="{FF2B5EF4-FFF2-40B4-BE49-F238E27FC236}">
                <a16:creationId xmlns:a16="http://schemas.microsoft.com/office/drawing/2014/main" id="{4777C615-C480-9589-E985-100BB4592BCB}"/>
              </a:ext>
            </a:extLst>
          </p:cNvPr>
          <p:cNvPicPr>
            <a:picLocks noChangeAspect="1"/>
          </p:cNvPicPr>
          <p:nvPr/>
        </p:nvPicPr>
        <p:blipFill>
          <a:blip r:embed="rId5"/>
          <a:srcRect r="36842" b="9217"/>
          <a:stretch/>
        </p:blipFill>
        <p:spPr>
          <a:xfrm>
            <a:off x="5505173" y="5945106"/>
            <a:ext cx="6416317" cy="912893"/>
          </a:xfrm>
          <a:prstGeom prst="rect">
            <a:avLst/>
          </a:prstGeom>
          <a:solidFill>
            <a:schemeClr val="accent1">
              <a:lumMod val="40000"/>
              <a:lumOff val="60000"/>
            </a:schemeClr>
          </a:solidFill>
        </p:spPr>
      </p:pic>
      <p:pic>
        <p:nvPicPr>
          <p:cNvPr id="30" name="图片 29">
            <a:extLst>
              <a:ext uri="{FF2B5EF4-FFF2-40B4-BE49-F238E27FC236}">
                <a16:creationId xmlns:a16="http://schemas.microsoft.com/office/drawing/2014/main" id="{B63438C7-498F-E238-E286-E2AC152E4912}"/>
              </a:ext>
            </a:extLst>
          </p:cNvPr>
          <p:cNvPicPr>
            <a:picLocks noChangeAspect="1"/>
          </p:cNvPicPr>
          <p:nvPr/>
        </p:nvPicPr>
        <p:blipFill>
          <a:blip r:embed="rId6"/>
          <a:srcRect l="1671" t="-4708" r="58062"/>
          <a:stretch/>
        </p:blipFill>
        <p:spPr>
          <a:xfrm>
            <a:off x="88450" y="5086696"/>
            <a:ext cx="4069080" cy="658333"/>
          </a:xfrm>
          <a:prstGeom prst="rect">
            <a:avLst/>
          </a:prstGeom>
        </p:spPr>
      </p:pic>
      <p:pic>
        <p:nvPicPr>
          <p:cNvPr id="31" name="图片 30">
            <a:extLst>
              <a:ext uri="{FF2B5EF4-FFF2-40B4-BE49-F238E27FC236}">
                <a16:creationId xmlns:a16="http://schemas.microsoft.com/office/drawing/2014/main" id="{2AD4FB73-2E73-29D3-54E3-44873688F221}"/>
              </a:ext>
            </a:extLst>
          </p:cNvPr>
          <p:cNvPicPr>
            <a:picLocks noChangeAspect="1"/>
          </p:cNvPicPr>
          <p:nvPr/>
        </p:nvPicPr>
        <p:blipFill>
          <a:blip r:embed="rId6"/>
          <a:srcRect l="44225" t="-81152" r="1672" b="9021"/>
          <a:stretch/>
        </p:blipFill>
        <p:spPr>
          <a:xfrm>
            <a:off x="166155" y="5036638"/>
            <a:ext cx="5467350" cy="1082252"/>
          </a:xfrm>
          <a:prstGeom prst="rect">
            <a:avLst/>
          </a:prstGeom>
        </p:spPr>
      </p:pic>
      <p:pic>
        <p:nvPicPr>
          <p:cNvPr id="33" name="图片 32">
            <a:extLst>
              <a:ext uri="{FF2B5EF4-FFF2-40B4-BE49-F238E27FC236}">
                <a16:creationId xmlns:a16="http://schemas.microsoft.com/office/drawing/2014/main" id="{7073EE12-BD72-6432-2809-1691E2383EEB}"/>
              </a:ext>
            </a:extLst>
          </p:cNvPr>
          <p:cNvPicPr>
            <a:picLocks noChangeAspect="1"/>
          </p:cNvPicPr>
          <p:nvPr/>
        </p:nvPicPr>
        <p:blipFill>
          <a:blip r:embed="rId7"/>
          <a:stretch>
            <a:fillRect/>
          </a:stretch>
        </p:blipFill>
        <p:spPr>
          <a:xfrm>
            <a:off x="199722" y="6002043"/>
            <a:ext cx="9989658" cy="610228"/>
          </a:xfrm>
          <a:prstGeom prst="rect">
            <a:avLst/>
          </a:prstGeom>
        </p:spPr>
      </p:pic>
    </p:spTree>
    <p:extLst>
      <p:ext uri="{BB962C8B-B14F-4D97-AF65-F5344CB8AC3E}">
        <p14:creationId xmlns:p14="http://schemas.microsoft.com/office/powerpoint/2010/main" val="1059616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CCE66-1B48-8634-474C-93E7736D14B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E86DE85-E162-EC6D-D6E7-4CACE189860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线性支持向量机</a:t>
            </a:r>
          </a:p>
        </p:txBody>
      </p:sp>
      <p:sp>
        <p:nvSpPr>
          <p:cNvPr id="15" name="Rectangle 3">
            <a:extLst>
              <a:ext uri="{FF2B5EF4-FFF2-40B4-BE49-F238E27FC236}">
                <a16:creationId xmlns:a16="http://schemas.microsoft.com/office/drawing/2014/main" id="{AEB80134-C387-738F-4CB6-4CB233B97A5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对象 4">
            <a:extLst>
              <a:ext uri="{FF2B5EF4-FFF2-40B4-BE49-F238E27FC236}">
                <a16:creationId xmlns:a16="http://schemas.microsoft.com/office/drawing/2014/main" id="{4F8AC988-A95C-02A2-15ED-19C0B7D291B4}"/>
              </a:ext>
            </a:extLst>
          </p:cNvPr>
          <p:cNvGraphicFramePr>
            <a:graphicFrameLocks noChangeAspect="1"/>
          </p:cNvGraphicFramePr>
          <p:nvPr>
            <p:extLst>
              <p:ext uri="{D42A27DB-BD31-4B8C-83A1-F6EECF244321}">
                <p14:modId xmlns:p14="http://schemas.microsoft.com/office/powerpoint/2010/main" val="4080510715"/>
              </p:ext>
            </p:extLst>
          </p:nvPr>
        </p:nvGraphicFramePr>
        <p:xfrm>
          <a:off x="349175" y="1727025"/>
          <a:ext cx="4228802" cy="1753709"/>
        </p:xfrm>
        <a:graphic>
          <a:graphicData uri="http://schemas.openxmlformats.org/presentationml/2006/ole">
            <mc:AlternateContent xmlns:mc="http://schemas.openxmlformats.org/markup-compatibility/2006">
              <mc:Choice xmlns:v="urn:schemas-microsoft-com:vml" Requires="v">
                <p:oleObj name="Equation" r:id="rId3" imgW="2171700" imgH="901700" progId="Equation.DSMT4">
                  <p:embed/>
                </p:oleObj>
              </mc:Choice>
              <mc:Fallback>
                <p:oleObj name="Equation" r:id="rId3" imgW="2171700" imgH="9017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75" y="1727025"/>
                        <a:ext cx="4228802" cy="1753709"/>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D939A347-14D7-5FC3-24E0-199FE603D79E}"/>
              </a:ext>
            </a:extLst>
          </p:cNvPr>
          <p:cNvGraphicFramePr>
            <a:graphicFrameLocks noChangeAspect="1"/>
          </p:cNvGraphicFramePr>
          <p:nvPr>
            <p:extLst>
              <p:ext uri="{D42A27DB-BD31-4B8C-83A1-F6EECF244321}">
                <p14:modId xmlns:p14="http://schemas.microsoft.com/office/powerpoint/2010/main" val="3681511391"/>
              </p:ext>
            </p:extLst>
          </p:nvPr>
        </p:nvGraphicFramePr>
        <p:xfrm>
          <a:off x="7614025" y="1727025"/>
          <a:ext cx="4043743" cy="1856104"/>
        </p:xfrm>
        <a:graphic>
          <a:graphicData uri="http://schemas.openxmlformats.org/presentationml/2006/ole">
            <mc:AlternateContent xmlns:mc="http://schemas.openxmlformats.org/markup-compatibility/2006">
              <mc:Choice xmlns:v="urn:schemas-microsoft-com:vml" Requires="v">
                <p:oleObj name="Equation" r:id="rId5" imgW="2555863" imgH="1173308" progId="Equation.DSMT4">
                  <p:embed/>
                </p:oleObj>
              </mc:Choice>
              <mc:Fallback>
                <p:oleObj name="Equation" r:id="rId5" imgW="2555863" imgH="1173308" progId="Equation.DSMT4">
                  <p:embed/>
                  <p:pic>
                    <p:nvPicPr>
                      <p:cNvPr id="0" name=""/>
                      <p:cNvPicPr/>
                      <p:nvPr/>
                    </p:nvPicPr>
                    <p:blipFill>
                      <a:blip r:embed="rId6"/>
                      <a:stretch>
                        <a:fillRect/>
                      </a:stretch>
                    </p:blipFill>
                    <p:spPr>
                      <a:xfrm>
                        <a:off x="7614025" y="1727025"/>
                        <a:ext cx="4043743" cy="185610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EEA27330-7A3C-5BC4-4EDB-B39AA27BF8E6}"/>
              </a:ext>
            </a:extLst>
          </p:cNvPr>
          <p:cNvGraphicFramePr>
            <a:graphicFrameLocks noChangeAspect="1"/>
          </p:cNvGraphicFramePr>
          <p:nvPr>
            <p:extLst>
              <p:ext uri="{D42A27DB-BD31-4B8C-83A1-F6EECF244321}">
                <p14:modId xmlns:p14="http://schemas.microsoft.com/office/powerpoint/2010/main" val="592801808"/>
              </p:ext>
            </p:extLst>
          </p:nvPr>
        </p:nvGraphicFramePr>
        <p:xfrm>
          <a:off x="1797556" y="4574523"/>
          <a:ext cx="8835956" cy="885230"/>
        </p:xfrm>
        <a:graphic>
          <a:graphicData uri="http://schemas.openxmlformats.org/presentationml/2006/ole">
            <mc:AlternateContent xmlns:mc="http://schemas.openxmlformats.org/markup-compatibility/2006">
              <mc:Choice xmlns:v="urn:schemas-microsoft-com:vml" Requires="v">
                <p:oleObj name="Equation" r:id="rId7" imgW="4294726" imgH="429444" progId="Equation.DSMT4">
                  <p:embed/>
                </p:oleObj>
              </mc:Choice>
              <mc:Fallback>
                <p:oleObj name="Equation" r:id="rId7" imgW="4294726" imgH="429444" progId="Equation.DSMT4">
                  <p:embed/>
                  <p:pic>
                    <p:nvPicPr>
                      <p:cNvPr id="0" name=""/>
                      <p:cNvPicPr/>
                      <p:nvPr/>
                    </p:nvPicPr>
                    <p:blipFill>
                      <a:blip r:embed="rId8"/>
                      <a:stretch>
                        <a:fillRect/>
                      </a:stretch>
                    </p:blipFill>
                    <p:spPr>
                      <a:xfrm>
                        <a:off x="1797556" y="4574523"/>
                        <a:ext cx="8835956" cy="885230"/>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99B52E6A-046D-EF77-FE4E-8349B50F47A8}"/>
              </a:ext>
            </a:extLst>
          </p:cNvPr>
          <p:cNvSpPr txBox="1"/>
          <p:nvPr/>
        </p:nvSpPr>
        <p:spPr>
          <a:xfrm>
            <a:off x="2981890" y="1943869"/>
            <a:ext cx="1487240" cy="461665"/>
          </a:xfrm>
          <a:prstGeom prst="rect">
            <a:avLst/>
          </a:prstGeom>
          <a:solidFill>
            <a:schemeClr val="accent1">
              <a:lumMod val="40000"/>
              <a:lumOff val="60000"/>
            </a:schemeClr>
          </a:solidFill>
        </p:spPr>
        <p:txBody>
          <a:bodyPr wrap="square">
            <a:spAutoFit/>
          </a:bodyPr>
          <a:lstStyle/>
          <a:p>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目标函数</a:t>
            </a:r>
          </a:p>
        </p:txBody>
      </p:sp>
      <p:sp>
        <p:nvSpPr>
          <p:cNvPr id="10" name="文本框 9">
            <a:extLst>
              <a:ext uri="{FF2B5EF4-FFF2-40B4-BE49-F238E27FC236}">
                <a16:creationId xmlns:a16="http://schemas.microsoft.com/office/drawing/2014/main" id="{BA37182D-D991-E15C-2F6E-9644F6655E80}"/>
              </a:ext>
            </a:extLst>
          </p:cNvPr>
          <p:cNvSpPr txBox="1"/>
          <p:nvPr/>
        </p:nvSpPr>
        <p:spPr>
          <a:xfrm>
            <a:off x="6017938" y="1943869"/>
            <a:ext cx="1487240" cy="461665"/>
          </a:xfrm>
          <a:prstGeom prst="rect">
            <a:avLst/>
          </a:prstGeom>
          <a:solidFill>
            <a:schemeClr val="accent1">
              <a:lumMod val="40000"/>
              <a:lumOff val="60000"/>
            </a:schemeClr>
          </a:solidFill>
        </p:spPr>
        <p:txBody>
          <a:bodyPr wrap="square">
            <a:spAutoFit/>
          </a:bodyPr>
          <a:lstStyle/>
          <a:p>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对偶问题</a:t>
            </a:r>
          </a:p>
        </p:txBody>
      </p:sp>
      <p:sp>
        <p:nvSpPr>
          <p:cNvPr id="11" name="文本框 10">
            <a:extLst>
              <a:ext uri="{FF2B5EF4-FFF2-40B4-BE49-F238E27FC236}">
                <a16:creationId xmlns:a16="http://schemas.microsoft.com/office/drawing/2014/main" id="{FE790260-99F9-2FEF-56F0-8BAB436A7C82}"/>
              </a:ext>
            </a:extLst>
          </p:cNvPr>
          <p:cNvSpPr txBox="1"/>
          <p:nvPr/>
        </p:nvSpPr>
        <p:spPr>
          <a:xfrm>
            <a:off x="4901608" y="5505274"/>
            <a:ext cx="2219282" cy="461665"/>
          </a:xfrm>
          <a:prstGeom prst="rect">
            <a:avLst/>
          </a:prstGeom>
          <a:solidFill>
            <a:schemeClr val="accent1">
              <a:lumMod val="40000"/>
              <a:lumOff val="60000"/>
            </a:schemeClr>
          </a:solidFill>
        </p:spPr>
        <p:txBody>
          <a:bodyPr wrap="square">
            <a:spAutoFit/>
          </a:bodyPr>
          <a:lstStyle/>
          <a:p>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拉格朗日转换</a:t>
            </a:r>
          </a:p>
        </p:txBody>
      </p:sp>
      <p:cxnSp>
        <p:nvCxnSpPr>
          <p:cNvPr id="12" name="直接箭头连接符 11">
            <a:extLst>
              <a:ext uri="{FF2B5EF4-FFF2-40B4-BE49-F238E27FC236}">
                <a16:creationId xmlns:a16="http://schemas.microsoft.com/office/drawing/2014/main" id="{7364BDD0-CE24-8BD7-C564-828E9AC94497}"/>
              </a:ext>
            </a:extLst>
          </p:cNvPr>
          <p:cNvCxnSpPr>
            <a:cxnSpLocks/>
          </p:cNvCxnSpPr>
          <p:nvPr/>
        </p:nvCxnSpPr>
        <p:spPr>
          <a:xfrm>
            <a:off x="4901608" y="2749216"/>
            <a:ext cx="101913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355FA89-8E90-43BB-9CFB-B13EE0A4DD85}"/>
              </a:ext>
            </a:extLst>
          </p:cNvPr>
          <p:cNvCxnSpPr>
            <a:cxnSpLocks/>
          </p:cNvCxnSpPr>
          <p:nvPr/>
        </p:nvCxnSpPr>
        <p:spPr>
          <a:xfrm flipH="1">
            <a:off x="6096000" y="3480734"/>
            <a:ext cx="1779270" cy="9372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2792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D79C-2631-D392-4108-F26A9FBD18F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8E7A847-14FD-27CD-ADA4-FDC3B077DEA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线性支持向量机</a:t>
            </a:r>
          </a:p>
        </p:txBody>
      </p:sp>
      <p:sp>
        <p:nvSpPr>
          <p:cNvPr id="15" name="Rectangle 3">
            <a:extLst>
              <a:ext uri="{FF2B5EF4-FFF2-40B4-BE49-F238E27FC236}">
                <a16:creationId xmlns:a16="http://schemas.microsoft.com/office/drawing/2014/main" id="{5B184B24-77C4-8D95-C390-F55D6D32597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图片 6">
            <a:extLst>
              <a:ext uri="{FF2B5EF4-FFF2-40B4-BE49-F238E27FC236}">
                <a16:creationId xmlns:a16="http://schemas.microsoft.com/office/drawing/2014/main" id="{A6EC9EE9-97E4-C603-A7A7-BFD0105DF723}"/>
              </a:ext>
            </a:extLst>
          </p:cNvPr>
          <p:cNvPicPr>
            <a:picLocks noChangeAspect="1"/>
          </p:cNvPicPr>
          <p:nvPr/>
        </p:nvPicPr>
        <p:blipFill>
          <a:blip r:embed="rId3"/>
          <a:stretch>
            <a:fillRect/>
          </a:stretch>
        </p:blipFill>
        <p:spPr>
          <a:xfrm>
            <a:off x="206861" y="1027228"/>
            <a:ext cx="11006839" cy="709717"/>
          </a:xfrm>
          <a:prstGeom prst="rect">
            <a:avLst/>
          </a:prstGeom>
        </p:spPr>
      </p:pic>
      <p:pic>
        <p:nvPicPr>
          <p:cNvPr id="8" name="图片 7">
            <a:extLst>
              <a:ext uri="{FF2B5EF4-FFF2-40B4-BE49-F238E27FC236}">
                <a16:creationId xmlns:a16="http://schemas.microsoft.com/office/drawing/2014/main" id="{5312A962-6919-DC90-6DC6-269E4DE2CB36}"/>
              </a:ext>
            </a:extLst>
          </p:cNvPr>
          <p:cNvPicPr>
            <a:picLocks noChangeAspect="1"/>
          </p:cNvPicPr>
          <p:nvPr/>
        </p:nvPicPr>
        <p:blipFill>
          <a:blip r:embed="rId4"/>
          <a:stretch>
            <a:fillRect/>
          </a:stretch>
        </p:blipFill>
        <p:spPr>
          <a:xfrm>
            <a:off x="-403688" y="1602491"/>
            <a:ext cx="11006831" cy="672363"/>
          </a:xfrm>
          <a:prstGeom prst="rect">
            <a:avLst/>
          </a:prstGeom>
        </p:spPr>
      </p:pic>
      <p:graphicFrame>
        <p:nvGraphicFramePr>
          <p:cNvPr id="9" name="对象 8">
            <a:extLst>
              <a:ext uri="{FF2B5EF4-FFF2-40B4-BE49-F238E27FC236}">
                <a16:creationId xmlns:a16="http://schemas.microsoft.com/office/drawing/2014/main" id="{C254452C-BCED-2832-FC26-F5DDD4936E99}"/>
              </a:ext>
            </a:extLst>
          </p:cNvPr>
          <p:cNvGraphicFramePr>
            <a:graphicFrameLocks noChangeAspect="1"/>
          </p:cNvGraphicFramePr>
          <p:nvPr>
            <p:extLst>
              <p:ext uri="{D42A27DB-BD31-4B8C-83A1-F6EECF244321}">
                <p14:modId xmlns:p14="http://schemas.microsoft.com/office/powerpoint/2010/main" val="1379835578"/>
              </p:ext>
            </p:extLst>
          </p:nvPr>
        </p:nvGraphicFramePr>
        <p:xfrm>
          <a:off x="634813" y="2213768"/>
          <a:ext cx="4464914" cy="878717"/>
        </p:xfrm>
        <a:graphic>
          <a:graphicData uri="http://schemas.openxmlformats.org/presentationml/2006/ole">
            <mc:AlternateContent xmlns:mc="http://schemas.openxmlformats.org/markup-compatibility/2006">
              <mc:Choice xmlns:v="urn:schemas-microsoft-com:vml" Requires="v">
                <p:oleObj name="Equation" r:id="rId5" imgW="2185250" imgH="429444" progId="Equation.DSMT4">
                  <p:embed/>
                </p:oleObj>
              </mc:Choice>
              <mc:Fallback>
                <p:oleObj name="Equation" r:id="rId5" imgW="2185250" imgH="429444" progId="Equation.DSMT4">
                  <p:embed/>
                  <p:pic>
                    <p:nvPicPr>
                      <p:cNvPr id="0" name=""/>
                      <p:cNvPicPr/>
                      <p:nvPr/>
                    </p:nvPicPr>
                    <p:blipFill>
                      <a:blip r:embed="rId6"/>
                      <a:stretch>
                        <a:fillRect/>
                      </a:stretch>
                    </p:blipFill>
                    <p:spPr>
                      <a:xfrm>
                        <a:off x="634813" y="2213768"/>
                        <a:ext cx="4464914" cy="87871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B8BD3F31-CA94-C85F-5A09-CC07BC7825B3}"/>
              </a:ext>
            </a:extLst>
          </p:cNvPr>
          <p:cNvGraphicFramePr>
            <a:graphicFrameLocks noChangeAspect="1"/>
          </p:cNvGraphicFramePr>
          <p:nvPr>
            <p:extLst>
              <p:ext uri="{D42A27DB-BD31-4B8C-83A1-F6EECF244321}">
                <p14:modId xmlns:p14="http://schemas.microsoft.com/office/powerpoint/2010/main" val="3468264203"/>
              </p:ext>
            </p:extLst>
          </p:nvPr>
        </p:nvGraphicFramePr>
        <p:xfrm>
          <a:off x="665964" y="3165232"/>
          <a:ext cx="3900722" cy="878717"/>
        </p:xfrm>
        <a:graphic>
          <a:graphicData uri="http://schemas.openxmlformats.org/presentationml/2006/ole">
            <mc:AlternateContent xmlns:mc="http://schemas.openxmlformats.org/markup-compatibility/2006">
              <mc:Choice xmlns:v="urn:schemas-microsoft-com:vml" Requires="v">
                <p:oleObj name="Equation" r:id="rId7" imgW="1909804" imgH="429444" progId="Equation.DSMT4">
                  <p:embed/>
                </p:oleObj>
              </mc:Choice>
              <mc:Fallback>
                <p:oleObj name="Equation" r:id="rId7" imgW="1909804" imgH="429444" progId="Equation.DSMT4">
                  <p:embed/>
                  <p:pic>
                    <p:nvPicPr>
                      <p:cNvPr id="0" name=""/>
                      <p:cNvPicPr/>
                      <p:nvPr/>
                    </p:nvPicPr>
                    <p:blipFill>
                      <a:blip r:embed="rId8"/>
                      <a:stretch>
                        <a:fillRect/>
                      </a:stretch>
                    </p:blipFill>
                    <p:spPr>
                      <a:xfrm>
                        <a:off x="665964" y="3165232"/>
                        <a:ext cx="3900722" cy="87871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7699E2C5-4208-6A49-BC30-1857DBC33F6D}"/>
              </a:ext>
            </a:extLst>
          </p:cNvPr>
          <p:cNvGraphicFramePr>
            <a:graphicFrameLocks noChangeAspect="1"/>
          </p:cNvGraphicFramePr>
          <p:nvPr>
            <p:extLst>
              <p:ext uri="{D42A27DB-BD31-4B8C-83A1-F6EECF244321}">
                <p14:modId xmlns:p14="http://schemas.microsoft.com/office/powerpoint/2010/main" val="168360853"/>
              </p:ext>
            </p:extLst>
          </p:nvPr>
        </p:nvGraphicFramePr>
        <p:xfrm>
          <a:off x="669013" y="4009415"/>
          <a:ext cx="4134181" cy="878717"/>
        </p:xfrm>
        <a:graphic>
          <a:graphicData uri="http://schemas.openxmlformats.org/presentationml/2006/ole">
            <mc:AlternateContent xmlns:mc="http://schemas.openxmlformats.org/markup-compatibility/2006">
              <mc:Choice xmlns:v="urn:schemas-microsoft-com:vml" Requires="v">
                <p:oleObj name="Equation" r:id="rId9" imgW="2024005" imgH="429444" progId="Equation.DSMT4">
                  <p:embed/>
                </p:oleObj>
              </mc:Choice>
              <mc:Fallback>
                <p:oleObj name="Equation" r:id="rId9" imgW="2024005" imgH="429444" progId="Equation.DSMT4">
                  <p:embed/>
                  <p:pic>
                    <p:nvPicPr>
                      <p:cNvPr id="0" name=""/>
                      <p:cNvPicPr/>
                      <p:nvPr/>
                    </p:nvPicPr>
                    <p:blipFill>
                      <a:blip r:embed="rId10"/>
                      <a:stretch>
                        <a:fillRect/>
                      </a:stretch>
                    </p:blipFill>
                    <p:spPr>
                      <a:xfrm>
                        <a:off x="669013" y="4009415"/>
                        <a:ext cx="4134181" cy="878717"/>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AEF3FBD4-5EA7-9AD4-16CE-017CD680FE72}"/>
              </a:ext>
            </a:extLst>
          </p:cNvPr>
          <p:cNvGraphicFramePr>
            <a:graphicFrameLocks noChangeAspect="1"/>
          </p:cNvGraphicFramePr>
          <p:nvPr>
            <p:extLst>
              <p:ext uri="{D42A27DB-BD31-4B8C-83A1-F6EECF244321}">
                <p14:modId xmlns:p14="http://schemas.microsoft.com/office/powerpoint/2010/main" val="4131353335"/>
              </p:ext>
            </p:extLst>
          </p:nvPr>
        </p:nvGraphicFramePr>
        <p:xfrm>
          <a:off x="7092275" y="2387028"/>
          <a:ext cx="1728248" cy="878717"/>
        </p:xfrm>
        <a:graphic>
          <a:graphicData uri="http://schemas.openxmlformats.org/presentationml/2006/ole">
            <mc:AlternateContent xmlns:mc="http://schemas.openxmlformats.org/markup-compatibility/2006">
              <mc:Choice xmlns:v="urn:schemas-microsoft-com:vml" Requires="v">
                <p:oleObj name="Equation" r:id="rId11" imgW="845729" imgH="429444" progId="Equation.DSMT4">
                  <p:embed/>
                </p:oleObj>
              </mc:Choice>
              <mc:Fallback>
                <p:oleObj name="Equation" r:id="rId11" imgW="845729" imgH="429444" progId="Equation.DSMT4">
                  <p:embed/>
                  <p:pic>
                    <p:nvPicPr>
                      <p:cNvPr id="0" name=""/>
                      <p:cNvPicPr/>
                      <p:nvPr/>
                    </p:nvPicPr>
                    <p:blipFill>
                      <a:blip r:embed="rId12"/>
                      <a:stretch>
                        <a:fillRect/>
                      </a:stretch>
                    </p:blipFill>
                    <p:spPr>
                      <a:xfrm>
                        <a:off x="7092275" y="2387028"/>
                        <a:ext cx="1728248" cy="87871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EFE5D0C8-47D5-82B3-A63F-CC6308F680D9}"/>
              </a:ext>
            </a:extLst>
          </p:cNvPr>
          <p:cNvGraphicFramePr>
            <a:graphicFrameLocks noChangeAspect="1"/>
          </p:cNvGraphicFramePr>
          <p:nvPr>
            <p:extLst>
              <p:ext uri="{D42A27DB-BD31-4B8C-83A1-F6EECF244321}">
                <p14:modId xmlns:p14="http://schemas.microsoft.com/office/powerpoint/2010/main" val="4237539366"/>
              </p:ext>
            </p:extLst>
          </p:nvPr>
        </p:nvGraphicFramePr>
        <p:xfrm>
          <a:off x="7092275" y="3064762"/>
          <a:ext cx="1416969" cy="878717"/>
        </p:xfrm>
        <a:graphic>
          <a:graphicData uri="http://schemas.openxmlformats.org/presentationml/2006/ole">
            <mc:AlternateContent xmlns:mc="http://schemas.openxmlformats.org/markup-compatibility/2006">
              <mc:Choice xmlns:v="urn:schemas-microsoft-com:vml" Requires="v">
                <p:oleObj name="Equation" r:id="rId13" imgW="693462" imgH="429444" progId="Equation.DSMT4">
                  <p:embed/>
                </p:oleObj>
              </mc:Choice>
              <mc:Fallback>
                <p:oleObj name="Equation" r:id="rId13" imgW="693462" imgH="429444" progId="Equation.DSMT4">
                  <p:embed/>
                  <p:pic>
                    <p:nvPicPr>
                      <p:cNvPr id="0" name=""/>
                      <p:cNvPicPr/>
                      <p:nvPr/>
                    </p:nvPicPr>
                    <p:blipFill>
                      <a:blip r:embed="rId14"/>
                      <a:stretch>
                        <a:fillRect/>
                      </a:stretch>
                    </p:blipFill>
                    <p:spPr>
                      <a:xfrm>
                        <a:off x="7092275" y="3064762"/>
                        <a:ext cx="1416969" cy="87871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43084E5-C31C-1B1F-E3D6-90BB26F17971}"/>
              </a:ext>
            </a:extLst>
          </p:cNvPr>
          <p:cNvGraphicFramePr>
            <a:graphicFrameLocks noChangeAspect="1"/>
          </p:cNvGraphicFramePr>
          <p:nvPr>
            <p:extLst>
              <p:ext uri="{D42A27DB-BD31-4B8C-83A1-F6EECF244321}">
                <p14:modId xmlns:p14="http://schemas.microsoft.com/office/powerpoint/2010/main" val="3320882906"/>
              </p:ext>
            </p:extLst>
          </p:nvPr>
        </p:nvGraphicFramePr>
        <p:xfrm>
          <a:off x="7092275" y="4122579"/>
          <a:ext cx="1825525" cy="466919"/>
        </p:xfrm>
        <a:graphic>
          <a:graphicData uri="http://schemas.openxmlformats.org/presentationml/2006/ole">
            <mc:AlternateContent xmlns:mc="http://schemas.openxmlformats.org/markup-compatibility/2006">
              <mc:Choice xmlns:v="urn:schemas-microsoft-com:vml" Requires="v">
                <p:oleObj name="Equation" r:id="rId15" imgW="893133" imgH="228965" progId="Equation.DSMT4">
                  <p:embed/>
                </p:oleObj>
              </mc:Choice>
              <mc:Fallback>
                <p:oleObj name="Equation" r:id="rId15" imgW="893133" imgH="228965" progId="Equation.DSMT4">
                  <p:embed/>
                  <p:pic>
                    <p:nvPicPr>
                      <p:cNvPr id="0" name=""/>
                      <p:cNvPicPr/>
                      <p:nvPr/>
                    </p:nvPicPr>
                    <p:blipFill>
                      <a:blip r:embed="rId16"/>
                      <a:stretch>
                        <a:fillRect/>
                      </a:stretch>
                    </p:blipFill>
                    <p:spPr>
                      <a:xfrm>
                        <a:off x="7092275" y="4122579"/>
                        <a:ext cx="1825525" cy="466919"/>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A4CD494B-F096-8F39-3517-3ED1099D7F9D}"/>
              </a:ext>
            </a:extLst>
          </p:cNvPr>
          <p:cNvGraphicFramePr>
            <a:graphicFrameLocks noChangeAspect="1"/>
          </p:cNvGraphicFramePr>
          <p:nvPr>
            <p:extLst>
              <p:ext uri="{D42A27DB-BD31-4B8C-83A1-F6EECF244321}">
                <p14:modId xmlns:p14="http://schemas.microsoft.com/office/powerpoint/2010/main" val="2068968577"/>
              </p:ext>
            </p:extLst>
          </p:nvPr>
        </p:nvGraphicFramePr>
        <p:xfrm>
          <a:off x="2072179" y="5357708"/>
          <a:ext cx="8025405" cy="1030954"/>
        </p:xfrm>
        <a:graphic>
          <a:graphicData uri="http://schemas.openxmlformats.org/presentationml/2006/ole">
            <mc:AlternateContent xmlns:mc="http://schemas.openxmlformats.org/markup-compatibility/2006">
              <mc:Choice xmlns:v="urn:schemas-microsoft-com:vml" Requires="v">
                <p:oleObj name="Equation" r:id="rId17" imgW="3496759" imgH="448554" progId="Equation.DSMT4">
                  <p:embed/>
                </p:oleObj>
              </mc:Choice>
              <mc:Fallback>
                <p:oleObj name="Equation" r:id="rId17" imgW="3496759" imgH="448554" progId="Equation.DSMT4">
                  <p:embed/>
                  <p:pic>
                    <p:nvPicPr>
                      <p:cNvPr id="0" name=""/>
                      <p:cNvPicPr/>
                      <p:nvPr/>
                    </p:nvPicPr>
                    <p:blipFill>
                      <a:blip r:embed="rId18"/>
                      <a:stretch>
                        <a:fillRect/>
                      </a:stretch>
                    </p:blipFill>
                    <p:spPr>
                      <a:xfrm>
                        <a:off x="2072179" y="5357708"/>
                        <a:ext cx="8025405" cy="1030954"/>
                      </a:xfrm>
                      <a:prstGeom prst="rect">
                        <a:avLst/>
                      </a:prstGeom>
                      <a:solidFill>
                        <a:schemeClr val="accent4"/>
                      </a:solidFill>
                    </p:spPr>
                  </p:pic>
                </p:oleObj>
              </mc:Fallback>
            </mc:AlternateContent>
          </a:graphicData>
        </a:graphic>
      </p:graphicFrame>
      <p:cxnSp>
        <p:nvCxnSpPr>
          <p:cNvPr id="18" name="直接箭头连接符 17">
            <a:extLst>
              <a:ext uri="{FF2B5EF4-FFF2-40B4-BE49-F238E27FC236}">
                <a16:creationId xmlns:a16="http://schemas.microsoft.com/office/drawing/2014/main" id="{24AADC4B-C691-41BA-7F5F-935E6C360A97}"/>
              </a:ext>
            </a:extLst>
          </p:cNvPr>
          <p:cNvCxnSpPr>
            <a:cxnSpLocks/>
          </p:cNvCxnSpPr>
          <p:nvPr/>
        </p:nvCxnSpPr>
        <p:spPr>
          <a:xfrm>
            <a:off x="5099727" y="3558540"/>
            <a:ext cx="142299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9323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3A7F0-5882-B1D4-BE1C-77C96B71BCB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F46D0E3-F8A2-2C53-2300-23D458967967}"/>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非线性支持向量机</a:t>
            </a:r>
          </a:p>
        </p:txBody>
      </p:sp>
      <p:sp>
        <p:nvSpPr>
          <p:cNvPr id="15" name="Rectangle 3">
            <a:extLst>
              <a:ext uri="{FF2B5EF4-FFF2-40B4-BE49-F238E27FC236}">
                <a16:creationId xmlns:a16="http://schemas.microsoft.com/office/drawing/2014/main" id="{495035F3-8FE1-A8E0-4EA5-E32A37057D4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文本框 4">
            <a:extLst>
              <a:ext uri="{FF2B5EF4-FFF2-40B4-BE49-F238E27FC236}">
                <a16:creationId xmlns:a16="http://schemas.microsoft.com/office/drawing/2014/main" id="{CF96D684-85A7-4AB8-EB76-B1C4ACD6AC4D}"/>
              </a:ext>
            </a:extLst>
          </p:cNvPr>
          <p:cNvSpPr txBox="1"/>
          <p:nvPr/>
        </p:nvSpPr>
        <p:spPr>
          <a:xfrm>
            <a:off x="453315" y="1320950"/>
            <a:ext cx="11342445" cy="1200329"/>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在现实任务中，原始样本空间内可能并不存在一个能正确划分两类样本的超平面，由于</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特征维度的提高</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通常能提升样本之间的可区分性，所以针对上述问题，非线性</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将原始样本特征映射至某个高维空间中，使得映射后的样本之间线性可分。</a:t>
            </a:r>
          </a:p>
        </p:txBody>
      </p:sp>
      <p:pic>
        <p:nvPicPr>
          <p:cNvPr id="7" name="图片 6">
            <a:extLst>
              <a:ext uri="{FF2B5EF4-FFF2-40B4-BE49-F238E27FC236}">
                <a16:creationId xmlns:a16="http://schemas.microsoft.com/office/drawing/2014/main" id="{93784FBC-6692-DED0-8651-1885AB4E3CF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7025" y="2719538"/>
            <a:ext cx="9326286" cy="3695700"/>
          </a:xfrm>
          <a:prstGeom prst="rect">
            <a:avLst/>
          </a:prstGeom>
          <a:noFill/>
        </p:spPr>
      </p:pic>
    </p:spTree>
    <p:extLst>
      <p:ext uri="{BB962C8B-B14F-4D97-AF65-F5344CB8AC3E}">
        <p14:creationId xmlns:p14="http://schemas.microsoft.com/office/powerpoint/2010/main" val="8080673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202B-85A9-A001-6865-8F263EE8050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BEB3129-5353-5080-0AE6-8758755649B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非线性支持向量机</a:t>
            </a:r>
          </a:p>
        </p:txBody>
      </p:sp>
      <p:sp>
        <p:nvSpPr>
          <p:cNvPr id="15" name="Rectangle 3">
            <a:extLst>
              <a:ext uri="{FF2B5EF4-FFF2-40B4-BE49-F238E27FC236}">
                <a16:creationId xmlns:a16="http://schemas.microsoft.com/office/drawing/2014/main" id="{3C93BF6F-B5B4-3F37-3DD2-CF1E41BF0DC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文本框 7">
            <a:extLst>
              <a:ext uri="{FF2B5EF4-FFF2-40B4-BE49-F238E27FC236}">
                <a16:creationId xmlns:a16="http://schemas.microsoft.com/office/drawing/2014/main" id="{B4B268C4-B79A-FED8-57F0-7B8FED658FF2}"/>
              </a:ext>
            </a:extLst>
          </p:cNvPr>
          <p:cNvSpPr txBox="1"/>
          <p:nvPr/>
        </p:nvSpPr>
        <p:spPr>
          <a:xfrm>
            <a:off x="261547" y="1225246"/>
            <a:ext cx="11668906" cy="954107"/>
          </a:xfrm>
          <a:prstGeom prst="rect">
            <a:avLst/>
          </a:prstGeom>
          <a:noFill/>
        </p:spPr>
        <p:txBody>
          <a:bodyPr wrap="square">
            <a:spAutoFit/>
          </a:bodyPr>
          <a:lstStyle/>
          <a:p>
            <a:r>
              <a:rPr lang="zh-CN"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核函数（</a:t>
            </a:r>
            <a:r>
              <a:rPr lang="en-US" altLang="zh-CN" sz="2800" b="1" kern="100" dirty="0">
                <a:solidFill>
                  <a:srgbClr val="FF0000"/>
                </a:solidFill>
                <a:effectLst/>
                <a:latin typeface="Times New Roman" panose="02020603050405020304" pitchFamily="18" charset="0"/>
                <a:ea typeface="楷体" panose="02010609060101010101" pitchFamily="49" charset="-122"/>
              </a:rPr>
              <a:t>Kernel function</a:t>
            </a:r>
            <a:r>
              <a:rPr lang="zh-CN" altLang="zh-CN" sz="28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kern="100" dirty="0">
                <a:solidFill>
                  <a:srgbClr val="FF0000"/>
                </a:solidFill>
                <a:effectLst/>
                <a:ea typeface="Times New Roman" panose="02020603050405020304" pitchFamily="18" charset="0"/>
              </a:rPr>
              <a:t>  </a:t>
            </a:r>
            <a:endParaRPr lang="en-US" altLang="zh-CN" sz="2800" kern="100" dirty="0">
              <a:solidFill>
                <a:srgbClr val="FF0000"/>
              </a:solidFill>
              <a:effectLst/>
              <a:ea typeface="Times New Roman" panose="02020603050405020304" pitchFamily="18" charset="0"/>
            </a:endParaRPr>
          </a:p>
          <a:p>
            <a:r>
              <a:rPr lang="zh-CN" altLang="zh-CN" sz="2800" kern="100" dirty="0">
                <a:effectLst/>
                <a:latin typeface="Times New Roman" panose="02020603050405020304" pitchFamily="18" charset="0"/>
                <a:ea typeface="楷体" panose="02010609060101010101" pitchFamily="49" charset="-122"/>
                <a:cs typeface="Times New Roman" panose="02020603050405020304" pitchFamily="18" charset="0"/>
              </a:rPr>
              <a:t>是用于测量两个样本在高维特征空间中的相似性的函数。</a:t>
            </a:r>
            <a:endParaRPr lang="zh-CN" altLang="en-US" sz="2800" dirty="0"/>
          </a:p>
        </p:txBody>
      </p:sp>
      <p:pic>
        <p:nvPicPr>
          <p:cNvPr id="13" name="图片 12">
            <a:extLst>
              <a:ext uri="{FF2B5EF4-FFF2-40B4-BE49-F238E27FC236}">
                <a16:creationId xmlns:a16="http://schemas.microsoft.com/office/drawing/2014/main" id="{3255434C-9A66-D4BF-F313-F270C4798D7E}"/>
              </a:ext>
            </a:extLst>
          </p:cNvPr>
          <p:cNvPicPr>
            <a:picLocks noChangeAspect="1"/>
          </p:cNvPicPr>
          <p:nvPr/>
        </p:nvPicPr>
        <p:blipFill>
          <a:blip r:embed="rId3"/>
          <a:stretch>
            <a:fillRect/>
          </a:stretch>
        </p:blipFill>
        <p:spPr>
          <a:xfrm>
            <a:off x="705975" y="2487522"/>
            <a:ext cx="10410568" cy="1972591"/>
          </a:xfrm>
          <a:prstGeom prst="rect">
            <a:avLst/>
          </a:prstGeom>
        </p:spPr>
      </p:pic>
      <p:graphicFrame>
        <p:nvGraphicFramePr>
          <p:cNvPr id="14" name="对象 13">
            <a:extLst>
              <a:ext uri="{FF2B5EF4-FFF2-40B4-BE49-F238E27FC236}">
                <a16:creationId xmlns:a16="http://schemas.microsoft.com/office/drawing/2014/main" id="{A8D15A64-E8C6-6380-A59C-A7847096FC8D}"/>
              </a:ext>
            </a:extLst>
          </p:cNvPr>
          <p:cNvGraphicFramePr>
            <a:graphicFrameLocks noChangeAspect="1"/>
          </p:cNvGraphicFramePr>
          <p:nvPr>
            <p:extLst>
              <p:ext uri="{D42A27DB-BD31-4B8C-83A1-F6EECF244321}">
                <p14:modId xmlns:p14="http://schemas.microsoft.com/office/powerpoint/2010/main" val="2256052200"/>
              </p:ext>
            </p:extLst>
          </p:nvPr>
        </p:nvGraphicFramePr>
        <p:xfrm>
          <a:off x="3575050" y="4521707"/>
          <a:ext cx="4745961" cy="1972591"/>
        </p:xfrm>
        <a:graphic>
          <a:graphicData uri="http://schemas.openxmlformats.org/presentationml/2006/ole">
            <mc:AlternateContent xmlns:mc="http://schemas.openxmlformats.org/markup-compatibility/2006">
              <mc:Choice xmlns:v="urn:schemas-microsoft-com:vml" Requires="v">
                <p:oleObj name="Equation" r:id="rId4" imgW="2821971" imgH="1173308" progId="Equation.DSMT4">
                  <p:embed/>
                </p:oleObj>
              </mc:Choice>
              <mc:Fallback>
                <p:oleObj name="Equation" r:id="rId4" imgW="2821971" imgH="1173308" progId="Equation.DSMT4">
                  <p:embed/>
                  <p:pic>
                    <p:nvPicPr>
                      <p:cNvPr id="0" name=""/>
                      <p:cNvPicPr/>
                      <p:nvPr/>
                    </p:nvPicPr>
                    <p:blipFill>
                      <a:blip r:embed="rId5"/>
                      <a:stretch>
                        <a:fillRect/>
                      </a:stretch>
                    </p:blipFill>
                    <p:spPr>
                      <a:xfrm>
                        <a:off x="3575050" y="4521707"/>
                        <a:ext cx="4745961" cy="1972591"/>
                      </a:xfrm>
                      <a:prstGeom prst="rect">
                        <a:avLst/>
                      </a:prstGeom>
                    </p:spPr>
                  </p:pic>
                </p:oleObj>
              </mc:Fallback>
            </mc:AlternateContent>
          </a:graphicData>
        </a:graphic>
      </p:graphicFrame>
    </p:spTree>
    <p:extLst>
      <p:ext uri="{BB962C8B-B14F-4D97-AF65-F5344CB8AC3E}">
        <p14:creationId xmlns:p14="http://schemas.microsoft.com/office/powerpoint/2010/main" val="38845159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26D5B-C11F-14F2-2662-D529B9796BF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7BED1CC-2C01-AD75-C920-93292B38006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常用的核函数</a:t>
            </a:r>
          </a:p>
        </p:txBody>
      </p:sp>
      <p:sp>
        <p:nvSpPr>
          <p:cNvPr id="15" name="Rectangle 3">
            <a:extLst>
              <a:ext uri="{FF2B5EF4-FFF2-40B4-BE49-F238E27FC236}">
                <a16:creationId xmlns:a16="http://schemas.microsoft.com/office/drawing/2014/main" id="{63863123-60EA-1744-A1D2-7F068F83E47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B3576F40-6BCE-4CD6-56F3-42968FA1B5D9}"/>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9AEB4083-CED5-3EA7-2F2F-FD74AEDB129D}"/>
              </a:ext>
            </a:extLst>
          </p:cNvPr>
          <p:cNvSpPr txBox="1"/>
          <p:nvPr/>
        </p:nvSpPr>
        <p:spPr>
          <a:xfrm>
            <a:off x="494982" y="1648779"/>
            <a:ext cx="11018770" cy="1134862"/>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适用于数据线性可分的情况。在线性核中，特征空间与输入空间重合，相当于并没有将样本映射到更高维度的空间，因此它不能解决非线性问题。</a:t>
            </a:r>
          </a:p>
        </p:txBody>
      </p:sp>
      <p:graphicFrame>
        <p:nvGraphicFramePr>
          <p:cNvPr id="7" name="对象 6">
            <a:extLst>
              <a:ext uri="{FF2B5EF4-FFF2-40B4-BE49-F238E27FC236}">
                <a16:creationId xmlns:a16="http://schemas.microsoft.com/office/drawing/2014/main" id="{5F31A7BE-7125-5AF9-EC2E-4504F62BA8D1}"/>
              </a:ext>
            </a:extLst>
          </p:cNvPr>
          <p:cNvGraphicFramePr>
            <a:graphicFrameLocks noChangeAspect="1"/>
          </p:cNvGraphicFramePr>
          <p:nvPr>
            <p:extLst>
              <p:ext uri="{D42A27DB-BD31-4B8C-83A1-F6EECF244321}">
                <p14:modId xmlns:p14="http://schemas.microsoft.com/office/powerpoint/2010/main" val="804614589"/>
              </p:ext>
            </p:extLst>
          </p:nvPr>
        </p:nvGraphicFramePr>
        <p:xfrm>
          <a:off x="4513483" y="3028633"/>
          <a:ext cx="2981768" cy="781367"/>
        </p:xfrm>
        <a:graphic>
          <a:graphicData uri="http://schemas.openxmlformats.org/presentationml/2006/ole">
            <mc:AlternateContent xmlns:mc="http://schemas.openxmlformats.org/markup-compatibility/2006">
              <mc:Choice xmlns:v="urn:schemas-microsoft-com:vml" Requires="v">
                <p:oleObj name="Equation" r:id="rId3" imgW="1054738" imgH="276560" progId="Equation.DSMT4">
                  <p:embed/>
                </p:oleObj>
              </mc:Choice>
              <mc:Fallback>
                <p:oleObj name="Equation" r:id="rId3" imgW="1054738" imgH="276560" progId="Equation.DSMT4">
                  <p:embed/>
                  <p:pic>
                    <p:nvPicPr>
                      <p:cNvPr id="0" name=""/>
                      <p:cNvPicPr/>
                      <p:nvPr/>
                    </p:nvPicPr>
                    <p:blipFill>
                      <a:blip r:embed="rId4"/>
                      <a:stretch>
                        <a:fillRect/>
                      </a:stretch>
                    </p:blipFill>
                    <p:spPr>
                      <a:xfrm>
                        <a:off x="4513483" y="3028633"/>
                        <a:ext cx="2981768" cy="781367"/>
                      </a:xfrm>
                      <a:prstGeom prst="rect">
                        <a:avLst/>
                      </a:prstGeom>
                    </p:spPr>
                  </p:pic>
                </p:oleObj>
              </mc:Fallback>
            </mc:AlternateContent>
          </a:graphicData>
        </a:graphic>
      </p:graphicFrame>
      <p:pic>
        <p:nvPicPr>
          <p:cNvPr id="8" name="图片 7">
            <a:extLst>
              <a:ext uri="{FF2B5EF4-FFF2-40B4-BE49-F238E27FC236}">
                <a16:creationId xmlns:a16="http://schemas.microsoft.com/office/drawing/2014/main" id="{0E25534D-B10A-05F3-CD91-3E298E19C92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81266" y="4171992"/>
            <a:ext cx="7867334" cy="2579328"/>
          </a:xfrm>
          <a:prstGeom prst="rect">
            <a:avLst/>
          </a:prstGeom>
          <a:noFill/>
          <a:ln>
            <a:noFill/>
          </a:ln>
        </p:spPr>
      </p:pic>
      <p:sp>
        <p:nvSpPr>
          <p:cNvPr id="9" name="矩形: 圆角 55">
            <a:extLst>
              <a:ext uri="{FF2B5EF4-FFF2-40B4-BE49-F238E27FC236}">
                <a16:creationId xmlns:a16="http://schemas.microsoft.com/office/drawing/2014/main" id="{AFC9A9B7-064A-8D59-0A2A-53AA877029B6}"/>
              </a:ext>
            </a:extLst>
          </p:cNvPr>
          <p:cNvSpPr/>
          <p:nvPr/>
        </p:nvSpPr>
        <p:spPr>
          <a:xfrm>
            <a:off x="636400" y="956621"/>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线性核函数</a:t>
            </a:r>
          </a:p>
        </p:txBody>
      </p:sp>
    </p:spTree>
    <p:extLst>
      <p:ext uri="{BB962C8B-B14F-4D97-AF65-F5344CB8AC3E}">
        <p14:creationId xmlns:p14="http://schemas.microsoft.com/office/powerpoint/2010/main" val="289492779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88783-DCCB-9BB3-06EC-021515FEE53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A569054-F717-21E9-41CB-B24C081850AE}"/>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常用的核函数</a:t>
            </a:r>
          </a:p>
        </p:txBody>
      </p:sp>
      <p:sp>
        <p:nvSpPr>
          <p:cNvPr id="15" name="Rectangle 3">
            <a:extLst>
              <a:ext uri="{FF2B5EF4-FFF2-40B4-BE49-F238E27FC236}">
                <a16:creationId xmlns:a16="http://schemas.microsoft.com/office/drawing/2014/main" id="{080E42A7-EA20-621A-9C61-5A84AC76F69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08A64E6A-698C-34B2-8701-121B1DDC9A51}"/>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3DECD844-0BDD-434E-C763-11A42E3CA8A9}"/>
              </a:ext>
            </a:extLst>
          </p:cNvPr>
          <p:cNvSpPr txBox="1"/>
          <p:nvPr/>
        </p:nvSpPr>
        <p:spPr>
          <a:xfrm>
            <a:off x="494982" y="1648779"/>
            <a:ext cx="11018770" cy="1688860"/>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多项式核给输入的数据特征添加多项式项，通过升维使得原本线性不可分的数据线性可分，因此它可以解决非线性问题。但多项式核的计算复杂度较高，且需要设置的参数较多。</a:t>
            </a:r>
          </a:p>
        </p:txBody>
      </p:sp>
      <p:sp>
        <p:nvSpPr>
          <p:cNvPr id="2" name="矩形: 圆角 55">
            <a:extLst>
              <a:ext uri="{FF2B5EF4-FFF2-40B4-BE49-F238E27FC236}">
                <a16:creationId xmlns:a16="http://schemas.microsoft.com/office/drawing/2014/main" id="{823DCB4F-C622-0A1C-79A2-C6E58C9E290C}"/>
              </a:ext>
            </a:extLst>
          </p:cNvPr>
          <p:cNvSpPr/>
          <p:nvPr/>
        </p:nvSpPr>
        <p:spPr>
          <a:xfrm>
            <a:off x="588273" y="956621"/>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多项式核</a:t>
            </a:r>
          </a:p>
        </p:txBody>
      </p:sp>
      <p:graphicFrame>
        <p:nvGraphicFramePr>
          <p:cNvPr id="9" name="对象 8">
            <a:extLst>
              <a:ext uri="{FF2B5EF4-FFF2-40B4-BE49-F238E27FC236}">
                <a16:creationId xmlns:a16="http://schemas.microsoft.com/office/drawing/2014/main" id="{6C5785A2-509A-1EF2-57F7-A2F53C2336BE}"/>
              </a:ext>
            </a:extLst>
          </p:cNvPr>
          <p:cNvGraphicFramePr>
            <a:graphicFrameLocks noChangeAspect="1"/>
          </p:cNvGraphicFramePr>
          <p:nvPr>
            <p:extLst>
              <p:ext uri="{D42A27DB-BD31-4B8C-83A1-F6EECF244321}">
                <p14:modId xmlns:p14="http://schemas.microsoft.com/office/powerpoint/2010/main" val="3713255271"/>
              </p:ext>
            </p:extLst>
          </p:nvPr>
        </p:nvGraphicFramePr>
        <p:xfrm>
          <a:off x="3125441" y="3144649"/>
          <a:ext cx="6292879" cy="781557"/>
        </p:xfrm>
        <a:graphic>
          <a:graphicData uri="http://schemas.openxmlformats.org/presentationml/2006/ole">
            <mc:AlternateContent xmlns:mc="http://schemas.openxmlformats.org/markup-compatibility/2006">
              <mc:Choice xmlns:v="urn:schemas-microsoft-com:vml" Requires="v">
                <p:oleObj name="Equation" r:id="rId3" imgW="2223317" imgH="276560" progId="Equation.DSMT4">
                  <p:embed/>
                </p:oleObj>
              </mc:Choice>
              <mc:Fallback>
                <p:oleObj name="Equation" r:id="rId3" imgW="2223317" imgH="276560" progId="Equation.DSMT4">
                  <p:embed/>
                  <p:pic>
                    <p:nvPicPr>
                      <p:cNvPr id="0" name=""/>
                      <p:cNvPicPr/>
                      <p:nvPr/>
                    </p:nvPicPr>
                    <p:blipFill>
                      <a:blip r:embed="rId4"/>
                      <a:stretch>
                        <a:fillRect/>
                      </a:stretch>
                    </p:blipFill>
                    <p:spPr>
                      <a:xfrm>
                        <a:off x="3125441" y="3144649"/>
                        <a:ext cx="6292879" cy="781557"/>
                      </a:xfrm>
                      <a:prstGeom prst="rect">
                        <a:avLst/>
                      </a:prstGeom>
                    </p:spPr>
                  </p:pic>
                </p:oleObj>
              </mc:Fallback>
            </mc:AlternateContent>
          </a:graphicData>
        </a:graphic>
      </p:graphicFrame>
      <p:pic>
        <p:nvPicPr>
          <p:cNvPr id="10" name="图片 9">
            <a:extLst>
              <a:ext uri="{FF2B5EF4-FFF2-40B4-BE49-F238E27FC236}">
                <a16:creationId xmlns:a16="http://schemas.microsoft.com/office/drawing/2014/main" id="{EE3F6028-DC8A-93BC-31E3-8E18223560F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14870" y="4153456"/>
            <a:ext cx="7926412" cy="2597863"/>
          </a:xfrm>
          <a:prstGeom prst="rect">
            <a:avLst/>
          </a:prstGeom>
          <a:noFill/>
          <a:ln>
            <a:noFill/>
          </a:ln>
        </p:spPr>
      </p:pic>
    </p:spTree>
    <p:extLst>
      <p:ext uri="{BB962C8B-B14F-4D97-AF65-F5344CB8AC3E}">
        <p14:creationId xmlns:p14="http://schemas.microsoft.com/office/powerpoint/2010/main" val="38730972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514B1-3612-DD9D-6E65-5DB0E8C6FD5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55998903-930B-3189-DB1F-50E0785C993A}"/>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常用的核函数</a:t>
            </a:r>
          </a:p>
        </p:txBody>
      </p:sp>
      <p:sp>
        <p:nvSpPr>
          <p:cNvPr id="15" name="Rectangle 3">
            <a:extLst>
              <a:ext uri="{FF2B5EF4-FFF2-40B4-BE49-F238E27FC236}">
                <a16:creationId xmlns:a16="http://schemas.microsoft.com/office/drawing/2014/main" id="{E8300539-D5E9-EA5C-02F6-6B76F18B8FA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FE5CD484-EEE2-1E18-95DF-06D63818AF36}"/>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B772B27C-F16B-E4AF-506E-B6F14F93105B}"/>
              </a:ext>
            </a:extLst>
          </p:cNvPr>
          <p:cNvSpPr txBox="1"/>
          <p:nvPr/>
        </p:nvSpPr>
        <p:spPr>
          <a:xfrm>
            <a:off x="494982" y="1648779"/>
            <a:ext cx="11018770" cy="1688860"/>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高斯核又名径向基函数（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Radial Basis Function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RBF</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），它是一种常用的核函数，其通过计算两个样本之间的高斯距离来衡量样本之间的相似度，将原始的特征空间映射到更高维的特征空间，使得决策边界更为多样。</a:t>
            </a:r>
          </a:p>
        </p:txBody>
      </p:sp>
      <p:sp>
        <p:nvSpPr>
          <p:cNvPr id="2" name="矩形: 圆角 55">
            <a:extLst>
              <a:ext uri="{FF2B5EF4-FFF2-40B4-BE49-F238E27FC236}">
                <a16:creationId xmlns:a16="http://schemas.microsoft.com/office/drawing/2014/main" id="{C4A04214-6306-2ACA-D264-6FA9A6AABFC7}"/>
              </a:ext>
            </a:extLst>
          </p:cNvPr>
          <p:cNvSpPr/>
          <p:nvPr/>
        </p:nvSpPr>
        <p:spPr>
          <a:xfrm>
            <a:off x="655649" y="956621"/>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高斯核</a:t>
            </a:r>
          </a:p>
        </p:txBody>
      </p:sp>
      <p:graphicFrame>
        <p:nvGraphicFramePr>
          <p:cNvPr id="7" name="对象 6">
            <a:extLst>
              <a:ext uri="{FF2B5EF4-FFF2-40B4-BE49-F238E27FC236}">
                <a16:creationId xmlns:a16="http://schemas.microsoft.com/office/drawing/2014/main" id="{81A2AC2E-8FC1-C6FC-CF7A-D013DFE96243}"/>
              </a:ext>
            </a:extLst>
          </p:cNvPr>
          <p:cNvGraphicFramePr>
            <a:graphicFrameLocks noChangeAspect="1"/>
          </p:cNvGraphicFramePr>
          <p:nvPr>
            <p:extLst>
              <p:ext uri="{D42A27DB-BD31-4B8C-83A1-F6EECF244321}">
                <p14:modId xmlns:p14="http://schemas.microsoft.com/office/powerpoint/2010/main" val="2694234972"/>
              </p:ext>
            </p:extLst>
          </p:nvPr>
        </p:nvGraphicFramePr>
        <p:xfrm>
          <a:off x="3306828" y="3275212"/>
          <a:ext cx="5742495" cy="889160"/>
        </p:xfrm>
        <a:graphic>
          <a:graphicData uri="http://schemas.openxmlformats.org/presentationml/2006/ole">
            <mc:AlternateContent xmlns:mc="http://schemas.openxmlformats.org/markup-compatibility/2006">
              <mc:Choice xmlns:v="urn:schemas-microsoft-com:vml" Requires="v">
                <p:oleObj name="Equation" r:id="rId3" imgW="2213980" imgH="343627" progId="Equation.DSMT4">
                  <p:embed/>
                </p:oleObj>
              </mc:Choice>
              <mc:Fallback>
                <p:oleObj name="Equation" r:id="rId3" imgW="2213980" imgH="343627" progId="Equation.DSMT4">
                  <p:embed/>
                  <p:pic>
                    <p:nvPicPr>
                      <p:cNvPr id="0" name=""/>
                      <p:cNvPicPr/>
                      <p:nvPr/>
                    </p:nvPicPr>
                    <p:blipFill>
                      <a:blip r:embed="rId4"/>
                      <a:stretch>
                        <a:fillRect/>
                      </a:stretch>
                    </p:blipFill>
                    <p:spPr>
                      <a:xfrm>
                        <a:off x="3306828" y="3275212"/>
                        <a:ext cx="5742495" cy="889160"/>
                      </a:xfrm>
                      <a:prstGeom prst="rect">
                        <a:avLst/>
                      </a:prstGeom>
                    </p:spPr>
                  </p:pic>
                </p:oleObj>
              </mc:Fallback>
            </mc:AlternateContent>
          </a:graphicData>
        </a:graphic>
      </p:graphicFrame>
      <p:pic>
        <p:nvPicPr>
          <p:cNvPr id="8" name="图片 7">
            <a:extLst>
              <a:ext uri="{FF2B5EF4-FFF2-40B4-BE49-F238E27FC236}">
                <a16:creationId xmlns:a16="http://schemas.microsoft.com/office/drawing/2014/main" id="{A05BEBE1-1475-6C93-4BDD-17729272989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2794" y="4260137"/>
            <a:ext cx="7926412" cy="2597863"/>
          </a:xfrm>
          <a:prstGeom prst="rect">
            <a:avLst/>
          </a:prstGeom>
          <a:noFill/>
          <a:ln>
            <a:noFill/>
          </a:ln>
        </p:spPr>
      </p:pic>
    </p:spTree>
    <p:extLst>
      <p:ext uri="{BB962C8B-B14F-4D97-AF65-F5344CB8AC3E}">
        <p14:creationId xmlns:p14="http://schemas.microsoft.com/office/powerpoint/2010/main" val="18346652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F0B90-C2A8-9CE6-C606-E40BCEAC8B33}"/>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DF420F76-EE3E-E5AA-4393-C53D1643EB6F}"/>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常用的核函数</a:t>
            </a:r>
          </a:p>
        </p:txBody>
      </p:sp>
      <p:sp>
        <p:nvSpPr>
          <p:cNvPr id="15" name="Rectangle 3">
            <a:extLst>
              <a:ext uri="{FF2B5EF4-FFF2-40B4-BE49-F238E27FC236}">
                <a16:creationId xmlns:a16="http://schemas.microsoft.com/office/drawing/2014/main" id="{279D4A82-2154-06A0-C45B-678FC17A207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C61110A7-1982-1B14-4A33-70E080158C6E}"/>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02877FD0-A4F9-EAB9-19B0-30492A12C82C}"/>
              </a:ext>
            </a:extLst>
          </p:cNvPr>
          <p:cNvSpPr txBox="1"/>
          <p:nvPr/>
        </p:nvSpPr>
        <p:spPr>
          <a:xfrm>
            <a:off x="494982" y="1648779"/>
            <a:ext cx="11018770" cy="1688860"/>
          </a:xfrm>
          <a:prstGeom prst="rect">
            <a:avLst/>
          </a:prstGeom>
          <a:noFill/>
        </p:spPr>
        <p:txBody>
          <a:bodyPr wrap="square">
            <a:spAutoFit/>
          </a:bodyPr>
          <a:lstStyle/>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核通过对样本之间的内积应用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函数（ ）来衡量样本之间的相似度。基于</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核的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最终求解的是全局最优值，模型有较好的泛化能力，不易过拟合，但使用该核函数不能处理多分类问题。</a:t>
            </a:r>
          </a:p>
        </p:txBody>
      </p:sp>
      <p:sp>
        <p:nvSpPr>
          <p:cNvPr id="2" name="矩形: 圆角 55">
            <a:extLst>
              <a:ext uri="{FF2B5EF4-FFF2-40B4-BE49-F238E27FC236}">
                <a16:creationId xmlns:a16="http://schemas.microsoft.com/office/drawing/2014/main" id="{C9172D36-63EE-FC7F-C98C-9A95EA177CCC}"/>
              </a:ext>
            </a:extLst>
          </p:cNvPr>
          <p:cNvSpPr/>
          <p:nvPr/>
        </p:nvSpPr>
        <p:spPr>
          <a:xfrm>
            <a:off x="636398" y="956621"/>
            <a:ext cx="2337679" cy="58476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Sigmoid</a:t>
            </a: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核</a:t>
            </a:r>
          </a:p>
        </p:txBody>
      </p:sp>
      <p:graphicFrame>
        <p:nvGraphicFramePr>
          <p:cNvPr id="9" name="对象 8">
            <a:extLst>
              <a:ext uri="{FF2B5EF4-FFF2-40B4-BE49-F238E27FC236}">
                <a16:creationId xmlns:a16="http://schemas.microsoft.com/office/drawing/2014/main" id="{A3995095-9B69-4F1F-FC1C-FA03F9DF4DF1}"/>
              </a:ext>
            </a:extLst>
          </p:cNvPr>
          <p:cNvGraphicFramePr>
            <a:graphicFrameLocks noChangeAspect="1"/>
          </p:cNvGraphicFramePr>
          <p:nvPr>
            <p:extLst>
              <p:ext uri="{D42A27DB-BD31-4B8C-83A1-F6EECF244321}">
                <p14:modId xmlns:p14="http://schemas.microsoft.com/office/powerpoint/2010/main" val="2270080867"/>
              </p:ext>
            </p:extLst>
          </p:nvPr>
        </p:nvGraphicFramePr>
        <p:xfrm>
          <a:off x="3826961" y="3337639"/>
          <a:ext cx="4354811" cy="727195"/>
        </p:xfrm>
        <a:graphic>
          <a:graphicData uri="http://schemas.openxmlformats.org/presentationml/2006/ole">
            <mc:AlternateContent xmlns:mc="http://schemas.openxmlformats.org/markup-compatibility/2006">
              <mc:Choice xmlns:v="urn:schemas-microsoft-com:vml" Requires="v">
                <p:oleObj name="Equation" r:id="rId3" imgW="1653392" imgH="276560" progId="Equation.DSMT4">
                  <p:embed/>
                </p:oleObj>
              </mc:Choice>
              <mc:Fallback>
                <p:oleObj name="Equation" r:id="rId3" imgW="1653392" imgH="276560" progId="Equation.DSMT4">
                  <p:embed/>
                  <p:pic>
                    <p:nvPicPr>
                      <p:cNvPr id="0" name=""/>
                      <p:cNvPicPr/>
                      <p:nvPr/>
                    </p:nvPicPr>
                    <p:blipFill>
                      <a:blip r:embed="rId4"/>
                      <a:stretch>
                        <a:fillRect/>
                      </a:stretch>
                    </p:blipFill>
                    <p:spPr>
                      <a:xfrm>
                        <a:off x="3826961" y="3337639"/>
                        <a:ext cx="4354811" cy="727195"/>
                      </a:xfrm>
                      <a:prstGeom prst="rect">
                        <a:avLst/>
                      </a:prstGeom>
                    </p:spPr>
                  </p:pic>
                </p:oleObj>
              </mc:Fallback>
            </mc:AlternateContent>
          </a:graphicData>
        </a:graphic>
      </p:graphicFrame>
      <p:pic>
        <p:nvPicPr>
          <p:cNvPr id="10" name="图片 9">
            <a:extLst>
              <a:ext uri="{FF2B5EF4-FFF2-40B4-BE49-F238E27FC236}">
                <a16:creationId xmlns:a16="http://schemas.microsoft.com/office/drawing/2014/main" id="{CD416286-62F9-DEDD-C2EC-6A7DD372B99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07967" y="4153457"/>
            <a:ext cx="7925935" cy="2597863"/>
          </a:xfrm>
          <a:prstGeom prst="rect">
            <a:avLst/>
          </a:prstGeom>
          <a:noFill/>
          <a:ln>
            <a:noFill/>
          </a:ln>
        </p:spPr>
      </p:pic>
    </p:spTree>
    <p:extLst>
      <p:ext uri="{BB962C8B-B14F-4D97-AF65-F5344CB8AC3E}">
        <p14:creationId xmlns:p14="http://schemas.microsoft.com/office/powerpoint/2010/main" val="54105461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8DAC-B673-4353-40D8-657961795A6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2217CF0-DCC2-44E5-5A0D-3969EA560FAC}"/>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实践案例：不良用户识别</a:t>
            </a:r>
          </a:p>
        </p:txBody>
      </p:sp>
      <p:sp>
        <p:nvSpPr>
          <p:cNvPr id="15" name="Rectangle 3">
            <a:extLst>
              <a:ext uri="{FF2B5EF4-FFF2-40B4-BE49-F238E27FC236}">
                <a16:creationId xmlns:a16="http://schemas.microsoft.com/office/drawing/2014/main" id="{EF0F45D7-A32A-18E1-50F7-27F83F9B1CB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2C004A51-C1AA-CF2A-A8B5-528DA9AA262B}"/>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6DA32EFD-7084-A974-325F-A82DAEC98D7F}"/>
              </a:ext>
            </a:extLst>
          </p:cNvPr>
          <p:cNvSpPr txBox="1"/>
          <p:nvPr/>
        </p:nvSpPr>
        <p:spPr>
          <a:xfrm>
            <a:off x="166155" y="983047"/>
            <a:ext cx="11873445" cy="1938992"/>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本节利用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算法对不良用户进行判断，数据集为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Instagram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上虚假账户和垃圾邮件发送账户的详细信息，共包含</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576</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样本，具体字段包括：主页图片（是否有个人主页图片）、用户名中数字占比、全名中字母数量、全名中数字占比、用户名是否是全名、个人描述文本长度、是否插入外部网址、是否私密（是否为私密账户）、推文数、粉丝数、关注数、是否为不良账户（</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代表否，</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代表是）。</a:t>
            </a:r>
          </a:p>
        </p:txBody>
      </p:sp>
      <p:pic>
        <p:nvPicPr>
          <p:cNvPr id="2" name="图片 1">
            <a:extLst>
              <a:ext uri="{FF2B5EF4-FFF2-40B4-BE49-F238E27FC236}">
                <a16:creationId xmlns:a16="http://schemas.microsoft.com/office/drawing/2014/main" id="{45BED7E4-BC64-854E-15AF-58846E4A48D2}"/>
              </a:ext>
            </a:extLst>
          </p:cNvPr>
          <p:cNvPicPr>
            <a:picLocks noChangeAspect="1"/>
          </p:cNvPicPr>
          <p:nvPr/>
        </p:nvPicPr>
        <p:blipFill>
          <a:blip r:embed="rId3"/>
          <a:stretch>
            <a:fillRect/>
          </a:stretch>
        </p:blipFill>
        <p:spPr>
          <a:xfrm>
            <a:off x="0" y="3006915"/>
            <a:ext cx="12192000" cy="3847253"/>
          </a:xfrm>
          <a:prstGeom prst="rect">
            <a:avLst/>
          </a:prstGeom>
        </p:spPr>
      </p:pic>
    </p:spTree>
    <p:extLst>
      <p:ext uri="{BB962C8B-B14F-4D97-AF65-F5344CB8AC3E}">
        <p14:creationId xmlns:p14="http://schemas.microsoft.com/office/powerpoint/2010/main" val="3243947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7DC9D-830F-624C-17DD-7576EE4717A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B6C7267-53D0-32F3-C99D-8BA94523D83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实践案例：不良用户识别</a:t>
            </a:r>
          </a:p>
        </p:txBody>
      </p:sp>
      <p:sp>
        <p:nvSpPr>
          <p:cNvPr id="15" name="Rectangle 3">
            <a:extLst>
              <a:ext uri="{FF2B5EF4-FFF2-40B4-BE49-F238E27FC236}">
                <a16:creationId xmlns:a16="http://schemas.microsoft.com/office/drawing/2014/main" id="{6B8B8B41-6F4D-567D-0DAC-706E3FCB658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10F6AF56-ED5C-0485-F2E2-33E1F71B6A1C}"/>
              </a:ext>
            </a:extLst>
          </p:cNvPr>
          <p:cNvSpPr>
            <a:spLocks noChangeArrowheads="1"/>
          </p:cNvSpPr>
          <p:nvPr/>
        </p:nvSpPr>
        <p:spPr bwMode="auto">
          <a:xfrm>
            <a:off x="12700" y="13690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DE1B75B8-9A68-1F8D-4F2F-A68D1C2BF9DB}"/>
              </a:ext>
            </a:extLst>
          </p:cNvPr>
          <p:cNvSpPr txBox="1"/>
          <p:nvPr/>
        </p:nvSpPr>
        <p:spPr>
          <a:xfrm>
            <a:off x="12701" y="1398912"/>
            <a:ext cx="4020552" cy="4524315"/>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数据预处理。</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使用样本点到决策超平面的距离来决定样本的类别，因此，在使用时需要对特征进行归一化以确保每个特征的数值范围在同一水平，以消除特征数值范围对决策超平面的影响。在本例中，使用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StandardScaler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方法对特征进行了</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Z-score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归一化处理。</a:t>
            </a:r>
          </a:p>
        </p:txBody>
      </p:sp>
      <p:pic>
        <p:nvPicPr>
          <p:cNvPr id="8" name="图片 7">
            <a:extLst>
              <a:ext uri="{FF2B5EF4-FFF2-40B4-BE49-F238E27FC236}">
                <a16:creationId xmlns:a16="http://schemas.microsoft.com/office/drawing/2014/main" id="{E73728D1-047E-5267-7C8E-DA2E9D08F4DB}"/>
              </a:ext>
            </a:extLst>
          </p:cNvPr>
          <p:cNvPicPr>
            <a:picLocks noChangeAspect="1"/>
          </p:cNvPicPr>
          <p:nvPr/>
        </p:nvPicPr>
        <p:blipFill>
          <a:blip r:embed="rId3"/>
          <a:stretch>
            <a:fillRect/>
          </a:stretch>
        </p:blipFill>
        <p:spPr>
          <a:xfrm>
            <a:off x="4033252" y="1369076"/>
            <a:ext cx="8146048" cy="4804958"/>
          </a:xfrm>
          <a:prstGeom prst="rect">
            <a:avLst/>
          </a:prstGeom>
        </p:spPr>
      </p:pic>
    </p:spTree>
    <p:extLst>
      <p:ext uri="{BB962C8B-B14F-4D97-AF65-F5344CB8AC3E}">
        <p14:creationId xmlns:p14="http://schemas.microsoft.com/office/powerpoint/2010/main" val="5140397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938C9-AFD4-568B-56E4-DA61CFC99BB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1D674A0-544C-F028-99A5-1000F359DD95}"/>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实践案例：不良用户识别</a:t>
            </a:r>
          </a:p>
        </p:txBody>
      </p:sp>
      <p:sp>
        <p:nvSpPr>
          <p:cNvPr id="15" name="Rectangle 3">
            <a:extLst>
              <a:ext uri="{FF2B5EF4-FFF2-40B4-BE49-F238E27FC236}">
                <a16:creationId xmlns:a16="http://schemas.microsoft.com/office/drawing/2014/main" id="{AC9CCC12-4634-E707-9FA4-444E333BC0C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65CC2521-477A-2107-C9EF-62E3ECC372C4}"/>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A719ACA0-DC6E-578E-4B5D-3CC38298922B}"/>
              </a:ext>
            </a:extLst>
          </p:cNvPr>
          <p:cNvSpPr txBox="1"/>
          <p:nvPr/>
        </p:nvSpPr>
        <p:spPr>
          <a:xfrm>
            <a:off x="279132" y="1519869"/>
            <a:ext cx="11511815" cy="1631216"/>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scikit-learn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模块的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SVC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类构建一个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SVM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分类模型。参数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是惩罚因子，用于控制误差项对结果的影响，</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值越大，模型越严格地限制误差项，但其取值过大容易造成过拟合。参数“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kernel”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是核函数，默认为高斯核函数。参数“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gamma”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degree”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分别是高斯核函数和多项式核函数的参数，前者用于控制高斯核的形状，后者用于控制多项式拟合数据的复杂度，二者的值越大，可以使模型捕捉更多的数据细节，但同时也增加了模型过拟合的风险。</a:t>
            </a:r>
          </a:p>
        </p:txBody>
      </p:sp>
      <p:pic>
        <p:nvPicPr>
          <p:cNvPr id="7" name="图片 6">
            <a:extLst>
              <a:ext uri="{FF2B5EF4-FFF2-40B4-BE49-F238E27FC236}">
                <a16:creationId xmlns:a16="http://schemas.microsoft.com/office/drawing/2014/main" id="{66AB2D9D-6D18-39B9-DA0A-A478DE9A4B36}"/>
              </a:ext>
            </a:extLst>
          </p:cNvPr>
          <p:cNvPicPr>
            <a:picLocks noChangeAspect="1"/>
          </p:cNvPicPr>
          <p:nvPr/>
        </p:nvPicPr>
        <p:blipFill>
          <a:blip r:embed="rId3"/>
          <a:stretch>
            <a:fillRect/>
          </a:stretch>
        </p:blipFill>
        <p:spPr>
          <a:xfrm>
            <a:off x="1839964" y="3360405"/>
            <a:ext cx="9173347" cy="3350959"/>
          </a:xfrm>
          <a:prstGeom prst="rect">
            <a:avLst/>
          </a:prstGeom>
        </p:spPr>
      </p:pic>
      <p:sp>
        <p:nvSpPr>
          <p:cNvPr id="9" name="文本框 8">
            <a:extLst>
              <a:ext uri="{FF2B5EF4-FFF2-40B4-BE49-F238E27FC236}">
                <a16:creationId xmlns:a16="http://schemas.microsoft.com/office/drawing/2014/main" id="{B60318C3-68AA-F23D-65AD-C4F4017C8996}"/>
              </a:ext>
            </a:extLst>
          </p:cNvPr>
          <p:cNvSpPr txBox="1"/>
          <p:nvPr/>
        </p:nvSpPr>
        <p:spPr>
          <a:xfrm>
            <a:off x="289827" y="1076907"/>
            <a:ext cx="6316980" cy="461665"/>
          </a:xfrm>
          <a:prstGeom prst="rect">
            <a:avLst/>
          </a:prstGeom>
          <a:noFill/>
        </p:spPr>
        <p:txBody>
          <a:bodyPr wrap="square">
            <a:spAutoFit/>
          </a:bodyPr>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模型训练。</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0092228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090AE-21F1-94CC-4B93-CD4F7F67164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33796DA-7B7F-97B7-348C-459925927362}"/>
              </a:ext>
            </a:extLst>
          </p:cNvPr>
          <p:cNvSpPr/>
          <p:nvPr/>
        </p:nvSpPr>
        <p:spPr>
          <a:xfrm>
            <a:off x="995423" y="248198"/>
            <a:ext cx="10017888" cy="584763"/>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实践案例：不良用户识别</a:t>
            </a:r>
          </a:p>
        </p:txBody>
      </p:sp>
      <p:sp>
        <p:nvSpPr>
          <p:cNvPr id="15" name="Rectangle 3">
            <a:extLst>
              <a:ext uri="{FF2B5EF4-FFF2-40B4-BE49-F238E27FC236}">
                <a16:creationId xmlns:a16="http://schemas.microsoft.com/office/drawing/2014/main" id="{D0DA08D0-8431-65E7-59E1-CF2AB1AF0C1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4">
            <a:extLst>
              <a:ext uri="{FF2B5EF4-FFF2-40B4-BE49-F238E27FC236}">
                <a16:creationId xmlns:a16="http://schemas.microsoft.com/office/drawing/2014/main" id="{14F93CAA-F991-F5D6-0F75-3820070F40F8}"/>
              </a:ext>
            </a:extLst>
          </p:cNvPr>
          <p:cNvSpPr>
            <a:spLocks noChangeArrowheads="1"/>
          </p:cNvSpPr>
          <p:nvPr/>
        </p:nvSpPr>
        <p:spPr bwMode="auto">
          <a:xfrm>
            <a:off x="12700" y="11420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图形 1">
            <a:extLst>
              <a:ext uri="{FF2B5EF4-FFF2-40B4-BE49-F238E27FC236}">
                <a16:creationId xmlns:a16="http://schemas.microsoft.com/office/drawing/2014/main" id="{58215BF3-FB5C-1CDE-752F-24F1E45C73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2498" y="3081073"/>
            <a:ext cx="7293889" cy="3646945"/>
          </a:xfrm>
          <a:prstGeom prst="rect">
            <a:avLst/>
          </a:prstGeom>
        </p:spPr>
      </p:pic>
      <p:sp>
        <p:nvSpPr>
          <p:cNvPr id="14" name="文本框 13">
            <a:extLst>
              <a:ext uri="{FF2B5EF4-FFF2-40B4-BE49-F238E27FC236}">
                <a16:creationId xmlns:a16="http://schemas.microsoft.com/office/drawing/2014/main" id="{46E24A83-F2B8-4BE8-FE30-0DC3F22662E0}"/>
              </a:ext>
            </a:extLst>
          </p:cNvPr>
          <p:cNvSpPr txBox="1"/>
          <p:nvPr/>
        </p:nvSpPr>
        <p:spPr>
          <a:xfrm>
            <a:off x="166155" y="1110867"/>
            <a:ext cx="11906240" cy="1938992"/>
          </a:xfrm>
          <a:prstGeom prst="rect">
            <a:avLst/>
          </a:prstGeom>
          <a:noFill/>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在高斯核支持向量机中，当   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[0.1,0.99]</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区间取值时，可发现准确率、精准率和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得分整体均呈现随着  增加先增加再降低的趋势，其中降低的原因是   取值过大，模型过拟合。</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结合本案例背景，不良用户的识别应当是“宁可误检，不要漏检”，因此，进一步探索   在较小值处时模型的性能，当在 区间搜寻最优的   值，可观察到在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=0.02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时，召回率取得最大值，此时模型的准确率、精准率、召回率、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得分分别为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0.924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0.843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0.915</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graphicFrame>
        <p:nvGraphicFramePr>
          <p:cNvPr id="17" name="对象 16">
            <a:extLst>
              <a:ext uri="{FF2B5EF4-FFF2-40B4-BE49-F238E27FC236}">
                <a16:creationId xmlns:a16="http://schemas.microsoft.com/office/drawing/2014/main" id="{7DAA36BA-FC26-5ADD-5CB3-F777C597DF9C}"/>
              </a:ext>
            </a:extLst>
          </p:cNvPr>
          <p:cNvGraphicFramePr>
            <a:graphicFrameLocks noChangeAspect="1"/>
          </p:cNvGraphicFramePr>
          <p:nvPr>
            <p:extLst>
              <p:ext uri="{D42A27DB-BD31-4B8C-83A1-F6EECF244321}">
                <p14:modId xmlns:p14="http://schemas.microsoft.com/office/powerpoint/2010/main" val="446115786"/>
              </p:ext>
            </p:extLst>
          </p:nvPr>
        </p:nvGraphicFramePr>
        <p:xfrm>
          <a:off x="3276540" y="1154724"/>
          <a:ext cx="239002" cy="350536"/>
        </p:xfrm>
        <a:graphic>
          <a:graphicData uri="http://schemas.openxmlformats.org/presentationml/2006/ole">
            <mc:AlternateContent xmlns:mc="http://schemas.openxmlformats.org/markup-compatibility/2006">
              <mc:Choice xmlns:v="urn:schemas-microsoft-com:vml" Requires="v">
                <p:oleObj name="Equation" r:id="rId5" imgW="142571" imgH="209854" progId="Equation.DSMT4">
                  <p:embed/>
                </p:oleObj>
              </mc:Choice>
              <mc:Fallback>
                <p:oleObj name="Equation" r:id="rId5" imgW="142571" imgH="209854" progId="Equation.DSMT4">
                  <p:embed/>
                  <p:pic>
                    <p:nvPicPr>
                      <p:cNvPr id="0" name=""/>
                      <p:cNvPicPr/>
                      <p:nvPr/>
                    </p:nvPicPr>
                    <p:blipFill>
                      <a:blip r:embed="rId6"/>
                      <a:stretch>
                        <a:fillRect/>
                      </a:stretch>
                    </p:blipFill>
                    <p:spPr>
                      <a:xfrm>
                        <a:off x="3276540" y="1154724"/>
                        <a:ext cx="239002" cy="350536"/>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F2880107-9B57-26D7-A822-845CE09FD419}"/>
              </a:ext>
            </a:extLst>
          </p:cNvPr>
          <p:cNvGraphicFramePr>
            <a:graphicFrameLocks noChangeAspect="1"/>
          </p:cNvGraphicFramePr>
          <p:nvPr>
            <p:extLst>
              <p:ext uri="{D42A27DB-BD31-4B8C-83A1-F6EECF244321}">
                <p14:modId xmlns:p14="http://schemas.microsoft.com/office/powerpoint/2010/main" val="2907986100"/>
              </p:ext>
            </p:extLst>
          </p:nvPr>
        </p:nvGraphicFramePr>
        <p:xfrm>
          <a:off x="11598910" y="1110867"/>
          <a:ext cx="239713" cy="350837"/>
        </p:xfrm>
        <a:graphic>
          <a:graphicData uri="http://schemas.openxmlformats.org/presentationml/2006/ole">
            <mc:AlternateContent xmlns:mc="http://schemas.openxmlformats.org/markup-compatibility/2006">
              <mc:Choice xmlns:v="urn:schemas-microsoft-com:vml" Requires="v">
                <p:oleObj name="Equation" r:id="rId7" imgW="239418" imgH="350653" progId="Equation.DSMT4">
                  <p:embed/>
                </p:oleObj>
              </mc:Choice>
              <mc:Fallback>
                <p:oleObj name="Equation" r:id="rId7" imgW="239418" imgH="350653" progId="Equation.DSMT4">
                  <p:embed/>
                  <p:pic>
                    <p:nvPicPr>
                      <p:cNvPr id="0" name=""/>
                      <p:cNvPicPr/>
                      <p:nvPr/>
                    </p:nvPicPr>
                    <p:blipFill>
                      <a:blip r:embed="rId8"/>
                      <a:stretch>
                        <a:fillRect/>
                      </a:stretch>
                    </p:blipFill>
                    <p:spPr>
                      <a:xfrm>
                        <a:off x="11598910" y="1110867"/>
                        <a:ext cx="239713" cy="350837"/>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ABD1F1C2-BF66-E526-4E0A-205637BF0FF0}"/>
              </a:ext>
            </a:extLst>
          </p:cNvPr>
          <p:cNvGraphicFramePr>
            <a:graphicFrameLocks noChangeAspect="1"/>
          </p:cNvGraphicFramePr>
          <p:nvPr>
            <p:extLst>
              <p:ext uri="{D42A27DB-BD31-4B8C-83A1-F6EECF244321}">
                <p14:modId xmlns:p14="http://schemas.microsoft.com/office/powerpoint/2010/main" val="2636011800"/>
              </p:ext>
            </p:extLst>
          </p:nvPr>
        </p:nvGraphicFramePr>
        <p:xfrm>
          <a:off x="5294630" y="1457831"/>
          <a:ext cx="239713" cy="350837"/>
        </p:xfrm>
        <a:graphic>
          <a:graphicData uri="http://schemas.openxmlformats.org/presentationml/2006/ole">
            <mc:AlternateContent xmlns:mc="http://schemas.openxmlformats.org/markup-compatibility/2006">
              <mc:Choice xmlns:v="urn:schemas-microsoft-com:vml" Requires="v">
                <p:oleObj name="Equation" r:id="rId9" imgW="239418" imgH="350653" progId="Equation.DSMT4">
                  <p:embed/>
                </p:oleObj>
              </mc:Choice>
              <mc:Fallback>
                <p:oleObj name="Equation" r:id="rId9" imgW="239418" imgH="350653" progId="Equation.DSMT4">
                  <p:embed/>
                  <p:pic>
                    <p:nvPicPr>
                      <p:cNvPr id="0" name=""/>
                      <p:cNvPicPr/>
                      <p:nvPr/>
                    </p:nvPicPr>
                    <p:blipFill>
                      <a:blip r:embed="rId10"/>
                      <a:stretch>
                        <a:fillRect/>
                      </a:stretch>
                    </p:blipFill>
                    <p:spPr>
                      <a:xfrm>
                        <a:off x="5294630" y="1457831"/>
                        <a:ext cx="239713" cy="35083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3F742799-9F4C-5C4B-DC86-8B359E9FF247}"/>
              </a:ext>
            </a:extLst>
          </p:cNvPr>
          <p:cNvGraphicFramePr>
            <a:graphicFrameLocks noChangeAspect="1"/>
          </p:cNvGraphicFramePr>
          <p:nvPr>
            <p:extLst>
              <p:ext uri="{D42A27DB-BD31-4B8C-83A1-F6EECF244321}">
                <p14:modId xmlns:p14="http://schemas.microsoft.com/office/powerpoint/2010/main" val="3417119058"/>
              </p:ext>
            </p:extLst>
          </p:nvPr>
        </p:nvGraphicFramePr>
        <p:xfrm>
          <a:off x="9850120" y="2043842"/>
          <a:ext cx="239713" cy="350837"/>
        </p:xfrm>
        <a:graphic>
          <a:graphicData uri="http://schemas.openxmlformats.org/presentationml/2006/ole">
            <mc:AlternateContent xmlns:mc="http://schemas.openxmlformats.org/markup-compatibility/2006">
              <mc:Choice xmlns:v="urn:schemas-microsoft-com:vml" Requires="v">
                <p:oleObj name="Equation" r:id="rId11" imgW="239418" imgH="350653" progId="Equation.DSMT4">
                  <p:embed/>
                </p:oleObj>
              </mc:Choice>
              <mc:Fallback>
                <p:oleObj name="Equation" r:id="rId11" imgW="239418" imgH="350653" progId="Equation.DSMT4">
                  <p:embed/>
                  <p:pic>
                    <p:nvPicPr>
                      <p:cNvPr id="0" name=""/>
                      <p:cNvPicPr/>
                      <p:nvPr/>
                    </p:nvPicPr>
                    <p:blipFill>
                      <a:blip r:embed="rId12"/>
                      <a:stretch>
                        <a:fillRect/>
                      </a:stretch>
                    </p:blipFill>
                    <p:spPr>
                      <a:xfrm>
                        <a:off x="9850120" y="2043842"/>
                        <a:ext cx="239713" cy="350837"/>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9E43A81D-A3E2-33E5-252D-1270740B93C0}"/>
              </a:ext>
            </a:extLst>
          </p:cNvPr>
          <p:cNvGraphicFramePr>
            <a:graphicFrameLocks noChangeAspect="1"/>
          </p:cNvGraphicFramePr>
          <p:nvPr>
            <p:extLst>
              <p:ext uri="{D42A27DB-BD31-4B8C-83A1-F6EECF244321}">
                <p14:modId xmlns:p14="http://schemas.microsoft.com/office/powerpoint/2010/main" val="1104015000"/>
              </p:ext>
            </p:extLst>
          </p:nvPr>
        </p:nvGraphicFramePr>
        <p:xfrm>
          <a:off x="3826510" y="2380145"/>
          <a:ext cx="239713" cy="350837"/>
        </p:xfrm>
        <a:graphic>
          <a:graphicData uri="http://schemas.openxmlformats.org/presentationml/2006/ole">
            <mc:AlternateContent xmlns:mc="http://schemas.openxmlformats.org/markup-compatibility/2006">
              <mc:Choice xmlns:v="urn:schemas-microsoft-com:vml" Requires="v">
                <p:oleObj name="Equation" r:id="rId13" imgW="239418" imgH="350653" progId="Equation.DSMT4">
                  <p:embed/>
                </p:oleObj>
              </mc:Choice>
              <mc:Fallback>
                <p:oleObj name="Equation" r:id="rId13" imgW="239418" imgH="350653" progId="Equation.DSMT4">
                  <p:embed/>
                  <p:pic>
                    <p:nvPicPr>
                      <p:cNvPr id="0" name=""/>
                      <p:cNvPicPr/>
                      <p:nvPr/>
                    </p:nvPicPr>
                    <p:blipFill>
                      <a:blip r:embed="rId14"/>
                      <a:stretch>
                        <a:fillRect/>
                      </a:stretch>
                    </p:blipFill>
                    <p:spPr>
                      <a:xfrm>
                        <a:off x="3826510" y="2380145"/>
                        <a:ext cx="239713" cy="350837"/>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B914C7EF-D124-32F0-3D29-14C307A7FD12}"/>
              </a:ext>
            </a:extLst>
          </p:cNvPr>
          <p:cNvGraphicFramePr>
            <a:graphicFrameLocks noChangeAspect="1"/>
          </p:cNvGraphicFramePr>
          <p:nvPr>
            <p:extLst>
              <p:ext uri="{D42A27DB-BD31-4B8C-83A1-F6EECF244321}">
                <p14:modId xmlns:p14="http://schemas.microsoft.com/office/powerpoint/2010/main" val="125038328"/>
              </p:ext>
            </p:extLst>
          </p:nvPr>
        </p:nvGraphicFramePr>
        <p:xfrm>
          <a:off x="5822112" y="2362975"/>
          <a:ext cx="239713" cy="350837"/>
        </p:xfrm>
        <a:graphic>
          <a:graphicData uri="http://schemas.openxmlformats.org/presentationml/2006/ole">
            <mc:AlternateContent xmlns:mc="http://schemas.openxmlformats.org/markup-compatibility/2006">
              <mc:Choice xmlns:v="urn:schemas-microsoft-com:vml" Requires="v">
                <p:oleObj name="Equation" r:id="rId15" imgW="239418" imgH="350653" progId="Equation.DSMT4">
                  <p:embed/>
                </p:oleObj>
              </mc:Choice>
              <mc:Fallback>
                <p:oleObj name="Equation" r:id="rId15" imgW="239418" imgH="350653" progId="Equation.DSMT4">
                  <p:embed/>
                  <p:pic>
                    <p:nvPicPr>
                      <p:cNvPr id="0" name=""/>
                      <p:cNvPicPr/>
                      <p:nvPr/>
                    </p:nvPicPr>
                    <p:blipFill>
                      <a:blip r:embed="rId16"/>
                      <a:stretch>
                        <a:fillRect/>
                      </a:stretch>
                    </p:blipFill>
                    <p:spPr>
                      <a:xfrm>
                        <a:off x="5822112" y="2362975"/>
                        <a:ext cx="239713" cy="350837"/>
                      </a:xfrm>
                      <a:prstGeom prst="rect">
                        <a:avLst/>
                      </a:prstGeom>
                    </p:spPr>
                  </p:pic>
                </p:oleObj>
              </mc:Fallback>
            </mc:AlternateContent>
          </a:graphicData>
        </a:graphic>
      </p:graphicFrame>
    </p:spTree>
    <p:extLst>
      <p:ext uri="{BB962C8B-B14F-4D97-AF65-F5344CB8AC3E}">
        <p14:creationId xmlns:p14="http://schemas.microsoft.com/office/powerpoint/2010/main" val="23577603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5096</TotalTime>
  <Words>1872</Words>
  <Application>Microsoft Office PowerPoint</Application>
  <PresentationFormat>宽屏</PresentationFormat>
  <Paragraphs>141</Paragraphs>
  <Slides>29</Slides>
  <Notes>29</Notes>
  <HiddenSlides>0</HiddenSlides>
  <MMClips>0</MMClips>
  <ScaleCrop>false</ScaleCrop>
  <HeadingPairs>
    <vt:vector size="8" baseType="variant">
      <vt:variant>
        <vt:lpstr>已用的字体</vt:lpstr>
      </vt:variant>
      <vt:variant>
        <vt:i4>11</vt:i4>
      </vt:variant>
      <vt:variant>
        <vt:lpstr>主题</vt:lpstr>
      </vt:variant>
      <vt:variant>
        <vt:i4>12</vt:i4>
      </vt:variant>
      <vt:variant>
        <vt:lpstr>嵌入 OLE 服务器</vt:lpstr>
      </vt:variant>
      <vt:variant>
        <vt:i4>2</vt:i4>
      </vt:variant>
      <vt:variant>
        <vt:lpstr>幻灯片标题</vt:lpstr>
      </vt:variant>
      <vt:variant>
        <vt:i4>29</vt:i4>
      </vt:variant>
    </vt:vector>
  </HeadingPairs>
  <TitlesOfParts>
    <vt:vector size="54" baseType="lpstr">
      <vt:lpstr>等线</vt:lpstr>
      <vt:lpstr>方正舒体</vt:lpstr>
      <vt:lpstr>华光综艺_CNKI</vt:lpstr>
      <vt:lpstr>华文新魏</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Mengning Wang</cp:lastModifiedBy>
  <cp:revision>2899</cp:revision>
  <dcterms:created xsi:type="dcterms:W3CDTF">2022-05-23T09:13:00Z</dcterms:created>
  <dcterms:modified xsi:type="dcterms:W3CDTF">2025-04-15T12:50:01Z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