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8">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7"/>
  </p:notesMasterIdLst>
  <p:handoutMasterIdLst>
    <p:handoutMasterId r:id="rId28"/>
  </p:handoutMasterIdLst>
  <p:sldIdLst>
    <p:sldId id="15637" r:id="rId13"/>
    <p:sldId id="15665" r:id="rId14"/>
    <p:sldId id="15666" r:id="rId15"/>
    <p:sldId id="15667" r:id="rId16"/>
    <p:sldId id="15668" r:id="rId17"/>
    <p:sldId id="15669" r:id="rId18"/>
    <p:sldId id="15670" r:id="rId19"/>
    <p:sldId id="15671" r:id="rId20"/>
    <p:sldId id="15672" r:id="rId21"/>
    <p:sldId id="15673" r:id="rId22"/>
    <p:sldId id="15674" r:id="rId23"/>
    <p:sldId id="15675" r:id="rId24"/>
    <p:sldId id="15676" r:id="rId25"/>
    <p:sldId id="15502"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节" id="{B76A38E9-E72E-4BCB-B362-B21FAC086E6B}">
          <p14:sldIdLst>
            <p14:sldId id="15637"/>
            <p14:sldId id="15665"/>
            <p14:sldId id="15666"/>
            <p14:sldId id="15667"/>
            <p14:sldId id="15668"/>
            <p14:sldId id="15669"/>
            <p14:sldId id="15670"/>
            <p14:sldId id="15671"/>
            <p14:sldId id="15672"/>
            <p14:sldId id="15673"/>
            <p14:sldId id="15674"/>
            <p14:sldId id="15675"/>
            <p14:sldId id="15676"/>
            <p14:sldId id="15502"/>
          </p14:sldIdLst>
        </p14:section>
      </p14:sectionLst>
    </p:ext>
    <p:ext uri="{EFAFB233-063F-42B5-8137-9DF3F51BA10A}">
      <p15:sldGuideLst xmlns:p15="http://schemas.microsoft.com/office/powerpoint/2012/main">
        <p15:guide id="4" pos="2280" userDrawn="1">
          <p15:clr>
            <a:srgbClr val="A4A3A4"/>
          </p15:clr>
        </p15:guide>
        <p15:guide id="5" orient="horz" pos="29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45AD"/>
    <a:srgbClr val="000080"/>
    <a:srgbClr val="FBE4D5"/>
    <a:srgbClr val="008ED7"/>
    <a:srgbClr val="D13400"/>
    <a:srgbClr val="0444AE"/>
    <a:srgbClr val="0347AF"/>
    <a:srgbClr val="0146AE"/>
    <a:srgbClr val="FFFF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63" autoAdjust="0"/>
    <p:restoredTop sz="86966" autoAdjust="0"/>
  </p:normalViewPr>
  <p:slideViewPr>
    <p:cSldViewPr snapToGrid="0">
      <p:cViewPr varScale="1">
        <p:scale>
          <a:sx n="93" d="100"/>
          <a:sy n="93" d="100"/>
        </p:scale>
        <p:origin x="184" y="80"/>
      </p:cViewPr>
      <p:guideLst>
        <p:guide pos="2280"/>
        <p:guide orient="horz" pos="290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Master" Target="slideMasters/slideMaster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953056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4DECE-314E-6C33-CF11-ADA56F9C2B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BDE217-622B-FCB9-94B8-74324AD6DF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11FC5D-85AF-4F02-D6F9-94F617D757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903A3EBB-9A59-7341-D2EC-106F236DC2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61833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69422-F529-2AE7-9108-18EE512556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337645-50E2-EF1A-D140-3F4A1A45D4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E1A4F6-FE96-D382-AB29-A04698932A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9875D11D-C518-E341-5BDC-BB99CD3811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59081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ED355-B15B-FE2B-CDCB-8D0ED599AF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230681-0B16-B636-012D-87EBEDE9A9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7F9E23-2453-8190-628C-695424E803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C2437163-7DA1-2501-009D-EE7BF8AED0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56834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A041E-9D75-4082-84D0-819C9AA36D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421D44-6C14-7B87-F7C9-F2B537C5D1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34AA05-2C2D-D0DE-3924-5EE217E67B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B3D61BC-DEC0-5A36-7C9B-8420BCD8D2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119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3ABC6-479A-B515-38A5-1A0EA72D76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9C9640-0993-49DA-AFC5-4F045CF8DF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1B2757-59DD-D89E-EAFE-CFE10183E6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7EDA201-8F17-FB61-8778-FE94EBAE8B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35732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CB67E-D7BA-25FF-3B94-518EAB9533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6A0B93-2C88-1A5E-CFAE-6523A41198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0A0591-55C9-A9DC-C26F-67390FAF1C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9704D67-BA26-291D-CB5E-A77EADB7E3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40394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E1DC5-5947-EB48-DA2D-AB9CDEB284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060FAE-3FE5-FD0C-9A15-44C6242BE3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FF81AC-C070-0586-98A6-FD5DEEEF13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2A10F92-6A51-9126-D125-1FAA4C696F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43337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EBE9A-7E19-355A-672E-797ABC53A3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352E35-12DB-FCCD-1E6C-3A7BAAFA8B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51CF3D-79A5-A0EA-DC03-E18AD6F423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E68AD49-326F-7DF4-9225-1F28B751A7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40880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91BB-9C6C-F453-5978-BCE05420A4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606EA2-AB09-681A-0224-A670E811ED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50A2DE-6DDB-9B64-E298-76367EA2CE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CDEB78A-3272-2BC5-0040-74D68ED7D0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14453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4BE99-6495-B1DB-5817-41328972CE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667F3B-1225-1D91-689D-E6445BC914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7D25F2-07E2-B3C3-FD90-0CB006071F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619DCB8-35A1-B253-6C2E-490987A7E7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72052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86B81-E7A5-5842-47AF-C7DE593CBA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77FC9E-C9D7-DA09-6212-9376865E75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A07A93-AC95-ACD5-82FC-5A681F357E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B9B8745-647D-9DA4-283E-B27EFC1C19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74981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1E162-E1D6-C007-5A5B-68874E942F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D1468A-513A-0C20-0FA5-4C74F83D9C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D3AD22-A5A8-A2E4-2811-D6F1630D46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4349136-D6D5-DBFB-CE73-113C8AD74A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99219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447E-148E-C5AE-EEA1-A6565EC897CA}"/>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1.4</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大数据挖掘的典型引用</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21598714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CB242-FD67-897E-46C7-25A3BFDAD82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A351168-71C5-798D-773A-604937B5DD3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金融大数据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5" name="文本框 4">
            <a:extLst>
              <a:ext uri="{FF2B5EF4-FFF2-40B4-BE49-F238E27FC236}">
                <a16:creationId xmlns:a16="http://schemas.microsoft.com/office/drawing/2014/main" id="{41AAD2DB-3CAE-8873-C48C-CB2F200A9A1D}"/>
              </a:ext>
            </a:extLst>
          </p:cNvPr>
          <p:cNvSpPr txBox="1"/>
          <p:nvPr/>
        </p:nvSpPr>
        <p:spPr>
          <a:xfrm>
            <a:off x="1013106" y="1037839"/>
            <a:ext cx="10165787" cy="4931606"/>
          </a:xfrm>
          <a:prstGeom prst="rect">
            <a:avLst/>
          </a:prstGeom>
          <a:noFill/>
        </p:spPr>
        <p:txBody>
          <a:bodyPr wrap="square">
            <a:spAutoFit/>
          </a:bodyPr>
          <a:lstStyle/>
          <a:p>
            <a:pPr>
              <a:lnSpc>
                <a:spcPct val="150000"/>
              </a:lnSpc>
            </a:pPr>
            <a:r>
              <a:rPr lang="zh-CN" altLang="en-US" sz="2400" b="1" dirty="0">
                <a:latin typeface="微软雅黑" pitchFamily="34" charset="-122"/>
                <a:ea typeface="微软雅黑" pitchFamily="34" charset="-122"/>
                <a:cs typeface="+mj-cs"/>
              </a:rPr>
              <a:t>金融机构为个人、企业和社会提供的全面金融支持，包括存款、贷款、支付转账、投资、保险、外汇交易和财务咨询等服务，形成由金融机构、企业和个人组成的金融网络，产生和积累了规模庞大的金融数据。</a:t>
            </a:r>
            <a:endParaRPr lang="en-US" altLang="zh-CN" sz="2400" b="1" dirty="0">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以银行机构为例，它作为一个线上系统与线下网点相结合的综合体系，汇总了来自多渠道的海量数据。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首先是线上交易系统中的存款、取款、转账、支付、贷款申请和还款等日常金融交易记录，其次是银行收集的客户个人信息、账户信息、信用评分、收入和职业等基本资料，还有银行线下网点采集的集中作业、授权和监控的视频、录音等非结构化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金融机构每天处理的数据量可达到上亿</a:t>
            </a:r>
            <a:r>
              <a:rPr lang="en-US" altLang="zh-CN" sz="2000" dirty="0">
                <a:latin typeface="微软雅黑" panose="020B0503020204020204" pitchFamily="34" charset="-122"/>
                <a:ea typeface="微软雅黑" panose="020B0503020204020204" pitchFamily="34" charset="-122"/>
              </a:rPr>
              <a:t>GB</a:t>
            </a:r>
            <a:r>
              <a:rPr lang="zh-CN" altLang="en-US" sz="2000" dirty="0">
                <a:latin typeface="微软雅黑" panose="020B0503020204020204" pitchFamily="34" charset="-122"/>
                <a:ea typeface="微软雅黑" panose="020B0503020204020204" pitchFamily="34" charset="-122"/>
              </a:rPr>
              <a:t>，全球金融机构每年产生的数据总量可能超过</a:t>
            </a:r>
            <a:r>
              <a:rPr lang="en-US" altLang="zh-CN" sz="2000" dirty="0">
                <a:latin typeface="微软雅黑" panose="020B0503020204020204" pitchFamily="34" charset="-122"/>
                <a:ea typeface="微软雅黑" panose="020B0503020204020204" pitchFamily="34" charset="-122"/>
              </a:rPr>
              <a:t>2.5</a:t>
            </a:r>
            <a:r>
              <a:rPr lang="zh-CN" altLang="en-US" sz="2000" dirty="0">
                <a:latin typeface="微软雅黑" panose="020B0503020204020204" pitchFamily="34" charset="-122"/>
                <a:ea typeface="微软雅黑" panose="020B0503020204020204" pitchFamily="34" charset="-122"/>
              </a:rPr>
              <a:t>万亿</a:t>
            </a:r>
            <a:r>
              <a:rPr lang="en-US" altLang="zh-CN" sz="2000" dirty="0">
                <a:latin typeface="微软雅黑" panose="020B0503020204020204" pitchFamily="34" charset="-122"/>
                <a:ea typeface="微软雅黑" panose="020B0503020204020204" pitchFamily="34" charset="-122"/>
              </a:rPr>
              <a:t>GB</a:t>
            </a:r>
            <a:r>
              <a:rPr lang="zh-CN" altLang="en-US" sz="20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7607247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FF3B-57E5-BC7D-2982-7327BEB79BCF}"/>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AEDFC9A-457B-1388-6C6E-8044A1F4A231}"/>
              </a:ext>
            </a:extLst>
          </p:cNvPr>
          <p:cNvSpPr txBox="1"/>
          <p:nvPr/>
        </p:nvSpPr>
        <p:spPr>
          <a:xfrm>
            <a:off x="1879236" y="1889133"/>
            <a:ext cx="7766653" cy="326961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当金融机构处理如此大量纷繁复杂的数据时，数据挖掘变得至关重要。</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它允许这些机构利用海量数据并建立各种预测模型和分析工具，从而进行信用风险评估、市场趋势分析、欺诈检测、客户关系管理和风险管理，以帮助监管部门和投资部门更有效地管理金融市场和资产。</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这样的需求导致数据挖掘在金融行业广泛应用。</a:t>
            </a:r>
          </a:p>
        </p:txBody>
      </p:sp>
      <p:sp>
        <p:nvSpPr>
          <p:cNvPr id="2" name="矩形 26">
            <a:extLst>
              <a:ext uri="{FF2B5EF4-FFF2-40B4-BE49-F238E27FC236}">
                <a16:creationId xmlns:a16="http://schemas.microsoft.com/office/drawing/2014/main" id="{B1B83FF6-F4BB-68EB-CFDA-7D937A82017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金融大数据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7463594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C0FEC-46B5-5356-F82E-95D6B606558F}"/>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BEA15DA5-5480-28B0-AB73-09206D7ED617}"/>
              </a:ext>
            </a:extLst>
          </p:cNvPr>
          <p:cNvGraphicFramePr>
            <a:graphicFrameLocks noGrp="1"/>
          </p:cNvGraphicFramePr>
          <p:nvPr>
            <p:extLst>
              <p:ext uri="{D42A27DB-BD31-4B8C-83A1-F6EECF244321}">
                <p14:modId xmlns:p14="http://schemas.microsoft.com/office/powerpoint/2010/main" val="2598827698"/>
              </p:ext>
            </p:extLst>
          </p:nvPr>
        </p:nvGraphicFramePr>
        <p:xfrm>
          <a:off x="930874" y="1256734"/>
          <a:ext cx="10017888" cy="4914202"/>
        </p:xfrm>
        <a:graphic>
          <a:graphicData uri="http://schemas.openxmlformats.org/drawingml/2006/table">
            <a:tbl>
              <a:tblPr firstRow="1" firstCol="1" bandRow="1"/>
              <a:tblGrid>
                <a:gridCol w="10017888">
                  <a:extLst>
                    <a:ext uri="{9D8B030D-6E8A-4147-A177-3AD203B41FA5}">
                      <a16:colId xmlns:a16="http://schemas.microsoft.com/office/drawing/2014/main" val="440962513"/>
                    </a:ext>
                  </a:extLst>
                </a:gridCol>
              </a:tblGrid>
              <a:tr h="0">
                <a:tc>
                  <a:txBody>
                    <a:bodyPr/>
                    <a:lstStyle/>
                    <a:p>
                      <a:pPr marL="0" marR="0" algn="just">
                        <a:lnSpc>
                          <a:spcPct val="125000"/>
                        </a:lnSpc>
                        <a:spcBef>
                          <a:spcPts val="360"/>
                        </a:spcBef>
                        <a:buNone/>
                      </a:pPr>
                      <a:r>
                        <a:rPr 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延伸阅读：</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根据中国中小企业协会数据，截至</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2024</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年</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6</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月份，我国中小微企业数量已超过</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5300</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万户，占企业总数的</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90%</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以上，贡献全国</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60%</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以上的税收和</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GDP</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。但中小微企业普遍面临融资和贷款难题</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。传统银行通常依赖财务指标和信用记录进行贷款决策，而小微企业缺乏完整的经营信息和高价值的质押物，因此很难获得银行信用贷款。这种情况严重制约了小微企业的发展。</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微众银行是一家互联网民营银行，于</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2017</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年底推出了全线上、无需抵质押和纸质资料的企业流动资金贷款产品，名为</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微业贷</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该产品利用多种数据源，包括传统征信数据和腾讯平台数据，以及核心企业交易和知识产权数据等，构建信用评级数据源，采用大数据挖掘和机器学习技术进行风险管理。微业贷通过数据源的引入来扩大服务范围，提供供应链贷款和科创贷款，并不断优化风险策略和模型工具。</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截止</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2023</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年末，微业贷已覆盖</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30</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个省、自治区、直辖市，累计授信小微企业超过</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140</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万家，企业征信白户占比超</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50%</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，帮助小微企业破解首贷难题，信用贷款余额占比超</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90%</a:t>
                      </a:r>
                      <a:r>
                        <a:rPr lang="zh-CN" alt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，有助于解决小微企业缺少抵质押物而融资难的问题。</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650909131"/>
                  </a:ext>
                </a:extLst>
              </a:tr>
            </a:tbl>
          </a:graphicData>
        </a:graphic>
      </p:graphicFrame>
      <p:sp>
        <p:nvSpPr>
          <p:cNvPr id="4" name="矩形 26">
            <a:extLst>
              <a:ext uri="{FF2B5EF4-FFF2-40B4-BE49-F238E27FC236}">
                <a16:creationId xmlns:a16="http://schemas.microsoft.com/office/drawing/2014/main" id="{0056DDE7-D330-81AD-E7C9-13518935D4CF}"/>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金融大数据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21094876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316DF-5FA6-3E8B-9F3B-6CBB10B4C6A4}"/>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BDE5875-261E-0FFF-FCEB-DB00309E6639}"/>
              </a:ext>
            </a:extLst>
          </p:cNvPr>
          <p:cNvSpPr txBox="1"/>
          <p:nvPr/>
        </p:nvSpPr>
        <p:spPr>
          <a:xfrm>
            <a:off x="1474155" y="1544349"/>
            <a:ext cx="8900503" cy="3915944"/>
          </a:xfrm>
          <a:prstGeom prst="rect">
            <a:avLst/>
          </a:prstGeom>
          <a:noFill/>
        </p:spPr>
        <p:txBody>
          <a:bodyPr wrap="square">
            <a:spAutoFit/>
          </a:bodyPr>
          <a:lstStyle/>
          <a:p>
            <a:pPr>
              <a:lnSpc>
                <a:spcPct val="150000"/>
              </a:lnSpc>
            </a:pPr>
            <a:r>
              <a:rPr lang="zh-CN" altLang="en-US" sz="2400" b="1" dirty="0">
                <a:latin typeface="微软雅黑" pitchFamily="34" charset="-122"/>
                <a:ea typeface="微软雅黑" pitchFamily="34" charset="-122"/>
                <a:cs typeface="+mj-cs"/>
              </a:rPr>
              <a:t>医疗活动涉及诊断和治疗、远程医疗、公共健康监测、临床研究、健康管理和预防，产生了涵盖多种类型的医疗大数据</a:t>
            </a:r>
            <a:endParaRPr lang="en-US" altLang="zh-CN" dirty="0"/>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）包含患者诊断、治疗、药物处方和病史的电子健康记录和电子病历数据；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）涵盖视频会议记录、聊天记录和远程监控数据的远程医疗数据；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）包含个人基因组序列和遗传信息的基因组数据；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）可穿戴设备收集的心率、步数、睡眠模式等健康指标数据；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）涵盖临床试验数据、药物反应和疗效数据的临床研究数据。</a:t>
            </a:r>
          </a:p>
        </p:txBody>
      </p:sp>
      <p:sp>
        <p:nvSpPr>
          <p:cNvPr id="2" name="矩形 26">
            <a:extLst>
              <a:ext uri="{FF2B5EF4-FFF2-40B4-BE49-F238E27FC236}">
                <a16:creationId xmlns:a16="http://schemas.microsoft.com/office/drawing/2014/main" id="{1E5954F4-F09B-7003-E4D0-9AEFBD48306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医疗</a:t>
            </a:r>
            <a:r>
              <a:rPr lang="zh-CN" altLang="en-US" sz="3200" b="0" dirty="0">
                <a:solidFill>
                  <a:srgbClr val="FFFF00"/>
                </a:solidFill>
                <a:latin typeface="华光综艺_CNKI" panose="02000500000000000000" pitchFamily="2" charset="-122"/>
                <a:ea typeface="华光综艺_CNKI" panose="02000500000000000000" pitchFamily="2" charset="-122"/>
              </a:rPr>
              <a:t>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38198926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69448-C408-60ED-9817-5FFE998C6707}"/>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A62DFD97-E026-B3C3-D970-BD89AFCE366D}"/>
              </a:ext>
            </a:extLst>
          </p:cNvPr>
          <p:cNvSpPr txBox="1"/>
          <p:nvPr/>
        </p:nvSpPr>
        <p:spPr>
          <a:xfrm>
            <a:off x="1684170" y="1950844"/>
            <a:ext cx="8640393" cy="326961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医院信息系统（</a:t>
            </a:r>
            <a:r>
              <a:rPr lang="en-US" altLang="zh-CN" sz="2000" dirty="0">
                <a:latin typeface="微软雅黑" panose="020B0503020204020204" pitchFamily="34" charset="-122"/>
                <a:ea typeface="微软雅黑" panose="020B0503020204020204" pitchFamily="34" charset="-122"/>
              </a:rPr>
              <a:t>Hospital information system</a:t>
            </a:r>
            <a:r>
              <a:rPr lang="zh-CN" altLang="en-US" sz="2000" dirty="0">
                <a:latin typeface="微软雅黑" panose="020B0503020204020204" pitchFamily="34" charset="-122"/>
                <a:ea typeface="微软雅黑" panose="020B0503020204020204" pitchFamily="34" charset="-122"/>
              </a:rPr>
              <a:t>）是一种综合性的电子化管理系统，它能够协助医院和医疗机构管理和整合各种医疗和管理信息，提高医疗服务的质量和效率。</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目前，医学领域通过使用数据挖掘技术分析大规模的患者病历、医学影像、基因数据等，不仅可以揭示出医学领域的有用信息，比如帮助医生更好地理解患者的疾病风险、病情发展趋势和最佳治疗方案，还可用于预测疾病爆发和传播、药物研发等，有助于改善医疗体系的质量。</a:t>
            </a:r>
          </a:p>
        </p:txBody>
      </p:sp>
      <p:sp>
        <p:nvSpPr>
          <p:cNvPr id="2" name="矩形 26">
            <a:extLst>
              <a:ext uri="{FF2B5EF4-FFF2-40B4-BE49-F238E27FC236}">
                <a16:creationId xmlns:a16="http://schemas.microsoft.com/office/drawing/2014/main" id="{7688DB21-CF48-F7CA-6A38-A6A51F37BA93}"/>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医疗</a:t>
            </a:r>
            <a:r>
              <a:rPr lang="zh-CN" altLang="en-US" sz="3200" b="0" dirty="0">
                <a:solidFill>
                  <a:srgbClr val="FFFF00"/>
                </a:solidFill>
                <a:latin typeface="华光综艺_CNKI" panose="02000500000000000000" pitchFamily="2" charset="-122"/>
                <a:ea typeface="华光综艺_CNKI" panose="02000500000000000000" pitchFamily="2" charset="-122"/>
              </a:rPr>
              <a:t>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5245855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10398-020A-71BB-8EBA-4FE7CBE68E9A}"/>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1DDA04D5-0824-CBCB-80D3-6C5B924FEF1A}"/>
              </a:ext>
            </a:extLst>
          </p:cNvPr>
          <p:cNvGraphicFramePr>
            <a:graphicFrameLocks noGrp="1"/>
          </p:cNvGraphicFramePr>
          <p:nvPr>
            <p:extLst>
              <p:ext uri="{D42A27DB-BD31-4B8C-83A1-F6EECF244321}">
                <p14:modId xmlns:p14="http://schemas.microsoft.com/office/powerpoint/2010/main" val="2764029640"/>
              </p:ext>
            </p:extLst>
          </p:nvPr>
        </p:nvGraphicFramePr>
        <p:xfrm>
          <a:off x="543140" y="1018737"/>
          <a:ext cx="11090819" cy="5295202"/>
        </p:xfrm>
        <a:graphic>
          <a:graphicData uri="http://schemas.openxmlformats.org/drawingml/2006/table">
            <a:tbl>
              <a:tblPr firstRow="1" firstCol="1" bandRow="1"/>
              <a:tblGrid>
                <a:gridCol w="11090819">
                  <a:extLst>
                    <a:ext uri="{9D8B030D-6E8A-4147-A177-3AD203B41FA5}">
                      <a16:colId xmlns:a16="http://schemas.microsoft.com/office/drawing/2014/main" val="2346207199"/>
                    </a:ext>
                  </a:extLst>
                </a:gridCol>
              </a:tblGrid>
              <a:tr h="0">
                <a:tc>
                  <a:txBody>
                    <a:bodyPr/>
                    <a:lstStyle/>
                    <a:p>
                      <a:pPr marL="0" marR="0" algn="just">
                        <a:lnSpc>
                          <a:spcPct val="125000"/>
                        </a:lnSpc>
                        <a:spcBef>
                          <a:spcPts val="360"/>
                        </a:spcBef>
                        <a:buNone/>
                      </a:pPr>
                      <a:r>
                        <a:rPr 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延伸阅读：</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早产问题是一个全球性的健康问题，也是工业化国家最严重的围产期健康问题之一。</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2019</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年的全球早产新生儿数量为</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1522</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万例，早产新生儿死亡数约</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66</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万人。早产可能导致多种潜在并发症，包括感染和对发育中的大脑、肺或眼睛的损伤，使早产儿在新生儿期面临严重的疾病和死亡风险，甚至在成长过程中可能遭受终身问题，如肺损伤、失明、神经问题等。</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应对早产儿的重症监测和治疗方面，现代医疗设备能够产生大量的生命体征数据，如心率、呼吸频率、血氧饱和度和血压等。然而，目前医院的应用仅限于监测患者的生理状态，缺乏深入开发和利用这些数据的能力。医生通常需要依赖自己的经验和知识来进行疾病预测、诊断和治疗。</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为了改善早产儿的重症监测和临床决策支持，加拿大卡罗琳</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麦格雷戈博士及其研究团队与</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IBM</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合作开发了名为“</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Artemis</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平台”的在线健康分析系统。该系统整合了临床信息系统中的人口统计学数据和大量的早产儿身体数据，每秒钟会读取</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1260</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个数据点，用于监测早产儿的多个生命体征。</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Artemis</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台利用数据挖掘等技术对这些数据进行分析和评估，能够及早预测早产儿感染信号，并发出警报，帮助医生采取及时措施，以防止感染的恶化。此外，系统还能够检测早产儿败血病等疾病的发作，为医生提供更准确的诊断和治疗建议。同时，该系统能够缩短早产儿的平均住院时间，减轻医院的负担，为患者提供医疗保障和服务。</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850392402"/>
                  </a:ext>
                </a:extLst>
              </a:tr>
            </a:tbl>
          </a:graphicData>
        </a:graphic>
      </p:graphicFrame>
      <p:sp>
        <p:nvSpPr>
          <p:cNvPr id="4" name="矩形 26">
            <a:extLst>
              <a:ext uri="{FF2B5EF4-FFF2-40B4-BE49-F238E27FC236}">
                <a16:creationId xmlns:a16="http://schemas.microsoft.com/office/drawing/2014/main" id="{75212E12-3293-0E1C-BE04-9928D195566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医疗</a:t>
            </a:r>
            <a:r>
              <a:rPr lang="zh-CN" altLang="en-US" sz="3200" b="0" dirty="0">
                <a:solidFill>
                  <a:srgbClr val="FFFF00"/>
                </a:solidFill>
                <a:latin typeface="华光综艺_CNKI" panose="02000500000000000000" pitchFamily="2" charset="-122"/>
                <a:ea typeface="华光综艺_CNKI" panose="02000500000000000000" pitchFamily="2" charset="-122"/>
              </a:rPr>
              <a:t>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8927700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A2F62-D092-80CF-4AFD-F8B1A47FAD88}"/>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A0844FF3-6507-45C9-E60B-5E06D3A656D4}"/>
              </a:ext>
            </a:extLst>
          </p:cNvPr>
          <p:cNvSpPr txBox="1"/>
          <p:nvPr/>
        </p:nvSpPr>
        <p:spPr>
          <a:xfrm>
            <a:off x="381573" y="959864"/>
            <a:ext cx="11428854" cy="5762603"/>
          </a:xfrm>
          <a:prstGeom prst="rect">
            <a:avLst/>
          </a:prstGeom>
          <a:noFill/>
        </p:spPr>
        <p:txBody>
          <a:bodyPr wrap="square">
            <a:spAutoFit/>
          </a:bodyPr>
          <a:lstStyle/>
          <a:p>
            <a:pPr>
              <a:lnSpc>
                <a:spcPct val="150000"/>
              </a:lnSpc>
            </a:pPr>
            <a:r>
              <a:rPr lang="zh-CN" altLang="en-US" sz="2400" b="1" dirty="0">
                <a:latin typeface="微软雅黑" pitchFamily="34" charset="-122"/>
                <a:ea typeface="微软雅黑" pitchFamily="34" charset="-122"/>
                <a:cs typeface="+mj-cs"/>
              </a:rPr>
              <a:t>制造业大数据指的是在制造业领域中产生的大规模数据集合，包含了生产、运营、供应链等方面的各种数据。这些数据的产生源于多个因素。</a:t>
            </a:r>
            <a:endParaRPr lang="en-US" altLang="zh-CN" sz="2400" b="1" dirty="0">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首先，现代制造过程中使用的传感器、控制系统以及智能化设备能够实时收集和传输大量数据，如生产设备的运行状态和生产工艺参数。</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其次，物联网技术的普及使得生产设备能够联网并产生数据，智能化制造设备的使用也增加了数据的产生。</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此外，为了提高生产效率、质量和灵活性，制造企业需要对生产过程进行实时监控和优化，从而产生了大量生产数据。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随着消费者对个性化产品的需求增加，制造企业需要更加灵活地调整生产计划和生产过程，因此需要收集并分析大量客户需求数据。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最后，为了提高供应链的可靠性和效率，制造企业需要对供应链中的各个环节进行监控和优化，从而产生了大量供应链数据，如供应商的交付准时率和物流运输数据。</a:t>
            </a:r>
          </a:p>
        </p:txBody>
      </p:sp>
      <p:sp>
        <p:nvSpPr>
          <p:cNvPr id="2" name="矩形 26">
            <a:extLst>
              <a:ext uri="{FF2B5EF4-FFF2-40B4-BE49-F238E27FC236}">
                <a16:creationId xmlns:a16="http://schemas.microsoft.com/office/drawing/2014/main" id="{03CC4567-DFEF-875E-D80A-F47B8114995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制造业</a:t>
            </a:r>
            <a:r>
              <a:rPr lang="zh-CN" altLang="en-US" sz="3200" b="0" dirty="0">
                <a:solidFill>
                  <a:srgbClr val="FFFF00"/>
                </a:solidFill>
                <a:latin typeface="华光综艺_CNKI" panose="02000500000000000000" pitchFamily="2" charset="-122"/>
                <a:ea typeface="华光综艺_CNKI" panose="02000500000000000000" pitchFamily="2" charset="-122"/>
              </a:rPr>
              <a:t>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0155249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9D4D7-FD23-0A42-5477-164C30DC2B7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9B1F875-5E50-A681-400F-AA1EE66ABDEC}"/>
              </a:ext>
            </a:extLst>
          </p:cNvPr>
          <p:cNvSpPr txBox="1"/>
          <p:nvPr/>
        </p:nvSpPr>
        <p:spPr>
          <a:xfrm>
            <a:off x="2192934" y="2765241"/>
            <a:ext cx="7622865" cy="188461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通过分析和挖掘制造业大数据，可以帮助制造企业优化生产过程、提高产品质量、降低成本，从而提升竞争力和盈利能力。</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在新的智造时代，应用大数据与数据挖掘技术是制造企业实现智能化转型必不可少的一部分。</a:t>
            </a:r>
          </a:p>
        </p:txBody>
      </p:sp>
      <p:sp>
        <p:nvSpPr>
          <p:cNvPr id="2" name="矩形 26">
            <a:extLst>
              <a:ext uri="{FF2B5EF4-FFF2-40B4-BE49-F238E27FC236}">
                <a16:creationId xmlns:a16="http://schemas.microsoft.com/office/drawing/2014/main" id="{F0A78230-5AA7-B386-888A-A0958587939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制造业</a:t>
            </a:r>
            <a:r>
              <a:rPr lang="zh-CN" altLang="en-US" sz="3200" b="0" dirty="0">
                <a:solidFill>
                  <a:srgbClr val="FFFF00"/>
                </a:solidFill>
                <a:latin typeface="华光综艺_CNKI" panose="02000500000000000000" pitchFamily="2" charset="-122"/>
                <a:ea typeface="华光综艺_CNKI" panose="02000500000000000000" pitchFamily="2" charset="-122"/>
              </a:rPr>
              <a:t>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9273991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8145F-E91D-A955-473A-354784706B48}"/>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E5ED9D15-9A85-8F86-11B8-BB4CF228E2D1}"/>
              </a:ext>
            </a:extLst>
          </p:cNvPr>
          <p:cNvGraphicFramePr>
            <a:graphicFrameLocks noGrp="1"/>
          </p:cNvGraphicFramePr>
          <p:nvPr>
            <p:extLst>
              <p:ext uri="{D42A27DB-BD31-4B8C-83A1-F6EECF244321}">
                <p14:modId xmlns:p14="http://schemas.microsoft.com/office/powerpoint/2010/main" val="1228724527"/>
              </p:ext>
            </p:extLst>
          </p:nvPr>
        </p:nvGraphicFramePr>
        <p:xfrm>
          <a:off x="786100" y="1315660"/>
          <a:ext cx="10436534" cy="4914202"/>
        </p:xfrm>
        <a:graphic>
          <a:graphicData uri="http://schemas.openxmlformats.org/drawingml/2006/table">
            <a:tbl>
              <a:tblPr firstRow="1" firstCol="1" bandRow="1"/>
              <a:tblGrid>
                <a:gridCol w="10436534">
                  <a:extLst>
                    <a:ext uri="{9D8B030D-6E8A-4147-A177-3AD203B41FA5}">
                      <a16:colId xmlns:a16="http://schemas.microsoft.com/office/drawing/2014/main" val="4172270162"/>
                    </a:ext>
                  </a:extLst>
                </a:gridCol>
              </a:tblGrid>
              <a:tr h="0">
                <a:tc>
                  <a:txBody>
                    <a:bodyPr/>
                    <a:lstStyle/>
                    <a:p>
                      <a:pPr marL="0" marR="0" algn="just">
                        <a:lnSpc>
                          <a:spcPct val="125000"/>
                        </a:lnSpc>
                        <a:spcBef>
                          <a:spcPts val="360"/>
                        </a:spcBef>
                        <a:buNone/>
                      </a:pPr>
                      <a:r>
                        <a:rPr 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延伸阅读：</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长安汽车是中国知名的汽车制造企业，已将战略重心转向智能制造和服务，以提高生产效率和产品质量。以该公司某工厂为例，该工厂冲压车间共建有三条冲压生产线，主要负责生产轮廓尺寸较大且具有空间曲面形状的乘用车车身覆盖件，如侧围、翼板、车门、引擎盖等。这些零部件对汽车的外观和性能至关重要，但在生产过程中存在两个问题：首先，由于多种因素的波动，部分侧围可能在拉伸工序中开裂，需要反复调整参数；其次，现有的外观质量检测方式依赖于人工，效率低且数据不易量化和存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了解决这些问题，长安汽车借助大数据存储与处理平台，通过数据挖掘和机器学习技术，以及基于机器视觉的智能检测技术，成功实现了冲压侧围件开裂预测和产品表面缺陷的智能识别检验；利用冲压设备的加工参数、板材参数、模具性能参数以及维修历史等数据，构建了一种智能预测模型，能够准确预测冲压侧围件发生开裂的风险，并制定生产过程参数组合控制策略。同时，采用图像采集系统和大数据分析，实现了表面缺陷的自动识别和数据存储。这些技术为冲压制造过程工艺优化和质量把控提供支持，形成冲压产品质量问题分析管理的闭环连接，实现冲压产品质量的精确控制和优化提升。</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752307596"/>
                  </a:ext>
                </a:extLst>
              </a:tr>
            </a:tbl>
          </a:graphicData>
        </a:graphic>
      </p:graphicFrame>
      <p:sp>
        <p:nvSpPr>
          <p:cNvPr id="4" name="矩形 26">
            <a:extLst>
              <a:ext uri="{FF2B5EF4-FFF2-40B4-BE49-F238E27FC236}">
                <a16:creationId xmlns:a16="http://schemas.microsoft.com/office/drawing/2014/main" id="{43E940EE-3BE0-D0A9-8FA4-CC354F3C02D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制造业</a:t>
            </a:r>
            <a:r>
              <a:rPr lang="zh-CN" altLang="en-US" sz="3200" b="0" dirty="0">
                <a:solidFill>
                  <a:srgbClr val="FFFF00"/>
                </a:solidFill>
                <a:latin typeface="华光综艺_CNKI" panose="02000500000000000000" pitchFamily="2" charset="-122"/>
                <a:ea typeface="华光综艺_CNKI" panose="02000500000000000000" pitchFamily="2" charset="-122"/>
              </a:rPr>
              <a:t>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8535552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4DE94-5C7C-80B2-5478-6AE00CE5FB28}"/>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AD308CEB-40AB-C793-A405-FCAE25026991}"/>
              </a:ext>
            </a:extLst>
          </p:cNvPr>
          <p:cNvSpPr txBox="1"/>
          <p:nvPr/>
        </p:nvSpPr>
        <p:spPr>
          <a:xfrm>
            <a:off x="997645" y="1701860"/>
            <a:ext cx="10196709" cy="3454279"/>
          </a:xfrm>
          <a:prstGeom prst="rect">
            <a:avLst/>
          </a:prstGeom>
          <a:noFill/>
        </p:spPr>
        <p:txBody>
          <a:bodyPr wrap="square">
            <a:spAutoFit/>
          </a:bodyPr>
          <a:lstStyle/>
          <a:p>
            <a:pPr>
              <a:lnSpc>
                <a:spcPct val="150000"/>
              </a:lnSpc>
            </a:pPr>
            <a:r>
              <a:rPr lang="zh-CN" altLang="en-US" sz="2400" b="1" dirty="0">
                <a:latin typeface="微软雅黑" pitchFamily="34" charset="-122"/>
                <a:ea typeface="微软雅黑" pitchFamily="34" charset="-122"/>
                <a:cs typeface="+mj-cs"/>
              </a:rPr>
              <a:t>社交媒体大数据指的是通过各种社交媒体平台（如</a:t>
            </a:r>
            <a:r>
              <a:rPr lang="en-US" altLang="zh-CN" sz="2400" b="1" dirty="0">
                <a:latin typeface="微软雅黑" pitchFamily="34" charset="-122"/>
                <a:ea typeface="微软雅黑" pitchFamily="34" charset="-122"/>
                <a:cs typeface="+mj-cs"/>
              </a:rPr>
              <a:t>Facebook</a:t>
            </a:r>
            <a:r>
              <a:rPr lang="zh-CN" altLang="en-US" sz="2400" b="1" dirty="0">
                <a:latin typeface="微软雅黑" pitchFamily="34" charset="-122"/>
                <a:ea typeface="微软雅黑" pitchFamily="34" charset="-122"/>
                <a:cs typeface="+mj-cs"/>
              </a:rPr>
              <a:t>、</a:t>
            </a:r>
            <a:r>
              <a:rPr lang="en-US" altLang="zh-CN" sz="2400" b="1" dirty="0">
                <a:latin typeface="微软雅黑" pitchFamily="34" charset="-122"/>
                <a:ea typeface="微软雅黑" pitchFamily="34" charset="-122"/>
                <a:cs typeface="+mj-cs"/>
              </a:rPr>
              <a:t>Twitter</a:t>
            </a:r>
            <a:r>
              <a:rPr lang="zh-CN" altLang="en-US" sz="2400" b="1" dirty="0">
                <a:latin typeface="微软雅黑" pitchFamily="34" charset="-122"/>
                <a:ea typeface="微软雅黑" pitchFamily="34" charset="-122"/>
                <a:cs typeface="+mj-cs"/>
              </a:rPr>
              <a:t>、</a:t>
            </a:r>
            <a:r>
              <a:rPr lang="en-US" altLang="zh-CN" sz="2400" b="1" dirty="0">
                <a:latin typeface="微软雅黑" pitchFamily="34" charset="-122"/>
                <a:ea typeface="微软雅黑" pitchFamily="34" charset="-122"/>
                <a:cs typeface="+mj-cs"/>
              </a:rPr>
              <a:t>Instagram</a:t>
            </a:r>
            <a:r>
              <a:rPr lang="zh-CN" altLang="en-US" sz="2400" b="1" dirty="0">
                <a:latin typeface="微软雅黑" pitchFamily="34" charset="-122"/>
                <a:ea typeface="微软雅黑" pitchFamily="34" charset="-122"/>
                <a:cs typeface="+mj-cs"/>
              </a:rPr>
              <a:t>等）产生的大量数据。</a:t>
            </a:r>
            <a:endParaRPr lang="en-US" altLang="zh-CN" sz="2400" b="1" dirty="0">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每天数以亿计的用户在社交媒体上发布各种类型的内容，如文字、图片、视频等，这些数据量庞大且不断增长，形成了海量且多样化的信息。</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此外，用户之间的互动行为也产生了大量数据，如点赞、评论、分享等，为分析用户行为和偏好提供了重要的依据。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社交媒体大数据具有实时性、广泛性、多样性和交互性等特点。</a:t>
            </a:r>
          </a:p>
        </p:txBody>
      </p:sp>
      <p:sp>
        <p:nvSpPr>
          <p:cNvPr id="2" name="矩形 26">
            <a:extLst>
              <a:ext uri="{FF2B5EF4-FFF2-40B4-BE49-F238E27FC236}">
                <a16:creationId xmlns:a16="http://schemas.microsoft.com/office/drawing/2014/main" id="{1FFD1393-A197-5324-EAD9-34DFE998DBA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社交媒体大数据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78475723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3F38-9084-E793-3A75-414EB637A3B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18630D3-C257-D527-B120-BE8649D01A6E}"/>
              </a:ext>
            </a:extLst>
          </p:cNvPr>
          <p:cNvSpPr txBox="1"/>
          <p:nvPr/>
        </p:nvSpPr>
        <p:spPr>
          <a:xfrm>
            <a:off x="1376757" y="1702479"/>
            <a:ext cx="8709144" cy="373127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通过分析用户的发帖内容、评论观点以及互动行为，可以洞察到他们的兴趣、喜好、态度和行为趋势。这些洞察帮助企业和组织了解用户需求、进行精准营销、优化产品设计和改进服务质量，从而提高用户满意度和品牌价值。</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社交媒体大数据还为舆情监测和社会问题研究提供了重要的数据来源。通过分析社交媒体上的舆情信息，可以了解人们对某一特定事件、产品或品牌的看法和态度。这对企业和政府机构来说是宝贵的市场和舆论反馈，能够帮助其及时做出决策和调整策略。</a:t>
            </a:r>
          </a:p>
        </p:txBody>
      </p:sp>
      <p:sp>
        <p:nvSpPr>
          <p:cNvPr id="2" name="矩形 26">
            <a:extLst>
              <a:ext uri="{FF2B5EF4-FFF2-40B4-BE49-F238E27FC236}">
                <a16:creationId xmlns:a16="http://schemas.microsoft.com/office/drawing/2014/main" id="{C89B21F4-9998-9009-1C5C-A3AD742172A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社交媒体大数据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7614833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1BFD2-117D-6416-D749-3FA03A5E1C8F}"/>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5E27EA07-A916-9398-21AC-D75441E98AD4}"/>
              </a:ext>
            </a:extLst>
          </p:cNvPr>
          <p:cNvGraphicFramePr>
            <a:graphicFrameLocks noGrp="1"/>
          </p:cNvGraphicFramePr>
          <p:nvPr>
            <p:extLst>
              <p:ext uri="{D42A27DB-BD31-4B8C-83A1-F6EECF244321}">
                <p14:modId xmlns:p14="http://schemas.microsoft.com/office/powerpoint/2010/main" val="97399303"/>
              </p:ext>
            </p:extLst>
          </p:nvPr>
        </p:nvGraphicFramePr>
        <p:xfrm>
          <a:off x="829250" y="1293974"/>
          <a:ext cx="10350234" cy="4914202"/>
        </p:xfrm>
        <a:graphic>
          <a:graphicData uri="http://schemas.openxmlformats.org/drawingml/2006/table">
            <a:tbl>
              <a:tblPr firstRow="1" firstCol="1" bandRow="1"/>
              <a:tblGrid>
                <a:gridCol w="10350234">
                  <a:extLst>
                    <a:ext uri="{9D8B030D-6E8A-4147-A177-3AD203B41FA5}">
                      <a16:colId xmlns:a16="http://schemas.microsoft.com/office/drawing/2014/main" val="2682143983"/>
                    </a:ext>
                  </a:extLst>
                </a:gridCol>
              </a:tblGrid>
              <a:tr h="0">
                <a:tc>
                  <a:txBody>
                    <a:bodyPr/>
                    <a:lstStyle/>
                    <a:p>
                      <a:pPr marL="0" marR="0" algn="just">
                        <a:lnSpc>
                          <a:spcPct val="125000"/>
                        </a:lnSpc>
                        <a:spcBef>
                          <a:spcPts val="360"/>
                        </a:spcBef>
                        <a:buNone/>
                      </a:pPr>
                      <a:r>
                        <a:rPr 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延伸阅读：</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在当今数字时代，社交媒体和大数据分析已经成为企业实现巨大成功的关键工具。一个典型的例子是</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SHEIN</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，这是一家快时尚跨境电商平台，以年轻时尚消费者为主要目标受众。他们通过精湛的社交媒体和大数据策略，实现了引人瞩目的营收增长。</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SHEIN</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运用大数据技术和人工智能来进行精准的广告投放和定位，通过分析不同地区和用户群体的需求和行为特征，对用户投送特定广告，提高广告效果和转化率，以及优化用户体验。此外，他们利用大数据技术分析用户行为、购买历史和趋势等数据，以优化营销策略和产品定位。通过分析用户搜索关键词，可以更好地了解流行元素和热门款式，从而调整选品策略和采购计划。这种数据驱动的决策使</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SHEIN</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能够不断满足市场需求，确保产品的时尚性和吸引力。</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2022</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年</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11</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月</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15</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日《财新网》的报道，</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SHEIN</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2021</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财年的营业收入同比增长了</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73.5%</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，达到</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465</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亿人民币（约合</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72</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亿美元），其中海外市场销售额占总销售额的</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80%</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以上。这一成绩的背后，是</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SHEIN</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充分利用社交媒体的影响力，以及大数据挖掘的智慧，不断优化他们的业务策略和用户体验。</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833774857"/>
                  </a:ext>
                </a:extLst>
              </a:tr>
            </a:tbl>
          </a:graphicData>
        </a:graphic>
      </p:graphicFrame>
      <p:sp>
        <p:nvSpPr>
          <p:cNvPr id="4" name="矩形 26">
            <a:extLst>
              <a:ext uri="{FF2B5EF4-FFF2-40B4-BE49-F238E27FC236}">
                <a16:creationId xmlns:a16="http://schemas.microsoft.com/office/drawing/2014/main" id="{A4CA1181-BBA3-2C0C-8800-825E8937649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社交媒体大数据</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248165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6333</TotalTime>
  <Words>2246</Words>
  <Application>Microsoft Office PowerPoint</Application>
  <PresentationFormat>宽屏</PresentationFormat>
  <Paragraphs>69</Paragraphs>
  <Slides>14</Slides>
  <Notes>14</Notes>
  <HiddenSlides>0</HiddenSlides>
  <MMClips>0</MMClips>
  <ScaleCrop>false</ScaleCrop>
  <HeadingPairs>
    <vt:vector size="8" baseType="variant">
      <vt:variant>
        <vt:lpstr>已用的字体</vt:lpstr>
      </vt:variant>
      <vt:variant>
        <vt:i4>9</vt:i4>
      </vt:variant>
      <vt:variant>
        <vt:lpstr>主题</vt:lpstr>
      </vt:variant>
      <vt:variant>
        <vt:i4>12</vt:i4>
      </vt:variant>
      <vt:variant>
        <vt:lpstr>嵌入 OLE 服务器</vt:lpstr>
      </vt:variant>
      <vt:variant>
        <vt:i4>1</vt:i4>
      </vt:variant>
      <vt:variant>
        <vt:lpstr>幻灯片标题</vt:lpstr>
      </vt:variant>
      <vt:variant>
        <vt:i4>14</vt:i4>
      </vt:variant>
    </vt:vector>
  </HeadingPairs>
  <TitlesOfParts>
    <vt:vector size="36" baseType="lpstr">
      <vt:lpstr>等线</vt:lpstr>
      <vt:lpstr>华光综艺_CNKI</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qing zhang</cp:lastModifiedBy>
  <cp:revision>2476</cp:revision>
  <dcterms:created xsi:type="dcterms:W3CDTF">2022-05-23T09:13:00Z</dcterms:created>
  <dcterms:modified xsi:type="dcterms:W3CDTF">2025-04-18T03:32:52Z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