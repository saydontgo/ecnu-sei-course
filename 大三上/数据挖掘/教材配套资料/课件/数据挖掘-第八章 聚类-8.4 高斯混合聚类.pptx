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15638" r:id="rId2"/>
    <p:sldId id="362" r:id="rId3"/>
    <p:sldId id="15733" r:id="rId4"/>
    <p:sldId id="15721" r:id="rId5"/>
    <p:sldId id="15722" r:id="rId6"/>
    <p:sldId id="15695" r:id="rId7"/>
    <p:sldId id="15723" r:id="rId8"/>
    <p:sldId id="15706" r:id="rId9"/>
    <p:sldId id="366" r:id="rId10"/>
    <p:sldId id="15707" r:id="rId11"/>
    <p:sldId id="15709" r:id="rId12"/>
    <p:sldId id="15502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E3E35C62-3D39-4AB8-8AB7-59FFB5AA4980}">
          <p14:sldIdLst>
            <p14:sldId id="15638"/>
            <p14:sldId id="362"/>
            <p14:sldId id="15733"/>
            <p14:sldId id="15721"/>
            <p14:sldId id="15722"/>
            <p14:sldId id="15695"/>
            <p14:sldId id="15723"/>
            <p14:sldId id="15706"/>
            <p14:sldId id="366"/>
            <p14:sldId id="15707"/>
            <p14:sldId id="15709"/>
            <p14:sldId id="1550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34" userDrawn="1">
          <p15:clr>
            <a:srgbClr val="A4A3A4"/>
          </p15:clr>
        </p15:guide>
        <p15:guide id="2" pos="387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7" autoAdjust="0"/>
    <p:restoredTop sz="76549" autoAdjust="0"/>
  </p:normalViewPr>
  <p:slideViewPr>
    <p:cSldViewPr snapToGrid="0" showGuides="1">
      <p:cViewPr varScale="1">
        <p:scale>
          <a:sx n="91" d="100"/>
          <a:sy n="91" d="100"/>
        </p:scale>
        <p:origin x="2256" y="77"/>
      </p:cViewPr>
      <p:guideLst>
        <p:guide orient="horz" pos="2134"/>
        <p:guide pos="3874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2025/4/18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6F833C-0931-4030-8352-AFD9186768B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46728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4EAD9-E8BE-1663-B96E-15B47FFCE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D356058-BC20-AFB2-A658-2C3B619CAD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0640B00-BB28-FE6E-FC87-FF0FCC66D3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04BC683-ACC7-0A1A-0AC5-9941216957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41962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DCE03-312D-C188-57CD-F36F5A736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29D7D76-37EC-7DFE-AD75-332EEC2310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AE7D5E5-563C-BDB2-251D-32D1088A17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556FE58-CFE5-C1D9-C0A8-A068BC8FCF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43429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0F45A-2CF8-C1A1-D55E-FF3F24E63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3F3992E-191D-BECE-EEB4-0B495BD5DB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2C50121-1C9E-9893-8D96-1FA1F9BF25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10E526D-CFC1-575D-5FB4-1A093F4B13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807366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2EFBB-5755-A08F-6862-8750C06DB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E1EE758-7969-FF62-2EF1-3BFDB6F7F9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5075895-3621-7176-7D7F-133506A32D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800" u="sng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3096732-C835-7DB0-2634-4FABC4EECC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39870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99751-D7EC-7654-E9D1-88DD0F9AC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89E8327-FC16-4558-F2E0-DF83E1EA5E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94170BB-3E2B-534A-8BDF-CC38DA4760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77D0EFB-E0B7-B650-E3E0-69064D02EB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678911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AF672-6F97-5F34-8B8B-8A48A3AB7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13E0D72-39C8-A0FD-B624-86F53CFB6F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B55F67A-EA6E-DA0F-C0AD-1BEFF98A29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6C0C54F-7FB7-943E-7962-872042758F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37538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24093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主要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 bwMode="auto">
          <a:xfrm>
            <a:off x="0" y="1771650"/>
            <a:ext cx="12192000" cy="1261491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20000"/>
                  <a:lumOff val="80000"/>
                </a:schemeClr>
              </a:gs>
              <a:gs pos="50000">
                <a:schemeClr val="accent5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16200000" scaled="1"/>
            <a:tileRect/>
          </a:gra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algn="ctr">
              <a:spcBef>
                <a:spcPct val="50000"/>
              </a:spcBef>
            </a:pP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0" y="2394901"/>
            <a:ext cx="12192000" cy="3796496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928495"/>
            <a:endParaRPr lang="zh-CN" altLang="en-US" sz="1400" dirty="0"/>
          </a:p>
        </p:txBody>
      </p:sp>
      <p:grpSp>
        <p:nvGrpSpPr>
          <p:cNvPr id="22" name="组合 21"/>
          <p:cNvGrpSpPr/>
          <p:nvPr userDrawn="1"/>
        </p:nvGrpSpPr>
        <p:grpSpPr>
          <a:xfrm>
            <a:off x="0" y="2291460"/>
            <a:ext cx="12192000" cy="4004169"/>
            <a:chOff x="1960583" y="2188019"/>
            <a:chExt cx="9297266" cy="4004169"/>
          </a:xfrm>
        </p:grpSpPr>
        <p:pic>
          <p:nvPicPr>
            <p:cNvPr id="23" name="图片 22"/>
            <p:cNvPicPr>
              <a:picLocks noChangeAspect="1"/>
            </p:cNvPicPr>
            <p:nvPr/>
          </p:nvPicPr>
          <p:blipFill rotWithShape="1">
            <a:blip r:embed="rId2">
              <a:grayscl/>
            </a:blip>
            <a:srcRect b="72279"/>
            <a:stretch>
              <a:fillRect/>
            </a:stretch>
          </p:blipFill>
          <p:spPr>
            <a:xfrm rot="10800000" flipH="1">
              <a:off x="1960583" y="6087956"/>
              <a:ext cx="9297266" cy="104232"/>
            </a:xfrm>
            <a:prstGeom prst="rect">
              <a:avLst/>
            </a:prstGeom>
          </p:spPr>
        </p:pic>
        <p:pic>
          <p:nvPicPr>
            <p:cNvPr id="24" name="图片 23"/>
            <p:cNvPicPr>
              <a:picLocks noChangeAspect="1"/>
            </p:cNvPicPr>
            <p:nvPr/>
          </p:nvPicPr>
          <p:blipFill rotWithShape="1">
            <a:blip r:embed="rId2">
              <a:grayscl/>
            </a:blip>
            <a:srcRect b="72279"/>
            <a:stretch>
              <a:fillRect/>
            </a:stretch>
          </p:blipFill>
          <p:spPr>
            <a:xfrm flipH="1">
              <a:off x="1960583" y="2188019"/>
              <a:ext cx="9297266" cy="104232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第一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55"/>
          <a:stretch>
            <a:fillRect/>
          </a:stretch>
        </p:blipFill>
        <p:spPr>
          <a:xfrm>
            <a:off x="916640" y="227763"/>
            <a:ext cx="11161059" cy="603504"/>
          </a:xfrm>
          <a:prstGeom prst="rect">
            <a:avLst/>
          </a:prstGeom>
        </p:spPr>
      </p:pic>
      <p:pic>
        <p:nvPicPr>
          <p:cNvPr id="3" name="Picture 2" descr="A logo with dots and lines&#10;&#10;Description automatically generated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8" r="8389" b="36069"/>
          <a:stretch>
            <a:fillRect/>
          </a:stretch>
        </p:blipFill>
        <p:spPr>
          <a:xfrm>
            <a:off x="11249224" y="166730"/>
            <a:ext cx="828475" cy="72557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第一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/>
          <a:srcRect l="453"/>
          <a:stretch>
            <a:fillRect/>
          </a:stretch>
        </p:blipFill>
        <p:spPr>
          <a:xfrm>
            <a:off x="0" y="0"/>
            <a:ext cx="12192000" cy="1014998"/>
          </a:xfrm>
          <a:prstGeom prst="rect">
            <a:avLst/>
          </a:prstGeom>
        </p:spPr>
      </p:pic>
      <p:sp>
        <p:nvSpPr>
          <p:cNvPr id="2" name="Rectangle 1"/>
          <p:cNvSpPr/>
          <p:nvPr userDrawn="1"/>
        </p:nvSpPr>
        <p:spPr>
          <a:xfrm>
            <a:off x="5982657" y="0"/>
            <a:ext cx="202179" cy="1014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第一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第二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978805" y="232958"/>
            <a:ext cx="2877689" cy="584763"/>
          </a:xfrm>
          <a:prstGeom prst="rect">
            <a:avLst/>
          </a:prstGeom>
        </p:spPr>
        <p:txBody>
          <a:bodyPr wrap="none" lIns="91429" tIns="45714" rIns="91429" bIns="45714">
            <a:spAutoFit/>
          </a:bodyPr>
          <a:lstStyle/>
          <a:p>
            <a:pPr lvl="0"/>
            <a:r>
              <a:rPr lang="zh-CN" altLang="en-US" sz="3200" b="1" spc="300" dirty="0">
                <a:solidFill>
                  <a:srgbClr val="FFFF00"/>
                </a:solidFill>
                <a:effectLst>
                  <a:outerShdw blurRad="38100" dist="762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二、主要工作</a:t>
            </a:r>
          </a:p>
        </p:txBody>
      </p:sp>
      <p:sp>
        <p:nvSpPr>
          <p:cNvPr id="2" name="矩形 26"/>
          <p:cNvSpPr/>
          <p:nvPr userDrawn="1"/>
        </p:nvSpPr>
        <p:spPr>
          <a:xfrm>
            <a:off x="11281576" y="231052"/>
            <a:ext cx="800197" cy="584763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91429" tIns="45714" rIns="91429" bIns="45714">
            <a:spAutoFit/>
          </a:bodyPr>
          <a:lstStyle/>
          <a:p>
            <a:pPr algn="dist"/>
            <a:r>
              <a:rPr lang="zh-CN" altLang="en-US" sz="1600" b="0" dirty="0">
                <a:solidFill>
                  <a:srgbClr val="FD5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光综艺_CNKI" panose="02000500000000000000" pitchFamily="2" charset="-122"/>
                <a:ea typeface="华光综艺_CNKI" panose="02000500000000000000" pitchFamily="2" charset="-122"/>
              </a:rPr>
              <a:t>大数据</a:t>
            </a:r>
            <a:endParaRPr lang="en-US" altLang="zh-CN" sz="1600" b="0" dirty="0">
              <a:solidFill>
                <a:srgbClr val="FD5C0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  <a:p>
            <a:pPr algn="dist"/>
            <a:r>
              <a:rPr lang="zh-CN" altLang="en-US" sz="16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D5C0C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可</a:t>
            </a:r>
            <a:r>
              <a:rPr lang="zh-CN" altLang="en-US" sz="1600" b="0" dirty="0">
                <a:solidFill>
                  <a:srgbClr val="00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视</a:t>
            </a:r>
            <a:r>
              <a:rPr lang="zh-CN" altLang="en-US" sz="1600" b="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CCFF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化</a:t>
            </a:r>
            <a:endParaRPr lang="en-US" sz="16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第三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978805" y="232958"/>
            <a:ext cx="2877689" cy="584763"/>
          </a:xfrm>
          <a:prstGeom prst="rect">
            <a:avLst/>
          </a:prstGeom>
        </p:spPr>
        <p:txBody>
          <a:bodyPr wrap="none" lIns="91429" tIns="45714" rIns="91429" bIns="45714">
            <a:spAutoFit/>
          </a:bodyPr>
          <a:lstStyle/>
          <a:p>
            <a:pPr lvl="0"/>
            <a:r>
              <a:rPr lang="zh-CN" altLang="en-US" sz="3200" b="1" spc="300" dirty="0">
                <a:solidFill>
                  <a:srgbClr val="FFFF00"/>
                </a:solidFill>
                <a:effectLst>
                  <a:outerShdw blurRad="38100" dist="762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三、总结展望</a:t>
            </a:r>
          </a:p>
        </p:txBody>
      </p:sp>
      <p:sp>
        <p:nvSpPr>
          <p:cNvPr id="2" name="矩形 26"/>
          <p:cNvSpPr/>
          <p:nvPr userDrawn="1"/>
        </p:nvSpPr>
        <p:spPr>
          <a:xfrm>
            <a:off x="11281576" y="231052"/>
            <a:ext cx="800197" cy="584763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91429" tIns="45714" rIns="91429" bIns="45714">
            <a:spAutoFit/>
          </a:bodyPr>
          <a:lstStyle/>
          <a:p>
            <a:pPr algn="dist"/>
            <a:r>
              <a:rPr lang="zh-CN" altLang="en-US" sz="1600" b="0" dirty="0">
                <a:solidFill>
                  <a:srgbClr val="FD5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光综艺_CNKI" panose="02000500000000000000" pitchFamily="2" charset="-122"/>
                <a:ea typeface="华光综艺_CNKI" panose="02000500000000000000" pitchFamily="2" charset="-122"/>
              </a:rPr>
              <a:t>大数据</a:t>
            </a:r>
            <a:endParaRPr lang="en-US" altLang="zh-CN" sz="1600" b="0" dirty="0">
              <a:solidFill>
                <a:srgbClr val="FD5C0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  <a:p>
            <a:pPr algn="dist"/>
            <a:r>
              <a:rPr lang="zh-CN" altLang="en-US" sz="16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D5C0C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可</a:t>
            </a:r>
            <a:r>
              <a:rPr lang="zh-CN" altLang="en-US" sz="1600" b="0" dirty="0">
                <a:solidFill>
                  <a:srgbClr val="00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视</a:t>
            </a:r>
            <a:r>
              <a:rPr lang="zh-CN" altLang="en-US" sz="1600" b="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CCFF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化</a:t>
            </a:r>
            <a:endParaRPr lang="en-US" sz="16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978805" y="232958"/>
            <a:ext cx="1531166" cy="584763"/>
          </a:xfrm>
          <a:prstGeom prst="rect">
            <a:avLst/>
          </a:prstGeom>
        </p:spPr>
        <p:txBody>
          <a:bodyPr wrap="none" lIns="91429" tIns="45714" rIns="91429" bIns="45714">
            <a:spAutoFit/>
          </a:bodyPr>
          <a:lstStyle/>
          <a:p>
            <a:pPr lvl="0"/>
            <a:r>
              <a:rPr lang="zh-CN" altLang="en-US" sz="3200" b="1" spc="300" dirty="0">
                <a:solidFill>
                  <a:srgbClr val="FFFF00"/>
                </a:solidFill>
                <a:effectLst>
                  <a:outerShdw blurRad="38100" dist="762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结束语</a:t>
            </a:r>
          </a:p>
        </p:txBody>
      </p:sp>
      <p:sp>
        <p:nvSpPr>
          <p:cNvPr id="2" name="矩形 26"/>
          <p:cNvSpPr/>
          <p:nvPr userDrawn="1"/>
        </p:nvSpPr>
        <p:spPr>
          <a:xfrm>
            <a:off x="11281576" y="231052"/>
            <a:ext cx="800197" cy="584763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91429" tIns="45714" rIns="91429" bIns="45714">
            <a:spAutoFit/>
          </a:bodyPr>
          <a:lstStyle/>
          <a:p>
            <a:pPr algn="dist"/>
            <a:r>
              <a:rPr lang="zh-CN" altLang="en-US" sz="1600" b="0" dirty="0">
                <a:solidFill>
                  <a:srgbClr val="FD5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光综艺_CNKI" panose="02000500000000000000" pitchFamily="2" charset="-122"/>
                <a:ea typeface="华光综艺_CNKI" panose="02000500000000000000" pitchFamily="2" charset="-122"/>
              </a:rPr>
              <a:t>大数据</a:t>
            </a:r>
            <a:endParaRPr lang="en-US" altLang="zh-CN" sz="1600" b="0" dirty="0">
              <a:solidFill>
                <a:srgbClr val="FD5C0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  <a:p>
            <a:pPr algn="dist"/>
            <a:r>
              <a:rPr lang="zh-CN" altLang="en-US" sz="16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D5C0C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可</a:t>
            </a:r>
            <a:r>
              <a:rPr lang="zh-CN" altLang="en-US" sz="1600" b="0" dirty="0">
                <a:solidFill>
                  <a:srgbClr val="00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视</a:t>
            </a:r>
            <a:r>
              <a:rPr lang="zh-CN" altLang="en-US" sz="1600" b="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CCFF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化</a:t>
            </a:r>
            <a:endParaRPr lang="en-US" sz="16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纯背景带校徽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D:\works\工作\周琴\56-2019-大数据与复杂网络\模板设计\内页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77" y="0"/>
            <a:ext cx="12192000" cy="6860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15 June, 2011</a:t>
            </a:r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IHCAR</a:t>
            </a:r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46203-2B80-4CBC-A257-89A48550B42A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375374" y="1"/>
            <a:ext cx="140967" cy="962147"/>
            <a:chOff x="281524" y="0"/>
            <a:chExt cx="105725" cy="721610"/>
          </a:xfrm>
          <a:solidFill>
            <a:srgbClr val="1A7BAE"/>
          </a:solidFill>
        </p:grpSpPr>
        <p:sp>
          <p:nvSpPr>
            <p:cNvPr id="5" name="矩形 4"/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561465"/>
              <a:endParaRPr lang="zh-CN" altLang="en-US" sz="3065">
                <a:solidFill>
                  <a:prstClr val="white"/>
                </a:solidFill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561465"/>
              <a:endParaRPr lang="zh-CN" altLang="en-US" sz="3065">
                <a:solidFill>
                  <a:prstClr val="white"/>
                </a:solidFill>
              </a:endParaRPr>
            </a:p>
          </p:txBody>
        </p:sp>
      </p:grpSp>
      <p:grpSp>
        <p:nvGrpSpPr>
          <p:cNvPr id="7" name="组合 6"/>
          <p:cNvGrpSpPr/>
          <p:nvPr userDrawn="1"/>
        </p:nvGrpSpPr>
        <p:grpSpPr>
          <a:xfrm rot="10800000">
            <a:off x="11735683" y="6617464"/>
            <a:ext cx="140967" cy="240536"/>
            <a:chOff x="281524" y="0"/>
            <a:chExt cx="105725" cy="721610"/>
          </a:xfrm>
          <a:solidFill>
            <a:srgbClr val="1A7BAE"/>
          </a:solidFill>
        </p:grpSpPr>
        <p:sp>
          <p:nvSpPr>
            <p:cNvPr id="10" name="矩形 9"/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561465"/>
              <a:endParaRPr lang="zh-CN" altLang="en-US" sz="3065">
                <a:solidFill>
                  <a:prstClr val="white"/>
                </a:solidFill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561465"/>
              <a:endParaRPr lang="zh-CN" altLang="en-US" sz="3065">
                <a:solidFill>
                  <a:prstClr val="white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11803774" y="6581013"/>
            <a:ext cx="372196" cy="276987"/>
          </a:xfrm>
          <a:prstGeom prst="rect">
            <a:avLst/>
          </a:prstGeom>
        </p:spPr>
        <p:txBody>
          <a:bodyPr wrap="none" lIns="91429" tIns="45714" rIns="91429" bIns="45714">
            <a:spAutoFit/>
          </a:bodyPr>
          <a:lstStyle/>
          <a:p>
            <a:fld id="{5E083074-D3FF-49A6-8E12-2ECAA15AAAA1}" type="slidenum">
              <a:rPr lang="zh-CN" altLang="en-US" sz="120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‹#›</a:t>
            </a:fld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3" Type="http://schemas.openxmlformats.org/officeDocument/2006/relationships/image" Target="../media/image11.emf"/><Relationship Id="rId7" Type="http://schemas.openxmlformats.org/officeDocument/2006/relationships/oleObject" Target="../embeddings/oleObject4.bin"/><Relationship Id="rId12" Type="http://schemas.openxmlformats.org/officeDocument/2006/relationships/image" Target="../media/image16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emf"/><Relationship Id="rId11" Type="http://schemas.openxmlformats.org/officeDocument/2006/relationships/oleObject" Target="../embeddings/oleObject6.bin"/><Relationship Id="rId5" Type="http://schemas.openxmlformats.org/officeDocument/2006/relationships/oleObject" Target="../embeddings/oleObject3.bin"/><Relationship Id="rId10" Type="http://schemas.openxmlformats.org/officeDocument/2006/relationships/image" Target="../media/image15.wmf"/><Relationship Id="rId4" Type="http://schemas.openxmlformats.org/officeDocument/2006/relationships/image" Target="../media/image12.png"/><Relationship Id="rId9" Type="http://schemas.openxmlformats.org/officeDocument/2006/relationships/oleObject" Target="../embeddings/oleObject5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13" Type="http://schemas.openxmlformats.org/officeDocument/2006/relationships/image" Target="../media/image22.emf"/><Relationship Id="rId3" Type="http://schemas.openxmlformats.org/officeDocument/2006/relationships/image" Target="../media/image17.wmf"/><Relationship Id="rId7" Type="http://schemas.openxmlformats.org/officeDocument/2006/relationships/image" Target="../media/image19.emf"/><Relationship Id="rId12" Type="http://schemas.openxmlformats.org/officeDocument/2006/relationships/oleObject" Target="../embeddings/oleObject12.bin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9.bin"/><Relationship Id="rId11" Type="http://schemas.openxmlformats.org/officeDocument/2006/relationships/image" Target="../media/image21.wmf"/><Relationship Id="rId5" Type="http://schemas.openxmlformats.org/officeDocument/2006/relationships/image" Target="../media/image18.wmf"/><Relationship Id="rId15" Type="http://schemas.openxmlformats.org/officeDocument/2006/relationships/image" Target="../media/image23.emf"/><Relationship Id="rId10" Type="http://schemas.openxmlformats.org/officeDocument/2006/relationships/oleObject" Target="../embeddings/oleObject11.bin"/><Relationship Id="rId4" Type="http://schemas.openxmlformats.org/officeDocument/2006/relationships/oleObject" Target="../embeddings/oleObject8.bin"/><Relationship Id="rId9" Type="http://schemas.openxmlformats.org/officeDocument/2006/relationships/image" Target="../media/image20.emf"/><Relationship Id="rId14" Type="http://schemas.openxmlformats.org/officeDocument/2006/relationships/oleObject" Target="../embeddings/oleObject13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.bin"/><Relationship Id="rId13" Type="http://schemas.openxmlformats.org/officeDocument/2006/relationships/image" Target="../media/image29.emf"/><Relationship Id="rId3" Type="http://schemas.openxmlformats.org/officeDocument/2006/relationships/image" Target="../media/image24.emf"/><Relationship Id="rId7" Type="http://schemas.openxmlformats.org/officeDocument/2006/relationships/image" Target="../media/image26.emf"/><Relationship Id="rId12" Type="http://schemas.openxmlformats.org/officeDocument/2006/relationships/oleObject" Target="../embeddings/oleObject19.bin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6.bin"/><Relationship Id="rId11" Type="http://schemas.openxmlformats.org/officeDocument/2006/relationships/image" Target="../media/image28.emf"/><Relationship Id="rId5" Type="http://schemas.openxmlformats.org/officeDocument/2006/relationships/image" Target="../media/image25.emf"/><Relationship Id="rId10" Type="http://schemas.openxmlformats.org/officeDocument/2006/relationships/oleObject" Target="../embeddings/oleObject18.bin"/><Relationship Id="rId4" Type="http://schemas.openxmlformats.org/officeDocument/2006/relationships/oleObject" Target="../embeddings/oleObject15.bin"/><Relationship Id="rId9" Type="http://schemas.openxmlformats.org/officeDocument/2006/relationships/image" Target="../media/image27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7" Type="http://schemas.openxmlformats.org/officeDocument/2006/relationships/image" Target="../media/image34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emf"/><Relationship Id="rId5" Type="http://schemas.openxmlformats.org/officeDocument/2006/relationships/image" Target="../media/image32.emf"/><Relationship Id="rId4" Type="http://schemas.openxmlformats.org/officeDocument/2006/relationships/image" Target="../media/image31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emf"/><Relationship Id="rId5" Type="http://schemas.openxmlformats.org/officeDocument/2006/relationships/oleObject" Target="../embeddings/oleObject21.bin"/><Relationship Id="rId4" Type="http://schemas.openxmlformats.org/officeDocument/2006/relationships/image" Target="../media/image35.e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svg"/><Relationship Id="rId5" Type="http://schemas.openxmlformats.org/officeDocument/2006/relationships/image" Target="../media/image41.png"/><Relationship Id="rId4" Type="http://schemas.openxmlformats.org/officeDocument/2006/relationships/image" Target="../media/image40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F8D0B-5064-2AF9-7424-3F1097559ACE}"/>
              </a:ext>
            </a:extLst>
          </p:cNvPr>
          <p:cNvSpPr txBox="1">
            <a:spLocks/>
          </p:cNvSpPr>
          <p:nvPr/>
        </p:nvSpPr>
        <p:spPr>
          <a:xfrm>
            <a:off x="408972" y="1926317"/>
            <a:ext cx="11374056" cy="2183408"/>
          </a:xfrm>
          <a:prstGeom prst="rect">
            <a:avLst/>
          </a:prstGeom>
          <a:noFill/>
        </p:spPr>
        <p:txBody>
          <a:bodyPr anchor="ctr"/>
          <a:lstStyle>
            <a:defPPr>
              <a:defRPr lang="zh-CN"/>
            </a:defPPr>
            <a:lvl1pPr algn="ctr" eaLnBrk="0" fontAlgn="base" hangingPunct="0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defRPr sz="6600" b="1" spc="300">
                <a:solidFill>
                  <a:srgbClr val="FFFF00"/>
                </a:solidFill>
                <a:effectLst>
                  <a:outerShdw blurRad="38100" dist="1270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3429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6858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10287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13716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>
              <a:lnSpc>
                <a:spcPct val="200000"/>
              </a:lnSpc>
              <a:spcAft>
                <a:spcPts val="1200"/>
              </a:spcAft>
            </a:pPr>
            <a:r>
              <a:rPr lang="zh-CN" altLang="en-US" sz="5400" b="0" dirty="0">
                <a:solidFill>
                  <a:schemeClr val="bg1"/>
                </a:solidFill>
                <a:ea typeface="华光综艺_CNKI" panose="02000500000000000000" pitchFamily="2" charset="-122"/>
              </a:rPr>
              <a:t>第</a:t>
            </a:r>
            <a:r>
              <a:rPr lang="en-US" altLang="zh-CN" sz="5400" b="0" dirty="0">
                <a:solidFill>
                  <a:schemeClr val="bg1"/>
                </a:solidFill>
                <a:ea typeface="华光综艺_CNKI" panose="02000500000000000000" pitchFamily="2" charset="-122"/>
              </a:rPr>
              <a:t>8.4</a:t>
            </a:r>
            <a:r>
              <a:rPr lang="zh-CN" altLang="en-US" sz="5400" b="0" dirty="0">
                <a:solidFill>
                  <a:schemeClr val="bg1"/>
                </a:solidFill>
                <a:ea typeface="华光综艺_CNKI" panose="02000500000000000000" pitchFamily="2" charset="-122"/>
              </a:rPr>
              <a:t>节</a:t>
            </a:r>
            <a:endParaRPr lang="en-US" altLang="zh-CN" sz="5400" b="0" dirty="0">
              <a:solidFill>
                <a:schemeClr val="bg1"/>
              </a:solidFill>
              <a:ea typeface="华光综艺_CNKI" panose="02000500000000000000" pitchFamily="2" charset="-122"/>
            </a:endParaRPr>
          </a:p>
          <a:p>
            <a:r>
              <a:rPr lang="zh-CN" altLang="en-US" b="0" dirty="0">
                <a:ea typeface="华光综艺_CNKI" panose="02000500000000000000" pitchFamily="2" charset="-122"/>
              </a:rPr>
              <a:t>高斯混合聚类</a:t>
            </a:r>
          </a:p>
        </p:txBody>
      </p:sp>
    </p:spTree>
    <p:extLst>
      <p:ext uri="{BB962C8B-B14F-4D97-AF65-F5344CB8AC3E}">
        <p14:creationId xmlns:p14="http://schemas.microsoft.com/office/powerpoint/2010/main" val="3830953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E66D0829-3CB8-B760-5F85-19DEF74236E2}"/>
              </a:ext>
            </a:extLst>
          </p:cNvPr>
          <p:cNvSpPr txBox="1"/>
          <p:nvPr/>
        </p:nvSpPr>
        <p:spPr>
          <a:xfrm>
            <a:off x="2107276" y="1587976"/>
            <a:ext cx="9771298" cy="14229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4800" algn="just">
              <a:lnSpc>
                <a:spcPct val="150000"/>
              </a:lnSpc>
              <a:tabLst>
                <a:tab pos="304800" algn="l"/>
              </a:tabLst>
            </a:pPr>
            <a:r>
              <a:rPr lang="zh-CN" altLang="zh-CN" sz="2000" b="1" kern="100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高斯混合聚类</a:t>
            </a:r>
            <a:r>
              <a:rPr lang="zh-CN" altLang="zh-CN" sz="2000" kern="1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将数据集视作多个</a:t>
            </a:r>
            <a:r>
              <a:rPr lang="zh-CN" altLang="zh-CN" sz="2000" kern="100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高斯分布</a:t>
            </a:r>
            <a:r>
              <a:rPr lang="zh-CN" altLang="zh-CN" sz="2000" kern="1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混合叠加的分布，通过估计高斯混合模型的中单个高斯分布的</a:t>
            </a:r>
            <a:r>
              <a:rPr lang="zh-CN" altLang="zh-CN" sz="2000" kern="100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均值</a:t>
            </a:r>
            <a:r>
              <a:rPr lang="zh-CN" altLang="zh-CN" sz="2000" kern="1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和</a:t>
            </a:r>
            <a:r>
              <a:rPr lang="zh-CN" altLang="zh-CN" sz="2000" kern="100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协方差</a:t>
            </a:r>
            <a:r>
              <a:rPr lang="zh-CN" altLang="zh-CN" sz="2000" kern="1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，</a:t>
            </a:r>
            <a:r>
              <a:rPr lang="zh-CN" altLang="zh-CN" sz="2000" kern="100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拟合</a:t>
            </a:r>
            <a:r>
              <a:rPr lang="zh-CN" altLang="zh-CN" sz="2000" kern="1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数据集中不同聚类的</a:t>
            </a:r>
            <a:r>
              <a:rPr lang="zh-CN" altLang="zh-CN" sz="2000" kern="100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数据分布</a:t>
            </a:r>
            <a:r>
              <a:rPr lang="zh-CN" altLang="zh-CN" sz="2000" kern="1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，对每个样本所属的高斯分布（簇）进行确定</a:t>
            </a:r>
            <a:endParaRPr lang="zh-CN" altLang="en-US" sz="2000" kern="100" dirty="0"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6" name="矩形: 圆角 12">
            <a:extLst>
              <a:ext uri="{FF2B5EF4-FFF2-40B4-BE49-F238E27FC236}">
                <a16:creationId xmlns:a16="http://schemas.microsoft.com/office/drawing/2014/main" id="{ACA58A06-5547-E0DE-B4BE-37D412761622}"/>
              </a:ext>
            </a:extLst>
          </p:cNvPr>
          <p:cNvSpPr/>
          <p:nvPr/>
        </p:nvSpPr>
        <p:spPr>
          <a:xfrm>
            <a:off x="166155" y="976588"/>
            <a:ext cx="3304505" cy="544830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152000" rIns="108000" rtlCol="0" anchor="ctr">
            <a:spAutoFit/>
          </a:bodyPr>
          <a:lstStyle/>
          <a:p>
            <a:pPr defTabSz="1460500" eaLnBrk="1" hangingPunct="1">
              <a:spcBef>
                <a:spcPct val="30000"/>
              </a:spcBef>
            </a:pPr>
            <a:r>
              <a:rPr lang="zh-CN" altLang="en-US" sz="26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rPr>
              <a:t>高斯混合分布</a:t>
            </a:r>
          </a:p>
        </p:txBody>
      </p:sp>
      <p:sp>
        <p:nvSpPr>
          <p:cNvPr id="7" name="箭头: 五边形 11">
            <a:extLst>
              <a:ext uri="{FF2B5EF4-FFF2-40B4-BE49-F238E27FC236}">
                <a16:creationId xmlns:a16="http://schemas.microsoft.com/office/drawing/2014/main" id="{2E49800A-F27D-C7DC-846A-599750EBA101}"/>
              </a:ext>
            </a:extLst>
          </p:cNvPr>
          <p:cNvSpPr/>
          <p:nvPr/>
        </p:nvSpPr>
        <p:spPr>
          <a:xfrm>
            <a:off x="166154" y="976589"/>
            <a:ext cx="1152105" cy="544830"/>
          </a:xfrm>
          <a:prstGeom prst="homePlate">
            <a:avLst/>
          </a:prstGeom>
          <a:gradFill>
            <a:gsLst>
              <a:gs pos="417">
                <a:srgbClr val="00B0F0"/>
              </a:gs>
              <a:gs pos="100000">
                <a:srgbClr val="0070C0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3600" dirty="0">
                <a:solidFill>
                  <a:prstClr val="white"/>
                </a:solidFill>
                <a:latin typeface="Impact" panose="020B0806030902050204" pitchFamily="34" charset="0"/>
                <a:ea typeface="等线" panose="02010600030101010101" charset="-122"/>
                <a:sym typeface="Times New Roman" panose="02020603050405020304" pitchFamily="18" charset="0"/>
              </a:rPr>
              <a:t>4.1</a:t>
            </a:r>
            <a:endParaRPr lang="zh-CN" altLang="en-US" sz="3600" dirty="0">
              <a:solidFill>
                <a:prstClr val="white"/>
              </a:solidFill>
              <a:latin typeface="Impact" panose="020B0806030902050204" pitchFamily="34" charset="0"/>
              <a:ea typeface="等线" panose="02010600030101010101" charset="-122"/>
              <a:sym typeface="Times New Roman" panose="02020603050405020304" pitchFamily="18" charset="0"/>
            </a:endParaRPr>
          </a:p>
        </p:txBody>
      </p:sp>
      <p:sp>
        <p:nvSpPr>
          <p:cNvPr id="8" name="矩形: 圆角 55">
            <a:extLst>
              <a:ext uri="{FF2B5EF4-FFF2-40B4-BE49-F238E27FC236}">
                <a16:creationId xmlns:a16="http://schemas.microsoft.com/office/drawing/2014/main" id="{243D1C1E-B2D2-91DC-5915-6AF7E26BB997}"/>
              </a:ext>
            </a:extLst>
          </p:cNvPr>
          <p:cNvSpPr/>
          <p:nvPr/>
        </p:nvSpPr>
        <p:spPr>
          <a:xfrm>
            <a:off x="166154" y="1665045"/>
            <a:ext cx="1941122" cy="634408"/>
          </a:xfrm>
          <a:prstGeom prst="roundRect">
            <a:avLst>
              <a:gd name="adj" fmla="val 50000"/>
            </a:avLst>
          </a:prstGeom>
          <a:noFill/>
          <a:ln w="28575">
            <a:gradFill>
              <a:gsLst>
                <a:gs pos="0">
                  <a:schemeClr val="bg2">
                    <a:lumMod val="59000"/>
                    <a:lumOff val="41000"/>
                  </a:schemeClr>
                </a:gs>
                <a:gs pos="100000">
                  <a:srgbClr val="0066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65" b="1" i="0" u="none" strike="noStrike" kern="1200" cap="none" spc="0" normalizeH="0" baseline="0" noProof="0" dirty="0">
                <a:ln>
                  <a:noFill/>
                </a:ln>
                <a:solidFill>
                  <a:srgbClr val="FD5C0C"/>
                </a:solidFill>
                <a:effectLst>
                  <a:reflection blurRad="6350" stA="60000" endA="900" endPos="58000" dir="5400000" sy="-100000" algn="bl" rotWithShape="0"/>
                </a:effectLst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基本概念</a:t>
            </a:r>
          </a:p>
        </p:txBody>
      </p:sp>
      <p:sp>
        <p:nvSpPr>
          <p:cNvPr id="9" name="矩形 26">
            <a:extLst>
              <a:ext uri="{FF2B5EF4-FFF2-40B4-BE49-F238E27FC236}">
                <a16:creationId xmlns:a16="http://schemas.microsoft.com/office/drawing/2014/main" id="{7D15BAA1-3B8B-035F-9793-A5B2C2EECBE0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四、高斯混合聚类</a:t>
            </a:r>
            <a:endParaRPr lang="en-US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F2DE05F9-C85D-50C2-2FD6-209D8267F66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9598220"/>
              </p:ext>
            </p:extLst>
          </p:nvPr>
        </p:nvGraphicFramePr>
        <p:xfrm>
          <a:off x="264212" y="4647231"/>
          <a:ext cx="4432300" cy="101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19380" imgH="552620" progId="Equation.DSMT4">
                  <p:embed/>
                </p:oleObj>
              </mc:Choice>
              <mc:Fallback>
                <p:oleObj name="Equation" r:id="rId2" imgW="2419380" imgH="5526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64212" y="4647231"/>
                        <a:ext cx="4432300" cy="1012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文本框 22">
            <a:extLst>
              <a:ext uri="{FF2B5EF4-FFF2-40B4-BE49-F238E27FC236}">
                <a16:creationId xmlns:a16="http://schemas.microsoft.com/office/drawing/2014/main" id="{403ABEE1-2D65-9E14-A46A-07DC9CB7F95A}"/>
              </a:ext>
            </a:extLst>
          </p:cNvPr>
          <p:cNvSpPr txBox="1"/>
          <p:nvPr/>
        </p:nvSpPr>
        <p:spPr>
          <a:xfrm>
            <a:off x="1770853" y="4158438"/>
            <a:ext cx="13400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000" kern="10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高斯分布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Rectangle 13">
            <a:extLst>
              <a:ext uri="{FF2B5EF4-FFF2-40B4-BE49-F238E27FC236}">
                <a16:creationId xmlns:a16="http://schemas.microsoft.com/office/drawing/2014/main" id="{AF765CC1-7DEA-A826-386D-2DB0B4AF69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955" y="431820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1" name="Rectangle 16">
            <a:extLst>
              <a:ext uri="{FF2B5EF4-FFF2-40B4-BE49-F238E27FC236}">
                <a16:creationId xmlns:a16="http://schemas.microsoft.com/office/drawing/2014/main" id="{CA7D6FBC-0D6F-91A8-A60C-D338F347B5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955" y="505163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7650" name="Picture 2">
            <a:extLst>
              <a:ext uri="{FF2B5EF4-FFF2-40B4-BE49-F238E27FC236}">
                <a16:creationId xmlns:a16="http://schemas.microsoft.com/office/drawing/2014/main" id="{43244150-1EF3-7570-821D-1C08087429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1738" y="3235164"/>
            <a:ext cx="7170262" cy="3161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3709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CD8A3-6988-5716-B266-33997F2C6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12">
            <a:extLst>
              <a:ext uri="{FF2B5EF4-FFF2-40B4-BE49-F238E27FC236}">
                <a16:creationId xmlns:a16="http://schemas.microsoft.com/office/drawing/2014/main" id="{974FD79D-AF94-4CFE-2E3F-BD999F327368}"/>
              </a:ext>
            </a:extLst>
          </p:cNvPr>
          <p:cNvSpPr/>
          <p:nvPr/>
        </p:nvSpPr>
        <p:spPr>
          <a:xfrm>
            <a:off x="166155" y="976588"/>
            <a:ext cx="3304505" cy="544830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152000" rIns="108000" rtlCol="0" anchor="ctr">
            <a:spAutoFit/>
          </a:bodyPr>
          <a:lstStyle/>
          <a:p>
            <a:pPr defTabSz="1460500" eaLnBrk="1" hangingPunct="1">
              <a:spcBef>
                <a:spcPct val="30000"/>
              </a:spcBef>
            </a:pPr>
            <a:r>
              <a:rPr lang="zh-CN" altLang="en-US" sz="26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rPr>
              <a:t>高斯混合分布</a:t>
            </a:r>
          </a:p>
        </p:txBody>
      </p:sp>
      <p:sp>
        <p:nvSpPr>
          <p:cNvPr id="7" name="箭头: 五边形 11">
            <a:extLst>
              <a:ext uri="{FF2B5EF4-FFF2-40B4-BE49-F238E27FC236}">
                <a16:creationId xmlns:a16="http://schemas.microsoft.com/office/drawing/2014/main" id="{66E1458C-0489-EA5C-F0B5-2D4F18A34F80}"/>
              </a:ext>
            </a:extLst>
          </p:cNvPr>
          <p:cNvSpPr/>
          <p:nvPr/>
        </p:nvSpPr>
        <p:spPr>
          <a:xfrm>
            <a:off x="166154" y="976589"/>
            <a:ext cx="1152105" cy="544830"/>
          </a:xfrm>
          <a:prstGeom prst="homePlate">
            <a:avLst/>
          </a:prstGeom>
          <a:gradFill>
            <a:gsLst>
              <a:gs pos="417">
                <a:srgbClr val="00B0F0"/>
              </a:gs>
              <a:gs pos="100000">
                <a:srgbClr val="0070C0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3600" dirty="0">
                <a:solidFill>
                  <a:prstClr val="white"/>
                </a:solidFill>
                <a:latin typeface="Impact" panose="020B0806030902050204" pitchFamily="34" charset="0"/>
                <a:ea typeface="等线" panose="02010600030101010101" charset="-122"/>
                <a:sym typeface="Times New Roman" panose="02020603050405020304" pitchFamily="18" charset="0"/>
              </a:rPr>
              <a:t>4.1</a:t>
            </a:r>
            <a:endParaRPr lang="zh-CN" altLang="en-US" sz="3600" dirty="0">
              <a:solidFill>
                <a:prstClr val="white"/>
              </a:solidFill>
              <a:latin typeface="Impact" panose="020B0806030902050204" pitchFamily="34" charset="0"/>
              <a:ea typeface="等线" panose="02010600030101010101" charset="-122"/>
              <a:sym typeface="Times New Roman" panose="02020603050405020304" pitchFamily="18" charset="0"/>
            </a:endParaRPr>
          </a:p>
        </p:txBody>
      </p:sp>
      <p:sp>
        <p:nvSpPr>
          <p:cNvPr id="8" name="矩形: 圆角 55">
            <a:extLst>
              <a:ext uri="{FF2B5EF4-FFF2-40B4-BE49-F238E27FC236}">
                <a16:creationId xmlns:a16="http://schemas.microsoft.com/office/drawing/2014/main" id="{01866B1E-DBDF-3015-EB18-C8B62CB0F6EA}"/>
              </a:ext>
            </a:extLst>
          </p:cNvPr>
          <p:cNvSpPr/>
          <p:nvPr/>
        </p:nvSpPr>
        <p:spPr>
          <a:xfrm>
            <a:off x="166154" y="1665045"/>
            <a:ext cx="1941122" cy="634408"/>
          </a:xfrm>
          <a:prstGeom prst="roundRect">
            <a:avLst>
              <a:gd name="adj" fmla="val 50000"/>
            </a:avLst>
          </a:prstGeom>
          <a:noFill/>
          <a:ln w="28575">
            <a:gradFill>
              <a:gsLst>
                <a:gs pos="0">
                  <a:schemeClr val="bg2">
                    <a:lumMod val="59000"/>
                    <a:lumOff val="41000"/>
                  </a:schemeClr>
                </a:gs>
                <a:gs pos="100000">
                  <a:srgbClr val="0066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65" b="1" i="0" u="none" strike="noStrike" kern="1200" cap="none" spc="0" normalizeH="0" baseline="0" noProof="0" dirty="0">
                <a:ln>
                  <a:noFill/>
                </a:ln>
                <a:solidFill>
                  <a:srgbClr val="FD5C0C"/>
                </a:solidFill>
                <a:effectLst>
                  <a:reflection blurRad="6350" stA="60000" endA="900" endPos="58000" dir="5400000" sy="-100000" algn="bl" rotWithShape="0"/>
                </a:effectLst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基本概念</a:t>
            </a:r>
          </a:p>
        </p:txBody>
      </p:sp>
      <p:sp>
        <p:nvSpPr>
          <p:cNvPr id="9" name="矩形 26">
            <a:extLst>
              <a:ext uri="{FF2B5EF4-FFF2-40B4-BE49-F238E27FC236}">
                <a16:creationId xmlns:a16="http://schemas.microsoft.com/office/drawing/2014/main" id="{46CFBBB4-7C04-A9E3-8D38-9CB6342BCC32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四、高斯混合聚类</a:t>
            </a:r>
            <a:endParaRPr lang="en-US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2FCB378-4A10-A0D9-2AFD-7338289068B1}"/>
              </a:ext>
            </a:extLst>
          </p:cNvPr>
          <p:cNvSpPr txBox="1"/>
          <p:nvPr/>
        </p:nvSpPr>
        <p:spPr>
          <a:xfrm>
            <a:off x="2288820" y="1703886"/>
            <a:ext cx="19480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高斯混合分布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8" name="对象 27">
            <a:extLst>
              <a:ext uri="{FF2B5EF4-FFF2-40B4-BE49-F238E27FC236}">
                <a16:creationId xmlns:a16="http://schemas.microsoft.com/office/drawing/2014/main" id="{79FFD98F-B2CA-1D6B-F558-110652B5D3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5361222"/>
              </p:ext>
            </p:extLst>
          </p:nvPr>
        </p:nvGraphicFramePr>
        <p:xfrm>
          <a:off x="5351398" y="1578330"/>
          <a:ext cx="5475406" cy="7180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324333" imgH="304931" progId="Equation.DSMT4">
                  <p:embed/>
                </p:oleObj>
              </mc:Choice>
              <mc:Fallback>
                <p:oleObj name="Equation" r:id="rId2" imgW="2324333" imgH="304931" progId="Equation.DSMT4">
                  <p:embed/>
                  <p:pic>
                    <p:nvPicPr>
                      <p:cNvPr id="28" name="对象 27">
                        <a:extLst>
                          <a:ext uri="{FF2B5EF4-FFF2-40B4-BE49-F238E27FC236}">
                            <a16:creationId xmlns:a16="http://schemas.microsoft.com/office/drawing/2014/main" id="{2B3D6016-E57A-2D61-3467-D64838CCDD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351398" y="1578330"/>
                        <a:ext cx="5475406" cy="71808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Rectangle 13">
            <a:extLst>
              <a:ext uri="{FF2B5EF4-FFF2-40B4-BE49-F238E27FC236}">
                <a16:creationId xmlns:a16="http://schemas.microsoft.com/office/drawing/2014/main" id="{84816F62-DDC2-DB99-64D6-4EF4EDDCD4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955" y="431820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1" name="Rectangle 16">
            <a:extLst>
              <a:ext uri="{FF2B5EF4-FFF2-40B4-BE49-F238E27FC236}">
                <a16:creationId xmlns:a16="http://schemas.microsoft.com/office/drawing/2014/main" id="{25BDB683-6299-2FC2-00BC-08661FAD0F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955" y="505163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7654" name="Picture 6" descr="0">
            <a:extLst>
              <a:ext uri="{FF2B5EF4-FFF2-40B4-BE49-F238E27FC236}">
                <a16:creationId xmlns:a16="http://schemas.microsoft.com/office/drawing/2014/main" id="{F2FEA9B9-9E1B-7BDE-BE1B-F10FAB3614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12"/>
          <a:stretch/>
        </p:blipFill>
        <p:spPr bwMode="auto">
          <a:xfrm>
            <a:off x="2107276" y="2215238"/>
            <a:ext cx="9344025" cy="2914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1DE3675B-BF67-8D11-BF32-C7AA443FC021}"/>
              </a:ext>
            </a:extLst>
          </p:cNvPr>
          <p:cNvSpPr txBox="1"/>
          <p:nvPr/>
        </p:nvSpPr>
        <p:spPr>
          <a:xfrm>
            <a:off x="1404207" y="5361446"/>
            <a:ext cx="27883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概率分布对数似然函数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8C80378E-2A49-AD47-49BE-DE493B384B3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07763" y="5250924"/>
          <a:ext cx="6264792" cy="6211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362651" imgH="333372" progId="Equation.DSMT4">
                  <p:embed/>
                </p:oleObj>
              </mc:Choice>
              <mc:Fallback>
                <p:oleObj name="Equation" r:id="rId5" imgW="3362651" imgH="333372" progId="Equation.DSMT4">
                  <p:embed/>
                  <p:pic>
                    <p:nvPicPr>
                      <p:cNvPr id="32" name="对象 31">
                        <a:extLst>
                          <a:ext uri="{FF2B5EF4-FFF2-40B4-BE49-F238E27FC236}">
                            <a16:creationId xmlns:a16="http://schemas.microsoft.com/office/drawing/2014/main" id="{8C80378E-2A49-AD47-49BE-DE493B384B3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607763" y="5250924"/>
                        <a:ext cx="6264792" cy="6211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F25EFAC4-7A53-660A-EEA7-1F7067FC394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11747" y="6040203"/>
          <a:ext cx="720000" cy="72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41195" imgH="241195" progId="Equation.DSMT4">
                  <p:embed/>
                </p:oleObj>
              </mc:Choice>
              <mc:Fallback>
                <p:oleObj name="Equation" r:id="rId7" imgW="241195" imgH="241195" progId="Equation.DSMT4">
                  <p:embed/>
                  <p:pic>
                    <p:nvPicPr>
                      <p:cNvPr id="35" name="对象 34">
                        <a:extLst>
                          <a:ext uri="{FF2B5EF4-FFF2-40B4-BE49-F238E27FC236}">
                            <a16:creationId xmlns:a16="http://schemas.microsoft.com/office/drawing/2014/main" id="{F25EFAC4-7A53-660A-EEA7-1F7067FC394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1747" y="6040203"/>
                        <a:ext cx="720000" cy="720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D62AC5EC-6B39-D866-48B1-110AD9489CD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19286" y="5987175"/>
          <a:ext cx="561039" cy="72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90417" imgH="241195" progId="Equation.DSMT4">
                  <p:embed/>
                </p:oleObj>
              </mc:Choice>
              <mc:Fallback>
                <p:oleObj name="Equation" r:id="rId9" imgW="190417" imgH="241195" progId="Equation.DSMT4">
                  <p:embed/>
                  <p:pic>
                    <p:nvPicPr>
                      <p:cNvPr id="36" name="对象 35">
                        <a:extLst>
                          <a:ext uri="{FF2B5EF4-FFF2-40B4-BE49-F238E27FC236}">
                            <a16:creationId xmlns:a16="http://schemas.microsoft.com/office/drawing/2014/main" id="{D62AC5EC-6B39-D866-48B1-110AD9489CD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9286" y="5987175"/>
                        <a:ext cx="561039" cy="720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987DF4A0-1129-0706-4B76-25234475114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03961" y="6066253"/>
          <a:ext cx="584417" cy="72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03112" imgH="241195" progId="Equation.DSMT4">
                  <p:embed/>
                </p:oleObj>
              </mc:Choice>
              <mc:Fallback>
                <p:oleObj name="Equation" r:id="rId11" imgW="203112" imgH="241195" progId="Equation.DSMT4">
                  <p:embed/>
                  <p:pic>
                    <p:nvPicPr>
                      <p:cNvPr id="37" name="对象 36">
                        <a:extLst>
                          <a:ext uri="{FF2B5EF4-FFF2-40B4-BE49-F238E27FC236}">
                            <a16:creationId xmlns:a16="http://schemas.microsoft.com/office/drawing/2014/main" id="{987DF4A0-1129-0706-4B76-25234475114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03961" y="6066253"/>
                        <a:ext cx="584417" cy="720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62721627-2602-5A17-CB86-31BE1D4C8395}"/>
              </a:ext>
            </a:extLst>
          </p:cNvPr>
          <p:cNvSpPr txBox="1"/>
          <p:nvPr/>
        </p:nvSpPr>
        <p:spPr>
          <a:xfrm>
            <a:off x="5693983" y="6186133"/>
            <a:ext cx="24227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无法直接求导得出</a:t>
            </a:r>
          </a:p>
        </p:txBody>
      </p:sp>
      <p:sp>
        <p:nvSpPr>
          <p:cNvPr id="13" name="箭头: 下 12">
            <a:extLst>
              <a:ext uri="{FF2B5EF4-FFF2-40B4-BE49-F238E27FC236}">
                <a16:creationId xmlns:a16="http://schemas.microsoft.com/office/drawing/2014/main" id="{1BA3DDFD-BF4E-DDF1-4A7B-D8E67E03BD0A}"/>
              </a:ext>
            </a:extLst>
          </p:cNvPr>
          <p:cNvSpPr/>
          <p:nvPr/>
        </p:nvSpPr>
        <p:spPr>
          <a:xfrm>
            <a:off x="5260623" y="5761556"/>
            <a:ext cx="428977" cy="42457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9752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0AC9E-308D-6E80-6896-5CEDC10AD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12">
            <a:extLst>
              <a:ext uri="{FF2B5EF4-FFF2-40B4-BE49-F238E27FC236}">
                <a16:creationId xmlns:a16="http://schemas.microsoft.com/office/drawing/2014/main" id="{0AA3AB3B-4BF5-73B8-1D7B-04E7F1881C19}"/>
              </a:ext>
            </a:extLst>
          </p:cNvPr>
          <p:cNvSpPr/>
          <p:nvPr/>
        </p:nvSpPr>
        <p:spPr>
          <a:xfrm>
            <a:off x="166155" y="976588"/>
            <a:ext cx="5193302" cy="544830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152000" rIns="108000" rtlCol="0" anchor="ctr">
            <a:spAutoFit/>
          </a:bodyPr>
          <a:lstStyle/>
          <a:p>
            <a:pPr defTabSz="1460500" eaLnBrk="1" hangingPunct="1">
              <a:spcBef>
                <a:spcPct val="30000"/>
              </a:spcBef>
            </a:pPr>
            <a:r>
              <a:rPr lang="zh-CN" altLang="en-US" sz="26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rPr>
              <a:t>期望最大算法（</a:t>
            </a:r>
            <a:r>
              <a:rPr lang="en-US" altLang="zh-CN" sz="26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rPr>
              <a:t>EM</a:t>
            </a:r>
            <a:r>
              <a:rPr lang="zh-CN" altLang="en-US" sz="26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rPr>
              <a:t>算法）</a:t>
            </a:r>
          </a:p>
        </p:txBody>
      </p:sp>
      <p:sp>
        <p:nvSpPr>
          <p:cNvPr id="7" name="箭头: 五边形 11">
            <a:extLst>
              <a:ext uri="{FF2B5EF4-FFF2-40B4-BE49-F238E27FC236}">
                <a16:creationId xmlns:a16="http://schemas.microsoft.com/office/drawing/2014/main" id="{1F0AB0AE-F74D-697F-7A61-7090165C933C}"/>
              </a:ext>
            </a:extLst>
          </p:cNvPr>
          <p:cNvSpPr/>
          <p:nvPr/>
        </p:nvSpPr>
        <p:spPr>
          <a:xfrm>
            <a:off x="166154" y="976589"/>
            <a:ext cx="1152105" cy="544830"/>
          </a:xfrm>
          <a:prstGeom prst="homePlate">
            <a:avLst/>
          </a:prstGeom>
          <a:gradFill>
            <a:gsLst>
              <a:gs pos="417">
                <a:srgbClr val="00B0F0"/>
              </a:gs>
              <a:gs pos="100000">
                <a:srgbClr val="0070C0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3600" dirty="0">
                <a:solidFill>
                  <a:prstClr val="white"/>
                </a:solidFill>
                <a:latin typeface="Impact" panose="020B0806030902050204" pitchFamily="34" charset="0"/>
                <a:ea typeface="等线" panose="02010600030101010101" charset="-122"/>
                <a:sym typeface="Times New Roman" panose="02020603050405020304" pitchFamily="18" charset="0"/>
              </a:rPr>
              <a:t>4.2</a:t>
            </a:r>
            <a:endParaRPr lang="zh-CN" altLang="en-US" sz="3600" dirty="0">
              <a:solidFill>
                <a:prstClr val="white"/>
              </a:solidFill>
              <a:latin typeface="Impact" panose="020B0806030902050204" pitchFamily="34" charset="0"/>
              <a:ea typeface="等线" panose="02010600030101010101" charset="-122"/>
              <a:sym typeface="Times New Roman" panose="02020603050405020304" pitchFamily="18" charset="0"/>
            </a:endParaRPr>
          </a:p>
        </p:txBody>
      </p:sp>
      <p:sp>
        <p:nvSpPr>
          <p:cNvPr id="9" name="矩形 26">
            <a:extLst>
              <a:ext uri="{FF2B5EF4-FFF2-40B4-BE49-F238E27FC236}">
                <a16:creationId xmlns:a16="http://schemas.microsoft.com/office/drawing/2014/main" id="{9CCC66D8-D682-326E-E42C-3654A9C8D84B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四、高斯混合聚类</a:t>
            </a:r>
            <a:endParaRPr lang="en-US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  <p:sp>
        <p:nvSpPr>
          <p:cNvPr id="41" name="Rectangle 16">
            <a:extLst>
              <a:ext uri="{FF2B5EF4-FFF2-40B4-BE49-F238E27FC236}">
                <a16:creationId xmlns:a16="http://schemas.microsoft.com/office/drawing/2014/main" id="{21AEFFD3-EDA9-6498-3EFD-048BD19723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955" y="505163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72B9D93E-B824-86B3-CDBA-396C4C32C96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5769962"/>
              </p:ext>
            </p:extLst>
          </p:nvPr>
        </p:nvGraphicFramePr>
        <p:xfrm>
          <a:off x="4630738" y="1745467"/>
          <a:ext cx="5546725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97080" imgH="482400" progId="Equation.DSMT4">
                  <p:embed/>
                </p:oleObj>
              </mc:Choice>
              <mc:Fallback>
                <p:oleObj name="Equation" r:id="rId2" imgW="2197080" imgH="48240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72B9D93E-B824-86B3-CDBA-396C4C32C96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630738" y="1745467"/>
                        <a:ext cx="5546725" cy="1219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7790DF4C-C357-1BAF-E644-A95AD25E5567}"/>
              </a:ext>
            </a:extLst>
          </p:cNvPr>
          <p:cNvSpPr txBox="1"/>
          <p:nvPr/>
        </p:nvSpPr>
        <p:spPr>
          <a:xfrm>
            <a:off x="726378" y="2166813"/>
            <a:ext cx="23597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引入</a:t>
            </a:r>
            <a:r>
              <a:rPr lang="zh-CN" altLang="zh-CN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多项式分布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4D3D4CED-229F-F8CE-4331-7B95A3E2D09E}"/>
              </a:ext>
            </a:extLst>
          </p:cNvPr>
          <p:cNvGrpSpPr/>
          <p:nvPr/>
        </p:nvGrpSpPr>
        <p:grpSpPr>
          <a:xfrm>
            <a:off x="730620" y="3398444"/>
            <a:ext cx="3553405" cy="759583"/>
            <a:chOff x="2223910" y="3373949"/>
            <a:chExt cx="3296709" cy="759583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4602C855-27AB-8704-64DF-C531AA4F7E4B}"/>
                </a:ext>
              </a:extLst>
            </p:cNvPr>
            <p:cNvSpPr txBox="1"/>
            <p:nvPr/>
          </p:nvSpPr>
          <p:spPr>
            <a:xfrm>
              <a:off x="2223910" y="3425646"/>
              <a:ext cx="3296709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zh-CN" sz="2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假设</a:t>
              </a:r>
              <a:r>
                <a:rPr lang="en-US" altLang="zh-CN" sz="20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    </a:t>
              </a:r>
              <a:r>
                <a:rPr lang="zh-CN" altLang="zh-CN" sz="2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独立同分布，联合概率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615B0B33-0B52-CF19-BC63-EB42503167B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2374555"/>
                </p:ext>
              </p:extLst>
            </p:nvPr>
          </p:nvGraphicFramePr>
          <p:xfrm>
            <a:off x="2753430" y="3373949"/>
            <a:ext cx="339725" cy="4984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64880" imgH="241200" progId="Equation.DSMT4">
                    <p:embed/>
                  </p:oleObj>
                </mc:Choice>
                <mc:Fallback>
                  <p:oleObj name="Equation" r:id="rId4" imgW="164880" imgH="241200" progId="Equation.DSMT4">
                    <p:embed/>
                    <p:pic>
                      <p:nvPicPr>
                        <p:cNvPr id="17" name="对象 16">
                          <a:extLst>
                            <a:ext uri="{FF2B5EF4-FFF2-40B4-BE49-F238E27FC236}">
                              <a16:creationId xmlns:a16="http://schemas.microsoft.com/office/drawing/2014/main" id="{615B0B33-0B52-CF19-BC63-EB42503167B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2753430" y="3373949"/>
                          <a:ext cx="339725" cy="4984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00F85FD5-9609-5E5C-FF98-350BBD4E397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5497862"/>
              </p:ext>
            </p:extLst>
          </p:nvPr>
        </p:nvGraphicFramePr>
        <p:xfrm>
          <a:off x="4630738" y="3277774"/>
          <a:ext cx="2075073" cy="6446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81073" imgH="304931" progId="Equation.DSMT4">
                  <p:embed/>
                </p:oleObj>
              </mc:Choice>
              <mc:Fallback>
                <p:oleObj name="Equation" r:id="rId6" imgW="981073" imgH="304931" progId="Equation.DSMT4">
                  <p:embed/>
                  <p:pic>
                    <p:nvPicPr>
                      <p:cNvPr id="21" name="对象 20">
                        <a:extLst>
                          <a:ext uri="{FF2B5EF4-FFF2-40B4-BE49-F238E27FC236}">
                            <a16:creationId xmlns:a16="http://schemas.microsoft.com/office/drawing/2014/main" id="{00F85FD5-9609-5E5C-FF98-350BBD4E39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630738" y="3277774"/>
                        <a:ext cx="2075073" cy="64468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51312B7A-E836-AB3F-0CFB-67EFF8749E3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5181670"/>
              </p:ext>
            </p:extLst>
          </p:nvPr>
        </p:nvGraphicFramePr>
        <p:xfrm>
          <a:off x="4630738" y="4266836"/>
          <a:ext cx="3553405" cy="64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838297" imgH="333372" progId="Equation.DSMT4">
                  <p:embed/>
                </p:oleObj>
              </mc:Choice>
              <mc:Fallback>
                <p:oleObj name="Equation" r:id="rId8" imgW="1838297" imgH="333372" progId="Equation.DSMT4">
                  <p:embed/>
                  <p:pic>
                    <p:nvPicPr>
                      <p:cNvPr id="22" name="对象 21">
                        <a:extLst>
                          <a:ext uri="{FF2B5EF4-FFF2-40B4-BE49-F238E27FC236}">
                            <a16:creationId xmlns:a16="http://schemas.microsoft.com/office/drawing/2014/main" id="{51312B7A-E836-AB3F-0CFB-67EFF8749E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630738" y="4266836"/>
                        <a:ext cx="3553405" cy="64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" name="组合 28">
            <a:extLst>
              <a:ext uri="{FF2B5EF4-FFF2-40B4-BE49-F238E27FC236}">
                <a16:creationId xmlns:a16="http://schemas.microsoft.com/office/drawing/2014/main" id="{D2613266-DAB6-BC60-02F3-DAFC21B0DE8A}"/>
              </a:ext>
            </a:extLst>
          </p:cNvPr>
          <p:cNvGrpSpPr/>
          <p:nvPr/>
        </p:nvGrpSpPr>
        <p:grpSpPr>
          <a:xfrm>
            <a:off x="730620" y="4497632"/>
            <a:ext cx="3644716" cy="400110"/>
            <a:chOff x="981780" y="4384721"/>
            <a:chExt cx="3644716" cy="400110"/>
          </a:xfrm>
        </p:grpSpPr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57EF3BDE-E9CD-5C23-8492-534BC2DAC16F}"/>
                </a:ext>
              </a:extLst>
            </p:cNvPr>
            <p:cNvSpPr txBox="1"/>
            <p:nvPr/>
          </p:nvSpPr>
          <p:spPr>
            <a:xfrm>
              <a:off x="981780" y="4384721"/>
              <a:ext cx="3644716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样本    </a:t>
              </a:r>
              <a:r>
                <a:rPr lang="zh-CN" altLang="en-US" sz="2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来自第    个分布的概率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B0E031F1-E03C-10BD-E230-C91C1014F21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28115561"/>
                </p:ext>
              </p:extLst>
            </p:nvPr>
          </p:nvGraphicFramePr>
          <p:xfrm>
            <a:off x="1552531" y="4450320"/>
            <a:ext cx="323999" cy="324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39680" imgH="139680" progId="Equation.DSMT4">
                    <p:embed/>
                  </p:oleObj>
                </mc:Choice>
                <mc:Fallback>
                  <p:oleObj name="Equation" r:id="rId10" imgW="139680" imgH="139680" progId="Equation.DSMT4">
                    <p:embed/>
                    <p:pic>
                      <p:nvPicPr>
                        <p:cNvPr id="27" name="对象 26">
                          <a:extLst>
                            <a:ext uri="{FF2B5EF4-FFF2-40B4-BE49-F238E27FC236}">
                              <a16:creationId xmlns:a16="http://schemas.microsoft.com/office/drawing/2014/main" id="{B0E031F1-E03C-10BD-E230-C91C1014F21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1552531" y="4450320"/>
                          <a:ext cx="323999" cy="324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2120D8DF-7549-DD91-45D4-F0A25992DDE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9178558"/>
                </p:ext>
              </p:extLst>
            </p:nvPr>
          </p:nvGraphicFramePr>
          <p:xfrm>
            <a:off x="2697931" y="4450320"/>
            <a:ext cx="201600" cy="288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33210" imgH="190447" progId="Equation.DSMT4">
                    <p:embed/>
                  </p:oleObj>
                </mc:Choice>
                <mc:Fallback>
                  <p:oleObj name="Equation" r:id="rId12" imgW="133210" imgH="190447" progId="Equation.DSMT4">
                    <p:embed/>
                    <p:pic>
                      <p:nvPicPr>
                        <p:cNvPr id="28" name="对象 27">
                          <a:extLst>
                            <a:ext uri="{FF2B5EF4-FFF2-40B4-BE49-F238E27FC236}">
                              <a16:creationId xmlns:a16="http://schemas.microsoft.com/office/drawing/2014/main" id="{2120D8DF-7549-DD91-45D4-F0A25992DDE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2697931" y="4450320"/>
                          <a:ext cx="201600" cy="288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0" name="对象 29">
            <a:extLst>
              <a:ext uri="{FF2B5EF4-FFF2-40B4-BE49-F238E27FC236}">
                <a16:creationId xmlns:a16="http://schemas.microsoft.com/office/drawing/2014/main" id="{058E8846-FEB4-A7CA-468B-2EA36CDF2B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4793057"/>
              </p:ext>
            </p:extLst>
          </p:nvPr>
        </p:nvGraphicFramePr>
        <p:xfrm>
          <a:off x="4630738" y="5546826"/>
          <a:ext cx="3841259" cy="122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828936" imgH="581061" progId="Equation.DSMT4">
                  <p:embed/>
                </p:oleObj>
              </mc:Choice>
              <mc:Fallback>
                <p:oleObj name="Equation" r:id="rId14" imgW="1828936" imgH="581061" progId="Equation.DSMT4">
                  <p:embed/>
                  <p:pic>
                    <p:nvPicPr>
                      <p:cNvPr id="30" name="对象 29">
                        <a:extLst>
                          <a:ext uri="{FF2B5EF4-FFF2-40B4-BE49-F238E27FC236}">
                            <a16:creationId xmlns:a16="http://schemas.microsoft.com/office/drawing/2014/main" id="{058E8846-FEB4-A7CA-468B-2EA36CDF2B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4630738" y="5546826"/>
                        <a:ext cx="3841259" cy="1220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文本框 32">
            <a:extLst>
              <a:ext uri="{FF2B5EF4-FFF2-40B4-BE49-F238E27FC236}">
                <a16:creationId xmlns:a16="http://schemas.microsoft.com/office/drawing/2014/main" id="{FDD0D634-79C3-A64B-D812-912B02F6ED2D}"/>
              </a:ext>
            </a:extLst>
          </p:cNvPr>
          <p:cNvSpPr txBox="1"/>
          <p:nvPr/>
        </p:nvSpPr>
        <p:spPr>
          <a:xfrm>
            <a:off x="726378" y="5663194"/>
            <a:ext cx="17533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联合概率密度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14333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62939-461D-3860-61AE-2DEE552F5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12">
            <a:extLst>
              <a:ext uri="{FF2B5EF4-FFF2-40B4-BE49-F238E27FC236}">
                <a16:creationId xmlns:a16="http://schemas.microsoft.com/office/drawing/2014/main" id="{5A126988-6AF4-A4DB-732E-7CD9476405F2}"/>
              </a:ext>
            </a:extLst>
          </p:cNvPr>
          <p:cNvSpPr/>
          <p:nvPr/>
        </p:nvSpPr>
        <p:spPr>
          <a:xfrm>
            <a:off x="166155" y="976588"/>
            <a:ext cx="5193302" cy="544830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152000" rIns="108000" rtlCol="0" anchor="ctr">
            <a:spAutoFit/>
          </a:bodyPr>
          <a:lstStyle/>
          <a:p>
            <a:pPr defTabSz="1460500" eaLnBrk="1" hangingPunct="1">
              <a:spcBef>
                <a:spcPct val="30000"/>
              </a:spcBef>
            </a:pPr>
            <a:r>
              <a:rPr lang="zh-CN" altLang="en-US" sz="26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rPr>
              <a:t>期望最大算法（</a:t>
            </a:r>
            <a:r>
              <a:rPr lang="en-US" altLang="zh-CN" sz="26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rPr>
              <a:t>EM</a:t>
            </a:r>
            <a:r>
              <a:rPr lang="zh-CN" altLang="en-US" sz="26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rPr>
              <a:t>算法）</a:t>
            </a:r>
          </a:p>
        </p:txBody>
      </p:sp>
      <p:sp>
        <p:nvSpPr>
          <p:cNvPr id="7" name="箭头: 五边形 11">
            <a:extLst>
              <a:ext uri="{FF2B5EF4-FFF2-40B4-BE49-F238E27FC236}">
                <a16:creationId xmlns:a16="http://schemas.microsoft.com/office/drawing/2014/main" id="{7C4F1BD0-259D-DC3C-0FD1-8FAAB5B6A91C}"/>
              </a:ext>
            </a:extLst>
          </p:cNvPr>
          <p:cNvSpPr/>
          <p:nvPr/>
        </p:nvSpPr>
        <p:spPr>
          <a:xfrm>
            <a:off x="166154" y="976589"/>
            <a:ext cx="1152105" cy="544830"/>
          </a:xfrm>
          <a:prstGeom prst="homePlate">
            <a:avLst/>
          </a:prstGeom>
          <a:gradFill>
            <a:gsLst>
              <a:gs pos="417">
                <a:srgbClr val="00B0F0"/>
              </a:gs>
              <a:gs pos="100000">
                <a:srgbClr val="0070C0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3600" dirty="0">
                <a:solidFill>
                  <a:prstClr val="white"/>
                </a:solidFill>
                <a:latin typeface="Impact" panose="020B0806030902050204" pitchFamily="34" charset="0"/>
                <a:ea typeface="等线" panose="02010600030101010101" charset="-122"/>
                <a:sym typeface="Times New Roman" panose="02020603050405020304" pitchFamily="18" charset="0"/>
              </a:rPr>
              <a:t>4.2</a:t>
            </a:r>
            <a:endParaRPr lang="zh-CN" altLang="en-US" sz="3600" dirty="0">
              <a:solidFill>
                <a:prstClr val="white"/>
              </a:solidFill>
              <a:latin typeface="Impact" panose="020B0806030902050204" pitchFamily="34" charset="0"/>
              <a:ea typeface="等线" panose="02010600030101010101" charset="-122"/>
              <a:sym typeface="Times New Roman" panose="02020603050405020304" pitchFamily="18" charset="0"/>
            </a:endParaRPr>
          </a:p>
        </p:txBody>
      </p:sp>
      <p:sp>
        <p:nvSpPr>
          <p:cNvPr id="9" name="矩形 26">
            <a:extLst>
              <a:ext uri="{FF2B5EF4-FFF2-40B4-BE49-F238E27FC236}">
                <a16:creationId xmlns:a16="http://schemas.microsoft.com/office/drawing/2014/main" id="{3A12319E-B4A9-6F72-A485-9EE6C48F535C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四、高斯混合聚类</a:t>
            </a:r>
            <a:endParaRPr lang="en-US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  <p:sp>
        <p:nvSpPr>
          <p:cNvPr id="41" name="Rectangle 16">
            <a:extLst>
              <a:ext uri="{FF2B5EF4-FFF2-40B4-BE49-F238E27FC236}">
                <a16:creationId xmlns:a16="http://schemas.microsoft.com/office/drawing/2014/main" id="{3DB9C85B-70ED-14D3-2F57-F51229D025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955" y="505163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F492-7D3C-F9A0-3D7B-A29CB87FB3FD}"/>
              </a:ext>
            </a:extLst>
          </p:cNvPr>
          <p:cNvSpPr txBox="1"/>
          <p:nvPr/>
        </p:nvSpPr>
        <p:spPr>
          <a:xfrm>
            <a:off x="995424" y="1453005"/>
            <a:ext cx="4740171" cy="91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kern="100" dirty="0">
                <a:solidFill>
                  <a:schemeClr val="accent1">
                    <a:lumMod val="7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期望步骤</a:t>
            </a:r>
            <a:endParaRPr lang="en-US" altLang="zh-CN" sz="2000" kern="100" dirty="0">
              <a:solidFill>
                <a:schemeClr val="accent1">
                  <a:lumMod val="7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计算每个样本属于第</a:t>
            </a:r>
            <a:r>
              <a:rPr lang="en-US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</a:t>
            </a:r>
            <a:r>
              <a:rPr lang="zh-CN" altLang="en-US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高斯分布的概率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473A43E6-EF00-BF2B-89EB-903CDA94DF3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3751578"/>
              </p:ext>
            </p:extLst>
          </p:nvPr>
        </p:nvGraphicFramePr>
        <p:xfrm>
          <a:off x="1497383" y="2235988"/>
          <a:ext cx="3529189" cy="39511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52611" imgH="1962070" progId="Equation.DSMT4">
                  <p:embed/>
                </p:oleObj>
              </mc:Choice>
              <mc:Fallback>
                <p:oleObj name="Equation" r:id="rId2" imgW="1752611" imgH="196207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E263DC96-42B0-C38B-1F34-A09479440E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497383" y="2235988"/>
                        <a:ext cx="3529189" cy="39511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FEC28A4F-A8F0-C64C-C172-A6FE0401CC06}"/>
              </a:ext>
            </a:extLst>
          </p:cNvPr>
          <p:cNvSpPr txBox="1"/>
          <p:nvPr/>
        </p:nvSpPr>
        <p:spPr>
          <a:xfrm>
            <a:off x="6651034" y="1496287"/>
            <a:ext cx="52222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000" kern="100" dirty="0">
                <a:solidFill>
                  <a:schemeClr val="accent1">
                    <a:lumMod val="7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最大化步骤</a:t>
            </a:r>
            <a:endParaRPr lang="en-US" altLang="zh-CN" sz="2000" kern="100" dirty="0">
              <a:solidFill>
                <a:schemeClr val="accent1">
                  <a:lumMod val="7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更新每个样本的均值，协方差和权重系数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2E09381A-A8AB-296C-BBB8-C9CE56CA05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2832496"/>
              </p:ext>
            </p:extLst>
          </p:nvPr>
        </p:nvGraphicFramePr>
        <p:xfrm>
          <a:off x="7165429" y="2732876"/>
          <a:ext cx="1898650" cy="11012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52631" imgH="552620" progId="Equation.DSMT4">
                  <p:embed/>
                </p:oleObj>
              </mc:Choice>
              <mc:Fallback>
                <p:oleObj name="Equation" r:id="rId4" imgW="952631" imgH="55262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EB1AEB08-526F-3C92-DC7F-619F993189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165429" y="2732876"/>
                        <a:ext cx="1898650" cy="11012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CAB70957-324C-6AED-D4D7-EA1660BCC2F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3257805"/>
              </p:ext>
            </p:extLst>
          </p:nvPr>
        </p:nvGraphicFramePr>
        <p:xfrm>
          <a:off x="7165429" y="3834093"/>
          <a:ext cx="3000910" cy="110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04912" imgH="552620" progId="Equation.DSMT4">
                  <p:embed/>
                </p:oleObj>
              </mc:Choice>
              <mc:Fallback>
                <p:oleObj name="Equation" r:id="rId6" imgW="1504912" imgH="55262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5CDCC9F2-AA2A-9FE6-BBAF-B3E317EDED8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165429" y="3834093"/>
                        <a:ext cx="3000910" cy="1101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1E3B9E0C-2F65-28EF-7517-81F87E1AED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2592200"/>
              </p:ext>
            </p:extLst>
          </p:nvPr>
        </p:nvGraphicFramePr>
        <p:xfrm>
          <a:off x="7165429" y="4935310"/>
          <a:ext cx="1960848" cy="110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47863" imgH="476297" progId="Equation.DSMT4">
                  <p:embed/>
                </p:oleObj>
              </mc:Choice>
              <mc:Fallback>
                <p:oleObj name="Equation" r:id="rId8" imgW="847863" imgH="476297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E1C33333-C49B-0AC1-2B76-382FA175B7F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165429" y="4935310"/>
                        <a:ext cx="1960848" cy="1101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50E84A40-54E4-F3EB-BDAC-B7D63613BA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6394777"/>
              </p:ext>
            </p:extLst>
          </p:nvPr>
        </p:nvGraphicFramePr>
        <p:xfrm>
          <a:off x="5857515" y="6036910"/>
          <a:ext cx="2656468" cy="8210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047678" imgH="324012" progId="Equation.DSMT4">
                  <p:embed/>
                </p:oleObj>
              </mc:Choice>
              <mc:Fallback>
                <p:oleObj name="Equation" r:id="rId10" imgW="1047678" imgH="324012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8CF251F6-4AB7-75AC-A214-EBCE55E5E04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857515" y="6036910"/>
                        <a:ext cx="2656468" cy="8210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文本框 18">
            <a:extLst>
              <a:ext uri="{FF2B5EF4-FFF2-40B4-BE49-F238E27FC236}">
                <a16:creationId xmlns:a16="http://schemas.microsoft.com/office/drawing/2014/main" id="{A71DBE78-A6DA-FB1C-026A-76794FE326B6}"/>
              </a:ext>
            </a:extLst>
          </p:cNvPr>
          <p:cNvSpPr txBox="1"/>
          <p:nvPr/>
        </p:nvSpPr>
        <p:spPr>
          <a:xfrm>
            <a:off x="1497383" y="6265691"/>
            <a:ext cx="43146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迭代结束后，每个样本</a:t>
            </a:r>
            <a:r>
              <a:rPr lang="en-US" altLang="zh-CN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lang="zh-CN" altLang="en-US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所属的</a:t>
            </a:r>
            <a:r>
              <a:rPr lang="zh-CN" altLang="en-US" sz="2000" kern="1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簇</a:t>
            </a:r>
            <a:endParaRPr lang="zh-CN" altLang="en-US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A9D6EABF-F47B-8B54-4BE7-A91523C6E11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0306504"/>
              </p:ext>
            </p:extLst>
          </p:nvPr>
        </p:nvGraphicFramePr>
        <p:xfrm>
          <a:off x="4090610" y="6225716"/>
          <a:ext cx="360045" cy="4800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71373" imgH="228608" progId="Equation.DSMT4">
                  <p:embed/>
                </p:oleObj>
              </mc:Choice>
              <mc:Fallback>
                <p:oleObj name="Equation" r:id="rId12" imgW="171373" imgH="228608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ECF204B7-BD11-289A-F64B-85E43D4784B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090610" y="6225716"/>
                        <a:ext cx="360045" cy="4800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05023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ADDED-B28C-BA01-335F-7FEE697EF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2">
            <a:extLst>
              <a:ext uri="{FF2B5EF4-FFF2-40B4-BE49-F238E27FC236}">
                <a16:creationId xmlns:a16="http://schemas.microsoft.com/office/drawing/2014/main" id="{8608D1A4-C5FE-57BD-2EF7-33BCC334CF74}"/>
              </a:ext>
            </a:extLst>
          </p:cNvPr>
          <p:cNvSpPr/>
          <p:nvPr/>
        </p:nvSpPr>
        <p:spPr>
          <a:xfrm>
            <a:off x="166155" y="976588"/>
            <a:ext cx="2656409" cy="544830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152000" rIns="108000" rtlCol="0" anchor="ctr">
            <a:spAutoFit/>
          </a:bodyPr>
          <a:lstStyle/>
          <a:p>
            <a:pPr defTabSz="1460500">
              <a:spcBef>
                <a:spcPct val="30000"/>
              </a:spcBef>
              <a:defRPr/>
            </a:pPr>
            <a:r>
              <a:rPr lang="zh-CN" altLang="en-US" sz="2600" b="1" dirty="0">
                <a:solidFill>
                  <a:srgbClr val="5B9BD5"/>
                </a:solidFill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rPr>
              <a:t>聚类流程</a:t>
            </a:r>
            <a:endParaRPr kumimoji="0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7" name="箭头: 五边形 11">
            <a:extLst>
              <a:ext uri="{FF2B5EF4-FFF2-40B4-BE49-F238E27FC236}">
                <a16:creationId xmlns:a16="http://schemas.microsoft.com/office/drawing/2014/main" id="{57057812-2238-D7F4-F726-810EFB4F81BC}"/>
              </a:ext>
            </a:extLst>
          </p:cNvPr>
          <p:cNvSpPr/>
          <p:nvPr/>
        </p:nvSpPr>
        <p:spPr>
          <a:xfrm>
            <a:off x="166155" y="976589"/>
            <a:ext cx="1079640" cy="544830"/>
          </a:xfrm>
          <a:prstGeom prst="homePlate">
            <a:avLst/>
          </a:prstGeom>
          <a:gradFill>
            <a:gsLst>
              <a:gs pos="417">
                <a:srgbClr val="00B0F0"/>
              </a:gs>
              <a:gs pos="100000">
                <a:srgbClr val="0070C0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600" dirty="0">
                <a:solidFill>
                  <a:prstClr val="white"/>
                </a:solidFill>
                <a:latin typeface="Impact" panose="020B0806030902050204" pitchFamily="34" charset="0"/>
                <a:ea typeface="等线" panose="02010600030101010101" pitchFamily="2" charset="-122"/>
                <a:sym typeface="Times New Roman" panose="02020603050405020304" pitchFamily="18" charset="0"/>
              </a:rPr>
              <a:t>4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mpact" panose="020B0806030902050204" pitchFamily="34" charset="0"/>
                <a:ea typeface="等线" panose="02010600030101010101" pitchFamily="2" charset="-122"/>
                <a:cs typeface="+mn-cs"/>
                <a:sym typeface="Times New Roman" panose="02020603050405020304" pitchFamily="18" charset="0"/>
              </a:rPr>
              <a:t>.</a:t>
            </a:r>
            <a:r>
              <a:rPr lang="en-US" altLang="zh-CN" sz="3600" dirty="0">
                <a:solidFill>
                  <a:prstClr val="white"/>
                </a:solidFill>
                <a:latin typeface="Impact" panose="020B0806030902050204" pitchFamily="34" charset="0"/>
                <a:ea typeface="等线" panose="02010600030101010101" pitchFamily="2" charset="-122"/>
                <a:sym typeface="Times New Roman" panose="02020603050405020304" pitchFamily="18" charset="0"/>
              </a:rPr>
              <a:t>3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mpact" panose="020B0806030902050204" pitchFamily="34" charset="0"/>
              <a:ea typeface="等线" panose="02010600030101010101" pitchFamily="2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5A8D6AC4-4E3D-C704-C681-1EE62B6BC3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49AE572E-5E40-B56A-6194-9102A16276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" y="176371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3048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15EA5E5-7826-BC66-D319-D00301D8909C}"/>
              </a:ext>
            </a:extLst>
          </p:cNvPr>
          <p:cNvSpPr txBox="1"/>
          <p:nvPr/>
        </p:nvSpPr>
        <p:spPr>
          <a:xfrm>
            <a:off x="461086" y="2047937"/>
            <a:ext cx="60938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高斯混合聚类</a:t>
            </a:r>
            <a:r>
              <a:rPr lang="zh-CN" altLang="zh-CN" dirty="0"/>
              <a:t>算法的</a:t>
            </a:r>
            <a:r>
              <a:rPr lang="zh-CN" altLang="en-US" dirty="0"/>
              <a:t>流程</a:t>
            </a:r>
            <a:r>
              <a:rPr lang="zh-CN" altLang="zh-CN" dirty="0"/>
              <a:t>如下：</a:t>
            </a:r>
          </a:p>
        </p:txBody>
      </p:sp>
      <p:sp>
        <p:nvSpPr>
          <p:cNvPr id="4" name="矩形 26">
            <a:extLst>
              <a:ext uri="{FF2B5EF4-FFF2-40B4-BE49-F238E27FC236}">
                <a16:creationId xmlns:a16="http://schemas.microsoft.com/office/drawing/2014/main" id="{AB2C0F4D-8D65-D3D1-11DC-75E34FD1C61D}"/>
              </a:ext>
            </a:extLst>
          </p:cNvPr>
          <p:cNvSpPr/>
          <p:nvPr/>
        </p:nvSpPr>
        <p:spPr>
          <a:xfrm>
            <a:off x="917157" y="228600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四、高斯混合聚类</a:t>
            </a:r>
            <a:endParaRPr lang="en-US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8308B1F1-F5C0-DB31-1854-703E4EDB8DFF}"/>
              </a:ext>
            </a:extLst>
          </p:cNvPr>
          <p:cNvGrpSpPr/>
          <p:nvPr/>
        </p:nvGrpSpPr>
        <p:grpSpPr>
          <a:xfrm>
            <a:off x="461086" y="2650107"/>
            <a:ext cx="11743614" cy="3305386"/>
            <a:chOff x="166155" y="3285281"/>
            <a:chExt cx="11743614" cy="3305386"/>
          </a:xfrm>
        </p:grpSpPr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FC4CEC24-7481-44F2-10ED-61A80AD1E1E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7951" y="5042414"/>
              <a:ext cx="11601818" cy="540000"/>
            </a:xfrm>
            <a:prstGeom prst="rect">
              <a:avLst/>
            </a:prstGeom>
          </p:spPr>
        </p:pic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1483EA90-8760-6B2A-F7F0-799BF278A8A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07631" y="6029367"/>
              <a:ext cx="11305753" cy="561300"/>
            </a:xfrm>
            <a:prstGeom prst="rect">
              <a:avLst/>
            </a:prstGeom>
          </p:spPr>
        </p:pic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FCAD30FE-30F2-C42C-48A7-1E454C99ADD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r="42513"/>
            <a:stretch/>
          </p:blipFill>
          <p:spPr>
            <a:xfrm>
              <a:off x="307951" y="4504123"/>
              <a:ext cx="6702953" cy="538291"/>
            </a:xfrm>
            <a:prstGeom prst="rect">
              <a:avLst/>
            </a:prstGeom>
          </p:spPr>
        </p:pic>
        <p:pic>
          <p:nvPicPr>
            <p:cNvPr id="56" name="图片 55">
              <a:extLst>
                <a:ext uri="{FF2B5EF4-FFF2-40B4-BE49-F238E27FC236}">
                  <a16:creationId xmlns:a16="http://schemas.microsoft.com/office/drawing/2014/main" id="{3B62C277-0FA4-4ACB-8220-EF9500E45C4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07951" y="3285281"/>
              <a:ext cx="11457985" cy="1302558"/>
            </a:xfrm>
            <a:prstGeom prst="rect">
              <a:avLst/>
            </a:prstGeom>
          </p:spPr>
        </p:pic>
        <p:pic>
          <p:nvPicPr>
            <p:cNvPr id="58" name="图片 57">
              <a:extLst>
                <a:ext uri="{FF2B5EF4-FFF2-40B4-BE49-F238E27FC236}">
                  <a16:creationId xmlns:a16="http://schemas.microsoft.com/office/drawing/2014/main" id="{2441D7B3-DFB1-4943-2327-D3A4216DBC7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07631" y="5574791"/>
              <a:ext cx="11457986" cy="462198"/>
            </a:xfrm>
            <a:prstGeom prst="rect">
              <a:avLst/>
            </a:prstGeom>
          </p:spPr>
        </p:pic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E12621E6-9589-C318-A615-E56FAE0AA382}"/>
                </a:ext>
              </a:extLst>
            </p:cNvPr>
            <p:cNvSpPr/>
            <p:nvPr/>
          </p:nvSpPr>
          <p:spPr>
            <a:xfrm>
              <a:off x="166155" y="3429000"/>
              <a:ext cx="11599462" cy="3161653"/>
            </a:xfrm>
            <a:prstGeom prst="rect">
              <a:avLst/>
            </a:prstGeom>
            <a:noFill/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005277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E620D-6DF3-4884-2092-B04266162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2">
            <a:extLst>
              <a:ext uri="{FF2B5EF4-FFF2-40B4-BE49-F238E27FC236}">
                <a16:creationId xmlns:a16="http://schemas.microsoft.com/office/drawing/2014/main" id="{A262D247-6653-268A-1F00-E1A052F543B3}"/>
              </a:ext>
            </a:extLst>
          </p:cNvPr>
          <p:cNvSpPr/>
          <p:nvPr/>
        </p:nvSpPr>
        <p:spPr>
          <a:xfrm>
            <a:off x="166155" y="976588"/>
            <a:ext cx="2967855" cy="544830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152000" rIns="108000" rtlCol="0" anchor="ctr">
            <a:spAutoFit/>
          </a:bodyPr>
          <a:lstStyle/>
          <a:p>
            <a:pPr defTabSz="1460500">
              <a:spcBef>
                <a:spcPct val="30000"/>
              </a:spcBef>
              <a:defRPr/>
            </a:pPr>
            <a:r>
              <a:rPr lang="zh-CN" altLang="en-US" sz="2600" b="1" dirty="0">
                <a:solidFill>
                  <a:srgbClr val="5B9BD5"/>
                </a:solidFill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rPr>
              <a:t>应用与评价</a:t>
            </a:r>
            <a:endParaRPr kumimoji="0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7" name="箭头: 五边形 11">
            <a:extLst>
              <a:ext uri="{FF2B5EF4-FFF2-40B4-BE49-F238E27FC236}">
                <a16:creationId xmlns:a16="http://schemas.microsoft.com/office/drawing/2014/main" id="{314D153D-CA96-5BD4-C406-3EDC9229FBDE}"/>
              </a:ext>
            </a:extLst>
          </p:cNvPr>
          <p:cNvSpPr/>
          <p:nvPr/>
        </p:nvSpPr>
        <p:spPr>
          <a:xfrm>
            <a:off x="166155" y="976589"/>
            <a:ext cx="1079640" cy="544830"/>
          </a:xfrm>
          <a:prstGeom prst="homePlate">
            <a:avLst/>
          </a:prstGeom>
          <a:gradFill>
            <a:gsLst>
              <a:gs pos="417">
                <a:srgbClr val="00B0F0"/>
              </a:gs>
              <a:gs pos="100000">
                <a:srgbClr val="0070C0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600" dirty="0">
                <a:solidFill>
                  <a:prstClr val="white"/>
                </a:solidFill>
                <a:latin typeface="Impact" panose="020B0806030902050204" pitchFamily="34" charset="0"/>
                <a:ea typeface="等线" panose="02010600030101010101" pitchFamily="2" charset="-122"/>
                <a:sym typeface="Times New Roman" panose="02020603050405020304" pitchFamily="18" charset="0"/>
              </a:rPr>
              <a:t>4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mpact" panose="020B0806030902050204" pitchFamily="34" charset="0"/>
                <a:ea typeface="等线" panose="02010600030101010101" pitchFamily="2" charset="-122"/>
                <a:cs typeface="+mn-cs"/>
                <a:sym typeface="Times New Roman" panose="02020603050405020304" pitchFamily="18" charset="0"/>
              </a:rPr>
              <a:t>.</a:t>
            </a:r>
            <a:r>
              <a:rPr lang="en-US" altLang="zh-CN" sz="3600" dirty="0">
                <a:solidFill>
                  <a:prstClr val="white"/>
                </a:solidFill>
                <a:latin typeface="Impact" panose="020B0806030902050204" pitchFamily="34" charset="0"/>
                <a:ea typeface="等线" panose="02010600030101010101" pitchFamily="2" charset="-122"/>
                <a:sym typeface="Times New Roman" panose="02020603050405020304" pitchFamily="18" charset="0"/>
              </a:rPr>
              <a:t>4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mpact" panose="020B0806030902050204" pitchFamily="34" charset="0"/>
              <a:ea typeface="等线" panose="02010600030101010101" pitchFamily="2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DFBF01AA-E60A-DCC9-8406-27C0B97950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94E8E1E4-6762-A953-BEBF-4AA8492D6F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" y="176371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3048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矩形 26">
            <a:extLst>
              <a:ext uri="{FF2B5EF4-FFF2-40B4-BE49-F238E27FC236}">
                <a16:creationId xmlns:a16="http://schemas.microsoft.com/office/drawing/2014/main" id="{1F872324-3152-861B-3745-9F446A7A2553}"/>
              </a:ext>
            </a:extLst>
          </p:cNvPr>
          <p:cNvSpPr/>
          <p:nvPr/>
        </p:nvSpPr>
        <p:spPr>
          <a:xfrm>
            <a:off x="917157" y="228600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四、高斯混合聚类</a:t>
            </a:r>
            <a:endParaRPr lang="en-US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80963DCC-E97F-0743-E666-8924C4D19088}"/>
              </a:ext>
            </a:extLst>
          </p:cNvPr>
          <p:cNvGrpSpPr/>
          <p:nvPr/>
        </p:nvGrpSpPr>
        <p:grpSpPr>
          <a:xfrm>
            <a:off x="626147" y="2334714"/>
            <a:ext cx="11195304" cy="3763488"/>
            <a:chOff x="660400" y="473037"/>
            <a:chExt cx="10858500" cy="3650267"/>
          </a:xfrm>
        </p:grpSpPr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F39570F5-638D-9DA0-3BEC-BFBD2A6C5837}"/>
                </a:ext>
              </a:extLst>
            </p:cNvPr>
            <p:cNvSpPr/>
            <p:nvPr/>
          </p:nvSpPr>
          <p:spPr>
            <a:xfrm>
              <a:off x="4007877" y="2641600"/>
              <a:ext cx="144000" cy="144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 lang="en-GB" sz="1200">
                <a:solidFill>
                  <a:srgbClr val="FFFFFF"/>
                </a:solidFill>
              </a:endParaRPr>
            </a:p>
          </p:txBody>
        </p:sp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7E056568-3EDE-DECD-56C2-0A2327707C5C}"/>
                </a:ext>
              </a:extLst>
            </p:cNvPr>
            <p:cNvSpPr/>
            <p:nvPr/>
          </p:nvSpPr>
          <p:spPr>
            <a:xfrm>
              <a:off x="8027424" y="2641600"/>
              <a:ext cx="144000" cy="144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 lang="en-GB" sz="1200">
                <a:solidFill>
                  <a:srgbClr val="FFFFFF"/>
                </a:solidFill>
              </a:endParaRPr>
            </a:p>
          </p:txBody>
        </p: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2A5B068C-D565-7AA9-29E6-AC798F15A4D9}"/>
                </a:ext>
              </a:extLst>
            </p:cNvPr>
            <p:cNvGrpSpPr/>
            <p:nvPr/>
          </p:nvGrpSpPr>
          <p:grpSpPr>
            <a:xfrm>
              <a:off x="660400" y="473037"/>
              <a:ext cx="10858500" cy="3650267"/>
              <a:chOff x="660400" y="473037"/>
              <a:chExt cx="10858500" cy="3650267"/>
            </a:xfrm>
          </p:grpSpPr>
          <p:grpSp>
            <p:nvGrpSpPr>
              <p:cNvPr id="10" name="组合 9">
                <a:extLst>
                  <a:ext uri="{FF2B5EF4-FFF2-40B4-BE49-F238E27FC236}">
                    <a16:creationId xmlns:a16="http://schemas.microsoft.com/office/drawing/2014/main" id="{ECE08075-BF90-72CE-D520-395DD5CCA463}"/>
                  </a:ext>
                </a:extLst>
              </p:cNvPr>
              <p:cNvGrpSpPr/>
              <p:nvPr/>
            </p:nvGrpSpPr>
            <p:grpSpPr>
              <a:xfrm>
                <a:off x="660400" y="1303897"/>
                <a:ext cx="2819407" cy="2819407"/>
                <a:chOff x="1295400" y="2508250"/>
                <a:chExt cx="2247900" cy="2247900"/>
              </a:xfrm>
            </p:grpSpPr>
            <p:sp>
              <p:nvSpPr>
                <p:cNvPr id="23" name="椭圆 22">
                  <a:extLst>
                    <a:ext uri="{FF2B5EF4-FFF2-40B4-BE49-F238E27FC236}">
                      <a16:creationId xmlns:a16="http://schemas.microsoft.com/office/drawing/2014/main" id="{0E7D696C-0EDF-22EA-C61B-8C1BDC3C91F8}"/>
                    </a:ext>
                  </a:extLst>
                </p:cNvPr>
                <p:cNvSpPr/>
                <p:nvPr/>
              </p:nvSpPr>
              <p:spPr>
                <a:xfrm>
                  <a:off x="1295400" y="2508250"/>
                  <a:ext cx="2247900" cy="2247900"/>
                </a:xfrm>
                <a:prstGeom prst="ellipse">
                  <a:avLst/>
                </a:prstGeom>
                <a:solidFill>
                  <a:schemeClr val="accent1">
                    <a:alpha val="5000"/>
                  </a:schemeClr>
                </a:solidFill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3765">
                    <a:lnSpc>
                      <a:spcPct val="150000"/>
                    </a:lnSpc>
                    <a:buSzPct val="25000"/>
                    <a:defRPr/>
                  </a:pPr>
                  <a:endParaRPr kumimoji="0" lang="en-US" altLang="zh-CN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4E17688E-E12D-D0CC-93DA-298B2C7034DC}"/>
                    </a:ext>
                  </a:extLst>
                </p:cNvPr>
                <p:cNvSpPr txBox="1"/>
                <p:nvPr/>
              </p:nvSpPr>
              <p:spPr>
                <a:xfrm>
                  <a:off x="1551965" y="3108680"/>
                  <a:ext cx="1734770" cy="103741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>
                    <a:lnSpc>
                      <a:spcPct val="130000"/>
                    </a:lnSpc>
                  </a:pPr>
                  <a:r>
                    <a:rPr lang="zh-CN" altLang="en-US" sz="1600" b="1" dirty="0">
                      <a:solidFill>
                        <a:schemeClr val="accent1">
                          <a:lumMod val="7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高斯混合聚类是一种软聚类方法</a:t>
                  </a:r>
                  <a:r>
                    <a:rPr lang="zh-CN" altLang="en-US" sz="16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，</a:t>
                  </a:r>
                  <a:r>
                    <a:rPr lang="zh-CN" altLang="en-US" sz="16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每个样本的聚类不确定，通过概率来分配样本到不同簇</a:t>
                  </a:r>
                  <a:endParaRPr kumimoji="1" lang="en-US" altLang="zh-CN" sz="16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1" name="组合 10">
                <a:extLst>
                  <a:ext uri="{FF2B5EF4-FFF2-40B4-BE49-F238E27FC236}">
                    <a16:creationId xmlns:a16="http://schemas.microsoft.com/office/drawing/2014/main" id="{8A0464B6-B2E3-A9A3-534B-C1BA9C3E1D24}"/>
                  </a:ext>
                </a:extLst>
              </p:cNvPr>
              <p:cNvGrpSpPr/>
              <p:nvPr/>
            </p:nvGrpSpPr>
            <p:grpSpPr>
              <a:xfrm>
                <a:off x="4679947" y="1303897"/>
                <a:ext cx="2819407" cy="2819407"/>
                <a:chOff x="1295400" y="2508250"/>
                <a:chExt cx="2247900" cy="2247900"/>
              </a:xfrm>
            </p:grpSpPr>
            <p:sp>
              <p:nvSpPr>
                <p:cNvPr id="19" name="椭圆 18">
                  <a:extLst>
                    <a:ext uri="{FF2B5EF4-FFF2-40B4-BE49-F238E27FC236}">
                      <a16:creationId xmlns:a16="http://schemas.microsoft.com/office/drawing/2014/main" id="{DE2A6CC4-9215-9A3F-16A1-95D57C665E7A}"/>
                    </a:ext>
                  </a:extLst>
                </p:cNvPr>
                <p:cNvSpPr/>
                <p:nvPr/>
              </p:nvSpPr>
              <p:spPr>
                <a:xfrm>
                  <a:off x="1295400" y="2508250"/>
                  <a:ext cx="2247900" cy="2247900"/>
                </a:xfrm>
                <a:prstGeom prst="ellipse">
                  <a:avLst/>
                </a:prstGeom>
                <a:solidFill>
                  <a:schemeClr val="accent1">
                    <a:alpha val="5000"/>
                  </a:schemeClr>
                </a:solidFill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3765">
                    <a:lnSpc>
                      <a:spcPct val="150000"/>
                    </a:lnSpc>
                    <a:buSzPct val="25000"/>
                    <a:defRPr/>
                  </a:pPr>
                  <a:endParaRPr kumimoji="0" lang="en-US" altLang="zh-CN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C2781F2A-929F-9C94-F9B3-CD25A4E34979}"/>
                    </a:ext>
                  </a:extLst>
                </p:cNvPr>
                <p:cNvSpPr txBox="1"/>
                <p:nvPr/>
              </p:nvSpPr>
              <p:spPr>
                <a:xfrm>
                  <a:off x="1551965" y="2723076"/>
                  <a:ext cx="1734770" cy="105517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 defTabSz="914354"/>
                  <a:r>
                    <a:rPr lang="zh-CN" altLang="en-US" sz="1600" b="1" dirty="0">
                      <a:solidFill>
                        <a:schemeClr val="accent1">
                          <a:lumMod val="7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时间复杂度</a:t>
                  </a:r>
                  <a:endParaRPr lang="en-US" altLang="zh-CN" sz="1600" b="1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 defTabSz="914354"/>
                  <a:endParaRPr lang="en-US" altLang="zh-CN" sz="1600" b="1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 defTabSz="914354"/>
                  <a:endParaRPr lang="en-US" altLang="zh-CN" sz="1600" b="1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 defTabSz="914354"/>
                  <a:endParaRPr lang="en-US" altLang="zh-CN" sz="1600" b="1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 defTabSz="914354"/>
                  <a:r>
                    <a:rPr lang="zh-CN" altLang="en-US" sz="1600" b="1" dirty="0">
                      <a:solidFill>
                        <a:schemeClr val="accent1">
                          <a:lumMod val="7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空间复杂度</a:t>
                  </a:r>
                  <a:endParaRPr lang="en-US" altLang="zh-CN" sz="1600" b="1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2" name="组合 11">
                <a:extLst>
                  <a:ext uri="{FF2B5EF4-FFF2-40B4-BE49-F238E27FC236}">
                    <a16:creationId xmlns:a16="http://schemas.microsoft.com/office/drawing/2014/main" id="{286F06F8-32B8-50A8-24B9-FF95D7F0D4EE}"/>
                  </a:ext>
                </a:extLst>
              </p:cNvPr>
              <p:cNvGrpSpPr/>
              <p:nvPr/>
            </p:nvGrpSpPr>
            <p:grpSpPr>
              <a:xfrm>
                <a:off x="1065340" y="473037"/>
                <a:ext cx="10453560" cy="3650266"/>
                <a:chOff x="-4791274" y="1845809"/>
                <a:chExt cx="8334574" cy="2910341"/>
              </a:xfrm>
            </p:grpSpPr>
            <p:sp>
              <p:nvSpPr>
                <p:cNvPr id="13" name="椭圆 12">
                  <a:extLst>
                    <a:ext uri="{FF2B5EF4-FFF2-40B4-BE49-F238E27FC236}">
                      <a16:creationId xmlns:a16="http://schemas.microsoft.com/office/drawing/2014/main" id="{A71F408E-1194-32E4-7097-0DF47B55FD95}"/>
                    </a:ext>
                  </a:extLst>
                </p:cNvPr>
                <p:cNvSpPr/>
                <p:nvPr/>
              </p:nvSpPr>
              <p:spPr>
                <a:xfrm>
                  <a:off x="1295400" y="2508250"/>
                  <a:ext cx="2247900" cy="2247900"/>
                </a:xfrm>
                <a:prstGeom prst="ellipse">
                  <a:avLst/>
                </a:prstGeom>
                <a:solidFill>
                  <a:schemeClr val="accent1">
                    <a:alpha val="5000"/>
                  </a:schemeClr>
                </a:solidFill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3765">
                    <a:lnSpc>
                      <a:spcPct val="150000"/>
                    </a:lnSpc>
                    <a:buSzPct val="25000"/>
                    <a:defRPr/>
                  </a:pPr>
                  <a:endParaRPr kumimoji="0" lang="en-US" altLang="zh-CN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88D2CB2A-9862-5A60-225B-10C386985568}"/>
                    </a:ext>
                  </a:extLst>
                </p:cNvPr>
                <p:cNvSpPr txBox="1"/>
                <p:nvPr/>
              </p:nvSpPr>
              <p:spPr>
                <a:xfrm>
                  <a:off x="-4791274" y="1845809"/>
                  <a:ext cx="7649107" cy="30940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/>
                  <a:r>
                    <a:rPr lang="zh-CN" altLang="en-US" sz="2000" b="1" dirty="0">
                      <a:solidFill>
                        <a:schemeClr val="accent1">
                          <a:lumMod val="75000"/>
                        </a:schemeClr>
                      </a:solidFill>
                      <a:effectLst/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应用场景</a:t>
                  </a:r>
                  <a:r>
                    <a:rPr lang="zh-CN" altLang="en-US" sz="2000" dirty="0">
                      <a:solidFill>
                        <a:schemeClr val="tx1"/>
                      </a:solidFill>
                      <a:effectLst/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：适用于数据簇结构不明显或者聚类结果需要反映不确定性的情况</a:t>
                  </a:r>
                  <a:endParaRPr kumimoji="1" lang="en-US" altLang="zh-CN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1185E912-EAFD-87A2-0928-E87B66EC3DC3}"/>
                    </a:ext>
                  </a:extLst>
                </p:cNvPr>
                <p:cNvSpPr txBox="1"/>
                <p:nvPr/>
              </p:nvSpPr>
              <p:spPr>
                <a:xfrm>
                  <a:off x="1610874" y="2923373"/>
                  <a:ext cx="1734770" cy="153246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>
                    <a:lnSpc>
                      <a:spcPct val="130000"/>
                    </a:lnSpc>
                  </a:pPr>
                  <a:r>
                    <a:rPr kumimoji="1" lang="zh-CN" altLang="en-US" sz="1600" b="1" dirty="0">
                      <a:solidFill>
                        <a:schemeClr val="accent1">
                          <a:lumMod val="7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优点</a:t>
                  </a:r>
                  <a:r>
                    <a:rPr kumimoji="1" lang="zh-CN" altLang="en-US" sz="160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：能够处理不规则形状的簇，适合估计样本的分布</a:t>
                  </a:r>
                  <a:endParaRPr kumimoji="1" lang="en-US" altLang="zh-CN" sz="16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just">
                    <a:lnSpc>
                      <a:spcPct val="130000"/>
                    </a:lnSpc>
                  </a:pPr>
                  <a:r>
                    <a:rPr kumimoji="1" lang="zh-CN" altLang="en-US" sz="1600" b="1" dirty="0">
                      <a:solidFill>
                        <a:schemeClr val="accent1">
                          <a:lumMod val="7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缺点</a:t>
                  </a:r>
                  <a:r>
                    <a:rPr kumimoji="1" lang="zh-CN" altLang="en-US" sz="160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：计算复杂度较高，且对初始值和迭代次数敏感</a:t>
                  </a:r>
                  <a:endParaRPr kumimoji="1" lang="en-US" altLang="zh-CN" sz="16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</p:grpSp>
      <p:sp>
        <p:nvSpPr>
          <p:cNvPr id="25" name="任意多边形: 形状 24">
            <a:extLst>
              <a:ext uri="{FF2B5EF4-FFF2-40B4-BE49-F238E27FC236}">
                <a16:creationId xmlns:a16="http://schemas.microsoft.com/office/drawing/2014/main" id="{416BF9BD-D84A-2345-7BDA-D2A975D8AF30}"/>
              </a:ext>
            </a:extLst>
          </p:cNvPr>
          <p:cNvSpPr/>
          <p:nvPr/>
        </p:nvSpPr>
        <p:spPr>
          <a:xfrm>
            <a:off x="433962" y="2334714"/>
            <a:ext cx="609685" cy="530966"/>
          </a:xfrm>
          <a:custGeom>
            <a:avLst/>
            <a:gdLst>
              <a:gd name="connsiteX0" fmla="*/ 102985 w 606407"/>
              <a:gd name="connsiteY0" fmla="*/ 131491 h 528112"/>
              <a:gd name="connsiteX1" fmla="*/ 89892 w 606407"/>
              <a:gd name="connsiteY1" fmla="*/ 218810 h 528112"/>
              <a:gd name="connsiteX2" fmla="*/ 102985 w 606407"/>
              <a:gd name="connsiteY2" fmla="*/ 236740 h 528112"/>
              <a:gd name="connsiteX3" fmla="*/ 103265 w 606407"/>
              <a:gd name="connsiteY3" fmla="*/ 236740 h 528112"/>
              <a:gd name="connsiteX4" fmla="*/ 116358 w 606407"/>
              <a:gd name="connsiteY4" fmla="*/ 218810 h 528112"/>
              <a:gd name="connsiteX5" fmla="*/ 103265 w 606407"/>
              <a:gd name="connsiteY5" fmla="*/ 131491 h 528112"/>
              <a:gd name="connsiteX6" fmla="*/ 335836 w 606407"/>
              <a:gd name="connsiteY6" fmla="*/ 85949 h 528112"/>
              <a:gd name="connsiteX7" fmla="*/ 351924 w 606407"/>
              <a:gd name="connsiteY7" fmla="*/ 101910 h 528112"/>
              <a:gd name="connsiteX8" fmla="*/ 346966 w 606407"/>
              <a:gd name="connsiteY8" fmla="*/ 113484 h 528112"/>
              <a:gd name="connsiteX9" fmla="*/ 392799 w 606407"/>
              <a:gd name="connsiteY9" fmla="*/ 159220 h 528112"/>
              <a:gd name="connsiteX10" fmla="*/ 404304 w 606407"/>
              <a:gd name="connsiteY10" fmla="*/ 154273 h 528112"/>
              <a:gd name="connsiteX11" fmla="*/ 416744 w 606407"/>
              <a:gd name="connsiteY11" fmla="*/ 160153 h 528112"/>
              <a:gd name="connsiteX12" fmla="*/ 455561 w 606407"/>
              <a:gd name="connsiteY12" fmla="*/ 140365 h 528112"/>
              <a:gd name="connsiteX13" fmla="*/ 455561 w 606407"/>
              <a:gd name="connsiteY13" fmla="*/ 139712 h 528112"/>
              <a:gd name="connsiteX14" fmla="*/ 471649 w 606407"/>
              <a:gd name="connsiteY14" fmla="*/ 123751 h 528112"/>
              <a:gd name="connsiteX15" fmla="*/ 487644 w 606407"/>
              <a:gd name="connsiteY15" fmla="*/ 139712 h 528112"/>
              <a:gd name="connsiteX16" fmla="*/ 483154 w 606407"/>
              <a:gd name="connsiteY16" fmla="*/ 150819 h 528112"/>
              <a:gd name="connsiteX17" fmla="*/ 496717 w 606407"/>
              <a:gd name="connsiteY17" fmla="*/ 164353 h 528112"/>
              <a:gd name="connsiteX18" fmla="*/ 504387 w 606407"/>
              <a:gd name="connsiteY18" fmla="*/ 162393 h 528112"/>
              <a:gd name="connsiteX19" fmla="*/ 509906 w 606407"/>
              <a:gd name="connsiteY19" fmla="*/ 163420 h 528112"/>
              <a:gd name="connsiteX20" fmla="*/ 540118 w 606407"/>
              <a:gd name="connsiteY20" fmla="*/ 117964 h 528112"/>
              <a:gd name="connsiteX21" fmla="*/ 535160 w 606407"/>
              <a:gd name="connsiteY21" fmla="*/ 106390 h 528112"/>
              <a:gd name="connsiteX22" fmla="*/ 551155 w 606407"/>
              <a:gd name="connsiteY22" fmla="*/ 90429 h 528112"/>
              <a:gd name="connsiteX23" fmla="*/ 567243 w 606407"/>
              <a:gd name="connsiteY23" fmla="*/ 106390 h 528112"/>
              <a:gd name="connsiteX24" fmla="*/ 551155 w 606407"/>
              <a:gd name="connsiteY24" fmla="*/ 122444 h 528112"/>
              <a:gd name="connsiteX25" fmla="*/ 547507 w 606407"/>
              <a:gd name="connsiteY25" fmla="*/ 121978 h 528112"/>
              <a:gd name="connsiteX26" fmla="*/ 516734 w 606407"/>
              <a:gd name="connsiteY26" fmla="*/ 168180 h 528112"/>
              <a:gd name="connsiteX27" fmla="*/ 520475 w 606407"/>
              <a:gd name="connsiteY27" fmla="*/ 178447 h 528112"/>
              <a:gd name="connsiteX28" fmla="*/ 504481 w 606407"/>
              <a:gd name="connsiteY28" fmla="*/ 194408 h 528112"/>
              <a:gd name="connsiteX29" fmla="*/ 488392 w 606407"/>
              <a:gd name="connsiteY29" fmla="*/ 178447 h 528112"/>
              <a:gd name="connsiteX30" fmla="*/ 490731 w 606407"/>
              <a:gd name="connsiteY30" fmla="*/ 170140 h 528112"/>
              <a:gd name="connsiteX31" fmla="*/ 475765 w 606407"/>
              <a:gd name="connsiteY31" fmla="*/ 155113 h 528112"/>
              <a:gd name="connsiteX32" fmla="*/ 471649 w 606407"/>
              <a:gd name="connsiteY32" fmla="*/ 155673 h 528112"/>
              <a:gd name="connsiteX33" fmla="*/ 458180 w 606407"/>
              <a:gd name="connsiteY33" fmla="*/ 148393 h 528112"/>
              <a:gd name="connsiteX34" fmla="*/ 420111 w 606407"/>
              <a:gd name="connsiteY34" fmla="*/ 167714 h 528112"/>
              <a:gd name="connsiteX35" fmla="*/ 420392 w 606407"/>
              <a:gd name="connsiteY35" fmla="*/ 170234 h 528112"/>
              <a:gd name="connsiteX36" fmla="*/ 404304 w 606407"/>
              <a:gd name="connsiteY36" fmla="*/ 186288 h 528112"/>
              <a:gd name="connsiteX37" fmla="*/ 388309 w 606407"/>
              <a:gd name="connsiteY37" fmla="*/ 170234 h 528112"/>
              <a:gd name="connsiteX38" fmla="*/ 388683 w 606407"/>
              <a:gd name="connsiteY38" fmla="*/ 166873 h 528112"/>
              <a:gd name="connsiteX39" fmla="*/ 339203 w 606407"/>
              <a:gd name="connsiteY39" fmla="*/ 117591 h 528112"/>
              <a:gd name="connsiteX40" fmla="*/ 335836 w 606407"/>
              <a:gd name="connsiteY40" fmla="*/ 117871 h 528112"/>
              <a:gd name="connsiteX41" fmla="*/ 319841 w 606407"/>
              <a:gd name="connsiteY41" fmla="*/ 101910 h 528112"/>
              <a:gd name="connsiteX42" fmla="*/ 335836 w 606407"/>
              <a:gd name="connsiteY42" fmla="*/ 85949 h 528112"/>
              <a:gd name="connsiteX43" fmla="*/ 304990 w 606407"/>
              <a:gd name="connsiteY43" fmla="*/ 45200 h 528112"/>
              <a:gd name="connsiteX44" fmla="*/ 304990 w 606407"/>
              <a:gd name="connsiteY44" fmla="*/ 82929 h 528112"/>
              <a:gd name="connsiteX45" fmla="*/ 340060 w 606407"/>
              <a:gd name="connsiteY45" fmla="*/ 55099 h 528112"/>
              <a:gd name="connsiteX46" fmla="*/ 345578 w 606407"/>
              <a:gd name="connsiteY46" fmla="*/ 62010 h 528112"/>
              <a:gd name="connsiteX47" fmla="*/ 304990 w 606407"/>
              <a:gd name="connsiteY47" fmla="*/ 94416 h 528112"/>
              <a:gd name="connsiteX48" fmla="*/ 304990 w 606407"/>
              <a:gd name="connsiteY48" fmla="*/ 250842 h 528112"/>
              <a:gd name="connsiteX49" fmla="*/ 307234 w 606407"/>
              <a:gd name="connsiteY49" fmla="*/ 253083 h 528112"/>
              <a:gd name="connsiteX50" fmla="*/ 581531 w 606407"/>
              <a:gd name="connsiteY50" fmla="*/ 253083 h 528112"/>
              <a:gd name="connsiteX51" fmla="*/ 583775 w 606407"/>
              <a:gd name="connsiteY51" fmla="*/ 250842 h 528112"/>
              <a:gd name="connsiteX52" fmla="*/ 583775 w 606407"/>
              <a:gd name="connsiteY52" fmla="*/ 45200 h 528112"/>
              <a:gd name="connsiteX53" fmla="*/ 103240 w 606407"/>
              <a:gd name="connsiteY53" fmla="*/ 4375 h 528112"/>
              <a:gd name="connsiteX54" fmla="*/ 157540 w 606407"/>
              <a:gd name="connsiteY54" fmla="*/ 58534 h 528112"/>
              <a:gd name="connsiteX55" fmla="*/ 103240 w 606407"/>
              <a:gd name="connsiteY55" fmla="*/ 112693 h 528112"/>
              <a:gd name="connsiteX56" fmla="*/ 48940 w 606407"/>
              <a:gd name="connsiteY56" fmla="*/ 58534 h 528112"/>
              <a:gd name="connsiteX57" fmla="*/ 103240 w 606407"/>
              <a:gd name="connsiteY57" fmla="*/ 4375 h 528112"/>
              <a:gd name="connsiteX58" fmla="*/ 443774 w 606407"/>
              <a:gd name="connsiteY58" fmla="*/ 0 h 528112"/>
              <a:gd name="connsiteX59" fmla="*/ 444990 w 606407"/>
              <a:gd name="connsiteY59" fmla="*/ 0 h 528112"/>
              <a:gd name="connsiteX60" fmla="*/ 456306 w 606407"/>
              <a:gd name="connsiteY60" fmla="*/ 11300 h 528112"/>
              <a:gd name="connsiteX61" fmla="*/ 456306 w 606407"/>
              <a:gd name="connsiteY61" fmla="*/ 15783 h 528112"/>
              <a:gd name="connsiteX62" fmla="*/ 606407 w 606407"/>
              <a:gd name="connsiteY62" fmla="*/ 15783 h 528112"/>
              <a:gd name="connsiteX63" fmla="*/ 606407 w 606407"/>
              <a:gd name="connsiteY63" fmla="*/ 45200 h 528112"/>
              <a:gd name="connsiteX64" fmla="*/ 597429 w 606407"/>
              <a:gd name="connsiteY64" fmla="*/ 45200 h 528112"/>
              <a:gd name="connsiteX65" fmla="*/ 597429 w 606407"/>
              <a:gd name="connsiteY65" fmla="*/ 250748 h 528112"/>
              <a:gd name="connsiteX66" fmla="*/ 581531 w 606407"/>
              <a:gd name="connsiteY66" fmla="*/ 266624 h 528112"/>
              <a:gd name="connsiteX67" fmla="*/ 453407 w 606407"/>
              <a:gd name="connsiteY67" fmla="*/ 266624 h 528112"/>
              <a:gd name="connsiteX68" fmla="*/ 453407 w 606407"/>
              <a:gd name="connsiteY68" fmla="*/ 429214 h 528112"/>
              <a:gd name="connsiteX69" fmla="*/ 520368 w 606407"/>
              <a:gd name="connsiteY69" fmla="*/ 480858 h 528112"/>
              <a:gd name="connsiteX70" fmla="*/ 521958 w 606407"/>
              <a:gd name="connsiteY70" fmla="*/ 493558 h 528112"/>
              <a:gd name="connsiteX71" fmla="*/ 514757 w 606407"/>
              <a:gd name="connsiteY71" fmla="*/ 497014 h 528112"/>
              <a:gd name="connsiteX72" fmla="*/ 509239 w 606407"/>
              <a:gd name="connsiteY72" fmla="*/ 495146 h 528112"/>
              <a:gd name="connsiteX73" fmla="*/ 453407 w 606407"/>
              <a:gd name="connsiteY73" fmla="*/ 452094 h 528112"/>
              <a:gd name="connsiteX74" fmla="*/ 453407 w 606407"/>
              <a:gd name="connsiteY74" fmla="*/ 487021 h 528112"/>
              <a:gd name="connsiteX75" fmla="*/ 453407 w 606407"/>
              <a:gd name="connsiteY75" fmla="*/ 518960 h 528112"/>
              <a:gd name="connsiteX76" fmla="*/ 444336 w 606407"/>
              <a:gd name="connsiteY76" fmla="*/ 528112 h 528112"/>
              <a:gd name="connsiteX77" fmla="*/ 435264 w 606407"/>
              <a:gd name="connsiteY77" fmla="*/ 518960 h 528112"/>
              <a:gd name="connsiteX78" fmla="*/ 435264 w 606407"/>
              <a:gd name="connsiteY78" fmla="*/ 452094 h 528112"/>
              <a:gd name="connsiteX79" fmla="*/ 379432 w 606407"/>
              <a:gd name="connsiteY79" fmla="*/ 495146 h 528112"/>
              <a:gd name="connsiteX80" fmla="*/ 373914 w 606407"/>
              <a:gd name="connsiteY80" fmla="*/ 497014 h 528112"/>
              <a:gd name="connsiteX81" fmla="*/ 366713 w 606407"/>
              <a:gd name="connsiteY81" fmla="*/ 493558 h 528112"/>
              <a:gd name="connsiteX82" fmla="*/ 368303 w 606407"/>
              <a:gd name="connsiteY82" fmla="*/ 480858 h 528112"/>
              <a:gd name="connsiteX83" fmla="*/ 435264 w 606407"/>
              <a:gd name="connsiteY83" fmla="*/ 429214 h 528112"/>
              <a:gd name="connsiteX84" fmla="*/ 435264 w 606407"/>
              <a:gd name="connsiteY84" fmla="*/ 266624 h 528112"/>
              <a:gd name="connsiteX85" fmla="*/ 307234 w 606407"/>
              <a:gd name="connsiteY85" fmla="*/ 266624 h 528112"/>
              <a:gd name="connsiteX86" fmla="*/ 291336 w 606407"/>
              <a:gd name="connsiteY86" fmla="*/ 250748 h 528112"/>
              <a:gd name="connsiteX87" fmla="*/ 291336 w 606407"/>
              <a:gd name="connsiteY87" fmla="*/ 105249 h 528112"/>
              <a:gd name="connsiteX88" fmla="*/ 267768 w 606407"/>
              <a:gd name="connsiteY88" fmla="*/ 124020 h 528112"/>
              <a:gd name="connsiteX89" fmla="*/ 261315 w 606407"/>
              <a:gd name="connsiteY89" fmla="*/ 149609 h 528112"/>
              <a:gd name="connsiteX90" fmla="*/ 180794 w 606407"/>
              <a:gd name="connsiteY90" fmla="*/ 185563 h 528112"/>
              <a:gd name="connsiteX91" fmla="*/ 158723 w 606407"/>
              <a:gd name="connsiteY91" fmla="*/ 182575 h 528112"/>
              <a:gd name="connsiteX92" fmla="*/ 158723 w 606407"/>
              <a:gd name="connsiteY92" fmla="*/ 282594 h 528112"/>
              <a:gd name="connsiteX93" fmla="*/ 154982 w 606407"/>
              <a:gd name="connsiteY93" fmla="*/ 302112 h 528112"/>
              <a:gd name="connsiteX94" fmla="*/ 173219 w 606407"/>
              <a:gd name="connsiteY94" fmla="*/ 501030 h 528112"/>
              <a:gd name="connsiteX95" fmla="*/ 150587 w 606407"/>
              <a:gd name="connsiteY95" fmla="*/ 527925 h 528112"/>
              <a:gd name="connsiteX96" fmla="*/ 148436 w 606407"/>
              <a:gd name="connsiteY96" fmla="*/ 528112 h 528112"/>
              <a:gd name="connsiteX97" fmla="*/ 123653 w 606407"/>
              <a:gd name="connsiteY97" fmla="*/ 505325 h 528112"/>
              <a:gd name="connsiteX98" fmla="*/ 107287 w 606407"/>
              <a:gd name="connsiteY98" fmla="*/ 330222 h 528112"/>
              <a:gd name="connsiteX99" fmla="*/ 103172 w 606407"/>
              <a:gd name="connsiteY99" fmla="*/ 330409 h 528112"/>
              <a:gd name="connsiteX100" fmla="*/ 99244 w 606407"/>
              <a:gd name="connsiteY100" fmla="*/ 330315 h 528112"/>
              <a:gd name="connsiteX101" fmla="*/ 86899 w 606407"/>
              <a:gd name="connsiteY101" fmla="*/ 505139 h 528112"/>
              <a:gd name="connsiteX102" fmla="*/ 62116 w 606407"/>
              <a:gd name="connsiteY102" fmla="*/ 528019 h 528112"/>
              <a:gd name="connsiteX103" fmla="*/ 60152 w 606407"/>
              <a:gd name="connsiteY103" fmla="*/ 528019 h 528112"/>
              <a:gd name="connsiteX104" fmla="*/ 37240 w 606407"/>
              <a:gd name="connsiteY104" fmla="*/ 501310 h 528112"/>
              <a:gd name="connsiteX105" fmla="*/ 52577 w 606407"/>
              <a:gd name="connsiteY105" fmla="*/ 302672 h 528112"/>
              <a:gd name="connsiteX106" fmla="*/ 47621 w 606407"/>
              <a:gd name="connsiteY106" fmla="*/ 282594 h 528112"/>
              <a:gd name="connsiteX107" fmla="*/ 47621 w 606407"/>
              <a:gd name="connsiteY107" fmla="*/ 215074 h 528112"/>
              <a:gd name="connsiteX108" fmla="*/ 43225 w 606407"/>
              <a:gd name="connsiteY108" fmla="*/ 289318 h 528112"/>
              <a:gd name="connsiteX109" fmla="*/ 23866 w 606407"/>
              <a:gd name="connsiteY109" fmla="*/ 311918 h 528112"/>
              <a:gd name="connsiteX110" fmla="*/ 22183 w 606407"/>
              <a:gd name="connsiteY110" fmla="*/ 312011 h 528112"/>
              <a:gd name="connsiteX111" fmla="*/ 1234 w 606407"/>
              <a:gd name="connsiteY111" fmla="*/ 292586 h 528112"/>
              <a:gd name="connsiteX112" fmla="*/ 67073 w 606407"/>
              <a:gd name="connsiteY112" fmla="*/ 125981 h 528112"/>
              <a:gd name="connsiteX113" fmla="*/ 89611 w 606407"/>
              <a:gd name="connsiteY113" fmla="*/ 115895 h 528112"/>
              <a:gd name="connsiteX114" fmla="*/ 103172 w 606407"/>
              <a:gd name="connsiteY114" fmla="*/ 129437 h 528112"/>
              <a:gd name="connsiteX115" fmla="*/ 116265 w 606407"/>
              <a:gd name="connsiteY115" fmla="*/ 115709 h 528112"/>
              <a:gd name="connsiteX116" fmla="*/ 116358 w 606407"/>
              <a:gd name="connsiteY116" fmla="*/ 115802 h 528112"/>
              <a:gd name="connsiteX117" fmla="*/ 140674 w 606407"/>
              <a:gd name="connsiteY117" fmla="*/ 126822 h 528112"/>
              <a:gd name="connsiteX118" fmla="*/ 235878 w 606407"/>
              <a:gd name="connsiteY118" fmla="*/ 116082 h 528112"/>
              <a:gd name="connsiteX119" fmla="*/ 262344 w 606407"/>
              <a:gd name="connsiteY119" fmla="*/ 116829 h 528112"/>
              <a:gd name="connsiteX120" fmla="*/ 291336 w 606407"/>
              <a:gd name="connsiteY120" fmla="*/ 93762 h 528112"/>
              <a:gd name="connsiteX121" fmla="*/ 291336 w 606407"/>
              <a:gd name="connsiteY121" fmla="*/ 45200 h 528112"/>
              <a:gd name="connsiteX122" fmla="*/ 282264 w 606407"/>
              <a:gd name="connsiteY122" fmla="*/ 45200 h 528112"/>
              <a:gd name="connsiteX123" fmla="*/ 282264 w 606407"/>
              <a:gd name="connsiteY123" fmla="*/ 15783 h 528112"/>
              <a:gd name="connsiteX124" fmla="*/ 432458 w 606407"/>
              <a:gd name="connsiteY124" fmla="*/ 15783 h 528112"/>
              <a:gd name="connsiteX125" fmla="*/ 432458 w 606407"/>
              <a:gd name="connsiteY125" fmla="*/ 11300 h 528112"/>
              <a:gd name="connsiteX126" fmla="*/ 443774 w 606407"/>
              <a:gd name="connsiteY126" fmla="*/ 0 h 528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</a:cxnLst>
            <a:rect l="l" t="t" r="r" b="b"/>
            <a:pathLst>
              <a:path w="606407" h="528112">
                <a:moveTo>
                  <a:pt x="102985" y="131491"/>
                </a:moveTo>
                <a:lnTo>
                  <a:pt x="89892" y="218810"/>
                </a:lnTo>
                <a:lnTo>
                  <a:pt x="102985" y="236740"/>
                </a:lnTo>
                <a:lnTo>
                  <a:pt x="103265" y="236740"/>
                </a:lnTo>
                <a:lnTo>
                  <a:pt x="116358" y="218810"/>
                </a:lnTo>
                <a:lnTo>
                  <a:pt x="103265" y="131491"/>
                </a:lnTo>
                <a:close/>
                <a:moveTo>
                  <a:pt x="335836" y="85949"/>
                </a:moveTo>
                <a:cubicBezTo>
                  <a:pt x="344722" y="85949"/>
                  <a:pt x="351924" y="93136"/>
                  <a:pt x="351924" y="101910"/>
                </a:cubicBezTo>
                <a:cubicBezTo>
                  <a:pt x="351924" y="106484"/>
                  <a:pt x="349960" y="110591"/>
                  <a:pt x="346966" y="113484"/>
                </a:cubicBezTo>
                <a:lnTo>
                  <a:pt x="392799" y="159220"/>
                </a:lnTo>
                <a:cubicBezTo>
                  <a:pt x="395698" y="156140"/>
                  <a:pt x="399814" y="154273"/>
                  <a:pt x="404304" y="154273"/>
                </a:cubicBezTo>
                <a:cubicBezTo>
                  <a:pt x="409355" y="154273"/>
                  <a:pt x="413751" y="156513"/>
                  <a:pt x="416744" y="160153"/>
                </a:cubicBezTo>
                <a:lnTo>
                  <a:pt x="455561" y="140365"/>
                </a:lnTo>
                <a:cubicBezTo>
                  <a:pt x="455561" y="140179"/>
                  <a:pt x="455561" y="139899"/>
                  <a:pt x="455561" y="139712"/>
                </a:cubicBezTo>
                <a:cubicBezTo>
                  <a:pt x="455561" y="130845"/>
                  <a:pt x="462764" y="123751"/>
                  <a:pt x="471649" y="123751"/>
                </a:cubicBezTo>
                <a:cubicBezTo>
                  <a:pt x="480442" y="123751"/>
                  <a:pt x="487644" y="130845"/>
                  <a:pt x="487644" y="139712"/>
                </a:cubicBezTo>
                <a:cubicBezTo>
                  <a:pt x="487644" y="144006"/>
                  <a:pt x="485960" y="147926"/>
                  <a:pt x="483154" y="150819"/>
                </a:cubicBezTo>
                <a:lnTo>
                  <a:pt x="496717" y="164353"/>
                </a:lnTo>
                <a:cubicBezTo>
                  <a:pt x="499055" y="163140"/>
                  <a:pt x="501581" y="162393"/>
                  <a:pt x="504387" y="162393"/>
                </a:cubicBezTo>
                <a:cubicBezTo>
                  <a:pt x="506351" y="162393"/>
                  <a:pt x="508222" y="162767"/>
                  <a:pt x="509906" y="163420"/>
                </a:cubicBezTo>
                <a:lnTo>
                  <a:pt x="540118" y="117964"/>
                </a:lnTo>
                <a:cubicBezTo>
                  <a:pt x="537031" y="115071"/>
                  <a:pt x="535160" y="110964"/>
                  <a:pt x="535160" y="106390"/>
                </a:cubicBezTo>
                <a:cubicBezTo>
                  <a:pt x="535160" y="97617"/>
                  <a:pt x="542363" y="90429"/>
                  <a:pt x="551155" y="90429"/>
                </a:cubicBezTo>
                <a:cubicBezTo>
                  <a:pt x="560041" y="90429"/>
                  <a:pt x="567243" y="97617"/>
                  <a:pt x="567243" y="106390"/>
                </a:cubicBezTo>
                <a:cubicBezTo>
                  <a:pt x="567243" y="115257"/>
                  <a:pt x="560041" y="122444"/>
                  <a:pt x="551155" y="122444"/>
                </a:cubicBezTo>
                <a:cubicBezTo>
                  <a:pt x="549939" y="122444"/>
                  <a:pt x="548629" y="122258"/>
                  <a:pt x="547507" y="121978"/>
                </a:cubicBezTo>
                <a:lnTo>
                  <a:pt x="516734" y="168180"/>
                </a:lnTo>
                <a:cubicBezTo>
                  <a:pt x="519072" y="170980"/>
                  <a:pt x="520475" y="174527"/>
                  <a:pt x="520475" y="178447"/>
                </a:cubicBezTo>
                <a:cubicBezTo>
                  <a:pt x="520475" y="187221"/>
                  <a:pt x="513273" y="194408"/>
                  <a:pt x="504481" y="194408"/>
                </a:cubicBezTo>
                <a:cubicBezTo>
                  <a:pt x="495501" y="194408"/>
                  <a:pt x="488392" y="187221"/>
                  <a:pt x="488392" y="178447"/>
                </a:cubicBezTo>
                <a:cubicBezTo>
                  <a:pt x="488392" y="175367"/>
                  <a:pt x="489234" y="172567"/>
                  <a:pt x="490731" y="170140"/>
                </a:cubicBezTo>
                <a:lnTo>
                  <a:pt x="475765" y="155113"/>
                </a:lnTo>
                <a:cubicBezTo>
                  <a:pt x="474456" y="155486"/>
                  <a:pt x="473053" y="155673"/>
                  <a:pt x="471649" y="155673"/>
                </a:cubicBezTo>
                <a:cubicBezTo>
                  <a:pt x="465944" y="155673"/>
                  <a:pt x="461080" y="152779"/>
                  <a:pt x="458180" y="148393"/>
                </a:cubicBezTo>
                <a:lnTo>
                  <a:pt x="420111" y="167714"/>
                </a:lnTo>
                <a:cubicBezTo>
                  <a:pt x="420298" y="168554"/>
                  <a:pt x="420392" y="169394"/>
                  <a:pt x="420392" y="170234"/>
                </a:cubicBezTo>
                <a:cubicBezTo>
                  <a:pt x="420392" y="179101"/>
                  <a:pt x="413190" y="186288"/>
                  <a:pt x="404304" y="186288"/>
                </a:cubicBezTo>
                <a:cubicBezTo>
                  <a:pt x="395418" y="186288"/>
                  <a:pt x="388309" y="179101"/>
                  <a:pt x="388309" y="170234"/>
                </a:cubicBezTo>
                <a:cubicBezTo>
                  <a:pt x="388309" y="169114"/>
                  <a:pt x="388403" y="167994"/>
                  <a:pt x="388683" y="166873"/>
                </a:cubicBezTo>
                <a:lnTo>
                  <a:pt x="339203" y="117591"/>
                </a:lnTo>
                <a:cubicBezTo>
                  <a:pt x="338174" y="117778"/>
                  <a:pt x="337052" y="117871"/>
                  <a:pt x="335836" y="117871"/>
                </a:cubicBezTo>
                <a:cubicBezTo>
                  <a:pt x="326950" y="117871"/>
                  <a:pt x="319841" y="110777"/>
                  <a:pt x="319841" y="101910"/>
                </a:cubicBezTo>
                <a:cubicBezTo>
                  <a:pt x="319841" y="93136"/>
                  <a:pt x="326950" y="85949"/>
                  <a:pt x="335836" y="85949"/>
                </a:cubicBezTo>
                <a:close/>
                <a:moveTo>
                  <a:pt x="304990" y="45200"/>
                </a:moveTo>
                <a:lnTo>
                  <a:pt x="304990" y="82929"/>
                </a:lnTo>
                <a:lnTo>
                  <a:pt x="340060" y="55099"/>
                </a:lnTo>
                <a:lnTo>
                  <a:pt x="345578" y="62010"/>
                </a:lnTo>
                <a:lnTo>
                  <a:pt x="304990" y="94416"/>
                </a:lnTo>
                <a:lnTo>
                  <a:pt x="304990" y="250842"/>
                </a:lnTo>
                <a:cubicBezTo>
                  <a:pt x="304990" y="252056"/>
                  <a:pt x="305925" y="253083"/>
                  <a:pt x="307234" y="253083"/>
                </a:cubicBezTo>
                <a:lnTo>
                  <a:pt x="581531" y="253083"/>
                </a:lnTo>
                <a:cubicBezTo>
                  <a:pt x="582746" y="253083"/>
                  <a:pt x="583775" y="252056"/>
                  <a:pt x="583775" y="250842"/>
                </a:cubicBezTo>
                <a:lnTo>
                  <a:pt x="583775" y="45200"/>
                </a:lnTo>
                <a:close/>
                <a:moveTo>
                  <a:pt x="103240" y="4375"/>
                </a:moveTo>
                <a:cubicBezTo>
                  <a:pt x="133229" y="4375"/>
                  <a:pt x="157540" y="28623"/>
                  <a:pt x="157540" y="58534"/>
                </a:cubicBezTo>
                <a:cubicBezTo>
                  <a:pt x="157540" y="88445"/>
                  <a:pt x="133229" y="112693"/>
                  <a:pt x="103240" y="112693"/>
                </a:cubicBezTo>
                <a:cubicBezTo>
                  <a:pt x="73251" y="112693"/>
                  <a:pt x="48940" y="88445"/>
                  <a:pt x="48940" y="58534"/>
                </a:cubicBezTo>
                <a:cubicBezTo>
                  <a:pt x="48940" y="28623"/>
                  <a:pt x="73251" y="4375"/>
                  <a:pt x="103240" y="4375"/>
                </a:cubicBezTo>
                <a:close/>
                <a:moveTo>
                  <a:pt x="443774" y="0"/>
                </a:moveTo>
                <a:lnTo>
                  <a:pt x="444990" y="0"/>
                </a:lnTo>
                <a:cubicBezTo>
                  <a:pt x="451163" y="0"/>
                  <a:pt x="456306" y="5043"/>
                  <a:pt x="456306" y="11300"/>
                </a:cubicBezTo>
                <a:lnTo>
                  <a:pt x="456306" y="15783"/>
                </a:lnTo>
                <a:lnTo>
                  <a:pt x="606407" y="15783"/>
                </a:lnTo>
                <a:lnTo>
                  <a:pt x="606407" y="45200"/>
                </a:lnTo>
                <a:lnTo>
                  <a:pt x="597429" y="45200"/>
                </a:lnTo>
                <a:lnTo>
                  <a:pt x="597429" y="250748"/>
                </a:lnTo>
                <a:cubicBezTo>
                  <a:pt x="597429" y="259527"/>
                  <a:pt x="590321" y="266624"/>
                  <a:pt x="581531" y="266624"/>
                </a:cubicBezTo>
                <a:lnTo>
                  <a:pt x="453407" y="266624"/>
                </a:lnTo>
                <a:lnTo>
                  <a:pt x="453407" y="429214"/>
                </a:lnTo>
                <a:lnTo>
                  <a:pt x="520368" y="480858"/>
                </a:lnTo>
                <a:cubicBezTo>
                  <a:pt x="524296" y="483846"/>
                  <a:pt x="525044" y="489543"/>
                  <a:pt x="521958" y="493558"/>
                </a:cubicBezTo>
                <a:cubicBezTo>
                  <a:pt x="520181" y="495800"/>
                  <a:pt x="517469" y="497014"/>
                  <a:pt x="514757" y="497014"/>
                </a:cubicBezTo>
                <a:cubicBezTo>
                  <a:pt x="512886" y="497014"/>
                  <a:pt x="510922" y="496360"/>
                  <a:pt x="509239" y="495146"/>
                </a:cubicBezTo>
                <a:lnTo>
                  <a:pt x="453407" y="452094"/>
                </a:lnTo>
                <a:lnTo>
                  <a:pt x="453407" y="487021"/>
                </a:lnTo>
                <a:lnTo>
                  <a:pt x="453407" y="518960"/>
                </a:lnTo>
                <a:cubicBezTo>
                  <a:pt x="453407" y="524003"/>
                  <a:pt x="449386" y="528112"/>
                  <a:pt x="444336" y="528112"/>
                </a:cubicBezTo>
                <a:cubicBezTo>
                  <a:pt x="439379" y="528112"/>
                  <a:pt x="435264" y="524097"/>
                  <a:pt x="435264" y="518960"/>
                </a:cubicBezTo>
                <a:lnTo>
                  <a:pt x="435264" y="452094"/>
                </a:lnTo>
                <a:lnTo>
                  <a:pt x="379432" y="495146"/>
                </a:lnTo>
                <a:cubicBezTo>
                  <a:pt x="377749" y="496360"/>
                  <a:pt x="375878" y="497014"/>
                  <a:pt x="373914" y="497014"/>
                </a:cubicBezTo>
                <a:cubicBezTo>
                  <a:pt x="371202" y="497014"/>
                  <a:pt x="368490" y="495800"/>
                  <a:pt x="366713" y="493558"/>
                </a:cubicBezTo>
                <a:cubicBezTo>
                  <a:pt x="363627" y="489543"/>
                  <a:pt x="364375" y="483846"/>
                  <a:pt x="368303" y="480858"/>
                </a:cubicBezTo>
                <a:lnTo>
                  <a:pt x="435264" y="429214"/>
                </a:lnTo>
                <a:lnTo>
                  <a:pt x="435264" y="266624"/>
                </a:lnTo>
                <a:lnTo>
                  <a:pt x="307234" y="266624"/>
                </a:lnTo>
                <a:cubicBezTo>
                  <a:pt x="298443" y="266624"/>
                  <a:pt x="291336" y="259527"/>
                  <a:pt x="291336" y="250748"/>
                </a:cubicBezTo>
                <a:lnTo>
                  <a:pt x="291336" y="105249"/>
                </a:lnTo>
                <a:lnTo>
                  <a:pt x="267768" y="124020"/>
                </a:lnTo>
                <a:cubicBezTo>
                  <a:pt x="271790" y="132799"/>
                  <a:pt x="269358" y="143445"/>
                  <a:pt x="261315" y="149609"/>
                </a:cubicBezTo>
                <a:cubicBezTo>
                  <a:pt x="235317" y="169314"/>
                  <a:pt x="210253" y="185563"/>
                  <a:pt x="180794" y="185563"/>
                </a:cubicBezTo>
                <a:cubicBezTo>
                  <a:pt x="173687" y="185563"/>
                  <a:pt x="166392" y="184629"/>
                  <a:pt x="158723" y="182575"/>
                </a:cubicBezTo>
                <a:lnTo>
                  <a:pt x="158723" y="282594"/>
                </a:lnTo>
                <a:cubicBezTo>
                  <a:pt x="158723" y="288291"/>
                  <a:pt x="157227" y="298283"/>
                  <a:pt x="154982" y="302112"/>
                </a:cubicBezTo>
                <a:cubicBezTo>
                  <a:pt x="155076" y="302486"/>
                  <a:pt x="173219" y="501030"/>
                  <a:pt x="173219" y="501030"/>
                </a:cubicBezTo>
                <a:cubicBezTo>
                  <a:pt x="174435" y="514758"/>
                  <a:pt x="164241" y="526805"/>
                  <a:pt x="150587" y="527925"/>
                </a:cubicBezTo>
                <a:cubicBezTo>
                  <a:pt x="149839" y="528019"/>
                  <a:pt x="149091" y="528112"/>
                  <a:pt x="148436" y="528112"/>
                </a:cubicBezTo>
                <a:cubicBezTo>
                  <a:pt x="135624" y="528112"/>
                  <a:pt x="124775" y="518306"/>
                  <a:pt x="123653" y="505325"/>
                </a:cubicBezTo>
                <a:lnTo>
                  <a:pt x="107287" y="330222"/>
                </a:lnTo>
                <a:cubicBezTo>
                  <a:pt x="105510" y="330315"/>
                  <a:pt x="104949" y="330409"/>
                  <a:pt x="103172" y="330409"/>
                </a:cubicBezTo>
                <a:cubicBezTo>
                  <a:pt x="102237" y="330409"/>
                  <a:pt x="100086" y="330315"/>
                  <a:pt x="99244" y="330315"/>
                </a:cubicBezTo>
                <a:lnTo>
                  <a:pt x="86899" y="505139"/>
                </a:lnTo>
                <a:cubicBezTo>
                  <a:pt x="85871" y="518120"/>
                  <a:pt x="74929" y="528019"/>
                  <a:pt x="62116" y="528019"/>
                </a:cubicBezTo>
                <a:cubicBezTo>
                  <a:pt x="61462" y="528019"/>
                  <a:pt x="60807" y="528019"/>
                  <a:pt x="60152" y="528019"/>
                </a:cubicBezTo>
                <a:cubicBezTo>
                  <a:pt x="46405" y="526898"/>
                  <a:pt x="36211" y="514944"/>
                  <a:pt x="37240" y="501310"/>
                </a:cubicBezTo>
                <a:lnTo>
                  <a:pt x="52577" y="302672"/>
                </a:lnTo>
                <a:cubicBezTo>
                  <a:pt x="49398" y="296696"/>
                  <a:pt x="47621" y="289972"/>
                  <a:pt x="47621" y="282594"/>
                </a:cubicBezTo>
                <a:lnTo>
                  <a:pt x="47621" y="215074"/>
                </a:lnTo>
                <a:cubicBezTo>
                  <a:pt x="42664" y="232818"/>
                  <a:pt x="40700" y="256538"/>
                  <a:pt x="43225" y="289318"/>
                </a:cubicBezTo>
                <a:cubicBezTo>
                  <a:pt x="44160" y="300898"/>
                  <a:pt x="35463" y="310984"/>
                  <a:pt x="23866" y="311918"/>
                </a:cubicBezTo>
                <a:cubicBezTo>
                  <a:pt x="23305" y="311918"/>
                  <a:pt x="22744" y="312011"/>
                  <a:pt x="22183" y="312011"/>
                </a:cubicBezTo>
                <a:cubicBezTo>
                  <a:pt x="11335" y="312011"/>
                  <a:pt x="2076" y="303606"/>
                  <a:pt x="1234" y="292586"/>
                </a:cubicBezTo>
                <a:cubicBezTo>
                  <a:pt x="-7089" y="186590"/>
                  <a:pt x="27981" y="149889"/>
                  <a:pt x="67073" y="125981"/>
                </a:cubicBezTo>
                <a:cubicBezTo>
                  <a:pt x="68195" y="125234"/>
                  <a:pt x="82971" y="117483"/>
                  <a:pt x="89611" y="115895"/>
                </a:cubicBezTo>
                <a:lnTo>
                  <a:pt x="103172" y="129437"/>
                </a:lnTo>
                <a:lnTo>
                  <a:pt x="116265" y="115709"/>
                </a:lnTo>
                <a:cubicBezTo>
                  <a:pt x="116265" y="115709"/>
                  <a:pt x="116358" y="115709"/>
                  <a:pt x="116358" y="115802"/>
                </a:cubicBezTo>
                <a:cubicBezTo>
                  <a:pt x="123279" y="117390"/>
                  <a:pt x="137401" y="124767"/>
                  <a:pt x="140674" y="126822"/>
                </a:cubicBezTo>
                <a:cubicBezTo>
                  <a:pt x="181823" y="152877"/>
                  <a:pt x="196038" y="146247"/>
                  <a:pt x="235878" y="116082"/>
                </a:cubicBezTo>
                <a:cubicBezTo>
                  <a:pt x="243921" y="109919"/>
                  <a:pt x="254956" y="110572"/>
                  <a:pt x="262344" y="116829"/>
                </a:cubicBezTo>
                <a:lnTo>
                  <a:pt x="291336" y="93762"/>
                </a:lnTo>
                <a:lnTo>
                  <a:pt x="291336" y="45200"/>
                </a:lnTo>
                <a:lnTo>
                  <a:pt x="282264" y="45200"/>
                </a:lnTo>
                <a:lnTo>
                  <a:pt x="282264" y="15783"/>
                </a:lnTo>
                <a:lnTo>
                  <a:pt x="432458" y="15783"/>
                </a:lnTo>
                <a:lnTo>
                  <a:pt x="432458" y="11300"/>
                </a:lnTo>
                <a:cubicBezTo>
                  <a:pt x="432458" y="5043"/>
                  <a:pt x="437509" y="0"/>
                  <a:pt x="44377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13758C68-0946-C536-5752-9BA266B049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3185288"/>
              </p:ext>
            </p:extLst>
          </p:nvPr>
        </p:nvGraphicFramePr>
        <p:xfrm>
          <a:off x="4960092" y="3930999"/>
          <a:ext cx="2527411" cy="5539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90784" imgH="304931" progId="Equation.DSMT4">
                  <p:embed/>
                </p:oleObj>
              </mc:Choice>
              <mc:Fallback>
                <p:oleObj name="Equation" r:id="rId3" imgW="1390784" imgH="304931" progId="Equation.DSMT4">
                  <p:embed/>
                  <p:pic>
                    <p:nvPicPr>
                      <p:cNvPr id="22" name="对象 21">
                        <a:extLst>
                          <a:ext uri="{FF2B5EF4-FFF2-40B4-BE49-F238E27FC236}">
                            <a16:creationId xmlns:a16="http://schemas.microsoft.com/office/drawing/2014/main" id="{13758C68-0946-C536-5752-9BA266B049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960092" y="3930999"/>
                        <a:ext cx="2527411" cy="5539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7B1A4A7A-90CD-AE88-AF4B-B02D129649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1192106"/>
              </p:ext>
            </p:extLst>
          </p:nvPr>
        </p:nvGraphicFramePr>
        <p:xfrm>
          <a:off x="4851576" y="4772363"/>
          <a:ext cx="2825652" cy="55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504912" imgH="295211" progId="Equation.DSMT4">
                  <p:embed/>
                </p:oleObj>
              </mc:Choice>
              <mc:Fallback>
                <p:oleObj name="Equation" r:id="rId5" imgW="1504912" imgH="295211" progId="Equation.DSMT4">
                  <p:embed/>
                  <p:pic>
                    <p:nvPicPr>
                      <p:cNvPr id="23" name="对象 22">
                        <a:extLst>
                          <a:ext uri="{FF2B5EF4-FFF2-40B4-BE49-F238E27FC236}">
                            <a16:creationId xmlns:a16="http://schemas.microsoft.com/office/drawing/2014/main" id="{7B1A4A7A-90CD-AE88-AF4B-B02D129649D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851576" y="4772363"/>
                        <a:ext cx="2825652" cy="55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11016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678D1-91C0-A8EF-1199-0561B2569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2">
            <a:extLst>
              <a:ext uri="{FF2B5EF4-FFF2-40B4-BE49-F238E27FC236}">
                <a16:creationId xmlns:a16="http://schemas.microsoft.com/office/drawing/2014/main" id="{4A1D8FFF-B838-E7E0-2505-CF98903726E4}"/>
              </a:ext>
            </a:extLst>
          </p:cNvPr>
          <p:cNvSpPr/>
          <p:nvPr/>
        </p:nvSpPr>
        <p:spPr>
          <a:xfrm>
            <a:off x="166155" y="976588"/>
            <a:ext cx="7524016" cy="544830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152000" rIns="108000" rtlCol="0" anchor="ctr">
            <a:spAutoFit/>
          </a:bodyPr>
          <a:lstStyle/>
          <a:p>
            <a:pPr defTabSz="1460500">
              <a:spcBef>
                <a:spcPct val="30000"/>
              </a:spcBef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实践案例：基于高斯混合聚类的食品聚类</a:t>
            </a:r>
          </a:p>
        </p:txBody>
      </p:sp>
      <p:sp>
        <p:nvSpPr>
          <p:cNvPr id="7" name="箭头: 五边形 11">
            <a:extLst>
              <a:ext uri="{FF2B5EF4-FFF2-40B4-BE49-F238E27FC236}">
                <a16:creationId xmlns:a16="http://schemas.microsoft.com/office/drawing/2014/main" id="{DE51DD83-4455-A328-8D3A-D71FCB27CC0C}"/>
              </a:ext>
            </a:extLst>
          </p:cNvPr>
          <p:cNvSpPr/>
          <p:nvPr/>
        </p:nvSpPr>
        <p:spPr>
          <a:xfrm>
            <a:off x="166155" y="976589"/>
            <a:ext cx="1079640" cy="544830"/>
          </a:xfrm>
          <a:prstGeom prst="homePlate">
            <a:avLst/>
          </a:prstGeom>
          <a:gradFill>
            <a:gsLst>
              <a:gs pos="417">
                <a:srgbClr val="00B0F0"/>
              </a:gs>
              <a:gs pos="100000">
                <a:srgbClr val="0070C0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600" dirty="0">
                <a:solidFill>
                  <a:prstClr val="white"/>
                </a:solidFill>
                <a:latin typeface="Impact" panose="020B0806030902050204" pitchFamily="34" charset="0"/>
                <a:ea typeface="等线" panose="02010600030101010101" pitchFamily="2" charset="-122"/>
                <a:sym typeface="Times New Roman" panose="02020603050405020304" pitchFamily="18" charset="0"/>
              </a:rPr>
              <a:t>4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mpact" panose="020B0806030902050204" pitchFamily="34" charset="0"/>
                <a:ea typeface="等线" panose="02010600030101010101" pitchFamily="2" charset="-122"/>
                <a:cs typeface="+mn-cs"/>
                <a:sym typeface="Times New Roman" panose="02020603050405020304" pitchFamily="18" charset="0"/>
              </a:rPr>
              <a:t>.5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mpact" panose="020B0806030902050204" pitchFamily="34" charset="0"/>
              <a:ea typeface="等线" panose="02010600030101010101" pitchFamily="2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E09F23BB-22D5-8829-1E59-8105DC42B5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06C67A55-EA31-8104-EF05-9B285313DD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" y="176371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3048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F9791AE4-795B-9330-AA0C-305D47E6F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4960" y="845439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3048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41600" algn="ctr"/>
                <a:tab pos="5270500" algn="r"/>
              </a:tabLst>
            </a:pPr>
            <a:r>
              <a:rPr kumimoji="0" lang="en-US" altLang="zh-CN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2AA0CF3-3C9D-0D39-2D82-58336DE152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572" y="1693311"/>
            <a:ext cx="1124559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来自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Kaggle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Open Food Facts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数据，应用高斯混合聚类对食品进行聚类分析。该数据集包含了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10000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种食品信息，具体字段包括：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code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（品牌编码）、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created_t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（制造商编码）、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created_datetime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（制造日期）、营养成分信息（如脂肪、蛋白质、碳水化合物）等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DBB810B7-A131-BA01-F365-BF37F1B493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3798312"/>
              </p:ext>
            </p:extLst>
          </p:nvPr>
        </p:nvGraphicFramePr>
        <p:xfrm>
          <a:off x="874889" y="3408894"/>
          <a:ext cx="9362811" cy="3272873"/>
        </p:xfrm>
        <a:graphic>
          <a:graphicData uri="http://schemas.openxmlformats.org/drawingml/2006/table">
            <a:tbl>
              <a:tblPr firstRow="1" firstCol="1" bandRow="1"/>
              <a:tblGrid>
                <a:gridCol w="1837831">
                  <a:extLst>
                    <a:ext uri="{9D8B030D-6E8A-4147-A177-3AD203B41FA5}">
                      <a16:colId xmlns:a16="http://schemas.microsoft.com/office/drawing/2014/main" val="3439238849"/>
                    </a:ext>
                  </a:extLst>
                </a:gridCol>
                <a:gridCol w="1866015">
                  <a:extLst>
                    <a:ext uri="{9D8B030D-6E8A-4147-A177-3AD203B41FA5}">
                      <a16:colId xmlns:a16="http://schemas.microsoft.com/office/drawing/2014/main" val="2539260273"/>
                    </a:ext>
                  </a:extLst>
                </a:gridCol>
                <a:gridCol w="216702">
                  <a:extLst>
                    <a:ext uri="{9D8B030D-6E8A-4147-A177-3AD203B41FA5}">
                      <a16:colId xmlns:a16="http://schemas.microsoft.com/office/drawing/2014/main" val="589164409"/>
                    </a:ext>
                  </a:extLst>
                </a:gridCol>
                <a:gridCol w="2913552">
                  <a:extLst>
                    <a:ext uri="{9D8B030D-6E8A-4147-A177-3AD203B41FA5}">
                      <a16:colId xmlns:a16="http://schemas.microsoft.com/office/drawing/2014/main" val="2189395897"/>
                    </a:ext>
                  </a:extLst>
                </a:gridCol>
                <a:gridCol w="2528711">
                  <a:extLst>
                    <a:ext uri="{9D8B030D-6E8A-4147-A177-3AD203B41FA5}">
                      <a16:colId xmlns:a16="http://schemas.microsoft.com/office/drawing/2014/main" val="1592410758"/>
                    </a:ext>
                  </a:extLst>
                </a:gridCol>
              </a:tblGrid>
              <a:tr h="493684"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</a:pPr>
                      <a:r>
                        <a:rPr lang="en-US" sz="1500" b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code</a:t>
                      </a:r>
                      <a:endParaRPr lang="zh-CN" sz="17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651" marR="95651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500" b="1" kern="100" dirty="0" err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created_t</a:t>
                      </a:r>
                      <a:endParaRPr lang="zh-CN" sz="17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651" marR="95651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zh-CN" sz="1500" b="1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…</a:t>
                      </a:r>
                      <a:endParaRPr lang="zh-CN" sz="17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651" marR="95651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500" b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nutrition-score-fr_100g</a:t>
                      </a:r>
                      <a:endParaRPr lang="zh-CN" sz="17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651" marR="95651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500" b="1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nutrition-score-uk_100g</a:t>
                      </a:r>
                      <a:endParaRPr lang="zh-CN" sz="17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651" marR="95651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1216811"/>
                  </a:ext>
                </a:extLst>
              </a:tr>
              <a:tr h="493684"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3087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651" marR="95651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1474103866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651" marR="95651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zh-CN" sz="18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…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651" marR="95651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nan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651" marR="95651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nan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651" marR="95651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9555547"/>
                  </a:ext>
                </a:extLst>
              </a:tr>
              <a:tr h="493684"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4530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651" marR="9565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1489069957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651" marR="9565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zh-CN" sz="18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…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651" marR="9565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14.00000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651" marR="9565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14.00000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651" marR="9565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2217427"/>
                  </a:ext>
                </a:extLst>
              </a:tr>
              <a:tr h="493684"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4559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651" marR="9565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1489069957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651" marR="9565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zh-CN" sz="18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…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651" marR="9565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0.00000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651" marR="9565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0.00000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651" marR="9565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6621747"/>
                  </a:ext>
                </a:extLst>
              </a:tr>
              <a:tr h="240377"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</a:pPr>
                      <a:r>
                        <a:rPr lang="zh-CN" sz="18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…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651" marR="9565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zh-CN" sz="18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…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651" marR="9565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zh-CN" sz="18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…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651" marR="9565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zh-CN" sz="18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…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651" marR="9565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zh-CN" sz="18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…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651" marR="9565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4964459"/>
                  </a:ext>
                </a:extLst>
              </a:tr>
              <a:tr h="493684"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11822337601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651" marR="9565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1489071873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651" marR="9565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zh-CN" sz="18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…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651" marR="9565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nan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651" marR="9565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nan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651" marR="9565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4580007"/>
                  </a:ext>
                </a:extLst>
              </a:tr>
              <a:tr h="493684"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11822338226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651" marR="9565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1489093906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651" marR="9565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zh-CN" sz="18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…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651" marR="9565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14.00000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651" marR="9565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14.00000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651" marR="9565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6034424"/>
                  </a:ext>
                </a:extLst>
              </a:tr>
            </a:tbl>
          </a:graphicData>
        </a:graphic>
      </p:graphicFrame>
      <p:sp>
        <p:nvSpPr>
          <p:cNvPr id="9" name="矩形 26">
            <a:extLst>
              <a:ext uri="{FF2B5EF4-FFF2-40B4-BE49-F238E27FC236}">
                <a16:creationId xmlns:a16="http://schemas.microsoft.com/office/drawing/2014/main" id="{02CD0CF9-3B4B-94DA-1FD6-7AE305CBF98B}"/>
              </a:ext>
            </a:extLst>
          </p:cNvPr>
          <p:cNvSpPr/>
          <p:nvPr/>
        </p:nvSpPr>
        <p:spPr>
          <a:xfrm>
            <a:off x="1099756" y="198111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四、高斯混合聚类</a:t>
            </a:r>
            <a:endParaRPr lang="en-US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77060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963B4-1DA5-E9BD-219E-BF1AFD880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>
            <a:extLst>
              <a:ext uri="{FF2B5EF4-FFF2-40B4-BE49-F238E27FC236}">
                <a16:creationId xmlns:a16="http://schemas.microsoft.com/office/drawing/2014/main" id="{667C2FE3-1171-BFF8-E5CC-7467708E444E}"/>
              </a:ext>
            </a:extLst>
          </p:cNvPr>
          <p:cNvSpPr txBox="1"/>
          <p:nvPr/>
        </p:nvSpPr>
        <p:spPr>
          <a:xfrm>
            <a:off x="168715" y="1683223"/>
            <a:ext cx="11270367" cy="961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tabLst>
                <a:tab pos="304800" algn="l"/>
              </a:tabLst>
            </a:pPr>
            <a:r>
              <a:rPr lang="en-US" altLang="zh-CN" sz="20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1.</a:t>
            </a:r>
            <a:r>
              <a:rPr lang="zh-CN" altLang="zh-CN" sz="20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模型构建。</a:t>
            </a:r>
            <a:r>
              <a:rPr lang="zh-CN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在</a:t>
            </a:r>
            <a:r>
              <a:rPr lang="en-US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Python</a:t>
            </a:r>
            <a:r>
              <a:rPr lang="zh-CN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中，</a:t>
            </a:r>
            <a:r>
              <a:rPr lang="zh-CN" altLang="en-US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高斯混合聚类</a:t>
            </a:r>
            <a:r>
              <a:rPr lang="zh-CN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可以通过使用</a:t>
            </a:r>
            <a:r>
              <a:rPr lang="en-US" altLang="zh-CN" sz="2000" kern="1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sklearn.mixture</a:t>
            </a:r>
            <a:r>
              <a:rPr lang="zh-CN" altLang="zh-CN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模块中的</a:t>
            </a:r>
            <a:r>
              <a:rPr lang="en-US" altLang="zh-CN" sz="2000" kern="1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GaussianMixture</a:t>
            </a:r>
            <a:r>
              <a:rPr lang="zh-CN" altLang="zh-CN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类构建学习器进行实现</a:t>
            </a:r>
            <a:endParaRPr lang="zh-CN" altLang="zh-CN" sz="2000" kern="100" dirty="0">
              <a:effectLst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1779058-DEF7-E0E2-6005-701BD4C3C003}"/>
              </a:ext>
            </a:extLst>
          </p:cNvPr>
          <p:cNvSpPr txBox="1"/>
          <p:nvPr/>
        </p:nvSpPr>
        <p:spPr>
          <a:xfrm>
            <a:off x="168714" y="4213489"/>
            <a:ext cx="11270367" cy="18846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0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2.</a:t>
            </a:r>
            <a:r>
              <a:rPr lang="zh-CN" altLang="zh-CN" sz="20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参数调整。</a:t>
            </a:r>
            <a:r>
              <a:rPr lang="zh-CN" altLang="en-US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参数“</a:t>
            </a:r>
            <a:r>
              <a:rPr lang="en-US" altLang="zh-CN" sz="2000" kern="100" dirty="0" err="1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n_components</a:t>
            </a:r>
            <a:r>
              <a:rPr lang="en-US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”</a:t>
            </a:r>
            <a:r>
              <a:rPr lang="zh-CN" altLang="en-US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表示高斯混合模型中混合分布的数量，即需要聚类的簇数量；参数“</a:t>
            </a:r>
            <a:r>
              <a:rPr lang="en-US" altLang="zh-CN" sz="2000" kern="100" dirty="0" err="1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n_init</a:t>
            </a:r>
            <a:r>
              <a:rPr lang="en-US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”</a:t>
            </a:r>
            <a:r>
              <a:rPr lang="zh-CN" altLang="en-US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表示算法初始化次数；参数“</a:t>
            </a:r>
            <a:r>
              <a:rPr lang="en-US" altLang="zh-CN" sz="2000" kern="100" dirty="0" err="1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max_iter</a:t>
            </a:r>
            <a:r>
              <a:rPr lang="en-US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”</a:t>
            </a:r>
            <a:r>
              <a:rPr lang="zh-CN" altLang="en-US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表示</a:t>
            </a:r>
            <a:r>
              <a:rPr lang="en-US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EM</a:t>
            </a:r>
            <a:r>
              <a:rPr lang="zh-CN" altLang="en-US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算法最大迭代次数；参数“</a:t>
            </a:r>
            <a:r>
              <a:rPr lang="en-US" altLang="zh-CN" sz="2000" kern="100" dirty="0" err="1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init_params</a:t>
            </a:r>
            <a:r>
              <a:rPr lang="en-US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”</a:t>
            </a:r>
            <a:r>
              <a:rPr lang="zh-CN" altLang="en-US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表示高斯混合模型的初始化参数的方法，共有“</a:t>
            </a:r>
            <a:r>
              <a:rPr lang="en-US" altLang="zh-CN" sz="2000" kern="100" dirty="0" err="1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kmeans</a:t>
            </a:r>
            <a:r>
              <a:rPr lang="en-US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”</a:t>
            </a:r>
            <a:r>
              <a:rPr lang="zh-CN" altLang="en-US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，“</a:t>
            </a:r>
            <a:r>
              <a:rPr lang="en-US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k-means++”</a:t>
            </a:r>
            <a:r>
              <a:rPr lang="zh-CN" altLang="en-US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，“</a:t>
            </a:r>
            <a:r>
              <a:rPr lang="en-US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random”</a:t>
            </a:r>
            <a:r>
              <a:rPr lang="zh-CN" altLang="en-US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，“</a:t>
            </a:r>
            <a:r>
              <a:rPr lang="en-US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random_from_data”4</a:t>
            </a:r>
            <a:r>
              <a:rPr lang="zh-CN" altLang="en-US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种方法，默认“</a:t>
            </a:r>
            <a:r>
              <a:rPr lang="en-US" altLang="zh-CN" sz="2000" kern="100" dirty="0" err="1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kmeans</a:t>
            </a:r>
            <a:r>
              <a:rPr lang="en-US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”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6E390E2-48E7-6C5B-A57B-45F69B9C17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387" y="2644510"/>
            <a:ext cx="10815959" cy="1504239"/>
          </a:xfrm>
          <a:prstGeom prst="rect">
            <a:avLst/>
          </a:prstGeom>
        </p:spPr>
      </p:pic>
      <p:sp>
        <p:nvSpPr>
          <p:cNvPr id="8" name="矩形 26">
            <a:extLst>
              <a:ext uri="{FF2B5EF4-FFF2-40B4-BE49-F238E27FC236}">
                <a16:creationId xmlns:a16="http://schemas.microsoft.com/office/drawing/2014/main" id="{B187C381-A56D-14E0-7037-5EEF85A115E7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四、高斯混合聚类</a:t>
            </a:r>
            <a:endParaRPr lang="en-US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  <p:sp>
        <p:nvSpPr>
          <p:cNvPr id="2" name="矩形: 圆角 12">
            <a:extLst>
              <a:ext uri="{FF2B5EF4-FFF2-40B4-BE49-F238E27FC236}">
                <a16:creationId xmlns:a16="http://schemas.microsoft.com/office/drawing/2014/main" id="{8E1F584D-8ED9-0063-6C6D-ACD02D2466DE}"/>
              </a:ext>
            </a:extLst>
          </p:cNvPr>
          <p:cNvSpPr/>
          <p:nvPr/>
        </p:nvSpPr>
        <p:spPr>
          <a:xfrm>
            <a:off x="166155" y="976588"/>
            <a:ext cx="7524016" cy="544830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152000" rIns="108000" rtlCol="0" anchor="ctr">
            <a:spAutoFit/>
          </a:bodyPr>
          <a:lstStyle/>
          <a:p>
            <a:pPr defTabSz="1460500">
              <a:spcBef>
                <a:spcPct val="30000"/>
              </a:spcBef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实践案例：基于高斯混合聚类的食品聚类</a:t>
            </a:r>
          </a:p>
        </p:txBody>
      </p:sp>
      <p:sp>
        <p:nvSpPr>
          <p:cNvPr id="3" name="箭头: 五边形 11">
            <a:extLst>
              <a:ext uri="{FF2B5EF4-FFF2-40B4-BE49-F238E27FC236}">
                <a16:creationId xmlns:a16="http://schemas.microsoft.com/office/drawing/2014/main" id="{D4714A75-610E-7DF4-4A2E-74A9B5A51686}"/>
              </a:ext>
            </a:extLst>
          </p:cNvPr>
          <p:cNvSpPr/>
          <p:nvPr/>
        </p:nvSpPr>
        <p:spPr>
          <a:xfrm>
            <a:off x="166155" y="976589"/>
            <a:ext cx="1079640" cy="544830"/>
          </a:xfrm>
          <a:prstGeom prst="homePlate">
            <a:avLst/>
          </a:prstGeom>
          <a:gradFill>
            <a:gsLst>
              <a:gs pos="417">
                <a:srgbClr val="00B0F0"/>
              </a:gs>
              <a:gs pos="100000">
                <a:srgbClr val="0070C0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600" dirty="0">
                <a:solidFill>
                  <a:prstClr val="white"/>
                </a:solidFill>
                <a:latin typeface="Impact" panose="020B0806030902050204" pitchFamily="34" charset="0"/>
                <a:ea typeface="等线" panose="02010600030101010101" pitchFamily="2" charset="-122"/>
                <a:sym typeface="Times New Roman" panose="02020603050405020304" pitchFamily="18" charset="0"/>
              </a:rPr>
              <a:t>4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mpact" panose="020B0806030902050204" pitchFamily="34" charset="0"/>
                <a:ea typeface="等线" panose="02010600030101010101" pitchFamily="2" charset="-122"/>
                <a:cs typeface="+mn-cs"/>
                <a:sym typeface="Times New Roman" panose="02020603050405020304" pitchFamily="18" charset="0"/>
              </a:rPr>
              <a:t>.5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mpact" panose="020B0806030902050204" pitchFamily="34" charset="0"/>
              <a:ea typeface="等线" panose="02010600030101010101" pitchFamily="2" charset="-122"/>
              <a:cs typeface="+mn-cs"/>
              <a:sym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7669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F61FA-42B3-E869-1E97-FAB0A7EEC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3">
            <a:extLst>
              <a:ext uri="{FF2B5EF4-FFF2-40B4-BE49-F238E27FC236}">
                <a16:creationId xmlns:a16="http://schemas.microsoft.com/office/drawing/2014/main" id="{2BDC30BD-8446-0571-8782-E7A49850F0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2BD169EC-BA4A-A39A-0FF4-18792F7C2A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4960" y="845439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3048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41600" algn="ctr"/>
                <a:tab pos="5270500" algn="r"/>
              </a:tabLst>
            </a:pPr>
            <a:r>
              <a:rPr kumimoji="0" lang="en-US" altLang="zh-CN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C94B264-BB5F-C2B5-E2A4-D4D95EE8453F}"/>
              </a:ext>
            </a:extLst>
          </p:cNvPr>
          <p:cNvSpPr txBox="1"/>
          <p:nvPr/>
        </p:nvSpPr>
        <p:spPr>
          <a:xfrm>
            <a:off x="459060" y="2008805"/>
            <a:ext cx="244089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数据预处理</a:t>
            </a:r>
            <a:endParaRPr lang="en-US" altLang="zh-CN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标准化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PCA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降维：高维数据转化为二维数据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6C0CDBE-7B5F-A9EE-84C1-78D97D243A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3485" y="1602211"/>
            <a:ext cx="7998515" cy="4930931"/>
          </a:xfrm>
          <a:prstGeom prst="rect">
            <a:avLst/>
          </a:prstGeom>
        </p:spPr>
      </p:pic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DD7982CB-8770-F460-FE9F-8CAD4C33EFE9}"/>
              </a:ext>
            </a:extLst>
          </p:cNvPr>
          <p:cNvCxnSpPr>
            <a:cxnSpLocks/>
          </p:cNvCxnSpPr>
          <p:nvPr/>
        </p:nvCxnSpPr>
        <p:spPr>
          <a:xfrm flipH="1" flipV="1">
            <a:off x="2730137" y="3240455"/>
            <a:ext cx="3274230" cy="264095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55D6C954-1594-993D-693A-A113285B1FD1}"/>
              </a:ext>
            </a:extLst>
          </p:cNvPr>
          <p:cNvCxnSpPr>
            <a:cxnSpLocks/>
          </p:cNvCxnSpPr>
          <p:nvPr/>
        </p:nvCxnSpPr>
        <p:spPr>
          <a:xfrm flipH="1" flipV="1">
            <a:off x="2399211" y="4407037"/>
            <a:ext cx="3346269" cy="162912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: 圆角 12">
            <a:extLst>
              <a:ext uri="{FF2B5EF4-FFF2-40B4-BE49-F238E27FC236}">
                <a16:creationId xmlns:a16="http://schemas.microsoft.com/office/drawing/2014/main" id="{AA0ABF90-D84B-76C5-7B23-83164D613B15}"/>
              </a:ext>
            </a:extLst>
          </p:cNvPr>
          <p:cNvSpPr/>
          <p:nvPr/>
        </p:nvSpPr>
        <p:spPr>
          <a:xfrm>
            <a:off x="166155" y="976588"/>
            <a:ext cx="7524016" cy="544830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152000" rIns="108000" rtlCol="0" anchor="ctr">
            <a:spAutoFit/>
          </a:bodyPr>
          <a:lstStyle/>
          <a:p>
            <a:pPr defTabSz="1460500">
              <a:spcBef>
                <a:spcPct val="30000"/>
              </a:spcBef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实践案例：基于高斯混合聚类的食品聚类</a:t>
            </a:r>
          </a:p>
        </p:txBody>
      </p:sp>
      <p:sp>
        <p:nvSpPr>
          <p:cNvPr id="6" name="箭头: 五边形 11">
            <a:extLst>
              <a:ext uri="{FF2B5EF4-FFF2-40B4-BE49-F238E27FC236}">
                <a16:creationId xmlns:a16="http://schemas.microsoft.com/office/drawing/2014/main" id="{E77ADDBB-4A26-8F8F-FC44-F2EB3151FE34}"/>
              </a:ext>
            </a:extLst>
          </p:cNvPr>
          <p:cNvSpPr/>
          <p:nvPr/>
        </p:nvSpPr>
        <p:spPr>
          <a:xfrm>
            <a:off x="166155" y="976589"/>
            <a:ext cx="1079640" cy="544830"/>
          </a:xfrm>
          <a:prstGeom prst="homePlate">
            <a:avLst/>
          </a:prstGeom>
          <a:gradFill>
            <a:gsLst>
              <a:gs pos="417">
                <a:srgbClr val="00B0F0"/>
              </a:gs>
              <a:gs pos="100000">
                <a:srgbClr val="0070C0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600" dirty="0">
                <a:solidFill>
                  <a:prstClr val="white"/>
                </a:solidFill>
                <a:latin typeface="Impact" panose="020B0806030902050204" pitchFamily="34" charset="0"/>
                <a:ea typeface="等线" panose="02010600030101010101" pitchFamily="2" charset="-122"/>
                <a:sym typeface="Times New Roman" panose="02020603050405020304" pitchFamily="18" charset="0"/>
              </a:rPr>
              <a:t>4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mpact" panose="020B0806030902050204" pitchFamily="34" charset="0"/>
                <a:ea typeface="等线" panose="02010600030101010101" pitchFamily="2" charset="-122"/>
                <a:cs typeface="+mn-cs"/>
                <a:sym typeface="Times New Roman" panose="02020603050405020304" pitchFamily="18" charset="0"/>
              </a:rPr>
              <a:t>.5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mpact" panose="020B0806030902050204" pitchFamily="34" charset="0"/>
              <a:ea typeface="等线" panose="02010600030101010101" pitchFamily="2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8" name="矩形 26">
            <a:extLst>
              <a:ext uri="{FF2B5EF4-FFF2-40B4-BE49-F238E27FC236}">
                <a16:creationId xmlns:a16="http://schemas.microsoft.com/office/drawing/2014/main" id="{DECA8724-6A0C-0F0C-7F43-54B33898CDA4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四、高斯混合聚类</a:t>
            </a:r>
            <a:endParaRPr lang="en-US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71669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37A77-9DF2-97B5-460D-934A6FE16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3">
            <a:extLst>
              <a:ext uri="{FF2B5EF4-FFF2-40B4-BE49-F238E27FC236}">
                <a16:creationId xmlns:a16="http://schemas.microsoft.com/office/drawing/2014/main" id="{434AC6A6-1394-C894-EAD6-8A927F738E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B29BE86-7BDA-827D-FC6A-29568F7B16D0}"/>
              </a:ext>
            </a:extLst>
          </p:cNvPr>
          <p:cNvSpPr txBox="1"/>
          <p:nvPr/>
        </p:nvSpPr>
        <p:spPr>
          <a:xfrm>
            <a:off x="0" y="2089525"/>
            <a:ext cx="31935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b="1" dirty="0">
                <a:solidFill>
                  <a:srgbClr val="FF0000"/>
                </a:solidFill>
              </a:rPr>
              <a:t>输出结果</a:t>
            </a:r>
            <a:endParaRPr lang="en-US" altLang="zh-CN" b="1" dirty="0">
              <a:solidFill>
                <a:srgbClr val="FF0000"/>
              </a:solidFill>
            </a:endParaRPr>
          </a:p>
        </p:txBody>
      </p:sp>
      <p:pic>
        <p:nvPicPr>
          <p:cNvPr id="8" name="图形 6">
            <a:extLst>
              <a:ext uri="{FF2B5EF4-FFF2-40B4-BE49-F238E27FC236}">
                <a16:creationId xmlns:a16="http://schemas.microsoft.com/office/drawing/2014/main" id="{C7F12957-1DEE-444B-3190-46B0DEDC8E6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235" t="7184" r="8022"/>
          <a:stretch/>
        </p:blipFill>
        <p:spPr bwMode="auto">
          <a:xfrm>
            <a:off x="3129089" y="3119297"/>
            <a:ext cx="4386862" cy="371247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9" name="图形 1182613028">
            <a:extLst>
              <a:ext uri="{FF2B5EF4-FFF2-40B4-BE49-F238E27FC236}">
                <a16:creationId xmlns:a16="http://schemas.microsoft.com/office/drawing/2014/main" id="{E1CD144D-39E0-BC8B-0406-FAEC9545983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5923" t="9752" r="8404" b="5734"/>
          <a:stretch>
            <a:fillRect/>
          </a:stretch>
        </p:blipFill>
        <p:spPr>
          <a:xfrm>
            <a:off x="7515951" y="3119297"/>
            <a:ext cx="4323948" cy="371247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22641213-4A12-3EFF-608C-1960BDA62FAD}"/>
              </a:ext>
            </a:extLst>
          </p:cNvPr>
          <p:cNvSpPr txBox="1"/>
          <p:nvPr/>
        </p:nvSpPr>
        <p:spPr>
          <a:xfrm>
            <a:off x="3419650" y="1922142"/>
            <a:ext cx="8420249" cy="1207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  <a:spcBef>
                <a:spcPts val="600"/>
              </a:spcBef>
            </a:pPr>
            <a:r>
              <a:rPr lang="zh-CN" altLang="zh-CN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如左图所示，使用</a:t>
            </a:r>
            <a:r>
              <a:rPr lang="en-US" altLang="zh-CN" sz="2000" kern="1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Calinski-Harabasz</a:t>
            </a:r>
            <a:r>
              <a:rPr lang="zh-CN" altLang="zh-CN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指数确定高斯混合聚类最佳聚类数，</a:t>
            </a:r>
            <a:r>
              <a:rPr lang="en-US" altLang="zh-CN" sz="2000" kern="1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Calinski-Harabasz</a:t>
            </a:r>
            <a:r>
              <a:rPr lang="zh-CN" altLang="zh-CN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指数在</a:t>
            </a:r>
            <a:r>
              <a:rPr lang="en-US" altLang="zh-CN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6</a:t>
            </a:r>
            <a:r>
              <a:rPr lang="zh-CN" altLang="zh-CN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时达到最大值；如右图所示，椭圆表示每个高斯混合分布，可以看到多个高斯混合分布存在重叠情况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D717EDC-C99B-0914-7C92-78F66D4AE5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3348430"/>
            <a:ext cx="3129088" cy="30623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C45911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最佳聚类数：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C45911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6</a:t>
            </a:r>
            <a:r>
              <a:rPr kumimoji="0" lang="zh-CN" altLang="en-US" sz="1400" b="0" i="0" u="none" strike="noStrike" cap="none" normalizeH="0" baseline="0" dirty="0">
                <a:ln>
                  <a:noFill/>
                </a:ln>
                <a:solidFill>
                  <a:srgbClr val="C45911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，</a:t>
            </a:r>
            <a:endParaRPr kumimoji="0" lang="en-US" altLang="zh-CN" sz="1400" b="0" i="0" u="none" strike="noStrike" cap="none" normalizeH="0" baseline="0" dirty="0">
              <a:ln>
                <a:noFill/>
              </a:ln>
              <a:solidFill>
                <a:srgbClr val="C45911"/>
              </a:solidFill>
              <a:effectLst/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0" i="0" u="none" strike="noStrike" cap="none" normalizeH="0" baseline="0" dirty="0" err="1">
                <a:ln>
                  <a:noFill/>
                </a:ln>
                <a:solidFill>
                  <a:srgbClr val="C45911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Calinski-Harabasz</a:t>
            </a:r>
            <a:r>
              <a:rPr kumimoji="0" lang="zh-CN" altLang="en-US" sz="1400" b="0" i="0" u="none" strike="noStrike" cap="none" normalizeH="0" baseline="0" dirty="0">
                <a:ln>
                  <a:noFill/>
                </a:ln>
                <a:solidFill>
                  <a:srgbClr val="C45911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指数为 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C45911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8912.501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400" b="0" i="0" u="none" strike="noStrike" cap="none" normalizeH="0" baseline="0" dirty="0">
                <a:ln>
                  <a:noFill/>
                </a:ln>
                <a:solidFill>
                  <a:srgbClr val="C45911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前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C45911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5</a:t>
            </a:r>
            <a:r>
              <a:rPr kumimoji="0" lang="zh-CN" altLang="en-US" sz="1400" b="0" i="0" u="none" strike="noStrike" cap="none" normalizeH="0" baseline="0" dirty="0">
                <a:ln>
                  <a:noFill/>
                </a:ln>
                <a:solidFill>
                  <a:srgbClr val="C45911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个样本分属不同簇的概率分布：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C45911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[[0.001 0.    0.796 0.203 0.    0.   ] [0.    0.    0.703 0.295 0.001 0.   ] [0.    0.    0.005 0.    0.995 0.   ] [0.002 0.    0.517 0.48  0.001 0.   ] [0.    0.    0.188 0.019 0.793 0.   ]]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400" b="0" i="0" u="none" strike="noStrike" cap="none" normalizeH="0" baseline="0" dirty="0">
                <a:ln>
                  <a:noFill/>
                </a:ln>
                <a:solidFill>
                  <a:srgbClr val="C45911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前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C45911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5</a:t>
            </a:r>
            <a:r>
              <a:rPr kumimoji="0" lang="zh-CN" altLang="en-US" sz="1400" b="0" i="0" u="none" strike="noStrike" cap="none" normalizeH="0" baseline="0" dirty="0">
                <a:ln>
                  <a:noFill/>
                </a:ln>
                <a:solidFill>
                  <a:srgbClr val="C45911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个样本分属不同簇的标签：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C45911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[2 2 4 2 4]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矩形 26">
            <a:extLst>
              <a:ext uri="{FF2B5EF4-FFF2-40B4-BE49-F238E27FC236}">
                <a16:creationId xmlns:a16="http://schemas.microsoft.com/office/drawing/2014/main" id="{65EA3579-B6FC-C7FB-C061-B6EE3F148145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四、高斯混合聚类</a:t>
            </a:r>
            <a:endParaRPr lang="en-US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  <p:sp>
        <p:nvSpPr>
          <p:cNvPr id="11" name="矩形: 圆角 12">
            <a:extLst>
              <a:ext uri="{FF2B5EF4-FFF2-40B4-BE49-F238E27FC236}">
                <a16:creationId xmlns:a16="http://schemas.microsoft.com/office/drawing/2014/main" id="{69E4B7EA-E45A-61D5-BB78-D437E7BEB16D}"/>
              </a:ext>
            </a:extLst>
          </p:cNvPr>
          <p:cNvSpPr/>
          <p:nvPr/>
        </p:nvSpPr>
        <p:spPr>
          <a:xfrm>
            <a:off x="166155" y="976588"/>
            <a:ext cx="7524016" cy="544830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152000" rIns="108000" rtlCol="0" anchor="ctr">
            <a:spAutoFit/>
          </a:bodyPr>
          <a:lstStyle/>
          <a:p>
            <a:pPr defTabSz="1460500">
              <a:spcBef>
                <a:spcPct val="30000"/>
              </a:spcBef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实践案例：基于高斯混合聚类的食品聚类</a:t>
            </a:r>
          </a:p>
        </p:txBody>
      </p:sp>
      <p:sp>
        <p:nvSpPr>
          <p:cNvPr id="12" name="箭头: 五边形 11">
            <a:extLst>
              <a:ext uri="{FF2B5EF4-FFF2-40B4-BE49-F238E27FC236}">
                <a16:creationId xmlns:a16="http://schemas.microsoft.com/office/drawing/2014/main" id="{56917A1C-F0AB-20C9-8B05-26908F0C6F87}"/>
              </a:ext>
            </a:extLst>
          </p:cNvPr>
          <p:cNvSpPr/>
          <p:nvPr/>
        </p:nvSpPr>
        <p:spPr>
          <a:xfrm>
            <a:off x="166155" y="976589"/>
            <a:ext cx="1079640" cy="544830"/>
          </a:xfrm>
          <a:prstGeom prst="homePlate">
            <a:avLst/>
          </a:prstGeom>
          <a:gradFill>
            <a:gsLst>
              <a:gs pos="417">
                <a:srgbClr val="00B0F0"/>
              </a:gs>
              <a:gs pos="100000">
                <a:srgbClr val="0070C0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600" dirty="0">
                <a:solidFill>
                  <a:prstClr val="white"/>
                </a:solidFill>
                <a:latin typeface="Impact" panose="020B0806030902050204" pitchFamily="34" charset="0"/>
                <a:ea typeface="等线" panose="02010600030101010101" pitchFamily="2" charset="-122"/>
                <a:sym typeface="Times New Roman" panose="02020603050405020304" pitchFamily="18" charset="0"/>
              </a:rPr>
              <a:t>4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mpact" panose="020B0806030902050204" pitchFamily="34" charset="0"/>
                <a:ea typeface="等线" panose="02010600030101010101" pitchFamily="2" charset="-122"/>
                <a:cs typeface="+mn-cs"/>
                <a:sym typeface="Times New Roman" panose="02020603050405020304" pitchFamily="18" charset="0"/>
              </a:rPr>
              <a:t>.5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mpact" panose="020B0806030902050204" pitchFamily="34" charset="0"/>
              <a:ea typeface="等线" panose="02010600030101010101" pitchFamily="2" charset="-122"/>
              <a:cs typeface="+mn-cs"/>
              <a:sym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8777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1035ED6-ED79-6653-E473-3F5FCA3CC077}"/>
              </a:ext>
            </a:extLst>
          </p:cNvPr>
          <p:cNvSpPr txBox="1">
            <a:spLocks/>
          </p:cNvSpPr>
          <p:nvPr/>
        </p:nvSpPr>
        <p:spPr>
          <a:xfrm>
            <a:off x="2974694" y="2267379"/>
            <a:ext cx="7326776" cy="1352550"/>
          </a:xfrm>
          <a:prstGeom prst="rect">
            <a:avLst/>
          </a:prstGeom>
          <a:noFill/>
        </p:spPr>
        <p:txBody>
          <a:bodyPr anchor="ctr"/>
          <a:lstStyle>
            <a:defPPr>
              <a:defRPr lang="zh-CN"/>
            </a:defPPr>
            <a:lvl1pPr algn="ctr" eaLnBrk="0" fontAlgn="base" hangingPunct="0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defRPr sz="6600" b="1" spc="300">
                <a:solidFill>
                  <a:srgbClr val="FFFF00"/>
                </a:solidFill>
                <a:effectLst>
                  <a:outerShdw blurRad="38100" dist="1270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3429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6858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10287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13716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algn="dist"/>
            <a:r>
              <a:rPr lang="zh-CN" altLang="en-US" b="0" dirty="0">
                <a:solidFill>
                  <a:schemeClr val="bg1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恳请批评指正！</a:t>
            </a:r>
            <a:endParaRPr lang="en-US" b="0" dirty="0">
              <a:solidFill>
                <a:schemeClr val="bg1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23532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">
      <a:majorFont>
        <a:latin typeface="等线 Light"/>
        <a:ea typeface="等线 Light"/>
        <a:cs typeface=""/>
      </a:majorFont>
      <a:minorFont>
        <a:latin typeface="等线"/>
        <a:ea typeface="等线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812</TotalTime>
  <Words>704</Words>
  <Application>Microsoft Office PowerPoint</Application>
  <PresentationFormat>宽屏</PresentationFormat>
  <Paragraphs>125</Paragraphs>
  <Slides>12</Slides>
  <Notes>8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2" baseType="lpstr">
      <vt:lpstr>等线</vt:lpstr>
      <vt:lpstr>华光综艺_CNKI</vt:lpstr>
      <vt:lpstr>微软雅黑</vt:lpstr>
      <vt:lpstr>Arial</vt:lpstr>
      <vt:lpstr>Calibri</vt:lpstr>
      <vt:lpstr>Courier New</vt:lpstr>
      <vt:lpstr>Impact</vt:lpstr>
      <vt:lpstr>Times New Roman</vt:lpstr>
      <vt:lpstr>Office 主题​​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Black</dc:creator>
  <cp:lastModifiedBy>Star Champion</cp:lastModifiedBy>
  <cp:revision>198</cp:revision>
  <dcterms:created xsi:type="dcterms:W3CDTF">2019-06-19T02:08:00Z</dcterms:created>
  <dcterms:modified xsi:type="dcterms:W3CDTF">2025-04-18T13:04:49Z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2052-12.1.0.18912</vt:lpwstr>
  </property>
  <property fmtid="{D5CDD505-2E9C-101B-9397-08002B2CF9AE}" pid="3" name="ICV">
    <vt:lpwstr>290520E9665F40D5BBE3CCA2763F3BF4_11</vt:lpwstr>
  </property>
</Properties>
</file>