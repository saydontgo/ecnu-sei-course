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8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26"/>
  </p:notesMasterIdLst>
  <p:handoutMasterIdLst>
    <p:handoutMasterId r:id="rId27"/>
  </p:handoutMasterIdLst>
  <p:sldIdLst>
    <p:sldId id="15637" r:id="rId13"/>
    <p:sldId id="15674" r:id="rId14"/>
    <p:sldId id="15756" r:id="rId15"/>
    <p:sldId id="15724" r:id="rId16"/>
    <p:sldId id="15721" r:id="rId17"/>
    <p:sldId id="15757" r:id="rId18"/>
    <p:sldId id="15722" r:id="rId19"/>
    <p:sldId id="15775" r:id="rId20"/>
    <p:sldId id="15776" r:id="rId21"/>
    <p:sldId id="15758" r:id="rId22"/>
    <p:sldId id="15725" r:id="rId23"/>
    <p:sldId id="15726" r:id="rId24"/>
    <p:sldId id="15502" r:id="rId25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节" id="{B76A38E9-E72E-4BCB-B362-B21FAC086E6B}">
          <p14:sldIdLst>
            <p14:sldId id="15637"/>
            <p14:sldId id="15674"/>
            <p14:sldId id="15756"/>
            <p14:sldId id="15724"/>
            <p14:sldId id="15721"/>
            <p14:sldId id="15757"/>
            <p14:sldId id="15722"/>
            <p14:sldId id="15775"/>
            <p14:sldId id="15776"/>
            <p14:sldId id="15758"/>
            <p14:sldId id="15725"/>
            <p14:sldId id="15726"/>
            <p14:sldId id="15502"/>
          </p14:sldIdLst>
        </p14:section>
      </p14:sectionLst>
    </p:ext>
    <p:ext uri="{EFAFB233-063F-42B5-8137-9DF3F51BA10A}">
      <p15:sldGuideLst xmlns:p15="http://schemas.microsoft.com/office/powerpoint/2012/main">
        <p15:guide id="4" pos="2280" userDrawn="1">
          <p15:clr>
            <a:srgbClr val="A4A3A4"/>
          </p15:clr>
        </p15:guide>
        <p15:guide id="5" orient="horz" pos="29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45AD"/>
    <a:srgbClr val="000080"/>
    <a:srgbClr val="FBE4D5"/>
    <a:srgbClr val="008ED7"/>
    <a:srgbClr val="D13400"/>
    <a:srgbClr val="0444AE"/>
    <a:srgbClr val="0347AF"/>
    <a:srgbClr val="0146AE"/>
    <a:srgbClr val="FFFF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63" autoAdjust="0"/>
    <p:restoredTop sz="86966" autoAdjust="0"/>
  </p:normalViewPr>
  <p:slideViewPr>
    <p:cSldViewPr snapToGrid="0">
      <p:cViewPr varScale="1">
        <p:scale>
          <a:sx n="93" d="100"/>
          <a:sy n="93" d="100"/>
        </p:scale>
        <p:origin x="184" y="80"/>
      </p:cViewPr>
      <p:guideLst>
        <p:guide pos="2280"/>
        <p:guide orient="horz"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tags" Target="tags/tag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056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A4A22-4E10-9AB6-E113-7760E1C5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EA0311-922C-2261-4BF2-589033629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EC03CB-15FC-8DAC-0EF6-782CB8610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C2B9AB-C79D-9B1F-CFA4-D1620A91D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1851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8F16-933A-0A64-A9B6-ADA829DA0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351936-C5B3-5B1F-91BC-D7EF3BBC5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CAF26D-85A7-9A3D-2779-037AA0785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B33B35-5F0F-9785-BB28-E50791FE4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888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5A41-8ACD-1509-4889-B00D29803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CEDBA3-E1D8-F4F0-CEC0-E5E342C42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8EE6AD-A748-FC53-5CED-EDB07ACB2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41D615-7508-CCFE-4155-5EA74BD2F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8432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40FDD-0A75-CD32-C8ED-E66E1E3F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B8E21D-06DA-25F2-73E8-52B5E0753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A8CE95-5A67-3C6E-51F7-21B6B456E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B7AB0E-45CD-C016-4353-0DAD07A4B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4092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02E1-B452-BDBA-6D4A-BE21257A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A28D59-73FF-2E6E-B3A2-440D04B9E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249B14-DEBD-9282-4F4D-70B7583DD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FC0422-DFED-8627-6D2C-AD49F7DF6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370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5C6A3-670F-61C8-A4E4-22786F1AB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E3F495-7193-0985-1616-47321D283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A1D529-4B5B-6712-7C9C-DDA5439ED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条件模式基（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Conditional pattern base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），即在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FP-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树中以某个频繁项为后缀（末结点）的路径集合</a:t>
            </a: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E8AD35-6B27-196D-C57B-2885085BC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2546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DBFCE-7812-342C-2AC2-7365F979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AA893B-0686-5185-800A-60DC02A11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7DC327-6184-CACC-3D59-CA98E88DE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条件模式基（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Conditional pattern base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），即在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FP-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树中以某个频繁项为后缀（末结点）的路径集合</a:t>
            </a: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0335A1-05D8-C845-2CE3-2B81E9F46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4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A19A6-6F7A-31F8-3BC2-C87769AF0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DE5862-BBF1-10CC-A3A1-882EB874A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2618D4-D717-7B50-F8E2-E74B996B3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03A0D8-556A-F5F6-0474-91ABFCEBB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7191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F2DBA-A2EA-9792-12D9-F80998139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E5EC26-6C36-A5D4-501A-B1A8570D2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4902F4-35FD-984D-5CF7-C67360B6C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8D4EE4-E5BE-4C1E-ABF5-23A60C0E4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816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EC510-2B81-55BE-49F6-FCDE41B12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D61487-EBAD-02FC-1230-AF18894B2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C7D771-2020-C65E-EFF6-0D7F05289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14878F-FE48-AC3D-4D8E-78F16BA00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367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E9556-9946-978D-CB8B-8C75A51E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38DABF-C991-A7BA-408E-39BADF06E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C6773E-4E5D-FBCA-EE17-86DF973B4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FD494F-4CCF-4BCB-177B-D8F21E36F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50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image" Target="../media/image35.wmf"/><Relationship Id="rId3" Type="http://schemas.openxmlformats.org/officeDocument/2006/relationships/oleObject" Target="../embeddings/oleObject3.bin"/><Relationship Id="rId7" Type="http://schemas.openxmlformats.org/officeDocument/2006/relationships/image" Target="../media/image29.emf"/><Relationship Id="rId12" Type="http://schemas.openxmlformats.org/officeDocument/2006/relationships/image" Target="../media/image3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11" Type="http://schemas.openxmlformats.org/officeDocument/2006/relationships/image" Target="../media/image33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32.wmf"/><Relationship Id="rId4" Type="http://schemas.openxmlformats.org/officeDocument/2006/relationships/image" Target="../media/image25.wmf"/><Relationship Id="rId9" Type="http://schemas.openxmlformats.org/officeDocument/2006/relationships/image" Target="../media/image31.wmf"/><Relationship Id="rId14" Type="http://schemas.openxmlformats.org/officeDocument/2006/relationships/image" Target="../media/image3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11" Type="http://schemas.openxmlformats.org/officeDocument/2006/relationships/image" Target="../media/image39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38.e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4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42.png"/><Relationship Id="rId12" Type="http://schemas.openxmlformats.org/officeDocument/2006/relationships/image" Target="../media/image4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45.png"/><Relationship Id="rId4" Type="http://schemas.openxmlformats.org/officeDocument/2006/relationships/image" Target="../media/image25.wmf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oleObject" Target="../embeddings/oleObject3.bin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5.wmf"/><Relationship Id="rId9" Type="http://schemas.openxmlformats.org/officeDocument/2006/relationships/image" Target="../media/image51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image" Target="../media/image52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B78C-7E3C-647B-2525-72904764C9CB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6.3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en-US" altLang="zh-CN" b="0" dirty="0">
                <a:ea typeface="华光综艺_CNKI" panose="02000500000000000000" pitchFamily="2" charset="-122"/>
              </a:rPr>
              <a:t>FP-growth</a:t>
            </a:r>
            <a:r>
              <a:rPr lang="zh-CN" altLang="en-US" b="0" dirty="0">
                <a:ea typeface="华光综艺_CNKI" panose="02000500000000000000" pitchFamily="2" charset="-122"/>
              </a:rPr>
              <a:t>算法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987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601DF-2F8A-756F-A66E-0F4D2F56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78D2023C-9660-0A07-5FEE-A47323B08E3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FP-growth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4ECF4BB-345D-D9EB-B45D-704AF7A022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27305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158" imgH="177646" progId="Equation.DSMT4">
                  <p:embed/>
                </p:oleObj>
              </mc:Choice>
              <mc:Fallback>
                <p:oleObj name="Equation" r:id="rId3" imgW="279158" imgH="177646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4ECF4BB-345D-D9EB-B45D-704AF7A022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27305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E1F5143-C7A1-8308-B414-4F6D47D68F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41350"/>
          <a:ext cx="1397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E1F5143-C7A1-8308-B414-4F6D47D68F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41350"/>
                        <a:ext cx="13970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9532A267-4F60-E981-A07A-632B46DA4B38}"/>
              </a:ext>
            </a:extLst>
          </p:cNvPr>
          <p:cNvSpPr txBox="1"/>
          <p:nvPr/>
        </p:nvSpPr>
        <p:spPr>
          <a:xfrm>
            <a:off x="464367" y="2107837"/>
            <a:ext cx="5223085" cy="2642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F</a:t>
            </a:r>
            <a:r>
              <a:rPr lang="en-US" altLang="zh-CN" sz="2400" b="1" dirty="0" bmk="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P-growth</a:t>
            </a:r>
            <a:r>
              <a:rPr lang="zh-CN" altLang="en-US" sz="2400" b="1" dirty="0" bmk="_Hlk149491827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（</a:t>
            </a:r>
            <a:r>
              <a:rPr lang="en-US" altLang="zh-CN" sz="2400" b="1" dirty="0" bmk="_Hlk149491827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Frequent pattern growth</a:t>
            </a:r>
            <a:r>
              <a:rPr lang="zh-CN" altLang="en-US" sz="2400" b="1" dirty="0" bmk="_Hlk149491827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）算法</a:t>
            </a:r>
            <a:endParaRPr lang="en-US" altLang="zh-CN" sz="2400" b="1" dirty="0" bmk="_Hlk149491827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将数据库转化为被称作频繁模式树（</a:t>
            </a:r>
            <a:r>
              <a:rPr kumimoji="1" lang="en-US" altLang="zh-CN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FP-tree</a:t>
            </a: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）的紧凑数据结构</a:t>
            </a:r>
            <a:endParaRPr kumimoji="1" lang="en-US" altLang="zh-CN" sz="2000" kern="0" dirty="0" bmk="_Hlk149491827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直接从</a:t>
            </a:r>
            <a:r>
              <a:rPr kumimoji="1" lang="en-US" altLang="zh-CN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FP-</a:t>
            </a: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树中提取频繁项集，无需生成候选项集</a:t>
            </a:r>
            <a:endParaRPr kumimoji="1" lang="zh-CN" altLang="en-US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9523E8DE-E94B-36A9-3E85-7107D83BC8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34526" y="1556647"/>
            <a:ext cx="6596321" cy="413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74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AF26E-E3D1-1678-08BF-2A15E34C5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F150561-6242-5F0A-7829-C8EFBAF62932}"/>
              </a:ext>
            </a:extLst>
          </p:cNvPr>
          <p:cNvSpPr/>
          <p:nvPr/>
        </p:nvSpPr>
        <p:spPr>
          <a:xfrm>
            <a:off x="5909797" y="1428750"/>
            <a:ext cx="6021479" cy="5245100"/>
          </a:xfrm>
          <a:prstGeom prst="rect">
            <a:avLst/>
          </a:prstGeom>
          <a:solidFill>
            <a:schemeClr val="bg1"/>
          </a:solidFill>
          <a:ln w="3175">
            <a:solidFill>
              <a:srgbClr val="0444A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F68BB1EA-625F-CF63-C56E-950629199AF5}"/>
              </a:ext>
            </a:extLst>
          </p:cNvPr>
          <p:cNvSpPr/>
          <p:nvPr/>
        </p:nvSpPr>
        <p:spPr>
          <a:xfrm>
            <a:off x="260724" y="1153197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FP-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树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9D2431D-A93E-605B-71CA-4CAA1309C8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27305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158" imgH="177646" progId="Equation.DSMT4">
                  <p:embed/>
                </p:oleObj>
              </mc:Choice>
              <mc:Fallback>
                <p:oleObj name="Equation" r:id="rId3" imgW="279158" imgH="177646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4ECF4BB-345D-D9EB-B45D-704AF7A022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27305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51FB7C2-35E2-5A20-6D05-061DFE6A69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41350"/>
          <a:ext cx="1397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E1F5143-C7A1-8308-B414-4F6D47D68F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41350"/>
                        <a:ext cx="13970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8F983DAC-F003-9E2D-50AE-64F30977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4367" y="1488767"/>
            <a:ext cx="5875656" cy="5142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01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eaLnBrk="1" hangingPunct="1">
              <a:lnSpc>
                <a:spcPct val="125000"/>
              </a:lnSpc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en-US" altLang="zh-CN" sz="2400" b="1" dirty="0" bmk="_Hlk149491827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FP-</a:t>
            </a:r>
            <a:r>
              <a:rPr lang="zh-CN" altLang="en-US" sz="2400" b="1" dirty="0" bmk="_Hlk149491827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树的组成元素：</a:t>
            </a:r>
            <a:endParaRPr lang="zh-CN" altLang="en-US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245AD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根节点（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245AD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Root node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245AD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FP-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树的根节点代表一个空集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245AD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</a:t>
            </a:r>
            <a:r>
              <a:rPr lang="zh-CN" altLang="en-US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点（</a:t>
            </a:r>
            <a:r>
              <a:rPr lang="en-US" altLang="zh-CN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Item node</a:t>
            </a:r>
            <a:r>
              <a:rPr lang="zh-CN" altLang="en-US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FP-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树中的每个项节点代表数据集中的一个项。图中的项节点中存储节点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）、事务计数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、以及指向下一个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点链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项头表（</a:t>
            </a:r>
            <a:r>
              <a:rPr lang="en-US" altLang="zh-CN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Header table</a:t>
            </a:r>
            <a:r>
              <a:rPr lang="zh-CN" altLang="en-US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：项头表列出数据集中所有频繁项，以及它们的支持度计数，并存储指向该频繁项在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FP-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树中第一个节点的节点链。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245AD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</a:t>
            </a:r>
            <a:r>
              <a:rPr lang="zh-CN" altLang="en-US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点链（</a:t>
            </a:r>
            <a:r>
              <a:rPr lang="en-US" altLang="zh-CN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Node link</a:t>
            </a:r>
            <a:r>
              <a:rPr lang="zh-CN" altLang="en-US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：节点链是一个指针，连接项头表的每个项与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FP-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树中该项的第一个结点，以及相同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的节点。节点链有于方便快速地访问树中的项。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父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245AD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</a:t>
            </a:r>
            <a:r>
              <a:rPr lang="zh-CN" altLang="en-US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点（</a:t>
            </a:r>
            <a:r>
              <a:rPr lang="en-US" altLang="zh-CN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Parent node</a:t>
            </a:r>
            <a:r>
              <a:rPr lang="zh-CN" altLang="en-US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）与子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245AD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</a:t>
            </a:r>
            <a:r>
              <a:rPr lang="zh-CN" altLang="en-US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点（</a:t>
            </a:r>
            <a:r>
              <a:rPr lang="en-US" altLang="zh-CN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Child node</a:t>
            </a:r>
            <a:r>
              <a:rPr lang="zh-CN" altLang="en-US" sz="1600" dirty="0">
                <a:solidFill>
                  <a:srgbClr val="0245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FP-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树每个项节点为从该点出发的实线箭头的结尾点的父节点，结尾点为该项结点的子节点。父子节点表示两个项在数据集中的至少一条事务中共同出现，用于存储项集在数据库中的关联信息。 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41D5E7B-A208-4B1F-A7C4-9FF3C7F87F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773" y="2299453"/>
            <a:ext cx="5802771" cy="3641462"/>
          </a:xfrm>
          <a:prstGeom prst="rect">
            <a:avLst/>
          </a:prstGeom>
        </p:spPr>
      </p:pic>
      <p:sp>
        <p:nvSpPr>
          <p:cNvPr id="10" name="矩形 26">
            <a:extLst>
              <a:ext uri="{FF2B5EF4-FFF2-40B4-BE49-F238E27FC236}">
                <a16:creationId xmlns:a16="http://schemas.microsoft.com/office/drawing/2014/main" id="{700DCAEA-26D9-A853-CDE2-C91C34FA458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FP-growth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544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408CF-7F7B-5CF1-5E3D-77F33093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01999FB3-BECC-31D3-03A8-3F6FD2F352E8}"/>
              </a:ext>
            </a:extLst>
          </p:cNvPr>
          <p:cNvSpPr/>
          <p:nvPr/>
        </p:nvSpPr>
        <p:spPr>
          <a:xfrm>
            <a:off x="273050" y="1136002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构建</a:t>
            </a:r>
            <a:r>
              <a:rPr lang="en-US" altLang="zh-CN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FP-</a:t>
            </a: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树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235B009-3518-E516-0BB5-87D44B7027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27305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158" imgH="177646" progId="Equation.DSMT4">
                  <p:embed/>
                </p:oleObj>
              </mc:Choice>
              <mc:Fallback>
                <p:oleObj name="Equation" r:id="rId3" imgW="279158" imgH="177646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66D47DB-0387-4B02-0EA0-EC4168DEEE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27305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5937D02-1FAE-A5F5-6583-59582D5ACA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41350"/>
          <a:ext cx="1397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A8BA218-87FE-B20C-D99E-CD4CA0C1C3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41350"/>
                        <a:ext cx="13970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图片 24">
            <a:extLst>
              <a:ext uri="{FF2B5EF4-FFF2-40B4-BE49-F238E27FC236}">
                <a16:creationId xmlns:a16="http://schemas.microsoft.com/office/drawing/2014/main" id="{814AF9DE-814C-14C1-4C1B-2715770EDE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057" y="2522229"/>
            <a:ext cx="9748620" cy="3797310"/>
          </a:xfrm>
          <a:prstGeom prst="rect">
            <a:avLst/>
          </a:prstGeom>
        </p:spPr>
      </p:pic>
      <p:pic>
        <p:nvPicPr>
          <p:cNvPr id="1037" name="Picture 13">
            <a:extLst>
              <a:ext uri="{FF2B5EF4-FFF2-40B4-BE49-F238E27FC236}">
                <a16:creationId xmlns:a16="http://schemas.microsoft.com/office/drawing/2014/main" id="{5D20D18F-73A6-D133-DD46-67904A42D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75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AE7E0E1E-31C5-ECB0-6DB8-2ED682878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900" cy="15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24D915EA-C1E4-11E2-2D93-5F16F1B48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900" cy="15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8C78E38-CD8A-7278-AEFE-95020C0A2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0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8A45437A-B69A-8538-65C1-7649187DB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0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28FD56D-0126-9ACB-4F28-FCE78233B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0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B39ADB1D-57CC-B51B-7867-A953EEBA5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0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4D146E6-FC10-1862-D693-80FFE43A5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30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E9DF659F-A89D-3977-10A1-821D37E2B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30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5C912DE-F0D1-DC0D-9007-9151263EB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9700" cy="16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11F6B170-69DD-18FC-F3C1-93E53389A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145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6493662-2581-9FA5-5ACD-B3170CDD9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0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B8823DE1-111C-4689-7A3E-3DFF92219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0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26">
            <a:extLst>
              <a:ext uri="{FF2B5EF4-FFF2-40B4-BE49-F238E27FC236}">
                <a16:creationId xmlns:a16="http://schemas.microsoft.com/office/drawing/2014/main" id="{B76B81E8-685E-22CB-76B0-091CA950D4B0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FP-growth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41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72335-511A-9DB9-98DC-65EE0002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>
            <a:extLst>
              <a:ext uri="{FF2B5EF4-FFF2-40B4-BE49-F238E27FC236}">
                <a16:creationId xmlns:a16="http://schemas.microsoft.com/office/drawing/2014/main" id="{FCD797A7-E953-AAD2-317E-BCF9255516C6}"/>
              </a:ext>
            </a:extLst>
          </p:cNvPr>
          <p:cNvSpPr/>
          <p:nvPr/>
        </p:nvSpPr>
        <p:spPr>
          <a:xfrm>
            <a:off x="166155" y="976588"/>
            <a:ext cx="3586513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FP-growth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算法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D46C509B-A566-9574-02EC-F964819B1E92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94DE0A59-D861-13C1-DA61-6724CE1D1B7E}"/>
              </a:ext>
            </a:extLst>
          </p:cNvPr>
          <p:cNvSpPr/>
          <p:nvPr/>
        </p:nvSpPr>
        <p:spPr>
          <a:xfrm>
            <a:off x="166154" y="1665045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构建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FP-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树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7630234-90BB-6E21-C858-D3EF3B3D40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27305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158" imgH="177646" progId="Equation.DSMT4">
                  <p:embed/>
                </p:oleObj>
              </mc:Choice>
              <mc:Fallback>
                <p:oleObj name="Equation" r:id="rId3" imgW="279158" imgH="177646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4ECF4BB-345D-D9EB-B45D-704AF7A022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27305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45EC16E-820A-92AC-84AE-6EA4472BD8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41350"/>
          <a:ext cx="1397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E1F5143-C7A1-8308-B414-4F6D47D68F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41350"/>
                        <a:ext cx="13970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CC05D58A-605D-3FE2-A955-6CE3D3843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511990"/>
              </p:ext>
            </p:extLst>
          </p:nvPr>
        </p:nvGraphicFramePr>
        <p:xfrm>
          <a:off x="773852" y="2613761"/>
          <a:ext cx="1956648" cy="3107250"/>
        </p:xfrm>
        <a:graphic>
          <a:graphicData uri="http://schemas.openxmlformats.org/drawingml/2006/table">
            <a:tbl>
              <a:tblPr firstRow="1" firstCol="1" bandRow="1"/>
              <a:tblGrid>
                <a:gridCol w="608063">
                  <a:extLst>
                    <a:ext uri="{9D8B030D-6E8A-4147-A177-3AD203B41FA5}">
                      <a16:colId xmlns:a16="http://schemas.microsoft.com/office/drawing/2014/main" val="3390425978"/>
                    </a:ext>
                  </a:extLst>
                </a:gridCol>
                <a:gridCol w="1348585">
                  <a:extLst>
                    <a:ext uri="{9D8B030D-6E8A-4147-A177-3AD203B41FA5}">
                      <a16:colId xmlns:a16="http://schemas.microsoft.com/office/drawing/2014/main" val="2434860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b="1" i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TID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zh-CN" sz="20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事务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02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5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6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52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224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83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146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7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79241"/>
                  </a:ext>
                </a:extLst>
              </a:tr>
            </a:tbl>
          </a:graphicData>
        </a:graphic>
      </p:graphicFrame>
      <p:sp>
        <p:nvSpPr>
          <p:cNvPr id="14" name="箭头: 右 13">
            <a:extLst>
              <a:ext uri="{FF2B5EF4-FFF2-40B4-BE49-F238E27FC236}">
                <a16:creationId xmlns:a16="http://schemas.microsoft.com/office/drawing/2014/main" id="{3664DB89-8D00-C081-3D8E-C10CAB6F46BD}"/>
              </a:ext>
            </a:extLst>
          </p:cNvPr>
          <p:cNvSpPr/>
          <p:nvPr/>
        </p:nvSpPr>
        <p:spPr>
          <a:xfrm>
            <a:off x="3012250" y="4031374"/>
            <a:ext cx="273050" cy="272023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BE98CB-5D34-6E82-4EB5-B172F3FFF8D9}"/>
              </a:ext>
            </a:extLst>
          </p:cNvPr>
          <p:cNvSpPr txBox="1"/>
          <p:nvPr/>
        </p:nvSpPr>
        <p:spPr>
          <a:xfrm>
            <a:off x="9350123" y="1160184"/>
            <a:ext cx="2474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读取事务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TID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1-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TID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4E66FA1-60BD-0466-0082-5CCDF1B7D388}"/>
              </a:ext>
            </a:extLst>
          </p:cNvPr>
          <p:cNvSpPr txBox="1"/>
          <p:nvPr/>
        </p:nvSpPr>
        <p:spPr>
          <a:xfrm>
            <a:off x="3831099" y="5751236"/>
            <a:ext cx="7556500" cy="753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FP-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树是一个高度压缩的数据结构，任意一条路径                                       存储了所有最大项集形式为                                      的事务数据。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75375BE9-A39D-3A6F-6B5E-BCCA710FE4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817253"/>
              </p:ext>
            </p:extLst>
          </p:nvPr>
        </p:nvGraphicFramePr>
        <p:xfrm>
          <a:off x="8840788" y="5835096"/>
          <a:ext cx="2176211" cy="324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33405" imgH="228576" progId="Equation.DSMT4">
                  <p:embed/>
                </p:oleObj>
              </mc:Choice>
              <mc:Fallback>
                <p:oleObj name="Equation" r:id="rId7" imgW="1533405" imgH="22857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40788" y="5835096"/>
                        <a:ext cx="2176211" cy="3244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209301FF-750A-171F-5481-91D52A2E27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454585"/>
              </p:ext>
            </p:extLst>
          </p:nvPr>
        </p:nvGraphicFramePr>
        <p:xfrm>
          <a:off x="6451601" y="6156961"/>
          <a:ext cx="2146016" cy="321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3686" imgH="228576" progId="Equation.DSMT4">
                  <p:embed/>
                </p:oleObj>
              </mc:Choice>
              <mc:Fallback>
                <p:oleObj name="Equation" r:id="rId9" imgW="1523686" imgH="22857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51601" y="6156961"/>
                        <a:ext cx="2146016" cy="3219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8" name="图片 187">
            <a:extLst>
              <a:ext uri="{FF2B5EF4-FFF2-40B4-BE49-F238E27FC236}">
                <a16:creationId xmlns:a16="http://schemas.microsoft.com/office/drawing/2014/main" id="{C45F1481-E567-9704-13DC-A17AD67D4D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71128" y="3727301"/>
            <a:ext cx="8248252" cy="1987904"/>
          </a:xfrm>
          <a:prstGeom prst="rect">
            <a:avLst/>
          </a:prstGeom>
        </p:spPr>
      </p:pic>
      <p:pic>
        <p:nvPicPr>
          <p:cNvPr id="189" name="图片 188">
            <a:extLst>
              <a:ext uri="{FF2B5EF4-FFF2-40B4-BE49-F238E27FC236}">
                <a16:creationId xmlns:a16="http://schemas.microsoft.com/office/drawing/2014/main" id="{020AF911-848B-1AF8-CE58-6D02D2E764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0656" y="1756608"/>
            <a:ext cx="8501344" cy="2129041"/>
          </a:xfrm>
          <a:prstGeom prst="rect">
            <a:avLst/>
          </a:prstGeom>
        </p:spPr>
      </p:pic>
      <p:sp>
        <p:nvSpPr>
          <p:cNvPr id="4" name="矩形 26">
            <a:extLst>
              <a:ext uri="{FF2B5EF4-FFF2-40B4-BE49-F238E27FC236}">
                <a16:creationId xmlns:a16="http://schemas.microsoft.com/office/drawing/2014/main" id="{9AAE163C-2FDE-BE7E-A4CE-2F02FBD4D13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FP-growth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947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971F-E917-CF71-0A59-4EE1B94A8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23FD598D-5653-5EC1-C81C-7136C94D69FE}"/>
              </a:ext>
            </a:extLst>
          </p:cNvPr>
          <p:cNvSpPr/>
          <p:nvPr/>
        </p:nvSpPr>
        <p:spPr>
          <a:xfrm>
            <a:off x="273050" y="1142531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算法过程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8FB0452-8A2D-667A-61BD-EA457A38F9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27305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158" imgH="177646" progId="Equation.DSMT4">
                  <p:embed/>
                </p:oleObj>
              </mc:Choice>
              <mc:Fallback>
                <p:oleObj name="Equation" r:id="rId3" imgW="279158" imgH="177646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235B009-3518-E516-0BB5-87D44B7027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27305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6A581AF-DCB5-9ACC-44C5-FC4FC80B06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41350"/>
          <a:ext cx="1397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5937D02-1FAE-A5F5-6583-59582D5ACA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41350"/>
                        <a:ext cx="13970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26">
            <a:extLst>
              <a:ext uri="{FF2B5EF4-FFF2-40B4-BE49-F238E27FC236}">
                <a16:creationId xmlns:a16="http://schemas.microsoft.com/office/drawing/2014/main" id="{A00DCEB7-18D4-97E3-9F79-DCA07B2B7008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FP-growth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E19D0E3-8454-07E6-C9FC-DBE5C8C7D6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050" y="2414139"/>
            <a:ext cx="11384843" cy="294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9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22A0D-41AC-E394-B832-BDD56756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66D47DB-0387-4B02-0EA0-EC4168DEEE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27305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158" imgH="177646" progId="Equation.DSMT4">
                  <p:embed/>
                </p:oleObj>
              </mc:Choice>
              <mc:Fallback>
                <p:oleObj name="Equation" r:id="rId3" imgW="279158" imgH="177646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7630234-90BB-6E21-C858-D3EF3B3D40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27305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A8BA218-87FE-B20C-D99E-CD4CA0C1C3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41350"/>
          <a:ext cx="1397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45EC16E-820A-92AC-84AE-6EA4472BD8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41350"/>
                        <a:ext cx="13970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形 19">
            <a:extLst>
              <a:ext uri="{FF2B5EF4-FFF2-40B4-BE49-F238E27FC236}">
                <a16:creationId xmlns:a16="http://schemas.microsoft.com/office/drawing/2014/main" id="{05E9848F-BFE4-3606-B735-71C2AD3A35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60686"/>
          <a:stretch/>
        </p:blipFill>
        <p:spPr>
          <a:xfrm>
            <a:off x="6652807" y="1451913"/>
            <a:ext cx="3219686" cy="205050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CB7E628-B752-40A5-A5B5-5F3E7110AD7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7" t="3320" r="44988" b="3223"/>
          <a:stretch/>
        </p:blipFill>
        <p:spPr>
          <a:xfrm>
            <a:off x="6277506" y="4517895"/>
            <a:ext cx="4735805" cy="172792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06A110A-7E08-C011-36F7-DADDED168A6F}"/>
              </a:ext>
            </a:extLst>
          </p:cNvPr>
          <p:cNvSpPr txBox="1"/>
          <p:nvPr/>
        </p:nvSpPr>
        <p:spPr>
          <a:xfrm>
            <a:off x="1343130" y="3541088"/>
            <a:ext cx="9165557" cy="74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266700"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）包含结点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       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）包含结点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）包含结点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）包含结点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5000"/>
              </a:lnSpc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的路径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的路径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的路径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的路径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7FDF8A-6A9E-73F9-82E7-42546D286158}"/>
              </a:ext>
            </a:extLst>
          </p:cNvPr>
          <p:cNvSpPr txBox="1"/>
          <p:nvPr/>
        </p:nvSpPr>
        <p:spPr>
          <a:xfrm>
            <a:off x="609684" y="4527921"/>
            <a:ext cx="5486316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使用结点链来遍历包含各个频繁项的路径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构建不同频繁项的条件模式基（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FP-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树中以某个频繁项为后缀（末结点）的路径集合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6E83FA79-8891-2458-1B86-432EF29E2B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5108" y="1485291"/>
            <a:ext cx="5105541" cy="2203548"/>
          </a:xfrm>
          <a:prstGeom prst="rect">
            <a:avLst/>
          </a:prstGeom>
        </p:spPr>
      </p:pic>
      <p:sp>
        <p:nvSpPr>
          <p:cNvPr id="61" name="箭头: 下 60">
            <a:extLst>
              <a:ext uri="{FF2B5EF4-FFF2-40B4-BE49-F238E27FC236}">
                <a16:creationId xmlns:a16="http://schemas.microsoft.com/office/drawing/2014/main" id="{C894E6C8-18D7-699B-8359-DEC1CC4037C2}"/>
              </a:ext>
            </a:extLst>
          </p:cNvPr>
          <p:cNvSpPr/>
          <p:nvPr/>
        </p:nvSpPr>
        <p:spPr>
          <a:xfrm>
            <a:off x="8546017" y="4195621"/>
            <a:ext cx="198782" cy="17247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3DEAF441-3A34-85E2-1EFC-9E5614A8E5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900599"/>
              </p:ext>
            </p:extLst>
          </p:nvPr>
        </p:nvGraphicFramePr>
        <p:xfrm>
          <a:off x="7758874" y="1229662"/>
          <a:ext cx="29670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67341" imgH="444976" progId="Equation.DSMT4">
                  <p:embed/>
                </p:oleObj>
              </mc:Choice>
              <mc:Fallback>
                <p:oleObj name="Equation" r:id="rId11" imgW="2967341" imgH="44497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58874" y="1229662"/>
                        <a:ext cx="2967037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26">
            <a:extLst>
              <a:ext uri="{FF2B5EF4-FFF2-40B4-BE49-F238E27FC236}">
                <a16:creationId xmlns:a16="http://schemas.microsoft.com/office/drawing/2014/main" id="{6DAE5EBE-BDF1-06B5-823B-A6A60CB172C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FP-growth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算法示例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393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DD81F-5DF6-1878-C83C-72A1F1B7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7DA5FBFA-4434-09B8-96A4-7D06286FB3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" t="3320" r="-257" b="3223"/>
          <a:stretch/>
        </p:blipFill>
        <p:spPr>
          <a:xfrm>
            <a:off x="3120222" y="1995768"/>
            <a:ext cx="8946981" cy="178745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FF22316-4001-FE63-D97F-0816FB1CB575}"/>
              </a:ext>
            </a:extLst>
          </p:cNvPr>
          <p:cNvSpPr txBox="1"/>
          <p:nvPr/>
        </p:nvSpPr>
        <p:spPr>
          <a:xfrm>
            <a:off x="228323" y="2058996"/>
            <a:ext cx="2847172" cy="3269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在条件模式基上，构造条件数据库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分别对这些条件数据库进行挖掘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将挖掘出的频繁项与“模式段”组合成长模式的频繁项集。</a:t>
            </a:r>
          </a:p>
        </p:txBody>
      </p:sp>
      <p:pic>
        <p:nvPicPr>
          <p:cNvPr id="9" name="图形 20">
            <a:extLst>
              <a:ext uri="{FF2B5EF4-FFF2-40B4-BE49-F238E27FC236}">
                <a16:creationId xmlns:a16="http://schemas.microsoft.com/office/drawing/2014/main" id="{5EDB6437-C0D8-9DDD-D817-DD28DC8DD3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4955" y="3968507"/>
            <a:ext cx="6516468" cy="151200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5348FA6-B95E-C287-8AF9-3FBB6E23FF83}"/>
              </a:ext>
            </a:extLst>
          </p:cNvPr>
          <p:cNvSpPr txBox="1"/>
          <p:nvPr/>
        </p:nvSpPr>
        <p:spPr>
          <a:xfrm>
            <a:off x="2873455" y="5612764"/>
            <a:ext cx="9075438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25000"/>
              </a:lnSpc>
              <a:spcAft>
                <a:spcPts val="250"/>
              </a:spcAft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）与项</a:t>
            </a:r>
            <a:r>
              <a:rPr lang="en-US" altLang="zh-CN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关联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）与项</a:t>
            </a:r>
            <a:r>
              <a:rPr lang="en-US" altLang="zh-CN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关联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）与项</a:t>
            </a:r>
            <a:r>
              <a:rPr lang="en-US" altLang="zh-CN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关联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ctr">
              <a:lnSpc>
                <a:spcPct val="125000"/>
              </a:lnSpc>
              <a:spcAft>
                <a:spcPts val="250"/>
              </a:spcAft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的条件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FP-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树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的条件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FP-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树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的条件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FP-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36B094-3BC6-D20B-CF3D-B90116D69D68}"/>
              </a:ext>
            </a:extLst>
          </p:cNvPr>
          <p:cNvSpPr txBox="1"/>
          <p:nvPr/>
        </p:nvSpPr>
        <p:spPr>
          <a:xfrm>
            <a:off x="7109793" y="1018249"/>
            <a:ext cx="1914938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剔除条件模式基中不满足最小支持度的项</a:t>
            </a:r>
            <a:endParaRPr lang="zh-CN" altLang="en-US" sz="16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46CA07-CE1D-2042-F8A6-74E566C03A83}"/>
              </a:ext>
            </a:extLst>
          </p:cNvPr>
          <p:cNvSpPr/>
          <p:nvPr/>
        </p:nvSpPr>
        <p:spPr>
          <a:xfrm>
            <a:off x="5446641" y="2425147"/>
            <a:ext cx="178907" cy="2704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223D4D1-128A-876E-C142-9517899E06A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5536095" y="1849246"/>
            <a:ext cx="2531167" cy="5759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7F5F6EDF-832F-9626-E114-0524141CE6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030723"/>
              </p:ext>
            </p:extLst>
          </p:nvPr>
        </p:nvGraphicFramePr>
        <p:xfrm>
          <a:off x="9058808" y="1365979"/>
          <a:ext cx="29670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67341" imgH="444976" progId="Equation.DSMT4">
                  <p:embed/>
                </p:oleObj>
              </mc:Choice>
              <mc:Fallback>
                <p:oleObj name="Equation" r:id="rId6" imgW="2967341" imgH="44497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58808" y="1365979"/>
                        <a:ext cx="2967037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26">
            <a:extLst>
              <a:ext uri="{FF2B5EF4-FFF2-40B4-BE49-F238E27FC236}">
                <a16:creationId xmlns:a16="http://schemas.microsoft.com/office/drawing/2014/main" id="{2D2EA2A2-4FD3-12D5-6024-49A10AEB3E1F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FP-growth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算法示例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75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5E475-2632-D0F0-2526-9AF15898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13F8C56-D8A5-D06B-F556-8BF658D8BF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27305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158" imgH="177646" progId="Equation.DSMT4">
                  <p:embed/>
                </p:oleObj>
              </mc:Choice>
              <mc:Fallback>
                <p:oleObj name="Equation" r:id="rId3" imgW="279158" imgH="177646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DFC3DAC-6BAA-65E5-A726-77D2815D0A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27305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FD29476-C24C-87BB-48C3-09CCDA2EB8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41350"/>
          <a:ext cx="1397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578C77F-2E2C-55AC-9CBE-6E262B88E2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41350"/>
                        <a:ext cx="139700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1A0295B0-D124-E432-A427-8C8FFA8DDE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565" y="1854953"/>
            <a:ext cx="9929838" cy="4320233"/>
          </a:xfrm>
          <a:prstGeom prst="rect">
            <a:avLst/>
          </a:prstGeom>
        </p:spPr>
      </p:pic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829D41E-BDEF-97C1-14F3-84052970E8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539005"/>
              </p:ext>
            </p:extLst>
          </p:nvPr>
        </p:nvGraphicFramePr>
        <p:xfrm>
          <a:off x="7210160" y="1263687"/>
          <a:ext cx="29670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67341" imgH="444976" progId="Equation.DSMT4">
                  <p:embed/>
                </p:oleObj>
              </mc:Choice>
              <mc:Fallback>
                <p:oleObj name="Equation" r:id="rId8" imgW="2967341" imgH="44497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210160" y="1263687"/>
                        <a:ext cx="2967037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26">
            <a:extLst>
              <a:ext uri="{FF2B5EF4-FFF2-40B4-BE49-F238E27FC236}">
                <a16:creationId xmlns:a16="http://schemas.microsoft.com/office/drawing/2014/main" id="{D9EC4CEE-D53D-F932-CE17-8944B729A91D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FP-growth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算法示例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828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FAEE1-BD69-B51C-3A93-8384A2B3B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9F4DA3E-9274-6D7D-EBF0-D0A9A9880CD2}"/>
              </a:ext>
            </a:extLst>
          </p:cNvPr>
          <p:cNvSpPr txBox="1"/>
          <p:nvPr/>
        </p:nvSpPr>
        <p:spPr>
          <a:xfrm>
            <a:off x="757398" y="1601493"/>
            <a:ext cx="10677203" cy="444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优点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  <a:p>
            <a:pPr marL="742950" marR="0" lvl="1" indent="-285750" defTabSz="457200" fontAlgn="auto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仅需进行两次数据库遍历，避免了产生长候选项集，能够减小搜索空间，提高挖掘效率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marR="0" lvl="1" indent="-285750" defTabSz="457200" fontAlgn="auto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对不同长度的项集都有很好的适应性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缺点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实现过程中需动态地生成和释放条件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FP-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树，在大型数据库中仍然要生成数量庞大的条件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FP-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树，可能会耗费大量的时间和空间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当数据集较为稀疏时，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FP-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树的压缩效果较差，算法效率会大幅度下降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2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800080"/>
              </a:buClr>
              <a:buSzPct val="50000"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使用场景</a:t>
            </a: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单维的布尔关联规则过程和密集型数据库，在大型数据库的挖掘上相比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Apriori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算法有明显优势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1D550C28-0325-EDE6-795F-9CCD07B56A0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FP-growth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算法评价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036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DC341-9EC0-7D23-5220-DC57DB73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6AF6BE1-C620-3658-5A1B-1DD82F9C55D9}"/>
              </a:ext>
            </a:extLst>
          </p:cNvPr>
          <p:cNvSpPr/>
          <p:nvPr/>
        </p:nvSpPr>
        <p:spPr>
          <a:xfrm>
            <a:off x="5569867" y="1309852"/>
            <a:ext cx="6455978" cy="5383924"/>
          </a:xfrm>
          <a:prstGeom prst="rect">
            <a:avLst/>
          </a:prstGeom>
          <a:solidFill>
            <a:schemeClr val="bg1"/>
          </a:solidFill>
          <a:ln w="3175">
            <a:solidFill>
              <a:srgbClr val="0444A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2B12EAE-F08B-22FB-B897-A83D81F6F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234334"/>
              </p:ext>
            </p:extLst>
          </p:nvPr>
        </p:nvGraphicFramePr>
        <p:xfrm>
          <a:off x="5817053" y="1414994"/>
          <a:ext cx="6114200" cy="5156708"/>
        </p:xfrm>
        <a:graphic>
          <a:graphicData uri="http://schemas.openxmlformats.org/drawingml/2006/table">
            <a:tbl>
              <a:tblPr firstRow="1" firstCol="1" bandRow="1"/>
              <a:tblGrid>
                <a:gridCol w="6114200">
                  <a:extLst>
                    <a:ext uri="{9D8B030D-6E8A-4147-A177-3AD203B41FA5}">
                      <a16:colId xmlns:a16="http://schemas.microsoft.com/office/drawing/2014/main" val="3496600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25000"/>
                        </a:lnSpc>
                        <a:tabLst>
                          <a:tab pos="457200" algn="l"/>
                        </a:tabLst>
                      </a:pPr>
                      <a:r>
                        <a:rPr lang="en-US" sz="1600" kern="0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from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mlxtend.frequent_patterns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r>
                        <a:rPr lang="en-US" sz="1600" kern="0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import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fpgrowth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25000"/>
                        </a:lnSpc>
                        <a:tabLst>
                          <a:tab pos="457200" algn="l"/>
                        </a:tabLst>
                      </a:pPr>
                      <a:r>
                        <a:rPr lang="en-US" sz="1600" kern="0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from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mlxtend.frequent_patterns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r>
                        <a:rPr lang="en-US" sz="1600" kern="0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import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association_rules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25000"/>
                        </a:lnSpc>
                        <a:tabLst>
                          <a:tab pos="457200" algn="l"/>
                        </a:tabLst>
                      </a:pPr>
                      <a:r>
                        <a:rPr lang="en-US" sz="1600" kern="0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import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pandas </a:t>
                      </a:r>
                      <a:r>
                        <a:rPr lang="en-US" sz="1600" kern="0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pd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25000"/>
                        </a:lnSpc>
                        <a:tabLst>
                          <a:tab pos="457200" algn="l"/>
                        </a:tabLst>
                      </a:pPr>
                      <a:r>
                        <a:rPr lang="en-US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# 1.</a:t>
                      </a:r>
                      <a:r>
                        <a:rPr lang="zh-CN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导入数据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25000"/>
                        </a:lnSpc>
                        <a:tabLst>
                          <a:tab pos="457200" algn="l"/>
                        </a:tabLst>
                      </a:pP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data = </a:t>
                      </a: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pd.read_csv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sz="1600" kern="0" dirty="0">
                          <a:solidFill>
                            <a:srgbClr val="50A14F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'../data/</a:t>
                      </a:r>
                      <a:r>
                        <a:rPr lang="zh-CN" sz="1600" kern="0" dirty="0">
                          <a:solidFill>
                            <a:srgbClr val="50A14F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购物时间偏好数据</a:t>
                      </a:r>
                      <a:r>
                        <a:rPr lang="en-US" sz="1600" kern="0" dirty="0">
                          <a:solidFill>
                            <a:srgbClr val="50A14F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.csv'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25000"/>
                        </a:lnSpc>
                        <a:tabLst>
                          <a:tab pos="457200" algn="l"/>
                        </a:tabLst>
                      </a:pPr>
                      <a:r>
                        <a:rPr lang="en-US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# 2.</a:t>
                      </a:r>
                      <a:r>
                        <a:rPr lang="zh-CN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调用</a:t>
                      </a:r>
                      <a:r>
                        <a:rPr lang="en-US" sz="1600" i="1" kern="0" dirty="0" err="1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fpgrowth</a:t>
                      </a:r>
                      <a:r>
                        <a:rPr lang="zh-CN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函数</a:t>
                      </a:r>
                      <a:r>
                        <a:rPr lang="en-US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 </a:t>
                      </a:r>
                      <a:r>
                        <a:rPr lang="zh-CN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生成频繁项集与关联规则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25000"/>
                        </a:lnSpc>
                        <a:tabLst>
                          <a:tab pos="457200" algn="l"/>
                        </a:tabLst>
                      </a:pP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frequent_itemsets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= </a:t>
                      </a: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fpgrowth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(data, </a:t>
                      </a: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min_support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sz="1600" kern="0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0.03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 </a:t>
                      </a: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use_colnames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 </a:t>
                      </a:r>
                      <a:r>
                        <a:rPr lang="en-US" sz="1600" kern="0" dirty="0">
                          <a:solidFill>
                            <a:srgbClr val="0184BB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  </a:t>
                      </a:r>
                      <a:r>
                        <a:rPr lang="en-US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# </a:t>
                      </a:r>
                      <a:r>
                        <a:rPr lang="zh-CN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生成频繁项集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25000"/>
                        </a:lnSpc>
                        <a:tabLst>
                          <a:tab pos="457200" algn="l"/>
                        </a:tabLst>
                      </a:pP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rules = </a:t>
                      </a: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association_rules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frequent_itemsets,metric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= </a:t>
                      </a:r>
                      <a:r>
                        <a:rPr lang="en-US" sz="1600" kern="0" dirty="0">
                          <a:solidFill>
                            <a:srgbClr val="50A14F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'confidence'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 </a:t>
                      </a: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min_threshold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= </a:t>
                      </a:r>
                      <a:r>
                        <a:rPr lang="en-US" sz="1600" kern="0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0.35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  </a:t>
                      </a:r>
                      <a:r>
                        <a:rPr lang="en-US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# </a:t>
                      </a:r>
                      <a:r>
                        <a:rPr lang="zh-CN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生成关联规则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25000"/>
                        </a:lnSpc>
                        <a:tabLst>
                          <a:tab pos="457200" algn="l"/>
                        </a:tabLst>
                      </a:pP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rules = rules[rules[</a:t>
                      </a:r>
                      <a:r>
                        <a:rPr lang="en-US" sz="1600" kern="0" dirty="0">
                          <a:solidFill>
                            <a:srgbClr val="50A14F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'lift'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]&gt;=</a:t>
                      </a:r>
                      <a:r>
                        <a:rPr lang="en-US" sz="1600" kern="0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1.2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]  </a:t>
                      </a:r>
                      <a:r>
                        <a:rPr lang="en-US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#</a:t>
                      </a:r>
                      <a:r>
                        <a:rPr lang="zh-CN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设置提升度阈值，筛选关联规则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25000"/>
                        </a:lnSpc>
                        <a:tabLst>
                          <a:tab pos="457200" algn="l"/>
                        </a:tabLst>
                      </a:pPr>
                      <a:r>
                        <a:rPr lang="en-US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# 3.</a:t>
                      </a:r>
                      <a:r>
                        <a:rPr lang="zh-CN" sz="1600" i="1" kern="0" dirty="0">
                          <a:solidFill>
                            <a:srgbClr val="A0A1A7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结果展示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25000"/>
                        </a:lnSpc>
                        <a:tabLst>
                          <a:tab pos="457200" algn="l"/>
                        </a:tabLst>
                      </a:pP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print(</a:t>
                      </a:r>
                      <a:r>
                        <a:rPr lang="en-US" sz="1600" kern="0" dirty="0" err="1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frequent_itemsets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25000"/>
                        </a:lnSpc>
                        <a:tabLst>
                          <a:tab pos="457200" algn="l"/>
                        </a:tabLst>
                      </a:pP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print(rules[[</a:t>
                      </a:r>
                      <a:r>
                        <a:rPr lang="en-US" sz="1600" kern="0" dirty="0">
                          <a:solidFill>
                            <a:srgbClr val="50A14F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'antecedents'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 </a:t>
                      </a:r>
                      <a:r>
                        <a:rPr lang="en-US" sz="1600" kern="0" dirty="0">
                          <a:solidFill>
                            <a:srgbClr val="50A14F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'consequents'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 </a:t>
                      </a:r>
                      <a:r>
                        <a:rPr lang="en-US" sz="1600" kern="0" dirty="0">
                          <a:solidFill>
                            <a:srgbClr val="50A14F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'support'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 </a:t>
                      </a:r>
                      <a:r>
                        <a:rPr lang="en-US" sz="1600" kern="0" dirty="0">
                          <a:solidFill>
                            <a:srgbClr val="50A14F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'confidence'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 </a:t>
                      </a:r>
                      <a:r>
                        <a:rPr lang="en-US" sz="1600" kern="0" dirty="0">
                          <a:solidFill>
                            <a:srgbClr val="50A14F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'lift'</a:t>
                      </a:r>
                      <a:r>
                        <a:rPr lang="en-US" sz="1600" kern="0" dirty="0">
                          <a:solidFill>
                            <a:srgbClr val="5C5C5C"/>
                          </a:solidFill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]])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28857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9D195E5-C74C-41F1-DDE6-9E56D19931A4}"/>
              </a:ext>
            </a:extLst>
          </p:cNvPr>
          <p:cNvSpPr txBox="1"/>
          <p:nvPr/>
        </p:nvSpPr>
        <p:spPr>
          <a:xfrm>
            <a:off x="317374" y="1879313"/>
            <a:ext cx="4947958" cy="4442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数据集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  <a:p>
            <a:pPr marL="742950" marR="0" lvl="1" indent="-285750" defTabSz="457200" fontAlgn="auto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206,209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位消费者的购物时间偏好</a:t>
            </a:r>
            <a:r>
              <a:rPr kumimoji="1" lang="zh-CN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（购物次数超过总购物次数的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10%</a:t>
            </a:r>
            <a:r>
              <a:rPr kumimoji="1" lang="zh-CN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的时刻集合）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算法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mlxtend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库中的</a:t>
            </a:r>
            <a:r>
              <a:rPr kumimoji="1" lang="en-US" altLang="zh-CN" sz="2000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fpgrowth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0245AD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指标设置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</a:t>
            </a:r>
            <a:r>
              <a:rPr kumimoji="1" lang="en-US" altLang="zh-CN" sz="2000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</a:t>
            </a: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sup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0.02</a:t>
            </a: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</a:t>
            </a:r>
            <a:r>
              <a:rPr kumimoji="1" lang="en-US" altLang="zh-CN" sz="2000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</a:t>
            </a: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conf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0.35</a:t>
            </a: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</a:t>
            </a:r>
            <a:r>
              <a:rPr kumimoji="1" lang="en-US" altLang="zh-CN" sz="2000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</a:t>
            </a: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lift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1.2</a:t>
            </a:r>
          </a:p>
        </p:txBody>
      </p:sp>
      <p:sp>
        <p:nvSpPr>
          <p:cNvPr id="12" name="矩形: 圆角 55">
            <a:extLst>
              <a:ext uri="{FF2B5EF4-FFF2-40B4-BE49-F238E27FC236}">
                <a16:creationId xmlns:a16="http://schemas.microsoft.com/office/drawing/2014/main" id="{D5E59110-2684-1ACB-00D7-D0F15047AB87}"/>
              </a:ext>
            </a:extLst>
          </p:cNvPr>
          <p:cNvSpPr/>
          <p:nvPr/>
        </p:nvSpPr>
        <p:spPr>
          <a:xfrm>
            <a:off x="166155" y="1097372"/>
            <a:ext cx="525039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购物时间偏好关联分析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8" name="矩形 26">
            <a:extLst>
              <a:ext uri="{FF2B5EF4-FFF2-40B4-BE49-F238E27FC236}">
                <a16:creationId xmlns:a16="http://schemas.microsoft.com/office/drawing/2014/main" id="{549008BD-F09B-4E1E-9EFA-5CFCEA96358F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FP-growth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算法实践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50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09BE0-48BB-608B-A171-7658CED00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AFA3094-A20B-35FE-4EAC-4248DCA3E196}"/>
              </a:ext>
            </a:extLst>
          </p:cNvPr>
          <p:cNvSpPr txBox="1"/>
          <p:nvPr/>
        </p:nvSpPr>
        <p:spPr>
          <a:xfrm>
            <a:off x="5269747" y="2284949"/>
            <a:ext cx="494795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关联规则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C25B6CF-3CF8-E14D-3800-77EA85ABF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68478"/>
              </p:ext>
            </p:extLst>
          </p:nvPr>
        </p:nvGraphicFramePr>
        <p:xfrm>
          <a:off x="166155" y="3102733"/>
          <a:ext cx="4947958" cy="2416750"/>
        </p:xfrm>
        <a:graphic>
          <a:graphicData uri="http://schemas.openxmlformats.org/drawingml/2006/table">
            <a:tbl>
              <a:tblPr firstRow="1" firstCol="1" bandRow="1"/>
              <a:tblGrid>
                <a:gridCol w="847727">
                  <a:extLst>
                    <a:ext uri="{9D8B030D-6E8A-4147-A177-3AD203B41FA5}">
                      <a16:colId xmlns:a16="http://schemas.microsoft.com/office/drawing/2014/main" val="1308810109"/>
                    </a:ext>
                  </a:extLst>
                </a:gridCol>
                <a:gridCol w="1131456">
                  <a:extLst>
                    <a:ext uri="{9D8B030D-6E8A-4147-A177-3AD203B41FA5}">
                      <a16:colId xmlns:a16="http://schemas.microsoft.com/office/drawing/2014/main" val="1100960080"/>
                    </a:ext>
                  </a:extLst>
                </a:gridCol>
                <a:gridCol w="2968775">
                  <a:extLst>
                    <a:ext uri="{9D8B030D-6E8A-4147-A177-3AD203B41FA5}">
                      <a16:colId xmlns:a16="http://schemas.microsoft.com/office/drawing/2014/main" val="2040887522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05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b="1" i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support</a:t>
                      </a:r>
                      <a:endParaRPr lang="zh-CN" altLang="en-US" sz="2000" b="1" i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b="1" i="0" kern="1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itemsets</a:t>
                      </a:r>
                      <a:endParaRPr lang="zh-CN" altLang="en-US" sz="2000" b="1" i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77076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0.330902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(15)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91851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0.330601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(14)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486033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0.316325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(12)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36885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948698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0.037064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(13, 19)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38941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0.033374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(19, 11)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1143"/>
                  </a:ext>
                </a:extLst>
              </a:tr>
            </a:tbl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1DD40FA-A778-5F82-2345-FCEFB7E10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923668"/>
              </p:ext>
            </p:extLst>
          </p:nvPr>
        </p:nvGraphicFramePr>
        <p:xfrm>
          <a:off x="401440" y="4543249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5" imgH="101468" progId="Equation.DSMT4">
                  <p:embed/>
                </p:oleObj>
              </mc:Choice>
              <mc:Fallback>
                <p:oleObj name="Equation" r:id="rId3" imgW="164885" imgH="101468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E95CD88-0950-6EB4-CAF6-F60F0B3D5E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40" y="4543249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5AE2930-7328-5810-0D2A-47CFCA03E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89633"/>
              </p:ext>
            </p:extLst>
          </p:nvPr>
        </p:nvGraphicFramePr>
        <p:xfrm>
          <a:off x="1332263" y="4543249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5" imgH="101468" progId="Equation.DSMT4">
                  <p:embed/>
                </p:oleObj>
              </mc:Choice>
              <mc:Fallback>
                <p:oleObj name="Equation" r:id="rId5" imgW="164885" imgH="101468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7E8F9E1-5A37-3A33-2C14-66624BD575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263" y="4543249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4BE649B-D335-C5DB-66A4-4E52627946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252713"/>
              </p:ext>
            </p:extLst>
          </p:nvPr>
        </p:nvGraphicFramePr>
        <p:xfrm>
          <a:off x="3380062" y="4543249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5" imgH="101468" progId="Equation.DSMT4">
                  <p:embed/>
                </p:oleObj>
              </mc:Choice>
              <mc:Fallback>
                <p:oleObj name="Equation" r:id="rId6" imgW="164885" imgH="101468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A1097D3-6E6C-07A1-7CEE-A3B93DBC87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0062" y="4543249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453A0577-9EA7-6201-FD21-163DF923AB2C}"/>
              </a:ext>
            </a:extLst>
          </p:cNvPr>
          <p:cNvSpPr txBox="1"/>
          <p:nvPr/>
        </p:nvSpPr>
        <p:spPr>
          <a:xfrm>
            <a:off x="321789" y="2284949"/>
            <a:ext cx="494795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频繁项集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404FB446-8232-D99D-0B49-9AA8DF99E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884798"/>
              </p:ext>
            </p:extLst>
          </p:nvPr>
        </p:nvGraphicFramePr>
        <p:xfrm>
          <a:off x="5269747" y="3102736"/>
          <a:ext cx="6806287" cy="2243307"/>
        </p:xfrm>
        <a:graphic>
          <a:graphicData uri="http://schemas.openxmlformats.org/drawingml/2006/table">
            <a:tbl>
              <a:tblPr firstRow="1" firstCol="1" bandRow="1"/>
              <a:tblGrid>
                <a:gridCol w="586920">
                  <a:extLst>
                    <a:ext uri="{9D8B030D-6E8A-4147-A177-3AD203B41FA5}">
                      <a16:colId xmlns:a16="http://schemas.microsoft.com/office/drawing/2014/main" val="3250300086"/>
                    </a:ext>
                  </a:extLst>
                </a:gridCol>
                <a:gridCol w="1544673">
                  <a:extLst>
                    <a:ext uri="{9D8B030D-6E8A-4147-A177-3AD203B41FA5}">
                      <a16:colId xmlns:a16="http://schemas.microsoft.com/office/drawing/2014/main" val="2868529208"/>
                    </a:ext>
                  </a:extLst>
                </a:gridCol>
                <a:gridCol w="1477618">
                  <a:extLst>
                    <a:ext uri="{9D8B030D-6E8A-4147-A177-3AD203B41FA5}">
                      <a16:colId xmlns:a16="http://schemas.microsoft.com/office/drawing/2014/main" val="1561446241"/>
                    </a:ext>
                  </a:extLst>
                </a:gridCol>
                <a:gridCol w="1073426">
                  <a:extLst>
                    <a:ext uri="{9D8B030D-6E8A-4147-A177-3AD203B41FA5}">
                      <a16:colId xmlns:a16="http://schemas.microsoft.com/office/drawing/2014/main" val="3259206424"/>
                    </a:ext>
                  </a:extLst>
                </a:gridCol>
                <a:gridCol w="1020417">
                  <a:extLst>
                    <a:ext uri="{9D8B030D-6E8A-4147-A177-3AD203B41FA5}">
                      <a16:colId xmlns:a16="http://schemas.microsoft.com/office/drawing/2014/main" val="1297470154"/>
                    </a:ext>
                  </a:extLst>
                </a:gridCol>
                <a:gridCol w="1103233">
                  <a:extLst>
                    <a:ext uri="{9D8B030D-6E8A-4147-A177-3AD203B41FA5}">
                      <a16:colId xmlns:a16="http://schemas.microsoft.com/office/drawing/2014/main" val="2149392417"/>
                    </a:ext>
                  </a:extLst>
                </a:gridCol>
              </a:tblGrid>
              <a:tr h="2959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antecedents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consequents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support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confidence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lift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719567"/>
                  </a:ext>
                </a:extLst>
              </a:tr>
              <a:tr h="29598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(9)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(10)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0.105442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0.397132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1.268075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90676"/>
                  </a:ext>
                </a:extLst>
              </a:tr>
              <a:tr h="29598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(11, 9)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(10)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0.040585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0.438443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1.399983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178455"/>
                  </a:ext>
                </a:extLst>
              </a:tr>
              <a:tr h="29598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(8)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(9)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0.067718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0.381885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1.438321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038668"/>
                  </a:ext>
                </a:extLst>
              </a:tr>
              <a:tr h="29598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(12, 10)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(11)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0.040333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0.401477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1.238603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274572"/>
                  </a:ext>
                </a:extLst>
              </a:tr>
              <a:tr h="29598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(15, 17)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(16)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0.035934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0.400541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1.258668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503719"/>
                  </a:ext>
                </a:extLst>
              </a:tr>
              <a:tr h="37869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(18)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(17)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0.077053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0.361582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1.347115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154781"/>
                  </a:ext>
                </a:extLst>
              </a:tr>
            </a:tbl>
          </a:graphicData>
        </a:graphic>
      </p:graphicFrame>
      <p:sp>
        <p:nvSpPr>
          <p:cNvPr id="2" name="矩形: 圆角 55">
            <a:extLst>
              <a:ext uri="{FF2B5EF4-FFF2-40B4-BE49-F238E27FC236}">
                <a16:creationId xmlns:a16="http://schemas.microsoft.com/office/drawing/2014/main" id="{333ED0ED-5F9A-DA7A-CDB3-28CA58352F41}"/>
              </a:ext>
            </a:extLst>
          </p:cNvPr>
          <p:cNvSpPr/>
          <p:nvPr/>
        </p:nvSpPr>
        <p:spPr>
          <a:xfrm>
            <a:off x="166155" y="1097372"/>
            <a:ext cx="525039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购物时间偏好关联分析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5" name="矩形 26">
            <a:extLst>
              <a:ext uri="{FF2B5EF4-FFF2-40B4-BE49-F238E27FC236}">
                <a16:creationId xmlns:a16="http://schemas.microsoft.com/office/drawing/2014/main" id="{90B5B0A7-51BC-9E0E-F30A-8D5B918929E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FP-growth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算法实践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928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6132</TotalTime>
  <Words>1075</Words>
  <Application>Microsoft Office PowerPoint</Application>
  <PresentationFormat>宽屏</PresentationFormat>
  <Paragraphs>166</Paragraphs>
  <Slides>13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8" baseType="lpstr">
      <vt:lpstr>等线</vt:lpstr>
      <vt:lpstr>华光综艺_CNKI</vt:lpstr>
      <vt:lpstr>思源黑体</vt:lpstr>
      <vt:lpstr>思源黑体 CN Bold</vt:lpstr>
      <vt:lpstr>微软雅黑</vt:lpstr>
      <vt:lpstr>Arial</vt:lpstr>
      <vt:lpstr>Calibri</vt:lpstr>
      <vt:lpstr>Consolas</vt:lpstr>
      <vt:lpstr>Impact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Equation</vt:lpstr>
      <vt:lpstr>Photo Editor 照片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qing zhang</cp:lastModifiedBy>
  <cp:revision>2471</cp:revision>
  <dcterms:created xsi:type="dcterms:W3CDTF">2022-05-23T09:13:00Z</dcterms:created>
  <dcterms:modified xsi:type="dcterms:W3CDTF">2025-04-18T03:53:19Z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