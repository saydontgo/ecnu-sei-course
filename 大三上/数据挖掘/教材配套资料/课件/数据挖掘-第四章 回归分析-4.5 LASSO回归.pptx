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6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6"/>
  </p:notesMasterIdLst>
  <p:handoutMasterIdLst>
    <p:handoutMasterId r:id="rId27"/>
  </p:handoutMasterIdLst>
  <p:sldIdLst>
    <p:sldId id="15638" r:id="rId13"/>
    <p:sldId id="15743" r:id="rId14"/>
    <p:sldId id="15776" r:id="rId15"/>
    <p:sldId id="15726" r:id="rId16"/>
    <p:sldId id="15778" r:id="rId17"/>
    <p:sldId id="15782" r:id="rId18"/>
    <p:sldId id="15780" r:id="rId19"/>
    <p:sldId id="15777" r:id="rId20"/>
    <p:sldId id="15744" r:id="rId21"/>
    <p:sldId id="15746" r:id="rId22"/>
    <p:sldId id="15745" r:id="rId23"/>
    <p:sldId id="15747" r:id="rId24"/>
    <p:sldId id="15502" r:id="rId25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8"/>
            <p14:sldId id="15743"/>
            <p14:sldId id="15776"/>
            <p14:sldId id="15726"/>
            <p14:sldId id="15778"/>
            <p14:sldId id="15782"/>
            <p14:sldId id="15780"/>
            <p14:sldId id="15777"/>
            <p14:sldId id="15744"/>
            <p14:sldId id="15746"/>
            <p14:sldId id="15745"/>
            <p14:sldId id="15747"/>
          </p14:sldIdLst>
        </p14:section>
        <p14:section name="第三节" id="{D73DEBA0-8DA1-425E-BF8D-3499E83F0652}">
          <p14:sldIdLst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8BD5"/>
    <a:srgbClr val="E77500"/>
    <a:srgbClr val="0066FF"/>
    <a:srgbClr val="033BA7"/>
    <a:srgbClr val="FFFFFF"/>
    <a:srgbClr val="FD5C0C"/>
    <a:srgbClr val="7EA4EE"/>
    <a:srgbClr val="00FF00"/>
    <a:srgbClr val="F6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42" autoAdjust="0"/>
    <p:restoredTop sz="78121" autoAdjust="0"/>
  </p:normalViewPr>
  <p:slideViewPr>
    <p:cSldViewPr snapToGrid="0">
      <p:cViewPr varScale="1">
        <p:scale>
          <a:sx n="79" d="100"/>
          <a:sy n="79" d="100"/>
        </p:scale>
        <p:origin x="91" y="394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A923-31A9-2EC6-3890-943600DC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95D2FC-4C92-8716-83FE-0B89FED98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BB9D32-C28E-7B02-171B-A62144BA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岭回归通过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正则化可以压缩部分回归系数使其接近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以减少不重要变量的影响，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但实际中回归系数无法真正达到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，且当模型中变量增多时，岭回归对变量的解释效果也会变差，无法实现有效的变量筛选。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DFF77A-115C-1FCF-3DCE-659204D4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679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BC7C-3EDD-FA0E-4249-EB558BF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335753-DC46-473E-D1FC-F2B5DADE2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2E4643-40DD-54D5-86A1-A18045BBA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FCB40-8156-3084-7A99-2F14F25FB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255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8C97-BEE5-0715-DBFA-C446463D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25CBCA-B563-4EFE-278C-F682859E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C64F84-F442-4F0B-85AF-5B94AF099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4D189-D9C2-974C-BAA9-5588A293B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80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8C97-BEE5-0715-DBFA-C446463D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25CBCA-B563-4EFE-278C-F682859E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C64F84-F442-4F0B-85AF-5B94AF099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4D189-D9C2-974C-BAA9-5588A293B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667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0409-BBC4-F935-A420-2612CF43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EE6580-9FA4-DBC1-ED4B-DD3FB20FD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DEF05F-DDFA-2BED-6F0C-3BA5F04A0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0F9ECF-8254-F192-15EB-86D22E872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47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29F9-3AC4-E12F-22C8-B4856F24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A42CCF-DE32-2E51-4F86-DE014A5F3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D92C20-CFAA-6D65-7E35-5730CE50B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4914A-69ED-BF49-CF69-E5183EE00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52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FB0B-B097-6420-C424-EBE835DA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3F938A-3B95-0A31-D92A-19A6ADFF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36C8E0-98D2-A390-9886-D377CA27F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27D5F-7E1D-E429-E5C1-673DCE86F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137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7D56-DD38-B4C9-3655-729D7A4E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BE9DCA-7851-E044-B772-6BD13FC62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2F1504-091A-A60C-A0F5-AEE6A0EC6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9B358-0FD4-EBFA-D6D6-08192C672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857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8054-A6A7-E3C8-C12D-1E4620F8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D550ED-FAA3-7AE5-29AC-9299B07BE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528430-C662-5D20-A4B7-2338DE727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数据准备、数据预处理部分与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岭回归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持一致，此处不再赘述。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7A00E0-CDD9-27A7-29BC-EF1F3E243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95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5DBE-21C6-0403-1865-9845FC0F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3040FB-646C-CC1F-2DFC-67438F16A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F8B789-CA17-BF41-0E83-3B56FE9D7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数据准备、数据预处理部分与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岭回归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持一致，此处不再赘述。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716243-BB2A-A8B3-5835-94F42E1D3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217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7E2E-CCD3-8ABB-CA22-E4F10496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60C0D6-8916-F297-D666-265A4CB02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6DCA13-2CFD-73C9-71DD-E799E4E36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0607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结合三种回归模型的输出结果来看，由于部分自变量之间存在多重共线性，因此岭回归和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LASSO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回归表现优于多重线性回归。其中，多元线性回归的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RMSE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值最高、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最低；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LASSO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回归的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RMSE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值最低、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最高。从自变量系数的角度来看，相比于普通线性回归，岭回归通过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正则化对自变量系数进行了限制，使得每个系数都相对较小；而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LASSO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回归通过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正则化进一步将某些自变量的系数压缩为零，从而实现了特征选择的效果，剔除了部分影响效果不显著的自变量，减少了模型的复杂度。可见，此问题上，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LASSO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回归模型表现最好。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444D8-D1F8-4D8C-716A-9581028C1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734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8.png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1.wmf"/><Relationship Id="rId5" Type="http://schemas.openxmlformats.org/officeDocument/2006/relationships/image" Target="../media/image28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3.png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wmf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5.wmf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10" Type="http://schemas.openxmlformats.org/officeDocument/2006/relationships/image" Target="../media/image44.svg"/><Relationship Id="rId4" Type="http://schemas.openxmlformats.org/officeDocument/2006/relationships/image" Target="../media/image36.wmf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4.5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LASSO</a:t>
            </a:r>
            <a:r>
              <a:rPr lang="zh-CN" altLang="en-US" b="0" dirty="0">
                <a:ea typeface="华光综艺_CNKI" panose="02000500000000000000" pitchFamily="2" charset="-122"/>
              </a:rPr>
              <a:t>回归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5FB1-2793-C29A-AD27-9FDE7EA4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99AF75D-0967-3801-2627-730038476BD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LASSO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回归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A8790C6-5C34-C215-CDBB-BE82848018C6}"/>
              </a:ext>
            </a:extLst>
          </p:cNvPr>
          <p:cNvSpPr txBox="1"/>
          <p:nvPr/>
        </p:nvSpPr>
        <p:spPr>
          <a:xfrm>
            <a:off x="487014" y="1338034"/>
            <a:ext cx="1157162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LASSO</a:t>
            </a:r>
            <a:r>
              <a:rPr lang="zh-CN" altLang="en-US" dirty="0"/>
              <a:t>回归（</a:t>
            </a:r>
            <a:r>
              <a:rPr lang="en-US" altLang="zh-CN" dirty="0"/>
              <a:t>Least Absolute Shrinkage and Selection Operator regression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tx1"/>
                </a:solidFill>
              </a:rPr>
              <a:t>是一种基于</a:t>
            </a:r>
            <a:r>
              <a:rPr lang="en-US" altLang="zh-CN" dirty="0">
                <a:solidFill>
                  <a:srgbClr val="0066FF"/>
                </a:solidFill>
              </a:rPr>
              <a:t>L1</a:t>
            </a:r>
            <a:r>
              <a:rPr lang="zh-CN" altLang="en-US" dirty="0">
                <a:solidFill>
                  <a:srgbClr val="0066FF"/>
                </a:solidFill>
              </a:rPr>
              <a:t>正则化</a:t>
            </a:r>
            <a:r>
              <a:rPr lang="zh-CN" altLang="en-US" dirty="0">
                <a:solidFill>
                  <a:schemeClr val="tx1"/>
                </a:solidFill>
              </a:rPr>
              <a:t>的线性回归方法，旨在最小化残差平方和的同时，通过对模型参数进行约束，使模型系数的绝对值之和最小。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70CEC939-8092-6ED3-5985-753DB5809DF9}"/>
              </a:ext>
            </a:extLst>
          </p:cNvPr>
          <p:cNvSpPr txBox="1"/>
          <p:nvPr/>
        </p:nvSpPr>
        <p:spPr>
          <a:xfrm>
            <a:off x="487015" y="3988677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目标函数：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0B3A56A-A5AF-829F-5022-2F2ADB33CFA9}"/>
                  </a:ext>
                </a:extLst>
              </p:cNvPr>
              <p:cNvSpPr txBox="1"/>
              <p:nvPr/>
            </p:nvSpPr>
            <p:spPr>
              <a:xfrm>
                <a:off x="620373" y="5632548"/>
                <a:ext cx="1157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是</a:t>
                </a:r>
                <a:r>
                  <a:rPr lang="zh-CN" altLang="en-US" dirty="0">
                    <a:solidFill>
                      <a:srgbClr val="0066FF"/>
                    </a:solidFill>
                  </a:rPr>
                  <a:t>决定惩罚力度的调和参数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40B3A56A-A5AF-829F-5022-2F2ADB33C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73" y="5632548"/>
                <a:ext cx="11571627" cy="584775"/>
              </a:xfrm>
              <a:prstGeom prst="rect">
                <a:avLst/>
              </a:prstGeom>
              <a:blipFill>
                <a:blip r:embed="rId3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6DD823-1249-68D4-2D03-B2FEEAE61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686964"/>
              </p:ext>
            </p:extLst>
          </p:nvPr>
        </p:nvGraphicFramePr>
        <p:xfrm>
          <a:off x="3090755" y="4074288"/>
          <a:ext cx="4843516" cy="1028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2961" imgH="457216" progId="Equation.DSMT4">
                  <p:embed/>
                </p:oleObj>
              </mc:Choice>
              <mc:Fallback>
                <p:oleObj name="Equation" r:id="rId4" imgW="2152961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90755" y="4074288"/>
                        <a:ext cx="4843516" cy="1028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69ABD20C-7E64-612B-D9CB-0F2BE0CC1ED3}"/>
              </a:ext>
            </a:extLst>
          </p:cNvPr>
          <p:cNvGrpSpPr/>
          <p:nvPr/>
        </p:nvGrpSpPr>
        <p:grpSpPr>
          <a:xfrm>
            <a:off x="8252770" y="4100558"/>
            <a:ext cx="3805871" cy="1024579"/>
            <a:chOff x="8252770" y="5120258"/>
            <a:chExt cx="3805871" cy="1024579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CFB287F-8937-BDD3-92D3-36FE8DDF265C}"/>
                </a:ext>
              </a:extLst>
            </p:cNvPr>
            <p:cNvSpPr txBox="1"/>
            <p:nvPr/>
          </p:nvSpPr>
          <p:spPr>
            <a:xfrm>
              <a:off x="8252770" y="5161992"/>
              <a:ext cx="380587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800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可以将对模型因变量影响较小的自变量的回归系数压缩至</a:t>
              </a:r>
              <a:r>
                <a:rPr lang="en-US" altLang="zh-CN" sz="1800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zh-CN" sz="1800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，实现对自变量的筛选</a:t>
              </a:r>
              <a:endPara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67468D8-E2B0-AD3E-2DFA-20E71820BAF0}"/>
                </a:ext>
              </a:extLst>
            </p:cNvPr>
            <p:cNvSpPr/>
            <p:nvPr/>
          </p:nvSpPr>
          <p:spPr>
            <a:xfrm>
              <a:off x="8252770" y="5120258"/>
              <a:ext cx="3716623" cy="1024579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014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9C3A-AECC-7D19-2D95-2C24D45A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33D62395-4B3F-8657-BCFD-10139CE37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en-US" altLang="zh-CN" sz="4000" dirty="0">
                <a:solidFill>
                  <a:srgbClr val="0084CF"/>
                </a:solidFill>
              </a:rPr>
              <a:t>LASSO</a:t>
            </a:r>
            <a:r>
              <a:rPr lang="zh-CN" altLang="en-US" sz="4000" dirty="0">
                <a:solidFill>
                  <a:srgbClr val="0084CF"/>
                </a:solidFill>
              </a:rPr>
              <a:t>回归概述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5A980BFA-2331-6E0D-ECFD-1D4739E55B27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C91ACFBE-C72F-FFF5-1D89-1519A40CA912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E5AD0C7-D4CF-692D-C6D5-587F74065A28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1AD5FF24-D364-6362-E9B7-049C55A2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坐标下降法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2DB738B9-E664-E0B7-5F1F-74BED3C4E85A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144EF0C4-E3E2-2A51-2D13-E551BF740043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22C6E5F6-92D1-8EB4-2DB7-69348EE8C456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组合 10">
            <a:extLst>
              <a:ext uri="{FF2B5EF4-FFF2-40B4-BE49-F238E27FC236}">
                <a16:creationId xmlns:a16="http://schemas.microsoft.com/office/drawing/2014/main" id="{F88F75B3-4907-DFE8-6D65-55C09E6A6A81}"/>
              </a:ext>
            </a:extLst>
          </p:cNvPr>
          <p:cNvGrpSpPr/>
          <p:nvPr/>
        </p:nvGrpSpPr>
        <p:grpSpPr>
          <a:xfrm>
            <a:off x="2306212" y="4810400"/>
            <a:ext cx="7579576" cy="938442"/>
            <a:chOff x="2734890" y="5002222"/>
            <a:chExt cx="7430257" cy="978068"/>
          </a:xfrm>
        </p:grpSpPr>
        <p:grpSp>
          <p:nvGrpSpPr>
            <p:cNvPr id="8" name="组合 35">
              <a:extLst>
                <a:ext uri="{FF2B5EF4-FFF2-40B4-BE49-F238E27FC236}">
                  <a16:creationId xmlns:a16="http://schemas.microsoft.com/office/drawing/2014/main" id="{56293F86-AD61-EF92-FC6C-3B5C6C04018F}"/>
                </a:ext>
              </a:extLst>
            </p:cNvPr>
            <p:cNvGrpSpPr/>
            <p:nvPr/>
          </p:nvGrpSpPr>
          <p:grpSpPr>
            <a:xfrm>
              <a:off x="2734890" y="5002222"/>
              <a:ext cx="7329156" cy="978068"/>
              <a:chOff x="3382706" y="3231661"/>
              <a:chExt cx="7329156" cy="978068"/>
            </a:xfrm>
          </p:grpSpPr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5559552D-7AED-E4B7-EBFC-CBEDE2CBA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3081" y="3399907"/>
                <a:ext cx="6168781" cy="641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ct val="105000"/>
                  <a:buFontTx/>
                  <a:buNone/>
                  <a:tabLst/>
                  <a:defRPr/>
                </a:pPr>
                <a:r>
                  <a:rPr lang="en-US" altLang="zh-CN" sz="4000" b="1" dirty="0">
                    <a:solidFill>
                      <a:srgbClr val="0084C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LASSO</a:t>
                </a:r>
                <a:r>
                  <a:rPr lang="zh-CN" altLang="en-US" sz="4000" b="1" dirty="0">
                    <a:solidFill>
                      <a:srgbClr val="0084C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回归实践案例</a:t>
                </a:r>
              </a:p>
            </p:txBody>
          </p:sp>
          <p:grpSp>
            <p:nvGrpSpPr>
              <p:cNvPr id="14" name="组合 12">
                <a:extLst>
                  <a:ext uri="{FF2B5EF4-FFF2-40B4-BE49-F238E27FC236}">
                    <a16:creationId xmlns:a16="http://schemas.microsoft.com/office/drawing/2014/main" id="{08588743-1796-D585-7873-0368DEA0E1CA}"/>
                  </a:ext>
                </a:extLst>
              </p:cNvPr>
              <p:cNvGrpSpPr/>
              <p:nvPr/>
            </p:nvGrpSpPr>
            <p:grpSpPr>
              <a:xfrm>
                <a:off x="3382706" y="3231661"/>
                <a:ext cx="978070" cy="978068"/>
                <a:chOff x="2051720" y="1381964"/>
                <a:chExt cx="1152128" cy="1152128"/>
              </a:xfrm>
            </p:grpSpPr>
            <p:sp>
              <p:nvSpPr>
                <p:cNvPr id="15" name="矩形 41">
                  <a:extLst>
                    <a:ext uri="{FF2B5EF4-FFF2-40B4-BE49-F238E27FC236}">
                      <a16:creationId xmlns:a16="http://schemas.microsoft.com/office/drawing/2014/main" id="{2D38E51A-0DA6-898E-55A5-BDC62A6A3FF9}"/>
                    </a:ext>
                  </a:extLst>
                </p:cNvPr>
                <p:cNvSpPr/>
                <p:nvPr/>
              </p:nvSpPr>
              <p:spPr>
                <a:xfrm>
                  <a:off x="2051720" y="1381964"/>
                  <a:ext cx="1152128" cy="1152128"/>
                </a:xfrm>
                <a:prstGeom prst="rect">
                  <a:avLst/>
                </a:prstGeom>
                <a:noFill/>
                <a:ln w="12700">
                  <a:solidFill>
                    <a:srgbClr val="0084CF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" name="矩形 42">
                  <a:extLst>
                    <a:ext uri="{FF2B5EF4-FFF2-40B4-BE49-F238E27FC236}">
                      <a16:creationId xmlns:a16="http://schemas.microsoft.com/office/drawing/2014/main" id="{D850CC84-1ED4-824C-32F5-53C109002CD4}"/>
                    </a:ext>
                  </a:extLst>
                </p:cNvPr>
                <p:cNvSpPr/>
                <p:nvPr/>
              </p:nvSpPr>
              <p:spPr>
                <a:xfrm>
                  <a:off x="2155661" y="1485905"/>
                  <a:ext cx="944247" cy="944246"/>
                </a:xfrm>
                <a:prstGeom prst="rect">
                  <a:avLst/>
                </a:prstGeom>
                <a:gradFill>
                  <a:gsLst>
                    <a:gs pos="417">
                      <a:srgbClr val="00B0F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n w="12700">
                  <a:solidFill>
                    <a:srgbClr val="06C5B3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Impact" panose="020B0806030902050204" pitchFamily="34" charset="0"/>
                      <a:ea typeface="等线" panose="02010600030101010101" pitchFamily="2" charset="-122"/>
                      <a:cs typeface="+mn-cs"/>
                    </a:rPr>
                    <a:t>03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cxnSp>
          <p:nvCxnSpPr>
            <p:cNvPr id="12" name="直接连接符 45">
              <a:extLst>
                <a:ext uri="{FF2B5EF4-FFF2-40B4-BE49-F238E27FC236}">
                  <a16:creationId xmlns:a16="http://schemas.microsoft.com/office/drawing/2014/main" id="{3A1CB4E3-3967-21A4-34C2-1DAB9F3581AA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3223924" y="5980290"/>
              <a:ext cx="6941223" cy="0"/>
            </a:xfrm>
            <a:prstGeom prst="line">
              <a:avLst/>
            </a:prstGeom>
            <a:noFill/>
            <a:ln w="12700">
              <a:solidFill>
                <a:srgbClr val="0084C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7AE5371C-05C0-B0C4-1F8E-7304E463A4C8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BE1E3E5D-A6E5-5736-0083-23F4A91415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420A-385B-9382-6E05-94EFEA9E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0206D98-62C7-76EA-4472-4B48EEE8FEC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坐标下降法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612C78BE-7B33-FCED-4B6E-90868D512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3859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A211830-AEF8-71B4-2598-99DE09F59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608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76C466BA-11E5-2E0E-4281-1689C1B37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33130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FFDDCFB-CB20-DF7C-BB7D-3CC4AFC3FB77}"/>
              </a:ext>
            </a:extLst>
          </p:cNvPr>
          <p:cNvSpPr txBox="1"/>
          <p:nvPr/>
        </p:nvSpPr>
        <p:spPr>
          <a:xfrm>
            <a:off x="650699" y="1246093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坐标下降法是</a:t>
            </a:r>
            <a:r>
              <a:rPr lang="en-US" altLang="zh-CN" dirty="0"/>
              <a:t>Lasso</a:t>
            </a:r>
            <a:r>
              <a:rPr lang="zh-CN" altLang="en-US" dirty="0"/>
              <a:t>求解方法中最快速、最简单的方法。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551E3D0-F07C-AA6C-1AB1-B37E5D98ABFD}"/>
              </a:ext>
            </a:extLst>
          </p:cNvPr>
          <p:cNvSpPr txBox="1"/>
          <p:nvPr/>
        </p:nvSpPr>
        <p:spPr>
          <a:xfrm>
            <a:off x="719771" y="2281662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目标函数：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CAC743-3CCD-FC1C-5551-43E07E1905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14596"/>
              </p:ext>
            </p:extLst>
          </p:nvPr>
        </p:nvGraphicFramePr>
        <p:xfrm>
          <a:off x="3323511" y="2475561"/>
          <a:ext cx="4843516" cy="1028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2961" imgH="457216" progId="Equation.DSMT4">
                  <p:embed/>
                </p:oleObj>
              </mc:Choice>
              <mc:Fallback>
                <p:oleObj name="Equation" r:id="rId3" imgW="2152961" imgH="457216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A6DD823-1249-68D4-2D03-B2FEEAE618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3511" y="2475561"/>
                        <a:ext cx="4843516" cy="1028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9D9B4EB-5F3A-2E7D-E278-237348074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036726"/>
              </p:ext>
            </p:extLst>
          </p:nvPr>
        </p:nvGraphicFramePr>
        <p:xfrm>
          <a:off x="3201774" y="4466790"/>
          <a:ext cx="6607620" cy="21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19730" imgH="914433" progId="Equation.DSMT4">
                  <p:embed/>
                </p:oleObj>
              </mc:Choice>
              <mc:Fallback>
                <p:oleObj name="Equation" r:id="rId5" imgW="2819730" imgH="9144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1774" y="4466790"/>
                        <a:ext cx="6607620" cy="2143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8ED0211-5A2B-1C20-CFE5-4DCB7F503DBE}"/>
              </a:ext>
            </a:extLst>
          </p:cNvPr>
          <p:cNvCxnSpPr/>
          <p:nvPr/>
        </p:nvCxnSpPr>
        <p:spPr>
          <a:xfrm>
            <a:off x="5290395" y="3809484"/>
            <a:ext cx="0" cy="5440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837AF1C-608D-D784-08A2-7C562DAAC5C6}"/>
              </a:ext>
            </a:extLst>
          </p:cNvPr>
          <p:cNvSpPr/>
          <p:nvPr/>
        </p:nvSpPr>
        <p:spPr>
          <a:xfrm>
            <a:off x="3939390" y="2316560"/>
            <a:ext cx="2664000" cy="1289841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99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420A-385B-9382-6E05-94EFEA9E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0206D98-62C7-76EA-4472-4B48EEE8FEC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坐标下降法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612C78BE-7B33-FCED-4B6E-90868D512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3859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A211830-AEF8-71B4-2598-99DE09F59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608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76C466BA-11E5-2E0E-4281-1689C1B37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33130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EBCFEEAC-EF8E-072B-0706-847459ABDD6A}"/>
                  </a:ext>
                </a:extLst>
              </p:cNvPr>
              <p:cNvSpPr txBox="1"/>
              <p:nvPr/>
            </p:nvSpPr>
            <p:spPr>
              <a:xfrm>
                <a:off x="822357" y="1171773"/>
                <a:ext cx="10868196" cy="54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SS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求偏导：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EBCFEEAC-EF8E-072B-0706-847459ABD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57" y="1171773"/>
                <a:ext cx="10868196" cy="546368"/>
              </a:xfrm>
              <a:prstGeom prst="rect">
                <a:avLst/>
              </a:prstGeom>
              <a:blipFill>
                <a:blip r:embed="rId3"/>
                <a:stretch>
                  <a:fillRect b="-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4A25511-9CDA-3430-9BB4-E092DE314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776872"/>
              </p:ext>
            </p:extLst>
          </p:nvPr>
        </p:nvGraphicFramePr>
        <p:xfrm>
          <a:off x="2925416" y="1962015"/>
          <a:ext cx="5478428" cy="19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730" imgH="981035" progId="Equation.DSMT4">
                  <p:embed/>
                </p:oleObj>
              </mc:Choice>
              <mc:Fallback>
                <p:oleObj name="Equation" r:id="rId4" imgW="2819730" imgH="9810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5416" y="1962015"/>
                        <a:ext cx="5478428" cy="19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FED8BAD-1EAD-04BD-5957-12B9DD324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600325"/>
              </p:ext>
            </p:extLst>
          </p:nvPr>
        </p:nvGraphicFramePr>
        <p:xfrm>
          <a:off x="2648330" y="4424727"/>
          <a:ext cx="3035650" cy="883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1877" imgH="457216" progId="Equation.DSMT4">
                  <p:embed/>
                </p:oleObj>
              </mc:Choice>
              <mc:Fallback>
                <p:oleObj name="Equation" r:id="rId6" imgW="1571877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48330" y="4424727"/>
                        <a:ext cx="3035650" cy="883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3E6C56-E314-861D-68E9-88AE65C0C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907756"/>
              </p:ext>
            </p:extLst>
          </p:nvPr>
        </p:nvGraphicFramePr>
        <p:xfrm>
          <a:off x="7449543" y="4458602"/>
          <a:ext cx="1152605" cy="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57409" imgH="457216" progId="Equation.DSMT4">
                  <p:embed/>
                </p:oleObj>
              </mc:Choice>
              <mc:Fallback>
                <p:oleObj name="Equation" r:id="rId8" imgW="657409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49543" y="4458602"/>
                        <a:ext cx="1152605" cy="80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276E3F3F-FC89-63D2-662B-5F9662AC96A2}"/>
              </a:ext>
            </a:extLst>
          </p:cNvPr>
          <p:cNvSpPr/>
          <p:nvPr/>
        </p:nvSpPr>
        <p:spPr>
          <a:xfrm>
            <a:off x="4711485" y="2960870"/>
            <a:ext cx="2316996" cy="98345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62C8D11-1236-CC81-B314-F90EF2BF29E4}"/>
              </a:ext>
            </a:extLst>
          </p:cNvPr>
          <p:cNvSpPr/>
          <p:nvPr/>
        </p:nvSpPr>
        <p:spPr>
          <a:xfrm>
            <a:off x="7656052" y="2848406"/>
            <a:ext cx="747792" cy="107815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F266371-AE3B-F6A6-0EF1-05DDC10A9099}"/>
              </a:ext>
            </a:extLst>
          </p:cNvPr>
          <p:cNvCxnSpPr>
            <a:cxnSpLocks/>
          </p:cNvCxnSpPr>
          <p:nvPr/>
        </p:nvCxnSpPr>
        <p:spPr>
          <a:xfrm flipH="1">
            <a:off x="4874217" y="4017881"/>
            <a:ext cx="557939" cy="3240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BF93A2-016F-AD36-8E01-0415779943E3}"/>
              </a:ext>
            </a:extLst>
          </p:cNvPr>
          <p:cNvCxnSpPr>
            <a:cxnSpLocks/>
          </p:cNvCxnSpPr>
          <p:nvPr/>
        </p:nvCxnSpPr>
        <p:spPr>
          <a:xfrm>
            <a:off x="8025846" y="3944320"/>
            <a:ext cx="0" cy="3976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A5C39E1-C678-9B7B-CB37-364E8FDFFAA6}"/>
              </a:ext>
            </a:extLst>
          </p:cNvPr>
          <p:cNvSpPr/>
          <p:nvPr/>
        </p:nvSpPr>
        <p:spPr>
          <a:xfrm>
            <a:off x="2336025" y="4427800"/>
            <a:ext cx="3553330" cy="864528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A5480C6-38E2-0EF7-6969-8529F5993118}"/>
              </a:ext>
            </a:extLst>
          </p:cNvPr>
          <p:cNvSpPr/>
          <p:nvPr/>
        </p:nvSpPr>
        <p:spPr>
          <a:xfrm>
            <a:off x="7028481" y="4443297"/>
            <a:ext cx="2069024" cy="864528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176BA91-BFBF-525E-971A-1CE64FFF4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69212"/>
              </p:ext>
            </p:extLst>
          </p:nvPr>
        </p:nvGraphicFramePr>
        <p:xfrm>
          <a:off x="4814347" y="5710444"/>
          <a:ext cx="3148120" cy="98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495000" progId="Equation.DSMT4">
                  <p:embed/>
                </p:oleObj>
              </mc:Choice>
              <mc:Fallback>
                <p:oleObj name="Equation" r:id="rId10" imgW="15872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14347" y="5710444"/>
                        <a:ext cx="3148120" cy="98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B06B46D-7E25-26FD-0328-5790CFD2E638}"/>
              </a:ext>
            </a:extLst>
          </p:cNvPr>
          <p:cNvSpPr/>
          <p:nvPr/>
        </p:nvSpPr>
        <p:spPr>
          <a:xfrm>
            <a:off x="4668841" y="5656200"/>
            <a:ext cx="3436773" cy="1037694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5096A8E-75AE-FD0E-1012-16F45FEFA722}"/>
              </a:ext>
            </a:extLst>
          </p:cNvPr>
          <p:cNvCxnSpPr>
            <a:cxnSpLocks/>
          </p:cNvCxnSpPr>
          <p:nvPr/>
        </p:nvCxnSpPr>
        <p:spPr>
          <a:xfrm>
            <a:off x="4166155" y="5372376"/>
            <a:ext cx="320604" cy="4034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3AB953-CE88-C436-E191-1C367777425D}"/>
              </a:ext>
            </a:extLst>
          </p:cNvPr>
          <p:cNvCxnSpPr>
            <a:cxnSpLocks/>
          </p:cNvCxnSpPr>
          <p:nvPr/>
        </p:nvCxnSpPr>
        <p:spPr>
          <a:xfrm flipH="1">
            <a:off x="8105614" y="5390147"/>
            <a:ext cx="235364" cy="32029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40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F1D3-C164-8AAD-0CEA-2F5CE4B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8F6B47B-C902-C30D-BD1C-302D08565B4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坐标下降法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45E0EAF7-06A9-9AD7-633F-40D1D7736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3859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21B0B32A-3DBD-BAA5-5744-6CADBC4EE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608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A82DCB68-B25B-9893-28AC-82A59B0BE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33130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4C5A1D54-0056-BDE1-29C5-4F2AC9B900BE}"/>
                  </a:ext>
                </a:extLst>
              </p:cNvPr>
              <p:cNvSpPr txBox="1"/>
              <p:nvPr/>
            </p:nvSpPr>
            <p:spPr>
              <a:xfrm>
                <a:off x="737116" y="1245168"/>
                <a:ext cx="10868196" cy="1027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使用</a:t>
                </a:r>
                <a:r>
                  <a:rPr lang="zh-CN" altLang="en-US" sz="2800" dirty="0"/>
                  <a:t>次梯度下降法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对惩罚项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求次导（使用惩罚项的次导函数作为梯度的近似值） ：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7">
                <a:extLst>
                  <a:ext uri="{FF2B5EF4-FFF2-40B4-BE49-F238E27FC236}">
                    <a16:creationId xmlns:a16="http://schemas.microsoft.com/office/drawing/2014/main" id="{4C5A1D54-0056-BDE1-29C5-4F2AC9B90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6" y="1245168"/>
                <a:ext cx="10868196" cy="1027141"/>
              </a:xfrm>
              <a:prstGeom prst="rect">
                <a:avLst/>
              </a:prstGeom>
              <a:blipFill>
                <a:blip r:embed="rId3"/>
                <a:stretch>
                  <a:fillRect b="-1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45CC8E1-F0B8-7B80-F4D4-FF24813BF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124450"/>
              </p:ext>
            </p:extLst>
          </p:nvPr>
        </p:nvGraphicFramePr>
        <p:xfrm>
          <a:off x="4266582" y="2434717"/>
          <a:ext cx="3188840" cy="1631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838080" progId="Equation.DSMT4">
                  <p:embed/>
                </p:oleObj>
              </mc:Choice>
              <mc:Fallback>
                <p:oleObj name="Equation" r:id="rId4" imgW="16380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66582" y="2434717"/>
                        <a:ext cx="3188840" cy="1631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7">
                <a:extLst>
                  <a:ext uri="{FF2B5EF4-FFF2-40B4-BE49-F238E27FC236}">
                    <a16:creationId xmlns:a16="http://schemas.microsoft.com/office/drawing/2014/main" id="{1BB8BC07-32E7-FA5A-3F13-DDFE1710D6D9}"/>
                  </a:ext>
                </a:extLst>
              </p:cNvPr>
              <p:cNvSpPr txBox="1"/>
              <p:nvPr/>
            </p:nvSpPr>
            <p:spPr>
              <a:xfrm>
                <a:off x="737116" y="4216539"/>
                <a:ext cx="10868196" cy="596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RSS</m:t>
                    </m:r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altLang="zh-C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altLang="zh-C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的关于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的导数相加，并令其导函数等于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7">
                <a:extLst>
                  <a:ext uri="{FF2B5EF4-FFF2-40B4-BE49-F238E27FC236}">
                    <a16:creationId xmlns:a16="http://schemas.microsoft.com/office/drawing/2014/main" id="{1BB8BC07-32E7-FA5A-3F13-DDFE1710D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6" y="4216539"/>
                <a:ext cx="10868196" cy="596253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2F8CA84-F886-56F4-ADCA-FDE043E77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15502"/>
              </p:ext>
            </p:extLst>
          </p:nvPr>
        </p:nvGraphicFramePr>
        <p:xfrm>
          <a:off x="3446009" y="5198294"/>
          <a:ext cx="5116715" cy="1411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46240" imgH="812520" progId="Equation.DSMT4">
                  <p:embed/>
                </p:oleObj>
              </mc:Choice>
              <mc:Fallback>
                <p:oleObj name="Equation" r:id="rId7" imgW="29462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6009" y="5198294"/>
                        <a:ext cx="5116715" cy="1411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50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65DA-F209-EDB7-4DDE-26B4F6C6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9E57D77-D582-5CC8-6C72-2B769CB41E3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坐标下降法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BC58A0F2-2849-A420-89F5-DEA94A95E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3859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D201E273-5752-6642-89B5-793EA5D39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26081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CE8A4406-256D-2486-0244-A641CEAD2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99" y="33130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548ED7A-7FD9-6B3A-2088-FE011F4199C0}"/>
              </a:ext>
            </a:extLst>
          </p:cNvPr>
          <p:cNvSpPr txBox="1"/>
          <p:nvPr/>
        </p:nvSpPr>
        <p:spPr>
          <a:xfrm>
            <a:off x="737116" y="1407898"/>
            <a:ext cx="10868196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66FF"/>
                </a:solidFill>
              </a:rPr>
              <a:t>得</a:t>
            </a:r>
            <a:r>
              <a:rPr lang="en-US" altLang="zh-CN" sz="2800" dirty="0">
                <a:solidFill>
                  <a:srgbClr val="0066FF"/>
                </a:solidFill>
              </a:rPr>
              <a:t>LASSO</a:t>
            </a:r>
            <a:r>
              <a:rPr lang="zh-CN" altLang="en-US" sz="2800" dirty="0">
                <a:solidFill>
                  <a:srgbClr val="0066FF"/>
                </a:solidFill>
              </a:rPr>
              <a:t>回归模型的回归系数</a:t>
            </a:r>
            <a:r>
              <a:rPr lang="en-US" altLang="zh-CN" sz="2800" dirty="0">
                <a:solidFill>
                  <a:srgbClr val="0066FF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7231460-7E5E-75D8-C4DA-C8C8BA000F82}"/>
              </a:ext>
            </a:extLst>
          </p:cNvPr>
          <p:cNvGrpSpPr/>
          <p:nvPr/>
        </p:nvGrpSpPr>
        <p:grpSpPr>
          <a:xfrm>
            <a:off x="995423" y="2506055"/>
            <a:ext cx="4331776" cy="3340693"/>
            <a:chOff x="1208868" y="2385931"/>
            <a:chExt cx="4331776" cy="3340693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1671C260-3D7E-2C26-CCC5-2B8E079E17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9457972"/>
                </p:ext>
              </p:extLst>
            </p:nvPr>
          </p:nvGraphicFramePr>
          <p:xfrm>
            <a:off x="1637897" y="2608181"/>
            <a:ext cx="3306063" cy="2957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895541" imgH="1695661" progId="Equation.DSMT4">
                    <p:embed/>
                  </p:oleObj>
                </mc:Choice>
                <mc:Fallback>
                  <p:oleObj name="Equation" r:id="rId3" imgW="1895541" imgH="1695661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37897" y="2608181"/>
                          <a:ext cx="3306063" cy="29571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802176-A1D6-522A-3A9F-A3C9AD75B3E8}"/>
                </a:ext>
              </a:extLst>
            </p:cNvPr>
            <p:cNvSpPr/>
            <p:nvPr/>
          </p:nvSpPr>
          <p:spPr>
            <a:xfrm>
              <a:off x="1208868" y="2385931"/>
              <a:ext cx="4331776" cy="3340693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4">
                <a:extLst>
                  <a:ext uri="{FF2B5EF4-FFF2-40B4-BE49-F238E27FC236}">
                    <a16:creationId xmlns:a16="http://schemas.microsoft.com/office/drawing/2014/main" id="{34D62711-07F0-0791-8898-ECB9BF5C92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5852" y="2635571"/>
                <a:ext cx="5380725" cy="30976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lvl1pPr marL="438150" indent="-438150" algn="l" defTabSz="914400" rtl="0" eaLnBrk="1" latinLnBrk="0" hangingPunct="1">
                  <a:lnSpc>
                    <a:spcPct val="125000"/>
                  </a:lnSpc>
                  <a:spcBef>
                    <a:spcPct val="20000"/>
                  </a:spcBef>
                  <a:buFont typeface="Wingdings" pitchFamily="2" charset="2"/>
                  <a:buChar char="n"/>
                  <a:defRPr sz="2800" b="1" kern="1200" cap="none" spc="0" baseline="0">
                    <a:ln w="11430"/>
                    <a:solidFill>
                      <a:sysClr val="windowText" lastClr="0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 Rounded MT Bold" panose="020F0704030504030204" pitchFamily="34" charset="0"/>
                    <a:ea typeface="微软雅黑" panose="020B0503020204020204" pitchFamily="34" charset="-122"/>
                    <a:cs typeface="Arial" pitchFamily="34" charset="0"/>
                  </a:defRPr>
                </a:lvl1pPr>
                <a:lvl2pPr marL="742950" indent="-285750" algn="l" defTabSz="914400" rtl="0" eaLnBrk="1" latinLnBrk="0" hangingPunct="1">
                  <a:lnSpc>
                    <a:spcPct val="125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b="1" kern="1200" cap="none" spc="0" baseline="0">
                    <a:ln w="11430"/>
                    <a:solidFill>
                      <a:sysClr val="windowText" lastClr="0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 Rounded MT Bold" panose="020F0704030504030204" pitchFamily="34" charset="0"/>
                    <a:ea typeface="微软雅黑" panose="020B0503020204020204" pitchFamily="34" charset="-122"/>
                    <a:cs typeface="Arial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25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b="1" kern="1200" cap="none" spc="0" baseline="0">
                    <a:ln w="11430"/>
                    <a:solidFill>
                      <a:sysClr val="windowText" lastClr="0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 Rounded MT Bold" panose="020F0704030504030204" pitchFamily="34" charset="0"/>
                    <a:ea typeface="微软雅黑" panose="020B0503020204020204" pitchFamily="34" charset="-122"/>
                    <a:cs typeface="Arial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25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b="1" kern="1200" cap="none" spc="0" baseline="0">
                    <a:ln w="11430"/>
                    <a:solidFill>
                      <a:sysClr val="windowText" lastClr="0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 Rounded MT Bold" panose="020F0704030504030204" pitchFamily="34" charset="0"/>
                    <a:ea typeface="微软雅黑" panose="020B0503020204020204" pitchFamily="34" charset="-122"/>
                    <a:cs typeface="Arial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25000"/>
                  </a:lnSpc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b="1" kern="1200" cap="none" spc="0" baseline="0">
                    <a:ln w="11430"/>
                    <a:solidFill>
                      <a:sysClr val="windowText" lastClr="0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 Rounded MT Bold" panose="020F0704030504030204" pitchFamily="34" charset="0"/>
                    <a:ea typeface="微软雅黑" panose="020B0503020204020204" pitchFamily="34" charset="-122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defRPr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最后通过迭代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,⋯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求解</a:t>
                </a:r>
                <a:endParaRPr lang="en-US" altLang="zh-CN" dirty="0"/>
              </a:p>
              <a:p>
                <a:pPr lvl="0">
                  <a:defRPr/>
                </a:pPr>
                <a:r>
                  <a:rPr lang="zh-CN" altLang="en-US" dirty="0"/>
                  <a:t>可见，</a:t>
                </a:r>
                <a:r>
                  <a:rPr lang="en-US" altLang="zh-CN" dirty="0"/>
                  <a:t>LASSO</a:t>
                </a:r>
                <a:r>
                  <a:rPr lang="zh-CN" altLang="en-US" dirty="0"/>
                  <a:t>回归的回归系数依赖于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值</a:t>
                </a:r>
                <a:r>
                  <a:rPr lang="zh-CN" altLang="en-US" dirty="0"/>
                  <a:t>。而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/>
                  <a:t>的取值通常通过交叉验证来确定。</a:t>
                </a:r>
                <a:endParaRPr lang="en-US" altLang="zh-CN" dirty="0"/>
              </a:p>
              <a:p>
                <a:pPr lvl="0">
                  <a:defRPr/>
                </a:pPr>
                <a:r>
                  <a:rPr lang="zh-CN" altLang="en-US" dirty="0"/>
                  <a:t>且随着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/>
                  <a:t>增大，</a:t>
                </a:r>
                <a:r>
                  <a:rPr lang="en-US" altLang="zh-CN" dirty="0"/>
                  <a:t>LASSO</a:t>
                </a:r>
                <a:r>
                  <a:rPr lang="zh-CN" altLang="en-US" dirty="0"/>
                  <a:t>回归可以将更多的回归系数压缩至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。</a:t>
                </a:r>
              </a:p>
              <a:p>
                <a:pPr marL="0" lvl="0" indent="0">
                  <a:buNone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8" name="内容占位符 4">
                <a:extLst>
                  <a:ext uri="{FF2B5EF4-FFF2-40B4-BE49-F238E27FC236}">
                    <a16:creationId xmlns:a16="http://schemas.microsoft.com/office/drawing/2014/main" id="{34D62711-07F0-0791-8898-ECB9BF5C9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852" y="2635571"/>
                <a:ext cx="5380725" cy="3097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34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7E5F-7CA3-D3E7-6285-4486333C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81E683D1-927C-B227-2214-B7DBBFAD5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en-US" altLang="zh-CN" sz="4000" dirty="0">
                <a:solidFill>
                  <a:srgbClr val="0084CF"/>
                </a:solidFill>
              </a:rPr>
              <a:t>LASSO</a:t>
            </a:r>
            <a:r>
              <a:rPr lang="zh-CN" altLang="en-US" sz="4000" dirty="0">
                <a:solidFill>
                  <a:srgbClr val="0084CF"/>
                </a:solidFill>
              </a:rPr>
              <a:t>回归概述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0E98CE61-F311-CB5D-0BA3-B396D63C468B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AAFBD9FF-F925-26A4-71EE-ECFDA54F84FD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95583FC-424C-5068-4AC5-4E86EEAC1232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3980DB06-64BB-6560-76CE-E2E850EA1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solidFill>
                  <a:srgbClr val="00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坐标下降法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0C737DC2-4260-92DB-D5DF-E682B44E2668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8CC2CC53-415E-698E-8033-06F8C0456E2B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D43328AA-FCCC-4EAA-E24A-9E059D1D6D2C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 Box 7">
            <a:extLst>
              <a:ext uri="{FF2B5EF4-FFF2-40B4-BE49-F238E27FC236}">
                <a16:creationId xmlns:a16="http://schemas.microsoft.com/office/drawing/2014/main" id="{352AA692-0DB2-11D9-0C13-636EEFA7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4971830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en-US" altLang="zh-CN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LASSO</a:t>
            </a: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回归实践案例</a:t>
            </a:r>
          </a:p>
        </p:txBody>
      </p:sp>
      <p:sp>
        <p:nvSpPr>
          <p:cNvPr id="15" name="矩形 41">
            <a:extLst>
              <a:ext uri="{FF2B5EF4-FFF2-40B4-BE49-F238E27FC236}">
                <a16:creationId xmlns:a16="http://schemas.microsoft.com/office/drawing/2014/main" id="{DC515CF7-A1F0-1F8A-E8CE-6F44A9A96942}"/>
              </a:ext>
            </a:extLst>
          </p:cNvPr>
          <p:cNvSpPr/>
          <p:nvPr/>
        </p:nvSpPr>
        <p:spPr>
          <a:xfrm>
            <a:off x="2306212" y="4810400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42">
            <a:extLst>
              <a:ext uri="{FF2B5EF4-FFF2-40B4-BE49-F238E27FC236}">
                <a16:creationId xmlns:a16="http://schemas.microsoft.com/office/drawing/2014/main" id="{F43A5249-4ED5-F0D7-5FB2-A4E91124A634}"/>
              </a:ext>
            </a:extLst>
          </p:cNvPr>
          <p:cNvSpPr/>
          <p:nvPr/>
        </p:nvSpPr>
        <p:spPr>
          <a:xfrm>
            <a:off x="2396223" y="4895063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03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2" name="直接连接符 45">
            <a:extLst>
              <a:ext uri="{FF2B5EF4-FFF2-40B4-BE49-F238E27FC236}">
                <a16:creationId xmlns:a16="http://schemas.microsoft.com/office/drawing/2014/main" id="{F77FFC87-4252-04B7-C59B-09085CEE5835}"/>
              </a:ext>
            </a:extLst>
          </p:cNvPr>
          <p:cNvCxnSpPr>
            <a:stCxn id="15" idx="2"/>
          </p:cNvCxnSpPr>
          <p:nvPr/>
        </p:nvCxnSpPr>
        <p:spPr>
          <a:xfrm>
            <a:off x="2805074" y="5748842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F754EA5-20C3-2C34-FB8C-583E390E240C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46674E1D-5945-DB46-FD20-90BE662AD4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4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32DF-F676-FDE4-9885-1A7D87E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C4497D3-4A17-5088-3B56-1619E45A3A0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LASSO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回归的汽车燃油效率预测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08CC82B-2499-866B-80E0-BEB10054AC74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LASSO</a:t>
            </a:r>
            <a:r>
              <a:rPr lang="zh-CN" altLang="en-US" dirty="0">
                <a:solidFill>
                  <a:srgbClr val="C00000"/>
                </a:solidFill>
              </a:rPr>
              <a:t>回归实践案例：</a:t>
            </a:r>
            <a:r>
              <a:rPr lang="zh-CN" altLang="en-US" dirty="0">
                <a:solidFill>
                  <a:schemeClr val="tx1"/>
                </a:solidFill>
              </a:rPr>
              <a:t>汽车燃油效率数据集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FE86ACA8-9413-4F84-BAB3-9A49415F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6ED278EE-414F-92F6-4A88-A06469689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15F87AB5-061B-32FC-A5DD-3246EBB4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C6C013BD-E51E-66C7-379B-31DD19E1B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9CEE5E1-2570-36FC-205F-C3C0CE207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462" y="1900816"/>
            <a:ext cx="9480581" cy="46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B56B0-346F-662B-084D-6976C45C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C8692DC-3C51-561B-A520-CD68721EA25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LASSO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8971829-556F-F9E8-C480-6337B0B1A7FF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LASSO</a:t>
            </a:r>
            <a:r>
              <a:rPr lang="zh-CN" altLang="en-US" dirty="0">
                <a:solidFill>
                  <a:srgbClr val="C00000"/>
                </a:solidFill>
              </a:rPr>
              <a:t>回归实践案例：</a:t>
            </a:r>
            <a:r>
              <a:rPr lang="zh-CN" altLang="en-US" dirty="0">
                <a:solidFill>
                  <a:schemeClr val="tx1"/>
                </a:solidFill>
              </a:rPr>
              <a:t>建立</a:t>
            </a:r>
            <a:r>
              <a:rPr lang="en-US" altLang="zh-CN" dirty="0">
                <a:solidFill>
                  <a:schemeClr val="tx1"/>
                </a:solidFill>
              </a:rPr>
              <a:t>LASSO</a:t>
            </a:r>
            <a:r>
              <a:rPr lang="zh-CN" altLang="en-US" dirty="0">
                <a:solidFill>
                  <a:schemeClr val="tx1"/>
                </a:solidFill>
              </a:rPr>
              <a:t>回归模型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66B806C5-2213-0E87-D066-06D4D14F6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6DA99891-5BEC-F1A0-6C83-82F499956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07799A77-D311-3EB7-3EED-6F8702F2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294F758F-6B60-475D-AE96-FAE23B07B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3F0101F0-9C6A-4B20-E0EF-168926F6C8B8}"/>
              </a:ext>
            </a:extLst>
          </p:cNvPr>
          <p:cNvSpPr txBox="1"/>
          <p:nvPr/>
        </p:nvSpPr>
        <p:spPr>
          <a:xfrm>
            <a:off x="620373" y="1855790"/>
            <a:ext cx="11143537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/>
              </a:rPr>
              <a:t>使用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sklearn.linear_model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包中的</a:t>
            </a:r>
            <a:r>
              <a:rPr lang="en-US" altLang="zh-CN" dirty="0">
                <a:solidFill>
                  <a:srgbClr val="0066FF"/>
                </a:solidFill>
                <a:effectLst/>
              </a:rPr>
              <a:t>Lasso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类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构建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LASSO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回归模型拟合数据。</a:t>
            </a:r>
            <a:endParaRPr lang="zh-CN" altLang="en-US" dirty="0">
              <a:solidFill>
                <a:srgbClr val="0066FF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CA06C01-EB38-1613-EE4F-E2FCEC370E63}"/>
              </a:ext>
            </a:extLst>
          </p:cNvPr>
          <p:cNvGrpSpPr/>
          <p:nvPr/>
        </p:nvGrpSpPr>
        <p:grpSpPr>
          <a:xfrm>
            <a:off x="995423" y="3008198"/>
            <a:ext cx="10768487" cy="1996075"/>
            <a:chOff x="620373" y="2828986"/>
            <a:chExt cx="6833491" cy="199607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A91EFF5-BB4C-57F7-CE45-D51015867390}"/>
                </a:ext>
              </a:extLst>
            </p:cNvPr>
            <p:cNvSpPr/>
            <p:nvPr/>
          </p:nvSpPr>
          <p:spPr>
            <a:xfrm>
              <a:off x="620758" y="2828986"/>
              <a:ext cx="6833106" cy="12809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512CDD1-E823-B548-0CEA-AD479BBD12EB}"/>
                </a:ext>
              </a:extLst>
            </p:cNvPr>
            <p:cNvSpPr txBox="1"/>
            <p:nvPr/>
          </p:nvSpPr>
          <p:spPr>
            <a:xfrm>
              <a:off x="620373" y="2840543"/>
              <a:ext cx="6715374" cy="19845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lasso = Lasso(alpha=1.0,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fit_intercept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=True, normalize=False, precompute=False,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copy_X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=True,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max_iter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=1000,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tol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=0.0001,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warm_start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=False, positive=False,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random_state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=None, selection='cyclic')</a:t>
              </a:r>
              <a:endParaRPr lang="zh-CN" altLang="zh-CN" sz="3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FB1FFD3-213F-F23E-22C3-7F9436B9861A}"/>
              </a:ext>
            </a:extLst>
          </p:cNvPr>
          <p:cNvGrpSpPr/>
          <p:nvPr/>
        </p:nvGrpSpPr>
        <p:grpSpPr>
          <a:xfrm>
            <a:off x="1212437" y="4841025"/>
            <a:ext cx="9767126" cy="1775532"/>
            <a:chOff x="3986372" y="5999115"/>
            <a:chExt cx="8907695" cy="289976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F3AE096-64AE-C096-157A-CE2B87389CCA}"/>
                </a:ext>
              </a:extLst>
            </p:cNvPr>
            <p:cNvSpPr/>
            <p:nvPr/>
          </p:nvSpPr>
          <p:spPr>
            <a:xfrm>
              <a:off x="3986372" y="5999115"/>
              <a:ext cx="8907695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7AC4847-B260-42EA-5822-885C12AA03E8}"/>
                </a:ext>
              </a:extLst>
            </p:cNvPr>
            <p:cNvSpPr txBox="1"/>
            <p:nvPr/>
          </p:nvSpPr>
          <p:spPr>
            <a:xfrm>
              <a:off x="4006922" y="6113963"/>
              <a:ext cx="8732448" cy="2279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5.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建立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LASSO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回归模型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lasso = Lasso(alpha=0.1)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lasso.fit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X_train_scaled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print("LASSO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模型系数：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",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np.round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lasso.coef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_, 3))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print("LASSO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模型截距：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", round(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lasso.intercept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_, 3))</a:t>
              </a: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5E85F96-7BD0-5F6B-CC80-B12D941821A1}"/>
              </a:ext>
            </a:extLst>
          </p:cNvPr>
          <p:cNvCxnSpPr>
            <a:cxnSpLocks/>
          </p:cNvCxnSpPr>
          <p:nvPr/>
        </p:nvCxnSpPr>
        <p:spPr>
          <a:xfrm>
            <a:off x="5986333" y="4378201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B2AA749-69D1-9537-B474-FFAE4BD967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229" y="4759617"/>
          <a:ext cx="6873655" cy="489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10010" imgH="200167" progId="Equation.DSMT4">
                  <p:embed/>
                </p:oleObj>
              </mc:Choice>
              <mc:Fallback>
                <p:oleObj name="Equation" r:id="rId7" imgW="2810010" imgH="20016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BA37422-076E-5324-9500-C96A9C959F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3229" y="4759617"/>
                        <a:ext cx="6873655" cy="489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491240D-3E8B-51CC-B1AA-344A0B2204BA}"/>
              </a:ext>
            </a:extLst>
          </p:cNvPr>
          <p:cNvSpPr/>
          <p:nvPr/>
        </p:nvSpPr>
        <p:spPr>
          <a:xfrm>
            <a:off x="5003229" y="4738201"/>
            <a:ext cx="6852563" cy="510727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11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389F4-1A1C-9576-4732-95DFFBC2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D431AF2-1B7B-3A09-A438-4F4EC272071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LASSO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97815D3-4578-C07A-8E21-C73DE8BF203E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LASSO</a:t>
            </a:r>
            <a:r>
              <a:rPr lang="zh-CN" altLang="en-US" dirty="0">
                <a:solidFill>
                  <a:srgbClr val="C00000"/>
                </a:solidFill>
              </a:rPr>
              <a:t>回归实践案例：</a:t>
            </a:r>
            <a:r>
              <a:rPr lang="zh-CN" altLang="en-US" dirty="0">
                <a:solidFill>
                  <a:schemeClr val="tx1"/>
                </a:solidFill>
              </a:rPr>
              <a:t>预测和模型效果评价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61AE6048-0ECF-478F-72B1-FB00A3DF9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7F53959E-D9DA-6D40-A4FA-29EEA9412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911BC0C1-5CCA-A64D-A438-F491ED91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70E13BDE-5739-AA74-E74F-C67DA478A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1B42D2C-BBD1-E353-F097-80B49F48471F}"/>
              </a:ext>
            </a:extLst>
          </p:cNvPr>
          <p:cNvGrpSpPr/>
          <p:nvPr/>
        </p:nvGrpSpPr>
        <p:grpSpPr>
          <a:xfrm>
            <a:off x="810488" y="2035129"/>
            <a:ext cx="10768487" cy="2865643"/>
            <a:chOff x="620373" y="2828985"/>
            <a:chExt cx="6833491" cy="286564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772D332-7DF0-2142-5379-890666527A32}"/>
                </a:ext>
              </a:extLst>
            </p:cNvPr>
            <p:cNvSpPr/>
            <p:nvPr/>
          </p:nvSpPr>
          <p:spPr>
            <a:xfrm>
              <a:off x="620758" y="2828985"/>
              <a:ext cx="6833106" cy="28656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DB79180-0818-15AB-1283-D572D482AE0F}"/>
                </a:ext>
              </a:extLst>
            </p:cNvPr>
            <p:cNvSpPr txBox="1"/>
            <p:nvPr/>
          </p:nvSpPr>
          <p:spPr>
            <a:xfrm>
              <a:off x="620373" y="2840543"/>
              <a:ext cx="6715374" cy="27506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y_pred_lasso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lasso.predict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X_test_scaled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)  # </a:t>
              </a:r>
              <a:r>
                <a:rPr lang="zh-CN" altLang="en-US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预测测试集结果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# 6.</a:t>
              </a:r>
              <a:r>
                <a:rPr lang="zh-CN" altLang="en-US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模型评估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mse_lasso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mean_squared_error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y_test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y_pred_lasso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rmse_lasso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np.sqrt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mse_lasso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r2_lasso = r2_score(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y_test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y_pred_lasso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print('LASSO </a:t>
              </a:r>
              <a:r>
                <a:rPr lang="zh-CN" altLang="en-US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回归 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R2:', round(r2_lasso, 3))</a:t>
              </a:r>
            </a:p>
            <a:p>
              <a:pPr marL="457200" lvl="0" indent="-457200">
                <a:lnSpc>
                  <a:spcPct val="125000"/>
                </a:lnSpc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print('LASSO </a:t>
              </a:r>
              <a:r>
                <a:rPr lang="zh-CN" altLang="en-US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回归 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RMSE:', round(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rmse_lasso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3))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8A08F2-F851-9CD9-ED89-93933EF03337}"/>
                  </a:ext>
                </a:extLst>
              </p:cNvPr>
              <p:cNvSpPr txBox="1"/>
              <p:nvPr/>
            </p:nvSpPr>
            <p:spPr>
              <a:xfrm>
                <a:off x="1621876" y="5357531"/>
                <a:ext cx="9525270" cy="86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RMSE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3.4228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0.824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，表明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LASSO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回归模型表现良好，预测误差较小，能够解释解释因变量变异性的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82.4%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08A08F2-F851-9CD9-ED89-93933EF03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876" y="5357531"/>
                <a:ext cx="9525270" cy="862608"/>
              </a:xfrm>
              <a:prstGeom prst="rect">
                <a:avLst/>
              </a:prstGeom>
              <a:blipFill>
                <a:blip r:embed="rId7"/>
                <a:stretch>
                  <a:fillRect l="-960" t="-4255" r="-704" b="-1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4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401A-595F-451C-29B6-581DAC00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36EA739-8BCF-D3B1-886B-C350F5E30C2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预测效果及特征选择对比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C6AEBA2-69DB-C51D-539F-27B39E4765B6}"/>
              </a:ext>
            </a:extLst>
          </p:cNvPr>
          <p:cNvSpPr txBox="1"/>
          <p:nvPr/>
        </p:nvSpPr>
        <p:spPr>
          <a:xfrm>
            <a:off x="438332" y="915292"/>
            <a:ext cx="812293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多元线性回归 </a:t>
            </a:r>
            <a:r>
              <a:rPr lang="en-US" altLang="zh-CN" dirty="0">
                <a:solidFill>
                  <a:schemeClr val="tx1"/>
                </a:solidFill>
              </a:rPr>
              <a:t>VS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岭回归 </a:t>
            </a:r>
            <a:r>
              <a:rPr lang="en-US" altLang="zh-CN" dirty="0">
                <a:solidFill>
                  <a:schemeClr val="tx1"/>
                </a:solidFill>
              </a:rPr>
              <a:t>VS</a:t>
            </a:r>
            <a:r>
              <a:rPr lang="en-US" altLang="zh-CN" dirty="0">
                <a:solidFill>
                  <a:srgbClr val="C00000"/>
                </a:solidFill>
              </a:rPr>
              <a:t> LASSO</a:t>
            </a:r>
            <a:r>
              <a:rPr lang="zh-CN" altLang="en-US" dirty="0">
                <a:solidFill>
                  <a:srgbClr val="C00000"/>
                </a:solidFill>
              </a:rPr>
              <a:t>回归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6002B11D-293C-F6B2-3DA0-54F9859D6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EF452522-CF39-1538-36D8-B54CD2418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393E5B02-D46A-0A95-9C29-28300DC92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1A5438B1-E512-BDE9-19F0-326F6176B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形 2">
            <a:extLst>
              <a:ext uri="{FF2B5EF4-FFF2-40B4-BE49-F238E27FC236}">
                <a16:creationId xmlns:a16="http://schemas.microsoft.com/office/drawing/2014/main" id="{F78EE4B0-29AE-233C-21ED-0E96FC2DF7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9589" y="1500067"/>
            <a:ext cx="8088717" cy="2696239"/>
          </a:xfrm>
          <a:prstGeom prst="rect">
            <a:avLst/>
          </a:prstGeom>
        </p:spPr>
      </p:pic>
      <p:pic>
        <p:nvPicPr>
          <p:cNvPr id="5" name="图形 1">
            <a:extLst>
              <a:ext uri="{FF2B5EF4-FFF2-40B4-BE49-F238E27FC236}">
                <a16:creationId xmlns:a16="http://schemas.microsoft.com/office/drawing/2014/main" id="{61781F1F-5D2B-7448-F0F4-2128295082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" y="3606294"/>
            <a:ext cx="6426328" cy="32517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AB5EB12-86E3-0E4E-0C96-5679E4D12940}"/>
              </a:ext>
            </a:extLst>
          </p:cNvPr>
          <p:cNvSpPr txBox="1"/>
          <p:nvPr/>
        </p:nvSpPr>
        <p:spPr>
          <a:xfrm>
            <a:off x="1167215" y="2075335"/>
            <a:ext cx="4225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真实值和预测值为横纵坐标的散点图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87D21D-32CA-5EBC-8A87-F83208AA5CB3}"/>
              </a:ext>
            </a:extLst>
          </p:cNvPr>
          <p:cNvSpPr txBox="1"/>
          <p:nvPr/>
        </p:nvSpPr>
        <p:spPr>
          <a:xfrm>
            <a:off x="6096000" y="5357933"/>
            <a:ext cx="407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各个特征的重要性评估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--</a:t>
            </a: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系数图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459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3587</TotalTime>
  <Words>865</Words>
  <Application>Microsoft Office PowerPoint</Application>
  <PresentationFormat>宽屏</PresentationFormat>
  <Paragraphs>85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40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Cambria Math</vt:lpstr>
      <vt:lpstr>Consolas</vt:lpstr>
      <vt:lpstr>Impact</vt:lpstr>
      <vt:lpstr>Segoe UI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Star Champion</cp:lastModifiedBy>
  <cp:revision>2521</cp:revision>
  <dcterms:created xsi:type="dcterms:W3CDTF">2022-05-23T09:13:00Z</dcterms:created>
  <dcterms:modified xsi:type="dcterms:W3CDTF">2025-04-18T13:17:10Z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