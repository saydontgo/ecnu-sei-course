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25"/>
  </p:handoutMasterIdLst>
  <p:sldIdLst>
    <p:sldId id="15638" r:id="rId14"/>
    <p:sldId id="15729" r:id="rId16"/>
    <p:sldId id="15722" r:id="rId17"/>
    <p:sldId id="15730" r:id="rId18"/>
    <p:sldId id="15723" r:id="rId19"/>
    <p:sldId id="15724" r:id="rId20"/>
    <p:sldId id="15725" r:id="rId21"/>
    <p:sldId id="15726" r:id="rId22"/>
    <p:sldId id="15727" r:id="rId23"/>
    <p:sldId id="15502" r:id="rId24"/>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52"/>
        <p:guide orient="horz" pos="2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gs" Target="tags/tag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image" Target="../media/image26.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3</a:t>
            </a:r>
            <a:r>
              <a:rPr lang="en-US" altLang="zh-CN" sz="5400" b="0" dirty="0">
                <a:solidFill>
                  <a:schemeClr val="bg1"/>
                </a:solidFill>
                <a:ea typeface="华光综艺_CNKI" panose="02000500000000000000" pitchFamily="2" charset="-122"/>
              </a:rPr>
              <a:t>.3</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偏相关分析</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633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基础概念</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1052830" y="2040890"/>
            <a:ext cx="9961245" cy="1969135"/>
          </a:xfrm>
          <a:prstGeom prst="rect">
            <a:avLst/>
          </a:prstGeom>
          <a:noFill/>
        </p:spPr>
        <p:txBody>
          <a:bodyPr wrap="square" rtlCol="0" anchor="t">
            <a:noAutofit/>
          </a:bodyPr>
          <a:p>
            <a:pPr>
              <a:lnSpc>
                <a:spcPct val="120000"/>
              </a:lnSpc>
            </a:pPr>
            <a:r>
              <a:rPr lang="en-US" altLang="zh-CN"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      </a:t>
            </a:r>
            <a:r>
              <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在现实世界中，变量之间往往存在错综复杂的关系，两种变量的相关常常会受其它一种或多种因素的影响。当存在多个影响因素时，二元变量的相关分析往往会忽略其它潜在的影响因素，这使其无法真实准确地反映事物之间的相关关系。</a:t>
            </a:r>
            <a:endPar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a:lnSpc>
                <a:spcPct val="120000"/>
              </a:lnSpc>
            </a:pPr>
            <a:endPar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a:lnSpc>
                <a:spcPct val="120000"/>
              </a:lnSpc>
            </a:pPr>
            <a:r>
              <a:rPr lang="en-US" altLang="zh-CN"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       </a:t>
            </a:r>
            <a:r>
              <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在这种情况下，单纯计算简单相关系数已经不能准确地反映变量之间的相关关系。为满足多变量分析的需求，并准确反映此情况下变量之间的相关关系，</a:t>
            </a:r>
            <a:r>
              <a:rPr lang="zh-CN" altLang="en-US" sz="2400">
                <a:ln w="22225">
                  <a:solidFill>
                    <a:schemeClr val="accent2"/>
                  </a:solidFill>
                  <a:prstDash val="solid"/>
                </a:ln>
                <a:solidFill>
                  <a:schemeClr val="accent2">
                    <a:lumMod val="40000"/>
                    <a:lumOff val="60000"/>
                  </a:schemeClr>
                </a:solidFill>
                <a:effectLst/>
                <a:latin typeface="微软雅黑" panose="020B0503020204020204" pitchFamily="34" charset="-122"/>
                <a:ea typeface="微软雅黑" panose="020B0503020204020204" pitchFamily="34" charset="-122"/>
              </a:rPr>
              <a:t>偏相关分析</a:t>
            </a:r>
            <a:r>
              <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被提出。</a:t>
            </a:r>
            <a:endParaRPr lang="zh-CN" altLang="en-US" sz="24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633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基础概念</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17"/>
          <p:cNvSpPr>
            <a:spLocks noChangeArrowheads="1"/>
          </p:cNvSpPr>
          <p:nvPr/>
        </p:nvSpPr>
        <p:spPr bwMode="auto">
          <a:xfrm>
            <a:off x="487680" y="2498090"/>
            <a:ext cx="2286635" cy="502920"/>
          </a:xfrm>
          <a:prstGeom prst="rect">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609600"/>
            <a:r>
              <a:rPr lang="zh-CN" altLang="en-US" sz="2665" b="1" dirty="0">
                <a:solidFill>
                  <a:srgbClr val="FD5C0C"/>
                </a:solidFill>
                <a:effectLst>
                  <a:reflection blurRad="6350" stA="60000" endA="900" endPos="58000" dir="5400000" sy="-100000" algn="bl" rotWithShape="0"/>
                </a:effectLst>
                <a:latin typeface="Times New Roman" panose="02020603050405020304" pitchFamily="18" charset="0"/>
                <a:ea typeface="微软雅黑" panose="020B0503020204020204" pitchFamily="34" charset="-122"/>
              </a:rPr>
              <a:t>偏相关分析 </a:t>
            </a:r>
            <a:endParaRPr lang="en-US" altLang="zh-CN" sz="2665" b="1" dirty="0">
              <a:solidFill>
                <a:srgbClr val="FD5C0C"/>
              </a:solidFill>
              <a:effectLst>
                <a:reflection blurRad="6350" stA="60000" endA="900" endPos="58000" dir="5400000" sy="-100000" algn="bl" rotWithShape="0"/>
              </a:effectLst>
              <a:latin typeface="Times New Roman" panose="02020603050405020304" pitchFamily="18" charset="0"/>
              <a:ea typeface="微软雅黑" panose="020B0503020204020204" pitchFamily="34" charset="-122"/>
            </a:endParaRPr>
          </a:p>
        </p:txBody>
      </p:sp>
      <p:sp>
        <p:nvSpPr>
          <p:cNvPr id="6" name="Rectangle 17"/>
          <p:cNvSpPr>
            <a:spLocks noChangeArrowheads="1"/>
          </p:cNvSpPr>
          <p:nvPr/>
        </p:nvSpPr>
        <p:spPr bwMode="auto">
          <a:xfrm>
            <a:off x="487680" y="4328160"/>
            <a:ext cx="2286000" cy="502920"/>
          </a:xfrm>
          <a:prstGeom prst="rect">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609600"/>
            <a:r>
              <a:rPr lang="zh-CN" altLang="en-US" sz="2665" b="1" dirty="0">
                <a:solidFill>
                  <a:srgbClr val="FD5C0C"/>
                </a:solidFill>
                <a:effectLst>
                  <a:reflection blurRad="6350" stA="60000" endA="900" endPos="58000" dir="5400000" sy="-100000" algn="bl" rotWithShape="0"/>
                </a:effectLst>
                <a:latin typeface="Times New Roman" panose="02020603050405020304" pitchFamily="18" charset="0"/>
                <a:ea typeface="微软雅黑" panose="020B0503020204020204" pitchFamily="34" charset="-122"/>
              </a:rPr>
              <a:t>偏相关系数</a:t>
            </a:r>
            <a:endParaRPr lang="zh-CN" altLang="en-US" sz="2665" b="1" dirty="0">
              <a:solidFill>
                <a:srgbClr val="FD5C0C"/>
              </a:solidFill>
              <a:effectLst>
                <a:reflection blurRad="6350" stA="60000" endA="900" endPos="58000" dir="5400000" sy="-100000" algn="bl" rotWithShape="0"/>
              </a:effectLst>
              <a:latin typeface="Times New Roman" panose="02020603050405020304" pitchFamily="18" charset="0"/>
              <a:ea typeface="微软雅黑" panose="020B0503020204020204" pitchFamily="34" charset="-122"/>
            </a:endParaRPr>
          </a:p>
        </p:txBody>
      </p:sp>
      <p:sp>
        <p:nvSpPr>
          <p:cNvPr id="11" name="文本框 10"/>
          <p:cNvSpPr txBox="1"/>
          <p:nvPr/>
        </p:nvSpPr>
        <p:spPr>
          <a:xfrm>
            <a:off x="3175000" y="2434590"/>
            <a:ext cx="8123555" cy="1383665"/>
          </a:xfrm>
          <a:prstGeom prst="rect">
            <a:avLst/>
          </a:prstGeom>
          <a:noFill/>
        </p:spPr>
        <p:txBody>
          <a:bodyPr wrap="square" rtlCol="0" anchor="t">
            <a:spAutoFit/>
          </a:bodyPr>
          <a:p>
            <a:pPr marL="0" indent="306070" defTabSz="266700"/>
            <a:r>
              <a:rPr lang="zh-CN" altLang="en-US" sz="2800">
                <a:latin typeface="微软雅黑" panose="020B0503020204020204" pitchFamily="34" charset="-122"/>
                <a:ea typeface="微软雅黑" panose="020B0503020204020204" pitchFamily="34" charset="-122"/>
                <a:sym typeface="+mn-ea"/>
              </a:rPr>
              <a:t>也称净相关分析，是在剔除其他相关因素影响的条件下计算两个变量之间的相关系数，研究两个变量的相关性。</a:t>
            </a:r>
            <a:endParaRPr lang="zh-CN" altLang="en-US" sz="2800">
              <a:latin typeface="微软雅黑" panose="020B0503020204020204" pitchFamily="34" charset="-122"/>
              <a:ea typeface="微软雅黑" panose="020B0503020204020204" pitchFamily="34" charset="-122"/>
              <a:sym typeface="+mn-ea"/>
            </a:endParaRPr>
          </a:p>
        </p:txBody>
      </p:sp>
      <p:sp>
        <p:nvSpPr>
          <p:cNvPr id="12" name="文本框 11"/>
          <p:cNvSpPr txBox="1"/>
          <p:nvPr/>
        </p:nvSpPr>
        <p:spPr>
          <a:xfrm>
            <a:off x="2931160" y="4340860"/>
            <a:ext cx="8472170" cy="521970"/>
          </a:xfrm>
          <a:prstGeom prst="rect">
            <a:avLst/>
          </a:prstGeom>
          <a:noFill/>
        </p:spPr>
        <p:txBody>
          <a:bodyPr wrap="square" rtlCol="0" anchor="t">
            <a:spAutoFit/>
          </a:bodyPr>
          <a:p>
            <a:pPr marL="0" indent="306070" defTabSz="266700"/>
            <a:r>
              <a:rPr lang="zh-CN" altLang="en-US" sz="2800">
                <a:latin typeface="微软雅黑" panose="020B0503020204020204" pitchFamily="34" charset="-122"/>
                <a:ea typeface="微软雅黑" panose="020B0503020204020204" pitchFamily="34" charset="-122"/>
                <a:sym typeface="+mn-ea"/>
              </a:rPr>
              <a:t>是偏相关分析时用于度量变量间相关性的相关系数。</a:t>
            </a:r>
            <a:endParaRPr lang="zh-CN" altLang="en-US" sz="280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633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基础概念</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563880" y="2040890"/>
            <a:ext cx="11010265" cy="1969135"/>
          </a:xfrm>
          <a:prstGeom prst="rect">
            <a:avLst/>
          </a:prstGeom>
          <a:noFill/>
        </p:spPr>
        <p:txBody>
          <a:bodyPr wrap="square" rtlCol="0" anchor="t">
            <a:noAutofit/>
          </a:bodyPr>
          <a:p>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根据控制变量的个数，可以定义</a:t>
            </a:r>
            <a:r>
              <a:rPr lang="zh-CN" altLang="en-US" sz="24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各阶偏相关系数</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a:t>
            </a: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a:p>
            <a:pPr>
              <a:lnSpc>
                <a:spcPct val="60000"/>
              </a:lnSpc>
            </a:pP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a:p>
            <a:pPr marL="342900" indent="-342900">
              <a:lnSpc>
                <a:spcPct val="180000"/>
              </a:lnSpc>
              <a:buFont typeface="Wingdings" panose="05000000000000000000" charset="0"/>
              <a:buChar char="Ø"/>
            </a:pP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控制变量为零个时，偏相关系数称为</a:t>
            </a:r>
            <a:r>
              <a:rPr lang="zh-CN" altLang="en-US" sz="24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零阶偏相关系数</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，也就是两个变量之间的简单相关系数；</a:t>
            </a: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a:p>
            <a:pPr marL="342900" indent="-342900">
              <a:lnSpc>
                <a:spcPct val="180000"/>
              </a:lnSpc>
              <a:buFont typeface="Wingdings" panose="05000000000000000000" charset="0"/>
              <a:buChar char="Ø"/>
            </a:pP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控制变量为一个时，偏相关系数为</a:t>
            </a:r>
            <a:r>
              <a:rPr lang="zh-CN" altLang="en-US" sz="24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一阶偏相关系数</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a:t>
            </a: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a:p>
            <a:pPr marL="342900" indent="-342900">
              <a:lnSpc>
                <a:spcPct val="180000"/>
              </a:lnSpc>
              <a:buFont typeface="Wingdings" panose="05000000000000000000" charset="0"/>
              <a:buChar char="Ø"/>
            </a:pP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控制变量为两个时，偏相关系数为二阶相关系数，以此类推，控制变量为</a:t>
            </a:r>
            <a:r>
              <a:rPr lang="en-US" altLang="zh-CN"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n</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个时，偏相关系数为</a:t>
            </a:r>
            <a:r>
              <a:rPr lang="zh-CN" altLang="en-US" sz="24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n阶相关系数</a:t>
            </a:r>
            <a:r>
              <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a:t>
            </a:r>
            <a:endParaRPr lang="zh-CN" altLang="en-US" sz="24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48562"/>
            <a:ext cx="5414182" cy="60088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一阶偏相关系数的计算方法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260350" y="1816100"/>
            <a:ext cx="11279505" cy="2948940"/>
          </a:xfrm>
          <a:prstGeom prst="rect">
            <a:avLst/>
          </a:prstGeom>
        </p:spPr>
      </p:pic>
      <p:pic>
        <p:nvPicPr>
          <p:cNvPr id="8" name="图片 7"/>
          <p:cNvPicPr>
            <a:picLocks noChangeAspect="1"/>
          </p:cNvPicPr>
          <p:nvPr/>
        </p:nvPicPr>
        <p:blipFill>
          <a:blip r:embed="rId2"/>
          <a:stretch>
            <a:fillRect/>
          </a:stretch>
        </p:blipFill>
        <p:spPr>
          <a:xfrm>
            <a:off x="342900" y="4904740"/>
            <a:ext cx="11025505" cy="1793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48562"/>
            <a:ext cx="5414182" cy="60088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一阶偏相关系数的计算方法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8" name="图片 47"/>
          <p:cNvPicPr>
            <a:picLocks noChangeAspect="1"/>
          </p:cNvPicPr>
          <p:nvPr/>
        </p:nvPicPr>
        <p:blipFill>
          <a:blip r:embed="rId1"/>
          <a:stretch>
            <a:fillRect/>
          </a:stretch>
        </p:blipFill>
        <p:spPr>
          <a:xfrm>
            <a:off x="426720" y="2040890"/>
            <a:ext cx="11337925" cy="39617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94854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实践案例：国内主要城市年度统计指标数据偏相关分析</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166370" y="1931670"/>
            <a:ext cx="3735070" cy="4246245"/>
          </a:xfrm>
          <a:prstGeom prst="rect">
            <a:avLst/>
          </a:prstGeom>
        </p:spPr>
        <p:txBody>
          <a:bodyPr wrap="square">
            <a:spAutoFit/>
          </a:bodyPr>
          <a:p>
            <a:pPr marL="0" indent="30607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国内主要城市年度统计指标数据是指中国各大城市在特定时间范围内收集的关于经济、社会和人口等方面的数据。通过分析这些指标数据，我们可以了解各个城市的发展状况，比较城市之间的差异和相似性。</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077970" y="1931670"/>
            <a:ext cx="7809865" cy="47205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94854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实践案例：国内主要城市年度统计指标数据偏相关分析</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272415" y="1667510"/>
            <a:ext cx="5347970" cy="4707890"/>
          </a:xfrm>
          <a:prstGeom prst="rect">
            <a:avLst/>
          </a:prstGeom>
        </p:spPr>
        <p:txBody>
          <a:bodyPr wrap="square">
            <a:spAutoFit/>
          </a:bodyPr>
          <a:p>
            <a:pPr marL="342900" indent="-342900" algn="just" defTabSz="266700" fontAlgn="auto">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数据预处理</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fontAlgn="auto">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导入数据后使用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dropna</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函数来处理数据中的缺失值。</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fontAlgn="auto">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计算相关系数</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fontAlgn="auto">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.pcorr</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.corr</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函数分别计算各个指标之间的偏相关系数矩阵和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相关系数矩阵。</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fontAlgn="auto">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可视化相关系数</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fontAlgn="auto">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sns.heatmap</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函数绘制偏相关系数矩阵和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相关系数矩阵热力图。</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5937250" y="1667510"/>
            <a:ext cx="5393690" cy="50946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三、</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偏相关分析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94854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实践案例：国内主要城市年度统计指标数据偏相关分析</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3</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0" y="1602740"/>
            <a:ext cx="1830705" cy="553085"/>
          </a:xfrm>
          <a:prstGeom prst="rect">
            <a:avLst/>
          </a:prstGeom>
        </p:spPr>
        <p:txBody>
          <a:bodyPr wrap="square">
            <a:spAutoFit/>
          </a:bodyPr>
          <a:p>
            <a:pPr marL="0" indent="306070" algn="just" defTabSz="266700">
              <a:lnSpc>
                <a:spcPct val="125000"/>
              </a:lnSpc>
              <a:spcBef>
                <a:spcPct val="0"/>
              </a:spcBef>
              <a:spcAft>
                <a:spcPct val="0"/>
              </a:spcAft>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输出结果：</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09369215"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166370" y="2237105"/>
            <a:ext cx="8931910" cy="4432300"/>
          </a:xfrm>
          <a:prstGeom prst="rect">
            <a:avLst/>
          </a:prstGeom>
          <a:noFill/>
          <a:ln>
            <a:noFill/>
          </a:ln>
        </p:spPr>
      </p:pic>
      <p:sp>
        <p:nvSpPr>
          <p:cNvPr id="6" name="文本框 5"/>
          <p:cNvSpPr txBox="1"/>
          <p:nvPr/>
        </p:nvSpPr>
        <p:spPr>
          <a:xfrm>
            <a:off x="9272270" y="2366645"/>
            <a:ext cx="2730500" cy="3938270"/>
          </a:xfrm>
          <a:prstGeom prst="rect">
            <a:avLst/>
          </a:prstGeom>
        </p:spPr>
        <p:txBody>
          <a:bodyPr wrap="square">
            <a:spAutoFit/>
            <a:scene3d>
              <a:camera prst="orthographicFront"/>
              <a:lightRig rig="threePt" dir="t"/>
            </a:scene3d>
          </a:bodyPr>
          <a:p>
            <a:pPr marL="0" indent="0" algn="just" defTabSz="266700">
              <a:lnSpc>
                <a:spcPct val="125000"/>
              </a:lnSpc>
              <a:spcBef>
                <a:spcPct val="0"/>
              </a:spcBef>
              <a:spcAft>
                <a:spcPct val="0"/>
              </a:spcAft>
            </a:pP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以“国内生产总值”和“第一产业增加值”为例，二者的</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相关系数为</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0.19</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，有一定的相关关系但相关关系弱；但二者之间的偏相关系数为</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-0.99</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，即除去其他因素影响后，二者之间呈现极强的负相关性。</a:t>
            </a:r>
            <a:endPar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958</Words>
  <Application>WPS 演示</Application>
  <PresentationFormat>宽屏</PresentationFormat>
  <Paragraphs>84</Paragraphs>
  <Slides>10</Slides>
  <Notes>28</Notes>
  <HiddenSlides>0</HiddenSlides>
  <MMClips>0</MMClips>
  <ScaleCrop>false</ScaleCrop>
  <HeadingPairs>
    <vt:vector size="8" baseType="variant">
      <vt:variant>
        <vt:lpstr>已用的字体</vt:lpstr>
      </vt:variant>
      <vt:variant>
        <vt:i4>21</vt:i4>
      </vt:variant>
      <vt:variant>
        <vt:lpstr>主题</vt:lpstr>
      </vt:variant>
      <vt:variant>
        <vt:i4>12</vt:i4>
      </vt:variant>
      <vt:variant>
        <vt:lpstr>嵌入 OLE 服务器</vt:lpstr>
      </vt:variant>
      <vt:variant>
        <vt:i4>0</vt:i4>
      </vt:variant>
      <vt:variant>
        <vt:lpstr>幻灯片标题</vt:lpstr>
      </vt:variant>
      <vt:variant>
        <vt:i4>10</vt:i4>
      </vt:variant>
    </vt:vector>
  </HeadingPairs>
  <TitlesOfParts>
    <vt:vector size="43"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Wingdings</vt:lpstr>
      <vt:lpstr>Arial Unicode MS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鄧映华</cp:lastModifiedBy>
  <cp:revision>2916</cp:revision>
  <dcterms:created xsi:type="dcterms:W3CDTF">2022-05-23T09:13:00Z</dcterms:created>
  <dcterms:modified xsi:type="dcterms:W3CDTF">2025-04-17T11:30:19Z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5B6AEBAAA0A34532ADA6FF1DBCAB4E34_13</vt:lpwstr>
  </property>
  <property fmtid="{D5CDD505-2E9C-101B-9397-08002B2CF9AE}" pid="3" name="KSOProductBuildVer">
    <vt:lpwstr>2052-12.1.0.20305</vt:lpwstr>
  </property>
</Properties>
</file>