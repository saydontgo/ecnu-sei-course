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35"/>
  </p:handoutMasterIdLst>
  <p:sldIdLst>
    <p:sldId id="15638" r:id="rId14"/>
    <p:sldId id="15731" r:id="rId16"/>
    <p:sldId id="15732" r:id="rId17"/>
    <p:sldId id="15733" r:id="rId18"/>
    <p:sldId id="15734" r:id="rId19"/>
    <p:sldId id="15735" r:id="rId20"/>
    <p:sldId id="15736" r:id="rId21"/>
    <p:sldId id="15737" r:id="rId22"/>
    <p:sldId id="15738" r:id="rId23"/>
    <p:sldId id="15739" r:id="rId24"/>
    <p:sldId id="15740" r:id="rId25"/>
    <p:sldId id="15741" r:id="rId26"/>
    <p:sldId id="15742" r:id="rId27"/>
    <p:sldId id="15743" r:id="rId28"/>
    <p:sldId id="15744" r:id="rId29"/>
    <p:sldId id="15748" r:id="rId30"/>
    <p:sldId id="15745" r:id="rId31"/>
    <p:sldId id="15746" r:id="rId32"/>
    <p:sldId id="15747" r:id="rId33"/>
    <p:sldId id="15502" r:id="rId34"/>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40" userDrawn="1">
          <p15:clr>
            <a:srgbClr val="A4A3A4"/>
          </p15:clr>
        </p15:guide>
        <p15:guide id="5" orient="horz" pos="24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40"/>
        <p:guide orient="horz" pos="246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5.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7.emf"/><Relationship Id="rId2" Type="http://schemas.openxmlformats.org/officeDocument/2006/relationships/oleObject" Target="../embeddings/oleObject5.bin"/><Relationship Id="rId1" Type="http://schemas.openxmlformats.org/officeDocument/2006/relationships/image" Target="../media/image26.emf"/></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7.bin"/><Relationship Id="rId4" Type="http://schemas.openxmlformats.org/officeDocument/2006/relationships/image" Target="../media/image30.emf"/><Relationship Id="rId3" Type="http://schemas.openxmlformats.org/officeDocument/2006/relationships/image" Target="../media/image29.wmf"/><Relationship Id="rId2" Type="http://schemas.openxmlformats.org/officeDocument/2006/relationships/oleObject" Target="../embeddings/oleObject6.bin"/><Relationship Id="rId1" Type="http://schemas.openxmlformats.org/officeDocument/2006/relationships/image" Target="../media/image28.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emf"/><Relationship Id="rId1" Type="http://schemas.openxmlformats.org/officeDocument/2006/relationships/image" Target="../media/image3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6.emf"/></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image" Target="../media/image37.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0.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44.emf"/><Relationship Id="rId1" Type="http://schemas.openxmlformats.org/officeDocument/2006/relationships/image" Target="../media/image43.emf"/></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8.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2.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53.emf"/></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2.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56.emf"/><Relationship Id="rId4" Type="http://schemas.openxmlformats.org/officeDocument/2006/relationships/tags" Target="../tags/tag2.xml"/><Relationship Id="rId3" Type="http://schemas.openxmlformats.org/officeDocument/2006/relationships/image" Target="../media/image55.emf"/><Relationship Id="rId2" Type="http://schemas.openxmlformats.org/officeDocument/2006/relationships/tags" Target="../tags/tag1.xml"/><Relationship Id="rId1" Type="http://schemas.openxmlformats.org/officeDocument/2006/relationships/image" Target="../media/image54.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3</a:t>
            </a:r>
            <a:r>
              <a:rPr lang="en-US" altLang="zh-CN" sz="5400" b="0" dirty="0">
                <a:solidFill>
                  <a:schemeClr val="bg1"/>
                </a:solidFill>
                <a:ea typeface="华光综艺_CNKI" panose="02000500000000000000" pitchFamily="2" charset="-122"/>
              </a:rPr>
              <a:t>.4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距离相关分析</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8" name="图片 7"/>
          <p:cNvPicPr>
            <a:picLocks noChangeAspect="1"/>
          </p:cNvPicPr>
          <p:nvPr/>
        </p:nvPicPr>
        <p:blipFill>
          <a:blip r:embed="rId1"/>
          <a:stretch>
            <a:fillRect/>
          </a:stretch>
        </p:blipFill>
        <p:spPr>
          <a:xfrm>
            <a:off x="295910" y="2011680"/>
            <a:ext cx="11417935" cy="2834005"/>
          </a:xfrm>
          <a:prstGeom prst="rect">
            <a:avLst/>
          </a:prstGeom>
        </p:spPr>
      </p:pic>
      <p:graphicFrame>
        <p:nvGraphicFramePr>
          <p:cNvPr id="4" name="对象 -2147482245"/>
          <p:cNvGraphicFramePr/>
          <p:nvPr/>
        </p:nvGraphicFramePr>
        <p:xfrm>
          <a:off x="673735" y="3820160"/>
          <a:ext cx="3302000" cy="2742565"/>
        </p:xfrm>
        <a:graphic>
          <a:graphicData uri="http://schemas.openxmlformats.org/presentationml/2006/ole">
            <mc:AlternateContent xmlns:mc="http://schemas.openxmlformats.org/markup-compatibility/2006">
              <mc:Choice xmlns:v="urn:schemas-microsoft-com:vml" Requires="v">
                <p:oleObj spid="_x0000_s10" name="" r:id="rId2" imgW="1658620" imgH="1633855" progId="Visio.Drawing.15">
                  <p:embed/>
                </p:oleObj>
              </mc:Choice>
              <mc:Fallback>
                <p:oleObj name="" r:id="rId2" imgW="1658620" imgH="1633855" progId="Visio.Drawing.15">
                  <p:embed/>
                  <p:pic>
                    <p:nvPicPr>
                      <p:cNvPr id="0" name="图片 9"/>
                      <p:cNvPicPr/>
                      <p:nvPr/>
                    </p:nvPicPr>
                    <p:blipFill>
                      <a:blip r:embed="rId3"/>
                      <a:stretch>
                        <a:fillRect/>
                      </a:stretch>
                    </p:blipFill>
                    <p:spPr>
                      <a:xfrm>
                        <a:off x="673735" y="3820160"/>
                        <a:ext cx="3302000" cy="274256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768350" y="1805305"/>
            <a:ext cx="11423650" cy="550545"/>
          </a:xfrm>
          <a:prstGeom prst="rect">
            <a:avLst/>
          </a:prstGeom>
        </p:spPr>
      </p:pic>
      <p:graphicFrame>
        <p:nvGraphicFramePr>
          <p:cNvPr id="4" name="对象 -2147482269"/>
          <p:cNvGraphicFramePr>
            <a:graphicFrameLocks noChangeAspect="1"/>
          </p:cNvGraphicFramePr>
          <p:nvPr/>
        </p:nvGraphicFramePr>
        <p:xfrm>
          <a:off x="3408680" y="2493645"/>
          <a:ext cx="4947920" cy="584835"/>
        </p:xfrm>
        <a:graphic>
          <a:graphicData uri="http://schemas.openxmlformats.org/presentationml/2006/ole">
            <mc:AlternateContent xmlns:mc="http://schemas.openxmlformats.org/markup-compatibility/2006">
              <mc:Choice xmlns:v="urn:schemas-microsoft-com:vml" Requires="v">
                <p:oleObj spid="_x0000_s3076" name="" r:id="rId2" imgW="2324100" imgH="292100" progId="Equation.DSMT4">
                  <p:embed/>
                </p:oleObj>
              </mc:Choice>
              <mc:Fallback>
                <p:oleObj name="" r:id="rId2" imgW="2324100" imgH="292100" progId="Equation.DSMT4">
                  <p:embed/>
                  <p:pic>
                    <p:nvPicPr>
                      <p:cNvPr id="0" name="图片 3075"/>
                      <p:cNvPicPr/>
                      <p:nvPr/>
                    </p:nvPicPr>
                    <p:blipFill>
                      <a:blip r:embed="rId3"/>
                      <a:stretch>
                        <a:fillRect/>
                      </a:stretch>
                    </p:blipFill>
                    <p:spPr>
                      <a:xfrm>
                        <a:off x="3408680" y="2493645"/>
                        <a:ext cx="4947920" cy="584835"/>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4"/>
          <a:stretch>
            <a:fillRect/>
          </a:stretch>
        </p:blipFill>
        <p:spPr>
          <a:xfrm>
            <a:off x="177800" y="3348990"/>
            <a:ext cx="11214735" cy="1121410"/>
          </a:xfrm>
          <a:prstGeom prst="rect">
            <a:avLst/>
          </a:prstGeom>
        </p:spPr>
      </p:pic>
      <p:graphicFrame>
        <p:nvGraphicFramePr>
          <p:cNvPr id="6" name="对象 -2147482268"/>
          <p:cNvGraphicFramePr>
            <a:graphicFrameLocks noChangeAspect="1"/>
          </p:cNvGraphicFramePr>
          <p:nvPr/>
        </p:nvGraphicFramePr>
        <p:xfrm>
          <a:off x="3032760" y="4050665"/>
          <a:ext cx="5943600" cy="544195"/>
        </p:xfrm>
        <a:graphic>
          <a:graphicData uri="http://schemas.openxmlformats.org/presentationml/2006/ole">
            <mc:AlternateContent xmlns:mc="http://schemas.openxmlformats.org/markup-compatibility/2006">
              <mc:Choice xmlns:v="urn:schemas-microsoft-com:vml" Requires="v">
                <p:oleObj spid="_x0000_s10" name="" r:id="rId5" imgW="2997200" imgH="292100" progId="Equation.DSMT4">
                  <p:embed/>
                </p:oleObj>
              </mc:Choice>
              <mc:Fallback>
                <p:oleObj name="" r:id="rId5" imgW="2997200" imgH="292100" progId="Equation.DSMT4">
                  <p:embed/>
                  <p:pic>
                    <p:nvPicPr>
                      <p:cNvPr id="0" name="图片 9"/>
                      <p:cNvPicPr/>
                      <p:nvPr/>
                    </p:nvPicPr>
                    <p:blipFill>
                      <a:blip r:embed="rId6"/>
                      <a:stretch>
                        <a:fillRect/>
                      </a:stretch>
                    </p:blipFill>
                    <p:spPr>
                      <a:xfrm>
                        <a:off x="3032760" y="4050665"/>
                        <a:ext cx="5943600" cy="544195"/>
                      </a:xfrm>
                      <a:prstGeom prst="rect">
                        <a:avLst/>
                      </a:prstGeom>
                      <a:noFill/>
                      <a:ln w="38100">
                        <a:noFill/>
                        <a:miter/>
                      </a:ln>
                    </p:spPr>
                  </p:pic>
                </p:oleObj>
              </mc:Fallback>
            </mc:AlternateContent>
          </a:graphicData>
        </a:graphic>
      </p:graphicFrame>
      <p:sp>
        <p:nvSpPr>
          <p:cNvPr id="11" name="文本框 10"/>
          <p:cNvSpPr txBox="1"/>
          <p:nvPr/>
        </p:nvSpPr>
        <p:spPr>
          <a:xfrm>
            <a:off x="824865" y="5114925"/>
            <a:ext cx="10567670" cy="1219835"/>
          </a:xfrm>
          <a:prstGeom prst="rect">
            <a:avLst/>
          </a:prstGeom>
        </p:spPr>
        <p:txBody>
          <a:bodyPr>
            <a:noAutofit/>
          </a:bodyPr>
          <a:p>
            <a:pPr marL="0" indent="30607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欧氏距离可以用于计算数值型数据之间的相似度或差异性，常用于</a:t>
            </a:r>
            <a:r>
              <a:rPr lang="zh-CN" altLang="en-US" sz="2400">
                <a:solidFill>
                  <a:srgbClr val="FF0000"/>
                </a:solidFill>
                <a:latin typeface="微软雅黑" panose="020B0503020204020204" pitchFamily="34" charset="-122"/>
                <a:ea typeface="微软雅黑" panose="020B0503020204020204" pitchFamily="34" charset="-122"/>
              </a:rPr>
              <a:t>聚类分析、异常检测</a:t>
            </a:r>
            <a:r>
              <a:rPr lang="zh-CN" altLang="en-US" sz="2400">
                <a:latin typeface="微软雅黑" panose="020B0503020204020204" pitchFamily="34" charset="-122"/>
                <a:ea typeface="微软雅黑" panose="020B0503020204020204" pitchFamily="34" charset="-122"/>
              </a:rPr>
              <a:t>等领域。</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464185" y="2206625"/>
            <a:ext cx="11080115" cy="33775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563880" y="1882140"/>
            <a:ext cx="11097895" cy="695325"/>
          </a:xfrm>
          <a:prstGeom prst="rect">
            <a:avLst/>
          </a:prstGeom>
        </p:spPr>
      </p:pic>
      <p:pic>
        <p:nvPicPr>
          <p:cNvPr id="5" name="图片 4"/>
          <p:cNvPicPr>
            <a:picLocks noChangeAspect="1"/>
          </p:cNvPicPr>
          <p:nvPr/>
        </p:nvPicPr>
        <p:blipFill>
          <a:blip r:embed="rId2"/>
          <a:stretch>
            <a:fillRect/>
          </a:stretch>
        </p:blipFill>
        <p:spPr>
          <a:xfrm>
            <a:off x="505460" y="5496560"/>
            <a:ext cx="10997565" cy="1073150"/>
          </a:xfrm>
          <a:prstGeom prst="rect">
            <a:avLst/>
          </a:prstGeom>
        </p:spPr>
      </p:pic>
      <p:pic>
        <p:nvPicPr>
          <p:cNvPr id="1537741842" name="图片 1537741842" descr="1700577900567"/>
          <p:cNvPicPr>
            <a:picLocks noChangeAspect="1"/>
          </p:cNvPicPr>
          <p:nvPr/>
        </p:nvPicPr>
        <p:blipFill>
          <a:blip r:embed="rId3"/>
          <a:stretch>
            <a:fillRect/>
          </a:stretch>
        </p:blipFill>
        <p:spPr>
          <a:xfrm>
            <a:off x="3622040" y="2470785"/>
            <a:ext cx="3298190" cy="29197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223520" y="1864995"/>
            <a:ext cx="11741150" cy="2872105"/>
          </a:xfrm>
          <a:prstGeom prst="rect">
            <a:avLst/>
          </a:prstGeom>
        </p:spPr>
      </p:pic>
      <p:sp>
        <p:nvSpPr>
          <p:cNvPr id="5" name="文本框 4"/>
          <p:cNvSpPr txBox="1"/>
          <p:nvPr/>
        </p:nvSpPr>
        <p:spPr>
          <a:xfrm>
            <a:off x="563880" y="5099685"/>
            <a:ext cx="10810240" cy="1947545"/>
          </a:xfrm>
          <a:prstGeom prst="rect">
            <a:avLst/>
          </a:prstGeom>
        </p:spPr>
        <p:txBody>
          <a:bodyPr>
            <a:noAutofit/>
            <a:scene3d>
              <a:camera prst="orthographicFront"/>
              <a:lightRig rig="threePt" dir="t"/>
            </a:scene3d>
          </a:bodyPr>
          <a:p>
            <a:pPr marL="0" indent="0" algn="just" defTabSz="266700">
              <a:lnSpc>
                <a:spcPct val="125000"/>
              </a:lnSpc>
              <a:spcBef>
                <a:spcPct val="0"/>
              </a:spcBef>
              <a:spcAft>
                <a:spcPct val="0"/>
              </a:spcAft>
            </a:pPr>
            <a:r>
              <a:rPr lang="zh-CN" altLang="en-US" sz="2000" b="1">
                <a:gradFill>
                  <a:gsLst>
                    <a:gs pos="50000">
                      <a:schemeClr val="accent2"/>
                    </a:gs>
                    <a:gs pos="0">
                      <a:schemeClr val="accent2">
                        <a:lumMod val="25000"/>
                        <a:lumOff val="75000"/>
                      </a:schemeClr>
                    </a:gs>
                    <a:gs pos="100000">
                      <a:schemeClr val="accent2">
                        <a:lumMod val="85000"/>
                      </a:schemeClr>
                    </a:gs>
                  </a:gsLst>
                  <a:lin ang="5400000" scaled="1"/>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延伸阅读：</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曼哈顿距离，又称城市街区距离、</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L1</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范数距离或制图距离，源自纽约曼哈顿下岛部分的规整网格状街道布局。该地区的街道网络以直角相交而著称，曼哈顿距离的命名正是受到这种街道网络的启发，它模拟了这种无法直接穿越街区只能网格上行走的情形。</a:t>
            </a:r>
            <a:endPar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825500" y="1790065"/>
            <a:ext cx="11572875" cy="669290"/>
          </a:xfrm>
          <a:prstGeom prst="rect">
            <a:avLst/>
          </a:prstGeom>
        </p:spPr>
      </p:pic>
      <p:pic>
        <p:nvPicPr>
          <p:cNvPr id="21" name="图片 341"/>
          <p:cNvPicPr>
            <a:picLocks noChangeAspect="1"/>
          </p:cNvPicPr>
          <p:nvPr/>
        </p:nvPicPr>
        <p:blipFill>
          <a:blip r:embed="rId2"/>
          <a:stretch>
            <a:fillRect/>
          </a:stretch>
        </p:blipFill>
        <p:spPr>
          <a:xfrm>
            <a:off x="4038600" y="2459355"/>
            <a:ext cx="3005455" cy="2821305"/>
          </a:xfrm>
          <a:prstGeom prst="rect">
            <a:avLst/>
          </a:prstGeom>
          <a:noFill/>
          <a:ln>
            <a:noFill/>
          </a:ln>
        </p:spPr>
      </p:pic>
      <p:pic>
        <p:nvPicPr>
          <p:cNvPr id="5" name="图片 4"/>
          <p:cNvPicPr>
            <a:picLocks noChangeAspect="1"/>
          </p:cNvPicPr>
          <p:nvPr/>
        </p:nvPicPr>
        <p:blipFill>
          <a:blip r:embed="rId3"/>
          <a:stretch>
            <a:fillRect/>
          </a:stretch>
        </p:blipFill>
        <p:spPr>
          <a:xfrm>
            <a:off x="657860" y="5523230"/>
            <a:ext cx="10500995" cy="10248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442595" y="2040890"/>
            <a:ext cx="11306175" cy="4127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0" name="图片 39"/>
          <p:cNvPicPr>
            <a:picLocks noChangeAspect="1"/>
          </p:cNvPicPr>
          <p:nvPr/>
        </p:nvPicPr>
        <p:blipFill>
          <a:blip r:embed="rId1"/>
          <a:stretch>
            <a:fillRect/>
          </a:stretch>
        </p:blipFill>
        <p:spPr>
          <a:xfrm>
            <a:off x="563880" y="1802765"/>
            <a:ext cx="10923270" cy="4909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p:cNvPicPr>
            <a:picLocks noChangeAspect="1"/>
          </p:cNvPicPr>
          <p:nvPr/>
        </p:nvPicPr>
        <p:blipFill>
          <a:blip r:embed="rId1"/>
          <a:stretch>
            <a:fillRect/>
          </a:stretch>
        </p:blipFill>
        <p:spPr>
          <a:xfrm>
            <a:off x="297815" y="2040890"/>
            <a:ext cx="11596370" cy="34931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320675" y="1667510"/>
            <a:ext cx="10974070" cy="2384425"/>
          </a:xfrm>
          <a:prstGeom prst="rect">
            <a:avLst/>
          </a:prstGeom>
        </p:spPr>
      </p:pic>
      <p:sp>
        <p:nvSpPr>
          <p:cNvPr id="5" name="文本框 4"/>
          <p:cNvSpPr txBox="1"/>
          <p:nvPr/>
        </p:nvSpPr>
        <p:spPr>
          <a:xfrm>
            <a:off x="320675" y="3905250"/>
            <a:ext cx="11757025" cy="939800"/>
          </a:xfrm>
          <a:prstGeom prst="rect">
            <a:avLst/>
          </a:prstGeom>
        </p:spPr>
        <p:txBody>
          <a:bodyPr wrap="square">
            <a:spAutoFit/>
          </a:bodyPr>
          <a:p>
            <a:pPr marL="0" indent="0" algn="just" defTabSz="266700">
              <a:lnSpc>
                <a:spcPct val="115000"/>
              </a:lnSpc>
              <a:spcBef>
                <a:spcPct val="0"/>
              </a:spcBef>
              <a:spcAft>
                <a:spcPct val="0"/>
              </a:spcAft>
            </a:pPr>
            <a:r>
              <a:rPr lang="zh-CN" altLang="en-US" sz="2400">
                <a:latin typeface="微软雅黑" panose="020B0503020204020204" pitchFamily="34" charset="-122"/>
                <a:ea typeface="微软雅黑" panose="020B0503020204020204" pitchFamily="34" charset="-122"/>
              </a:rPr>
              <a:t>若协方差矩阵为</a:t>
            </a:r>
            <a:r>
              <a:rPr lang="zh-CN" altLang="en-US"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rPr>
              <a:t>单位矩阵</a:t>
            </a:r>
            <a:r>
              <a:rPr lang="zh-CN" altLang="en-US" sz="2400">
                <a:latin typeface="微软雅黑" panose="020B0503020204020204" pitchFamily="34" charset="-122"/>
                <a:ea typeface="微软雅黑" panose="020B0503020204020204" pitchFamily="34" charset="-122"/>
              </a:rPr>
              <a:t>，那么马氏距离可被简化为</a:t>
            </a:r>
            <a:r>
              <a:rPr lang="zh-CN" altLang="en-US" sz="2400">
                <a:solidFill>
                  <a:srgbClr val="FFC000"/>
                </a:solidFill>
                <a:latin typeface="微软雅黑" panose="020B0503020204020204" pitchFamily="34" charset="-122"/>
                <a:ea typeface="微软雅黑" panose="020B0503020204020204" pitchFamily="34" charset="-122"/>
              </a:rPr>
              <a:t>欧几里得距离</a:t>
            </a:r>
            <a:r>
              <a:rPr lang="zh-CN" altLang="en-US" sz="2400">
                <a:latin typeface="微软雅黑" panose="020B0503020204020204" pitchFamily="34" charset="-122"/>
                <a:ea typeface="微软雅黑" panose="020B0503020204020204" pitchFamily="34" charset="-122"/>
              </a:rPr>
              <a:t>。若协方差矩阵为</a:t>
            </a:r>
            <a:r>
              <a:rPr lang="zh-CN" altLang="en-US"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rPr>
              <a:t>对角阵</a:t>
            </a:r>
            <a:r>
              <a:rPr lang="zh-CN" altLang="en-US" sz="2400">
                <a:latin typeface="微软雅黑" panose="020B0503020204020204" pitchFamily="34" charset="-122"/>
                <a:ea typeface="微软雅黑" panose="020B0503020204020204" pitchFamily="34" charset="-122"/>
              </a:rPr>
              <a:t>，则其转换为标准化的</a:t>
            </a:r>
            <a:r>
              <a:rPr lang="zh-CN" altLang="en-US" sz="2400">
                <a:solidFill>
                  <a:srgbClr val="FFC000"/>
                </a:solidFill>
                <a:latin typeface="微软雅黑" panose="020B0503020204020204" pitchFamily="34" charset="-122"/>
                <a:ea typeface="微软雅黑" panose="020B0503020204020204" pitchFamily="34" charset="-122"/>
              </a:rPr>
              <a:t>欧几里得距离</a:t>
            </a:r>
            <a:r>
              <a:rPr lang="zh-CN" altLang="en-US"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2568575" y="4812030"/>
            <a:ext cx="7588885" cy="20758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a:blip r:embed="rId1"/>
          <a:stretch>
            <a:fillRect/>
          </a:stretch>
        </p:blipFill>
        <p:spPr>
          <a:xfrm>
            <a:off x="4072890" y="3783965"/>
            <a:ext cx="3699510" cy="1106805"/>
          </a:xfrm>
          <a:prstGeom prst="rect">
            <a:avLst/>
          </a:prstGeom>
        </p:spPr>
      </p:pic>
      <p:pic>
        <p:nvPicPr>
          <p:cNvPr id="8" name="图片 7"/>
          <p:cNvPicPr>
            <a:picLocks noChangeAspect="1"/>
          </p:cNvPicPr>
          <p:nvPr/>
        </p:nvPicPr>
        <p:blipFill>
          <a:blip r:embed="rId2"/>
          <a:stretch>
            <a:fillRect/>
          </a:stretch>
        </p:blipFill>
        <p:spPr>
          <a:xfrm>
            <a:off x="253365" y="4890770"/>
            <a:ext cx="11502390" cy="1746250"/>
          </a:xfrm>
          <a:prstGeom prst="rect">
            <a:avLst/>
          </a:prstGeom>
        </p:spPr>
      </p:pic>
      <p:pic>
        <p:nvPicPr>
          <p:cNvPr id="13" name="图片 12"/>
          <p:cNvPicPr>
            <a:picLocks noChangeAspect="1"/>
          </p:cNvPicPr>
          <p:nvPr/>
        </p:nvPicPr>
        <p:blipFill>
          <a:blip r:embed="rId3"/>
          <a:stretch>
            <a:fillRect/>
          </a:stretch>
        </p:blipFill>
        <p:spPr>
          <a:xfrm>
            <a:off x="312420" y="1812290"/>
            <a:ext cx="11567160" cy="22015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5418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距离度量方法</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294005" y="1946910"/>
            <a:ext cx="11519535" cy="1748790"/>
          </a:xfrm>
          <a:prstGeom prst="rect">
            <a:avLst/>
          </a:prstGeom>
        </p:spPr>
      </p:pic>
      <p:sp>
        <p:nvSpPr>
          <p:cNvPr id="11" name="文本框 10"/>
          <p:cNvSpPr txBox="1"/>
          <p:nvPr/>
        </p:nvSpPr>
        <p:spPr>
          <a:xfrm>
            <a:off x="365125" y="4121150"/>
            <a:ext cx="11448415" cy="193802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杰卡德相似系数的取值范围在</a:t>
            </a:r>
            <a:r>
              <a:rPr lang="en-US" altLang="zh-CN"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之间。当两个集合完全相同时，杰卡德相似系数为</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，表示两个集合完全相似。当两个集合没有共同元素时，杰卡德相似系数为</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，表示两个集合完全不相似。杰卡德相似系数常用于</a:t>
            </a:r>
            <a:r>
              <a:rPr lang="zh-CN" altLang="en-US" sz="240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文本挖掘、推荐系统、信息检索</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等领域。</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872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距离度量的应用</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图像</a:t>
            </a: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分类</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5" name="图片 552"/>
          <p:cNvPicPr>
            <a:picLocks noChangeAspect="1"/>
          </p:cNvPicPr>
          <p:nvPr/>
        </p:nvPicPr>
        <p:blipFill>
          <a:blip r:embed="rId1"/>
          <a:stretch>
            <a:fillRect/>
          </a:stretch>
        </p:blipFill>
        <p:spPr>
          <a:xfrm>
            <a:off x="3202305" y="2145665"/>
            <a:ext cx="8806815" cy="3732530"/>
          </a:xfrm>
          <a:prstGeom prst="rect">
            <a:avLst/>
          </a:prstGeom>
          <a:noFill/>
          <a:ln>
            <a:noFill/>
          </a:ln>
        </p:spPr>
      </p:pic>
      <p:sp>
        <p:nvSpPr>
          <p:cNvPr id="6" name="文本框 5"/>
          <p:cNvSpPr txBox="1"/>
          <p:nvPr/>
        </p:nvSpPr>
        <p:spPr>
          <a:xfrm>
            <a:off x="3705860" y="5878195"/>
            <a:ext cx="8090535" cy="706755"/>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rPr>
              <a:t>IEEE/CVF conference on computer vision and pattern recognition. 2020: 14493-14502.</a:t>
            </a:r>
            <a:endParaRPr lang="en-US" altLang="zh-CN" sz="2000">
              <a:latin typeface="微软雅黑" panose="020B0503020204020204" pitchFamily="34" charset="-122"/>
              <a:ea typeface="微软雅黑" panose="020B0503020204020204" pitchFamily="34" charset="-122"/>
            </a:endParaRPr>
          </a:p>
        </p:txBody>
      </p:sp>
      <p:sp>
        <p:nvSpPr>
          <p:cNvPr id="8" name="文本框 7"/>
          <p:cNvSpPr txBox="1"/>
          <p:nvPr/>
        </p:nvSpPr>
        <p:spPr>
          <a:xfrm>
            <a:off x="352425" y="2625725"/>
            <a:ext cx="2715260" cy="378460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使用</a:t>
            </a:r>
            <a:r>
              <a:rPr lang="zh-CN" altLang="en-US" sz="2400" b="1">
                <a:solidFill>
                  <a:srgbClr val="FF0000"/>
                </a:solidFill>
                <a:latin typeface="微软雅黑" panose="020B0503020204020204" pitchFamily="34" charset="-122"/>
                <a:ea typeface="微软雅黑" panose="020B0503020204020204" pitchFamily="34" charset="-122"/>
              </a:rPr>
              <a:t>马氏距离</a:t>
            </a:r>
            <a:r>
              <a:rPr lang="zh-CN" altLang="en-US" sz="2400">
                <a:latin typeface="微软雅黑" panose="020B0503020204020204" pitchFamily="34" charset="-122"/>
                <a:ea typeface="微软雅黑" panose="020B0503020204020204" pitchFamily="34" charset="-122"/>
              </a:rPr>
              <a:t>反映特征空间的协方差结构，为每个类别提供一种考虑特征相关性和数据分布的方法，使得模型的分类性能显著提高</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872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距离度量的应用</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异常检测</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6" name="文本框 5"/>
          <p:cNvSpPr txBox="1"/>
          <p:nvPr/>
        </p:nvSpPr>
        <p:spPr>
          <a:xfrm>
            <a:off x="3914775" y="6214110"/>
            <a:ext cx="8090535" cy="398780"/>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rPr>
              <a:t>Scientific reports,2024,Vol.14(1): 8150</a:t>
            </a:r>
            <a:endParaRPr lang="en-US" altLang="zh-CN" sz="2000">
              <a:latin typeface="微软雅黑" panose="020B0503020204020204" pitchFamily="34" charset="-122"/>
              <a:ea typeface="微软雅黑" panose="020B0503020204020204" pitchFamily="34" charset="-122"/>
            </a:endParaRPr>
          </a:p>
        </p:txBody>
      </p:sp>
      <p:sp>
        <p:nvSpPr>
          <p:cNvPr id="8" name="文本框 7"/>
          <p:cNvSpPr txBox="1"/>
          <p:nvPr/>
        </p:nvSpPr>
        <p:spPr>
          <a:xfrm>
            <a:off x="352425" y="2625725"/>
            <a:ext cx="3120390" cy="378460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使用</a:t>
            </a:r>
            <a:r>
              <a:rPr lang="zh-CN" altLang="en-US" sz="2400" b="1">
                <a:solidFill>
                  <a:srgbClr val="FF0000"/>
                </a:solidFill>
                <a:latin typeface="微软雅黑" panose="020B0503020204020204" pitchFamily="34" charset="-122"/>
                <a:ea typeface="微软雅黑" panose="020B0503020204020204" pitchFamily="34" charset="-122"/>
              </a:rPr>
              <a:t>余弦相似性</a:t>
            </a:r>
            <a:r>
              <a:rPr lang="zh-CN" altLang="en-US" sz="2400">
                <a:latin typeface="微软雅黑" panose="020B0503020204020204" pitchFamily="34" charset="-122"/>
                <a:ea typeface="微软雅黑" panose="020B0503020204020204" pitchFamily="34" charset="-122"/>
              </a:rPr>
              <a:t>知识蒸馏（</a:t>
            </a:r>
            <a:r>
              <a:rPr lang="en-US" altLang="zh-CN" sz="2400">
                <a:latin typeface="微软雅黑" panose="020B0503020204020204" pitchFamily="34" charset="-122"/>
                <a:ea typeface="微软雅黑" panose="020B0503020204020204" pitchFamily="34" charset="-122"/>
              </a:rPr>
              <a:t>CSKD</a:t>
            </a:r>
            <a:r>
              <a:rPr lang="zh-CN" altLang="en-US"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进行表面异常检测，其核心思想是使用余弦相似性作为知识蒸馏损失函数的核心指标，以实现精确检测和定位异常区域</a:t>
            </a:r>
            <a:endParaRPr lang="zh-CN" altLang="en-US" sz="2400">
              <a:latin typeface="微软雅黑" panose="020B0503020204020204" pitchFamily="34" charset="-122"/>
              <a:ea typeface="微软雅黑" panose="020B0503020204020204" pitchFamily="34" charset="-122"/>
            </a:endParaRPr>
          </a:p>
        </p:txBody>
      </p:sp>
      <p:pic>
        <p:nvPicPr>
          <p:cNvPr id="16" name="图片 590"/>
          <p:cNvPicPr>
            <a:picLocks noChangeAspect="1"/>
          </p:cNvPicPr>
          <p:nvPr/>
        </p:nvPicPr>
        <p:blipFill>
          <a:blip r:embed="rId1"/>
          <a:stretch>
            <a:fillRect/>
          </a:stretch>
        </p:blipFill>
        <p:spPr>
          <a:xfrm>
            <a:off x="3800475" y="1762125"/>
            <a:ext cx="7986395" cy="44513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872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距离度量的应用</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特征选择</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6" name="文本框 5"/>
          <p:cNvSpPr txBox="1"/>
          <p:nvPr/>
        </p:nvSpPr>
        <p:spPr>
          <a:xfrm>
            <a:off x="3914775" y="6214110"/>
            <a:ext cx="8090535" cy="398780"/>
          </a:xfrm>
          <a:prstGeom prst="rect">
            <a:avLst/>
          </a:prstGeom>
          <a:noFill/>
        </p:spPr>
        <p:txBody>
          <a:bodyPr wrap="square" rtlCol="0">
            <a:spAutoFit/>
          </a:bodyPr>
          <a:p>
            <a:r>
              <a:rPr lang="en-US" altLang="zh-CN" sz="2000">
                <a:latin typeface="微软雅黑" panose="020B0503020204020204" pitchFamily="34" charset="-122"/>
                <a:ea typeface="微软雅黑" panose="020B0503020204020204" pitchFamily="34" charset="-122"/>
                <a:sym typeface="+mn-ea"/>
              </a:rPr>
              <a:t>Nature communications,2024,Vol.15(1): 2765</a:t>
            </a:r>
            <a:endParaRPr lang="en-US" altLang="zh-CN" sz="2000">
              <a:latin typeface="微软雅黑" panose="020B0503020204020204" pitchFamily="34" charset="-122"/>
              <a:ea typeface="微软雅黑" panose="020B0503020204020204" pitchFamily="34" charset="-122"/>
            </a:endParaRPr>
          </a:p>
        </p:txBody>
      </p:sp>
      <p:sp>
        <p:nvSpPr>
          <p:cNvPr id="8" name="文本框 7"/>
          <p:cNvSpPr txBox="1"/>
          <p:nvPr/>
        </p:nvSpPr>
        <p:spPr>
          <a:xfrm>
            <a:off x="398145" y="2625725"/>
            <a:ext cx="3120390" cy="286131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在特征选择场景中，可以使用</a:t>
            </a:r>
            <a:r>
              <a:rPr lang="zh-CN" altLang="en-US" sz="2400" b="1">
                <a:solidFill>
                  <a:srgbClr val="FF0000"/>
                </a:solidFill>
                <a:latin typeface="微软雅黑" panose="020B0503020204020204" pitchFamily="34" charset="-122"/>
                <a:ea typeface="微软雅黑" panose="020B0503020204020204" pitchFamily="34" charset="-122"/>
              </a:rPr>
              <a:t>杰卡德系数</a:t>
            </a:r>
            <a:r>
              <a:rPr lang="zh-CN" altLang="en-US" sz="2400">
                <a:latin typeface="微软雅黑" panose="020B0503020204020204" pitchFamily="34" charset="-122"/>
                <a:ea typeface="微软雅黑" panose="020B0503020204020204" pitchFamily="34" charset="-122"/>
              </a:rPr>
              <a:t>评估特征选择方法是否保留了能准确表示细胞在生物轨迹中进展的特征。</a:t>
            </a:r>
            <a:endParaRPr lang="zh-CN" altLang="en-US" sz="2400">
              <a:latin typeface="微软雅黑" panose="020B0503020204020204" pitchFamily="34" charset="-122"/>
              <a:ea typeface="微软雅黑" panose="020B0503020204020204" pitchFamily="34" charset="-122"/>
            </a:endParaRPr>
          </a:p>
        </p:txBody>
      </p:sp>
      <p:pic>
        <p:nvPicPr>
          <p:cNvPr id="17" name="图片 579"/>
          <p:cNvPicPr>
            <a:picLocks noChangeAspect="1"/>
          </p:cNvPicPr>
          <p:nvPr/>
        </p:nvPicPr>
        <p:blipFill>
          <a:blip r:embed="rId1"/>
          <a:stretch>
            <a:fillRect/>
          </a:stretch>
        </p:blipFill>
        <p:spPr>
          <a:xfrm>
            <a:off x="3617595" y="1900555"/>
            <a:ext cx="8161655" cy="42640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523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280670" y="1667510"/>
            <a:ext cx="11405870" cy="286131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了解用户之间的相似性和差异性对个性化推荐、社交网络分析、市场细分以及其他数据驱动的任务至关重要。基于特征向量的相似度计算是衡量用户间相似性和差异性的常用方法。在该方法中，每个用户被表示为一个特征向量，其中每个特征代表一个属性或行为。</a:t>
            </a:r>
            <a:endParaRPr lang="zh-CN" altLang="en-US" sz="2400">
              <a:latin typeface="微软雅黑" panose="020B0503020204020204" pitchFamily="34" charset="-122"/>
              <a:ea typeface="微软雅黑" panose="020B0503020204020204" pitchFamily="34" charset="-122"/>
            </a:endParaRPr>
          </a:p>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以</a:t>
            </a:r>
            <a:r>
              <a:rPr lang="en-US" altLang="zh-CN" sz="2400">
                <a:latin typeface="微软雅黑" panose="020B0503020204020204" pitchFamily="34" charset="-122"/>
                <a:ea typeface="微软雅黑" panose="020B0503020204020204" pitchFamily="34" charset="-122"/>
              </a:rPr>
              <a:t>MovieLens</a:t>
            </a:r>
            <a:r>
              <a:rPr lang="zh-CN" altLang="en-US" sz="2400">
                <a:latin typeface="微软雅黑" panose="020B0503020204020204" pitchFamily="34" charset="-122"/>
                <a:ea typeface="微软雅黑" panose="020B0503020204020204" pitchFamily="34" charset="-122"/>
              </a:rPr>
              <a:t>的</a:t>
            </a:r>
            <a:r>
              <a:rPr lang="en-US" altLang="zh-CN" sz="2400">
                <a:latin typeface="微软雅黑" panose="020B0503020204020204" pitchFamily="34" charset="-122"/>
                <a:ea typeface="微软雅黑" panose="020B0503020204020204" pitchFamily="34" charset="-122"/>
              </a:rPr>
              <a:t>ml-latest-small</a:t>
            </a:r>
            <a:r>
              <a:rPr lang="zh-CN" altLang="en-US" sz="2400">
                <a:latin typeface="微软雅黑" panose="020B0503020204020204" pitchFamily="34" charset="-122"/>
                <a:ea typeface="微软雅黑" panose="020B0503020204020204" pitchFamily="34" charset="-122"/>
              </a:rPr>
              <a:t>数据集为例，该数据集包含</a:t>
            </a:r>
            <a:r>
              <a:rPr lang="en-US" altLang="zh-CN" sz="2400">
                <a:latin typeface="微软雅黑" panose="020B0503020204020204" pitchFamily="34" charset="-122"/>
                <a:ea typeface="微软雅黑" panose="020B0503020204020204" pitchFamily="34" charset="-122"/>
              </a:rPr>
              <a:t>610</a:t>
            </a:r>
            <a:r>
              <a:rPr lang="zh-CN" altLang="en-US" sz="2400">
                <a:latin typeface="微软雅黑" panose="020B0503020204020204" pitchFamily="34" charset="-122"/>
                <a:ea typeface="微软雅黑" panose="020B0503020204020204" pitchFamily="34" charset="-122"/>
              </a:rPr>
              <a:t>位用户在</a:t>
            </a:r>
            <a:r>
              <a:rPr lang="en-US" altLang="zh-CN" sz="2400">
                <a:latin typeface="微软雅黑" panose="020B0503020204020204" pitchFamily="34" charset="-122"/>
                <a:ea typeface="微软雅黑" panose="020B0503020204020204" pitchFamily="34" charset="-122"/>
              </a:rPr>
              <a:t>1996</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29</a:t>
            </a:r>
            <a:r>
              <a:rPr lang="zh-CN" altLang="en-US" sz="2400">
                <a:latin typeface="微软雅黑" panose="020B0503020204020204" pitchFamily="34" charset="-122"/>
                <a:ea typeface="微软雅黑" panose="020B0503020204020204" pitchFamily="34" charset="-122"/>
              </a:rPr>
              <a:t>日至</a:t>
            </a:r>
            <a:r>
              <a:rPr lang="en-US" altLang="zh-CN" sz="2400">
                <a:latin typeface="微软雅黑" panose="020B0503020204020204" pitchFamily="34" charset="-122"/>
                <a:ea typeface="微软雅黑" panose="020B0503020204020204" pitchFamily="34" charset="-122"/>
              </a:rPr>
              <a:t>2018</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9</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rPr>
              <a:t>日期间对</a:t>
            </a:r>
            <a:r>
              <a:rPr lang="en-US" altLang="zh-CN" sz="2400">
                <a:latin typeface="微软雅黑" panose="020B0503020204020204" pitchFamily="34" charset="-122"/>
                <a:ea typeface="微软雅黑" panose="020B0503020204020204" pitchFamily="34" charset="-122"/>
              </a:rPr>
              <a:t>9742</a:t>
            </a:r>
            <a:r>
              <a:rPr lang="zh-CN" altLang="en-US" sz="2400">
                <a:latin typeface="微软雅黑" panose="020B0503020204020204" pitchFamily="34" charset="-122"/>
                <a:ea typeface="微软雅黑" panose="020B0503020204020204" pitchFamily="34" charset="-122"/>
              </a:rPr>
              <a:t>部电影的</a:t>
            </a:r>
            <a:r>
              <a:rPr lang="en-US" altLang="zh-CN" sz="2400">
                <a:latin typeface="微软雅黑" panose="020B0503020204020204" pitchFamily="34" charset="-122"/>
                <a:ea typeface="微软雅黑" panose="020B0503020204020204" pitchFamily="34" charset="-122"/>
              </a:rPr>
              <a:t>100836</a:t>
            </a:r>
            <a:r>
              <a:rPr lang="zh-CN" altLang="en-US" sz="2400">
                <a:latin typeface="微软雅黑" panose="020B0503020204020204" pitchFamily="34" charset="-122"/>
                <a:ea typeface="微软雅黑" panose="020B0503020204020204" pitchFamily="34" charset="-122"/>
              </a:rPr>
              <a:t>个评级和</a:t>
            </a:r>
            <a:r>
              <a:rPr lang="en-US" altLang="zh-CN" sz="2400">
                <a:latin typeface="微软雅黑" panose="020B0503020204020204" pitchFamily="34" charset="-122"/>
                <a:ea typeface="微软雅黑" panose="020B0503020204020204" pitchFamily="34" charset="-122"/>
              </a:rPr>
              <a:t>3683</a:t>
            </a:r>
            <a:r>
              <a:rPr lang="zh-CN" altLang="en-US" sz="2400">
                <a:latin typeface="微软雅黑" panose="020B0503020204020204" pitchFamily="34" charset="-122"/>
                <a:ea typeface="微软雅黑" panose="020B0503020204020204" pitchFamily="34" charset="-122"/>
              </a:rPr>
              <a:t>个标签分类。</a:t>
            </a:r>
            <a:endParaRPr lang="zh-CN" altLang="en-US" sz="240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995680" y="4674870"/>
            <a:ext cx="9342120" cy="22809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523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280670" y="1667510"/>
            <a:ext cx="11405870" cy="2861310"/>
          </a:xfrm>
          <a:prstGeom prst="rect">
            <a:avLst/>
          </a:prstGeom>
        </p:spPr>
        <p:txBody>
          <a:bodyPr wrap="square">
            <a:spAutoFit/>
          </a:bodyPr>
          <a:p>
            <a:pPr marL="342900" indent="-342900" algn="just" defTabSz="266700">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数据预处理</a:t>
            </a:r>
            <a:endParaRPr lang="zh-CN" altLang="en-US" sz="2400" b="1">
              <a:solidFill>
                <a:srgbClr val="FF0000"/>
              </a:solidFill>
              <a:latin typeface="微软雅黑" panose="020B0503020204020204" pitchFamily="34" charset="-122"/>
              <a:ea typeface="微软雅黑" panose="020B0503020204020204" pitchFamily="34" charset="-122"/>
            </a:endParaRPr>
          </a:p>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rPr>
              <a:t>pivot</a:t>
            </a:r>
            <a:r>
              <a:rPr lang="zh-CN" altLang="en-US" sz="2400">
                <a:latin typeface="微软雅黑" panose="020B0503020204020204" pitchFamily="34" charset="-122"/>
                <a:ea typeface="微软雅黑" panose="020B0503020204020204" pitchFamily="34" charset="-122"/>
              </a:rPr>
              <a:t>函数将数据表格转换为以</a:t>
            </a:r>
            <a:r>
              <a:rPr lang="en-US" altLang="zh-CN" sz="2400">
                <a:latin typeface="微软雅黑" panose="020B0503020204020204" pitchFamily="34" charset="-122"/>
                <a:ea typeface="微软雅黑" panose="020B0503020204020204" pitchFamily="34" charset="-122"/>
              </a:rPr>
              <a:t>userId</a:t>
            </a:r>
            <a:r>
              <a:rPr lang="zh-CN" altLang="en-US" sz="2400">
                <a:latin typeface="微软雅黑" panose="020B0503020204020204" pitchFamily="34" charset="-122"/>
                <a:ea typeface="微软雅黑" panose="020B0503020204020204" pitchFamily="34" charset="-122"/>
              </a:rPr>
              <a:t>为行索引，</a:t>
            </a:r>
            <a:r>
              <a:rPr lang="en-US" altLang="zh-CN" sz="2400">
                <a:latin typeface="微软雅黑" panose="020B0503020204020204" pitchFamily="34" charset="-122"/>
                <a:ea typeface="微软雅黑" panose="020B0503020204020204" pitchFamily="34" charset="-122"/>
              </a:rPr>
              <a:t>movieId</a:t>
            </a:r>
            <a:r>
              <a:rPr lang="zh-CN" altLang="en-US" sz="2400">
                <a:latin typeface="微软雅黑" panose="020B0503020204020204" pitchFamily="34" charset="-122"/>
                <a:ea typeface="微软雅黑" panose="020B0503020204020204" pitchFamily="34" charset="-122"/>
              </a:rPr>
              <a:t>为列索引，</a:t>
            </a:r>
            <a:r>
              <a:rPr lang="en-US" altLang="zh-CN" sz="2400">
                <a:latin typeface="微软雅黑" panose="020B0503020204020204" pitchFamily="34" charset="-122"/>
                <a:ea typeface="微软雅黑" panose="020B0503020204020204" pitchFamily="34" charset="-122"/>
              </a:rPr>
              <a:t>rating</a:t>
            </a:r>
            <a:r>
              <a:rPr lang="zh-CN" altLang="en-US" sz="2400">
                <a:latin typeface="微软雅黑" panose="020B0503020204020204" pitchFamily="34" charset="-122"/>
                <a:ea typeface="微软雅黑" panose="020B0503020204020204" pitchFamily="34" charset="-122"/>
              </a:rPr>
              <a:t>为值的数据表格，并填充缺失值为</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计算距离相关系数</a:t>
            </a:r>
            <a:endParaRPr lang="zh-CN" altLang="en-US" sz="2400" b="1">
              <a:solidFill>
                <a:srgbClr val="FF0000"/>
              </a:solidFill>
              <a:latin typeface="微软雅黑" panose="020B0503020204020204" pitchFamily="34" charset="-122"/>
              <a:ea typeface="微软雅黑" panose="020B0503020204020204" pitchFamily="34" charset="-122"/>
            </a:endParaRPr>
          </a:p>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rPr>
              <a:t>euclidean</a:t>
            </a:r>
            <a:r>
              <a:rPr lang="zh-CN" altLang="en-US" sz="2400">
                <a:latin typeface="微软雅黑" panose="020B0503020204020204" pitchFamily="34" charset="-122"/>
                <a:ea typeface="微软雅黑" panose="020B0503020204020204" pitchFamily="34" charset="-122"/>
              </a:rPr>
              <a:t>函数和</a:t>
            </a:r>
            <a:r>
              <a:rPr lang="en-US" altLang="zh-CN" sz="2400">
                <a:latin typeface="微软雅黑" panose="020B0503020204020204" pitchFamily="34" charset="-122"/>
                <a:ea typeface="微软雅黑" panose="020B0503020204020204" pitchFamily="34" charset="-122"/>
              </a:rPr>
              <a:t>cosine</a:t>
            </a:r>
            <a:r>
              <a:rPr lang="zh-CN" altLang="en-US" sz="2400">
                <a:latin typeface="微软雅黑" panose="020B0503020204020204" pitchFamily="34" charset="-122"/>
                <a:ea typeface="微软雅黑" panose="020B0503020204020204" pitchFamily="34" charset="-122"/>
              </a:rPr>
              <a:t>函数计算各用户评分的欧氏距离和余弦相似度，使用方法如下：</a:t>
            </a: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563880" y="4947920"/>
            <a:ext cx="11207750" cy="6616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四、</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5230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r>
              <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4</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205105" y="2080895"/>
            <a:ext cx="5622290" cy="4721860"/>
          </a:xfrm>
          <a:prstGeom prst="rect">
            <a:avLst/>
          </a:prstGeom>
        </p:spPr>
      </p:pic>
      <p:sp>
        <p:nvSpPr>
          <p:cNvPr id="5" name="文本框 4"/>
          <p:cNvSpPr txBox="1"/>
          <p:nvPr/>
        </p:nvSpPr>
        <p:spPr>
          <a:xfrm>
            <a:off x="334010" y="1667510"/>
            <a:ext cx="4064000" cy="460375"/>
          </a:xfrm>
          <a:prstGeom prst="rect">
            <a:avLst/>
          </a:prstGeom>
          <a:noFill/>
        </p:spPr>
        <p:txBody>
          <a:bodyPr wrap="square" rtlCol="0">
            <a:spAutoFit/>
          </a:bodyPr>
          <a:p>
            <a:r>
              <a:rPr lang="zh-CN" altLang="en-US" sz="2400" b="1">
                <a:solidFill>
                  <a:srgbClr val="FF0000"/>
                </a:solidFill>
                <a:latin typeface="微软雅黑" panose="020B0503020204020204" pitchFamily="34" charset="-122"/>
                <a:ea typeface="微软雅黑" panose="020B0503020204020204" pitchFamily="34" charset="-122"/>
              </a:rPr>
              <a:t>完整代码和</a:t>
            </a:r>
            <a:r>
              <a:rPr lang="zh-CN" altLang="en-US" sz="2400" b="1">
                <a:solidFill>
                  <a:srgbClr val="FF0000"/>
                </a:solidFill>
                <a:latin typeface="微软雅黑" panose="020B0503020204020204" pitchFamily="34" charset="-122"/>
                <a:ea typeface="微软雅黑" panose="020B0503020204020204" pitchFamily="34" charset="-122"/>
              </a:rPr>
              <a:t>部分输出结果：</a:t>
            </a:r>
            <a:endParaRPr lang="zh-CN" altLang="en-US" sz="2400" b="1">
              <a:solidFill>
                <a:srgbClr val="FF0000"/>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custDataLst>
              <p:tags r:id="rId2"/>
            </p:custDataLst>
          </p:nvPr>
        </p:nvPicPr>
        <p:blipFill>
          <a:blip r:embed="rId3"/>
          <a:stretch>
            <a:fillRect/>
          </a:stretch>
        </p:blipFill>
        <p:spPr>
          <a:xfrm>
            <a:off x="5949315" y="1667510"/>
            <a:ext cx="5863590" cy="1783080"/>
          </a:xfrm>
          <a:prstGeom prst="rect">
            <a:avLst/>
          </a:prstGeom>
        </p:spPr>
      </p:pic>
      <p:pic>
        <p:nvPicPr>
          <p:cNvPr id="11" name="图片 10"/>
          <p:cNvPicPr>
            <a:picLocks noChangeAspect="1"/>
          </p:cNvPicPr>
          <p:nvPr>
            <p:custDataLst>
              <p:tags r:id="rId4"/>
            </p:custDataLst>
          </p:nvPr>
        </p:nvPicPr>
        <p:blipFill>
          <a:blip r:embed="rId5"/>
          <a:stretch>
            <a:fillRect/>
          </a:stretch>
        </p:blipFill>
        <p:spPr>
          <a:xfrm>
            <a:off x="5949315" y="3754755"/>
            <a:ext cx="5873115" cy="1781810"/>
          </a:xfrm>
          <a:prstGeom prst="rect">
            <a:avLst/>
          </a:prstGeom>
        </p:spPr>
      </p:pic>
      <p:sp>
        <p:nvSpPr>
          <p:cNvPr id="12" name="文本框 11"/>
          <p:cNvSpPr txBox="1"/>
          <p:nvPr>
            <p:custDataLst>
              <p:tags r:id="rId6"/>
            </p:custDataLst>
          </p:nvPr>
        </p:nvSpPr>
        <p:spPr>
          <a:xfrm>
            <a:off x="6960870" y="1174115"/>
            <a:ext cx="2969895" cy="368300"/>
          </a:xfrm>
          <a:prstGeom prst="rect">
            <a:avLst/>
          </a:prstGeom>
          <a:solidFill>
            <a:schemeClr val="bg2"/>
          </a:solidFill>
        </p:spPr>
        <p:txBody>
          <a:bodyPr wrap="square" rtlCol="0">
            <a:spAutoFit/>
          </a:bodyPr>
          <a:lstStyle>
            <a:defPPr>
              <a:defRPr lang="en-US"/>
            </a:defPPr>
            <a:lvl1pPr>
              <a:defRPr b="1">
                <a:solidFill>
                  <a:srgbClr val="C0504D"/>
                </a:solidFill>
                <a:latin typeface="+mn-ea"/>
              </a:defRPr>
            </a:lvl1pPr>
          </a:lstStyle>
          <a:p>
            <a:pPr lvl="0" algn="l">
              <a:buClrTx/>
              <a:buSzTx/>
              <a:buFontTx/>
            </a:pPr>
            <a:r>
              <a:rPr lang="zh-CN" altLang="zh-CN" dirty="0">
                <a:sym typeface="+mn-ea"/>
              </a:rPr>
              <a:t>欧氏距离计算结果（部分</a:t>
            </a:r>
            <a:r>
              <a:rPr lang="zh-CN" altLang="zh-CN" dirty="0">
                <a:sym typeface="+mn-ea"/>
              </a:rPr>
              <a:t>）</a:t>
            </a:r>
            <a:endParaRPr lang="zh-CN" altLang="zh-CN" dirty="0">
              <a:sym typeface="+mn-ea"/>
            </a:endParaRPr>
          </a:p>
        </p:txBody>
      </p:sp>
      <p:sp>
        <p:nvSpPr>
          <p:cNvPr id="13" name="文本框 12"/>
          <p:cNvSpPr txBox="1"/>
          <p:nvPr>
            <p:custDataLst>
              <p:tags r:id="rId7"/>
            </p:custDataLst>
          </p:nvPr>
        </p:nvSpPr>
        <p:spPr>
          <a:xfrm>
            <a:off x="6929120" y="3315970"/>
            <a:ext cx="3081655" cy="368300"/>
          </a:xfrm>
          <a:prstGeom prst="rect">
            <a:avLst/>
          </a:prstGeom>
          <a:solidFill>
            <a:schemeClr val="bg2"/>
          </a:solidFill>
        </p:spPr>
        <p:txBody>
          <a:bodyPr wrap="square" rtlCol="0">
            <a:spAutoFit/>
          </a:bodyPr>
          <a:lstStyle>
            <a:defPPr>
              <a:defRPr lang="en-US"/>
            </a:defPPr>
            <a:lvl1pPr>
              <a:defRPr b="1">
                <a:solidFill>
                  <a:srgbClr val="C0504D"/>
                </a:solidFill>
                <a:latin typeface="+mn-ea"/>
              </a:defRPr>
            </a:lvl1pPr>
          </a:lstStyle>
          <a:p>
            <a:pPr lvl="0" algn="l">
              <a:buClrTx/>
              <a:buSzTx/>
              <a:buFontTx/>
            </a:pPr>
            <a:r>
              <a:rPr lang="zh-CN" altLang="zh-CN" dirty="0">
                <a:sym typeface="+mn-ea"/>
              </a:rPr>
              <a:t>余弦相似度计算结果（部分</a:t>
            </a:r>
            <a:r>
              <a:rPr lang="zh-CN" altLang="zh-CN" dirty="0">
                <a:sym typeface="+mn-ea"/>
              </a:rPr>
              <a:t>）</a:t>
            </a:r>
            <a:endParaRPr lang="zh-CN" altLang="zh-CN" dirty="0">
              <a:sym typeface="+mn-ea"/>
            </a:endParaRPr>
          </a:p>
        </p:txBody>
      </p:sp>
      <p:sp>
        <p:nvSpPr>
          <p:cNvPr id="14" name="文本框 13"/>
          <p:cNvSpPr txBox="1"/>
          <p:nvPr/>
        </p:nvSpPr>
        <p:spPr>
          <a:xfrm>
            <a:off x="6252845" y="5607050"/>
            <a:ext cx="4996180" cy="1014730"/>
          </a:xfrm>
          <a:prstGeom prst="rect">
            <a:avLst/>
          </a:prstGeom>
          <a:noFill/>
        </p:spPr>
        <p:txBody>
          <a:bodyPr wrap="square" rtlCol="0">
            <a:spAutoFit/>
            <a:scene3d>
              <a:camera prst="orthographicFront"/>
              <a:lightRig rig="threePt" dir="t"/>
            </a:scene3d>
          </a:bodyPr>
          <a:p>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欧氏距离通过数值大小反映了向量之间的差异程度，而余弦相似度则揭示了向量的方向和相似性。</a:t>
            </a:r>
            <a:endPar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343.5,&quot;left&quot;:468.45,&quot;top&quot;:92.45,&quot;width&quot;:462.45}"/>
</p:tagLst>
</file>

<file path=ppt/tags/tag2.xml><?xml version="1.0" encoding="utf-8"?>
<p:tagLst xmlns:p="http://schemas.openxmlformats.org/presentationml/2006/main">
  <p:tag name="KSO_WM_DIAGRAM_VIRTUALLY_FRAME" val="{&quot;height&quot;:343.5,&quot;left&quot;:468.45,&quot;top&quot;:92.45,&quot;width&quot;:462.45}"/>
</p:tagLst>
</file>

<file path=ppt/tags/tag3.xml><?xml version="1.0" encoding="utf-8"?>
<p:tagLst xmlns:p="http://schemas.openxmlformats.org/presentationml/2006/main">
  <p:tag name="KSO_WM_DIAGRAM_VIRTUALLY_FRAME" val="{&quot;height&quot;:343.5,&quot;left&quot;:468.45,&quot;top&quot;:92.45,&quot;width&quot;:462.45}"/>
</p:tagLst>
</file>

<file path=ppt/tags/tag4.xml><?xml version="1.0" encoding="utf-8"?>
<p:tagLst xmlns:p="http://schemas.openxmlformats.org/presentationml/2006/main">
  <p:tag name="KSO_WM_DIAGRAM_VIRTUALLY_FRAME" val="{&quot;height&quot;:343.5,&quot;left&quot;:468.45,&quot;top&quot;:92.45,&quot;width&quot;:462.45}"/>
</p:tagLst>
</file>

<file path=ppt/tags/tag5.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1499</Words>
  <Application>WPS 演示</Application>
  <PresentationFormat>宽屏</PresentationFormat>
  <Paragraphs>155</Paragraphs>
  <Slides>20</Slides>
  <Notes>28</Notes>
  <HiddenSlides>0</HiddenSlides>
  <MMClips>0</MMClips>
  <ScaleCrop>false</ScaleCrop>
  <HeadingPairs>
    <vt:vector size="8" baseType="variant">
      <vt:variant>
        <vt:lpstr>已用的字体</vt:lpstr>
      </vt:variant>
      <vt:variant>
        <vt:i4>20</vt:i4>
      </vt:variant>
      <vt:variant>
        <vt:lpstr>主题</vt:lpstr>
      </vt:variant>
      <vt:variant>
        <vt:i4>12</vt:i4>
      </vt:variant>
      <vt:variant>
        <vt:lpstr>嵌入 OLE 服务器</vt:lpstr>
      </vt:variant>
      <vt:variant>
        <vt:i4>3</vt:i4>
      </vt:variant>
      <vt:variant>
        <vt:lpstr>幻灯片标题</vt:lpstr>
      </vt:variant>
      <vt:variant>
        <vt:i4>20</vt:i4>
      </vt:variant>
    </vt:vector>
  </HeadingPairs>
  <TitlesOfParts>
    <vt:vector size="55"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Arial Unicode MS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Visio.Drawing.15</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鄧映华</cp:lastModifiedBy>
  <cp:revision>2917</cp:revision>
  <dcterms:created xsi:type="dcterms:W3CDTF">2022-05-23T09:13:00Z</dcterms:created>
  <dcterms:modified xsi:type="dcterms:W3CDTF">2025-04-17T11:30:06Z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DC0913B2B457450F9A383D1B493D7DEA_13</vt:lpwstr>
  </property>
  <property fmtid="{D5CDD505-2E9C-101B-9397-08002B2CF9AE}" pid="3" name="KSOProductBuildVer">
    <vt:lpwstr>2052-12.1.0.20305</vt:lpwstr>
  </property>
</Properties>
</file>