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8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5"/>
  </p:notesMasterIdLst>
  <p:handoutMasterIdLst>
    <p:handoutMasterId r:id="rId26"/>
  </p:handoutMasterIdLst>
  <p:sldIdLst>
    <p:sldId id="15637" r:id="rId13"/>
    <p:sldId id="15731" r:id="rId14"/>
    <p:sldId id="15732" r:id="rId15"/>
    <p:sldId id="15733" r:id="rId16"/>
    <p:sldId id="15734" r:id="rId17"/>
    <p:sldId id="15735" r:id="rId18"/>
    <p:sldId id="15736" r:id="rId19"/>
    <p:sldId id="15737" r:id="rId20"/>
    <p:sldId id="15762" r:id="rId21"/>
    <p:sldId id="15739" r:id="rId22"/>
    <p:sldId id="15741" r:id="rId23"/>
    <p:sldId id="15502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637"/>
            <p14:sldId id="15731"/>
            <p14:sldId id="15732"/>
            <p14:sldId id="15733"/>
            <p14:sldId id="15734"/>
            <p14:sldId id="15735"/>
            <p14:sldId id="15736"/>
            <p14:sldId id="15737"/>
            <p14:sldId id="15762"/>
            <p14:sldId id="15739"/>
            <p14:sldId id="15741"/>
            <p14:sldId id="15502"/>
          </p14:sldIdLst>
        </p14:section>
        <p14:section name="第三节" id="{D73DEBA0-8DA1-425E-BF8D-3499E83F0652}">
          <p14:sldIdLst/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5AD"/>
    <a:srgbClr val="000080"/>
    <a:srgbClr val="FBE4D5"/>
    <a:srgbClr val="008ED7"/>
    <a:srgbClr val="D13400"/>
    <a:srgbClr val="0444AE"/>
    <a:srgbClr val="0347AF"/>
    <a:srgbClr val="0146AE"/>
    <a:srgbClr val="FF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97" autoAdjust="0"/>
    <p:restoredTop sz="86966" autoAdjust="0"/>
  </p:normalViewPr>
  <p:slideViewPr>
    <p:cSldViewPr snapToGrid="0">
      <p:cViewPr varScale="1">
        <p:scale>
          <a:sx n="88" d="100"/>
          <a:sy n="88" d="100"/>
        </p:scale>
        <p:origin x="96" y="184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56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C933-722F-5405-9A75-551890A2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DF2F5B-423E-9050-EDA3-9A9D001CF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38D0B0-046E-5474-9E81-3A9B9B0F7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A6F10A-9A07-FD01-7504-1448E4236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798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45F5-AA50-30FF-755B-B554BC6D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B44E9D-A15D-75D1-BAAF-0E9FC8101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079CE6-C0B1-F0E3-FD85-E6636BFBE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E61E2-F07C-43C0-3542-752CE274A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557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E9C9-6520-7CE7-2DB3-B5C7D187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3BD19C-0ED6-1066-B91B-C61475722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990132-CFB0-7DC4-88EC-ADDC187CF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0E589D-E6C0-E4C9-1797-EBCB6F2C4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796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E0B2-771F-F430-6ADD-6E6375D73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B409BD-7831-218B-3EA6-A53D98186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F486B-EE2B-D2EE-A7B9-A8F54E4B0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7D8A8-BD66-0254-9BF2-AF0AD291A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370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41FE4-F46F-AE06-B908-5C05BDCF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022295-58B4-5A6D-D4FD-2F410986C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DB35CF-B572-A8D2-06F8-D632817EF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4E0D05-6E2D-4B6B-F92C-09F84D7DE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217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8C47-7F79-D82D-4DD5-A9BAFC75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B02403-020A-C5E1-9C02-B1FD20BE7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93F33-29A0-7904-DABD-2E4AC8024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73D63D-7274-156C-BFA4-3EAE56D91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87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07E3-F410-FD46-BFE3-B8FFF300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B819A7-DB94-E044-2CF3-20C5A355C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47673C-50EF-4E7C-69A5-02E480422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64DFEA-8A4F-3F41-7F5E-4E3C630EF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45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46E8-0124-E8AD-3E91-E1D3A134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67E3B9-D53B-ED72-E6C5-D64F3BAAF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30465E-E919-6244-D67F-27705BF2C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F1F3F2-AB77-775B-6EC0-121138454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635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D08AA-99D2-3D07-562A-C156A1BD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428261-DAF5-EAD8-E18F-81F21A090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D55521-FBE0-5EED-5DE7-668D1F9B4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51079C-74D7-AA7B-A3EE-9F2364BEB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956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3BA4-E1F6-D038-5B05-6E081A235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EA531B-AFC2-D8A5-EA0A-99C90B415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9678F8-1788-6784-04E0-5D160AAC5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CFC53D-1417-0E95-E1A7-806A392BA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059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39.emf"/><Relationship Id="rId3" Type="http://schemas.openxmlformats.org/officeDocument/2006/relationships/image" Target="../media/image31.png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8.wmf"/><Relationship Id="rId20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32.svg"/><Relationship Id="rId9" Type="http://schemas.openxmlformats.org/officeDocument/2006/relationships/oleObject" Target="../embeddings/oleObject7.bin"/><Relationship Id="rId14" Type="http://schemas.openxmlformats.org/officeDocument/2006/relationships/image" Target="../media/image37.emf"/><Relationship Id="rId22" Type="http://schemas.openxmlformats.org/officeDocument/2006/relationships/image" Target="../media/image4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42.png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4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46.emf"/><Relationship Id="rId4" Type="http://schemas.openxmlformats.org/officeDocument/2006/relationships/image" Target="../media/image43.svg"/><Relationship Id="rId9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8.png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5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emf"/><Relationship Id="rId11" Type="http://schemas.openxmlformats.org/officeDocument/2006/relationships/image" Target="../media/image55.png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54.e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7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7936-491E-1004-4181-FFFEA5CE148E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6.5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H-mine</a:t>
            </a:r>
            <a:r>
              <a:rPr lang="zh-CN" altLang="en-US" b="0" dirty="0">
                <a:ea typeface="华光综艺_CNKI" panose="02000500000000000000" pitchFamily="2" charset="-122"/>
              </a:rPr>
              <a:t>算法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8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DA1D-33C4-71D9-7356-C4BA0433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F35E1082-E7AF-D4DF-AF9A-3DD210236C8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0F7855-68EA-E8F7-B928-2FF6954803DF}"/>
              </a:ext>
            </a:extLst>
          </p:cNvPr>
          <p:cNvSpPr txBox="1"/>
          <p:nvPr/>
        </p:nvSpPr>
        <p:spPr>
          <a:xfrm>
            <a:off x="4642952" y="1451758"/>
            <a:ext cx="7154632" cy="468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H-mine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算法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使用超链接数据结构</a:t>
            </a:r>
            <a:r>
              <a:rPr kumimoji="1" lang="en-US" altLang="zh-CN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——H-struct</a:t>
            </a: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来挖掘频繁项集。</a:t>
            </a:r>
            <a:endParaRPr kumimoji="1" lang="en-US" altLang="zh-CN" sz="2000" kern="0" dirty="0" bmk="_Hlk149491827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H-struct</a:t>
            </a:r>
            <a:endParaRPr lang="zh-CN" altLang="en-US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项头表（</a:t>
            </a:r>
            <a:r>
              <a:rPr kumimoji="1" lang="en-US" altLang="zh-CN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Header table</a:t>
            </a: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）：项头表列出数据集中所有频繁项，以及它们的支持度计数，并存储指向该频繁项在</a:t>
            </a:r>
            <a:r>
              <a:rPr kumimoji="1" lang="en-US" altLang="zh-CN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H-struct</a:t>
            </a: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中第一个节点的超链接。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频繁项投影（</a:t>
            </a:r>
            <a:r>
              <a:rPr kumimoji="1" lang="en-US" altLang="zh-CN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Frequent-item projections of transaction</a:t>
            </a: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）：由一系列频繁项组成，对应数据集中的一条事务，由事务剔除非频繁项得到。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超链接（</a:t>
            </a:r>
            <a:r>
              <a:rPr kumimoji="1" lang="en-US" altLang="zh-CN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Hyper-link</a:t>
            </a:r>
            <a:r>
              <a:rPr kumimoji="1" lang="zh-CN" altLang="en-US" sz="2000" kern="0" dirty="0" bmk="_Hlk149491827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）：用于链接首项相同的频繁项投影使其形成队列，项头表中的对应项作为队列头。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8280B35-D50C-C992-EB6A-146AD943D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2" y="1408142"/>
            <a:ext cx="4672836" cy="456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2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87DB-785D-6D8F-B61E-07B0B719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3EBEACD-2EA4-F7DB-970C-A3AB52C714DA}"/>
              </a:ext>
            </a:extLst>
          </p:cNvPr>
          <p:cNvSpPr txBox="1"/>
          <p:nvPr/>
        </p:nvSpPr>
        <p:spPr>
          <a:xfrm>
            <a:off x="398523" y="1631844"/>
            <a:ext cx="5024377" cy="4381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如果要找出包含项集 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的频繁项集，仅需扫描所有包含 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的频繁项集投影（         ）。</a:t>
            </a:r>
            <a:endParaRPr kumimoji="1" lang="en-US" altLang="zh-CN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H-mine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算法中使用超链接将         链接成 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队列，通过超链接快速遍历队列。</a:t>
            </a:r>
            <a:endParaRPr lang="en-US" altLang="zh-CN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0" lvl="1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H-mine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采用递归的思想，在挖掘出频繁项集 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后，使用 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队列作为数据集，重新构建项头表和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H-struct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，利用超链接遍历 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队列对项的支持度进行计数，并将频繁项 </a:t>
            </a:r>
            <a:r>
              <a:rPr kumimoji="1" lang="en-US" altLang="zh-CN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组合成新的频繁项集。</a:t>
            </a:r>
            <a:endParaRPr kumimoji="1" lang="en-US" altLang="zh-CN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H-mine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算法在挖掘过程中动态地创建和调整超链接，从而构建频繁项集的对应队列，而不创建新的频繁项集投影。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495C183-6A5B-4AB3-43C3-853925130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215000"/>
              </p:ext>
            </p:extLst>
          </p:nvPr>
        </p:nvGraphicFramePr>
        <p:xfrm>
          <a:off x="3432739" y="2059764"/>
          <a:ext cx="529488" cy="33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1754" imgH="228576" progId="Equation.DSMT4">
                  <p:embed/>
                </p:oleObj>
              </mc:Choice>
              <mc:Fallback>
                <p:oleObj name="Equation" r:id="rId3" imgW="361754" imgH="2285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2739" y="2059764"/>
                        <a:ext cx="529488" cy="334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9437F27-1661-170A-874F-E59325C61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696958"/>
              </p:ext>
            </p:extLst>
          </p:nvPr>
        </p:nvGraphicFramePr>
        <p:xfrm>
          <a:off x="3402820" y="2437803"/>
          <a:ext cx="529488" cy="33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4404" imgH="375133" progId="Equation.DSMT4">
                  <p:embed/>
                </p:oleObj>
              </mc:Choice>
              <mc:Fallback>
                <p:oleObj name="Equation" r:id="rId5" imgW="594404" imgH="3751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02820" y="2437803"/>
                        <a:ext cx="529488" cy="334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8452AA5-70C6-85CB-62D0-0CE2DC8A1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624029"/>
              </p:ext>
            </p:extLst>
          </p:nvPr>
        </p:nvGraphicFramePr>
        <p:xfrm>
          <a:off x="10175344" y="3752898"/>
          <a:ext cx="1618133" cy="2486025"/>
        </p:xfrm>
        <a:graphic>
          <a:graphicData uri="http://schemas.openxmlformats.org/drawingml/2006/table">
            <a:tbl>
              <a:tblPr firstRow="1" firstCol="1" bandRow="1"/>
              <a:tblGrid>
                <a:gridCol w="502863">
                  <a:extLst>
                    <a:ext uri="{9D8B030D-6E8A-4147-A177-3AD203B41FA5}">
                      <a16:colId xmlns:a16="http://schemas.microsoft.com/office/drawing/2014/main" val="3390425978"/>
                    </a:ext>
                  </a:extLst>
                </a:gridCol>
                <a:gridCol w="1115270">
                  <a:extLst>
                    <a:ext uri="{9D8B030D-6E8A-4147-A177-3AD203B41FA5}">
                      <a16:colId xmlns:a16="http://schemas.microsoft.com/office/drawing/2014/main" val="2434860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b="1" i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16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事务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2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5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6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52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2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83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14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7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79241"/>
                  </a:ext>
                </a:extLst>
              </a:tr>
            </a:tbl>
          </a:graphicData>
        </a:graphic>
      </p:graphicFrame>
      <p:pic>
        <p:nvPicPr>
          <p:cNvPr id="11" name="图形 10">
            <a:extLst>
              <a:ext uri="{FF2B5EF4-FFF2-40B4-BE49-F238E27FC236}">
                <a16:creationId xmlns:a16="http://schemas.microsoft.com/office/drawing/2014/main" id="{6388B4AA-2212-3392-6930-8DE4D4EF26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0216" y="1339510"/>
            <a:ext cx="6433261" cy="4966379"/>
          </a:xfrm>
          <a:prstGeom prst="rect">
            <a:avLst/>
          </a:prstGeom>
        </p:spPr>
      </p:pic>
      <p:sp>
        <p:nvSpPr>
          <p:cNvPr id="12" name="矩形 26">
            <a:extLst>
              <a:ext uri="{FF2B5EF4-FFF2-40B4-BE49-F238E27FC236}">
                <a16:creationId xmlns:a16="http://schemas.microsoft.com/office/drawing/2014/main" id="{22FAB743-0E8B-B76F-0714-A9D09CF170E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9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EE1D0-E2DA-3AF3-ECC5-58B18A14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8FF0C43-35DD-1B6A-97A5-5E0BD444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3" r="3591" b="4099"/>
          <a:stretch/>
        </p:blipFill>
        <p:spPr>
          <a:xfrm>
            <a:off x="1460726" y="1061481"/>
            <a:ext cx="8307387" cy="5482231"/>
          </a:xfrm>
          <a:prstGeom prst="rect">
            <a:avLst/>
          </a:prstGeom>
        </p:spPr>
      </p:pic>
      <p:sp>
        <p:nvSpPr>
          <p:cNvPr id="4" name="矩形 26">
            <a:extLst>
              <a:ext uri="{FF2B5EF4-FFF2-40B4-BE49-F238E27FC236}">
                <a16:creationId xmlns:a16="http://schemas.microsoft.com/office/drawing/2014/main" id="{C91675F9-8465-D822-D032-8DEF23B6BD9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441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43D10-7FF4-48F0-892C-E0710974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545A75B2-83DF-C104-F0DC-63E00EBD84FF}"/>
              </a:ext>
            </a:extLst>
          </p:cNvPr>
          <p:cNvSpPr/>
          <p:nvPr/>
        </p:nvSpPr>
        <p:spPr>
          <a:xfrm>
            <a:off x="166154" y="1399799"/>
            <a:ext cx="54599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示例：挖掘所有包含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的频繁项集</a:t>
            </a:r>
          </a:p>
        </p:txBody>
      </p:sp>
      <p:pic>
        <p:nvPicPr>
          <p:cNvPr id="4" name="图形 2">
            <a:extLst>
              <a:ext uri="{FF2B5EF4-FFF2-40B4-BE49-F238E27FC236}">
                <a16:creationId xmlns:a16="http://schemas.microsoft.com/office/drawing/2014/main" id="{0D09B608-F892-2B42-6057-BC2ACD8E9F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0995" y="2506578"/>
            <a:ext cx="5879687" cy="39237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6DA1520-5D97-CC4B-ECA1-DF8AB52BA382}"/>
              </a:ext>
            </a:extLst>
          </p:cNvPr>
          <p:cNvSpPr txBox="1"/>
          <p:nvPr/>
        </p:nvSpPr>
        <p:spPr>
          <a:xfrm>
            <a:off x="546100" y="2634717"/>
            <a:ext cx="4356100" cy="75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扫描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队列，对各项进行支持度计数，将频繁项与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组合成频繁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项集。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4CDB7D3-F536-9731-720D-5346D2D33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023935"/>
              </p:ext>
            </p:extLst>
          </p:nvPr>
        </p:nvGraphicFramePr>
        <p:xfrm>
          <a:off x="7637726" y="1774208"/>
          <a:ext cx="29681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9449" imgH="203112" progId="Equation.DSMT4">
                  <p:embed/>
                </p:oleObj>
              </mc:Choice>
              <mc:Fallback>
                <p:oleObj name="Equation" r:id="rId5" imgW="1269449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726" y="1774208"/>
                        <a:ext cx="2968113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D33D5B1-CCE5-CE28-8BCD-6C9B899988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565426"/>
              </p:ext>
            </p:extLst>
          </p:nvPr>
        </p:nvGraphicFramePr>
        <p:xfrm>
          <a:off x="2872248" y="3430000"/>
          <a:ext cx="571888" cy="30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0880" imgH="203040" progId="Equation.DSMT4">
                  <p:embed/>
                </p:oleObj>
              </mc:Choice>
              <mc:Fallback>
                <p:oleObj name="Equation" r:id="rId7" imgW="38088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248" y="3430000"/>
                        <a:ext cx="571888" cy="3050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A79DE61-485E-81BC-38E1-36C9A7288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457772"/>
              </p:ext>
            </p:extLst>
          </p:nvPr>
        </p:nvGraphicFramePr>
        <p:xfrm>
          <a:off x="3530579" y="3436921"/>
          <a:ext cx="488488" cy="293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7160" imgH="203040" progId="Equation.DSMT4">
                  <p:embed/>
                </p:oleObj>
              </mc:Choice>
              <mc:Fallback>
                <p:oleObj name="Equation" r:id="rId9" imgW="31716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579" y="3436921"/>
                        <a:ext cx="488488" cy="2930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9918DB8-73B6-6619-570B-B60628B061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456750"/>
              </p:ext>
            </p:extLst>
          </p:nvPr>
        </p:nvGraphicFramePr>
        <p:xfrm>
          <a:off x="4106360" y="3430000"/>
          <a:ext cx="543293" cy="30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5292" imgH="203024" progId="Equation.DSMT4">
                  <p:embed/>
                </p:oleObj>
              </mc:Choice>
              <mc:Fallback>
                <p:oleObj name="Equation" r:id="rId11" imgW="355292" imgH="2030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360" y="3430000"/>
                        <a:ext cx="543293" cy="3050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EB9C033-D667-B5EC-D9B5-B9D6EA180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707950"/>
              </p:ext>
            </p:extLst>
          </p:nvPr>
        </p:nvGraphicFramePr>
        <p:xfrm>
          <a:off x="2859548" y="3812083"/>
          <a:ext cx="648833" cy="316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09628" imgH="200139" progId="Equation.DSMT4">
                  <p:embed/>
                </p:oleObj>
              </mc:Choice>
              <mc:Fallback>
                <p:oleObj name="Equation" r:id="rId13" imgW="409628" imgH="2001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59548" y="3812083"/>
                        <a:ext cx="648833" cy="316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D1C1AD6-0F71-EE86-AC60-720A4C25C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9699"/>
              </p:ext>
            </p:extLst>
          </p:nvPr>
        </p:nvGraphicFramePr>
        <p:xfrm>
          <a:off x="3597116" y="3809161"/>
          <a:ext cx="643801" cy="321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6048" imgH="203024" progId="Equation.DSMT4">
                  <p:embed/>
                </p:oleObj>
              </mc:Choice>
              <mc:Fallback>
                <p:oleObj name="Equation" r:id="rId15" imgW="406048" imgH="20302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116" y="3809161"/>
                        <a:ext cx="643801" cy="3219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C35B29F-77F6-4902-C43A-33D028491C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155803"/>
              </p:ext>
            </p:extLst>
          </p:nvPr>
        </p:nvGraphicFramePr>
        <p:xfrm>
          <a:off x="4329188" y="3812083"/>
          <a:ext cx="679010" cy="316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28706" imgH="200139" progId="Equation.DSMT4">
                  <p:embed/>
                </p:oleObj>
              </mc:Choice>
              <mc:Fallback>
                <p:oleObj name="Equation" r:id="rId17" imgW="428706" imgH="2001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29188" y="3812083"/>
                        <a:ext cx="679010" cy="316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BCBE224E-5826-918D-6F2B-0A8292DDC744}"/>
              </a:ext>
            </a:extLst>
          </p:cNvPr>
          <p:cNvSpPr txBox="1"/>
          <p:nvPr/>
        </p:nvSpPr>
        <p:spPr>
          <a:xfrm>
            <a:off x="878785" y="3388140"/>
            <a:ext cx="188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项及支持度计数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7B61A1A-BCA4-3258-FB9B-AFEF63528269}"/>
              </a:ext>
            </a:extLst>
          </p:cNvPr>
          <p:cNvSpPr txBox="1"/>
          <p:nvPr/>
        </p:nvSpPr>
        <p:spPr>
          <a:xfrm>
            <a:off x="877475" y="3764711"/>
            <a:ext cx="2042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的频繁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</a:t>
            </a:r>
            <a:endParaRPr lang="zh-CN" altLang="en-US" dirty="0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272905BA-1FDA-10AD-CB6A-8D8C762528E2}"/>
              </a:ext>
            </a:extLst>
          </p:cNvPr>
          <p:cNvSpPr/>
          <p:nvPr/>
        </p:nvSpPr>
        <p:spPr>
          <a:xfrm>
            <a:off x="731425" y="3523842"/>
            <a:ext cx="165100" cy="1143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2810C55F-4033-6578-7A95-A430CC99ECE6}"/>
              </a:ext>
            </a:extLst>
          </p:cNvPr>
          <p:cNvSpPr/>
          <p:nvPr/>
        </p:nvSpPr>
        <p:spPr>
          <a:xfrm>
            <a:off x="718725" y="3894957"/>
            <a:ext cx="165100" cy="1143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E93F2E-A7FE-EE79-106E-0E4F534E0398}"/>
              </a:ext>
            </a:extLst>
          </p:cNvPr>
          <p:cNvSpPr txBox="1"/>
          <p:nvPr/>
        </p:nvSpPr>
        <p:spPr>
          <a:xfrm>
            <a:off x="588447" y="4368143"/>
            <a:ext cx="4356100" cy="758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）为项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构建项头表      ，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并将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队列中频繁项投影链接到     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中的队列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F6A36EB1-F515-13B5-C191-164603CE77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804085"/>
              </p:ext>
            </p:extLst>
          </p:nvPr>
        </p:nvGraphicFramePr>
        <p:xfrm>
          <a:off x="2940870" y="4438515"/>
          <a:ext cx="354779" cy="354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8571" imgH="228576" progId="Equation.DSMT4">
                  <p:embed/>
                </p:oleObj>
              </mc:Choice>
              <mc:Fallback>
                <p:oleObj name="Equation" r:id="rId19" imgW="228571" imgH="2285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40870" y="4438515"/>
                        <a:ext cx="354779" cy="354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4D4DE53-E5D3-F369-D39F-15032E9D6F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627150"/>
              </p:ext>
            </p:extLst>
          </p:nvPr>
        </p:nvGraphicFramePr>
        <p:xfrm>
          <a:off x="2712269" y="4794165"/>
          <a:ext cx="354779" cy="354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8571" imgH="228576" progId="Equation.DSMT4">
                  <p:embed/>
                </p:oleObj>
              </mc:Choice>
              <mc:Fallback>
                <p:oleObj name="Equation" r:id="rId21" imgW="228571" imgH="2285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12269" y="4794165"/>
                        <a:ext cx="354779" cy="354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箭头: 右 33">
            <a:extLst>
              <a:ext uri="{FF2B5EF4-FFF2-40B4-BE49-F238E27FC236}">
                <a16:creationId xmlns:a16="http://schemas.microsoft.com/office/drawing/2014/main" id="{3361B3F3-E775-0347-4363-117C11E6A2F6}"/>
              </a:ext>
            </a:extLst>
          </p:cNvPr>
          <p:cNvSpPr/>
          <p:nvPr/>
        </p:nvSpPr>
        <p:spPr>
          <a:xfrm>
            <a:off x="5192555" y="5414190"/>
            <a:ext cx="840485" cy="1524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7701D58-989A-201D-0ADA-DF4D3014572C}"/>
              </a:ext>
            </a:extLst>
          </p:cNvPr>
          <p:cNvSpPr txBox="1"/>
          <p:nvPr/>
        </p:nvSpPr>
        <p:spPr>
          <a:xfrm>
            <a:off x="951318" y="5126620"/>
            <a:ext cx="2642276" cy="740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链接事务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</a:p>
          <a:p>
            <a:pPr>
              <a:lnSpc>
                <a:spcPct val="150000"/>
              </a:lnSpc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链接事务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4E965794-5712-D695-31BD-BAA5A67EBA20}"/>
              </a:ext>
            </a:extLst>
          </p:cNvPr>
          <p:cNvSpPr/>
          <p:nvPr/>
        </p:nvSpPr>
        <p:spPr>
          <a:xfrm>
            <a:off x="761463" y="5245050"/>
            <a:ext cx="165100" cy="1143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B98C2ECD-BCFF-3603-1508-792791D4549F}"/>
              </a:ext>
            </a:extLst>
          </p:cNvPr>
          <p:cNvSpPr/>
          <p:nvPr/>
        </p:nvSpPr>
        <p:spPr>
          <a:xfrm>
            <a:off x="748763" y="5616165"/>
            <a:ext cx="165100" cy="1143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6">
            <a:extLst>
              <a:ext uri="{FF2B5EF4-FFF2-40B4-BE49-F238E27FC236}">
                <a16:creationId xmlns:a16="http://schemas.microsoft.com/office/drawing/2014/main" id="{836CB476-BA46-7012-4552-C90EF38C79B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052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517B1-BB4E-07E8-5DFE-DAC95CAF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3">
            <a:extLst>
              <a:ext uri="{FF2B5EF4-FFF2-40B4-BE49-F238E27FC236}">
                <a16:creationId xmlns:a16="http://schemas.microsoft.com/office/drawing/2014/main" id="{D056970E-5661-0948-0088-94D6C8B07B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4000" y="3154346"/>
            <a:ext cx="6481900" cy="21380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CBCA044-ECE3-AF9C-9278-FF02EED94422}"/>
              </a:ext>
            </a:extLst>
          </p:cNvPr>
          <p:cNvSpPr txBox="1"/>
          <p:nvPr/>
        </p:nvSpPr>
        <p:spPr>
          <a:xfrm>
            <a:off x="927100" y="3363885"/>
            <a:ext cx="4025900" cy="213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队列中只有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是频繁项，输出频繁项集              ；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建立项头表       ；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中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之后的项都不是频繁项，这条路径上的频繁项集已全部被输出，无需继续挖掘。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9FDD52-D3E3-3B80-80C7-2B31A60BCA4F}"/>
              </a:ext>
            </a:extLst>
          </p:cNvPr>
          <p:cNvSpPr txBox="1"/>
          <p:nvPr/>
        </p:nvSpPr>
        <p:spPr>
          <a:xfrm>
            <a:off x="546100" y="2899963"/>
            <a:ext cx="4356100" cy="412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挖掘所有包含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的频繁项集。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FCF8EE9-461C-CB2D-C608-FE3A7AA94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565134"/>
              </p:ext>
            </p:extLst>
          </p:nvPr>
        </p:nvGraphicFramePr>
        <p:xfrm>
          <a:off x="2456525" y="4108254"/>
          <a:ext cx="439075" cy="376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726" imgH="228576" progId="Equation.DSMT4">
                  <p:embed/>
                </p:oleObj>
              </mc:Choice>
              <mc:Fallback>
                <p:oleObj name="Equation" r:id="rId5" imgW="266726" imgH="2285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6525" y="4108254"/>
                        <a:ext cx="439075" cy="376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C9173ED-7C51-2FD2-2A02-F564F7B84F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207899"/>
              </p:ext>
            </p:extLst>
          </p:nvPr>
        </p:nvGraphicFramePr>
        <p:xfrm>
          <a:off x="1300223" y="4465552"/>
          <a:ext cx="426179" cy="365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6787" imgH="306371" progId="Equation.DSMT4">
                  <p:embed/>
                </p:oleObj>
              </mc:Choice>
              <mc:Fallback>
                <p:oleObj name="Equation" r:id="rId7" imgW="356787" imgH="3063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0223" y="4465552"/>
                        <a:ext cx="426179" cy="3655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4223EE1-E720-DD58-C85E-A14B5DAA2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03601"/>
              </p:ext>
            </p:extLst>
          </p:nvPr>
        </p:nvGraphicFramePr>
        <p:xfrm>
          <a:off x="8325674" y="2214563"/>
          <a:ext cx="29670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67341" imgH="444976" progId="Equation.DSMT4">
                  <p:embed/>
                </p:oleObj>
              </mc:Choice>
              <mc:Fallback>
                <p:oleObj name="Equation" r:id="rId9" imgW="2967341" imgH="4449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25674" y="2214563"/>
                        <a:ext cx="2967037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: 圆角 55">
            <a:extLst>
              <a:ext uri="{FF2B5EF4-FFF2-40B4-BE49-F238E27FC236}">
                <a16:creationId xmlns:a16="http://schemas.microsoft.com/office/drawing/2014/main" id="{59310E81-85BC-03EE-F58F-699DC2508870}"/>
              </a:ext>
            </a:extLst>
          </p:cNvPr>
          <p:cNvSpPr/>
          <p:nvPr/>
        </p:nvSpPr>
        <p:spPr>
          <a:xfrm>
            <a:off x="210077" y="1464015"/>
            <a:ext cx="54599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示例：挖掘所有包含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的频繁项集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57CCAC8-A095-6F52-3E9A-981178B997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141279"/>
              </p:ext>
            </p:extLst>
          </p:nvPr>
        </p:nvGraphicFramePr>
        <p:xfrm>
          <a:off x="2211388" y="3812496"/>
          <a:ext cx="811212" cy="27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0966" imgH="200139" progId="Equation.DSMT4">
                  <p:embed/>
                </p:oleObj>
              </mc:Choice>
              <mc:Fallback>
                <p:oleObj name="Equation" r:id="rId11" imgW="580966" imgH="2001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11388" y="3812496"/>
                        <a:ext cx="811212" cy="279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B46B6961-E540-44CE-9A41-D9E6AB4DA9A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684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CDD5-9176-C505-6906-58F05E28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4">
            <a:extLst>
              <a:ext uri="{FF2B5EF4-FFF2-40B4-BE49-F238E27FC236}">
                <a16:creationId xmlns:a16="http://schemas.microsoft.com/office/drawing/2014/main" id="{CEAC7013-F523-C955-2E8B-0C2853D6EB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635" y="3138822"/>
            <a:ext cx="5797550" cy="2516482"/>
          </a:xfrm>
          <a:prstGeom prst="rect">
            <a:avLst/>
          </a:prstGeom>
        </p:spPr>
      </p:pic>
      <p:sp>
        <p:nvSpPr>
          <p:cNvPr id="6" name="矩形: 圆角 55">
            <a:extLst>
              <a:ext uri="{FF2B5EF4-FFF2-40B4-BE49-F238E27FC236}">
                <a16:creationId xmlns:a16="http://schemas.microsoft.com/office/drawing/2014/main" id="{25B35AC2-47D9-19DF-192C-F9A1192FDE97}"/>
              </a:ext>
            </a:extLst>
          </p:cNvPr>
          <p:cNvSpPr/>
          <p:nvPr/>
        </p:nvSpPr>
        <p:spPr>
          <a:xfrm>
            <a:off x="150384" y="1345187"/>
            <a:ext cx="54599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示例：挖掘所有包含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的频繁项集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BEB01A2-0E92-34D4-AD15-72F600F69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589478"/>
              </p:ext>
            </p:extLst>
          </p:nvPr>
        </p:nvGraphicFramePr>
        <p:xfrm>
          <a:off x="8325674" y="2214563"/>
          <a:ext cx="29670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67341" imgH="444976" progId="Equation.DSMT4">
                  <p:embed/>
                </p:oleObj>
              </mc:Choice>
              <mc:Fallback>
                <p:oleObj name="Equation" r:id="rId5" imgW="2967341" imgH="444976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4223EE1-E720-DD58-C85E-A14B5DAA2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25674" y="2214563"/>
                        <a:ext cx="2967037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976ED002-F7F9-FDC8-3124-D6F1CFF89837}"/>
              </a:ext>
            </a:extLst>
          </p:cNvPr>
          <p:cNvSpPr txBox="1"/>
          <p:nvPr/>
        </p:nvSpPr>
        <p:spPr>
          <a:xfrm>
            <a:off x="616582" y="2710353"/>
            <a:ext cx="4527550" cy="145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调整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队列中事务的超链接，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队列中的每个投影加入该投影中项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的下一个项的队列中。</a:t>
            </a:r>
            <a:endParaRPr kumimoji="1" lang="en-US" altLang="zh-CN" sz="18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事务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都链接到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队列。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F036161-64BA-B8FC-BFE3-1D3317E209D7}"/>
              </a:ext>
            </a:extLst>
          </p:cNvPr>
          <p:cNvSpPr/>
          <p:nvPr/>
        </p:nvSpPr>
        <p:spPr>
          <a:xfrm>
            <a:off x="5163882" y="3549250"/>
            <a:ext cx="840485" cy="1524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7D6E47-48DA-BFE6-122B-6B675A137FEE}"/>
              </a:ext>
            </a:extLst>
          </p:cNvPr>
          <p:cNvSpPr txBox="1"/>
          <p:nvPr/>
        </p:nvSpPr>
        <p:spPr>
          <a:xfrm>
            <a:off x="539750" y="4213876"/>
            <a:ext cx="4838700" cy="213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挖掘包含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，且不包含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的频繁项集。</a:t>
            </a:r>
            <a:endParaRPr kumimoji="1" lang="en-US" altLang="zh-CN" sz="18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扫描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队列，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为频繁项，输出频繁项集</a:t>
            </a:r>
            <a:endParaRPr kumimoji="1" lang="en-US" altLang="zh-CN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kumimoji="1" lang="en-US" altLang="zh-CN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没有任何下一级项，所以无需挖掘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队列；</a:t>
            </a:r>
            <a:endParaRPr kumimoji="1" lang="en-US" altLang="zh-CN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此时认为所有包含</a:t>
            </a:r>
            <a:r>
              <a:rPr kumimoji="1" lang="en-US" altLang="zh-CN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的频繁项集已经被找到。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73FAB64-71AB-2BC2-39DC-33D6807BB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688463"/>
              </p:ext>
            </p:extLst>
          </p:nvPr>
        </p:nvGraphicFramePr>
        <p:xfrm>
          <a:off x="909638" y="5321300"/>
          <a:ext cx="842962" cy="334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4656" imgH="200139" progId="Equation.DSMT4">
                  <p:embed/>
                </p:oleObj>
              </mc:Choice>
              <mc:Fallback>
                <p:oleObj name="Equation" r:id="rId7" imgW="504656" imgH="2001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9638" y="5321300"/>
                        <a:ext cx="842962" cy="334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26">
            <a:extLst>
              <a:ext uri="{FF2B5EF4-FFF2-40B4-BE49-F238E27FC236}">
                <a16:creationId xmlns:a16="http://schemas.microsoft.com/office/drawing/2014/main" id="{E8CE7A50-7EEF-C664-E2C5-323EC800452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16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3679-501B-A765-169A-41E5B5DB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EB80B0B-8A95-4939-AA84-D5FD2CCE90AB}"/>
              </a:ext>
            </a:extLst>
          </p:cNvPr>
          <p:cNvSpPr txBox="1"/>
          <p:nvPr/>
        </p:nvSpPr>
        <p:spPr>
          <a:xfrm>
            <a:off x="580297" y="2411992"/>
            <a:ext cx="4527550" cy="289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调整超链接，更新队列。</a:t>
            </a:r>
            <a:endParaRPr kumimoji="1" lang="en-US" altLang="zh-CN" sz="18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遍历一次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队列，队列中的每个事务都被添加到投影中项</a:t>
            </a:r>
            <a:r>
              <a:rPr kumimoji="1" lang="en-US" altLang="zh-CN" sz="18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的下一个项的队列中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kumimoji="1" lang="en-US" altLang="zh-CN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频繁项投影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1:            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7:                  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被插入到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队列中；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频繁项投影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3:            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4:         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被插入到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队列中；</a:t>
            </a:r>
          </a:p>
          <a:p>
            <a:pPr>
              <a:lnSpc>
                <a:spcPct val="125000"/>
              </a:lnSpc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D58C4BA-5281-284B-FA25-D0D8BFE425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473827"/>
              </p:ext>
            </p:extLst>
          </p:nvPr>
        </p:nvGraphicFramePr>
        <p:xfrm>
          <a:off x="2310671" y="3586307"/>
          <a:ext cx="861506" cy="314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203112" progId="Equation.DSMT4">
                  <p:embed/>
                </p:oleObj>
              </mc:Choice>
              <mc:Fallback>
                <p:oleObj name="Equation" r:id="rId3" imgW="583947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0671" y="3586307"/>
                        <a:ext cx="861506" cy="3141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46F27EE-8EF5-27C0-5EA2-538AD3F6F9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604995"/>
              </p:ext>
            </p:extLst>
          </p:nvPr>
        </p:nvGraphicFramePr>
        <p:xfrm>
          <a:off x="3551001" y="3592657"/>
          <a:ext cx="1226859" cy="314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1101" imgH="200139" progId="Equation.DSMT4">
                  <p:embed/>
                </p:oleObj>
              </mc:Choice>
              <mc:Fallback>
                <p:oleObj name="Equation" r:id="rId5" imgW="781101" imgH="2001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51001" y="3592657"/>
                        <a:ext cx="1226859" cy="314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1E14B15-DFD7-1422-945F-45A786094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967685"/>
              </p:ext>
            </p:extLst>
          </p:nvPr>
        </p:nvGraphicFramePr>
        <p:xfrm>
          <a:off x="2286360" y="4283357"/>
          <a:ext cx="889717" cy="291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03" imgH="200139" progId="Equation.DSMT4">
                  <p:embed/>
                </p:oleObj>
              </mc:Choice>
              <mc:Fallback>
                <p:oleObj name="Equation" r:id="rId7" imgW="609403" imgH="2001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6360" y="4283357"/>
                        <a:ext cx="889717" cy="2919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B5BF009-DC23-D601-5157-21294EFFA8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523389"/>
              </p:ext>
            </p:extLst>
          </p:nvPr>
        </p:nvGraphicFramePr>
        <p:xfrm>
          <a:off x="3551001" y="4273944"/>
          <a:ext cx="737064" cy="32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7783" imgH="200139" progId="Equation.DSMT4">
                  <p:embed/>
                </p:oleObj>
              </mc:Choice>
              <mc:Fallback>
                <p:oleObj name="Equation" r:id="rId9" imgW="447783" imgH="2001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51001" y="4273944"/>
                        <a:ext cx="737064" cy="329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: 圆角 55">
            <a:extLst>
              <a:ext uri="{FF2B5EF4-FFF2-40B4-BE49-F238E27FC236}">
                <a16:creationId xmlns:a16="http://schemas.microsoft.com/office/drawing/2014/main" id="{34C2074E-FAC1-E337-2848-68DD801500A6}"/>
              </a:ext>
            </a:extLst>
          </p:cNvPr>
          <p:cNvSpPr/>
          <p:nvPr/>
        </p:nvSpPr>
        <p:spPr>
          <a:xfrm>
            <a:off x="238725" y="1334054"/>
            <a:ext cx="54599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示例：挖掘所有包含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的频繁项集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9D1DA11A-A332-6E22-B25C-4AE4DF64CB71}"/>
              </a:ext>
            </a:extLst>
          </p:cNvPr>
          <p:cNvSpPr/>
          <p:nvPr/>
        </p:nvSpPr>
        <p:spPr>
          <a:xfrm>
            <a:off x="3030765" y="5162639"/>
            <a:ext cx="273050" cy="31419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9B91D9-CCAD-8BBF-258D-11F0D7D5972B}"/>
              </a:ext>
            </a:extLst>
          </p:cNvPr>
          <p:cNvSpPr txBox="1"/>
          <p:nvPr/>
        </p:nvSpPr>
        <p:spPr>
          <a:xfrm>
            <a:off x="705921" y="5523946"/>
            <a:ext cx="4883894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下一步：挖掘所有包含</a:t>
            </a:r>
            <a:r>
              <a:rPr kumimoji="1" lang="en-US" altLang="zh-CN" b="1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且不含</a:t>
            </a:r>
            <a:r>
              <a:rPr kumimoji="1" lang="en-US" altLang="zh-CN" b="1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的频繁项集</a:t>
            </a:r>
            <a:r>
              <a:rPr kumimoji="1" lang="zh-CN" altLang="en-US" sz="1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1" lang="en-US" altLang="zh-CN" sz="18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0CD8B6C6-E0D4-33C5-CA8F-07AB70D8AE7C}"/>
              </a:ext>
            </a:extLst>
          </p:cNvPr>
          <p:cNvSpPr/>
          <p:nvPr/>
        </p:nvSpPr>
        <p:spPr>
          <a:xfrm>
            <a:off x="5460954" y="3895716"/>
            <a:ext cx="840485" cy="1524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74FFD30A-C86B-8B42-AC02-3A0848C1EC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97574" y="1410144"/>
            <a:ext cx="4771248" cy="5123543"/>
          </a:xfrm>
          <a:prstGeom prst="rect">
            <a:avLst/>
          </a:prstGeom>
        </p:spPr>
      </p:pic>
      <p:sp>
        <p:nvSpPr>
          <p:cNvPr id="9" name="矩形 26">
            <a:extLst>
              <a:ext uri="{FF2B5EF4-FFF2-40B4-BE49-F238E27FC236}">
                <a16:creationId xmlns:a16="http://schemas.microsoft.com/office/drawing/2014/main" id="{349FC000-5960-0559-8A93-A28949407BA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10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5D03-E4D0-729C-35BF-B3054A29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4EEAD8-411F-46CE-6A35-5C837158F316}"/>
              </a:ext>
            </a:extLst>
          </p:cNvPr>
          <p:cNvSpPr txBox="1"/>
          <p:nvPr/>
        </p:nvSpPr>
        <p:spPr>
          <a:xfrm>
            <a:off x="597763" y="1569731"/>
            <a:ext cx="10653552" cy="434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45A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优点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245A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H-struct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数据结构来挖掘频繁项，通过动态调整链接，实现了小而可精确预测的空间开销，并且运行速度快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H-mine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算法通过数据库分区的方法来解决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读取大型数据库中的内存问题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，在挖掘大型数据库时展现出良好的可扩展性。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45A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缺点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245A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H-struct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算法通过从头到尾遍历事务来查找项间的关联信息。当数据库非常密集时，这种遍历的次数会急剧增加，导致性能大幅下降。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2" indent="-28575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SzPct val="50000"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45A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使用场景</a:t>
            </a:r>
          </a:p>
          <a:p>
            <a:pPr marL="742950" marR="0" lvl="1" indent="-285750" algn="l" defTabSz="457200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大型和稀疏数据库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4F335E33-95CC-A71D-FE11-022E6B82F35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算法评价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035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7C1F-8863-55DD-19D4-AA2ACEB6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D321606-33A4-C13F-DC9B-17DE0CBFB36A}"/>
              </a:ext>
            </a:extLst>
          </p:cNvPr>
          <p:cNvSpPr/>
          <p:nvPr/>
        </p:nvSpPr>
        <p:spPr>
          <a:xfrm>
            <a:off x="6007099" y="891551"/>
            <a:ext cx="5644095" cy="5867400"/>
          </a:xfrm>
          <a:prstGeom prst="rect">
            <a:avLst/>
          </a:prstGeom>
          <a:solidFill>
            <a:schemeClr val="bg1"/>
          </a:solidFill>
          <a:ln w="3175">
            <a:solidFill>
              <a:srgbClr val="0444A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0F3D78-B4E8-1691-318B-4ABC514B4E13}"/>
              </a:ext>
            </a:extLst>
          </p:cNvPr>
          <p:cNvSpPr txBox="1"/>
          <p:nvPr/>
        </p:nvSpPr>
        <p:spPr>
          <a:xfrm>
            <a:off x="6292850" y="887876"/>
            <a:ext cx="5161405" cy="5846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pandas </a:t>
            </a: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pd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ast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mlxtend.preprocessing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TransactionEncoder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mlxtend.frequent_patterns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hmine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mlxtend.frequent_patterns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association_rules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1.</a:t>
            </a:r>
            <a:r>
              <a:rPr lang="zh-CN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数据导入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 =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pd.read_csv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'../data/kosarak.csv'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retrieved_data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[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ast.literal_eval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(row) </a:t>
            </a: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row </a:t>
            </a:r>
            <a:r>
              <a:rPr lang="en-US" altLang="zh-CN" sz="12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data[</a:t>
            </a:r>
            <a:r>
              <a:rPr lang="en-US" altLang="zh-CN" sz="12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'data'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2.</a:t>
            </a:r>
            <a:r>
              <a:rPr lang="zh-CN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数据热编码，并使用稀疏表示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te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TransactionEncoder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oht_ary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te.fit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retrieved_data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).transform(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retrieved_data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sparse=</a:t>
            </a:r>
            <a:r>
              <a:rPr lang="en-US" altLang="zh-CN" sz="1200" kern="0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sparse_df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pd.DataFrame.sparse.from_spmatrix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oht_ary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columns=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te.columns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_)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3.</a:t>
            </a:r>
            <a:r>
              <a:rPr lang="zh-CN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lang="en-US" altLang="zh-CN" sz="1200" i="1" kern="0" dirty="0" err="1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hmine</a:t>
            </a:r>
            <a:r>
              <a:rPr lang="zh-CN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函数，生成频繁项集和关联规则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frequent_pattern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hmine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sparse_df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min_support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0.01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use_colnames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kern="0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verbose=</a:t>
            </a:r>
            <a:r>
              <a:rPr lang="en-US" altLang="zh-CN" sz="12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rules = 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association_rules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frequent_pattern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,metric = </a:t>
            </a:r>
            <a:r>
              <a:rPr lang="en-US" altLang="zh-CN" sz="12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'confidence'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min_threshold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2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rules = rules[rules[</a:t>
            </a:r>
            <a:r>
              <a:rPr lang="en-US" altLang="zh-CN" sz="12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'lift'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 &gt;= </a:t>
            </a:r>
            <a:r>
              <a:rPr lang="en-US" altLang="zh-CN" sz="12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4.</a:t>
            </a:r>
            <a:r>
              <a:rPr lang="zh-CN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结果展示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</a:t>
            </a:r>
            <a:r>
              <a:rPr lang="en-US" altLang="zh-CN" sz="12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frequent_pattern</a:t>
            </a:r>
            <a:r>
              <a:rPr lang="en-US" altLang="zh-CN" sz="12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print(rules[[</a:t>
            </a:r>
            <a:r>
              <a:rPr lang="en-US" altLang="zh-CN" sz="12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'antecedents'</a:t>
            </a:r>
            <a:r>
              <a:rPr lang="en-US" altLang="zh-CN" sz="12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2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'consequents'</a:t>
            </a:r>
            <a:r>
              <a:rPr lang="en-US" altLang="zh-CN" sz="12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2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'support'</a:t>
            </a:r>
            <a:r>
              <a:rPr lang="en-US" altLang="zh-CN" sz="12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2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'confidence'</a:t>
            </a:r>
            <a:r>
              <a:rPr lang="en-US" altLang="zh-CN" sz="12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2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'lift'</a:t>
            </a:r>
            <a:r>
              <a:rPr lang="en-US" altLang="zh-CN" sz="12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8B4EDD-51E6-8F32-B393-FA4A4670D2F2}"/>
              </a:ext>
            </a:extLst>
          </p:cNvPr>
          <p:cNvSpPr txBox="1"/>
          <p:nvPr/>
        </p:nvSpPr>
        <p:spPr>
          <a:xfrm>
            <a:off x="251074" y="2007651"/>
            <a:ext cx="5504748" cy="399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数据集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匈牙利在线新闻门户的点击流数据集</a:t>
            </a:r>
            <a:r>
              <a:rPr kumimoji="1" lang="zh-CN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每条数据是一个用户每次浏览网站点击的一系列新闻编号，共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990,002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</a:t>
            </a:r>
            <a:r>
              <a:rPr kumimoji="1" lang="zh-CN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算法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mlxtend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hmine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245AD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指标设置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sup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0.01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conf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0.85</a:t>
            </a:r>
          </a:p>
        </p:txBody>
      </p:sp>
      <p:sp>
        <p:nvSpPr>
          <p:cNvPr id="13" name="矩形: 圆角 55">
            <a:extLst>
              <a:ext uri="{FF2B5EF4-FFF2-40B4-BE49-F238E27FC236}">
                <a16:creationId xmlns:a16="http://schemas.microsoft.com/office/drawing/2014/main" id="{76EDDAAE-E054-2192-64BA-C24CAF9ECA7B}"/>
              </a:ext>
            </a:extLst>
          </p:cNvPr>
          <p:cNvSpPr/>
          <p:nvPr/>
        </p:nvSpPr>
        <p:spPr>
          <a:xfrm>
            <a:off x="187926" y="1229617"/>
            <a:ext cx="40502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新闻推荐</a:t>
            </a: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2770DE22-7BF5-4070-F54A-D33FD6D26C6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330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69AC-6C7F-2DCF-D045-C7AB85073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2A63662-77AD-3206-712E-6973F90C32B8}"/>
              </a:ext>
            </a:extLst>
          </p:cNvPr>
          <p:cNvSpPr txBox="1"/>
          <p:nvPr/>
        </p:nvSpPr>
        <p:spPr>
          <a:xfrm>
            <a:off x="5267124" y="2106250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关联规则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242963A-6BD0-3115-85B1-E52ADEBA5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58074"/>
              </p:ext>
            </p:extLst>
          </p:nvPr>
        </p:nvGraphicFramePr>
        <p:xfrm>
          <a:off x="109099" y="2781634"/>
          <a:ext cx="4947958" cy="2416750"/>
        </p:xfrm>
        <a:graphic>
          <a:graphicData uri="http://schemas.openxmlformats.org/drawingml/2006/table">
            <a:tbl>
              <a:tblPr firstRow="1" firstCol="1" bandRow="1"/>
              <a:tblGrid>
                <a:gridCol w="847727">
                  <a:extLst>
                    <a:ext uri="{9D8B030D-6E8A-4147-A177-3AD203B41FA5}">
                      <a16:colId xmlns:a16="http://schemas.microsoft.com/office/drawing/2014/main" val="1308810109"/>
                    </a:ext>
                  </a:extLst>
                </a:gridCol>
                <a:gridCol w="1131456">
                  <a:extLst>
                    <a:ext uri="{9D8B030D-6E8A-4147-A177-3AD203B41FA5}">
                      <a16:colId xmlns:a16="http://schemas.microsoft.com/office/drawing/2014/main" val="1100960080"/>
                    </a:ext>
                  </a:extLst>
                </a:gridCol>
                <a:gridCol w="2968775">
                  <a:extLst>
                    <a:ext uri="{9D8B030D-6E8A-4147-A177-3AD203B41FA5}">
                      <a16:colId xmlns:a16="http://schemas.microsoft.com/office/drawing/2014/main" val="204088752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05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itemsets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77076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0.199517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1851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0.092810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(1, 11)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48603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0.024591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(1, 11, 148)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36885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4869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381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0.012372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(91)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8941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382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0.017984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(987)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1143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CA89E8B-E465-208C-1A6D-A2DD51989F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969400"/>
              </p:ext>
            </p:extLst>
          </p:nvPr>
        </p:nvGraphicFramePr>
        <p:xfrm>
          <a:off x="344384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9664237-C87C-FA26-47F5-0C8C10F33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84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80A495E-34D6-6646-B536-0D74BACE0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790321"/>
              </p:ext>
            </p:extLst>
          </p:nvPr>
        </p:nvGraphicFramePr>
        <p:xfrm>
          <a:off x="1275207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F07E6C4-7700-37A7-AF67-52C6169B5F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207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2E25F0E-44A4-28A5-8FEE-19D468C556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714600"/>
              </p:ext>
            </p:extLst>
          </p:nvPr>
        </p:nvGraphicFramePr>
        <p:xfrm>
          <a:off x="3323006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EB4FBCC-64CA-4288-32D1-3903C24E6A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006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EE5CBEE1-EEBD-6127-CBE6-DFB0A80A0919}"/>
              </a:ext>
            </a:extLst>
          </p:cNvPr>
          <p:cNvSpPr txBox="1"/>
          <p:nvPr/>
        </p:nvSpPr>
        <p:spPr>
          <a:xfrm>
            <a:off x="343560" y="2123764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频繁项集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B291F29F-E7BF-CBD2-B500-9886D574F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938677"/>
              </p:ext>
            </p:extLst>
          </p:nvPr>
        </p:nvGraphicFramePr>
        <p:xfrm>
          <a:off x="5216937" y="2781635"/>
          <a:ext cx="6806287" cy="2442600"/>
        </p:xfrm>
        <a:graphic>
          <a:graphicData uri="http://schemas.openxmlformats.org/drawingml/2006/table">
            <a:tbl>
              <a:tblPr firstRow="1" firstCol="1" bandRow="1"/>
              <a:tblGrid>
                <a:gridCol w="586920">
                  <a:extLst>
                    <a:ext uri="{9D8B030D-6E8A-4147-A177-3AD203B41FA5}">
                      <a16:colId xmlns:a16="http://schemas.microsoft.com/office/drawing/2014/main" val="3250300086"/>
                    </a:ext>
                  </a:extLst>
                </a:gridCol>
                <a:gridCol w="1419821">
                  <a:extLst>
                    <a:ext uri="{9D8B030D-6E8A-4147-A177-3AD203B41FA5}">
                      <a16:colId xmlns:a16="http://schemas.microsoft.com/office/drawing/2014/main" val="2868529208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56144624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3259206424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1297470154"/>
                    </a:ext>
                  </a:extLst>
                </a:gridCol>
                <a:gridCol w="1230846">
                  <a:extLst>
                    <a:ext uri="{9D8B030D-6E8A-4147-A177-3AD203B41FA5}">
                      <a16:colId xmlns:a16="http://schemas.microsoft.com/office/drawing/2014/main" val="2149392417"/>
                    </a:ext>
                  </a:extLst>
                </a:gridCol>
              </a:tblGrid>
              <a:tr h="340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antecedents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consequents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confidence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lift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719567"/>
                  </a:ext>
                </a:extLst>
              </a:tr>
              <a:tr h="3347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(1, 148)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(11)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0.024591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0.867945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2.360204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90676"/>
                  </a:ext>
                </a:extLst>
              </a:tr>
              <a:tr h="363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(1, 11, 218)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(148)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0.022729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0.920928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12.353557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178455"/>
                  </a:ext>
                </a:extLst>
              </a:tr>
              <a:tr h="37815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(1, 11, 148)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(218)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0.022729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0.93645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10.328173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38668"/>
                  </a:ext>
                </a:extLst>
              </a:tr>
              <a:tr h="3347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274572"/>
                  </a:ext>
                </a:extLst>
              </a:tr>
              <a:tr h="3347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271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(87)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(7)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0.016666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0.92703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10.169227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50371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272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(897)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(7)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0.012877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0.924846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10.158356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154781"/>
                  </a:ext>
                </a:extLst>
              </a:tr>
            </a:tbl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61FCEF9-E054-51A0-EFB5-0A52D8D90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816770"/>
              </p:ext>
            </p:extLst>
          </p:nvPr>
        </p:nvGraphicFramePr>
        <p:xfrm>
          <a:off x="5267124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263B641-801A-89AD-C869-49CC2B4FA8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124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9857AD8-0167-9C7C-DC56-FAD5B71BF6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473943"/>
              </p:ext>
            </p:extLst>
          </p:nvPr>
        </p:nvGraphicFramePr>
        <p:xfrm>
          <a:off x="6354130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156BE0A-B911-E1CB-5B13-8E1F6EECBC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130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43973AC-DDE0-0CB4-25E4-E5D2D651B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099019"/>
              </p:ext>
            </p:extLst>
          </p:nvPr>
        </p:nvGraphicFramePr>
        <p:xfrm>
          <a:off x="7808007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35139B9-51BD-D71B-DDDF-29898F653D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8007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DF433A9-F196-6C96-B6BA-44842241F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049481"/>
              </p:ext>
            </p:extLst>
          </p:nvPr>
        </p:nvGraphicFramePr>
        <p:xfrm>
          <a:off x="9073529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C829D39-E661-5979-8492-81C4F4C7DD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3529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BD61346-473D-21FB-7369-3F900DF15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228155"/>
              </p:ext>
            </p:extLst>
          </p:nvPr>
        </p:nvGraphicFramePr>
        <p:xfrm>
          <a:off x="10072970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E2D82F5-0585-D982-E5D5-D427ECB937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2970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810A34FF-5393-C3BC-DCED-6683C5180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847347"/>
              </p:ext>
            </p:extLst>
          </p:nvPr>
        </p:nvGraphicFramePr>
        <p:xfrm>
          <a:off x="11147178" y="422215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961AF0F-E8A8-B69C-DE99-45ED8AE9E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7178" y="422215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55">
            <a:extLst>
              <a:ext uri="{FF2B5EF4-FFF2-40B4-BE49-F238E27FC236}">
                <a16:creationId xmlns:a16="http://schemas.microsoft.com/office/drawing/2014/main" id="{EA5DA0A2-63E2-A0FF-6C39-59D113B5A197}"/>
              </a:ext>
            </a:extLst>
          </p:cNvPr>
          <p:cNvSpPr/>
          <p:nvPr/>
        </p:nvSpPr>
        <p:spPr>
          <a:xfrm>
            <a:off x="187926" y="1229617"/>
            <a:ext cx="40502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新闻推荐</a:t>
            </a:r>
          </a:p>
        </p:txBody>
      </p:sp>
      <p:sp>
        <p:nvSpPr>
          <p:cNvPr id="3" name="矩形 26">
            <a:extLst>
              <a:ext uri="{FF2B5EF4-FFF2-40B4-BE49-F238E27FC236}">
                <a16:creationId xmlns:a16="http://schemas.microsoft.com/office/drawing/2014/main" id="{F42F2A7A-4488-52BB-554F-E34240C93D9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H-mine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1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6094</TotalTime>
  <Words>1194</Words>
  <Application>Microsoft Office PowerPoint</Application>
  <PresentationFormat>宽屏</PresentationFormat>
  <Paragraphs>170</Paragraphs>
  <Slides>12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6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qing zhang</cp:lastModifiedBy>
  <cp:revision>2471</cp:revision>
  <dcterms:created xsi:type="dcterms:W3CDTF">2022-05-23T09:13:00Z</dcterms:created>
  <dcterms:modified xsi:type="dcterms:W3CDTF">2025-04-16T07:44:25Z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