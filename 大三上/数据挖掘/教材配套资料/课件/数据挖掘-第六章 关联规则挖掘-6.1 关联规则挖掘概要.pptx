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8">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57"/>
  </p:notesMasterIdLst>
  <p:handoutMasterIdLst>
    <p:handoutMasterId r:id="rId58"/>
  </p:handoutMasterIdLst>
  <p:sldIdLst>
    <p:sldId id="15637" r:id="rId13"/>
    <p:sldId id="15664" r:id="rId14"/>
    <p:sldId id="15688" r:id="rId15"/>
    <p:sldId id="15672" r:id="rId16"/>
    <p:sldId id="15695" r:id="rId17"/>
    <p:sldId id="15682" r:id="rId18"/>
    <p:sldId id="15702" r:id="rId19"/>
    <p:sldId id="15696" r:id="rId20"/>
    <p:sldId id="15685" r:id="rId21"/>
    <p:sldId id="15703" r:id="rId22"/>
    <p:sldId id="15697" r:id="rId23"/>
    <p:sldId id="15687" r:id="rId24"/>
    <p:sldId id="15691" r:id="rId25"/>
    <p:sldId id="15773" r:id="rId26"/>
    <p:sldId id="15699" r:id="rId27"/>
    <p:sldId id="15700" r:id="rId28"/>
    <p:sldId id="15704" r:id="rId29"/>
    <p:sldId id="15690" r:id="rId30"/>
    <p:sldId id="15689" r:id="rId31"/>
    <p:sldId id="15678" r:id="rId32"/>
    <p:sldId id="15763" r:id="rId33"/>
    <p:sldId id="15677" r:id="rId34"/>
    <p:sldId id="15742" r:id="rId35"/>
    <p:sldId id="15764" r:id="rId36"/>
    <p:sldId id="15743" r:id="rId37"/>
    <p:sldId id="15765" r:id="rId38"/>
    <p:sldId id="15679" r:id="rId39"/>
    <p:sldId id="15744" r:id="rId40"/>
    <p:sldId id="15745" r:id="rId41"/>
    <p:sldId id="15746" r:id="rId42"/>
    <p:sldId id="15748" r:id="rId43"/>
    <p:sldId id="15749" r:id="rId44"/>
    <p:sldId id="15750" r:id="rId45"/>
    <p:sldId id="15751" r:id="rId46"/>
    <p:sldId id="15752" r:id="rId47"/>
    <p:sldId id="15753" r:id="rId48"/>
    <p:sldId id="15701" r:id="rId49"/>
    <p:sldId id="15768" r:id="rId50"/>
    <p:sldId id="15769" r:id="rId51"/>
    <p:sldId id="15770" r:id="rId52"/>
    <p:sldId id="15771" r:id="rId53"/>
    <p:sldId id="15772" r:id="rId54"/>
    <p:sldId id="15766" r:id="rId55"/>
    <p:sldId id="15502" r:id="rId56"/>
  </p:sldIdLst>
  <p:sldSz cx="12192000" cy="6858000"/>
  <p:notesSz cx="6858000" cy="9144000"/>
  <p:custDataLst>
    <p:tags r:id="rId5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一节" id="{B76A38E9-E72E-4BCB-B362-B21FAC086E6B}">
          <p14:sldIdLst>
            <p14:sldId id="15637"/>
            <p14:sldId id="15664"/>
            <p14:sldId id="15688"/>
            <p14:sldId id="15672"/>
            <p14:sldId id="15695"/>
            <p14:sldId id="15682"/>
            <p14:sldId id="15702"/>
            <p14:sldId id="15696"/>
            <p14:sldId id="15685"/>
            <p14:sldId id="15703"/>
            <p14:sldId id="15697"/>
            <p14:sldId id="15687"/>
            <p14:sldId id="15691"/>
            <p14:sldId id="15773"/>
            <p14:sldId id="15699"/>
            <p14:sldId id="15700"/>
            <p14:sldId id="15704"/>
            <p14:sldId id="15690"/>
            <p14:sldId id="15689"/>
          </p14:sldIdLst>
        </p14:section>
        <p14:section name="第三节" id="{D73DEBA0-8DA1-425E-BF8D-3499E83F0652}">
          <p14:sldIdLst>
            <p14:sldId id="15678"/>
            <p14:sldId id="15763"/>
            <p14:sldId id="15677"/>
            <p14:sldId id="15742"/>
            <p14:sldId id="15764"/>
            <p14:sldId id="15743"/>
            <p14:sldId id="15765"/>
            <p14:sldId id="15679"/>
            <p14:sldId id="15744"/>
            <p14:sldId id="15745"/>
            <p14:sldId id="15746"/>
            <p14:sldId id="15748"/>
            <p14:sldId id="15749"/>
            <p14:sldId id="15750"/>
            <p14:sldId id="15751"/>
            <p14:sldId id="15752"/>
            <p14:sldId id="15753"/>
            <p14:sldId id="15701"/>
            <p14:sldId id="15768"/>
            <p14:sldId id="15769"/>
            <p14:sldId id="15770"/>
            <p14:sldId id="15771"/>
            <p14:sldId id="15772"/>
            <p14:sldId id="15766"/>
            <p14:sldId id="15502"/>
          </p14:sldIdLst>
        </p14:section>
      </p14:sectionLst>
    </p:ext>
    <p:ext uri="{EFAFB233-063F-42B5-8137-9DF3F51BA10A}">
      <p15:sldGuideLst xmlns:p15="http://schemas.microsoft.com/office/powerpoint/2012/main">
        <p15:guide id="4" pos="2280" userDrawn="1">
          <p15:clr>
            <a:srgbClr val="A4A3A4"/>
          </p15:clr>
        </p15:guide>
        <p15:guide id="5" orient="horz" pos="290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45AD"/>
    <a:srgbClr val="000080"/>
    <a:srgbClr val="FBE4D5"/>
    <a:srgbClr val="008ED7"/>
    <a:srgbClr val="D13400"/>
    <a:srgbClr val="0444AE"/>
    <a:srgbClr val="0347AF"/>
    <a:srgbClr val="0146AE"/>
    <a:srgbClr val="FFFF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63" autoAdjust="0"/>
    <p:restoredTop sz="86966" autoAdjust="0"/>
  </p:normalViewPr>
  <p:slideViewPr>
    <p:cSldViewPr snapToGrid="0">
      <p:cViewPr varScale="1">
        <p:scale>
          <a:sx n="93" d="100"/>
          <a:sy n="93" d="100"/>
        </p:scale>
        <p:origin x="184" y="80"/>
      </p:cViewPr>
      <p:guideLst>
        <p:guide pos="2280"/>
        <p:guide orient="horz" pos="2904"/>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slide" Target="slides/slide35.xml"/><Relationship Id="rId50" Type="http://schemas.openxmlformats.org/officeDocument/2006/relationships/slide" Target="slides/slide38.xml"/><Relationship Id="rId55" Type="http://schemas.openxmlformats.org/officeDocument/2006/relationships/slide" Target="slides/slide43.xml"/><Relationship Id="rId63"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slide" Target="slides/slide41.xml"/><Relationship Id="rId58" Type="http://schemas.openxmlformats.org/officeDocument/2006/relationships/handoutMaster" Target="handoutMasters/handoutMaster1.xml"/><Relationship Id="rId5" Type="http://schemas.openxmlformats.org/officeDocument/2006/relationships/slideMaster" Target="slideMasters/slideMaster5.xml"/><Relationship Id="rId61" Type="http://schemas.openxmlformats.org/officeDocument/2006/relationships/viewProps" Target="viewProps.xml"/><Relationship Id="rId19" Type="http://schemas.openxmlformats.org/officeDocument/2006/relationships/slide" Target="slides/slide7.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slide" Target="slides/slide44.xml"/><Relationship Id="rId8" Type="http://schemas.openxmlformats.org/officeDocument/2006/relationships/slideMaster" Target="slideMasters/slideMaster8.xml"/><Relationship Id="rId51" Type="http://schemas.openxmlformats.org/officeDocument/2006/relationships/slide" Target="slides/slide39.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tags" Target="tags/tag1.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notesMaster" Target="notesMasters/notesMaster1.xml"/><Relationship Id="rId10" Type="http://schemas.openxmlformats.org/officeDocument/2006/relationships/slideMaster" Target="slideMasters/slideMaster10.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extLst>
      <p:ext uri="{BB962C8B-B14F-4D97-AF65-F5344CB8AC3E}">
        <p14:creationId xmlns:p14="http://schemas.microsoft.com/office/powerpoint/2010/main" val="953056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133D7-F0D4-95DE-BC4E-7580C790FE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32AFEC-8F93-6FB4-BBE2-5992FE7009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EDBA0E-867B-3D24-AE2A-9AB6C2F4E0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FBE0D0DC-7C73-E362-A272-1665A4FB140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86464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07CAF-A367-645E-AD16-C87C9A13BE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F6AA3CE-1818-0BD8-B78B-8C9F1B08D9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23D863-3680-4FEF-E878-4F935209ACF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4B8CE5FD-24C1-1546-60A4-1053FCCED6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34863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711B2-C4E9-7A6F-C661-5054E0E16A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C9EFF6-D8D9-AC5F-62D7-9F0CA5B15E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D21221-6A93-98B6-1018-B93DC91EC8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5389F443-5202-394F-A379-ED53B2D664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79444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7FC9D-EF6A-21EF-7207-E7BB993065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42E24C7-CC0F-EFD4-3503-13EBFE02BC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F269A3-2387-DFF4-C396-E037A094F74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2F1D9D4B-8668-CF30-1342-30C56F1C1E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02748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5980D-FD29-F7A3-1E20-E2A6706F6E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98B8C4-FC67-3CB3-18FA-BB6FF382E5B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A89FB8-FA7E-70A4-6A2D-7AA3F187C08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8CA65E79-3730-5E37-7B19-A8C4ECCFE4B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67502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F4160-E66E-DE9F-2BC7-FEFE890DFB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51250B-DB7B-E0C8-3CB6-16995788A96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1EA927-A5E8-BC99-DDF1-2CC6C64051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7D50B776-3488-1229-7D9E-14D5AFF8D7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40573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39CFE-EB1F-A4D4-DA1A-1052284040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5CBF84-7A19-1CCB-D540-2BD1D99559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E4D7718-77E6-193B-A855-3F16182725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DD6C00BC-D578-9010-5997-B86033C0A7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05788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54F10-DE05-D6C6-8014-F64CB4B889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D1A6099-1BBE-753E-EBA0-B6D88E47A56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3B966F-62BC-D682-65C6-B0386230845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8CB6EBB2-D72C-BD85-02A4-9B39CA3409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14223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8F012-2451-3AB9-E165-F9D07F3F34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06070C-4003-09C7-2195-2B97A766E91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584E66D-CD1D-43AA-299B-690D9C070FC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42D1EA97-63D4-DB7B-40F7-A6CCC8D0F3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770925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F7502-9FCD-5CF9-E21F-A34B6F79DE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0D8339-9EA8-0C98-32EE-D8FFE7748E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C708D9-9700-E266-F6F0-039811EEB79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F0C3018B-7653-F4AF-AC56-DF017D72FCB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32734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928BC-BEB4-E6F0-F4B6-7FDACF2AC6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CDDF8E8-6C77-A43A-CDD3-54ABB1FAE9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9146D5D-D85E-54F3-41C8-5795835690C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B649CAC0-DD0C-DE04-D271-6E7AE3C3F5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418494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367C7-FA60-27DA-665A-B83BD37FD2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86F361-F51F-E6D1-1AF4-114C4D0197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7E38A16-D212-5674-BB2D-4EEA4C90A40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7FC81A50-BB63-CA44-6A81-A868664962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793054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15E54-27B4-9F48-064A-3B83049629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F5AD94-C411-E3D0-D309-91F6A30D31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141739-C40B-3E00-6E24-0F23F7C6FCF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8CC194C5-A76F-8F41-0D22-2ED3E32A86C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377059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1F846-BF9F-CF00-188D-7B14BF31F3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7A8C71-6B49-71F2-5D31-D45DB41600B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A945F0F-7D11-C75A-D748-7FC1BC10636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40581084-64AE-6E54-54F6-71E98EEA55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78798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03214-4A45-E661-CAE1-90B3D94CA4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D745F9-4187-FA36-E645-3C4D7040D0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6CC7FD4-4214-8F76-A7A1-443B8434F86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65B89196-01F8-AACB-8EA5-6E0CCDCA5E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414547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5E681-0234-A66E-07B6-0FD9FEDDF7F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B2D341-DEB4-4FB1-EAE5-760E6241436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3F42D1-3B7F-F1CB-7451-FE6A38A10B0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55D6D7C1-3978-19C1-0243-D4E84E1DF0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351885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18010-B607-23F7-02A7-A7A3AE59C2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80DD73-7701-029E-8BBD-F90A354256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CDD16D-9801-6207-59E8-363B31CD105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u="sng" dirty="0"/>
              <a:t>。</a:t>
            </a:r>
          </a:p>
        </p:txBody>
      </p:sp>
      <p:sp>
        <p:nvSpPr>
          <p:cNvPr id="4" name="灯片编号占位符 3">
            <a:extLst>
              <a:ext uri="{FF2B5EF4-FFF2-40B4-BE49-F238E27FC236}">
                <a16:creationId xmlns:a16="http://schemas.microsoft.com/office/drawing/2014/main" id="{BCF553D1-4F72-FA5F-C535-7B8A62F3B2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259946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3D13F-8EDA-529F-F38E-7F9F2CAC04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A6F9C1A-81DF-EC96-6875-BCE9FAABE4C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7EF9B4-2C36-D0DE-A291-542C1912F66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91E1C6A3-50A6-9616-1571-39B891AF550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045995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5D557-E6EA-A9C3-90C2-5174025A2B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0985B1-0CBE-4337-A579-0D67C12A2F0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AE8FFA-4C41-2271-9694-46A1EA4734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2F6EDB62-87D5-B69C-1BD2-825F5A20D0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5949250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FA98B-D3CC-8F15-0DC0-68B1C8C15C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7EFAC02-A58F-9D15-931E-70E6C19464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6C38B6-4551-CACF-DF27-0724AB7B6E5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8369C678-BEB4-0B35-BD05-5ACD068ACA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02966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DDCA9-7EFC-E935-601D-417520D5E1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E07F7A3-7C97-A753-77A5-6F912B8F21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B7028CF-1D37-2A68-70D3-852C44DE8E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B30C1DE5-5FA6-C578-F795-0E65FA3E93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687498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D9067-00E8-6265-41FA-E31353F14C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A4BEB7-9DD6-E706-BD0B-C560342009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5C199BD-F69A-54F1-5E9D-6DEBA03778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CB17D565-224C-F8AE-9B27-B56BDC8B5B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542883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904D7-C2BE-EF3A-8AB9-EDFDCDECC8F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C281F67-CDE2-B866-FE62-B57D3AF3E3F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D614108-10AF-DE0E-B896-92B9979329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C9C5F54B-1215-DC90-63DF-A428BEFBAB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591798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E572-5DB1-02BF-583C-A0FA7BF08C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81C38D-0AE5-4E55-E619-247406CE61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677831-000A-FC6F-4DC4-429B4230CF7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3F5491A0-1CB7-7AB0-0F4F-53F1648FCF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6122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D6A7E-2164-B56C-A4BF-2A6931F09B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B6E435-B6AE-AB17-F428-25B222B459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A2C335-99F1-CEBF-8745-EFE47A32BD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9E31370D-96BE-1BEE-C32B-55E8CBD111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243681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5E84-6055-6149-A338-639DA07436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49AF1A-5D9A-DFD8-C64C-36CF3CE1B4B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D70256-260E-8430-9B41-59D35701A37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735569DC-C5EF-68B5-C2F4-6900E90C025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450430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5EE8D-97FC-6BE0-3058-BC930E0EE6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7B3E70-890E-6C5F-457D-38C4800F93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EB1424-A65E-FF02-F3BE-25344192593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A32A8442-5EE9-589F-5D48-896CB1E119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520657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A6ADF-FC52-A8A4-263E-CF29AA5BE3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6216C8-164F-B269-7BDA-5531D58D7E0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2118C5-62FF-2664-73A1-73C6AE5A56F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1952B0AB-7447-406F-8D56-996F53C61F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534203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53854-F68B-3BD1-C363-3AD15E5BFC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6D4F65-6F15-04A0-2080-DBF4E1FF3D1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E63141-6BE2-A9AB-939F-82CD5BE7AA5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D111732B-1DC8-8D0F-69AB-063C8A4FD0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374479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1446C-848B-12B8-C574-23DB90CF825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3B7CE4-7EF2-C317-F56F-ED777EC0259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F3CE16-66CA-373C-6E5F-E8ABCBA7CC0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AC9BFA88-AAD2-D56C-C57F-7129D2192F0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76747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0BD6D-BF00-19AD-88E2-68CB8A9C77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99B093-7856-CF9E-C2EF-01552FF7302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599DF5F-43E8-BCF4-ED9D-DAD459AB640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E0C1EC3D-7BBD-FAE1-1652-ACC00AA299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71993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43915-E04C-F6EF-2FA6-E01687E1AD3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250044C-3748-6C69-8A56-583C609EE53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DCA39E-F1D4-3D14-4C32-9CCB79F25C9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2E6B7691-63DE-7AEE-BBAA-726DB77BA69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695136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FBA5F-F33C-32CD-6F88-CDE0CCCF27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2A6374-0125-066A-D0E5-596FE2F863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451D69-A4D6-47AF-C2DA-BC08CC72BF4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35D5CA89-631D-95A6-60AE-7EFA7F5C08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572524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6E0F8-5F70-C981-1713-EAFD1FB8ECF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C2B3BF6-5739-7261-7B16-8FB086E115E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728D8B-5DAC-1C19-E45F-21DA36515C4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291D2913-3AC3-54E9-E16E-BFD16A7E31A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67441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74333-3C38-7485-55D9-70A9C7CCD8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AAD681-EA44-8752-8D5E-E3405AA5B9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58D2E2-EE83-8720-277E-26767811AC5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4B4397D2-F5BD-0EC3-424B-1411312113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91166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08AF-6E64-E7A5-79E6-173E1463BC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C42D96D-F670-3FE4-F211-570D3A9FA9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A9C306C-23DA-B7B8-2C4C-8190EE0D0B4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40E083C6-F42A-92B7-653D-716B8B97D3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327894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C8DCD-E322-905A-D9D0-20B36802AB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6745F6-7906-7C8E-3588-F7A0BE9EA7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B573B83-F816-E3CE-78AC-BA1B527DB8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表格中数值表示数据库中包含</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kern="100" dirty="0">
                <a:effectLst/>
                <a:latin typeface="Times New Roman" panose="02020603050405020304" pitchFamily="18" charset="0"/>
                <a:ea typeface="宋体" panose="02010600030101010101" pitchFamily="2" charset="-122"/>
              </a:rPr>
              <a:t>B</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等项集的事务数量，关联规则评估度量都基于列联表中的数据进行运算</a:t>
            </a:r>
            <a:endParaRPr lang="zh-CN" altLang="en-US" sz="1800" u="sng" dirty="0"/>
          </a:p>
        </p:txBody>
      </p:sp>
      <p:sp>
        <p:nvSpPr>
          <p:cNvPr id="4" name="灯片编号占位符 3">
            <a:extLst>
              <a:ext uri="{FF2B5EF4-FFF2-40B4-BE49-F238E27FC236}">
                <a16:creationId xmlns:a16="http://schemas.microsoft.com/office/drawing/2014/main" id="{9D51066A-8FA7-B3EF-0DEC-6E92E53999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295892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857CF-D52F-D880-A1D6-6F858A716E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B83CB4-AE0B-A4E3-B1AF-47643E13882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E87602E-746D-E939-E226-268CCE19965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E9909D2E-3888-3C6C-9165-8D2E02D588E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02864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8A2DC-85AE-5E1A-D3B1-AB8FF69A57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E522BB-9E3B-A2C4-A551-E40E252551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640CE5-29B1-7F45-BBF6-D766AE9DA6F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37029060-0BFA-CCA3-8098-F1A8DC76B65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252308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2800C-3713-A5F3-2387-0E08498A18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061B8E-6CDE-3AA4-E919-F4CE88F5EB6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13C10E-5734-C089-E26E-24A4136CDDD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51611C3D-6866-0A62-ECE2-6DBD94BD8D5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313181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8B945-1702-2827-BD10-825CDBD341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6A986F-A31B-433A-AA13-6FD7F6B2B6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13BF04B-E322-10D2-BB5B-1CEDF30AA8D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4F38EE14-3BC3-4979-9F13-B447B69C678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299081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58924-DB51-2C5F-59F1-3F108FA42EC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91D34B8-C168-6AFB-291E-0DA628CDCF7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08E193-8066-AEA5-A47F-2DA87B50865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822A2F7F-1CCF-7382-5C41-2ECB9B8DAC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638174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4/16/2025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4/16/2025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2025/4/16</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6.emf"/><Relationship Id="rId5" Type="http://schemas.openxmlformats.org/officeDocument/2006/relationships/oleObject" Target="../embeddings/oleObject4.bin"/><Relationship Id="rId4" Type="http://schemas.openxmlformats.org/officeDocument/2006/relationships/image" Target="../media/image25.emf"/></Relationships>
</file>

<file path=ppt/slides/_rels/slide6.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31.w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8.wmf"/><Relationship Id="rId11" Type="http://schemas.openxmlformats.org/officeDocument/2006/relationships/oleObject" Target="../embeddings/oleObject9.bin"/><Relationship Id="rId5" Type="http://schemas.openxmlformats.org/officeDocument/2006/relationships/oleObject" Target="../embeddings/oleObject6.bin"/><Relationship Id="rId10" Type="http://schemas.openxmlformats.org/officeDocument/2006/relationships/image" Target="../media/image30.emf"/><Relationship Id="rId4" Type="http://schemas.openxmlformats.org/officeDocument/2006/relationships/image" Target="../media/image27.emf"/><Relationship Id="rId9" Type="http://schemas.openxmlformats.org/officeDocument/2006/relationships/oleObject" Target="../embeddings/oleObject8.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2.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39.emf"/><Relationship Id="rId13" Type="http://schemas.openxmlformats.org/officeDocument/2006/relationships/oleObject" Target="../embeddings/oleObject18.bin"/><Relationship Id="rId18" Type="http://schemas.openxmlformats.org/officeDocument/2006/relationships/image" Target="../media/image44.emf"/><Relationship Id="rId3" Type="http://schemas.openxmlformats.org/officeDocument/2006/relationships/oleObject" Target="../embeddings/oleObject13.bin"/><Relationship Id="rId21" Type="http://schemas.openxmlformats.org/officeDocument/2006/relationships/oleObject" Target="../embeddings/oleObject22.bin"/><Relationship Id="rId7" Type="http://schemas.openxmlformats.org/officeDocument/2006/relationships/oleObject" Target="../embeddings/oleObject15.bin"/><Relationship Id="rId12" Type="http://schemas.openxmlformats.org/officeDocument/2006/relationships/image" Target="../media/image41.emf"/><Relationship Id="rId17" Type="http://schemas.openxmlformats.org/officeDocument/2006/relationships/oleObject" Target="../embeddings/oleObject20.bin"/><Relationship Id="rId2" Type="http://schemas.openxmlformats.org/officeDocument/2006/relationships/notesSlide" Target="../notesSlides/notesSlide14.xml"/><Relationship Id="rId16" Type="http://schemas.openxmlformats.org/officeDocument/2006/relationships/image" Target="../media/image43.wmf"/><Relationship Id="rId20" Type="http://schemas.openxmlformats.org/officeDocument/2006/relationships/image" Target="../media/image45.wmf"/><Relationship Id="rId1" Type="http://schemas.openxmlformats.org/officeDocument/2006/relationships/slideLayout" Target="../slideLayouts/slideLayout2.xml"/><Relationship Id="rId6" Type="http://schemas.openxmlformats.org/officeDocument/2006/relationships/image" Target="../media/image38.emf"/><Relationship Id="rId11" Type="http://schemas.openxmlformats.org/officeDocument/2006/relationships/oleObject" Target="../embeddings/oleObject17.bin"/><Relationship Id="rId5" Type="http://schemas.openxmlformats.org/officeDocument/2006/relationships/oleObject" Target="../embeddings/oleObject14.bin"/><Relationship Id="rId15" Type="http://schemas.openxmlformats.org/officeDocument/2006/relationships/oleObject" Target="../embeddings/oleObject19.bin"/><Relationship Id="rId10" Type="http://schemas.openxmlformats.org/officeDocument/2006/relationships/image" Target="../media/image40.emf"/><Relationship Id="rId19" Type="http://schemas.openxmlformats.org/officeDocument/2006/relationships/oleObject" Target="../embeddings/oleObject21.bin"/><Relationship Id="rId4" Type="http://schemas.openxmlformats.org/officeDocument/2006/relationships/image" Target="../media/image37.emf"/><Relationship Id="rId9" Type="http://schemas.openxmlformats.org/officeDocument/2006/relationships/oleObject" Target="../embeddings/oleObject16.bin"/><Relationship Id="rId14" Type="http://schemas.openxmlformats.org/officeDocument/2006/relationships/image" Target="../media/image42.emf"/><Relationship Id="rId22" Type="http://schemas.openxmlformats.org/officeDocument/2006/relationships/image" Target="../media/image46.emf"/></Relationships>
</file>

<file path=ppt/slides/_rels/slide15.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oleObject" Target="../embeddings/oleObject23.bin"/><Relationship Id="rId7"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8.emf"/><Relationship Id="rId5" Type="http://schemas.openxmlformats.org/officeDocument/2006/relationships/oleObject" Target="../embeddings/oleObject24.bin"/><Relationship Id="rId4" Type="http://schemas.openxmlformats.org/officeDocument/2006/relationships/image" Target="../media/image47.emf"/></Relationships>
</file>

<file path=ppt/slides/_rels/slide1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54.emf"/><Relationship Id="rId13" Type="http://schemas.openxmlformats.org/officeDocument/2006/relationships/oleObject" Target="../embeddings/oleObject30.bin"/><Relationship Id="rId18" Type="http://schemas.openxmlformats.org/officeDocument/2006/relationships/image" Target="../media/image59.emf"/><Relationship Id="rId3" Type="http://schemas.openxmlformats.org/officeDocument/2006/relationships/oleObject" Target="../embeddings/oleObject25.bin"/><Relationship Id="rId21" Type="http://schemas.openxmlformats.org/officeDocument/2006/relationships/oleObject" Target="../embeddings/oleObject34.bin"/><Relationship Id="rId7" Type="http://schemas.openxmlformats.org/officeDocument/2006/relationships/oleObject" Target="../embeddings/oleObject27.bin"/><Relationship Id="rId12" Type="http://schemas.openxmlformats.org/officeDocument/2006/relationships/image" Target="../media/image56.wmf"/><Relationship Id="rId17" Type="http://schemas.openxmlformats.org/officeDocument/2006/relationships/oleObject" Target="../embeddings/oleObject32.bin"/><Relationship Id="rId2" Type="http://schemas.openxmlformats.org/officeDocument/2006/relationships/notesSlide" Target="../notesSlides/notesSlide17.xml"/><Relationship Id="rId16" Type="http://schemas.openxmlformats.org/officeDocument/2006/relationships/image" Target="../media/image58.emf"/><Relationship Id="rId20" Type="http://schemas.openxmlformats.org/officeDocument/2006/relationships/image" Target="../media/image60.emf"/><Relationship Id="rId1" Type="http://schemas.openxmlformats.org/officeDocument/2006/relationships/slideLayout" Target="../slideLayouts/slideLayout2.xml"/><Relationship Id="rId6" Type="http://schemas.openxmlformats.org/officeDocument/2006/relationships/image" Target="../media/image53.emf"/><Relationship Id="rId11" Type="http://schemas.openxmlformats.org/officeDocument/2006/relationships/oleObject" Target="../embeddings/oleObject29.bin"/><Relationship Id="rId5" Type="http://schemas.openxmlformats.org/officeDocument/2006/relationships/oleObject" Target="../embeddings/oleObject26.bin"/><Relationship Id="rId15" Type="http://schemas.openxmlformats.org/officeDocument/2006/relationships/oleObject" Target="../embeddings/oleObject31.bin"/><Relationship Id="rId10" Type="http://schemas.openxmlformats.org/officeDocument/2006/relationships/image" Target="../media/image55.emf"/><Relationship Id="rId19" Type="http://schemas.openxmlformats.org/officeDocument/2006/relationships/oleObject" Target="../embeddings/oleObject33.bin"/><Relationship Id="rId4" Type="http://schemas.openxmlformats.org/officeDocument/2006/relationships/image" Target="../media/image52.emf"/><Relationship Id="rId9" Type="http://schemas.openxmlformats.org/officeDocument/2006/relationships/oleObject" Target="../embeddings/oleObject28.bin"/><Relationship Id="rId14" Type="http://schemas.openxmlformats.org/officeDocument/2006/relationships/image" Target="../media/image57.wmf"/><Relationship Id="rId22" Type="http://schemas.openxmlformats.org/officeDocument/2006/relationships/image" Target="../media/image61.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2.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3.emf"/></Relationships>
</file>

<file path=ppt/slides/_rels/slide20.xml.rels><?xml version="1.0" encoding="UTF-8" standalone="yes"?>
<Relationships xmlns="http://schemas.openxmlformats.org/package/2006/relationships"><Relationship Id="rId8" Type="http://schemas.openxmlformats.org/officeDocument/2006/relationships/image" Target="../media/image66.emf"/><Relationship Id="rId13" Type="http://schemas.openxmlformats.org/officeDocument/2006/relationships/oleObject" Target="../embeddings/oleObject42.bin"/><Relationship Id="rId18" Type="http://schemas.openxmlformats.org/officeDocument/2006/relationships/image" Target="../media/image71.emf"/><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68.wmf"/><Relationship Id="rId17" Type="http://schemas.openxmlformats.org/officeDocument/2006/relationships/oleObject" Target="../embeddings/oleObject44.bin"/><Relationship Id="rId2" Type="http://schemas.openxmlformats.org/officeDocument/2006/relationships/notesSlide" Target="../notesSlides/notesSlide20.xml"/><Relationship Id="rId16" Type="http://schemas.openxmlformats.org/officeDocument/2006/relationships/image" Target="../media/image70.wmf"/><Relationship Id="rId1" Type="http://schemas.openxmlformats.org/officeDocument/2006/relationships/slideLayout" Target="../slideLayouts/slideLayout2.xml"/><Relationship Id="rId6" Type="http://schemas.openxmlformats.org/officeDocument/2006/relationships/image" Target="../media/image65.emf"/><Relationship Id="rId11" Type="http://schemas.openxmlformats.org/officeDocument/2006/relationships/oleObject" Target="../embeddings/oleObject41.bin"/><Relationship Id="rId5" Type="http://schemas.openxmlformats.org/officeDocument/2006/relationships/oleObject" Target="../embeddings/oleObject38.bin"/><Relationship Id="rId15" Type="http://schemas.openxmlformats.org/officeDocument/2006/relationships/oleObject" Target="../embeddings/oleObject43.bin"/><Relationship Id="rId10" Type="http://schemas.openxmlformats.org/officeDocument/2006/relationships/image" Target="../media/image67.emf"/><Relationship Id="rId4" Type="http://schemas.openxmlformats.org/officeDocument/2006/relationships/image" Target="../media/image64.emf"/><Relationship Id="rId9" Type="http://schemas.openxmlformats.org/officeDocument/2006/relationships/oleObject" Target="../embeddings/oleObject40.bin"/><Relationship Id="rId14" Type="http://schemas.openxmlformats.org/officeDocument/2006/relationships/image" Target="../media/image69.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2.emf"/></Relationships>
</file>

<file path=ppt/slides/_rels/slide22.xml.rels><?xml version="1.0" encoding="UTF-8" standalone="yes"?>
<Relationships xmlns="http://schemas.openxmlformats.org/package/2006/relationships"><Relationship Id="rId8" Type="http://schemas.openxmlformats.org/officeDocument/2006/relationships/image" Target="../media/image75.emf"/><Relationship Id="rId3" Type="http://schemas.openxmlformats.org/officeDocument/2006/relationships/oleObject" Target="../embeddings/oleObject46.bin"/><Relationship Id="rId7" Type="http://schemas.openxmlformats.org/officeDocument/2006/relationships/oleObject" Target="../embeddings/oleObject48.bin"/><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74.emf"/><Relationship Id="rId5" Type="http://schemas.openxmlformats.org/officeDocument/2006/relationships/oleObject" Target="../embeddings/oleObject47.bin"/><Relationship Id="rId10" Type="http://schemas.openxmlformats.org/officeDocument/2006/relationships/image" Target="../media/image76.emf"/><Relationship Id="rId4" Type="http://schemas.openxmlformats.org/officeDocument/2006/relationships/image" Target="../media/image73.emf"/><Relationship Id="rId9" Type="http://schemas.openxmlformats.org/officeDocument/2006/relationships/oleObject" Target="../embeddings/oleObject49.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7.e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oleObject" Target="../embeddings/oleObject51.bin"/><Relationship Id="rId7" Type="http://schemas.openxmlformats.org/officeDocument/2006/relationships/image" Target="../media/image80.emf"/><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oleObject" Target="../embeddings/oleObject52.bin"/><Relationship Id="rId11" Type="http://schemas.openxmlformats.org/officeDocument/2006/relationships/image" Target="../media/image82.wmf"/><Relationship Id="rId5" Type="http://schemas.openxmlformats.org/officeDocument/2006/relationships/image" Target="../media/image79.png"/><Relationship Id="rId10" Type="http://schemas.openxmlformats.org/officeDocument/2006/relationships/oleObject" Target="../embeddings/oleObject54.bin"/><Relationship Id="rId4" Type="http://schemas.openxmlformats.org/officeDocument/2006/relationships/image" Target="../media/image78.wmf"/><Relationship Id="rId9" Type="http://schemas.openxmlformats.org/officeDocument/2006/relationships/image" Target="../media/image81.emf"/></Relationships>
</file>

<file path=ppt/slides/_rels/slide25.xml.rels><?xml version="1.0" encoding="UTF-8" standalone="yes"?>
<Relationships xmlns="http://schemas.openxmlformats.org/package/2006/relationships"><Relationship Id="rId8" Type="http://schemas.openxmlformats.org/officeDocument/2006/relationships/image" Target="../media/image85.emf"/><Relationship Id="rId13" Type="http://schemas.openxmlformats.org/officeDocument/2006/relationships/oleObject" Target="../embeddings/oleObject60.bin"/><Relationship Id="rId3" Type="http://schemas.openxmlformats.org/officeDocument/2006/relationships/oleObject" Target="../embeddings/oleObject55.bin"/><Relationship Id="rId7" Type="http://schemas.openxmlformats.org/officeDocument/2006/relationships/oleObject" Target="../embeddings/oleObject57.bin"/><Relationship Id="rId12" Type="http://schemas.openxmlformats.org/officeDocument/2006/relationships/image" Target="../media/image87.emf"/><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84.emf"/><Relationship Id="rId11" Type="http://schemas.openxmlformats.org/officeDocument/2006/relationships/oleObject" Target="../embeddings/oleObject59.bin"/><Relationship Id="rId5" Type="http://schemas.openxmlformats.org/officeDocument/2006/relationships/oleObject" Target="../embeddings/oleObject56.bin"/><Relationship Id="rId10" Type="http://schemas.openxmlformats.org/officeDocument/2006/relationships/image" Target="../media/image86.emf"/><Relationship Id="rId4" Type="http://schemas.openxmlformats.org/officeDocument/2006/relationships/image" Target="../media/image83.emf"/><Relationship Id="rId9" Type="http://schemas.openxmlformats.org/officeDocument/2006/relationships/oleObject" Target="../embeddings/oleObject58.bin"/><Relationship Id="rId14" Type="http://schemas.openxmlformats.org/officeDocument/2006/relationships/image" Target="../media/image88.emf"/></Relationships>
</file>

<file path=ppt/slides/_rels/slide2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92.emf"/><Relationship Id="rId3" Type="http://schemas.openxmlformats.org/officeDocument/2006/relationships/oleObject" Target="../embeddings/oleObject61.bin"/><Relationship Id="rId7" Type="http://schemas.openxmlformats.org/officeDocument/2006/relationships/oleObject" Target="../embeddings/oleObject63.bin"/><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91.emf"/><Relationship Id="rId5" Type="http://schemas.openxmlformats.org/officeDocument/2006/relationships/oleObject" Target="../embeddings/oleObject62.bin"/><Relationship Id="rId4" Type="http://schemas.openxmlformats.org/officeDocument/2006/relationships/image" Target="../media/image90.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94.emf"/><Relationship Id="rId5" Type="http://schemas.openxmlformats.org/officeDocument/2006/relationships/oleObject" Target="../embeddings/oleObject65.bin"/><Relationship Id="rId4" Type="http://schemas.openxmlformats.org/officeDocument/2006/relationships/image" Target="../media/image93.emf"/></Relationships>
</file>

<file path=ppt/slides/_rels/slide29.xml.rels><?xml version="1.0" encoding="UTF-8" standalone="yes"?>
<Relationships xmlns="http://schemas.openxmlformats.org/package/2006/relationships"><Relationship Id="rId8" Type="http://schemas.openxmlformats.org/officeDocument/2006/relationships/image" Target="../media/image91.emf"/><Relationship Id="rId3" Type="http://schemas.openxmlformats.org/officeDocument/2006/relationships/oleObject" Target="../embeddings/oleObject66.bin"/><Relationship Id="rId7" Type="http://schemas.openxmlformats.org/officeDocument/2006/relationships/oleObject" Target="../embeddings/oleObject62.bin"/><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90.emf"/><Relationship Id="rId5" Type="http://schemas.openxmlformats.org/officeDocument/2006/relationships/oleObject" Target="../embeddings/oleObject61.bin"/><Relationship Id="rId4" Type="http://schemas.openxmlformats.org/officeDocument/2006/relationships/image" Target="../media/image95.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96.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97.emf"/></Relationships>
</file>

<file path=ppt/slides/_rels/slide32.xml.rels><?xml version="1.0" encoding="UTF-8" standalone="yes"?>
<Relationships xmlns="http://schemas.openxmlformats.org/package/2006/relationships"><Relationship Id="rId8" Type="http://schemas.openxmlformats.org/officeDocument/2006/relationships/image" Target="../media/image100.emf"/><Relationship Id="rId3" Type="http://schemas.openxmlformats.org/officeDocument/2006/relationships/oleObject" Target="../embeddings/oleObject69.bin"/><Relationship Id="rId7" Type="http://schemas.openxmlformats.org/officeDocument/2006/relationships/oleObject" Target="../embeddings/oleObject71.bin"/><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99.wmf"/><Relationship Id="rId5" Type="http://schemas.openxmlformats.org/officeDocument/2006/relationships/oleObject" Target="../embeddings/oleObject70.bin"/><Relationship Id="rId10" Type="http://schemas.openxmlformats.org/officeDocument/2006/relationships/image" Target="../media/image101.emf"/><Relationship Id="rId4" Type="http://schemas.openxmlformats.org/officeDocument/2006/relationships/image" Target="../media/image98.wmf"/><Relationship Id="rId9" Type="http://schemas.openxmlformats.org/officeDocument/2006/relationships/oleObject" Target="../embeddings/oleObject72.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02.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03.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05.emf"/><Relationship Id="rId5" Type="http://schemas.openxmlformats.org/officeDocument/2006/relationships/oleObject" Target="../embeddings/oleObject76.bin"/><Relationship Id="rId4" Type="http://schemas.openxmlformats.org/officeDocument/2006/relationships/image" Target="../media/image104.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06.e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109.wmf"/><Relationship Id="rId13" Type="http://schemas.openxmlformats.org/officeDocument/2006/relationships/oleObject" Target="../embeddings/oleObject83.bin"/><Relationship Id="rId18" Type="http://schemas.openxmlformats.org/officeDocument/2006/relationships/image" Target="../media/image114.emf"/><Relationship Id="rId3" Type="http://schemas.openxmlformats.org/officeDocument/2006/relationships/oleObject" Target="../embeddings/oleObject78.bin"/><Relationship Id="rId7" Type="http://schemas.openxmlformats.org/officeDocument/2006/relationships/oleObject" Target="../embeddings/oleObject80.bin"/><Relationship Id="rId12" Type="http://schemas.openxmlformats.org/officeDocument/2006/relationships/image" Target="../media/image111.wmf"/><Relationship Id="rId17" Type="http://schemas.openxmlformats.org/officeDocument/2006/relationships/oleObject" Target="../embeddings/oleObject85.bin"/><Relationship Id="rId2" Type="http://schemas.openxmlformats.org/officeDocument/2006/relationships/notesSlide" Target="../notesSlides/notesSlide38.xml"/><Relationship Id="rId16" Type="http://schemas.openxmlformats.org/officeDocument/2006/relationships/image" Target="../media/image113.emf"/><Relationship Id="rId1" Type="http://schemas.openxmlformats.org/officeDocument/2006/relationships/slideLayout" Target="../slideLayouts/slideLayout2.xml"/><Relationship Id="rId6" Type="http://schemas.openxmlformats.org/officeDocument/2006/relationships/image" Target="../media/image108.wmf"/><Relationship Id="rId11" Type="http://schemas.openxmlformats.org/officeDocument/2006/relationships/oleObject" Target="../embeddings/oleObject82.bin"/><Relationship Id="rId5" Type="http://schemas.openxmlformats.org/officeDocument/2006/relationships/oleObject" Target="../embeddings/oleObject79.bin"/><Relationship Id="rId15" Type="http://schemas.openxmlformats.org/officeDocument/2006/relationships/oleObject" Target="../embeddings/oleObject84.bin"/><Relationship Id="rId10" Type="http://schemas.openxmlformats.org/officeDocument/2006/relationships/image" Target="../media/image110.wmf"/><Relationship Id="rId4" Type="http://schemas.openxmlformats.org/officeDocument/2006/relationships/image" Target="../media/image107.emf"/><Relationship Id="rId9" Type="http://schemas.openxmlformats.org/officeDocument/2006/relationships/oleObject" Target="../embeddings/oleObject81.bin"/><Relationship Id="rId14" Type="http://schemas.openxmlformats.org/officeDocument/2006/relationships/image" Target="../media/image112.wmf"/></Relationships>
</file>

<file path=ppt/slides/_rels/slide39.xml.rels><?xml version="1.0" encoding="UTF-8" standalone="yes"?>
<Relationships xmlns="http://schemas.openxmlformats.org/package/2006/relationships"><Relationship Id="rId8" Type="http://schemas.openxmlformats.org/officeDocument/2006/relationships/image" Target="../media/image110.wmf"/><Relationship Id="rId13" Type="http://schemas.openxmlformats.org/officeDocument/2006/relationships/oleObject" Target="../embeddings/oleObject87.bin"/><Relationship Id="rId3" Type="http://schemas.openxmlformats.org/officeDocument/2006/relationships/oleObject" Target="../embeddings/oleObject79.bin"/><Relationship Id="rId7" Type="http://schemas.openxmlformats.org/officeDocument/2006/relationships/oleObject" Target="../embeddings/oleObject81.bin"/><Relationship Id="rId12" Type="http://schemas.openxmlformats.org/officeDocument/2006/relationships/image" Target="../media/image115.wmf"/><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109.wmf"/><Relationship Id="rId11" Type="http://schemas.openxmlformats.org/officeDocument/2006/relationships/oleObject" Target="../embeddings/oleObject86.bin"/><Relationship Id="rId5" Type="http://schemas.openxmlformats.org/officeDocument/2006/relationships/oleObject" Target="../embeddings/oleObject80.bin"/><Relationship Id="rId10" Type="http://schemas.openxmlformats.org/officeDocument/2006/relationships/image" Target="../media/image111.wmf"/><Relationship Id="rId4" Type="http://schemas.openxmlformats.org/officeDocument/2006/relationships/image" Target="../media/image108.wmf"/><Relationship Id="rId9" Type="http://schemas.openxmlformats.org/officeDocument/2006/relationships/oleObject" Target="../embeddings/oleObject82.bin"/><Relationship Id="rId14" Type="http://schemas.openxmlformats.org/officeDocument/2006/relationships/image" Target="../media/image116.emf"/></Relationships>
</file>

<file path=ppt/slides/_rels/slide40.xml.rels><?xml version="1.0" encoding="UTF-8" standalone="yes"?>
<Relationships xmlns="http://schemas.openxmlformats.org/package/2006/relationships"><Relationship Id="rId8" Type="http://schemas.openxmlformats.org/officeDocument/2006/relationships/image" Target="../media/image110.wmf"/><Relationship Id="rId13" Type="http://schemas.openxmlformats.org/officeDocument/2006/relationships/oleObject" Target="../embeddings/oleObject89.bin"/><Relationship Id="rId18" Type="http://schemas.openxmlformats.org/officeDocument/2006/relationships/image" Target="../media/image120.wmf"/><Relationship Id="rId3" Type="http://schemas.openxmlformats.org/officeDocument/2006/relationships/oleObject" Target="../embeddings/oleObject79.bin"/><Relationship Id="rId7" Type="http://schemas.openxmlformats.org/officeDocument/2006/relationships/oleObject" Target="../embeddings/oleObject81.bin"/><Relationship Id="rId12" Type="http://schemas.openxmlformats.org/officeDocument/2006/relationships/image" Target="../media/image117.emf"/><Relationship Id="rId17" Type="http://schemas.openxmlformats.org/officeDocument/2006/relationships/oleObject" Target="../embeddings/oleObject91.bin"/><Relationship Id="rId2" Type="http://schemas.openxmlformats.org/officeDocument/2006/relationships/notesSlide" Target="../notesSlides/notesSlide40.xml"/><Relationship Id="rId16" Type="http://schemas.openxmlformats.org/officeDocument/2006/relationships/image" Target="../media/image119.emf"/><Relationship Id="rId1" Type="http://schemas.openxmlformats.org/officeDocument/2006/relationships/slideLayout" Target="../slideLayouts/slideLayout2.xml"/><Relationship Id="rId6" Type="http://schemas.openxmlformats.org/officeDocument/2006/relationships/image" Target="../media/image109.wmf"/><Relationship Id="rId11" Type="http://schemas.openxmlformats.org/officeDocument/2006/relationships/oleObject" Target="../embeddings/oleObject88.bin"/><Relationship Id="rId5" Type="http://schemas.openxmlformats.org/officeDocument/2006/relationships/oleObject" Target="../embeddings/oleObject80.bin"/><Relationship Id="rId15" Type="http://schemas.openxmlformats.org/officeDocument/2006/relationships/oleObject" Target="../embeddings/oleObject90.bin"/><Relationship Id="rId10" Type="http://schemas.openxmlformats.org/officeDocument/2006/relationships/image" Target="../media/image111.wmf"/><Relationship Id="rId4" Type="http://schemas.openxmlformats.org/officeDocument/2006/relationships/image" Target="../media/image108.wmf"/><Relationship Id="rId9" Type="http://schemas.openxmlformats.org/officeDocument/2006/relationships/oleObject" Target="../embeddings/oleObject82.bin"/><Relationship Id="rId14" Type="http://schemas.openxmlformats.org/officeDocument/2006/relationships/image" Target="../media/image118.emf"/></Relationships>
</file>

<file path=ppt/slides/_rels/slide41.xml.rels><?xml version="1.0" encoding="UTF-8" standalone="yes"?>
<Relationships xmlns="http://schemas.openxmlformats.org/package/2006/relationships"><Relationship Id="rId8" Type="http://schemas.openxmlformats.org/officeDocument/2006/relationships/image" Target="../media/image110.wmf"/><Relationship Id="rId13" Type="http://schemas.openxmlformats.org/officeDocument/2006/relationships/oleObject" Target="../embeddings/oleObject93.bin"/><Relationship Id="rId3" Type="http://schemas.openxmlformats.org/officeDocument/2006/relationships/oleObject" Target="../embeddings/oleObject79.bin"/><Relationship Id="rId7" Type="http://schemas.openxmlformats.org/officeDocument/2006/relationships/oleObject" Target="../embeddings/oleObject81.bin"/><Relationship Id="rId12" Type="http://schemas.openxmlformats.org/officeDocument/2006/relationships/image" Target="../media/image121.emf"/><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109.wmf"/><Relationship Id="rId11" Type="http://schemas.openxmlformats.org/officeDocument/2006/relationships/oleObject" Target="../embeddings/oleObject92.bin"/><Relationship Id="rId5" Type="http://schemas.openxmlformats.org/officeDocument/2006/relationships/oleObject" Target="../embeddings/oleObject80.bin"/><Relationship Id="rId10" Type="http://schemas.openxmlformats.org/officeDocument/2006/relationships/image" Target="../media/image111.wmf"/><Relationship Id="rId4" Type="http://schemas.openxmlformats.org/officeDocument/2006/relationships/image" Target="../media/image108.wmf"/><Relationship Id="rId9" Type="http://schemas.openxmlformats.org/officeDocument/2006/relationships/oleObject" Target="../embeddings/oleObject82.bin"/><Relationship Id="rId14" Type="http://schemas.openxmlformats.org/officeDocument/2006/relationships/image" Target="../media/image122.wmf"/></Relationships>
</file>

<file path=ppt/slides/_rels/slide42.xml.rels><?xml version="1.0" encoding="UTF-8" standalone="yes"?>
<Relationships xmlns="http://schemas.openxmlformats.org/package/2006/relationships"><Relationship Id="rId8" Type="http://schemas.openxmlformats.org/officeDocument/2006/relationships/image" Target="../media/image110.wmf"/><Relationship Id="rId13" Type="http://schemas.openxmlformats.org/officeDocument/2006/relationships/oleObject" Target="../embeddings/oleObject95.bin"/><Relationship Id="rId3" Type="http://schemas.openxmlformats.org/officeDocument/2006/relationships/oleObject" Target="../embeddings/oleObject79.bin"/><Relationship Id="rId7" Type="http://schemas.openxmlformats.org/officeDocument/2006/relationships/oleObject" Target="../embeddings/oleObject81.bin"/><Relationship Id="rId12" Type="http://schemas.openxmlformats.org/officeDocument/2006/relationships/image" Target="../media/image123.emf"/><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109.wmf"/><Relationship Id="rId11" Type="http://schemas.openxmlformats.org/officeDocument/2006/relationships/oleObject" Target="../embeddings/oleObject94.bin"/><Relationship Id="rId5" Type="http://schemas.openxmlformats.org/officeDocument/2006/relationships/oleObject" Target="../embeddings/oleObject80.bin"/><Relationship Id="rId10" Type="http://schemas.openxmlformats.org/officeDocument/2006/relationships/image" Target="../media/image111.wmf"/><Relationship Id="rId4" Type="http://schemas.openxmlformats.org/officeDocument/2006/relationships/image" Target="../media/image108.wmf"/><Relationship Id="rId9" Type="http://schemas.openxmlformats.org/officeDocument/2006/relationships/oleObject" Target="../embeddings/oleObject82.bin"/><Relationship Id="rId14" Type="http://schemas.openxmlformats.org/officeDocument/2006/relationships/image" Target="../media/image124.e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B447E-148E-C5AE-EEA1-A6565EC897CA}"/>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6.1</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关联规则挖掘概要</a:t>
            </a:r>
            <a:endParaRPr lang="en-US" altLang="zh-CN" b="0" dirty="0">
              <a:ea typeface="华光综艺_CNKI" panose="02000500000000000000" pitchFamily="2" charset="-122"/>
            </a:endParaRPr>
          </a:p>
        </p:txBody>
      </p:sp>
    </p:spTree>
    <p:extLst>
      <p:ext uri="{BB962C8B-B14F-4D97-AF65-F5344CB8AC3E}">
        <p14:creationId xmlns:p14="http://schemas.microsoft.com/office/powerpoint/2010/main" val="215987143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54027-EF29-9991-27AA-F94659A231A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278D8C6-54EC-6F90-8D39-AC3F963CAA8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151" name="矩形: 圆角 55">
            <a:extLst>
              <a:ext uri="{FF2B5EF4-FFF2-40B4-BE49-F238E27FC236}">
                <a16:creationId xmlns:a16="http://schemas.microsoft.com/office/drawing/2014/main" id="{5BAA67DA-ADCE-C5A6-20DC-DE894D5BAE07}"/>
              </a:ext>
            </a:extLst>
          </p:cNvPr>
          <p:cNvSpPr/>
          <p:nvPr/>
        </p:nvSpPr>
        <p:spPr>
          <a:xfrm>
            <a:off x="558040" y="1190656"/>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lang="zh-CN" altLang="en-US" sz="2667"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简介</a:t>
            </a:r>
            <a:endPar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endParaRPr>
          </a:p>
        </p:txBody>
      </p:sp>
      <p:sp>
        <p:nvSpPr>
          <p:cNvPr id="9" name="Rectangle 3">
            <a:extLst>
              <a:ext uri="{FF2B5EF4-FFF2-40B4-BE49-F238E27FC236}">
                <a16:creationId xmlns:a16="http://schemas.microsoft.com/office/drawing/2014/main" id="{D35D4B36-27A2-9691-0B83-3975094AFF5F}"/>
              </a:ext>
            </a:extLst>
          </p:cNvPr>
          <p:cNvSpPr txBox="1">
            <a:spLocks noChangeArrowheads="1"/>
          </p:cNvSpPr>
          <p:nvPr/>
        </p:nvSpPr>
        <p:spPr>
          <a:xfrm>
            <a:off x="670896" y="1975566"/>
            <a:ext cx="11158056" cy="41724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eaLnBrk="0" fontAlgn="base" hangingPunct="0">
              <a:lnSpc>
                <a:spcPct val="130000"/>
              </a:lnSpc>
              <a:spcBef>
                <a:spcPct val="0"/>
              </a:spcBef>
              <a:spcAft>
                <a:spcPct val="0"/>
              </a:spcAft>
            </a:pPr>
            <a:r>
              <a:rPr lang="zh-CN" altLang="en-US" sz="2400" b="1" dirty="0">
                <a:solidFill>
                  <a:srgbClr val="0245AD"/>
                </a:solidFill>
                <a:latin typeface="微软雅黑" pitchFamily="34" charset="-122"/>
                <a:ea typeface="微软雅黑" pitchFamily="34" charset="-122"/>
                <a:cs typeface="+mj-cs"/>
              </a:rPr>
              <a:t>起源</a:t>
            </a:r>
            <a:r>
              <a:rPr lang="zh-CN" altLang="en-US" sz="2400" b="1" dirty="0">
                <a:solidFill>
                  <a:srgbClr val="000080"/>
                </a:solidFill>
                <a:latin typeface="微软雅黑" pitchFamily="34" charset="-122"/>
                <a:ea typeface="微软雅黑" pitchFamily="34" charset="-122"/>
                <a:cs typeface="+mj-cs"/>
              </a:rPr>
              <a:t>：</a:t>
            </a:r>
            <a:r>
              <a:rPr lang="en-US" altLang="zh-CN" sz="1800" b="1" dirty="0">
                <a:latin typeface="微软雅黑" panose="020B0503020204020204" pitchFamily="34" charset="-122"/>
                <a:ea typeface="微软雅黑" panose="020B0503020204020204" pitchFamily="34" charset="-122"/>
              </a:rPr>
              <a:t>1993</a:t>
            </a:r>
            <a:r>
              <a:rPr lang="zh-CN" altLang="en-US" sz="1800" b="1" dirty="0">
                <a:latin typeface="微软雅黑" panose="020B0503020204020204" pitchFamily="34" charset="-122"/>
                <a:ea typeface="微软雅黑" panose="020B0503020204020204" pitchFamily="34" charset="-122"/>
              </a:rPr>
              <a:t>年</a:t>
            </a:r>
            <a:r>
              <a:rPr lang="en-US" altLang="zh-CN" sz="1800" b="1" dirty="0">
                <a:latin typeface="微软雅黑" panose="020B0503020204020204" pitchFamily="34" charset="-122"/>
                <a:ea typeface="微软雅黑" panose="020B0503020204020204" pitchFamily="34" charset="-122"/>
              </a:rPr>
              <a:t>SIGMOD</a:t>
            </a:r>
            <a:r>
              <a:rPr lang="zh-CN" altLang="en-US" sz="1800" b="1" dirty="0">
                <a:latin typeface="微软雅黑" panose="020B0503020204020204" pitchFamily="34" charset="-122"/>
                <a:ea typeface="微软雅黑" panose="020B0503020204020204" pitchFamily="34" charset="-122"/>
              </a:rPr>
              <a:t>大会上</a:t>
            </a:r>
            <a:r>
              <a:rPr lang="en-US" altLang="zh-CN" sz="1800" b="1" dirty="0">
                <a:latin typeface="微软雅黑" panose="020B0503020204020204" pitchFamily="34" charset="-122"/>
                <a:ea typeface="微软雅黑" panose="020B0503020204020204" pitchFamily="34" charset="-122"/>
              </a:rPr>
              <a:t>Agrawal</a:t>
            </a:r>
            <a:r>
              <a:rPr lang="zh-CN" altLang="en-US" sz="1800" b="1" dirty="0">
                <a:latin typeface="微软雅黑" panose="020B0503020204020204" pitchFamily="34" charset="-122"/>
                <a:ea typeface="微软雅黑" panose="020B0503020204020204" pitchFamily="34" charset="-122"/>
              </a:rPr>
              <a:t>等人首次提出</a:t>
            </a:r>
          </a:p>
          <a:p>
            <a:pPr lvl="1">
              <a:lnSpc>
                <a:spcPct val="130000"/>
              </a:lnSpc>
              <a:buSzPct val="80000"/>
            </a:pPr>
            <a:r>
              <a:rPr lang="zh-CN" altLang="en-US" sz="1800" dirty="0">
                <a:latin typeface="微软雅黑" panose="020B0503020204020204" pitchFamily="34" charset="-122"/>
                <a:ea typeface="微软雅黑" panose="020B0503020204020204" pitchFamily="34" charset="-122"/>
              </a:rPr>
              <a:t>关联规则挖掘 (</a:t>
            </a:r>
            <a:r>
              <a:rPr lang="en-US" altLang="zh-CN" sz="1800" dirty="0">
                <a:solidFill>
                  <a:schemeClr val="hlink"/>
                </a:solidFill>
                <a:latin typeface="微软雅黑" panose="020B0503020204020204" pitchFamily="34" charset="-122"/>
                <a:ea typeface="微软雅黑" panose="020B0503020204020204" pitchFamily="34" charset="-122"/>
              </a:rPr>
              <a:t>association rule mining</a:t>
            </a:r>
            <a:r>
              <a:rPr lang="zh-CN" altLang="en-US" sz="1800" dirty="0">
                <a:latin typeface="微软雅黑" panose="020B0503020204020204" pitchFamily="34" charset="-122"/>
                <a:ea typeface="微软雅黑" panose="020B0503020204020204" pitchFamily="34" charset="-122"/>
              </a:rPr>
              <a:t>) </a:t>
            </a:r>
          </a:p>
          <a:p>
            <a:pPr marL="0" eaLnBrk="0" fontAlgn="base" hangingPunct="0">
              <a:lnSpc>
                <a:spcPct val="130000"/>
              </a:lnSpc>
              <a:spcBef>
                <a:spcPct val="0"/>
              </a:spcBef>
              <a:spcAft>
                <a:spcPct val="0"/>
              </a:spcAft>
            </a:pPr>
            <a:r>
              <a:rPr lang="zh-CN" altLang="en-US" sz="2400" b="1" dirty="0">
                <a:solidFill>
                  <a:srgbClr val="0245AD"/>
                </a:solidFill>
                <a:latin typeface="微软雅黑" pitchFamily="34" charset="-122"/>
                <a:ea typeface="微软雅黑" pitchFamily="34" charset="-122"/>
                <a:cs typeface="+mj-cs"/>
              </a:rPr>
              <a:t>目的：</a:t>
            </a:r>
            <a:r>
              <a:rPr lang="zh-CN" altLang="en-US" sz="1800" b="1" dirty="0">
                <a:latin typeface="微软雅黑" panose="020B0503020204020204" pitchFamily="34" charset="-122"/>
                <a:ea typeface="微软雅黑" panose="020B0503020204020204" pitchFamily="34" charset="-122"/>
              </a:rPr>
              <a:t>发现数据中内在的规律性</a:t>
            </a:r>
            <a:endParaRPr lang="en-US" altLang="zh-CN" sz="1800" b="1" dirty="0">
              <a:latin typeface="微软雅黑" panose="020B0503020204020204" pitchFamily="34" charset="-122"/>
              <a:ea typeface="微软雅黑" panose="020B0503020204020204" pitchFamily="34" charset="-122"/>
            </a:endParaRPr>
          </a:p>
          <a:p>
            <a:pPr lvl="1">
              <a:lnSpc>
                <a:spcPct val="130000"/>
              </a:lnSpc>
              <a:buSzPct val="80000"/>
            </a:pPr>
            <a:r>
              <a:rPr lang="zh-CN" altLang="en-US" sz="1800" dirty="0">
                <a:latin typeface="微软雅黑" panose="020B0503020204020204" pitchFamily="34" charset="-122"/>
                <a:ea typeface="微软雅黑" panose="020B0503020204020204" pitchFamily="34" charset="-122"/>
              </a:rPr>
              <a:t>人们通常会同时购买什么样的商品？</a:t>
            </a:r>
            <a:endParaRPr lang="en-US" altLang="zh-CN" sz="1800" dirty="0">
              <a:latin typeface="微软雅黑" panose="020B0503020204020204" pitchFamily="34" charset="-122"/>
              <a:ea typeface="微软雅黑" panose="020B0503020204020204" pitchFamily="34" charset="-122"/>
            </a:endParaRPr>
          </a:p>
          <a:p>
            <a:pPr lvl="1">
              <a:lnSpc>
                <a:spcPct val="130000"/>
              </a:lnSpc>
              <a:buSzPct val="80000"/>
            </a:pPr>
            <a:r>
              <a:rPr lang="zh-CN" altLang="en-US" sz="1800" dirty="0">
                <a:latin typeface="微软雅黑" panose="020B0503020204020204" pitchFamily="34" charset="-122"/>
                <a:ea typeface="微软雅黑" panose="020B0503020204020204" pitchFamily="34" charset="-122"/>
              </a:rPr>
              <a:t>购买微机后，接下来用户通常会有什么购物行为？</a:t>
            </a:r>
            <a:endParaRPr lang="en-US" altLang="zh-CN" sz="1800" dirty="0">
              <a:latin typeface="微软雅黑" panose="020B0503020204020204" pitchFamily="34" charset="-122"/>
              <a:ea typeface="微软雅黑" panose="020B0503020204020204" pitchFamily="34" charset="-122"/>
            </a:endParaRPr>
          </a:p>
          <a:p>
            <a:pPr lvl="1">
              <a:lnSpc>
                <a:spcPct val="130000"/>
              </a:lnSpc>
              <a:buSzPct val="80000"/>
            </a:pPr>
            <a:r>
              <a:rPr lang="zh-CN" altLang="en-US" sz="1800" dirty="0">
                <a:latin typeface="微软雅黑" panose="020B0503020204020204" pitchFamily="34" charset="-122"/>
                <a:ea typeface="微软雅黑" panose="020B0503020204020204" pitchFamily="34" charset="-122"/>
              </a:rPr>
              <a:t>哪种</a:t>
            </a:r>
            <a:r>
              <a:rPr lang="en-US" altLang="zh-CN" sz="1800" dirty="0">
                <a:latin typeface="微软雅黑" panose="020B0503020204020204" pitchFamily="34" charset="-122"/>
                <a:ea typeface="微软雅黑" panose="020B0503020204020204" pitchFamily="34" charset="-122"/>
              </a:rPr>
              <a:t>DNA</a:t>
            </a:r>
            <a:r>
              <a:rPr lang="zh-CN" altLang="en-US" sz="1800" dirty="0">
                <a:latin typeface="微软雅黑" panose="020B0503020204020204" pitchFamily="34" charset="-122"/>
                <a:ea typeface="微软雅黑" panose="020B0503020204020204" pitchFamily="34" charset="-122"/>
              </a:rPr>
              <a:t>对某个新药敏感？</a:t>
            </a:r>
          </a:p>
          <a:p>
            <a:pPr>
              <a:lnSpc>
                <a:spcPct val="130000"/>
              </a:lnSpc>
            </a:pPr>
            <a:r>
              <a:rPr lang="zh-CN" altLang="en-US" sz="2400" b="1" dirty="0">
                <a:solidFill>
                  <a:srgbClr val="0245AD"/>
                </a:solidFill>
                <a:latin typeface="微软雅黑" pitchFamily="34" charset="-122"/>
                <a:ea typeface="微软雅黑" pitchFamily="34" charset="-122"/>
                <a:cs typeface="+mj-cs"/>
              </a:rPr>
              <a:t>应用：</a:t>
            </a:r>
            <a:r>
              <a:rPr lang="en-US" altLang="zh-CN" sz="1800" dirty="0">
                <a:latin typeface="微软雅黑" panose="020B0503020204020204" pitchFamily="34" charset="-122"/>
                <a:ea typeface="微软雅黑" panose="020B0503020204020204" pitchFamily="34" charset="-122"/>
              </a:rPr>
              <a:t>Basket data analysis, cross-marketing, catalog design, sale campaign analysis, Web log (click stream) analysis, and DNA sequence analysis.</a:t>
            </a:r>
            <a:endParaRPr lang="zh-CN" altLang="en-US" sz="1800" b="1" dirty="0">
              <a:latin typeface="微软雅黑" panose="020B0503020204020204" pitchFamily="34" charset="-122"/>
              <a:ea typeface="微软雅黑" panose="020B0503020204020204" pitchFamily="34" charset="-122"/>
            </a:endParaRPr>
          </a:p>
          <a:p>
            <a:pPr marL="0" eaLnBrk="0" fontAlgn="base" hangingPunct="0">
              <a:lnSpc>
                <a:spcPct val="130000"/>
              </a:lnSpc>
              <a:spcBef>
                <a:spcPct val="0"/>
              </a:spcBef>
              <a:spcAft>
                <a:spcPct val="0"/>
              </a:spcAft>
            </a:pPr>
            <a:r>
              <a:rPr lang="zh-CN" altLang="en-US" sz="2400" b="1" dirty="0">
                <a:solidFill>
                  <a:srgbClr val="0245AD"/>
                </a:solidFill>
                <a:latin typeface="微软雅黑" pitchFamily="34" charset="-122"/>
                <a:ea typeface="微软雅黑" pitchFamily="34" charset="-122"/>
                <a:cs typeface="+mj-cs"/>
              </a:rPr>
              <a:t>核心任务：</a:t>
            </a:r>
            <a:r>
              <a:rPr lang="en-US" altLang="zh-CN" sz="2400" b="1" dirty="0">
                <a:solidFill>
                  <a:srgbClr val="0245AD"/>
                </a:solidFill>
                <a:latin typeface="微软雅黑" pitchFamily="34" charset="-122"/>
                <a:ea typeface="微软雅黑" pitchFamily="34" charset="-122"/>
                <a:cs typeface="+mj-cs"/>
              </a:rPr>
              <a:t> </a:t>
            </a:r>
            <a:r>
              <a:rPr lang="zh-CN" altLang="en-US" sz="1800" b="1" dirty="0">
                <a:solidFill>
                  <a:srgbClr val="0245AD"/>
                </a:solidFill>
                <a:latin typeface="微软雅黑" panose="020B0503020204020204" pitchFamily="34" charset="-122"/>
                <a:ea typeface="微软雅黑" panose="020B0503020204020204" pitchFamily="34" charset="-122"/>
              </a:rPr>
              <a:t> </a:t>
            </a:r>
            <a:r>
              <a:rPr lang="zh-CN" altLang="en-US" sz="1800" b="1" dirty="0">
                <a:latin typeface="微软雅黑" panose="020B0503020204020204" pitchFamily="34" charset="-122"/>
                <a:ea typeface="微软雅黑" panose="020B0503020204020204" pitchFamily="34" charset="-122"/>
              </a:rPr>
              <a:t>数据集    频繁项集 (</a:t>
            </a:r>
            <a:r>
              <a:rPr lang="en-US" altLang="zh-CN" sz="1800" b="1" dirty="0">
                <a:latin typeface="微软雅黑" panose="020B0503020204020204" pitchFamily="34" charset="-122"/>
                <a:ea typeface="微软雅黑" panose="020B0503020204020204" pitchFamily="34" charset="-122"/>
              </a:rPr>
              <a:t>Frequent itemset)     </a:t>
            </a:r>
            <a:r>
              <a:rPr lang="zh-CN" altLang="en-US" sz="1800" b="1" dirty="0">
                <a:latin typeface="微软雅黑" panose="020B0503020204020204" pitchFamily="34" charset="-122"/>
                <a:ea typeface="微软雅黑" panose="020B0503020204020204" pitchFamily="34" charset="-122"/>
              </a:rPr>
              <a:t>关联规则</a:t>
            </a:r>
            <a:endParaRPr lang="en-US" altLang="zh-CN" sz="1800" dirty="0">
              <a:latin typeface="微软雅黑" panose="020B0503020204020204" pitchFamily="34" charset="-122"/>
              <a:ea typeface="微软雅黑" panose="020B0503020204020204" pitchFamily="34" charset="-122"/>
            </a:endParaRPr>
          </a:p>
        </p:txBody>
      </p:sp>
      <p:sp>
        <p:nvSpPr>
          <p:cNvPr id="10" name="箭头: 右 9">
            <a:extLst>
              <a:ext uri="{FF2B5EF4-FFF2-40B4-BE49-F238E27FC236}">
                <a16:creationId xmlns:a16="http://schemas.microsoft.com/office/drawing/2014/main" id="{2F970A41-EC26-9A89-7FFE-02F6D5BA2D46}"/>
              </a:ext>
            </a:extLst>
          </p:cNvPr>
          <p:cNvSpPr/>
          <p:nvPr/>
        </p:nvSpPr>
        <p:spPr>
          <a:xfrm>
            <a:off x="6833862" y="5837639"/>
            <a:ext cx="165463" cy="117566"/>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右 10">
            <a:extLst>
              <a:ext uri="{FF2B5EF4-FFF2-40B4-BE49-F238E27FC236}">
                <a16:creationId xmlns:a16="http://schemas.microsoft.com/office/drawing/2014/main" id="{A956E26D-BB4A-4AC5-01BC-CB3854E08B88}"/>
              </a:ext>
            </a:extLst>
          </p:cNvPr>
          <p:cNvSpPr/>
          <p:nvPr/>
        </p:nvSpPr>
        <p:spPr>
          <a:xfrm>
            <a:off x="3420101" y="5837639"/>
            <a:ext cx="165463" cy="117566"/>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a:extLst>
              <a:ext uri="{FF2B5EF4-FFF2-40B4-BE49-F238E27FC236}">
                <a16:creationId xmlns:a16="http://schemas.microsoft.com/office/drawing/2014/main" id="{F10259DB-EFEF-AA86-E4AC-8301AFABFF76}"/>
              </a:ext>
            </a:extLst>
          </p:cNvPr>
          <p:cNvGrpSpPr/>
          <p:nvPr/>
        </p:nvGrpSpPr>
        <p:grpSpPr>
          <a:xfrm>
            <a:off x="7970016" y="2181327"/>
            <a:ext cx="2775740" cy="2613454"/>
            <a:chOff x="10984824" y="183318"/>
            <a:chExt cx="2775740" cy="2613454"/>
          </a:xfrm>
        </p:grpSpPr>
        <p:sp>
          <p:nvSpPr>
            <p:cNvPr id="14" name="矩形 13">
              <a:extLst>
                <a:ext uri="{FF2B5EF4-FFF2-40B4-BE49-F238E27FC236}">
                  <a16:creationId xmlns:a16="http://schemas.microsoft.com/office/drawing/2014/main" id="{A587CD3F-5154-1590-4ECA-744E92BD4A71}"/>
                </a:ext>
              </a:extLst>
            </p:cNvPr>
            <p:cNvSpPr/>
            <p:nvPr/>
          </p:nvSpPr>
          <p:spPr>
            <a:xfrm>
              <a:off x="10984824" y="183318"/>
              <a:ext cx="2775740" cy="2613454"/>
            </a:xfrm>
            <a:prstGeom prst="rect">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solidFill>
                  <a:schemeClr val="tx1"/>
                </a:solidFill>
              </a:endParaRPr>
            </a:p>
          </p:txBody>
        </p:sp>
        <p:grpSp>
          <p:nvGrpSpPr>
            <p:cNvPr id="15" name="组合 14">
              <a:extLst>
                <a:ext uri="{FF2B5EF4-FFF2-40B4-BE49-F238E27FC236}">
                  <a16:creationId xmlns:a16="http://schemas.microsoft.com/office/drawing/2014/main" id="{99268040-DFF7-0ED6-CBD4-798A60481387}"/>
                </a:ext>
              </a:extLst>
            </p:cNvPr>
            <p:cNvGrpSpPr/>
            <p:nvPr/>
          </p:nvGrpSpPr>
          <p:grpSpPr>
            <a:xfrm>
              <a:off x="11200327" y="749188"/>
              <a:ext cx="2309315" cy="1640623"/>
              <a:chOff x="1489998" y="481766"/>
              <a:chExt cx="3002233" cy="2132898"/>
            </a:xfrm>
          </p:grpSpPr>
          <p:sp>
            <p:nvSpPr>
              <p:cNvPr id="16" name="Oval 9">
                <a:extLst>
                  <a:ext uri="{FF2B5EF4-FFF2-40B4-BE49-F238E27FC236}">
                    <a16:creationId xmlns:a16="http://schemas.microsoft.com/office/drawing/2014/main" id="{55729D07-9888-3E29-76D3-A61A47607177}"/>
                  </a:ext>
                </a:extLst>
              </p:cNvPr>
              <p:cNvSpPr/>
              <p:nvPr/>
            </p:nvSpPr>
            <p:spPr>
              <a:xfrm>
                <a:off x="1489998" y="481766"/>
                <a:ext cx="550377" cy="550377"/>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1">
                <a:extLst>
                  <a:ext uri="{FF2B5EF4-FFF2-40B4-BE49-F238E27FC236}">
                    <a16:creationId xmlns:a16="http://schemas.microsoft.com/office/drawing/2014/main" id="{4E263D07-4FA9-5675-D553-297FB9198500}"/>
                  </a:ext>
                </a:extLst>
              </p:cNvPr>
              <p:cNvSpPr/>
              <p:nvPr/>
            </p:nvSpPr>
            <p:spPr>
              <a:xfrm>
                <a:off x="2849867" y="1133901"/>
                <a:ext cx="550377" cy="550377"/>
              </a:xfrm>
              <a:prstGeom prst="ellipse">
                <a:avLst/>
              </a:prstGeom>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6">
                <a:extLst>
                  <a:ext uri="{FF2B5EF4-FFF2-40B4-BE49-F238E27FC236}">
                    <a16:creationId xmlns:a16="http://schemas.microsoft.com/office/drawing/2014/main" id="{B0790AB1-7840-4A16-EAF8-BABD29F8C6E5}"/>
                  </a:ext>
                </a:extLst>
              </p:cNvPr>
              <p:cNvSpPr/>
              <p:nvPr/>
            </p:nvSpPr>
            <p:spPr>
              <a:xfrm>
                <a:off x="1721273" y="2064287"/>
                <a:ext cx="550377" cy="550377"/>
              </a:xfrm>
              <a:prstGeom prst="ellipse">
                <a:avLst/>
              </a:pr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7">
                <a:extLst>
                  <a:ext uri="{FF2B5EF4-FFF2-40B4-BE49-F238E27FC236}">
                    <a16:creationId xmlns:a16="http://schemas.microsoft.com/office/drawing/2014/main" id="{36B6DC19-4141-CE40-3B7B-FCA7D49A404E}"/>
                  </a:ext>
                </a:extLst>
              </p:cNvPr>
              <p:cNvSpPr/>
              <p:nvPr/>
            </p:nvSpPr>
            <p:spPr>
              <a:xfrm>
                <a:off x="3941854" y="756954"/>
                <a:ext cx="550377" cy="550377"/>
              </a:xfrm>
              <a:prstGeom prst="ellipse">
                <a:avLst/>
              </a:prstGeom>
              <a:solidFill>
                <a:srgbClr val="FF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Connector: Curved 19">
                <a:extLst>
                  <a:ext uri="{FF2B5EF4-FFF2-40B4-BE49-F238E27FC236}">
                    <a16:creationId xmlns:a16="http://schemas.microsoft.com/office/drawing/2014/main" id="{A6E2C088-BB25-8A2B-EB96-430965353AB0}"/>
                  </a:ext>
                </a:extLst>
              </p:cNvPr>
              <p:cNvCxnSpPr>
                <a:cxnSpLocks/>
                <a:stCxn id="16" idx="6"/>
                <a:endCxn id="17" idx="1"/>
              </p:cNvCxnSpPr>
              <p:nvPr/>
            </p:nvCxnSpPr>
            <p:spPr>
              <a:xfrm>
                <a:off x="2040375" y="756955"/>
                <a:ext cx="890093" cy="457547"/>
              </a:xfrm>
              <a:prstGeom prst="curvedConnector2">
                <a:avLst/>
              </a:prstGeom>
              <a:ln w="57150">
                <a:solidFill>
                  <a:schemeClr val="tx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Curved 20">
                <a:extLst>
                  <a:ext uri="{FF2B5EF4-FFF2-40B4-BE49-F238E27FC236}">
                    <a16:creationId xmlns:a16="http://schemas.microsoft.com/office/drawing/2014/main" id="{245C36C6-E812-8D90-4033-14965974D97D}"/>
                  </a:ext>
                </a:extLst>
              </p:cNvPr>
              <p:cNvCxnSpPr>
                <a:cxnSpLocks/>
                <a:stCxn id="17" idx="2"/>
                <a:endCxn id="16" idx="5"/>
              </p:cNvCxnSpPr>
              <p:nvPr/>
            </p:nvCxnSpPr>
            <p:spPr>
              <a:xfrm rot="10800000">
                <a:off x="1959775" y="951542"/>
                <a:ext cx="890093" cy="457548"/>
              </a:xfrm>
              <a:prstGeom prst="curvedConnector2">
                <a:avLst/>
              </a:prstGeom>
              <a:ln w="28575">
                <a:solidFill>
                  <a:schemeClr val="tx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or: Curved 26">
                <a:extLst>
                  <a:ext uri="{FF2B5EF4-FFF2-40B4-BE49-F238E27FC236}">
                    <a16:creationId xmlns:a16="http://schemas.microsoft.com/office/drawing/2014/main" id="{29F732E6-0079-051F-CE4B-E9A1BA14DF44}"/>
                  </a:ext>
                </a:extLst>
              </p:cNvPr>
              <p:cNvCxnSpPr>
                <a:cxnSpLocks/>
                <a:stCxn id="18" idx="7"/>
                <a:endCxn id="17" idx="3"/>
              </p:cNvCxnSpPr>
              <p:nvPr/>
            </p:nvCxnSpPr>
            <p:spPr>
              <a:xfrm rot="5400000" flipH="1" flipV="1">
                <a:off x="2290153" y="1504574"/>
                <a:ext cx="541211" cy="739419"/>
              </a:xfrm>
              <a:prstGeom prst="curvedConnector3">
                <a:avLst>
                  <a:gd name="adj1" fmla="val 50000"/>
                </a:avLst>
              </a:prstGeom>
              <a:ln w="952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Curved 30">
                <a:extLst>
                  <a:ext uri="{FF2B5EF4-FFF2-40B4-BE49-F238E27FC236}">
                    <a16:creationId xmlns:a16="http://schemas.microsoft.com/office/drawing/2014/main" id="{7CE92ED5-9002-A18D-AA61-9D52900A474F}"/>
                  </a:ext>
                </a:extLst>
              </p:cNvPr>
              <p:cNvCxnSpPr>
                <a:cxnSpLocks/>
                <a:stCxn id="17" idx="6"/>
                <a:endCxn id="19" idx="2"/>
              </p:cNvCxnSpPr>
              <p:nvPr/>
            </p:nvCxnSpPr>
            <p:spPr>
              <a:xfrm flipV="1">
                <a:off x="3400244" y="1032143"/>
                <a:ext cx="541610" cy="376947"/>
              </a:xfrm>
              <a:prstGeom prst="curvedConnector3">
                <a:avLst>
                  <a:gd name="adj1" fmla="val 50000"/>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8748665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24D1F-99DF-60D3-77AB-DFD82481E1CA}"/>
            </a:ext>
          </a:extLst>
        </p:cNvPr>
        <p:cNvGrpSpPr/>
        <p:nvPr/>
      </p:nvGrpSpPr>
      <p:grpSpPr>
        <a:xfrm>
          <a:off x="0" y="0"/>
          <a:ext cx="0" cy="0"/>
          <a:chOff x="0" y="0"/>
          <a:chExt cx="0" cy="0"/>
        </a:xfrm>
      </p:grpSpPr>
      <p:sp>
        <p:nvSpPr>
          <p:cNvPr id="5" name="Rectangle 3">
            <a:extLst>
              <a:ext uri="{FF2B5EF4-FFF2-40B4-BE49-F238E27FC236}">
                <a16:creationId xmlns:a16="http://schemas.microsoft.com/office/drawing/2014/main" id="{3B1EBE29-26AB-ED72-E4D3-19FF78B32770}"/>
              </a:ext>
            </a:extLst>
          </p:cNvPr>
          <p:cNvSpPr txBox="1">
            <a:spLocks noChangeArrowheads="1"/>
          </p:cNvSpPr>
          <p:nvPr/>
        </p:nvSpPr>
        <p:spPr>
          <a:xfrm>
            <a:off x="2157913" y="1659713"/>
            <a:ext cx="8305800" cy="4950089"/>
          </a:xfrm>
          <a:prstGeom prst="rect">
            <a:avLst/>
          </a:prstGeom>
          <a:extLst>
            <a:ext uri="{91240B29-F687-4F45-9708-019B960494DF}">
              <a14:hiddenLine xmlns:a14="http://schemas.microsoft.com/office/drawing/2010/main" w="9525">
                <a:solidFill>
                  <a:schemeClr val="hlink"/>
                </a:solidFill>
                <a:miter lim="800000"/>
                <a:headEnd/>
                <a:tailEnd/>
              </a14:hiddenLine>
            </a:ext>
          </a:extLst>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kumimoji="0" lang="zh-CN" altLang="en-US" sz="2800" b="0" i="0" u="none" strike="noStrike" kern="1200" cap="none" spc="0" normalizeH="0" baseline="0" noProof="0" dirty="0">
                <a:ln>
                  <a:noFill/>
                </a:ln>
                <a:solidFill>
                  <a:sysClr val="windowText" lastClr="000000"/>
                </a:solidFill>
                <a:effectLst/>
                <a:uLnTx/>
                <a:uFillTx/>
                <a:latin typeface="Arial"/>
                <a:ea typeface="微软雅黑"/>
                <a:cs typeface="+mn-cs"/>
              </a:rPr>
              <a:t>发现数据集中的有价值的重要性质</a:t>
            </a:r>
            <a:endParaRPr kumimoji="0" lang="en-US" altLang="zh-CN" sz="2800" b="0" i="0" u="none" strike="noStrike" kern="1200" cap="none" spc="0" normalizeH="0" baseline="0" noProof="0" dirty="0">
              <a:ln>
                <a:noFill/>
              </a:ln>
              <a:solidFill>
                <a:sysClr val="windowText" lastClr="000000"/>
              </a:solidFill>
              <a:effectLst/>
              <a:uLnTx/>
              <a:uFillTx/>
              <a:latin typeface="Arial"/>
              <a:ea typeface="微软雅黑"/>
              <a:cs typeface="+mn-cs"/>
            </a:endParaRP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kumimoji="0" lang="zh-CN" altLang="en-US" sz="2800" b="0" i="0" u="none" strike="noStrike" kern="1200" cap="none" spc="0" normalizeH="0" baseline="0" noProof="0" dirty="0">
                <a:ln>
                  <a:noFill/>
                </a:ln>
                <a:solidFill>
                  <a:sysClr val="windowText" lastClr="000000"/>
                </a:solidFill>
                <a:effectLst/>
                <a:uLnTx/>
                <a:uFillTx/>
                <a:latin typeface="Arial"/>
                <a:ea typeface="微软雅黑"/>
                <a:cs typeface="+mn-cs"/>
              </a:rPr>
              <a:t>是其它数据挖掘任务的基础</a:t>
            </a:r>
            <a:endParaRPr kumimoji="0" lang="en-US" altLang="zh-CN" sz="2800" b="0" i="0" u="none" strike="noStrike" kern="1200" cap="none" spc="0" normalizeH="0" baseline="0" noProof="0" dirty="0">
              <a:ln>
                <a:noFill/>
              </a:ln>
              <a:solidFill>
                <a:sysClr val="windowText" lastClr="000000"/>
              </a:solidFill>
              <a:effectLst/>
              <a:uLnTx/>
              <a:uFillTx/>
              <a:latin typeface="Arial"/>
              <a:ea typeface="微软雅黑"/>
              <a:cs typeface="+mn-cs"/>
            </a:endParaRP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rgbClr val="0000FF"/>
                </a:solidFill>
                <a:effectLst/>
                <a:uLnTx/>
                <a:uFillTx/>
                <a:latin typeface="Arial"/>
                <a:ea typeface="微软雅黑"/>
                <a:cs typeface="+mn-cs"/>
              </a:rPr>
              <a:t>关联分析：</a:t>
            </a:r>
            <a:r>
              <a:rPr kumimoji="0" lang="en-US" altLang="zh-CN" sz="2000" b="0" i="0" u="none" strike="noStrike" kern="1200" cap="none" spc="0" normalizeH="0" baseline="0" noProof="0" dirty="0">
                <a:ln>
                  <a:noFill/>
                </a:ln>
                <a:solidFill>
                  <a:srgbClr val="0000FF"/>
                </a:solidFill>
                <a:effectLst/>
                <a:uLnTx/>
                <a:uFillTx/>
                <a:latin typeface="Arial"/>
                <a:ea typeface="微软雅黑"/>
                <a:cs typeface="+mn-cs"/>
              </a:rPr>
              <a:t>Association rules analysis </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mn-cs"/>
                <a:sym typeface="Symbol" panose="05050102010706020507" pitchFamily="18" charset="2"/>
              </a:rPr>
              <a:t></a:t>
            </a:r>
            <a:r>
              <a:rPr kumimoji="0" lang="en-US" altLang="zh-CN" sz="2000" b="0" i="0" u="none" strike="noStrike" kern="1200" cap="none" spc="0" normalizeH="0" baseline="0" noProof="0" dirty="0">
                <a:ln>
                  <a:noFill/>
                </a:ln>
                <a:solidFill>
                  <a:srgbClr val="0000FF"/>
                </a:solidFill>
                <a:effectLst/>
                <a:uLnTx/>
                <a:uFillTx/>
                <a:latin typeface="Arial"/>
                <a:ea typeface="微软雅黑"/>
                <a:cs typeface="+mn-cs"/>
              </a:rPr>
              <a:t> Mining Frequent Itemset</a:t>
            </a: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因果分析：</a:t>
            </a:r>
            <a:r>
              <a:rPr kumimoji="0" lang="en-US" altLang="zh-CN" sz="2000" b="0" i="0" u="none" strike="noStrike" kern="1200" cap="none" spc="0" normalizeH="0" baseline="0" noProof="0" dirty="0">
                <a:ln>
                  <a:noFill/>
                </a:ln>
                <a:solidFill>
                  <a:sysClr val="windowText" lastClr="000000"/>
                </a:solidFill>
                <a:effectLst/>
                <a:uLnTx/>
                <a:uFillTx/>
                <a:latin typeface="Arial"/>
                <a:ea typeface="微软雅黑"/>
                <a:cs typeface="+mn-cs"/>
              </a:rPr>
              <a:t>causality analysis</a:t>
            </a: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序列、结构模式：</a:t>
            </a:r>
            <a:r>
              <a:rPr kumimoji="0" lang="en-US" altLang="zh-CN" sz="2000" b="0" i="0" u="none" strike="noStrike" kern="1200" cap="none" spc="0" normalizeH="0" baseline="0" noProof="0" dirty="0">
                <a:ln>
                  <a:noFill/>
                </a:ln>
                <a:solidFill>
                  <a:sysClr val="windowText" lastClr="000000"/>
                </a:solidFill>
                <a:effectLst/>
                <a:uLnTx/>
                <a:uFillTx/>
                <a:latin typeface="Arial"/>
                <a:ea typeface="微软雅黑"/>
                <a:cs typeface="+mn-cs"/>
              </a:rPr>
              <a:t>Sequential, structural (e.g., sub-graph) patterns</a:t>
            </a: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时空、多媒体、时间序列、流数据模式分析</a:t>
            </a:r>
            <a:endParaRPr kumimoji="0" lang="en-US" altLang="zh-CN" sz="2000" b="0" i="0" u="none" strike="noStrike" kern="1200" cap="none" spc="0" normalizeH="0" baseline="0" noProof="0" dirty="0">
              <a:ln>
                <a:noFill/>
              </a:ln>
              <a:solidFill>
                <a:sysClr val="windowText" lastClr="000000"/>
              </a:solidFill>
              <a:effectLst/>
              <a:uLnTx/>
              <a:uFillTx/>
              <a:latin typeface="Arial"/>
              <a:ea typeface="微软雅黑"/>
              <a:cs typeface="+mn-cs"/>
            </a:endParaRP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分类</a:t>
            </a:r>
            <a:endParaRPr kumimoji="0" lang="en-US" altLang="zh-CN" sz="2000" b="0" i="0" u="none" strike="noStrike" kern="1200" cap="none" spc="0" normalizeH="0" baseline="0" noProof="0" dirty="0">
              <a:ln>
                <a:noFill/>
              </a:ln>
              <a:solidFill>
                <a:sysClr val="windowText" lastClr="000000"/>
              </a:solidFill>
              <a:effectLst/>
              <a:uLnTx/>
              <a:uFillTx/>
              <a:latin typeface="Arial"/>
              <a:ea typeface="微软雅黑"/>
              <a:cs typeface="+mn-cs"/>
            </a:endParaRP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聚类</a:t>
            </a:r>
            <a:endParaRPr kumimoji="0" lang="en-US" altLang="zh-CN" sz="2000" b="0" i="0" u="none" strike="noStrike" kern="1200" cap="none" spc="0" normalizeH="0" baseline="0" noProof="0" dirty="0">
              <a:ln>
                <a:noFill/>
              </a:ln>
              <a:solidFill>
                <a:sysClr val="windowText" lastClr="000000"/>
              </a:solidFill>
              <a:effectLst/>
              <a:uLnTx/>
              <a:uFillTx/>
              <a:latin typeface="Arial"/>
              <a:ea typeface="微软雅黑"/>
              <a:cs typeface="+mn-cs"/>
            </a:endParaRP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数据仓库</a:t>
            </a:r>
            <a:endParaRPr kumimoji="0" lang="en-US" altLang="zh-CN" sz="2000" b="0" i="0" u="none" strike="noStrike" kern="1200" cap="none" spc="0" normalizeH="0" baseline="0" noProof="0" dirty="0">
              <a:ln>
                <a:noFill/>
              </a:ln>
              <a:solidFill>
                <a:sysClr val="windowText" lastClr="000000"/>
              </a:solidFill>
              <a:effectLst/>
              <a:uLnTx/>
              <a:uFillTx/>
              <a:latin typeface="Arial"/>
              <a:ea typeface="微软雅黑"/>
              <a:cs typeface="+mn-cs"/>
            </a:endParaRP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语义数据压缩</a:t>
            </a:r>
            <a:endParaRPr kumimoji="0" lang="en-US" altLang="zh-CN" sz="2000" b="0" i="0" u="none" strike="noStrike" kern="1200" cap="none" spc="0" normalizeH="0" baseline="0" noProof="0" dirty="0">
              <a:ln>
                <a:noFill/>
              </a:ln>
              <a:solidFill>
                <a:sysClr val="windowText" lastClr="000000"/>
              </a:solidFill>
              <a:effectLst/>
              <a:uLnTx/>
              <a:uFillTx/>
              <a:latin typeface="Arial"/>
              <a:ea typeface="微软雅黑"/>
              <a:cs typeface="+mn-cs"/>
            </a:endParaRP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推荐系统等其他应用</a:t>
            </a:r>
          </a:p>
        </p:txBody>
      </p:sp>
      <p:sp>
        <p:nvSpPr>
          <p:cNvPr id="4" name="矩形 26">
            <a:extLst>
              <a:ext uri="{FF2B5EF4-FFF2-40B4-BE49-F238E27FC236}">
                <a16:creationId xmlns:a16="http://schemas.microsoft.com/office/drawing/2014/main" id="{093974E9-169E-EAA6-4152-5346C4A2968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8" name="矩形: 圆角 55">
            <a:extLst>
              <a:ext uri="{FF2B5EF4-FFF2-40B4-BE49-F238E27FC236}">
                <a16:creationId xmlns:a16="http://schemas.microsoft.com/office/drawing/2014/main" id="{25B1E76C-4089-4D5E-6EAC-CF0E41C0B1DC}"/>
              </a:ext>
            </a:extLst>
          </p:cNvPr>
          <p:cNvSpPr/>
          <p:nvPr/>
        </p:nvSpPr>
        <p:spPr>
          <a:xfrm>
            <a:off x="558040" y="1190656"/>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lang="zh-CN" altLang="en-US" sz="2667"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简介</a:t>
            </a:r>
            <a:endPar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endParaRPr>
          </a:p>
        </p:txBody>
      </p:sp>
    </p:spTree>
    <p:extLst>
      <p:ext uri="{BB962C8B-B14F-4D97-AF65-F5344CB8AC3E}">
        <p14:creationId xmlns:p14="http://schemas.microsoft.com/office/powerpoint/2010/main" val="14145465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6E663-187C-4705-B2C8-EC7824253E5B}"/>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D24E8ADB-830C-89C2-6EF6-7A36A979CF05}"/>
              </a:ext>
            </a:extLst>
          </p:cNvPr>
          <p:cNvSpPr/>
          <p:nvPr/>
        </p:nvSpPr>
        <p:spPr>
          <a:xfrm>
            <a:off x="5277705" y="1427556"/>
            <a:ext cx="6541176" cy="5182246"/>
          </a:xfrm>
          <a:prstGeom prst="rect">
            <a:avLst/>
          </a:prstGeom>
          <a:solidFill>
            <a:schemeClr val="bg1"/>
          </a:solidFill>
          <a:ln w="3175">
            <a:solidFill>
              <a:srgbClr val="0444AE"/>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solidFill>
                <a:schemeClr val="tx1"/>
              </a:solidFill>
            </a:endParaRPr>
          </a:p>
        </p:txBody>
      </p:sp>
      <p:graphicFrame>
        <p:nvGraphicFramePr>
          <p:cNvPr id="4" name="表格 3">
            <a:extLst>
              <a:ext uri="{FF2B5EF4-FFF2-40B4-BE49-F238E27FC236}">
                <a16:creationId xmlns:a16="http://schemas.microsoft.com/office/drawing/2014/main" id="{0D1787ED-9C0C-024D-4F65-65C7F5341910}"/>
              </a:ext>
            </a:extLst>
          </p:cNvPr>
          <p:cNvGraphicFramePr>
            <a:graphicFrameLocks noGrp="1"/>
          </p:cNvGraphicFramePr>
          <p:nvPr>
            <p:extLst>
              <p:ext uri="{D42A27DB-BD31-4B8C-83A1-F6EECF244321}">
                <p14:modId xmlns:p14="http://schemas.microsoft.com/office/powerpoint/2010/main" val="1792678252"/>
              </p:ext>
            </p:extLst>
          </p:nvPr>
        </p:nvGraphicFramePr>
        <p:xfrm>
          <a:off x="362770" y="2219922"/>
          <a:ext cx="4732470" cy="3759644"/>
        </p:xfrm>
        <a:graphic>
          <a:graphicData uri="http://schemas.openxmlformats.org/drawingml/2006/table">
            <a:tbl>
              <a:tblPr firstRow="1" firstCol="1" bandRow="1"/>
              <a:tblGrid>
                <a:gridCol w="805630">
                  <a:extLst>
                    <a:ext uri="{9D8B030D-6E8A-4147-A177-3AD203B41FA5}">
                      <a16:colId xmlns:a16="http://schemas.microsoft.com/office/drawing/2014/main" val="3781961391"/>
                    </a:ext>
                  </a:extLst>
                </a:gridCol>
                <a:gridCol w="3926840">
                  <a:extLst>
                    <a:ext uri="{9D8B030D-6E8A-4147-A177-3AD203B41FA5}">
                      <a16:colId xmlns:a16="http://schemas.microsoft.com/office/drawing/2014/main" val="2463828023"/>
                    </a:ext>
                  </a:extLst>
                </a:gridCol>
              </a:tblGrid>
              <a:tr h="537092">
                <a:tc>
                  <a:txBody>
                    <a:bodyPr/>
                    <a:lstStyle/>
                    <a:p>
                      <a:pPr marL="0" marR="0" algn="ctr">
                        <a:lnSpc>
                          <a:spcPct val="125000"/>
                        </a:lnSpc>
                      </a:pPr>
                      <a:r>
                        <a:rPr lang="zh-CN" sz="2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编号</a:t>
                      </a:r>
                      <a:endParaRPr lang="zh-CN" sz="32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47AF"/>
                    </a:solidFill>
                  </a:tcPr>
                </a:tc>
                <a:tc>
                  <a:txBody>
                    <a:bodyPr/>
                    <a:lstStyle/>
                    <a:p>
                      <a:pPr marL="0" marR="0" algn="l">
                        <a:lnSpc>
                          <a:spcPct val="125000"/>
                        </a:lnSpc>
                      </a:pPr>
                      <a:r>
                        <a:rPr lang="zh-CN" sz="2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事务</a:t>
                      </a:r>
                      <a:endParaRPr lang="zh-CN" sz="32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47AF"/>
                    </a:solidFill>
                  </a:tcPr>
                </a:tc>
                <a:extLst>
                  <a:ext uri="{0D108BD9-81ED-4DB2-BD59-A6C34878D82A}">
                    <a16:rowId xmlns:a16="http://schemas.microsoft.com/office/drawing/2014/main" val="1694121058"/>
                  </a:ext>
                </a:extLst>
              </a:tr>
              <a:tr h="537092">
                <a:tc>
                  <a:txBody>
                    <a:bodyPr/>
                    <a:lstStyle/>
                    <a:p>
                      <a:pPr marL="0" marR="0" algn="ctr">
                        <a:lnSpc>
                          <a:spcPct val="125000"/>
                        </a:lnSpc>
                      </a:pPr>
                      <a:r>
                        <a:rPr lang="en-US"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1</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lnSpc>
                          <a:spcPct val="125000"/>
                        </a:lnSpc>
                      </a:pPr>
                      <a:r>
                        <a:rPr lang="zh-CN" sz="2400" b="1" kern="10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啤酒，面包，玉米</a:t>
                      </a:r>
                      <a:endParaRPr lang="zh-CN" sz="3200" b="1" kern="10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0144224"/>
                  </a:ext>
                </a:extLst>
              </a:tr>
              <a:tr h="537092">
                <a:tc>
                  <a:txBody>
                    <a:bodyPr/>
                    <a:lstStyle/>
                    <a:p>
                      <a:pPr marL="0" marR="0" algn="ctr">
                        <a:lnSpc>
                          <a:spcPct val="125000"/>
                        </a:lnSpc>
                      </a:pPr>
                      <a:r>
                        <a:rPr lang="en-US"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2</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lnSpc>
                          <a:spcPct val="125000"/>
                        </a:lnSpc>
                      </a:pPr>
                      <a:r>
                        <a:rPr lang="zh-CN"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巧克力，牛奶，火腿，玉米</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6674558"/>
                  </a:ext>
                </a:extLst>
              </a:tr>
              <a:tr h="537092">
                <a:tc>
                  <a:txBody>
                    <a:bodyPr/>
                    <a:lstStyle/>
                    <a:p>
                      <a:pPr marL="0" marR="0" algn="ctr">
                        <a:lnSpc>
                          <a:spcPct val="125000"/>
                        </a:lnSpc>
                      </a:pPr>
                      <a:r>
                        <a:rPr lang="en-US"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3</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lnSpc>
                          <a:spcPct val="125000"/>
                        </a:lnSpc>
                      </a:pPr>
                      <a:r>
                        <a:rPr lang="zh-CN"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牛奶，面包</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81863653"/>
                  </a:ext>
                </a:extLst>
              </a:tr>
              <a:tr h="537092">
                <a:tc>
                  <a:txBody>
                    <a:bodyPr/>
                    <a:lstStyle/>
                    <a:p>
                      <a:pPr marL="0" marR="0" algn="ctr">
                        <a:lnSpc>
                          <a:spcPct val="125000"/>
                        </a:lnSpc>
                      </a:pPr>
                      <a:r>
                        <a:rPr lang="en-US"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4</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lnSpc>
                          <a:spcPct val="125000"/>
                        </a:lnSpc>
                      </a:pPr>
                      <a:r>
                        <a:rPr lang="zh-CN"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火腿，鸡蛋</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97810847"/>
                  </a:ext>
                </a:extLst>
              </a:tr>
              <a:tr h="537092">
                <a:tc>
                  <a:txBody>
                    <a:bodyPr/>
                    <a:lstStyle/>
                    <a:p>
                      <a:pPr marL="0" marR="0" algn="ctr">
                        <a:lnSpc>
                          <a:spcPct val="125000"/>
                        </a:lnSpc>
                      </a:pPr>
                      <a:r>
                        <a:rPr lang="en-US"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5</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lnSpc>
                          <a:spcPct val="125000"/>
                        </a:lnSpc>
                      </a:pPr>
                      <a:r>
                        <a:rPr lang="zh-CN"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啤酒，巧克力，鸡蛋</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40045810"/>
                  </a:ext>
                </a:extLst>
              </a:tr>
              <a:tr h="537092">
                <a:tc>
                  <a:txBody>
                    <a:bodyPr/>
                    <a:lstStyle/>
                    <a:p>
                      <a:pPr marL="0" marR="0" algn="ctr">
                        <a:lnSpc>
                          <a:spcPct val="125000"/>
                        </a:lnSpc>
                      </a:pPr>
                      <a:r>
                        <a:rPr lang="en-US"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6</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lnSpc>
                          <a:spcPct val="125000"/>
                        </a:lnSpc>
                      </a:pPr>
                      <a:r>
                        <a:rPr lang="zh-CN"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面包</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59541595"/>
                  </a:ext>
                </a:extLst>
              </a:tr>
            </a:tbl>
          </a:graphicData>
        </a:graphic>
      </p:graphicFrame>
      <p:sp>
        <p:nvSpPr>
          <p:cNvPr id="6" name="Rectangle 2">
            <a:extLst>
              <a:ext uri="{FF2B5EF4-FFF2-40B4-BE49-F238E27FC236}">
                <a16:creationId xmlns:a16="http://schemas.microsoft.com/office/drawing/2014/main" id="{909FBC19-DE45-FDDB-CD1E-B0C1DB0DE5E7}"/>
              </a:ext>
            </a:extLst>
          </p:cNvPr>
          <p:cNvSpPr>
            <a:spLocks noChangeArrowheads="1"/>
          </p:cNvSpPr>
          <p:nvPr/>
        </p:nvSpPr>
        <p:spPr bwMode="auto">
          <a:xfrm>
            <a:off x="5331910" y="1609496"/>
            <a:ext cx="6432766" cy="4798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p"/>
              <a:tabLst/>
            </a:pPr>
            <a:r>
              <a:rPr lang="zh-CN" altLang="zh-CN" b="1" dirty="0">
                <a:solidFill>
                  <a:srgbClr val="0245AD"/>
                </a:solidFill>
                <a:latin typeface="微软雅黑" pitchFamily="34" charset="-122"/>
                <a:ea typeface="微软雅黑" pitchFamily="34" charset="-122"/>
                <a:cs typeface="+mj-cs"/>
              </a:rPr>
              <a:t>项</a:t>
            </a:r>
            <a:r>
              <a:rPr lang="en-US" altLang="zh-CN" b="1" dirty="0">
                <a:solidFill>
                  <a:srgbClr val="0245AD"/>
                </a:solidFill>
                <a:latin typeface="微软雅黑" pitchFamily="34" charset="-122"/>
                <a:ea typeface="微软雅黑" pitchFamily="34" charset="-122"/>
                <a:cs typeface="+mj-cs"/>
              </a:rPr>
              <a:t>(Item)</a:t>
            </a:r>
            <a:r>
              <a:rPr lang="zh-CN" altLang="en-US" b="1" dirty="0">
                <a:solidFill>
                  <a:srgbClr val="0245AD"/>
                </a:solidFill>
                <a:latin typeface="微软雅黑" pitchFamily="34" charset="-122"/>
                <a:ea typeface="微软雅黑" pitchFamily="34" charset="-122"/>
                <a:cs typeface="+mj-cs"/>
              </a:rPr>
              <a:t> </a:t>
            </a:r>
            <a:r>
              <a:rPr lang="en-US" altLang="zh-CN" b="1" dirty="0">
                <a:solidFill>
                  <a:srgbClr val="0245AD"/>
                </a:solidFill>
                <a:latin typeface="微软雅黑" pitchFamily="34" charset="-122"/>
                <a:ea typeface="微软雅黑" pitchFamily="34" charset="-122"/>
                <a:cs typeface="+mj-cs"/>
              </a:rPr>
              <a:t>:</a:t>
            </a:r>
            <a:r>
              <a:rPr lang="zh-CN" altLang="en-US" b="1" dirty="0">
                <a:solidFill>
                  <a:srgbClr val="0245AD"/>
                </a:solidFill>
                <a:latin typeface="微软雅黑" pitchFamily="34" charset="-122"/>
                <a:ea typeface="微软雅黑" pitchFamily="34" charset="-122"/>
                <a:cs typeface="+mj-cs"/>
              </a:rPr>
              <a:t> </a:t>
            </a:r>
            <a:r>
              <a:rPr kumimoji="0" lang="zh-CN" altLang="en-US"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事务数据库中的基本元素或对象，用符号 </a:t>
            </a:r>
            <a:r>
              <a:rPr kumimoji="0" lang="en-US" altLang="zh-CN" i="1" u="none" strike="noStrike" cap="none" normalizeH="0" baseline="0" dirty="0" err="1">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表示</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项是任何可以在数据中单独识别和操作的元素</a:t>
            </a: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一条消费记录可包含啤酒、牛奶、玉米等项</a:t>
            </a:r>
            <a:endParaRPr kumimoji="0" lang="en-US" altLang="zh-CN" sz="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p"/>
              <a:tabLst/>
            </a:pPr>
            <a:r>
              <a:rPr lang="zh-CN" altLang="en-US" b="1" dirty="0">
                <a:solidFill>
                  <a:srgbClr val="0245AD"/>
                </a:solidFill>
                <a:latin typeface="微软雅黑" pitchFamily="34" charset="-122"/>
                <a:ea typeface="微软雅黑" pitchFamily="34" charset="-122"/>
                <a:cs typeface="+mj-cs"/>
              </a:rPr>
              <a:t>项集</a:t>
            </a:r>
            <a:r>
              <a:rPr lang="en-US" altLang="zh-CN" b="1" dirty="0">
                <a:solidFill>
                  <a:srgbClr val="0245AD"/>
                </a:solidFill>
                <a:latin typeface="微软雅黑" pitchFamily="34" charset="-122"/>
                <a:ea typeface="微软雅黑" pitchFamily="34" charset="-122"/>
                <a:cs typeface="+mj-cs"/>
              </a:rPr>
              <a:t>(Itemset) :</a:t>
            </a:r>
            <a:r>
              <a:rPr lang="zh-CN" altLang="en-US" b="1" dirty="0">
                <a:solidFill>
                  <a:srgbClr val="0245AD"/>
                </a:solidFill>
                <a:latin typeface="微软雅黑" pitchFamily="34" charset="-122"/>
                <a:ea typeface="微软雅黑" pitchFamily="34" charset="-122"/>
                <a:cs typeface="+mj-cs"/>
              </a:rPr>
              <a:t> </a:t>
            </a:r>
            <a:r>
              <a:rPr kumimoji="0" lang="zh-CN" altLang="en-US"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事务数据库中一组项的集合称为项集</a:t>
            </a:r>
            <a:endParaRPr lang="en-US" altLang="zh-CN" dirty="0">
              <a:latin typeface="微软雅黑" panose="020B0503020204020204" pitchFamily="34" charset="-122"/>
              <a:ea typeface="微软雅黑" panose="020B0503020204020204" pitchFamily="34" charset="-122"/>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zh-CN" altLang="en-US" sz="1600" dirty="0">
                <a:latin typeface="微软雅黑" panose="020B0503020204020204" pitchFamily="34" charset="-122"/>
                <a:ea typeface="微软雅黑" panose="020B0503020204020204" pitchFamily="34" charset="-122"/>
              </a:rPr>
              <a:t>包含 </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k </a:t>
            </a:r>
            <a:r>
              <a:rPr lang="zh-CN" altLang="en-US" sz="1600" dirty="0">
                <a:latin typeface="微软雅黑" panose="020B0503020204020204" pitchFamily="34" charset="-122"/>
                <a:ea typeface="微软雅黑" panose="020B0503020204020204" pitchFamily="34" charset="-122"/>
              </a:rPr>
              <a:t>个项的项集称为 </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k </a:t>
            </a:r>
            <a:r>
              <a:rPr lang="zh-CN" altLang="en-US" sz="1600" dirty="0">
                <a:latin typeface="微软雅黑" panose="020B0503020204020204" pitchFamily="34" charset="-122"/>
                <a:ea typeface="微软雅黑" panose="020B0503020204020204" pitchFamily="34" charset="-122"/>
              </a:rPr>
              <a:t>项集</a:t>
            </a:r>
            <a:endParaRPr lang="en-US" altLang="zh-CN" sz="1600" dirty="0">
              <a:latin typeface="微软雅黑" panose="020B0503020204020204" pitchFamily="34" charset="-122"/>
              <a:ea typeface="微软雅黑" panose="020B0503020204020204" pitchFamily="34" charset="-122"/>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巧克力</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啤酒，面包</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巧克力，牛奶，火腿、玉米</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分别为</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项集，</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项集，</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项集</a:t>
            </a:r>
            <a:endParaRPr kumimoji="0" lang="zh-CN" altLang="en-US" sz="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p"/>
              <a:tabLst/>
            </a:pPr>
            <a:r>
              <a:rPr lang="zh-CN" altLang="en-US" b="1" dirty="0">
                <a:solidFill>
                  <a:srgbClr val="0245AD"/>
                </a:solidFill>
                <a:latin typeface="微软雅黑" pitchFamily="34" charset="-122"/>
                <a:ea typeface="微软雅黑" pitchFamily="34" charset="-122"/>
                <a:cs typeface="+mj-cs"/>
              </a:rPr>
              <a:t>事务</a:t>
            </a:r>
            <a:r>
              <a:rPr lang="en-US" altLang="zh-CN" b="1" dirty="0">
                <a:solidFill>
                  <a:srgbClr val="0245AD"/>
                </a:solidFill>
                <a:latin typeface="微软雅黑" pitchFamily="34" charset="-122"/>
                <a:ea typeface="微软雅黑" pitchFamily="34" charset="-122"/>
                <a:cs typeface="+mj-cs"/>
              </a:rPr>
              <a:t>(Transaction) : </a:t>
            </a:r>
            <a:r>
              <a:rPr kumimoji="0" lang="zh-CN" altLang="en-US"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事务数据库中每条数据都是一条事务，如一条消费记录，一次订票记录等，事务由事务号和项集组成</a:t>
            </a:r>
            <a:endParaRPr kumimoji="0" lang="en-US" altLang="zh-CN"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285750" indent="-285750" eaLnBrk="0" fontAlgn="base" hangingPunct="0">
              <a:lnSpc>
                <a:spcPct val="150000"/>
              </a:lnSpc>
              <a:spcBef>
                <a:spcPct val="0"/>
              </a:spcBef>
              <a:spcAft>
                <a:spcPct val="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事务</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T </a:t>
            </a:r>
            <a:r>
              <a:rPr lang="zh-CN" altLang="en-US" sz="1600" dirty="0">
                <a:latin typeface="微软雅黑" panose="020B0503020204020204" pitchFamily="34" charset="-122"/>
                <a:ea typeface="微软雅黑" panose="020B0503020204020204" pitchFamily="34" charset="-122"/>
              </a:rPr>
              <a:t>的唯一标识符记为</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TID</a:t>
            </a:r>
            <a:r>
              <a:rPr lang="zh-CN" altLang="en-US" sz="1600" i="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latin typeface="微软雅黑" panose="020B0503020204020204" pitchFamily="34" charset="-122"/>
                <a:ea typeface="微软雅黑" panose="020B0503020204020204" pitchFamily="34" charset="-122"/>
              </a:rPr>
              <a:t>如</a:t>
            </a:r>
            <a:r>
              <a:rPr lang="en-US" altLang="zh-CN" sz="1600" dirty="0">
                <a:latin typeface="微软雅黑" panose="020B0503020204020204" pitchFamily="34" charset="-122"/>
                <a:ea typeface="微软雅黑" panose="020B0503020204020204" pitchFamily="34" charset="-122"/>
              </a:rPr>
              <a:t>&lt;1, {</a:t>
            </a:r>
            <a:r>
              <a:rPr lang="zh-CN" altLang="en-US" sz="1600" dirty="0">
                <a:latin typeface="微软雅黑" panose="020B0503020204020204" pitchFamily="34" charset="-122"/>
                <a:ea typeface="微软雅黑" panose="020B0503020204020204" pitchFamily="34" charset="-122"/>
              </a:rPr>
              <a:t>啤酒，面包，玉米</a:t>
            </a:r>
            <a:r>
              <a:rPr lang="en-US" altLang="zh-CN" sz="1600" dirty="0">
                <a:latin typeface="微软雅黑" panose="020B0503020204020204" pitchFamily="34" charset="-122"/>
                <a:ea typeface="微软雅黑" panose="020B0503020204020204" pitchFamily="34" charset="-122"/>
              </a:rPr>
              <a:t>}&gt;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p"/>
              <a:tabLst/>
            </a:pPr>
            <a:r>
              <a:rPr lang="zh-CN" altLang="en-US" b="1" dirty="0">
                <a:solidFill>
                  <a:srgbClr val="0245AD"/>
                </a:solidFill>
                <a:latin typeface="微软雅黑" pitchFamily="34" charset="-122"/>
                <a:ea typeface="微软雅黑" pitchFamily="34" charset="-122"/>
                <a:cs typeface="+mj-cs"/>
              </a:rPr>
              <a:t>事务数据库：</a:t>
            </a:r>
            <a:r>
              <a:rPr kumimoji="0" lang="zh-CN" altLang="en-US"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由多个事务组成</a:t>
            </a:r>
            <a:endParaRPr kumimoji="0" lang="en-US" altLang="zh-CN"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5" name="矩形 26">
            <a:extLst>
              <a:ext uri="{FF2B5EF4-FFF2-40B4-BE49-F238E27FC236}">
                <a16:creationId xmlns:a16="http://schemas.microsoft.com/office/drawing/2014/main" id="{6EABD612-15E0-952D-F9DF-97BF681BC6A6}"/>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8" name="矩形: 圆角 55">
            <a:extLst>
              <a:ext uri="{FF2B5EF4-FFF2-40B4-BE49-F238E27FC236}">
                <a16:creationId xmlns:a16="http://schemas.microsoft.com/office/drawing/2014/main" id="{C63BAD64-E7C1-3622-E221-E0050790AFB8}"/>
              </a:ext>
            </a:extLst>
          </p:cNvPr>
          <p:cNvSpPr/>
          <p:nvPr/>
        </p:nvSpPr>
        <p:spPr>
          <a:xfrm>
            <a:off x="558040" y="1190656"/>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基本概念</a:t>
            </a:r>
          </a:p>
        </p:txBody>
      </p:sp>
    </p:spTree>
    <p:extLst>
      <p:ext uri="{BB962C8B-B14F-4D97-AF65-F5344CB8AC3E}">
        <p14:creationId xmlns:p14="http://schemas.microsoft.com/office/powerpoint/2010/main" val="2707625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1D576-1B89-E355-43A5-5AAC4A31C872}"/>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962F4F88-D98A-D0A5-4926-EEAB8F4AF363}"/>
              </a:ext>
            </a:extLst>
          </p:cNvPr>
          <p:cNvSpPr/>
          <p:nvPr/>
        </p:nvSpPr>
        <p:spPr>
          <a:xfrm>
            <a:off x="5250205" y="1943164"/>
            <a:ext cx="6541176" cy="4446632"/>
          </a:xfrm>
          <a:prstGeom prst="rect">
            <a:avLst/>
          </a:prstGeom>
          <a:solidFill>
            <a:schemeClr val="bg1"/>
          </a:solidFill>
          <a:ln w="3175">
            <a:solidFill>
              <a:srgbClr val="0444AE"/>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solidFill>
                <a:schemeClr val="tx1"/>
              </a:solidFill>
            </a:endParaRPr>
          </a:p>
        </p:txBody>
      </p:sp>
      <p:graphicFrame>
        <p:nvGraphicFramePr>
          <p:cNvPr id="4" name="表格 3">
            <a:extLst>
              <a:ext uri="{FF2B5EF4-FFF2-40B4-BE49-F238E27FC236}">
                <a16:creationId xmlns:a16="http://schemas.microsoft.com/office/drawing/2014/main" id="{2070D6C4-0905-977C-87BD-424C78BA9E88}"/>
              </a:ext>
            </a:extLst>
          </p:cNvPr>
          <p:cNvGraphicFramePr>
            <a:graphicFrameLocks noGrp="1"/>
          </p:cNvGraphicFramePr>
          <p:nvPr>
            <p:extLst>
              <p:ext uri="{D42A27DB-BD31-4B8C-83A1-F6EECF244321}">
                <p14:modId xmlns:p14="http://schemas.microsoft.com/office/powerpoint/2010/main" val="2430570192"/>
              </p:ext>
            </p:extLst>
          </p:nvPr>
        </p:nvGraphicFramePr>
        <p:xfrm>
          <a:off x="335270" y="2336800"/>
          <a:ext cx="4732470" cy="3759644"/>
        </p:xfrm>
        <a:graphic>
          <a:graphicData uri="http://schemas.openxmlformats.org/drawingml/2006/table">
            <a:tbl>
              <a:tblPr firstRow="1" firstCol="1" bandRow="1"/>
              <a:tblGrid>
                <a:gridCol w="805630">
                  <a:extLst>
                    <a:ext uri="{9D8B030D-6E8A-4147-A177-3AD203B41FA5}">
                      <a16:colId xmlns:a16="http://schemas.microsoft.com/office/drawing/2014/main" val="3781961391"/>
                    </a:ext>
                  </a:extLst>
                </a:gridCol>
                <a:gridCol w="3926840">
                  <a:extLst>
                    <a:ext uri="{9D8B030D-6E8A-4147-A177-3AD203B41FA5}">
                      <a16:colId xmlns:a16="http://schemas.microsoft.com/office/drawing/2014/main" val="2463828023"/>
                    </a:ext>
                  </a:extLst>
                </a:gridCol>
              </a:tblGrid>
              <a:tr h="537092">
                <a:tc>
                  <a:txBody>
                    <a:bodyPr/>
                    <a:lstStyle/>
                    <a:p>
                      <a:pPr marL="0" marR="0" algn="ctr">
                        <a:lnSpc>
                          <a:spcPct val="125000"/>
                        </a:lnSpc>
                      </a:pPr>
                      <a:r>
                        <a:rPr lang="zh-CN" sz="2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编号</a:t>
                      </a:r>
                      <a:endParaRPr lang="zh-CN" sz="32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47AF"/>
                    </a:solidFill>
                  </a:tcPr>
                </a:tc>
                <a:tc>
                  <a:txBody>
                    <a:bodyPr/>
                    <a:lstStyle/>
                    <a:p>
                      <a:pPr marL="0" marR="0" algn="l">
                        <a:lnSpc>
                          <a:spcPct val="125000"/>
                        </a:lnSpc>
                      </a:pPr>
                      <a:r>
                        <a:rPr lang="zh-CN" sz="2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事务</a:t>
                      </a:r>
                      <a:endParaRPr lang="zh-CN" sz="32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47AF"/>
                    </a:solidFill>
                  </a:tcPr>
                </a:tc>
                <a:extLst>
                  <a:ext uri="{0D108BD9-81ED-4DB2-BD59-A6C34878D82A}">
                    <a16:rowId xmlns:a16="http://schemas.microsoft.com/office/drawing/2014/main" val="1694121058"/>
                  </a:ext>
                </a:extLst>
              </a:tr>
              <a:tr h="537092">
                <a:tc>
                  <a:txBody>
                    <a:bodyPr/>
                    <a:lstStyle/>
                    <a:p>
                      <a:pPr marL="0" marR="0" algn="ctr">
                        <a:lnSpc>
                          <a:spcPct val="125000"/>
                        </a:lnSpc>
                      </a:pPr>
                      <a:r>
                        <a:rPr lang="en-US"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1</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lnSpc>
                          <a:spcPct val="125000"/>
                        </a:lnSpc>
                      </a:pPr>
                      <a:r>
                        <a:rPr lang="zh-CN"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啤酒，面包，玉米</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0144224"/>
                  </a:ext>
                </a:extLst>
              </a:tr>
              <a:tr h="537092">
                <a:tc>
                  <a:txBody>
                    <a:bodyPr/>
                    <a:lstStyle/>
                    <a:p>
                      <a:pPr marL="0" marR="0" algn="ctr">
                        <a:lnSpc>
                          <a:spcPct val="125000"/>
                        </a:lnSpc>
                      </a:pPr>
                      <a:r>
                        <a:rPr lang="en-US"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2</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lnSpc>
                          <a:spcPct val="125000"/>
                        </a:lnSpc>
                      </a:pPr>
                      <a:r>
                        <a:rPr lang="zh-CN"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巧克力，牛奶，火腿，玉米</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6674558"/>
                  </a:ext>
                </a:extLst>
              </a:tr>
              <a:tr h="537092">
                <a:tc>
                  <a:txBody>
                    <a:bodyPr/>
                    <a:lstStyle/>
                    <a:p>
                      <a:pPr marL="0" marR="0" algn="ctr">
                        <a:lnSpc>
                          <a:spcPct val="125000"/>
                        </a:lnSpc>
                      </a:pPr>
                      <a:r>
                        <a:rPr lang="en-US"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3</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lnSpc>
                          <a:spcPct val="125000"/>
                        </a:lnSpc>
                      </a:pPr>
                      <a:r>
                        <a:rPr lang="zh-CN"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牛奶，面包</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81863653"/>
                  </a:ext>
                </a:extLst>
              </a:tr>
              <a:tr h="537092">
                <a:tc>
                  <a:txBody>
                    <a:bodyPr/>
                    <a:lstStyle/>
                    <a:p>
                      <a:pPr marL="0" marR="0" algn="ctr">
                        <a:lnSpc>
                          <a:spcPct val="125000"/>
                        </a:lnSpc>
                      </a:pPr>
                      <a:r>
                        <a:rPr lang="en-US"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4</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lnSpc>
                          <a:spcPct val="125000"/>
                        </a:lnSpc>
                      </a:pPr>
                      <a:r>
                        <a:rPr lang="zh-CN"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火腿，鸡蛋</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97810847"/>
                  </a:ext>
                </a:extLst>
              </a:tr>
              <a:tr h="537092">
                <a:tc>
                  <a:txBody>
                    <a:bodyPr/>
                    <a:lstStyle/>
                    <a:p>
                      <a:pPr marL="0" marR="0" algn="ctr">
                        <a:lnSpc>
                          <a:spcPct val="125000"/>
                        </a:lnSpc>
                      </a:pPr>
                      <a:r>
                        <a:rPr lang="en-US"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5</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lnSpc>
                          <a:spcPct val="125000"/>
                        </a:lnSpc>
                      </a:pPr>
                      <a:r>
                        <a:rPr lang="zh-CN"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啤酒，巧克力，鸡蛋</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40045810"/>
                  </a:ext>
                </a:extLst>
              </a:tr>
              <a:tr h="537092">
                <a:tc>
                  <a:txBody>
                    <a:bodyPr/>
                    <a:lstStyle/>
                    <a:p>
                      <a:pPr marL="0" marR="0" algn="ctr">
                        <a:lnSpc>
                          <a:spcPct val="125000"/>
                        </a:lnSpc>
                      </a:pPr>
                      <a:r>
                        <a:rPr lang="en-US"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6</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l">
                        <a:lnSpc>
                          <a:spcPct val="125000"/>
                        </a:lnSpc>
                      </a:pPr>
                      <a:r>
                        <a:rPr lang="zh-CN" sz="24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rPr>
                        <a:t>面包</a:t>
                      </a:r>
                      <a:endParaRPr lang="zh-CN" sz="3200" b="1" kern="100" dirty="0">
                        <a:solidFill>
                          <a:srgbClr val="00008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59541595"/>
                  </a:ext>
                </a:extLst>
              </a:tr>
            </a:tbl>
          </a:graphicData>
        </a:graphic>
      </p:graphicFrame>
      <p:sp>
        <p:nvSpPr>
          <p:cNvPr id="6" name="Rectangle 2">
            <a:extLst>
              <a:ext uri="{FF2B5EF4-FFF2-40B4-BE49-F238E27FC236}">
                <a16:creationId xmlns:a16="http://schemas.microsoft.com/office/drawing/2014/main" id="{D5A694EE-99E5-7190-D15B-7C0FBFC2A0A1}"/>
              </a:ext>
            </a:extLst>
          </p:cNvPr>
          <p:cNvSpPr>
            <a:spLocks noChangeArrowheads="1"/>
          </p:cNvSpPr>
          <p:nvPr/>
        </p:nvSpPr>
        <p:spPr bwMode="auto">
          <a:xfrm>
            <a:off x="5304410" y="1943164"/>
            <a:ext cx="6432766" cy="4250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p"/>
              <a:tabLst/>
            </a:pPr>
            <a:r>
              <a:rPr lang="zh-CN" altLang="en-US" b="1" dirty="0">
                <a:solidFill>
                  <a:srgbClr val="0245AD"/>
                </a:solidFill>
                <a:latin typeface="微软雅黑" pitchFamily="34" charset="-122"/>
                <a:ea typeface="微软雅黑" pitchFamily="34" charset="-122"/>
                <a:cs typeface="+mj-cs"/>
              </a:rPr>
              <a:t>包含关系</a:t>
            </a:r>
            <a:r>
              <a:rPr lang="en-US" altLang="zh-CN" b="1" dirty="0">
                <a:solidFill>
                  <a:srgbClr val="0245AD"/>
                </a:solidFill>
                <a:latin typeface="微软雅黑" pitchFamily="34" charset="-122"/>
                <a:ea typeface="微软雅黑" pitchFamily="34" charset="-122"/>
                <a:cs typeface="+mj-cs"/>
              </a:rPr>
              <a:t>:</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zh-CN" altLang="en-US" sz="1600" dirty="0">
                <a:latin typeface="微软雅黑" panose="020B0503020204020204" pitchFamily="34" charset="-122"/>
                <a:ea typeface="微软雅黑" panose="020B0503020204020204" pitchFamily="34" charset="-122"/>
              </a:rPr>
              <a:t>设有事务数据库</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TDB</a:t>
            </a:r>
            <a:r>
              <a:rPr lang="zh-CN" altLang="en-US" sz="1600" dirty="0">
                <a:latin typeface="微软雅黑" panose="020B0503020204020204" pitchFamily="34" charset="-122"/>
                <a:ea typeface="微软雅黑" panose="020B0503020204020204" pitchFamily="34" charset="-122"/>
              </a:rPr>
              <a:t>，其中</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600" dirty="0">
                <a:latin typeface="微软雅黑" panose="020B0503020204020204" pitchFamily="34" charset="-122"/>
                <a:ea typeface="微软雅黑" panose="020B0503020204020204" pitchFamily="34" charset="-122"/>
              </a:rPr>
              <a:t>={</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6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600" dirty="0">
                <a:latin typeface="微软雅黑" panose="020B0503020204020204" pitchFamily="34" charset="-122"/>
                <a:ea typeface="微软雅黑" panose="020B0503020204020204" pitchFamily="34" charset="-122"/>
              </a:rPr>
              <a:t>, </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6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600" dirty="0">
                <a:latin typeface="微软雅黑" panose="020B0503020204020204" pitchFamily="34" charset="-122"/>
                <a:ea typeface="微软雅黑" panose="020B0503020204020204" pitchFamily="34" charset="-122"/>
              </a:rPr>
              <a:t>, …, </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600" baseline="-25000"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是</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TDB</a:t>
            </a:r>
            <a:r>
              <a:rPr lang="zh-CN" altLang="en-US" sz="1600" dirty="0">
                <a:latin typeface="微软雅黑" panose="020B0503020204020204" pitchFamily="34" charset="-122"/>
                <a:ea typeface="微软雅黑" panose="020B0503020204020204" pitchFamily="34" charset="-122"/>
              </a:rPr>
              <a:t>中所有项的集合</a:t>
            </a: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TDB</a:t>
            </a:r>
            <a:r>
              <a:rPr lang="zh-CN" altLang="en-US" sz="1600" dirty="0">
                <a:latin typeface="微软雅黑" panose="020B0503020204020204" pitchFamily="34" charset="-122"/>
                <a:ea typeface="微软雅黑" panose="020B0503020204020204" pitchFamily="34" charset="-122"/>
              </a:rPr>
              <a:t>中每个事务</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T</a:t>
            </a:r>
            <a:r>
              <a:rPr lang="zh-CN" altLang="en-US" sz="1600" dirty="0">
                <a:latin typeface="微软雅黑" panose="020B0503020204020204" pitchFamily="34" charset="-122"/>
                <a:ea typeface="微软雅黑" panose="020B0503020204020204" pitchFamily="34" charset="-122"/>
              </a:rPr>
              <a:t>是一个非空项集，且</a:t>
            </a:r>
            <a:endParaRPr lang="en-US" altLang="zh-CN" sz="1600" dirty="0">
              <a:latin typeface="微软雅黑" panose="020B0503020204020204" pitchFamily="34" charset="-122"/>
              <a:ea typeface="微软雅黑" panose="020B0503020204020204" pitchFamily="34" charset="-122"/>
            </a:endParaRP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zh-CN" altLang="en-US" sz="1600" dirty="0">
                <a:latin typeface="微软雅黑" panose="020B0503020204020204" pitchFamily="34" charset="-122"/>
                <a:ea typeface="微软雅黑" panose="020B0503020204020204" pitchFamily="34" charset="-122"/>
              </a:rPr>
              <a:t>事务</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T</a:t>
            </a:r>
            <a:r>
              <a:rPr lang="zh-CN" altLang="en-US" sz="1600" dirty="0">
                <a:latin typeface="微软雅黑" panose="020B0503020204020204" pitchFamily="34" charset="-122"/>
                <a:ea typeface="微软雅黑" panose="020B0503020204020204" pitchFamily="34" charset="-122"/>
              </a:rPr>
              <a:t>的唯一标识符记为</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TID</a:t>
            </a:r>
            <a:r>
              <a:rPr lang="zh-CN" altLang="en-US" sz="1600" dirty="0">
                <a:latin typeface="微软雅黑" panose="020B0503020204020204" pitchFamily="34" charset="-122"/>
                <a:ea typeface="微软雅黑" panose="020B0503020204020204" pitchFamily="34" charset="-122"/>
              </a:rPr>
              <a:t>。事务</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T </a:t>
            </a:r>
            <a:r>
              <a:rPr lang="zh-CN" altLang="en-US" sz="1600" dirty="0">
                <a:latin typeface="微软雅黑" panose="020B0503020204020204" pitchFamily="34" charset="-122"/>
                <a:ea typeface="微软雅黑" panose="020B0503020204020204" pitchFamily="34" charset="-122"/>
              </a:rPr>
              <a:t>包含项集</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1600" dirty="0">
                <a:latin typeface="微软雅黑" panose="020B0503020204020204" pitchFamily="34" charset="-122"/>
                <a:ea typeface="微软雅黑" panose="020B0503020204020204" pitchFamily="34" charset="-122"/>
              </a:rPr>
              <a:t>，当且仅当        时成立。</a:t>
            </a:r>
            <a:endParaRPr kumimoji="0" lang="en-US" altLang="zh-CN" sz="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285750" indent="-285750" eaLnBrk="0" fontAlgn="base" hangingPunct="0">
              <a:lnSpc>
                <a:spcPct val="150000"/>
              </a:lnSpc>
              <a:spcBef>
                <a:spcPct val="0"/>
              </a:spcBef>
              <a:spcAft>
                <a:spcPct val="0"/>
              </a:spcAft>
              <a:buFont typeface="Wingdings" panose="05000000000000000000" pitchFamily="2" charset="2"/>
              <a:buChar char="p"/>
              <a:defRPr/>
            </a:pPr>
            <a:r>
              <a:rPr lang="zh-CN" altLang="en-US" b="1" dirty="0">
                <a:solidFill>
                  <a:srgbClr val="0245AD"/>
                </a:solidFill>
                <a:latin typeface="微软雅黑" pitchFamily="34" charset="-122"/>
                <a:ea typeface="微软雅黑" pitchFamily="34" charset="-122"/>
                <a:cs typeface="+mj-cs"/>
              </a:rPr>
              <a:t>支持度计数</a:t>
            </a:r>
            <a:r>
              <a:rPr lang="en-US" altLang="zh-CN" b="1" dirty="0">
                <a:solidFill>
                  <a:srgbClr val="0245AD"/>
                </a:solidFill>
                <a:latin typeface="微软雅黑" pitchFamily="34" charset="-122"/>
                <a:ea typeface="微软雅黑" pitchFamily="34" charset="-122"/>
                <a:cs typeface="+mj-cs"/>
              </a:rPr>
              <a:t> </a:t>
            </a:r>
            <a:r>
              <a:rPr lang="zh-CN" altLang="en-US" b="1" dirty="0">
                <a:solidFill>
                  <a:srgbClr val="0245AD"/>
                </a:solidFill>
                <a:latin typeface="微软雅黑" pitchFamily="34" charset="-122"/>
                <a:ea typeface="微软雅黑" pitchFamily="34" charset="-122"/>
                <a:cs typeface="+mj-cs"/>
              </a:rPr>
              <a:t>(</a:t>
            </a:r>
            <a:r>
              <a:rPr lang="en-US" altLang="zh-CN" b="1" dirty="0">
                <a:solidFill>
                  <a:srgbClr val="0245AD"/>
                </a:solidFill>
                <a:latin typeface="微软雅黑" pitchFamily="34" charset="-122"/>
                <a:ea typeface="微软雅黑" pitchFamily="34" charset="-122"/>
                <a:cs typeface="+mj-cs"/>
              </a:rPr>
              <a:t>Support count) :</a:t>
            </a:r>
            <a:r>
              <a:rPr lang="zh-CN" altLang="en-US" b="1" dirty="0">
                <a:solidFill>
                  <a:srgbClr val="0245AD"/>
                </a:solidFill>
                <a:latin typeface="微软雅黑" pitchFamily="34" charset="-122"/>
                <a:ea typeface="微软雅黑" pitchFamily="34" charset="-122"/>
                <a:cs typeface="+mj-cs"/>
              </a:rPr>
              <a:t> </a:t>
            </a:r>
            <a:endParaRPr lang="en-US" altLang="zh-CN" b="1" dirty="0">
              <a:solidFill>
                <a:srgbClr val="0245AD"/>
              </a:solidFill>
              <a:latin typeface="微软雅黑" pitchFamily="34" charset="-122"/>
              <a:ea typeface="微软雅黑" pitchFamily="34" charset="-122"/>
              <a:cs typeface="+mj-cs"/>
              <a:sym typeface="Symbol" panose="05050102010706020507" pitchFamily="18" charset="2"/>
            </a:endParaRPr>
          </a:p>
          <a:p>
            <a:pPr marL="285750" indent="-285750" eaLnBrk="0" fontAlgn="base" hangingPunct="0">
              <a:lnSpc>
                <a:spcPct val="150000"/>
              </a:lnSpc>
              <a:spcBef>
                <a:spcPct val="0"/>
              </a:spcBef>
              <a:spcAft>
                <a:spcPct val="0"/>
              </a:spcAft>
              <a:buFont typeface="Arial" panose="020B0604020202020204" pitchFamily="34" charset="0"/>
              <a:buChar char="•"/>
              <a:defRPr/>
            </a:pPr>
            <a:r>
              <a:rPr lang="zh-CN" altLang="en-US" sz="1600" dirty="0">
                <a:latin typeface="微软雅黑" panose="020B0503020204020204" pitchFamily="34" charset="-122"/>
                <a:ea typeface="微软雅黑" panose="020B0503020204020204" pitchFamily="34" charset="-122"/>
              </a:rPr>
              <a:t>事务数据库中包含某个项集的事务的个数</a:t>
            </a:r>
            <a:endParaRPr lang="en-US" altLang="zh-CN" sz="1600" dirty="0">
              <a:latin typeface="微软雅黑" panose="020B0503020204020204" pitchFamily="34" charset="-122"/>
              <a:ea typeface="微软雅黑" panose="020B0503020204020204" pitchFamily="34" charset="-122"/>
            </a:endParaRPr>
          </a:p>
          <a:p>
            <a:pPr marL="285750" indent="-285750" eaLnBrk="0" fontAlgn="base" hangingPunct="0">
              <a:lnSpc>
                <a:spcPct val="150000"/>
              </a:lnSpc>
              <a:spcBef>
                <a:spcPct val="0"/>
              </a:spcBef>
              <a:spcAft>
                <a:spcPct val="0"/>
              </a:spcAft>
              <a:buFont typeface="Arial" panose="020B0604020202020204" pitchFamily="34" charset="0"/>
              <a:buChar char="•"/>
              <a:defRPr/>
            </a:pPr>
            <a:r>
              <a:rPr lang="zh-CN" altLang="en-US" sz="1600" dirty="0">
                <a:latin typeface="微软雅黑" panose="020B0503020204020204" pitchFamily="34" charset="-122"/>
                <a:ea typeface="微软雅黑" panose="020B0503020204020204" pitchFamily="34" charset="-122"/>
              </a:rPr>
              <a:t>例如： </a:t>
            </a:r>
            <a:r>
              <a:rPr lang="en-US" altLang="zh-CN" sz="16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1600" dirty="0">
                <a:latin typeface="微软雅黑" panose="020B0503020204020204" pitchFamily="34" charset="-122"/>
                <a:ea typeface="微软雅黑" panose="020B0503020204020204" pitchFamily="34" charset="-122"/>
                <a:sym typeface="Symbol" panose="05050102010706020507" pitchFamily="18" charset="2"/>
              </a:rPr>
              <a:t>巧克力</a:t>
            </a:r>
            <a:r>
              <a:rPr lang="en-US" altLang="zh-CN" sz="16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1600" dirty="0">
                <a:latin typeface="微软雅黑" panose="020B0503020204020204" pitchFamily="34" charset="-122"/>
                <a:ea typeface="微软雅黑" panose="020B0503020204020204" pitchFamily="34" charset="-122"/>
                <a:sym typeface="Symbol" panose="05050102010706020507" pitchFamily="18" charset="2"/>
              </a:rPr>
              <a:t>火腿</a:t>
            </a:r>
            <a:r>
              <a:rPr lang="en-US" altLang="zh-CN" sz="16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1600" dirty="0">
                <a:latin typeface="微软雅黑" panose="020B0503020204020204" pitchFamily="34" charset="-122"/>
                <a:ea typeface="微软雅黑" panose="020B0503020204020204" pitchFamily="34" charset="-122"/>
                <a:sym typeface="Symbol" panose="05050102010706020507" pitchFamily="18" charset="2"/>
              </a:rPr>
              <a:t>玉米</a:t>
            </a:r>
            <a:r>
              <a:rPr lang="en-US" altLang="zh-CN" sz="1600" dirty="0">
                <a:latin typeface="微软雅黑" panose="020B0503020204020204" pitchFamily="34" charset="-122"/>
                <a:ea typeface="微软雅黑" panose="020B0503020204020204" pitchFamily="34" charset="-122"/>
                <a:sym typeface="Symbol" panose="05050102010706020507" pitchFamily="18" charset="2"/>
              </a:rPr>
              <a:t>}) = 1 </a:t>
            </a:r>
            <a:endParaRPr lang="en-US" altLang="zh-CN" sz="1600" dirty="0">
              <a:latin typeface="微软雅黑" panose="020B0503020204020204" pitchFamily="34" charset="-122"/>
              <a:ea typeface="微软雅黑" panose="020B0503020204020204" pitchFamily="34" charset="-122"/>
            </a:endParaRPr>
          </a:p>
          <a:p>
            <a:pPr marL="285750" marR="0" lvl="0" indent="-285750" eaLnBrk="0" fontAlgn="base" hangingPunct="0">
              <a:lnSpc>
                <a:spcPct val="150000"/>
              </a:lnSpc>
              <a:spcBef>
                <a:spcPct val="0"/>
              </a:spcBef>
              <a:spcAft>
                <a:spcPct val="0"/>
              </a:spcAft>
              <a:buClrTx/>
              <a:buSzTx/>
              <a:buFont typeface="Wingdings" panose="05000000000000000000" pitchFamily="2" charset="2"/>
              <a:buChar char="p"/>
              <a:tabLst/>
              <a:defRPr/>
            </a:pPr>
            <a:r>
              <a:rPr lang="zh-CN" altLang="en-US" b="1" dirty="0">
                <a:solidFill>
                  <a:srgbClr val="0245AD"/>
                </a:solidFill>
                <a:latin typeface="微软雅黑" pitchFamily="34" charset="-122"/>
                <a:ea typeface="微软雅黑" pitchFamily="34" charset="-122"/>
                <a:cs typeface="+mj-cs"/>
              </a:rPr>
              <a:t>支持度 (</a:t>
            </a:r>
            <a:r>
              <a:rPr lang="en-US" altLang="zh-CN" b="1" dirty="0">
                <a:solidFill>
                  <a:srgbClr val="0245AD"/>
                </a:solidFill>
                <a:latin typeface="微软雅黑" pitchFamily="34" charset="-122"/>
                <a:ea typeface="微软雅黑" pitchFamily="34" charset="-122"/>
                <a:cs typeface="+mj-cs"/>
              </a:rPr>
              <a:t>Support)</a:t>
            </a:r>
            <a:r>
              <a:rPr lang="zh-CN" altLang="en-US" b="1" dirty="0">
                <a:solidFill>
                  <a:srgbClr val="0245AD"/>
                </a:solidFill>
                <a:latin typeface="微软雅黑" pitchFamily="34" charset="-122"/>
                <a:ea typeface="微软雅黑" pitchFamily="34" charset="-122"/>
                <a:cs typeface="+mj-cs"/>
              </a:rPr>
              <a:t>：</a:t>
            </a:r>
            <a:endParaRPr lang="en-US" altLang="zh-CN" b="1" dirty="0">
              <a:solidFill>
                <a:srgbClr val="0245AD"/>
              </a:solidFill>
              <a:latin typeface="微软雅黑" pitchFamily="34" charset="-122"/>
              <a:ea typeface="微软雅黑" pitchFamily="34" charset="-122"/>
              <a:cs typeface="+mj-cs"/>
            </a:endParaRPr>
          </a:p>
          <a:p>
            <a:pPr marL="285750" marR="0" lvl="1" indent="-285750" eaLnBrk="0" fontAlgn="base" hangingPunct="0">
              <a:lnSpc>
                <a:spcPct val="150000"/>
              </a:lnSpc>
              <a:spcBef>
                <a:spcPct val="0"/>
              </a:spcBef>
              <a:spcAft>
                <a:spcPct val="0"/>
              </a:spcAft>
              <a:buClrTx/>
              <a:buSzTx/>
              <a:buFont typeface="Arial" panose="020B0604020202020204" pitchFamily="34" charset="0"/>
              <a:buChar char="•"/>
              <a:tabLst/>
              <a:defRPr/>
            </a:pPr>
            <a:r>
              <a:rPr lang="zh-CN" altLang="en-US" sz="1600" dirty="0">
                <a:latin typeface="微软雅黑" panose="020B0503020204020204" pitchFamily="34" charset="-122"/>
                <a:ea typeface="微软雅黑" panose="020B0503020204020204" pitchFamily="34" charset="-122"/>
              </a:rPr>
              <a:t>事务数据库中包含某个项集的事务占事务总数的比例。</a:t>
            </a:r>
            <a:endParaRPr lang="en-US" altLang="zh-CN" sz="1600" dirty="0">
              <a:latin typeface="微软雅黑" panose="020B0503020204020204" pitchFamily="34" charset="-122"/>
              <a:ea typeface="微软雅黑" panose="020B0503020204020204" pitchFamily="34" charset="-122"/>
            </a:endParaRPr>
          </a:p>
          <a:p>
            <a:pPr marL="285750" marR="0" lvl="1" indent="-285750" eaLnBrk="0" fontAlgn="base" hangingPunct="0">
              <a:lnSpc>
                <a:spcPct val="150000"/>
              </a:lnSpc>
              <a:spcBef>
                <a:spcPct val="0"/>
              </a:spcBef>
              <a:spcAft>
                <a:spcPct val="0"/>
              </a:spcAft>
              <a:buClrTx/>
              <a:buSzTx/>
              <a:buFont typeface="Arial" panose="020B0604020202020204" pitchFamily="34" charset="0"/>
              <a:buChar char="•"/>
              <a:tabLst/>
              <a:defRPr/>
            </a:pPr>
            <a:r>
              <a:rPr lang="zh-CN" altLang="en-US" sz="1600" dirty="0">
                <a:latin typeface="微软雅黑" panose="020B0503020204020204" pitchFamily="34" charset="-122"/>
                <a:ea typeface="微软雅黑" panose="020B0503020204020204" pitchFamily="34" charset="-122"/>
              </a:rPr>
              <a:t>例如： </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sup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sym typeface="Symbol" panose="05050102010706020507" pitchFamily="18" charset="2"/>
              </a:rPr>
              <a:t>巧克力</a:t>
            </a:r>
            <a:r>
              <a:rPr lang="en-US" altLang="zh-CN" sz="16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1600" dirty="0">
                <a:latin typeface="微软雅黑" panose="020B0503020204020204" pitchFamily="34" charset="-122"/>
                <a:ea typeface="微软雅黑" panose="020B0503020204020204" pitchFamily="34" charset="-122"/>
                <a:sym typeface="Symbol" panose="05050102010706020507" pitchFamily="18" charset="2"/>
              </a:rPr>
              <a:t>火腿</a:t>
            </a:r>
            <a:r>
              <a:rPr lang="en-US" altLang="zh-CN" sz="16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1600" dirty="0">
                <a:latin typeface="微软雅黑" panose="020B0503020204020204" pitchFamily="34" charset="-122"/>
                <a:ea typeface="微软雅黑" panose="020B0503020204020204" pitchFamily="34" charset="-122"/>
                <a:sym typeface="Symbol" panose="05050102010706020507" pitchFamily="18" charset="2"/>
              </a:rPr>
              <a:t>玉米</a:t>
            </a:r>
            <a:r>
              <a:rPr lang="en-US" altLang="zh-CN" sz="1600" dirty="0">
                <a:latin typeface="微软雅黑" panose="020B0503020204020204" pitchFamily="34" charset="-122"/>
                <a:ea typeface="微软雅黑" panose="020B0503020204020204" pitchFamily="34" charset="-122"/>
              </a:rPr>
              <a:t>}) = 1/6</a:t>
            </a:r>
          </a:p>
        </p:txBody>
      </p:sp>
      <p:graphicFrame>
        <p:nvGraphicFramePr>
          <p:cNvPr id="5" name="对象 4">
            <a:extLst>
              <a:ext uri="{FF2B5EF4-FFF2-40B4-BE49-F238E27FC236}">
                <a16:creationId xmlns:a16="http://schemas.microsoft.com/office/drawing/2014/main" id="{24EA65CB-9626-B2EC-A3F6-5A9E7C38E10D}"/>
              </a:ext>
            </a:extLst>
          </p:cNvPr>
          <p:cNvGraphicFramePr>
            <a:graphicFrameLocks noChangeAspect="1"/>
          </p:cNvGraphicFramePr>
          <p:nvPr>
            <p:extLst>
              <p:ext uri="{D42A27DB-BD31-4B8C-83A1-F6EECF244321}">
                <p14:modId xmlns:p14="http://schemas.microsoft.com/office/powerpoint/2010/main" val="3711650382"/>
              </p:ext>
            </p:extLst>
          </p:nvPr>
        </p:nvGraphicFramePr>
        <p:xfrm>
          <a:off x="9057765" y="2887262"/>
          <a:ext cx="514350" cy="247650"/>
        </p:xfrm>
        <a:graphic>
          <a:graphicData uri="http://schemas.openxmlformats.org/presentationml/2006/ole">
            <mc:AlternateContent xmlns:mc="http://schemas.openxmlformats.org/markup-compatibility/2006">
              <mc:Choice xmlns:v="urn:schemas-microsoft-com:vml" Requires="v">
                <p:oleObj name="Equation" r:id="rId3" imgW="513758" imgH="248409" progId="Equation.DSMT4">
                  <p:embed/>
                </p:oleObj>
              </mc:Choice>
              <mc:Fallback>
                <p:oleObj name="Equation" r:id="rId3" imgW="513758" imgH="248409" progId="Equation.DSMT4">
                  <p:embed/>
                  <p:pic>
                    <p:nvPicPr>
                      <p:cNvPr id="5" name="对象 4">
                        <a:extLst>
                          <a:ext uri="{FF2B5EF4-FFF2-40B4-BE49-F238E27FC236}">
                            <a16:creationId xmlns:a16="http://schemas.microsoft.com/office/drawing/2014/main" id="{24EA65CB-9626-B2EC-A3F6-5A9E7C38E10D}"/>
                          </a:ext>
                        </a:extLst>
                      </p:cNvPr>
                      <p:cNvPicPr/>
                      <p:nvPr/>
                    </p:nvPicPr>
                    <p:blipFill>
                      <a:blip r:embed="rId4"/>
                      <a:stretch>
                        <a:fillRect/>
                      </a:stretch>
                    </p:blipFill>
                    <p:spPr>
                      <a:xfrm>
                        <a:off x="9057765" y="2887262"/>
                        <a:ext cx="514350" cy="24765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75D364F8-4C3B-C075-2724-9AB14AF72029}"/>
              </a:ext>
            </a:extLst>
          </p:cNvPr>
          <p:cNvGraphicFramePr>
            <a:graphicFrameLocks noChangeAspect="1"/>
          </p:cNvGraphicFramePr>
          <p:nvPr>
            <p:extLst>
              <p:ext uri="{D42A27DB-BD31-4B8C-83A1-F6EECF244321}">
                <p14:modId xmlns:p14="http://schemas.microsoft.com/office/powerpoint/2010/main" val="2497622992"/>
              </p:ext>
            </p:extLst>
          </p:nvPr>
        </p:nvGraphicFramePr>
        <p:xfrm>
          <a:off x="10863810" y="3242862"/>
          <a:ext cx="550863" cy="247650"/>
        </p:xfrm>
        <a:graphic>
          <a:graphicData uri="http://schemas.openxmlformats.org/presentationml/2006/ole">
            <mc:AlternateContent xmlns:mc="http://schemas.openxmlformats.org/markup-compatibility/2006">
              <mc:Choice xmlns:v="urn:schemas-microsoft-com:vml" Requires="v">
                <p:oleObj name="Equation" r:id="rId5" imgW="550481" imgH="248409" progId="Equation.DSMT4">
                  <p:embed/>
                </p:oleObj>
              </mc:Choice>
              <mc:Fallback>
                <p:oleObj name="Equation" r:id="rId5" imgW="550481" imgH="248409" progId="Equation.DSMT4">
                  <p:embed/>
                  <p:pic>
                    <p:nvPicPr>
                      <p:cNvPr id="8" name="对象 7">
                        <a:extLst>
                          <a:ext uri="{FF2B5EF4-FFF2-40B4-BE49-F238E27FC236}">
                            <a16:creationId xmlns:a16="http://schemas.microsoft.com/office/drawing/2014/main" id="{75D364F8-4C3B-C075-2724-9AB14AF72029}"/>
                          </a:ext>
                        </a:extLst>
                      </p:cNvPr>
                      <p:cNvPicPr/>
                      <p:nvPr/>
                    </p:nvPicPr>
                    <p:blipFill>
                      <a:blip r:embed="rId6"/>
                      <a:stretch>
                        <a:fillRect/>
                      </a:stretch>
                    </p:blipFill>
                    <p:spPr>
                      <a:xfrm>
                        <a:off x="10863810" y="3242862"/>
                        <a:ext cx="550863" cy="247650"/>
                      </a:xfrm>
                      <a:prstGeom prst="rect">
                        <a:avLst/>
                      </a:prstGeom>
                    </p:spPr>
                  </p:pic>
                </p:oleObj>
              </mc:Fallback>
            </mc:AlternateContent>
          </a:graphicData>
        </a:graphic>
      </p:graphicFrame>
      <p:sp>
        <p:nvSpPr>
          <p:cNvPr id="10" name="矩形 26">
            <a:extLst>
              <a:ext uri="{FF2B5EF4-FFF2-40B4-BE49-F238E27FC236}">
                <a16:creationId xmlns:a16="http://schemas.microsoft.com/office/drawing/2014/main" id="{64ED0C4B-C9CE-9ED8-F792-F611DB14A56C}"/>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55">
            <a:extLst>
              <a:ext uri="{FF2B5EF4-FFF2-40B4-BE49-F238E27FC236}">
                <a16:creationId xmlns:a16="http://schemas.microsoft.com/office/drawing/2014/main" id="{0CCD6BCA-2E9D-920F-67A1-9418476D5AF5}"/>
              </a:ext>
            </a:extLst>
          </p:cNvPr>
          <p:cNvSpPr/>
          <p:nvPr/>
        </p:nvSpPr>
        <p:spPr>
          <a:xfrm>
            <a:off x="558040" y="1190656"/>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基本概念</a:t>
            </a:r>
          </a:p>
        </p:txBody>
      </p:sp>
    </p:spTree>
    <p:extLst>
      <p:ext uri="{BB962C8B-B14F-4D97-AF65-F5344CB8AC3E}">
        <p14:creationId xmlns:p14="http://schemas.microsoft.com/office/powerpoint/2010/main" val="6022284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C8481-5377-AAE2-975E-C2C5F9AB0A7C}"/>
            </a:ext>
          </a:extLst>
        </p:cNvPr>
        <p:cNvGrpSpPr/>
        <p:nvPr/>
      </p:nvGrpSpPr>
      <p:grpSpPr>
        <a:xfrm>
          <a:off x="0" y="0"/>
          <a:ext cx="0" cy="0"/>
          <a:chOff x="0" y="0"/>
          <a:chExt cx="0" cy="0"/>
        </a:xfrm>
      </p:grpSpPr>
      <p:sp>
        <p:nvSpPr>
          <p:cNvPr id="11" name="Rectangle 8">
            <a:extLst>
              <a:ext uri="{FF2B5EF4-FFF2-40B4-BE49-F238E27FC236}">
                <a16:creationId xmlns:a16="http://schemas.microsoft.com/office/drawing/2014/main" id="{94E86F24-9EAB-542E-E81F-0D234E1D372B}"/>
              </a:ext>
            </a:extLst>
          </p:cNvPr>
          <p:cNvSpPr>
            <a:spLocks noChangeArrowheads="1"/>
          </p:cNvSpPr>
          <p:nvPr/>
        </p:nvSpPr>
        <p:spPr bwMode="auto">
          <a:xfrm>
            <a:off x="558040" y="2008532"/>
            <a:ext cx="5648397" cy="4440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eaLnBrk="0" hangingPunct="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285750" indent="-285750" fontAlgn="base">
              <a:lnSpc>
                <a:spcPct val="150000"/>
              </a:lnSpc>
              <a:spcBef>
                <a:spcPct val="0"/>
              </a:spcBef>
              <a:spcAft>
                <a:spcPct val="0"/>
              </a:spcAft>
              <a:buClrTx/>
              <a:buSzTx/>
              <a:buFont typeface="Wingdings" panose="05000000000000000000" pitchFamily="2" charset="2"/>
              <a:buChar char="p"/>
              <a:defRPr/>
            </a:pPr>
            <a:r>
              <a:rPr lang="zh-CN" altLang="en-US" sz="2400" b="1" dirty="0">
                <a:solidFill>
                  <a:srgbClr val="0245AD"/>
                </a:solidFill>
                <a:latin typeface="微软雅黑" pitchFamily="34" charset="-122"/>
                <a:ea typeface="微软雅黑" pitchFamily="34" charset="-122"/>
                <a:cs typeface="+mj-cs"/>
              </a:rPr>
              <a:t> 关联规则 (</a:t>
            </a:r>
            <a:r>
              <a:rPr lang="en-US" altLang="zh-CN" sz="2400" b="1" dirty="0">
                <a:solidFill>
                  <a:srgbClr val="0245AD"/>
                </a:solidFill>
                <a:latin typeface="微软雅黑" pitchFamily="34" charset="-122"/>
                <a:ea typeface="微软雅黑" pitchFamily="34" charset="-122"/>
                <a:cs typeface="+mj-cs"/>
              </a:rPr>
              <a:t>Association Rule)</a:t>
            </a:r>
          </a:p>
          <a:p>
            <a:pPr lvl="1" defTabSz="457200" eaLnBrk="1" hangingPunct="1">
              <a:lnSpc>
                <a:spcPct val="150000"/>
              </a:lnSpc>
              <a:buClr>
                <a:srgbClr val="0000FF"/>
              </a:buClr>
            </a:pPr>
            <a:r>
              <a:rPr kumimoji="1"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表达形式：</a:t>
            </a:r>
            <a:r>
              <a:rPr lang="en-US" altLang="zh-CN" sz="2000" i="1" kern="0" noProof="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kumimoji="1" lang="en-US" altLang="zh-CN" sz="2000" b="0" i="1"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support</a:t>
            </a:r>
            <a:r>
              <a:rPr kumimoji="1"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confidence</a:t>
            </a:r>
            <a:r>
              <a:rPr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endParaRPr kumimoji="1"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lvl="1" defTabSz="457200" eaLnBrk="1" hangingPunct="1">
              <a:lnSpc>
                <a:spcPct val="150000"/>
              </a:lnSpc>
              <a:buClr>
                <a:srgbClr val="0000FF"/>
              </a:buClr>
            </a:pPr>
            <a:r>
              <a:rPr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其中，</a:t>
            </a:r>
            <a:r>
              <a:rPr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a:t>
            </a:r>
            <a:r>
              <a:rPr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和 </a:t>
            </a:r>
            <a:r>
              <a:rPr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B</a:t>
            </a:r>
            <a:r>
              <a:rPr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都是项集，</a:t>
            </a:r>
            <a:r>
              <a:rPr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support</a:t>
            </a:r>
            <a:r>
              <a:rPr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sup</a:t>
            </a:r>
            <a:r>
              <a:rPr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是规则的支持度，</a:t>
            </a:r>
            <a:r>
              <a:rPr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confidence</a:t>
            </a:r>
            <a:r>
              <a:rPr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conf</a:t>
            </a:r>
            <a:r>
              <a:rPr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是置信度</a:t>
            </a:r>
            <a:endParaRPr kumimoji="1" lang="en-US" altLang="zh-CN" sz="20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 name="文本框 26">
            <a:extLst>
              <a:ext uri="{FF2B5EF4-FFF2-40B4-BE49-F238E27FC236}">
                <a16:creationId xmlns:a16="http://schemas.microsoft.com/office/drawing/2014/main" id="{51B834C6-4FDA-7E63-A3A6-380BB1B07129}"/>
              </a:ext>
            </a:extLst>
          </p:cNvPr>
          <p:cNvSpPr txBox="1"/>
          <p:nvPr/>
        </p:nvSpPr>
        <p:spPr>
          <a:xfrm>
            <a:off x="567448" y="4149145"/>
            <a:ext cx="5638989" cy="2130648"/>
          </a:xfrm>
          <a:prstGeom prst="rect">
            <a:avLst/>
          </a:prstGeom>
          <a:noFill/>
        </p:spPr>
        <p:txBody>
          <a:bodyPr wrap="square">
            <a:spAutoFit/>
          </a:bodyPr>
          <a:lstStyle/>
          <a:p>
            <a:pPr marL="285750" indent="-285750" fontAlgn="base">
              <a:lnSpc>
                <a:spcPct val="150000"/>
              </a:lnSpc>
              <a:spcBef>
                <a:spcPct val="0"/>
              </a:spcBef>
              <a:spcAft>
                <a:spcPct val="0"/>
              </a:spcAft>
              <a:buClrTx/>
              <a:buSzTx/>
              <a:buFont typeface="Wingdings" panose="05000000000000000000" pitchFamily="2" charset="2"/>
              <a:buChar char="p"/>
              <a:defRPr/>
            </a:pPr>
            <a:r>
              <a:rPr lang="zh-CN" altLang="en-US" sz="2400" b="1" dirty="0">
                <a:solidFill>
                  <a:srgbClr val="0245AD"/>
                </a:solidFill>
                <a:latin typeface="微软雅黑" pitchFamily="34" charset="-122"/>
                <a:ea typeface="微软雅黑" pitchFamily="34" charset="-122"/>
                <a:cs typeface="+mj-cs"/>
              </a:rPr>
              <a:t> 强关联规则 (</a:t>
            </a:r>
            <a:r>
              <a:rPr lang="en-US" altLang="zh-CN" sz="2400" b="1" dirty="0">
                <a:solidFill>
                  <a:srgbClr val="0245AD"/>
                </a:solidFill>
                <a:latin typeface="微软雅黑" pitchFamily="34" charset="-122"/>
                <a:ea typeface="微软雅黑" pitchFamily="34" charset="-122"/>
                <a:cs typeface="+mj-cs"/>
              </a:rPr>
              <a:t>Strong Association Rule)</a:t>
            </a:r>
          </a:p>
          <a:p>
            <a:pPr marL="742950" lvl="1" indent="-285750" defTabSz="457200">
              <a:lnSpc>
                <a:spcPct val="150000"/>
              </a:lnSpc>
              <a:spcBef>
                <a:spcPct val="20000"/>
              </a:spcBef>
              <a:buClr>
                <a:srgbClr val="0000FF"/>
              </a:buClr>
              <a:buSzPct val="55000"/>
              <a:buFont typeface="Wingdings" panose="05000000000000000000" pitchFamily="2" charset="2"/>
              <a:buChar char="n"/>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满足最小支持度阈值（</a:t>
            </a:r>
            <a:r>
              <a:rPr kumimoji="1" lang="en-US" altLang="zh-CN" sz="2000" i="1"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min</a:t>
            </a:r>
            <a:r>
              <a:rPr kumimoji="1" lang="en-US" altLang="zh-CN" sz="2000"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_</a:t>
            </a:r>
            <a:r>
              <a:rPr kumimoji="1" lang="en-US" altLang="zh-CN" sz="2000" i="1"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sup</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）和最小置信度阈值</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i="1"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min</a:t>
            </a:r>
            <a:r>
              <a:rPr kumimoji="1" lang="en-US" altLang="zh-CN" sz="2000"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_</a:t>
            </a:r>
            <a:r>
              <a:rPr kumimoji="1" lang="en-US" altLang="zh-CN" sz="2000" i="1"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conf</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的关联规则</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D8818F2D-C865-8B2F-2465-E5D1B9F21326}"/>
              </a:ext>
            </a:extLst>
          </p:cNvPr>
          <p:cNvSpPr txBox="1"/>
          <p:nvPr/>
        </p:nvSpPr>
        <p:spPr>
          <a:xfrm>
            <a:off x="6120220" y="1928371"/>
            <a:ext cx="5345374" cy="3977307"/>
          </a:xfrm>
          <a:prstGeom prst="rect">
            <a:avLst/>
          </a:prstGeom>
          <a:noFill/>
        </p:spPr>
        <p:txBody>
          <a:bodyPr wrap="square">
            <a:spAutoFit/>
          </a:bodyPr>
          <a:lstStyle/>
          <a:p>
            <a:pPr marL="285750" marR="0" lvl="0" indent="-285750" fontAlgn="base">
              <a:lnSpc>
                <a:spcPct val="150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rPr>
              <a:t> 规则评估度量指标</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50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支持度－</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Support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sup</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p>
          <a:p>
            <a:pPr marL="1143000" marR="0" lvl="2" indent="-228600" defTabSz="457200" eaLnBrk="1" fontAlgn="auto" latinLnBrk="0" hangingPunct="1">
              <a:lnSpc>
                <a:spcPct val="150000"/>
              </a:lnSpc>
              <a:spcBef>
                <a:spcPct val="20000"/>
              </a:spcBef>
              <a:spcAft>
                <a:spcPts val="0"/>
              </a:spcAft>
              <a:buClr>
                <a:srgbClr val="800080"/>
              </a:buClr>
              <a:buSzPct val="50000"/>
              <a:buFont typeface="Wingdings" panose="05000000000000000000" pitchFamily="2" charset="2"/>
              <a:buChar char="n"/>
              <a:tabLst/>
              <a:defRPr/>
            </a:pPr>
            <a:r>
              <a:rPr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数据库中</a:t>
            </a:r>
            <a:r>
              <a:rPr kumimoji="1"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同时包含 </a:t>
            </a:r>
            <a:r>
              <a:rPr kumimoji="1" lang="en-US" altLang="zh-CN" sz="2000" b="0" i="1"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 </a:t>
            </a:r>
            <a:r>
              <a:rPr kumimoji="1"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和 </a:t>
            </a:r>
            <a:r>
              <a:rPr kumimoji="1" lang="en-US" altLang="zh-CN" sz="2000" b="0" i="1"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 </a:t>
            </a:r>
            <a:r>
              <a:rPr kumimoji="1"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的事务的比例，即</a:t>
            </a:r>
            <a:endParaRPr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1143000" marR="0" lvl="2" indent="-228600" defTabSz="457200" eaLnBrk="1" fontAlgn="auto" latinLnBrk="0" hangingPunct="1">
              <a:lnSpc>
                <a:spcPct val="100000"/>
              </a:lnSpc>
              <a:spcBef>
                <a:spcPct val="20000"/>
              </a:spcBef>
              <a:spcAft>
                <a:spcPts val="0"/>
              </a:spcAft>
              <a:buClr>
                <a:srgbClr val="800080"/>
              </a:buClr>
              <a:buSzPct val="50000"/>
              <a:buFont typeface="Wingdings" panose="05000000000000000000" pitchFamily="2" charset="2"/>
              <a:buChar char="n"/>
              <a:tabLst/>
              <a:defRPr/>
            </a:pPr>
            <a:endParaRPr kumimoji="1"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defTabSz="457200">
              <a:lnSpc>
                <a:spcPct val="150000"/>
              </a:lnSpc>
              <a:spcBef>
                <a:spcPct val="20000"/>
              </a:spcBef>
              <a:buClr>
                <a:srgbClr val="0000FF"/>
              </a:buClr>
              <a:buSzPct val="55000"/>
              <a:buFont typeface="Wingdings" panose="05000000000000000000" pitchFamily="2" charset="2"/>
              <a:buChar char="n"/>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置信度－</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Confidence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conf</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p>
          <a:p>
            <a:pPr marL="1143000" lvl="2" indent="-228600" defTabSz="457200">
              <a:lnSpc>
                <a:spcPct val="150000"/>
              </a:lnSpc>
              <a:spcBef>
                <a:spcPct val="20000"/>
              </a:spcBef>
              <a:buClr>
                <a:srgbClr val="800080"/>
              </a:buClr>
              <a:buSzPct val="50000"/>
              <a:buFont typeface="Wingdings" panose="05000000000000000000" pitchFamily="2" charset="2"/>
              <a:buChar char="n"/>
              <a:defRPr/>
            </a:pPr>
            <a:r>
              <a:rPr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数据库中包含 </a:t>
            </a:r>
            <a:r>
              <a:rPr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与 </a:t>
            </a:r>
            <a:r>
              <a:rPr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的事务在包含 </a:t>
            </a:r>
            <a:r>
              <a:rPr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的事务中所占的比例，即</a:t>
            </a:r>
            <a:endParaRPr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6" name="对象 5">
            <a:extLst>
              <a:ext uri="{FF2B5EF4-FFF2-40B4-BE49-F238E27FC236}">
                <a16:creationId xmlns:a16="http://schemas.microsoft.com/office/drawing/2014/main" id="{ABBF488F-F84D-F7AC-09FB-00097D4FDE16}"/>
              </a:ext>
            </a:extLst>
          </p:cNvPr>
          <p:cNvGraphicFramePr>
            <a:graphicFrameLocks noChangeAspect="1"/>
          </p:cNvGraphicFramePr>
          <p:nvPr>
            <p:extLst>
              <p:ext uri="{D42A27DB-BD31-4B8C-83A1-F6EECF244321}">
                <p14:modId xmlns:p14="http://schemas.microsoft.com/office/powerpoint/2010/main" val="904862830"/>
              </p:ext>
            </p:extLst>
          </p:nvPr>
        </p:nvGraphicFramePr>
        <p:xfrm>
          <a:off x="8338895" y="3668134"/>
          <a:ext cx="1094444" cy="359115"/>
        </p:xfrm>
        <a:graphic>
          <a:graphicData uri="http://schemas.openxmlformats.org/presentationml/2006/ole">
            <mc:AlternateContent xmlns:mc="http://schemas.openxmlformats.org/markup-compatibility/2006">
              <mc:Choice xmlns:v="urn:schemas-microsoft-com:vml" Requires="v">
                <p:oleObj name="Equation" r:id="rId3" imgW="609403" imgH="200139" progId="Equation.DSMT4">
                  <p:embed/>
                </p:oleObj>
              </mc:Choice>
              <mc:Fallback>
                <p:oleObj name="Equation" r:id="rId3" imgW="609403" imgH="200139" progId="Equation.DSMT4">
                  <p:embed/>
                  <p:pic>
                    <p:nvPicPr>
                      <p:cNvPr id="6" name="对象 5">
                        <a:extLst>
                          <a:ext uri="{FF2B5EF4-FFF2-40B4-BE49-F238E27FC236}">
                            <a16:creationId xmlns:a16="http://schemas.microsoft.com/office/drawing/2014/main" id="{ABBF488F-F84D-F7AC-09FB-00097D4FDE16}"/>
                          </a:ext>
                        </a:extLst>
                      </p:cNvPr>
                      <p:cNvPicPr/>
                      <p:nvPr/>
                    </p:nvPicPr>
                    <p:blipFill>
                      <a:blip r:embed="rId4"/>
                      <a:stretch>
                        <a:fillRect/>
                      </a:stretch>
                    </p:blipFill>
                    <p:spPr>
                      <a:xfrm>
                        <a:off x="8338895" y="3668134"/>
                        <a:ext cx="1094444" cy="359115"/>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3DAD9BE9-FCFD-3AC1-67BF-6760C1C07619}"/>
              </a:ext>
            </a:extLst>
          </p:cNvPr>
          <p:cNvGraphicFramePr>
            <a:graphicFrameLocks noChangeAspect="1"/>
          </p:cNvGraphicFramePr>
          <p:nvPr>
            <p:extLst>
              <p:ext uri="{D42A27DB-BD31-4B8C-83A1-F6EECF244321}">
                <p14:modId xmlns:p14="http://schemas.microsoft.com/office/powerpoint/2010/main" val="1850801118"/>
              </p:ext>
            </p:extLst>
          </p:nvPr>
        </p:nvGraphicFramePr>
        <p:xfrm>
          <a:off x="10339928" y="5462858"/>
          <a:ext cx="928006" cy="464004"/>
        </p:xfrm>
        <a:graphic>
          <a:graphicData uri="http://schemas.openxmlformats.org/presentationml/2006/ole">
            <mc:AlternateContent xmlns:mc="http://schemas.openxmlformats.org/markup-compatibility/2006">
              <mc:Choice xmlns:v="urn:schemas-microsoft-com:vml" Requires="v">
                <p:oleObj name="Equation" r:id="rId5" imgW="507960" imgH="253800" progId="Equation.DSMT4">
                  <p:embed/>
                </p:oleObj>
              </mc:Choice>
              <mc:Fallback>
                <p:oleObj name="Equation" r:id="rId5" imgW="507960" imgH="253800" progId="Equation.DSMT4">
                  <p:embed/>
                  <p:pic>
                    <p:nvPicPr>
                      <p:cNvPr id="8" name="对象 7">
                        <a:extLst>
                          <a:ext uri="{FF2B5EF4-FFF2-40B4-BE49-F238E27FC236}">
                            <a16:creationId xmlns:a16="http://schemas.microsoft.com/office/drawing/2014/main" id="{3DAD9BE9-FCFD-3AC1-67BF-6760C1C07619}"/>
                          </a:ext>
                        </a:extLst>
                      </p:cNvPr>
                      <p:cNvPicPr/>
                      <p:nvPr/>
                    </p:nvPicPr>
                    <p:blipFill>
                      <a:blip r:embed="rId6"/>
                      <a:stretch>
                        <a:fillRect/>
                      </a:stretch>
                    </p:blipFill>
                    <p:spPr>
                      <a:xfrm>
                        <a:off x="10339928" y="5462858"/>
                        <a:ext cx="928006" cy="464004"/>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91AEBA55-7D32-C2A1-132C-FDB5445A8D00}"/>
              </a:ext>
            </a:extLst>
          </p:cNvPr>
          <p:cNvGraphicFramePr>
            <a:graphicFrameLocks noChangeAspect="1"/>
          </p:cNvGraphicFramePr>
          <p:nvPr>
            <p:extLst>
              <p:ext uri="{D42A27DB-BD31-4B8C-83A1-F6EECF244321}">
                <p14:modId xmlns:p14="http://schemas.microsoft.com/office/powerpoint/2010/main" val="3873246073"/>
              </p:ext>
            </p:extLst>
          </p:nvPr>
        </p:nvGraphicFramePr>
        <p:xfrm>
          <a:off x="7299214" y="4048433"/>
          <a:ext cx="3479224" cy="359759"/>
        </p:xfrm>
        <a:graphic>
          <a:graphicData uri="http://schemas.openxmlformats.org/presentationml/2006/ole">
            <mc:AlternateContent xmlns:mc="http://schemas.openxmlformats.org/markup-compatibility/2006">
              <mc:Choice xmlns:v="urn:schemas-microsoft-com:vml" Requires="v">
                <p:oleObj name="Equation" r:id="rId7" imgW="1485891" imgH="200139" progId="Equation.DSMT4">
                  <p:embed/>
                </p:oleObj>
              </mc:Choice>
              <mc:Fallback>
                <p:oleObj name="Equation" r:id="rId7" imgW="1485891" imgH="200139" progId="Equation.DSMT4">
                  <p:embed/>
                  <p:pic>
                    <p:nvPicPr>
                      <p:cNvPr id="9" name="对象 8">
                        <a:extLst>
                          <a:ext uri="{FF2B5EF4-FFF2-40B4-BE49-F238E27FC236}">
                            <a16:creationId xmlns:a16="http://schemas.microsoft.com/office/drawing/2014/main" id="{91AEBA55-7D32-C2A1-132C-FDB5445A8D00}"/>
                          </a:ext>
                        </a:extLst>
                      </p:cNvPr>
                      <p:cNvPicPr/>
                      <p:nvPr/>
                    </p:nvPicPr>
                    <p:blipFill>
                      <a:blip r:embed="rId8"/>
                      <a:stretch>
                        <a:fillRect/>
                      </a:stretch>
                    </p:blipFill>
                    <p:spPr>
                      <a:xfrm>
                        <a:off x="7299214" y="4048433"/>
                        <a:ext cx="3479224" cy="359759"/>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C2CDA88F-195A-796A-0169-D71B66B588BF}"/>
              </a:ext>
            </a:extLst>
          </p:cNvPr>
          <p:cNvGraphicFramePr>
            <a:graphicFrameLocks noChangeAspect="1"/>
          </p:cNvGraphicFramePr>
          <p:nvPr>
            <p:extLst>
              <p:ext uri="{D42A27DB-BD31-4B8C-83A1-F6EECF244321}">
                <p14:modId xmlns:p14="http://schemas.microsoft.com/office/powerpoint/2010/main" val="3997606715"/>
              </p:ext>
            </p:extLst>
          </p:nvPr>
        </p:nvGraphicFramePr>
        <p:xfrm>
          <a:off x="7299214" y="5926862"/>
          <a:ext cx="2854585" cy="384271"/>
        </p:xfrm>
        <a:graphic>
          <a:graphicData uri="http://schemas.openxmlformats.org/presentationml/2006/ole">
            <mc:AlternateContent xmlns:mc="http://schemas.openxmlformats.org/markup-compatibility/2006">
              <mc:Choice xmlns:v="urn:schemas-microsoft-com:vml" Requires="v">
                <p:oleObj name="Equation" r:id="rId9" imgW="1485891" imgH="200139" progId="Equation.DSMT4">
                  <p:embed/>
                </p:oleObj>
              </mc:Choice>
              <mc:Fallback>
                <p:oleObj name="Equation" r:id="rId9" imgW="1485891" imgH="200139" progId="Equation.DSMT4">
                  <p:embed/>
                  <p:pic>
                    <p:nvPicPr>
                      <p:cNvPr id="10" name="对象 9">
                        <a:extLst>
                          <a:ext uri="{FF2B5EF4-FFF2-40B4-BE49-F238E27FC236}">
                            <a16:creationId xmlns:a16="http://schemas.microsoft.com/office/drawing/2014/main" id="{C2CDA88F-195A-796A-0169-D71B66B588BF}"/>
                          </a:ext>
                        </a:extLst>
                      </p:cNvPr>
                      <p:cNvPicPr/>
                      <p:nvPr/>
                    </p:nvPicPr>
                    <p:blipFill>
                      <a:blip r:embed="rId10"/>
                      <a:stretch>
                        <a:fillRect/>
                      </a:stretch>
                    </p:blipFill>
                    <p:spPr>
                      <a:xfrm>
                        <a:off x="7299214" y="5926862"/>
                        <a:ext cx="2854585" cy="384271"/>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F31B0518-7475-2788-F29F-367411F231DE}"/>
              </a:ext>
            </a:extLst>
          </p:cNvPr>
          <p:cNvGraphicFramePr>
            <a:graphicFrameLocks noChangeAspect="1"/>
          </p:cNvGraphicFramePr>
          <p:nvPr>
            <p:extLst>
              <p:ext uri="{D42A27DB-BD31-4B8C-83A1-F6EECF244321}">
                <p14:modId xmlns:p14="http://schemas.microsoft.com/office/powerpoint/2010/main" val="1185048280"/>
              </p:ext>
            </p:extLst>
          </p:nvPr>
        </p:nvGraphicFramePr>
        <p:xfrm>
          <a:off x="2503554" y="2796374"/>
          <a:ext cx="688317" cy="260444"/>
        </p:xfrm>
        <a:graphic>
          <a:graphicData uri="http://schemas.openxmlformats.org/presentationml/2006/ole">
            <mc:AlternateContent xmlns:mc="http://schemas.openxmlformats.org/markup-compatibility/2006">
              <mc:Choice xmlns:v="urn:schemas-microsoft-com:vml" Requires="v">
                <p:oleObj name="Equation" r:id="rId11" imgW="469800" imgH="177480" progId="Equation.DSMT4">
                  <p:embed/>
                </p:oleObj>
              </mc:Choice>
              <mc:Fallback>
                <p:oleObj name="Equation" r:id="rId11" imgW="469800" imgH="177480" progId="Equation.DSMT4">
                  <p:embed/>
                  <p:pic>
                    <p:nvPicPr>
                      <p:cNvPr id="0" name=""/>
                      <p:cNvPicPr/>
                      <p:nvPr/>
                    </p:nvPicPr>
                    <p:blipFill>
                      <a:blip r:embed="rId12"/>
                      <a:stretch>
                        <a:fillRect/>
                      </a:stretch>
                    </p:blipFill>
                    <p:spPr>
                      <a:xfrm>
                        <a:off x="2503554" y="2796374"/>
                        <a:ext cx="688317" cy="260444"/>
                      </a:xfrm>
                      <a:prstGeom prst="rect">
                        <a:avLst/>
                      </a:prstGeom>
                    </p:spPr>
                  </p:pic>
                </p:oleObj>
              </mc:Fallback>
            </mc:AlternateContent>
          </a:graphicData>
        </a:graphic>
      </p:graphicFrame>
      <p:sp>
        <p:nvSpPr>
          <p:cNvPr id="12" name="矩形 26">
            <a:extLst>
              <a:ext uri="{FF2B5EF4-FFF2-40B4-BE49-F238E27FC236}">
                <a16:creationId xmlns:a16="http://schemas.microsoft.com/office/drawing/2014/main" id="{5D9CD944-F8CF-5A7A-8275-933162A2426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55">
            <a:extLst>
              <a:ext uri="{FF2B5EF4-FFF2-40B4-BE49-F238E27FC236}">
                <a16:creationId xmlns:a16="http://schemas.microsoft.com/office/drawing/2014/main" id="{488762BE-DEBE-BAAB-C79F-5B0252BC7143}"/>
              </a:ext>
            </a:extLst>
          </p:cNvPr>
          <p:cNvSpPr/>
          <p:nvPr/>
        </p:nvSpPr>
        <p:spPr>
          <a:xfrm>
            <a:off x="558040" y="1190656"/>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基本概念</a:t>
            </a:r>
          </a:p>
        </p:txBody>
      </p:sp>
    </p:spTree>
    <p:extLst>
      <p:ext uri="{BB962C8B-B14F-4D97-AF65-F5344CB8AC3E}">
        <p14:creationId xmlns:p14="http://schemas.microsoft.com/office/powerpoint/2010/main" val="54883196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E0AB0-9049-FB49-6D75-5B4C263CC016}"/>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4B293F11-D18C-53AC-F09C-C35228F2C402}"/>
              </a:ext>
            </a:extLst>
          </p:cNvPr>
          <p:cNvSpPr/>
          <p:nvPr/>
        </p:nvSpPr>
        <p:spPr>
          <a:xfrm>
            <a:off x="1372984" y="2163811"/>
            <a:ext cx="9295016" cy="4134435"/>
          </a:xfrm>
          <a:prstGeom prst="rect">
            <a:avLst/>
          </a:prstGeom>
          <a:solidFill>
            <a:schemeClr val="bg1"/>
          </a:solidFill>
          <a:ln w="3175">
            <a:solidFill>
              <a:srgbClr val="0444AE"/>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dirty="0">
              <a:solidFill>
                <a:schemeClr val="tx1"/>
              </a:solidFill>
            </a:endParaRPr>
          </a:p>
        </p:txBody>
      </p:sp>
      <p:graphicFrame>
        <p:nvGraphicFramePr>
          <p:cNvPr id="12" name="表格 11">
            <a:extLst>
              <a:ext uri="{FF2B5EF4-FFF2-40B4-BE49-F238E27FC236}">
                <a16:creationId xmlns:a16="http://schemas.microsoft.com/office/drawing/2014/main" id="{010CD40A-8203-347E-FB53-3794C82CC0CB}"/>
              </a:ext>
            </a:extLst>
          </p:cNvPr>
          <p:cNvGraphicFramePr>
            <a:graphicFrameLocks noGrp="1"/>
          </p:cNvGraphicFramePr>
          <p:nvPr>
            <p:extLst>
              <p:ext uri="{D42A27DB-BD31-4B8C-83A1-F6EECF244321}">
                <p14:modId xmlns:p14="http://schemas.microsoft.com/office/powerpoint/2010/main" val="2538749932"/>
              </p:ext>
            </p:extLst>
          </p:nvPr>
        </p:nvGraphicFramePr>
        <p:xfrm>
          <a:off x="1676400" y="1645213"/>
          <a:ext cx="8839199" cy="4653033"/>
        </p:xfrm>
        <a:graphic>
          <a:graphicData uri="http://schemas.openxmlformats.org/drawingml/2006/table">
            <a:tbl>
              <a:tblPr firstRow="1" firstCol="1" bandRow="1"/>
              <a:tblGrid>
                <a:gridCol w="8839199">
                  <a:extLst>
                    <a:ext uri="{9D8B030D-6E8A-4147-A177-3AD203B41FA5}">
                      <a16:colId xmlns:a16="http://schemas.microsoft.com/office/drawing/2014/main" val="3705777347"/>
                    </a:ext>
                  </a:extLst>
                </a:gridCol>
              </a:tblGrid>
              <a:tr h="4653033">
                <a:tc>
                  <a:txBody>
                    <a:bodyPr/>
                    <a:lstStyle/>
                    <a:p>
                      <a:pPr marL="0" marR="0" algn="just">
                        <a:lnSpc>
                          <a:spcPct val="150000"/>
                        </a:lnSpc>
                        <a:spcBef>
                          <a:spcPts val="600"/>
                        </a:spcBef>
                      </a:pPr>
                      <a:endParaRPr lang="en-US" altLang="zh-CN" sz="24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algn="just">
                        <a:lnSpc>
                          <a:spcPct val="150000"/>
                        </a:lnSpc>
                        <a:spcBef>
                          <a:spcPts val="600"/>
                        </a:spcBef>
                      </a:pPr>
                      <a:r>
                        <a:rPr lang="zh-CN" sz="24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在一项关于超市商品购买模式的包含</a:t>
                      </a:r>
                      <a:r>
                        <a:rPr lang="en-US" sz="24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3250</a:t>
                      </a:r>
                      <a:r>
                        <a:rPr lang="zh-CN" sz="24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人的调查数据中，有</a:t>
                      </a:r>
                      <a:r>
                        <a:rPr lang="en-US" sz="24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100</a:t>
                      </a:r>
                      <a:r>
                        <a:rPr lang="zh-CN" sz="24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人购买了爆米花，</a:t>
                      </a:r>
                      <a:r>
                        <a:rPr lang="en-US" sz="24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254</a:t>
                      </a:r>
                      <a:r>
                        <a:rPr lang="zh-CN" sz="24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人购买了可乐，</a:t>
                      </a:r>
                      <a:r>
                        <a:rPr lang="en-US" sz="24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65</a:t>
                      </a:r>
                      <a:r>
                        <a:rPr lang="zh-CN" sz="24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人同时购买了爆米花和可乐，爆米花和可乐的关联可以用以下关联规则表示：</a:t>
                      </a:r>
                      <a:endParaRPr lang="en-US" altLang="zh-CN" sz="24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algn="just">
                        <a:lnSpc>
                          <a:spcPct val="150000"/>
                        </a:lnSpc>
                        <a:spcBef>
                          <a:spcPts val="360"/>
                        </a:spcBef>
                      </a:pPr>
                      <a:endParaRPr lang="zh-CN" sz="24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indent="306070" algn="ctr">
                        <a:lnSpc>
                          <a:spcPct val="150000"/>
                        </a:lnSpc>
                        <a:tabLst>
                          <a:tab pos="2641600" algn="ctr"/>
                          <a:tab pos="5270500" algn="r"/>
                        </a:tabLst>
                      </a:pPr>
                      <a:r>
                        <a:rPr lang="en-US" sz="24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24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indent="306070" algn="just">
                        <a:lnSpc>
                          <a:spcPct val="150000"/>
                        </a:lnSpc>
                      </a:pPr>
                      <a:r>
                        <a:rPr lang="zh-CN" sz="24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关联规则意味所有事务中有</a:t>
                      </a:r>
                      <a:r>
                        <a:rPr lang="en-US" altLang="zh-CN" sz="24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lang="zh-CN" sz="24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显示爆米花和可乐被同时购买，购买爆米花的顾客中</a:t>
                      </a:r>
                      <a:r>
                        <a:rPr lang="en-US" sz="24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65%</a:t>
                      </a:r>
                      <a:r>
                        <a:rPr lang="zh-CN" sz="24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也购买了可乐。</a:t>
                      </a:r>
                      <a:endParaRPr lang="zh-CN" sz="24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8363118"/>
                  </a:ext>
                </a:extLst>
              </a:tr>
            </a:tbl>
          </a:graphicData>
        </a:graphic>
      </p:graphicFrame>
      <p:graphicFrame>
        <p:nvGraphicFramePr>
          <p:cNvPr id="13" name="对象 12">
            <a:extLst>
              <a:ext uri="{FF2B5EF4-FFF2-40B4-BE49-F238E27FC236}">
                <a16:creationId xmlns:a16="http://schemas.microsoft.com/office/drawing/2014/main" id="{4A451350-C1EF-4A54-CF57-D13B92B22428}"/>
              </a:ext>
            </a:extLst>
          </p:cNvPr>
          <p:cNvGraphicFramePr>
            <a:graphicFrameLocks noChangeAspect="1"/>
          </p:cNvGraphicFramePr>
          <p:nvPr>
            <p:extLst>
              <p:ext uri="{D42A27DB-BD31-4B8C-83A1-F6EECF244321}">
                <p14:modId xmlns:p14="http://schemas.microsoft.com/office/powerpoint/2010/main" val="2604816174"/>
              </p:ext>
            </p:extLst>
          </p:nvPr>
        </p:nvGraphicFramePr>
        <p:xfrm>
          <a:off x="2303681" y="4013441"/>
          <a:ext cx="7340275" cy="871643"/>
        </p:xfrm>
        <a:graphic>
          <a:graphicData uri="http://schemas.openxmlformats.org/presentationml/2006/ole">
            <mc:AlternateContent xmlns:mc="http://schemas.openxmlformats.org/markup-compatibility/2006">
              <mc:Choice xmlns:v="urn:schemas-microsoft-com:vml" Requires="v">
                <p:oleObj name="Equation" r:id="rId3" imgW="2946240" imgH="355320" progId="Equation.DSMT4">
                  <p:embed/>
                </p:oleObj>
              </mc:Choice>
              <mc:Fallback>
                <p:oleObj name="Equation" r:id="rId3" imgW="2946240" imgH="355320" progId="Equation.DSMT4">
                  <p:embed/>
                  <p:pic>
                    <p:nvPicPr>
                      <p:cNvPr id="13" name="对象 12">
                        <a:extLst>
                          <a:ext uri="{FF2B5EF4-FFF2-40B4-BE49-F238E27FC236}">
                            <a16:creationId xmlns:a16="http://schemas.microsoft.com/office/drawing/2014/main" id="{4A451350-C1EF-4A54-CF57-D13B92B22428}"/>
                          </a:ext>
                        </a:extLst>
                      </p:cNvPr>
                      <p:cNvPicPr>
                        <a:picLocks noChangeAspect="1" noChangeArrowheads="1"/>
                      </p:cNvPicPr>
                      <p:nvPr/>
                    </p:nvPicPr>
                    <p:blipFill>
                      <a:blip r:embed="rId4"/>
                      <a:srcRect/>
                      <a:stretch>
                        <a:fillRect/>
                      </a:stretch>
                    </p:blipFill>
                    <p:spPr bwMode="auto">
                      <a:xfrm>
                        <a:off x="2303681" y="4013441"/>
                        <a:ext cx="7340275" cy="871643"/>
                      </a:xfrm>
                      <a:prstGeom prst="rect">
                        <a:avLst/>
                      </a:prstGeom>
                      <a:noFill/>
                    </p:spPr>
                  </p:pic>
                </p:oleObj>
              </mc:Fallback>
            </mc:AlternateContent>
          </a:graphicData>
        </a:graphic>
      </p:graphicFrame>
      <p:sp>
        <p:nvSpPr>
          <p:cNvPr id="4" name="矩形 26">
            <a:extLst>
              <a:ext uri="{FF2B5EF4-FFF2-40B4-BE49-F238E27FC236}">
                <a16:creationId xmlns:a16="http://schemas.microsoft.com/office/drawing/2014/main" id="{2A27486D-D5EB-D4B0-A1C4-6C85CC90F43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55">
            <a:extLst>
              <a:ext uri="{FF2B5EF4-FFF2-40B4-BE49-F238E27FC236}">
                <a16:creationId xmlns:a16="http://schemas.microsoft.com/office/drawing/2014/main" id="{FA1501E8-7111-418A-0D8F-88E6B21B60B0}"/>
              </a:ext>
            </a:extLst>
          </p:cNvPr>
          <p:cNvSpPr/>
          <p:nvPr/>
        </p:nvSpPr>
        <p:spPr>
          <a:xfrm>
            <a:off x="558040" y="1190656"/>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示例</a:t>
            </a:r>
          </a:p>
        </p:txBody>
      </p:sp>
    </p:spTree>
    <p:extLst>
      <p:ext uri="{BB962C8B-B14F-4D97-AF65-F5344CB8AC3E}">
        <p14:creationId xmlns:p14="http://schemas.microsoft.com/office/powerpoint/2010/main" val="41879087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72F85-D6B6-8EE5-30F8-36BA7102F5AB}"/>
            </a:ext>
          </a:extLst>
        </p:cNvPr>
        <p:cNvGrpSpPr/>
        <p:nvPr/>
      </p:nvGrpSpPr>
      <p:grpSpPr>
        <a:xfrm>
          <a:off x="0" y="0"/>
          <a:ext cx="0" cy="0"/>
          <a:chOff x="0" y="0"/>
          <a:chExt cx="0" cy="0"/>
        </a:xfrm>
      </p:grpSpPr>
      <p:sp>
        <p:nvSpPr>
          <p:cNvPr id="12" name="Rectangle 3">
            <a:extLst>
              <a:ext uri="{FF2B5EF4-FFF2-40B4-BE49-F238E27FC236}">
                <a16:creationId xmlns:a16="http://schemas.microsoft.com/office/drawing/2014/main" id="{CB1BE40A-EDA6-45E7-321C-B9855CDE1DF8}"/>
              </a:ext>
            </a:extLst>
          </p:cNvPr>
          <p:cNvSpPr txBox="1">
            <a:spLocks noChangeArrowheads="1"/>
          </p:cNvSpPr>
          <p:nvPr/>
        </p:nvSpPr>
        <p:spPr>
          <a:xfrm>
            <a:off x="2286647" y="1608923"/>
            <a:ext cx="7772400" cy="50008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给定一个事务数据库</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TDB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关联规则挖掘的目标是要找到所有支持度和置信度都不小于指定阈值的规则。</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p>
          <a:p>
            <a:pPr lvl="1">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支持度 ≥ </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min_sup</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置信度 ≥ </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min_conf</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穷举法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Brute-force approach)</a:t>
            </a:r>
          </a:p>
          <a:p>
            <a:pPr lvl="1">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列出所有可能的规则</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对每条规则计算其支持度和置信度</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通过阈值</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min_sup</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min_conf</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过滤无效规则</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Text Box 4">
            <a:extLst>
              <a:ext uri="{FF2B5EF4-FFF2-40B4-BE49-F238E27FC236}">
                <a16:creationId xmlns:a16="http://schemas.microsoft.com/office/drawing/2014/main" id="{683550CA-6D6E-E990-AB03-2CFD692D0ED6}"/>
              </a:ext>
            </a:extLst>
          </p:cNvPr>
          <p:cNvSpPr txBox="1">
            <a:spLocks noChangeArrowheads="1"/>
          </p:cNvSpPr>
          <p:nvPr/>
        </p:nvSpPr>
        <p:spPr bwMode="auto">
          <a:xfrm>
            <a:off x="9562240" y="4371138"/>
            <a:ext cx="170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400" dirty="0">
                <a:latin typeface="微软雅黑" panose="020B0503020204020204" pitchFamily="34" charset="-122"/>
                <a:ea typeface="微软雅黑" panose="020B0503020204020204" pitchFamily="34" charset="-122"/>
              </a:rPr>
              <a:t>可计算性？</a:t>
            </a:r>
          </a:p>
        </p:txBody>
      </p:sp>
      <p:sp>
        <p:nvSpPr>
          <p:cNvPr id="4" name="矩形 26">
            <a:extLst>
              <a:ext uri="{FF2B5EF4-FFF2-40B4-BE49-F238E27FC236}">
                <a16:creationId xmlns:a16="http://schemas.microsoft.com/office/drawing/2014/main" id="{25026805-A62A-FE17-FC2E-6DFACF116470}"/>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55">
            <a:extLst>
              <a:ext uri="{FF2B5EF4-FFF2-40B4-BE49-F238E27FC236}">
                <a16:creationId xmlns:a16="http://schemas.microsoft.com/office/drawing/2014/main" id="{43EA449C-3946-A689-1061-518C2CFC3719}"/>
              </a:ext>
            </a:extLst>
          </p:cNvPr>
          <p:cNvSpPr/>
          <p:nvPr/>
        </p:nvSpPr>
        <p:spPr>
          <a:xfrm>
            <a:off x="558040" y="1190656"/>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基本概念</a:t>
            </a:r>
          </a:p>
        </p:txBody>
      </p:sp>
    </p:spTree>
    <p:extLst>
      <p:ext uri="{BB962C8B-B14F-4D97-AF65-F5344CB8AC3E}">
        <p14:creationId xmlns:p14="http://schemas.microsoft.com/office/powerpoint/2010/main" val="308016923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2">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2">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2">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linds(horizontal)">
                                      <p:cBhvr>
                                        <p:cTn id="2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utoUpdateAnimBg="0"/>
      <p:bldP spid="13"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CCFD1-DDD1-4B48-5D82-2A986671031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C190D45-1F14-F527-7314-33C7BD62E401}"/>
              </a:ext>
            </a:extLst>
          </p:cNvPr>
          <p:cNvSpPr txBox="1">
            <a:spLocks noChangeArrowheads="1"/>
          </p:cNvSpPr>
          <p:nvPr/>
        </p:nvSpPr>
        <p:spPr>
          <a:xfrm>
            <a:off x="5817548" y="1756450"/>
            <a:ext cx="5371971" cy="17975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2100" indent="-292100">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给定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个不同项：</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800100" lvl="1" indent="-342900">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项集数目等于</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baseline="30000" dirty="0">
                <a:latin typeface="Times New Roman" panose="02020603050405020304" pitchFamily="18" charset="0"/>
                <a:ea typeface="微软雅黑" panose="020B0503020204020204" pitchFamily="34" charset="-122"/>
                <a:cs typeface="Times New Roman" panose="02020603050405020304" pitchFamily="18" charset="0"/>
              </a:rPr>
              <a:t>d</a:t>
            </a:r>
          </a:p>
          <a:p>
            <a:pPr marL="800100" lvl="1" indent="-342900">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所有可能的关联规则总数等于：</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p>
        </p:txBody>
      </p:sp>
      <p:graphicFrame>
        <p:nvGraphicFramePr>
          <p:cNvPr id="5" name="Object 4">
            <a:extLst>
              <a:ext uri="{FF2B5EF4-FFF2-40B4-BE49-F238E27FC236}">
                <a16:creationId xmlns:a16="http://schemas.microsoft.com/office/drawing/2014/main" id="{17FDF64E-512C-6A1D-37A1-F790859B405D}"/>
              </a:ext>
            </a:extLst>
          </p:cNvPr>
          <p:cNvGraphicFramePr>
            <a:graphicFrameLocks noChangeAspect="1"/>
          </p:cNvGraphicFramePr>
          <p:nvPr>
            <p:extLst>
              <p:ext uri="{D42A27DB-BD31-4B8C-83A1-F6EECF244321}">
                <p14:modId xmlns:p14="http://schemas.microsoft.com/office/powerpoint/2010/main" val="100419507"/>
              </p:ext>
            </p:extLst>
          </p:nvPr>
        </p:nvGraphicFramePr>
        <p:xfrm>
          <a:off x="6558381" y="3696851"/>
          <a:ext cx="3662363" cy="1641475"/>
        </p:xfrm>
        <a:graphic>
          <a:graphicData uri="http://schemas.openxmlformats.org/presentationml/2006/ole">
            <mc:AlternateContent xmlns:mc="http://schemas.openxmlformats.org/markup-compatibility/2006">
              <mc:Choice xmlns:v="urn:schemas-microsoft-com:vml" Requires="v">
                <p:oleObj name="Equation" r:id="rId3" imgW="2832100" imgH="1270000" progId="Equation.3">
                  <p:embed/>
                </p:oleObj>
              </mc:Choice>
              <mc:Fallback>
                <p:oleObj name="Equation" r:id="rId3" imgW="2832100" imgH="1270000" progId="Equation.3">
                  <p:embed/>
                  <p:pic>
                    <p:nvPicPr>
                      <p:cNvPr id="5" name="Object 4">
                        <a:extLst>
                          <a:ext uri="{FF2B5EF4-FFF2-40B4-BE49-F238E27FC236}">
                            <a16:creationId xmlns:a16="http://schemas.microsoft.com/office/drawing/2014/main" id="{17FDF64E-512C-6A1D-37A1-F790859B40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8381" y="3696851"/>
                        <a:ext cx="3662363" cy="164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 Box 5">
            <a:extLst>
              <a:ext uri="{FF2B5EF4-FFF2-40B4-BE49-F238E27FC236}">
                <a16:creationId xmlns:a16="http://schemas.microsoft.com/office/drawing/2014/main" id="{DE7A1F19-5351-7C06-B27E-5FD9B6E75B97}"/>
              </a:ext>
            </a:extLst>
          </p:cNvPr>
          <p:cNvSpPr txBox="1">
            <a:spLocks noChangeArrowheads="1"/>
          </p:cNvSpPr>
          <p:nvPr/>
        </p:nvSpPr>
        <p:spPr bwMode="auto">
          <a:xfrm>
            <a:off x="6558381" y="5626309"/>
            <a:ext cx="3200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kumimoji="0"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如果 </a:t>
            </a:r>
            <a:r>
              <a:rPr kumimoji="0" lang="en-US" altLang="zh-CN" sz="2400" b="1" i="1" dirty="0">
                <a:latin typeface="Times New Roman" panose="02020603050405020304" pitchFamily="18" charset="0"/>
                <a:ea typeface="微软雅黑" panose="020B0503020204020204" pitchFamily="34" charset="-122"/>
                <a:cs typeface="Times New Roman" panose="02020603050405020304" pitchFamily="18" charset="0"/>
              </a:rPr>
              <a:t>d</a:t>
            </a:r>
            <a:r>
              <a:rPr kumimoji="0"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6 </a:t>
            </a:r>
            <a:r>
              <a:rPr kumimoji="0"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则 </a:t>
            </a:r>
            <a:r>
              <a:rPr kumimoji="0" lang="en-US" altLang="zh-CN" sz="2400" b="1" i="1"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R</a:t>
            </a:r>
            <a:r>
              <a:rPr kumimoji="0"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 602 </a:t>
            </a:r>
          </a:p>
        </p:txBody>
      </p:sp>
      <p:pic>
        <p:nvPicPr>
          <p:cNvPr id="9" name="Picture 6">
            <a:extLst>
              <a:ext uri="{FF2B5EF4-FFF2-40B4-BE49-F238E27FC236}">
                <a16:creationId xmlns:a16="http://schemas.microsoft.com/office/drawing/2014/main" id="{7D852336-7EDD-70A6-9E86-CF796ABE57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714" t="1904" r="7143" b="952"/>
          <a:stretch>
            <a:fillRect/>
          </a:stretch>
        </p:blipFill>
        <p:spPr bwMode="auto">
          <a:xfrm>
            <a:off x="749081" y="2330362"/>
            <a:ext cx="4495800" cy="3757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26">
            <a:extLst>
              <a:ext uri="{FF2B5EF4-FFF2-40B4-BE49-F238E27FC236}">
                <a16:creationId xmlns:a16="http://schemas.microsoft.com/office/drawing/2014/main" id="{787C2ED2-AFC0-18E8-48B8-0F1E4B9BA20C}"/>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1D21007A-9CB9-EC02-71CB-42D249E13D86}"/>
              </a:ext>
            </a:extLst>
          </p:cNvPr>
          <p:cNvSpPr/>
          <p:nvPr/>
        </p:nvSpPr>
        <p:spPr>
          <a:xfrm>
            <a:off x="558040" y="1190656"/>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基本概念</a:t>
            </a:r>
          </a:p>
        </p:txBody>
      </p:sp>
    </p:spTree>
    <p:extLst>
      <p:ext uri="{BB962C8B-B14F-4D97-AF65-F5344CB8AC3E}">
        <p14:creationId xmlns:p14="http://schemas.microsoft.com/office/powerpoint/2010/main" val="119779469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85786-8144-4667-3585-28DB3C7ECF6E}"/>
            </a:ext>
          </a:extLst>
        </p:cNvPr>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0BA0CA9D-94E3-AFE2-8FCD-8E68CA4804D7}"/>
              </a:ext>
            </a:extLst>
          </p:cNvPr>
          <p:cNvGraphicFramePr>
            <a:graphicFrameLocks noGrp="1"/>
          </p:cNvGraphicFramePr>
          <p:nvPr>
            <p:extLst>
              <p:ext uri="{D42A27DB-BD31-4B8C-83A1-F6EECF244321}">
                <p14:modId xmlns:p14="http://schemas.microsoft.com/office/powerpoint/2010/main" val="847094355"/>
              </p:ext>
            </p:extLst>
          </p:nvPr>
        </p:nvGraphicFramePr>
        <p:xfrm>
          <a:off x="1731173" y="3199319"/>
          <a:ext cx="1956648" cy="3107250"/>
        </p:xfrm>
        <a:graphic>
          <a:graphicData uri="http://schemas.openxmlformats.org/drawingml/2006/table">
            <a:tbl>
              <a:tblPr firstRow="1" firstCol="1" bandRow="1"/>
              <a:tblGrid>
                <a:gridCol w="608063">
                  <a:extLst>
                    <a:ext uri="{9D8B030D-6E8A-4147-A177-3AD203B41FA5}">
                      <a16:colId xmlns:a16="http://schemas.microsoft.com/office/drawing/2014/main" val="3390425978"/>
                    </a:ext>
                  </a:extLst>
                </a:gridCol>
                <a:gridCol w="1348585">
                  <a:extLst>
                    <a:ext uri="{9D8B030D-6E8A-4147-A177-3AD203B41FA5}">
                      <a16:colId xmlns:a16="http://schemas.microsoft.com/office/drawing/2014/main" val="2434860977"/>
                    </a:ext>
                  </a:extLst>
                </a:gridCol>
              </a:tblGrid>
              <a:tr h="0">
                <a:tc>
                  <a:txBody>
                    <a:bodyPr/>
                    <a:lstStyle/>
                    <a:p>
                      <a:pPr marL="0" marR="0" algn="ctr">
                        <a:lnSpc>
                          <a:spcPct val="125000"/>
                        </a:lnSpc>
                      </a:pPr>
                      <a:r>
                        <a:rPr lang="en-US" sz="2000" b="1" i="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TID</a:t>
                      </a:r>
                      <a:endParaRPr lang="zh-CN" sz="200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80"/>
                    </a:solidFill>
                  </a:tcPr>
                </a:tc>
                <a:tc>
                  <a:txBody>
                    <a:bodyPr/>
                    <a:lstStyle/>
                    <a:p>
                      <a:pPr marL="0" marR="0" algn="ctr">
                        <a:lnSpc>
                          <a:spcPct val="125000"/>
                        </a:lnSpc>
                      </a:pPr>
                      <a:r>
                        <a:rPr lang="zh-CN" sz="20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事务</a:t>
                      </a:r>
                      <a:endParaRPr lang="zh-CN" sz="200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80"/>
                    </a:solidFill>
                  </a:tcPr>
                </a:tc>
                <a:extLst>
                  <a:ext uri="{0D108BD9-81ED-4DB2-BD59-A6C34878D82A}">
                    <a16:rowId xmlns:a16="http://schemas.microsoft.com/office/drawing/2014/main" val="321802663"/>
                  </a:ext>
                </a:extLst>
              </a:tr>
              <a:tr h="0">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751439"/>
                  </a:ext>
                </a:extLst>
              </a:tr>
              <a:tr h="0">
                <a:tc>
                  <a:txBody>
                    <a:bodyPr/>
                    <a:lstStyle/>
                    <a:p>
                      <a:pPr marL="0" marR="0" algn="ctr">
                        <a:lnSpc>
                          <a:spcPct val="125000"/>
                        </a:lnSpc>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2</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166284"/>
                  </a:ext>
                </a:extLst>
              </a:tr>
              <a:tr h="0">
                <a:tc>
                  <a:txBody>
                    <a:bodyPr/>
                    <a:lstStyle/>
                    <a:p>
                      <a:pPr marL="0" marR="0" algn="ctr">
                        <a:lnSpc>
                          <a:spcPct val="125000"/>
                        </a:lnSpc>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3</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54526699"/>
                  </a:ext>
                </a:extLst>
              </a:tr>
              <a:tr h="0">
                <a:tc>
                  <a:txBody>
                    <a:bodyPr/>
                    <a:lstStyle/>
                    <a:p>
                      <a:pPr marL="0" marR="0" algn="ctr">
                        <a:lnSpc>
                          <a:spcPct val="125000"/>
                        </a:lnSpc>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4</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50224209"/>
                  </a:ext>
                </a:extLst>
              </a:tr>
              <a:tr h="0">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0083931"/>
                  </a:ext>
                </a:extLst>
              </a:tr>
              <a:tr h="0">
                <a:tc>
                  <a:txBody>
                    <a:bodyPr/>
                    <a:lstStyle/>
                    <a:p>
                      <a:pPr marL="0" marR="0" algn="ctr">
                        <a:lnSpc>
                          <a:spcPct val="125000"/>
                        </a:lnSpc>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6</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7146881"/>
                  </a:ext>
                </a:extLst>
              </a:tr>
              <a:tr h="0">
                <a:tc>
                  <a:txBody>
                    <a:bodyPr/>
                    <a:lstStyle/>
                    <a:p>
                      <a:pPr marL="0" marR="0" algn="ctr">
                        <a:lnSpc>
                          <a:spcPct val="125000"/>
                        </a:lnSpc>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7</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14575605"/>
                  </a:ext>
                </a:extLst>
              </a:tr>
              <a:tr h="0">
                <a:tc>
                  <a:txBody>
                    <a:bodyPr/>
                    <a:lstStyle/>
                    <a:p>
                      <a:pPr marL="0" marR="0" algn="ctr">
                        <a:lnSpc>
                          <a:spcPct val="125000"/>
                        </a:lnSpc>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8</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40279241"/>
                  </a:ext>
                </a:extLst>
              </a:tr>
            </a:tbl>
          </a:graphicData>
        </a:graphic>
      </p:graphicFrame>
      <p:graphicFrame>
        <p:nvGraphicFramePr>
          <p:cNvPr id="9" name="表格 8">
            <a:extLst>
              <a:ext uri="{FF2B5EF4-FFF2-40B4-BE49-F238E27FC236}">
                <a16:creationId xmlns:a16="http://schemas.microsoft.com/office/drawing/2014/main" id="{336930F3-997C-4E42-ED9F-934F523A5A5E}"/>
              </a:ext>
            </a:extLst>
          </p:cNvPr>
          <p:cNvGraphicFramePr>
            <a:graphicFrameLocks noGrp="1"/>
          </p:cNvGraphicFramePr>
          <p:nvPr>
            <p:extLst>
              <p:ext uri="{D42A27DB-BD31-4B8C-83A1-F6EECF244321}">
                <p14:modId xmlns:p14="http://schemas.microsoft.com/office/powerpoint/2010/main" val="105092526"/>
              </p:ext>
            </p:extLst>
          </p:nvPr>
        </p:nvGraphicFramePr>
        <p:xfrm>
          <a:off x="5928610" y="3199319"/>
          <a:ext cx="4920875" cy="3107248"/>
        </p:xfrm>
        <a:graphic>
          <a:graphicData uri="http://schemas.openxmlformats.org/drawingml/2006/table">
            <a:tbl>
              <a:tblPr firstRow="1" firstCol="1" bandRow="1"/>
              <a:tblGrid>
                <a:gridCol w="1116429">
                  <a:extLst>
                    <a:ext uri="{9D8B030D-6E8A-4147-A177-3AD203B41FA5}">
                      <a16:colId xmlns:a16="http://schemas.microsoft.com/office/drawing/2014/main" val="524383380"/>
                    </a:ext>
                  </a:extLst>
                </a:gridCol>
                <a:gridCol w="1202307">
                  <a:extLst>
                    <a:ext uri="{9D8B030D-6E8A-4147-A177-3AD203B41FA5}">
                      <a16:colId xmlns:a16="http://schemas.microsoft.com/office/drawing/2014/main" val="1520612281"/>
                    </a:ext>
                  </a:extLst>
                </a:gridCol>
                <a:gridCol w="1288188">
                  <a:extLst>
                    <a:ext uri="{9D8B030D-6E8A-4147-A177-3AD203B41FA5}">
                      <a16:colId xmlns:a16="http://schemas.microsoft.com/office/drawing/2014/main" val="4078967951"/>
                    </a:ext>
                  </a:extLst>
                </a:gridCol>
                <a:gridCol w="1313951">
                  <a:extLst>
                    <a:ext uri="{9D8B030D-6E8A-4147-A177-3AD203B41FA5}">
                      <a16:colId xmlns:a16="http://schemas.microsoft.com/office/drawing/2014/main" val="2424075647"/>
                    </a:ext>
                  </a:extLst>
                </a:gridCol>
              </a:tblGrid>
              <a:tr h="385403">
                <a:tc>
                  <a:txBody>
                    <a:bodyPr/>
                    <a:lstStyle/>
                    <a:p>
                      <a:pPr marL="0" marR="0" algn="ctr" defTabSz="914400" rtl="0" eaLnBrk="1" latinLnBrk="0" hangingPunct="1">
                        <a:lnSpc>
                          <a:spcPct val="125000"/>
                        </a:lnSpc>
                      </a:pPr>
                      <a:r>
                        <a:rPr lang="zh-CN" altLang="en-US" sz="2000" b="1" i="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项集</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80"/>
                    </a:solidFill>
                  </a:tcPr>
                </a:tc>
                <a:tc>
                  <a:txBody>
                    <a:bodyPr/>
                    <a:lstStyle/>
                    <a:p>
                      <a:pPr marL="0" marR="0" algn="ctr" defTabSz="914400" rtl="0" eaLnBrk="1" latinLnBrk="0" hangingPunct="1">
                        <a:lnSpc>
                          <a:spcPct val="125000"/>
                        </a:lnSpc>
                      </a:pPr>
                      <a:r>
                        <a:rPr lang="zh-CN" altLang="en-US" sz="2000" b="1" i="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支持度</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80"/>
                    </a:solidFill>
                  </a:tcPr>
                </a:tc>
                <a:tc>
                  <a:txBody>
                    <a:bodyPr/>
                    <a:lstStyle/>
                    <a:p>
                      <a:pPr marL="0" marR="0" algn="ctr" defTabSz="914400" rtl="0" eaLnBrk="1" latinLnBrk="0" hangingPunct="1">
                        <a:lnSpc>
                          <a:spcPct val="125000"/>
                        </a:lnSpc>
                      </a:pPr>
                      <a:r>
                        <a:rPr lang="zh-CN" altLang="en-US" sz="2000" b="1" i="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项集</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80"/>
                    </a:solidFill>
                  </a:tcPr>
                </a:tc>
                <a:tc>
                  <a:txBody>
                    <a:bodyPr/>
                    <a:lstStyle/>
                    <a:p>
                      <a:pPr marL="0" marR="0" algn="ctr" defTabSz="914400" rtl="0" eaLnBrk="1" latinLnBrk="0" hangingPunct="1">
                        <a:lnSpc>
                          <a:spcPct val="125000"/>
                        </a:lnSpc>
                      </a:pPr>
                      <a:r>
                        <a:rPr lang="zh-CN" altLang="en-US" sz="2000" b="1" i="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支持度</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80"/>
                    </a:solidFill>
                  </a:tcPr>
                </a:tc>
                <a:extLst>
                  <a:ext uri="{0D108BD9-81ED-4DB2-BD59-A6C34878D82A}">
                    <a16:rowId xmlns:a16="http://schemas.microsoft.com/office/drawing/2014/main" val="2446530614"/>
                  </a:ext>
                </a:extLst>
              </a:tr>
              <a:tr h="388835">
                <a:tc>
                  <a:txBody>
                    <a:bodyPr/>
                    <a:lstStyle/>
                    <a:p>
                      <a:pPr marL="0" marR="0" algn="ctr">
                        <a:lnSpc>
                          <a:spcPct val="125000"/>
                        </a:lnSpc>
                      </a:pP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2F3"/>
                    </a:solidFill>
                  </a:tcPr>
                </a:tc>
                <a:tc>
                  <a:txBody>
                    <a:bodyPr/>
                    <a:lstStyle/>
                    <a:p>
                      <a:pPr marL="0" marR="0" algn="ctr">
                        <a:lnSpc>
                          <a:spcPct val="125000"/>
                        </a:lnSpc>
                      </a:pPr>
                      <a:r>
                        <a:rPr lang="en-US" sz="20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2F3"/>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37.5%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3499056"/>
                  </a:ext>
                </a:extLst>
              </a:tr>
              <a:tr h="388835">
                <a:tc>
                  <a:txBody>
                    <a:bodyPr/>
                    <a:lstStyle/>
                    <a:p>
                      <a:pPr marL="0" marR="0" algn="ctr">
                        <a:lnSpc>
                          <a:spcPct val="125000"/>
                        </a:lnSpc>
                      </a:pP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2F3"/>
                    </a:solidFill>
                  </a:tcPr>
                </a:tc>
                <a:tc>
                  <a:txBody>
                    <a:bodyPr/>
                    <a:lstStyle/>
                    <a:p>
                      <a:pPr marL="0" marR="0" algn="ctr">
                        <a:lnSpc>
                          <a:spcPct val="125000"/>
                        </a:lnSpc>
                      </a:pP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2F3"/>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12.5%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22556757"/>
                  </a:ext>
                </a:extLst>
              </a:tr>
              <a:tr h="388835">
                <a:tc>
                  <a:txBody>
                    <a:bodyPr/>
                    <a:lstStyle/>
                    <a:p>
                      <a:pPr marL="0" marR="0" algn="ctr">
                        <a:lnSpc>
                          <a:spcPct val="125000"/>
                        </a:lnSpc>
                      </a:pPr>
                      <a:r>
                        <a:rPr lang="en-US" sz="20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4C6E7"/>
                    </a:solidFill>
                  </a:tcPr>
                </a:tc>
                <a:tc>
                  <a:txBody>
                    <a:bodyPr/>
                    <a:lstStyle/>
                    <a:p>
                      <a:pPr marL="0" marR="0" algn="ctr">
                        <a:lnSpc>
                          <a:spcPct val="125000"/>
                        </a:lnSpc>
                      </a:pPr>
                      <a:r>
                        <a:rPr lang="en-US" sz="20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4C6E7"/>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28876839"/>
                  </a:ext>
                </a:extLst>
              </a:tr>
              <a:tr h="388835">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37.5%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5914449"/>
                  </a:ext>
                </a:extLst>
              </a:tr>
              <a:tr h="388835">
                <a:tc>
                  <a:txBody>
                    <a:bodyPr/>
                    <a:lstStyle/>
                    <a:p>
                      <a:pPr marL="0" marR="0" algn="ctr">
                        <a:lnSpc>
                          <a:spcPct val="125000"/>
                        </a:lnSpc>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12.5%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09363260"/>
                  </a:ext>
                </a:extLst>
              </a:tr>
              <a:tr h="388835">
                <a:tc>
                  <a:txBody>
                    <a:bodyPr/>
                    <a:lstStyle/>
                    <a:p>
                      <a:pPr marL="0" marR="0" algn="ctr">
                        <a:lnSpc>
                          <a:spcPct val="125000"/>
                        </a:lnSpc>
                      </a:pPr>
                      <a:r>
                        <a:rPr lang="en-US" sz="20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2F3"/>
                    </a:solidFill>
                  </a:tcPr>
                </a:tc>
                <a:tc>
                  <a:txBody>
                    <a:bodyPr/>
                    <a:lstStyle/>
                    <a:p>
                      <a:pPr marL="0" marR="0" algn="ctr">
                        <a:lnSpc>
                          <a:spcPct val="125000"/>
                        </a:lnSpc>
                      </a:pPr>
                      <a:r>
                        <a:rPr lang="en-US" sz="20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2F3"/>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50895833"/>
                  </a:ext>
                </a:extLst>
              </a:tr>
              <a:tr h="388835">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12.5%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34723394"/>
                  </a:ext>
                </a:extLst>
              </a:tr>
            </a:tbl>
          </a:graphicData>
        </a:graphic>
      </p:graphicFrame>
      <p:sp>
        <p:nvSpPr>
          <p:cNvPr id="10" name="Rectangle 8">
            <a:extLst>
              <a:ext uri="{FF2B5EF4-FFF2-40B4-BE49-F238E27FC236}">
                <a16:creationId xmlns:a16="http://schemas.microsoft.com/office/drawing/2014/main" id="{A20CD477-12B3-579D-3B92-8C575981D78E}"/>
              </a:ext>
            </a:extLst>
          </p:cNvPr>
          <p:cNvSpPr>
            <a:spLocks noChangeArrowheads="1"/>
          </p:cNvSpPr>
          <p:nvPr/>
        </p:nvSpPr>
        <p:spPr bwMode="auto">
          <a:xfrm>
            <a:off x="277457" y="1883681"/>
            <a:ext cx="11790217" cy="1105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eaLnBrk="0" hangingPunct="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285750" indent="-285750" fontAlgn="base">
              <a:lnSpc>
                <a:spcPct val="150000"/>
              </a:lnSpc>
              <a:spcBef>
                <a:spcPct val="0"/>
              </a:spcBef>
              <a:spcAft>
                <a:spcPct val="0"/>
              </a:spcAft>
              <a:buClrTx/>
              <a:buSzTx/>
              <a:buFont typeface="Wingdings" panose="05000000000000000000" pitchFamily="2" charset="2"/>
              <a:buChar char="p"/>
              <a:defRPr/>
            </a:pPr>
            <a:r>
              <a:rPr lang="zh-CN" altLang="en-US" sz="2400" b="1" dirty="0">
                <a:solidFill>
                  <a:srgbClr val="0245AD"/>
                </a:solidFill>
                <a:latin typeface="微软雅黑" pitchFamily="34" charset="-122"/>
                <a:ea typeface="微软雅黑" pitchFamily="34" charset="-122"/>
                <a:cs typeface="+mj-cs"/>
              </a:rPr>
              <a:t> 频繁项集（</a:t>
            </a:r>
            <a:r>
              <a:rPr lang="en-US" altLang="zh-CN" sz="2400" b="1" dirty="0">
                <a:solidFill>
                  <a:srgbClr val="0245AD"/>
                </a:solidFill>
                <a:latin typeface="微软雅黑" pitchFamily="34" charset="-122"/>
                <a:ea typeface="微软雅黑" pitchFamily="34" charset="-122"/>
                <a:cs typeface="+mj-cs"/>
              </a:rPr>
              <a:t>Frequent itemset</a:t>
            </a:r>
            <a:r>
              <a:rPr lang="zh-CN" altLang="en-US" sz="2400" b="1" dirty="0">
                <a:solidFill>
                  <a:srgbClr val="0245AD"/>
                </a:solidFill>
                <a:latin typeface="微软雅黑" pitchFamily="34" charset="-122"/>
                <a:ea typeface="微软雅黑" pitchFamily="34" charset="-122"/>
                <a:cs typeface="+mj-cs"/>
              </a:rPr>
              <a:t>）</a:t>
            </a:r>
            <a:endParaRPr lang="en-US" altLang="zh-CN" sz="2400" b="1" dirty="0">
              <a:solidFill>
                <a:srgbClr val="0245AD"/>
              </a:solidFill>
              <a:latin typeface="微软雅黑" pitchFamily="34" charset="-122"/>
              <a:ea typeface="微软雅黑" pitchFamily="34" charset="-122"/>
              <a:cs typeface="+mj-cs"/>
            </a:endParaRPr>
          </a:p>
          <a:p>
            <a:pPr marL="0" indent="0" fontAlgn="base">
              <a:lnSpc>
                <a:spcPct val="150000"/>
              </a:lnSpc>
              <a:spcBef>
                <a:spcPct val="0"/>
              </a:spcBef>
              <a:spcAft>
                <a:spcPct val="0"/>
              </a:spcAft>
              <a:buClrTx/>
              <a:buSzTx/>
              <a:buNone/>
              <a:defRPr/>
            </a:pPr>
            <a:r>
              <a:rPr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在数据集中出现频率大于最小支持度的项集，含有</a:t>
            </a:r>
            <a:r>
              <a:rPr lang="en-US" altLang="zh-CN" sz="24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24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个项的频繁项集被称为频繁</a:t>
            </a:r>
            <a:r>
              <a:rPr lang="en-US" altLang="zh-CN" sz="24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24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项集</a:t>
            </a:r>
            <a:endParaRPr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文本框 13">
            <a:extLst>
              <a:ext uri="{FF2B5EF4-FFF2-40B4-BE49-F238E27FC236}">
                <a16:creationId xmlns:a16="http://schemas.microsoft.com/office/drawing/2014/main" id="{AF095101-8EBB-6C81-A767-9D2930F6D39E}"/>
              </a:ext>
            </a:extLst>
          </p:cNvPr>
          <p:cNvSpPr txBox="1"/>
          <p:nvPr/>
        </p:nvSpPr>
        <p:spPr>
          <a:xfrm>
            <a:off x="4004879" y="3591531"/>
            <a:ext cx="1572491" cy="954107"/>
          </a:xfrm>
          <a:prstGeom prst="rect">
            <a:avLst/>
          </a:prstGeom>
          <a:noFill/>
        </p:spPr>
        <p:txBody>
          <a:bodyPr wrap="square">
            <a:spAutoFit/>
          </a:bodyPr>
          <a:lstStyle/>
          <a:p>
            <a:pPr algn="ctr"/>
            <a:r>
              <a:rPr lang="en-US" altLang="zh-CN" sz="2800" b="1" i="1" dirty="0" err="1">
                <a:latin typeface="Times New Roman" panose="02020603050405020304" pitchFamily="18" charset="0"/>
                <a:ea typeface="微软雅黑" panose="020B0503020204020204" pitchFamily="34" charset="-122"/>
                <a:cs typeface="Times New Roman" panose="02020603050405020304" pitchFamily="18" charset="0"/>
              </a:rPr>
              <a:t>min_sup</a:t>
            </a:r>
            <a:r>
              <a:rPr lang="en-US" altLang="zh-CN" sz="2800" b="1" i="1" dirty="0">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sz="2800" b="1" dirty="0"/>
          </a:p>
        </p:txBody>
      </p:sp>
      <p:sp>
        <p:nvSpPr>
          <p:cNvPr id="15" name="箭头: 右 14">
            <a:extLst>
              <a:ext uri="{FF2B5EF4-FFF2-40B4-BE49-F238E27FC236}">
                <a16:creationId xmlns:a16="http://schemas.microsoft.com/office/drawing/2014/main" id="{D8FA3AFA-F85A-1544-FC2F-579EF6BB15D2}"/>
              </a:ext>
            </a:extLst>
          </p:cNvPr>
          <p:cNvSpPr/>
          <p:nvPr/>
        </p:nvSpPr>
        <p:spPr>
          <a:xfrm>
            <a:off x="4039061" y="4565685"/>
            <a:ext cx="1392286" cy="249382"/>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26">
            <a:extLst>
              <a:ext uri="{FF2B5EF4-FFF2-40B4-BE49-F238E27FC236}">
                <a16:creationId xmlns:a16="http://schemas.microsoft.com/office/drawing/2014/main" id="{7BD121D2-AC10-1862-030A-82830148F792}"/>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频繁项集</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55">
            <a:extLst>
              <a:ext uri="{FF2B5EF4-FFF2-40B4-BE49-F238E27FC236}">
                <a16:creationId xmlns:a16="http://schemas.microsoft.com/office/drawing/2014/main" id="{699EEE46-D4AB-3B06-402E-370B59788AC3}"/>
              </a:ext>
            </a:extLst>
          </p:cNvPr>
          <p:cNvSpPr/>
          <p:nvPr/>
        </p:nvSpPr>
        <p:spPr>
          <a:xfrm>
            <a:off x="558040" y="1190656"/>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基本概念</a:t>
            </a:r>
          </a:p>
        </p:txBody>
      </p:sp>
    </p:spTree>
    <p:extLst>
      <p:ext uri="{BB962C8B-B14F-4D97-AF65-F5344CB8AC3E}">
        <p14:creationId xmlns:p14="http://schemas.microsoft.com/office/powerpoint/2010/main" val="390361438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10AEF-110B-BFD8-F088-1CC5969A421D}"/>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8FA48157-7495-4055-C606-70BEBBF5DA91}"/>
              </a:ext>
            </a:extLst>
          </p:cNvPr>
          <p:cNvSpPr/>
          <p:nvPr/>
        </p:nvSpPr>
        <p:spPr>
          <a:xfrm>
            <a:off x="6477834" y="2268082"/>
            <a:ext cx="5486400" cy="3830782"/>
          </a:xfrm>
          <a:prstGeom prst="rect">
            <a:avLst/>
          </a:prstGeom>
          <a:solidFill>
            <a:schemeClr val="bg1"/>
          </a:solidFill>
          <a:ln w="3175">
            <a:solidFill>
              <a:srgbClr val="0444AE"/>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dirty="0">
              <a:solidFill>
                <a:schemeClr val="tx1"/>
              </a:solidFill>
            </a:endParaRPr>
          </a:p>
        </p:txBody>
      </p:sp>
      <p:sp>
        <p:nvSpPr>
          <p:cNvPr id="11" name="Text Box 3">
            <a:extLst>
              <a:ext uri="{FF2B5EF4-FFF2-40B4-BE49-F238E27FC236}">
                <a16:creationId xmlns:a16="http://schemas.microsoft.com/office/drawing/2014/main" id="{184BCDBB-DA4A-F5A0-B1DC-EF77A0504A54}"/>
              </a:ext>
            </a:extLst>
          </p:cNvPr>
          <p:cNvSpPr txBox="1">
            <a:spLocks noChangeArrowheads="1"/>
          </p:cNvSpPr>
          <p:nvPr/>
        </p:nvSpPr>
        <p:spPr bwMode="auto">
          <a:xfrm>
            <a:off x="2379131" y="2640803"/>
            <a:ext cx="4194090" cy="2825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nSpc>
                <a:spcPct val="125000"/>
              </a:lnSpc>
              <a:spcBef>
                <a:spcPct val="0"/>
              </a:spcBef>
              <a:buClrTx/>
              <a:buSzTx/>
              <a:buFontTx/>
              <a:buNone/>
            </a:pPr>
            <a:r>
              <a:rPr kumimoji="0" lang="en-US" altLang="zh-CN" sz="2400" dirty="0">
                <a:solidFill>
                  <a:srgbClr val="CC3300"/>
                </a:solidFill>
                <a:latin typeface="Times New Roman" panose="02020603050405020304" pitchFamily="18" charset="0"/>
                <a:cs typeface="Times New Roman" panose="02020603050405020304" pitchFamily="18" charset="0"/>
                <a:sym typeface="Symbol" panose="05050102010706020507" pitchFamily="18" charset="2"/>
              </a:rPr>
              <a:t>Example of Rules:</a:t>
            </a:r>
            <a:endParaRPr kumimoji="0" lang="en-US" altLang="zh-CN" sz="1000" dirty="0">
              <a:solidFill>
                <a:srgbClr val="CC3300"/>
              </a:solidFill>
              <a:latin typeface="Times New Roman" panose="02020603050405020304" pitchFamily="18" charset="0"/>
              <a:cs typeface="Times New Roman" panose="02020603050405020304" pitchFamily="18" charset="0"/>
              <a:sym typeface="Symbol" panose="05050102010706020507" pitchFamily="18" charset="2"/>
            </a:endParaRPr>
          </a:p>
          <a:p>
            <a:pPr>
              <a:lnSpc>
                <a:spcPct val="125000"/>
              </a:lnSpc>
              <a:spcBef>
                <a:spcPct val="0"/>
              </a:spcBef>
              <a:buClrTx/>
              <a:buSzTx/>
              <a:buFontTx/>
              <a:buNone/>
            </a:pPr>
            <a:r>
              <a:rPr kumimoji="0" lang="en-US" altLang="zh-CN" sz="2000" dirty="0">
                <a:latin typeface="Times New Roman" panose="02020603050405020304" pitchFamily="18" charset="0"/>
                <a:cs typeface="Times New Roman" panose="02020603050405020304" pitchFamily="18" charset="0"/>
              </a:rPr>
              <a:t>{</a:t>
            </a:r>
            <a:r>
              <a:rPr kumimoji="0" lang="en-US" altLang="zh-CN" sz="2000" i="1" dirty="0">
                <a:latin typeface="Times New Roman" panose="02020603050405020304" pitchFamily="18" charset="0"/>
                <a:cs typeface="Times New Roman" panose="02020603050405020304" pitchFamily="18" charset="0"/>
              </a:rPr>
              <a:t>a</a:t>
            </a:r>
            <a:r>
              <a:rPr kumimoji="0" lang="en-US" altLang="zh-CN" sz="2000" dirty="0">
                <a:latin typeface="Times New Roman" panose="02020603050405020304" pitchFamily="18" charset="0"/>
                <a:cs typeface="Times New Roman" panose="02020603050405020304" pitchFamily="18" charset="0"/>
              </a:rPr>
              <a:t>, </a:t>
            </a:r>
            <a:r>
              <a:rPr kumimoji="0" lang="en-US" altLang="zh-CN" sz="2000" i="1" dirty="0">
                <a:latin typeface="Times New Roman" panose="02020603050405020304" pitchFamily="18" charset="0"/>
                <a:cs typeface="Times New Roman" panose="02020603050405020304" pitchFamily="18" charset="0"/>
              </a:rPr>
              <a:t>b</a:t>
            </a:r>
            <a:r>
              <a:rPr kumimoji="0" lang="en-US" altLang="zh-CN" sz="2000" dirty="0">
                <a:latin typeface="Times New Roman" panose="02020603050405020304" pitchFamily="18" charset="0"/>
                <a:cs typeface="Times New Roman" panose="02020603050405020304" pitchFamily="18" charset="0"/>
              </a:rPr>
              <a:t>} </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c</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sup</a:t>
            </a:r>
            <a:r>
              <a:rPr kumimoji="0" lang="en-US" altLang="zh-CN" sz="2000"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=0.25</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conf</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=1.0)</a:t>
            </a:r>
            <a:b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br>
            <a:r>
              <a:rPr kumimoji="0" lang="en-US" altLang="zh-CN" sz="2000" dirty="0">
                <a:latin typeface="Times New Roman" panose="02020603050405020304" pitchFamily="18" charset="0"/>
                <a:cs typeface="Times New Roman" panose="02020603050405020304" pitchFamily="18" charset="0"/>
              </a:rPr>
              <a:t>{</a:t>
            </a:r>
            <a:r>
              <a:rPr kumimoji="0" lang="en-US" altLang="zh-CN" sz="2000" i="1" dirty="0">
                <a:latin typeface="Times New Roman" panose="02020603050405020304" pitchFamily="18" charset="0"/>
                <a:cs typeface="Times New Roman" panose="02020603050405020304" pitchFamily="18" charset="0"/>
              </a:rPr>
              <a:t>a</a:t>
            </a:r>
            <a:r>
              <a:rPr kumimoji="0" lang="en-US" altLang="zh-CN" sz="2000" dirty="0">
                <a:latin typeface="Times New Roman" panose="02020603050405020304" pitchFamily="18" charset="0"/>
                <a:cs typeface="Times New Roman" panose="02020603050405020304" pitchFamily="18" charset="0"/>
              </a:rPr>
              <a:t>, </a:t>
            </a:r>
            <a:r>
              <a:rPr kumimoji="0" lang="en-US" altLang="zh-CN" sz="2000" i="1" dirty="0">
                <a:latin typeface="Times New Roman" panose="02020603050405020304" pitchFamily="18" charset="0"/>
                <a:cs typeface="Times New Roman" panose="02020603050405020304" pitchFamily="18" charset="0"/>
              </a:rPr>
              <a:t>c</a:t>
            </a:r>
            <a:r>
              <a:rPr kumimoji="0" lang="en-US" altLang="zh-CN" sz="2000" dirty="0">
                <a:latin typeface="Times New Roman" panose="02020603050405020304" pitchFamily="18" charset="0"/>
                <a:cs typeface="Times New Roman" panose="02020603050405020304" pitchFamily="18" charset="0"/>
              </a:rPr>
              <a:t>} </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b</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sup </a:t>
            </a:r>
            <a:r>
              <a:rPr kumimoji="0" lang="en-US" altLang="zh-CN" sz="2000"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=0.25</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conf </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=0.5)</a:t>
            </a:r>
          </a:p>
          <a:p>
            <a:pPr>
              <a:lnSpc>
                <a:spcPct val="125000"/>
              </a:lnSpc>
              <a:spcBef>
                <a:spcPct val="0"/>
              </a:spcBef>
              <a:buClrTx/>
              <a:buSzTx/>
              <a:buFontTx/>
              <a:buNone/>
            </a:pPr>
            <a:r>
              <a:rPr kumimoji="0" lang="en-US" altLang="zh-CN" sz="2000" dirty="0">
                <a:latin typeface="Times New Roman" panose="02020603050405020304" pitchFamily="18" charset="0"/>
                <a:cs typeface="Times New Roman" panose="02020603050405020304" pitchFamily="18" charset="0"/>
              </a:rPr>
              <a:t>{</a:t>
            </a:r>
            <a:r>
              <a:rPr kumimoji="0" lang="en-US" altLang="zh-CN" sz="2000" i="1" dirty="0">
                <a:latin typeface="Times New Roman" panose="02020603050405020304" pitchFamily="18" charset="0"/>
                <a:cs typeface="Times New Roman" panose="02020603050405020304" pitchFamily="18" charset="0"/>
              </a:rPr>
              <a:t>b</a:t>
            </a:r>
            <a:r>
              <a:rPr kumimoji="0" lang="en-US" altLang="zh-CN" sz="2000" dirty="0">
                <a:latin typeface="Times New Roman" panose="02020603050405020304" pitchFamily="18" charset="0"/>
                <a:cs typeface="Times New Roman" panose="02020603050405020304" pitchFamily="18" charset="0"/>
              </a:rPr>
              <a:t>, </a:t>
            </a:r>
            <a:r>
              <a:rPr kumimoji="0" lang="en-US" altLang="zh-CN" sz="2000" i="1" dirty="0">
                <a:latin typeface="Times New Roman" panose="02020603050405020304" pitchFamily="18" charset="0"/>
                <a:cs typeface="Times New Roman" panose="02020603050405020304" pitchFamily="18" charset="0"/>
              </a:rPr>
              <a:t>c</a:t>
            </a:r>
            <a:r>
              <a:rPr kumimoji="0" lang="en-US" altLang="zh-CN" sz="2000" dirty="0">
                <a:latin typeface="Times New Roman" panose="02020603050405020304" pitchFamily="18" charset="0"/>
                <a:cs typeface="Times New Roman" panose="02020603050405020304" pitchFamily="18" charset="0"/>
              </a:rPr>
              <a:t>} </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a</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sup </a:t>
            </a:r>
            <a:r>
              <a:rPr kumimoji="0" lang="en-US" altLang="zh-CN" sz="2000"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=0.25</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conf </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=0.67)</a:t>
            </a:r>
          </a:p>
          <a:p>
            <a:pPr>
              <a:lnSpc>
                <a:spcPct val="125000"/>
              </a:lnSpc>
              <a:spcBef>
                <a:spcPct val="0"/>
              </a:spcBef>
              <a:buClrTx/>
              <a:buSzTx/>
              <a:buFontTx/>
              <a:buNone/>
            </a:pP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a</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 {</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b</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c</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sup </a:t>
            </a:r>
            <a:r>
              <a:rPr kumimoji="0" lang="en-US" altLang="zh-CN" sz="2000"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=0.25</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conf </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=0.5) </a:t>
            </a:r>
            <a:b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b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b</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 {</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a</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c</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sup </a:t>
            </a:r>
            <a:r>
              <a:rPr kumimoji="0" lang="en-US" altLang="zh-CN" sz="2000"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=0.25</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conf </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=0.5) </a:t>
            </a:r>
          </a:p>
          <a:p>
            <a:pPr>
              <a:lnSpc>
                <a:spcPct val="125000"/>
              </a:lnSpc>
              <a:spcBef>
                <a:spcPct val="0"/>
              </a:spcBef>
              <a:buClrTx/>
              <a:buSzTx/>
              <a:buFontTx/>
              <a:buNone/>
            </a:pP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c</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 {</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a</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b</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sup </a:t>
            </a:r>
            <a:r>
              <a:rPr kumimoji="0" lang="en-US" altLang="zh-CN" sz="2000"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=0.25</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i="1" dirty="0">
                <a:latin typeface="Times New Roman" panose="02020603050405020304" pitchFamily="18" charset="0"/>
                <a:cs typeface="Times New Roman" panose="02020603050405020304" pitchFamily="18" charset="0"/>
                <a:sym typeface="Symbol" panose="05050102010706020507" pitchFamily="18" charset="2"/>
              </a:rPr>
              <a:t>conf </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=0.33)</a:t>
            </a:r>
          </a:p>
        </p:txBody>
      </p:sp>
      <p:sp>
        <p:nvSpPr>
          <p:cNvPr id="12" name="Text Box 5">
            <a:extLst>
              <a:ext uri="{FF2B5EF4-FFF2-40B4-BE49-F238E27FC236}">
                <a16:creationId xmlns:a16="http://schemas.microsoft.com/office/drawing/2014/main" id="{633B65C3-C59A-9A0A-1821-86E8067E2CFB}"/>
              </a:ext>
            </a:extLst>
          </p:cNvPr>
          <p:cNvSpPr txBox="1">
            <a:spLocks noChangeArrowheads="1"/>
          </p:cNvSpPr>
          <p:nvPr/>
        </p:nvSpPr>
        <p:spPr bwMode="auto">
          <a:xfrm>
            <a:off x="6627362" y="2433517"/>
            <a:ext cx="5145322"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zh-CN" altLang="en-US" sz="2400" dirty="0">
                <a:latin typeface="Arial" panose="020B0604020202020204" pitchFamily="34" charset="0"/>
                <a:sym typeface="Symbol" panose="05050102010706020507" pitchFamily="18" charset="2"/>
              </a:rPr>
              <a:t>所有规则都对应于把同一项集</a:t>
            </a:r>
            <a:r>
              <a:rPr kumimoji="0" lang="en-US" altLang="zh-CN" sz="2400" dirty="0">
                <a:latin typeface="Arial" panose="020B0604020202020204" pitchFamily="34" charset="0"/>
                <a:sym typeface="Symbol" panose="05050102010706020507" pitchFamily="18" charset="2"/>
              </a:rPr>
              <a:t>{</a:t>
            </a:r>
            <a:r>
              <a:rPr kumimoji="0" lang="en-US" altLang="zh-CN" sz="2400" i="1" dirty="0">
                <a:latin typeface="Times New Roman" panose="02020603050405020304" pitchFamily="18" charset="0"/>
                <a:cs typeface="Times New Roman" panose="02020603050405020304" pitchFamily="18" charset="0"/>
                <a:sym typeface="Symbol" panose="05050102010706020507" pitchFamily="18" charset="2"/>
              </a:rPr>
              <a:t>a</a:t>
            </a:r>
            <a:r>
              <a:rPr kumimoji="0"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400" i="1" dirty="0">
                <a:latin typeface="Times New Roman" panose="02020603050405020304" pitchFamily="18" charset="0"/>
                <a:cs typeface="Times New Roman" panose="02020603050405020304" pitchFamily="18" charset="0"/>
                <a:sym typeface="Symbol" panose="05050102010706020507" pitchFamily="18" charset="2"/>
              </a:rPr>
              <a:t>b</a:t>
            </a:r>
            <a:r>
              <a:rPr kumimoji="0"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400" i="1" dirty="0">
                <a:latin typeface="Times New Roman" panose="02020603050405020304" pitchFamily="18" charset="0"/>
                <a:cs typeface="Times New Roman" panose="02020603050405020304" pitchFamily="18" charset="0"/>
                <a:sym typeface="Symbol" panose="05050102010706020507" pitchFamily="18" charset="2"/>
              </a:rPr>
              <a:t>c</a:t>
            </a:r>
            <a:r>
              <a:rPr kumimoji="0" lang="en-US" altLang="zh-CN" sz="2400" dirty="0">
                <a:latin typeface="Arial" panose="020B0604020202020204" pitchFamily="34" charset="0"/>
                <a:sym typeface="Symbol" panose="05050102010706020507" pitchFamily="18" charset="2"/>
              </a:rPr>
              <a:t>}</a:t>
            </a:r>
            <a:r>
              <a:rPr kumimoji="0" lang="zh-CN" altLang="en-US" sz="2400" dirty="0">
                <a:latin typeface="Arial" panose="020B0604020202020204" pitchFamily="34" charset="0"/>
                <a:sym typeface="Symbol" panose="05050102010706020507" pitchFamily="18" charset="2"/>
              </a:rPr>
              <a:t>分成两个部分</a:t>
            </a:r>
            <a:endParaRPr kumimoji="0" lang="en-US" altLang="zh-CN" sz="2400" dirty="0">
              <a:latin typeface="Arial" panose="020B0604020202020204" pitchFamily="34" charset="0"/>
              <a:sym typeface="Symbol" panose="05050102010706020507" pitchFamily="18" charset="2"/>
            </a:endParaRPr>
          </a:p>
          <a:p>
            <a:pPr indent="-342900">
              <a:spcBef>
                <a:spcPct val="50000"/>
              </a:spcBef>
              <a:buClrTx/>
              <a:buSzTx/>
              <a:buFontTx/>
              <a:buChar char="•"/>
            </a:pPr>
            <a:r>
              <a:rPr kumimoji="0" lang="en-US" altLang="zh-CN" sz="2400" dirty="0">
                <a:latin typeface="Arial" panose="020B0604020202020204" pitchFamily="34" charset="0"/>
                <a:sym typeface="Symbol" panose="05050102010706020507" pitchFamily="18" charset="2"/>
              </a:rPr>
              <a:t> </a:t>
            </a:r>
            <a:r>
              <a:rPr kumimoji="0" lang="zh-CN" altLang="en-US" sz="2400" dirty="0">
                <a:latin typeface="Arial" panose="020B0604020202020204" pitchFamily="34" charset="0"/>
                <a:sym typeface="Symbol" panose="05050102010706020507" pitchFamily="18" charset="2"/>
              </a:rPr>
              <a:t>源自同一项集的规则有相同的支持度，但是置信度不同</a:t>
            </a:r>
          </a:p>
          <a:p>
            <a:pPr indent="-342900">
              <a:spcBef>
                <a:spcPct val="50000"/>
              </a:spcBef>
              <a:buClrTx/>
              <a:buSzTx/>
              <a:buFontTx/>
              <a:buChar char="•"/>
            </a:pPr>
            <a:r>
              <a:rPr kumimoji="0" lang="zh-CN" altLang="en-US" sz="2400" dirty="0">
                <a:latin typeface="Arial" panose="020B0604020202020204" pitchFamily="34" charset="0"/>
                <a:sym typeface="Symbol" panose="05050102010706020507" pitchFamily="18" charset="2"/>
              </a:rPr>
              <a:t>因此，我们可以分别处理对支持度和置信度的要求</a:t>
            </a:r>
          </a:p>
        </p:txBody>
      </p:sp>
      <p:graphicFrame>
        <p:nvGraphicFramePr>
          <p:cNvPr id="4" name="表格 3">
            <a:extLst>
              <a:ext uri="{FF2B5EF4-FFF2-40B4-BE49-F238E27FC236}">
                <a16:creationId xmlns:a16="http://schemas.microsoft.com/office/drawing/2014/main" id="{342AA81B-F05B-5AE4-E5F9-983D1AB69F5B}"/>
              </a:ext>
            </a:extLst>
          </p:cNvPr>
          <p:cNvGraphicFramePr>
            <a:graphicFrameLocks noGrp="1"/>
          </p:cNvGraphicFramePr>
          <p:nvPr>
            <p:extLst>
              <p:ext uri="{D42A27DB-BD31-4B8C-83A1-F6EECF244321}">
                <p14:modId xmlns:p14="http://schemas.microsoft.com/office/powerpoint/2010/main" val="874877883"/>
              </p:ext>
            </p:extLst>
          </p:nvPr>
        </p:nvGraphicFramePr>
        <p:xfrm>
          <a:off x="199312" y="2499809"/>
          <a:ext cx="1956648" cy="3107250"/>
        </p:xfrm>
        <a:graphic>
          <a:graphicData uri="http://schemas.openxmlformats.org/drawingml/2006/table">
            <a:tbl>
              <a:tblPr firstRow="1" firstCol="1" bandRow="1"/>
              <a:tblGrid>
                <a:gridCol w="608063">
                  <a:extLst>
                    <a:ext uri="{9D8B030D-6E8A-4147-A177-3AD203B41FA5}">
                      <a16:colId xmlns:a16="http://schemas.microsoft.com/office/drawing/2014/main" val="3390425978"/>
                    </a:ext>
                  </a:extLst>
                </a:gridCol>
                <a:gridCol w="1348585">
                  <a:extLst>
                    <a:ext uri="{9D8B030D-6E8A-4147-A177-3AD203B41FA5}">
                      <a16:colId xmlns:a16="http://schemas.microsoft.com/office/drawing/2014/main" val="2434860977"/>
                    </a:ext>
                  </a:extLst>
                </a:gridCol>
              </a:tblGrid>
              <a:tr h="0">
                <a:tc>
                  <a:txBody>
                    <a:bodyPr/>
                    <a:lstStyle/>
                    <a:p>
                      <a:pPr marL="0" marR="0" algn="ctr">
                        <a:lnSpc>
                          <a:spcPct val="125000"/>
                        </a:lnSpc>
                      </a:pPr>
                      <a:r>
                        <a:rPr lang="en-US" sz="2000" b="1" i="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TID</a:t>
                      </a:r>
                      <a:endParaRPr lang="zh-CN" sz="200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80"/>
                    </a:solidFill>
                  </a:tcPr>
                </a:tc>
                <a:tc>
                  <a:txBody>
                    <a:bodyPr/>
                    <a:lstStyle/>
                    <a:p>
                      <a:pPr marL="0" marR="0" algn="ctr">
                        <a:lnSpc>
                          <a:spcPct val="125000"/>
                        </a:lnSpc>
                      </a:pPr>
                      <a:r>
                        <a:rPr lang="zh-CN" sz="20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事务</a:t>
                      </a:r>
                      <a:endParaRPr lang="zh-CN" sz="200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80"/>
                    </a:solidFill>
                  </a:tcPr>
                </a:tc>
                <a:extLst>
                  <a:ext uri="{0D108BD9-81ED-4DB2-BD59-A6C34878D82A}">
                    <a16:rowId xmlns:a16="http://schemas.microsoft.com/office/drawing/2014/main" val="321802663"/>
                  </a:ext>
                </a:extLst>
              </a:tr>
              <a:tr h="0">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751439"/>
                  </a:ext>
                </a:extLst>
              </a:tr>
              <a:tr h="0">
                <a:tc>
                  <a:txBody>
                    <a:bodyPr/>
                    <a:lstStyle/>
                    <a:p>
                      <a:pPr marL="0" marR="0" algn="ctr">
                        <a:lnSpc>
                          <a:spcPct val="125000"/>
                        </a:lnSpc>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2</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166284"/>
                  </a:ext>
                </a:extLst>
              </a:tr>
              <a:tr h="0">
                <a:tc>
                  <a:txBody>
                    <a:bodyPr/>
                    <a:lstStyle/>
                    <a:p>
                      <a:pPr marL="0" marR="0" algn="ctr">
                        <a:lnSpc>
                          <a:spcPct val="125000"/>
                        </a:lnSpc>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3</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54526699"/>
                  </a:ext>
                </a:extLst>
              </a:tr>
              <a:tr h="0">
                <a:tc>
                  <a:txBody>
                    <a:bodyPr/>
                    <a:lstStyle/>
                    <a:p>
                      <a:pPr marL="0" marR="0" algn="ctr">
                        <a:lnSpc>
                          <a:spcPct val="125000"/>
                        </a:lnSpc>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4</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50224209"/>
                  </a:ext>
                </a:extLst>
              </a:tr>
              <a:tr h="0">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0083931"/>
                  </a:ext>
                </a:extLst>
              </a:tr>
              <a:tr h="0">
                <a:tc>
                  <a:txBody>
                    <a:bodyPr/>
                    <a:lstStyle/>
                    <a:p>
                      <a:pPr marL="0" marR="0" algn="ctr">
                        <a:lnSpc>
                          <a:spcPct val="125000"/>
                        </a:lnSpc>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6</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7146881"/>
                  </a:ext>
                </a:extLst>
              </a:tr>
              <a:tr h="0">
                <a:tc>
                  <a:txBody>
                    <a:bodyPr/>
                    <a:lstStyle/>
                    <a:p>
                      <a:pPr marL="0" marR="0" algn="ctr">
                        <a:lnSpc>
                          <a:spcPct val="125000"/>
                        </a:lnSpc>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7</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14575605"/>
                  </a:ext>
                </a:extLst>
              </a:tr>
              <a:tr h="0">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8</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40279241"/>
                  </a:ext>
                </a:extLst>
              </a:tr>
            </a:tbl>
          </a:graphicData>
        </a:graphic>
      </p:graphicFrame>
      <p:graphicFrame>
        <p:nvGraphicFramePr>
          <p:cNvPr id="5" name="对象 4">
            <a:extLst>
              <a:ext uri="{FF2B5EF4-FFF2-40B4-BE49-F238E27FC236}">
                <a16:creationId xmlns:a16="http://schemas.microsoft.com/office/drawing/2014/main" id="{57A4F3A3-87D1-A6E9-F16A-A4F6B3438496}"/>
              </a:ext>
            </a:extLst>
          </p:cNvPr>
          <p:cNvGraphicFramePr>
            <a:graphicFrameLocks noChangeAspect="1"/>
          </p:cNvGraphicFramePr>
          <p:nvPr>
            <p:extLst>
              <p:ext uri="{D42A27DB-BD31-4B8C-83A1-F6EECF244321}">
                <p14:modId xmlns:p14="http://schemas.microsoft.com/office/powerpoint/2010/main" val="4228077798"/>
              </p:ext>
            </p:extLst>
          </p:nvPr>
        </p:nvGraphicFramePr>
        <p:xfrm>
          <a:off x="6627361" y="5253318"/>
          <a:ext cx="5145323" cy="707482"/>
        </p:xfrm>
        <a:graphic>
          <a:graphicData uri="http://schemas.openxmlformats.org/presentationml/2006/ole">
            <mc:AlternateContent xmlns:mc="http://schemas.openxmlformats.org/markup-compatibility/2006">
              <mc:Choice xmlns:v="urn:schemas-microsoft-com:vml" Requires="v">
                <p:oleObj name="Equation" r:id="rId3" imgW="3047733" imgH="418995" progId="Equation.DSMT4">
                  <p:embed/>
                </p:oleObj>
              </mc:Choice>
              <mc:Fallback>
                <p:oleObj name="Equation" r:id="rId3" imgW="3047733" imgH="418995" progId="Equation.DSMT4">
                  <p:embed/>
                  <p:pic>
                    <p:nvPicPr>
                      <p:cNvPr id="5" name="对象 4">
                        <a:extLst>
                          <a:ext uri="{FF2B5EF4-FFF2-40B4-BE49-F238E27FC236}">
                            <a16:creationId xmlns:a16="http://schemas.microsoft.com/office/drawing/2014/main" id="{57A4F3A3-87D1-A6E9-F16A-A4F6B3438496}"/>
                          </a:ext>
                        </a:extLst>
                      </p:cNvPr>
                      <p:cNvPicPr/>
                      <p:nvPr/>
                    </p:nvPicPr>
                    <p:blipFill>
                      <a:blip r:embed="rId4"/>
                      <a:stretch>
                        <a:fillRect/>
                      </a:stretch>
                    </p:blipFill>
                    <p:spPr>
                      <a:xfrm>
                        <a:off x="6627361" y="5253318"/>
                        <a:ext cx="5145323" cy="707482"/>
                      </a:xfrm>
                      <a:prstGeom prst="rect">
                        <a:avLst/>
                      </a:prstGeom>
                    </p:spPr>
                  </p:pic>
                </p:oleObj>
              </mc:Fallback>
            </mc:AlternateContent>
          </a:graphicData>
        </a:graphic>
      </p:graphicFrame>
      <p:sp>
        <p:nvSpPr>
          <p:cNvPr id="8" name="矩形 26">
            <a:extLst>
              <a:ext uri="{FF2B5EF4-FFF2-40B4-BE49-F238E27FC236}">
                <a16:creationId xmlns:a16="http://schemas.microsoft.com/office/drawing/2014/main" id="{A923EBC6-45A7-AA06-B996-A88B0AD523C5}"/>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频繁项集</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4A0F6117-0C4F-4AF2-C5DF-4D7DEE248C49}"/>
              </a:ext>
            </a:extLst>
          </p:cNvPr>
          <p:cNvSpPr/>
          <p:nvPr/>
        </p:nvSpPr>
        <p:spPr>
          <a:xfrm>
            <a:off x="558040" y="1190656"/>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基本概念</a:t>
            </a:r>
          </a:p>
        </p:txBody>
      </p:sp>
    </p:spTree>
    <p:extLst>
      <p:ext uri="{BB962C8B-B14F-4D97-AF65-F5344CB8AC3E}">
        <p14:creationId xmlns:p14="http://schemas.microsoft.com/office/powerpoint/2010/main" val="350092941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lt">
                                    <p:tmPct val="0"/>
                                  </p:iterate>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185C7-6F42-4639-F15D-6A366C7BDC9A}"/>
            </a:ext>
          </a:extLst>
        </p:cNvPr>
        <p:cNvGrpSpPr/>
        <p:nvPr/>
      </p:nvGrpSpPr>
      <p:grpSpPr>
        <a:xfrm>
          <a:off x="0" y="0"/>
          <a:ext cx="0" cy="0"/>
          <a:chOff x="0" y="0"/>
          <a:chExt cx="0" cy="0"/>
        </a:xfrm>
      </p:grpSpPr>
      <p:sp>
        <p:nvSpPr>
          <p:cNvPr id="16" name="AutoShape 7">
            <a:extLst>
              <a:ext uri="{FF2B5EF4-FFF2-40B4-BE49-F238E27FC236}">
                <a16:creationId xmlns:a16="http://schemas.microsoft.com/office/drawing/2014/main" id="{1E5DE3F9-6A06-EA3D-7571-B74EA5ECE8F8}"/>
              </a:ext>
            </a:extLst>
          </p:cNvPr>
          <p:cNvSpPr>
            <a:spLocks noChangeArrowheads="1"/>
          </p:cNvSpPr>
          <p:nvPr/>
        </p:nvSpPr>
        <p:spPr bwMode="auto">
          <a:xfrm>
            <a:off x="6888445" y="1825064"/>
            <a:ext cx="2514600" cy="990600"/>
          </a:xfrm>
          <a:prstGeom prst="wedgeRoundRectCallout">
            <a:avLst>
              <a:gd name="adj1" fmla="val -135227"/>
              <a:gd name="adj2" fmla="val 38301"/>
              <a:gd name="adj3" fmla="val 16667"/>
            </a:avLst>
          </a:prstGeom>
          <a:ln>
            <a:headEnd/>
            <a:tailEnd/>
          </a:ln>
        </p:spPr>
        <p:style>
          <a:lnRef idx="1">
            <a:schemeClr val="accent2"/>
          </a:lnRef>
          <a:fillRef idx="2">
            <a:schemeClr val="accent2"/>
          </a:fillRef>
          <a:effectRef idx="1">
            <a:schemeClr val="accent2"/>
          </a:effectRef>
          <a:fontRef idx="minor">
            <a:schemeClr val="dk1"/>
          </a:fontRef>
        </p:style>
        <p:txBody>
          <a:bodyPr/>
          <a:lstStyle>
            <a:lvl1pPr eaLnBrk="0" hangingPunct="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lang="zh-CN" altLang="en-US" sz="2400"/>
          </a:p>
        </p:txBody>
      </p:sp>
      <p:sp>
        <p:nvSpPr>
          <p:cNvPr id="6" name="Rectangle 3">
            <a:extLst>
              <a:ext uri="{FF2B5EF4-FFF2-40B4-BE49-F238E27FC236}">
                <a16:creationId xmlns:a16="http://schemas.microsoft.com/office/drawing/2014/main" id="{CC692B56-9081-6C67-7A71-AEFE5F284043}"/>
              </a:ext>
            </a:extLst>
          </p:cNvPr>
          <p:cNvSpPr txBox="1">
            <a:spLocks noChangeArrowheads="1"/>
          </p:cNvSpPr>
          <p:nvPr/>
        </p:nvSpPr>
        <p:spPr>
          <a:xfrm>
            <a:off x="1570818" y="2054835"/>
            <a:ext cx="9442493" cy="46116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3400" marR="0" lvl="0" indent="-5334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800" b="0" i="0" u="none" strike="noStrike" kern="1200" cap="none" spc="0" normalizeH="0" baseline="0" noProof="0" dirty="0">
                <a:ln>
                  <a:noFill/>
                </a:ln>
                <a:solidFill>
                  <a:sysClr val="windowText" lastClr="000000"/>
                </a:solidFill>
                <a:effectLst/>
                <a:uLnTx/>
                <a:uFillTx/>
                <a:latin typeface="Arial"/>
                <a:ea typeface="微软雅黑"/>
                <a:cs typeface="+mn-cs"/>
              </a:rPr>
              <a:t>分两步执行：</a:t>
            </a:r>
            <a:r>
              <a:rPr kumimoji="0" lang="en-US" altLang="zh-CN" sz="2800" b="0" i="0" u="none" strike="noStrike" kern="1200" cap="none" spc="0" normalizeH="0" baseline="0" noProof="0" dirty="0">
                <a:ln>
                  <a:noFill/>
                </a:ln>
                <a:solidFill>
                  <a:sysClr val="windowText" lastClr="000000"/>
                </a:solidFill>
                <a:effectLst/>
                <a:uLnTx/>
                <a:uFillTx/>
                <a:latin typeface="Arial"/>
                <a:ea typeface="微软雅黑"/>
                <a:cs typeface="+mn-cs"/>
              </a:rPr>
              <a:t> </a:t>
            </a:r>
          </a:p>
          <a:p>
            <a:pPr marL="914400" marR="0" lvl="1" indent="-457200" algn="l" defTabSz="914400" rtl="0" eaLnBrk="1" fontAlgn="auto" latinLnBrk="0" hangingPunct="1">
              <a:lnSpc>
                <a:spcPct val="90000"/>
              </a:lnSpc>
              <a:spcBef>
                <a:spcPts val="500"/>
              </a:spcBef>
              <a:spcAft>
                <a:spcPts val="0"/>
              </a:spcAft>
              <a:buClrTx/>
              <a:buSzTx/>
              <a:buFont typeface="Arial" panose="020B0604020202020204" pitchFamily="34" charset="0"/>
              <a:buAutoNum type="arabicPeriod"/>
              <a:tabLst/>
              <a:defRPr/>
            </a:pPr>
            <a:r>
              <a:rPr kumimoji="0" lang="zh-CN" altLang="en-US" sz="2800" b="0" i="0" u="none" strike="noStrike" kern="1200" cap="none" spc="0" normalizeH="0" baseline="0" noProof="0" dirty="0">
                <a:ln>
                  <a:noFill/>
                </a:ln>
                <a:solidFill>
                  <a:srgbClr val="0000FF"/>
                </a:solidFill>
                <a:effectLst/>
                <a:uLnTx/>
                <a:uFillTx/>
                <a:latin typeface="Arial"/>
                <a:ea typeface="微软雅黑"/>
                <a:cs typeface="+mn-cs"/>
              </a:rPr>
              <a:t>挖掘频繁项集</a:t>
            </a:r>
          </a:p>
          <a:p>
            <a:pPr marL="1295400" marR="0" lvl="2" indent="-381000" algn="l" defTabSz="914400" rtl="0" eaLnBrk="1" fontAlgn="auto" latinLnBrk="0" hangingPunct="1">
              <a:lnSpc>
                <a:spcPct val="150000"/>
              </a:lnSpc>
              <a:spcBef>
                <a:spcPts val="500"/>
              </a:spcBef>
              <a:spcAft>
                <a:spcPts val="0"/>
              </a:spcAft>
              <a:buClrTx/>
              <a:buSzTx/>
              <a:buFont typeface="Arial" panose="020B0604020202020204" pitchFamily="34" charset="0"/>
              <a:buNone/>
              <a:tabLst/>
              <a:defRPr/>
            </a:pPr>
            <a:r>
              <a:rPr lang="en-US" altLang="zh-CN" sz="2400" dirty="0">
                <a:solidFill>
                  <a:sysClr val="windowText" lastClr="000000"/>
                </a:solidFill>
                <a:latin typeface="Arial"/>
                <a:ea typeface="微软雅黑"/>
              </a:rPr>
              <a:t>-  </a:t>
            </a:r>
            <a:r>
              <a:rPr kumimoji="0" lang="zh-CN" altLang="en-US" sz="2400" b="0" i="0" u="none" strike="noStrike" kern="1200" cap="none" spc="0" normalizeH="0" baseline="0" noProof="0" dirty="0">
                <a:ln>
                  <a:noFill/>
                </a:ln>
                <a:solidFill>
                  <a:sysClr val="windowText" lastClr="000000"/>
                </a:solidFill>
                <a:effectLst/>
                <a:uLnTx/>
                <a:uFillTx/>
                <a:latin typeface="Arial"/>
                <a:ea typeface="微软雅黑"/>
                <a:cs typeface="+mn-cs"/>
              </a:rPr>
              <a:t>生成所有支持度</a:t>
            </a:r>
            <a:r>
              <a:rPr kumimoji="0" lang="en-US" altLang="zh-CN" sz="2400" b="0" i="0" u="none" strike="noStrike" kern="1200" cap="none" spc="0" normalizeH="0" baseline="0" noProof="0" dirty="0">
                <a:ln>
                  <a:noFill/>
                </a:ln>
                <a:solidFill>
                  <a:sysClr val="windowText" lastClr="000000"/>
                </a:solidFill>
                <a:effectLst/>
                <a:uLnTx/>
                <a:uFillTx/>
                <a:latin typeface="Arial"/>
                <a:ea typeface="微软雅黑"/>
                <a:cs typeface="+mn-cs"/>
                <a:sym typeface="Symbol" panose="05050102010706020507" pitchFamily="18" charset="2"/>
              </a:rPr>
              <a:t> </a:t>
            </a:r>
            <a:r>
              <a:rPr lang="en-US" altLang="zh-CN" sz="2400" i="1" dirty="0" err="1">
                <a:solidFill>
                  <a:sysClr val="windowText" lastClr="000000"/>
                </a:solidFill>
                <a:latin typeface="Times New Roman" panose="02020603050405020304" pitchFamily="18" charset="0"/>
                <a:ea typeface="微软雅黑"/>
                <a:cs typeface="Times New Roman" panose="02020603050405020304" pitchFamily="18" charset="0"/>
              </a:rPr>
              <a:t>min_sup</a:t>
            </a:r>
            <a:r>
              <a:rPr kumimoji="0" lang="zh-CN" altLang="en-US" sz="2400" b="0" i="0" u="none" strike="noStrike" kern="1200" cap="none" spc="0" normalizeH="0" baseline="0" noProof="0" dirty="0">
                <a:ln>
                  <a:noFill/>
                </a:ln>
                <a:solidFill>
                  <a:sysClr val="windowText" lastClr="000000"/>
                </a:solidFill>
                <a:effectLst/>
                <a:uLnTx/>
                <a:uFillTx/>
                <a:latin typeface="Arial"/>
                <a:ea typeface="微软雅黑"/>
                <a:cs typeface="+mn-cs"/>
              </a:rPr>
              <a:t>的项集</a:t>
            </a:r>
            <a:endParaRPr kumimoji="0" lang="en-US" altLang="zh-CN" sz="2400" b="0" i="0" u="none" strike="noStrike" kern="1200" cap="none" spc="0" normalizeH="0" baseline="0" noProof="0" dirty="0">
              <a:ln>
                <a:noFill/>
              </a:ln>
              <a:solidFill>
                <a:sysClr val="windowText" lastClr="000000"/>
              </a:solidFill>
              <a:effectLst/>
              <a:uLnTx/>
              <a:uFillTx/>
              <a:latin typeface="Arial"/>
              <a:ea typeface="微软雅黑"/>
              <a:cs typeface="+mn-cs"/>
            </a:endParaRPr>
          </a:p>
          <a:p>
            <a:pPr marL="914400" marR="0" lvl="1" indent="-457200" algn="l" defTabSz="914400" rtl="0" eaLnBrk="1" fontAlgn="auto" latinLnBrk="0" hangingPunct="1">
              <a:lnSpc>
                <a:spcPct val="90000"/>
              </a:lnSpc>
              <a:spcBef>
                <a:spcPts val="500"/>
              </a:spcBef>
              <a:spcAft>
                <a:spcPts val="0"/>
              </a:spcAft>
              <a:buClrTx/>
              <a:buSzTx/>
              <a:buFont typeface="Arial" panose="020B0604020202020204" pitchFamily="34" charset="0"/>
              <a:buAutoNum type="arabicPeriod"/>
              <a:tabLst/>
              <a:defRPr/>
            </a:pPr>
            <a:r>
              <a:rPr kumimoji="0" lang="zh-CN" altLang="en-US" sz="2800" b="0" i="0" u="none" strike="noStrike" kern="1200" cap="none" spc="0" normalizeH="0" baseline="0" noProof="0" dirty="0">
                <a:ln>
                  <a:noFill/>
                </a:ln>
                <a:solidFill>
                  <a:sysClr val="windowText" lastClr="000000"/>
                </a:solidFill>
                <a:effectLst/>
                <a:uLnTx/>
                <a:uFillTx/>
                <a:latin typeface="Arial"/>
                <a:ea typeface="微软雅黑"/>
                <a:cs typeface="+mn-cs"/>
              </a:rPr>
              <a:t>构造规则</a:t>
            </a:r>
            <a:endParaRPr kumimoji="0" lang="en-US" altLang="zh-CN" sz="2800" b="0" i="0" u="none" strike="noStrike" kern="1200" cap="none" spc="0" normalizeH="0" baseline="0" noProof="0" dirty="0">
              <a:ln>
                <a:noFill/>
              </a:ln>
              <a:solidFill>
                <a:sysClr val="windowText" lastClr="000000"/>
              </a:solidFill>
              <a:effectLst/>
              <a:uLnTx/>
              <a:uFillTx/>
              <a:latin typeface="Arial"/>
              <a:ea typeface="微软雅黑"/>
              <a:cs typeface="+mn-cs"/>
            </a:endParaRPr>
          </a:p>
          <a:p>
            <a:pPr marL="1295400" marR="0" lvl="2" indent="-381000" algn="l" defTabSz="914400" rtl="0" eaLnBrk="1" fontAlgn="auto" latinLnBrk="0" hangingPunct="1">
              <a:lnSpc>
                <a:spcPct val="150000"/>
              </a:lnSpc>
              <a:spcBef>
                <a:spcPts val="500"/>
              </a:spcBef>
              <a:spcAft>
                <a:spcPts val="0"/>
              </a:spcAft>
              <a:buClrTx/>
              <a:buSzTx/>
              <a:buFont typeface="Arial" panose="020B0604020202020204" pitchFamily="34" charset="0"/>
              <a:buNone/>
              <a:tabLst/>
              <a:defRPr/>
            </a:pPr>
            <a:r>
              <a:rPr kumimoji="0" lang="zh-CN" altLang="en-US" sz="2400" b="0" i="0" u="none" strike="noStrike" kern="1200" cap="none" spc="0" normalizeH="0" baseline="0" noProof="0" dirty="0">
                <a:ln>
                  <a:noFill/>
                </a:ln>
                <a:solidFill>
                  <a:sysClr val="windowText" lastClr="000000"/>
                </a:solidFill>
                <a:effectLst/>
                <a:uLnTx/>
                <a:uFillTx/>
                <a:latin typeface="Arial"/>
                <a:ea typeface="微软雅黑"/>
                <a:cs typeface="+mn-cs"/>
              </a:rPr>
              <a:t>－ 用每个频繁项集生成高置信度的规则</a:t>
            </a:r>
          </a:p>
          <a:p>
            <a:pPr marL="1295400" marR="0" lvl="2" indent="-381000" algn="l" defTabSz="914400" rtl="0" eaLnBrk="1" fontAlgn="auto" latinLnBrk="0" hangingPunct="1">
              <a:lnSpc>
                <a:spcPct val="150000"/>
              </a:lnSpc>
              <a:spcBef>
                <a:spcPts val="500"/>
              </a:spcBef>
              <a:spcAft>
                <a:spcPts val="0"/>
              </a:spcAft>
              <a:buClrTx/>
              <a:buSzTx/>
              <a:buFont typeface="Arial" panose="020B0604020202020204" pitchFamily="34" charset="0"/>
              <a:buNone/>
              <a:tabLst/>
              <a:defRPr/>
            </a:pPr>
            <a:r>
              <a:rPr kumimoji="0" lang="zh-CN" altLang="en-US" sz="2400" b="0" i="0" u="none" strike="noStrike" kern="1200" cap="none" spc="0" normalizeH="0" baseline="0" noProof="0" dirty="0">
                <a:ln>
                  <a:noFill/>
                </a:ln>
                <a:solidFill>
                  <a:sysClr val="windowText" lastClr="000000"/>
                </a:solidFill>
                <a:effectLst/>
                <a:uLnTx/>
                <a:uFillTx/>
                <a:latin typeface="Arial"/>
                <a:ea typeface="微软雅黑"/>
                <a:cs typeface="+mn-cs"/>
              </a:rPr>
              <a:t>－ 对频繁模式的每次分割（一分为二）就形成一条规则，再判断该规则是否满足最小置信度阈值条件。</a:t>
            </a:r>
            <a:endParaRPr kumimoji="0" lang="en-US" altLang="zh-CN" sz="2800" b="0" i="0" u="none" strike="noStrike" kern="1200" cap="none" spc="0" normalizeH="0" baseline="0" noProof="0" dirty="0">
              <a:ln>
                <a:noFill/>
              </a:ln>
              <a:solidFill>
                <a:sysClr val="windowText" lastClr="000000"/>
              </a:solidFill>
              <a:effectLst/>
              <a:uLnTx/>
              <a:uFillTx/>
              <a:latin typeface="Arial"/>
              <a:ea typeface="微软雅黑"/>
              <a:cs typeface="+mn-cs"/>
            </a:endParaRPr>
          </a:p>
          <a:p>
            <a:pPr marL="533400" marR="0" lvl="0" indent="-5334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800" b="0" i="0" u="none" strike="noStrike" kern="1200" cap="none" spc="0" normalizeH="0" baseline="0" noProof="0" dirty="0">
                <a:ln>
                  <a:noFill/>
                </a:ln>
                <a:solidFill>
                  <a:sysClr val="windowText" lastClr="000000"/>
                </a:solidFill>
                <a:effectLst/>
                <a:uLnTx/>
                <a:uFillTx/>
                <a:latin typeface="Arial"/>
                <a:ea typeface="微软雅黑"/>
                <a:cs typeface="+mn-cs"/>
              </a:rPr>
              <a:t>但是，挖掘频繁模式仍然是一个</a:t>
            </a:r>
            <a:r>
              <a:rPr kumimoji="0" lang="zh-CN" altLang="en-US" sz="28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a:cs typeface="+mn-cs"/>
              </a:rPr>
              <a:t>“</a:t>
            </a:r>
            <a:r>
              <a:rPr kumimoji="0" lang="zh-CN" altLang="en-US" sz="2800" b="0" i="0" u="none" strike="noStrike" kern="1200" cap="none" spc="0" normalizeH="0" baseline="0" noProof="0" dirty="0">
                <a:ln>
                  <a:noFill/>
                </a:ln>
                <a:solidFill>
                  <a:sysClr val="windowText" lastClr="000000"/>
                </a:solidFill>
                <a:effectLst/>
                <a:uLnTx/>
                <a:uFillTx/>
                <a:latin typeface="Arial"/>
                <a:ea typeface="微软雅黑"/>
                <a:cs typeface="+mn-cs"/>
              </a:rPr>
              <a:t>计算昂贵</a:t>
            </a:r>
            <a:r>
              <a:rPr kumimoji="0" lang="zh-CN" altLang="en-US" sz="28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a:cs typeface="+mn-cs"/>
              </a:rPr>
              <a:t>”</a:t>
            </a:r>
            <a:r>
              <a:rPr kumimoji="0" lang="zh-CN" altLang="en-US" sz="2800" b="0" i="0" u="none" strike="noStrike" kern="1200" cap="none" spc="0" normalizeH="0" baseline="0" noProof="0" dirty="0">
                <a:ln>
                  <a:noFill/>
                </a:ln>
                <a:solidFill>
                  <a:sysClr val="windowText" lastClr="000000"/>
                </a:solidFill>
                <a:effectLst/>
                <a:uLnTx/>
                <a:uFillTx/>
                <a:latin typeface="Arial"/>
                <a:ea typeface="微软雅黑"/>
                <a:cs typeface="+mn-cs"/>
              </a:rPr>
              <a:t>的工作。</a:t>
            </a:r>
          </a:p>
        </p:txBody>
      </p:sp>
      <p:sp>
        <p:nvSpPr>
          <p:cNvPr id="15" name="Text Box 8">
            <a:extLst>
              <a:ext uri="{FF2B5EF4-FFF2-40B4-BE49-F238E27FC236}">
                <a16:creationId xmlns:a16="http://schemas.microsoft.com/office/drawing/2014/main" id="{E69143F6-FDF5-7739-F749-E2F3196E4BED}"/>
              </a:ext>
            </a:extLst>
          </p:cNvPr>
          <p:cNvSpPr txBox="1">
            <a:spLocks noChangeArrowheads="1"/>
          </p:cNvSpPr>
          <p:nvPr/>
        </p:nvSpPr>
        <p:spPr bwMode="auto">
          <a:xfrm>
            <a:off x="6888445" y="1843310"/>
            <a:ext cx="257442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457200" eaLnBrk="1" fontAlgn="auto" latinLnBrk="0" hangingPunct="1">
              <a:lnSpc>
                <a:spcPct val="100000"/>
              </a:lnSpc>
              <a:spcBef>
                <a:spcPct val="0"/>
              </a:spcBef>
              <a:spcAft>
                <a:spcPts val="0"/>
              </a:spcAft>
              <a:buClrTx/>
              <a:buSzTx/>
              <a:buFontTx/>
              <a:buNone/>
              <a:tabLst/>
              <a:defRPr/>
            </a:pPr>
            <a:r>
              <a:rPr kumimoji="1" lang="zh-CN" altLang="en-US" sz="2800" b="0" i="0" u="none" strike="noStrike" kern="0" cap="none" spc="0" normalizeH="0" baseline="0" noProof="0" dirty="0">
                <a:ln>
                  <a:noFill/>
                </a:ln>
                <a:solidFill>
                  <a:srgbClr val="0000FF"/>
                </a:solidFill>
                <a:effectLst/>
                <a:uLnTx/>
                <a:uFillTx/>
                <a:latin typeface="Tahoma" panose="020B0604030504040204" pitchFamily="34" charset="0"/>
                <a:ea typeface="宋体" panose="02010600030101010101" pitchFamily="2" charset="-122"/>
              </a:rPr>
              <a:t>关联规则分析的核心</a:t>
            </a:r>
          </a:p>
        </p:txBody>
      </p:sp>
      <p:sp>
        <p:nvSpPr>
          <p:cNvPr id="5" name="矩形 26">
            <a:extLst>
              <a:ext uri="{FF2B5EF4-FFF2-40B4-BE49-F238E27FC236}">
                <a16:creationId xmlns:a16="http://schemas.microsoft.com/office/drawing/2014/main" id="{2437F8C1-B2F1-4346-5061-3CC0DCA3D13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频繁项集</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4329B310-578A-159E-F2AF-BE1F3E90A9D9}"/>
              </a:ext>
            </a:extLst>
          </p:cNvPr>
          <p:cNvSpPr/>
          <p:nvPr/>
        </p:nvSpPr>
        <p:spPr>
          <a:xfrm>
            <a:off x="558040" y="1190656"/>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基本概念</a:t>
            </a:r>
          </a:p>
        </p:txBody>
      </p:sp>
    </p:spTree>
    <p:extLst>
      <p:ext uri="{BB962C8B-B14F-4D97-AF65-F5344CB8AC3E}">
        <p14:creationId xmlns:p14="http://schemas.microsoft.com/office/powerpoint/2010/main" val="7091120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1BF3A-6350-ABF2-DD16-1D38A381A444}"/>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089BA496-6E11-22E2-90F0-BBA4A1148932}"/>
              </a:ext>
            </a:extLst>
          </p:cNvPr>
          <p:cNvSpPr txBox="1"/>
          <p:nvPr/>
        </p:nvSpPr>
        <p:spPr>
          <a:xfrm>
            <a:off x="995423" y="1346444"/>
            <a:ext cx="9414085" cy="2180662"/>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sym typeface="Symbol" panose="05050102010706020507" pitchFamily="18" charset="2"/>
              </a:rPr>
              <a:t> 频繁项集的生成与存储挑战</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事务数据库中频繁项集的数量由事务数据库本身的大小、特点，以及</a:t>
            </a:r>
            <a:r>
              <a:rPr kumimoji="1" lang="en-US" altLang="zh-CN" sz="2000" i="1"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min</a:t>
            </a:r>
            <a:r>
              <a:rPr kumimoji="1" lang="en-US" altLang="zh-CN" sz="2000"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_</a:t>
            </a:r>
            <a:r>
              <a:rPr kumimoji="1" lang="en-US" altLang="zh-CN" sz="2000" i="1"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sup</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决定。</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000" i="1"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min</a:t>
            </a:r>
            <a:r>
              <a:rPr kumimoji="1" lang="en-US" altLang="zh-CN" sz="2000"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_</a:t>
            </a:r>
            <a:r>
              <a:rPr kumimoji="1" lang="en-US" altLang="zh-CN" sz="2000" i="1"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sup</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较小、事务数据库的规模较大、或是事务长度普遍较长时，会产生大量的频繁项集，造成过高的计算成本与时间成本，导致算法性能下降。</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 name="图片 5">
            <a:extLst>
              <a:ext uri="{FF2B5EF4-FFF2-40B4-BE49-F238E27FC236}">
                <a16:creationId xmlns:a16="http://schemas.microsoft.com/office/drawing/2014/main" id="{8B9829F0-43A6-6B37-A6F5-2D5CA5D83369}"/>
              </a:ext>
            </a:extLst>
          </p:cNvPr>
          <p:cNvPicPr>
            <a:picLocks noChangeAspect="1"/>
          </p:cNvPicPr>
          <p:nvPr/>
        </p:nvPicPr>
        <p:blipFill>
          <a:blip r:embed="rId3"/>
          <a:srcRect t="2716" r="540"/>
          <a:stretch/>
        </p:blipFill>
        <p:spPr>
          <a:xfrm>
            <a:off x="1460352" y="3633214"/>
            <a:ext cx="8701303" cy="2418801"/>
          </a:xfrm>
          <a:prstGeom prst="rect">
            <a:avLst/>
          </a:prstGeom>
        </p:spPr>
      </p:pic>
      <p:sp>
        <p:nvSpPr>
          <p:cNvPr id="5" name="矩形 26">
            <a:extLst>
              <a:ext uri="{FF2B5EF4-FFF2-40B4-BE49-F238E27FC236}">
                <a16:creationId xmlns:a16="http://schemas.microsoft.com/office/drawing/2014/main" id="{2B15F17D-E61A-A66A-83F9-24AC8E98801E}"/>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闭频繁项集和极大频繁项集</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1782334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E73BA-1AD8-DC02-C1F8-95BB99F28CD2}"/>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61ECE6EC-06EC-5F92-193C-C64BF32C262F}"/>
              </a:ext>
            </a:extLst>
          </p:cNvPr>
          <p:cNvSpPr txBox="1"/>
          <p:nvPr/>
        </p:nvSpPr>
        <p:spPr>
          <a:xfrm>
            <a:off x="1238271" y="1218158"/>
            <a:ext cx="9414085" cy="4889095"/>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sym typeface="Symbol" panose="05050102010706020507" pitchFamily="18" charset="2"/>
              </a:rPr>
              <a:t> 频繁项集的紧凑表示</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b="1" kern="0" dirty="0">
                <a:solidFill>
                  <a:srgbClr val="0245AD"/>
                </a:solidFill>
                <a:latin typeface="Times New Roman" panose="02020603050405020304" pitchFamily="18" charset="0"/>
                <a:ea typeface="微软雅黑" panose="020B0503020204020204" pitchFamily="34" charset="-122"/>
                <a:cs typeface="Times New Roman" panose="02020603050405020304" pitchFamily="18" charset="0"/>
              </a:rPr>
              <a:t>小的</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000" b="1" kern="0" dirty="0">
                <a:solidFill>
                  <a:srgbClr val="0245AD"/>
                </a:solidFill>
                <a:latin typeface="Times New Roman" panose="02020603050405020304" pitchFamily="18" charset="0"/>
                <a:ea typeface="微软雅黑" panose="020B0503020204020204" pitchFamily="34" charset="-122"/>
                <a:cs typeface="Times New Roman" panose="02020603050405020304" pitchFamily="18" charset="0"/>
              </a:rPr>
              <a:t>有代表性的</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000" b="1" kern="0" dirty="0">
                <a:solidFill>
                  <a:srgbClr val="0245AD"/>
                </a:solidFill>
                <a:latin typeface="Times New Roman" panose="02020603050405020304" pitchFamily="18" charset="0"/>
                <a:ea typeface="微软雅黑" panose="020B0503020204020204" pitchFamily="34" charset="-122"/>
                <a:cs typeface="Times New Roman" panose="02020603050405020304" pitchFamily="18" charset="0"/>
              </a:rPr>
              <a:t>能推导出其他所有频繁项集</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，从而解决存储、挖掘大规模频繁项集的困难。</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b="1" kern="0" dirty="0">
                <a:solidFill>
                  <a:srgbClr val="0245AD"/>
                </a:solidFill>
                <a:latin typeface="Times New Roman" panose="02020603050405020304" pitchFamily="18" charset="0"/>
                <a:ea typeface="微软雅黑" panose="020B0503020204020204" pitchFamily="34" charset="-122"/>
                <a:cs typeface="Times New Roman" panose="02020603050405020304" pitchFamily="18" charset="0"/>
              </a:rPr>
              <a:t>闭频繁项集</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和</a:t>
            </a:r>
            <a:r>
              <a:rPr kumimoji="1" lang="zh-CN" altLang="en-US" sz="2000" b="1" kern="0" dirty="0">
                <a:solidFill>
                  <a:srgbClr val="0245AD"/>
                </a:solidFill>
                <a:latin typeface="Times New Roman" panose="02020603050405020304" pitchFamily="18" charset="0"/>
                <a:ea typeface="微软雅黑" panose="020B0503020204020204" pitchFamily="34" charset="-122"/>
                <a:cs typeface="Times New Roman" panose="02020603050405020304" pitchFamily="18" charset="0"/>
              </a:rPr>
              <a:t>极大频繁项集</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是两种频繁项集的紧凑表示。</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fontAlgn="base">
              <a:lnSpc>
                <a:spcPct val="125000"/>
              </a:lnSpc>
              <a:spcBef>
                <a:spcPct val="0"/>
              </a:spcBef>
              <a:spcAft>
                <a:spcPct val="0"/>
              </a:spcAft>
              <a:buFont typeface="Wingdings" panose="05000000000000000000" pitchFamily="2" charset="2"/>
              <a:buChar char="p"/>
              <a:defRPr/>
            </a:pPr>
            <a:r>
              <a:rPr lang="zh-CN" altLang="en-US" sz="2400" b="1" dirty="0">
                <a:solidFill>
                  <a:srgbClr val="0245AD"/>
                </a:solidFill>
                <a:latin typeface="微软雅黑" pitchFamily="34" charset="-122"/>
                <a:ea typeface="微软雅黑" pitchFamily="34" charset="-122"/>
                <a:cs typeface="+mj-cs"/>
              </a:rPr>
              <a:t> 闭项集（</a:t>
            </a:r>
            <a:r>
              <a:rPr lang="en-US" altLang="zh-CN" sz="2400" b="1" dirty="0">
                <a:solidFill>
                  <a:srgbClr val="0245AD"/>
                </a:solidFill>
                <a:latin typeface="微软雅黑" pitchFamily="34" charset="-122"/>
                <a:ea typeface="微软雅黑" pitchFamily="34" charset="-122"/>
                <a:cs typeface="+mj-cs"/>
              </a:rPr>
              <a:t>Closed itemset</a:t>
            </a:r>
            <a:r>
              <a:rPr lang="zh-CN" altLang="en-US" sz="2400" b="1" dirty="0">
                <a:solidFill>
                  <a:srgbClr val="0245AD"/>
                </a:solidFill>
                <a:latin typeface="微软雅黑" pitchFamily="34" charset="-122"/>
                <a:ea typeface="微软雅黑" pitchFamily="34" charset="-122"/>
                <a:cs typeface="+mj-cs"/>
              </a:rPr>
              <a:t>）</a:t>
            </a:r>
            <a:endParaRPr lang="en-US" altLang="zh-CN" sz="2400" b="1" dirty="0">
              <a:solidFill>
                <a:srgbClr val="0245AD"/>
              </a:solidFill>
              <a:latin typeface="微软雅黑" pitchFamily="34" charset="-122"/>
              <a:ea typeface="微软雅黑" pitchFamily="34" charset="-122"/>
              <a:cs typeface="+mj-cs"/>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对项集</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，如果不存在项集</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Y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使得          且                        ，则项集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X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在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TDB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中是闭（</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Closed</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的真超项集                        ，                       ，                            ，则  </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1" defTabSz="457200" fontAlgn="auto">
              <a:lnSpc>
                <a:spcPct val="125000"/>
              </a:lnSpc>
              <a:spcBef>
                <a:spcPct val="20000"/>
              </a:spcBef>
              <a:spcAft>
                <a:spcPts val="0"/>
              </a:spcAft>
              <a:buClr>
                <a:srgbClr val="0000FF"/>
              </a:buClr>
              <a:buSzPct val="55000"/>
              <a:tabLst/>
              <a:defRPr/>
            </a:pP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为闭项集；                  存在真超项集                        ，则          非闭。</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1" indent="-285750" fontAlgn="base">
              <a:lnSpc>
                <a:spcPct val="125000"/>
              </a:lnSpc>
              <a:spcBef>
                <a:spcPct val="0"/>
              </a:spcBef>
              <a:spcAft>
                <a:spcPct val="0"/>
              </a:spcAft>
              <a:buClr>
                <a:srgbClr val="0000FF"/>
              </a:buClr>
              <a:buSzPct val="100000"/>
              <a:buFont typeface="Wingdings" panose="05000000000000000000" pitchFamily="2" charset="2"/>
              <a:buChar char="p"/>
              <a:tabLst/>
              <a:defRPr/>
            </a:pPr>
            <a:r>
              <a:rPr lang="zh-CN" altLang="en-US" sz="2400" b="1" dirty="0">
                <a:solidFill>
                  <a:srgbClr val="0245AD"/>
                </a:solidFill>
                <a:latin typeface="微软雅黑" pitchFamily="34" charset="-122"/>
                <a:ea typeface="微软雅黑" pitchFamily="34" charset="-122"/>
                <a:cs typeface="+mj-cs"/>
              </a:rPr>
              <a:t> 闭频繁项集</a:t>
            </a:r>
            <a:endParaRPr lang="en-US" altLang="zh-CN" sz="2400" b="1" dirty="0">
              <a:solidFill>
                <a:srgbClr val="0245AD"/>
              </a:solidFill>
              <a:latin typeface="微软雅黑" pitchFamily="34" charset="-122"/>
              <a:ea typeface="微软雅黑" pitchFamily="34" charset="-122"/>
              <a:cs typeface="+mj-cs"/>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如果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在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TDB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中是闭的和频繁的，则项集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X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是闭频繁项集。</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8" name="对象 7">
            <a:extLst>
              <a:ext uri="{FF2B5EF4-FFF2-40B4-BE49-F238E27FC236}">
                <a16:creationId xmlns:a16="http://schemas.microsoft.com/office/drawing/2014/main" id="{DEFA7C56-2DA0-A333-1715-61DA72A90821}"/>
              </a:ext>
            </a:extLst>
          </p:cNvPr>
          <p:cNvGraphicFramePr>
            <a:graphicFrameLocks noChangeAspect="1"/>
          </p:cNvGraphicFramePr>
          <p:nvPr>
            <p:extLst>
              <p:ext uri="{D42A27DB-BD31-4B8C-83A1-F6EECF244321}">
                <p14:modId xmlns:p14="http://schemas.microsoft.com/office/powerpoint/2010/main" val="1530730507"/>
              </p:ext>
            </p:extLst>
          </p:nvPr>
        </p:nvGraphicFramePr>
        <p:xfrm>
          <a:off x="5691594" y="3577287"/>
          <a:ext cx="703772" cy="269530"/>
        </p:xfrm>
        <a:graphic>
          <a:graphicData uri="http://schemas.openxmlformats.org/presentationml/2006/ole">
            <mc:AlternateContent xmlns:mc="http://schemas.openxmlformats.org/markup-compatibility/2006">
              <mc:Choice xmlns:v="urn:schemas-microsoft-com:vml" Requires="v">
                <p:oleObj name="Equation" r:id="rId3" imgW="447783" imgH="171342" progId="Equation.DSMT4">
                  <p:embed/>
                </p:oleObj>
              </mc:Choice>
              <mc:Fallback>
                <p:oleObj name="Equation" r:id="rId3" imgW="447783" imgH="171342" progId="Equation.DSMT4">
                  <p:embed/>
                  <p:pic>
                    <p:nvPicPr>
                      <p:cNvPr id="0" name=""/>
                      <p:cNvPicPr/>
                      <p:nvPr/>
                    </p:nvPicPr>
                    <p:blipFill>
                      <a:blip r:embed="rId4"/>
                      <a:stretch>
                        <a:fillRect/>
                      </a:stretch>
                    </p:blipFill>
                    <p:spPr>
                      <a:xfrm>
                        <a:off x="5691594" y="3577287"/>
                        <a:ext cx="703772" cy="26953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318E111F-8A41-8F85-EA40-9458EB002748}"/>
              </a:ext>
            </a:extLst>
          </p:cNvPr>
          <p:cNvGraphicFramePr>
            <a:graphicFrameLocks noChangeAspect="1"/>
          </p:cNvGraphicFramePr>
          <p:nvPr>
            <p:extLst>
              <p:ext uri="{D42A27DB-BD31-4B8C-83A1-F6EECF244321}">
                <p14:modId xmlns:p14="http://schemas.microsoft.com/office/powerpoint/2010/main" val="847908807"/>
              </p:ext>
            </p:extLst>
          </p:nvPr>
        </p:nvGraphicFramePr>
        <p:xfrm>
          <a:off x="6653513" y="3573974"/>
          <a:ext cx="1553818" cy="291341"/>
        </p:xfrm>
        <a:graphic>
          <a:graphicData uri="http://schemas.openxmlformats.org/presentationml/2006/ole">
            <mc:AlternateContent xmlns:mc="http://schemas.openxmlformats.org/markup-compatibility/2006">
              <mc:Choice xmlns:v="urn:schemas-microsoft-com:vml" Requires="v">
                <p:oleObj name="Equation" r:id="rId5" imgW="1066545" imgH="200139" progId="Equation.DSMT4">
                  <p:embed/>
                </p:oleObj>
              </mc:Choice>
              <mc:Fallback>
                <p:oleObj name="Equation" r:id="rId5" imgW="1066545" imgH="200139" progId="Equation.DSMT4">
                  <p:embed/>
                  <p:pic>
                    <p:nvPicPr>
                      <p:cNvPr id="0" name=""/>
                      <p:cNvPicPr/>
                      <p:nvPr/>
                    </p:nvPicPr>
                    <p:blipFill>
                      <a:blip r:embed="rId6"/>
                      <a:stretch>
                        <a:fillRect/>
                      </a:stretch>
                    </p:blipFill>
                    <p:spPr>
                      <a:xfrm>
                        <a:off x="6653513" y="3573974"/>
                        <a:ext cx="1553818" cy="291341"/>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A22E0650-2EEA-6D9F-EA5D-F1787C9595B4}"/>
              </a:ext>
            </a:extLst>
          </p:cNvPr>
          <p:cNvGraphicFramePr>
            <a:graphicFrameLocks noChangeAspect="1"/>
          </p:cNvGraphicFramePr>
          <p:nvPr>
            <p:extLst>
              <p:ext uri="{D42A27DB-BD31-4B8C-83A1-F6EECF244321}">
                <p14:modId xmlns:p14="http://schemas.microsoft.com/office/powerpoint/2010/main" val="4124110377"/>
              </p:ext>
            </p:extLst>
          </p:nvPr>
        </p:nvGraphicFramePr>
        <p:xfrm>
          <a:off x="2017115" y="4398306"/>
          <a:ext cx="1420679" cy="350785"/>
        </p:xfrm>
        <a:graphic>
          <a:graphicData uri="http://schemas.openxmlformats.org/presentationml/2006/ole">
            <mc:AlternateContent xmlns:mc="http://schemas.openxmlformats.org/markup-compatibility/2006">
              <mc:Choice xmlns:v="urn:schemas-microsoft-com:vml" Requires="v">
                <p:oleObj name="Equation" r:id="rId7" imgW="771382" imgH="190420" progId="Equation.DSMT4">
                  <p:embed/>
                </p:oleObj>
              </mc:Choice>
              <mc:Fallback>
                <p:oleObj name="Equation" r:id="rId7" imgW="771382" imgH="190420" progId="Equation.DSMT4">
                  <p:embed/>
                  <p:pic>
                    <p:nvPicPr>
                      <p:cNvPr id="0" name=""/>
                      <p:cNvPicPr/>
                      <p:nvPr/>
                    </p:nvPicPr>
                    <p:blipFill>
                      <a:blip r:embed="rId8"/>
                      <a:stretch>
                        <a:fillRect/>
                      </a:stretch>
                    </p:blipFill>
                    <p:spPr>
                      <a:xfrm>
                        <a:off x="2017115" y="4398306"/>
                        <a:ext cx="1420679" cy="350785"/>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A3B42547-8855-D147-F03A-1B024CCC0ECD}"/>
              </a:ext>
            </a:extLst>
          </p:cNvPr>
          <p:cNvGraphicFramePr>
            <a:graphicFrameLocks noChangeAspect="1"/>
          </p:cNvGraphicFramePr>
          <p:nvPr>
            <p:extLst>
              <p:ext uri="{D42A27DB-BD31-4B8C-83A1-F6EECF244321}">
                <p14:modId xmlns:p14="http://schemas.microsoft.com/office/powerpoint/2010/main" val="1865507018"/>
              </p:ext>
            </p:extLst>
          </p:nvPr>
        </p:nvGraphicFramePr>
        <p:xfrm>
          <a:off x="4750395" y="4392472"/>
          <a:ext cx="1543454" cy="350785"/>
        </p:xfrm>
        <a:graphic>
          <a:graphicData uri="http://schemas.openxmlformats.org/presentationml/2006/ole">
            <mc:AlternateContent xmlns:mc="http://schemas.openxmlformats.org/markup-compatibility/2006">
              <mc:Choice xmlns:v="urn:schemas-microsoft-com:vml" Requires="v">
                <p:oleObj name="Equation" r:id="rId9" imgW="837974" imgH="190420" progId="Equation.DSMT4">
                  <p:embed/>
                </p:oleObj>
              </mc:Choice>
              <mc:Fallback>
                <p:oleObj name="Equation" r:id="rId9" imgW="837974" imgH="190420" progId="Equation.DSMT4">
                  <p:embed/>
                  <p:pic>
                    <p:nvPicPr>
                      <p:cNvPr id="0" name=""/>
                      <p:cNvPicPr/>
                      <p:nvPr/>
                    </p:nvPicPr>
                    <p:blipFill>
                      <a:blip r:embed="rId10"/>
                      <a:stretch>
                        <a:fillRect/>
                      </a:stretch>
                    </p:blipFill>
                    <p:spPr>
                      <a:xfrm>
                        <a:off x="4750395" y="4392472"/>
                        <a:ext cx="1543454" cy="350785"/>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7F134246-E64B-8125-AD84-8DE64E8E01C4}"/>
              </a:ext>
            </a:extLst>
          </p:cNvPr>
          <p:cNvGraphicFramePr>
            <a:graphicFrameLocks noChangeAspect="1"/>
          </p:cNvGraphicFramePr>
          <p:nvPr>
            <p:extLst>
              <p:ext uri="{D42A27DB-BD31-4B8C-83A1-F6EECF244321}">
                <p14:modId xmlns:p14="http://schemas.microsoft.com/office/powerpoint/2010/main" val="2962057851"/>
              </p:ext>
            </p:extLst>
          </p:nvPr>
        </p:nvGraphicFramePr>
        <p:xfrm>
          <a:off x="6309193" y="4379744"/>
          <a:ext cx="1701309" cy="350786"/>
        </p:xfrm>
        <a:graphic>
          <a:graphicData uri="http://schemas.openxmlformats.org/presentationml/2006/ole">
            <mc:AlternateContent xmlns:mc="http://schemas.openxmlformats.org/markup-compatibility/2006">
              <mc:Choice xmlns:v="urn:schemas-microsoft-com:vml" Requires="v">
                <p:oleObj name="Equation" r:id="rId11" imgW="923643" imgH="190420" progId="Equation.DSMT4">
                  <p:embed/>
                </p:oleObj>
              </mc:Choice>
              <mc:Fallback>
                <p:oleObj name="Equation" r:id="rId11" imgW="923643" imgH="190420" progId="Equation.DSMT4">
                  <p:embed/>
                  <p:pic>
                    <p:nvPicPr>
                      <p:cNvPr id="0" name=""/>
                      <p:cNvPicPr/>
                      <p:nvPr/>
                    </p:nvPicPr>
                    <p:blipFill>
                      <a:blip r:embed="rId12"/>
                      <a:stretch>
                        <a:fillRect/>
                      </a:stretch>
                    </p:blipFill>
                    <p:spPr>
                      <a:xfrm>
                        <a:off x="6309193" y="4379744"/>
                        <a:ext cx="1701309" cy="350786"/>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AA562A68-16ED-DF77-6A61-A3634DA1052A}"/>
              </a:ext>
            </a:extLst>
          </p:cNvPr>
          <p:cNvGraphicFramePr>
            <a:graphicFrameLocks noChangeAspect="1"/>
          </p:cNvGraphicFramePr>
          <p:nvPr>
            <p:extLst>
              <p:ext uri="{D42A27DB-BD31-4B8C-83A1-F6EECF244321}">
                <p14:modId xmlns:p14="http://schemas.microsoft.com/office/powerpoint/2010/main" val="1966660505"/>
              </p:ext>
            </p:extLst>
          </p:nvPr>
        </p:nvGraphicFramePr>
        <p:xfrm>
          <a:off x="8056884" y="4379744"/>
          <a:ext cx="1964397" cy="350785"/>
        </p:xfrm>
        <a:graphic>
          <a:graphicData uri="http://schemas.openxmlformats.org/presentationml/2006/ole">
            <mc:AlternateContent xmlns:mc="http://schemas.openxmlformats.org/markup-compatibility/2006">
              <mc:Choice xmlns:v="urn:schemas-microsoft-com:vml" Requires="v">
                <p:oleObj name="Equation" r:id="rId13" imgW="1066545" imgH="190420" progId="Equation.DSMT4">
                  <p:embed/>
                </p:oleObj>
              </mc:Choice>
              <mc:Fallback>
                <p:oleObj name="Equation" r:id="rId13" imgW="1066545" imgH="190420" progId="Equation.DSMT4">
                  <p:embed/>
                  <p:pic>
                    <p:nvPicPr>
                      <p:cNvPr id="0" name=""/>
                      <p:cNvPicPr/>
                      <p:nvPr/>
                    </p:nvPicPr>
                    <p:blipFill>
                      <a:blip r:embed="rId14"/>
                      <a:stretch>
                        <a:fillRect/>
                      </a:stretch>
                    </p:blipFill>
                    <p:spPr>
                      <a:xfrm>
                        <a:off x="8056884" y="4379744"/>
                        <a:ext cx="1964397" cy="350785"/>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3F969693-12BE-AB81-5D74-263DA06C353D}"/>
              </a:ext>
            </a:extLst>
          </p:cNvPr>
          <p:cNvGraphicFramePr>
            <a:graphicFrameLocks noChangeAspect="1"/>
          </p:cNvGraphicFramePr>
          <p:nvPr>
            <p:extLst>
              <p:ext uri="{D42A27DB-BD31-4B8C-83A1-F6EECF244321}">
                <p14:modId xmlns:p14="http://schemas.microsoft.com/office/powerpoint/2010/main" val="2539888554"/>
              </p:ext>
            </p:extLst>
          </p:nvPr>
        </p:nvGraphicFramePr>
        <p:xfrm>
          <a:off x="3816582" y="4823247"/>
          <a:ext cx="1222375" cy="331788"/>
        </p:xfrm>
        <a:graphic>
          <a:graphicData uri="http://schemas.openxmlformats.org/presentationml/2006/ole">
            <mc:AlternateContent xmlns:mc="http://schemas.openxmlformats.org/markup-compatibility/2006">
              <mc:Choice xmlns:v="urn:schemas-microsoft-com:vml" Requires="v">
                <p:oleObj name="Equation" r:id="rId15" imgW="698400" imgH="190440" progId="Equation.DSMT4">
                  <p:embed/>
                </p:oleObj>
              </mc:Choice>
              <mc:Fallback>
                <p:oleObj name="Equation" r:id="rId15" imgW="698400" imgH="190440" progId="Equation.DSMT4">
                  <p:embed/>
                  <p:pic>
                    <p:nvPicPr>
                      <p:cNvPr id="0" name=""/>
                      <p:cNvPicPr/>
                      <p:nvPr/>
                    </p:nvPicPr>
                    <p:blipFill>
                      <a:blip r:embed="rId16"/>
                      <a:stretch>
                        <a:fillRect/>
                      </a:stretch>
                    </p:blipFill>
                    <p:spPr>
                      <a:xfrm>
                        <a:off x="3816582" y="4823247"/>
                        <a:ext cx="1222375" cy="331788"/>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667E4C2D-32E9-C3C0-DF27-F4C54B1F83F1}"/>
              </a:ext>
            </a:extLst>
          </p:cNvPr>
          <p:cNvGraphicFramePr>
            <a:graphicFrameLocks noChangeAspect="1"/>
          </p:cNvGraphicFramePr>
          <p:nvPr>
            <p:extLst>
              <p:ext uri="{D42A27DB-BD31-4B8C-83A1-F6EECF244321}">
                <p14:modId xmlns:p14="http://schemas.microsoft.com/office/powerpoint/2010/main" val="466615771"/>
              </p:ext>
            </p:extLst>
          </p:nvPr>
        </p:nvGraphicFramePr>
        <p:xfrm>
          <a:off x="6653513" y="4819689"/>
          <a:ext cx="1482697" cy="333190"/>
        </p:xfrm>
        <a:graphic>
          <a:graphicData uri="http://schemas.openxmlformats.org/presentationml/2006/ole">
            <mc:AlternateContent xmlns:mc="http://schemas.openxmlformats.org/markup-compatibility/2006">
              <mc:Choice xmlns:v="urn:schemas-microsoft-com:vml" Requires="v">
                <p:oleObj name="Equation" r:id="rId17" imgW="847692" imgH="190420" progId="Equation.DSMT4">
                  <p:embed/>
                </p:oleObj>
              </mc:Choice>
              <mc:Fallback>
                <p:oleObj name="Equation" r:id="rId17" imgW="847692" imgH="190420" progId="Equation.DSMT4">
                  <p:embed/>
                  <p:pic>
                    <p:nvPicPr>
                      <p:cNvPr id="0" name=""/>
                      <p:cNvPicPr/>
                      <p:nvPr/>
                    </p:nvPicPr>
                    <p:blipFill>
                      <a:blip r:embed="rId18"/>
                      <a:stretch>
                        <a:fillRect/>
                      </a:stretch>
                    </p:blipFill>
                    <p:spPr>
                      <a:xfrm>
                        <a:off x="6653513" y="4819689"/>
                        <a:ext cx="1482697" cy="333190"/>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A1F3196D-C596-CA3A-7392-12FCE33359AC}"/>
              </a:ext>
            </a:extLst>
          </p:cNvPr>
          <p:cNvGraphicFramePr>
            <a:graphicFrameLocks noChangeAspect="1"/>
          </p:cNvGraphicFramePr>
          <p:nvPr>
            <p:extLst>
              <p:ext uri="{D42A27DB-BD31-4B8C-83A1-F6EECF244321}">
                <p14:modId xmlns:p14="http://schemas.microsoft.com/office/powerpoint/2010/main" val="2810264856"/>
              </p:ext>
            </p:extLst>
          </p:nvPr>
        </p:nvGraphicFramePr>
        <p:xfrm>
          <a:off x="2017115" y="4823247"/>
          <a:ext cx="666380" cy="356990"/>
        </p:xfrm>
        <a:graphic>
          <a:graphicData uri="http://schemas.openxmlformats.org/presentationml/2006/ole">
            <mc:AlternateContent xmlns:mc="http://schemas.openxmlformats.org/markup-compatibility/2006">
              <mc:Choice xmlns:v="urn:schemas-microsoft-com:vml" Requires="v">
                <p:oleObj name="Equation" r:id="rId19" imgW="355320" imgH="190440" progId="Equation.DSMT4">
                  <p:embed/>
                </p:oleObj>
              </mc:Choice>
              <mc:Fallback>
                <p:oleObj name="Equation" r:id="rId19" imgW="355320" imgH="190440" progId="Equation.DSMT4">
                  <p:embed/>
                  <p:pic>
                    <p:nvPicPr>
                      <p:cNvPr id="0" name=""/>
                      <p:cNvPicPr/>
                      <p:nvPr/>
                    </p:nvPicPr>
                    <p:blipFill>
                      <a:blip r:embed="rId20"/>
                      <a:stretch>
                        <a:fillRect/>
                      </a:stretch>
                    </p:blipFill>
                    <p:spPr>
                      <a:xfrm>
                        <a:off x="2017115" y="4823247"/>
                        <a:ext cx="666380" cy="356990"/>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0E129B8C-3891-A6D6-DB48-819F74350D2B}"/>
              </a:ext>
            </a:extLst>
          </p:cNvPr>
          <p:cNvGraphicFramePr>
            <a:graphicFrameLocks noChangeAspect="1"/>
          </p:cNvGraphicFramePr>
          <p:nvPr>
            <p:extLst>
              <p:ext uri="{D42A27DB-BD31-4B8C-83A1-F6EECF244321}">
                <p14:modId xmlns:p14="http://schemas.microsoft.com/office/powerpoint/2010/main" val="2195359396"/>
              </p:ext>
            </p:extLst>
          </p:nvPr>
        </p:nvGraphicFramePr>
        <p:xfrm>
          <a:off x="8640580" y="4826062"/>
          <a:ext cx="666380" cy="333189"/>
        </p:xfrm>
        <a:graphic>
          <a:graphicData uri="http://schemas.openxmlformats.org/presentationml/2006/ole">
            <mc:AlternateContent xmlns:mc="http://schemas.openxmlformats.org/markup-compatibility/2006">
              <mc:Choice xmlns:v="urn:schemas-microsoft-com:vml" Requires="v">
                <p:oleObj name="Equation" r:id="rId21" imgW="498517" imgH="249983" progId="Equation.DSMT4">
                  <p:embed/>
                </p:oleObj>
              </mc:Choice>
              <mc:Fallback>
                <p:oleObj name="Equation" r:id="rId21" imgW="498517" imgH="249983" progId="Equation.DSMT4">
                  <p:embed/>
                  <p:pic>
                    <p:nvPicPr>
                      <p:cNvPr id="0" name=""/>
                      <p:cNvPicPr/>
                      <p:nvPr/>
                    </p:nvPicPr>
                    <p:blipFill>
                      <a:blip r:embed="rId22"/>
                      <a:stretch>
                        <a:fillRect/>
                      </a:stretch>
                    </p:blipFill>
                    <p:spPr>
                      <a:xfrm>
                        <a:off x="8640580" y="4826062"/>
                        <a:ext cx="666380" cy="333189"/>
                      </a:xfrm>
                      <a:prstGeom prst="rect">
                        <a:avLst/>
                      </a:prstGeom>
                    </p:spPr>
                  </p:pic>
                </p:oleObj>
              </mc:Fallback>
            </mc:AlternateContent>
          </a:graphicData>
        </a:graphic>
      </p:graphicFrame>
      <p:sp>
        <p:nvSpPr>
          <p:cNvPr id="5" name="矩形 26">
            <a:extLst>
              <a:ext uri="{FF2B5EF4-FFF2-40B4-BE49-F238E27FC236}">
                <a16:creationId xmlns:a16="http://schemas.microsoft.com/office/drawing/2014/main" id="{B8202582-D9C9-2E54-CA46-6F2B95CD8AAC}"/>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闭频繁项集和极大频繁项集</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146498473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40059-E555-D119-E3C5-CFC2350CCE1D}"/>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D6FFCED0-32C0-1260-A02D-540D1269D81B}"/>
              </a:ext>
            </a:extLst>
          </p:cNvPr>
          <p:cNvSpPr txBox="1"/>
          <p:nvPr/>
        </p:nvSpPr>
        <p:spPr>
          <a:xfrm>
            <a:off x="282964" y="1742067"/>
            <a:ext cx="5076125" cy="1857496"/>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sym typeface="Symbol" panose="05050102010706020507" pitchFamily="18" charset="2"/>
              </a:rPr>
              <a:t> 极大频繁项集</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如果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X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是频繁的，且不存在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Y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使得</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1" defTabSz="457200" fontAlgn="auto">
              <a:lnSpc>
                <a:spcPct val="125000"/>
              </a:lnSpc>
              <a:spcBef>
                <a:spcPct val="20000"/>
              </a:spcBef>
              <a:spcAft>
                <a:spcPts val="0"/>
              </a:spcAft>
              <a:buClr>
                <a:srgbClr val="0000FF"/>
              </a:buClr>
              <a:buSzPct val="55000"/>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且                            ，则项集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X</a:t>
            </a:r>
          </a:p>
          <a:p>
            <a:pPr marR="0" lvl="1" defTabSz="457200" fontAlgn="auto">
              <a:lnSpc>
                <a:spcPct val="125000"/>
              </a:lnSpc>
              <a:spcBef>
                <a:spcPct val="20000"/>
              </a:spcBef>
              <a:spcAft>
                <a:spcPts val="0"/>
              </a:spcAft>
              <a:buClr>
                <a:srgbClr val="0000FF"/>
              </a:buClr>
              <a:buSzPct val="55000"/>
              <a:tabLst/>
              <a:defRPr/>
            </a:pP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是 </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TDB</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中的极大频繁项集。</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5" name="对象 4">
            <a:extLst>
              <a:ext uri="{FF2B5EF4-FFF2-40B4-BE49-F238E27FC236}">
                <a16:creationId xmlns:a16="http://schemas.microsoft.com/office/drawing/2014/main" id="{8C8E328D-7294-B225-B0B5-EE2A9B9DEB24}"/>
              </a:ext>
            </a:extLst>
          </p:cNvPr>
          <p:cNvGraphicFramePr>
            <a:graphicFrameLocks noChangeAspect="1"/>
          </p:cNvGraphicFramePr>
          <p:nvPr>
            <p:extLst>
              <p:ext uri="{D42A27DB-BD31-4B8C-83A1-F6EECF244321}">
                <p14:modId xmlns:p14="http://schemas.microsoft.com/office/powerpoint/2010/main" val="1739570535"/>
              </p:ext>
            </p:extLst>
          </p:nvPr>
        </p:nvGraphicFramePr>
        <p:xfrm>
          <a:off x="1065053" y="2795208"/>
          <a:ext cx="740671" cy="283662"/>
        </p:xfrm>
        <a:graphic>
          <a:graphicData uri="http://schemas.openxmlformats.org/presentationml/2006/ole">
            <mc:AlternateContent xmlns:mc="http://schemas.openxmlformats.org/markup-compatibility/2006">
              <mc:Choice xmlns:v="urn:schemas-microsoft-com:vml" Requires="v">
                <p:oleObj name="Equation" r:id="rId3" imgW="447783" imgH="171342" progId="Equation.DSMT4">
                  <p:embed/>
                </p:oleObj>
              </mc:Choice>
              <mc:Fallback>
                <p:oleObj name="Equation" r:id="rId3" imgW="447783" imgH="171342" progId="Equation.DSMT4">
                  <p:embed/>
                  <p:pic>
                    <p:nvPicPr>
                      <p:cNvPr id="0" name=""/>
                      <p:cNvPicPr/>
                      <p:nvPr/>
                    </p:nvPicPr>
                    <p:blipFill>
                      <a:blip r:embed="rId4"/>
                      <a:stretch>
                        <a:fillRect/>
                      </a:stretch>
                    </p:blipFill>
                    <p:spPr>
                      <a:xfrm>
                        <a:off x="1065053" y="2795208"/>
                        <a:ext cx="740671" cy="283662"/>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3CB2EE37-E75D-F028-3FA1-076A3A735AA8}"/>
              </a:ext>
            </a:extLst>
          </p:cNvPr>
          <p:cNvGraphicFramePr>
            <a:graphicFrameLocks noChangeAspect="1"/>
          </p:cNvGraphicFramePr>
          <p:nvPr>
            <p:extLst>
              <p:ext uri="{D42A27DB-BD31-4B8C-83A1-F6EECF244321}">
                <p14:modId xmlns:p14="http://schemas.microsoft.com/office/powerpoint/2010/main" val="2597464212"/>
              </p:ext>
            </p:extLst>
          </p:nvPr>
        </p:nvGraphicFramePr>
        <p:xfrm>
          <a:off x="2119141" y="2808460"/>
          <a:ext cx="1788836" cy="310459"/>
        </p:xfrm>
        <a:graphic>
          <a:graphicData uri="http://schemas.openxmlformats.org/presentationml/2006/ole">
            <mc:AlternateContent xmlns:mc="http://schemas.openxmlformats.org/markup-compatibility/2006">
              <mc:Choice xmlns:v="urn:schemas-microsoft-com:vml" Requires="v">
                <p:oleObj name="Equation" r:id="rId5" imgW="1152214" imgH="200139" progId="Equation.DSMT4">
                  <p:embed/>
                </p:oleObj>
              </mc:Choice>
              <mc:Fallback>
                <p:oleObj name="Equation" r:id="rId5" imgW="1152214" imgH="200139" progId="Equation.DSMT4">
                  <p:embed/>
                  <p:pic>
                    <p:nvPicPr>
                      <p:cNvPr id="0" name=""/>
                      <p:cNvPicPr/>
                      <p:nvPr/>
                    </p:nvPicPr>
                    <p:blipFill>
                      <a:blip r:embed="rId6"/>
                      <a:stretch>
                        <a:fillRect/>
                      </a:stretch>
                    </p:blipFill>
                    <p:spPr>
                      <a:xfrm>
                        <a:off x="2119141" y="2808460"/>
                        <a:ext cx="1788836" cy="310459"/>
                      </a:xfrm>
                      <a:prstGeom prst="rect">
                        <a:avLst/>
                      </a:prstGeom>
                    </p:spPr>
                  </p:pic>
                </p:oleObj>
              </mc:Fallback>
            </mc:AlternateContent>
          </a:graphicData>
        </a:graphic>
      </p:graphicFrame>
      <p:pic>
        <p:nvPicPr>
          <p:cNvPr id="8" name="图形 11">
            <a:extLst>
              <a:ext uri="{FF2B5EF4-FFF2-40B4-BE49-F238E27FC236}">
                <a16:creationId xmlns:a16="http://schemas.microsoft.com/office/drawing/2014/main" id="{E1896A61-840D-4AB4-6ACA-1706FE4E03E4}"/>
              </a:ext>
            </a:extLst>
          </p:cNvPr>
          <p:cNvPicPr>
            <a:picLocks noChangeAspect="1"/>
          </p:cNvPicPr>
          <p:nvPr/>
        </p:nvPicPr>
        <p:blipFill>
          <a:blip r:embed="rId7">
            <a:extLst>
              <a:ext uri="{96DAC541-7B7A-43D3-8B79-37D633B846F1}">
                <asvg:svgBlip xmlns:asvg="http://schemas.microsoft.com/office/drawing/2016/SVG/main" r:embed="rId8"/>
              </a:ext>
            </a:extLst>
          </a:blip>
          <a:srcRect l="7135" t="30718" r="8320" b="29277"/>
          <a:stretch/>
        </p:blipFill>
        <p:spPr>
          <a:xfrm>
            <a:off x="5390479" y="1427459"/>
            <a:ext cx="6518557" cy="4362690"/>
          </a:xfrm>
          <a:prstGeom prst="rect">
            <a:avLst/>
          </a:prstGeom>
        </p:spPr>
      </p:pic>
      <p:sp>
        <p:nvSpPr>
          <p:cNvPr id="10" name="文本框 9">
            <a:extLst>
              <a:ext uri="{FF2B5EF4-FFF2-40B4-BE49-F238E27FC236}">
                <a16:creationId xmlns:a16="http://schemas.microsoft.com/office/drawing/2014/main" id="{0FE49958-FB8B-7D7A-3957-931FE8417F63}"/>
              </a:ext>
            </a:extLst>
          </p:cNvPr>
          <p:cNvSpPr txBox="1"/>
          <p:nvPr/>
        </p:nvSpPr>
        <p:spPr>
          <a:xfrm>
            <a:off x="657456" y="3592349"/>
            <a:ext cx="4508461" cy="212070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有且仅有一个真超项集</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，且</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不是频繁项集，因此频繁项集</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为极大频繁项集；</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频繁项集</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存在真超项集</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为频繁项集，因此</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不是极大频繁项集。</a:t>
            </a:r>
          </a:p>
        </p:txBody>
      </p:sp>
      <p:sp>
        <p:nvSpPr>
          <p:cNvPr id="9" name="矩形 26">
            <a:extLst>
              <a:ext uri="{FF2B5EF4-FFF2-40B4-BE49-F238E27FC236}">
                <a16:creationId xmlns:a16="http://schemas.microsoft.com/office/drawing/2014/main" id="{E7D9E783-AA40-FFB1-1D9F-956674CA2A9E}"/>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闭频繁项集和极大频繁项集</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333017021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FEBBA-F094-D243-072C-9931036F2E35}"/>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771CB369-3F04-E8EC-32D3-01EDCA7E2B8E}"/>
              </a:ext>
            </a:extLst>
          </p:cNvPr>
          <p:cNvSpPr txBox="1"/>
          <p:nvPr/>
        </p:nvSpPr>
        <p:spPr>
          <a:xfrm>
            <a:off x="796640" y="1184414"/>
            <a:ext cx="10429461" cy="511807"/>
          </a:xfrm>
          <a:prstGeom prst="rect">
            <a:avLst/>
          </a:prstGeom>
          <a:noFill/>
        </p:spPr>
        <p:txBody>
          <a:bodyPr wrap="square">
            <a:spAutoFit/>
          </a:bodyPr>
          <a:lstStyle/>
          <a:p>
            <a:pPr marL="285750" indent="-285750" fontAlgn="base">
              <a:lnSpc>
                <a:spcPct val="125000"/>
              </a:lnSpc>
              <a:spcBef>
                <a:spcPct val="0"/>
              </a:spcBef>
              <a:spcAft>
                <a:spcPct val="0"/>
              </a:spcAft>
              <a:buFont typeface="Wingdings" panose="05000000000000000000" pitchFamily="2" charset="2"/>
              <a:buChar char="p"/>
            </a:pPr>
            <a:r>
              <a:rPr lang="zh-CN" altLang="en-US" sz="2400" b="1" dirty="0">
                <a:solidFill>
                  <a:srgbClr val="0245AD"/>
                </a:solidFill>
                <a:latin typeface="微软雅黑" pitchFamily="34" charset="-122"/>
                <a:ea typeface="微软雅黑" pitchFamily="34" charset="-122"/>
                <a:cs typeface="+mj-cs"/>
              </a:rPr>
              <a:t>为何闭频繁项集的集合和它的支持度计数信息能导出频繁项集的完整信息？</a:t>
            </a:r>
          </a:p>
        </p:txBody>
      </p:sp>
      <p:pic>
        <p:nvPicPr>
          <p:cNvPr id="12" name="图片 11">
            <a:extLst>
              <a:ext uri="{FF2B5EF4-FFF2-40B4-BE49-F238E27FC236}">
                <a16:creationId xmlns:a16="http://schemas.microsoft.com/office/drawing/2014/main" id="{58B7057D-E9D5-07BE-4AA3-24EAF4CC3CB2}"/>
              </a:ext>
            </a:extLst>
          </p:cNvPr>
          <p:cNvPicPr>
            <a:picLocks noChangeAspect="1"/>
          </p:cNvPicPr>
          <p:nvPr/>
        </p:nvPicPr>
        <p:blipFill>
          <a:blip r:embed="rId3"/>
          <a:srcRect t="1660"/>
          <a:stretch/>
        </p:blipFill>
        <p:spPr>
          <a:xfrm>
            <a:off x="1945168" y="1767843"/>
            <a:ext cx="8227266" cy="4001852"/>
          </a:xfrm>
          <a:prstGeom prst="rect">
            <a:avLst/>
          </a:prstGeom>
        </p:spPr>
      </p:pic>
      <p:sp>
        <p:nvSpPr>
          <p:cNvPr id="13" name="文本框 12">
            <a:extLst>
              <a:ext uri="{FF2B5EF4-FFF2-40B4-BE49-F238E27FC236}">
                <a16:creationId xmlns:a16="http://schemas.microsoft.com/office/drawing/2014/main" id="{7CF347A3-697B-ED3E-1D96-1D2E9FD70083}"/>
              </a:ext>
            </a:extLst>
          </p:cNvPr>
          <p:cNvSpPr txBox="1"/>
          <p:nvPr/>
        </p:nvSpPr>
        <p:spPr>
          <a:xfrm>
            <a:off x="995423" y="5769695"/>
            <a:ext cx="10429461" cy="511807"/>
          </a:xfrm>
          <a:prstGeom prst="rect">
            <a:avLst/>
          </a:prstGeom>
          <a:noFill/>
        </p:spPr>
        <p:txBody>
          <a:bodyPr wrap="square">
            <a:spAutoFit/>
          </a:bodyPr>
          <a:lstStyle/>
          <a:p>
            <a:pPr fontAlgn="base">
              <a:lnSpc>
                <a:spcPct val="125000"/>
              </a:lnSpc>
              <a:spcBef>
                <a:spcPct val="0"/>
              </a:spcBef>
              <a:spcAft>
                <a:spcPct val="0"/>
              </a:spcAft>
            </a:pPr>
            <a:r>
              <a:rPr lang="zh-CN" altLang="en-US" sz="2400" dirty="0">
                <a:latin typeface="微软雅黑" pitchFamily="34" charset="-122"/>
                <a:ea typeface="微软雅黑" pitchFamily="34" charset="-122"/>
                <a:cs typeface="+mj-cs"/>
              </a:rPr>
              <a:t>极大频繁项集能导出所有频繁项集，但不包含完整的频繁项集支持度信息</a:t>
            </a:r>
          </a:p>
        </p:txBody>
      </p:sp>
      <p:sp>
        <p:nvSpPr>
          <p:cNvPr id="2" name="矩形 26">
            <a:extLst>
              <a:ext uri="{FF2B5EF4-FFF2-40B4-BE49-F238E27FC236}">
                <a16:creationId xmlns:a16="http://schemas.microsoft.com/office/drawing/2014/main" id="{8D6DE895-4EF1-516C-74A6-98B797147C19}"/>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闭频繁项集和极大频繁项集</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7688787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50672-CAD4-1926-E5D0-7B5D3D3C08F3}"/>
            </a:ext>
          </a:extLst>
        </p:cNvPr>
        <p:cNvGrpSpPr/>
        <p:nvPr/>
      </p:nvGrpSpPr>
      <p:grpSpPr>
        <a:xfrm>
          <a:off x="0" y="0"/>
          <a:ext cx="0" cy="0"/>
          <a:chOff x="0" y="0"/>
          <a:chExt cx="0" cy="0"/>
        </a:xfrm>
      </p:grpSpPr>
      <p:sp>
        <p:nvSpPr>
          <p:cNvPr id="26" name="矩形 25">
            <a:extLst>
              <a:ext uri="{FF2B5EF4-FFF2-40B4-BE49-F238E27FC236}">
                <a16:creationId xmlns:a16="http://schemas.microsoft.com/office/drawing/2014/main" id="{68102BA1-D620-7820-D7B5-76C4D2ED759A}"/>
              </a:ext>
            </a:extLst>
          </p:cNvPr>
          <p:cNvSpPr/>
          <p:nvPr/>
        </p:nvSpPr>
        <p:spPr>
          <a:xfrm>
            <a:off x="5519873" y="1528001"/>
            <a:ext cx="6352410" cy="4425488"/>
          </a:xfrm>
          <a:prstGeom prst="rect">
            <a:avLst/>
          </a:prstGeom>
          <a:solidFill>
            <a:schemeClr val="bg1"/>
          </a:solidFill>
          <a:ln w="3175">
            <a:solidFill>
              <a:srgbClr val="0444AE"/>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dirty="0">
              <a:solidFill>
                <a:schemeClr val="tx1"/>
              </a:solidFill>
            </a:endParaRPr>
          </a:p>
        </p:txBody>
      </p:sp>
      <p:graphicFrame>
        <p:nvGraphicFramePr>
          <p:cNvPr id="7" name="表格 6">
            <a:extLst>
              <a:ext uri="{FF2B5EF4-FFF2-40B4-BE49-F238E27FC236}">
                <a16:creationId xmlns:a16="http://schemas.microsoft.com/office/drawing/2014/main" id="{C6F0F662-E5D8-358B-D196-74D69834E194}"/>
              </a:ext>
            </a:extLst>
          </p:cNvPr>
          <p:cNvGraphicFramePr>
            <a:graphicFrameLocks noGrp="1"/>
          </p:cNvGraphicFramePr>
          <p:nvPr>
            <p:extLst>
              <p:ext uri="{D42A27DB-BD31-4B8C-83A1-F6EECF244321}">
                <p14:modId xmlns:p14="http://schemas.microsoft.com/office/powerpoint/2010/main" val="1065977684"/>
              </p:ext>
            </p:extLst>
          </p:nvPr>
        </p:nvGraphicFramePr>
        <p:xfrm>
          <a:off x="344608" y="2378413"/>
          <a:ext cx="4920875" cy="3107248"/>
        </p:xfrm>
        <a:graphic>
          <a:graphicData uri="http://schemas.openxmlformats.org/drawingml/2006/table">
            <a:tbl>
              <a:tblPr firstRow="1" firstCol="1" bandRow="1"/>
              <a:tblGrid>
                <a:gridCol w="1116429">
                  <a:extLst>
                    <a:ext uri="{9D8B030D-6E8A-4147-A177-3AD203B41FA5}">
                      <a16:colId xmlns:a16="http://schemas.microsoft.com/office/drawing/2014/main" val="524383380"/>
                    </a:ext>
                  </a:extLst>
                </a:gridCol>
                <a:gridCol w="1202307">
                  <a:extLst>
                    <a:ext uri="{9D8B030D-6E8A-4147-A177-3AD203B41FA5}">
                      <a16:colId xmlns:a16="http://schemas.microsoft.com/office/drawing/2014/main" val="1520612281"/>
                    </a:ext>
                  </a:extLst>
                </a:gridCol>
                <a:gridCol w="1288188">
                  <a:extLst>
                    <a:ext uri="{9D8B030D-6E8A-4147-A177-3AD203B41FA5}">
                      <a16:colId xmlns:a16="http://schemas.microsoft.com/office/drawing/2014/main" val="4078967951"/>
                    </a:ext>
                  </a:extLst>
                </a:gridCol>
                <a:gridCol w="1313951">
                  <a:extLst>
                    <a:ext uri="{9D8B030D-6E8A-4147-A177-3AD203B41FA5}">
                      <a16:colId xmlns:a16="http://schemas.microsoft.com/office/drawing/2014/main" val="2424075647"/>
                    </a:ext>
                  </a:extLst>
                </a:gridCol>
              </a:tblGrid>
              <a:tr h="385403">
                <a:tc>
                  <a:txBody>
                    <a:bodyPr/>
                    <a:lstStyle/>
                    <a:p>
                      <a:pPr marL="0" marR="0" algn="ctr" defTabSz="914400" rtl="0" eaLnBrk="1" latinLnBrk="0" hangingPunct="1">
                        <a:lnSpc>
                          <a:spcPct val="125000"/>
                        </a:lnSpc>
                      </a:pPr>
                      <a:r>
                        <a:rPr lang="zh-CN" altLang="en-US" sz="2000" b="1" i="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项集</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80"/>
                    </a:solidFill>
                  </a:tcPr>
                </a:tc>
                <a:tc>
                  <a:txBody>
                    <a:bodyPr/>
                    <a:lstStyle/>
                    <a:p>
                      <a:pPr marL="0" marR="0" algn="ctr" defTabSz="914400" rtl="0" eaLnBrk="1" latinLnBrk="0" hangingPunct="1">
                        <a:lnSpc>
                          <a:spcPct val="125000"/>
                        </a:lnSpc>
                      </a:pPr>
                      <a:r>
                        <a:rPr lang="zh-CN" altLang="en-US" sz="2000" b="1" i="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支持度</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80"/>
                    </a:solidFill>
                  </a:tcPr>
                </a:tc>
                <a:tc>
                  <a:txBody>
                    <a:bodyPr/>
                    <a:lstStyle/>
                    <a:p>
                      <a:pPr marL="0" marR="0" algn="ctr" defTabSz="914400" rtl="0" eaLnBrk="1" latinLnBrk="0" hangingPunct="1">
                        <a:lnSpc>
                          <a:spcPct val="125000"/>
                        </a:lnSpc>
                      </a:pPr>
                      <a:r>
                        <a:rPr lang="zh-CN" altLang="en-US" sz="2000" b="1" i="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项集</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80"/>
                    </a:solidFill>
                  </a:tcPr>
                </a:tc>
                <a:tc>
                  <a:txBody>
                    <a:bodyPr/>
                    <a:lstStyle/>
                    <a:p>
                      <a:pPr marL="0" marR="0" algn="ctr" defTabSz="914400" rtl="0" eaLnBrk="1" latinLnBrk="0" hangingPunct="1">
                        <a:lnSpc>
                          <a:spcPct val="125000"/>
                        </a:lnSpc>
                      </a:pPr>
                      <a:r>
                        <a:rPr lang="zh-CN" altLang="en-US" sz="2000" b="1" i="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支持度</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80"/>
                    </a:solidFill>
                  </a:tcPr>
                </a:tc>
                <a:extLst>
                  <a:ext uri="{0D108BD9-81ED-4DB2-BD59-A6C34878D82A}">
                    <a16:rowId xmlns:a16="http://schemas.microsoft.com/office/drawing/2014/main" val="2446530614"/>
                  </a:ext>
                </a:extLst>
              </a:tr>
              <a:tr h="388835">
                <a:tc>
                  <a:txBody>
                    <a:bodyPr/>
                    <a:lstStyle/>
                    <a:p>
                      <a:pPr marL="0" marR="0" algn="ctr">
                        <a:lnSpc>
                          <a:spcPct val="125000"/>
                        </a:lnSpc>
                      </a:pP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2F3"/>
                    </a:solidFill>
                  </a:tcPr>
                </a:tc>
                <a:tc>
                  <a:txBody>
                    <a:bodyPr/>
                    <a:lstStyle/>
                    <a:p>
                      <a:pPr marL="0" marR="0" algn="ctr">
                        <a:lnSpc>
                          <a:spcPct val="125000"/>
                        </a:lnSpc>
                      </a:pPr>
                      <a:r>
                        <a:rPr lang="en-US" sz="20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2F3"/>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37.5%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3499056"/>
                  </a:ext>
                </a:extLst>
              </a:tr>
              <a:tr h="388835">
                <a:tc>
                  <a:txBody>
                    <a:bodyPr/>
                    <a:lstStyle/>
                    <a:p>
                      <a:pPr marL="0" marR="0" algn="ctr">
                        <a:lnSpc>
                          <a:spcPct val="125000"/>
                        </a:lnSpc>
                      </a:pP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2F3"/>
                    </a:solidFill>
                  </a:tcPr>
                </a:tc>
                <a:tc>
                  <a:txBody>
                    <a:bodyPr/>
                    <a:lstStyle/>
                    <a:p>
                      <a:pPr marL="0" marR="0" algn="ctr">
                        <a:lnSpc>
                          <a:spcPct val="125000"/>
                        </a:lnSpc>
                      </a:pP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2F3"/>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12.5%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22556757"/>
                  </a:ext>
                </a:extLst>
              </a:tr>
              <a:tr h="388835">
                <a:tc>
                  <a:txBody>
                    <a:bodyPr/>
                    <a:lstStyle/>
                    <a:p>
                      <a:pPr marL="0" marR="0" algn="ctr">
                        <a:lnSpc>
                          <a:spcPct val="125000"/>
                        </a:lnSpc>
                      </a:pPr>
                      <a:r>
                        <a:rPr lang="en-US" sz="20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4C6E7"/>
                    </a:solidFill>
                  </a:tcPr>
                </a:tc>
                <a:tc>
                  <a:txBody>
                    <a:bodyPr/>
                    <a:lstStyle/>
                    <a:p>
                      <a:pPr marL="0" marR="0" algn="ctr">
                        <a:lnSpc>
                          <a:spcPct val="125000"/>
                        </a:lnSpc>
                      </a:pPr>
                      <a:r>
                        <a:rPr lang="en-US" sz="20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4C6E7"/>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28876839"/>
                  </a:ext>
                </a:extLst>
              </a:tr>
              <a:tr h="388835">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37.5%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5914449"/>
                  </a:ext>
                </a:extLst>
              </a:tr>
              <a:tr h="388835">
                <a:tc>
                  <a:txBody>
                    <a:bodyPr/>
                    <a:lstStyle/>
                    <a:p>
                      <a:pPr marL="0" marR="0" algn="ctr">
                        <a:lnSpc>
                          <a:spcPct val="125000"/>
                        </a:lnSpc>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12.5%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09363260"/>
                  </a:ext>
                </a:extLst>
              </a:tr>
              <a:tr h="388835">
                <a:tc>
                  <a:txBody>
                    <a:bodyPr/>
                    <a:lstStyle/>
                    <a:p>
                      <a:pPr marL="0" marR="0" algn="ctr">
                        <a:lnSpc>
                          <a:spcPct val="125000"/>
                        </a:lnSpc>
                      </a:pPr>
                      <a:r>
                        <a:rPr lang="en-US" sz="20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2F3"/>
                    </a:solidFill>
                  </a:tcPr>
                </a:tc>
                <a:tc>
                  <a:txBody>
                    <a:bodyPr/>
                    <a:lstStyle/>
                    <a:p>
                      <a:pPr marL="0" marR="0" algn="ctr">
                        <a:lnSpc>
                          <a:spcPct val="125000"/>
                        </a:lnSpc>
                      </a:pPr>
                      <a:r>
                        <a:rPr lang="en-US" sz="20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2F3"/>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50895833"/>
                  </a:ext>
                </a:extLst>
              </a:tr>
              <a:tr h="388835">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sz="2000"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25000"/>
                        </a:lnSpc>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12.5%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34723394"/>
                  </a:ext>
                </a:extLst>
              </a:tr>
            </a:tbl>
          </a:graphicData>
        </a:graphic>
      </p:graphicFrame>
      <p:sp>
        <p:nvSpPr>
          <p:cNvPr id="9" name="文本框 8">
            <a:extLst>
              <a:ext uri="{FF2B5EF4-FFF2-40B4-BE49-F238E27FC236}">
                <a16:creationId xmlns:a16="http://schemas.microsoft.com/office/drawing/2014/main" id="{0EB9EE52-26A5-DEF0-8C59-E44EFDB7D138}"/>
              </a:ext>
            </a:extLst>
          </p:cNvPr>
          <p:cNvSpPr txBox="1"/>
          <p:nvPr/>
        </p:nvSpPr>
        <p:spPr>
          <a:xfrm>
            <a:off x="5618587" y="1528001"/>
            <a:ext cx="6151418" cy="4468018"/>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设置</a:t>
            </a:r>
            <a:r>
              <a:rPr lang="en-US" altLang="zh-CN" sz="2400" i="1" dirty="0" err="1">
                <a:latin typeface="Times New Roman" panose="02020603050405020304" pitchFamily="18" charset="0"/>
                <a:ea typeface="微软雅黑" panose="020B0503020204020204" pitchFamily="34" charset="-122"/>
                <a:cs typeface="Times New Roman" panose="02020603050405020304" pitchFamily="18" charset="0"/>
              </a:rPr>
              <a:t>min</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_</a:t>
            </a:r>
            <a:r>
              <a:rPr lang="en-US" altLang="zh-CN" sz="2400" i="1" dirty="0" err="1">
                <a:latin typeface="Times New Roman" panose="02020603050405020304" pitchFamily="18" charset="0"/>
                <a:ea typeface="微软雅黑" panose="020B0503020204020204" pitchFamily="34" charset="-122"/>
                <a:cs typeface="Times New Roman" panose="02020603050405020304" pitchFamily="18" charset="0"/>
              </a:rPr>
              <a:t>conf</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为</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70%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，表中的频繁项集</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存在非空子集</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和 </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，可生成如下关联规则：</a:t>
            </a:r>
          </a:p>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）对     ，</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生成强关联规则                             。</a:t>
            </a:r>
          </a:p>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）对    ，                                  </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生成关联规则                                ，但          非强关联规则。</a:t>
            </a:r>
          </a:p>
        </p:txBody>
      </p:sp>
      <p:graphicFrame>
        <p:nvGraphicFramePr>
          <p:cNvPr id="10" name="对象 9">
            <a:extLst>
              <a:ext uri="{FF2B5EF4-FFF2-40B4-BE49-F238E27FC236}">
                <a16:creationId xmlns:a16="http://schemas.microsoft.com/office/drawing/2014/main" id="{5D4930CB-A2FC-D6B2-496C-C4178DC31BC2}"/>
              </a:ext>
            </a:extLst>
          </p:cNvPr>
          <p:cNvGraphicFramePr>
            <a:graphicFrameLocks noChangeAspect="1"/>
          </p:cNvGraphicFramePr>
          <p:nvPr>
            <p:extLst>
              <p:ext uri="{D42A27DB-BD31-4B8C-83A1-F6EECF244321}">
                <p14:modId xmlns:p14="http://schemas.microsoft.com/office/powerpoint/2010/main" val="1958428676"/>
              </p:ext>
            </p:extLst>
          </p:nvPr>
        </p:nvGraphicFramePr>
        <p:xfrm>
          <a:off x="6450914" y="3353409"/>
          <a:ext cx="416125" cy="349546"/>
        </p:xfrm>
        <a:graphic>
          <a:graphicData uri="http://schemas.openxmlformats.org/presentationml/2006/ole">
            <mc:AlternateContent xmlns:mc="http://schemas.openxmlformats.org/markup-compatibility/2006">
              <mc:Choice xmlns:v="urn:schemas-microsoft-com:vml" Requires="v">
                <p:oleObj name="Equation" r:id="rId3" imgW="237930" imgH="200139" progId="Equation.DSMT4">
                  <p:embed/>
                </p:oleObj>
              </mc:Choice>
              <mc:Fallback>
                <p:oleObj name="Equation" r:id="rId3" imgW="237930" imgH="200139" progId="Equation.DSMT4">
                  <p:embed/>
                  <p:pic>
                    <p:nvPicPr>
                      <p:cNvPr id="10" name="对象 9">
                        <a:extLst>
                          <a:ext uri="{FF2B5EF4-FFF2-40B4-BE49-F238E27FC236}">
                            <a16:creationId xmlns:a16="http://schemas.microsoft.com/office/drawing/2014/main" id="{5D4930CB-A2FC-D6B2-496C-C4178DC31BC2}"/>
                          </a:ext>
                        </a:extLst>
                      </p:cNvPr>
                      <p:cNvPicPr/>
                      <p:nvPr/>
                    </p:nvPicPr>
                    <p:blipFill>
                      <a:blip r:embed="rId4"/>
                      <a:stretch>
                        <a:fillRect/>
                      </a:stretch>
                    </p:blipFill>
                    <p:spPr>
                      <a:xfrm>
                        <a:off x="6450914" y="3353409"/>
                        <a:ext cx="416125" cy="349546"/>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75BE4CE3-2B96-34FE-98AA-E434CEC5DE17}"/>
              </a:ext>
            </a:extLst>
          </p:cNvPr>
          <p:cNvGraphicFramePr>
            <a:graphicFrameLocks noChangeAspect="1"/>
          </p:cNvGraphicFramePr>
          <p:nvPr>
            <p:extLst>
              <p:ext uri="{D42A27DB-BD31-4B8C-83A1-F6EECF244321}">
                <p14:modId xmlns:p14="http://schemas.microsoft.com/office/powerpoint/2010/main" val="3392993728"/>
              </p:ext>
            </p:extLst>
          </p:nvPr>
        </p:nvGraphicFramePr>
        <p:xfrm>
          <a:off x="7128439" y="3327141"/>
          <a:ext cx="4544102" cy="382836"/>
        </p:xfrm>
        <a:graphic>
          <a:graphicData uri="http://schemas.openxmlformats.org/presentationml/2006/ole">
            <mc:AlternateContent xmlns:mc="http://schemas.openxmlformats.org/markup-compatibility/2006">
              <mc:Choice xmlns:v="urn:schemas-microsoft-com:vml" Requires="v">
                <p:oleObj name="Equation" r:id="rId5" imgW="2599950" imgH="219217" progId="Equation.DSMT4">
                  <p:embed/>
                </p:oleObj>
              </mc:Choice>
              <mc:Fallback>
                <p:oleObj name="Equation" r:id="rId5" imgW="2599950" imgH="219217" progId="Equation.DSMT4">
                  <p:embed/>
                  <p:pic>
                    <p:nvPicPr>
                      <p:cNvPr id="11" name="对象 10">
                        <a:extLst>
                          <a:ext uri="{FF2B5EF4-FFF2-40B4-BE49-F238E27FC236}">
                            <a16:creationId xmlns:a16="http://schemas.microsoft.com/office/drawing/2014/main" id="{75BE4CE3-2B96-34FE-98AA-E434CEC5DE17}"/>
                          </a:ext>
                        </a:extLst>
                      </p:cNvPr>
                      <p:cNvPicPr/>
                      <p:nvPr/>
                    </p:nvPicPr>
                    <p:blipFill>
                      <a:blip r:embed="rId6"/>
                      <a:stretch>
                        <a:fillRect/>
                      </a:stretch>
                    </p:blipFill>
                    <p:spPr>
                      <a:xfrm>
                        <a:off x="7128439" y="3327141"/>
                        <a:ext cx="4544102" cy="382836"/>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CDF37358-8AA6-484E-1C9D-C4832F269A03}"/>
              </a:ext>
            </a:extLst>
          </p:cNvPr>
          <p:cNvGraphicFramePr>
            <a:graphicFrameLocks noChangeAspect="1"/>
          </p:cNvGraphicFramePr>
          <p:nvPr>
            <p:extLst>
              <p:ext uri="{D42A27DB-BD31-4B8C-83A1-F6EECF244321}">
                <p14:modId xmlns:p14="http://schemas.microsoft.com/office/powerpoint/2010/main" val="4014356315"/>
              </p:ext>
            </p:extLst>
          </p:nvPr>
        </p:nvGraphicFramePr>
        <p:xfrm>
          <a:off x="6450914" y="4476647"/>
          <a:ext cx="399480" cy="349546"/>
        </p:xfrm>
        <a:graphic>
          <a:graphicData uri="http://schemas.openxmlformats.org/presentationml/2006/ole">
            <mc:AlternateContent xmlns:mc="http://schemas.openxmlformats.org/markup-compatibility/2006">
              <mc:Choice xmlns:v="urn:schemas-microsoft-com:vml" Requires="v">
                <p:oleObj name="Equation" r:id="rId7" imgW="228571" imgH="200139" progId="Equation.DSMT4">
                  <p:embed/>
                </p:oleObj>
              </mc:Choice>
              <mc:Fallback>
                <p:oleObj name="Equation" r:id="rId7" imgW="228571" imgH="200139" progId="Equation.DSMT4">
                  <p:embed/>
                  <p:pic>
                    <p:nvPicPr>
                      <p:cNvPr id="12" name="对象 11">
                        <a:extLst>
                          <a:ext uri="{FF2B5EF4-FFF2-40B4-BE49-F238E27FC236}">
                            <a16:creationId xmlns:a16="http://schemas.microsoft.com/office/drawing/2014/main" id="{CDF37358-8AA6-484E-1C9D-C4832F269A03}"/>
                          </a:ext>
                        </a:extLst>
                      </p:cNvPr>
                      <p:cNvPicPr/>
                      <p:nvPr/>
                    </p:nvPicPr>
                    <p:blipFill>
                      <a:blip r:embed="rId8"/>
                      <a:stretch>
                        <a:fillRect/>
                      </a:stretch>
                    </p:blipFill>
                    <p:spPr>
                      <a:xfrm>
                        <a:off x="6450914" y="4476647"/>
                        <a:ext cx="399480" cy="349546"/>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A3B98284-5533-B122-26A3-D76AB052EA55}"/>
              </a:ext>
            </a:extLst>
          </p:cNvPr>
          <p:cNvGraphicFramePr>
            <a:graphicFrameLocks noChangeAspect="1"/>
          </p:cNvGraphicFramePr>
          <p:nvPr>
            <p:extLst>
              <p:ext uri="{D42A27DB-BD31-4B8C-83A1-F6EECF244321}">
                <p14:modId xmlns:p14="http://schemas.microsoft.com/office/powerpoint/2010/main" val="4196301292"/>
              </p:ext>
            </p:extLst>
          </p:nvPr>
        </p:nvGraphicFramePr>
        <p:xfrm>
          <a:off x="12594217" y="7082371"/>
          <a:ext cx="2714625" cy="219075"/>
        </p:xfrm>
        <a:graphic>
          <a:graphicData uri="http://schemas.openxmlformats.org/presentationml/2006/ole">
            <mc:AlternateContent xmlns:mc="http://schemas.openxmlformats.org/markup-compatibility/2006">
              <mc:Choice xmlns:v="urn:schemas-microsoft-com:vml" Requires="v">
                <p:oleObj name="Equation" r:id="rId9" imgW="2714415" imgH="219217" progId="Equation.DSMT4">
                  <p:embed/>
                </p:oleObj>
              </mc:Choice>
              <mc:Fallback>
                <p:oleObj name="Equation" r:id="rId9" imgW="2714415" imgH="219217" progId="Equation.DSMT4">
                  <p:embed/>
                  <p:pic>
                    <p:nvPicPr>
                      <p:cNvPr id="13" name="对象 12">
                        <a:extLst>
                          <a:ext uri="{FF2B5EF4-FFF2-40B4-BE49-F238E27FC236}">
                            <a16:creationId xmlns:a16="http://schemas.microsoft.com/office/drawing/2014/main" id="{A3B98284-5533-B122-26A3-D76AB052EA55}"/>
                          </a:ext>
                        </a:extLst>
                      </p:cNvPr>
                      <p:cNvPicPr/>
                      <p:nvPr/>
                    </p:nvPicPr>
                    <p:blipFill>
                      <a:blip r:embed="rId10"/>
                      <a:stretch>
                        <a:fillRect/>
                      </a:stretch>
                    </p:blipFill>
                    <p:spPr>
                      <a:xfrm>
                        <a:off x="12594217" y="7082371"/>
                        <a:ext cx="2714625" cy="219075"/>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11749D39-5284-CF87-8FF5-094BCB1D17AF}"/>
              </a:ext>
            </a:extLst>
          </p:cNvPr>
          <p:cNvGraphicFramePr>
            <a:graphicFrameLocks noChangeAspect="1"/>
          </p:cNvGraphicFramePr>
          <p:nvPr>
            <p:extLst>
              <p:ext uri="{D42A27DB-BD31-4B8C-83A1-F6EECF244321}">
                <p14:modId xmlns:p14="http://schemas.microsoft.com/office/powerpoint/2010/main" val="2078685884"/>
              </p:ext>
            </p:extLst>
          </p:nvPr>
        </p:nvGraphicFramePr>
        <p:xfrm>
          <a:off x="7806641" y="3932037"/>
          <a:ext cx="710188" cy="277418"/>
        </p:xfrm>
        <a:graphic>
          <a:graphicData uri="http://schemas.openxmlformats.org/presentationml/2006/ole">
            <mc:AlternateContent xmlns:mc="http://schemas.openxmlformats.org/markup-compatibility/2006">
              <mc:Choice xmlns:v="urn:schemas-microsoft-com:vml" Requires="v">
                <p:oleObj name="Equation" r:id="rId11" imgW="406048" imgH="152268" progId="Equation.DSMT4">
                  <p:embed/>
                </p:oleObj>
              </mc:Choice>
              <mc:Fallback>
                <p:oleObj name="Equation" r:id="rId11" imgW="406048" imgH="152268" progId="Equation.DSMT4">
                  <p:embed/>
                  <p:pic>
                    <p:nvPicPr>
                      <p:cNvPr id="17" name="对象 16">
                        <a:extLst>
                          <a:ext uri="{FF2B5EF4-FFF2-40B4-BE49-F238E27FC236}">
                            <a16:creationId xmlns:a16="http://schemas.microsoft.com/office/drawing/2014/main" id="{11749D39-5284-CF87-8FF5-094BCB1D17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06641" y="3932037"/>
                        <a:ext cx="710188" cy="277418"/>
                      </a:xfrm>
                      <a:prstGeom prst="rect">
                        <a:avLst/>
                      </a:prstGeom>
                      <a:noFill/>
                    </p:spPr>
                  </p:pic>
                </p:oleObj>
              </mc:Fallback>
            </mc:AlternateContent>
          </a:graphicData>
        </a:graphic>
      </p:graphicFrame>
      <p:graphicFrame>
        <p:nvGraphicFramePr>
          <p:cNvPr id="18" name="对象 17">
            <a:extLst>
              <a:ext uri="{FF2B5EF4-FFF2-40B4-BE49-F238E27FC236}">
                <a16:creationId xmlns:a16="http://schemas.microsoft.com/office/drawing/2014/main" id="{935B3F97-FF6A-4345-C6A3-0E49EA91C054}"/>
              </a:ext>
            </a:extLst>
          </p:cNvPr>
          <p:cNvGraphicFramePr>
            <a:graphicFrameLocks noChangeAspect="1"/>
          </p:cNvGraphicFramePr>
          <p:nvPr>
            <p:extLst>
              <p:ext uri="{D42A27DB-BD31-4B8C-83A1-F6EECF244321}">
                <p14:modId xmlns:p14="http://schemas.microsoft.com/office/powerpoint/2010/main" val="824826473"/>
              </p:ext>
            </p:extLst>
          </p:nvPr>
        </p:nvGraphicFramePr>
        <p:xfrm>
          <a:off x="8516829" y="3898700"/>
          <a:ext cx="1553536" cy="355095"/>
        </p:xfrm>
        <a:graphic>
          <a:graphicData uri="http://schemas.openxmlformats.org/presentationml/2006/ole">
            <mc:AlternateContent xmlns:mc="http://schemas.openxmlformats.org/markup-compatibility/2006">
              <mc:Choice xmlns:v="urn:schemas-microsoft-com:vml" Requires="v">
                <p:oleObj name="Equation" r:id="rId13" imgW="888614" imgH="203112" progId="Equation.DSMT4">
                  <p:embed/>
                </p:oleObj>
              </mc:Choice>
              <mc:Fallback>
                <p:oleObj name="Equation" r:id="rId13" imgW="888614" imgH="203112" progId="Equation.DSMT4">
                  <p:embed/>
                  <p:pic>
                    <p:nvPicPr>
                      <p:cNvPr id="18" name="对象 17">
                        <a:extLst>
                          <a:ext uri="{FF2B5EF4-FFF2-40B4-BE49-F238E27FC236}">
                            <a16:creationId xmlns:a16="http://schemas.microsoft.com/office/drawing/2014/main" id="{935B3F97-FF6A-4345-C6A3-0E49EA91C05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16829" y="3898700"/>
                        <a:ext cx="1553536" cy="355095"/>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1CAB7329-969E-9DF0-1359-CD4AE61B2713}"/>
              </a:ext>
            </a:extLst>
          </p:cNvPr>
          <p:cNvGraphicFramePr>
            <a:graphicFrameLocks noChangeAspect="1"/>
          </p:cNvGraphicFramePr>
          <p:nvPr>
            <p:extLst>
              <p:ext uri="{D42A27DB-BD31-4B8C-83A1-F6EECF244321}">
                <p14:modId xmlns:p14="http://schemas.microsoft.com/office/powerpoint/2010/main" val="3069931663"/>
              </p:ext>
            </p:extLst>
          </p:nvPr>
        </p:nvGraphicFramePr>
        <p:xfrm>
          <a:off x="7582167" y="5068908"/>
          <a:ext cx="715738" cy="282967"/>
        </p:xfrm>
        <a:graphic>
          <a:graphicData uri="http://schemas.openxmlformats.org/presentationml/2006/ole">
            <mc:AlternateContent xmlns:mc="http://schemas.openxmlformats.org/markup-compatibility/2006">
              <mc:Choice xmlns:v="urn:schemas-microsoft-com:vml" Requires="v">
                <p:oleObj name="Equation" r:id="rId15" imgW="409628" imgH="161983" progId="Equation.DSMT4">
                  <p:embed/>
                </p:oleObj>
              </mc:Choice>
              <mc:Fallback>
                <p:oleObj name="Equation" r:id="rId15" imgW="409628" imgH="161983" progId="Equation.DSMT4">
                  <p:embed/>
                  <p:pic>
                    <p:nvPicPr>
                      <p:cNvPr id="21" name="对象 20">
                        <a:extLst>
                          <a:ext uri="{FF2B5EF4-FFF2-40B4-BE49-F238E27FC236}">
                            <a16:creationId xmlns:a16="http://schemas.microsoft.com/office/drawing/2014/main" id="{1CAB7329-969E-9DF0-1359-CD4AE61B2713}"/>
                          </a:ext>
                        </a:extLst>
                      </p:cNvPr>
                      <p:cNvPicPr/>
                      <p:nvPr/>
                    </p:nvPicPr>
                    <p:blipFill>
                      <a:blip r:embed="rId16"/>
                      <a:stretch>
                        <a:fillRect/>
                      </a:stretch>
                    </p:blipFill>
                    <p:spPr>
                      <a:xfrm>
                        <a:off x="7582167" y="5068908"/>
                        <a:ext cx="715738" cy="282967"/>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C0E27BBC-3CD3-6A35-1A87-7E03CD240D52}"/>
              </a:ext>
            </a:extLst>
          </p:cNvPr>
          <p:cNvGraphicFramePr>
            <a:graphicFrameLocks noChangeAspect="1"/>
          </p:cNvGraphicFramePr>
          <p:nvPr>
            <p:extLst>
              <p:ext uri="{D42A27DB-BD31-4B8C-83A1-F6EECF244321}">
                <p14:modId xmlns:p14="http://schemas.microsoft.com/office/powerpoint/2010/main" val="1574929346"/>
              </p:ext>
            </p:extLst>
          </p:nvPr>
        </p:nvGraphicFramePr>
        <p:xfrm>
          <a:off x="8237935" y="5035618"/>
          <a:ext cx="1781018" cy="349546"/>
        </p:xfrm>
        <a:graphic>
          <a:graphicData uri="http://schemas.openxmlformats.org/presentationml/2006/ole">
            <mc:AlternateContent xmlns:mc="http://schemas.openxmlformats.org/markup-compatibility/2006">
              <mc:Choice xmlns:v="urn:schemas-microsoft-com:vml" Requires="v">
                <p:oleObj name="Equation" r:id="rId17" imgW="1019031" imgH="200139" progId="Equation.DSMT4">
                  <p:embed/>
                </p:oleObj>
              </mc:Choice>
              <mc:Fallback>
                <p:oleObj name="Equation" r:id="rId17" imgW="1019031" imgH="200139" progId="Equation.DSMT4">
                  <p:embed/>
                  <p:pic>
                    <p:nvPicPr>
                      <p:cNvPr id="22" name="对象 21">
                        <a:extLst>
                          <a:ext uri="{FF2B5EF4-FFF2-40B4-BE49-F238E27FC236}">
                            <a16:creationId xmlns:a16="http://schemas.microsoft.com/office/drawing/2014/main" id="{C0E27BBC-3CD3-6A35-1A87-7E03CD240D52}"/>
                          </a:ext>
                        </a:extLst>
                      </p:cNvPr>
                      <p:cNvPicPr/>
                      <p:nvPr/>
                    </p:nvPicPr>
                    <p:blipFill>
                      <a:blip r:embed="rId18"/>
                      <a:stretch>
                        <a:fillRect/>
                      </a:stretch>
                    </p:blipFill>
                    <p:spPr>
                      <a:xfrm>
                        <a:off x="8237935" y="5035618"/>
                        <a:ext cx="1781018" cy="349546"/>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9384D469-C39B-D2D5-D2DF-C9CE7E23F407}"/>
              </a:ext>
            </a:extLst>
          </p:cNvPr>
          <p:cNvGraphicFramePr>
            <a:graphicFrameLocks noChangeAspect="1"/>
          </p:cNvGraphicFramePr>
          <p:nvPr>
            <p:extLst>
              <p:ext uri="{D42A27DB-BD31-4B8C-83A1-F6EECF244321}">
                <p14:modId xmlns:p14="http://schemas.microsoft.com/office/powerpoint/2010/main" val="3279885071"/>
              </p:ext>
            </p:extLst>
          </p:nvPr>
        </p:nvGraphicFramePr>
        <p:xfrm>
          <a:off x="7128439" y="4436793"/>
          <a:ext cx="4743844" cy="382836"/>
        </p:xfrm>
        <a:graphic>
          <a:graphicData uri="http://schemas.openxmlformats.org/presentationml/2006/ole">
            <mc:AlternateContent xmlns:mc="http://schemas.openxmlformats.org/markup-compatibility/2006">
              <mc:Choice xmlns:v="urn:schemas-microsoft-com:vml" Requires="v">
                <p:oleObj name="Equation" r:id="rId19" imgW="2714415" imgH="219217" progId="Equation.DSMT4">
                  <p:embed/>
                </p:oleObj>
              </mc:Choice>
              <mc:Fallback>
                <p:oleObj name="Equation" r:id="rId19" imgW="2714415" imgH="219217" progId="Equation.DSMT4">
                  <p:embed/>
                  <p:pic>
                    <p:nvPicPr>
                      <p:cNvPr id="23" name="对象 22">
                        <a:extLst>
                          <a:ext uri="{FF2B5EF4-FFF2-40B4-BE49-F238E27FC236}">
                            <a16:creationId xmlns:a16="http://schemas.microsoft.com/office/drawing/2014/main" id="{9384D469-C39B-D2D5-D2DF-C9CE7E23F407}"/>
                          </a:ext>
                        </a:extLst>
                      </p:cNvPr>
                      <p:cNvPicPr/>
                      <p:nvPr/>
                    </p:nvPicPr>
                    <p:blipFill>
                      <a:blip r:embed="rId20"/>
                      <a:stretch>
                        <a:fillRect/>
                      </a:stretch>
                    </p:blipFill>
                    <p:spPr>
                      <a:xfrm>
                        <a:off x="7128439" y="4436793"/>
                        <a:ext cx="4743844" cy="382836"/>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837EDC3F-DF0D-A426-BA31-EBCBD9788C94}"/>
              </a:ext>
            </a:extLst>
          </p:cNvPr>
          <p:cNvGraphicFramePr>
            <a:graphicFrameLocks noChangeAspect="1"/>
          </p:cNvGraphicFramePr>
          <p:nvPr>
            <p:extLst>
              <p:ext uri="{D42A27DB-BD31-4B8C-83A1-F6EECF244321}">
                <p14:modId xmlns:p14="http://schemas.microsoft.com/office/powerpoint/2010/main" val="3197393503"/>
              </p:ext>
            </p:extLst>
          </p:nvPr>
        </p:nvGraphicFramePr>
        <p:xfrm>
          <a:off x="10626504" y="5046967"/>
          <a:ext cx="716115" cy="283116"/>
        </p:xfrm>
        <a:graphic>
          <a:graphicData uri="http://schemas.openxmlformats.org/presentationml/2006/ole">
            <mc:AlternateContent xmlns:mc="http://schemas.openxmlformats.org/markup-compatibility/2006">
              <mc:Choice xmlns:v="urn:schemas-microsoft-com:vml" Requires="v">
                <p:oleObj name="Equation" r:id="rId21" imgW="409628" imgH="161983" progId="Equation.DSMT4">
                  <p:embed/>
                </p:oleObj>
              </mc:Choice>
              <mc:Fallback>
                <p:oleObj name="Equation" r:id="rId21" imgW="409628" imgH="161983" progId="Equation.DSMT4">
                  <p:embed/>
                  <p:pic>
                    <p:nvPicPr>
                      <p:cNvPr id="25" name="对象 24">
                        <a:extLst>
                          <a:ext uri="{FF2B5EF4-FFF2-40B4-BE49-F238E27FC236}">
                            <a16:creationId xmlns:a16="http://schemas.microsoft.com/office/drawing/2014/main" id="{837EDC3F-DF0D-A426-BA31-EBCBD9788C94}"/>
                          </a:ext>
                        </a:extLst>
                      </p:cNvPr>
                      <p:cNvPicPr/>
                      <p:nvPr/>
                    </p:nvPicPr>
                    <p:blipFill>
                      <a:blip r:embed="rId22"/>
                      <a:stretch>
                        <a:fillRect/>
                      </a:stretch>
                    </p:blipFill>
                    <p:spPr>
                      <a:xfrm>
                        <a:off x="10626504" y="5046967"/>
                        <a:ext cx="716115" cy="283116"/>
                      </a:xfrm>
                      <a:prstGeom prst="rect">
                        <a:avLst/>
                      </a:prstGeom>
                    </p:spPr>
                  </p:pic>
                </p:oleObj>
              </mc:Fallback>
            </mc:AlternateContent>
          </a:graphicData>
        </a:graphic>
      </p:graphicFrame>
      <p:sp>
        <p:nvSpPr>
          <p:cNvPr id="2" name="矩形 26">
            <a:extLst>
              <a:ext uri="{FF2B5EF4-FFF2-40B4-BE49-F238E27FC236}">
                <a16:creationId xmlns:a16="http://schemas.microsoft.com/office/drawing/2014/main" id="{C5137E03-08DA-DA53-F47A-CFF1BE292EBB}"/>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从频繁项集到关联规则</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F418113A-B9B0-0565-246C-D3301593A475}"/>
              </a:ext>
            </a:extLst>
          </p:cNvPr>
          <p:cNvSpPr/>
          <p:nvPr/>
        </p:nvSpPr>
        <p:spPr>
          <a:xfrm>
            <a:off x="558040" y="1190656"/>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基本概念</a:t>
            </a:r>
          </a:p>
        </p:txBody>
      </p:sp>
    </p:spTree>
    <p:extLst>
      <p:ext uri="{BB962C8B-B14F-4D97-AF65-F5344CB8AC3E}">
        <p14:creationId xmlns:p14="http://schemas.microsoft.com/office/powerpoint/2010/main" val="21721382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1250E-2095-6D8B-8F26-8449F2D479DB}"/>
            </a:ext>
          </a:extLst>
        </p:cNvPr>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DEDE4F54-31EE-8CA3-A6FA-70F0C252B451}"/>
              </a:ext>
            </a:extLst>
          </p:cNvPr>
          <p:cNvGraphicFramePr>
            <a:graphicFrameLocks noChangeAspect="1"/>
          </p:cNvGraphicFramePr>
          <p:nvPr>
            <p:extLst>
              <p:ext uri="{D42A27DB-BD31-4B8C-83A1-F6EECF244321}">
                <p14:modId xmlns:p14="http://schemas.microsoft.com/office/powerpoint/2010/main" val="1901376734"/>
              </p:ext>
            </p:extLst>
          </p:nvPr>
        </p:nvGraphicFramePr>
        <p:xfrm>
          <a:off x="3276428" y="1583777"/>
          <a:ext cx="6653213" cy="5026025"/>
        </p:xfrm>
        <a:graphic>
          <a:graphicData uri="http://schemas.openxmlformats.org/presentationml/2006/ole">
            <mc:AlternateContent xmlns:mc="http://schemas.openxmlformats.org/markup-compatibility/2006">
              <mc:Choice xmlns:v="urn:schemas-microsoft-com:vml" Requires="v">
                <p:oleObj name="VISIO" r:id="rId3" imgW="9811512" imgH="7395972" progId="Visio.Drawing.6">
                  <p:embed/>
                </p:oleObj>
              </mc:Choice>
              <mc:Fallback>
                <p:oleObj name="VISIO" r:id="rId3" imgW="9811512" imgH="7395972" progId="Visio.Drawing.6">
                  <p:embed/>
                  <p:pic>
                    <p:nvPicPr>
                      <p:cNvPr id="4" name="Object 3">
                        <a:extLst>
                          <a:ext uri="{FF2B5EF4-FFF2-40B4-BE49-F238E27FC236}">
                            <a16:creationId xmlns:a16="http://schemas.microsoft.com/office/drawing/2014/main" id="{DEDE4F54-31EE-8CA3-A6FA-70F0C252B4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428" y="1583777"/>
                        <a:ext cx="6653213" cy="502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4">
            <a:extLst>
              <a:ext uri="{FF2B5EF4-FFF2-40B4-BE49-F238E27FC236}">
                <a16:creationId xmlns:a16="http://schemas.microsoft.com/office/drawing/2014/main" id="{D2F53C60-3B45-40F6-7A52-CA6EEC75DEF2}"/>
              </a:ext>
            </a:extLst>
          </p:cNvPr>
          <p:cNvSpPr txBox="1">
            <a:spLocks noChangeArrowheads="1"/>
          </p:cNvSpPr>
          <p:nvPr/>
        </p:nvSpPr>
        <p:spPr bwMode="auto">
          <a:xfrm>
            <a:off x="2466301" y="1424986"/>
            <a:ext cx="1752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kumimoji="0" lang="zh-CN" altLang="en-US" sz="2000" b="1" dirty="0">
                <a:latin typeface="Arial" panose="020B0604020202020204" pitchFamily="34" charset="0"/>
              </a:rPr>
              <a:t>给定</a:t>
            </a:r>
            <a:r>
              <a:rPr kumimoji="0" lang="en-US" altLang="zh-CN" sz="2000" b="1" dirty="0">
                <a:latin typeface="Arial" panose="020B0604020202020204" pitchFamily="34" charset="0"/>
              </a:rPr>
              <a:t>d</a:t>
            </a:r>
            <a:r>
              <a:rPr kumimoji="0" lang="zh-CN" altLang="en-US" sz="2000" b="1" dirty="0">
                <a:latin typeface="Arial" panose="020B0604020202020204" pitchFamily="34" charset="0"/>
              </a:rPr>
              <a:t>个项，有</a:t>
            </a:r>
            <a:r>
              <a:rPr kumimoji="0" lang="en-US" altLang="zh-CN" sz="2000" b="1" dirty="0">
                <a:latin typeface="Arial" panose="020B0604020202020204" pitchFamily="34" charset="0"/>
              </a:rPr>
              <a:t> 2</a:t>
            </a:r>
            <a:r>
              <a:rPr kumimoji="0" lang="en-US" altLang="zh-CN" sz="2000" b="1" baseline="30000" dirty="0">
                <a:latin typeface="Arial" panose="020B0604020202020204" pitchFamily="34" charset="0"/>
              </a:rPr>
              <a:t>d</a:t>
            </a:r>
            <a:r>
              <a:rPr kumimoji="0" lang="en-US" altLang="zh-CN" sz="2000" b="1" dirty="0">
                <a:latin typeface="Arial" panose="020B0604020202020204" pitchFamily="34" charset="0"/>
              </a:rPr>
              <a:t> </a:t>
            </a:r>
            <a:r>
              <a:rPr kumimoji="0" lang="zh-CN" altLang="en-US" sz="2000" b="1" dirty="0">
                <a:latin typeface="Arial" panose="020B0604020202020204" pitchFamily="34" charset="0"/>
              </a:rPr>
              <a:t>个可能的候选项集</a:t>
            </a:r>
            <a:endParaRPr kumimoji="0" lang="en-US" altLang="zh-CN" sz="2000" b="1" dirty="0">
              <a:latin typeface="Arial" panose="020B0604020202020204" pitchFamily="34" charset="0"/>
              <a:sym typeface="Symbol" panose="05050102010706020507" pitchFamily="18" charset="2"/>
            </a:endParaRPr>
          </a:p>
        </p:txBody>
      </p:sp>
      <p:sp>
        <p:nvSpPr>
          <p:cNvPr id="2" name="矩形 26">
            <a:extLst>
              <a:ext uri="{FF2B5EF4-FFF2-40B4-BE49-F238E27FC236}">
                <a16:creationId xmlns:a16="http://schemas.microsoft.com/office/drawing/2014/main" id="{030F6E9A-FE61-5930-FE3C-401D887B9E7D}"/>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从频繁项集到关联规则</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38305194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B82EB-77B3-588E-F5B3-8F4C9F65DFAB}"/>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32765C0D-6691-18AD-674A-86F9C7AC0C2F}"/>
              </a:ext>
            </a:extLst>
          </p:cNvPr>
          <p:cNvSpPr txBox="1">
            <a:spLocks noChangeArrowheads="1"/>
          </p:cNvSpPr>
          <p:nvPr/>
        </p:nvSpPr>
        <p:spPr>
          <a:xfrm>
            <a:off x="2405180" y="1748422"/>
            <a:ext cx="8382000" cy="2971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b="0" i="0" u="none" strike="noStrike" kern="1200" cap="none" spc="0" normalizeH="0" baseline="0" noProof="0" dirty="0">
                <a:ln>
                  <a:noFill/>
                </a:ln>
                <a:solidFill>
                  <a:sysClr val="windowText" lastClr="000000"/>
                </a:solidFill>
                <a:effectLst/>
                <a:uLnTx/>
                <a:uFillTx/>
                <a:latin typeface="Arial"/>
                <a:ea typeface="微软雅黑"/>
                <a:cs typeface="+mn-cs"/>
              </a:rPr>
              <a:t>穷举法 (</a:t>
            </a:r>
            <a:r>
              <a:rPr kumimoji="0" lang="en-US" altLang="zh-CN" b="0" i="0" u="none" strike="noStrike" kern="1200" cap="none" spc="0" normalizeH="0" baseline="0" noProof="0" dirty="0">
                <a:ln>
                  <a:noFill/>
                </a:ln>
                <a:solidFill>
                  <a:sysClr val="windowText" lastClr="000000"/>
                </a:solidFill>
                <a:effectLst/>
                <a:uLnTx/>
                <a:uFillTx/>
                <a:latin typeface="Arial"/>
                <a:ea typeface="微软雅黑"/>
                <a:cs typeface="+mn-cs"/>
              </a:rPr>
              <a:t>Brute-force approach) </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zh-CN" altLang="en-US" b="0" i="0" u="none" strike="noStrike" kern="1200" cap="none" spc="0" normalizeH="0" baseline="0" noProof="0" dirty="0">
                <a:ln>
                  <a:noFill/>
                </a:ln>
                <a:solidFill>
                  <a:sysClr val="windowText" lastClr="000000"/>
                </a:solidFill>
                <a:effectLst/>
                <a:uLnTx/>
                <a:uFillTx/>
                <a:latin typeface="Arial"/>
                <a:ea typeface="微软雅黑"/>
                <a:cs typeface="+mn-cs"/>
              </a:rPr>
              <a:t>网格中每个项集都是候选的频繁项集</a:t>
            </a:r>
            <a:endParaRPr kumimoji="0" lang="en-US" altLang="zh-CN" b="0" i="0" u="none" strike="noStrike" kern="1200" cap="none" spc="0" normalizeH="0" baseline="0" noProof="0" dirty="0">
              <a:ln>
                <a:noFill/>
              </a:ln>
              <a:solidFill>
                <a:sysClr val="windowText" lastClr="000000"/>
              </a:solidFill>
              <a:effectLst/>
              <a:uLnTx/>
              <a:uFillTx/>
              <a:latin typeface="Arial"/>
              <a:ea typeface="微软雅黑"/>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zh-CN" altLang="en-US" b="0" i="0" u="none" strike="noStrike" kern="1200" cap="none" spc="0" normalizeH="0" baseline="0" noProof="0" dirty="0">
                <a:ln>
                  <a:noFill/>
                </a:ln>
                <a:solidFill>
                  <a:sysClr val="windowText" lastClr="000000"/>
                </a:solidFill>
                <a:effectLst/>
                <a:uLnTx/>
                <a:uFillTx/>
                <a:latin typeface="Arial"/>
                <a:ea typeface="微软雅黑"/>
                <a:cs typeface="+mn-cs"/>
              </a:rPr>
              <a:t>通过扫描一次数据库，可以得到每个候选项集的支持度</a:t>
            </a:r>
            <a:endParaRPr kumimoji="0" lang="en-US" altLang="zh-CN" b="0" i="0" u="none" strike="noStrike" kern="1200" cap="none" spc="0" normalizeH="0" baseline="0" noProof="0" dirty="0">
              <a:ln>
                <a:noFill/>
              </a:ln>
              <a:solidFill>
                <a:sysClr val="windowText" lastClr="000000"/>
              </a:solidFill>
              <a:effectLst/>
              <a:uLnTx/>
              <a:uFillTx/>
              <a:latin typeface="Arial"/>
              <a:ea typeface="微软雅黑"/>
              <a:cs typeface="+mn-cs"/>
            </a:endParaRP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zh-CN" altLang="en-US" b="0" i="0" u="none" strike="noStrike" kern="1200" cap="none" spc="0" normalizeH="0" baseline="0" noProof="0" dirty="0">
                <a:ln>
                  <a:noFill/>
                </a:ln>
                <a:solidFill>
                  <a:sysClr val="windowText" lastClr="000000"/>
                </a:solidFill>
                <a:effectLst/>
                <a:uLnTx/>
                <a:uFillTx/>
                <a:latin typeface="Arial"/>
                <a:ea typeface="微软雅黑"/>
                <a:cs typeface="+mn-cs"/>
              </a:rPr>
              <a:t>比较每一条事务和每个候选项集</a:t>
            </a:r>
            <a:endParaRPr kumimoji="0" lang="en-US" altLang="zh-CN" b="0" i="0" u="none" strike="noStrike" kern="1200" cap="none" spc="0" normalizeH="0" baseline="0" noProof="0" dirty="0">
              <a:ln>
                <a:noFill/>
              </a:ln>
              <a:solidFill>
                <a:sysClr val="windowText" lastClr="000000"/>
              </a:solidFill>
              <a:effectLst/>
              <a:uLnTx/>
              <a:uFillTx/>
              <a:latin typeface="Arial"/>
              <a:ea typeface="微软雅黑"/>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zh-CN" altLang="en-US" b="0" i="0" u="none" strike="noStrike" kern="1200" cap="none" spc="0" normalizeH="0" baseline="0" noProof="0" dirty="0">
                <a:ln>
                  <a:noFill/>
                </a:ln>
                <a:solidFill>
                  <a:sysClr val="windowText" lastClr="000000"/>
                </a:solidFill>
                <a:effectLst/>
                <a:uLnTx/>
                <a:uFillTx/>
                <a:latin typeface="Arial"/>
                <a:ea typeface="微软雅黑"/>
                <a:cs typeface="+mn-cs"/>
              </a:rPr>
              <a:t>计算复杂度－</a:t>
            </a:r>
            <a:r>
              <a:rPr kumimoji="0" lang="en-US" altLang="zh-CN" b="0" i="0" u="none" strike="noStrike" kern="1200" cap="none" spc="0" normalizeH="0" baseline="0" noProof="0" dirty="0">
                <a:ln>
                  <a:noFill/>
                </a:ln>
                <a:solidFill>
                  <a:sysClr val="windowText" lastClr="000000"/>
                </a:solidFill>
                <a:effectLst/>
                <a:uLnTx/>
                <a:uFillTx/>
                <a:latin typeface="Arial"/>
                <a:ea typeface="微软雅黑"/>
                <a:cs typeface="+mn-cs"/>
              </a:rPr>
              <a:t>O(</a:t>
            </a:r>
            <a:r>
              <a:rPr kumimoji="0" lang="en-US" altLang="zh-CN" b="0" i="0" u="none" strike="noStrike" kern="1200" cap="none" spc="0" normalizeH="0" baseline="0" noProof="0" dirty="0" err="1">
                <a:ln>
                  <a:noFill/>
                </a:ln>
                <a:solidFill>
                  <a:sysClr val="windowText" lastClr="000000"/>
                </a:solidFill>
                <a:effectLst/>
                <a:uLnTx/>
                <a:uFillTx/>
                <a:latin typeface="Arial"/>
                <a:ea typeface="微软雅黑"/>
                <a:cs typeface="+mn-cs"/>
              </a:rPr>
              <a:t>NMw</a:t>
            </a:r>
            <a:r>
              <a:rPr kumimoji="0" lang="en-US" altLang="zh-CN" b="0" i="0" u="none" strike="noStrike" kern="1200" cap="none" spc="0" normalizeH="0" baseline="0" noProof="0" dirty="0">
                <a:ln>
                  <a:noFill/>
                </a:ln>
                <a:solidFill>
                  <a:sysClr val="windowText" lastClr="000000"/>
                </a:solidFill>
                <a:effectLst/>
                <a:uLnTx/>
                <a:uFillTx/>
                <a:latin typeface="Arial"/>
                <a:ea typeface="微软雅黑"/>
                <a:cs typeface="+mn-cs"/>
              </a:rPr>
              <a:t>)</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b="0" i="0" u="none" strike="noStrike" kern="1200" cap="none" spc="0" normalizeH="0" baseline="0" noProof="0" dirty="0">
                <a:ln>
                  <a:noFill/>
                </a:ln>
                <a:solidFill>
                  <a:sysClr val="windowText" lastClr="000000"/>
                </a:solidFill>
                <a:effectLst/>
                <a:uLnTx/>
                <a:uFillTx/>
                <a:latin typeface="Arial"/>
                <a:ea typeface="微软雅黑"/>
                <a:cs typeface="+mn-cs"/>
              </a:rPr>
              <a:t>N</a:t>
            </a:r>
            <a:r>
              <a:rPr kumimoji="0" lang="zh-CN" altLang="en-US" b="0" i="0" u="none" strike="noStrike" kern="1200" cap="none" spc="0" normalizeH="0" baseline="0" noProof="0" dirty="0">
                <a:ln>
                  <a:noFill/>
                </a:ln>
                <a:solidFill>
                  <a:sysClr val="windowText" lastClr="000000"/>
                </a:solidFill>
                <a:effectLst/>
                <a:uLnTx/>
                <a:uFillTx/>
                <a:latin typeface="Arial"/>
                <a:ea typeface="微软雅黑"/>
                <a:cs typeface="+mn-cs"/>
              </a:rPr>
              <a:t>为事务数目，</a:t>
            </a:r>
            <a:r>
              <a:rPr kumimoji="0" lang="en-US" altLang="zh-CN" b="0" i="0" u="none" strike="noStrike" kern="1200" cap="none" spc="0" normalizeH="0" baseline="0" noProof="0" dirty="0">
                <a:ln>
                  <a:noFill/>
                </a:ln>
                <a:solidFill>
                  <a:sysClr val="windowText" lastClr="000000"/>
                </a:solidFill>
                <a:effectLst/>
                <a:uLnTx/>
                <a:uFillTx/>
                <a:latin typeface="Arial"/>
                <a:ea typeface="微软雅黑"/>
                <a:cs typeface="+mn-cs"/>
              </a:rPr>
              <a:t> M = 2</a:t>
            </a:r>
            <a:r>
              <a:rPr kumimoji="0" lang="en-US" altLang="zh-CN" b="0" i="0" u="none" strike="noStrike" kern="1200" cap="none" spc="0" normalizeH="0" baseline="30000" noProof="0" dirty="0">
                <a:ln>
                  <a:noFill/>
                </a:ln>
                <a:solidFill>
                  <a:sysClr val="windowText" lastClr="000000"/>
                </a:solidFill>
                <a:effectLst/>
                <a:uLnTx/>
                <a:uFillTx/>
                <a:latin typeface="Arial"/>
                <a:ea typeface="微软雅黑"/>
                <a:cs typeface="+mn-cs"/>
              </a:rPr>
              <a:t>d</a:t>
            </a:r>
            <a:r>
              <a:rPr kumimoji="0" lang="en-US" altLang="zh-CN" b="0" i="0" u="none" strike="noStrike" kern="1200" cap="none" spc="0" normalizeH="0" baseline="0" noProof="0" dirty="0">
                <a:ln>
                  <a:noFill/>
                </a:ln>
                <a:solidFill>
                  <a:srgbClr val="FF0000"/>
                </a:solidFill>
                <a:effectLst/>
                <a:uLnTx/>
                <a:uFillTx/>
                <a:latin typeface="Arial"/>
                <a:ea typeface="微软雅黑"/>
                <a:cs typeface="+mn-cs"/>
              </a:rPr>
              <a:t> </a:t>
            </a:r>
            <a:r>
              <a:rPr kumimoji="0" lang="zh-CN" altLang="en-US" b="0" i="0" u="none" strike="noStrike" kern="1200" cap="none" spc="0" normalizeH="0" baseline="0" noProof="0" dirty="0">
                <a:ln>
                  <a:noFill/>
                </a:ln>
                <a:solidFill>
                  <a:sysClr val="windowText" lastClr="000000"/>
                </a:solidFill>
                <a:effectLst/>
                <a:uLnTx/>
                <a:uFillTx/>
                <a:latin typeface="Arial"/>
                <a:ea typeface="微软雅黑"/>
                <a:cs typeface="+mn-cs"/>
              </a:rPr>
              <a:t>为候选项集， </a:t>
            </a:r>
            <a:r>
              <a:rPr kumimoji="0" lang="en-US" altLang="zh-CN" b="0" i="0" u="none" strike="noStrike" kern="1200" cap="none" spc="0" normalizeH="0" baseline="0" noProof="0" dirty="0">
                <a:ln>
                  <a:noFill/>
                </a:ln>
                <a:solidFill>
                  <a:sysClr val="windowText" lastClr="000000"/>
                </a:solidFill>
                <a:effectLst/>
                <a:uLnTx/>
                <a:uFillTx/>
                <a:latin typeface="Arial"/>
                <a:ea typeface="微软雅黑"/>
                <a:cs typeface="+mn-cs"/>
              </a:rPr>
              <a:t>w</a:t>
            </a:r>
            <a:r>
              <a:rPr kumimoji="0" lang="zh-CN" altLang="en-US" b="0" i="0" u="none" strike="noStrike" kern="1200" cap="none" spc="0" normalizeH="0" baseline="0" noProof="0" dirty="0">
                <a:ln>
                  <a:noFill/>
                </a:ln>
                <a:solidFill>
                  <a:sysClr val="windowText" lastClr="000000"/>
                </a:solidFill>
                <a:effectLst/>
                <a:uLnTx/>
                <a:uFillTx/>
                <a:latin typeface="Arial"/>
                <a:ea typeface="微软雅黑"/>
                <a:cs typeface="+mn-cs"/>
              </a:rPr>
              <a:t>为一次比较的计算代价</a:t>
            </a:r>
          </a:p>
        </p:txBody>
      </p:sp>
      <p:graphicFrame>
        <p:nvGraphicFramePr>
          <p:cNvPr id="9" name="Object 4">
            <a:extLst>
              <a:ext uri="{FF2B5EF4-FFF2-40B4-BE49-F238E27FC236}">
                <a16:creationId xmlns:a16="http://schemas.microsoft.com/office/drawing/2014/main" id="{94CDFF6D-F2D4-50DB-8359-84D0B60549ED}"/>
              </a:ext>
            </a:extLst>
          </p:cNvPr>
          <p:cNvGraphicFramePr>
            <a:graphicFrameLocks noChangeAspect="1"/>
          </p:cNvGraphicFramePr>
          <p:nvPr>
            <p:extLst>
              <p:ext uri="{D42A27DB-BD31-4B8C-83A1-F6EECF244321}">
                <p14:modId xmlns:p14="http://schemas.microsoft.com/office/powerpoint/2010/main" val="1049538874"/>
              </p:ext>
            </p:extLst>
          </p:nvPr>
        </p:nvGraphicFramePr>
        <p:xfrm>
          <a:off x="2574248" y="4103247"/>
          <a:ext cx="7281863" cy="2667000"/>
        </p:xfrm>
        <a:graphic>
          <a:graphicData uri="http://schemas.openxmlformats.org/presentationml/2006/ole">
            <mc:AlternateContent xmlns:mc="http://schemas.openxmlformats.org/markup-compatibility/2006">
              <mc:Choice xmlns:v="urn:schemas-microsoft-com:vml" Requires="v">
                <p:oleObj name="Visio" r:id="rId3" imgW="7643978" imgH="2744343" progId="Visio.Drawing.6">
                  <p:embed/>
                </p:oleObj>
              </mc:Choice>
              <mc:Fallback>
                <p:oleObj name="Visio" r:id="rId3" imgW="7643978" imgH="2744343" progId="Visio.Drawing.6">
                  <p:embed/>
                  <p:pic>
                    <p:nvPicPr>
                      <p:cNvPr id="9" name="Object 4">
                        <a:extLst>
                          <a:ext uri="{FF2B5EF4-FFF2-40B4-BE49-F238E27FC236}">
                            <a16:creationId xmlns:a16="http://schemas.microsoft.com/office/drawing/2014/main" id="{94CDFF6D-F2D4-50DB-8359-84D0B60549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4248" y="4103247"/>
                        <a:ext cx="7281863"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矩形 26">
            <a:extLst>
              <a:ext uri="{FF2B5EF4-FFF2-40B4-BE49-F238E27FC236}">
                <a16:creationId xmlns:a16="http://schemas.microsoft.com/office/drawing/2014/main" id="{0086C0A0-3AC8-6BCF-570C-B2AA5F6D5ECD}"/>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从频繁项集到关联规则</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D50EACE6-E610-8019-654A-134ECC67DC80}"/>
              </a:ext>
            </a:extLst>
          </p:cNvPr>
          <p:cNvSpPr/>
          <p:nvPr/>
        </p:nvSpPr>
        <p:spPr>
          <a:xfrm>
            <a:off x="558040" y="1190656"/>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基本概念</a:t>
            </a:r>
          </a:p>
        </p:txBody>
      </p:sp>
    </p:spTree>
    <p:extLst>
      <p:ext uri="{BB962C8B-B14F-4D97-AF65-F5344CB8AC3E}">
        <p14:creationId xmlns:p14="http://schemas.microsoft.com/office/powerpoint/2010/main" val="890206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FD446-060B-107A-DB15-384CB04F6A78}"/>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7C756CB9-9F74-F481-EF1A-80DB91EB1206}"/>
              </a:ext>
            </a:extLst>
          </p:cNvPr>
          <p:cNvSpPr txBox="1"/>
          <p:nvPr/>
        </p:nvSpPr>
        <p:spPr>
          <a:xfrm>
            <a:off x="1907633" y="1972531"/>
            <a:ext cx="8202622" cy="4381264"/>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dirty="0">
                <a:latin typeface="微软雅黑" pitchFamily="34" charset="-122"/>
                <a:ea typeface="微软雅黑" pitchFamily="34" charset="-122"/>
                <a:cs typeface="+mj-cs"/>
              </a:rPr>
              <a:t>一些有意义的关联规则包含的项集可能为非频繁项集</a:t>
            </a:r>
            <a:endParaRPr lang="en-US" altLang="zh-CN" sz="2400" dirty="0">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奢侈品一般是非频繁项，但奢侈品间通常表现出极强的关联性</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en-US" altLang="zh-CN" sz="2000" i="1"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min</a:t>
            </a:r>
            <a:r>
              <a:rPr kumimoji="1" lang="en-US" altLang="zh-CN" sz="2000"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_</a:t>
            </a:r>
            <a:r>
              <a:rPr kumimoji="1" lang="en-US" altLang="zh-CN" sz="2000" i="1"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sup</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较高时，这种情况尤其显著</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defTabSz="457200">
              <a:lnSpc>
                <a:spcPct val="125000"/>
              </a:lnSpc>
              <a:spcBef>
                <a:spcPct val="20000"/>
              </a:spcBef>
              <a:buClr>
                <a:srgbClr val="0000FF"/>
              </a:buClr>
              <a:buSzPct val="55000"/>
              <a:buFont typeface="Wingdings" panose="05000000000000000000" pitchFamily="2" charset="2"/>
              <a:buChar char="n"/>
              <a:defRPr/>
            </a:pPr>
            <a:r>
              <a:rPr kumimoji="1" lang="en-US" altLang="zh-CN" sz="2000" i="1"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min</a:t>
            </a:r>
            <a:r>
              <a:rPr kumimoji="1" lang="en-US" altLang="zh-CN" sz="2000"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_</a:t>
            </a:r>
            <a:r>
              <a:rPr kumimoji="1" lang="en-US" altLang="zh-CN" sz="2000" i="1" kern="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sup</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较低时，又会产生过多的无意义规则</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fontAlgn="base">
              <a:lnSpc>
                <a:spcPct val="125000"/>
              </a:lnSpc>
              <a:spcBef>
                <a:spcPct val="0"/>
              </a:spcBef>
              <a:spcAft>
                <a:spcPct val="0"/>
              </a:spcAft>
              <a:buFont typeface="Wingdings" panose="05000000000000000000" pitchFamily="2" charset="2"/>
              <a:buChar char="p"/>
              <a:defRPr/>
            </a:pPr>
            <a:r>
              <a:rPr lang="zh-CN" altLang="en-US" sz="2400" dirty="0">
                <a:latin typeface="微软雅黑" pitchFamily="34" charset="-122"/>
                <a:ea typeface="微软雅黑" pitchFamily="34" charset="-122"/>
                <a:cs typeface="+mj-cs"/>
              </a:rPr>
              <a:t>当关联规则          中 </a:t>
            </a:r>
            <a:r>
              <a:rPr lang="en-US" altLang="zh-CN" sz="2400" i="1" dirty="0">
                <a:latin typeface="Times New Roman" panose="02020603050405020304" pitchFamily="18" charset="0"/>
                <a:ea typeface="微软雅黑" pitchFamily="34" charset="-122"/>
                <a:cs typeface="Times New Roman" panose="02020603050405020304" pitchFamily="18" charset="0"/>
              </a:rPr>
              <a:t>B </a:t>
            </a:r>
            <a:r>
              <a:rPr lang="zh-CN" altLang="en-US" sz="2400" dirty="0">
                <a:latin typeface="微软雅黑" pitchFamily="34" charset="-122"/>
                <a:ea typeface="微软雅黑" pitchFamily="34" charset="-122"/>
                <a:cs typeface="+mj-cs"/>
              </a:rPr>
              <a:t>为高频项集时，        极易满足最小置信度阈值，得到与现实相反的误导性结论</a:t>
            </a:r>
            <a:endParaRPr lang="en-US" altLang="zh-CN" sz="2400" dirty="0">
              <a:latin typeface="微软雅黑" pitchFamily="34" charset="-122"/>
              <a:ea typeface="微软雅黑" pitchFamily="34" charset="-122"/>
              <a:cs typeface="+mj-cs"/>
            </a:endParaRPr>
          </a:p>
          <a:p>
            <a:pPr marL="742950" lvl="1" indent="-285750" defTabSz="457200">
              <a:lnSpc>
                <a:spcPct val="125000"/>
              </a:lnSpc>
              <a:spcBef>
                <a:spcPct val="20000"/>
              </a:spcBef>
              <a:buClr>
                <a:srgbClr val="0000FF"/>
              </a:buClr>
              <a:buSzPct val="55000"/>
              <a:buFont typeface="Wingdings" panose="05000000000000000000" pitchFamily="2" charset="2"/>
              <a:buChar char="n"/>
              <a:defRPr/>
            </a:pP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，但                         ，即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发生的概率大于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在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条件下发生的概率，这说明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对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的发生应该起抑制作用，而不是促进作用，这与根据支持度和置信度得出来的结论是完全相反的。</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9" name="对象 8">
            <a:extLst>
              <a:ext uri="{FF2B5EF4-FFF2-40B4-BE49-F238E27FC236}">
                <a16:creationId xmlns:a16="http://schemas.microsoft.com/office/drawing/2014/main" id="{B6023A05-E920-7624-13BB-3B676821FC9E}"/>
              </a:ext>
            </a:extLst>
          </p:cNvPr>
          <p:cNvGraphicFramePr>
            <a:graphicFrameLocks noChangeAspect="1"/>
          </p:cNvGraphicFramePr>
          <p:nvPr>
            <p:extLst>
              <p:ext uri="{D42A27DB-BD31-4B8C-83A1-F6EECF244321}">
                <p14:modId xmlns:p14="http://schemas.microsoft.com/office/powerpoint/2010/main" val="2604479654"/>
              </p:ext>
            </p:extLst>
          </p:nvPr>
        </p:nvGraphicFramePr>
        <p:xfrm>
          <a:off x="3808227" y="3858538"/>
          <a:ext cx="971550" cy="356898"/>
        </p:xfrm>
        <a:graphic>
          <a:graphicData uri="http://schemas.openxmlformats.org/presentationml/2006/ole">
            <mc:AlternateContent xmlns:mc="http://schemas.openxmlformats.org/markup-compatibility/2006">
              <mc:Choice xmlns:v="urn:schemas-microsoft-com:vml" Requires="v">
                <p:oleObj name="Equation" r:id="rId3" imgW="466501" imgH="171342" progId="Equation.DSMT4">
                  <p:embed/>
                </p:oleObj>
              </mc:Choice>
              <mc:Fallback>
                <p:oleObj name="Equation" r:id="rId3" imgW="466501" imgH="171342" progId="Equation.DSMT4">
                  <p:embed/>
                  <p:pic>
                    <p:nvPicPr>
                      <p:cNvPr id="0" name=""/>
                      <p:cNvPicPr/>
                      <p:nvPr/>
                    </p:nvPicPr>
                    <p:blipFill>
                      <a:blip r:embed="rId4"/>
                      <a:stretch>
                        <a:fillRect/>
                      </a:stretch>
                    </p:blipFill>
                    <p:spPr>
                      <a:xfrm>
                        <a:off x="3808227" y="3858538"/>
                        <a:ext cx="971550" cy="356898"/>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5E57E2E6-DA27-A102-F20D-2F599E3BFF79}"/>
              </a:ext>
            </a:extLst>
          </p:cNvPr>
          <p:cNvGraphicFramePr>
            <a:graphicFrameLocks noChangeAspect="1"/>
          </p:cNvGraphicFramePr>
          <p:nvPr>
            <p:extLst>
              <p:ext uri="{D42A27DB-BD31-4B8C-83A1-F6EECF244321}">
                <p14:modId xmlns:p14="http://schemas.microsoft.com/office/powerpoint/2010/main" val="3915440111"/>
              </p:ext>
            </p:extLst>
          </p:nvPr>
        </p:nvGraphicFramePr>
        <p:xfrm>
          <a:off x="7279052" y="3872960"/>
          <a:ext cx="971550" cy="358775"/>
        </p:xfrm>
        <a:graphic>
          <a:graphicData uri="http://schemas.openxmlformats.org/presentationml/2006/ole">
            <mc:AlternateContent xmlns:mc="http://schemas.openxmlformats.org/markup-compatibility/2006">
              <mc:Choice xmlns:v="urn:schemas-microsoft-com:vml" Requires="v">
                <p:oleObj name="Equation" r:id="rId5" imgW="970992" imgH="358213" progId="Equation.DSMT4">
                  <p:embed/>
                </p:oleObj>
              </mc:Choice>
              <mc:Fallback>
                <p:oleObj name="Equation" r:id="rId5" imgW="970992" imgH="358213" progId="Equation.DSMT4">
                  <p:embed/>
                  <p:pic>
                    <p:nvPicPr>
                      <p:cNvPr id="0" name=""/>
                      <p:cNvPicPr/>
                      <p:nvPr/>
                    </p:nvPicPr>
                    <p:blipFill>
                      <a:blip r:embed="rId6"/>
                      <a:stretch>
                        <a:fillRect/>
                      </a:stretch>
                    </p:blipFill>
                    <p:spPr>
                      <a:xfrm>
                        <a:off x="7279052" y="3872960"/>
                        <a:ext cx="971550" cy="358775"/>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14DFF7C3-35AB-EF3F-E1ED-8B77AB30346F}"/>
              </a:ext>
            </a:extLst>
          </p:cNvPr>
          <p:cNvGraphicFramePr>
            <a:graphicFrameLocks noChangeAspect="1"/>
          </p:cNvGraphicFramePr>
          <p:nvPr>
            <p:extLst>
              <p:ext uri="{D42A27DB-BD31-4B8C-83A1-F6EECF244321}">
                <p14:modId xmlns:p14="http://schemas.microsoft.com/office/powerpoint/2010/main" val="3057383776"/>
              </p:ext>
            </p:extLst>
          </p:nvPr>
        </p:nvGraphicFramePr>
        <p:xfrm>
          <a:off x="2599077" y="4832593"/>
          <a:ext cx="1526129" cy="308161"/>
        </p:xfrm>
        <a:graphic>
          <a:graphicData uri="http://schemas.openxmlformats.org/presentationml/2006/ole">
            <mc:AlternateContent xmlns:mc="http://schemas.openxmlformats.org/markup-compatibility/2006">
              <mc:Choice xmlns:v="urn:schemas-microsoft-com:vml" Requires="v">
                <p:oleObj name="Equation" r:id="rId7" imgW="990594" imgH="200139" progId="Equation.DSMT4">
                  <p:embed/>
                </p:oleObj>
              </mc:Choice>
              <mc:Fallback>
                <p:oleObj name="Equation" r:id="rId7" imgW="990594" imgH="200139" progId="Equation.DSMT4">
                  <p:embed/>
                  <p:pic>
                    <p:nvPicPr>
                      <p:cNvPr id="0" name=""/>
                      <p:cNvPicPr/>
                      <p:nvPr/>
                    </p:nvPicPr>
                    <p:blipFill>
                      <a:blip r:embed="rId8"/>
                      <a:stretch>
                        <a:fillRect/>
                      </a:stretch>
                    </p:blipFill>
                    <p:spPr>
                      <a:xfrm>
                        <a:off x="2599077" y="4832593"/>
                        <a:ext cx="1526129" cy="308161"/>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EB198D05-70DE-FD39-39FC-38038EBEE6B8}"/>
              </a:ext>
            </a:extLst>
          </p:cNvPr>
          <p:cNvGraphicFramePr>
            <a:graphicFrameLocks noChangeAspect="1"/>
          </p:cNvGraphicFramePr>
          <p:nvPr>
            <p:extLst>
              <p:ext uri="{D42A27DB-BD31-4B8C-83A1-F6EECF244321}">
                <p14:modId xmlns:p14="http://schemas.microsoft.com/office/powerpoint/2010/main" val="2213582905"/>
              </p:ext>
            </p:extLst>
          </p:nvPr>
        </p:nvGraphicFramePr>
        <p:xfrm>
          <a:off x="4094943" y="4832593"/>
          <a:ext cx="851109" cy="308161"/>
        </p:xfrm>
        <a:graphic>
          <a:graphicData uri="http://schemas.openxmlformats.org/presentationml/2006/ole">
            <mc:AlternateContent xmlns:mc="http://schemas.openxmlformats.org/markup-compatibility/2006">
              <mc:Choice xmlns:v="urn:schemas-microsoft-com:vml" Requires="v">
                <p:oleObj name="Equation" r:id="rId9" imgW="552530" imgH="200139" progId="Equation.DSMT4">
                  <p:embed/>
                </p:oleObj>
              </mc:Choice>
              <mc:Fallback>
                <p:oleObj name="Equation" r:id="rId9" imgW="552530" imgH="200139" progId="Equation.DSMT4">
                  <p:embed/>
                  <p:pic>
                    <p:nvPicPr>
                      <p:cNvPr id="0" name=""/>
                      <p:cNvPicPr/>
                      <p:nvPr/>
                    </p:nvPicPr>
                    <p:blipFill>
                      <a:blip r:embed="rId10"/>
                      <a:stretch>
                        <a:fillRect/>
                      </a:stretch>
                    </p:blipFill>
                    <p:spPr>
                      <a:xfrm>
                        <a:off x="4094943" y="4832593"/>
                        <a:ext cx="851109" cy="308161"/>
                      </a:xfrm>
                      <a:prstGeom prst="rect">
                        <a:avLst/>
                      </a:prstGeom>
                    </p:spPr>
                  </p:pic>
                </p:oleObj>
              </mc:Fallback>
            </mc:AlternateContent>
          </a:graphicData>
        </a:graphic>
      </p:graphicFrame>
      <p:graphicFrame>
        <p:nvGraphicFramePr>
          <p:cNvPr id="29" name="对象 28">
            <a:extLst>
              <a:ext uri="{FF2B5EF4-FFF2-40B4-BE49-F238E27FC236}">
                <a16:creationId xmlns:a16="http://schemas.microsoft.com/office/drawing/2014/main" id="{9F6DDE04-CD51-2295-61EB-14AB1D49B299}"/>
              </a:ext>
            </a:extLst>
          </p:cNvPr>
          <p:cNvGraphicFramePr>
            <a:graphicFrameLocks noChangeAspect="1"/>
          </p:cNvGraphicFramePr>
          <p:nvPr>
            <p:extLst>
              <p:ext uri="{D42A27DB-BD31-4B8C-83A1-F6EECF244321}">
                <p14:modId xmlns:p14="http://schemas.microsoft.com/office/powerpoint/2010/main" val="1604159359"/>
              </p:ext>
            </p:extLst>
          </p:nvPr>
        </p:nvGraphicFramePr>
        <p:xfrm>
          <a:off x="4901909" y="4853296"/>
          <a:ext cx="195658" cy="244572"/>
        </p:xfrm>
        <a:graphic>
          <a:graphicData uri="http://schemas.openxmlformats.org/presentationml/2006/ole">
            <mc:AlternateContent xmlns:mc="http://schemas.openxmlformats.org/markup-compatibility/2006">
              <mc:Choice xmlns:v="urn:schemas-microsoft-com:vml" Requires="v">
                <p:oleObj name="Equation" r:id="rId11" imgW="126835" imgH="152202" progId="Equation.DSMT4">
                  <p:embed/>
                </p:oleObj>
              </mc:Choice>
              <mc:Fallback>
                <p:oleObj name="Equation" r:id="rId11" imgW="126835" imgH="152202"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01909" y="4853296"/>
                        <a:ext cx="195658" cy="244572"/>
                      </a:xfrm>
                      <a:prstGeom prst="rect">
                        <a:avLst/>
                      </a:prstGeom>
                      <a:noFill/>
                    </p:spPr>
                  </p:pic>
                </p:oleObj>
              </mc:Fallback>
            </mc:AlternateContent>
          </a:graphicData>
        </a:graphic>
      </p:graphicFrame>
      <p:graphicFrame>
        <p:nvGraphicFramePr>
          <p:cNvPr id="31" name="对象 30">
            <a:extLst>
              <a:ext uri="{FF2B5EF4-FFF2-40B4-BE49-F238E27FC236}">
                <a16:creationId xmlns:a16="http://schemas.microsoft.com/office/drawing/2014/main" id="{3AFE04E6-F1CC-E238-6C28-94FBC3B73B41}"/>
              </a:ext>
            </a:extLst>
          </p:cNvPr>
          <p:cNvGraphicFramePr>
            <a:graphicFrameLocks noChangeAspect="1"/>
          </p:cNvGraphicFramePr>
          <p:nvPr>
            <p:extLst>
              <p:ext uri="{D42A27DB-BD31-4B8C-83A1-F6EECF244321}">
                <p14:modId xmlns:p14="http://schemas.microsoft.com/office/powerpoint/2010/main" val="1029063564"/>
              </p:ext>
            </p:extLst>
          </p:nvPr>
        </p:nvGraphicFramePr>
        <p:xfrm>
          <a:off x="5121676" y="4859496"/>
          <a:ext cx="440229" cy="254355"/>
        </p:xfrm>
        <a:graphic>
          <a:graphicData uri="http://schemas.openxmlformats.org/presentationml/2006/ole">
            <mc:AlternateContent xmlns:mc="http://schemas.openxmlformats.org/markup-compatibility/2006">
              <mc:Choice xmlns:v="urn:schemas-microsoft-com:vml" Requires="v">
                <p:oleObj name="Equation" r:id="rId13" imgW="279279" imgH="165028" progId="Equation.DSMT4">
                  <p:embed/>
                </p:oleObj>
              </mc:Choice>
              <mc:Fallback>
                <p:oleObj name="Equation" r:id="rId13" imgW="279279" imgH="165028" progId="Equation.DSMT4">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21676" y="4859496"/>
                        <a:ext cx="440229" cy="254355"/>
                      </a:xfrm>
                      <a:prstGeom prst="rect">
                        <a:avLst/>
                      </a:prstGeom>
                      <a:noFill/>
                    </p:spPr>
                  </p:pic>
                </p:oleObj>
              </mc:Fallback>
            </mc:AlternateContent>
          </a:graphicData>
        </a:graphic>
      </p:graphicFrame>
      <p:graphicFrame>
        <p:nvGraphicFramePr>
          <p:cNvPr id="33" name="对象 32">
            <a:extLst>
              <a:ext uri="{FF2B5EF4-FFF2-40B4-BE49-F238E27FC236}">
                <a16:creationId xmlns:a16="http://schemas.microsoft.com/office/drawing/2014/main" id="{4B7C5233-5B37-5683-9C6A-77FD3FFBEBB8}"/>
              </a:ext>
            </a:extLst>
          </p:cNvPr>
          <p:cNvGraphicFramePr>
            <a:graphicFrameLocks noChangeAspect="1"/>
          </p:cNvGraphicFramePr>
          <p:nvPr>
            <p:extLst>
              <p:ext uri="{D42A27DB-BD31-4B8C-83A1-F6EECF244321}">
                <p14:modId xmlns:p14="http://schemas.microsoft.com/office/powerpoint/2010/main" val="3038206765"/>
              </p:ext>
            </p:extLst>
          </p:nvPr>
        </p:nvGraphicFramePr>
        <p:xfrm>
          <a:off x="5465034" y="4830148"/>
          <a:ext cx="655452" cy="313051"/>
        </p:xfrm>
        <a:graphic>
          <a:graphicData uri="http://schemas.openxmlformats.org/presentationml/2006/ole">
            <mc:AlternateContent xmlns:mc="http://schemas.openxmlformats.org/markup-compatibility/2006">
              <mc:Choice xmlns:v="urn:schemas-microsoft-com:vml" Requires="v">
                <p:oleObj name="Equation" r:id="rId15" imgW="431613" imgH="203112" progId="Equation.DSMT4">
                  <p:embed/>
                </p:oleObj>
              </mc:Choice>
              <mc:Fallback>
                <p:oleObj name="Equation" r:id="rId15" imgW="431613" imgH="203112" progId="Equation.DSMT4">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65034" y="4830148"/>
                        <a:ext cx="655452" cy="313051"/>
                      </a:xfrm>
                      <a:prstGeom prst="rect">
                        <a:avLst/>
                      </a:prstGeom>
                      <a:noFill/>
                    </p:spPr>
                  </p:pic>
                </p:oleObj>
              </mc:Fallback>
            </mc:AlternateContent>
          </a:graphicData>
        </a:graphic>
      </p:graphicFrame>
      <p:graphicFrame>
        <p:nvGraphicFramePr>
          <p:cNvPr id="34" name="对象 33">
            <a:extLst>
              <a:ext uri="{FF2B5EF4-FFF2-40B4-BE49-F238E27FC236}">
                <a16:creationId xmlns:a16="http://schemas.microsoft.com/office/drawing/2014/main" id="{AF3C4D7A-76BD-8A94-74EB-4CB592E95705}"/>
              </a:ext>
            </a:extLst>
          </p:cNvPr>
          <p:cNvGraphicFramePr>
            <a:graphicFrameLocks noChangeAspect="1"/>
          </p:cNvGraphicFramePr>
          <p:nvPr>
            <p:extLst>
              <p:ext uri="{D42A27DB-BD31-4B8C-83A1-F6EECF244321}">
                <p14:modId xmlns:p14="http://schemas.microsoft.com/office/powerpoint/2010/main" val="1561595623"/>
              </p:ext>
            </p:extLst>
          </p:nvPr>
        </p:nvGraphicFramePr>
        <p:xfrm>
          <a:off x="6639468" y="4849684"/>
          <a:ext cx="1540803" cy="308161"/>
        </p:xfrm>
        <a:graphic>
          <a:graphicData uri="http://schemas.openxmlformats.org/presentationml/2006/ole">
            <mc:AlternateContent xmlns:mc="http://schemas.openxmlformats.org/markup-compatibility/2006">
              <mc:Choice xmlns:v="urn:schemas-microsoft-com:vml" Requires="v">
                <p:oleObj name="Equation" r:id="rId17" imgW="999953" imgH="200139" progId="Equation.DSMT4">
                  <p:embed/>
                </p:oleObj>
              </mc:Choice>
              <mc:Fallback>
                <p:oleObj name="Equation" r:id="rId17" imgW="999953" imgH="200139" progId="Equation.DSMT4">
                  <p:embed/>
                  <p:pic>
                    <p:nvPicPr>
                      <p:cNvPr id="0" name=""/>
                      <p:cNvPicPr/>
                      <p:nvPr/>
                    </p:nvPicPr>
                    <p:blipFill>
                      <a:blip r:embed="rId18"/>
                      <a:stretch>
                        <a:fillRect/>
                      </a:stretch>
                    </p:blipFill>
                    <p:spPr>
                      <a:xfrm>
                        <a:off x="6639468" y="4849684"/>
                        <a:ext cx="1540803" cy="308161"/>
                      </a:xfrm>
                      <a:prstGeom prst="rect">
                        <a:avLst/>
                      </a:prstGeom>
                    </p:spPr>
                  </p:pic>
                </p:oleObj>
              </mc:Fallback>
            </mc:AlternateContent>
          </a:graphicData>
        </a:graphic>
      </p:graphicFrame>
      <p:sp>
        <p:nvSpPr>
          <p:cNvPr id="5" name="矩形 26">
            <a:extLst>
              <a:ext uri="{FF2B5EF4-FFF2-40B4-BE49-F238E27FC236}">
                <a16:creationId xmlns:a16="http://schemas.microsoft.com/office/drawing/2014/main" id="{75266BA9-CD1D-2DBF-BC88-084783552ADE}"/>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3D75DE84-0F16-6B04-BA55-FE8684201D3E}"/>
              </a:ext>
            </a:extLst>
          </p:cNvPr>
          <p:cNvSpPr/>
          <p:nvPr/>
        </p:nvSpPr>
        <p:spPr>
          <a:xfrm>
            <a:off x="558039" y="1190656"/>
            <a:ext cx="5158835"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支持度</a:t>
            </a:r>
            <a:r>
              <a:rPr kumimoji="0" lang="en-US" altLang="zh-CN"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a:t>
            </a: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置信度框架的局限性</a:t>
            </a:r>
          </a:p>
        </p:txBody>
      </p:sp>
    </p:spTree>
    <p:extLst>
      <p:ext uri="{BB962C8B-B14F-4D97-AF65-F5344CB8AC3E}">
        <p14:creationId xmlns:p14="http://schemas.microsoft.com/office/powerpoint/2010/main" val="238260170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43CE-661A-8346-360B-15A6EC1F52FF}"/>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9E530C26-1790-9417-E948-3D2FE50E4E34}"/>
              </a:ext>
            </a:extLst>
          </p:cNvPr>
          <p:cNvSpPr txBox="1"/>
          <p:nvPr/>
        </p:nvSpPr>
        <p:spPr>
          <a:xfrm>
            <a:off x="1721312" y="2408186"/>
            <a:ext cx="7749691" cy="1134862"/>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通过为关联规则引入相关性度量（</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correlation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），可以将关联规则转化为相关规则，即</a:t>
            </a:r>
          </a:p>
        </p:txBody>
      </p:sp>
      <p:graphicFrame>
        <p:nvGraphicFramePr>
          <p:cNvPr id="10" name="对象 9">
            <a:extLst>
              <a:ext uri="{FF2B5EF4-FFF2-40B4-BE49-F238E27FC236}">
                <a16:creationId xmlns:a16="http://schemas.microsoft.com/office/drawing/2014/main" id="{9C583029-0480-A47F-9376-48EB552CB4BC}"/>
              </a:ext>
            </a:extLst>
          </p:cNvPr>
          <p:cNvGraphicFramePr>
            <a:graphicFrameLocks noChangeAspect="1"/>
          </p:cNvGraphicFramePr>
          <p:nvPr>
            <p:extLst>
              <p:ext uri="{D42A27DB-BD31-4B8C-83A1-F6EECF244321}">
                <p14:modId xmlns:p14="http://schemas.microsoft.com/office/powerpoint/2010/main" val="600709989"/>
              </p:ext>
            </p:extLst>
          </p:nvPr>
        </p:nvGraphicFramePr>
        <p:xfrm>
          <a:off x="2551318" y="4093567"/>
          <a:ext cx="6338698" cy="502312"/>
        </p:xfrm>
        <a:graphic>
          <a:graphicData uri="http://schemas.openxmlformats.org/presentationml/2006/ole">
            <mc:AlternateContent xmlns:mc="http://schemas.openxmlformats.org/markup-compatibility/2006">
              <mc:Choice xmlns:v="urn:schemas-microsoft-com:vml" Requires="v">
                <p:oleObj name="Equation" r:id="rId3" imgW="2523639" imgH="200139" progId="Equation.DSMT4">
                  <p:embed/>
                </p:oleObj>
              </mc:Choice>
              <mc:Fallback>
                <p:oleObj name="Equation" r:id="rId3" imgW="2523639" imgH="200139" progId="Equation.DSMT4">
                  <p:embed/>
                  <p:pic>
                    <p:nvPicPr>
                      <p:cNvPr id="10" name="对象 9">
                        <a:extLst>
                          <a:ext uri="{FF2B5EF4-FFF2-40B4-BE49-F238E27FC236}">
                            <a16:creationId xmlns:a16="http://schemas.microsoft.com/office/drawing/2014/main" id="{E58D3974-CAEC-295F-ED62-276411CD62C5}"/>
                          </a:ext>
                        </a:extLst>
                      </p:cNvPr>
                      <p:cNvPicPr/>
                      <p:nvPr/>
                    </p:nvPicPr>
                    <p:blipFill>
                      <a:blip r:embed="rId4"/>
                      <a:stretch>
                        <a:fillRect/>
                      </a:stretch>
                    </p:blipFill>
                    <p:spPr>
                      <a:xfrm>
                        <a:off x="2551318" y="4093567"/>
                        <a:ext cx="6338698" cy="502312"/>
                      </a:xfrm>
                      <a:prstGeom prst="rect">
                        <a:avLst/>
                      </a:prstGeom>
                    </p:spPr>
                  </p:pic>
                </p:oleObj>
              </mc:Fallback>
            </mc:AlternateContent>
          </a:graphicData>
        </a:graphic>
      </p:graphicFrame>
      <p:sp>
        <p:nvSpPr>
          <p:cNvPr id="5" name="矩形 26">
            <a:extLst>
              <a:ext uri="{FF2B5EF4-FFF2-40B4-BE49-F238E27FC236}">
                <a16:creationId xmlns:a16="http://schemas.microsoft.com/office/drawing/2014/main" id="{310DAB01-2582-F5F0-485C-3009BB883EB6}"/>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6" name="矩形: 圆角 55">
            <a:extLst>
              <a:ext uri="{FF2B5EF4-FFF2-40B4-BE49-F238E27FC236}">
                <a16:creationId xmlns:a16="http://schemas.microsoft.com/office/drawing/2014/main" id="{41768DF0-F257-05F9-F919-703347E47725}"/>
              </a:ext>
            </a:extLst>
          </p:cNvPr>
          <p:cNvSpPr/>
          <p:nvPr/>
        </p:nvSpPr>
        <p:spPr>
          <a:xfrm>
            <a:off x="558040" y="1190656"/>
            <a:ext cx="2370790"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相关性度量</a:t>
            </a:r>
          </a:p>
        </p:txBody>
      </p:sp>
    </p:spTree>
    <p:extLst>
      <p:ext uri="{BB962C8B-B14F-4D97-AF65-F5344CB8AC3E}">
        <p14:creationId xmlns:p14="http://schemas.microsoft.com/office/powerpoint/2010/main" val="30591727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89FCF-CFBB-BEC5-5183-39B97227F272}"/>
            </a:ext>
          </a:extLst>
        </p:cNvPr>
        <p:cNvGrpSpPr/>
        <p:nvPr/>
      </p:nvGrpSpPr>
      <p:grpSpPr>
        <a:xfrm>
          <a:off x="0" y="0"/>
          <a:ext cx="0" cy="0"/>
          <a:chOff x="0" y="0"/>
          <a:chExt cx="0" cy="0"/>
        </a:xfrm>
      </p:grpSpPr>
      <p:graphicFrame>
        <p:nvGraphicFramePr>
          <p:cNvPr id="5" name="对象 4">
            <a:extLst>
              <a:ext uri="{FF2B5EF4-FFF2-40B4-BE49-F238E27FC236}">
                <a16:creationId xmlns:a16="http://schemas.microsoft.com/office/drawing/2014/main" id="{B859B61B-6F2C-0970-EF31-5EF32CFB5059}"/>
              </a:ext>
            </a:extLst>
          </p:cNvPr>
          <p:cNvGraphicFramePr>
            <a:graphicFrameLocks noChangeAspect="1"/>
          </p:cNvGraphicFramePr>
          <p:nvPr>
            <p:extLst>
              <p:ext uri="{D42A27DB-BD31-4B8C-83A1-F6EECF244321}">
                <p14:modId xmlns:p14="http://schemas.microsoft.com/office/powerpoint/2010/main" val="2600499099"/>
              </p:ext>
            </p:extLst>
          </p:nvPr>
        </p:nvGraphicFramePr>
        <p:xfrm>
          <a:off x="2372618" y="3573913"/>
          <a:ext cx="5902485" cy="766104"/>
        </p:xfrm>
        <a:graphic>
          <a:graphicData uri="http://schemas.openxmlformats.org/presentationml/2006/ole">
            <mc:AlternateContent xmlns:mc="http://schemas.openxmlformats.org/markup-compatibility/2006">
              <mc:Choice xmlns:v="urn:schemas-microsoft-com:vml" Requires="v">
                <p:oleObj name="Equation" r:id="rId3" imgW="3228430" imgH="418995" progId="Equation.DSMT4">
                  <p:embed/>
                </p:oleObj>
              </mc:Choice>
              <mc:Fallback>
                <p:oleObj name="Equation" r:id="rId3" imgW="3228430" imgH="418995" progId="Equation.DSMT4">
                  <p:embed/>
                  <p:pic>
                    <p:nvPicPr>
                      <p:cNvPr id="0" name=""/>
                      <p:cNvPicPr/>
                      <p:nvPr/>
                    </p:nvPicPr>
                    <p:blipFill>
                      <a:blip r:embed="rId4"/>
                      <a:stretch>
                        <a:fillRect/>
                      </a:stretch>
                    </p:blipFill>
                    <p:spPr>
                      <a:xfrm>
                        <a:off x="2372618" y="3573913"/>
                        <a:ext cx="5902485" cy="766104"/>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6444CCC7-EBE5-A18B-8B54-9722C65B7745}"/>
              </a:ext>
            </a:extLst>
          </p:cNvPr>
          <p:cNvSpPr txBox="1"/>
          <p:nvPr/>
        </p:nvSpPr>
        <p:spPr>
          <a:xfrm>
            <a:off x="995423" y="2016301"/>
            <a:ext cx="9102423" cy="1349665"/>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rPr>
              <a:t> 提升度（</a:t>
            </a:r>
            <a:r>
              <a:rPr lang="en-US" altLang="zh-CN" sz="2400" b="1" dirty="0">
                <a:solidFill>
                  <a:srgbClr val="0245AD"/>
                </a:solidFill>
                <a:latin typeface="微软雅黑" pitchFamily="34" charset="-122"/>
                <a:ea typeface="微软雅黑" pitchFamily="34" charset="-122"/>
                <a:cs typeface="+mj-cs"/>
              </a:rPr>
              <a:t>Lift</a:t>
            </a:r>
            <a:r>
              <a:rPr lang="zh-CN" altLang="en-US" sz="2400" b="1" dirty="0">
                <a:solidFill>
                  <a:srgbClr val="0245AD"/>
                </a:solidFill>
                <a:latin typeface="微软雅黑" pitchFamily="34" charset="-122"/>
                <a:ea typeface="微软雅黑" pitchFamily="34" charset="-122"/>
                <a:cs typeface="+mj-cs"/>
              </a:rPr>
              <a:t>）</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是            中置信度             和规则中后置项集支持度</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的比率。提升度经常用于评估一个事件提升另一个事件发生概率的程度。</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2" name="对象 11">
            <a:extLst>
              <a:ext uri="{FF2B5EF4-FFF2-40B4-BE49-F238E27FC236}">
                <a16:creationId xmlns:a16="http://schemas.microsoft.com/office/drawing/2014/main" id="{AA99B89E-3A81-4D1C-9A7B-4E56AEFE873C}"/>
              </a:ext>
            </a:extLst>
          </p:cNvPr>
          <p:cNvGraphicFramePr>
            <a:graphicFrameLocks noChangeAspect="1"/>
          </p:cNvGraphicFramePr>
          <p:nvPr>
            <p:extLst>
              <p:ext uri="{D42A27DB-BD31-4B8C-83A1-F6EECF244321}">
                <p14:modId xmlns:p14="http://schemas.microsoft.com/office/powerpoint/2010/main" val="2553908878"/>
              </p:ext>
            </p:extLst>
          </p:nvPr>
        </p:nvGraphicFramePr>
        <p:xfrm>
          <a:off x="2075892" y="2636261"/>
          <a:ext cx="790365" cy="290338"/>
        </p:xfrm>
        <a:graphic>
          <a:graphicData uri="http://schemas.openxmlformats.org/presentationml/2006/ole">
            <mc:AlternateContent xmlns:mc="http://schemas.openxmlformats.org/markup-compatibility/2006">
              <mc:Choice xmlns:v="urn:schemas-microsoft-com:vml" Requires="v">
                <p:oleObj name="Equation" r:id="rId5" imgW="466501" imgH="171342" progId="Equation.DSMT4">
                  <p:embed/>
                </p:oleObj>
              </mc:Choice>
              <mc:Fallback>
                <p:oleObj name="Equation" r:id="rId5" imgW="466501" imgH="171342" progId="Equation.DSMT4">
                  <p:embed/>
                  <p:pic>
                    <p:nvPicPr>
                      <p:cNvPr id="0" name=""/>
                      <p:cNvPicPr/>
                      <p:nvPr/>
                    </p:nvPicPr>
                    <p:blipFill>
                      <a:blip r:embed="rId6"/>
                      <a:stretch>
                        <a:fillRect/>
                      </a:stretch>
                    </p:blipFill>
                    <p:spPr>
                      <a:xfrm>
                        <a:off x="2075892" y="2636261"/>
                        <a:ext cx="790365" cy="290338"/>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55C52ADA-6BB9-67FD-AB97-B1C78FD107F0}"/>
              </a:ext>
            </a:extLst>
          </p:cNvPr>
          <p:cNvGraphicFramePr>
            <a:graphicFrameLocks noChangeAspect="1"/>
          </p:cNvGraphicFramePr>
          <p:nvPr>
            <p:extLst>
              <p:ext uri="{D42A27DB-BD31-4B8C-83A1-F6EECF244321}">
                <p14:modId xmlns:p14="http://schemas.microsoft.com/office/powerpoint/2010/main" val="4095061501"/>
              </p:ext>
            </p:extLst>
          </p:nvPr>
        </p:nvGraphicFramePr>
        <p:xfrm>
          <a:off x="3870880" y="2593335"/>
          <a:ext cx="792144" cy="403544"/>
        </p:xfrm>
        <a:graphic>
          <a:graphicData uri="http://schemas.openxmlformats.org/presentationml/2006/ole">
            <mc:AlternateContent xmlns:mc="http://schemas.openxmlformats.org/markup-compatibility/2006">
              <mc:Choice xmlns:v="urn:schemas-microsoft-com:vml" Requires="v">
                <p:oleObj name="Equation" r:id="rId7" imgW="504656" imgH="257013" progId="Equation.DSMT4">
                  <p:embed/>
                </p:oleObj>
              </mc:Choice>
              <mc:Fallback>
                <p:oleObj name="Equation" r:id="rId7" imgW="504656" imgH="257013" progId="Equation.DSMT4">
                  <p:embed/>
                  <p:pic>
                    <p:nvPicPr>
                      <p:cNvPr id="0" name=""/>
                      <p:cNvPicPr/>
                      <p:nvPr/>
                    </p:nvPicPr>
                    <p:blipFill>
                      <a:blip r:embed="rId8"/>
                      <a:stretch>
                        <a:fillRect/>
                      </a:stretch>
                    </p:blipFill>
                    <p:spPr>
                      <a:xfrm>
                        <a:off x="3870880" y="2593335"/>
                        <a:ext cx="792144" cy="403544"/>
                      </a:xfrm>
                      <a:prstGeom prst="rect">
                        <a:avLst/>
                      </a:prstGeom>
                    </p:spPr>
                  </p:pic>
                </p:oleObj>
              </mc:Fallback>
            </mc:AlternateContent>
          </a:graphicData>
        </a:graphic>
      </p:graphicFrame>
      <p:sp>
        <p:nvSpPr>
          <p:cNvPr id="15" name="文本框 14">
            <a:extLst>
              <a:ext uri="{FF2B5EF4-FFF2-40B4-BE49-F238E27FC236}">
                <a16:creationId xmlns:a16="http://schemas.microsoft.com/office/drawing/2014/main" id="{58DB9F1C-CF5A-B52B-8B82-20842A23A512}"/>
              </a:ext>
            </a:extLst>
          </p:cNvPr>
          <p:cNvSpPr txBox="1"/>
          <p:nvPr/>
        </p:nvSpPr>
        <p:spPr>
          <a:xfrm>
            <a:off x="1257742" y="4587140"/>
            <a:ext cx="9524224" cy="1595886"/>
          </a:xfrm>
          <a:prstGeom prst="rect">
            <a:avLst/>
          </a:prstGeom>
          <a:noFill/>
        </p:spPr>
        <p:txBody>
          <a:bodyPr wrap="square">
            <a:spAutoFit/>
          </a:bodyPr>
          <a:lstStyle/>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当事件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独立，即满足                                   时，</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lift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，否则，认为事件</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与事件</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存在相关性；</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当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lift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&gt;1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时，认为事件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与事件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存在正相关性，即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对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起促进作用；</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当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lift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&lt;1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时，认为事件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与事件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存在负相关性，即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对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起抑制作用。</a:t>
            </a:r>
          </a:p>
        </p:txBody>
      </p:sp>
      <p:graphicFrame>
        <p:nvGraphicFramePr>
          <p:cNvPr id="17" name="对象 16">
            <a:extLst>
              <a:ext uri="{FF2B5EF4-FFF2-40B4-BE49-F238E27FC236}">
                <a16:creationId xmlns:a16="http://schemas.microsoft.com/office/drawing/2014/main" id="{E9068A7C-55CB-E9E8-D83D-546FA204C5C1}"/>
              </a:ext>
            </a:extLst>
          </p:cNvPr>
          <p:cNvGraphicFramePr>
            <a:graphicFrameLocks noChangeAspect="1"/>
          </p:cNvGraphicFramePr>
          <p:nvPr>
            <p:extLst>
              <p:ext uri="{D42A27DB-BD31-4B8C-83A1-F6EECF244321}">
                <p14:modId xmlns:p14="http://schemas.microsoft.com/office/powerpoint/2010/main" val="1344260680"/>
              </p:ext>
            </p:extLst>
          </p:nvPr>
        </p:nvGraphicFramePr>
        <p:xfrm>
          <a:off x="4647043" y="4659078"/>
          <a:ext cx="2187234" cy="346940"/>
        </p:xfrm>
        <a:graphic>
          <a:graphicData uri="http://schemas.openxmlformats.org/presentationml/2006/ole">
            <mc:AlternateContent xmlns:mc="http://schemas.openxmlformats.org/markup-compatibility/2006">
              <mc:Choice xmlns:v="urn:schemas-microsoft-com:vml" Requires="v">
                <p:oleObj name="Equation" r:id="rId9" imgW="1380785" imgH="219217" progId="Equation.DSMT4">
                  <p:embed/>
                </p:oleObj>
              </mc:Choice>
              <mc:Fallback>
                <p:oleObj name="Equation" r:id="rId9" imgW="1380785" imgH="219217" progId="Equation.DSMT4">
                  <p:embed/>
                  <p:pic>
                    <p:nvPicPr>
                      <p:cNvPr id="0" name=""/>
                      <p:cNvPicPr/>
                      <p:nvPr/>
                    </p:nvPicPr>
                    <p:blipFill>
                      <a:blip r:embed="rId10"/>
                      <a:stretch>
                        <a:fillRect/>
                      </a:stretch>
                    </p:blipFill>
                    <p:spPr>
                      <a:xfrm>
                        <a:off x="4647043" y="4659078"/>
                        <a:ext cx="2187234" cy="346940"/>
                      </a:xfrm>
                      <a:prstGeom prst="rect">
                        <a:avLst/>
                      </a:prstGeom>
                    </p:spPr>
                  </p:pic>
                </p:oleObj>
              </mc:Fallback>
            </mc:AlternateContent>
          </a:graphicData>
        </a:graphic>
      </p:graphicFrame>
      <p:sp>
        <p:nvSpPr>
          <p:cNvPr id="6" name="矩形 26">
            <a:extLst>
              <a:ext uri="{FF2B5EF4-FFF2-40B4-BE49-F238E27FC236}">
                <a16:creationId xmlns:a16="http://schemas.microsoft.com/office/drawing/2014/main" id="{A8CBBE03-3441-872C-5FCC-F2BA29B6B0E9}"/>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50E788F6-6070-FDB8-6A6F-ADBAD17970B7}"/>
              </a:ext>
            </a:extLst>
          </p:cNvPr>
          <p:cNvSpPr/>
          <p:nvPr/>
        </p:nvSpPr>
        <p:spPr>
          <a:xfrm>
            <a:off x="558040" y="1190656"/>
            <a:ext cx="2370790"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相关性度量</a:t>
            </a:r>
          </a:p>
        </p:txBody>
      </p:sp>
    </p:spTree>
    <p:extLst>
      <p:ext uri="{BB962C8B-B14F-4D97-AF65-F5344CB8AC3E}">
        <p14:creationId xmlns:p14="http://schemas.microsoft.com/office/powerpoint/2010/main" val="29109581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1113B-7712-7F30-288A-77DF803A05BC}"/>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7C829787-9678-994D-10A9-C7DB7553A01B}"/>
              </a:ext>
            </a:extLst>
          </p:cNvPr>
          <p:cNvSpPr txBox="1"/>
          <p:nvPr/>
        </p:nvSpPr>
        <p:spPr>
          <a:xfrm>
            <a:off x="1283883" y="3147703"/>
            <a:ext cx="8729450" cy="2042162"/>
          </a:xfrm>
          <a:prstGeom prst="rect">
            <a:avLst/>
          </a:prstGeom>
          <a:noFill/>
        </p:spPr>
        <p:txBody>
          <a:bodyPr wrap="square">
            <a:spAutoFit/>
          </a:bodyPr>
          <a:lstStyle/>
          <a:p>
            <a:pPr marL="742950" lvl="1" indent="-285750" defTabSz="457200">
              <a:lnSpc>
                <a:spcPct val="125000"/>
              </a:lnSpc>
              <a:spcBef>
                <a:spcPct val="20000"/>
              </a:spcBef>
              <a:buClr>
                <a:srgbClr val="0000FF"/>
              </a:buClr>
              <a:buSzPct val="55000"/>
              <a:buFont typeface="Wingdings" panose="05000000000000000000" pitchFamily="2" charset="2"/>
              <a:buChar char="n"/>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卡方检验通过比较两个项集实际观测值和期望频数之间的差异，来判断这种差异是否超过了随机误差所能解释的范围，从而确定两个项集之间是否存在统计显著的关联。  </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defTabSz="457200">
              <a:lnSpc>
                <a:spcPct val="125000"/>
              </a:lnSpc>
              <a:spcBef>
                <a:spcPct val="20000"/>
              </a:spcBef>
              <a:buClr>
                <a:srgbClr val="0000FF"/>
              </a:buClr>
              <a:buSzPct val="55000"/>
              <a:buFont typeface="Wingdings" panose="05000000000000000000" pitchFamily="2" charset="2"/>
              <a:buChar char="n"/>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值的大小表示差异程度，较大的     值表明观察到的频数与期望的频数之间的差异较大，可能存在显著的关联。</a:t>
            </a:r>
          </a:p>
        </p:txBody>
      </p:sp>
      <p:sp>
        <p:nvSpPr>
          <p:cNvPr id="20" name="文本框 19">
            <a:extLst>
              <a:ext uri="{FF2B5EF4-FFF2-40B4-BE49-F238E27FC236}">
                <a16:creationId xmlns:a16="http://schemas.microsoft.com/office/drawing/2014/main" id="{39C2E033-1A30-091F-3A0F-7B62D90349C8}"/>
              </a:ext>
            </a:extLst>
          </p:cNvPr>
          <p:cNvSpPr txBox="1"/>
          <p:nvPr/>
        </p:nvSpPr>
        <p:spPr>
          <a:xfrm>
            <a:off x="1283883" y="2182759"/>
            <a:ext cx="9102423" cy="964944"/>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rPr>
              <a:t> 卡方检验</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通过构建     值来评估关联规则中项集之间的关联性。</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21" name="对象 20">
            <a:extLst>
              <a:ext uri="{FF2B5EF4-FFF2-40B4-BE49-F238E27FC236}">
                <a16:creationId xmlns:a16="http://schemas.microsoft.com/office/drawing/2014/main" id="{B5BE96E8-0D25-A2BF-105D-BC103B5F75F3}"/>
              </a:ext>
            </a:extLst>
          </p:cNvPr>
          <p:cNvGraphicFramePr>
            <a:graphicFrameLocks noChangeAspect="1"/>
          </p:cNvGraphicFramePr>
          <p:nvPr>
            <p:extLst>
              <p:ext uri="{D42A27DB-BD31-4B8C-83A1-F6EECF244321}">
                <p14:modId xmlns:p14="http://schemas.microsoft.com/office/powerpoint/2010/main" val="4097437895"/>
              </p:ext>
            </p:extLst>
          </p:nvPr>
        </p:nvGraphicFramePr>
        <p:xfrm>
          <a:off x="3142497" y="2702496"/>
          <a:ext cx="326618" cy="374416"/>
        </p:xfrm>
        <a:graphic>
          <a:graphicData uri="http://schemas.openxmlformats.org/presentationml/2006/ole">
            <mc:AlternateContent xmlns:mc="http://schemas.openxmlformats.org/markup-compatibility/2006">
              <mc:Choice xmlns:v="urn:schemas-microsoft-com:vml" Requires="v">
                <p:oleObj name="Equation" r:id="rId3" imgW="390269" imgH="448216" progId="Equation.DSMT4">
                  <p:embed/>
                </p:oleObj>
              </mc:Choice>
              <mc:Fallback>
                <p:oleObj name="Equation" r:id="rId3" imgW="390269" imgH="448216" progId="Equation.DSMT4">
                  <p:embed/>
                  <p:pic>
                    <p:nvPicPr>
                      <p:cNvPr id="0" name=""/>
                      <p:cNvPicPr/>
                      <p:nvPr/>
                    </p:nvPicPr>
                    <p:blipFill>
                      <a:blip r:embed="rId4"/>
                      <a:stretch>
                        <a:fillRect/>
                      </a:stretch>
                    </p:blipFill>
                    <p:spPr>
                      <a:xfrm>
                        <a:off x="3142497" y="2702496"/>
                        <a:ext cx="326618" cy="374416"/>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B731778A-C8B5-853B-40C9-3C46FB3B8FCC}"/>
              </a:ext>
            </a:extLst>
          </p:cNvPr>
          <p:cNvGraphicFramePr>
            <a:graphicFrameLocks noChangeAspect="1"/>
          </p:cNvGraphicFramePr>
          <p:nvPr>
            <p:extLst>
              <p:ext uri="{D42A27DB-BD31-4B8C-83A1-F6EECF244321}">
                <p14:modId xmlns:p14="http://schemas.microsoft.com/office/powerpoint/2010/main" val="133911380"/>
              </p:ext>
            </p:extLst>
          </p:nvPr>
        </p:nvGraphicFramePr>
        <p:xfrm>
          <a:off x="2187288" y="4393610"/>
          <a:ext cx="326618" cy="374416"/>
        </p:xfrm>
        <a:graphic>
          <a:graphicData uri="http://schemas.openxmlformats.org/presentationml/2006/ole">
            <mc:AlternateContent xmlns:mc="http://schemas.openxmlformats.org/markup-compatibility/2006">
              <mc:Choice xmlns:v="urn:schemas-microsoft-com:vml" Requires="v">
                <p:oleObj name="Equation" r:id="rId3" imgW="390269" imgH="448216" progId="Equation.DSMT4">
                  <p:embed/>
                </p:oleObj>
              </mc:Choice>
              <mc:Fallback>
                <p:oleObj name="Equation" r:id="rId3" imgW="390269" imgH="448216" progId="Equation.DSMT4">
                  <p:embed/>
                  <p:pic>
                    <p:nvPicPr>
                      <p:cNvPr id="21" name="对象 20">
                        <a:extLst>
                          <a:ext uri="{FF2B5EF4-FFF2-40B4-BE49-F238E27FC236}">
                            <a16:creationId xmlns:a16="http://schemas.microsoft.com/office/drawing/2014/main" id="{B5BE96E8-0D25-A2BF-105D-BC103B5F75F3}"/>
                          </a:ext>
                        </a:extLst>
                      </p:cNvPr>
                      <p:cNvPicPr/>
                      <p:nvPr/>
                    </p:nvPicPr>
                    <p:blipFill>
                      <a:blip r:embed="rId4"/>
                      <a:stretch>
                        <a:fillRect/>
                      </a:stretch>
                    </p:blipFill>
                    <p:spPr>
                      <a:xfrm>
                        <a:off x="2187288" y="4393610"/>
                        <a:ext cx="326618" cy="374416"/>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121BFEEC-6906-6B94-7504-FFC2BA9F3A4B}"/>
              </a:ext>
            </a:extLst>
          </p:cNvPr>
          <p:cNvGraphicFramePr>
            <a:graphicFrameLocks noChangeAspect="1"/>
          </p:cNvGraphicFramePr>
          <p:nvPr>
            <p:extLst>
              <p:ext uri="{D42A27DB-BD31-4B8C-83A1-F6EECF244321}">
                <p14:modId xmlns:p14="http://schemas.microsoft.com/office/powerpoint/2010/main" val="1777807364"/>
              </p:ext>
            </p:extLst>
          </p:nvPr>
        </p:nvGraphicFramePr>
        <p:xfrm>
          <a:off x="6084379" y="4393610"/>
          <a:ext cx="326618" cy="374416"/>
        </p:xfrm>
        <a:graphic>
          <a:graphicData uri="http://schemas.openxmlformats.org/presentationml/2006/ole">
            <mc:AlternateContent xmlns:mc="http://schemas.openxmlformats.org/markup-compatibility/2006">
              <mc:Choice xmlns:v="urn:schemas-microsoft-com:vml" Requires="v">
                <p:oleObj name="Equation" r:id="rId3" imgW="390269" imgH="448216" progId="Equation.DSMT4">
                  <p:embed/>
                </p:oleObj>
              </mc:Choice>
              <mc:Fallback>
                <p:oleObj name="Equation" r:id="rId3" imgW="390269" imgH="448216" progId="Equation.DSMT4">
                  <p:embed/>
                  <p:pic>
                    <p:nvPicPr>
                      <p:cNvPr id="21" name="对象 20">
                        <a:extLst>
                          <a:ext uri="{FF2B5EF4-FFF2-40B4-BE49-F238E27FC236}">
                            <a16:creationId xmlns:a16="http://schemas.microsoft.com/office/drawing/2014/main" id="{B5BE96E8-0D25-A2BF-105D-BC103B5F75F3}"/>
                          </a:ext>
                        </a:extLst>
                      </p:cNvPr>
                      <p:cNvPicPr/>
                      <p:nvPr/>
                    </p:nvPicPr>
                    <p:blipFill>
                      <a:blip r:embed="rId4"/>
                      <a:stretch>
                        <a:fillRect/>
                      </a:stretch>
                    </p:blipFill>
                    <p:spPr>
                      <a:xfrm>
                        <a:off x="6084379" y="4393610"/>
                        <a:ext cx="326618" cy="374416"/>
                      </a:xfrm>
                      <a:prstGeom prst="rect">
                        <a:avLst/>
                      </a:prstGeom>
                    </p:spPr>
                  </p:pic>
                </p:oleObj>
              </mc:Fallback>
            </mc:AlternateContent>
          </a:graphicData>
        </a:graphic>
      </p:graphicFrame>
      <p:sp>
        <p:nvSpPr>
          <p:cNvPr id="5" name="矩形 26">
            <a:extLst>
              <a:ext uri="{FF2B5EF4-FFF2-40B4-BE49-F238E27FC236}">
                <a16:creationId xmlns:a16="http://schemas.microsoft.com/office/drawing/2014/main" id="{63ADCF8B-E245-5547-8A6E-0BDA35283168}"/>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55BB4A44-E9BF-E323-21A9-697C36E480FB}"/>
              </a:ext>
            </a:extLst>
          </p:cNvPr>
          <p:cNvSpPr/>
          <p:nvPr/>
        </p:nvSpPr>
        <p:spPr>
          <a:xfrm>
            <a:off x="558040" y="1190656"/>
            <a:ext cx="2370790"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相关性度量</a:t>
            </a:r>
          </a:p>
        </p:txBody>
      </p:sp>
    </p:spTree>
    <p:extLst>
      <p:ext uri="{BB962C8B-B14F-4D97-AF65-F5344CB8AC3E}">
        <p14:creationId xmlns:p14="http://schemas.microsoft.com/office/powerpoint/2010/main" val="19110379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48C18-C5A3-E3C2-4D10-EC46B322EE8E}"/>
            </a:ext>
          </a:extLst>
        </p:cNvPr>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0787EF1D-C218-283D-4DA0-8CB7545D09D5}"/>
              </a:ext>
            </a:extLst>
          </p:cNvPr>
          <p:cNvGraphicFramePr>
            <a:graphicFrameLocks noChangeAspect="1"/>
          </p:cNvGraphicFramePr>
          <p:nvPr>
            <p:extLst>
              <p:ext uri="{D42A27DB-BD31-4B8C-83A1-F6EECF244321}">
                <p14:modId xmlns:p14="http://schemas.microsoft.com/office/powerpoint/2010/main" val="803428375"/>
              </p:ext>
            </p:extLst>
          </p:nvPr>
        </p:nvGraphicFramePr>
        <p:xfrm>
          <a:off x="3316273" y="4867896"/>
          <a:ext cx="4995955" cy="1364757"/>
        </p:xfrm>
        <a:graphic>
          <a:graphicData uri="http://schemas.openxmlformats.org/presentationml/2006/ole">
            <mc:AlternateContent xmlns:mc="http://schemas.openxmlformats.org/markup-compatibility/2006">
              <mc:Choice xmlns:v="urn:schemas-microsoft-com:vml" Requires="v">
                <p:oleObj name="Equation" r:id="rId3" imgW="3441600" imgH="939600" progId="Equation.DSMT4">
                  <p:embed/>
                </p:oleObj>
              </mc:Choice>
              <mc:Fallback>
                <p:oleObj name="Equation" r:id="rId3" imgW="3441600" imgH="939600" progId="Equation.DSMT4">
                  <p:embed/>
                  <p:pic>
                    <p:nvPicPr>
                      <p:cNvPr id="4" name="对象 3">
                        <a:extLst>
                          <a:ext uri="{FF2B5EF4-FFF2-40B4-BE49-F238E27FC236}">
                            <a16:creationId xmlns:a16="http://schemas.microsoft.com/office/drawing/2014/main" id="{A408BE63-AA35-DF60-637D-2F904A39F589}"/>
                          </a:ext>
                        </a:extLst>
                      </p:cNvPr>
                      <p:cNvPicPr/>
                      <p:nvPr/>
                    </p:nvPicPr>
                    <p:blipFill>
                      <a:blip r:embed="rId4"/>
                      <a:stretch>
                        <a:fillRect/>
                      </a:stretch>
                    </p:blipFill>
                    <p:spPr>
                      <a:xfrm>
                        <a:off x="3316273" y="4867896"/>
                        <a:ext cx="4995955" cy="1364757"/>
                      </a:xfrm>
                      <a:prstGeom prst="rect">
                        <a:avLst/>
                      </a:prstGeom>
                    </p:spPr>
                  </p:pic>
                </p:oleObj>
              </mc:Fallback>
            </mc:AlternateContent>
          </a:graphicData>
        </a:graphic>
      </p:graphicFrame>
      <p:sp>
        <p:nvSpPr>
          <p:cNvPr id="16" name="文本框 15">
            <a:extLst>
              <a:ext uri="{FF2B5EF4-FFF2-40B4-BE49-F238E27FC236}">
                <a16:creationId xmlns:a16="http://schemas.microsoft.com/office/drawing/2014/main" id="{237C126B-E9DE-3F71-2B9B-1E8169619859}"/>
              </a:ext>
            </a:extLst>
          </p:cNvPr>
          <p:cNvSpPr txBox="1"/>
          <p:nvPr/>
        </p:nvSpPr>
        <p:spPr>
          <a:xfrm>
            <a:off x="1818130" y="4299379"/>
            <a:ext cx="7966077" cy="400110"/>
          </a:xfrm>
          <a:prstGeom prst="rect">
            <a:avLst/>
          </a:prstGeom>
          <a:noFill/>
        </p:spPr>
        <p:txBody>
          <a:bodyPr wrap="square">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使用       表示观测值，    表示期望值，则衡量</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的相关性的     值为</a:t>
            </a:r>
          </a:p>
        </p:txBody>
      </p:sp>
      <p:pic>
        <p:nvPicPr>
          <p:cNvPr id="17" name="图片 16">
            <a:extLst>
              <a:ext uri="{FF2B5EF4-FFF2-40B4-BE49-F238E27FC236}">
                <a16:creationId xmlns:a16="http://schemas.microsoft.com/office/drawing/2014/main" id="{DF191652-AE08-23A8-5837-F3F5FE019A84}"/>
              </a:ext>
            </a:extLst>
          </p:cNvPr>
          <p:cNvPicPr>
            <a:picLocks noChangeAspect="1"/>
          </p:cNvPicPr>
          <p:nvPr/>
        </p:nvPicPr>
        <p:blipFill>
          <a:blip r:embed="rId5"/>
          <a:stretch>
            <a:fillRect/>
          </a:stretch>
        </p:blipFill>
        <p:spPr>
          <a:xfrm>
            <a:off x="2872822" y="1987743"/>
            <a:ext cx="6005989" cy="2092779"/>
          </a:xfrm>
          <a:prstGeom prst="rect">
            <a:avLst/>
          </a:prstGeom>
        </p:spPr>
      </p:pic>
      <p:graphicFrame>
        <p:nvGraphicFramePr>
          <p:cNvPr id="18" name="对象 17">
            <a:extLst>
              <a:ext uri="{FF2B5EF4-FFF2-40B4-BE49-F238E27FC236}">
                <a16:creationId xmlns:a16="http://schemas.microsoft.com/office/drawing/2014/main" id="{67AAA824-7A49-33FB-8C4C-03EF1072255C}"/>
              </a:ext>
            </a:extLst>
          </p:cNvPr>
          <p:cNvGraphicFramePr>
            <a:graphicFrameLocks noChangeAspect="1"/>
          </p:cNvGraphicFramePr>
          <p:nvPr>
            <p:extLst>
              <p:ext uri="{D42A27DB-BD31-4B8C-83A1-F6EECF244321}">
                <p14:modId xmlns:p14="http://schemas.microsoft.com/office/powerpoint/2010/main" val="796014332"/>
              </p:ext>
            </p:extLst>
          </p:nvPr>
        </p:nvGraphicFramePr>
        <p:xfrm>
          <a:off x="2422630" y="4359805"/>
          <a:ext cx="485333" cy="318500"/>
        </p:xfrm>
        <a:graphic>
          <a:graphicData uri="http://schemas.openxmlformats.org/presentationml/2006/ole">
            <mc:AlternateContent xmlns:mc="http://schemas.openxmlformats.org/markup-compatibility/2006">
              <mc:Choice xmlns:v="urn:schemas-microsoft-com:vml" Requires="v">
                <p:oleObj name="Equation" r:id="rId6" imgW="304881" imgH="200139" progId="Equation.DSMT4">
                  <p:embed/>
                </p:oleObj>
              </mc:Choice>
              <mc:Fallback>
                <p:oleObj name="Equation" r:id="rId6" imgW="304881" imgH="200139" progId="Equation.DSMT4">
                  <p:embed/>
                  <p:pic>
                    <p:nvPicPr>
                      <p:cNvPr id="18" name="对象 17">
                        <a:extLst>
                          <a:ext uri="{FF2B5EF4-FFF2-40B4-BE49-F238E27FC236}">
                            <a16:creationId xmlns:a16="http://schemas.microsoft.com/office/drawing/2014/main" id="{166DC985-5F9B-7258-23D6-60817F240FB2}"/>
                          </a:ext>
                        </a:extLst>
                      </p:cNvPr>
                      <p:cNvPicPr/>
                      <p:nvPr/>
                    </p:nvPicPr>
                    <p:blipFill>
                      <a:blip r:embed="rId7"/>
                      <a:stretch>
                        <a:fillRect/>
                      </a:stretch>
                    </p:blipFill>
                    <p:spPr>
                      <a:xfrm>
                        <a:off x="2422630" y="4359805"/>
                        <a:ext cx="485333" cy="318500"/>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1983DC03-BF8D-5186-EC05-C124D23FBA8F}"/>
              </a:ext>
            </a:extLst>
          </p:cNvPr>
          <p:cNvGraphicFramePr>
            <a:graphicFrameLocks noChangeAspect="1"/>
          </p:cNvGraphicFramePr>
          <p:nvPr>
            <p:extLst>
              <p:ext uri="{D42A27DB-BD31-4B8C-83A1-F6EECF244321}">
                <p14:modId xmlns:p14="http://schemas.microsoft.com/office/powerpoint/2010/main" val="1760945950"/>
              </p:ext>
            </p:extLst>
          </p:nvPr>
        </p:nvGraphicFramePr>
        <p:xfrm>
          <a:off x="4224378" y="4359805"/>
          <a:ext cx="485333" cy="318500"/>
        </p:xfrm>
        <a:graphic>
          <a:graphicData uri="http://schemas.openxmlformats.org/presentationml/2006/ole">
            <mc:AlternateContent xmlns:mc="http://schemas.openxmlformats.org/markup-compatibility/2006">
              <mc:Choice xmlns:v="urn:schemas-microsoft-com:vml" Requires="v">
                <p:oleObj name="Equation" r:id="rId8" imgW="304881" imgH="200139" progId="Equation.DSMT4">
                  <p:embed/>
                </p:oleObj>
              </mc:Choice>
              <mc:Fallback>
                <p:oleObj name="Equation" r:id="rId8" imgW="304881" imgH="200139" progId="Equation.DSMT4">
                  <p:embed/>
                  <p:pic>
                    <p:nvPicPr>
                      <p:cNvPr id="19" name="对象 18">
                        <a:extLst>
                          <a:ext uri="{FF2B5EF4-FFF2-40B4-BE49-F238E27FC236}">
                            <a16:creationId xmlns:a16="http://schemas.microsoft.com/office/drawing/2014/main" id="{7B4AE7FE-DF0B-D835-E7A5-EC1088E53A30}"/>
                          </a:ext>
                        </a:extLst>
                      </p:cNvPr>
                      <p:cNvPicPr/>
                      <p:nvPr/>
                    </p:nvPicPr>
                    <p:blipFill>
                      <a:blip r:embed="rId9"/>
                      <a:stretch>
                        <a:fillRect/>
                      </a:stretch>
                    </p:blipFill>
                    <p:spPr>
                      <a:xfrm>
                        <a:off x="4224378" y="4359805"/>
                        <a:ext cx="485333" cy="318500"/>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2AA5110F-604E-6D2C-D48D-B37E40542E57}"/>
              </a:ext>
            </a:extLst>
          </p:cNvPr>
          <p:cNvGraphicFramePr>
            <a:graphicFrameLocks noChangeAspect="1"/>
          </p:cNvGraphicFramePr>
          <p:nvPr>
            <p:extLst>
              <p:ext uri="{D42A27DB-BD31-4B8C-83A1-F6EECF244321}">
                <p14:modId xmlns:p14="http://schemas.microsoft.com/office/powerpoint/2010/main" val="1250798780"/>
              </p:ext>
            </p:extLst>
          </p:nvPr>
        </p:nvGraphicFramePr>
        <p:xfrm>
          <a:off x="8797451" y="4339890"/>
          <a:ext cx="284162" cy="319088"/>
        </p:xfrm>
        <a:graphic>
          <a:graphicData uri="http://schemas.openxmlformats.org/presentationml/2006/ole">
            <mc:AlternateContent xmlns:mc="http://schemas.openxmlformats.org/markup-compatibility/2006">
              <mc:Choice xmlns:v="urn:schemas-microsoft-com:vml" Requires="v">
                <p:oleObj name="Equation" r:id="rId10" imgW="203040" imgH="228600" progId="Equation.DSMT4">
                  <p:embed/>
                </p:oleObj>
              </mc:Choice>
              <mc:Fallback>
                <p:oleObj name="Equation" r:id="rId10" imgW="203040" imgH="228600" progId="Equation.DSMT4">
                  <p:embed/>
                  <p:pic>
                    <p:nvPicPr>
                      <p:cNvPr id="0" name=""/>
                      <p:cNvPicPr/>
                      <p:nvPr/>
                    </p:nvPicPr>
                    <p:blipFill>
                      <a:blip r:embed="rId11"/>
                      <a:stretch>
                        <a:fillRect/>
                      </a:stretch>
                    </p:blipFill>
                    <p:spPr>
                      <a:xfrm>
                        <a:off x="8797451" y="4339890"/>
                        <a:ext cx="284162" cy="319088"/>
                      </a:xfrm>
                      <a:prstGeom prst="rect">
                        <a:avLst/>
                      </a:prstGeom>
                    </p:spPr>
                  </p:pic>
                </p:oleObj>
              </mc:Fallback>
            </mc:AlternateContent>
          </a:graphicData>
        </a:graphic>
      </p:graphicFrame>
      <p:sp>
        <p:nvSpPr>
          <p:cNvPr id="8" name="矩形 26">
            <a:extLst>
              <a:ext uri="{FF2B5EF4-FFF2-40B4-BE49-F238E27FC236}">
                <a16:creationId xmlns:a16="http://schemas.microsoft.com/office/drawing/2014/main" id="{C1D221C3-4B33-D394-70D9-D570CA4F8408}"/>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6" name="矩形: 圆角 55">
            <a:extLst>
              <a:ext uri="{FF2B5EF4-FFF2-40B4-BE49-F238E27FC236}">
                <a16:creationId xmlns:a16="http://schemas.microsoft.com/office/drawing/2014/main" id="{79BCC1FD-8996-84F0-DE43-73ABE5A73E37}"/>
              </a:ext>
            </a:extLst>
          </p:cNvPr>
          <p:cNvSpPr/>
          <p:nvPr/>
        </p:nvSpPr>
        <p:spPr>
          <a:xfrm>
            <a:off x="558040" y="1190656"/>
            <a:ext cx="2370790"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相关性度量</a:t>
            </a:r>
          </a:p>
        </p:txBody>
      </p:sp>
    </p:spTree>
    <p:extLst>
      <p:ext uri="{BB962C8B-B14F-4D97-AF65-F5344CB8AC3E}">
        <p14:creationId xmlns:p14="http://schemas.microsoft.com/office/powerpoint/2010/main" val="38303986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ACBA4-033C-A7DC-168C-9A00460003DB}"/>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193ED53F-7D53-31D5-A731-9ED38A19A23F}"/>
              </a:ext>
            </a:extLst>
          </p:cNvPr>
          <p:cNvSpPr txBox="1"/>
          <p:nvPr/>
        </p:nvSpPr>
        <p:spPr>
          <a:xfrm>
            <a:off x="1290759" y="2282820"/>
            <a:ext cx="9402293" cy="3134769"/>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rPr>
              <a:t> 卡方检验</a:t>
            </a: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原假设：</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互相独立</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值的自由度                           </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服从自由度为</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的卡方分布</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当     值大于      时（一般取显著性水平 </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5%</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10%</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），拒绝原假设，认为两个事件是相关的</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使用卡方检验确认项集间的相关性存在时，可进一步使用条件概率             </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1" defTabSz="457200" fontAlgn="auto">
              <a:lnSpc>
                <a:spcPct val="125000"/>
              </a:lnSpc>
              <a:spcBef>
                <a:spcPct val="20000"/>
              </a:spcBef>
              <a:spcAft>
                <a:spcPts val="0"/>
              </a:spcAft>
              <a:buClr>
                <a:srgbClr val="0000FF"/>
              </a:buClr>
              <a:buSzPct val="55000"/>
              <a:tabLst/>
              <a:defRPr/>
            </a:pP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和         判断项集之间相关性的正负。</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4" name="对象 13">
            <a:extLst>
              <a:ext uri="{FF2B5EF4-FFF2-40B4-BE49-F238E27FC236}">
                <a16:creationId xmlns:a16="http://schemas.microsoft.com/office/drawing/2014/main" id="{F507201B-FA57-08C2-6624-7675950F4630}"/>
              </a:ext>
            </a:extLst>
          </p:cNvPr>
          <p:cNvGraphicFramePr>
            <a:graphicFrameLocks noChangeAspect="1"/>
          </p:cNvGraphicFramePr>
          <p:nvPr>
            <p:extLst>
              <p:ext uri="{D42A27DB-BD31-4B8C-83A1-F6EECF244321}">
                <p14:modId xmlns:p14="http://schemas.microsoft.com/office/powerpoint/2010/main" val="2193083158"/>
              </p:ext>
            </p:extLst>
          </p:nvPr>
        </p:nvGraphicFramePr>
        <p:xfrm>
          <a:off x="2117614" y="3307566"/>
          <a:ext cx="276470" cy="315966"/>
        </p:xfrm>
        <a:graphic>
          <a:graphicData uri="http://schemas.openxmlformats.org/presentationml/2006/ole">
            <mc:AlternateContent xmlns:mc="http://schemas.openxmlformats.org/markup-compatibility/2006">
              <mc:Choice xmlns:v="urn:schemas-microsoft-com:vml" Requires="v">
                <p:oleObj name="Equation" r:id="rId3" imgW="200135" imgH="228576" progId="Equation.DSMT4">
                  <p:embed/>
                </p:oleObj>
              </mc:Choice>
              <mc:Fallback>
                <p:oleObj name="Equation" r:id="rId3" imgW="200135" imgH="228576" progId="Equation.DSMT4">
                  <p:embed/>
                  <p:pic>
                    <p:nvPicPr>
                      <p:cNvPr id="0" name=""/>
                      <p:cNvPicPr/>
                      <p:nvPr/>
                    </p:nvPicPr>
                    <p:blipFill>
                      <a:blip r:embed="rId4"/>
                      <a:stretch>
                        <a:fillRect/>
                      </a:stretch>
                    </p:blipFill>
                    <p:spPr>
                      <a:xfrm>
                        <a:off x="2117614" y="3307566"/>
                        <a:ext cx="276470" cy="315966"/>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C45F3E44-1357-54E2-227F-34A03C4ACB5E}"/>
              </a:ext>
            </a:extLst>
          </p:cNvPr>
          <p:cNvGraphicFramePr>
            <a:graphicFrameLocks noChangeAspect="1"/>
          </p:cNvGraphicFramePr>
          <p:nvPr>
            <p:extLst>
              <p:ext uri="{D42A27DB-BD31-4B8C-83A1-F6EECF244321}">
                <p14:modId xmlns:p14="http://schemas.microsoft.com/office/powerpoint/2010/main" val="3326140590"/>
              </p:ext>
            </p:extLst>
          </p:nvPr>
        </p:nvGraphicFramePr>
        <p:xfrm>
          <a:off x="3684162" y="3346257"/>
          <a:ext cx="1644162" cy="302872"/>
        </p:xfrm>
        <a:graphic>
          <a:graphicData uri="http://schemas.openxmlformats.org/presentationml/2006/ole">
            <mc:AlternateContent xmlns:mc="http://schemas.openxmlformats.org/markup-compatibility/2006">
              <mc:Choice xmlns:v="urn:schemas-microsoft-com:vml" Requires="v">
                <p:oleObj name="Equation" r:id="rId5" imgW="1085622" imgH="200139" progId="Equation.DSMT4">
                  <p:embed/>
                </p:oleObj>
              </mc:Choice>
              <mc:Fallback>
                <p:oleObj name="Equation" r:id="rId5" imgW="1085622" imgH="200139" progId="Equation.DSMT4">
                  <p:embed/>
                  <p:pic>
                    <p:nvPicPr>
                      <p:cNvPr id="0" name=""/>
                      <p:cNvPicPr/>
                      <p:nvPr/>
                    </p:nvPicPr>
                    <p:blipFill>
                      <a:blip r:embed="rId6"/>
                      <a:stretch>
                        <a:fillRect/>
                      </a:stretch>
                    </p:blipFill>
                    <p:spPr>
                      <a:xfrm>
                        <a:off x="3684162" y="3346257"/>
                        <a:ext cx="1644162" cy="302872"/>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18C073EB-CA7D-D187-DA8A-61ECCCE8E912}"/>
              </a:ext>
            </a:extLst>
          </p:cNvPr>
          <p:cNvGraphicFramePr>
            <a:graphicFrameLocks noChangeAspect="1"/>
          </p:cNvGraphicFramePr>
          <p:nvPr>
            <p:extLst>
              <p:ext uri="{D42A27DB-BD31-4B8C-83A1-F6EECF244321}">
                <p14:modId xmlns:p14="http://schemas.microsoft.com/office/powerpoint/2010/main" val="2396703103"/>
              </p:ext>
            </p:extLst>
          </p:nvPr>
        </p:nvGraphicFramePr>
        <p:xfrm>
          <a:off x="2404594" y="3756784"/>
          <a:ext cx="276225" cy="317500"/>
        </p:xfrm>
        <a:graphic>
          <a:graphicData uri="http://schemas.openxmlformats.org/presentationml/2006/ole">
            <mc:AlternateContent xmlns:mc="http://schemas.openxmlformats.org/markup-compatibility/2006">
              <mc:Choice xmlns:v="urn:schemas-microsoft-com:vml" Requires="v">
                <p:oleObj name="Equation" r:id="rId7" imgW="276141" imgH="317171" progId="Equation.DSMT4">
                  <p:embed/>
                </p:oleObj>
              </mc:Choice>
              <mc:Fallback>
                <p:oleObj name="Equation" r:id="rId7" imgW="276141" imgH="317171" progId="Equation.DSMT4">
                  <p:embed/>
                  <p:pic>
                    <p:nvPicPr>
                      <p:cNvPr id="0" name=""/>
                      <p:cNvPicPr/>
                      <p:nvPr/>
                    </p:nvPicPr>
                    <p:blipFill>
                      <a:blip r:embed="rId8"/>
                      <a:stretch>
                        <a:fillRect/>
                      </a:stretch>
                    </p:blipFill>
                    <p:spPr>
                      <a:xfrm>
                        <a:off x="2404594" y="3756784"/>
                        <a:ext cx="276225" cy="317500"/>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321A42AE-8495-6C2B-B71E-64E1922A0B4D}"/>
              </a:ext>
            </a:extLst>
          </p:cNvPr>
          <p:cNvGraphicFramePr>
            <a:graphicFrameLocks noChangeAspect="1"/>
          </p:cNvGraphicFramePr>
          <p:nvPr>
            <p:extLst>
              <p:ext uri="{D42A27DB-BD31-4B8C-83A1-F6EECF244321}">
                <p14:modId xmlns:p14="http://schemas.microsoft.com/office/powerpoint/2010/main" val="3947563089"/>
              </p:ext>
            </p:extLst>
          </p:nvPr>
        </p:nvGraphicFramePr>
        <p:xfrm>
          <a:off x="3418316" y="3720407"/>
          <a:ext cx="438808" cy="353877"/>
        </p:xfrm>
        <a:graphic>
          <a:graphicData uri="http://schemas.openxmlformats.org/presentationml/2006/ole">
            <mc:AlternateContent xmlns:mc="http://schemas.openxmlformats.org/markup-compatibility/2006">
              <mc:Choice xmlns:v="urn:schemas-microsoft-com:vml" Requires="v">
                <p:oleObj name="Equation" r:id="rId9" imgW="295163" imgH="237935" progId="Equation.DSMT4">
                  <p:embed/>
                </p:oleObj>
              </mc:Choice>
              <mc:Fallback>
                <p:oleObj name="Equation" r:id="rId9" imgW="295163" imgH="237935" progId="Equation.DSMT4">
                  <p:embed/>
                  <p:pic>
                    <p:nvPicPr>
                      <p:cNvPr id="0" name=""/>
                      <p:cNvPicPr/>
                      <p:nvPr/>
                    </p:nvPicPr>
                    <p:blipFill>
                      <a:blip r:embed="rId10"/>
                      <a:stretch>
                        <a:fillRect/>
                      </a:stretch>
                    </p:blipFill>
                    <p:spPr>
                      <a:xfrm>
                        <a:off x="3418316" y="3720407"/>
                        <a:ext cx="438808" cy="353877"/>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F273115E-A8C3-D253-1A6B-7E1B7E4DD2B7}"/>
              </a:ext>
            </a:extLst>
          </p:cNvPr>
          <p:cNvGraphicFramePr>
            <a:graphicFrameLocks noChangeAspect="1"/>
          </p:cNvGraphicFramePr>
          <p:nvPr>
            <p:extLst>
              <p:ext uri="{D42A27DB-BD31-4B8C-83A1-F6EECF244321}">
                <p14:modId xmlns:p14="http://schemas.microsoft.com/office/powerpoint/2010/main" val="4185327226"/>
              </p:ext>
            </p:extLst>
          </p:nvPr>
        </p:nvGraphicFramePr>
        <p:xfrm>
          <a:off x="9487711" y="4608232"/>
          <a:ext cx="864805" cy="313118"/>
        </p:xfrm>
        <a:graphic>
          <a:graphicData uri="http://schemas.openxmlformats.org/presentationml/2006/ole">
            <mc:AlternateContent xmlns:mc="http://schemas.openxmlformats.org/markup-compatibility/2006">
              <mc:Choice xmlns:v="urn:schemas-microsoft-com:vml" Requires="v">
                <p:oleObj name="Equation" r:id="rId11" imgW="552530" imgH="200139" progId="Equation.DSMT4">
                  <p:embed/>
                </p:oleObj>
              </mc:Choice>
              <mc:Fallback>
                <p:oleObj name="Equation" r:id="rId11" imgW="552530" imgH="200139" progId="Equation.DSMT4">
                  <p:embed/>
                  <p:pic>
                    <p:nvPicPr>
                      <p:cNvPr id="0" name=""/>
                      <p:cNvPicPr/>
                      <p:nvPr/>
                    </p:nvPicPr>
                    <p:blipFill>
                      <a:blip r:embed="rId12"/>
                      <a:stretch>
                        <a:fillRect/>
                      </a:stretch>
                    </p:blipFill>
                    <p:spPr>
                      <a:xfrm>
                        <a:off x="9487711" y="4608232"/>
                        <a:ext cx="864805" cy="313118"/>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61784E11-5BF4-1088-4D9A-672B22B197CE}"/>
              </a:ext>
            </a:extLst>
          </p:cNvPr>
          <p:cNvGraphicFramePr>
            <a:graphicFrameLocks noChangeAspect="1"/>
          </p:cNvGraphicFramePr>
          <p:nvPr>
            <p:extLst>
              <p:ext uri="{D42A27DB-BD31-4B8C-83A1-F6EECF244321}">
                <p14:modId xmlns:p14="http://schemas.microsoft.com/office/powerpoint/2010/main" val="1558985942"/>
              </p:ext>
            </p:extLst>
          </p:nvPr>
        </p:nvGraphicFramePr>
        <p:xfrm>
          <a:off x="2393557" y="5051525"/>
          <a:ext cx="574523" cy="317499"/>
        </p:xfrm>
        <a:graphic>
          <a:graphicData uri="http://schemas.openxmlformats.org/presentationml/2006/ole">
            <mc:AlternateContent xmlns:mc="http://schemas.openxmlformats.org/markup-compatibility/2006">
              <mc:Choice xmlns:v="urn:schemas-microsoft-com:vml" Requires="v">
                <p:oleObj name="Equation" r:id="rId13" imgW="361754" imgH="200139" progId="Equation.DSMT4">
                  <p:embed/>
                </p:oleObj>
              </mc:Choice>
              <mc:Fallback>
                <p:oleObj name="Equation" r:id="rId13" imgW="361754" imgH="200139" progId="Equation.DSMT4">
                  <p:embed/>
                  <p:pic>
                    <p:nvPicPr>
                      <p:cNvPr id="0" name=""/>
                      <p:cNvPicPr/>
                      <p:nvPr/>
                    </p:nvPicPr>
                    <p:blipFill>
                      <a:blip r:embed="rId14"/>
                      <a:stretch>
                        <a:fillRect/>
                      </a:stretch>
                    </p:blipFill>
                    <p:spPr>
                      <a:xfrm>
                        <a:off x="2393557" y="5051525"/>
                        <a:ext cx="574523" cy="317499"/>
                      </a:xfrm>
                      <a:prstGeom prst="rect">
                        <a:avLst/>
                      </a:prstGeom>
                    </p:spPr>
                  </p:pic>
                </p:oleObj>
              </mc:Fallback>
            </mc:AlternateContent>
          </a:graphicData>
        </a:graphic>
      </p:graphicFrame>
      <p:sp>
        <p:nvSpPr>
          <p:cNvPr id="6" name="矩形 26">
            <a:extLst>
              <a:ext uri="{FF2B5EF4-FFF2-40B4-BE49-F238E27FC236}">
                <a16:creationId xmlns:a16="http://schemas.microsoft.com/office/drawing/2014/main" id="{940C6689-151C-3A25-697E-B5455F474D4F}"/>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4" name="矩形: 圆角 55">
            <a:extLst>
              <a:ext uri="{FF2B5EF4-FFF2-40B4-BE49-F238E27FC236}">
                <a16:creationId xmlns:a16="http://schemas.microsoft.com/office/drawing/2014/main" id="{1BDB3DF2-7528-51F5-1490-B5F47C14D7FE}"/>
              </a:ext>
            </a:extLst>
          </p:cNvPr>
          <p:cNvSpPr/>
          <p:nvPr/>
        </p:nvSpPr>
        <p:spPr>
          <a:xfrm>
            <a:off x="558040" y="1190656"/>
            <a:ext cx="2370790"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相关性度量</a:t>
            </a:r>
          </a:p>
        </p:txBody>
      </p:sp>
    </p:spTree>
    <p:extLst>
      <p:ext uri="{BB962C8B-B14F-4D97-AF65-F5344CB8AC3E}">
        <p14:creationId xmlns:p14="http://schemas.microsoft.com/office/powerpoint/2010/main" val="26883359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13908-CBCC-BFD4-23FB-752AAE4FD999}"/>
            </a:ext>
          </a:extLst>
        </p:cNvPr>
        <p:cNvGrpSpPr/>
        <p:nvPr/>
      </p:nvGrpSpPr>
      <p:grpSpPr>
        <a:xfrm>
          <a:off x="0" y="0"/>
          <a:ext cx="0" cy="0"/>
          <a:chOff x="0" y="0"/>
          <a:chExt cx="0" cy="0"/>
        </a:xfrm>
      </p:grpSpPr>
      <p:pic>
        <p:nvPicPr>
          <p:cNvPr id="12" name="图片 11">
            <a:extLst>
              <a:ext uri="{FF2B5EF4-FFF2-40B4-BE49-F238E27FC236}">
                <a16:creationId xmlns:a16="http://schemas.microsoft.com/office/drawing/2014/main" id="{2FE2F974-6BE0-96AF-6326-CF88D19813D0}"/>
              </a:ext>
            </a:extLst>
          </p:cNvPr>
          <p:cNvPicPr>
            <a:picLocks noChangeAspect="1"/>
          </p:cNvPicPr>
          <p:nvPr/>
        </p:nvPicPr>
        <p:blipFill>
          <a:blip r:embed="rId3"/>
          <a:srcRect t="4178"/>
          <a:stretch/>
        </p:blipFill>
        <p:spPr>
          <a:xfrm>
            <a:off x="3758498" y="1093263"/>
            <a:ext cx="6950021" cy="5516539"/>
          </a:xfrm>
          <a:prstGeom prst="rect">
            <a:avLst/>
          </a:prstGeom>
        </p:spPr>
      </p:pic>
      <p:sp>
        <p:nvSpPr>
          <p:cNvPr id="5" name="矩形 26">
            <a:extLst>
              <a:ext uri="{FF2B5EF4-FFF2-40B4-BE49-F238E27FC236}">
                <a16:creationId xmlns:a16="http://schemas.microsoft.com/office/drawing/2014/main" id="{FC7D754A-F13B-282B-C711-954906B97F42}"/>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975BECBF-90C8-07EA-6701-DE5B4852E2A9}"/>
              </a:ext>
            </a:extLst>
          </p:cNvPr>
          <p:cNvSpPr/>
          <p:nvPr/>
        </p:nvSpPr>
        <p:spPr>
          <a:xfrm>
            <a:off x="558040" y="1190656"/>
            <a:ext cx="2370790"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相关性度量</a:t>
            </a:r>
          </a:p>
        </p:txBody>
      </p:sp>
    </p:spTree>
    <p:extLst>
      <p:ext uri="{BB962C8B-B14F-4D97-AF65-F5344CB8AC3E}">
        <p14:creationId xmlns:p14="http://schemas.microsoft.com/office/powerpoint/2010/main" val="24354208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B039A-33C8-71BF-71B4-FC12ED1004BD}"/>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4B025FF7-6538-163C-5F8D-E7593314D078}"/>
              </a:ext>
            </a:extLst>
          </p:cNvPr>
          <p:cNvSpPr txBox="1"/>
          <p:nvPr/>
        </p:nvSpPr>
        <p:spPr>
          <a:xfrm>
            <a:off x="1277008" y="2294141"/>
            <a:ext cx="9102423" cy="1349665"/>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rPr>
              <a:t> 全置信度（</a:t>
            </a:r>
            <a:r>
              <a:rPr lang="en-US" altLang="zh-CN" sz="2400" b="1" dirty="0">
                <a:solidFill>
                  <a:srgbClr val="0245AD"/>
                </a:solidFill>
                <a:latin typeface="微软雅黑" pitchFamily="34" charset="-122"/>
                <a:ea typeface="微软雅黑" pitchFamily="34" charset="-122"/>
                <a:cs typeface="+mj-cs"/>
              </a:rPr>
              <a:t>All-confidence</a:t>
            </a:r>
            <a:r>
              <a:rPr lang="zh-CN" altLang="en-US" sz="2400" b="1" dirty="0">
                <a:solidFill>
                  <a:srgbClr val="0245AD"/>
                </a:solidFill>
                <a:latin typeface="微软雅黑" pitchFamily="34" charset="-122"/>
                <a:ea typeface="微软雅黑" pitchFamily="34" charset="-122"/>
                <a:cs typeface="+mj-cs"/>
              </a:rPr>
              <a:t>）</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可以看作两个与项集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和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相关的关联规则“           ”和“           ”的置信度中的最小值，用于衡量模式中各项的同时出现的强度和可靠性。</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文本框 9">
            <a:extLst>
              <a:ext uri="{FF2B5EF4-FFF2-40B4-BE49-F238E27FC236}">
                <a16:creationId xmlns:a16="http://schemas.microsoft.com/office/drawing/2014/main" id="{7BF14CF5-00FF-E690-1808-C649252CE058}"/>
              </a:ext>
            </a:extLst>
          </p:cNvPr>
          <p:cNvSpPr txBox="1"/>
          <p:nvPr/>
        </p:nvSpPr>
        <p:spPr>
          <a:xfrm>
            <a:off x="1630716" y="4726284"/>
            <a:ext cx="9524224" cy="1211165"/>
          </a:xfrm>
          <a:prstGeom prst="rect">
            <a:avLst/>
          </a:prstGeom>
          <a:noFill/>
        </p:spPr>
        <p:txBody>
          <a:bodyPr wrap="square">
            <a:spAutoFit/>
          </a:bodyPr>
          <a:lstStyle/>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全置信度考虑模式中最不频繁项的影响来评估模式的可靠性，能有效过滤掉由高频项导致的高置信度但具有误导性的关联规则。</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全置信度的取值范围为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 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，全置信度越大，表示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之间的关联越强。</a:t>
            </a:r>
          </a:p>
        </p:txBody>
      </p:sp>
      <p:graphicFrame>
        <p:nvGraphicFramePr>
          <p:cNvPr id="11" name="对象 10">
            <a:extLst>
              <a:ext uri="{FF2B5EF4-FFF2-40B4-BE49-F238E27FC236}">
                <a16:creationId xmlns:a16="http://schemas.microsoft.com/office/drawing/2014/main" id="{06200FD7-75A1-A979-F4FF-FF98830BDE60}"/>
              </a:ext>
            </a:extLst>
          </p:cNvPr>
          <p:cNvGraphicFramePr>
            <a:graphicFrameLocks noChangeAspect="1"/>
          </p:cNvGraphicFramePr>
          <p:nvPr>
            <p:extLst>
              <p:ext uri="{D42A27DB-BD31-4B8C-83A1-F6EECF244321}">
                <p14:modId xmlns:p14="http://schemas.microsoft.com/office/powerpoint/2010/main" val="2661314870"/>
              </p:ext>
            </p:extLst>
          </p:nvPr>
        </p:nvGraphicFramePr>
        <p:xfrm>
          <a:off x="7189828" y="2911765"/>
          <a:ext cx="790410" cy="290354"/>
        </p:xfrm>
        <a:graphic>
          <a:graphicData uri="http://schemas.openxmlformats.org/presentationml/2006/ole">
            <mc:AlternateContent xmlns:mc="http://schemas.openxmlformats.org/markup-compatibility/2006">
              <mc:Choice xmlns:v="urn:schemas-microsoft-com:vml" Requires="v">
                <p:oleObj name="Equation" r:id="rId3" imgW="466501" imgH="171342" progId="Equation.DSMT4">
                  <p:embed/>
                </p:oleObj>
              </mc:Choice>
              <mc:Fallback>
                <p:oleObj name="Equation" r:id="rId3" imgW="466501" imgH="171342" progId="Equation.DSMT4">
                  <p:embed/>
                  <p:pic>
                    <p:nvPicPr>
                      <p:cNvPr id="0" name=""/>
                      <p:cNvPicPr/>
                      <p:nvPr/>
                    </p:nvPicPr>
                    <p:blipFill>
                      <a:blip r:embed="rId4"/>
                      <a:stretch>
                        <a:fillRect/>
                      </a:stretch>
                    </p:blipFill>
                    <p:spPr>
                      <a:xfrm>
                        <a:off x="7189828" y="2911765"/>
                        <a:ext cx="790410" cy="290354"/>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F1FAC5F7-4065-A074-04F9-F6C797111F18}"/>
              </a:ext>
            </a:extLst>
          </p:cNvPr>
          <p:cNvGraphicFramePr>
            <a:graphicFrameLocks noChangeAspect="1"/>
          </p:cNvGraphicFramePr>
          <p:nvPr>
            <p:extLst>
              <p:ext uri="{D42A27DB-BD31-4B8C-83A1-F6EECF244321}">
                <p14:modId xmlns:p14="http://schemas.microsoft.com/office/powerpoint/2010/main" val="1576777781"/>
              </p:ext>
            </p:extLst>
          </p:nvPr>
        </p:nvGraphicFramePr>
        <p:xfrm>
          <a:off x="8640253" y="2911765"/>
          <a:ext cx="790410" cy="290354"/>
        </p:xfrm>
        <a:graphic>
          <a:graphicData uri="http://schemas.openxmlformats.org/presentationml/2006/ole">
            <mc:AlternateContent xmlns:mc="http://schemas.openxmlformats.org/markup-compatibility/2006">
              <mc:Choice xmlns:v="urn:schemas-microsoft-com:vml" Requires="v">
                <p:oleObj name="Equation" r:id="rId5" imgW="466501" imgH="171342" progId="Equation.DSMT4">
                  <p:embed/>
                </p:oleObj>
              </mc:Choice>
              <mc:Fallback>
                <p:oleObj name="Equation" r:id="rId5" imgW="466501" imgH="171342" progId="Equation.DSMT4">
                  <p:embed/>
                  <p:pic>
                    <p:nvPicPr>
                      <p:cNvPr id="0" name=""/>
                      <p:cNvPicPr/>
                      <p:nvPr/>
                    </p:nvPicPr>
                    <p:blipFill>
                      <a:blip r:embed="rId6"/>
                      <a:stretch>
                        <a:fillRect/>
                      </a:stretch>
                    </p:blipFill>
                    <p:spPr>
                      <a:xfrm>
                        <a:off x="8640253" y="2911765"/>
                        <a:ext cx="790410" cy="290354"/>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8A9C6C22-923C-60B0-AD60-447AF2E218D1}"/>
              </a:ext>
            </a:extLst>
          </p:cNvPr>
          <p:cNvGraphicFramePr>
            <a:graphicFrameLocks noChangeAspect="1"/>
          </p:cNvGraphicFramePr>
          <p:nvPr>
            <p:extLst>
              <p:ext uri="{D42A27DB-BD31-4B8C-83A1-F6EECF244321}">
                <p14:modId xmlns:p14="http://schemas.microsoft.com/office/powerpoint/2010/main" val="4132905203"/>
              </p:ext>
            </p:extLst>
          </p:nvPr>
        </p:nvGraphicFramePr>
        <p:xfrm>
          <a:off x="2486947" y="3819743"/>
          <a:ext cx="6782907" cy="687668"/>
        </p:xfrm>
        <a:graphic>
          <a:graphicData uri="http://schemas.openxmlformats.org/presentationml/2006/ole">
            <mc:AlternateContent xmlns:mc="http://schemas.openxmlformats.org/markup-compatibility/2006">
              <mc:Choice xmlns:v="urn:schemas-microsoft-com:vml" Requires="v">
                <p:oleObj name="Equation" r:id="rId7" imgW="4133355" imgH="418995" progId="Equation.DSMT4">
                  <p:embed/>
                </p:oleObj>
              </mc:Choice>
              <mc:Fallback>
                <p:oleObj name="Equation" r:id="rId7" imgW="4133355" imgH="418995" progId="Equation.DSMT4">
                  <p:embed/>
                  <p:pic>
                    <p:nvPicPr>
                      <p:cNvPr id="0" name=""/>
                      <p:cNvPicPr/>
                      <p:nvPr/>
                    </p:nvPicPr>
                    <p:blipFill>
                      <a:blip r:embed="rId8"/>
                      <a:stretch>
                        <a:fillRect/>
                      </a:stretch>
                    </p:blipFill>
                    <p:spPr>
                      <a:xfrm>
                        <a:off x="2486947" y="3819743"/>
                        <a:ext cx="6782907" cy="687668"/>
                      </a:xfrm>
                      <a:prstGeom prst="rect">
                        <a:avLst/>
                      </a:prstGeom>
                    </p:spPr>
                  </p:pic>
                </p:oleObj>
              </mc:Fallback>
            </mc:AlternateContent>
          </a:graphicData>
        </a:graphic>
      </p:graphicFrame>
      <p:sp>
        <p:nvSpPr>
          <p:cNvPr id="4" name="矩形 26">
            <a:extLst>
              <a:ext uri="{FF2B5EF4-FFF2-40B4-BE49-F238E27FC236}">
                <a16:creationId xmlns:a16="http://schemas.microsoft.com/office/drawing/2014/main" id="{6D743362-6A75-A2FC-6BC6-5ECAB1E18DC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5" name="矩形: 圆角 55">
            <a:extLst>
              <a:ext uri="{FF2B5EF4-FFF2-40B4-BE49-F238E27FC236}">
                <a16:creationId xmlns:a16="http://schemas.microsoft.com/office/drawing/2014/main" id="{53C91709-B808-337F-EB26-157FDBB504A3}"/>
              </a:ext>
            </a:extLst>
          </p:cNvPr>
          <p:cNvSpPr/>
          <p:nvPr/>
        </p:nvSpPr>
        <p:spPr>
          <a:xfrm>
            <a:off x="558039" y="1190656"/>
            <a:ext cx="3450195"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其他模式评估度量</a:t>
            </a:r>
          </a:p>
        </p:txBody>
      </p:sp>
    </p:spTree>
    <p:extLst>
      <p:ext uri="{BB962C8B-B14F-4D97-AF65-F5344CB8AC3E}">
        <p14:creationId xmlns:p14="http://schemas.microsoft.com/office/powerpoint/2010/main" val="2674284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8F12E-5247-A450-AA67-6795AF408FD5}"/>
            </a:ext>
          </a:extLst>
        </p:cNvPr>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72D39511-714A-6DBE-0B29-96EB7E58AAA7}"/>
              </a:ext>
            </a:extLst>
          </p:cNvPr>
          <p:cNvGraphicFramePr>
            <a:graphicFrameLocks noChangeAspect="1"/>
          </p:cNvGraphicFramePr>
          <p:nvPr>
            <p:extLst>
              <p:ext uri="{D42A27DB-BD31-4B8C-83A1-F6EECF244321}">
                <p14:modId xmlns:p14="http://schemas.microsoft.com/office/powerpoint/2010/main" val="1324573804"/>
              </p:ext>
            </p:extLst>
          </p:nvPr>
        </p:nvGraphicFramePr>
        <p:xfrm>
          <a:off x="2600633" y="3360398"/>
          <a:ext cx="6786464" cy="1354528"/>
        </p:xfrm>
        <a:graphic>
          <a:graphicData uri="http://schemas.openxmlformats.org/presentationml/2006/ole">
            <mc:AlternateContent xmlns:mc="http://schemas.openxmlformats.org/markup-compatibility/2006">
              <mc:Choice xmlns:v="urn:schemas-microsoft-com:vml" Requires="v">
                <p:oleObj name="Equation" r:id="rId3" imgW="4676166" imgH="933380" progId="Equation.DSMT4">
                  <p:embed/>
                </p:oleObj>
              </mc:Choice>
              <mc:Fallback>
                <p:oleObj name="Equation" r:id="rId3" imgW="4676166" imgH="933380" progId="Equation.DSMT4">
                  <p:embed/>
                  <p:pic>
                    <p:nvPicPr>
                      <p:cNvPr id="0" name=""/>
                      <p:cNvPicPr/>
                      <p:nvPr/>
                    </p:nvPicPr>
                    <p:blipFill>
                      <a:blip r:embed="rId4"/>
                      <a:stretch>
                        <a:fillRect/>
                      </a:stretch>
                    </p:blipFill>
                    <p:spPr>
                      <a:xfrm>
                        <a:off x="2600633" y="3360398"/>
                        <a:ext cx="6786464" cy="135452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CADC6213-121E-876C-EF9A-4F2C71BED333}"/>
              </a:ext>
            </a:extLst>
          </p:cNvPr>
          <p:cNvSpPr txBox="1"/>
          <p:nvPr/>
        </p:nvSpPr>
        <p:spPr>
          <a:xfrm>
            <a:off x="1283883" y="2042098"/>
            <a:ext cx="9102423" cy="1349665"/>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sym typeface="Symbol" panose="05050102010706020507" pitchFamily="18" charset="2"/>
              </a:rPr>
              <a:t> 优势比（</a:t>
            </a:r>
            <a:r>
              <a:rPr lang="en-US" altLang="zh-CN" sz="2400" b="1" dirty="0">
                <a:solidFill>
                  <a:srgbClr val="0245AD"/>
                </a:solidFill>
                <a:latin typeface="微软雅黑" pitchFamily="34" charset="-122"/>
                <a:ea typeface="微软雅黑" pitchFamily="34" charset="-122"/>
                <a:cs typeface="+mj-cs"/>
                <a:sym typeface="Symbol" panose="05050102010706020507" pitchFamily="18" charset="2"/>
              </a:rPr>
              <a:t>Odds ratio</a:t>
            </a:r>
            <a:r>
              <a:rPr lang="zh-CN" altLang="en-US" sz="2400" b="1" dirty="0">
                <a:solidFill>
                  <a:srgbClr val="0245AD"/>
                </a:solidFill>
                <a:latin typeface="微软雅黑" pitchFamily="34" charset="-122"/>
                <a:ea typeface="微软雅黑" pitchFamily="34" charset="-122"/>
                <a:cs typeface="+mj-cs"/>
                <a:sym typeface="Symbol" panose="05050102010706020507" pitchFamily="18" charset="2"/>
              </a:rPr>
              <a:t>）</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通过比较同时包含项集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与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的事务比例与分别包含其中一个项集的事务比例，来衡量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与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之间的关联性。</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a:extLst>
              <a:ext uri="{FF2B5EF4-FFF2-40B4-BE49-F238E27FC236}">
                <a16:creationId xmlns:a16="http://schemas.microsoft.com/office/drawing/2014/main" id="{2F9C8F1A-6751-C958-7820-513EBB4FE7A6}"/>
              </a:ext>
            </a:extLst>
          </p:cNvPr>
          <p:cNvSpPr txBox="1"/>
          <p:nvPr/>
        </p:nvSpPr>
        <p:spPr>
          <a:xfrm>
            <a:off x="1757590" y="4661301"/>
            <a:ext cx="5908093" cy="1595886"/>
          </a:xfrm>
          <a:prstGeom prst="rect">
            <a:avLst/>
          </a:prstGeom>
          <a:noFill/>
        </p:spPr>
        <p:txBody>
          <a:bodyPr wrap="square">
            <a:spAutoFit/>
          </a:bodyPr>
          <a:lstStyle/>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优势比的取值范围为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值越大，表示项集之间的正向关联越强；</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表示项集之间没有关联；</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值小于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表示项集之间存在负向关联。</a:t>
            </a:r>
          </a:p>
        </p:txBody>
      </p:sp>
      <p:graphicFrame>
        <p:nvGraphicFramePr>
          <p:cNvPr id="10" name="对象 9">
            <a:extLst>
              <a:ext uri="{FF2B5EF4-FFF2-40B4-BE49-F238E27FC236}">
                <a16:creationId xmlns:a16="http://schemas.microsoft.com/office/drawing/2014/main" id="{906F02C3-4DBF-8254-0831-CF14B1FDBF56}"/>
              </a:ext>
            </a:extLst>
          </p:cNvPr>
          <p:cNvGraphicFramePr>
            <a:graphicFrameLocks noChangeAspect="1"/>
          </p:cNvGraphicFramePr>
          <p:nvPr>
            <p:extLst>
              <p:ext uri="{D42A27DB-BD31-4B8C-83A1-F6EECF244321}">
                <p14:modId xmlns:p14="http://schemas.microsoft.com/office/powerpoint/2010/main" val="624563029"/>
              </p:ext>
            </p:extLst>
          </p:nvPr>
        </p:nvGraphicFramePr>
        <p:xfrm>
          <a:off x="4774813" y="4817141"/>
          <a:ext cx="248570" cy="201963"/>
        </p:xfrm>
        <a:graphic>
          <a:graphicData uri="http://schemas.openxmlformats.org/presentationml/2006/ole">
            <mc:AlternateContent xmlns:mc="http://schemas.openxmlformats.org/markup-compatibility/2006">
              <mc:Choice xmlns:v="urn:schemas-microsoft-com:vml" Requires="v">
                <p:oleObj name="Equation" r:id="rId5" imgW="152261" imgH="123827" progId="Equation.DSMT4">
                  <p:embed/>
                </p:oleObj>
              </mc:Choice>
              <mc:Fallback>
                <p:oleObj name="Equation" r:id="rId5" imgW="152261" imgH="123827" progId="Equation.DSMT4">
                  <p:embed/>
                  <p:pic>
                    <p:nvPicPr>
                      <p:cNvPr id="0" name=""/>
                      <p:cNvPicPr/>
                      <p:nvPr/>
                    </p:nvPicPr>
                    <p:blipFill>
                      <a:blip r:embed="rId6"/>
                      <a:stretch>
                        <a:fillRect/>
                      </a:stretch>
                    </p:blipFill>
                    <p:spPr>
                      <a:xfrm>
                        <a:off x="4774813" y="4817141"/>
                        <a:ext cx="248570" cy="201963"/>
                      </a:xfrm>
                      <a:prstGeom prst="rect">
                        <a:avLst/>
                      </a:prstGeom>
                    </p:spPr>
                  </p:pic>
                </p:oleObj>
              </mc:Fallback>
            </mc:AlternateContent>
          </a:graphicData>
        </a:graphic>
      </p:graphicFrame>
      <p:sp>
        <p:nvSpPr>
          <p:cNvPr id="6" name="矩形 26">
            <a:extLst>
              <a:ext uri="{FF2B5EF4-FFF2-40B4-BE49-F238E27FC236}">
                <a16:creationId xmlns:a16="http://schemas.microsoft.com/office/drawing/2014/main" id="{A5F91D00-3F08-2944-8699-E9BBB7019859}"/>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EE429B8B-5EF4-0573-530F-ADB143797128}"/>
              </a:ext>
            </a:extLst>
          </p:cNvPr>
          <p:cNvSpPr/>
          <p:nvPr/>
        </p:nvSpPr>
        <p:spPr>
          <a:xfrm>
            <a:off x="558039" y="1190656"/>
            <a:ext cx="3450195"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其他模式评估度量</a:t>
            </a:r>
          </a:p>
        </p:txBody>
      </p:sp>
    </p:spTree>
    <p:extLst>
      <p:ext uri="{BB962C8B-B14F-4D97-AF65-F5344CB8AC3E}">
        <p14:creationId xmlns:p14="http://schemas.microsoft.com/office/powerpoint/2010/main" val="14120971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CF416-609E-67AF-1FC9-E5E0B204940A}"/>
            </a:ext>
          </a:extLst>
        </p:cNvPr>
        <p:cNvGrpSpPr/>
        <p:nvPr/>
      </p:nvGrpSpPr>
      <p:grpSpPr>
        <a:xfrm>
          <a:off x="0" y="0"/>
          <a:ext cx="0" cy="0"/>
          <a:chOff x="0" y="0"/>
          <a:chExt cx="0" cy="0"/>
        </a:xfrm>
      </p:grpSpPr>
      <p:graphicFrame>
        <p:nvGraphicFramePr>
          <p:cNvPr id="5" name="对象 4">
            <a:extLst>
              <a:ext uri="{FF2B5EF4-FFF2-40B4-BE49-F238E27FC236}">
                <a16:creationId xmlns:a16="http://schemas.microsoft.com/office/drawing/2014/main" id="{2B9433FD-4B38-BD5E-B73B-680C873D57E7}"/>
              </a:ext>
            </a:extLst>
          </p:cNvPr>
          <p:cNvGraphicFramePr>
            <a:graphicFrameLocks noChangeAspect="1"/>
          </p:cNvGraphicFramePr>
          <p:nvPr>
            <p:extLst>
              <p:ext uri="{D42A27DB-BD31-4B8C-83A1-F6EECF244321}">
                <p14:modId xmlns:p14="http://schemas.microsoft.com/office/powerpoint/2010/main" val="1704372946"/>
              </p:ext>
            </p:extLst>
          </p:nvPr>
        </p:nvGraphicFramePr>
        <p:xfrm>
          <a:off x="2393509" y="3669733"/>
          <a:ext cx="7068742" cy="662213"/>
        </p:xfrm>
        <a:graphic>
          <a:graphicData uri="http://schemas.openxmlformats.org/presentationml/2006/ole">
            <mc:AlternateContent xmlns:mc="http://schemas.openxmlformats.org/markup-compatibility/2006">
              <mc:Choice xmlns:v="urn:schemas-microsoft-com:vml" Requires="v">
                <p:oleObj name="Equation" r:id="rId3" imgW="4371285" imgH="409636" progId="Equation.DSMT4">
                  <p:embed/>
                </p:oleObj>
              </mc:Choice>
              <mc:Fallback>
                <p:oleObj name="Equation" r:id="rId3" imgW="4371285" imgH="409636" progId="Equation.DSMT4">
                  <p:embed/>
                  <p:pic>
                    <p:nvPicPr>
                      <p:cNvPr id="0" name=""/>
                      <p:cNvPicPr/>
                      <p:nvPr/>
                    </p:nvPicPr>
                    <p:blipFill>
                      <a:blip r:embed="rId4"/>
                      <a:stretch>
                        <a:fillRect/>
                      </a:stretch>
                    </p:blipFill>
                    <p:spPr>
                      <a:xfrm>
                        <a:off x="2393509" y="3669733"/>
                        <a:ext cx="7068742" cy="662213"/>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D3727344-6FA1-00D6-5C7D-663602FAEEBE}"/>
              </a:ext>
            </a:extLst>
          </p:cNvPr>
          <p:cNvSpPr txBox="1"/>
          <p:nvPr/>
        </p:nvSpPr>
        <p:spPr>
          <a:xfrm>
            <a:off x="1084028" y="2182759"/>
            <a:ext cx="9102423" cy="1349665"/>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en-US" altLang="zh-CN" sz="2400" b="1" dirty="0">
                <a:solidFill>
                  <a:srgbClr val="0245AD"/>
                </a:solidFill>
                <a:latin typeface="微软雅黑" pitchFamily="34" charset="-122"/>
                <a:ea typeface="微软雅黑" pitchFamily="34" charset="-122"/>
                <a:cs typeface="+mj-cs"/>
              </a:rPr>
              <a:t> </a:t>
            </a:r>
            <a:r>
              <a:rPr lang="en-US" altLang="zh-CN" sz="2400" b="1" dirty="0" err="1">
                <a:solidFill>
                  <a:srgbClr val="0245AD"/>
                </a:solidFill>
                <a:latin typeface="微软雅黑" pitchFamily="34" charset="-122"/>
                <a:ea typeface="微软雅黑" pitchFamily="34" charset="-122"/>
                <a:cs typeface="+mj-cs"/>
              </a:rPr>
              <a:t>Kulczynski</a:t>
            </a:r>
            <a:r>
              <a:rPr lang="zh-CN" altLang="en-US" sz="2400" b="1" dirty="0">
                <a:solidFill>
                  <a:srgbClr val="0245AD"/>
                </a:solidFill>
                <a:latin typeface="微软雅黑" pitchFamily="34" charset="-122"/>
                <a:ea typeface="微软雅黑" pitchFamily="34" charset="-122"/>
                <a:cs typeface="+mj-cs"/>
              </a:rPr>
              <a:t>度量</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Kulczynski</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Kulc</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）度量是关联规则“            ”和“            ”的置信度的平均值。</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9" name="对象 8">
            <a:extLst>
              <a:ext uri="{FF2B5EF4-FFF2-40B4-BE49-F238E27FC236}">
                <a16:creationId xmlns:a16="http://schemas.microsoft.com/office/drawing/2014/main" id="{0B0B0F47-746A-96B5-F8B3-F58F4D2DF0D9}"/>
              </a:ext>
            </a:extLst>
          </p:cNvPr>
          <p:cNvGraphicFramePr>
            <a:graphicFrameLocks noChangeAspect="1"/>
          </p:cNvGraphicFramePr>
          <p:nvPr>
            <p:extLst>
              <p:ext uri="{D42A27DB-BD31-4B8C-83A1-F6EECF244321}">
                <p14:modId xmlns:p14="http://schemas.microsoft.com/office/powerpoint/2010/main" val="314417839"/>
              </p:ext>
            </p:extLst>
          </p:nvPr>
        </p:nvGraphicFramePr>
        <p:xfrm>
          <a:off x="6085133" y="2781069"/>
          <a:ext cx="790410" cy="290354"/>
        </p:xfrm>
        <a:graphic>
          <a:graphicData uri="http://schemas.openxmlformats.org/presentationml/2006/ole">
            <mc:AlternateContent xmlns:mc="http://schemas.openxmlformats.org/markup-compatibility/2006">
              <mc:Choice xmlns:v="urn:schemas-microsoft-com:vml" Requires="v">
                <p:oleObj name="Equation" r:id="rId5" imgW="466501" imgH="171342" progId="Equation.DSMT4">
                  <p:embed/>
                </p:oleObj>
              </mc:Choice>
              <mc:Fallback>
                <p:oleObj name="Equation" r:id="rId5" imgW="466501" imgH="171342" progId="Equation.DSMT4">
                  <p:embed/>
                  <p:pic>
                    <p:nvPicPr>
                      <p:cNvPr id="11" name="对象 10">
                        <a:extLst>
                          <a:ext uri="{FF2B5EF4-FFF2-40B4-BE49-F238E27FC236}">
                            <a16:creationId xmlns:a16="http://schemas.microsoft.com/office/drawing/2014/main" id="{06200FD7-75A1-A979-F4FF-FF98830BDE60}"/>
                          </a:ext>
                        </a:extLst>
                      </p:cNvPr>
                      <p:cNvPicPr/>
                      <p:nvPr/>
                    </p:nvPicPr>
                    <p:blipFill>
                      <a:blip r:embed="rId6"/>
                      <a:stretch>
                        <a:fillRect/>
                      </a:stretch>
                    </p:blipFill>
                    <p:spPr>
                      <a:xfrm>
                        <a:off x="6085133" y="2781069"/>
                        <a:ext cx="790410" cy="290354"/>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FDE79F83-24B4-5D25-3220-15C6797AEE5E}"/>
              </a:ext>
            </a:extLst>
          </p:cNvPr>
          <p:cNvGraphicFramePr>
            <a:graphicFrameLocks noChangeAspect="1"/>
          </p:cNvGraphicFramePr>
          <p:nvPr>
            <p:extLst>
              <p:ext uri="{D42A27DB-BD31-4B8C-83A1-F6EECF244321}">
                <p14:modId xmlns:p14="http://schemas.microsoft.com/office/powerpoint/2010/main" val="3569773060"/>
              </p:ext>
            </p:extLst>
          </p:nvPr>
        </p:nvGraphicFramePr>
        <p:xfrm>
          <a:off x="7642763" y="2781069"/>
          <a:ext cx="790410" cy="290354"/>
        </p:xfrm>
        <a:graphic>
          <a:graphicData uri="http://schemas.openxmlformats.org/presentationml/2006/ole">
            <mc:AlternateContent xmlns:mc="http://schemas.openxmlformats.org/markup-compatibility/2006">
              <mc:Choice xmlns:v="urn:schemas-microsoft-com:vml" Requires="v">
                <p:oleObj name="Equation" r:id="rId7" imgW="466501" imgH="171342" progId="Equation.DSMT4">
                  <p:embed/>
                </p:oleObj>
              </mc:Choice>
              <mc:Fallback>
                <p:oleObj name="Equation" r:id="rId7" imgW="466501" imgH="171342" progId="Equation.DSMT4">
                  <p:embed/>
                  <p:pic>
                    <p:nvPicPr>
                      <p:cNvPr id="12" name="对象 11">
                        <a:extLst>
                          <a:ext uri="{FF2B5EF4-FFF2-40B4-BE49-F238E27FC236}">
                            <a16:creationId xmlns:a16="http://schemas.microsoft.com/office/drawing/2014/main" id="{F1FAC5F7-4065-A074-04F9-F6C797111F18}"/>
                          </a:ext>
                        </a:extLst>
                      </p:cNvPr>
                      <p:cNvPicPr/>
                      <p:nvPr/>
                    </p:nvPicPr>
                    <p:blipFill>
                      <a:blip r:embed="rId8"/>
                      <a:stretch>
                        <a:fillRect/>
                      </a:stretch>
                    </p:blipFill>
                    <p:spPr>
                      <a:xfrm>
                        <a:off x="7642763" y="2781069"/>
                        <a:ext cx="790410" cy="290354"/>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E1055D9C-EACA-4AB6-172C-34C212B44199}"/>
              </a:ext>
            </a:extLst>
          </p:cNvPr>
          <p:cNvSpPr txBox="1"/>
          <p:nvPr/>
        </p:nvSpPr>
        <p:spPr>
          <a:xfrm>
            <a:off x="1555089" y="4595588"/>
            <a:ext cx="9524224" cy="1211165"/>
          </a:xfrm>
          <a:prstGeom prst="rect">
            <a:avLst/>
          </a:prstGeom>
          <a:noFill/>
        </p:spPr>
        <p:txBody>
          <a:bodyPr wrap="square">
            <a:spAutoFit/>
          </a:bodyPr>
          <a:lstStyle/>
          <a:p>
            <a:pPr marL="342900" indent="-342900">
              <a:lnSpc>
                <a:spcPct val="125000"/>
              </a:lnSpc>
              <a:buFont typeface="Arial" panose="020B0604020202020204" pitchFamily="34" charset="0"/>
              <a:buChar char="•"/>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Kulc</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度量使用对称的方式来衡量两个项集之间的关联强度，克服了单方向置信度存在的偏差，适用于评估双向关联关系的情况。</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Kulc</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度量的取值范围为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 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，值越大，</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之间的关系越紧密。</a:t>
            </a:r>
          </a:p>
        </p:txBody>
      </p:sp>
      <p:sp>
        <p:nvSpPr>
          <p:cNvPr id="4" name="矩形 26">
            <a:extLst>
              <a:ext uri="{FF2B5EF4-FFF2-40B4-BE49-F238E27FC236}">
                <a16:creationId xmlns:a16="http://schemas.microsoft.com/office/drawing/2014/main" id="{2ED54EB2-1F12-A0CA-36DA-83BCA9EC5FB8}"/>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15A39255-354F-8B38-B074-9FA1B2CCF7C6}"/>
              </a:ext>
            </a:extLst>
          </p:cNvPr>
          <p:cNvSpPr/>
          <p:nvPr/>
        </p:nvSpPr>
        <p:spPr>
          <a:xfrm>
            <a:off x="558039" y="1190656"/>
            <a:ext cx="3450195"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其他模式评估度量</a:t>
            </a:r>
          </a:p>
        </p:txBody>
      </p:sp>
    </p:spTree>
    <p:extLst>
      <p:ext uri="{BB962C8B-B14F-4D97-AF65-F5344CB8AC3E}">
        <p14:creationId xmlns:p14="http://schemas.microsoft.com/office/powerpoint/2010/main" val="394906191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8BC97-DE61-76C7-C3CA-1309EB9ABBAF}"/>
            </a:ext>
          </a:extLst>
        </p:cNvPr>
        <p:cNvGrpSpPr/>
        <p:nvPr/>
      </p:nvGrpSpPr>
      <p:grpSpPr>
        <a:xfrm>
          <a:off x="0" y="0"/>
          <a:ext cx="0" cy="0"/>
          <a:chOff x="0" y="0"/>
          <a:chExt cx="0" cy="0"/>
        </a:xfrm>
      </p:grpSpPr>
      <p:graphicFrame>
        <p:nvGraphicFramePr>
          <p:cNvPr id="9" name="对象 8">
            <a:extLst>
              <a:ext uri="{FF2B5EF4-FFF2-40B4-BE49-F238E27FC236}">
                <a16:creationId xmlns:a16="http://schemas.microsoft.com/office/drawing/2014/main" id="{13367251-934A-5932-9BF9-9334EAC2649E}"/>
              </a:ext>
            </a:extLst>
          </p:cNvPr>
          <p:cNvGraphicFramePr>
            <a:graphicFrameLocks noChangeAspect="1"/>
          </p:cNvGraphicFramePr>
          <p:nvPr>
            <p:extLst>
              <p:ext uri="{D42A27DB-BD31-4B8C-83A1-F6EECF244321}">
                <p14:modId xmlns:p14="http://schemas.microsoft.com/office/powerpoint/2010/main" val="2036728553"/>
              </p:ext>
            </p:extLst>
          </p:nvPr>
        </p:nvGraphicFramePr>
        <p:xfrm>
          <a:off x="2311403" y="3495139"/>
          <a:ext cx="7305860" cy="719283"/>
        </p:xfrm>
        <a:graphic>
          <a:graphicData uri="http://schemas.openxmlformats.org/presentationml/2006/ole">
            <mc:AlternateContent xmlns:mc="http://schemas.openxmlformats.org/markup-compatibility/2006">
              <mc:Choice xmlns:v="urn:schemas-microsoft-com:vml" Requires="v">
                <p:oleObj name="Equation" r:id="rId3" imgW="4521200" imgH="444500" progId="Equation.DSMT4">
                  <p:embed/>
                </p:oleObj>
              </mc:Choice>
              <mc:Fallback>
                <p:oleObj name="Equation" r:id="rId3" imgW="4521200" imgH="4445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403" y="3495139"/>
                        <a:ext cx="7305860" cy="719283"/>
                      </a:xfrm>
                      <a:prstGeom prst="rect">
                        <a:avLst/>
                      </a:prstGeom>
                      <a:noFill/>
                    </p:spPr>
                  </p:pic>
                </p:oleObj>
              </mc:Fallback>
            </mc:AlternateContent>
          </a:graphicData>
        </a:graphic>
      </p:graphicFrame>
      <p:sp>
        <p:nvSpPr>
          <p:cNvPr id="10" name="文本框 9">
            <a:extLst>
              <a:ext uri="{FF2B5EF4-FFF2-40B4-BE49-F238E27FC236}">
                <a16:creationId xmlns:a16="http://schemas.microsoft.com/office/drawing/2014/main" id="{0035A838-7BD3-524E-8C60-B5A96F277091}"/>
              </a:ext>
            </a:extLst>
          </p:cNvPr>
          <p:cNvSpPr txBox="1"/>
          <p:nvPr/>
        </p:nvSpPr>
        <p:spPr>
          <a:xfrm>
            <a:off x="1145905" y="2182759"/>
            <a:ext cx="9102423" cy="964944"/>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rPr>
              <a:t> 余弦度量（</a:t>
            </a:r>
            <a:r>
              <a:rPr lang="en-US" altLang="zh-CN" sz="2400" b="1" dirty="0">
                <a:solidFill>
                  <a:srgbClr val="0245AD"/>
                </a:solidFill>
                <a:latin typeface="微软雅黑" pitchFamily="34" charset="-122"/>
                <a:ea typeface="微软雅黑" pitchFamily="34" charset="-122"/>
                <a:cs typeface="+mj-cs"/>
              </a:rPr>
              <a:t>Cosine</a:t>
            </a:r>
            <a:r>
              <a:rPr lang="zh-CN" altLang="en-US" sz="2400" b="1" dirty="0">
                <a:solidFill>
                  <a:srgbClr val="0245AD"/>
                </a:solidFill>
                <a:latin typeface="微软雅黑" pitchFamily="34" charset="-122"/>
                <a:ea typeface="微软雅黑" pitchFamily="34" charset="-122"/>
                <a:cs typeface="+mj-cs"/>
              </a:rPr>
              <a:t>）</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是对项集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与项集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条件概率的乘积取平方根。</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a:extLst>
              <a:ext uri="{FF2B5EF4-FFF2-40B4-BE49-F238E27FC236}">
                <a16:creationId xmlns:a16="http://schemas.microsoft.com/office/drawing/2014/main" id="{17ACC336-2994-6306-CE5E-80C24DE1468C}"/>
              </a:ext>
            </a:extLst>
          </p:cNvPr>
          <p:cNvSpPr txBox="1"/>
          <p:nvPr/>
        </p:nvSpPr>
        <p:spPr>
          <a:xfrm>
            <a:off x="1503901" y="4561858"/>
            <a:ext cx="8890930" cy="1211165"/>
          </a:xfrm>
          <a:prstGeom prst="rect">
            <a:avLst/>
          </a:prstGeom>
          <a:noFill/>
        </p:spPr>
        <p:txBody>
          <a:bodyPr wrap="square">
            <a:spAutoFit/>
          </a:bodyPr>
          <a:lstStyle/>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余弦度量基于向量空间模型，提供了一种衡量两个项集之间关联强度的对称度量方法。</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余弦度量的取值范围为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 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，值越高表示</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关联越强。</a:t>
            </a:r>
          </a:p>
        </p:txBody>
      </p:sp>
      <p:sp>
        <p:nvSpPr>
          <p:cNvPr id="4" name="矩形 26">
            <a:extLst>
              <a:ext uri="{FF2B5EF4-FFF2-40B4-BE49-F238E27FC236}">
                <a16:creationId xmlns:a16="http://schemas.microsoft.com/office/drawing/2014/main" id="{57785D9C-45B3-5F2D-5297-0BF2CC342216}"/>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070827C6-A86D-2FD1-351B-94277DD89F81}"/>
              </a:ext>
            </a:extLst>
          </p:cNvPr>
          <p:cNvSpPr/>
          <p:nvPr/>
        </p:nvSpPr>
        <p:spPr>
          <a:xfrm>
            <a:off x="558039" y="1190656"/>
            <a:ext cx="3450195"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其他模式评估度量</a:t>
            </a:r>
          </a:p>
        </p:txBody>
      </p:sp>
    </p:spTree>
    <p:extLst>
      <p:ext uri="{BB962C8B-B14F-4D97-AF65-F5344CB8AC3E}">
        <p14:creationId xmlns:p14="http://schemas.microsoft.com/office/powerpoint/2010/main" val="40366450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C7ED2-1453-77D0-7E15-E37FDEFD0734}"/>
            </a:ext>
          </a:extLst>
        </p:cNvPr>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74ABDB0F-3A97-070C-5960-1293129EA2B8}"/>
              </a:ext>
            </a:extLst>
          </p:cNvPr>
          <p:cNvGraphicFramePr>
            <a:graphicFrameLocks noChangeAspect="1"/>
          </p:cNvGraphicFramePr>
          <p:nvPr>
            <p:extLst>
              <p:ext uri="{D42A27DB-BD31-4B8C-83A1-F6EECF244321}">
                <p14:modId xmlns:p14="http://schemas.microsoft.com/office/powerpoint/2010/main" val="837345571"/>
              </p:ext>
            </p:extLst>
          </p:nvPr>
        </p:nvGraphicFramePr>
        <p:xfrm>
          <a:off x="1864401" y="3947812"/>
          <a:ext cx="8602164" cy="391008"/>
        </p:xfrm>
        <a:graphic>
          <a:graphicData uri="http://schemas.openxmlformats.org/presentationml/2006/ole">
            <mc:AlternateContent xmlns:mc="http://schemas.openxmlformats.org/markup-compatibility/2006">
              <mc:Choice xmlns:v="urn:schemas-microsoft-com:vml" Requires="v">
                <p:oleObj name="Equation" r:id="rId3" imgW="4400081" imgH="200139" progId="Equation.DSMT4">
                  <p:embed/>
                </p:oleObj>
              </mc:Choice>
              <mc:Fallback>
                <p:oleObj name="Equation" r:id="rId3" imgW="4400081" imgH="200139" progId="Equation.DSMT4">
                  <p:embed/>
                  <p:pic>
                    <p:nvPicPr>
                      <p:cNvPr id="0" name=""/>
                      <p:cNvPicPr/>
                      <p:nvPr/>
                    </p:nvPicPr>
                    <p:blipFill>
                      <a:blip r:embed="rId4"/>
                      <a:stretch>
                        <a:fillRect/>
                      </a:stretch>
                    </p:blipFill>
                    <p:spPr>
                      <a:xfrm>
                        <a:off x="1864401" y="3947812"/>
                        <a:ext cx="8602164" cy="391008"/>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61556398-B2E2-D654-8125-50397D66B80F}"/>
              </a:ext>
            </a:extLst>
          </p:cNvPr>
          <p:cNvSpPr txBox="1"/>
          <p:nvPr/>
        </p:nvSpPr>
        <p:spPr>
          <a:xfrm>
            <a:off x="1166530" y="2086574"/>
            <a:ext cx="9102423" cy="1734386"/>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rPr>
              <a:t> 杠杆率（</a:t>
            </a:r>
            <a:r>
              <a:rPr lang="en-US" altLang="zh-CN" sz="2400" b="1" dirty="0">
                <a:solidFill>
                  <a:srgbClr val="0245AD"/>
                </a:solidFill>
                <a:latin typeface="微软雅黑" pitchFamily="34" charset="-122"/>
                <a:ea typeface="微软雅黑" pitchFamily="34" charset="-122"/>
                <a:cs typeface="+mj-cs"/>
              </a:rPr>
              <a:t>Leverage</a:t>
            </a:r>
            <a:r>
              <a:rPr lang="zh-CN" altLang="en-US" sz="2400" b="1" dirty="0">
                <a:solidFill>
                  <a:srgbClr val="0245AD"/>
                </a:solidFill>
                <a:latin typeface="微软雅黑" pitchFamily="34" charset="-122"/>
                <a:ea typeface="微软雅黑" pitchFamily="34" charset="-122"/>
                <a:cs typeface="+mj-cs"/>
              </a:rPr>
              <a:t>）</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是项集</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与项集</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在同一个事务中出现的实际联合概率和相互独立条件下的期望联合概率之间的差值，表示规则出乎意料程度的“绝对”度量，揭示了项集之间的关联性。</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a:extLst>
              <a:ext uri="{FF2B5EF4-FFF2-40B4-BE49-F238E27FC236}">
                <a16:creationId xmlns:a16="http://schemas.microsoft.com/office/drawing/2014/main" id="{F3D8F4C3-EC89-4C3D-2CD4-717F566303B9}"/>
              </a:ext>
            </a:extLst>
          </p:cNvPr>
          <p:cNvSpPr txBox="1"/>
          <p:nvPr/>
        </p:nvSpPr>
        <p:spPr>
          <a:xfrm>
            <a:off x="1524526" y="4465673"/>
            <a:ext cx="6752679" cy="1595886"/>
          </a:xfrm>
          <a:prstGeom prst="rect">
            <a:avLst/>
          </a:prstGeom>
          <a:noFill/>
        </p:spPr>
        <p:txBody>
          <a:bodyPr wrap="square">
            <a:spAutoFit/>
          </a:bodyPr>
          <a:lstStyle/>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杠杆率的取值范围为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 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值等于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独立；</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值大于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之间存在正关联；</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值小于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之间存在负关联。</a:t>
            </a:r>
          </a:p>
        </p:txBody>
      </p:sp>
      <p:sp>
        <p:nvSpPr>
          <p:cNvPr id="5" name="矩形 26">
            <a:extLst>
              <a:ext uri="{FF2B5EF4-FFF2-40B4-BE49-F238E27FC236}">
                <a16:creationId xmlns:a16="http://schemas.microsoft.com/office/drawing/2014/main" id="{3EDB7A66-BBDB-42C0-A070-CD24225D9131}"/>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D9C5FD35-988F-C263-183A-A4B5422BF5B1}"/>
              </a:ext>
            </a:extLst>
          </p:cNvPr>
          <p:cNvSpPr/>
          <p:nvPr/>
        </p:nvSpPr>
        <p:spPr>
          <a:xfrm>
            <a:off x="558039" y="1190656"/>
            <a:ext cx="3450195"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其他模式评估度量</a:t>
            </a:r>
          </a:p>
        </p:txBody>
      </p:sp>
    </p:spTree>
    <p:extLst>
      <p:ext uri="{BB962C8B-B14F-4D97-AF65-F5344CB8AC3E}">
        <p14:creationId xmlns:p14="http://schemas.microsoft.com/office/powerpoint/2010/main" val="2479967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B8CF3-39BE-ACED-1CD0-BE3C3AF9D1C2}"/>
            </a:ext>
          </a:extLst>
        </p:cNvPr>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906E4B38-FFB4-CF9B-E32A-EE4A1653317F}"/>
              </a:ext>
            </a:extLst>
          </p:cNvPr>
          <p:cNvGraphicFramePr>
            <a:graphicFrameLocks noChangeAspect="1"/>
          </p:cNvGraphicFramePr>
          <p:nvPr>
            <p:extLst>
              <p:ext uri="{D42A27DB-BD31-4B8C-83A1-F6EECF244321}">
                <p14:modId xmlns:p14="http://schemas.microsoft.com/office/powerpoint/2010/main" val="723090736"/>
              </p:ext>
            </p:extLst>
          </p:nvPr>
        </p:nvGraphicFramePr>
        <p:xfrm>
          <a:off x="2766937" y="3222345"/>
          <a:ext cx="5582468" cy="727218"/>
        </p:xfrm>
        <a:graphic>
          <a:graphicData uri="http://schemas.openxmlformats.org/presentationml/2006/ole">
            <mc:AlternateContent xmlns:mc="http://schemas.openxmlformats.org/markup-compatibility/2006">
              <mc:Choice xmlns:v="urn:schemas-microsoft-com:vml" Requires="v">
                <p:oleObj name="Equation" r:id="rId3" imgW="3314520" imgH="431640" progId="Equation.DSMT4">
                  <p:embed/>
                </p:oleObj>
              </mc:Choice>
              <mc:Fallback>
                <p:oleObj name="Equation" r:id="rId3" imgW="3314520" imgH="431640" progId="Equation.DSMT4">
                  <p:embed/>
                  <p:pic>
                    <p:nvPicPr>
                      <p:cNvPr id="0" name=""/>
                      <p:cNvPicPr/>
                      <p:nvPr/>
                    </p:nvPicPr>
                    <p:blipFill>
                      <a:blip r:embed="rId4"/>
                      <a:stretch>
                        <a:fillRect/>
                      </a:stretch>
                    </p:blipFill>
                    <p:spPr>
                      <a:xfrm>
                        <a:off x="2766937" y="3222345"/>
                        <a:ext cx="5582468" cy="72721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225DCC13-3D25-AC9A-293C-6B46169CA969}"/>
              </a:ext>
            </a:extLst>
          </p:cNvPr>
          <p:cNvSpPr txBox="1"/>
          <p:nvPr/>
        </p:nvSpPr>
        <p:spPr>
          <a:xfrm>
            <a:off x="1194031" y="2182759"/>
            <a:ext cx="9102423" cy="964944"/>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rPr>
              <a:t> 确信度（</a:t>
            </a:r>
            <a:r>
              <a:rPr lang="en-US" altLang="zh-CN" sz="2400" b="1" dirty="0">
                <a:solidFill>
                  <a:srgbClr val="0245AD"/>
                </a:solidFill>
                <a:latin typeface="微软雅黑" pitchFamily="34" charset="-122"/>
                <a:ea typeface="微软雅黑" pitchFamily="34" charset="-122"/>
                <a:cs typeface="+mj-cs"/>
              </a:rPr>
              <a:t>Conviction</a:t>
            </a:r>
            <a:r>
              <a:rPr lang="zh-CN" altLang="en-US" sz="2400" b="1" dirty="0">
                <a:solidFill>
                  <a:srgbClr val="0245AD"/>
                </a:solidFill>
                <a:latin typeface="微软雅黑" pitchFamily="34" charset="-122"/>
                <a:ea typeface="微软雅黑" pitchFamily="34" charset="-122"/>
                <a:cs typeface="+mj-cs"/>
              </a:rPr>
              <a:t>）</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与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独立情况下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发生而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不发生的期望概率与实际频率的比率。</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22EE0272-53D2-E594-B753-3ED5D510D5BA}"/>
              </a:ext>
            </a:extLst>
          </p:cNvPr>
          <p:cNvSpPr txBox="1"/>
          <p:nvPr/>
        </p:nvSpPr>
        <p:spPr>
          <a:xfrm>
            <a:off x="932751" y="3989015"/>
            <a:ext cx="10449714" cy="2365328"/>
          </a:xfrm>
          <a:prstGeom prst="rect">
            <a:avLst/>
          </a:prstGeom>
          <a:noFill/>
        </p:spPr>
        <p:txBody>
          <a:bodyPr wrap="square">
            <a:spAutoFit/>
          </a:bodyPr>
          <a:lstStyle/>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确信度相比置信度，考虑了关联规则的方向性，即正关联与负关联关系，更适合处理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出现频率差异较大的情况，在评估规则的实际关联强度和排除误导性关联方面具有更好的表现。</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确信度的取值范围为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，值越大，表示事务在包含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的情况下，同时包含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的概率相对于独立假设下的期望概率越低，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与    之间的负向关系越强。</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确信度等于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独立，值大于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表示正相关关系，值小于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表示负相关关系。</a:t>
            </a:r>
          </a:p>
        </p:txBody>
      </p:sp>
      <p:graphicFrame>
        <p:nvGraphicFramePr>
          <p:cNvPr id="11" name="对象 10">
            <a:extLst>
              <a:ext uri="{FF2B5EF4-FFF2-40B4-BE49-F238E27FC236}">
                <a16:creationId xmlns:a16="http://schemas.microsoft.com/office/drawing/2014/main" id="{1870B974-8416-FA93-4A4B-BA6C39BC4DD3}"/>
              </a:ext>
            </a:extLst>
          </p:cNvPr>
          <p:cNvGraphicFramePr>
            <a:graphicFrameLocks noChangeAspect="1"/>
          </p:cNvGraphicFramePr>
          <p:nvPr>
            <p:extLst>
              <p:ext uri="{D42A27DB-BD31-4B8C-83A1-F6EECF244321}">
                <p14:modId xmlns:p14="http://schemas.microsoft.com/office/powerpoint/2010/main" val="1492594136"/>
              </p:ext>
            </p:extLst>
          </p:nvPr>
        </p:nvGraphicFramePr>
        <p:xfrm>
          <a:off x="3933342" y="5276992"/>
          <a:ext cx="284907" cy="227926"/>
        </p:xfrm>
        <a:graphic>
          <a:graphicData uri="http://schemas.openxmlformats.org/presentationml/2006/ole">
            <mc:AlternateContent xmlns:mc="http://schemas.openxmlformats.org/markup-compatibility/2006">
              <mc:Choice xmlns:v="urn:schemas-microsoft-com:vml" Requires="v">
                <p:oleObj name="Equation" r:id="rId5" imgW="152202" imgH="126835" progId="Equation.DSMT4">
                  <p:embed/>
                </p:oleObj>
              </mc:Choice>
              <mc:Fallback>
                <p:oleObj name="Equation" r:id="rId5" imgW="152202" imgH="126835"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3342" y="5276992"/>
                        <a:ext cx="284907" cy="227926"/>
                      </a:xfrm>
                      <a:prstGeom prst="rect">
                        <a:avLst/>
                      </a:prstGeom>
                      <a:noFill/>
                    </p:spPr>
                  </p:pic>
                </p:oleObj>
              </mc:Fallback>
            </mc:AlternateContent>
          </a:graphicData>
        </a:graphic>
      </p:graphicFrame>
      <p:graphicFrame>
        <p:nvGraphicFramePr>
          <p:cNvPr id="12" name="对象 11">
            <a:extLst>
              <a:ext uri="{FF2B5EF4-FFF2-40B4-BE49-F238E27FC236}">
                <a16:creationId xmlns:a16="http://schemas.microsoft.com/office/drawing/2014/main" id="{827AEEB3-E013-A589-E796-A0360984B70D}"/>
              </a:ext>
            </a:extLst>
          </p:cNvPr>
          <p:cNvGraphicFramePr>
            <a:graphicFrameLocks noChangeAspect="1"/>
          </p:cNvGraphicFramePr>
          <p:nvPr>
            <p:extLst>
              <p:ext uri="{D42A27DB-BD31-4B8C-83A1-F6EECF244321}">
                <p14:modId xmlns:p14="http://schemas.microsoft.com/office/powerpoint/2010/main" val="425992448"/>
              </p:ext>
            </p:extLst>
          </p:nvPr>
        </p:nvGraphicFramePr>
        <p:xfrm>
          <a:off x="9965125" y="5207454"/>
          <a:ext cx="236248" cy="310076"/>
        </p:xfrm>
        <a:graphic>
          <a:graphicData uri="http://schemas.openxmlformats.org/presentationml/2006/ole">
            <mc:AlternateContent xmlns:mc="http://schemas.openxmlformats.org/markup-compatibility/2006">
              <mc:Choice xmlns:v="urn:schemas-microsoft-com:vml" Requires="v">
                <p:oleObj name="Equation" r:id="rId7" imgW="152261" imgH="200139" progId="Equation.DSMT4">
                  <p:embed/>
                </p:oleObj>
              </mc:Choice>
              <mc:Fallback>
                <p:oleObj name="Equation" r:id="rId7" imgW="152261" imgH="200139" progId="Equation.DSMT4">
                  <p:embed/>
                  <p:pic>
                    <p:nvPicPr>
                      <p:cNvPr id="0" name=""/>
                      <p:cNvPicPr/>
                      <p:nvPr/>
                    </p:nvPicPr>
                    <p:blipFill>
                      <a:blip r:embed="rId8"/>
                      <a:stretch>
                        <a:fillRect/>
                      </a:stretch>
                    </p:blipFill>
                    <p:spPr>
                      <a:xfrm>
                        <a:off x="9965125" y="5207454"/>
                        <a:ext cx="236248" cy="310076"/>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6C731E82-3AFA-8F63-17E8-CAFD6AC7F8AC}"/>
              </a:ext>
            </a:extLst>
          </p:cNvPr>
          <p:cNvGraphicFramePr>
            <a:graphicFrameLocks noChangeAspect="1"/>
          </p:cNvGraphicFramePr>
          <p:nvPr>
            <p:extLst>
              <p:ext uri="{D42A27DB-BD31-4B8C-83A1-F6EECF244321}">
                <p14:modId xmlns:p14="http://schemas.microsoft.com/office/powerpoint/2010/main" val="2283376336"/>
              </p:ext>
            </p:extLst>
          </p:nvPr>
        </p:nvGraphicFramePr>
        <p:xfrm>
          <a:off x="5626973" y="5583377"/>
          <a:ext cx="236537" cy="309563"/>
        </p:xfrm>
        <a:graphic>
          <a:graphicData uri="http://schemas.openxmlformats.org/presentationml/2006/ole">
            <mc:AlternateContent xmlns:mc="http://schemas.openxmlformats.org/markup-compatibility/2006">
              <mc:Choice xmlns:v="urn:schemas-microsoft-com:vml" Requires="v">
                <p:oleObj name="Equation" r:id="rId9" imgW="236538" imgH="309611" progId="Equation.DSMT4">
                  <p:embed/>
                </p:oleObj>
              </mc:Choice>
              <mc:Fallback>
                <p:oleObj name="Equation" r:id="rId9" imgW="236538" imgH="309611" progId="Equation.DSMT4">
                  <p:embed/>
                  <p:pic>
                    <p:nvPicPr>
                      <p:cNvPr id="0" name=""/>
                      <p:cNvPicPr/>
                      <p:nvPr/>
                    </p:nvPicPr>
                    <p:blipFill>
                      <a:blip r:embed="rId10"/>
                      <a:stretch>
                        <a:fillRect/>
                      </a:stretch>
                    </p:blipFill>
                    <p:spPr>
                      <a:xfrm>
                        <a:off x="5626973" y="5583377"/>
                        <a:ext cx="236537" cy="309563"/>
                      </a:xfrm>
                      <a:prstGeom prst="rect">
                        <a:avLst/>
                      </a:prstGeom>
                    </p:spPr>
                  </p:pic>
                </p:oleObj>
              </mc:Fallback>
            </mc:AlternateContent>
          </a:graphicData>
        </a:graphic>
      </p:graphicFrame>
      <p:sp>
        <p:nvSpPr>
          <p:cNvPr id="8" name="矩形 26">
            <a:extLst>
              <a:ext uri="{FF2B5EF4-FFF2-40B4-BE49-F238E27FC236}">
                <a16:creationId xmlns:a16="http://schemas.microsoft.com/office/drawing/2014/main" id="{CB85EE10-83EE-17FD-611C-566B4121288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D141499E-302B-A796-D722-633F19DFCE5E}"/>
              </a:ext>
            </a:extLst>
          </p:cNvPr>
          <p:cNvSpPr/>
          <p:nvPr/>
        </p:nvSpPr>
        <p:spPr>
          <a:xfrm>
            <a:off x="558039" y="1190656"/>
            <a:ext cx="3450195"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其他模式评估度量</a:t>
            </a:r>
          </a:p>
        </p:txBody>
      </p:sp>
    </p:spTree>
    <p:extLst>
      <p:ext uri="{BB962C8B-B14F-4D97-AF65-F5344CB8AC3E}">
        <p14:creationId xmlns:p14="http://schemas.microsoft.com/office/powerpoint/2010/main" val="354896944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5A1AB-5BEF-29DA-57B1-9A50706208E6}"/>
            </a:ext>
          </a:extLst>
        </p:cNvPr>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EC52544D-ED7C-A2CF-376A-6FBA860E5617}"/>
              </a:ext>
            </a:extLst>
          </p:cNvPr>
          <p:cNvGraphicFramePr>
            <a:graphicFrameLocks noChangeAspect="1"/>
          </p:cNvGraphicFramePr>
          <p:nvPr>
            <p:extLst>
              <p:ext uri="{D42A27DB-BD31-4B8C-83A1-F6EECF244321}">
                <p14:modId xmlns:p14="http://schemas.microsoft.com/office/powerpoint/2010/main" val="1895047098"/>
              </p:ext>
            </p:extLst>
          </p:nvPr>
        </p:nvGraphicFramePr>
        <p:xfrm>
          <a:off x="2587055" y="3270944"/>
          <a:ext cx="5717499" cy="434852"/>
        </p:xfrm>
        <a:graphic>
          <a:graphicData uri="http://schemas.openxmlformats.org/presentationml/2006/ole">
            <mc:AlternateContent xmlns:mc="http://schemas.openxmlformats.org/markup-compatibility/2006">
              <mc:Choice xmlns:v="urn:schemas-microsoft-com:vml" Requires="v">
                <p:oleObj name="Equation" r:id="rId3" imgW="3381051" imgH="257013" progId="Equation.DSMT4">
                  <p:embed/>
                </p:oleObj>
              </mc:Choice>
              <mc:Fallback>
                <p:oleObj name="Equation" r:id="rId3" imgW="3381051" imgH="257013" progId="Equation.DSMT4">
                  <p:embed/>
                  <p:pic>
                    <p:nvPicPr>
                      <p:cNvPr id="0" name=""/>
                      <p:cNvPicPr/>
                      <p:nvPr/>
                    </p:nvPicPr>
                    <p:blipFill>
                      <a:blip r:embed="rId4"/>
                      <a:stretch>
                        <a:fillRect/>
                      </a:stretch>
                    </p:blipFill>
                    <p:spPr>
                      <a:xfrm>
                        <a:off x="2587055" y="3270944"/>
                        <a:ext cx="5717499" cy="434852"/>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042A5CCB-624C-4917-A4BB-CCEFD3CCB8E3}"/>
              </a:ext>
            </a:extLst>
          </p:cNvPr>
          <p:cNvSpPr txBox="1"/>
          <p:nvPr/>
        </p:nvSpPr>
        <p:spPr>
          <a:xfrm>
            <a:off x="1102680" y="2065948"/>
            <a:ext cx="9102423" cy="964944"/>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en-US" altLang="zh-CN" sz="2400" b="1" dirty="0">
                <a:solidFill>
                  <a:srgbClr val="0245AD"/>
                </a:solidFill>
                <a:latin typeface="微软雅黑" pitchFamily="34" charset="-122"/>
                <a:ea typeface="微软雅黑" pitchFamily="34" charset="-122"/>
                <a:cs typeface="+mj-cs"/>
              </a:rPr>
              <a:t> Added Value</a:t>
            </a:r>
            <a:r>
              <a:rPr lang="zh-CN" altLang="en-US" sz="2400" b="1" dirty="0">
                <a:solidFill>
                  <a:srgbClr val="0245AD"/>
                </a:solidFill>
                <a:latin typeface="微软雅黑" pitchFamily="34" charset="-122"/>
                <a:ea typeface="微软雅黑" pitchFamily="34" charset="-122"/>
                <a:cs typeface="+mj-cs"/>
              </a:rPr>
              <a:t>（</a:t>
            </a:r>
            <a:r>
              <a:rPr lang="en-US" altLang="zh-CN" sz="2400" b="1" dirty="0">
                <a:solidFill>
                  <a:srgbClr val="0245AD"/>
                </a:solidFill>
                <a:latin typeface="微软雅黑" pitchFamily="34" charset="-122"/>
                <a:ea typeface="微软雅黑" pitchFamily="34" charset="-122"/>
                <a:cs typeface="+mj-cs"/>
              </a:rPr>
              <a:t>AV</a:t>
            </a:r>
            <a:r>
              <a:rPr lang="zh-CN" altLang="en-US" sz="2400" b="1" dirty="0">
                <a:solidFill>
                  <a:srgbClr val="0245AD"/>
                </a:solidFill>
                <a:latin typeface="微软雅黑" pitchFamily="34" charset="-122"/>
                <a:ea typeface="微软雅黑" pitchFamily="34" charset="-122"/>
                <a:cs typeface="+mj-cs"/>
              </a:rPr>
              <a:t>）</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衡量项集之间的实际关联程度相对于基准关联程度的提升或改进程度。</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a:extLst>
              <a:ext uri="{FF2B5EF4-FFF2-40B4-BE49-F238E27FC236}">
                <a16:creationId xmlns:a16="http://schemas.microsoft.com/office/drawing/2014/main" id="{01ADCD54-4673-C6C1-D2CD-13EDFB2BCE70}"/>
              </a:ext>
            </a:extLst>
          </p:cNvPr>
          <p:cNvSpPr txBox="1"/>
          <p:nvPr/>
        </p:nvSpPr>
        <p:spPr>
          <a:xfrm>
            <a:off x="1473289" y="3920624"/>
            <a:ext cx="9540022" cy="1980607"/>
          </a:xfrm>
          <a:prstGeom prst="rect">
            <a:avLst/>
          </a:prstGeom>
          <a:noFill/>
        </p:spPr>
        <p:txBody>
          <a:bodyPr wrap="square">
            <a:spAutoFit/>
          </a:bodyPr>
          <a:lstStyle/>
          <a:p>
            <a:pPr marL="342900" indent="-342900">
              <a:lnSpc>
                <a:spcPct val="125000"/>
              </a:lnSpc>
              <a:buFont typeface="Arial" panose="020B0604020202020204" pitchFamily="34" charset="0"/>
              <a:buChar char="•"/>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AV</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的取值范围为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[−0.5, 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如果</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AV</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为正，表示项集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的出现显著提高了项集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出现的概率，</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之间存在正关联；</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值为零表示项集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和项集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的出现是独立的；</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值为负表示项集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的出现降低了项集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出现的概率，</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之间存在正关联。</a:t>
            </a:r>
          </a:p>
        </p:txBody>
      </p:sp>
      <p:sp>
        <p:nvSpPr>
          <p:cNvPr id="5" name="矩形 26">
            <a:extLst>
              <a:ext uri="{FF2B5EF4-FFF2-40B4-BE49-F238E27FC236}">
                <a16:creationId xmlns:a16="http://schemas.microsoft.com/office/drawing/2014/main" id="{6BC1E16F-62D1-DF45-84A9-1C29F7120C1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DD44CB5B-C455-D3CD-88A3-2246A4F78032}"/>
              </a:ext>
            </a:extLst>
          </p:cNvPr>
          <p:cNvSpPr/>
          <p:nvPr/>
        </p:nvSpPr>
        <p:spPr>
          <a:xfrm>
            <a:off x="558039" y="1190656"/>
            <a:ext cx="3450195"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其他模式评估度量</a:t>
            </a:r>
          </a:p>
        </p:txBody>
      </p:sp>
    </p:spTree>
    <p:extLst>
      <p:ext uri="{BB962C8B-B14F-4D97-AF65-F5344CB8AC3E}">
        <p14:creationId xmlns:p14="http://schemas.microsoft.com/office/powerpoint/2010/main" val="3091401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56F83-9F5A-46E3-6F95-3FB07DE09F33}"/>
            </a:ext>
          </a:extLst>
        </p:cNvPr>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C5724B97-F921-3EE8-E228-74D0DCB5172F}"/>
              </a:ext>
            </a:extLst>
          </p:cNvPr>
          <p:cNvGraphicFramePr>
            <a:graphicFrameLocks noChangeAspect="1"/>
          </p:cNvGraphicFramePr>
          <p:nvPr>
            <p:extLst>
              <p:ext uri="{D42A27DB-BD31-4B8C-83A1-F6EECF244321}">
                <p14:modId xmlns:p14="http://schemas.microsoft.com/office/powerpoint/2010/main" val="251485317"/>
              </p:ext>
            </p:extLst>
          </p:nvPr>
        </p:nvGraphicFramePr>
        <p:xfrm>
          <a:off x="2769237" y="3526857"/>
          <a:ext cx="5275783" cy="722105"/>
        </p:xfrm>
        <a:graphic>
          <a:graphicData uri="http://schemas.openxmlformats.org/presentationml/2006/ole">
            <mc:AlternateContent xmlns:mc="http://schemas.openxmlformats.org/markup-compatibility/2006">
              <mc:Choice xmlns:v="urn:schemas-microsoft-com:vml" Requires="v">
                <p:oleObj name="Equation" r:id="rId3" imgW="3409487" imgH="466510" progId="Equation.DSMT4">
                  <p:embed/>
                </p:oleObj>
              </mc:Choice>
              <mc:Fallback>
                <p:oleObj name="Equation" r:id="rId3" imgW="3409487" imgH="466510" progId="Equation.DSMT4">
                  <p:embed/>
                  <p:pic>
                    <p:nvPicPr>
                      <p:cNvPr id="0" name=""/>
                      <p:cNvPicPr/>
                      <p:nvPr/>
                    </p:nvPicPr>
                    <p:blipFill>
                      <a:blip r:embed="rId4"/>
                      <a:stretch>
                        <a:fillRect/>
                      </a:stretch>
                    </p:blipFill>
                    <p:spPr>
                      <a:xfrm>
                        <a:off x="2769237" y="3526857"/>
                        <a:ext cx="5275783" cy="722105"/>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DD61B4A3-B831-0BC8-C6C6-24A3C0F2D4D2}"/>
              </a:ext>
            </a:extLst>
          </p:cNvPr>
          <p:cNvSpPr txBox="1"/>
          <p:nvPr/>
        </p:nvSpPr>
        <p:spPr>
          <a:xfrm>
            <a:off x="1111529" y="2065948"/>
            <a:ext cx="9102423" cy="1349665"/>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rPr>
              <a:t> 确定性因子（</a:t>
            </a:r>
            <a:r>
              <a:rPr lang="en-US" altLang="zh-CN" sz="2400" b="1" dirty="0">
                <a:solidFill>
                  <a:srgbClr val="0245AD"/>
                </a:solidFill>
                <a:latin typeface="微软雅黑" pitchFamily="34" charset="-122"/>
                <a:ea typeface="微软雅黑" pitchFamily="34" charset="-122"/>
                <a:cs typeface="+mj-cs"/>
              </a:rPr>
              <a:t>Certainty Factor</a:t>
            </a:r>
            <a:r>
              <a:rPr lang="zh-CN" altLang="en-US" sz="2400" b="1" dirty="0">
                <a:solidFill>
                  <a:srgbClr val="0245AD"/>
                </a:solidFill>
                <a:latin typeface="微软雅黑" pitchFamily="34" charset="-122"/>
                <a:ea typeface="微软雅黑" pitchFamily="34" charset="-122"/>
                <a:cs typeface="+mj-cs"/>
              </a:rPr>
              <a:t>）</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确定性因子（</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Certainty Factor</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）表示仅考虑包含项集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的事务时，项集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也出现的概率相对于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在所有事务中出现的概率的变化。</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08E54F84-4E44-2719-4893-3BFCB2608CC4}"/>
              </a:ext>
            </a:extLst>
          </p:cNvPr>
          <p:cNvSpPr txBox="1"/>
          <p:nvPr/>
        </p:nvSpPr>
        <p:spPr>
          <a:xfrm>
            <a:off x="1406463" y="4293104"/>
            <a:ext cx="9703983" cy="1980607"/>
          </a:xfrm>
          <a:prstGeom prst="rect">
            <a:avLst/>
          </a:prstGeom>
          <a:noFill/>
        </p:spPr>
        <p:txBody>
          <a:bodyPr wrap="square">
            <a:spAutoFit/>
          </a:bodyPr>
          <a:lstStyle/>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确定性因子结合了规则的置信度与规则的提升度，以更好地衡量规则的可靠性；</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确定性因子的取值范围为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 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确定性因子的值大于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的出现提高了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出现的概率，</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之间存在正关联；</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值等于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之间没有关联；</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值小于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的出现降低了</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出现的概率，</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之间存在负关联。</a:t>
            </a:r>
          </a:p>
        </p:txBody>
      </p:sp>
      <p:sp>
        <p:nvSpPr>
          <p:cNvPr id="8" name="矩形 26">
            <a:extLst>
              <a:ext uri="{FF2B5EF4-FFF2-40B4-BE49-F238E27FC236}">
                <a16:creationId xmlns:a16="http://schemas.microsoft.com/office/drawing/2014/main" id="{1B0881C3-D21B-3C39-CCDA-F794727DD135}"/>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8C9BEEB0-403D-1E43-56A9-AE94D6B8C189}"/>
              </a:ext>
            </a:extLst>
          </p:cNvPr>
          <p:cNvSpPr/>
          <p:nvPr/>
        </p:nvSpPr>
        <p:spPr>
          <a:xfrm>
            <a:off x="558039" y="1190656"/>
            <a:ext cx="3450195"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其他模式评估度量</a:t>
            </a:r>
          </a:p>
        </p:txBody>
      </p:sp>
    </p:spTree>
    <p:extLst>
      <p:ext uri="{BB962C8B-B14F-4D97-AF65-F5344CB8AC3E}">
        <p14:creationId xmlns:p14="http://schemas.microsoft.com/office/powerpoint/2010/main" val="24392193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7697F-0861-B9EE-FCD7-E1076796FDC6}"/>
            </a:ext>
          </a:extLst>
        </p:cNvPr>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BDA3F9D7-B8E3-6998-1D64-1B55A48A9363}"/>
              </a:ext>
            </a:extLst>
          </p:cNvPr>
          <p:cNvGraphicFramePr>
            <a:graphicFrameLocks noChangeAspect="1"/>
          </p:cNvGraphicFramePr>
          <p:nvPr>
            <p:extLst>
              <p:ext uri="{D42A27DB-BD31-4B8C-83A1-F6EECF244321}">
                <p14:modId xmlns:p14="http://schemas.microsoft.com/office/powerpoint/2010/main" val="3359154786"/>
              </p:ext>
            </p:extLst>
          </p:nvPr>
        </p:nvGraphicFramePr>
        <p:xfrm>
          <a:off x="4429161" y="3200651"/>
          <a:ext cx="1877868" cy="697087"/>
        </p:xfrm>
        <a:graphic>
          <a:graphicData uri="http://schemas.openxmlformats.org/presentationml/2006/ole">
            <mc:AlternateContent xmlns:mc="http://schemas.openxmlformats.org/markup-compatibility/2006">
              <mc:Choice xmlns:v="urn:schemas-microsoft-com:vml" Requires="v">
                <p:oleObj name="Equation" r:id="rId3" imgW="1257320" imgH="466510" progId="Equation.DSMT4">
                  <p:embed/>
                </p:oleObj>
              </mc:Choice>
              <mc:Fallback>
                <p:oleObj name="Equation" r:id="rId3" imgW="1257320" imgH="466510" progId="Equation.DSMT4">
                  <p:embed/>
                  <p:pic>
                    <p:nvPicPr>
                      <p:cNvPr id="0" name=""/>
                      <p:cNvPicPr/>
                      <p:nvPr/>
                    </p:nvPicPr>
                    <p:blipFill>
                      <a:blip r:embed="rId4"/>
                      <a:stretch>
                        <a:fillRect/>
                      </a:stretch>
                    </p:blipFill>
                    <p:spPr>
                      <a:xfrm>
                        <a:off x="4429161" y="3200651"/>
                        <a:ext cx="1877868" cy="697087"/>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A1DDA2FC-750D-0253-A5C0-F0767FA980A0}"/>
              </a:ext>
            </a:extLst>
          </p:cNvPr>
          <p:cNvSpPr txBox="1"/>
          <p:nvPr/>
        </p:nvSpPr>
        <p:spPr>
          <a:xfrm>
            <a:off x="1317784" y="2120949"/>
            <a:ext cx="9102423" cy="964944"/>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en-US" altLang="zh-CN" sz="2400" b="1" dirty="0">
                <a:solidFill>
                  <a:srgbClr val="0245AD"/>
                </a:solidFill>
                <a:latin typeface="微软雅黑" pitchFamily="34" charset="-122"/>
                <a:ea typeface="微软雅黑" pitchFamily="34" charset="-122"/>
                <a:cs typeface="+mj-cs"/>
              </a:rPr>
              <a:t> </a:t>
            </a:r>
            <a:r>
              <a:rPr lang="en-US" altLang="zh-CN" sz="2400" b="1" dirty="0" err="1">
                <a:solidFill>
                  <a:srgbClr val="0245AD"/>
                </a:solidFill>
                <a:latin typeface="微软雅黑" pitchFamily="34" charset="-122"/>
                <a:ea typeface="微软雅黑" pitchFamily="34" charset="-122"/>
                <a:cs typeface="+mj-cs"/>
              </a:rPr>
              <a:t>Yule’Y</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Yule’ Y</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用于衡量两个二元变量之间的关联方向和强度。</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6" name="对象 5">
            <a:extLst>
              <a:ext uri="{FF2B5EF4-FFF2-40B4-BE49-F238E27FC236}">
                <a16:creationId xmlns:a16="http://schemas.microsoft.com/office/drawing/2014/main" id="{B928C393-5C22-A07C-9618-D389C8C8EB30}"/>
              </a:ext>
            </a:extLst>
          </p:cNvPr>
          <p:cNvGraphicFramePr>
            <a:graphicFrameLocks noChangeAspect="1"/>
          </p:cNvGraphicFramePr>
          <p:nvPr>
            <p:extLst>
              <p:ext uri="{D42A27DB-BD31-4B8C-83A1-F6EECF244321}">
                <p14:modId xmlns:p14="http://schemas.microsoft.com/office/powerpoint/2010/main" val="3040310794"/>
              </p:ext>
            </p:extLst>
          </p:nvPr>
        </p:nvGraphicFramePr>
        <p:xfrm>
          <a:off x="2908816" y="3942793"/>
          <a:ext cx="2545989" cy="324035"/>
        </p:xfrm>
        <a:graphic>
          <a:graphicData uri="http://schemas.openxmlformats.org/presentationml/2006/ole">
            <mc:AlternateContent xmlns:mc="http://schemas.openxmlformats.org/markup-compatibility/2006">
              <mc:Choice xmlns:v="urn:schemas-microsoft-com:vml" Requires="v">
                <p:oleObj name="Equation" r:id="rId5" imgW="1571560" imgH="200139" progId="Equation.DSMT4">
                  <p:embed/>
                </p:oleObj>
              </mc:Choice>
              <mc:Fallback>
                <p:oleObj name="Equation" r:id="rId5" imgW="1571560" imgH="200139" progId="Equation.DSMT4">
                  <p:embed/>
                  <p:pic>
                    <p:nvPicPr>
                      <p:cNvPr id="0" name=""/>
                      <p:cNvPicPr/>
                      <p:nvPr/>
                    </p:nvPicPr>
                    <p:blipFill>
                      <a:blip r:embed="rId6"/>
                      <a:stretch>
                        <a:fillRect/>
                      </a:stretch>
                    </p:blipFill>
                    <p:spPr>
                      <a:xfrm>
                        <a:off x="2908816" y="3942793"/>
                        <a:ext cx="2545989" cy="324035"/>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B4FB03FB-260B-DDCF-43D1-747E26704ED7}"/>
              </a:ext>
            </a:extLst>
          </p:cNvPr>
          <p:cNvSpPr txBox="1"/>
          <p:nvPr/>
        </p:nvSpPr>
        <p:spPr>
          <a:xfrm>
            <a:off x="2224154" y="3897738"/>
            <a:ext cx="6094948" cy="400110"/>
          </a:xfrm>
          <a:prstGeom prst="rect">
            <a:avLst/>
          </a:prstGeom>
          <a:noFill/>
        </p:spPr>
        <p:txBody>
          <a:bodyPr wrap="square">
            <a:spAutoFit/>
          </a:bodyPr>
          <a:lstStyle/>
          <a:p>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其中</a:t>
            </a:r>
            <a:endParaRPr lang="zh-CN" altLang="en-US" dirty="0"/>
          </a:p>
        </p:txBody>
      </p:sp>
      <p:sp>
        <p:nvSpPr>
          <p:cNvPr id="11" name="文本框 10">
            <a:extLst>
              <a:ext uri="{FF2B5EF4-FFF2-40B4-BE49-F238E27FC236}">
                <a16:creationId xmlns:a16="http://schemas.microsoft.com/office/drawing/2014/main" id="{1A561FBE-A919-F226-3EF9-3802D8F45732}"/>
              </a:ext>
            </a:extLst>
          </p:cNvPr>
          <p:cNvSpPr txBox="1"/>
          <p:nvPr/>
        </p:nvSpPr>
        <p:spPr>
          <a:xfrm>
            <a:off x="1808211" y="4417474"/>
            <a:ext cx="4709468" cy="1595886"/>
          </a:xfrm>
          <a:prstGeom prst="rect">
            <a:avLst/>
          </a:prstGeom>
          <a:noFill/>
        </p:spPr>
        <p:txBody>
          <a:bodyPr wrap="square">
            <a:spAutoFit/>
          </a:bodyPr>
          <a:lstStyle/>
          <a:p>
            <a:pPr marL="342900" indent="-342900">
              <a:lnSpc>
                <a:spcPct val="125000"/>
              </a:lnSpc>
              <a:buFont typeface="Arial" panose="020B0604020202020204" pitchFamily="34" charset="0"/>
              <a:buChar char="•"/>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Yule’ Y</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的取值范围为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 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值大于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存在正关联；</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值等于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之间没有关联；</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值小于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存在负关联。</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26">
            <a:extLst>
              <a:ext uri="{FF2B5EF4-FFF2-40B4-BE49-F238E27FC236}">
                <a16:creationId xmlns:a16="http://schemas.microsoft.com/office/drawing/2014/main" id="{D25B2C36-6B28-0E85-0E42-7BF228B29E68}"/>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000F6EC4-863D-A09A-B5EE-E54F350A0D0E}"/>
              </a:ext>
            </a:extLst>
          </p:cNvPr>
          <p:cNvSpPr/>
          <p:nvPr/>
        </p:nvSpPr>
        <p:spPr>
          <a:xfrm>
            <a:off x="558039" y="1190656"/>
            <a:ext cx="3450195"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其他模式评估度量</a:t>
            </a:r>
          </a:p>
        </p:txBody>
      </p:sp>
    </p:spTree>
    <p:extLst>
      <p:ext uri="{BB962C8B-B14F-4D97-AF65-F5344CB8AC3E}">
        <p14:creationId xmlns:p14="http://schemas.microsoft.com/office/powerpoint/2010/main" val="2379900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32AB0-F383-8ABC-1EEB-320CCC0F25E0}"/>
            </a:ext>
          </a:extLst>
        </p:cNvPr>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01E4D176-6858-FED5-A63D-7C0B998D6AE9}"/>
              </a:ext>
            </a:extLst>
          </p:cNvPr>
          <p:cNvGraphicFramePr>
            <a:graphicFrameLocks noChangeAspect="1"/>
          </p:cNvGraphicFramePr>
          <p:nvPr>
            <p:extLst>
              <p:ext uri="{D42A27DB-BD31-4B8C-83A1-F6EECF244321}">
                <p14:modId xmlns:p14="http://schemas.microsoft.com/office/powerpoint/2010/main" val="3359549148"/>
              </p:ext>
            </p:extLst>
          </p:nvPr>
        </p:nvGraphicFramePr>
        <p:xfrm>
          <a:off x="2004149" y="3588507"/>
          <a:ext cx="7607386" cy="669450"/>
        </p:xfrm>
        <a:graphic>
          <a:graphicData uri="http://schemas.openxmlformats.org/presentationml/2006/ole">
            <mc:AlternateContent xmlns:mc="http://schemas.openxmlformats.org/markup-compatibility/2006">
              <mc:Choice xmlns:v="urn:schemas-microsoft-com:vml" Requires="v">
                <p:oleObj name="Equation" r:id="rId3" imgW="4761835" imgH="418995" progId="Equation.DSMT4">
                  <p:embed/>
                </p:oleObj>
              </mc:Choice>
              <mc:Fallback>
                <p:oleObj name="Equation" r:id="rId3" imgW="4761835" imgH="418995" progId="Equation.DSMT4">
                  <p:embed/>
                  <p:pic>
                    <p:nvPicPr>
                      <p:cNvPr id="0" name=""/>
                      <p:cNvPicPr/>
                      <p:nvPr/>
                    </p:nvPicPr>
                    <p:blipFill>
                      <a:blip r:embed="rId4"/>
                      <a:stretch>
                        <a:fillRect/>
                      </a:stretch>
                    </p:blipFill>
                    <p:spPr>
                      <a:xfrm>
                        <a:off x="2004149" y="3588507"/>
                        <a:ext cx="7607386" cy="669450"/>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1981FAA4-2A77-3175-46BB-B39A2491D568}"/>
              </a:ext>
            </a:extLst>
          </p:cNvPr>
          <p:cNvSpPr txBox="1"/>
          <p:nvPr/>
        </p:nvSpPr>
        <p:spPr>
          <a:xfrm>
            <a:off x="1097779" y="2065948"/>
            <a:ext cx="9102423" cy="1349665"/>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en-US" altLang="zh-CN" sz="2400" b="1" dirty="0">
                <a:solidFill>
                  <a:srgbClr val="0245AD"/>
                </a:solidFill>
                <a:latin typeface="微软雅黑" pitchFamily="34" charset="-122"/>
                <a:ea typeface="微软雅黑" pitchFamily="34" charset="-122"/>
                <a:cs typeface="+mj-cs"/>
              </a:rPr>
              <a:t>Jaccard</a:t>
            </a:r>
            <a:r>
              <a:rPr lang="zh-CN" altLang="en-US" sz="2400" b="1" dirty="0">
                <a:solidFill>
                  <a:srgbClr val="0245AD"/>
                </a:solidFill>
                <a:latin typeface="微软雅黑" pitchFamily="34" charset="-122"/>
                <a:ea typeface="微软雅黑" pitchFamily="34" charset="-122"/>
                <a:cs typeface="+mj-cs"/>
              </a:rPr>
              <a:t>系数</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是一种用于衡量两个项集之间相似度的度量方法，它通过计算两个项集的交集与并集的比值，来反映它们在事务数据库中的关联强度。</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79D7FCCF-1D88-405D-D6F4-62F24D2DBD48}"/>
              </a:ext>
            </a:extLst>
          </p:cNvPr>
          <p:cNvSpPr txBox="1"/>
          <p:nvPr/>
        </p:nvSpPr>
        <p:spPr>
          <a:xfrm>
            <a:off x="1569287" y="4430851"/>
            <a:ext cx="7238255" cy="1595886"/>
          </a:xfrm>
          <a:prstGeom prst="rect">
            <a:avLst/>
          </a:prstGeom>
          <a:noFill/>
        </p:spPr>
        <p:txBody>
          <a:bodyPr wrap="square">
            <a:spAutoFit/>
          </a:bodyPr>
          <a:lstStyle/>
          <a:p>
            <a:pPr marL="342900" indent="-342900">
              <a:lnSpc>
                <a:spcPct val="125000"/>
              </a:lnSpc>
              <a:buFont typeface="Arial" panose="020B0604020202020204" pitchFamily="34" charset="0"/>
              <a:buChar char="•"/>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Jaccard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系数的取值范围是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 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值越接近</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，表示项集之间的关联越强；</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，表示两个项集完全重叠；</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，表示两个项集完全独立。</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26">
            <a:extLst>
              <a:ext uri="{FF2B5EF4-FFF2-40B4-BE49-F238E27FC236}">
                <a16:creationId xmlns:a16="http://schemas.microsoft.com/office/drawing/2014/main" id="{AA9D6AF1-6A5F-8600-1675-9F6189B4DB7C}"/>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68E88B55-C8E6-577D-D2F8-A624AD7B66D5}"/>
              </a:ext>
            </a:extLst>
          </p:cNvPr>
          <p:cNvSpPr/>
          <p:nvPr/>
        </p:nvSpPr>
        <p:spPr>
          <a:xfrm>
            <a:off x="558039" y="1190656"/>
            <a:ext cx="3450195"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其他模式评估度量</a:t>
            </a:r>
          </a:p>
        </p:txBody>
      </p:sp>
    </p:spTree>
    <p:extLst>
      <p:ext uri="{BB962C8B-B14F-4D97-AF65-F5344CB8AC3E}">
        <p14:creationId xmlns:p14="http://schemas.microsoft.com/office/powerpoint/2010/main" val="37939101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13128-3E4E-D301-1889-D0005C836237}"/>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588E0E32-DF2B-9745-0E34-267D6F74982E}"/>
              </a:ext>
            </a:extLst>
          </p:cNvPr>
          <p:cNvSpPr txBox="1"/>
          <p:nvPr/>
        </p:nvSpPr>
        <p:spPr>
          <a:xfrm>
            <a:off x="1372916" y="2039516"/>
            <a:ext cx="9098280" cy="4357155"/>
          </a:xfrm>
          <a:prstGeom prst="rect">
            <a:avLst/>
          </a:prstGeom>
          <a:noFill/>
        </p:spPr>
        <p:txBody>
          <a:bodyPr wrap="square">
            <a:spAutoFit/>
          </a:bodyPr>
          <a:lstStyle/>
          <a:p>
            <a:pPr marL="800100" lvl="1" indent="-342900" defTabSz="457200">
              <a:lnSpc>
                <a:spcPct val="200000"/>
              </a:lnSpc>
              <a:spcBef>
                <a:spcPct val="20000"/>
              </a:spcBef>
              <a:buClr>
                <a:srgbClr val="0000FF"/>
              </a:buClr>
              <a:buSzPct val="100000"/>
              <a:buFont typeface="Wingdings" panose="05000000000000000000" pitchFamily="2" charset="2"/>
              <a:buChar char="p"/>
              <a:defRPr/>
            </a:pPr>
            <a:r>
              <a:rPr kumimoji="1" lang="zh-CN" altLang="en-US" sz="28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不同</a:t>
            </a:r>
            <a:r>
              <a:rPr kumimoji="1" lang="zh-CN" altLang="zh-CN" sz="28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关联规则评估度量对规则的评估可能存在差异甚至得出相反的结果</a:t>
            </a:r>
            <a:r>
              <a:rPr kumimoji="1" lang="zh-CN" altLang="en-US" sz="28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1" lang="en-US" altLang="zh-CN" sz="28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800100" lvl="1" indent="-342900" defTabSz="457200">
              <a:lnSpc>
                <a:spcPct val="200000"/>
              </a:lnSpc>
              <a:spcBef>
                <a:spcPct val="20000"/>
              </a:spcBef>
              <a:buClr>
                <a:srgbClr val="0000FF"/>
              </a:buClr>
              <a:buSzPct val="100000"/>
              <a:buFont typeface="Wingdings" panose="05000000000000000000" pitchFamily="2" charset="2"/>
              <a:buChar char="p"/>
              <a:defRPr/>
            </a:pPr>
            <a:r>
              <a:rPr kumimoji="1" lang="zh-CN" altLang="zh-CN" sz="28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因此，在实际应用时需要分析评估度量的性质，选择合适的度量，从而准确反映数据中的关联关系，为决策提供有价值的支持。</a:t>
            </a:r>
            <a:endParaRPr kumimoji="1" lang="zh-CN" altLang="en-US" sz="28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26">
            <a:extLst>
              <a:ext uri="{FF2B5EF4-FFF2-40B4-BE49-F238E27FC236}">
                <a16:creationId xmlns:a16="http://schemas.microsoft.com/office/drawing/2014/main" id="{CA27E921-356C-854C-9FDC-4D24F3A5E9ED}"/>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5" name="矩形: 圆角 55">
            <a:extLst>
              <a:ext uri="{FF2B5EF4-FFF2-40B4-BE49-F238E27FC236}">
                <a16:creationId xmlns:a16="http://schemas.microsoft.com/office/drawing/2014/main" id="{0F44A9CD-0EA3-7191-EFD2-27EDE70C07FE}"/>
              </a:ext>
            </a:extLst>
          </p:cNvPr>
          <p:cNvSpPr/>
          <p:nvPr/>
        </p:nvSpPr>
        <p:spPr>
          <a:xfrm>
            <a:off x="558039" y="1190656"/>
            <a:ext cx="2645799"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评估度量性质</a:t>
            </a:r>
          </a:p>
        </p:txBody>
      </p:sp>
    </p:spTree>
    <p:extLst>
      <p:ext uri="{BB962C8B-B14F-4D97-AF65-F5344CB8AC3E}">
        <p14:creationId xmlns:p14="http://schemas.microsoft.com/office/powerpoint/2010/main" val="199326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499A8-9DCE-E627-DE69-5C39EAB6D86F}"/>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977CBA53-2758-44B0-D426-1F8A0EA9E2B1}"/>
              </a:ext>
            </a:extLst>
          </p:cNvPr>
          <p:cNvSpPr/>
          <p:nvPr/>
        </p:nvSpPr>
        <p:spPr>
          <a:xfrm>
            <a:off x="1544973" y="4163516"/>
            <a:ext cx="9205794" cy="213802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ED70F4CB-9B92-57EB-2BD2-06DA63C94DE0}"/>
              </a:ext>
            </a:extLst>
          </p:cNvPr>
          <p:cNvSpPr txBox="1"/>
          <p:nvPr/>
        </p:nvSpPr>
        <p:spPr>
          <a:xfrm>
            <a:off x="1276533" y="2330122"/>
            <a:ext cx="9102423" cy="1734386"/>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rPr>
              <a:t> 对称性</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指的是度量在变量置换下保持不变的性质。具体而言，如果一个度量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O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对所有的列联表 </a:t>
            </a:r>
            <a:r>
              <a:rPr kumimoji="1" lang="en-US" altLang="zh-CN" sz="2000" b="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满足                      ，那么这个度量是对称度量，否则为非对称度量。</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5" name="对象 4">
            <a:extLst>
              <a:ext uri="{FF2B5EF4-FFF2-40B4-BE49-F238E27FC236}">
                <a16:creationId xmlns:a16="http://schemas.microsoft.com/office/drawing/2014/main" id="{D9A6D4F0-8233-63F7-5130-FBA0561CE470}"/>
              </a:ext>
            </a:extLst>
          </p:cNvPr>
          <p:cNvGraphicFramePr>
            <a:graphicFrameLocks noChangeAspect="1"/>
          </p:cNvGraphicFramePr>
          <p:nvPr>
            <p:extLst>
              <p:ext uri="{D42A27DB-BD31-4B8C-83A1-F6EECF244321}">
                <p14:modId xmlns:p14="http://schemas.microsoft.com/office/powerpoint/2010/main" val="4252812640"/>
              </p:ext>
            </p:extLst>
          </p:nvPr>
        </p:nvGraphicFramePr>
        <p:xfrm>
          <a:off x="4746066" y="3316071"/>
          <a:ext cx="1425561" cy="339419"/>
        </p:xfrm>
        <a:graphic>
          <a:graphicData uri="http://schemas.openxmlformats.org/presentationml/2006/ole">
            <mc:AlternateContent xmlns:mc="http://schemas.openxmlformats.org/markup-compatibility/2006">
              <mc:Choice xmlns:v="urn:schemas-microsoft-com:vml" Requires="v">
                <p:oleObj name="Equation" r:id="rId3" imgW="999953" imgH="237935" progId="Equation.DSMT4">
                  <p:embed/>
                </p:oleObj>
              </mc:Choice>
              <mc:Fallback>
                <p:oleObj name="Equation" r:id="rId3" imgW="999953" imgH="237935" progId="Equation.DSMT4">
                  <p:embed/>
                  <p:pic>
                    <p:nvPicPr>
                      <p:cNvPr id="5" name="对象 4">
                        <a:extLst>
                          <a:ext uri="{FF2B5EF4-FFF2-40B4-BE49-F238E27FC236}">
                            <a16:creationId xmlns:a16="http://schemas.microsoft.com/office/drawing/2014/main" id="{EEF1117F-69AF-1531-C0F2-1CB9D8B673A7}"/>
                          </a:ext>
                        </a:extLst>
                      </p:cNvPr>
                      <p:cNvPicPr/>
                      <p:nvPr/>
                    </p:nvPicPr>
                    <p:blipFill>
                      <a:blip r:embed="rId4"/>
                      <a:stretch>
                        <a:fillRect/>
                      </a:stretch>
                    </p:blipFill>
                    <p:spPr>
                      <a:xfrm>
                        <a:off x="4746066" y="3316071"/>
                        <a:ext cx="1425561" cy="339419"/>
                      </a:xfrm>
                      <a:prstGeom prst="rect">
                        <a:avLst/>
                      </a:prstGeom>
                    </p:spPr>
                  </p:pic>
                </p:oleObj>
              </mc:Fallback>
            </mc:AlternateContent>
          </a:graphicData>
        </a:graphic>
      </p:graphicFrame>
      <p:graphicFrame>
        <p:nvGraphicFramePr>
          <p:cNvPr id="8" name="表格 7">
            <a:extLst>
              <a:ext uri="{FF2B5EF4-FFF2-40B4-BE49-F238E27FC236}">
                <a16:creationId xmlns:a16="http://schemas.microsoft.com/office/drawing/2014/main" id="{8180645A-2984-983F-F830-60596D2D9C86}"/>
              </a:ext>
            </a:extLst>
          </p:cNvPr>
          <p:cNvGraphicFramePr>
            <a:graphicFrameLocks noGrp="1"/>
          </p:cNvGraphicFramePr>
          <p:nvPr>
            <p:extLst>
              <p:ext uri="{D42A27DB-BD31-4B8C-83A1-F6EECF244321}">
                <p14:modId xmlns:p14="http://schemas.microsoft.com/office/powerpoint/2010/main" val="814276799"/>
              </p:ext>
            </p:extLst>
          </p:nvPr>
        </p:nvGraphicFramePr>
        <p:xfrm>
          <a:off x="6831300" y="1228796"/>
          <a:ext cx="1365168" cy="1163320"/>
        </p:xfrm>
        <a:graphic>
          <a:graphicData uri="http://schemas.openxmlformats.org/drawingml/2006/table">
            <a:tbl>
              <a:tblPr firstRow="1" bandRow="1">
                <a:tableStyleId>{5C22544A-7EE6-4342-B048-85BDC9FD1C3A}</a:tableStyleId>
              </a:tblPr>
              <a:tblGrid>
                <a:gridCol w="455056">
                  <a:extLst>
                    <a:ext uri="{9D8B030D-6E8A-4147-A177-3AD203B41FA5}">
                      <a16:colId xmlns:a16="http://schemas.microsoft.com/office/drawing/2014/main" val="1678250067"/>
                    </a:ext>
                  </a:extLst>
                </a:gridCol>
                <a:gridCol w="455056">
                  <a:extLst>
                    <a:ext uri="{9D8B030D-6E8A-4147-A177-3AD203B41FA5}">
                      <a16:colId xmlns:a16="http://schemas.microsoft.com/office/drawing/2014/main" val="1414840406"/>
                    </a:ext>
                  </a:extLst>
                </a:gridCol>
                <a:gridCol w="455056">
                  <a:extLst>
                    <a:ext uri="{9D8B030D-6E8A-4147-A177-3AD203B41FA5}">
                      <a16:colId xmlns:a16="http://schemas.microsoft.com/office/drawing/2014/main" val="3182455873"/>
                    </a:ext>
                  </a:extLst>
                </a:gridCol>
              </a:tblGrid>
              <a:tr h="370840">
                <a:tc>
                  <a:txBody>
                    <a:bodyPr/>
                    <a:lstStyle/>
                    <a:p>
                      <a:endParaRPr lang="zh-CN" altLang="en-US"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182924942"/>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p</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q</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73001421"/>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r</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s</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79567021"/>
                  </a:ext>
                </a:extLst>
              </a:tr>
            </a:tbl>
          </a:graphicData>
        </a:graphic>
      </p:graphicFrame>
      <p:graphicFrame>
        <p:nvGraphicFramePr>
          <p:cNvPr id="9" name="对象 8">
            <a:extLst>
              <a:ext uri="{FF2B5EF4-FFF2-40B4-BE49-F238E27FC236}">
                <a16:creationId xmlns:a16="http://schemas.microsoft.com/office/drawing/2014/main" id="{EF9EF0C4-6C38-9FB7-28FC-D388E8C312FA}"/>
              </a:ext>
            </a:extLst>
          </p:cNvPr>
          <p:cNvGraphicFramePr>
            <a:graphicFrameLocks noChangeAspect="1"/>
          </p:cNvGraphicFramePr>
          <p:nvPr>
            <p:extLst>
              <p:ext uri="{D42A27DB-BD31-4B8C-83A1-F6EECF244321}">
                <p14:modId xmlns:p14="http://schemas.microsoft.com/office/powerpoint/2010/main" val="3517739502"/>
              </p:ext>
            </p:extLst>
          </p:nvPr>
        </p:nvGraphicFramePr>
        <p:xfrm>
          <a:off x="6929825" y="1716077"/>
          <a:ext cx="215900" cy="228600"/>
        </p:xfrm>
        <a:graphic>
          <a:graphicData uri="http://schemas.openxmlformats.org/presentationml/2006/ole">
            <mc:AlternateContent xmlns:mc="http://schemas.openxmlformats.org/markup-compatibility/2006">
              <mc:Choice xmlns:v="urn:schemas-microsoft-com:vml" Requires="v">
                <p:oleObj name="Equation" r:id="rId5" imgW="215640" imgH="228600" progId="Equation.DSMT4">
                  <p:embed/>
                </p:oleObj>
              </mc:Choice>
              <mc:Fallback>
                <p:oleObj name="Equation" r:id="rId5" imgW="215640" imgH="228600" progId="Equation.DSMT4">
                  <p:embed/>
                  <p:pic>
                    <p:nvPicPr>
                      <p:cNvPr id="9" name="对象 8">
                        <a:extLst>
                          <a:ext uri="{FF2B5EF4-FFF2-40B4-BE49-F238E27FC236}">
                            <a16:creationId xmlns:a16="http://schemas.microsoft.com/office/drawing/2014/main" id="{9A0EDA83-3C65-7EF1-4467-B0B2D5BBE41D}"/>
                          </a:ext>
                        </a:extLst>
                      </p:cNvPr>
                      <p:cNvPicPr/>
                      <p:nvPr/>
                    </p:nvPicPr>
                    <p:blipFill>
                      <a:blip r:embed="rId6"/>
                      <a:stretch>
                        <a:fillRect/>
                      </a:stretch>
                    </p:blipFill>
                    <p:spPr>
                      <a:xfrm>
                        <a:off x="6929825" y="1716077"/>
                        <a:ext cx="215900" cy="22860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58AF3E55-64C9-7CB8-3C9D-734610A31DF0}"/>
              </a:ext>
            </a:extLst>
          </p:cNvPr>
          <p:cNvGraphicFramePr>
            <a:graphicFrameLocks noChangeAspect="1"/>
          </p:cNvGraphicFramePr>
          <p:nvPr>
            <p:extLst>
              <p:ext uri="{D42A27DB-BD31-4B8C-83A1-F6EECF244321}">
                <p14:modId xmlns:p14="http://schemas.microsoft.com/office/powerpoint/2010/main" val="3313926326"/>
              </p:ext>
            </p:extLst>
          </p:nvPr>
        </p:nvGraphicFramePr>
        <p:xfrm>
          <a:off x="6929825" y="2038022"/>
          <a:ext cx="215900" cy="292100"/>
        </p:xfrm>
        <a:graphic>
          <a:graphicData uri="http://schemas.openxmlformats.org/presentationml/2006/ole">
            <mc:AlternateContent xmlns:mc="http://schemas.openxmlformats.org/markup-compatibility/2006">
              <mc:Choice xmlns:v="urn:schemas-microsoft-com:vml" Requires="v">
                <p:oleObj name="Equation" r:id="rId7" imgW="215640" imgH="291960" progId="Equation.DSMT4">
                  <p:embed/>
                </p:oleObj>
              </mc:Choice>
              <mc:Fallback>
                <p:oleObj name="Equation" r:id="rId7" imgW="215640" imgH="291960" progId="Equation.DSMT4">
                  <p:embed/>
                  <p:pic>
                    <p:nvPicPr>
                      <p:cNvPr id="10" name="对象 9">
                        <a:extLst>
                          <a:ext uri="{FF2B5EF4-FFF2-40B4-BE49-F238E27FC236}">
                            <a16:creationId xmlns:a16="http://schemas.microsoft.com/office/drawing/2014/main" id="{18066D02-BF08-3F21-C544-F0B78EAFC040}"/>
                          </a:ext>
                        </a:extLst>
                      </p:cNvPr>
                      <p:cNvPicPr/>
                      <p:nvPr/>
                    </p:nvPicPr>
                    <p:blipFill>
                      <a:blip r:embed="rId8"/>
                      <a:stretch>
                        <a:fillRect/>
                      </a:stretch>
                    </p:blipFill>
                    <p:spPr>
                      <a:xfrm>
                        <a:off x="6929825" y="2038022"/>
                        <a:ext cx="215900" cy="2921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0C3457BF-61D9-1387-EDC4-B0B4778CCEFF}"/>
              </a:ext>
            </a:extLst>
          </p:cNvPr>
          <p:cNvGraphicFramePr>
            <a:graphicFrameLocks noChangeAspect="1"/>
          </p:cNvGraphicFramePr>
          <p:nvPr>
            <p:extLst>
              <p:ext uri="{D42A27DB-BD31-4B8C-83A1-F6EECF244321}">
                <p14:modId xmlns:p14="http://schemas.microsoft.com/office/powerpoint/2010/main" val="4135134231"/>
              </p:ext>
            </p:extLst>
          </p:nvPr>
        </p:nvGraphicFramePr>
        <p:xfrm>
          <a:off x="7405934" y="1297612"/>
          <a:ext cx="215900" cy="228600"/>
        </p:xfrm>
        <a:graphic>
          <a:graphicData uri="http://schemas.openxmlformats.org/presentationml/2006/ole">
            <mc:AlternateContent xmlns:mc="http://schemas.openxmlformats.org/markup-compatibility/2006">
              <mc:Choice xmlns:v="urn:schemas-microsoft-com:vml" Requires="v">
                <p:oleObj name="Equation" r:id="rId9" imgW="215640" imgH="228600" progId="Equation.DSMT4">
                  <p:embed/>
                </p:oleObj>
              </mc:Choice>
              <mc:Fallback>
                <p:oleObj name="Equation" r:id="rId9" imgW="215640" imgH="228600" progId="Equation.DSMT4">
                  <p:embed/>
                  <p:pic>
                    <p:nvPicPr>
                      <p:cNvPr id="11" name="对象 10">
                        <a:extLst>
                          <a:ext uri="{FF2B5EF4-FFF2-40B4-BE49-F238E27FC236}">
                            <a16:creationId xmlns:a16="http://schemas.microsoft.com/office/drawing/2014/main" id="{4BD24F98-5906-8F84-1E5F-AD3C87BA9EC7}"/>
                          </a:ext>
                        </a:extLst>
                      </p:cNvPr>
                      <p:cNvPicPr/>
                      <p:nvPr/>
                    </p:nvPicPr>
                    <p:blipFill>
                      <a:blip r:embed="rId10"/>
                      <a:stretch>
                        <a:fillRect/>
                      </a:stretch>
                    </p:blipFill>
                    <p:spPr>
                      <a:xfrm>
                        <a:off x="7405934" y="1297612"/>
                        <a:ext cx="215900" cy="228600"/>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489D429B-1ACD-BEBD-64A3-E87EE17C9C9A}"/>
              </a:ext>
            </a:extLst>
          </p:cNvPr>
          <p:cNvGraphicFramePr>
            <a:graphicFrameLocks noChangeAspect="1"/>
          </p:cNvGraphicFramePr>
          <p:nvPr>
            <p:extLst>
              <p:ext uri="{D42A27DB-BD31-4B8C-83A1-F6EECF244321}">
                <p14:modId xmlns:p14="http://schemas.microsoft.com/office/powerpoint/2010/main" val="685534918"/>
              </p:ext>
            </p:extLst>
          </p:nvPr>
        </p:nvGraphicFramePr>
        <p:xfrm>
          <a:off x="7843907" y="1234112"/>
          <a:ext cx="215900" cy="292100"/>
        </p:xfrm>
        <a:graphic>
          <a:graphicData uri="http://schemas.openxmlformats.org/presentationml/2006/ole">
            <mc:AlternateContent xmlns:mc="http://schemas.openxmlformats.org/markup-compatibility/2006">
              <mc:Choice xmlns:v="urn:schemas-microsoft-com:vml" Requires="v">
                <p:oleObj name="Equation" r:id="rId11" imgW="215640" imgH="291960" progId="Equation.DSMT4">
                  <p:embed/>
                </p:oleObj>
              </mc:Choice>
              <mc:Fallback>
                <p:oleObj name="Equation" r:id="rId11" imgW="215640" imgH="291960" progId="Equation.DSMT4">
                  <p:embed/>
                  <p:pic>
                    <p:nvPicPr>
                      <p:cNvPr id="12" name="对象 11">
                        <a:extLst>
                          <a:ext uri="{FF2B5EF4-FFF2-40B4-BE49-F238E27FC236}">
                            <a16:creationId xmlns:a16="http://schemas.microsoft.com/office/drawing/2014/main" id="{E5CECA1C-8E84-DC3D-FBE4-3F51E8FC0FAC}"/>
                          </a:ext>
                        </a:extLst>
                      </p:cNvPr>
                      <p:cNvPicPr/>
                      <p:nvPr/>
                    </p:nvPicPr>
                    <p:blipFill>
                      <a:blip r:embed="rId12"/>
                      <a:stretch>
                        <a:fillRect/>
                      </a:stretch>
                    </p:blipFill>
                    <p:spPr>
                      <a:xfrm>
                        <a:off x="7843907" y="1234112"/>
                        <a:ext cx="215900" cy="292100"/>
                      </a:xfrm>
                      <a:prstGeom prst="rect">
                        <a:avLst/>
                      </a:prstGeom>
                    </p:spPr>
                  </p:pic>
                </p:oleObj>
              </mc:Fallback>
            </mc:AlternateContent>
          </a:graphicData>
        </a:graphic>
      </p:graphicFrame>
      <p:graphicFrame>
        <p:nvGraphicFramePr>
          <p:cNvPr id="13" name="表格 12">
            <a:extLst>
              <a:ext uri="{FF2B5EF4-FFF2-40B4-BE49-F238E27FC236}">
                <a16:creationId xmlns:a16="http://schemas.microsoft.com/office/drawing/2014/main" id="{3775A57E-CBC6-DA32-665E-39008230D9A6}"/>
              </a:ext>
            </a:extLst>
          </p:cNvPr>
          <p:cNvGraphicFramePr>
            <a:graphicFrameLocks noGrp="1"/>
          </p:cNvGraphicFramePr>
          <p:nvPr>
            <p:extLst>
              <p:ext uri="{D42A27DB-BD31-4B8C-83A1-F6EECF244321}">
                <p14:modId xmlns:p14="http://schemas.microsoft.com/office/powerpoint/2010/main" val="3419333973"/>
              </p:ext>
            </p:extLst>
          </p:nvPr>
        </p:nvGraphicFramePr>
        <p:xfrm>
          <a:off x="9309972" y="1228796"/>
          <a:ext cx="1365168" cy="1163320"/>
        </p:xfrm>
        <a:graphic>
          <a:graphicData uri="http://schemas.openxmlformats.org/drawingml/2006/table">
            <a:tbl>
              <a:tblPr firstRow="1" bandRow="1">
                <a:tableStyleId>{5C22544A-7EE6-4342-B048-85BDC9FD1C3A}</a:tableStyleId>
              </a:tblPr>
              <a:tblGrid>
                <a:gridCol w="455056">
                  <a:extLst>
                    <a:ext uri="{9D8B030D-6E8A-4147-A177-3AD203B41FA5}">
                      <a16:colId xmlns:a16="http://schemas.microsoft.com/office/drawing/2014/main" val="1678250067"/>
                    </a:ext>
                  </a:extLst>
                </a:gridCol>
                <a:gridCol w="455056">
                  <a:extLst>
                    <a:ext uri="{9D8B030D-6E8A-4147-A177-3AD203B41FA5}">
                      <a16:colId xmlns:a16="http://schemas.microsoft.com/office/drawing/2014/main" val="1414840406"/>
                    </a:ext>
                  </a:extLst>
                </a:gridCol>
                <a:gridCol w="455056">
                  <a:extLst>
                    <a:ext uri="{9D8B030D-6E8A-4147-A177-3AD203B41FA5}">
                      <a16:colId xmlns:a16="http://schemas.microsoft.com/office/drawing/2014/main" val="3182455873"/>
                    </a:ext>
                  </a:extLst>
                </a:gridCol>
              </a:tblGrid>
              <a:tr h="370840">
                <a:tc>
                  <a:txBody>
                    <a:bodyPr/>
                    <a:lstStyle/>
                    <a:p>
                      <a:endParaRPr lang="zh-CN" altLang="en-US"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182924942"/>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p</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r</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1D6EE"/>
                    </a:solidFill>
                  </a:tcPr>
                </a:tc>
                <a:extLst>
                  <a:ext uri="{0D108BD9-81ED-4DB2-BD59-A6C34878D82A}">
                    <a16:rowId xmlns:a16="http://schemas.microsoft.com/office/drawing/2014/main" val="2373001421"/>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q</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1D6EE"/>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s</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79567021"/>
                  </a:ext>
                </a:extLst>
              </a:tr>
            </a:tbl>
          </a:graphicData>
        </a:graphic>
      </p:graphicFrame>
      <p:graphicFrame>
        <p:nvGraphicFramePr>
          <p:cNvPr id="14" name="对象 13">
            <a:extLst>
              <a:ext uri="{FF2B5EF4-FFF2-40B4-BE49-F238E27FC236}">
                <a16:creationId xmlns:a16="http://schemas.microsoft.com/office/drawing/2014/main" id="{D3F04296-9D12-445C-651A-0936229B8358}"/>
              </a:ext>
            </a:extLst>
          </p:cNvPr>
          <p:cNvGraphicFramePr>
            <a:graphicFrameLocks noChangeAspect="1"/>
          </p:cNvGraphicFramePr>
          <p:nvPr>
            <p:extLst>
              <p:ext uri="{D42A27DB-BD31-4B8C-83A1-F6EECF244321}">
                <p14:modId xmlns:p14="http://schemas.microsoft.com/office/powerpoint/2010/main" val="3697949172"/>
              </p:ext>
            </p:extLst>
          </p:nvPr>
        </p:nvGraphicFramePr>
        <p:xfrm>
          <a:off x="9408497" y="1716077"/>
          <a:ext cx="215900" cy="228600"/>
        </p:xfrm>
        <a:graphic>
          <a:graphicData uri="http://schemas.openxmlformats.org/presentationml/2006/ole">
            <mc:AlternateContent xmlns:mc="http://schemas.openxmlformats.org/markup-compatibility/2006">
              <mc:Choice xmlns:v="urn:schemas-microsoft-com:vml" Requires="v">
                <p:oleObj name="Equation" r:id="rId5" imgW="215640" imgH="228600" progId="Equation.DSMT4">
                  <p:embed/>
                </p:oleObj>
              </mc:Choice>
              <mc:Fallback>
                <p:oleObj name="Equation" r:id="rId5" imgW="215640" imgH="228600" progId="Equation.DSMT4">
                  <p:embed/>
                  <p:pic>
                    <p:nvPicPr>
                      <p:cNvPr id="14" name="对象 13">
                        <a:extLst>
                          <a:ext uri="{FF2B5EF4-FFF2-40B4-BE49-F238E27FC236}">
                            <a16:creationId xmlns:a16="http://schemas.microsoft.com/office/drawing/2014/main" id="{EE1DE6D1-5AA4-6FFC-7E19-ED634512254F}"/>
                          </a:ext>
                        </a:extLst>
                      </p:cNvPr>
                      <p:cNvPicPr/>
                      <p:nvPr/>
                    </p:nvPicPr>
                    <p:blipFill>
                      <a:blip r:embed="rId6"/>
                      <a:stretch>
                        <a:fillRect/>
                      </a:stretch>
                    </p:blipFill>
                    <p:spPr>
                      <a:xfrm>
                        <a:off x="9408497" y="1716077"/>
                        <a:ext cx="215900" cy="22860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B1F13AA1-49C3-5365-1B76-544A5EF74D82}"/>
              </a:ext>
            </a:extLst>
          </p:cNvPr>
          <p:cNvGraphicFramePr>
            <a:graphicFrameLocks noChangeAspect="1"/>
          </p:cNvGraphicFramePr>
          <p:nvPr>
            <p:extLst>
              <p:ext uri="{D42A27DB-BD31-4B8C-83A1-F6EECF244321}">
                <p14:modId xmlns:p14="http://schemas.microsoft.com/office/powerpoint/2010/main" val="2488250414"/>
              </p:ext>
            </p:extLst>
          </p:nvPr>
        </p:nvGraphicFramePr>
        <p:xfrm>
          <a:off x="9408497" y="2038022"/>
          <a:ext cx="215900" cy="292100"/>
        </p:xfrm>
        <a:graphic>
          <a:graphicData uri="http://schemas.openxmlformats.org/presentationml/2006/ole">
            <mc:AlternateContent xmlns:mc="http://schemas.openxmlformats.org/markup-compatibility/2006">
              <mc:Choice xmlns:v="urn:schemas-microsoft-com:vml" Requires="v">
                <p:oleObj name="Equation" r:id="rId7" imgW="215640" imgH="291960" progId="Equation.DSMT4">
                  <p:embed/>
                </p:oleObj>
              </mc:Choice>
              <mc:Fallback>
                <p:oleObj name="Equation" r:id="rId7" imgW="215640" imgH="291960" progId="Equation.DSMT4">
                  <p:embed/>
                  <p:pic>
                    <p:nvPicPr>
                      <p:cNvPr id="15" name="对象 14">
                        <a:extLst>
                          <a:ext uri="{FF2B5EF4-FFF2-40B4-BE49-F238E27FC236}">
                            <a16:creationId xmlns:a16="http://schemas.microsoft.com/office/drawing/2014/main" id="{BB1F0FAE-925F-3A35-0BCB-57320883C929}"/>
                          </a:ext>
                        </a:extLst>
                      </p:cNvPr>
                      <p:cNvPicPr/>
                      <p:nvPr/>
                    </p:nvPicPr>
                    <p:blipFill>
                      <a:blip r:embed="rId8"/>
                      <a:stretch>
                        <a:fillRect/>
                      </a:stretch>
                    </p:blipFill>
                    <p:spPr>
                      <a:xfrm>
                        <a:off x="9408497" y="2038022"/>
                        <a:ext cx="215900" cy="292100"/>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7D0C6037-A8D1-A6E2-09BD-886FF94E4CB3}"/>
              </a:ext>
            </a:extLst>
          </p:cNvPr>
          <p:cNvGraphicFramePr>
            <a:graphicFrameLocks noChangeAspect="1"/>
          </p:cNvGraphicFramePr>
          <p:nvPr>
            <p:extLst>
              <p:ext uri="{D42A27DB-BD31-4B8C-83A1-F6EECF244321}">
                <p14:modId xmlns:p14="http://schemas.microsoft.com/office/powerpoint/2010/main" val="1750871945"/>
              </p:ext>
            </p:extLst>
          </p:nvPr>
        </p:nvGraphicFramePr>
        <p:xfrm>
          <a:off x="9884606" y="1297612"/>
          <a:ext cx="215900" cy="228600"/>
        </p:xfrm>
        <a:graphic>
          <a:graphicData uri="http://schemas.openxmlformats.org/presentationml/2006/ole">
            <mc:AlternateContent xmlns:mc="http://schemas.openxmlformats.org/markup-compatibility/2006">
              <mc:Choice xmlns:v="urn:schemas-microsoft-com:vml" Requires="v">
                <p:oleObj name="Equation" r:id="rId9" imgW="215640" imgH="228600" progId="Equation.DSMT4">
                  <p:embed/>
                </p:oleObj>
              </mc:Choice>
              <mc:Fallback>
                <p:oleObj name="Equation" r:id="rId9" imgW="215640" imgH="228600" progId="Equation.DSMT4">
                  <p:embed/>
                  <p:pic>
                    <p:nvPicPr>
                      <p:cNvPr id="16" name="对象 15">
                        <a:extLst>
                          <a:ext uri="{FF2B5EF4-FFF2-40B4-BE49-F238E27FC236}">
                            <a16:creationId xmlns:a16="http://schemas.microsoft.com/office/drawing/2014/main" id="{AA71CB84-21E1-E3BF-A09E-194A6B59C898}"/>
                          </a:ext>
                        </a:extLst>
                      </p:cNvPr>
                      <p:cNvPicPr/>
                      <p:nvPr/>
                    </p:nvPicPr>
                    <p:blipFill>
                      <a:blip r:embed="rId10"/>
                      <a:stretch>
                        <a:fillRect/>
                      </a:stretch>
                    </p:blipFill>
                    <p:spPr>
                      <a:xfrm>
                        <a:off x="9884606" y="1297612"/>
                        <a:ext cx="215900" cy="228600"/>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216B870F-3450-8B0D-E238-FA02F0DC1685}"/>
              </a:ext>
            </a:extLst>
          </p:cNvPr>
          <p:cNvGraphicFramePr>
            <a:graphicFrameLocks noChangeAspect="1"/>
          </p:cNvGraphicFramePr>
          <p:nvPr>
            <p:extLst>
              <p:ext uri="{D42A27DB-BD31-4B8C-83A1-F6EECF244321}">
                <p14:modId xmlns:p14="http://schemas.microsoft.com/office/powerpoint/2010/main" val="941460317"/>
              </p:ext>
            </p:extLst>
          </p:nvPr>
        </p:nvGraphicFramePr>
        <p:xfrm>
          <a:off x="10322579" y="1234112"/>
          <a:ext cx="215900" cy="292100"/>
        </p:xfrm>
        <a:graphic>
          <a:graphicData uri="http://schemas.openxmlformats.org/presentationml/2006/ole">
            <mc:AlternateContent xmlns:mc="http://schemas.openxmlformats.org/markup-compatibility/2006">
              <mc:Choice xmlns:v="urn:schemas-microsoft-com:vml" Requires="v">
                <p:oleObj name="Equation" r:id="rId11" imgW="215640" imgH="291960" progId="Equation.DSMT4">
                  <p:embed/>
                </p:oleObj>
              </mc:Choice>
              <mc:Fallback>
                <p:oleObj name="Equation" r:id="rId11" imgW="215640" imgH="291960" progId="Equation.DSMT4">
                  <p:embed/>
                  <p:pic>
                    <p:nvPicPr>
                      <p:cNvPr id="17" name="对象 16">
                        <a:extLst>
                          <a:ext uri="{FF2B5EF4-FFF2-40B4-BE49-F238E27FC236}">
                            <a16:creationId xmlns:a16="http://schemas.microsoft.com/office/drawing/2014/main" id="{08BBB3B8-CCC7-30E3-E4C7-7C451DFEBC96}"/>
                          </a:ext>
                        </a:extLst>
                      </p:cNvPr>
                      <p:cNvPicPr/>
                      <p:nvPr/>
                    </p:nvPicPr>
                    <p:blipFill>
                      <a:blip r:embed="rId12"/>
                      <a:stretch>
                        <a:fillRect/>
                      </a:stretch>
                    </p:blipFill>
                    <p:spPr>
                      <a:xfrm>
                        <a:off x="10322579" y="1234112"/>
                        <a:ext cx="215900" cy="292100"/>
                      </a:xfrm>
                      <a:prstGeom prst="rect">
                        <a:avLst/>
                      </a:prstGeom>
                    </p:spPr>
                  </p:pic>
                </p:oleObj>
              </mc:Fallback>
            </mc:AlternateContent>
          </a:graphicData>
        </a:graphic>
      </p:graphicFrame>
      <p:sp>
        <p:nvSpPr>
          <p:cNvPr id="18" name="文本框 17">
            <a:extLst>
              <a:ext uri="{FF2B5EF4-FFF2-40B4-BE49-F238E27FC236}">
                <a16:creationId xmlns:a16="http://schemas.microsoft.com/office/drawing/2014/main" id="{6D990390-94F6-D177-FB0A-6BAFB5093BC3}"/>
              </a:ext>
            </a:extLst>
          </p:cNvPr>
          <p:cNvSpPr txBox="1"/>
          <p:nvPr/>
        </p:nvSpPr>
        <p:spPr>
          <a:xfrm>
            <a:off x="6896707" y="2503871"/>
            <a:ext cx="1113739" cy="400110"/>
          </a:xfrm>
          <a:prstGeom prst="rect">
            <a:avLst/>
          </a:prstGeom>
          <a:noFill/>
        </p:spPr>
        <p:txBody>
          <a:bodyPr wrap="square" rtlCol="0">
            <a:spAutoFit/>
          </a:bodyPr>
          <a:lstStyle/>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M</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文本框 18">
            <a:extLst>
              <a:ext uri="{FF2B5EF4-FFF2-40B4-BE49-F238E27FC236}">
                <a16:creationId xmlns:a16="http://schemas.microsoft.com/office/drawing/2014/main" id="{E65D1A1D-5A8F-C65A-4788-B254E365A4AA}"/>
              </a:ext>
            </a:extLst>
          </p:cNvPr>
          <p:cNvSpPr txBox="1"/>
          <p:nvPr/>
        </p:nvSpPr>
        <p:spPr>
          <a:xfrm>
            <a:off x="9267792" y="2503871"/>
            <a:ext cx="719580" cy="400110"/>
          </a:xfrm>
          <a:prstGeom prst="rect">
            <a:avLst/>
          </a:prstGeom>
          <a:noFill/>
        </p:spPr>
        <p:txBody>
          <a:bodyPr wrap="square" rtlCol="0">
            <a:spAutoFit/>
          </a:bodyPr>
          <a:lstStyle/>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p>
        </p:txBody>
      </p:sp>
      <p:graphicFrame>
        <p:nvGraphicFramePr>
          <p:cNvPr id="20" name="对象 19">
            <a:extLst>
              <a:ext uri="{FF2B5EF4-FFF2-40B4-BE49-F238E27FC236}">
                <a16:creationId xmlns:a16="http://schemas.microsoft.com/office/drawing/2014/main" id="{DA575411-892E-F664-3722-A35318CF57D5}"/>
              </a:ext>
            </a:extLst>
          </p:cNvPr>
          <p:cNvGraphicFramePr>
            <a:graphicFrameLocks noChangeAspect="1"/>
          </p:cNvGraphicFramePr>
          <p:nvPr>
            <p:extLst>
              <p:ext uri="{D42A27DB-BD31-4B8C-83A1-F6EECF244321}">
                <p14:modId xmlns:p14="http://schemas.microsoft.com/office/powerpoint/2010/main" val="412845877"/>
              </p:ext>
            </p:extLst>
          </p:nvPr>
        </p:nvGraphicFramePr>
        <p:xfrm>
          <a:off x="10028221" y="2540336"/>
          <a:ext cx="393700" cy="279400"/>
        </p:xfrm>
        <a:graphic>
          <a:graphicData uri="http://schemas.openxmlformats.org/presentationml/2006/ole">
            <mc:AlternateContent xmlns:mc="http://schemas.openxmlformats.org/markup-compatibility/2006">
              <mc:Choice xmlns:v="urn:schemas-microsoft-com:vml" Requires="v">
                <p:oleObj name="Equation" r:id="rId13" imgW="393480" imgH="279360" progId="Equation.DSMT4">
                  <p:embed/>
                </p:oleObj>
              </mc:Choice>
              <mc:Fallback>
                <p:oleObj name="Equation" r:id="rId13" imgW="393480" imgH="279360" progId="Equation.DSMT4">
                  <p:embed/>
                  <p:pic>
                    <p:nvPicPr>
                      <p:cNvPr id="20" name="对象 19">
                        <a:extLst>
                          <a:ext uri="{FF2B5EF4-FFF2-40B4-BE49-F238E27FC236}">
                            <a16:creationId xmlns:a16="http://schemas.microsoft.com/office/drawing/2014/main" id="{411D4223-04DA-AB8C-7D12-64FF4682927C}"/>
                          </a:ext>
                        </a:extLst>
                      </p:cNvPr>
                      <p:cNvPicPr/>
                      <p:nvPr/>
                    </p:nvPicPr>
                    <p:blipFill>
                      <a:blip r:embed="rId14"/>
                      <a:stretch>
                        <a:fillRect/>
                      </a:stretch>
                    </p:blipFill>
                    <p:spPr>
                      <a:xfrm>
                        <a:off x="10028221" y="2540336"/>
                        <a:ext cx="393700" cy="279400"/>
                      </a:xfrm>
                      <a:prstGeom prst="rect">
                        <a:avLst/>
                      </a:prstGeom>
                    </p:spPr>
                  </p:pic>
                </p:oleObj>
              </mc:Fallback>
            </mc:AlternateContent>
          </a:graphicData>
        </a:graphic>
      </p:graphicFrame>
      <p:sp>
        <p:nvSpPr>
          <p:cNvPr id="21" name="文本框 20">
            <a:extLst>
              <a:ext uri="{FF2B5EF4-FFF2-40B4-BE49-F238E27FC236}">
                <a16:creationId xmlns:a16="http://schemas.microsoft.com/office/drawing/2014/main" id="{CBA72A6E-03E2-8265-43C9-D16EB9178C06}"/>
              </a:ext>
            </a:extLst>
          </p:cNvPr>
          <p:cNvSpPr txBox="1"/>
          <p:nvPr/>
        </p:nvSpPr>
        <p:spPr>
          <a:xfrm>
            <a:off x="1647033" y="4163516"/>
            <a:ext cx="9205794" cy="2138021"/>
          </a:xfrm>
          <a:prstGeom prst="rect">
            <a:avLst/>
          </a:prstGeom>
          <a:noFill/>
        </p:spPr>
        <p:txBody>
          <a:bodyPr wrap="square">
            <a:spAutoFit/>
          </a:bodyPr>
          <a:lstStyle/>
          <a:p>
            <a:pPr marL="342900" indent="-342900">
              <a:lnSpc>
                <a:spcPct val="125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Times New Roman" panose="02020603050405020304" pitchFamily="18" charset="0"/>
              </a:rPr>
              <a:t>非对称度量通常用于区分规则      和       强度的场合</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Times New Roman" panose="02020603050405020304" pitchFamily="18" charset="0"/>
              </a:rPr>
              <a:t>对称性度量适用于不需要区分方向性的场合，即只关心项集之间的关联强度，而不关心哪个项集是前提条件，哪个项集是结果。度量的对称性确保了分析结果不受项集排列顺序的影响，从而提供稳定和可靠的关联分析结果</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Times New Roman" panose="02020603050405020304" pitchFamily="18" charset="0"/>
              </a:rPr>
              <a:t>例如在研究基因共表达关系时，只关心基因是否一起表达，而不关心哪个基因是表达的前提。对称性度量适合评估基因之间的关联强度</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p:txBody>
      </p:sp>
      <p:graphicFrame>
        <p:nvGraphicFramePr>
          <p:cNvPr id="22" name="对象 21">
            <a:extLst>
              <a:ext uri="{FF2B5EF4-FFF2-40B4-BE49-F238E27FC236}">
                <a16:creationId xmlns:a16="http://schemas.microsoft.com/office/drawing/2014/main" id="{87601915-EC4B-3607-F84F-704730CBBD8A}"/>
              </a:ext>
            </a:extLst>
          </p:cNvPr>
          <p:cNvGraphicFramePr>
            <a:graphicFrameLocks noChangeAspect="1"/>
          </p:cNvGraphicFramePr>
          <p:nvPr>
            <p:extLst>
              <p:ext uri="{D42A27DB-BD31-4B8C-83A1-F6EECF244321}">
                <p14:modId xmlns:p14="http://schemas.microsoft.com/office/powerpoint/2010/main" val="2441320162"/>
              </p:ext>
            </p:extLst>
          </p:nvPr>
        </p:nvGraphicFramePr>
        <p:xfrm>
          <a:off x="5038088" y="4242568"/>
          <a:ext cx="695743" cy="255579"/>
        </p:xfrm>
        <a:graphic>
          <a:graphicData uri="http://schemas.openxmlformats.org/presentationml/2006/ole">
            <mc:AlternateContent xmlns:mc="http://schemas.openxmlformats.org/markup-compatibility/2006">
              <mc:Choice xmlns:v="urn:schemas-microsoft-com:vml" Requires="v">
                <p:oleObj name="Equation" r:id="rId15" imgW="466501" imgH="171342" progId="Equation.DSMT4">
                  <p:embed/>
                </p:oleObj>
              </mc:Choice>
              <mc:Fallback>
                <p:oleObj name="Equation" r:id="rId15" imgW="466501" imgH="171342" progId="Equation.DSMT4">
                  <p:embed/>
                  <p:pic>
                    <p:nvPicPr>
                      <p:cNvPr id="22" name="对象 21">
                        <a:extLst>
                          <a:ext uri="{FF2B5EF4-FFF2-40B4-BE49-F238E27FC236}">
                            <a16:creationId xmlns:a16="http://schemas.microsoft.com/office/drawing/2014/main" id="{AFFC89FE-57F6-9C2C-1042-498758D0DC54}"/>
                          </a:ext>
                        </a:extLst>
                      </p:cNvPr>
                      <p:cNvPicPr/>
                      <p:nvPr/>
                    </p:nvPicPr>
                    <p:blipFill>
                      <a:blip r:embed="rId16"/>
                      <a:stretch>
                        <a:fillRect/>
                      </a:stretch>
                    </p:blipFill>
                    <p:spPr>
                      <a:xfrm>
                        <a:off x="5038088" y="4242568"/>
                        <a:ext cx="695743" cy="255579"/>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1C8B71D4-46CD-786D-67F1-D20E75CABF7B}"/>
              </a:ext>
            </a:extLst>
          </p:cNvPr>
          <p:cNvGraphicFramePr>
            <a:graphicFrameLocks noChangeAspect="1"/>
          </p:cNvGraphicFramePr>
          <p:nvPr>
            <p:extLst>
              <p:ext uri="{D42A27DB-BD31-4B8C-83A1-F6EECF244321}">
                <p14:modId xmlns:p14="http://schemas.microsoft.com/office/powerpoint/2010/main" val="2056943709"/>
              </p:ext>
            </p:extLst>
          </p:nvPr>
        </p:nvGraphicFramePr>
        <p:xfrm>
          <a:off x="5999257" y="4242568"/>
          <a:ext cx="695743" cy="255579"/>
        </p:xfrm>
        <a:graphic>
          <a:graphicData uri="http://schemas.openxmlformats.org/presentationml/2006/ole">
            <mc:AlternateContent xmlns:mc="http://schemas.openxmlformats.org/markup-compatibility/2006">
              <mc:Choice xmlns:v="urn:schemas-microsoft-com:vml" Requires="v">
                <p:oleObj name="Equation" r:id="rId17" imgW="466501" imgH="171342" progId="Equation.DSMT4">
                  <p:embed/>
                </p:oleObj>
              </mc:Choice>
              <mc:Fallback>
                <p:oleObj name="Equation" r:id="rId17" imgW="466501" imgH="171342" progId="Equation.DSMT4">
                  <p:embed/>
                  <p:pic>
                    <p:nvPicPr>
                      <p:cNvPr id="23" name="对象 22">
                        <a:extLst>
                          <a:ext uri="{FF2B5EF4-FFF2-40B4-BE49-F238E27FC236}">
                            <a16:creationId xmlns:a16="http://schemas.microsoft.com/office/drawing/2014/main" id="{2413749B-BDF0-D1A9-1A3D-A528BEF35C4E}"/>
                          </a:ext>
                        </a:extLst>
                      </p:cNvPr>
                      <p:cNvPicPr/>
                      <p:nvPr/>
                    </p:nvPicPr>
                    <p:blipFill>
                      <a:blip r:embed="rId18"/>
                      <a:stretch>
                        <a:fillRect/>
                      </a:stretch>
                    </p:blipFill>
                    <p:spPr>
                      <a:xfrm>
                        <a:off x="5999257" y="4242568"/>
                        <a:ext cx="695743" cy="255579"/>
                      </a:xfrm>
                      <a:prstGeom prst="rect">
                        <a:avLst/>
                      </a:prstGeom>
                    </p:spPr>
                  </p:pic>
                </p:oleObj>
              </mc:Fallback>
            </mc:AlternateContent>
          </a:graphicData>
        </a:graphic>
      </p:graphicFrame>
      <p:sp>
        <p:nvSpPr>
          <p:cNvPr id="6" name="矩形 26">
            <a:extLst>
              <a:ext uri="{FF2B5EF4-FFF2-40B4-BE49-F238E27FC236}">
                <a16:creationId xmlns:a16="http://schemas.microsoft.com/office/drawing/2014/main" id="{7C880065-A1FF-B393-198A-B498BE348E49}"/>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5" name="矩形: 圆角 55">
            <a:extLst>
              <a:ext uri="{FF2B5EF4-FFF2-40B4-BE49-F238E27FC236}">
                <a16:creationId xmlns:a16="http://schemas.microsoft.com/office/drawing/2014/main" id="{49B23D9E-216E-BD40-8DC7-9AE922F646B1}"/>
              </a:ext>
            </a:extLst>
          </p:cNvPr>
          <p:cNvSpPr/>
          <p:nvPr/>
        </p:nvSpPr>
        <p:spPr>
          <a:xfrm>
            <a:off x="558039" y="1190656"/>
            <a:ext cx="2645799"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评估度量性质</a:t>
            </a:r>
          </a:p>
        </p:txBody>
      </p:sp>
    </p:spTree>
    <p:extLst>
      <p:ext uri="{BB962C8B-B14F-4D97-AF65-F5344CB8AC3E}">
        <p14:creationId xmlns:p14="http://schemas.microsoft.com/office/powerpoint/2010/main" val="2950543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DCA31-2E3D-4975-8F48-B537B05C4B4A}"/>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41650637-75CB-DD82-C733-4D2DD078BD28}"/>
              </a:ext>
            </a:extLst>
          </p:cNvPr>
          <p:cNvSpPr/>
          <p:nvPr/>
        </p:nvSpPr>
        <p:spPr>
          <a:xfrm>
            <a:off x="1428738" y="4123944"/>
            <a:ext cx="9205794" cy="213802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64AB515-C4E3-6347-1ED1-E7F39D402BC0}"/>
              </a:ext>
            </a:extLst>
          </p:cNvPr>
          <p:cNvSpPr txBox="1"/>
          <p:nvPr/>
        </p:nvSpPr>
        <p:spPr>
          <a:xfrm>
            <a:off x="1200906" y="2540336"/>
            <a:ext cx="9102423" cy="1349665"/>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rPr>
              <a:t> 行</a:t>
            </a:r>
            <a:r>
              <a:rPr lang="en-US" altLang="zh-CN" sz="2400" b="1" dirty="0">
                <a:solidFill>
                  <a:srgbClr val="0245AD"/>
                </a:solidFill>
                <a:latin typeface="微软雅黑" pitchFamily="34" charset="-122"/>
                <a:ea typeface="微软雅黑" pitchFamily="34" charset="-122"/>
                <a:cs typeface="+mj-cs"/>
              </a:rPr>
              <a:t>/</a:t>
            </a:r>
            <a:r>
              <a:rPr lang="zh-CN" altLang="en-US" sz="2400" b="1" dirty="0">
                <a:solidFill>
                  <a:srgbClr val="0245AD"/>
                </a:solidFill>
                <a:latin typeface="微软雅黑" pitchFamily="34" charset="-122"/>
                <a:ea typeface="微软雅黑" pitchFamily="34" charset="-122"/>
                <a:cs typeface="+mj-cs"/>
              </a:rPr>
              <a:t>列缩放不变性</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25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指的是度量在对列联表 </a:t>
            </a:r>
            <a:r>
              <a:rPr kumimoji="1" lang="en-US" altLang="zh-CN" sz="2000" b="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中的某一行或列进行等比例缩放时保持不变，即</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8" name="表格 7">
            <a:extLst>
              <a:ext uri="{FF2B5EF4-FFF2-40B4-BE49-F238E27FC236}">
                <a16:creationId xmlns:a16="http://schemas.microsoft.com/office/drawing/2014/main" id="{0C91A51B-95E0-DD0E-4EE4-F9DC327C4D22}"/>
              </a:ext>
            </a:extLst>
          </p:cNvPr>
          <p:cNvGraphicFramePr>
            <a:graphicFrameLocks noGrp="1"/>
          </p:cNvGraphicFramePr>
          <p:nvPr>
            <p:extLst>
              <p:ext uri="{D42A27DB-BD31-4B8C-83A1-F6EECF244321}">
                <p14:modId xmlns:p14="http://schemas.microsoft.com/office/powerpoint/2010/main" val="3338989191"/>
              </p:ext>
            </p:extLst>
          </p:nvPr>
        </p:nvGraphicFramePr>
        <p:xfrm>
          <a:off x="6426657" y="1337040"/>
          <a:ext cx="1365168" cy="1163320"/>
        </p:xfrm>
        <a:graphic>
          <a:graphicData uri="http://schemas.openxmlformats.org/drawingml/2006/table">
            <a:tbl>
              <a:tblPr firstRow="1" bandRow="1">
                <a:tableStyleId>{5C22544A-7EE6-4342-B048-85BDC9FD1C3A}</a:tableStyleId>
              </a:tblPr>
              <a:tblGrid>
                <a:gridCol w="455056">
                  <a:extLst>
                    <a:ext uri="{9D8B030D-6E8A-4147-A177-3AD203B41FA5}">
                      <a16:colId xmlns:a16="http://schemas.microsoft.com/office/drawing/2014/main" val="1678250067"/>
                    </a:ext>
                  </a:extLst>
                </a:gridCol>
                <a:gridCol w="455056">
                  <a:extLst>
                    <a:ext uri="{9D8B030D-6E8A-4147-A177-3AD203B41FA5}">
                      <a16:colId xmlns:a16="http://schemas.microsoft.com/office/drawing/2014/main" val="1414840406"/>
                    </a:ext>
                  </a:extLst>
                </a:gridCol>
                <a:gridCol w="455056">
                  <a:extLst>
                    <a:ext uri="{9D8B030D-6E8A-4147-A177-3AD203B41FA5}">
                      <a16:colId xmlns:a16="http://schemas.microsoft.com/office/drawing/2014/main" val="3182455873"/>
                    </a:ext>
                  </a:extLst>
                </a:gridCol>
              </a:tblGrid>
              <a:tr h="370840">
                <a:tc>
                  <a:txBody>
                    <a:bodyPr/>
                    <a:lstStyle/>
                    <a:p>
                      <a:endParaRPr lang="zh-CN" altLang="en-US"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182924942"/>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p</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q</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73001421"/>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r</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s</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79567021"/>
                  </a:ext>
                </a:extLst>
              </a:tr>
            </a:tbl>
          </a:graphicData>
        </a:graphic>
      </p:graphicFrame>
      <p:graphicFrame>
        <p:nvGraphicFramePr>
          <p:cNvPr id="9" name="对象 8">
            <a:extLst>
              <a:ext uri="{FF2B5EF4-FFF2-40B4-BE49-F238E27FC236}">
                <a16:creationId xmlns:a16="http://schemas.microsoft.com/office/drawing/2014/main" id="{B3970186-372F-63CF-8F37-BF071BA37E82}"/>
              </a:ext>
            </a:extLst>
          </p:cNvPr>
          <p:cNvGraphicFramePr>
            <a:graphicFrameLocks noChangeAspect="1"/>
          </p:cNvGraphicFramePr>
          <p:nvPr>
            <p:extLst>
              <p:ext uri="{D42A27DB-BD31-4B8C-83A1-F6EECF244321}">
                <p14:modId xmlns:p14="http://schemas.microsoft.com/office/powerpoint/2010/main" val="1973470005"/>
              </p:ext>
            </p:extLst>
          </p:nvPr>
        </p:nvGraphicFramePr>
        <p:xfrm>
          <a:off x="6525182" y="1824321"/>
          <a:ext cx="215900" cy="228600"/>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9" name="对象 8">
                        <a:extLst>
                          <a:ext uri="{FF2B5EF4-FFF2-40B4-BE49-F238E27FC236}">
                            <a16:creationId xmlns:a16="http://schemas.microsoft.com/office/drawing/2014/main" id="{EF9EF0C4-6C38-9FB7-28FC-D388E8C312FA}"/>
                          </a:ext>
                        </a:extLst>
                      </p:cNvPr>
                      <p:cNvPicPr/>
                      <p:nvPr/>
                    </p:nvPicPr>
                    <p:blipFill>
                      <a:blip r:embed="rId4"/>
                      <a:stretch>
                        <a:fillRect/>
                      </a:stretch>
                    </p:blipFill>
                    <p:spPr>
                      <a:xfrm>
                        <a:off x="6525182" y="1824321"/>
                        <a:ext cx="215900" cy="22860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0EEEDDB1-AF27-FDF6-F657-85D487345089}"/>
              </a:ext>
            </a:extLst>
          </p:cNvPr>
          <p:cNvGraphicFramePr>
            <a:graphicFrameLocks noChangeAspect="1"/>
          </p:cNvGraphicFramePr>
          <p:nvPr>
            <p:extLst>
              <p:ext uri="{D42A27DB-BD31-4B8C-83A1-F6EECF244321}">
                <p14:modId xmlns:p14="http://schemas.microsoft.com/office/powerpoint/2010/main" val="3324631245"/>
              </p:ext>
            </p:extLst>
          </p:nvPr>
        </p:nvGraphicFramePr>
        <p:xfrm>
          <a:off x="6525182" y="2146266"/>
          <a:ext cx="215900" cy="292100"/>
        </p:xfrm>
        <a:graphic>
          <a:graphicData uri="http://schemas.openxmlformats.org/presentationml/2006/ole">
            <mc:AlternateContent xmlns:mc="http://schemas.openxmlformats.org/markup-compatibility/2006">
              <mc:Choice xmlns:v="urn:schemas-microsoft-com:vml" Requires="v">
                <p:oleObj name="Equation" r:id="rId5" imgW="215640" imgH="291960" progId="Equation.DSMT4">
                  <p:embed/>
                </p:oleObj>
              </mc:Choice>
              <mc:Fallback>
                <p:oleObj name="Equation" r:id="rId5" imgW="215640" imgH="291960" progId="Equation.DSMT4">
                  <p:embed/>
                  <p:pic>
                    <p:nvPicPr>
                      <p:cNvPr id="10" name="对象 9">
                        <a:extLst>
                          <a:ext uri="{FF2B5EF4-FFF2-40B4-BE49-F238E27FC236}">
                            <a16:creationId xmlns:a16="http://schemas.microsoft.com/office/drawing/2014/main" id="{58AF3E55-64C9-7CB8-3C9D-734610A31DF0}"/>
                          </a:ext>
                        </a:extLst>
                      </p:cNvPr>
                      <p:cNvPicPr/>
                      <p:nvPr/>
                    </p:nvPicPr>
                    <p:blipFill>
                      <a:blip r:embed="rId6"/>
                      <a:stretch>
                        <a:fillRect/>
                      </a:stretch>
                    </p:blipFill>
                    <p:spPr>
                      <a:xfrm>
                        <a:off x="6525182" y="2146266"/>
                        <a:ext cx="215900" cy="2921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99D85E04-8CCC-4156-E6D6-6C814D633D92}"/>
              </a:ext>
            </a:extLst>
          </p:cNvPr>
          <p:cNvGraphicFramePr>
            <a:graphicFrameLocks noChangeAspect="1"/>
          </p:cNvGraphicFramePr>
          <p:nvPr>
            <p:extLst>
              <p:ext uri="{D42A27DB-BD31-4B8C-83A1-F6EECF244321}">
                <p14:modId xmlns:p14="http://schemas.microsoft.com/office/powerpoint/2010/main" val="1146215700"/>
              </p:ext>
            </p:extLst>
          </p:nvPr>
        </p:nvGraphicFramePr>
        <p:xfrm>
          <a:off x="7001291" y="1405856"/>
          <a:ext cx="215900" cy="228600"/>
        </p:xfrm>
        <a:graphic>
          <a:graphicData uri="http://schemas.openxmlformats.org/presentationml/2006/ole">
            <mc:AlternateContent xmlns:mc="http://schemas.openxmlformats.org/markup-compatibility/2006">
              <mc:Choice xmlns:v="urn:schemas-microsoft-com:vml" Requires="v">
                <p:oleObj name="Equation" r:id="rId7" imgW="215640" imgH="228600" progId="Equation.DSMT4">
                  <p:embed/>
                </p:oleObj>
              </mc:Choice>
              <mc:Fallback>
                <p:oleObj name="Equation" r:id="rId7" imgW="215640" imgH="228600" progId="Equation.DSMT4">
                  <p:embed/>
                  <p:pic>
                    <p:nvPicPr>
                      <p:cNvPr id="11" name="对象 10">
                        <a:extLst>
                          <a:ext uri="{FF2B5EF4-FFF2-40B4-BE49-F238E27FC236}">
                            <a16:creationId xmlns:a16="http://schemas.microsoft.com/office/drawing/2014/main" id="{0C3457BF-61D9-1387-EDC4-B0B4778CCEFF}"/>
                          </a:ext>
                        </a:extLst>
                      </p:cNvPr>
                      <p:cNvPicPr/>
                      <p:nvPr/>
                    </p:nvPicPr>
                    <p:blipFill>
                      <a:blip r:embed="rId8"/>
                      <a:stretch>
                        <a:fillRect/>
                      </a:stretch>
                    </p:blipFill>
                    <p:spPr>
                      <a:xfrm>
                        <a:off x="7001291" y="1405856"/>
                        <a:ext cx="215900" cy="228600"/>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24E23A02-B6C2-6208-909C-AB1180A35146}"/>
              </a:ext>
            </a:extLst>
          </p:cNvPr>
          <p:cNvGraphicFramePr>
            <a:graphicFrameLocks noChangeAspect="1"/>
          </p:cNvGraphicFramePr>
          <p:nvPr>
            <p:extLst>
              <p:ext uri="{D42A27DB-BD31-4B8C-83A1-F6EECF244321}">
                <p14:modId xmlns:p14="http://schemas.microsoft.com/office/powerpoint/2010/main" val="698875764"/>
              </p:ext>
            </p:extLst>
          </p:nvPr>
        </p:nvGraphicFramePr>
        <p:xfrm>
          <a:off x="7439264" y="1342356"/>
          <a:ext cx="215900" cy="292100"/>
        </p:xfrm>
        <a:graphic>
          <a:graphicData uri="http://schemas.openxmlformats.org/presentationml/2006/ole">
            <mc:AlternateContent xmlns:mc="http://schemas.openxmlformats.org/markup-compatibility/2006">
              <mc:Choice xmlns:v="urn:schemas-microsoft-com:vml" Requires="v">
                <p:oleObj name="Equation" r:id="rId9" imgW="215640" imgH="291960" progId="Equation.DSMT4">
                  <p:embed/>
                </p:oleObj>
              </mc:Choice>
              <mc:Fallback>
                <p:oleObj name="Equation" r:id="rId9" imgW="215640" imgH="291960" progId="Equation.DSMT4">
                  <p:embed/>
                  <p:pic>
                    <p:nvPicPr>
                      <p:cNvPr id="12" name="对象 11">
                        <a:extLst>
                          <a:ext uri="{FF2B5EF4-FFF2-40B4-BE49-F238E27FC236}">
                            <a16:creationId xmlns:a16="http://schemas.microsoft.com/office/drawing/2014/main" id="{489D429B-1ACD-BEBD-64A3-E87EE17C9C9A}"/>
                          </a:ext>
                        </a:extLst>
                      </p:cNvPr>
                      <p:cNvPicPr/>
                      <p:nvPr/>
                    </p:nvPicPr>
                    <p:blipFill>
                      <a:blip r:embed="rId10"/>
                      <a:stretch>
                        <a:fillRect/>
                      </a:stretch>
                    </p:blipFill>
                    <p:spPr>
                      <a:xfrm>
                        <a:off x="7439264" y="1342356"/>
                        <a:ext cx="215900" cy="292100"/>
                      </a:xfrm>
                      <a:prstGeom prst="rect">
                        <a:avLst/>
                      </a:prstGeom>
                    </p:spPr>
                  </p:pic>
                </p:oleObj>
              </mc:Fallback>
            </mc:AlternateContent>
          </a:graphicData>
        </a:graphic>
      </p:graphicFrame>
      <p:sp>
        <p:nvSpPr>
          <p:cNvPr id="18" name="文本框 17">
            <a:extLst>
              <a:ext uri="{FF2B5EF4-FFF2-40B4-BE49-F238E27FC236}">
                <a16:creationId xmlns:a16="http://schemas.microsoft.com/office/drawing/2014/main" id="{34E6769B-4DD3-3159-AFD4-26CFB4876429}"/>
              </a:ext>
            </a:extLst>
          </p:cNvPr>
          <p:cNvSpPr txBox="1"/>
          <p:nvPr/>
        </p:nvSpPr>
        <p:spPr>
          <a:xfrm>
            <a:off x="6492064" y="2612115"/>
            <a:ext cx="1113739" cy="400110"/>
          </a:xfrm>
          <a:prstGeom prst="rect">
            <a:avLst/>
          </a:prstGeom>
          <a:noFill/>
        </p:spPr>
        <p:txBody>
          <a:bodyPr wrap="square" rtlCol="0">
            <a:spAutoFit/>
          </a:bodyPr>
          <a:lstStyle/>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M</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文本框 20">
            <a:extLst>
              <a:ext uri="{FF2B5EF4-FFF2-40B4-BE49-F238E27FC236}">
                <a16:creationId xmlns:a16="http://schemas.microsoft.com/office/drawing/2014/main" id="{7794D02A-B741-EB75-8028-7993530039C4}"/>
              </a:ext>
            </a:extLst>
          </p:cNvPr>
          <p:cNvSpPr txBox="1"/>
          <p:nvPr/>
        </p:nvSpPr>
        <p:spPr>
          <a:xfrm>
            <a:off x="1530798" y="4123944"/>
            <a:ext cx="9205794" cy="2122184"/>
          </a:xfrm>
          <a:prstGeom prst="rect">
            <a:avLst/>
          </a:prstGeom>
          <a:noFill/>
        </p:spPr>
        <p:txBody>
          <a:bodyPr wrap="square">
            <a:spAutoFit/>
          </a:bodyPr>
          <a:lstStyle/>
          <a:p>
            <a:pPr marL="342900" indent="-342900">
              <a:lnSpc>
                <a:spcPct val="125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Times New Roman" panose="02020603050405020304" pitchFamily="18" charset="0"/>
              </a:rPr>
              <a:t>行</a:t>
            </a:r>
            <a:r>
              <a:rPr lang="en-US" altLang="zh-CN" dirty="0">
                <a:latin typeface="楷体" panose="02010609060101010101" pitchFamily="49" charset="-122"/>
                <a:ea typeface="楷体" panose="02010609060101010101" pitchFamily="49" charset="-122"/>
                <a:cs typeface="Times New Roman" panose="02020603050405020304" pitchFamily="18" charset="0"/>
              </a:rPr>
              <a:t>/</a:t>
            </a:r>
            <a:r>
              <a:rPr lang="zh-CN" altLang="en-US" dirty="0">
                <a:latin typeface="楷体" panose="02010609060101010101" pitchFamily="49" charset="-122"/>
                <a:ea typeface="楷体" panose="02010609060101010101" pitchFamily="49" charset="-122"/>
                <a:cs typeface="Times New Roman" panose="02020603050405020304" pitchFamily="18" charset="0"/>
              </a:rPr>
              <a:t>列缩放不变性在包含性别、国籍等名义变量的数据集非常有用，因为这些变量的数据经常涉及样本比例的变化</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Times New Roman" panose="02020603050405020304" pitchFamily="18" charset="0"/>
              </a:rPr>
              <a:t>具有这种不变性的度量能够确保分析结果在不同样本比例下的稳定性和一致性，从而提高分析的可靠性和有效性</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Times New Roman" panose="02020603050405020304" pitchFamily="18" charset="0"/>
              </a:rPr>
              <a:t>例如在比较不同国籍学生的教育成果时，样本中各国籍学生比例变化不应影响度量结果，以确保教育政策和方法评估的可靠性</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p:txBody>
      </p:sp>
      <p:graphicFrame>
        <p:nvGraphicFramePr>
          <p:cNvPr id="30" name="表格 29">
            <a:extLst>
              <a:ext uri="{FF2B5EF4-FFF2-40B4-BE49-F238E27FC236}">
                <a16:creationId xmlns:a16="http://schemas.microsoft.com/office/drawing/2014/main" id="{1D93F6DD-B265-F712-7CE3-2F1325860D28}"/>
              </a:ext>
            </a:extLst>
          </p:cNvPr>
          <p:cNvGraphicFramePr>
            <a:graphicFrameLocks noGrp="1"/>
          </p:cNvGraphicFramePr>
          <p:nvPr>
            <p:extLst>
              <p:ext uri="{D42A27DB-BD31-4B8C-83A1-F6EECF244321}">
                <p14:modId xmlns:p14="http://schemas.microsoft.com/office/powerpoint/2010/main" val="1016969359"/>
              </p:ext>
            </p:extLst>
          </p:nvPr>
        </p:nvGraphicFramePr>
        <p:xfrm>
          <a:off x="8674591" y="1316089"/>
          <a:ext cx="2109729" cy="1163320"/>
        </p:xfrm>
        <a:graphic>
          <a:graphicData uri="http://schemas.openxmlformats.org/drawingml/2006/table">
            <a:tbl>
              <a:tblPr firstRow="1" bandRow="1">
                <a:tableStyleId>{5C22544A-7EE6-4342-B048-85BDC9FD1C3A}</a:tableStyleId>
              </a:tblPr>
              <a:tblGrid>
                <a:gridCol w="489210">
                  <a:extLst>
                    <a:ext uri="{9D8B030D-6E8A-4147-A177-3AD203B41FA5}">
                      <a16:colId xmlns:a16="http://schemas.microsoft.com/office/drawing/2014/main" val="1678250067"/>
                    </a:ext>
                  </a:extLst>
                </a:gridCol>
                <a:gridCol w="772160">
                  <a:extLst>
                    <a:ext uri="{9D8B030D-6E8A-4147-A177-3AD203B41FA5}">
                      <a16:colId xmlns:a16="http://schemas.microsoft.com/office/drawing/2014/main" val="1414840406"/>
                    </a:ext>
                  </a:extLst>
                </a:gridCol>
                <a:gridCol w="848359">
                  <a:extLst>
                    <a:ext uri="{9D8B030D-6E8A-4147-A177-3AD203B41FA5}">
                      <a16:colId xmlns:a16="http://schemas.microsoft.com/office/drawing/2014/main" val="3182455873"/>
                    </a:ext>
                  </a:extLst>
                </a:gridCol>
              </a:tblGrid>
              <a:tr h="370840">
                <a:tc>
                  <a:txBody>
                    <a:bodyPr/>
                    <a:lstStyle/>
                    <a:p>
                      <a:endParaRPr lang="zh-CN" altLang="en-US"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182924942"/>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k</a:t>
                      </a:r>
                      <a:r>
                        <a:rPr lang="en-US" altLang="zh-CN" sz="2000" i="1" baseline="-25000" dirty="0">
                          <a:latin typeface="Times New Roman" panose="02020603050405020304" pitchFamily="18" charset="0"/>
                          <a:cs typeface="Times New Roman" panose="02020603050405020304" pitchFamily="18" charset="0"/>
                        </a:rPr>
                        <a:t>3</a:t>
                      </a:r>
                      <a:r>
                        <a:rPr lang="en-US" altLang="zh-CN" sz="2000" i="1" dirty="0">
                          <a:latin typeface="Times New Roman" panose="02020603050405020304" pitchFamily="18" charset="0"/>
                          <a:cs typeface="Times New Roman" panose="02020603050405020304" pitchFamily="18" charset="0"/>
                        </a:rPr>
                        <a:t>k</a:t>
                      </a:r>
                      <a:r>
                        <a:rPr lang="en-US" altLang="zh-CN" sz="2000" i="1"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cs typeface="Times New Roman" panose="02020603050405020304" pitchFamily="18" charset="0"/>
                        </a:rPr>
                        <a:t>p</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i="1" dirty="0">
                          <a:latin typeface="Times New Roman" panose="02020603050405020304" pitchFamily="18" charset="0"/>
                          <a:cs typeface="Times New Roman" panose="02020603050405020304" pitchFamily="18" charset="0"/>
                        </a:rPr>
                        <a:t>k</a:t>
                      </a:r>
                      <a:r>
                        <a:rPr lang="en-US" altLang="zh-CN" sz="2000" i="1" baseline="-25000" dirty="0">
                          <a:latin typeface="Times New Roman" panose="02020603050405020304" pitchFamily="18" charset="0"/>
                          <a:cs typeface="Times New Roman" panose="02020603050405020304" pitchFamily="18" charset="0"/>
                        </a:rPr>
                        <a:t>4</a:t>
                      </a:r>
                      <a:r>
                        <a:rPr lang="en-US" altLang="zh-CN" sz="2000" i="1" dirty="0">
                          <a:latin typeface="Times New Roman" panose="02020603050405020304" pitchFamily="18" charset="0"/>
                          <a:cs typeface="Times New Roman" panose="02020603050405020304" pitchFamily="18" charset="0"/>
                        </a:rPr>
                        <a:t>k</a:t>
                      </a:r>
                      <a:r>
                        <a:rPr lang="en-US" altLang="zh-CN" sz="2000" i="1"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cs typeface="Times New Roman" panose="02020603050405020304" pitchFamily="18" charset="0"/>
                        </a:rPr>
                        <a:t>q</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373001421"/>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i="1" dirty="0">
                          <a:latin typeface="Times New Roman" panose="02020603050405020304" pitchFamily="18" charset="0"/>
                          <a:cs typeface="Times New Roman" panose="02020603050405020304" pitchFamily="18" charset="0"/>
                        </a:rPr>
                        <a:t>k</a:t>
                      </a:r>
                      <a:r>
                        <a:rPr lang="en-US" altLang="zh-CN" sz="2000" i="1" baseline="-25000" dirty="0">
                          <a:latin typeface="Times New Roman" panose="02020603050405020304" pitchFamily="18" charset="0"/>
                          <a:cs typeface="Times New Roman" panose="02020603050405020304" pitchFamily="18" charset="0"/>
                        </a:rPr>
                        <a:t>3</a:t>
                      </a:r>
                      <a:r>
                        <a:rPr lang="en-US" altLang="zh-CN" sz="2000" i="1" dirty="0">
                          <a:latin typeface="Times New Roman" panose="02020603050405020304" pitchFamily="18" charset="0"/>
                          <a:cs typeface="Times New Roman" panose="02020603050405020304" pitchFamily="18" charset="0"/>
                        </a:rPr>
                        <a:t>k</a:t>
                      </a:r>
                      <a:r>
                        <a:rPr lang="en-US" altLang="zh-CN" sz="2000" i="1" baseline="-25000" dirty="0">
                          <a:latin typeface="Times New Roman" panose="02020603050405020304" pitchFamily="18" charset="0"/>
                          <a:cs typeface="Times New Roman" panose="02020603050405020304" pitchFamily="18" charset="0"/>
                        </a:rPr>
                        <a:t>2</a:t>
                      </a:r>
                      <a:r>
                        <a:rPr lang="en-US" altLang="zh-CN" sz="2000" i="1" dirty="0">
                          <a:latin typeface="Times New Roman" panose="02020603050405020304" pitchFamily="18" charset="0"/>
                          <a:cs typeface="Times New Roman" panose="02020603050405020304" pitchFamily="18" charset="0"/>
                        </a:rPr>
                        <a:t>r</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i="1" dirty="0">
                          <a:latin typeface="Times New Roman" panose="02020603050405020304" pitchFamily="18" charset="0"/>
                          <a:cs typeface="Times New Roman" panose="02020603050405020304" pitchFamily="18" charset="0"/>
                        </a:rPr>
                        <a:t>k</a:t>
                      </a:r>
                      <a:r>
                        <a:rPr lang="en-US" altLang="zh-CN" sz="2000" i="1" baseline="-25000" dirty="0">
                          <a:latin typeface="Times New Roman" panose="02020603050405020304" pitchFamily="18" charset="0"/>
                          <a:cs typeface="Times New Roman" panose="02020603050405020304" pitchFamily="18" charset="0"/>
                        </a:rPr>
                        <a:t>4</a:t>
                      </a:r>
                      <a:r>
                        <a:rPr lang="en-US" altLang="zh-CN" sz="2000" i="1" dirty="0">
                          <a:latin typeface="Times New Roman" panose="02020603050405020304" pitchFamily="18" charset="0"/>
                          <a:cs typeface="Times New Roman" panose="02020603050405020304" pitchFamily="18" charset="0"/>
                        </a:rPr>
                        <a:t>k</a:t>
                      </a:r>
                      <a:r>
                        <a:rPr lang="en-US" altLang="zh-CN" sz="2000" i="1" baseline="-25000" dirty="0">
                          <a:latin typeface="Times New Roman" panose="02020603050405020304" pitchFamily="18" charset="0"/>
                          <a:cs typeface="Times New Roman" panose="02020603050405020304" pitchFamily="18" charset="0"/>
                        </a:rPr>
                        <a:t>2</a:t>
                      </a:r>
                      <a:r>
                        <a:rPr lang="en-US" altLang="zh-CN" sz="2000" i="1" dirty="0">
                          <a:latin typeface="Times New Roman" panose="02020603050405020304" pitchFamily="18" charset="0"/>
                          <a:cs typeface="Times New Roman" panose="02020603050405020304" pitchFamily="18" charset="0"/>
                        </a:rPr>
                        <a:t>s</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579567021"/>
                  </a:ext>
                </a:extLst>
              </a:tr>
            </a:tbl>
          </a:graphicData>
        </a:graphic>
      </p:graphicFrame>
      <p:graphicFrame>
        <p:nvGraphicFramePr>
          <p:cNvPr id="31" name="对象 30">
            <a:extLst>
              <a:ext uri="{FF2B5EF4-FFF2-40B4-BE49-F238E27FC236}">
                <a16:creationId xmlns:a16="http://schemas.microsoft.com/office/drawing/2014/main" id="{7B2CB417-0B53-2F46-4E43-D7E0461BEA61}"/>
              </a:ext>
            </a:extLst>
          </p:cNvPr>
          <p:cNvGraphicFramePr>
            <a:graphicFrameLocks noChangeAspect="1"/>
          </p:cNvGraphicFramePr>
          <p:nvPr>
            <p:extLst>
              <p:ext uri="{D42A27DB-BD31-4B8C-83A1-F6EECF244321}">
                <p14:modId xmlns:p14="http://schemas.microsoft.com/office/powerpoint/2010/main" val="1771952442"/>
              </p:ext>
            </p:extLst>
          </p:nvPr>
        </p:nvGraphicFramePr>
        <p:xfrm>
          <a:off x="8808677" y="1803370"/>
          <a:ext cx="215900" cy="228600"/>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16" name="对象 15">
                        <a:extLst>
                          <a:ext uri="{FF2B5EF4-FFF2-40B4-BE49-F238E27FC236}">
                            <a16:creationId xmlns:a16="http://schemas.microsoft.com/office/drawing/2014/main" id="{ACDB6ABF-18C6-46C1-39D6-02193975F58C}"/>
                          </a:ext>
                        </a:extLst>
                      </p:cNvPr>
                      <p:cNvPicPr/>
                      <p:nvPr/>
                    </p:nvPicPr>
                    <p:blipFill>
                      <a:blip r:embed="rId4"/>
                      <a:stretch>
                        <a:fillRect/>
                      </a:stretch>
                    </p:blipFill>
                    <p:spPr>
                      <a:xfrm>
                        <a:off x="8808677" y="1803370"/>
                        <a:ext cx="215900" cy="228600"/>
                      </a:xfrm>
                      <a:prstGeom prst="rect">
                        <a:avLst/>
                      </a:prstGeom>
                    </p:spPr>
                  </p:pic>
                </p:oleObj>
              </mc:Fallback>
            </mc:AlternateContent>
          </a:graphicData>
        </a:graphic>
      </p:graphicFrame>
      <p:graphicFrame>
        <p:nvGraphicFramePr>
          <p:cNvPr id="32" name="对象 31">
            <a:extLst>
              <a:ext uri="{FF2B5EF4-FFF2-40B4-BE49-F238E27FC236}">
                <a16:creationId xmlns:a16="http://schemas.microsoft.com/office/drawing/2014/main" id="{1B288EE6-38F2-5C3D-9E06-E1508A5DC70C}"/>
              </a:ext>
            </a:extLst>
          </p:cNvPr>
          <p:cNvGraphicFramePr>
            <a:graphicFrameLocks noChangeAspect="1"/>
          </p:cNvGraphicFramePr>
          <p:nvPr>
            <p:extLst>
              <p:ext uri="{D42A27DB-BD31-4B8C-83A1-F6EECF244321}">
                <p14:modId xmlns:p14="http://schemas.microsoft.com/office/powerpoint/2010/main" val="1118701782"/>
              </p:ext>
            </p:extLst>
          </p:nvPr>
        </p:nvGraphicFramePr>
        <p:xfrm>
          <a:off x="8808677" y="2125315"/>
          <a:ext cx="215900" cy="292100"/>
        </p:xfrm>
        <a:graphic>
          <a:graphicData uri="http://schemas.openxmlformats.org/presentationml/2006/ole">
            <mc:AlternateContent xmlns:mc="http://schemas.openxmlformats.org/markup-compatibility/2006">
              <mc:Choice xmlns:v="urn:schemas-microsoft-com:vml" Requires="v">
                <p:oleObj name="Equation" r:id="rId5" imgW="215640" imgH="291960" progId="Equation.DSMT4">
                  <p:embed/>
                </p:oleObj>
              </mc:Choice>
              <mc:Fallback>
                <p:oleObj name="Equation" r:id="rId5" imgW="215640" imgH="291960" progId="Equation.DSMT4">
                  <p:embed/>
                  <p:pic>
                    <p:nvPicPr>
                      <p:cNvPr id="17" name="对象 16">
                        <a:extLst>
                          <a:ext uri="{FF2B5EF4-FFF2-40B4-BE49-F238E27FC236}">
                            <a16:creationId xmlns:a16="http://schemas.microsoft.com/office/drawing/2014/main" id="{B0D1E3E6-84B1-C1C2-0EEA-2726BD81E379}"/>
                          </a:ext>
                        </a:extLst>
                      </p:cNvPr>
                      <p:cNvPicPr/>
                      <p:nvPr/>
                    </p:nvPicPr>
                    <p:blipFill>
                      <a:blip r:embed="rId6"/>
                      <a:stretch>
                        <a:fillRect/>
                      </a:stretch>
                    </p:blipFill>
                    <p:spPr>
                      <a:xfrm>
                        <a:off x="8808677" y="2125315"/>
                        <a:ext cx="215900" cy="292100"/>
                      </a:xfrm>
                      <a:prstGeom prst="rect">
                        <a:avLst/>
                      </a:prstGeom>
                    </p:spPr>
                  </p:pic>
                </p:oleObj>
              </mc:Fallback>
            </mc:AlternateContent>
          </a:graphicData>
        </a:graphic>
      </p:graphicFrame>
      <p:graphicFrame>
        <p:nvGraphicFramePr>
          <p:cNvPr id="33" name="对象 32">
            <a:extLst>
              <a:ext uri="{FF2B5EF4-FFF2-40B4-BE49-F238E27FC236}">
                <a16:creationId xmlns:a16="http://schemas.microsoft.com/office/drawing/2014/main" id="{0F63D576-FB59-74DA-240B-2977A9FCE180}"/>
              </a:ext>
            </a:extLst>
          </p:cNvPr>
          <p:cNvGraphicFramePr>
            <a:graphicFrameLocks noChangeAspect="1"/>
          </p:cNvGraphicFramePr>
          <p:nvPr>
            <p:extLst>
              <p:ext uri="{D42A27DB-BD31-4B8C-83A1-F6EECF244321}">
                <p14:modId xmlns:p14="http://schemas.microsoft.com/office/powerpoint/2010/main" val="1458276503"/>
              </p:ext>
            </p:extLst>
          </p:nvPr>
        </p:nvGraphicFramePr>
        <p:xfrm>
          <a:off x="9447346" y="1384905"/>
          <a:ext cx="215900" cy="228600"/>
        </p:xfrm>
        <a:graphic>
          <a:graphicData uri="http://schemas.openxmlformats.org/presentationml/2006/ole">
            <mc:AlternateContent xmlns:mc="http://schemas.openxmlformats.org/markup-compatibility/2006">
              <mc:Choice xmlns:v="urn:schemas-microsoft-com:vml" Requires="v">
                <p:oleObj name="Equation" r:id="rId7" imgW="215640" imgH="228600" progId="Equation.DSMT4">
                  <p:embed/>
                </p:oleObj>
              </mc:Choice>
              <mc:Fallback>
                <p:oleObj name="Equation" r:id="rId7" imgW="215640" imgH="228600" progId="Equation.DSMT4">
                  <p:embed/>
                  <p:pic>
                    <p:nvPicPr>
                      <p:cNvPr id="18" name="对象 17">
                        <a:extLst>
                          <a:ext uri="{FF2B5EF4-FFF2-40B4-BE49-F238E27FC236}">
                            <a16:creationId xmlns:a16="http://schemas.microsoft.com/office/drawing/2014/main" id="{08499E5F-CB47-FF85-7CA9-B2FCE5A74D2A}"/>
                          </a:ext>
                        </a:extLst>
                      </p:cNvPr>
                      <p:cNvPicPr/>
                      <p:nvPr/>
                    </p:nvPicPr>
                    <p:blipFill>
                      <a:blip r:embed="rId8"/>
                      <a:stretch>
                        <a:fillRect/>
                      </a:stretch>
                    </p:blipFill>
                    <p:spPr>
                      <a:xfrm>
                        <a:off x="9447346" y="1384905"/>
                        <a:ext cx="215900" cy="228600"/>
                      </a:xfrm>
                      <a:prstGeom prst="rect">
                        <a:avLst/>
                      </a:prstGeom>
                    </p:spPr>
                  </p:pic>
                </p:oleObj>
              </mc:Fallback>
            </mc:AlternateContent>
          </a:graphicData>
        </a:graphic>
      </p:graphicFrame>
      <p:graphicFrame>
        <p:nvGraphicFramePr>
          <p:cNvPr id="34" name="对象 33">
            <a:extLst>
              <a:ext uri="{FF2B5EF4-FFF2-40B4-BE49-F238E27FC236}">
                <a16:creationId xmlns:a16="http://schemas.microsoft.com/office/drawing/2014/main" id="{03BED73D-EEC2-16C8-44A0-982C2E07AC7F}"/>
              </a:ext>
            </a:extLst>
          </p:cNvPr>
          <p:cNvGraphicFramePr>
            <a:graphicFrameLocks noChangeAspect="1"/>
          </p:cNvGraphicFramePr>
          <p:nvPr>
            <p:extLst>
              <p:ext uri="{D42A27DB-BD31-4B8C-83A1-F6EECF244321}">
                <p14:modId xmlns:p14="http://schemas.microsoft.com/office/powerpoint/2010/main" val="2088121050"/>
              </p:ext>
            </p:extLst>
          </p:nvPr>
        </p:nvGraphicFramePr>
        <p:xfrm>
          <a:off x="10266319" y="1331565"/>
          <a:ext cx="215900" cy="292100"/>
        </p:xfrm>
        <a:graphic>
          <a:graphicData uri="http://schemas.openxmlformats.org/presentationml/2006/ole">
            <mc:AlternateContent xmlns:mc="http://schemas.openxmlformats.org/markup-compatibility/2006">
              <mc:Choice xmlns:v="urn:schemas-microsoft-com:vml" Requires="v">
                <p:oleObj name="Equation" r:id="rId9" imgW="215640" imgH="291960" progId="Equation.DSMT4">
                  <p:embed/>
                </p:oleObj>
              </mc:Choice>
              <mc:Fallback>
                <p:oleObj name="Equation" r:id="rId9" imgW="215640" imgH="291960" progId="Equation.DSMT4">
                  <p:embed/>
                  <p:pic>
                    <p:nvPicPr>
                      <p:cNvPr id="19" name="对象 18">
                        <a:extLst>
                          <a:ext uri="{FF2B5EF4-FFF2-40B4-BE49-F238E27FC236}">
                            <a16:creationId xmlns:a16="http://schemas.microsoft.com/office/drawing/2014/main" id="{2218D001-0723-BF9C-850B-F9FB5467343F}"/>
                          </a:ext>
                        </a:extLst>
                      </p:cNvPr>
                      <p:cNvPicPr/>
                      <p:nvPr/>
                    </p:nvPicPr>
                    <p:blipFill>
                      <a:blip r:embed="rId10"/>
                      <a:stretch>
                        <a:fillRect/>
                      </a:stretch>
                    </p:blipFill>
                    <p:spPr>
                      <a:xfrm>
                        <a:off x="10266319" y="1331565"/>
                        <a:ext cx="215900" cy="292100"/>
                      </a:xfrm>
                      <a:prstGeom prst="rect">
                        <a:avLst/>
                      </a:prstGeom>
                    </p:spPr>
                  </p:pic>
                </p:oleObj>
              </mc:Fallback>
            </mc:AlternateContent>
          </a:graphicData>
        </a:graphic>
      </p:graphicFrame>
      <p:sp>
        <p:nvSpPr>
          <p:cNvPr id="35" name="文本框 34">
            <a:extLst>
              <a:ext uri="{FF2B5EF4-FFF2-40B4-BE49-F238E27FC236}">
                <a16:creationId xmlns:a16="http://schemas.microsoft.com/office/drawing/2014/main" id="{73908A7D-3C46-8DFC-E7E8-7E0124DDB453}"/>
              </a:ext>
            </a:extLst>
          </p:cNvPr>
          <p:cNvSpPr txBox="1"/>
          <p:nvPr/>
        </p:nvSpPr>
        <p:spPr>
          <a:xfrm>
            <a:off x="9101627" y="2594507"/>
            <a:ext cx="719580" cy="400110"/>
          </a:xfrm>
          <a:prstGeom prst="rect">
            <a:avLst/>
          </a:prstGeom>
          <a:noFill/>
        </p:spPr>
        <p:txBody>
          <a:bodyPr wrap="square" rtlCol="0">
            <a:spAutoFit/>
          </a:bodyPr>
          <a:lstStyle/>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p>
        </p:txBody>
      </p:sp>
      <p:graphicFrame>
        <p:nvGraphicFramePr>
          <p:cNvPr id="36" name="对象 35">
            <a:extLst>
              <a:ext uri="{FF2B5EF4-FFF2-40B4-BE49-F238E27FC236}">
                <a16:creationId xmlns:a16="http://schemas.microsoft.com/office/drawing/2014/main" id="{C792FD46-C2C3-19F7-D280-495B6234B2DC}"/>
              </a:ext>
            </a:extLst>
          </p:cNvPr>
          <p:cNvGraphicFramePr>
            <a:graphicFrameLocks noChangeAspect="1"/>
          </p:cNvGraphicFramePr>
          <p:nvPr>
            <p:extLst>
              <p:ext uri="{D42A27DB-BD31-4B8C-83A1-F6EECF244321}">
                <p14:modId xmlns:p14="http://schemas.microsoft.com/office/powerpoint/2010/main" val="934793358"/>
              </p:ext>
            </p:extLst>
          </p:nvPr>
        </p:nvGraphicFramePr>
        <p:xfrm>
          <a:off x="9785466" y="2674590"/>
          <a:ext cx="647700" cy="241300"/>
        </p:xfrm>
        <a:graphic>
          <a:graphicData uri="http://schemas.openxmlformats.org/presentationml/2006/ole">
            <mc:AlternateContent xmlns:mc="http://schemas.openxmlformats.org/markup-compatibility/2006">
              <mc:Choice xmlns:v="urn:schemas-microsoft-com:vml" Requires="v">
                <p:oleObj name="Equation" r:id="rId11" imgW="647640" imgH="241200" progId="Equation.DSMT4">
                  <p:embed/>
                </p:oleObj>
              </mc:Choice>
              <mc:Fallback>
                <p:oleObj name="Equation" r:id="rId11" imgW="647640" imgH="241200" progId="Equation.DSMT4">
                  <p:embed/>
                  <p:pic>
                    <p:nvPicPr>
                      <p:cNvPr id="49" name="对象 48">
                        <a:extLst>
                          <a:ext uri="{FF2B5EF4-FFF2-40B4-BE49-F238E27FC236}">
                            <a16:creationId xmlns:a16="http://schemas.microsoft.com/office/drawing/2014/main" id="{2C624149-5D05-28CC-4A41-B53B282F693F}"/>
                          </a:ext>
                        </a:extLst>
                      </p:cNvPr>
                      <p:cNvPicPr/>
                      <p:nvPr/>
                    </p:nvPicPr>
                    <p:blipFill>
                      <a:blip r:embed="rId12"/>
                      <a:stretch>
                        <a:fillRect/>
                      </a:stretch>
                    </p:blipFill>
                    <p:spPr>
                      <a:xfrm>
                        <a:off x="9785466" y="2674590"/>
                        <a:ext cx="647700" cy="241300"/>
                      </a:xfrm>
                      <a:prstGeom prst="rect">
                        <a:avLst/>
                      </a:prstGeom>
                    </p:spPr>
                  </p:pic>
                </p:oleObj>
              </mc:Fallback>
            </mc:AlternateContent>
          </a:graphicData>
        </a:graphic>
      </p:graphicFrame>
      <p:graphicFrame>
        <p:nvGraphicFramePr>
          <p:cNvPr id="37" name="对象 36">
            <a:extLst>
              <a:ext uri="{FF2B5EF4-FFF2-40B4-BE49-F238E27FC236}">
                <a16:creationId xmlns:a16="http://schemas.microsoft.com/office/drawing/2014/main" id="{866CFF4B-7D75-1034-B25A-5B3127BE3B7F}"/>
              </a:ext>
            </a:extLst>
          </p:cNvPr>
          <p:cNvGraphicFramePr>
            <a:graphicFrameLocks noChangeAspect="1"/>
          </p:cNvGraphicFramePr>
          <p:nvPr>
            <p:extLst>
              <p:ext uri="{D42A27DB-BD31-4B8C-83A1-F6EECF244321}">
                <p14:modId xmlns:p14="http://schemas.microsoft.com/office/powerpoint/2010/main" val="1527453668"/>
              </p:ext>
            </p:extLst>
          </p:nvPr>
        </p:nvGraphicFramePr>
        <p:xfrm>
          <a:off x="2320948" y="3544088"/>
          <a:ext cx="1976646" cy="345913"/>
        </p:xfrm>
        <a:graphic>
          <a:graphicData uri="http://schemas.openxmlformats.org/presentationml/2006/ole">
            <mc:AlternateContent xmlns:mc="http://schemas.openxmlformats.org/markup-compatibility/2006">
              <mc:Choice xmlns:v="urn:schemas-microsoft-com:vml" Requires="v">
                <p:oleObj name="Equation" r:id="rId13" imgW="1142855" imgH="200139" progId="Equation.DSMT4">
                  <p:embed/>
                </p:oleObj>
              </mc:Choice>
              <mc:Fallback>
                <p:oleObj name="Equation" r:id="rId13" imgW="1142855" imgH="200139" progId="Equation.DSMT4">
                  <p:embed/>
                  <p:pic>
                    <p:nvPicPr>
                      <p:cNvPr id="0" name=""/>
                      <p:cNvPicPr/>
                      <p:nvPr/>
                    </p:nvPicPr>
                    <p:blipFill>
                      <a:blip r:embed="rId14"/>
                      <a:stretch>
                        <a:fillRect/>
                      </a:stretch>
                    </p:blipFill>
                    <p:spPr>
                      <a:xfrm>
                        <a:off x="2320948" y="3544088"/>
                        <a:ext cx="1976646" cy="345913"/>
                      </a:xfrm>
                      <a:prstGeom prst="rect">
                        <a:avLst/>
                      </a:prstGeom>
                    </p:spPr>
                  </p:pic>
                </p:oleObj>
              </mc:Fallback>
            </mc:AlternateContent>
          </a:graphicData>
        </a:graphic>
      </p:graphicFrame>
      <p:sp>
        <p:nvSpPr>
          <p:cNvPr id="5" name="矩形 26">
            <a:extLst>
              <a:ext uri="{FF2B5EF4-FFF2-40B4-BE49-F238E27FC236}">
                <a16:creationId xmlns:a16="http://schemas.microsoft.com/office/drawing/2014/main" id="{93E8C0EE-F653-614B-412F-9F689D9D01BD}"/>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DD07766C-69C9-E8A3-485B-5CD3DEC3FD4C}"/>
              </a:ext>
            </a:extLst>
          </p:cNvPr>
          <p:cNvSpPr/>
          <p:nvPr/>
        </p:nvSpPr>
        <p:spPr>
          <a:xfrm>
            <a:off x="558039" y="1190656"/>
            <a:ext cx="2645799"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评估度量性质</a:t>
            </a:r>
          </a:p>
        </p:txBody>
      </p:sp>
    </p:spTree>
    <p:extLst>
      <p:ext uri="{BB962C8B-B14F-4D97-AF65-F5344CB8AC3E}">
        <p14:creationId xmlns:p14="http://schemas.microsoft.com/office/powerpoint/2010/main" val="30056337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C6353-9106-5980-8A45-DF291C426039}"/>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2BD91A96-CED3-8DCA-A058-A372DFF8E171}"/>
              </a:ext>
            </a:extLst>
          </p:cNvPr>
          <p:cNvSpPr/>
          <p:nvPr/>
        </p:nvSpPr>
        <p:spPr>
          <a:xfrm>
            <a:off x="1428738" y="4770145"/>
            <a:ext cx="9205794" cy="193096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F57A196D-400D-1697-99AC-AC99DC8AFD6F}"/>
              </a:ext>
            </a:extLst>
          </p:cNvPr>
          <p:cNvSpPr txBox="1"/>
          <p:nvPr/>
        </p:nvSpPr>
        <p:spPr>
          <a:xfrm>
            <a:off x="1185829" y="2549841"/>
            <a:ext cx="9102423" cy="2069093"/>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rPr>
              <a:t> 行</a:t>
            </a:r>
            <a:r>
              <a:rPr lang="en-US" altLang="zh-CN" sz="2400" b="1" dirty="0">
                <a:solidFill>
                  <a:srgbClr val="0245AD"/>
                </a:solidFill>
                <a:latin typeface="微软雅黑" pitchFamily="34" charset="-122"/>
                <a:ea typeface="微软雅黑" pitchFamily="34" charset="-122"/>
                <a:cs typeface="+mj-cs"/>
              </a:rPr>
              <a:t>/</a:t>
            </a:r>
            <a:r>
              <a:rPr lang="zh-CN" altLang="en-US" sz="2400" b="1" dirty="0">
                <a:solidFill>
                  <a:srgbClr val="0245AD"/>
                </a:solidFill>
                <a:latin typeface="微软雅黑" pitchFamily="34" charset="-122"/>
                <a:ea typeface="微软雅黑" pitchFamily="34" charset="-122"/>
                <a:cs typeface="+mj-cs"/>
              </a:rPr>
              <a:t>列排列下的反对称性</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50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指的是度量在对列联表的行或列进行排列变换后变为原来的负值。即对</a:t>
            </a:r>
            <a:r>
              <a:rPr kumimoji="1" lang="en-US" altLang="zh-CN" sz="2000" b="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a:t>
            </a:r>
          </a:p>
          <a:p>
            <a:pPr marR="0" lvl="1" defTabSz="457200" fontAlgn="auto">
              <a:lnSpc>
                <a:spcPct val="150000"/>
              </a:lnSpc>
              <a:spcBef>
                <a:spcPct val="20000"/>
              </a:spcBef>
              <a:spcAft>
                <a:spcPts val="0"/>
              </a:spcAft>
              <a:buClr>
                <a:srgbClr val="0000FF"/>
              </a:buClr>
              <a:buSzPct val="55000"/>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和行排列矩阵                 ，有                         ，或                         ，则度量</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O </a:t>
            </a:r>
          </a:p>
          <a:p>
            <a:pPr marR="0" lvl="1" defTabSz="457200" fontAlgn="auto">
              <a:lnSpc>
                <a:spcPct val="150000"/>
              </a:lnSpc>
              <a:spcBef>
                <a:spcPct val="20000"/>
              </a:spcBef>
              <a:spcAft>
                <a:spcPts val="0"/>
              </a:spcAft>
              <a:buClr>
                <a:srgbClr val="0000FF"/>
              </a:buClr>
              <a:buSzPct val="55000"/>
              <a:tabLst/>
              <a:defRPr/>
            </a:pP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在行排列或列排列下是反对称的</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8" name="表格 7">
            <a:extLst>
              <a:ext uri="{FF2B5EF4-FFF2-40B4-BE49-F238E27FC236}">
                <a16:creationId xmlns:a16="http://schemas.microsoft.com/office/drawing/2014/main" id="{B455880A-5625-3EC6-5EA2-7C68571705BE}"/>
              </a:ext>
            </a:extLst>
          </p:cNvPr>
          <p:cNvGraphicFramePr>
            <a:graphicFrameLocks noGrp="1"/>
          </p:cNvGraphicFramePr>
          <p:nvPr>
            <p:extLst>
              <p:ext uri="{D42A27DB-BD31-4B8C-83A1-F6EECF244321}">
                <p14:modId xmlns:p14="http://schemas.microsoft.com/office/powerpoint/2010/main" val="859836891"/>
              </p:ext>
            </p:extLst>
          </p:nvPr>
        </p:nvGraphicFramePr>
        <p:xfrm>
          <a:off x="7087853" y="1272352"/>
          <a:ext cx="1365168" cy="1163320"/>
        </p:xfrm>
        <a:graphic>
          <a:graphicData uri="http://schemas.openxmlformats.org/drawingml/2006/table">
            <a:tbl>
              <a:tblPr firstRow="1" bandRow="1">
                <a:tableStyleId>{5C22544A-7EE6-4342-B048-85BDC9FD1C3A}</a:tableStyleId>
              </a:tblPr>
              <a:tblGrid>
                <a:gridCol w="455056">
                  <a:extLst>
                    <a:ext uri="{9D8B030D-6E8A-4147-A177-3AD203B41FA5}">
                      <a16:colId xmlns:a16="http://schemas.microsoft.com/office/drawing/2014/main" val="1678250067"/>
                    </a:ext>
                  </a:extLst>
                </a:gridCol>
                <a:gridCol w="455056">
                  <a:extLst>
                    <a:ext uri="{9D8B030D-6E8A-4147-A177-3AD203B41FA5}">
                      <a16:colId xmlns:a16="http://schemas.microsoft.com/office/drawing/2014/main" val="1414840406"/>
                    </a:ext>
                  </a:extLst>
                </a:gridCol>
                <a:gridCol w="455056">
                  <a:extLst>
                    <a:ext uri="{9D8B030D-6E8A-4147-A177-3AD203B41FA5}">
                      <a16:colId xmlns:a16="http://schemas.microsoft.com/office/drawing/2014/main" val="3182455873"/>
                    </a:ext>
                  </a:extLst>
                </a:gridCol>
              </a:tblGrid>
              <a:tr h="370840">
                <a:tc>
                  <a:txBody>
                    <a:bodyPr/>
                    <a:lstStyle/>
                    <a:p>
                      <a:endParaRPr lang="zh-CN" altLang="en-US"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182924942"/>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p</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q</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73001421"/>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r</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s</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79567021"/>
                  </a:ext>
                </a:extLst>
              </a:tr>
            </a:tbl>
          </a:graphicData>
        </a:graphic>
      </p:graphicFrame>
      <p:graphicFrame>
        <p:nvGraphicFramePr>
          <p:cNvPr id="9" name="对象 8">
            <a:extLst>
              <a:ext uri="{FF2B5EF4-FFF2-40B4-BE49-F238E27FC236}">
                <a16:creationId xmlns:a16="http://schemas.microsoft.com/office/drawing/2014/main" id="{AC8DB761-E4DD-4420-80F9-7FA6F446D69C}"/>
              </a:ext>
            </a:extLst>
          </p:cNvPr>
          <p:cNvGraphicFramePr>
            <a:graphicFrameLocks noChangeAspect="1"/>
          </p:cNvGraphicFramePr>
          <p:nvPr>
            <p:extLst>
              <p:ext uri="{D42A27DB-BD31-4B8C-83A1-F6EECF244321}">
                <p14:modId xmlns:p14="http://schemas.microsoft.com/office/powerpoint/2010/main" val="1143723813"/>
              </p:ext>
            </p:extLst>
          </p:nvPr>
        </p:nvGraphicFramePr>
        <p:xfrm>
          <a:off x="7186378" y="1759633"/>
          <a:ext cx="215900" cy="228600"/>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9" name="对象 8">
                        <a:extLst>
                          <a:ext uri="{FF2B5EF4-FFF2-40B4-BE49-F238E27FC236}">
                            <a16:creationId xmlns:a16="http://schemas.microsoft.com/office/drawing/2014/main" id="{B3970186-372F-63CF-8F37-BF071BA37E82}"/>
                          </a:ext>
                        </a:extLst>
                      </p:cNvPr>
                      <p:cNvPicPr/>
                      <p:nvPr/>
                    </p:nvPicPr>
                    <p:blipFill>
                      <a:blip r:embed="rId4"/>
                      <a:stretch>
                        <a:fillRect/>
                      </a:stretch>
                    </p:blipFill>
                    <p:spPr>
                      <a:xfrm>
                        <a:off x="7186378" y="1759633"/>
                        <a:ext cx="215900" cy="22860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E236C9C7-8FB2-8BEF-660B-4BA8043EF1E3}"/>
              </a:ext>
            </a:extLst>
          </p:cNvPr>
          <p:cNvGraphicFramePr>
            <a:graphicFrameLocks noChangeAspect="1"/>
          </p:cNvGraphicFramePr>
          <p:nvPr>
            <p:extLst>
              <p:ext uri="{D42A27DB-BD31-4B8C-83A1-F6EECF244321}">
                <p14:modId xmlns:p14="http://schemas.microsoft.com/office/powerpoint/2010/main" val="463036834"/>
              </p:ext>
            </p:extLst>
          </p:nvPr>
        </p:nvGraphicFramePr>
        <p:xfrm>
          <a:off x="7186378" y="2081578"/>
          <a:ext cx="215900" cy="292100"/>
        </p:xfrm>
        <a:graphic>
          <a:graphicData uri="http://schemas.openxmlformats.org/presentationml/2006/ole">
            <mc:AlternateContent xmlns:mc="http://schemas.openxmlformats.org/markup-compatibility/2006">
              <mc:Choice xmlns:v="urn:schemas-microsoft-com:vml" Requires="v">
                <p:oleObj name="Equation" r:id="rId5" imgW="215640" imgH="291960" progId="Equation.DSMT4">
                  <p:embed/>
                </p:oleObj>
              </mc:Choice>
              <mc:Fallback>
                <p:oleObj name="Equation" r:id="rId5" imgW="215640" imgH="291960" progId="Equation.DSMT4">
                  <p:embed/>
                  <p:pic>
                    <p:nvPicPr>
                      <p:cNvPr id="10" name="对象 9">
                        <a:extLst>
                          <a:ext uri="{FF2B5EF4-FFF2-40B4-BE49-F238E27FC236}">
                            <a16:creationId xmlns:a16="http://schemas.microsoft.com/office/drawing/2014/main" id="{0EEEDDB1-AF27-FDF6-F657-85D487345089}"/>
                          </a:ext>
                        </a:extLst>
                      </p:cNvPr>
                      <p:cNvPicPr/>
                      <p:nvPr/>
                    </p:nvPicPr>
                    <p:blipFill>
                      <a:blip r:embed="rId6"/>
                      <a:stretch>
                        <a:fillRect/>
                      </a:stretch>
                    </p:blipFill>
                    <p:spPr>
                      <a:xfrm>
                        <a:off x="7186378" y="2081578"/>
                        <a:ext cx="215900" cy="2921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29CC57AA-363C-A61A-E444-34FBCD0887CD}"/>
              </a:ext>
            </a:extLst>
          </p:cNvPr>
          <p:cNvGraphicFramePr>
            <a:graphicFrameLocks noChangeAspect="1"/>
          </p:cNvGraphicFramePr>
          <p:nvPr>
            <p:extLst>
              <p:ext uri="{D42A27DB-BD31-4B8C-83A1-F6EECF244321}">
                <p14:modId xmlns:p14="http://schemas.microsoft.com/office/powerpoint/2010/main" val="1337001241"/>
              </p:ext>
            </p:extLst>
          </p:nvPr>
        </p:nvGraphicFramePr>
        <p:xfrm>
          <a:off x="7662487" y="1341168"/>
          <a:ext cx="215900" cy="228600"/>
        </p:xfrm>
        <a:graphic>
          <a:graphicData uri="http://schemas.openxmlformats.org/presentationml/2006/ole">
            <mc:AlternateContent xmlns:mc="http://schemas.openxmlformats.org/markup-compatibility/2006">
              <mc:Choice xmlns:v="urn:schemas-microsoft-com:vml" Requires="v">
                <p:oleObj name="Equation" r:id="rId7" imgW="215640" imgH="228600" progId="Equation.DSMT4">
                  <p:embed/>
                </p:oleObj>
              </mc:Choice>
              <mc:Fallback>
                <p:oleObj name="Equation" r:id="rId7" imgW="215640" imgH="228600" progId="Equation.DSMT4">
                  <p:embed/>
                  <p:pic>
                    <p:nvPicPr>
                      <p:cNvPr id="11" name="对象 10">
                        <a:extLst>
                          <a:ext uri="{FF2B5EF4-FFF2-40B4-BE49-F238E27FC236}">
                            <a16:creationId xmlns:a16="http://schemas.microsoft.com/office/drawing/2014/main" id="{99D85E04-8CCC-4156-E6D6-6C814D633D92}"/>
                          </a:ext>
                        </a:extLst>
                      </p:cNvPr>
                      <p:cNvPicPr/>
                      <p:nvPr/>
                    </p:nvPicPr>
                    <p:blipFill>
                      <a:blip r:embed="rId8"/>
                      <a:stretch>
                        <a:fillRect/>
                      </a:stretch>
                    </p:blipFill>
                    <p:spPr>
                      <a:xfrm>
                        <a:off x="7662487" y="1341168"/>
                        <a:ext cx="215900" cy="228600"/>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E8244F4F-A693-EF15-92AA-833778EF1D26}"/>
              </a:ext>
            </a:extLst>
          </p:cNvPr>
          <p:cNvGraphicFramePr>
            <a:graphicFrameLocks noChangeAspect="1"/>
          </p:cNvGraphicFramePr>
          <p:nvPr>
            <p:extLst>
              <p:ext uri="{D42A27DB-BD31-4B8C-83A1-F6EECF244321}">
                <p14:modId xmlns:p14="http://schemas.microsoft.com/office/powerpoint/2010/main" val="2246236603"/>
              </p:ext>
            </p:extLst>
          </p:nvPr>
        </p:nvGraphicFramePr>
        <p:xfrm>
          <a:off x="8100460" y="1277668"/>
          <a:ext cx="215900" cy="292100"/>
        </p:xfrm>
        <a:graphic>
          <a:graphicData uri="http://schemas.openxmlformats.org/presentationml/2006/ole">
            <mc:AlternateContent xmlns:mc="http://schemas.openxmlformats.org/markup-compatibility/2006">
              <mc:Choice xmlns:v="urn:schemas-microsoft-com:vml" Requires="v">
                <p:oleObj name="Equation" r:id="rId9" imgW="215640" imgH="291960" progId="Equation.DSMT4">
                  <p:embed/>
                </p:oleObj>
              </mc:Choice>
              <mc:Fallback>
                <p:oleObj name="Equation" r:id="rId9" imgW="215640" imgH="291960" progId="Equation.DSMT4">
                  <p:embed/>
                  <p:pic>
                    <p:nvPicPr>
                      <p:cNvPr id="12" name="对象 11">
                        <a:extLst>
                          <a:ext uri="{FF2B5EF4-FFF2-40B4-BE49-F238E27FC236}">
                            <a16:creationId xmlns:a16="http://schemas.microsoft.com/office/drawing/2014/main" id="{24E23A02-B6C2-6208-909C-AB1180A35146}"/>
                          </a:ext>
                        </a:extLst>
                      </p:cNvPr>
                      <p:cNvPicPr/>
                      <p:nvPr/>
                    </p:nvPicPr>
                    <p:blipFill>
                      <a:blip r:embed="rId10"/>
                      <a:stretch>
                        <a:fillRect/>
                      </a:stretch>
                    </p:blipFill>
                    <p:spPr>
                      <a:xfrm>
                        <a:off x="8100460" y="1277668"/>
                        <a:ext cx="215900" cy="292100"/>
                      </a:xfrm>
                      <a:prstGeom prst="rect">
                        <a:avLst/>
                      </a:prstGeom>
                    </p:spPr>
                  </p:pic>
                </p:oleObj>
              </mc:Fallback>
            </mc:AlternateContent>
          </a:graphicData>
        </a:graphic>
      </p:graphicFrame>
      <p:sp>
        <p:nvSpPr>
          <p:cNvPr id="18" name="文本框 17">
            <a:extLst>
              <a:ext uri="{FF2B5EF4-FFF2-40B4-BE49-F238E27FC236}">
                <a16:creationId xmlns:a16="http://schemas.microsoft.com/office/drawing/2014/main" id="{9A7B67C2-4743-B2C0-A4EF-019856AA0555}"/>
              </a:ext>
            </a:extLst>
          </p:cNvPr>
          <p:cNvSpPr txBox="1"/>
          <p:nvPr/>
        </p:nvSpPr>
        <p:spPr>
          <a:xfrm>
            <a:off x="7153260" y="2547427"/>
            <a:ext cx="1113739" cy="400110"/>
          </a:xfrm>
          <a:prstGeom prst="rect">
            <a:avLst/>
          </a:prstGeom>
          <a:noFill/>
        </p:spPr>
        <p:txBody>
          <a:bodyPr wrap="square" rtlCol="0">
            <a:spAutoFit/>
          </a:bodyPr>
          <a:lstStyle/>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M</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文本框 20">
            <a:extLst>
              <a:ext uri="{FF2B5EF4-FFF2-40B4-BE49-F238E27FC236}">
                <a16:creationId xmlns:a16="http://schemas.microsoft.com/office/drawing/2014/main" id="{279E4D72-4AF5-3EB5-1E5A-A87698629C73}"/>
              </a:ext>
            </a:extLst>
          </p:cNvPr>
          <p:cNvSpPr txBox="1"/>
          <p:nvPr/>
        </p:nvSpPr>
        <p:spPr>
          <a:xfrm>
            <a:off x="1511949" y="4854315"/>
            <a:ext cx="9205794" cy="1775935"/>
          </a:xfrm>
          <a:prstGeom prst="rect">
            <a:avLst/>
          </a:prstGeom>
          <a:noFill/>
        </p:spPr>
        <p:txBody>
          <a:bodyPr wrap="square">
            <a:spAutoFit/>
          </a:bodyPr>
          <a:lstStyle/>
          <a:p>
            <a:pPr marL="342900" indent="-342900">
              <a:lnSpc>
                <a:spcPct val="125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Times New Roman" panose="02020603050405020304" pitchFamily="18" charset="0"/>
              </a:rPr>
              <a:t>行和列排列操作下对称的度量不区分表的正相关和负相关</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Times New Roman" panose="02020603050405020304" pitchFamily="18" charset="0"/>
              </a:rPr>
              <a:t>反对称性度量适用于区分正负关联的场合，例如在医疗数据分析中，确定某个因素是增加还是减少某种疾病的风险，反对称性的度量能有效地识别这些关联的方向</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Times New Roman" panose="02020603050405020304" pitchFamily="18" charset="0"/>
              </a:rPr>
              <a:t>而在某些情况下，对称性的信息更有价值，例如在某些社交网络分析中，了解两个节点是否有相似的连接模式更重要，而无论这种相似性是正相关还是负相关</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p:txBody>
      </p:sp>
      <p:graphicFrame>
        <p:nvGraphicFramePr>
          <p:cNvPr id="6" name="对象 5">
            <a:extLst>
              <a:ext uri="{FF2B5EF4-FFF2-40B4-BE49-F238E27FC236}">
                <a16:creationId xmlns:a16="http://schemas.microsoft.com/office/drawing/2014/main" id="{CDC80BD4-E537-98A9-2A3F-B12D7F6C9CFF}"/>
              </a:ext>
            </a:extLst>
          </p:cNvPr>
          <p:cNvGraphicFramePr>
            <a:graphicFrameLocks noChangeAspect="1"/>
          </p:cNvGraphicFramePr>
          <p:nvPr>
            <p:extLst>
              <p:ext uri="{D42A27DB-BD31-4B8C-83A1-F6EECF244321}">
                <p14:modId xmlns:p14="http://schemas.microsoft.com/office/powerpoint/2010/main" val="1191381121"/>
              </p:ext>
            </p:extLst>
          </p:nvPr>
        </p:nvGraphicFramePr>
        <p:xfrm>
          <a:off x="3594935" y="3543853"/>
          <a:ext cx="1091272" cy="703583"/>
        </p:xfrm>
        <a:graphic>
          <a:graphicData uri="http://schemas.openxmlformats.org/presentationml/2006/ole">
            <mc:AlternateContent xmlns:mc="http://schemas.openxmlformats.org/markup-compatibility/2006">
              <mc:Choice xmlns:v="urn:schemas-microsoft-com:vml" Requires="v">
                <p:oleObj name="Equation" r:id="rId11" imgW="723868" imgH="466510" progId="Equation.DSMT4">
                  <p:embed/>
                </p:oleObj>
              </mc:Choice>
              <mc:Fallback>
                <p:oleObj name="Equation" r:id="rId11" imgW="723868" imgH="466510" progId="Equation.DSMT4">
                  <p:embed/>
                  <p:pic>
                    <p:nvPicPr>
                      <p:cNvPr id="0" name=""/>
                      <p:cNvPicPr/>
                      <p:nvPr/>
                    </p:nvPicPr>
                    <p:blipFill>
                      <a:blip r:embed="rId12"/>
                      <a:stretch>
                        <a:fillRect/>
                      </a:stretch>
                    </p:blipFill>
                    <p:spPr>
                      <a:xfrm>
                        <a:off x="3594935" y="3543853"/>
                        <a:ext cx="1091272" cy="703583"/>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3E3C361B-5129-2A04-1DFA-8A509B9E34D7}"/>
              </a:ext>
            </a:extLst>
          </p:cNvPr>
          <p:cNvGraphicFramePr>
            <a:graphicFrameLocks noChangeAspect="1"/>
          </p:cNvGraphicFramePr>
          <p:nvPr>
            <p:extLst>
              <p:ext uri="{D42A27DB-BD31-4B8C-83A1-F6EECF244321}">
                <p14:modId xmlns:p14="http://schemas.microsoft.com/office/powerpoint/2010/main" val="1020555712"/>
              </p:ext>
            </p:extLst>
          </p:nvPr>
        </p:nvGraphicFramePr>
        <p:xfrm>
          <a:off x="5131530" y="3760060"/>
          <a:ext cx="1683923" cy="304848"/>
        </p:xfrm>
        <a:graphic>
          <a:graphicData uri="http://schemas.openxmlformats.org/presentationml/2006/ole">
            <mc:AlternateContent xmlns:mc="http://schemas.openxmlformats.org/markup-compatibility/2006">
              <mc:Choice xmlns:v="urn:schemas-microsoft-com:vml" Requires="v">
                <p:oleObj name="Equation" r:id="rId13" imgW="1104700" imgH="200139" progId="Equation.DSMT4">
                  <p:embed/>
                </p:oleObj>
              </mc:Choice>
              <mc:Fallback>
                <p:oleObj name="Equation" r:id="rId13" imgW="1104700" imgH="200139" progId="Equation.DSMT4">
                  <p:embed/>
                  <p:pic>
                    <p:nvPicPr>
                      <p:cNvPr id="0" name=""/>
                      <p:cNvPicPr/>
                      <p:nvPr/>
                    </p:nvPicPr>
                    <p:blipFill>
                      <a:blip r:embed="rId14"/>
                      <a:stretch>
                        <a:fillRect/>
                      </a:stretch>
                    </p:blipFill>
                    <p:spPr>
                      <a:xfrm>
                        <a:off x="5131530" y="3760060"/>
                        <a:ext cx="1683923" cy="304848"/>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55FEE3F8-7945-E8B6-E2B4-DFBFB02C8C83}"/>
              </a:ext>
            </a:extLst>
          </p:cNvPr>
          <p:cNvGraphicFramePr>
            <a:graphicFrameLocks noChangeAspect="1"/>
          </p:cNvGraphicFramePr>
          <p:nvPr>
            <p:extLst>
              <p:ext uri="{D42A27DB-BD31-4B8C-83A1-F6EECF244321}">
                <p14:modId xmlns:p14="http://schemas.microsoft.com/office/powerpoint/2010/main" val="2913656685"/>
              </p:ext>
            </p:extLst>
          </p:nvPr>
        </p:nvGraphicFramePr>
        <p:xfrm>
          <a:off x="7233746" y="3774515"/>
          <a:ext cx="1683923" cy="304848"/>
        </p:xfrm>
        <a:graphic>
          <a:graphicData uri="http://schemas.openxmlformats.org/presentationml/2006/ole">
            <mc:AlternateContent xmlns:mc="http://schemas.openxmlformats.org/markup-compatibility/2006">
              <mc:Choice xmlns:v="urn:schemas-microsoft-com:vml" Requires="v">
                <p:oleObj name="Equation" r:id="rId15" imgW="1104700" imgH="200139" progId="Equation.DSMT4">
                  <p:embed/>
                </p:oleObj>
              </mc:Choice>
              <mc:Fallback>
                <p:oleObj name="Equation" r:id="rId15" imgW="1104700" imgH="200139" progId="Equation.DSMT4">
                  <p:embed/>
                  <p:pic>
                    <p:nvPicPr>
                      <p:cNvPr id="0" name=""/>
                      <p:cNvPicPr/>
                      <p:nvPr/>
                    </p:nvPicPr>
                    <p:blipFill>
                      <a:blip r:embed="rId16"/>
                      <a:stretch>
                        <a:fillRect/>
                      </a:stretch>
                    </p:blipFill>
                    <p:spPr>
                      <a:xfrm>
                        <a:off x="7233746" y="3774515"/>
                        <a:ext cx="1683923" cy="304848"/>
                      </a:xfrm>
                      <a:prstGeom prst="rect">
                        <a:avLst/>
                      </a:prstGeom>
                    </p:spPr>
                  </p:pic>
                </p:oleObj>
              </mc:Fallback>
            </mc:AlternateContent>
          </a:graphicData>
        </a:graphic>
      </p:graphicFrame>
      <p:graphicFrame>
        <p:nvGraphicFramePr>
          <p:cNvPr id="15" name="表格 14">
            <a:extLst>
              <a:ext uri="{FF2B5EF4-FFF2-40B4-BE49-F238E27FC236}">
                <a16:creationId xmlns:a16="http://schemas.microsoft.com/office/drawing/2014/main" id="{3A73A579-9FAA-BAE5-5056-DBCF91C9FF90}"/>
              </a:ext>
            </a:extLst>
          </p:cNvPr>
          <p:cNvGraphicFramePr>
            <a:graphicFrameLocks noGrp="1"/>
          </p:cNvGraphicFramePr>
          <p:nvPr>
            <p:extLst>
              <p:ext uri="{D42A27DB-BD31-4B8C-83A1-F6EECF244321}">
                <p14:modId xmlns:p14="http://schemas.microsoft.com/office/powerpoint/2010/main" val="1792486619"/>
              </p:ext>
            </p:extLst>
          </p:nvPr>
        </p:nvGraphicFramePr>
        <p:xfrm>
          <a:off x="9269364" y="1283388"/>
          <a:ext cx="1365168" cy="1163320"/>
        </p:xfrm>
        <a:graphic>
          <a:graphicData uri="http://schemas.openxmlformats.org/drawingml/2006/table">
            <a:tbl>
              <a:tblPr firstRow="1" bandRow="1">
                <a:tableStyleId>{5C22544A-7EE6-4342-B048-85BDC9FD1C3A}</a:tableStyleId>
              </a:tblPr>
              <a:tblGrid>
                <a:gridCol w="455056">
                  <a:extLst>
                    <a:ext uri="{9D8B030D-6E8A-4147-A177-3AD203B41FA5}">
                      <a16:colId xmlns:a16="http://schemas.microsoft.com/office/drawing/2014/main" val="1678250067"/>
                    </a:ext>
                  </a:extLst>
                </a:gridCol>
                <a:gridCol w="455056">
                  <a:extLst>
                    <a:ext uri="{9D8B030D-6E8A-4147-A177-3AD203B41FA5}">
                      <a16:colId xmlns:a16="http://schemas.microsoft.com/office/drawing/2014/main" val="1414840406"/>
                    </a:ext>
                  </a:extLst>
                </a:gridCol>
                <a:gridCol w="455056">
                  <a:extLst>
                    <a:ext uri="{9D8B030D-6E8A-4147-A177-3AD203B41FA5}">
                      <a16:colId xmlns:a16="http://schemas.microsoft.com/office/drawing/2014/main" val="3182455873"/>
                    </a:ext>
                  </a:extLst>
                </a:gridCol>
              </a:tblGrid>
              <a:tr h="370840">
                <a:tc>
                  <a:txBody>
                    <a:bodyPr/>
                    <a:lstStyle/>
                    <a:p>
                      <a:endParaRPr lang="zh-CN" altLang="en-US"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182924942"/>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r</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s</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373001421"/>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p</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q</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579567021"/>
                  </a:ext>
                </a:extLst>
              </a:tr>
            </a:tbl>
          </a:graphicData>
        </a:graphic>
      </p:graphicFrame>
      <p:graphicFrame>
        <p:nvGraphicFramePr>
          <p:cNvPr id="16" name="对象 15">
            <a:extLst>
              <a:ext uri="{FF2B5EF4-FFF2-40B4-BE49-F238E27FC236}">
                <a16:creationId xmlns:a16="http://schemas.microsoft.com/office/drawing/2014/main" id="{0515865D-E519-B6B5-C930-39A52C383A62}"/>
              </a:ext>
            </a:extLst>
          </p:cNvPr>
          <p:cNvGraphicFramePr>
            <a:graphicFrameLocks noChangeAspect="1"/>
          </p:cNvGraphicFramePr>
          <p:nvPr>
            <p:extLst>
              <p:ext uri="{D42A27DB-BD31-4B8C-83A1-F6EECF244321}">
                <p14:modId xmlns:p14="http://schemas.microsoft.com/office/powerpoint/2010/main" val="2511279116"/>
              </p:ext>
            </p:extLst>
          </p:nvPr>
        </p:nvGraphicFramePr>
        <p:xfrm>
          <a:off x="9367889" y="1770669"/>
          <a:ext cx="215900" cy="228600"/>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26" name="对象 25">
                        <a:extLst>
                          <a:ext uri="{FF2B5EF4-FFF2-40B4-BE49-F238E27FC236}">
                            <a16:creationId xmlns:a16="http://schemas.microsoft.com/office/drawing/2014/main" id="{99947818-81DE-00E8-57D2-8B4E36CE1AAA}"/>
                          </a:ext>
                        </a:extLst>
                      </p:cNvPr>
                      <p:cNvPicPr/>
                      <p:nvPr/>
                    </p:nvPicPr>
                    <p:blipFill>
                      <a:blip r:embed="rId4"/>
                      <a:stretch>
                        <a:fillRect/>
                      </a:stretch>
                    </p:blipFill>
                    <p:spPr>
                      <a:xfrm>
                        <a:off x="9367889" y="1770669"/>
                        <a:ext cx="215900" cy="228600"/>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C08316DA-3E38-0011-EB3D-9A67270BB25B}"/>
              </a:ext>
            </a:extLst>
          </p:cNvPr>
          <p:cNvGraphicFramePr>
            <a:graphicFrameLocks noChangeAspect="1"/>
          </p:cNvGraphicFramePr>
          <p:nvPr>
            <p:extLst>
              <p:ext uri="{D42A27DB-BD31-4B8C-83A1-F6EECF244321}">
                <p14:modId xmlns:p14="http://schemas.microsoft.com/office/powerpoint/2010/main" val="848654604"/>
              </p:ext>
            </p:extLst>
          </p:nvPr>
        </p:nvGraphicFramePr>
        <p:xfrm>
          <a:off x="9367889" y="2092614"/>
          <a:ext cx="215900" cy="292100"/>
        </p:xfrm>
        <a:graphic>
          <a:graphicData uri="http://schemas.openxmlformats.org/presentationml/2006/ole">
            <mc:AlternateContent xmlns:mc="http://schemas.openxmlformats.org/markup-compatibility/2006">
              <mc:Choice xmlns:v="urn:schemas-microsoft-com:vml" Requires="v">
                <p:oleObj name="Equation" r:id="rId5" imgW="215640" imgH="291960" progId="Equation.DSMT4">
                  <p:embed/>
                </p:oleObj>
              </mc:Choice>
              <mc:Fallback>
                <p:oleObj name="Equation" r:id="rId5" imgW="215640" imgH="291960" progId="Equation.DSMT4">
                  <p:embed/>
                  <p:pic>
                    <p:nvPicPr>
                      <p:cNvPr id="27" name="对象 26">
                        <a:extLst>
                          <a:ext uri="{FF2B5EF4-FFF2-40B4-BE49-F238E27FC236}">
                            <a16:creationId xmlns:a16="http://schemas.microsoft.com/office/drawing/2014/main" id="{44200A07-7F8F-A486-45BE-D0B3EEFFF5CE}"/>
                          </a:ext>
                        </a:extLst>
                      </p:cNvPr>
                      <p:cNvPicPr/>
                      <p:nvPr/>
                    </p:nvPicPr>
                    <p:blipFill>
                      <a:blip r:embed="rId6"/>
                      <a:stretch>
                        <a:fillRect/>
                      </a:stretch>
                    </p:blipFill>
                    <p:spPr>
                      <a:xfrm>
                        <a:off x="9367889" y="2092614"/>
                        <a:ext cx="215900" cy="292100"/>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0619BFA9-14FD-6B2E-23BC-3A01E991697D}"/>
              </a:ext>
            </a:extLst>
          </p:cNvPr>
          <p:cNvGraphicFramePr>
            <a:graphicFrameLocks noChangeAspect="1"/>
          </p:cNvGraphicFramePr>
          <p:nvPr>
            <p:extLst>
              <p:ext uri="{D42A27DB-BD31-4B8C-83A1-F6EECF244321}">
                <p14:modId xmlns:p14="http://schemas.microsoft.com/office/powerpoint/2010/main" val="3369177258"/>
              </p:ext>
            </p:extLst>
          </p:nvPr>
        </p:nvGraphicFramePr>
        <p:xfrm>
          <a:off x="9843998" y="1352204"/>
          <a:ext cx="215900" cy="228600"/>
        </p:xfrm>
        <a:graphic>
          <a:graphicData uri="http://schemas.openxmlformats.org/presentationml/2006/ole">
            <mc:AlternateContent xmlns:mc="http://schemas.openxmlformats.org/markup-compatibility/2006">
              <mc:Choice xmlns:v="urn:schemas-microsoft-com:vml" Requires="v">
                <p:oleObj name="Equation" r:id="rId7" imgW="215640" imgH="228600" progId="Equation.DSMT4">
                  <p:embed/>
                </p:oleObj>
              </mc:Choice>
              <mc:Fallback>
                <p:oleObj name="Equation" r:id="rId7" imgW="215640" imgH="228600" progId="Equation.DSMT4">
                  <p:embed/>
                  <p:pic>
                    <p:nvPicPr>
                      <p:cNvPr id="28" name="对象 27">
                        <a:extLst>
                          <a:ext uri="{FF2B5EF4-FFF2-40B4-BE49-F238E27FC236}">
                            <a16:creationId xmlns:a16="http://schemas.microsoft.com/office/drawing/2014/main" id="{46992AC6-C4A7-2E05-4C03-5BED8AC5D4B1}"/>
                          </a:ext>
                        </a:extLst>
                      </p:cNvPr>
                      <p:cNvPicPr/>
                      <p:nvPr/>
                    </p:nvPicPr>
                    <p:blipFill>
                      <a:blip r:embed="rId8"/>
                      <a:stretch>
                        <a:fillRect/>
                      </a:stretch>
                    </p:blipFill>
                    <p:spPr>
                      <a:xfrm>
                        <a:off x="9843998" y="1352204"/>
                        <a:ext cx="215900" cy="228600"/>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6E2E9D4C-511C-C491-BB1C-676ABBC00123}"/>
              </a:ext>
            </a:extLst>
          </p:cNvPr>
          <p:cNvGraphicFramePr>
            <a:graphicFrameLocks noChangeAspect="1"/>
          </p:cNvGraphicFramePr>
          <p:nvPr>
            <p:extLst>
              <p:ext uri="{D42A27DB-BD31-4B8C-83A1-F6EECF244321}">
                <p14:modId xmlns:p14="http://schemas.microsoft.com/office/powerpoint/2010/main" val="1178409163"/>
              </p:ext>
            </p:extLst>
          </p:nvPr>
        </p:nvGraphicFramePr>
        <p:xfrm>
          <a:off x="10281971" y="1288704"/>
          <a:ext cx="215900" cy="292100"/>
        </p:xfrm>
        <a:graphic>
          <a:graphicData uri="http://schemas.openxmlformats.org/presentationml/2006/ole">
            <mc:AlternateContent xmlns:mc="http://schemas.openxmlformats.org/markup-compatibility/2006">
              <mc:Choice xmlns:v="urn:schemas-microsoft-com:vml" Requires="v">
                <p:oleObj name="Equation" r:id="rId9" imgW="215640" imgH="291960" progId="Equation.DSMT4">
                  <p:embed/>
                </p:oleObj>
              </mc:Choice>
              <mc:Fallback>
                <p:oleObj name="Equation" r:id="rId9" imgW="215640" imgH="291960" progId="Equation.DSMT4">
                  <p:embed/>
                  <p:pic>
                    <p:nvPicPr>
                      <p:cNvPr id="29" name="对象 28">
                        <a:extLst>
                          <a:ext uri="{FF2B5EF4-FFF2-40B4-BE49-F238E27FC236}">
                            <a16:creationId xmlns:a16="http://schemas.microsoft.com/office/drawing/2014/main" id="{985B8011-A3BD-AF77-3730-F9D17FE3C919}"/>
                          </a:ext>
                        </a:extLst>
                      </p:cNvPr>
                      <p:cNvPicPr/>
                      <p:nvPr/>
                    </p:nvPicPr>
                    <p:blipFill>
                      <a:blip r:embed="rId10"/>
                      <a:stretch>
                        <a:fillRect/>
                      </a:stretch>
                    </p:blipFill>
                    <p:spPr>
                      <a:xfrm>
                        <a:off x="10281971" y="1288704"/>
                        <a:ext cx="215900" cy="292100"/>
                      </a:xfrm>
                      <a:prstGeom prst="rect">
                        <a:avLst/>
                      </a:prstGeom>
                    </p:spPr>
                  </p:pic>
                </p:oleObj>
              </mc:Fallback>
            </mc:AlternateContent>
          </a:graphicData>
        </a:graphic>
      </p:graphicFrame>
      <p:sp>
        <p:nvSpPr>
          <p:cNvPr id="22" name="文本框 21">
            <a:extLst>
              <a:ext uri="{FF2B5EF4-FFF2-40B4-BE49-F238E27FC236}">
                <a16:creationId xmlns:a16="http://schemas.microsoft.com/office/drawing/2014/main" id="{DA2C431D-F3AF-BCE1-567E-B1999CAF1C18}"/>
              </a:ext>
            </a:extLst>
          </p:cNvPr>
          <p:cNvSpPr txBox="1"/>
          <p:nvPr/>
        </p:nvSpPr>
        <p:spPr>
          <a:xfrm>
            <a:off x="9340564" y="2589764"/>
            <a:ext cx="719580" cy="400110"/>
          </a:xfrm>
          <a:prstGeom prst="rect">
            <a:avLst/>
          </a:prstGeom>
          <a:noFill/>
        </p:spPr>
        <p:txBody>
          <a:bodyPr wrap="square" rtlCol="0">
            <a:spAutoFit/>
          </a:bodyPr>
          <a:lstStyle/>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p>
        </p:txBody>
      </p:sp>
      <p:graphicFrame>
        <p:nvGraphicFramePr>
          <p:cNvPr id="23" name="对象 22">
            <a:extLst>
              <a:ext uri="{FF2B5EF4-FFF2-40B4-BE49-F238E27FC236}">
                <a16:creationId xmlns:a16="http://schemas.microsoft.com/office/drawing/2014/main" id="{D4A6704F-8DD6-1D84-1D81-63251AF9F61E}"/>
              </a:ext>
            </a:extLst>
          </p:cNvPr>
          <p:cNvGraphicFramePr>
            <a:graphicFrameLocks noChangeAspect="1"/>
          </p:cNvGraphicFramePr>
          <p:nvPr>
            <p:extLst>
              <p:ext uri="{D42A27DB-BD31-4B8C-83A1-F6EECF244321}">
                <p14:modId xmlns:p14="http://schemas.microsoft.com/office/powerpoint/2010/main" val="4259201094"/>
              </p:ext>
            </p:extLst>
          </p:nvPr>
        </p:nvGraphicFramePr>
        <p:xfrm>
          <a:off x="9980284" y="2669910"/>
          <a:ext cx="431800" cy="241300"/>
        </p:xfrm>
        <a:graphic>
          <a:graphicData uri="http://schemas.openxmlformats.org/presentationml/2006/ole">
            <mc:AlternateContent xmlns:mc="http://schemas.openxmlformats.org/markup-compatibility/2006">
              <mc:Choice xmlns:v="urn:schemas-microsoft-com:vml" Requires="v">
                <p:oleObj name="Equation" r:id="rId17" imgW="431640" imgH="241200" progId="Equation.DSMT4">
                  <p:embed/>
                </p:oleObj>
              </mc:Choice>
              <mc:Fallback>
                <p:oleObj name="Equation" r:id="rId17" imgW="431640" imgH="241200" progId="Equation.DSMT4">
                  <p:embed/>
                  <p:pic>
                    <p:nvPicPr>
                      <p:cNvPr id="54" name="对象 53">
                        <a:extLst>
                          <a:ext uri="{FF2B5EF4-FFF2-40B4-BE49-F238E27FC236}">
                            <a16:creationId xmlns:a16="http://schemas.microsoft.com/office/drawing/2014/main" id="{287DF105-ED0D-4476-EFD1-D0BE3F8B8491}"/>
                          </a:ext>
                        </a:extLst>
                      </p:cNvPr>
                      <p:cNvPicPr/>
                      <p:nvPr/>
                    </p:nvPicPr>
                    <p:blipFill>
                      <a:blip r:embed="rId18"/>
                      <a:stretch>
                        <a:fillRect/>
                      </a:stretch>
                    </p:blipFill>
                    <p:spPr>
                      <a:xfrm>
                        <a:off x="9980284" y="2669910"/>
                        <a:ext cx="431800" cy="241300"/>
                      </a:xfrm>
                      <a:prstGeom prst="rect">
                        <a:avLst/>
                      </a:prstGeom>
                    </p:spPr>
                  </p:pic>
                </p:oleObj>
              </mc:Fallback>
            </mc:AlternateContent>
          </a:graphicData>
        </a:graphic>
      </p:graphicFrame>
      <p:sp>
        <p:nvSpPr>
          <p:cNvPr id="5" name="矩形 26">
            <a:extLst>
              <a:ext uri="{FF2B5EF4-FFF2-40B4-BE49-F238E27FC236}">
                <a16:creationId xmlns:a16="http://schemas.microsoft.com/office/drawing/2014/main" id="{41B3343C-4727-DCE1-53C9-D64AAC848A6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63E6EC34-85E5-538B-AA08-645A2F96E1C9}"/>
              </a:ext>
            </a:extLst>
          </p:cNvPr>
          <p:cNvSpPr/>
          <p:nvPr/>
        </p:nvSpPr>
        <p:spPr>
          <a:xfrm>
            <a:off x="558039" y="1190656"/>
            <a:ext cx="2645799"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评估度量性质</a:t>
            </a:r>
          </a:p>
        </p:txBody>
      </p:sp>
    </p:spTree>
    <p:extLst>
      <p:ext uri="{BB962C8B-B14F-4D97-AF65-F5344CB8AC3E}">
        <p14:creationId xmlns:p14="http://schemas.microsoft.com/office/powerpoint/2010/main" val="413835956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F2F4-8D23-E926-B797-2B28121D9F05}"/>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E89D4A30-1FB9-B1B8-DE23-D33263D880BD}"/>
              </a:ext>
            </a:extLst>
          </p:cNvPr>
          <p:cNvSpPr/>
          <p:nvPr/>
        </p:nvSpPr>
        <p:spPr>
          <a:xfrm>
            <a:off x="1318259" y="4184412"/>
            <a:ext cx="9205794" cy="221972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CD718272-8678-EFBC-B27C-D676D28A0E98}"/>
              </a:ext>
            </a:extLst>
          </p:cNvPr>
          <p:cNvSpPr txBox="1"/>
          <p:nvPr/>
        </p:nvSpPr>
        <p:spPr>
          <a:xfrm>
            <a:off x="1185829" y="2549841"/>
            <a:ext cx="8614017" cy="1484317"/>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rPr>
              <a:t> 反转不变性</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150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指的是度量在数据的正负翻转（即</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0</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和</a:t>
            </a:r>
            <a:r>
              <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的互换）下保持不变的性质，即                              。</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8" name="表格 7">
            <a:extLst>
              <a:ext uri="{FF2B5EF4-FFF2-40B4-BE49-F238E27FC236}">
                <a16:creationId xmlns:a16="http://schemas.microsoft.com/office/drawing/2014/main" id="{30FDE97D-3E6D-8B0F-E642-6EFC14414FEA}"/>
              </a:ext>
            </a:extLst>
          </p:cNvPr>
          <p:cNvGraphicFramePr>
            <a:graphicFrameLocks noGrp="1"/>
          </p:cNvGraphicFramePr>
          <p:nvPr>
            <p:extLst>
              <p:ext uri="{D42A27DB-BD31-4B8C-83A1-F6EECF244321}">
                <p14:modId xmlns:p14="http://schemas.microsoft.com/office/powerpoint/2010/main" val="2968826056"/>
              </p:ext>
            </p:extLst>
          </p:nvPr>
        </p:nvGraphicFramePr>
        <p:xfrm>
          <a:off x="7536117" y="1341670"/>
          <a:ext cx="1365168" cy="1163320"/>
        </p:xfrm>
        <a:graphic>
          <a:graphicData uri="http://schemas.openxmlformats.org/drawingml/2006/table">
            <a:tbl>
              <a:tblPr firstRow="1" bandRow="1">
                <a:tableStyleId>{5C22544A-7EE6-4342-B048-85BDC9FD1C3A}</a:tableStyleId>
              </a:tblPr>
              <a:tblGrid>
                <a:gridCol w="455056">
                  <a:extLst>
                    <a:ext uri="{9D8B030D-6E8A-4147-A177-3AD203B41FA5}">
                      <a16:colId xmlns:a16="http://schemas.microsoft.com/office/drawing/2014/main" val="1678250067"/>
                    </a:ext>
                  </a:extLst>
                </a:gridCol>
                <a:gridCol w="455056">
                  <a:extLst>
                    <a:ext uri="{9D8B030D-6E8A-4147-A177-3AD203B41FA5}">
                      <a16:colId xmlns:a16="http://schemas.microsoft.com/office/drawing/2014/main" val="1414840406"/>
                    </a:ext>
                  </a:extLst>
                </a:gridCol>
                <a:gridCol w="455056">
                  <a:extLst>
                    <a:ext uri="{9D8B030D-6E8A-4147-A177-3AD203B41FA5}">
                      <a16:colId xmlns:a16="http://schemas.microsoft.com/office/drawing/2014/main" val="3182455873"/>
                    </a:ext>
                  </a:extLst>
                </a:gridCol>
              </a:tblGrid>
              <a:tr h="370840">
                <a:tc>
                  <a:txBody>
                    <a:bodyPr/>
                    <a:lstStyle/>
                    <a:p>
                      <a:endParaRPr lang="zh-CN" altLang="en-US"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182924942"/>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p</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q</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73001421"/>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r</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s</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79567021"/>
                  </a:ext>
                </a:extLst>
              </a:tr>
            </a:tbl>
          </a:graphicData>
        </a:graphic>
      </p:graphicFrame>
      <p:graphicFrame>
        <p:nvGraphicFramePr>
          <p:cNvPr id="9" name="对象 8">
            <a:extLst>
              <a:ext uri="{FF2B5EF4-FFF2-40B4-BE49-F238E27FC236}">
                <a16:creationId xmlns:a16="http://schemas.microsoft.com/office/drawing/2014/main" id="{D811BB63-0F1A-C438-AE99-D4898BEB2E05}"/>
              </a:ext>
            </a:extLst>
          </p:cNvPr>
          <p:cNvGraphicFramePr>
            <a:graphicFrameLocks noChangeAspect="1"/>
          </p:cNvGraphicFramePr>
          <p:nvPr>
            <p:extLst>
              <p:ext uri="{D42A27DB-BD31-4B8C-83A1-F6EECF244321}">
                <p14:modId xmlns:p14="http://schemas.microsoft.com/office/powerpoint/2010/main" val="3722525721"/>
              </p:ext>
            </p:extLst>
          </p:nvPr>
        </p:nvGraphicFramePr>
        <p:xfrm>
          <a:off x="7634642" y="1828951"/>
          <a:ext cx="215900" cy="228600"/>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9" name="对象 8">
                        <a:extLst>
                          <a:ext uri="{FF2B5EF4-FFF2-40B4-BE49-F238E27FC236}">
                            <a16:creationId xmlns:a16="http://schemas.microsoft.com/office/drawing/2014/main" id="{AC8DB761-E4DD-4420-80F9-7FA6F446D69C}"/>
                          </a:ext>
                        </a:extLst>
                      </p:cNvPr>
                      <p:cNvPicPr/>
                      <p:nvPr/>
                    </p:nvPicPr>
                    <p:blipFill>
                      <a:blip r:embed="rId4"/>
                      <a:stretch>
                        <a:fillRect/>
                      </a:stretch>
                    </p:blipFill>
                    <p:spPr>
                      <a:xfrm>
                        <a:off x="7634642" y="1828951"/>
                        <a:ext cx="215900" cy="22860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E3FBDB74-FA7D-0282-F846-F50C09FDB545}"/>
              </a:ext>
            </a:extLst>
          </p:cNvPr>
          <p:cNvGraphicFramePr>
            <a:graphicFrameLocks noChangeAspect="1"/>
          </p:cNvGraphicFramePr>
          <p:nvPr>
            <p:extLst>
              <p:ext uri="{D42A27DB-BD31-4B8C-83A1-F6EECF244321}">
                <p14:modId xmlns:p14="http://schemas.microsoft.com/office/powerpoint/2010/main" val="956725143"/>
              </p:ext>
            </p:extLst>
          </p:nvPr>
        </p:nvGraphicFramePr>
        <p:xfrm>
          <a:off x="7634642" y="2150896"/>
          <a:ext cx="215900" cy="292100"/>
        </p:xfrm>
        <a:graphic>
          <a:graphicData uri="http://schemas.openxmlformats.org/presentationml/2006/ole">
            <mc:AlternateContent xmlns:mc="http://schemas.openxmlformats.org/markup-compatibility/2006">
              <mc:Choice xmlns:v="urn:schemas-microsoft-com:vml" Requires="v">
                <p:oleObj name="Equation" r:id="rId5" imgW="215640" imgH="291960" progId="Equation.DSMT4">
                  <p:embed/>
                </p:oleObj>
              </mc:Choice>
              <mc:Fallback>
                <p:oleObj name="Equation" r:id="rId5" imgW="215640" imgH="291960" progId="Equation.DSMT4">
                  <p:embed/>
                  <p:pic>
                    <p:nvPicPr>
                      <p:cNvPr id="10" name="对象 9">
                        <a:extLst>
                          <a:ext uri="{FF2B5EF4-FFF2-40B4-BE49-F238E27FC236}">
                            <a16:creationId xmlns:a16="http://schemas.microsoft.com/office/drawing/2014/main" id="{E236C9C7-8FB2-8BEF-660B-4BA8043EF1E3}"/>
                          </a:ext>
                        </a:extLst>
                      </p:cNvPr>
                      <p:cNvPicPr/>
                      <p:nvPr/>
                    </p:nvPicPr>
                    <p:blipFill>
                      <a:blip r:embed="rId6"/>
                      <a:stretch>
                        <a:fillRect/>
                      </a:stretch>
                    </p:blipFill>
                    <p:spPr>
                      <a:xfrm>
                        <a:off x="7634642" y="2150896"/>
                        <a:ext cx="215900" cy="2921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A0990A11-F0DC-6255-490A-B848D47E5DB8}"/>
              </a:ext>
            </a:extLst>
          </p:cNvPr>
          <p:cNvGraphicFramePr>
            <a:graphicFrameLocks noChangeAspect="1"/>
          </p:cNvGraphicFramePr>
          <p:nvPr>
            <p:extLst>
              <p:ext uri="{D42A27DB-BD31-4B8C-83A1-F6EECF244321}">
                <p14:modId xmlns:p14="http://schemas.microsoft.com/office/powerpoint/2010/main" val="4131291076"/>
              </p:ext>
            </p:extLst>
          </p:nvPr>
        </p:nvGraphicFramePr>
        <p:xfrm>
          <a:off x="8110751" y="1410486"/>
          <a:ext cx="215900" cy="228600"/>
        </p:xfrm>
        <a:graphic>
          <a:graphicData uri="http://schemas.openxmlformats.org/presentationml/2006/ole">
            <mc:AlternateContent xmlns:mc="http://schemas.openxmlformats.org/markup-compatibility/2006">
              <mc:Choice xmlns:v="urn:schemas-microsoft-com:vml" Requires="v">
                <p:oleObj name="Equation" r:id="rId7" imgW="215640" imgH="228600" progId="Equation.DSMT4">
                  <p:embed/>
                </p:oleObj>
              </mc:Choice>
              <mc:Fallback>
                <p:oleObj name="Equation" r:id="rId7" imgW="215640" imgH="228600" progId="Equation.DSMT4">
                  <p:embed/>
                  <p:pic>
                    <p:nvPicPr>
                      <p:cNvPr id="11" name="对象 10">
                        <a:extLst>
                          <a:ext uri="{FF2B5EF4-FFF2-40B4-BE49-F238E27FC236}">
                            <a16:creationId xmlns:a16="http://schemas.microsoft.com/office/drawing/2014/main" id="{29CC57AA-363C-A61A-E444-34FBCD0887CD}"/>
                          </a:ext>
                        </a:extLst>
                      </p:cNvPr>
                      <p:cNvPicPr/>
                      <p:nvPr/>
                    </p:nvPicPr>
                    <p:blipFill>
                      <a:blip r:embed="rId8"/>
                      <a:stretch>
                        <a:fillRect/>
                      </a:stretch>
                    </p:blipFill>
                    <p:spPr>
                      <a:xfrm>
                        <a:off x="8110751" y="1410486"/>
                        <a:ext cx="215900" cy="228600"/>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A8E69997-8979-50EE-764F-173E3D7E484E}"/>
              </a:ext>
            </a:extLst>
          </p:cNvPr>
          <p:cNvGraphicFramePr>
            <a:graphicFrameLocks noChangeAspect="1"/>
          </p:cNvGraphicFramePr>
          <p:nvPr>
            <p:extLst>
              <p:ext uri="{D42A27DB-BD31-4B8C-83A1-F6EECF244321}">
                <p14:modId xmlns:p14="http://schemas.microsoft.com/office/powerpoint/2010/main" val="996375153"/>
              </p:ext>
            </p:extLst>
          </p:nvPr>
        </p:nvGraphicFramePr>
        <p:xfrm>
          <a:off x="8548724" y="1346986"/>
          <a:ext cx="215900" cy="292100"/>
        </p:xfrm>
        <a:graphic>
          <a:graphicData uri="http://schemas.openxmlformats.org/presentationml/2006/ole">
            <mc:AlternateContent xmlns:mc="http://schemas.openxmlformats.org/markup-compatibility/2006">
              <mc:Choice xmlns:v="urn:schemas-microsoft-com:vml" Requires="v">
                <p:oleObj name="Equation" r:id="rId9" imgW="215640" imgH="291960" progId="Equation.DSMT4">
                  <p:embed/>
                </p:oleObj>
              </mc:Choice>
              <mc:Fallback>
                <p:oleObj name="Equation" r:id="rId9" imgW="215640" imgH="291960" progId="Equation.DSMT4">
                  <p:embed/>
                  <p:pic>
                    <p:nvPicPr>
                      <p:cNvPr id="12" name="对象 11">
                        <a:extLst>
                          <a:ext uri="{FF2B5EF4-FFF2-40B4-BE49-F238E27FC236}">
                            <a16:creationId xmlns:a16="http://schemas.microsoft.com/office/drawing/2014/main" id="{E8244F4F-A693-EF15-92AA-833778EF1D26}"/>
                          </a:ext>
                        </a:extLst>
                      </p:cNvPr>
                      <p:cNvPicPr/>
                      <p:nvPr/>
                    </p:nvPicPr>
                    <p:blipFill>
                      <a:blip r:embed="rId10"/>
                      <a:stretch>
                        <a:fillRect/>
                      </a:stretch>
                    </p:blipFill>
                    <p:spPr>
                      <a:xfrm>
                        <a:off x="8548724" y="1346986"/>
                        <a:ext cx="215900" cy="292100"/>
                      </a:xfrm>
                      <a:prstGeom prst="rect">
                        <a:avLst/>
                      </a:prstGeom>
                    </p:spPr>
                  </p:pic>
                </p:oleObj>
              </mc:Fallback>
            </mc:AlternateContent>
          </a:graphicData>
        </a:graphic>
      </p:graphicFrame>
      <p:sp>
        <p:nvSpPr>
          <p:cNvPr id="18" name="文本框 17">
            <a:extLst>
              <a:ext uri="{FF2B5EF4-FFF2-40B4-BE49-F238E27FC236}">
                <a16:creationId xmlns:a16="http://schemas.microsoft.com/office/drawing/2014/main" id="{DCAF2194-7BA5-11BC-5828-DD31B0D87578}"/>
              </a:ext>
            </a:extLst>
          </p:cNvPr>
          <p:cNvSpPr txBox="1"/>
          <p:nvPr/>
        </p:nvSpPr>
        <p:spPr>
          <a:xfrm>
            <a:off x="7601524" y="2616745"/>
            <a:ext cx="1113739" cy="400110"/>
          </a:xfrm>
          <a:prstGeom prst="rect">
            <a:avLst/>
          </a:prstGeom>
          <a:noFill/>
        </p:spPr>
        <p:txBody>
          <a:bodyPr wrap="square" rtlCol="0">
            <a:spAutoFit/>
          </a:bodyPr>
          <a:lstStyle/>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M</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文本框 20">
            <a:extLst>
              <a:ext uri="{FF2B5EF4-FFF2-40B4-BE49-F238E27FC236}">
                <a16:creationId xmlns:a16="http://schemas.microsoft.com/office/drawing/2014/main" id="{01F295CB-91A3-01E8-6683-CE18870671D1}"/>
              </a:ext>
            </a:extLst>
          </p:cNvPr>
          <p:cNvSpPr txBox="1"/>
          <p:nvPr/>
        </p:nvSpPr>
        <p:spPr>
          <a:xfrm>
            <a:off x="1356305" y="4197628"/>
            <a:ext cx="9205794" cy="2122184"/>
          </a:xfrm>
          <a:prstGeom prst="rect">
            <a:avLst/>
          </a:prstGeom>
          <a:noFill/>
        </p:spPr>
        <p:txBody>
          <a:bodyPr wrap="square">
            <a:spAutoFit/>
          </a:bodyPr>
          <a:lstStyle/>
          <a:p>
            <a:pPr marL="342900" indent="-342900">
              <a:lnSpc>
                <a:spcPct val="125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Times New Roman" panose="02020603050405020304" pitchFamily="18" charset="0"/>
              </a:rPr>
              <a:t>反转可视为行与行、列与列的同时交换</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Times New Roman" panose="02020603050405020304" pitchFamily="18" charset="0"/>
              </a:rPr>
              <a:t>具有反转不变性的度量能够确保在数据特征变化（如正负翻转）时，关联规则分析结果的稳定性和一致性</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Times New Roman" panose="02020603050405020304" pitchFamily="18" charset="0"/>
              </a:rPr>
              <a:t>它适用于需要在数据特征变化时保持度量稳定和一致的情境，例如推荐系统中分析用户对商品的喜好（如喜欢与不喜欢），即使数据翻转，度量结果仍应保持不变，以确保推荐结果的一致性</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p:txBody>
      </p:sp>
      <p:graphicFrame>
        <p:nvGraphicFramePr>
          <p:cNvPr id="5" name="对象 4">
            <a:extLst>
              <a:ext uri="{FF2B5EF4-FFF2-40B4-BE49-F238E27FC236}">
                <a16:creationId xmlns:a16="http://schemas.microsoft.com/office/drawing/2014/main" id="{D9439B02-3200-9B1F-BCD8-FEB7B04B09E2}"/>
              </a:ext>
            </a:extLst>
          </p:cNvPr>
          <p:cNvGraphicFramePr>
            <a:graphicFrameLocks noChangeAspect="1"/>
          </p:cNvGraphicFramePr>
          <p:nvPr>
            <p:extLst>
              <p:ext uri="{D42A27DB-BD31-4B8C-83A1-F6EECF244321}">
                <p14:modId xmlns:p14="http://schemas.microsoft.com/office/powerpoint/2010/main" val="1593512444"/>
              </p:ext>
            </p:extLst>
          </p:nvPr>
        </p:nvGraphicFramePr>
        <p:xfrm>
          <a:off x="2291255" y="3725350"/>
          <a:ext cx="1912078" cy="290983"/>
        </p:xfrm>
        <a:graphic>
          <a:graphicData uri="http://schemas.openxmlformats.org/presentationml/2006/ole">
            <mc:AlternateContent xmlns:mc="http://schemas.openxmlformats.org/markup-compatibility/2006">
              <mc:Choice xmlns:v="urn:schemas-microsoft-com:vml" Requires="v">
                <p:oleObj name="Equation" r:id="rId11" imgW="1085622" imgH="200139" progId="Equation.DSMT4">
                  <p:embed/>
                </p:oleObj>
              </mc:Choice>
              <mc:Fallback>
                <p:oleObj name="Equation" r:id="rId11" imgW="1085622" imgH="200139" progId="Equation.DSMT4">
                  <p:embed/>
                  <p:pic>
                    <p:nvPicPr>
                      <p:cNvPr id="0" name=""/>
                      <p:cNvPicPr/>
                      <p:nvPr/>
                    </p:nvPicPr>
                    <p:blipFill>
                      <a:blip r:embed="rId12"/>
                      <a:stretch>
                        <a:fillRect/>
                      </a:stretch>
                    </p:blipFill>
                    <p:spPr>
                      <a:xfrm>
                        <a:off x="2291255" y="3725350"/>
                        <a:ext cx="1912078" cy="290983"/>
                      </a:xfrm>
                      <a:prstGeom prst="rect">
                        <a:avLst/>
                      </a:prstGeom>
                    </p:spPr>
                  </p:pic>
                </p:oleObj>
              </mc:Fallback>
            </mc:AlternateContent>
          </a:graphicData>
        </a:graphic>
      </p:graphicFrame>
      <p:graphicFrame>
        <p:nvGraphicFramePr>
          <p:cNvPr id="25" name="表格 24">
            <a:extLst>
              <a:ext uri="{FF2B5EF4-FFF2-40B4-BE49-F238E27FC236}">
                <a16:creationId xmlns:a16="http://schemas.microsoft.com/office/drawing/2014/main" id="{FAE14D9E-4871-8362-B7CA-9DD4866EAC9E}"/>
              </a:ext>
            </a:extLst>
          </p:cNvPr>
          <p:cNvGraphicFramePr>
            <a:graphicFrameLocks noGrp="1"/>
          </p:cNvGraphicFramePr>
          <p:nvPr>
            <p:extLst>
              <p:ext uri="{D42A27DB-BD31-4B8C-83A1-F6EECF244321}">
                <p14:modId xmlns:p14="http://schemas.microsoft.com/office/powerpoint/2010/main" val="1331414024"/>
              </p:ext>
            </p:extLst>
          </p:nvPr>
        </p:nvGraphicFramePr>
        <p:xfrm>
          <a:off x="9879515" y="1302200"/>
          <a:ext cx="1365168" cy="1163320"/>
        </p:xfrm>
        <a:graphic>
          <a:graphicData uri="http://schemas.openxmlformats.org/drawingml/2006/table">
            <a:tbl>
              <a:tblPr firstRow="1" bandRow="1">
                <a:tableStyleId>{5C22544A-7EE6-4342-B048-85BDC9FD1C3A}</a:tableStyleId>
              </a:tblPr>
              <a:tblGrid>
                <a:gridCol w="455056">
                  <a:extLst>
                    <a:ext uri="{9D8B030D-6E8A-4147-A177-3AD203B41FA5}">
                      <a16:colId xmlns:a16="http://schemas.microsoft.com/office/drawing/2014/main" val="1678250067"/>
                    </a:ext>
                  </a:extLst>
                </a:gridCol>
                <a:gridCol w="455056">
                  <a:extLst>
                    <a:ext uri="{9D8B030D-6E8A-4147-A177-3AD203B41FA5}">
                      <a16:colId xmlns:a16="http://schemas.microsoft.com/office/drawing/2014/main" val="1414840406"/>
                    </a:ext>
                  </a:extLst>
                </a:gridCol>
                <a:gridCol w="455056">
                  <a:extLst>
                    <a:ext uri="{9D8B030D-6E8A-4147-A177-3AD203B41FA5}">
                      <a16:colId xmlns:a16="http://schemas.microsoft.com/office/drawing/2014/main" val="3182455873"/>
                    </a:ext>
                  </a:extLst>
                </a:gridCol>
              </a:tblGrid>
              <a:tr h="370840">
                <a:tc>
                  <a:txBody>
                    <a:bodyPr/>
                    <a:lstStyle/>
                    <a:p>
                      <a:endParaRPr lang="zh-CN" altLang="en-US"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182924942"/>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s</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alpha val="65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r</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alpha val="65000"/>
                      </a:schemeClr>
                    </a:solidFill>
                  </a:tcPr>
                </a:tc>
                <a:extLst>
                  <a:ext uri="{0D108BD9-81ED-4DB2-BD59-A6C34878D82A}">
                    <a16:rowId xmlns:a16="http://schemas.microsoft.com/office/drawing/2014/main" val="2373001421"/>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q</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alpha val="65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p</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alpha val="65000"/>
                      </a:schemeClr>
                    </a:solidFill>
                  </a:tcPr>
                </a:tc>
                <a:extLst>
                  <a:ext uri="{0D108BD9-81ED-4DB2-BD59-A6C34878D82A}">
                    <a16:rowId xmlns:a16="http://schemas.microsoft.com/office/drawing/2014/main" val="3579567021"/>
                  </a:ext>
                </a:extLst>
              </a:tr>
            </a:tbl>
          </a:graphicData>
        </a:graphic>
      </p:graphicFrame>
      <p:graphicFrame>
        <p:nvGraphicFramePr>
          <p:cNvPr id="26" name="对象 25">
            <a:extLst>
              <a:ext uri="{FF2B5EF4-FFF2-40B4-BE49-F238E27FC236}">
                <a16:creationId xmlns:a16="http://schemas.microsoft.com/office/drawing/2014/main" id="{5B8B67DE-A9C2-4871-5E4F-3F2DD25DEDBF}"/>
              </a:ext>
            </a:extLst>
          </p:cNvPr>
          <p:cNvGraphicFramePr>
            <a:graphicFrameLocks noChangeAspect="1"/>
          </p:cNvGraphicFramePr>
          <p:nvPr>
            <p:extLst>
              <p:ext uri="{D42A27DB-BD31-4B8C-83A1-F6EECF244321}">
                <p14:modId xmlns:p14="http://schemas.microsoft.com/office/powerpoint/2010/main" val="2387475878"/>
              </p:ext>
            </p:extLst>
          </p:nvPr>
        </p:nvGraphicFramePr>
        <p:xfrm>
          <a:off x="9978040" y="1789481"/>
          <a:ext cx="215900" cy="228600"/>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31" name="对象 30">
                        <a:extLst>
                          <a:ext uri="{FF2B5EF4-FFF2-40B4-BE49-F238E27FC236}">
                            <a16:creationId xmlns:a16="http://schemas.microsoft.com/office/drawing/2014/main" id="{E889827D-9548-CBCF-55BF-37A79A2C1C32}"/>
                          </a:ext>
                        </a:extLst>
                      </p:cNvPr>
                      <p:cNvPicPr/>
                      <p:nvPr/>
                    </p:nvPicPr>
                    <p:blipFill>
                      <a:blip r:embed="rId4"/>
                      <a:stretch>
                        <a:fillRect/>
                      </a:stretch>
                    </p:blipFill>
                    <p:spPr>
                      <a:xfrm>
                        <a:off x="9978040" y="1789481"/>
                        <a:ext cx="215900" cy="228600"/>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8655129C-0B3C-9C64-EAD3-0F17422337D7}"/>
              </a:ext>
            </a:extLst>
          </p:cNvPr>
          <p:cNvGraphicFramePr>
            <a:graphicFrameLocks noChangeAspect="1"/>
          </p:cNvGraphicFramePr>
          <p:nvPr>
            <p:extLst>
              <p:ext uri="{D42A27DB-BD31-4B8C-83A1-F6EECF244321}">
                <p14:modId xmlns:p14="http://schemas.microsoft.com/office/powerpoint/2010/main" val="141285555"/>
              </p:ext>
            </p:extLst>
          </p:nvPr>
        </p:nvGraphicFramePr>
        <p:xfrm>
          <a:off x="9978040" y="2111426"/>
          <a:ext cx="215900" cy="292100"/>
        </p:xfrm>
        <a:graphic>
          <a:graphicData uri="http://schemas.openxmlformats.org/presentationml/2006/ole">
            <mc:AlternateContent xmlns:mc="http://schemas.openxmlformats.org/markup-compatibility/2006">
              <mc:Choice xmlns:v="urn:schemas-microsoft-com:vml" Requires="v">
                <p:oleObj name="Equation" r:id="rId5" imgW="215640" imgH="291960" progId="Equation.DSMT4">
                  <p:embed/>
                </p:oleObj>
              </mc:Choice>
              <mc:Fallback>
                <p:oleObj name="Equation" r:id="rId5" imgW="215640" imgH="291960" progId="Equation.DSMT4">
                  <p:embed/>
                  <p:pic>
                    <p:nvPicPr>
                      <p:cNvPr id="32" name="对象 31">
                        <a:extLst>
                          <a:ext uri="{FF2B5EF4-FFF2-40B4-BE49-F238E27FC236}">
                            <a16:creationId xmlns:a16="http://schemas.microsoft.com/office/drawing/2014/main" id="{0056B7C9-428C-C8EE-4257-1DBB7CA5E8A0}"/>
                          </a:ext>
                        </a:extLst>
                      </p:cNvPr>
                      <p:cNvPicPr/>
                      <p:nvPr/>
                    </p:nvPicPr>
                    <p:blipFill>
                      <a:blip r:embed="rId6"/>
                      <a:stretch>
                        <a:fillRect/>
                      </a:stretch>
                    </p:blipFill>
                    <p:spPr>
                      <a:xfrm>
                        <a:off x="9978040" y="2111426"/>
                        <a:ext cx="215900" cy="292100"/>
                      </a:xfrm>
                      <a:prstGeom prst="rect">
                        <a:avLst/>
                      </a:prstGeom>
                    </p:spPr>
                  </p:pic>
                </p:oleObj>
              </mc:Fallback>
            </mc:AlternateContent>
          </a:graphicData>
        </a:graphic>
      </p:graphicFrame>
      <p:graphicFrame>
        <p:nvGraphicFramePr>
          <p:cNvPr id="28" name="对象 27">
            <a:extLst>
              <a:ext uri="{FF2B5EF4-FFF2-40B4-BE49-F238E27FC236}">
                <a16:creationId xmlns:a16="http://schemas.microsoft.com/office/drawing/2014/main" id="{9D9AC658-F1C1-2051-C9F3-EB36F5377E9A}"/>
              </a:ext>
            </a:extLst>
          </p:cNvPr>
          <p:cNvGraphicFramePr>
            <a:graphicFrameLocks noChangeAspect="1"/>
          </p:cNvGraphicFramePr>
          <p:nvPr>
            <p:extLst>
              <p:ext uri="{D42A27DB-BD31-4B8C-83A1-F6EECF244321}">
                <p14:modId xmlns:p14="http://schemas.microsoft.com/office/powerpoint/2010/main" val="2777660717"/>
              </p:ext>
            </p:extLst>
          </p:nvPr>
        </p:nvGraphicFramePr>
        <p:xfrm>
          <a:off x="10454149" y="1371016"/>
          <a:ext cx="215900" cy="228600"/>
        </p:xfrm>
        <a:graphic>
          <a:graphicData uri="http://schemas.openxmlformats.org/presentationml/2006/ole">
            <mc:AlternateContent xmlns:mc="http://schemas.openxmlformats.org/markup-compatibility/2006">
              <mc:Choice xmlns:v="urn:schemas-microsoft-com:vml" Requires="v">
                <p:oleObj name="Equation" r:id="rId7" imgW="215640" imgH="228600" progId="Equation.DSMT4">
                  <p:embed/>
                </p:oleObj>
              </mc:Choice>
              <mc:Fallback>
                <p:oleObj name="Equation" r:id="rId7" imgW="215640" imgH="228600" progId="Equation.DSMT4">
                  <p:embed/>
                  <p:pic>
                    <p:nvPicPr>
                      <p:cNvPr id="33" name="对象 32">
                        <a:extLst>
                          <a:ext uri="{FF2B5EF4-FFF2-40B4-BE49-F238E27FC236}">
                            <a16:creationId xmlns:a16="http://schemas.microsoft.com/office/drawing/2014/main" id="{ADAD1605-6BF0-7FE5-239B-E5B023C461B2}"/>
                          </a:ext>
                        </a:extLst>
                      </p:cNvPr>
                      <p:cNvPicPr/>
                      <p:nvPr/>
                    </p:nvPicPr>
                    <p:blipFill>
                      <a:blip r:embed="rId8"/>
                      <a:stretch>
                        <a:fillRect/>
                      </a:stretch>
                    </p:blipFill>
                    <p:spPr>
                      <a:xfrm>
                        <a:off x="10454149" y="1371016"/>
                        <a:ext cx="215900" cy="228600"/>
                      </a:xfrm>
                      <a:prstGeom prst="rect">
                        <a:avLst/>
                      </a:prstGeom>
                    </p:spPr>
                  </p:pic>
                </p:oleObj>
              </mc:Fallback>
            </mc:AlternateContent>
          </a:graphicData>
        </a:graphic>
      </p:graphicFrame>
      <p:graphicFrame>
        <p:nvGraphicFramePr>
          <p:cNvPr id="29" name="对象 28">
            <a:extLst>
              <a:ext uri="{FF2B5EF4-FFF2-40B4-BE49-F238E27FC236}">
                <a16:creationId xmlns:a16="http://schemas.microsoft.com/office/drawing/2014/main" id="{5B02A93B-6E88-AC35-00A6-88EE8744A292}"/>
              </a:ext>
            </a:extLst>
          </p:cNvPr>
          <p:cNvGraphicFramePr>
            <a:graphicFrameLocks noChangeAspect="1"/>
          </p:cNvGraphicFramePr>
          <p:nvPr>
            <p:extLst>
              <p:ext uri="{D42A27DB-BD31-4B8C-83A1-F6EECF244321}">
                <p14:modId xmlns:p14="http://schemas.microsoft.com/office/powerpoint/2010/main" val="3636468344"/>
              </p:ext>
            </p:extLst>
          </p:nvPr>
        </p:nvGraphicFramePr>
        <p:xfrm>
          <a:off x="10892122" y="1307516"/>
          <a:ext cx="215900" cy="292100"/>
        </p:xfrm>
        <a:graphic>
          <a:graphicData uri="http://schemas.openxmlformats.org/presentationml/2006/ole">
            <mc:AlternateContent xmlns:mc="http://schemas.openxmlformats.org/markup-compatibility/2006">
              <mc:Choice xmlns:v="urn:schemas-microsoft-com:vml" Requires="v">
                <p:oleObj name="Equation" r:id="rId9" imgW="215640" imgH="291960" progId="Equation.DSMT4">
                  <p:embed/>
                </p:oleObj>
              </mc:Choice>
              <mc:Fallback>
                <p:oleObj name="Equation" r:id="rId9" imgW="215640" imgH="291960" progId="Equation.DSMT4">
                  <p:embed/>
                  <p:pic>
                    <p:nvPicPr>
                      <p:cNvPr id="34" name="对象 33">
                        <a:extLst>
                          <a:ext uri="{FF2B5EF4-FFF2-40B4-BE49-F238E27FC236}">
                            <a16:creationId xmlns:a16="http://schemas.microsoft.com/office/drawing/2014/main" id="{CEFB22BD-E63B-EFD0-1261-A7843A34D4A6}"/>
                          </a:ext>
                        </a:extLst>
                      </p:cNvPr>
                      <p:cNvPicPr/>
                      <p:nvPr/>
                    </p:nvPicPr>
                    <p:blipFill>
                      <a:blip r:embed="rId10"/>
                      <a:stretch>
                        <a:fillRect/>
                      </a:stretch>
                    </p:blipFill>
                    <p:spPr>
                      <a:xfrm>
                        <a:off x="10892122" y="1307516"/>
                        <a:ext cx="215900" cy="292100"/>
                      </a:xfrm>
                      <a:prstGeom prst="rect">
                        <a:avLst/>
                      </a:prstGeom>
                    </p:spPr>
                  </p:pic>
                </p:oleObj>
              </mc:Fallback>
            </mc:AlternateContent>
          </a:graphicData>
        </a:graphic>
      </p:graphicFrame>
      <p:sp>
        <p:nvSpPr>
          <p:cNvPr id="30" name="文本框 29">
            <a:extLst>
              <a:ext uri="{FF2B5EF4-FFF2-40B4-BE49-F238E27FC236}">
                <a16:creationId xmlns:a16="http://schemas.microsoft.com/office/drawing/2014/main" id="{739F5582-798C-7175-3195-57ED5B72370E}"/>
              </a:ext>
            </a:extLst>
          </p:cNvPr>
          <p:cNvSpPr txBox="1"/>
          <p:nvPr/>
        </p:nvSpPr>
        <p:spPr>
          <a:xfrm>
            <a:off x="9843128" y="2608576"/>
            <a:ext cx="719580" cy="400110"/>
          </a:xfrm>
          <a:prstGeom prst="rect">
            <a:avLst/>
          </a:prstGeom>
          <a:noFill/>
        </p:spPr>
        <p:txBody>
          <a:bodyPr wrap="square" rtlCol="0">
            <a:spAutoFit/>
          </a:bodyPr>
          <a:lstStyle/>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p>
        </p:txBody>
      </p:sp>
      <p:graphicFrame>
        <p:nvGraphicFramePr>
          <p:cNvPr id="31" name="对象 30">
            <a:extLst>
              <a:ext uri="{FF2B5EF4-FFF2-40B4-BE49-F238E27FC236}">
                <a16:creationId xmlns:a16="http://schemas.microsoft.com/office/drawing/2014/main" id="{0929A713-343C-BA22-DB76-5BD1959AB28F}"/>
              </a:ext>
            </a:extLst>
          </p:cNvPr>
          <p:cNvGraphicFramePr>
            <a:graphicFrameLocks noChangeAspect="1"/>
          </p:cNvGraphicFramePr>
          <p:nvPr>
            <p:extLst>
              <p:ext uri="{D42A27DB-BD31-4B8C-83A1-F6EECF244321}">
                <p14:modId xmlns:p14="http://schemas.microsoft.com/office/powerpoint/2010/main" val="155920346"/>
              </p:ext>
            </p:extLst>
          </p:nvPr>
        </p:nvGraphicFramePr>
        <p:xfrm>
          <a:off x="10603557" y="2717657"/>
          <a:ext cx="558800" cy="241300"/>
        </p:xfrm>
        <a:graphic>
          <a:graphicData uri="http://schemas.openxmlformats.org/presentationml/2006/ole">
            <mc:AlternateContent xmlns:mc="http://schemas.openxmlformats.org/markup-compatibility/2006">
              <mc:Choice xmlns:v="urn:schemas-microsoft-com:vml" Requires="v">
                <p:oleObj name="Equation" r:id="rId13" imgW="558720" imgH="241200" progId="Equation.DSMT4">
                  <p:embed/>
                </p:oleObj>
              </mc:Choice>
              <mc:Fallback>
                <p:oleObj name="Equation" r:id="rId13" imgW="558720" imgH="241200" progId="Equation.DSMT4">
                  <p:embed/>
                  <p:pic>
                    <p:nvPicPr>
                      <p:cNvPr id="53" name="对象 52">
                        <a:extLst>
                          <a:ext uri="{FF2B5EF4-FFF2-40B4-BE49-F238E27FC236}">
                            <a16:creationId xmlns:a16="http://schemas.microsoft.com/office/drawing/2014/main" id="{13D2B72A-47DA-3655-9F8B-E340AAC20F23}"/>
                          </a:ext>
                        </a:extLst>
                      </p:cNvPr>
                      <p:cNvPicPr/>
                      <p:nvPr/>
                    </p:nvPicPr>
                    <p:blipFill>
                      <a:blip r:embed="rId14"/>
                      <a:stretch>
                        <a:fillRect/>
                      </a:stretch>
                    </p:blipFill>
                    <p:spPr>
                      <a:xfrm>
                        <a:off x="10603557" y="2717657"/>
                        <a:ext cx="558800" cy="241300"/>
                      </a:xfrm>
                      <a:prstGeom prst="rect">
                        <a:avLst/>
                      </a:prstGeom>
                    </p:spPr>
                  </p:pic>
                </p:oleObj>
              </mc:Fallback>
            </mc:AlternateContent>
          </a:graphicData>
        </a:graphic>
      </p:graphicFrame>
      <p:sp>
        <p:nvSpPr>
          <p:cNvPr id="6" name="矩形 26">
            <a:extLst>
              <a:ext uri="{FF2B5EF4-FFF2-40B4-BE49-F238E27FC236}">
                <a16:creationId xmlns:a16="http://schemas.microsoft.com/office/drawing/2014/main" id="{A6C43B5D-DB24-DC9D-DCBD-785095D3EDD1}"/>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E36383E2-B8BC-7105-825C-51C96A662C87}"/>
              </a:ext>
            </a:extLst>
          </p:cNvPr>
          <p:cNvSpPr/>
          <p:nvPr/>
        </p:nvSpPr>
        <p:spPr>
          <a:xfrm>
            <a:off x="558039" y="1190656"/>
            <a:ext cx="2645799"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评估度量性质</a:t>
            </a:r>
          </a:p>
        </p:txBody>
      </p:sp>
    </p:spTree>
    <p:extLst>
      <p:ext uri="{BB962C8B-B14F-4D97-AF65-F5344CB8AC3E}">
        <p14:creationId xmlns:p14="http://schemas.microsoft.com/office/powerpoint/2010/main" val="73707156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1C2EC-5053-148E-EF08-12C15080CD16}"/>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DB93B74A-019C-C46E-F124-F75F618A4EF9}"/>
              </a:ext>
            </a:extLst>
          </p:cNvPr>
          <p:cNvSpPr/>
          <p:nvPr/>
        </p:nvSpPr>
        <p:spPr>
          <a:xfrm>
            <a:off x="1612934" y="4688001"/>
            <a:ext cx="9205794" cy="15190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DFCD4897-CAA7-CD83-8352-00BBA1CE5FEF}"/>
              </a:ext>
            </a:extLst>
          </p:cNvPr>
          <p:cNvSpPr txBox="1"/>
          <p:nvPr/>
        </p:nvSpPr>
        <p:spPr>
          <a:xfrm>
            <a:off x="1185829" y="2549841"/>
            <a:ext cx="8614017" cy="1753622"/>
          </a:xfrm>
          <a:prstGeom prst="rect">
            <a:avLst/>
          </a:prstGeom>
          <a:noFill/>
        </p:spPr>
        <p:txBody>
          <a:bodyPr wrap="square">
            <a:spAutoFit/>
          </a:bodyPr>
          <a:lstStyle/>
          <a:p>
            <a:pPr marL="285750" marR="0" lvl="0" indent="-285750" fontAlgn="base">
              <a:lnSpc>
                <a:spcPct val="125000"/>
              </a:lnSpc>
              <a:spcBef>
                <a:spcPct val="0"/>
              </a:spcBef>
              <a:spcAft>
                <a:spcPct val="0"/>
              </a:spcAft>
              <a:buClrTx/>
              <a:buSzTx/>
              <a:buFont typeface="Wingdings" panose="05000000000000000000" pitchFamily="2" charset="2"/>
              <a:buChar char="p"/>
              <a:tabLst/>
            </a:pPr>
            <a:r>
              <a:rPr lang="zh-CN" altLang="en-US" sz="2400" b="1" dirty="0">
                <a:solidFill>
                  <a:srgbClr val="0245AD"/>
                </a:solidFill>
                <a:latin typeface="微软雅黑" pitchFamily="34" charset="-122"/>
                <a:ea typeface="微软雅黑" pitchFamily="34" charset="-122"/>
                <a:cs typeface="+mj-cs"/>
              </a:rPr>
              <a:t> 零不变性</a:t>
            </a:r>
            <a:endParaRPr lang="en-US" altLang="zh-CN" sz="2400" b="1" dirty="0">
              <a:solidFill>
                <a:srgbClr val="0245AD"/>
              </a:solidFill>
              <a:latin typeface="微软雅黑" pitchFamily="34" charset="-122"/>
              <a:ea typeface="微软雅黑" pitchFamily="34" charset="-122"/>
              <a:cs typeface="+mj-cs"/>
              <a:sym typeface="Symbol" panose="05050102010706020507" pitchFamily="18" charset="2"/>
            </a:endParaRPr>
          </a:p>
          <a:p>
            <a:pPr marL="742950" marR="0" lvl="1" indent="-285750" defTabSz="457200" fontAlgn="auto">
              <a:lnSpc>
                <a:spcPct val="200000"/>
              </a:lnSpc>
              <a:spcBef>
                <a:spcPct val="20000"/>
              </a:spcBef>
              <a:spcAft>
                <a:spcPts val="0"/>
              </a:spcAft>
              <a:buClr>
                <a:srgbClr val="0000FF"/>
              </a:buClr>
              <a:buSzPct val="55000"/>
              <a:buFont typeface="Wingdings" panose="05000000000000000000" pitchFamily="2" charset="2"/>
              <a:buChar char="n"/>
              <a:tabLst/>
              <a:defRPr/>
            </a:pP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指的是度量在增加不包含项集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和项集 </a:t>
            </a:r>
            <a:r>
              <a:rPr kumimoji="1" lang="en-US" altLang="zh-CN" sz="2000" i="1"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 </a:t>
            </a:r>
            <a:r>
              <a:rPr kumimoji="1" lang="zh-CN" altLang="en-US"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的事务时，其值保持不变的特性，即对                  ，有</a:t>
            </a:r>
            <a:endParaRPr kumimoji="1" lang="en-US" altLang="zh-CN" sz="2000" kern="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8" name="表格 7">
            <a:extLst>
              <a:ext uri="{FF2B5EF4-FFF2-40B4-BE49-F238E27FC236}">
                <a16:creationId xmlns:a16="http://schemas.microsoft.com/office/drawing/2014/main" id="{FB09C4C8-1FD2-9714-EE4A-4FF1462958C6}"/>
              </a:ext>
            </a:extLst>
          </p:cNvPr>
          <p:cNvGraphicFramePr>
            <a:graphicFrameLocks noGrp="1"/>
          </p:cNvGraphicFramePr>
          <p:nvPr/>
        </p:nvGraphicFramePr>
        <p:xfrm>
          <a:off x="7536117" y="1341670"/>
          <a:ext cx="1365168" cy="1163320"/>
        </p:xfrm>
        <a:graphic>
          <a:graphicData uri="http://schemas.openxmlformats.org/drawingml/2006/table">
            <a:tbl>
              <a:tblPr firstRow="1" bandRow="1">
                <a:tableStyleId>{5C22544A-7EE6-4342-B048-85BDC9FD1C3A}</a:tableStyleId>
              </a:tblPr>
              <a:tblGrid>
                <a:gridCol w="455056">
                  <a:extLst>
                    <a:ext uri="{9D8B030D-6E8A-4147-A177-3AD203B41FA5}">
                      <a16:colId xmlns:a16="http://schemas.microsoft.com/office/drawing/2014/main" val="1678250067"/>
                    </a:ext>
                  </a:extLst>
                </a:gridCol>
                <a:gridCol w="455056">
                  <a:extLst>
                    <a:ext uri="{9D8B030D-6E8A-4147-A177-3AD203B41FA5}">
                      <a16:colId xmlns:a16="http://schemas.microsoft.com/office/drawing/2014/main" val="1414840406"/>
                    </a:ext>
                  </a:extLst>
                </a:gridCol>
                <a:gridCol w="455056">
                  <a:extLst>
                    <a:ext uri="{9D8B030D-6E8A-4147-A177-3AD203B41FA5}">
                      <a16:colId xmlns:a16="http://schemas.microsoft.com/office/drawing/2014/main" val="3182455873"/>
                    </a:ext>
                  </a:extLst>
                </a:gridCol>
              </a:tblGrid>
              <a:tr h="370840">
                <a:tc>
                  <a:txBody>
                    <a:bodyPr/>
                    <a:lstStyle/>
                    <a:p>
                      <a:endParaRPr lang="zh-CN" altLang="en-US"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182924942"/>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p</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q</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73001421"/>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r</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s</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79567021"/>
                  </a:ext>
                </a:extLst>
              </a:tr>
            </a:tbl>
          </a:graphicData>
        </a:graphic>
      </p:graphicFrame>
      <p:graphicFrame>
        <p:nvGraphicFramePr>
          <p:cNvPr id="9" name="对象 8">
            <a:extLst>
              <a:ext uri="{FF2B5EF4-FFF2-40B4-BE49-F238E27FC236}">
                <a16:creationId xmlns:a16="http://schemas.microsoft.com/office/drawing/2014/main" id="{25E579B4-2AF2-209B-1CBF-1176DE385F21}"/>
              </a:ext>
            </a:extLst>
          </p:cNvPr>
          <p:cNvGraphicFramePr>
            <a:graphicFrameLocks noChangeAspect="1"/>
          </p:cNvGraphicFramePr>
          <p:nvPr/>
        </p:nvGraphicFramePr>
        <p:xfrm>
          <a:off x="7634642" y="1828951"/>
          <a:ext cx="215900" cy="228600"/>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9" name="对象 8">
                        <a:extLst>
                          <a:ext uri="{FF2B5EF4-FFF2-40B4-BE49-F238E27FC236}">
                            <a16:creationId xmlns:a16="http://schemas.microsoft.com/office/drawing/2014/main" id="{D811BB63-0F1A-C438-AE99-D4898BEB2E05}"/>
                          </a:ext>
                        </a:extLst>
                      </p:cNvPr>
                      <p:cNvPicPr/>
                      <p:nvPr/>
                    </p:nvPicPr>
                    <p:blipFill>
                      <a:blip r:embed="rId4"/>
                      <a:stretch>
                        <a:fillRect/>
                      </a:stretch>
                    </p:blipFill>
                    <p:spPr>
                      <a:xfrm>
                        <a:off x="7634642" y="1828951"/>
                        <a:ext cx="215900" cy="22860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69F9AC4E-5FB6-9846-5746-42BE0625D9C6}"/>
              </a:ext>
            </a:extLst>
          </p:cNvPr>
          <p:cNvGraphicFramePr>
            <a:graphicFrameLocks noChangeAspect="1"/>
          </p:cNvGraphicFramePr>
          <p:nvPr/>
        </p:nvGraphicFramePr>
        <p:xfrm>
          <a:off x="7634642" y="2150896"/>
          <a:ext cx="215900" cy="292100"/>
        </p:xfrm>
        <a:graphic>
          <a:graphicData uri="http://schemas.openxmlformats.org/presentationml/2006/ole">
            <mc:AlternateContent xmlns:mc="http://schemas.openxmlformats.org/markup-compatibility/2006">
              <mc:Choice xmlns:v="urn:schemas-microsoft-com:vml" Requires="v">
                <p:oleObj name="Equation" r:id="rId5" imgW="215640" imgH="291960" progId="Equation.DSMT4">
                  <p:embed/>
                </p:oleObj>
              </mc:Choice>
              <mc:Fallback>
                <p:oleObj name="Equation" r:id="rId5" imgW="215640" imgH="291960" progId="Equation.DSMT4">
                  <p:embed/>
                  <p:pic>
                    <p:nvPicPr>
                      <p:cNvPr id="10" name="对象 9">
                        <a:extLst>
                          <a:ext uri="{FF2B5EF4-FFF2-40B4-BE49-F238E27FC236}">
                            <a16:creationId xmlns:a16="http://schemas.microsoft.com/office/drawing/2014/main" id="{E3FBDB74-FA7D-0282-F846-F50C09FDB545}"/>
                          </a:ext>
                        </a:extLst>
                      </p:cNvPr>
                      <p:cNvPicPr/>
                      <p:nvPr/>
                    </p:nvPicPr>
                    <p:blipFill>
                      <a:blip r:embed="rId6"/>
                      <a:stretch>
                        <a:fillRect/>
                      </a:stretch>
                    </p:blipFill>
                    <p:spPr>
                      <a:xfrm>
                        <a:off x="7634642" y="2150896"/>
                        <a:ext cx="215900" cy="2921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32C2E1A7-C40A-4F32-3D22-0A5349D584DF}"/>
              </a:ext>
            </a:extLst>
          </p:cNvPr>
          <p:cNvGraphicFramePr>
            <a:graphicFrameLocks noChangeAspect="1"/>
          </p:cNvGraphicFramePr>
          <p:nvPr/>
        </p:nvGraphicFramePr>
        <p:xfrm>
          <a:off x="8110751" y="1410486"/>
          <a:ext cx="215900" cy="228600"/>
        </p:xfrm>
        <a:graphic>
          <a:graphicData uri="http://schemas.openxmlformats.org/presentationml/2006/ole">
            <mc:AlternateContent xmlns:mc="http://schemas.openxmlformats.org/markup-compatibility/2006">
              <mc:Choice xmlns:v="urn:schemas-microsoft-com:vml" Requires="v">
                <p:oleObj name="Equation" r:id="rId7" imgW="215640" imgH="228600" progId="Equation.DSMT4">
                  <p:embed/>
                </p:oleObj>
              </mc:Choice>
              <mc:Fallback>
                <p:oleObj name="Equation" r:id="rId7" imgW="215640" imgH="228600" progId="Equation.DSMT4">
                  <p:embed/>
                  <p:pic>
                    <p:nvPicPr>
                      <p:cNvPr id="11" name="对象 10">
                        <a:extLst>
                          <a:ext uri="{FF2B5EF4-FFF2-40B4-BE49-F238E27FC236}">
                            <a16:creationId xmlns:a16="http://schemas.microsoft.com/office/drawing/2014/main" id="{A0990A11-F0DC-6255-490A-B848D47E5DB8}"/>
                          </a:ext>
                        </a:extLst>
                      </p:cNvPr>
                      <p:cNvPicPr/>
                      <p:nvPr/>
                    </p:nvPicPr>
                    <p:blipFill>
                      <a:blip r:embed="rId8"/>
                      <a:stretch>
                        <a:fillRect/>
                      </a:stretch>
                    </p:blipFill>
                    <p:spPr>
                      <a:xfrm>
                        <a:off x="8110751" y="1410486"/>
                        <a:ext cx="215900" cy="228600"/>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DFE8EC82-3B53-5FFF-A29C-4DCD614ABC10}"/>
              </a:ext>
            </a:extLst>
          </p:cNvPr>
          <p:cNvGraphicFramePr>
            <a:graphicFrameLocks noChangeAspect="1"/>
          </p:cNvGraphicFramePr>
          <p:nvPr/>
        </p:nvGraphicFramePr>
        <p:xfrm>
          <a:off x="8548724" y="1346986"/>
          <a:ext cx="215900" cy="292100"/>
        </p:xfrm>
        <a:graphic>
          <a:graphicData uri="http://schemas.openxmlformats.org/presentationml/2006/ole">
            <mc:AlternateContent xmlns:mc="http://schemas.openxmlformats.org/markup-compatibility/2006">
              <mc:Choice xmlns:v="urn:schemas-microsoft-com:vml" Requires="v">
                <p:oleObj name="Equation" r:id="rId9" imgW="215640" imgH="291960" progId="Equation.DSMT4">
                  <p:embed/>
                </p:oleObj>
              </mc:Choice>
              <mc:Fallback>
                <p:oleObj name="Equation" r:id="rId9" imgW="215640" imgH="291960" progId="Equation.DSMT4">
                  <p:embed/>
                  <p:pic>
                    <p:nvPicPr>
                      <p:cNvPr id="12" name="对象 11">
                        <a:extLst>
                          <a:ext uri="{FF2B5EF4-FFF2-40B4-BE49-F238E27FC236}">
                            <a16:creationId xmlns:a16="http://schemas.microsoft.com/office/drawing/2014/main" id="{A8E69997-8979-50EE-764F-173E3D7E484E}"/>
                          </a:ext>
                        </a:extLst>
                      </p:cNvPr>
                      <p:cNvPicPr/>
                      <p:nvPr/>
                    </p:nvPicPr>
                    <p:blipFill>
                      <a:blip r:embed="rId10"/>
                      <a:stretch>
                        <a:fillRect/>
                      </a:stretch>
                    </p:blipFill>
                    <p:spPr>
                      <a:xfrm>
                        <a:off x="8548724" y="1346986"/>
                        <a:ext cx="215900" cy="292100"/>
                      </a:xfrm>
                      <a:prstGeom prst="rect">
                        <a:avLst/>
                      </a:prstGeom>
                    </p:spPr>
                  </p:pic>
                </p:oleObj>
              </mc:Fallback>
            </mc:AlternateContent>
          </a:graphicData>
        </a:graphic>
      </p:graphicFrame>
      <p:sp>
        <p:nvSpPr>
          <p:cNvPr id="18" name="文本框 17">
            <a:extLst>
              <a:ext uri="{FF2B5EF4-FFF2-40B4-BE49-F238E27FC236}">
                <a16:creationId xmlns:a16="http://schemas.microsoft.com/office/drawing/2014/main" id="{105567D9-E4E7-DB27-EA3E-6609D29D5FB2}"/>
              </a:ext>
            </a:extLst>
          </p:cNvPr>
          <p:cNvSpPr txBox="1"/>
          <p:nvPr/>
        </p:nvSpPr>
        <p:spPr>
          <a:xfrm>
            <a:off x="7601524" y="2616745"/>
            <a:ext cx="1113739" cy="400110"/>
          </a:xfrm>
          <a:prstGeom prst="rect">
            <a:avLst/>
          </a:prstGeom>
          <a:noFill/>
        </p:spPr>
        <p:txBody>
          <a:bodyPr wrap="square" rtlCol="0">
            <a:spAutoFit/>
          </a:bodyPr>
          <a:lstStyle/>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M</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文本框 20">
            <a:extLst>
              <a:ext uri="{FF2B5EF4-FFF2-40B4-BE49-F238E27FC236}">
                <a16:creationId xmlns:a16="http://schemas.microsoft.com/office/drawing/2014/main" id="{300C4CAF-85E5-BA47-9517-4EAA8886BAFD}"/>
              </a:ext>
            </a:extLst>
          </p:cNvPr>
          <p:cNvSpPr txBox="1"/>
          <p:nvPr/>
        </p:nvSpPr>
        <p:spPr>
          <a:xfrm>
            <a:off x="1650980" y="4701216"/>
            <a:ext cx="9205794" cy="1429687"/>
          </a:xfrm>
          <a:prstGeom prst="rect">
            <a:avLst/>
          </a:prstGeom>
          <a:noFill/>
        </p:spPr>
        <p:txBody>
          <a:bodyPr wrap="square">
            <a:spAutoFit/>
          </a:bodyPr>
          <a:lstStyle/>
          <a:p>
            <a:pPr marL="342900" indent="-342900">
              <a:lnSpc>
                <a:spcPct val="125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Times New Roman" panose="02020603050405020304" pitchFamily="18" charset="0"/>
              </a:rPr>
              <a:t>零不变性度量不考虑不包含 </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和 </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a:latin typeface="楷体" panose="02010609060101010101" pitchFamily="49" charset="-122"/>
                <a:ea typeface="楷体" panose="02010609060101010101" pitchFamily="49" charset="-122"/>
                <a:cs typeface="Times New Roman" panose="02020603050405020304" pitchFamily="18" charset="0"/>
              </a:rPr>
              <a:t>的事务数量的影响</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pPr marL="342900" indent="-342900">
              <a:lnSpc>
                <a:spcPct val="125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Times New Roman" panose="02020603050405020304" pitchFamily="18" charset="0"/>
              </a:rPr>
              <a:t>零不变性对于市场篮数据和文本文档等稀疏型数据集非常有用，这些数据集更关注项的共存，而非项共缺席，通过使用零不变性度量，可以确保分析结果不受大量无关记录的影响，从而更准确地反映实际关联</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p:txBody>
      </p:sp>
      <p:graphicFrame>
        <p:nvGraphicFramePr>
          <p:cNvPr id="6" name="对象 5">
            <a:extLst>
              <a:ext uri="{FF2B5EF4-FFF2-40B4-BE49-F238E27FC236}">
                <a16:creationId xmlns:a16="http://schemas.microsoft.com/office/drawing/2014/main" id="{C5A67B74-F68D-6EDB-010B-77518D833931}"/>
              </a:ext>
            </a:extLst>
          </p:cNvPr>
          <p:cNvGraphicFramePr>
            <a:graphicFrameLocks noChangeAspect="1"/>
          </p:cNvGraphicFramePr>
          <p:nvPr>
            <p:extLst>
              <p:ext uri="{D42A27DB-BD31-4B8C-83A1-F6EECF244321}">
                <p14:modId xmlns:p14="http://schemas.microsoft.com/office/powerpoint/2010/main" val="1529092575"/>
              </p:ext>
            </p:extLst>
          </p:nvPr>
        </p:nvGraphicFramePr>
        <p:xfrm>
          <a:off x="3310787" y="3791112"/>
          <a:ext cx="1072022" cy="664925"/>
        </p:xfrm>
        <a:graphic>
          <a:graphicData uri="http://schemas.openxmlformats.org/presentationml/2006/ole">
            <mc:AlternateContent xmlns:mc="http://schemas.openxmlformats.org/markup-compatibility/2006">
              <mc:Choice xmlns:v="urn:schemas-microsoft-com:vml" Requires="v">
                <p:oleObj name="Equation" r:id="rId11" imgW="752304" imgH="466510" progId="Equation.DSMT4">
                  <p:embed/>
                </p:oleObj>
              </mc:Choice>
              <mc:Fallback>
                <p:oleObj name="Equation" r:id="rId11" imgW="752304" imgH="466510" progId="Equation.DSMT4">
                  <p:embed/>
                  <p:pic>
                    <p:nvPicPr>
                      <p:cNvPr id="0" name=""/>
                      <p:cNvPicPr/>
                      <p:nvPr/>
                    </p:nvPicPr>
                    <p:blipFill>
                      <a:blip r:embed="rId12"/>
                      <a:stretch>
                        <a:fillRect/>
                      </a:stretch>
                    </p:blipFill>
                    <p:spPr>
                      <a:xfrm>
                        <a:off x="3310787" y="3791112"/>
                        <a:ext cx="1072022" cy="664925"/>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D2500849-DC33-4ABF-FF47-B338469597ED}"/>
              </a:ext>
            </a:extLst>
          </p:cNvPr>
          <p:cNvGraphicFramePr>
            <a:graphicFrameLocks noChangeAspect="1"/>
          </p:cNvGraphicFramePr>
          <p:nvPr>
            <p:extLst>
              <p:ext uri="{D42A27DB-BD31-4B8C-83A1-F6EECF244321}">
                <p14:modId xmlns:p14="http://schemas.microsoft.com/office/powerpoint/2010/main" val="1820954062"/>
              </p:ext>
            </p:extLst>
          </p:nvPr>
        </p:nvGraphicFramePr>
        <p:xfrm>
          <a:off x="5001523" y="3937877"/>
          <a:ext cx="1916382" cy="327187"/>
        </p:xfrm>
        <a:graphic>
          <a:graphicData uri="http://schemas.openxmlformats.org/presentationml/2006/ole">
            <mc:AlternateContent xmlns:mc="http://schemas.openxmlformats.org/markup-compatibility/2006">
              <mc:Choice xmlns:v="urn:schemas-microsoft-com:vml" Requires="v">
                <p:oleObj name="Equation" r:id="rId13" imgW="1171291" imgH="200139" progId="Equation.DSMT4">
                  <p:embed/>
                </p:oleObj>
              </mc:Choice>
              <mc:Fallback>
                <p:oleObj name="Equation" r:id="rId13" imgW="1171291" imgH="200139" progId="Equation.DSMT4">
                  <p:embed/>
                  <p:pic>
                    <p:nvPicPr>
                      <p:cNvPr id="0" name=""/>
                      <p:cNvPicPr/>
                      <p:nvPr/>
                    </p:nvPicPr>
                    <p:blipFill>
                      <a:blip r:embed="rId14"/>
                      <a:stretch>
                        <a:fillRect/>
                      </a:stretch>
                    </p:blipFill>
                    <p:spPr>
                      <a:xfrm>
                        <a:off x="5001523" y="3937877"/>
                        <a:ext cx="1916382" cy="327187"/>
                      </a:xfrm>
                      <a:prstGeom prst="rect">
                        <a:avLst/>
                      </a:prstGeom>
                    </p:spPr>
                  </p:pic>
                </p:oleObj>
              </mc:Fallback>
            </mc:AlternateContent>
          </a:graphicData>
        </a:graphic>
      </p:graphicFrame>
      <p:graphicFrame>
        <p:nvGraphicFramePr>
          <p:cNvPr id="14" name="表格 13">
            <a:extLst>
              <a:ext uri="{FF2B5EF4-FFF2-40B4-BE49-F238E27FC236}">
                <a16:creationId xmlns:a16="http://schemas.microsoft.com/office/drawing/2014/main" id="{FA349C87-8AE8-DF28-8BDC-8E3A336F0292}"/>
              </a:ext>
            </a:extLst>
          </p:cNvPr>
          <p:cNvGraphicFramePr>
            <a:graphicFrameLocks noGrp="1"/>
          </p:cNvGraphicFramePr>
          <p:nvPr>
            <p:extLst>
              <p:ext uri="{D42A27DB-BD31-4B8C-83A1-F6EECF244321}">
                <p14:modId xmlns:p14="http://schemas.microsoft.com/office/powerpoint/2010/main" val="4196469397"/>
              </p:ext>
            </p:extLst>
          </p:nvPr>
        </p:nvGraphicFramePr>
        <p:xfrm>
          <a:off x="9616486" y="1341670"/>
          <a:ext cx="2109729" cy="1163320"/>
        </p:xfrm>
        <a:graphic>
          <a:graphicData uri="http://schemas.openxmlformats.org/drawingml/2006/table">
            <a:tbl>
              <a:tblPr firstRow="1" bandRow="1">
                <a:tableStyleId>{5C22544A-7EE6-4342-B048-85BDC9FD1C3A}</a:tableStyleId>
              </a:tblPr>
              <a:tblGrid>
                <a:gridCol w="489210">
                  <a:extLst>
                    <a:ext uri="{9D8B030D-6E8A-4147-A177-3AD203B41FA5}">
                      <a16:colId xmlns:a16="http://schemas.microsoft.com/office/drawing/2014/main" val="1678250067"/>
                    </a:ext>
                  </a:extLst>
                </a:gridCol>
                <a:gridCol w="772160">
                  <a:extLst>
                    <a:ext uri="{9D8B030D-6E8A-4147-A177-3AD203B41FA5}">
                      <a16:colId xmlns:a16="http://schemas.microsoft.com/office/drawing/2014/main" val="1414840406"/>
                    </a:ext>
                  </a:extLst>
                </a:gridCol>
                <a:gridCol w="848359">
                  <a:extLst>
                    <a:ext uri="{9D8B030D-6E8A-4147-A177-3AD203B41FA5}">
                      <a16:colId xmlns:a16="http://schemas.microsoft.com/office/drawing/2014/main" val="3182455873"/>
                    </a:ext>
                  </a:extLst>
                </a:gridCol>
              </a:tblGrid>
              <a:tr h="370840">
                <a:tc>
                  <a:txBody>
                    <a:bodyPr/>
                    <a:lstStyle/>
                    <a:p>
                      <a:endParaRPr lang="zh-CN" altLang="en-US"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182924942"/>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2000" i="1" dirty="0">
                          <a:latin typeface="Times New Roman" panose="02020603050405020304" pitchFamily="18" charset="0"/>
                          <a:cs typeface="Times New Roman" panose="02020603050405020304" pitchFamily="18" charset="0"/>
                        </a:rPr>
                        <a:t>p</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i="1" dirty="0">
                          <a:latin typeface="Times New Roman" panose="02020603050405020304" pitchFamily="18" charset="0"/>
                          <a:cs typeface="Times New Roman" panose="02020603050405020304" pitchFamily="18" charset="0"/>
                        </a:rPr>
                        <a:t>q</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73001421"/>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i="1" dirty="0">
                          <a:latin typeface="Times New Roman" panose="02020603050405020304" pitchFamily="18" charset="0"/>
                          <a:cs typeface="Times New Roman" panose="02020603050405020304" pitchFamily="18" charset="0"/>
                        </a:rPr>
                        <a:t>r</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i="1" dirty="0">
                          <a:latin typeface="Times New Roman" panose="02020603050405020304" pitchFamily="18" charset="0"/>
                          <a:cs typeface="Times New Roman" panose="02020603050405020304" pitchFamily="18" charset="0"/>
                        </a:rPr>
                        <a:t>s+k</a:t>
                      </a:r>
                      <a:endParaRPr lang="zh-CN" altLang="en-US" sz="2000" i="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A5A5"/>
                    </a:solidFill>
                  </a:tcPr>
                </a:tc>
                <a:extLst>
                  <a:ext uri="{0D108BD9-81ED-4DB2-BD59-A6C34878D82A}">
                    <a16:rowId xmlns:a16="http://schemas.microsoft.com/office/drawing/2014/main" val="3579567021"/>
                  </a:ext>
                </a:extLst>
              </a:tr>
            </a:tbl>
          </a:graphicData>
        </a:graphic>
      </p:graphicFrame>
      <p:graphicFrame>
        <p:nvGraphicFramePr>
          <p:cNvPr id="15" name="对象 14">
            <a:extLst>
              <a:ext uri="{FF2B5EF4-FFF2-40B4-BE49-F238E27FC236}">
                <a16:creationId xmlns:a16="http://schemas.microsoft.com/office/drawing/2014/main" id="{ED6D1F0A-CEDE-ED1F-ED33-19A060B36DB3}"/>
              </a:ext>
            </a:extLst>
          </p:cNvPr>
          <p:cNvGraphicFramePr>
            <a:graphicFrameLocks noChangeAspect="1"/>
          </p:cNvGraphicFramePr>
          <p:nvPr>
            <p:extLst>
              <p:ext uri="{D42A27DB-BD31-4B8C-83A1-F6EECF244321}">
                <p14:modId xmlns:p14="http://schemas.microsoft.com/office/powerpoint/2010/main" val="4271095797"/>
              </p:ext>
            </p:extLst>
          </p:nvPr>
        </p:nvGraphicFramePr>
        <p:xfrm>
          <a:off x="9750572" y="1828951"/>
          <a:ext cx="215900" cy="228600"/>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36" name="对象 35">
                        <a:extLst>
                          <a:ext uri="{FF2B5EF4-FFF2-40B4-BE49-F238E27FC236}">
                            <a16:creationId xmlns:a16="http://schemas.microsoft.com/office/drawing/2014/main" id="{4F1C6DC2-B67D-2897-20F1-AC703EE93888}"/>
                          </a:ext>
                        </a:extLst>
                      </p:cNvPr>
                      <p:cNvPicPr/>
                      <p:nvPr/>
                    </p:nvPicPr>
                    <p:blipFill>
                      <a:blip r:embed="rId4"/>
                      <a:stretch>
                        <a:fillRect/>
                      </a:stretch>
                    </p:blipFill>
                    <p:spPr>
                      <a:xfrm>
                        <a:off x="9750572" y="1828951"/>
                        <a:ext cx="215900" cy="228600"/>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CBB7DD29-619A-CE14-946D-E0C57B7DA938}"/>
              </a:ext>
            </a:extLst>
          </p:cNvPr>
          <p:cNvGraphicFramePr>
            <a:graphicFrameLocks noChangeAspect="1"/>
          </p:cNvGraphicFramePr>
          <p:nvPr>
            <p:extLst>
              <p:ext uri="{D42A27DB-BD31-4B8C-83A1-F6EECF244321}">
                <p14:modId xmlns:p14="http://schemas.microsoft.com/office/powerpoint/2010/main" val="2359868514"/>
              </p:ext>
            </p:extLst>
          </p:nvPr>
        </p:nvGraphicFramePr>
        <p:xfrm>
          <a:off x="9750572" y="2150896"/>
          <a:ext cx="215900" cy="292100"/>
        </p:xfrm>
        <a:graphic>
          <a:graphicData uri="http://schemas.openxmlformats.org/presentationml/2006/ole">
            <mc:AlternateContent xmlns:mc="http://schemas.openxmlformats.org/markup-compatibility/2006">
              <mc:Choice xmlns:v="urn:schemas-microsoft-com:vml" Requires="v">
                <p:oleObj name="Equation" r:id="rId5" imgW="215640" imgH="291960" progId="Equation.DSMT4">
                  <p:embed/>
                </p:oleObj>
              </mc:Choice>
              <mc:Fallback>
                <p:oleObj name="Equation" r:id="rId5" imgW="215640" imgH="291960" progId="Equation.DSMT4">
                  <p:embed/>
                  <p:pic>
                    <p:nvPicPr>
                      <p:cNvPr id="37" name="对象 36">
                        <a:extLst>
                          <a:ext uri="{FF2B5EF4-FFF2-40B4-BE49-F238E27FC236}">
                            <a16:creationId xmlns:a16="http://schemas.microsoft.com/office/drawing/2014/main" id="{F816A984-5D75-4876-6554-7CC0942F90BA}"/>
                          </a:ext>
                        </a:extLst>
                      </p:cNvPr>
                      <p:cNvPicPr/>
                      <p:nvPr/>
                    </p:nvPicPr>
                    <p:blipFill>
                      <a:blip r:embed="rId6"/>
                      <a:stretch>
                        <a:fillRect/>
                      </a:stretch>
                    </p:blipFill>
                    <p:spPr>
                      <a:xfrm>
                        <a:off x="9750572" y="2150896"/>
                        <a:ext cx="215900" cy="292100"/>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D385B837-BE8B-EC94-66AD-837201D123B6}"/>
              </a:ext>
            </a:extLst>
          </p:cNvPr>
          <p:cNvGraphicFramePr>
            <a:graphicFrameLocks noChangeAspect="1"/>
          </p:cNvGraphicFramePr>
          <p:nvPr>
            <p:extLst>
              <p:ext uri="{D42A27DB-BD31-4B8C-83A1-F6EECF244321}">
                <p14:modId xmlns:p14="http://schemas.microsoft.com/office/powerpoint/2010/main" val="2931634517"/>
              </p:ext>
            </p:extLst>
          </p:nvPr>
        </p:nvGraphicFramePr>
        <p:xfrm>
          <a:off x="10389241" y="1410486"/>
          <a:ext cx="215900" cy="228600"/>
        </p:xfrm>
        <a:graphic>
          <a:graphicData uri="http://schemas.openxmlformats.org/presentationml/2006/ole">
            <mc:AlternateContent xmlns:mc="http://schemas.openxmlformats.org/markup-compatibility/2006">
              <mc:Choice xmlns:v="urn:schemas-microsoft-com:vml" Requires="v">
                <p:oleObj name="Equation" r:id="rId7" imgW="215640" imgH="228600" progId="Equation.DSMT4">
                  <p:embed/>
                </p:oleObj>
              </mc:Choice>
              <mc:Fallback>
                <p:oleObj name="Equation" r:id="rId7" imgW="215640" imgH="228600" progId="Equation.DSMT4">
                  <p:embed/>
                  <p:pic>
                    <p:nvPicPr>
                      <p:cNvPr id="38" name="对象 37">
                        <a:extLst>
                          <a:ext uri="{FF2B5EF4-FFF2-40B4-BE49-F238E27FC236}">
                            <a16:creationId xmlns:a16="http://schemas.microsoft.com/office/drawing/2014/main" id="{0E931F93-F073-415D-5729-E5C638C8BA36}"/>
                          </a:ext>
                        </a:extLst>
                      </p:cNvPr>
                      <p:cNvPicPr/>
                      <p:nvPr/>
                    </p:nvPicPr>
                    <p:blipFill>
                      <a:blip r:embed="rId8"/>
                      <a:stretch>
                        <a:fillRect/>
                      </a:stretch>
                    </p:blipFill>
                    <p:spPr>
                      <a:xfrm>
                        <a:off x="10389241" y="1410486"/>
                        <a:ext cx="215900" cy="228600"/>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28D1E213-9672-8438-403A-40174443DC5E}"/>
              </a:ext>
            </a:extLst>
          </p:cNvPr>
          <p:cNvGraphicFramePr>
            <a:graphicFrameLocks noChangeAspect="1"/>
          </p:cNvGraphicFramePr>
          <p:nvPr>
            <p:extLst>
              <p:ext uri="{D42A27DB-BD31-4B8C-83A1-F6EECF244321}">
                <p14:modId xmlns:p14="http://schemas.microsoft.com/office/powerpoint/2010/main" val="2236337088"/>
              </p:ext>
            </p:extLst>
          </p:nvPr>
        </p:nvGraphicFramePr>
        <p:xfrm>
          <a:off x="11208214" y="1357146"/>
          <a:ext cx="215900" cy="292100"/>
        </p:xfrm>
        <a:graphic>
          <a:graphicData uri="http://schemas.openxmlformats.org/presentationml/2006/ole">
            <mc:AlternateContent xmlns:mc="http://schemas.openxmlformats.org/markup-compatibility/2006">
              <mc:Choice xmlns:v="urn:schemas-microsoft-com:vml" Requires="v">
                <p:oleObj name="Equation" r:id="rId9" imgW="215640" imgH="291960" progId="Equation.DSMT4">
                  <p:embed/>
                </p:oleObj>
              </mc:Choice>
              <mc:Fallback>
                <p:oleObj name="Equation" r:id="rId9" imgW="215640" imgH="291960" progId="Equation.DSMT4">
                  <p:embed/>
                  <p:pic>
                    <p:nvPicPr>
                      <p:cNvPr id="39" name="对象 38">
                        <a:extLst>
                          <a:ext uri="{FF2B5EF4-FFF2-40B4-BE49-F238E27FC236}">
                            <a16:creationId xmlns:a16="http://schemas.microsoft.com/office/drawing/2014/main" id="{E09D180D-4548-730C-AE88-7E2E3E3D0E8B}"/>
                          </a:ext>
                        </a:extLst>
                      </p:cNvPr>
                      <p:cNvPicPr/>
                      <p:nvPr/>
                    </p:nvPicPr>
                    <p:blipFill>
                      <a:blip r:embed="rId10"/>
                      <a:stretch>
                        <a:fillRect/>
                      </a:stretch>
                    </p:blipFill>
                    <p:spPr>
                      <a:xfrm>
                        <a:off x="11208214" y="1357146"/>
                        <a:ext cx="215900" cy="292100"/>
                      </a:xfrm>
                      <a:prstGeom prst="rect">
                        <a:avLst/>
                      </a:prstGeom>
                    </p:spPr>
                  </p:pic>
                </p:oleObj>
              </mc:Fallback>
            </mc:AlternateContent>
          </a:graphicData>
        </a:graphic>
      </p:graphicFrame>
      <p:sp>
        <p:nvSpPr>
          <p:cNvPr id="20" name="文本框 19">
            <a:extLst>
              <a:ext uri="{FF2B5EF4-FFF2-40B4-BE49-F238E27FC236}">
                <a16:creationId xmlns:a16="http://schemas.microsoft.com/office/drawing/2014/main" id="{28F29B63-9553-C074-05A3-F516407A399A}"/>
              </a:ext>
            </a:extLst>
          </p:cNvPr>
          <p:cNvSpPr txBox="1"/>
          <p:nvPr/>
        </p:nvSpPr>
        <p:spPr>
          <a:xfrm>
            <a:off x="10043522" y="2648046"/>
            <a:ext cx="1795678" cy="400110"/>
          </a:xfrm>
          <a:prstGeom prst="rect">
            <a:avLst/>
          </a:prstGeom>
          <a:noFill/>
        </p:spPr>
        <p:txBody>
          <a:bodyPr wrap="square" rtlCol="0">
            <a:spAutoFit/>
          </a:bodyPr>
          <a:lstStyle/>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M</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C</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矩形 26">
            <a:extLst>
              <a:ext uri="{FF2B5EF4-FFF2-40B4-BE49-F238E27FC236}">
                <a16:creationId xmlns:a16="http://schemas.microsoft.com/office/drawing/2014/main" id="{7484AE9E-B75B-EBB2-1AAB-39B7F5BBF0C8}"/>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5E05E391-FB19-3741-C131-2C1A3710DDFF}"/>
              </a:ext>
            </a:extLst>
          </p:cNvPr>
          <p:cNvSpPr/>
          <p:nvPr/>
        </p:nvSpPr>
        <p:spPr>
          <a:xfrm>
            <a:off x="558039" y="1190656"/>
            <a:ext cx="2645799"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评估度量性质</a:t>
            </a:r>
          </a:p>
        </p:txBody>
      </p:sp>
    </p:spTree>
    <p:extLst>
      <p:ext uri="{BB962C8B-B14F-4D97-AF65-F5344CB8AC3E}">
        <p14:creationId xmlns:p14="http://schemas.microsoft.com/office/powerpoint/2010/main" val="40482028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521D5-D75F-D8ED-C0F2-D0F2C202E288}"/>
            </a:ext>
          </a:extLst>
        </p:cNvPr>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6F35B850-CA48-C879-CC96-62FAA4B93397}"/>
              </a:ext>
            </a:extLst>
          </p:cNvPr>
          <p:cNvGraphicFramePr>
            <a:graphicFrameLocks noGrp="1"/>
          </p:cNvGraphicFramePr>
          <p:nvPr>
            <p:extLst>
              <p:ext uri="{D42A27DB-BD31-4B8C-83A1-F6EECF244321}">
                <p14:modId xmlns:p14="http://schemas.microsoft.com/office/powerpoint/2010/main" val="1023389360"/>
              </p:ext>
            </p:extLst>
          </p:nvPr>
        </p:nvGraphicFramePr>
        <p:xfrm>
          <a:off x="995423" y="2035055"/>
          <a:ext cx="9763523" cy="4370399"/>
        </p:xfrm>
        <a:graphic>
          <a:graphicData uri="http://schemas.openxmlformats.org/drawingml/2006/table">
            <a:tbl>
              <a:tblPr firstRow="1" firstCol="1" bandRow="1"/>
              <a:tblGrid>
                <a:gridCol w="1757311">
                  <a:extLst>
                    <a:ext uri="{9D8B030D-6E8A-4147-A177-3AD203B41FA5}">
                      <a16:colId xmlns:a16="http://schemas.microsoft.com/office/drawing/2014/main" val="2152356128"/>
                    </a:ext>
                  </a:extLst>
                </a:gridCol>
                <a:gridCol w="1288398">
                  <a:extLst>
                    <a:ext uri="{9D8B030D-6E8A-4147-A177-3AD203B41FA5}">
                      <a16:colId xmlns:a16="http://schemas.microsoft.com/office/drawing/2014/main" val="2612684590"/>
                    </a:ext>
                  </a:extLst>
                </a:gridCol>
                <a:gridCol w="1774388">
                  <a:extLst>
                    <a:ext uri="{9D8B030D-6E8A-4147-A177-3AD203B41FA5}">
                      <a16:colId xmlns:a16="http://schemas.microsoft.com/office/drawing/2014/main" val="3957218425"/>
                    </a:ext>
                  </a:extLst>
                </a:gridCol>
                <a:gridCol w="2412601">
                  <a:extLst>
                    <a:ext uri="{9D8B030D-6E8A-4147-A177-3AD203B41FA5}">
                      <a16:colId xmlns:a16="http://schemas.microsoft.com/office/drawing/2014/main" val="345208286"/>
                    </a:ext>
                  </a:extLst>
                </a:gridCol>
                <a:gridCol w="1196283">
                  <a:extLst>
                    <a:ext uri="{9D8B030D-6E8A-4147-A177-3AD203B41FA5}">
                      <a16:colId xmlns:a16="http://schemas.microsoft.com/office/drawing/2014/main" val="4009222827"/>
                    </a:ext>
                  </a:extLst>
                </a:gridCol>
                <a:gridCol w="1334542">
                  <a:extLst>
                    <a:ext uri="{9D8B030D-6E8A-4147-A177-3AD203B41FA5}">
                      <a16:colId xmlns:a16="http://schemas.microsoft.com/office/drawing/2014/main" val="2123555017"/>
                    </a:ext>
                  </a:extLst>
                </a:gridCol>
              </a:tblGrid>
              <a:tr h="323134">
                <a:tc>
                  <a:txBody>
                    <a:bodyPr/>
                    <a:lstStyle/>
                    <a:p>
                      <a:pPr marL="0" marR="0" algn="ctr">
                        <a:lnSpc>
                          <a:spcPct val="125000"/>
                        </a:lnSpc>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对称性</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行</a:t>
                      </a: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列缩放不变性</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rPr>
                        <a:t>行</a:t>
                      </a: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rPr>
                        <a:t>列排列下的反对称性</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反转不变性</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alt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零</a:t>
                      </a:r>
                      <a:r>
                        <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不变性</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9875279"/>
                  </a:ext>
                </a:extLst>
              </a:tr>
              <a:tr h="284669">
                <a:tc>
                  <a:txBody>
                    <a:bodyPr/>
                    <a:lstStyle/>
                    <a:p>
                      <a:pPr marL="0" marR="0" algn="ctr">
                        <a:lnSpc>
                          <a:spcPct val="125000"/>
                        </a:lnSpc>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支持度</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lnSpc>
                          <a:spcPct val="125000"/>
                        </a:lnSpc>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4213969"/>
                  </a:ext>
                </a:extLst>
              </a:tr>
              <a:tr h="284669">
                <a:tc>
                  <a:txBody>
                    <a:bodyPr/>
                    <a:lstStyle/>
                    <a:p>
                      <a:pPr marL="0" marR="0" algn="ctr">
                        <a:lnSpc>
                          <a:spcPct val="125000"/>
                        </a:lnSpc>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置信度</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883506836"/>
                  </a:ext>
                </a:extLst>
              </a:tr>
              <a:tr h="284669">
                <a:tc>
                  <a:txBody>
                    <a:bodyPr/>
                    <a:lstStyle/>
                    <a:p>
                      <a:pPr marL="0" marR="0" algn="ctr">
                        <a:lnSpc>
                          <a:spcPct val="125000"/>
                        </a:lnSpc>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提升度</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0161222"/>
                  </a:ext>
                </a:extLst>
              </a:tr>
              <a:tr h="284669">
                <a:tc>
                  <a:txBody>
                    <a:bodyPr/>
                    <a:lstStyle/>
                    <a:p>
                      <a:pPr marL="0" marR="0" algn="ctr">
                        <a:lnSpc>
                          <a:spcPct val="125000"/>
                        </a:lnSpc>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卡方值</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5572225"/>
                  </a:ext>
                </a:extLst>
              </a:tr>
              <a:tr h="284669">
                <a:tc>
                  <a:txBody>
                    <a:bodyPr/>
                    <a:lstStyle/>
                    <a:p>
                      <a:pPr marL="0" marR="0" algn="ctr">
                        <a:lnSpc>
                          <a:spcPct val="125000"/>
                        </a:lnSpc>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全置信度</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735879603"/>
                  </a:ext>
                </a:extLst>
              </a:tr>
              <a:tr h="284669">
                <a:tc>
                  <a:txBody>
                    <a:bodyPr/>
                    <a:lstStyle/>
                    <a:p>
                      <a:pPr marL="0" marR="0" algn="ctr">
                        <a:lnSpc>
                          <a:spcPct val="125000"/>
                        </a:lnSpc>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优势比</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3346730"/>
                  </a:ext>
                </a:extLst>
              </a:tr>
              <a:tr h="284669">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余弦度量</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176015448"/>
                  </a:ext>
                </a:extLst>
              </a:tr>
              <a:tr h="284669">
                <a:tc>
                  <a:txBody>
                    <a:bodyPr/>
                    <a:lstStyle/>
                    <a:p>
                      <a:pPr marL="0" marR="0" algn="ctr">
                        <a:lnSpc>
                          <a:spcPct val="125000"/>
                        </a:lnSpc>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Kulc</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度量</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499884847"/>
                  </a:ext>
                </a:extLst>
              </a:tr>
              <a:tr h="284669">
                <a:tc>
                  <a:txBody>
                    <a:bodyPr/>
                    <a:lstStyle/>
                    <a:p>
                      <a:pPr marL="0" marR="0" algn="ctr">
                        <a:lnSpc>
                          <a:spcPct val="125000"/>
                        </a:lnSpc>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杠杆率</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0887721"/>
                  </a:ext>
                </a:extLst>
              </a:tr>
              <a:tr h="284669">
                <a:tc>
                  <a:txBody>
                    <a:bodyPr/>
                    <a:lstStyle/>
                    <a:p>
                      <a:pPr marL="0" marR="0" algn="ctr">
                        <a:lnSpc>
                          <a:spcPct val="125000"/>
                        </a:lnSpc>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确信度</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12493107"/>
                  </a:ext>
                </a:extLst>
              </a:tr>
              <a:tr h="346568">
                <a:tc>
                  <a:txBody>
                    <a:bodyPr/>
                    <a:lstStyle/>
                    <a:p>
                      <a:pPr marL="0" marR="0" algn="ctr">
                        <a:lnSpc>
                          <a:spcPct val="125000"/>
                        </a:lnSpc>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Added Value</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139917"/>
                  </a:ext>
                </a:extLst>
              </a:tr>
              <a:tr h="284669">
                <a:tc>
                  <a:txBody>
                    <a:bodyPr/>
                    <a:lstStyle/>
                    <a:p>
                      <a:pPr marL="0" marR="0" algn="ctr">
                        <a:lnSpc>
                          <a:spcPct val="125000"/>
                        </a:lnSpc>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确定性因子</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3268320"/>
                  </a:ext>
                </a:extLst>
              </a:tr>
              <a:tr h="284669">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Yule</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Y</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lnSpc>
                          <a:spcPct val="125000"/>
                        </a:lnSpc>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74958426"/>
                  </a:ext>
                </a:extLst>
              </a:tr>
              <a:tr h="284669">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Jaccard</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系数</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25000"/>
                        </a:lnSpc>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5039" marR="85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4063726189"/>
                  </a:ext>
                </a:extLst>
              </a:tr>
            </a:tbl>
          </a:graphicData>
        </a:graphic>
      </p:graphicFrame>
      <p:sp>
        <p:nvSpPr>
          <p:cNvPr id="5" name="矩形 26">
            <a:extLst>
              <a:ext uri="{FF2B5EF4-FFF2-40B4-BE49-F238E27FC236}">
                <a16:creationId xmlns:a16="http://schemas.microsoft.com/office/drawing/2014/main" id="{65405EC7-18EE-6E8F-5E2E-32E07207961B}"/>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关联规则评估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矩形: 圆角 55">
            <a:extLst>
              <a:ext uri="{FF2B5EF4-FFF2-40B4-BE49-F238E27FC236}">
                <a16:creationId xmlns:a16="http://schemas.microsoft.com/office/drawing/2014/main" id="{1855B626-2C1F-869A-7A7E-E59A9EEAEF9E}"/>
              </a:ext>
            </a:extLst>
          </p:cNvPr>
          <p:cNvSpPr/>
          <p:nvPr/>
        </p:nvSpPr>
        <p:spPr>
          <a:xfrm>
            <a:off x="558039" y="1190656"/>
            <a:ext cx="2645799"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评估度量性质</a:t>
            </a:r>
          </a:p>
        </p:txBody>
      </p:sp>
    </p:spTree>
    <p:extLst>
      <p:ext uri="{BB962C8B-B14F-4D97-AF65-F5344CB8AC3E}">
        <p14:creationId xmlns:p14="http://schemas.microsoft.com/office/powerpoint/2010/main" val="124849830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6131</TotalTime>
  <Words>4551</Words>
  <Application>Microsoft Office PowerPoint</Application>
  <PresentationFormat>宽屏</PresentationFormat>
  <Paragraphs>619</Paragraphs>
  <Slides>44</Slides>
  <Notes>44</Notes>
  <HiddenSlides>0</HiddenSlides>
  <MMClips>0</MMClips>
  <ScaleCrop>false</ScaleCrop>
  <HeadingPairs>
    <vt:vector size="8" baseType="variant">
      <vt:variant>
        <vt:lpstr>已用的字体</vt:lpstr>
      </vt:variant>
      <vt:variant>
        <vt:i4>11</vt:i4>
      </vt:variant>
      <vt:variant>
        <vt:lpstr>主题</vt:lpstr>
      </vt:variant>
      <vt:variant>
        <vt:i4>12</vt:i4>
      </vt:variant>
      <vt:variant>
        <vt:lpstr>嵌入 OLE 服务器</vt:lpstr>
      </vt:variant>
      <vt:variant>
        <vt:i4>4</vt:i4>
      </vt:variant>
      <vt:variant>
        <vt:lpstr>幻灯片标题</vt:lpstr>
      </vt:variant>
      <vt:variant>
        <vt:i4>44</vt:i4>
      </vt:variant>
    </vt:vector>
  </HeadingPairs>
  <TitlesOfParts>
    <vt:vector size="71" baseType="lpstr">
      <vt:lpstr>等线</vt:lpstr>
      <vt:lpstr>华光综艺_CNKI</vt:lpstr>
      <vt:lpstr>楷体</vt:lpstr>
      <vt:lpstr>思源黑体</vt:lpstr>
      <vt:lpstr>思源黑体 CN Bold</vt:lpstr>
      <vt:lpstr>微软雅黑</vt:lpstr>
      <vt:lpstr>Arial</vt:lpstr>
      <vt:lpstr>Calibri</vt:lpstr>
      <vt:lpstr>Tahoma</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Equation</vt:lpstr>
      <vt:lpstr>Photo Editor 照片</vt:lpstr>
      <vt:lpstr>VISIO</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qing zhang</cp:lastModifiedBy>
  <cp:revision>2474</cp:revision>
  <dcterms:created xsi:type="dcterms:W3CDTF">2022-05-23T09:13:00Z</dcterms:created>
  <dcterms:modified xsi:type="dcterms:W3CDTF">2025-04-16T07:42:30Z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