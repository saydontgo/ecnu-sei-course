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3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4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5.xml" ContentType="application/vnd.openxmlformats-officedocument.theme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theme/theme6.xml" ContentType="application/vnd.openxmlformats-officedocument.theme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7.xml" ContentType="application/vnd.openxmlformats-officedocument.theme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theme/theme8.xml" ContentType="application/vnd.openxmlformats-officedocument.theme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theme/theme9.xml" ContentType="application/vnd.openxmlformats-officedocument.theme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theme/theme10.xml" ContentType="application/vnd.openxmlformats-officedocument.theme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theme/theme11.xml" ContentType="application/vnd.openxmlformats-officedocument.theme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8">
  <p:sldMasterIdLst>
    <p:sldMasterId id="2147483648" r:id="rId1"/>
    <p:sldMasterId id="2147484409" r:id="rId2"/>
    <p:sldMasterId id="2147484466" r:id="rId3"/>
    <p:sldMasterId id="2147484493" r:id="rId4"/>
    <p:sldMasterId id="2147484519" r:id="rId5"/>
    <p:sldMasterId id="2147484635" r:id="rId6"/>
    <p:sldMasterId id="2147484651" r:id="rId7"/>
    <p:sldMasterId id="2147484950" r:id="rId8"/>
    <p:sldMasterId id="2147484968" r:id="rId9"/>
    <p:sldMasterId id="2147484995" r:id="rId10"/>
    <p:sldMasterId id="2147485044" r:id="rId11"/>
    <p:sldMasterId id="2147485105" r:id="rId12"/>
  </p:sldMasterIdLst>
  <p:notesMasterIdLst>
    <p:notesMasterId r:id="rId33"/>
  </p:notesMasterIdLst>
  <p:handoutMasterIdLst>
    <p:handoutMasterId r:id="rId34"/>
  </p:handoutMasterIdLst>
  <p:sldIdLst>
    <p:sldId id="15777" r:id="rId13"/>
    <p:sldId id="15673" r:id="rId14"/>
    <p:sldId id="15692" r:id="rId15"/>
    <p:sldId id="15693" r:id="rId16"/>
    <p:sldId id="15694" r:id="rId17"/>
    <p:sldId id="15705" r:id="rId18"/>
    <p:sldId id="15707" r:id="rId19"/>
    <p:sldId id="15708" r:id="rId20"/>
    <p:sldId id="15709" r:id="rId21"/>
    <p:sldId id="15710" r:id="rId22"/>
    <p:sldId id="15711" r:id="rId23"/>
    <p:sldId id="15755" r:id="rId24"/>
    <p:sldId id="15714" r:id="rId25"/>
    <p:sldId id="15715" r:id="rId26"/>
    <p:sldId id="15716" r:id="rId27"/>
    <p:sldId id="15717" r:id="rId28"/>
    <p:sldId id="15718" r:id="rId29"/>
    <p:sldId id="15719" r:id="rId30"/>
    <p:sldId id="15720" r:id="rId31"/>
    <p:sldId id="15502" r:id="rId32"/>
  </p:sldIdLst>
  <p:sldSz cx="12192000" cy="68580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第一节" id="{B76A38E9-E72E-4BCB-B362-B21FAC086E6B}">
          <p14:sldIdLst>
            <p14:sldId id="15777"/>
            <p14:sldId id="15673"/>
            <p14:sldId id="15692"/>
            <p14:sldId id="15693"/>
            <p14:sldId id="15694"/>
            <p14:sldId id="15705"/>
            <p14:sldId id="15707"/>
            <p14:sldId id="15708"/>
            <p14:sldId id="15709"/>
            <p14:sldId id="15710"/>
            <p14:sldId id="15711"/>
            <p14:sldId id="15755"/>
            <p14:sldId id="15714"/>
            <p14:sldId id="15715"/>
            <p14:sldId id="15716"/>
            <p14:sldId id="15717"/>
            <p14:sldId id="15718"/>
            <p14:sldId id="15719"/>
            <p14:sldId id="15720"/>
            <p14:sldId id="15502"/>
          </p14:sldIdLst>
        </p14:section>
        <p14:section name="第三节" id="{D73DEBA0-8DA1-425E-BF8D-3499E83F0652}">
          <p14:sldIdLst/>
        </p14:section>
      </p14:sectionLst>
    </p:ext>
    <p:ext uri="{EFAFB233-063F-42B5-8137-9DF3F51BA10A}">
      <p15:sldGuideLst xmlns:p15="http://schemas.microsoft.com/office/powerpoint/2012/main">
        <p15:guide id="4" pos="2280" userDrawn="1">
          <p15:clr>
            <a:srgbClr val="A4A3A4"/>
          </p15:clr>
        </p15:guide>
        <p15:guide id="5" orient="horz" pos="290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45AD"/>
    <a:srgbClr val="000080"/>
    <a:srgbClr val="FBE4D5"/>
    <a:srgbClr val="008ED7"/>
    <a:srgbClr val="D13400"/>
    <a:srgbClr val="0444AE"/>
    <a:srgbClr val="0347AF"/>
    <a:srgbClr val="0146AE"/>
    <a:srgbClr val="FFFF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64" autoAdjust="0"/>
    <p:restoredTop sz="86966" autoAdjust="0"/>
  </p:normalViewPr>
  <p:slideViewPr>
    <p:cSldViewPr snapToGrid="0">
      <p:cViewPr varScale="1">
        <p:scale>
          <a:sx n="93" d="100"/>
          <a:sy n="93" d="100"/>
        </p:scale>
        <p:origin x="92" y="80"/>
      </p:cViewPr>
      <p:guideLst>
        <p:guide pos="2280"/>
        <p:guide orient="horz" pos="29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2428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9" Type="http://schemas.openxmlformats.org/officeDocument/2006/relationships/tableStyles" Target="tableStyles.xml"/><Relationship Id="rId21" Type="http://schemas.openxmlformats.org/officeDocument/2006/relationships/slide" Target="slides/slide9.xml"/><Relationship Id="rId34" Type="http://schemas.openxmlformats.org/officeDocument/2006/relationships/handoutMaster" Target="handoutMasters/handout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slide" Target="slides/slide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tags" Target="tags/tag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682E4-1D3E-4E21-8E57-F0A36E8AFBBC}" type="datetimeFigureOut">
              <a:rPr lang="zh-CN" altLang="en-US" smtClean="0"/>
              <a:t>2025/4/16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C971F6-C60D-4682-BD97-627ABF3553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B80EC0-271A-47A3-B94A-5AACB63D0D64}" type="datetimeFigureOut">
              <a:rPr lang="zh-CN" altLang="en-US" smtClean="0"/>
              <a:t>2025/4/16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6F833C-0931-4030-8352-AFD9186768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833C-0931-4030-8352-AFD9186768B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056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5BAB9-1411-9563-0435-7A647E194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2B6898C-13FA-E9E6-142B-287F963F2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C349DD8-705E-FCFA-0D2E-F45498C4A3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B26F78-8C0C-ADD1-72C8-AB12B3EA47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0336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E6AE2-F050-3DF8-99BE-80C56EE89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47D795F-FFF3-024B-1CB3-AACD58E48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99045F-9002-3314-4FD8-8FC108391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E74BD2-EE06-FA52-2582-48F761F3BB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7643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F4955-F333-4AE7-D7F7-089A08EB8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E1F992-7FDE-ECE3-CF61-9BE8405F50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AC4AD2-D1E4-1BD2-4A48-F349DE0965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689DE7-30A2-7E2D-AA49-D0BF4C9ADA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6706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F619B-C178-26CA-D60B-9C29D9AF2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188A4D1-7EE1-1B0D-584F-6077AD32F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A1CE997-1152-E0EB-C7A7-4B6ABA573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553C20-8613-DDDC-CA9E-CB3E20F907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341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6356A-1FD7-8EB0-1139-B85C3C4E1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6EED7E6-4470-5337-7DA9-82F68C37D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61F7AB0-7EF0-352E-D15E-D3F7028D4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B05FAD-1B0C-5C47-EB0E-1753C2AC80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5945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250C8-6F1E-7597-F81E-530E5FA3D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D53103-9BAA-E834-7886-DAFE065057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006A58D-3F18-E58E-9347-225E97CD53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DB0968-B99B-2DD8-98ED-5549E7E1E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31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EDF77-A941-C4AD-3E4A-B4F1B766B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92808B6-B1E4-09AB-A5B9-9C87FDF7EC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6FEB1D-D5D8-929F-66F7-0BF4D87AEB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C28519-30C7-A357-91AA-513CB3A939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11491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56E2E-5FF5-551B-31AE-C3E8392B3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63F68B2-677F-E407-EBCD-708F2E30FD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930495-6AE5-D424-2B17-61F3CCE2B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59206D-291B-B62B-09B7-B4A4DC3360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62951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E2B04-EB1A-FEAF-A11E-9CFBF0559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E1232BE-EEE6-CE07-AD84-F7348E0517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0C4CE1-F8A9-43B4-C6CA-F2C23D6CD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5D398B-83D8-2573-6622-BE34201BF8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06376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7132A-CBDD-F1C4-CA3B-9D0D4CD4A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3FD92E-0684-5988-6834-42E0A80A00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761D23-832D-4618-8CCF-3E567A7213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3D0FC4-5AA8-A9BD-D7E5-FEB7DD7212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4589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4B390-AF5C-9AEC-1675-7BDFE20BA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A5C8774-1830-F20E-0E2B-3473FC6A2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E6C0694-D496-C253-485F-A7D0D4180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9A876B-569F-1FDD-7786-E568DB788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03357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87330-78E1-35A8-3B65-D9AD0DD69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721F41-32F5-6F54-7CC4-5DDE93900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E7C452-C0E1-AD3E-75C9-62B7B0145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A3EE85-2284-4EC5-F43B-298C496C40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87887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30A4E-99E3-B390-04DF-43BDA1E20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9EB269C-C7FB-EC43-E1E9-949CDC4CD7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023944-002C-A8A9-F67F-F2239A3871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5EAE42-4262-10EF-E8D4-8E8D746179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75309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5FF02-ACDD-4531-CBFB-DAD3069B9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F2A56F-F348-C1AB-4256-D788EECCA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33F785-2551-6214-6266-93DD28C6D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A89EF8-6DAB-3223-9B37-64BA8A50B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30934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75004-2E63-7914-0C30-267E222A9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51B31C5-91F6-DD70-63E4-1BD54A57EE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34E92E-BE20-42BA-E239-D5AE45972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8488EE-6D2F-F7AF-00B3-7C349B01F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12314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7FCA5-80E6-A3C1-B19A-C1E72CA42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06D3571-C213-64A5-940F-5A8AFA8E8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A3DE73-CC4F-87E0-5E70-16AF19728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C7A080-CDAD-A8BF-C5CB-75FCD20054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19666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CD5EF-9785-5B2E-D7C3-1CC0A19C6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5A448A-96C0-EA56-485E-62610F98BA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5C894E-8D92-FD7C-111E-E5ED9758D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CBB0C0-FF43-DD72-F125-7C59DA4DE1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59208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4B1EC-79DA-0174-D1D6-8A10AB021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89FEE6-3C5A-9E1D-0CCD-5F17AC48E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8136C1-61D9-FB11-E638-AB04D8B8E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FC1987-3CD1-D227-1EA4-6D0199C54B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96997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409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Relationship Id="rId4" Type="http://schemas.microsoft.com/office/2007/relationships/hdphoto" Target="../media/hdphoto1.wdp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7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7.xml"/><Relationship Id="rId4" Type="http://schemas.microsoft.com/office/2007/relationships/hdphoto" Target="../media/hdphoto1.wdp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7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7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4.png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4.png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9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24.png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24.png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1.xml"/></Relationships>
</file>

<file path=ppt/slideLayouts/_rels/slideLayout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2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2.xml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 bwMode="auto">
          <a:xfrm>
            <a:off x="0" y="1771650"/>
            <a:ext cx="12192000" cy="126149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2394901"/>
            <a:ext cx="12192000" cy="3796496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928495"/>
            <a:endParaRPr lang="zh-CN" altLang="en-US" sz="1400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0" y="2291460"/>
            <a:ext cx="12192000" cy="4004169"/>
            <a:chOff x="1960583" y="2188019"/>
            <a:chExt cx="9297266" cy="4004169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rot="10800000" flipH="1">
              <a:off x="1960583" y="6087956"/>
              <a:ext cx="9297266" cy="104232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flipH="1">
              <a:off x="1960583" y="2188019"/>
              <a:ext cx="9297266" cy="10423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508FBC-A264-6F1A-7977-DAFCBAF387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5"/>
          <a:stretch/>
        </p:blipFill>
        <p:spPr>
          <a:xfrm>
            <a:off x="916640" y="227763"/>
            <a:ext cx="11161059" cy="603504"/>
          </a:xfrm>
          <a:prstGeom prst="rect">
            <a:avLst/>
          </a:prstGeom>
        </p:spPr>
      </p:pic>
      <p:pic>
        <p:nvPicPr>
          <p:cNvPr id="3" name="Picture 2" descr="A logo with dots and lines&#10;&#10;Description automatically generated">
            <a:extLst>
              <a:ext uri="{FF2B5EF4-FFF2-40B4-BE49-F238E27FC236}">
                <a16:creationId xmlns:a16="http://schemas.microsoft.com/office/drawing/2014/main" id="{5467157C-6AAC-7C52-2017-1FE36A3D10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r="8389" b="36069"/>
          <a:stretch/>
        </p:blipFill>
        <p:spPr>
          <a:xfrm>
            <a:off x="11249224" y="166730"/>
            <a:ext cx="828475" cy="7255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71D0F9-5031-B629-E802-6AEAF0F1C6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53"/>
          <a:stretch/>
        </p:blipFill>
        <p:spPr>
          <a:xfrm>
            <a:off x="0" y="0"/>
            <a:ext cx="12192000" cy="101499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F803D8-0039-D24A-E8C1-26F5161CAA45}"/>
              </a:ext>
            </a:extLst>
          </p:cNvPr>
          <p:cNvSpPr/>
          <p:nvPr userDrawn="1"/>
        </p:nvSpPr>
        <p:spPr>
          <a:xfrm>
            <a:off x="5982657" y="0"/>
            <a:ext cx="202179" cy="1014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9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483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二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二、主要工作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09687F67-AA25-9614-8E73-69B387358195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三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三、总结展望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237FF217-6AE0-9A66-FE88-108698555006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1531166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结束语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E96EBE77-5145-3DED-C2A2-D3DD459293CF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纯背景带校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4" y="202985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7017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235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74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7618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352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9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5812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9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5071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8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184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AAD130C-ED07-484A-9AB4-E1251588E4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40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A302F4-29FB-4385-966A-B8B23A0BA4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2871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8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8216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257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3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45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4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80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26843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33461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43333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358808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4207485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1838632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3369776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0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376049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80203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1495772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657071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803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FAC3-5A54-4C24-B1C2-7ACDC1C03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3F0A2-8D54-42B6-A1EF-0C2F8892D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6CA9A-ECD6-464E-B3EA-9096A8DA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F2BC-1743-4566-BE9E-A92FD07F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D4BB-D5EC-458E-BA84-2D7C1FB2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25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9863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66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247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24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1222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7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160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7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7289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922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AAD130C-ED07-484A-9AB4-E1251588E4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377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A302F4-29FB-4385-966A-B8B23A0BA4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2872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47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7616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78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3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96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6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496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342809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167902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502986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7605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4321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355559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2950847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09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45308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35475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113326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3257550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11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FAC3-5A54-4C24-B1C2-7ACDC1C03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3F0A2-8D54-42B6-A1EF-0C2F8892D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6CA9A-ECD6-464E-B3EA-9096A8DA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F2BC-1743-4566-BE9E-A92FD07F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D4BB-D5EC-458E-BA84-2D7C1FB2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42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86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 userDrawn="1"/>
        </p:nvSpPr>
        <p:spPr bwMode="auto">
          <a:xfrm>
            <a:off x="0" y="137411"/>
            <a:ext cx="1219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  研究成果与主要创新</a:t>
            </a:r>
            <a:endParaRPr lang="zh-CN" altLang="en-US" sz="3600" b="1" spc="300" dirty="0">
              <a:solidFill>
                <a:schemeClr val="accent4">
                  <a:lumMod val="40000"/>
                  <a:lumOff val="6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7"/>
          <p:cNvSpPr/>
          <p:nvPr userDrawn="1"/>
        </p:nvSpPr>
        <p:spPr>
          <a:xfrm>
            <a:off x="0" y="6713999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905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71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187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1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088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228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29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425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29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359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440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64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57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5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11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7" y="124415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85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393110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296581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49991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59847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460970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194409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79241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11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7547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2857828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999054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265406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77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64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4" y="202986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8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0" y="87766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059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1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662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717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2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235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2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8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727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4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63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4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935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5" y="124414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58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73168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997330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9897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946501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85636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220887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91587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1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51207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03766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835037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0862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6696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4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9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黄生俊   副教授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2509937" y="3182187"/>
            <a:ext cx="717212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第四讲 统计调查</a:t>
            </a:r>
          </a:p>
        </p:txBody>
      </p:sp>
    </p:spTree>
    <p:extLst>
      <p:ext uri="{BB962C8B-B14F-4D97-AF65-F5344CB8AC3E}">
        <p14:creationId xmlns:p14="http://schemas.microsoft.com/office/powerpoint/2010/main" val="823770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910306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09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2749563" y="2348880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3791744" y="2380494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统计调查概述</a:t>
            </a:r>
          </a:p>
        </p:txBody>
      </p:sp>
      <p:sp>
        <p:nvSpPr>
          <p:cNvPr id="23" name="椭圆 22"/>
          <p:cNvSpPr/>
          <p:nvPr userDrawn="1"/>
        </p:nvSpPr>
        <p:spPr>
          <a:xfrm>
            <a:off x="2749563" y="3388677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3791744" y="3420291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统计调查的实施</a:t>
            </a: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CONTENTS</a:t>
            </a:r>
          </a:p>
        </p:txBody>
      </p:sp>
      <p:sp>
        <p:nvSpPr>
          <p:cNvPr id="11" name="椭圆 10"/>
          <p:cNvSpPr/>
          <p:nvPr userDrawn="1"/>
        </p:nvSpPr>
        <p:spPr>
          <a:xfrm>
            <a:off x="2735627" y="4437112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3777808" y="4468726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调查问卷</a:t>
            </a:r>
          </a:p>
        </p:txBody>
      </p:sp>
    </p:spTree>
    <p:extLst>
      <p:ext uri="{BB962C8B-B14F-4D97-AF65-F5344CB8AC3E}">
        <p14:creationId xmlns:p14="http://schemas.microsoft.com/office/powerpoint/2010/main" val="2101771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37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75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统计调查概述</a:t>
            </a:r>
          </a:p>
        </p:txBody>
      </p:sp>
    </p:spTree>
    <p:extLst>
      <p:ext uri="{BB962C8B-B14F-4D97-AF65-F5344CB8AC3E}">
        <p14:creationId xmlns:p14="http://schemas.microsoft.com/office/powerpoint/2010/main" val="164188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一、统计调查概述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9595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统计调查的实施</a:t>
            </a:r>
          </a:p>
        </p:txBody>
      </p:sp>
    </p:spTree>
    <p:extLst>
      <p:ext uri="{BB962C8B-B14F-4D97-AF65-F5344CB8AC3E}">
        <p14:creationId xmlns:p14="http://schemas.microsoft.com/office/powerpoint/2010/main" val="38381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二、统计调查的实施</a:t>
            </a:r>
          </a:p>
        </p:txBody>
      </p:sp>
    </p:spTree>
    <p:extLst>
      <p:ext uri="{BB962C8B-B14F-4D97-AF65-F5344CB8AC3E}">
        <p14:creationId xmlns:p14="http://schemas.microsoft.com/office/powerpoint/2010/main" val="296812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调查问卷</a:t>
            </a:r>
          </a:p>
        </p:txBody>
      </p:sp>
    </p:spTree>
    <p:extLst>
      <p:ext uri="{BB962C8B-B14F-4D97-AF65-F5344CB8AC3E}">
        <p14:creationId xmlns:p14="http://schemas.microsoft.com/office/powerpoint/2010/main" val="251066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三、调查问卷</a:t>
            </a:r>
          </a:p>
        </p:txBody>
      </p:sp>
    </p:spTree>
    <p:extLst>
      <p:ext uri="{BB962C8B-B14F-4D97-AF65-F5344CB8AC3E}">
        <p14:creationId xmlns:p14="http://schemas.microsoft.com/office/powerpoint/2010/main" val="315777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课堂总结</a:t>
            </a:r>
          </a:p>
        </p:txBody>
      </p:sp>
    </p:spTree>
    <p:extLst>
      <p:ext uri="{BB962C8B-B14F-4D97-AF65-F5344CB8AC3E}">
        <p14:creationId xmlns:p14="http://schemas.microsoft.com/office/powerpoint/2010/main" val="111825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课后作业</a:t>
            </a:r>
          </a:p>
        </p:txBody>
      </p:sp>
    </p:spTree>
    <p:extLst>
      <p:ext uri="{BB962C8B-B14F-4D97-AF65-F5344CB8AC3E}">
        <p14:creationId xmlns:p14="http://schemas.microsoft.com/office/powerpoint/2010/main" val="2574505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508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8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刘亚杰   研究员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1902991" y="3182187"/>
            <a:ext cx="838601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第四讲  抽样与估计</a:t>
            </a:r>
            <a:r>
              <a:rPr kumimoji="0" lang="en-US" altLang="zh-CN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1</a:t>
            </a:r>
            <a:endParaRPr kumimoji="0" lang="zh-CN" altLang="en-US" sz="4400" b="1" i="0" u="none" strike="noStrike" kern="1200" cap="none" spc="300" normalizeH="0" baseline="0" noProof="0" dirty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4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51526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36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3387976" y="2204864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4430158" y="223125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抽样的基本概念</a:t>
            </a:r>
          </a:p>
        </p:txBody>
      </p:sp>
      <p:sp>
        <p:nvSpPr>
          <p:cNvPr id="21" name="椭圆 20"/>
          <p:cNvSpPr/>
          <p:nvPr userDrawn="1"/>
        </p:nvSpPr>
        <p:spPr>
          <a:xfrm>
            <a:off x="3387976" y="3902552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</a:p>
        </p:txBody>
      </p:sp>
      <p:sp>
        <p:nvSpPr>
          <p:cNvPr id="22" name="矩形 21"/>
          <p:cNvSpPr/>
          <p:nvPr userDrawn="1"/>
        </p:nvSpPr>
        <p:spPr>
          <a:xfrm>
            <a:off x="4430157" y="39315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分层抽样</a:t>
            </a:r>
          </a:p>
        </p:txBody>
      </p:sp>
      <p:sp>
        <p:nvSpPr>
          <p:cNvPr id="23" name="椭圆 22"/>
          <p:cNvSpPr/>
          <p:nvPr userDrawn="1"/>
        </p:nvSpPr>
        <p:spPr>
          <a:xfrm>
            <a:off x="3387976" y="3053708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4430158" y="308140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简单随机抽样</a:t>
            </a: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CONTENTS</a:t>
            </a:r>
          </a:p>
        </p:txBody>
      </p:sp>
      <p:sp>
        <p:nvSpPr>
          <p:cNvPr id="13" name="椭圆 12"/>
          <p:cNvSpPr/>
          <p:nvPr userDrawn="1"/>
        </p:nvSpPr>
        <p:spPr>
          <a:xfrm>
            <a:off x="3387976" y="4751396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四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4430157" y="478170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整群抽样</a:t>
            </a:r>
          </a:p>
        </p:txBody>
      </p:sp>
      <p:sp>
        <p:nvSpPr>
          <p:cNvPr id="15" name="椭圆 14"/>
          <p:cNvSpPr/>
          <p:nvPr userDrawn="1"/>
        </p:nvSpPr>
        <p:spPr>
          <a:xfrm>
            <a:off x="3387976" y="5600241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五</a:t>
            </a:r>
          </a:p>
        </p:txBody>
      </p:sp>
      <p:sp>
        <p:nvSpPr>
          <p:cNvPr id="16" name="矩形 15"/>
          <p:cNvSpPr/>
          <p:nvPr userDrawn="1"/>
        </p:nvSpPr>
        <p:spPr>
          <a:xfrm>
            <a:off x="4430157" y="56318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系统抽样</a:t>
            </a:r>
          </a:p>
        </p:txBody>
      </p:sp>
    </p:spTree>
    <p:extLst>
      <p:ext uri="{BB962C8B-B14F-4D97-AF65-F5344CB8AC3E}">
        <p14:creationId xmlns:p14="http://schemas.microsoft.com/office/powerpoint/2010/main" val="3781325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2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88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272000" y="2852936"/>
            <a:ext cx="9648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432000" rIns="432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抽样的基本概念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49553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一、抽样的基本概念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723002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504000" rIns="504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简单随机抽样</a:t>
            </a:r>
          </a:p>
        </p:txBody>
      </p:sp>
    </p:spTree>
    <p:extLst>
      <p:ext uri="{BB962C8B-B14F-4D97-AF65-F5344CB8AC3E}">
        <p14:creationId xmlns:p14="http://schemas.microsoft.com/office/powerpoint/2010/main" val="352455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二、简单随机抽样</a:t>
            </a:r>
          </a:p>
        </p:txBody>
      </p:sp>
    </p:spTree>
    <p:extLst>
      <p:ext uri="{BB962C8B-B14F-4D97-AF65-F5344CB8AC3E}">
        <p14:creationId xmlns:p14="http://schemas.microsoft.com/office/powerpoint/2010/main" val="396433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分层抽样</a:t>
            </a:r>
          </a:p>
        </p:txBody>
      </p:sp>
    </p:spTree>
    <p:extLst>
      <p:ext uri="{BB962C8B-B14F-4D97-AF65-F5344CB8AC3E}">
        <p14:creationId xmlns:p14="http://schemas.microsoft.com/office/powerpoint/2010/main" val="3379862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三、分层抽样</a:t>
            </a:r>
          </a:p>
        </p:txBody>
      </p:sp>
    </p:spTree>
    <p:extLst>
      <p:ext uri="{BB962C8B-B14F-4D97-AF65-F5344CB8AC3E}">
        <p14:creationId xmlns:p14="http://schemas.microsoft.com/office/powerpoint/2010/main" val="2527844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第四部分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整群抽样</a:t>
            </a:r>
          </a:p>
        </p:txBody>
      </p:sp>
    </p:spTree>
    <p:extLst>
      <p:ext uri="{BB962C8B-B14F-4D97-AF65-F5344CB8AC3E}">
        <p14:creationId xmlns:p14="http://schemas.microsoft.com/office/powerpoint/2010/main" val="3362027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四、整群抽样</a:t>
            </a:r>
          </a:p>
        </p:txBody>
      </p:sp>
    </p:spTree>
    <p:extLst>
      <p:ext uri="{BB962C8B-B14F-4D97-AF65-F5344CB8AC3E}">
        <p14:creationId xmlns:p14="http://schemas.microsoft.com/office/powerpoint/2010/main" val="2150209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第五部分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系统抽样</a:t>
            </a:r>
          </a:p>
        </p:txBody>
      </p:sp>
    </p:spTree>
    <p:extLst>
      <p:ext uri="{BB962C8B-B14F-4D97-AF65-F5344CB8AC3E}">
        <p14:creationId xmlns:p14="http://schemas.microsoft.com/office/powerpoint/2010/main" val="40394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五、系统抽样</a:t>
            </a:r>
          </a:p>
        </p:txBody>
      </p:sp>
    </p:spTree>
    <p:extLst>
      <p:ext uri="{BB962C8B-B14F-4D97-AF65-F5344CB8AC3E}">
        <p14:creationId xmlns:p14="http://schemas.microsoft.com/office/powerpoint/2010/main" val="4087879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课堂总结</a:t>
            </a:r>
          </a:p>
        </p:txBody>
      </p:sp>
    </p:spTree>
    <p:extLst>
      <p:ext uri="{BB962C8B-B14F-4D97-AF65-F5344CB8AC3E}">
        <p14:creationId xmlns:p14="http://schemas.microsoft.com/office/powerpoint/2010/main" val="3847791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课后作业</a:t>
            </a:r>
          </a:p>
        </p:txBody>
      </p:sp>
    </p:spTree>
    <p:extLst>
      <p:ext uri="{BB962C8B-B14F-4D97-AF65-F5344CB8AC3E}">
        <p14:creationId xmlns:p14="http://schemas.microsoft.com/office/powerpoint/2010/main" val="1665477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625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64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41"/>
            <a:ext cx="10362961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5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073367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6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306138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5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3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21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4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56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0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60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12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64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16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132400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5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5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540086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9" y="1535113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21" indent="0">
              <a:buNone/>
              <a:defRPr sz="2667" b="1"/>
            </a:lvl2pPr>
            <a:lvl3pPr marL="1219042" indent="0">
              <a:buNone/>
              <a:defRPr sz="2400" b="1"/>
            </a:lvl3pPr>
            <a:lvl4pPr marL="1828561" indent="0">
              <a:buNone/>
              <a:defRPr sz="2133" b="1"/>
            </a:lvl4pPr>
            <a:lvl5pPr marL="2438080" indent="0">
              <a:buNone/>
              <a:defRPr sz="2133" b="1"/>
            </a:lvl5pPr>
            <a:lvl6pPr marL="3047601" indent="0">
              <a:buNone/>
              <a:defRPr sz="2133" b="1"/>
            </a:lvl6pPr>
            <a:lvl7pPr marL="3657122" indent="0">
              <a:buNone/>
              <a:defRPr sz="2133" b="1"/>
            </a:lvl7pPr>
            <a:lvl8pPr marL="4266641" indent="0">
              <a:buNone/>
              <a:defRPr sz="2133" b="1"/>
            </a:lvl8pPr>
            <a:lvl9pPr marL="4876162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9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3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21" indent="0">
              <a:buNone/>
              <a:defRPr sz="2667" b="1"/>
            </a:lvl2pPr>
            <a:lvl3pPr marL="1219042" indent="0">
              <a:buNone/>
              <a:defRPr sz="2400" b="1"/>
            </a:lvl3pPr>
            <a:lvl4pPr marL="1828561" indent="0">
              <a:buNone/>
              <a:defRPr sz="2133" b="1"/>
            </a:lvl4pPr>
            <a:lvl5pPr marL="2438080" indent="0">
              <a:buNone/>
              <a:defRPr sz="2133" b="1"/>
            </a:lvl5pPr>
            <a:lvl6pPr marL="3047601" indent="0">
              <a:buNone/>
              <a:defRPr sz="2133" b="1"/>
            </a:lvl6pPr>
            <a:lvl7pPr marL="3657122" indent="0">
              <a:buNone/>
              <a:defRPr sz="2133" b="1"/>
            </a:lvl7pPr>
            <a:lvl8pPr marL="4266641" indent="0">
              <a:buNone/>
              <a:defRPr sz="2133" b="1"/>
            </a:lvl8pPr>
            <a:lvl9pPr marL="4876162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558282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801042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96582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49"/>
            <a:ext cx="4010547" cy="1162051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4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21" indent="0">
              <a:buNone/>
              <a:defRPr sz="1600"/>
            </a:lvl2pPr>
            <a:lvl3pPr marL="1219042" indent="0">
              <a:buNone/>
              <a:defRPr sz="1333"/>
            </a:lvl3pPr>
            <a:lvl4pPr marL="1828561" indent="0">
              <a:buNone/>
              <a:defRPr sz="1200"/>
            </a:lvl4pPr>
            <a:lvl5pPr marL="2438080" indent="0">
              <a:buNone/>
              <a:defRPr sz="1200"/>
            </a:lvl5pPr>
            <a:lvl6pPr marL="3047601" indent="0">
              <a:buNone/>
              <a:defRPr sz="1200"/>
            </a:lvl6pPr>
            <a:lvl7pPr marL="3657122" indent="0">
              <a:buNone/>
              <a:defRPr sz="1200"/>
            </a:lvl7pPr>
            <a:lvl8pPr marL="4266641" indent="0">
              <a:buNone/>
              <a:defRPr sz="1200"/>
            </a:lvl8pPr>
            <a:lvl9pPr marL="4876162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105580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1"/>
            <a:ext cx="7316152" cy="56673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21" indent="0">
              <a:buNone/>
              <a:defRPr sz="3733"/>
            </a:lvl2pPr>
            <a:lvl3pPr marL="1219042" indent="0">
              <a:buNone/>
              <a:defRPr sz="3200"/>
            </a:lvl3pPr>
            <a:lvl4pPr marL="1828561" indent="0">
              <a:buNone/>
              <a:defRPr sz="2667"/>
            </a:lvl4pPr>
            <a:lvl5pPr marL="2438080" indent="0">
              <a:buNone/>
              <a:defRPr sz="2667"/>
            </a:lvl5pPr>
            <a:lvl6pPr marL="3047601" indent="0">
              <a:buNone/>
              <a:defRPr sz="2667"/>
            </a:lvl6pPr>
            <a:lvl7pPr marL="3657122" indent="0">
              <a:buNone/>
              <a:defRPr sz="2667"/>
            </a:lvl7pPr>
            <a:lvl8pPr marL="4266641" indent="0">
              <a:buNone/>
              <a:defRPr sz="2667"/>
            </a:lvl8pPr>
            <a:lvl9pPr marL="4876162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7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21" indent="0">
              <a:buNone/>
              <a:defRPr sz="1600"/>
            </a:lvl2pPr>
            <a:lvl3pPr marL="1219042" indent="0">
              <a:buNone/>
              <a:defRPr sz="1333"/>
            </a:lvl3pPr>
            <a:lvl4pPr marL="1828561" indent="0">
              <a:buNone/>
              <a:defRPr sz="1200"/>
            </a:lvl4pPr>
            <a:lvl5pPr marL="2438080" indent="0">
              <a:buNone/>
              <a:defRPr sz="1200"/>
            </a:lvl5pPr>
            <a:lvl6pPr marL="3047601" indent="0">
              <a:buNone/>
              <a:defRPr sz="1200"/>
            </a:lvl6pPr>
            <a:lvl7pPr marL="3657122" indent="0">
              <a:buNone/>
              <a:defRPr sz="1200"/>
            </a:lvl7pPr>
            <a:lvl8pPr marL="4266641" indent="0">
              <a:buNone/>
              <a:defRPr sz="1200"/>
            </a:lvl8pPr>
            <a:lvl9pPr marL="4876162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231279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06571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4" y="274644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4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765625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itchFamily="2" charset="2"/>
              <a:buChar char="v"/>
              <a:defRPr/>
            </a:pPr>
            <a:endParaRPr lang="zh-CN" altLang="en-US" sz="1867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3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4174451897"/>
              </p:ext>
            </p:extLst>
          </p:nvPr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1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2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3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7183462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3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4124130156"/>
              </p:ext>
            </p:extLst>
          </p:nvPr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7960715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4966576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7492560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>
            <a:spLocks/>
          </p:cNvSpPr>
          <p:nvPr userDrawn="1"/>
        </p:nvSpPr>
        <p:spPr>
          <a:xfrm>
            <a:off x="9168341" y="6381336"/>
            <a:ext cx="2844800" cy="365125"/>
          </a:xfrm>
          <a:prstGeom prst="rect">
            <a:avLst/>
          </a:prstGeom>
        </p:spPr>
        <p:txBody>
          <a:bodyPr vert="horz" lIns="121916" tIns="60959" rIns="121916" bIns="60959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华文隶书" pitchFamily="2" charset="-122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7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245552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072092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7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3" y="87768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473426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0573167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61138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055062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5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8175703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4763363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0252322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81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1346797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637126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575122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001943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886211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356594338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1180185388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678604256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223116158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88470857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779513701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649633970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4" y="124412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67770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027927788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2619967837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861590437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2237137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248556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6481458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37"/>
            <a:ext cx="10362961" cy="147002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4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0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0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535992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8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908976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8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5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0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0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5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01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52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02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52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0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406441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6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2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6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2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081048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8" y="1535115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03" indent="0">
              <a:buNone/>
              <a:defRPr sz="2667" b="1"/>
            </a:lvl2pPr>
            <a:lvl3pPr marL="1219008" indent="0">
              <a:buNone/>
              <a:defRPr sz="2400" b="1"/>
            </a:lvl3pPr>
            <a:lvl4pPr marL="1828512" indent="0">
              <a:buNone/>
              <a:defRPr sz="2133" b="1"/>
            </a:lvl4pPr>
            <a:lvl5pPr marL="2438016" indent="0">
              <a:buNone/>
              <a:defRPr sz="2133" b="1"/>
            </a:lvl5pPr>
            <a:lvl6pPr marL="3047521" indent="0">
              <a:buNone/>
              <a:defRPr sz="2133" b="1"/>
            </a:lvl6pPr>
            <a:lvl7pPr marL="3657025" indent="0">
              <a:buNone/>
              <a:defRPr sz="2133" b="1"/>
            </a:lvl7pPr>
            <a:lvl8pPr marL="4266529" indent="0">
              <a:buNone/>
              <a:defRPr sz="2133" b="1"/>
            </a:lvl8pPr>
            <a:lvl9pPr marL="4876034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8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5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03" indent="0">
              <a:buNone/>
              <a:defRPr sz="2667" b="1"/>
            </a:lvl2pPr>
            <a:lvl3pPr marL="1219008" indent="0">
              <a:buNone/>
              <a:defRPr sz="2400" b="1"/>
            </a:lvl3pPr>
            <a:lvl4pPr marL="1828512" indent="0">
              <a:buNone/>
              <a:defRPr sz="2133" b="1"/>
            </a:lvl4pPr>
            <a:lvl5pPr marL="2438016" indent="0">
              <a:buNone/>
              <a:defRPr sz="2133" b="1"/>
            </a:lvl5pPr>
            <a:lvl6pPr marL="3047521" indent="0">
              <a:buNone/>
              <a:defRPr sz="2133" b="1"/>
            </a:lvl6pPr>
            <a:lvl7pPr marL="3657025" indent="0">
              <a:buNone/>
              <a:defRPr sz="2133" b="1"/>
            </a:lvl7pPr>
            <a:lvl8pPr marL="4266529" indent="0">
              <a:buNone/>
              <a:defRPr sz="2133" b="1"/>
            </a:lvl8pPr>
            <a:lvl9pPr marL="4876034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558549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400213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481677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52"/>
            <a:ext cx="4010547" cy="116204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2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5"/>
            </a:lvl1pPr>
            <a:lvl2pPr>
              <a:defRPr sz="3732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03" indent="0">
              <a:buNone/>
              <a:defRPr sz="1600"/>
            </a:lvl2pPr>
            <a:lvl3pPr marL="1219008" indent="0">
              <a:buNone/>
              <a:defRPr sz="1333"/>
            </a:lvl3pPr>
            <a:lvl4pPr marL="1828512" indent="0">
              <a:buNone/>
              <a:defRPr sz="1200"/>
            </a:lvl4pPr>
            <a:lvl5pPr marL="2438016" indent="0">
              <a:buNone/>
              <a:defRPr sz="1200"/>
            </a:lvl5pPr>
            <a:lvl6pPr marL="3047521" indent="0">
              <a:buNone/>
              <a:defRPr sz="1200"/>
            </a:lvl6pPr>
            <a:lvl7pPr marL="3657025" indent="0">
              <a:buNone/>
              <a:defRPr sz="1200"/>
            </a:lvl7pPr>
            <a:lvl8pPr marL="4266529" indent="0">
              <a:buNone/>
              <a:defRPr sz="1200"/>
            </a:lvl8pPr>
            <a:lvl9pPr marL="4876034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7715691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4"/>
            <a:ext cx="7316152" cy="566737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5"/>
            </a:lvl1pPr>
            <a:lvl2pPr marL="609503" indent="0">
              <a:buNone/>
              <a:defRPr sz="3732"/>
            </a:lvl2pPr>
            <a:lvl3pPr marL="1219008" indent="0">
              <a:buNone/>
              <a:defRPr sz="3200"/>
            </a:lvl3pPr>
            <a:lvl4pPr marL="1828512" indent="0">
              <a:buNone/>
              <a:defRPr sz="2667"/>
            </a:lvl4pPr>
            <a:lvl5pPr marL="2438016" indent="0">
              <a:buNone/>
              <a:defRPr sz="2667"/>
            </a:lvl5pPr>
            <a:lvl6pPr marL="3047521" indent="0">
              <a:buNone/>
              <a:defRPr sz="2667"/>
            </a:lvl6pPr>
            <a:lvl7pPr marL="3657025" indent="0">
              <a:buNone/>
              <a:defRPr sz="2667"/>
            </a:lvl7pPr>
            <a:lvl8pPr marL="4266529" indent="0">
              <a:buNone/>
              <a:defRPr sz="2667"/>
            </a:lvl8pPr>
            <a:lvl9pPr marL="4876034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6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03" indent="0">
              <a:buNone/>
              <a:defRPr sz="1600"/>
            </a:lvl2pPr>
            <a:lvl3pPr marL="1219008" indent="0">
              <a:buNone/>
              <a:defRPr sz="1333"/>
            </a:lvl3pPr>
            <a:lvl4pPr marL="1828512" indent="0">
              <a:buNone/>
              <a:defRPr sz="1200"/>
            </a:lvl4pPr>
            <a:lvl5pPr marL="2438016" indent="0">
              <a:buNone/>
              <a:defRPr sz="1200"/>
            </a:lvl5pPr>
            <a:lvl6pPr marL="3047521" indent="0">
              <a:buNone/>
              <a:defRPr sz="1200"/>
            </a:lvl6pPr>
            <a:lvl7pPr marL="3657025" indent="0">
              <a:buNone/>
              <a:defRPr sz="1200"/>
            </a:lvl7pPr>
            <a:lvl8pPr marL="4266529" indent="0">
              <a:buNone/>
              <a:defRPr sz="1200"/>
            </a:lvl8pPr>
            <a:lvl9pPr marL="4876034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251516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767217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2" y="274646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6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454049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itchFamily="2" charset="2"/>
              <a:buChar char="v"/>
              <a:defRPr/>
            </a:pPr>
            <a:endParaRPr lang="zh-CN" altLang="en-US" sz="1867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2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675348321"/>
              </p:ext>
            </p:extLst>
          </p:nvPr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1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0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3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0005484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2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718987335"/>
              </p:ext>
            </p:extLst>
          </p:nvPr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0065691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5225702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9259243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>
            <a:spLocks/>
          </p:cNvSpPr>
          <p:nvPr userDrawn="1"/>
        </p:nvSpPr>
        <p:spPr>
          <a:xfrm>
            <a:off x="9168341" y="6381338"/>
            <a:ext cx="2844800" cy="365125"/>
          </a:xfrm>
          <a:prstGeom prst="rect">
            <a:avLst/>
          </a:prstGeom>
        </p:spPr>
        <p:txBody>
          <a:bodyPr vert="horz" lIns="121912" tIns="60956" rIns="121912" bIns="60956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华文隶书" pitchFamily="2" charset="-122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7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227162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763641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7" y="202986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09434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117324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000382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4106546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6178270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1288357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8046193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9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5921409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922690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522471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015495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921563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473182540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2088016884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708961625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3867872023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450110946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2867925218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990947103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3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654656536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3713739972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09380426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923270866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9320787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80919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50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09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100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3847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8640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（一）个人简历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753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19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17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59" y="124411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254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0" y="124411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11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2533514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963261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56138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69648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7273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729280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246263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1999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99249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139804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716374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3286216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128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1.xml"/><Relationship Id="rId28" Type="http://schemas.openxmlformats.org/officeDocument/2006/relationships/image" Target="../media/image9.gif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Relationship Id="rId27" Type="http://schemas.openxmlformats.org/officeDocument/2006/relationships/image" Target="../media/image8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9.xml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29" Type="http://schemas.openxmlformats.org/officeDocument/2006/relationships/image" Target="../media/image13.gif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image" Target="../media/image8.jpg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2.xml"/><Relationship Id="rId18" Type="http://schemas.openxmlformats.org/officeDocument/2006/relationships/slideLayout" Target="../slideLayouts/slideLayout77.xml"/><Relationship Id="rId26" Type="http://schemas.openxmlformats.org/officeDocument/2006/relationships/theme" Target="../theme/theme4.xml"/><Relationship Id="rId3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80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84.xml"/><Relationship Id="rId2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75.xml"/><Relationship Id="rId20" Type="http://schemas.openxmlformats.org/officeDocument/2006/relationships/slideLayout" Target="../slideLayouts/slideLayout79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83.xml"/><Relationship Id="rId5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82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69.xml"/><Relationship Id="rId19" Type="http://schemas.openxmlformats.org/officeDocument/2006/relationships/slideLayout" Target="../slideLayouts/slideLayout78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81.xml"/><Relationship Id="rId27" Type="http://schemas.openxmlformats.org/officeDocument/2006/relationships/image" Target="../media/image8.jp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7.xml"/><Relationship Id="rId18" Type="http://schemas.openxmlformats.org/officeDocument/2006/relationships/slideLayout" Target="../slideLayouts/slideLayout102.xml"/><Relationship Id="rId26" Type="http://schemas.openxmlformats.org/officeDocument/2006/relationships/theme" Target="../theme/theme5.xml"/><Relationship Id="rId3" Type="http://schemas.openxmlformats.org/officeDocument/2006/relationships/slideLayout" Target="../slideLayouts/slideLayout87.xml"/><Relationship Id="rId21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17" Type="http://schemas.openxmlformats.org/officeDocument/2006/relationships/slideLayout" Target="../slideLayouts/slideLayout101.xml"/><Relationship Id="rId25" Type="http://schemas.openxmlformats.org/officeDocument/2006/relationships/slideLayout" Target="../slideLayouts/slideLayout109.xml"/><Relationship Id="rId2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100.xml"/><Relationship Id="rId20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2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9.xml"/><Relationship Id="rId23" Type="http://schemas.openxmlformats.org/officeDocument/2006/relationships/slideLayout" Target="../slideLayouts/slideLayout107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Relationship Id="rId22" Type="http://schemas.openxmlformats.org/officeDocument/2006/relationships/slideLayout" Target="../slideLayouts/slideLayout106.xml"/><Relationship Id="rId27" Type="http://schemas.openxmlformats.org/officeDocument/2006/relationships/image" Target="../media/image8.jp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7.xml"/><Relationship Id="rId13" Type="http://schemas.openxmlformats.org/officeDocument/2006/relationships/slideLayout" Target="../slideLayouts/slideLayout122.xml"/><Relationship Id="rId3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121.xml"/><Relationship Id="rId17" Type="http://schemas.openxmlformats.org/officeDocument/2006/relationships/image" Target="../media/image15.png"/><Relationship Id="rId2" Type="http://schemas.openxmlformats.org/officeDocument/2006/relationships/slideLayout" Target="../slideLayouts/slideLayout111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14.xml"/><Relationship Id="rId15" Type="http://schemas.openxmlformats.org/officeDocument/2006/relationships/slideLayout" Target="../slideLayouts/slideLayout124.xml"/><Relationship Id="rId10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12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2.xml"/><Relationship Id="rId13" Type="http://schemas.openxmlformats.org/officeDocument/2006/relationships/slideLayout" Target="../slideLayouts/slideLayout137.xml"/><Relationship Id="rId18" Type="http://schemas.openxmlformats.org/officeDocument/2006/relationships/slideLayout" Target="../slideLayouts/slideLayout142.xml"/><Relationship Id="rId3" Type="http://schemas.openxmlformats.org/officeDocument/2006/relationships/slideLayout" Target="../slideLayouts/slideLayout127.xml"/><Relationship Id="rId21" Type="http://schemas.openxmlformats.org/officeDocument/2006/relationships/theme" Target="../theme/theme7.xml"/><Relationship Id="rId7" Type="http://schemas.openxmlformats.org/officeDocument/2006/relationships/slideLayout" Target="../slideLayouts/slideLayout131.xml"/><Relationship Id="rId12" Type="http://schemas.openxmlformats.org/officeDocument/2006/relationships/slideLayout" Target="../slideLayouts/slideLayout136.xml"/><Relationship Id="rId17" Type="http://schemas.openxmlformats.org/officeDocument/2006/relationships/slideLayout" Target="../slideLayouts/slideLayout141.xml"/><Relationship Id="rId2" Type="http://schemas.openxmlformats.org/officeDocument/2006/relationships/slideLayout" Target="../slideLayouts/slideLayout126.xml"/><Relationship Id="rId16" Type="http://schemas.openxmlformats.org/officeDocument/2006/relationships/slideLayout" Target="../slideLayouts/slideLayout140.xml"/><Relationship Id="rId20" Type="http://schemas.openxmlformats.org/officeDocument/2006/relationships/slideLayout" Target="../slideLayouts/slideLayout144.xml"/><Relationship Id="rId1" Type="http://schemas.openxmlformats.org/officeDocument/2006/relationships/slideLayout" Target="../slideLayouts/slideLayout125.xml"/><Relationship Id="rId6" Type="http://schemas.openxmlformats.org/officeDocument/2006/relationships/slideLayout" Target="../slideLayouts/slideLayout130.xml"/><Relationship Id="rId11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29.xml"/><Relationship Id="rId15" Type="http://schemas.openxmlformats.org/officeDocument/2006/relationships/slideLayout" Target="../slideLayouts/slideLayout139.xml"/><Relationship Id="rId10" Type="http://schemas.openxmlformats.org/officeDocument/2006/relationships/slideLayout" Target="../slideLayouts/slideLayout134.xml"/><Relationship Id="rId19" Type="http://schemas.openxmlformats.org/officeDocument/2006/relationships/slideLayout" Target="../slideLayouts/slideLayout143.xml"/><Relationship Id="rId4" Type="http://schemas.openxmlformats.org/officeDocument/2006/relationships/slideLayout" Target="../slideLayouts/slideLayout128.xml"/><Relationship Id="rId9" Type="http://schemas.openxmlformats.org/officeDocument/2006/relationships/slideLayout" Target="../slideLayouts/slideLayout133.xml"/><Relationship Id="rId14" Type="http://schemas.openxmlformats.org/officeDocument/2006/relationships/slideLayout" Target="../slideLayouts/slideLayout138.xml"/><Relationship Id="rId22" Type="http://schemas.openxmlformats.org/officeDocument/2006/relationships/image" Target="../media/image15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2.xml"/><Relationship Id="rId13" Type="http://schemas.openxmlformats.org/officeDocument/2006/relationships/slideLayout" Target="../slideLayouts/slideLayout157.xml"/><Relationship Id="rId18" Type="http://schemas.openxmlformats.org/officeDocument/2006/relationships/theme" Target="../theme/theme8.xml"/><Relationship Id="rId3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51.xml"/><Relationship Id="rId12" Type="http://schemas.openxmlformats.org/officeDocument/2006/relationships/slideLayout" Target="../slideLayouts/slideLayout156.xml"/><Relationship Id="rId17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46.xml"/><Relationship Id="rId16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55.xml"/><Relationship Id="rId5" Type="http://schemas.openxmlformats.org/officeDocument/2006/relationships/slideLayout" Target="../slideLayouts/slideLayout149.xml"/><Relationship Id="rId15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54.xml"/><Relationship Id="rId4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153.xml"/><Relationship Id="rId14" Type="http://schemas.openxmlformats.org/officeDocument/2006/relationships/slideLayout" Target="../slideLayouts/slideLayout15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9.xml"/><Relationship Id="rId13" Type="http://schemas.openxmlformats.org/officeDocument/2006/relationships/slideLayout" Target="../slideLayouts/slideLayout174.xml"/><Relationship Id="rId18" Type="http://schemas.openxmlformats.org/officeDocument/2006/relationships/slideLayout" Target="../slideLayouts/slideLayout179.xml"/><Relationship Id="rId26" Type="http://schemas.openxmlformats.org/officeDocument/2006/relationships/slideLayout" Target="../slideLayouts/slideLayout187.xml"/><Relationship Id="rId3" Type="http://schemas.openxmlformats.org/officeDocument/2006/relationships/slideLayout" Target="../slideLayouts/slideLayout164.xml"/><Relationship Id="rId21" Type="http://schemas.openxmlformats.org/officeDocument/2006/relationships/slideLayout" Target="../slideLayouts/slideLayout182.xml"/><Relationship Id="rId7" Type="http://schemas.openxmlformats.org/officeDocument/2006/relationships/slideLayout" Target="../slideLayouts/slideLayout168.xml"/><Relationship Id="rId12" Type="http://schemas.openxmlformats.org/officeDocument/2006/relationships/slideLayout" Target="../slideLayouts/slideLayout173.xml"/><Relationship Id="rId17" Type="http://schemas.openxmlformats.org/officeDocument/2006/relationships/slideLayout" Target="../slideLayouts/slideLayout178.xml"/><Relationship Id="rId25" Type="http://schemas.openxmlformats.org/officeDocument/2006/relationships/slideLayout" Target="../slideLayouts/slideLayout186.xml"/><Relationship Id="rId2" Type="http://schemas.openxmlformats.org/officeDocument/2006/relationships/slideLayout" Target="../slideLayouts/slideLayout163.xml"/><Relationship Id="rId16" Type="http://schemas.openxmlformats.org/officeDocument/2006/relationships/slideLayout" Target="../slideLayouts/slideLayout177.xml"/><Relationship Id="rId20" Type="http://schemas.openxmlformats.org/officeDocument/2006/relationships/slideLayout" Target="../slideLayouts/slideLayout181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162.xml"/><Relationship Id="rId6" Type="http://schemas.openxmlformats.org/officeDocument/2006/relationships/slideLayout" Target="../slideLayouts/slideLayout167.xml"/><Relationship Id="rId11" Type="http://schemas.openxmlformats.org/officeDocument/2006/relationships/slideLayout" Target="../slideLayouts/slideLayout172.xml"/><Relationship Id="rId24" Type="http://schemas.openxmlformats.org/officeDocument/2006/relationships/slideLayout" Target="../slideLayouts/slideLayout185.xml"/><Relationship Id="rId5" Type="http://schemas.openxmlformats.org/officeDocument/2006/relationships/slideLayout" Target="../slideLayouts/slideLayout166.xml"/><Relationship Id="rId15" Type="http://schemas.openxmlformats.org/officeDocument/2006/relationships/slideLayout" Target="../slideLayouts/slideLayout176.xml"/><Relationship Id="rId23" Type="http://schemas.openxmlformats.org/officeDocument/2006/relationships/slideLayout" Target="../slideLayouts/slideLayout184.xml"/><Relationship Id="rId28" Type="http://schemas.openxmlformats.org/officeDocument/2006/relationships/image" Target="../media/image8.jpg"/><Relationship Id="rId10" Type="http://schemas.openxmlformats.org/officeDocument/2006/relationships/slideLayout" Target="../slideLayouts/slideLayout171.xml"/><Relationship Id="rId19" Type="http://schemas.openxmlformats.org/officeDocument/2006/relationships/slideLayout" Target="../slideLayouts/slideLayout180.xml"/><Relationship Id="rId4" Type="http://schemas.openxmlformats.org/officeDocument/2006/relationships/slideLayout" Target="../slideLayouts/slideLayout165.xml"/><Relationship Id="rId9" Type="http://schemas.openxmlformats.org/officeDocument/2006/relationships/slideLayout" Target="../slideLayouts/slideLayout170.xml"/><Relationship Id="rId14" Type="http://schemas.openxmlformats.org/officeDocument/2006/relationships/slideLayout" Target="../slideLayouts/slideLayout175.xml"/><Relationship Id="rId22" Type="http://schemas.openxmlformats.org/officeDocument/2006/relationships/slideLayout" Target="../slideLayouts/slideLayout183.xml"/><Relationship Id="rId27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5.xml"/><Relationship Id="rId13" Type="http://schemas.openxmlformats.org/officeDocument/2006/relationships/slideLayout" Target="../slideLayouts/slideLayout200.xml"/><Relationship Id="rId18" Type="http://schemas.openxmlformats.org/officeDocument/2006/relationships/theme" Target="../theme/theme10.xml"/><Relationship Id="rId3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4.xml"/><Relationship Id="rId12" Type="http://schemas.openxmlformats.org/officeDocument/2006/relationships/slideLayout" Target="../slideLayouts/slideLayout199.xml"/><Relationship Id="rId17" Type="http://schemas.openxmlformats.org/officeDocument/2006/relationships/slideLayout" Target="../slideLayouts/slideLayout204.xml"/><Relationship Id="rId2" Type="http://schemas.openxmlformats.org/officeDocument/2006/relationships/slideLayout" Target="../slideLayouts/slideLayout189.xml"/><Relationship Id="rId16" Type="http://schemas.openxmlformats.org/officeDocument/2006/relationships/slideLayout" Target="../slideLayouts/slideLayout203.xml"/><Relationship Id="rId1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93.xml"/><Relationship Id="rId11" Type="http://schemas.openxmlformats.org/officeDocument/2006/relationships/slideLayout" Target="../slideLayouts/slideLayout198.xml"/><Relationship Id="rId5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202.xml"/><Relationship Id="rId10" Type="http://schemas.openxmlformats.org/officeDocument/2006/relationships/slideLayout" Target="../slideLayouts/slideLayout197.xml"/><Relationship Id="rId4" Type="http://schemas.openxmlformats.org/officeDocument/2006/relationships/slideLayout" Target="../slideLayouts/slideLayout191.xml"/><Relationship Id="rId9" Type="http://schemas.openxmlformats.org/officeDocument/2006/relationships/slideLayout" Target="../slideLayouts/slideLayout196.xml"/><Relationship Id="rId14" Type="http://schemas.openxmlformats.org/officeDocument/2006/relationships/slideLayout" Target="../slideLayouts/slideLayout201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2.xml"/><Relationship Id="rId13" Type="http://schemas.openxmlformats.org/officeDocument/2006/relationships/slideLayout" Target="../slideLayouts/slideLayout217.xml"/><Relationship Id="rId18" Type="http://schemas.openxmlformats.org/officeDocument/2006/relationships/slideLayout" Target="../slideLayouts/slideLayout222.xml"/><Relationship Id="rId26" Type="http://schemas.openxmlformats.org/officeDocument/2006/relationships/theme" Target="../theme/theme11.xml"/><Relationship Id="rId3" Type="http://schemas.openxmlformats.org/officeDocument/2006/relationships/slideLayout" Target="../slideLayouts/slideLayout207.xml"/><Relationship Id="rId21" Type="http://schemas.openxmlformats.org/officeDocument/2006/relationships/slideLayout" Target="../slideLayouts/slideLayout225.xml"/><Relationship Id="rId7" Type="http://schemas.openxmlformats.org/officeDocument/2006/relationships/slideLayout" Target="../slideLayouts/slideLayout211.xml"/><Relationship Id="rId12" Type="http://schemas.openxmlformats.org/officeDocument/2006/relationships/slideLayout" Target="../slideLayouts/slideLayout216.xml"/><Relationship Id="rId17" Type="http://schemas.openxmlformats.org/officeDocument/2006/relationships/slideLayout" Target="../slideLayouts/slideLayout221.xml"/><Relationship Id="rId25" Type="http://schemas.openxmlformats.org/officeDocument/2006/relationships/slideLayout" Target="../slideLayouts/slideLayout229.xml"/><Relationship Id="rId2" Type="http://schemas.openxmlformats.org/officeDocument/2006/relationships/slideLayout" Target="../slideLayouts/slideLayout206.xml"/><Relationship Id="rId16" Type="http://schemas.openxmlformats.org/officeDocument/2006/relationships/slideLayout" Target="../slideLayouts/slideLayout220.xml"/><Relationship Id="rId20" Type="http://schemas.openxmlformats.org/officeDocument/2006/relationships/slideLayout" Target="../slideLayouts/slideLayout224.xml"/><Relationship Id="rId1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10.xml"/><Relationship Id="rId11" Type="http://schemas.openxmlformats.org/officeDocument/2006/relationships/slideLayout" Target="../slideLayouts/slideLayout215.xml"/><Relationship Id="rId24" Type="http://schemas.openxmlformats.org/officeDocument/2006/relationships/slideLayout" Target="../slideLayouts/slideLayout228.xml"/><Relationship Id="rId5" Type="http://schemas.openxmlformats.org/officeDocument/2006/relationships/slideLayout" Target="../slideLayouts/slideLayout209.xml"/><Relationship Id="rId15" Type="http://schemas.openxmlformats.org/officeDocument/2006/relationships/slideLayout" Target="../slideLayouts/slideLayout219.xml"/><Relationship Id="rId23" Type="http://schemas.openxmlformats.org/officeDocument/2006/relationships/slideLayout" Target="../slideLayouts/slideLayout227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214.xml"/><Relationship Id="rId19" Type="http://schemas.openxmlformats.org/officeDocument/2006/relationships/slideLayout" Target="../slideLayouts/slideLayout223.xml"/><Relationship Id="rId4" Type="http://schemas.openxmlformats.org/officeDocument/2006/relationships/slideLayout" Target="../slideLayouts/slideLayout208.xml"/><Relationship Id="rId9" Type="http://schemas.openxmlformats.org/officeDocument/2006/relationships/slideLayout" Target="../slideLayouts/slideLayout213.xml"/><Relationship Id="rId14" Type="http://schemas.openxmlformats.org/officeDocument/2006/relationships/slideLayout" Target="../slideLayouts/slideLayout218.xml"/><Relationship Id="rId22" Type="http://schemas.openxmlformats.org/officeDocument/2006/relationships/slideLayout" Target="../slideLayouts/slideLayout226.xml"/><Relationship Id="rId27" Type="http://schemas.openxmlformats.org/officeDocument/2006/relationships/image" Target="../media/image8.jp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7.xml"/><Relationship Id="rId13" Type="http://schemas.openxmlformats.org/officeDocument/2006/relationships/slideLayout" Target="../slideLayouts/slideLayout242.xml"/><Relationship Id="rId18" Type="http://schemas.openxmlformats.org/officeDocument/2006/relationships/slideLayout" Target="../slideLayouts/slideLayout247.xml"/><Relationship Id="rId3" Type="http://schemas.openxmlformats.org/officeDocument/2006/relationships/slideLayout" Target="../slideLayouts/slideLayout232.xml"/><Relationship Id="rId21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36.xml"/><Relationship Id="rId12" Type="http://schemas.openxmlformats.org/officeDocument/2006/relationships/slideLayout" Target="../slideLayouts/slideLayout241.xml"/><Relationship Id="rId17" Type="http://schemas.openxmlformats.org/officeDocument/2006/relationships/slideLayout" Target="../slideLayouts/slideLayout246.xml"/><Relationship Id="rId25" Type="http://schemas.openxmlformats.org/officeDocument/2006/relationships/image" Target="../media/image14.png"/><Relationship Id="rId2" Type="http://schemas.openxmlformats.org/officeDocument/2006/relationships/slideLayout" Target="../slideLayouts/slideLayout231.xml"/><Relationship Id="rId16" Type="http://schemas.openxmlformats.org/officeDocument/2006/relationships/slideLayout" Target="../slideLayouts/slideLayout245.xml"/><Relationship Id="rId20" Type="http://schemas.openxmlformats.org/officeDocument/2006/relationships/slideLayout" Target="../slideLayouts/slideLayout249.xml"/><Relationship Id="rId1" Type="http://schemas.openxmlformats.org/officeDocument/2006/relationships/slideLayout" Target="../slideLayouts/slideLayout230.xml"/><Relationship Id="rId6" Type="http://schemas.openxmlformats.org/officeDocument/2006/relationships/slideLayout" Target="../slideLayouts/slideLayout235.xml"/><Relationship Id="rId11" Type="http://schemas.openxmlformats.org/officeDocument/2006/relationships/slideLayout" Target="../slideLayouts/slideLayout240.xml"/><Relationship Id="rId24" Type="http://schemas.openxmlformats.org/officeDocument/2006/relationships/image" Target="../media/image8.jpg"/><Relationship Id="rId5" Type="http://schemas.openxmlformats.org/officeDocument/2006/relationships/slideLayout" Target="../slideLayouts/slideLayout234.xml"/><Relationship Id="rId15" Type="http://schemas.openxmlformats.org/officeDocument/2006/relationships/slideLayout" Target="../slideLayouts/slideLayout244.xml"/><Relationship Id="rId23" Type="http://schemas.openxmlformats.org/officeDocument/2006/relationships/theme" Target="../theme/theme12.xml"/><Relationship Id="rId10" Type="http://schemas.openxmlformats.org/officeDocument/2006/relationships/slideLayout" Target="../slideLayouts/slideLayout239.xml"/><Relationship Id="rId19" Type="http://schemas.openxmlformats.org/officeDocument/2006/relationships/slideLayout" Target="../slideLayouts/slideLayout248.xml"/><Relationship Id="rId4" Type="http://schemas.openxmlformats.org/officeDocument/2006/relationships/slideLayout" Target="../slideLayouts/slideLayout233.xml"/><Relationship Id="rId9" Type="http://schemas.openxmlformats.org/officeDocument/2006/relationships/slideLayout" Target="../slideLayouts/slideLayout238.xml"/><Relationship Id="rId14" Type="http://schemas.openxmlformats.org/officeDocument/2006/relationships/slideLayout" Target="../slideLayouts/slideLayout243.xml"/><Relationship Id="rId22" Type="http://schemas.openxmlformats.org/officeDocument/2006/relationships/slideLayout" Target="../slideLayouts/slideLayout2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1803774" y="6581013"/>
            <a:ext cx="372196" cy="276987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fld id="{5E083074-D3FF-49A6-8E12-2ECAA15AAAA1}" type="slidenum">
              <a:rPr lang="zh-CN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4634" r:id="rId3"/>
    <p:sldLayoutId id="2147484633" r:id="rId4"/>
    <p:sldLayoutId id="2147483651" r:id="rId5"/>
    <p:sldLayoutId id="2147483652" r:id="rId6"/>
    <p:sldLayoutId id="2147483653" r:id="rId7"/>
    <p:sldLayoutId id="2147483654" r:id="rId8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">
            <a:extLst>
              <a:ext uri="{FF2B5EF4-FFF2-40B4-BE49-F238E27FC236}">
                <a16:creationId xmlns:a16="http://schemas.microsoft.com/office/drawing/2014/main" id="{BF0A28E6-27C8-F660-D593-EFD6DA2267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C2F7084D-7EAE-2DD4-8488-B494D6C147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09" t="23955" r="40919" b="37048"/>
          <a:stretch/>
        </p:blipFill>
        <p:spPr>
          <a:xfrm>
            <a:off x="152401" y="50489"/>
            <a:ext cx="461681" cy="51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0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0" r:id="rId1"/>
    <p:sldLayoutId id="2147484411" r:id="rId2"/>
    <p:sldLayoutId id="2147484412" r:id="rId3"/>
    <p:sldLayoutId id="2147484413" r:id="rId4"/>
    <p:sldLayoutId id="2147484414" r:id="rId5"/>
    <p:sldLayoutId id="2147484415" r:id="rId6"/>
    <p:sldLayoutId id="2147484416" r:id="rId7"/>
    <p:sldLayoutId id="2147484417" r:id="rId8"/>
    <p:sldLayoutId id="2147484418" r:id="rId9"/>
    <p:sldLayoutId id="2147484419" r:id="rId10"/>
    <p:sldLayoutId id="2147484420" r:id="rId11"/>
    <p:sldLayoutId id="2147484421" r:id="rId12"/>
    <p:sldLayoutId id="2147484422" r:id="rId13"/>
    <p:sldLayoutId id="2147484423" r:id="rId14"/>
    <p:sldLayoutId id="2147484424" r:id="rId15"/>
    <p:sldLayoutId id="2147484425" r:id="rId16"/>
    <p:sldLayoutId id="2147484426" r:id="rId17"/>
    <p:sldLayoutId id="2147484427" r:id="rId18"/>
    <p:sldLayoutId id="2147484428" r:id="rId19"/>
    <p:sldLayoutId id="2147484429" r:id="rId20"/>
    <p:sldLayoutId id="2147484430" r:id="rId21"/>
    <p:sldLayoutId id="2147484431" r:id="rId22"/>
    <p:sldLayoutId id="2147484432" r:id="rId23"/>
    <p:sldLayoutId id="2147484433" r:id="rId24"/>
    <p:sldLayoutId id="2147484435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21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4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6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87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66" indent="-241066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310" indent="-202006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55" indent="-160712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78" indent="-161828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400" indent="-160712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822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245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666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2087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21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45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66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87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12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532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955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376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B61907-CE38-43EF-ABC9-71DF18B992B9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35" y="0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582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7" r:id="rId1"/>
    <p:sldLayoutId id="2147484468" r:id="rId2"/>
    <p:sldLayoutId id="2147484469" r:id="rId3"/>
    <p:sldLayoutId id="2147484470" r:id="rId4"/>
    <p:sldLayoutId id="2147484471" r:id="rId5"/>
    <p:sldLayoutId id="2147484472" r:id="rId6"/>
    <p:sldLayoutId id="2147484473" r:id="rId7"/>
    <p:sldLayoutId id="2147484474" r:id="rId8"/>
    <p:sldLayoutId id="2147484475" r:id="rId9"/>
    <p:sldLayoutId id="2147484476" r:id="rId10"/>
    <p:sldLayoutId id="2147484477" r:id="rId11"/>
    <p:sldLayoutId id="2147484478" r:id="rId12"/>
    <p:sldLayoutId id="2147484479" r:id="rId13"/>
    <p:sldLayoutId id="2147484480" r:id="rId14"/>
    <p:sldLayoutId id="2147484481" r:id="rId15"/>
    <p:sldLayoutId id="2147484482" r:id="rId16"/>
    <p:sldLayoutId id="2147484483" r:id="rId17"/>
    <p:sldLayoutId id="2147484484" r:id="rId18"/>
    <p:sldLayoutId id="2147484485" r:id="rId19"/>
    <p:sldLayoutId id="2147484486" r:id="rId20"/>
    <p:sldLayoutId id="2147484487" r:id="rId21"/>
    <p:sldLayoutId id="2147484488" r:id="rId22"/>
    <p:sldLayoutId id="2147484489" r:id="rId23"/>
    <p:sldLayoutId id="2147484490" r:id="rId24"/>
    <p:sldLayoutId id="2147484491" r:id="rId25"/>
    <p:sldLayoutId id="2147484492" r:id="rId26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1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2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4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5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61" indent="-241061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98" indent="-202002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35" indent="-160708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51" indent="-161824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364" indent="-160708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778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93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606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2018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13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29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43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55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072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84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98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312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6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3" y="9965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36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1155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94" r:id="rId1"/>
    <p:sldLayoutId id="2147484495" r:id="rId2"/>
    <p:sldLayoutId id="2147484496" r:id="rId3"/>
    <p:sldLayoutId id="2147484497" r:id="rId4"/>
    <p:sldLayoutId id="2147484498" r:id="rId5"/>
    <p:sldLayoutId id="2147484499" r:id="rId6"/>
    <p:sldLayoutId id="2147484500" r:id="rId7"/>
    <p:sldLayoutId id="2147484501" r:id="rId8"/>
    <p:sldLayoutId id="2147484502" r:id="rId9"/>
    <p:sldLayoutId id="2147484503" r:id="rId10"/>
    <p:sldLayoutId id="2147484504" r:id="rId11"/>
    <p:sldLayoutId id="2147484505" r:id="rId12"/>
    <p:sldLayoutId id="2147484506" r:id="rId13"/>
    <p:sldLayoutId id="2147484507" r:id="rId14"/>
    <p:sldLayoutId id="2147484508" r:id="rId15"/>
    <p:sldLayoutId id="2147484509" r:id="rId16"/>
    <p:sldLayoutId id="2147484510" r:id="rId17"/>
    <p:sldLayoutId id="2147484511" r:id="rId18"/>
    <p:sldLayoutId id="2147484512" r:id="rId19"/>
    <p:sldLayoutId id="2147484513" r:id="rId20"/>
    <p:sldLayoutId id="2147484514" r:id="rId21"/>
    <p:sldLayoutId id="2147484515" r:id="rId22"/>
    <p:sldLayoutId id="2147484516" r:id="rId23"/>
    <p:sldLayoutId id="2147484517" r:id="rId24"/>
    <p:sldLayoutId id="2147484518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8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77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16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551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41" indent="-241041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55" indent="-201984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471" indent="-160695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860" indent="-161811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247" indent="-160695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634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022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09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798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88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77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65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51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942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328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716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04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2" y="9963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36"/>
            <a:ext cx="7879080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8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8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1306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0" r:id="rId1"/>
    <p:sldLayoutId id="2147484521" r:id="rId2"/>
    <p:sldLayoutId id="2147484522" r:id="rId3"/>
    <p:sldLayoutId id="2147484523" r:id="rId4"/>
    <p:sldLayoutId id="2147484524" r:id="rId5"/>
    <p:sldLayoutId id="2147484525" r:id="rId6"/>
    <p:sldLayoutId id="2147484526" r:id="rId7"/>
    <p:sldLayoutId id="2147484527" r:id="rId8"/>
    <p:sldLayoutId id="2147484528" r:id="rId9"/>
    <p:sldLayoutId id="2147484529" r:id="rId10"/>
    <p:sldLayoutId id="2147484530" r:id="rId11"/>
    <p:sldLayoutId id="2147484531" r:id="rId12"/>
    <p:sldLayoutId id="2147484532" r:id="rId13"/>
    <p:sldLayoutId id="2147484533" r:id="rId14"/>
    <p:sldLayoutId id="2147484534" r:id="rId15"/>
    <p:sldLayoutId id="2147484535" r:id="rId16"/>
    <p:sldLayoutId id="2147484536" r:id="rId17"/>
    <p:sldLayoutId id="2147484537" r:id="rId18"/>
    <p:sldLayoutId id="2147484538" r:id="rId19"/>
    <p:sldLayoutId id="2147484539" r:id="rId20"/>
    <p:sldLayoutId id="2147484540" r:id="rId21"/>
    <p:sldLayoutId id="2147484541" r:id="rId22"/>
    <p:sldLayoutId id="2147484542" r:id="rId23"/>
    <p:sldLayoutId id="2147484543" r:id="rId24"/>
    <p:sldLayoutId id="2147484544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9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9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18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58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47" indent="-241047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68" indent="-201989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490" indent="-160698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888" indent="-161814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282" indent="-160698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679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075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69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866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96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93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89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83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982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376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772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68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C65BA3-EF8F-408F-A22D-18BBE8C1E8E8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442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6" r:id="rId1"/>
    <p:sldLayoutId id="2147484637" r:id="rId2"/>
    <p:sldLayoutId id="2147484638" r:id="rId3"/>
    <p:sldLayoutId id="2147484639" r:id="rId4"/>
    <p:sldLayoutId id="2147484640" r:id="rId5"/>
    <p:sldLayoutId id="2147484641" r:id="rId6"/>
    <p:sldLayoutId id="2147484642" r:id="rId7"/>
    <p:sldLayoutId id="2147484643" r:id="rId8"/>
    <p:sldLayoutId id="2147484644" r:id="rId9"/>
    <p:sldLayoutId id="2147484645" r:id="rId10"/>
    <p:sldLayoutId id="2147484646" r:id="rId11"/>
    <p:sldLayoutId id="2147484647" r:id="rId12"/>
    <p:sldLayoutId id="2147484648" r:id="rId13"/>
    <p:sldLayoutId id="2147484649" r:id="rId14"/>
    <p:sldLayoutId id="2147484650" r:id="rId1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03FF89-D6BC-427F-AEEF-1C1BC6695141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214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52" r:id="rId1"/>
    <p:sldLayoutId id="2147484653" r:id="rId2"/>
    <p:sldLayoutId id="2147484654" r:id="rId3"/>
    <p:sldLayoutId id="2147484655" r:id="rId4"/>
    <p:sldLayoutId id="2147484656" r:id="rId5"/>
    <p:sldLayoutId id="2147484657" r:id="rId6"/>
    <p:sldLayoutId id="2147484658" r:id="rId7"/>
    <p:sldLayoutId id="2147484659" r:id="rId8"/>
    <p:sldLayoutId id="2147484660" r:id="rId9"/>
    <p:sldLayoutId id="2147484661" r:id="rId10"/>
    <p:sldLayoutId id="2147484662" r:id="rId11"/>
    <p:sldLayoutId id="2147484663" r:id="rId12"/>
    <p:sldLayoutId id="2147484664" r:id="rId13"/>
    <p:sldLayoutId id="2147484665" r:id="rId14"/>
    <p:sldLayoutId id="2147484666" r:id="rId15"/>
    <p:sldLayoutId id="2147484667" r:id="rId16"/>
    <p:sldLayoutId id="2147484668" r:id="rId17"/>
    <p:sldLayoutId id="2147484669" r:id="rId18"/>
    <p:sldLayoutId id="2147484670" r:id="rId19"/>
    <p:sldLayoutId id="2147484671" r:id="rId20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2400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>
              <a:spLocks/>
            </p:cNvSpPr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>
              <a:spLocks/>
            </p:cNvSpPr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>
              <a:spLocks/>
            </p:cNvSpPr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>
              <a:spLocks/>
            </p:cNvSpPr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>
              <a:spLocks/>
            </p:cNvSpPr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>
              <a:spLocks/>
            </p:cNvSpPr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>
              <a:spLocks/>
            </p:cNvSpPr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>
              <a:spLocks/>
            </p:cNvSpPr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>
              <a:spLocks/>
            </p:cNvSpPr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>
              <a:spLocks/>
            </p:cNvSpPr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>
              <a:spLocks/>
            </p:cNvSpPr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>
              <a:spLocks/>
            </p:cNvSpPr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>
              <a:spLocks/>
            </p:cNvSpPr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>
              <a:spLocks/>
            </p:cNvSpPr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>
              <a:spLocks/>
            </p:cNvSpPr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>
              <a:spLocks/>
            </p:cNvSpPr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>
              <a:spLocks/>
            </p:cNvSpPr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>
              <a:spLocks/>
            </p:cNvSpPr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>
              <a:spLocks/>
            </p:cNvSpPr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>
              <a:spLocks/>
            </p:cNvSpPr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>
              <a:spLocks/>
            </p:cNvSpPr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>
              <a:spLocks/>
            </p:cNvSpPr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>
              <a:spLocks/>
            </p:cNvSpPr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>
              <a:spLocks/>
            </p:cNvSpPr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>
              <a:spLocks/>
            </p:cNvSpPr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>
              <a:spLocks/>
            </p:cNvSpPr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>
              <a:spLocks/>
            </p:cNvSpPr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>
              <a:spLocks/>
            </p:cNvSpPr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>
              <a:spLocks/>
            </p:cNvSpPr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>
              <a:spLocks/>
            </p:cNvSpPr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>
              <a:spLocks/>
            </p:cNvSpPr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>
              <a:spLocks/>
            </p:cNvSpPr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>
              <a:spLocks/>
            </p:cNvSpPr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>
              <a:spLocks/>
            </p:cNvSpPr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>
              <a:spLocks/>
            </p:cNvSpPr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>
              <a:spLocks/>
            </p:cNvSpPr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>
              <a:spLocks/>
            </p:cNvSpPr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>
              <a:spLocks/>
            </p:cNvSpPr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>
              <a:spLocks/>
            </p:cNvSpPr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>
              <a:spLocks/>
            </p:cNvSpPr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>
              <a:spLocks/>
            </p:cNvSpPr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>
              <a:spLocks/>
            </p:cNvSpPr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>
              <a:spLocks/>
            </p:cNvSpPr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>
              <a:spLocks/>
            </p:cNvSpPr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>
              <a:spLocks/>
            </p:cNvSpPr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>
              <a:spLocks/>
            </p:cNvSpPr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>
              <a:spLocks/>
            </p:cNvSpPr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>
              <a:spLocks/>
            </p:cNvSpPr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>
              <a:spLocks/>
            </p:cNvSpPr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>
              <a:spLocks/>
            </p:cNvSpPr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>
              <a:spLocks/>
            </p:cNvSpPr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>
              <a:spLocks/>
            </p:cNvSpPr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>
              <a:spLocks/>
            </p:cNvSpPr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>
              <a:spLocks/>
            </p:cNvSpPr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>
              <a:spLocks/>
            </p:cNvSpPr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>
              <a:spLocks/>
            </p:cNvSpPr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>
              <a:spLocks/>
            </p:cNvSpPr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>
              <a:spLocks/>
            </p:cNvSpPr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>
              <a:spLocks/>
            </p:cNvSpPr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>
              <a:spLocks/>
            </p:cNvSpPr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>
              <a:spLocks/>
            </p:cNvSpPr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>
              <a:spLocks/>
            </p:cNvSpPr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>
              <a:spLocks/>
            </p:cNvSpPr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>
              <a:spLocks/>
            </p:cNvSpPr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>
              <a:spLocks/>
            </p:cNvSpPr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>
              <a:spLocks/>
            </p:cNvSpPr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>
              <a:spLocks/>
            </p:cNvSpPr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>
              <a:spLocks/>
            </p:cNvSpPr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>
              <a:spLocks/>
            </p:cNvSpPr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>
              <a:spLocks/>
            </p:cNvSpPr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>
              <a:spLocks/>
            </p:cNvSpPr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3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894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51" r:id="rId1"/>
    <p:sldLayoutId id="2147484952" r:id="rId2"/>
    <p:sldLayoutId id="2147484953" r:id="rId3"/>
    <p:sldLayoutId id="2147484954" r:id="rId4"/>
    <p:sldLayoutId id="2147484955" r:id="rId5"/>
    <p:sldLayoutId id="2147484956" r:id="rId6"/>
    <p:sldLayoutId id="2147484957" r:id="rId7"/>
    <p:sldLayoutId id="2147484958" r:id="rId8"/>
    <p:sldLayoutId id="2147484959" r:id="rId9"/>
    <p:sldLayoutId id="2147484960" r:id="rId10"/>
    <p:sldLayoutId id="2147484961" r:id="rId11"/>
    <p:sldLayoutId id="2147484962" r:id="rId12"/>
    <p:sldLayoutId id="2147484963" r:id="rId13"/>
    <p:sldLayoutId id="2147484964" r:id="rId14"/>
    <p:sldLayoutId id="2147484965" r:id="rId15"/>
    <p:sldLayoutId id="2147484966" r:id="rId16"/>
    <p:sldLayoutId id="2147484967" r:id="rId17"/>
  </p:sldLayoutIdLst>
  <p:txStyles>
    <p:titleStyle>
      <a:lvl1pPr algn="ctr" defTabSz="1219042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41" indent="-457141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470" indent="-380950" algn="l" defTabSz="1219042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0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320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9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36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1881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40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0921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2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4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6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080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0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12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64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104824" y="9968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8838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69" r:id="rId1"/>
    <p:sldLayoutId id="2147484970" r:id="rId2"/>
    <p:sldLayoutId id="2147484971" r:id="rId3"/>
    <p:sldLayoutId id="2147484972" r:id="rId4"/>
    <p:sldLayoutId id="2147484973" r:id="rId5"/>
    <p:sldLayoutId id="2147484974" r:id="rId6"/>
    <p:sldLayoutId id="2147484975" r:id="rId7"/>
    <p:sldLayoutId id="2147484976" r:id="rId8"/>
    <p:sldLayoutId id="2147484977" r:id="rId9"/>
    <p:sldLayoutId id="2147484978" r:id="rId10"/>
    <p:sldLayoutId id="2147484979" r:id="rId11"/>
    <p:sldLayoutId id="2147484980" r:id="rId12"/>
    <p:sldLayoutId id="2147484981" r:id="rId13"/>
    <p:sldLayoutId id="2147484982" r:id="rId14"/>
    <p:sldLayoutId id="2147484983" r:id="rId15"/>
    <p:sldLayoutId id="2147484984" r:id="rId16"/>
    <p:sldLayoutId id="2147484985" r:id="rId17"/>
    <p:sldLayoutId id="2147484986" r:id="rId18"/>
    <p:sldLayoutId id="2147484987" r:id="rId19"/>
    <p:sldLayoutId id="2147484988" r:id="rId20"/>
    <p:sldLayoutId id="2147484989" r:id="rId21"/>
    <p:sldLayoutId id="2147484990" r:id="rId22"/>
    <p:sldLayoutId id="2147484991" r:id="rId23"/>
    <p:sldLayoutId id="2147484992" r:id="rId24"/>
    <p:sldLayoutId id="2147484993" r:id="rId25"/>
    <p:sldLayoutId id="2147484994" r:id="rId2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2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652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397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3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0995" indent="-240995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155" indent="-201946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316" indent="-160664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644" indent="-16178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5969" indent="-160664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294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621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09946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272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25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52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979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304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633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7956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284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608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33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>
              <a:spLocks/>
            </p:cNvSpPr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>
              <a:spLocks/>
            </p:cNvSpPr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>
              <a:spLocks/>
            </p:cNvSpPr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>
              <a:spLocks/>
            </p:cNvSpPr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>
              <a:spLocks/>
            </p:cNvSpPr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>
              <a:spLocks/>
            </p:cNvSpPr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>
              <a:spLocks/>
            </p:cNvSpPr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>
              <a:spLocks/>
            </p:cNvSpPr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>
              <a:spLocks/>
            </p:cNvSpPr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>
              <a:spLocks/>
            </p:cNvSpPr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>
              <a:spLocks/>
            </p:cNvSpPr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>
              <a:spLocks/>
            </p:cNvSpPr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>
              <a:spLocks/>
            </p:cNvSpPr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>
              <a:spLocks/>
            </p:cNvSpPr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>
              <a:spLocks/>
            </p:cNvSpPr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>
              <a:spLocks/>
            </p:cNvSpPr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>
              <a:spLocks/>
            </p:cNvSpPr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>
              <a:spLocks/>
            </p:cNvSpPr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>
              <a:spLocks/>
            </p:cNvSpPr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>
              <a:spLocks/>
            </p:cNvSpPr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>
              <a:spLocks/>
            </p:cNvSpPr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>
              <a:spLocks/>
            </p:cNvSpPr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>
              <a:spLocks/>
            </p:cNvSpPr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>
              <a:spLocks/>
            </p:cNvSpPr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>
              <a:spLocks/>
            </p:cNvSpPr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>
              <a:spLocks/>
            </p:cNvSpPr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>
              <a:spLocks/>
            </p:cNvSpPr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>
              <a:spLocks/>
            </p:cNvSpPr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>
              <a:spLocks/>
            </p:cNvSpPr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>
              <a:spLocks/>
            </p:cNvSpPr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>
              <a:spLocks/>
            </p:cNvSpPr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>
              <a:spLocks/>
            </p:cNvSpPr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>
              <a:spLocks/>
            </p:cNvSpPr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>
              <a:spLocks/>
            </p:cNvSpPr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>
              <a:spLocks/>
            </p:cNvSpPr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>
              <a:spLocks/>
            </p:cNvSpPr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>
              <a:spLocks/>
            </p:cNvSpPr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>
              <a:spLocks/>
            </p:cNvSpPr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>
              <a:spLocks/>
            </p:cNvSpPr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>
              <a:spLocks/>
            </p:cNvSpPr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>
              <a:spLocks/>
            </p:cNvSpPr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>
              <a:spLocks/>
            </p:cNvSpPr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>
              <a:spLocks/>
            </p:cNvSpPr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>
              <a:spLocks/>
            </p:cNvSpPr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>
              <a:spLocks/>
            </p:cNvSpPr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>
              <a:spLocks/>
            </p:cNvSpPr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>
              <a:spLocks/>
            </p:cNvSpPr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>
              <a:spLocks/>
            </p:cNvSpPr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>
              <a:spLocks/>
            </p:cNvSpPr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>
              <a:spLocks/>
            </p:cNvSpPr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>
              <a:spLocks/>
            </p:cNvSpPr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>
              <a:spLocks/>
            </p:cNvSpPr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>
              <a:spLocks/>
            </p:cNvSpPr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>
              <a:spLocks/>
            </p:cNvSpPr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>
              <a:spLocks/>
            </p:cNvSpPr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>
              <a:spLocks/>
            </p:cNvSpPr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>
              <a:spLocks/>
            </p:cNvSpPr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>
              <a:spLocks/>
            </p:cNvSpPr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>
              <a:spLocks/>
            </p:cNvSpPr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>
              <a:spLocks/>
            </p:cNvSpPr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>
              <a:spLocks/>
            </p:cNvSpPr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>
              <a:spLocks/>
            </p:cNvSpPr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>
              <a:spLocks/>
            </p:cNvSpPr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>
              <a:spLocks/>
            </p:cNvSpPr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>
              <a:spLocks/>
            </p:cNvSpPr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>
              <a:spLocks/>
            </p:cNvSpPr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>
              <a:spLocks/>
            </p:cNvSpPr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>
              <a:spLocks/>
            </p:cNvSpPr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>
              <a:spLocks/>
            </p:cNvSpPr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>
              <a:spLocks/>
            </p:cNvSpPr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>
              <a:spLocks/>
            </p:cNvSpPr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1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3332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915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96" r:id="rId1"/>
    <p:sldLayoutId id="2147484997" r:id="rId2"/>
    <p:sldLayoutId id="2147484998" r:id="rId3"/>
    <p:sldLayoutId id="2147484999" r:id="rId4"/>
    <p:sldLayoutId id="2147485000" r:id="rId5"/>
    <p:sldLayoutId id="2147485001" r:id="rId6"/>
    <p:sldLayoutId id="2147485002" r:id="rId7"/>
    <p:sldLayoutId id="2147485003" r:id="rId8"/>
    <p:sldLayoutId id="2147485004" r:id="rId9"/>
    <p:sldLayoutId id="2147485005" r:id="rId10"/>
    <p:sldLayoutId id="2147485006" r:id="rId11"/>
    <p:sldLayoutId id="2147485007" r:id="rId12"/>
    <p:sldLayoutId id="2147485008" r:id="rId13"/>
    <p:sldLayoutId id="2147485009" r:id="rId14"/>
    <p:sldLayoutId id="2147485010" r:id="rId15"/>
    <p:sldLayoutId id="2147485011" r:id="rId16"/>
    <p:sldLayoutId id="2147485012" r:id="rId17"/>
  </p:sldLayoutIdLst>
  <p:txStyles>
    <p:titleStyle>
      <a:lvl1pPr algn="ctr" defTabSz="1219008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7" indent="-457127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445" indent="-380940" algn="l" defTabSz="1219008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761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264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769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272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1777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282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0785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03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08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12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016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521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025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29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034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3" y="9966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0778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45" r:id="rId1"/>
    <p:sldLayoutId id="2147485046" r:id="rId2"/>
    <p:sldLayoutId id="2147485047" r:id="rId3"/>
    <p:sldLayoutId id="2147485048" r:id="rId4"/>
    <p:sldLayoutId id="2147485049" r:id="rId5"/>
    <p:sldLayoutId id="2147485050" r:id="rId6"/>
    <p:sldLayoutId id="2147485051" r:id="rId7"/>
    <p:sldLayoutId id="2147485052" r:id="rId8"/>
    <p:sldLayoutId id="2147485053" r:id="rId9"/>
    <p:sldLayoutId id="2147485054" r:id="rId10"/>
    <p:sldLayoutId id="2147485055" r:id="rId11"/>
    <p:sldLayoutId id="2147485056" r:id="rId12"/>
    <p:sldLayoutId id="2147485057" r:id="rId13"/>
    <p:sldLayoutId id="2147485058" r:id="rId14"/>
    <p:sldLayoutId id="2147485059" r:id="rId15"/>
    <p:sldLayoutId id="2147485060" r:id="rId16"/>
    <p:sldLayoutId id="2147485061" r:id="rId17"/>
    <p:sldLayoutId id="2147485062" r:id="rId18"/>
    <p:sldLayoutId id="2147485063" r:id="rId19"/>
    <p:sldLayoutId id="2147485064" r:id="rId20"/>
    <p:sldLayoutId id="2147485065" r:id="rId21"/>
    <p:sldLayoutId id="2147485066" r:id="rId22"/>
    <p:sldLayoutId id="2147485067" r:id="rId23"/>
    <p:sldLayoutId id="2147485068" r:id="rId24"/>
    <p:sldLayoutId id="2147485069" r:id="rId2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4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0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04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39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13" indent="-241013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191" indent="-20196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373" indent="-160676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725" indent="-161791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073" indent="-160676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422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773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121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469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48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00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048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39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749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09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44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794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0"/>
            <a:ext cx="12192000" cy="587029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04820" y="9961"/>
            <a:ext cx="793019" cy="58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41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06" r:id="rId1"/>
    <p:sldLayoutId id="2147485107" r:id="rId2"/>
    <p:sldLayoutId id="2147485108" r:id="rId3"/>
    <p:sldLayoutId id="2147485109" r:id="rId4"/>
    <p:sldLayoutId id="2147485110" r:id="rId5"/>
    <p:sldLayoutId id="2147485111" r:id="rId6"/>
    <p:sldLayoutId id="2147485112" r:id="rId7"/>
    <p:sldLayoutId id="2147485113" r:id="rId8"/>
    <p:sldLayoutId id="2147485114" r:id="rId9"/>
    <p:sldLayoutId id="2147485115" r:id="rId10"/>
    <p:sldLayoutId id="2147485116" r:id="rId11"/>
    <p:sldLayoutId id="2147485117" r:id="rId12"/>
    <p:sldLayoutId id="2147485118" r:id="rId13"/>
    <p:sldLayoutId id="2147485119" r:id="rId14"/>
    <p:sldLayoutId id="2147485120" r:id="rId15"/>
    <p:sldLayoutId id="2147485121" r:id="rId16"/>
    <p:sldLayoutId id="2147485122" r:id="rId17"/>
    <p:sldLayoutId id="2147485123" r:id="rId18"/>
    <p:sldLayoutId id="2147485124" r:id="rId19"/>
    <p:sldLayoutId id="2147485125" r:id="rId20"/>
    <p:sldLayoutId id="2147485126" r:id="rId21"/>
    <p:sldLayoutId id="2147485127" r:id="rId22"/>
  </p:sldLayoutIdLst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0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0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50" indent="-24105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76" indent="-201992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03" indent="-160701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05" indent="-161817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305" indent="-160701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706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08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509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909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00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03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04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04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006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06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08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209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7" Type="http://schemas.openxmlformats.org/officeDocument/2006/relationships/image" Target="../media/image32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31.wmf"/><Relationship Id="rId4" Type="http://schemas.openxmlformats.org/officeDocument/2006/relationships/oleObject" Target="../embeddings/oleObject6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33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wmf"/><Relationship Id="rId4" Type="http://schemas.openxmlformats.org/officeDocument/2006/relationships/oleObject" Target="../embeddings/oleObject11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5" Type="http://schemas.openxmlformats.org/officeDocument/2006/relationships/oleObject" Target="../embeddings/oleObject13.bin"/><Relationship Id="rId4" Type="http://schemas.openxmlformats.org/officeDocument/2006/relationships/image" Target="../media/image39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B447E-148E-C5AE-EEA1-A6565EC897CA}"/>
              </a:ext>
            </a:extLst>
          </p:cNvPr>
          <p:cNvSpPr txBox="1">
            <a:spLocks/>
          </p:cNvSpPr>
          <p:nvPr/>
        </p:nvSpPr>
        <p:spPr>
          <a:xfrm>
            <a:off x="408972" y="1926317"/>
            <a:ext cx="11374056" cy="2183408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第</a:t>
            </a:r>
            <a:r>
              <a:rPr lang="en-US" altLang="zh-CN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6.2</a:t>
            </a: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节</a:t>
            </a:r>
            <a:endParaRPr lang="en-US" altLang="zh-CN" sz="5400" b="0" dirty="0">
              <a:solidFill>
                <a:schemeClr val="bg1"/>
              </a:solidFill>
              <a:ea typeface="华光综艺_CNKI" panose="02000500000000000000" pitchFamily="2" charset="-122"/>
            </a:endParaRPr>
          </a:p>
          <a:p>
            <a:r>
              <a:rPr lang="en-US" altLang="zh-CN" b="0" dirty="0" err="1">
                <a:ea typeface="华光综艺_CNKI" panose="02000500000000000000" pitchFamily="2" charset="-122"/>
              </a:rPr>
              <a:t>Apriori</a:t>
            </a:r>
            <a:r>
              <a:rPr lang="zh-CN" altLang="en-US" b="0" dirty="0">
                <a:ea typeface="华光综艺_CNKI" panose="02000500000000000000" pitchFamily="2" charset="-122"/>
              </a:rPr>
              <a:t>算法</a:t>
            </a:r>
            <a:endParaRPr lang="en-US" altLang="zh-CN" b="0" dirty="0"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4179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FA3B1-4594-F2AE-26C7-FC57BF148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1A5FFDA2-7978-3DDC-82B6-2BCA77DE94D2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 err="1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Apriori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算法原理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6ABAF5C-ADBC-6811-22BB-6CFD9DA6BA47}"/>
              </a:ext>
            </a:extLst>
          </p:cNvPr>
          <p:cNvSpPr txBox="1">
            <a:spLocks noChangeArrowheads="1"/>
          </p:cNvSpPr>
          <p:nvPr/>
        </p:nvSpPr>
        <p:spPr>
          <a:xfrm>
            <a:off x="2187824" y="1485856"/>
            <a:ext cx="7177087" cy="46972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0" marR="0" lvl="0" indent="-2921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候选－生成类型</a:t>
            </a:r>
          </a:p>
          <a:p>
            <a:pPr marL="800100" marR="0" lvl="1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Apriori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性质：</a:t>
            </a:r>
          </a:p>
          <a:p>
            <a:pPr marL="914400" marR="0" lvl="2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反单调性</a:t>
            </a:r>
          </a:p>
          <a:p>
            <a:pPr marL="914400" marR="0" lvl="2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基本思想</a:t>
            </a:r>
          </a:p>
          <a:p>
            <a:pPr marL="800100" marR="0" lvl="1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由长度为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的频繁模式生成长度为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(</a:t>
            </a:r>
            <a:r>
              <a:rPr kumimoji="0" lang="en-US" altLang="zh-CN" sz="2800" b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</a:rPr>
              <a:t>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+1)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的候选模式</a:t>
            </a:r>
          </a:p>
          <a:p>
            <a:pPr marL="800100" marR="0" lvl="1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计算长度为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(k+1)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的候选模式的支持度，从而获得长度为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(k+1)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的频繁模式</a:t>
            </a:r>
          </a:p>
        </p:txBody>
      </p:sp>
    </p:spTree>
    <p:extLst>
      <p:ext uri="{BB962C8B-B14F-4D97-AF65-F5344CB8AC3E}">
        <p14:creationId xmlns:p14="http://schemas.microsoft.com/office/powerpoint/2010/main" val="419458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BD095-A283-57CC-4AA7-A4B41B637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B259FE52-AECB-F150-9D9D-89E5DFD1DA6D}"/>
              </a:ext>
            </a:extLst>
          </p:cNvPr>
          <p:cNvSpPr txBox="1">
            <a:spLocks noChangeArrowheads="1"/>
          </p:cNvSpPr>
          <p:nvPr/>
        </p:nvSpPr>
        <p:spPr>
          <a:xfrm>
            <a:off x="2554287" y="1289310"/>
            <a:ext cx="7083425" cy="4953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Apriori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性质: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如果一个项集是频繁的，那么它的所有子集都是频繁的。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也称为反单调性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Apriori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性质成立的原因如下：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任何一个项集的支持度不可能超过其子集的支持度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36749339-722E-E141-8212-A57B18ADDC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2525625"/>
              </p:ext>
            </p:extLst>
          </p:nvPr>
        </p:nvGraphicFramePr>
        <p:xfrm>
          <a:off x="3483610" y="4036249"/>
          <a:ext cx="57515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06280" imgH="190440" progId="Equation.DSMT4">
                  <p:embed/>
                </p:oleObj>
              </mc:Choice>
              <mc:Fallback>
                <p:oleObj name="Equation" r:id="rId3" imgW="2006280" imgH="190440" progId="Equation.DSMT4">
                  <p:embed/>
                  <p:pic>
                    <p:nvPicPr>
                      <p:cNvPr id="9" name="Object 4">
                        <a:extLst>
                          <a:ext uri="{FF2B5EF4-FFF2-40B4-BE49-F238E27FC236}">
                            <a16:creationId xmlns:a16="http://schemas.microsoft.com/office/drawing/2014/main" id="{36749339-722E-E141-8212-A57B18ADDC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3610" y="4036249"/>
                        <a:ext cx="575151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26">
            <a:extLst>
              <a:ext uri="{FF2B5EF4-FFF2-40B4-BE49-F238E27FC236}">
                <a16:creationId xmlns:a16="http://schemas.microsoft.com/office/drawing/2014/main" id="{13C0C19A-93AB-9595-1B93-D572C202171E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 err="1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Apriori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算法原理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184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B4719-7C8E-6105-E9EA-845DEECFC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E263DCAD-0748-D8F7-783F-F22613D30113}"/>
              </a:ext>
            </a:extLst>
          </p:cNvPr>
          <p:cNvGrpSpPr>
            <a:grpSpLocks/>
          </p:cNvGrpSpPr>
          <p:nvPr/>
        </p:nvGrpSpPr>
        <p:grpSpPr bwMode="auto">
          <a:xfrm>
            <a:off x="889000" y="1174750"/>
            <a:ext cx="8831263" cy="5235575"/>
            <a:chOff x="560" y="404"/>
            <a:chExt cx="5563" cy="3298"/>
          </a:xfrm>
        </p:grpSpPr>
        <p:sp>
          <p:nvSpPr>
            <p:cNvPr id="5" name="Line 3">
              <a:extLst>
                <a:ext uri="{FF2B5EF4-FFF2-40B4-BE49-F238E27FC236}">
                  <a16:creationId xmlns:a16="http://schemas.microsoft.com/office/drawing/2014/main" id="{2C24E00B-AAD7-8370-2613-59A9108F35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80" y="1638"/>
              <a:ext cx="576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Box 4">
              <a:extLst>
                <a:ext uri="{FF2B5EF4-FFF2-40B4-BE49-F238E27FC236}">
                  <a16:creationId xmlns:a16="http://schemas.microsoft.com/office/drawing/2014/main" id="{CA918D2B-AB4C-46CA-B431-0C93E4305D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0" y="1830"/>
              <a:ext cx="100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dirty="0">
                  <a:solidFill>
                    <a:schemeClr val="hlink"/>
                  </a:solidFill>
                  <a:latin typeface="Arial" panose="020B0604020202020204" pitchFamily="34" charset="0"/>
                </a:rPr>
                <a:t>发现不频繁</a:t>
              </a:r>
              <a:endParaRPr kumimoji="0" lang="zh-CN" altLang="en-US" sz="2000" dirty="0">
                <a:solidFill>
                  <a:schemeClr val="hlink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graphicFrame>
          <p:nvGraphicFramePr>
            <p:cNvPr id="9" name="Object 5">
              <a:extLst>
                <a:ext uri="{FF2B5EF4-FFF2-40B4-BE49-F238E27FC236}">
                  <a16:creationId xmlns:a16="http://schemas.microsoft.com/office/drawing/2014/main" id="{EDBB9A70-B142-3581-F357-D20526AEA2E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8823504"/>
                </p:ext>
              </p:extLst>
            </p:nvPr>
          </p:nvGraphicFramePr>
          <p:xfrm>
            <a:off x="1808" y="404"/>
            <a:ext cx="4315" cy="3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9866478" imgH="7377618" progId="Visio.Drawing.6">
                    <p:embed/>
                  </p:oleObj>
                </mc:Choice>
                <mc:Fallback>
                  <p:oleObj name="Visio" r:id="rId3" imgW="9866478" imgH="7377618" progId="Visio.Drawing.6">
                    <p:embed/>
                    <p:pic>
                      <p:nvPicPr>
                        <p:cNvPr id="9" name="Object 5">
                          <a:extLst>
                            <a:ext uri="{FF2B5EF4-FFF2-40B4-BE49-F238E27FC236}">
                              <a16:creationId xmlns:a16="http://schemas.microsoft.com/office/drawing/2014/main" id="{EDBB9A70-B142-3581-F357-D20526AEA2E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8" y="404"/>
                          <a:ext cx="4315" cy="3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26">
            <a:extLst>
              <a:ext uri="{FF2B5EF4-FFF2-40B4-BE49-F238E27FC236}">
                <a16:creationId xmlns:a16="http://schemas.microsoft.com/office/drawing/2014/main" id="{E0AD0F6D-552E-B593-E31B-5E48D7F78186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 err="1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Apriori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算法原理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4307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41ED7-EAE9-B43E-C839-9C2A82306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12">
            <a:extLst>
              <a:ext uri="{FF2B5EF4-FFF2-40B4-BE49-F238E27FC236}">
                <a16:creationId xmlns:a16="http://schemas.microsoft.com/office/drawing/2014/main" id="{EE00BE88-33BE-DD61-6FDA-622EB890AA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9852" y="832961"/>
            <a:ext cx="7706360" cy="5830518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682C0B7-27E3-8EFA-AA5F-5177C56925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16233"/>
              </p:ext>
            </p:extLst>
          </p:nvPr>
        </p:nvGraphicFramePr>
        <p:xfrm>
          <a:off x="818419" y="2468659"/>
          <a:ext cx="1956648" cy="3107250"/>
        </p:xfrm>
        <a:graphic>
          <a:graphicData uri="http://schemas.openxmlformats.org/drawingml/2006/table">
            <a:tbl>
              <a:tblPr firstRow="1" firstCol="1" bandRow="1"/>
              <a:tblGrid>
                <a:gridCol w="608063">
                  <a:extLst>
                    <a:ext uri="{9D8B030D-6E8A-4147-A177-3AD203B41FA5}">
                      <a16:colId xmlns:a16="http://schemas.microsoft.com/office/drawing/2014/main" val="3390425978"/>
                    </a:ext>
                  </a:extLst>
                </a:gridCol>
                <a:gridCol w="1348585">
                  <a:extLst>
                    <a:ext uri="{9D8B030D-6E8A-4147-A177-3AD203B41FA5}">
                      <a16:colId xmlns:a16="http://schemas.microsoft.com/office/drawing/2014/main" val="24348609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b="1" i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TID</a:t>
                      </a:r>
                      <a:endParaRPr lang="zh-CN" sz="20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zh-CN" sz="20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事务</a:t>
                      </a:r>
                      <a:endParaRPr lang="zh-CN" sz="20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02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51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66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526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224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083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146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575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279241"/>
                  </a:ext>
                </a:extLst>
              </a:tr>
            </a:tbl>
          </a:graphicData>
        </a:graphic>
      </p:graphicFrame>
      <p:sp>
        <p:nvSpPr>
          <p:cNvPr id="8" name="矩形 26">
            <a:extLst>
              <a:ext uri="{FF2B5EF4-FFF2-40B4-BE49-F238E27FC236}">
                <a16:creationId xmlns:a16="http://schemas.microsoft.com/office/drawing/2014/main" id="{3FBA3363-2E1B-61E5-FD6F-AE6AB0D874A6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 err="1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Apriori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算法示例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0412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036FE-F4DE-2A12-0378-09189303D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10B8E34B-6540-E8DF-B1E5-8FC07C6314B5}"/>
              </a:ext>
            </a:extLst>
          </p:cNvPr>
          <p:cNvSpPr txBox="1">
            <a:spLocks noChangeArrowheads="1"/>
          </p:cNvSpPr>
          <p:nvPr/>
        </p:nvSpPr>
        <p:spPr>
          <a:xfrm>
            <a:off x="1863989" y="959192"/>
            <a:ext cx="8915400" cy="54725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C</a:t>
            </a:r>
            <a:r>
              <a:rPr kumimoji="0" lang="en-US" altLang="zh-CN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: Candidate itemset of size k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L</a:t>
            </a:r>
            <a:r>
              <a:rPr kumimoji="0" lang="en-US" altLang="zh-CN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: frequent itemset of size k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L</a:t>
            </a:r>
            <a:r>
              <a:rPr kumimoji="0" lang="en-US" altLang="zh-CN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1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= {frequent items};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83F24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for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(</a:t>
            </a: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= 1; </a:t>
            </a: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L</a:t>
            </a:r>
            <a:r>
              <a:rPr kumimoji="0" lang="en-US" altLang="zh-CN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!=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Symbol" panose="05050102010706020507" pitchFamily="18" charset="2"/>
              </a:rPr>
              <a:t>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; </a:t>
            </a: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++)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83F24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do begin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    </a:t>
            </a: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C</a:t>
            </a:r>
            <a:r>
              <a:rPr kumimoji="0" lang="en-US" altLang="zh-CN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k+1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= candidates generated from </a:t>
            </a: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L</a:t>
            </a:r>
            <a:r>
              <a:rPr kumimoji="0" lang="en-US" altLang="zh-CN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;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83F24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for each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transaction </a:t>
            </a: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in database do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  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increment the count of all candidates in 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C</a:t>
            </a:r>
            <a:r>
              <a:rPr kumimoji="0" lang="en-US" altLang="zh-CN" sz="20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k+1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                           that are contained in 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t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   </a:t>
            </a: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L</a:t>
            </a:r>
            <a:r>
              <a:rPr kumimoji="0" lang="en-US" altLang="zh-CN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k+1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 = candidates in </a:t>
            </a: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C</a:t>
            </a:r>
            <a:r>
              <a:rPr kumimoji="0" lang="en-US" altLang="zh-CN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k+1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with support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Symbol" panose="05050102010706020507" pitchFamily="18" charset="2"/>
              </a:rPr>
              <a:t>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min_support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83F24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end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83F24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return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Symbol" panose="05050102010706020507" pitchFamily="18" charset="2"/>
              </a:rPr>
              <a:t></a:t>
            </a:r>
            <a:r>
              <a:rPr kumimoji="0" lang="en-US" altLang="zh-CN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</a:t>
            </a: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L</a:t>
            </a:r>
            <a:r>
              <a:rPr kumimoji="0" lang="en-US" altLang="zh-CN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;</a:t>
            </a:r>
          </a:p>
        </p:txBody>
      </p:sp>
      <p:sp>
        <p:nvSpPr>
          <p:cNvPr id="4" name="矩形 26">
            <a:extLst>
              <a:ext uri="{FF2B5EF4-FFF2-40B4-BE49-F238E27FC236}">
                <a16:creationId xmlns:a16="http://schemas.microsoft.com/office/drawing/2014/main" id="{D637B07C-F8E9-9294-9C80-6AA8C207FDC3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 err="1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Apriori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算法伪码描述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4421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C8B5F-7CD0-970B-D5DF-9715F2971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11ABCAD0-DBF5-6BA0-54DF-56D7CD3999B9}"/>
              </a:ext>
            </a:extLst>
          </p:cNvPr>
          <p:cNvSpPr txBox="1">
            <a:spLocks noChangeArrowheads="1"/>
          </p:cNvSpPr>
          <p:nvPr/>
        </p:nvSpPr>
        <p:spPr>
          <a:xfrm>
            <a:off x="2480043" y="1218158"/>
            <a:ext cx="7772400" cy="5029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如何生成候选项集？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Step 1: </a:t>
            </a:r>
            <a:r>
              <a:rPr lang="zh-CN" altLang="en-US" sz="2000" dirty="0">
                <a:solidFill>
                  <a:sysClr val="windowText" lastClr="000000"/>
                </a:solidFill>
                <a:latin typeface="Arial"/>
                <a:ea typeface="微软雅黑"/>
              </a:rPr>
              <a:t>连接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(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self-joining) 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L</a:t>
            </a:r>
            <a:r>
              <a:rPr kumimoji="0" lang="en-US" altLang="zh-CN" sz="20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</a:t>
            </a:r>
          </a:p>
          <a:p>
            <a:pPr marL="685800" marR="0" lvl="1" indent="-22860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Step 2: </a:t>
            </a:r>
            <a:r>
              <a:rPr lang="zh-CN" altLang="en-US" sz="2000" dirty="0">
                <a:solidFill>
                  <a:sysClr val="windowText" lastClr="000000"/>
                </a:solidFill>
                <a:latin typeface="Arial"/>
                <a:ea typeface="微软雅黑"/>
              </a:rPr>
              <a:t>剪枝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(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pruning)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如何计算候选项集的支持度？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例子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L</a:t>
            </a:r>
            <a:r>
              <a:rPr kumimoji="0" lang="en-US" altLang="zh-CN" sz="20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3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=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{</a:t>
            </a:r>
            <a:r>
              <a:rPr kumimoji="0" lang="en-US" altLang="zh-CN" sz="20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abc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, </a:t>
            </a:r>
            <a:r>
              <a:rPr kumimoji="0" lang="en-US" altLang="zh-CN" sz="20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abd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, </a:t>
            </a:r>
            <a:r>
              <a:rPr kumimoji="0" lang="en-US" altLang="zh-CN" sz="20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acd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, ace, </a:t>
            </a:r>
            <a:r>
              <a:rPr kumimoji="0" lang="en-US" altLang="zh-CN" sz="20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bcd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}</a:t>
            </a:r>
          </a:p>
          <a:p>
            <a:pPr marL="685800" marR="0" lvl="1" indent="-22860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Self-joining: 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L</a:t>
            </a:r>
            <a:r>
              <a:rPr kumimoji="0" lang="en-US" altLang="zh-CN" sz="20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3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*L</a:t>
            </a:r>
            <a:r>
              <a:rPr kumimoji="0" lang="en-US" altLang="zh-CN" sz="20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3</a:t>
            </a:r>
            <a:endParaRPr kumimoji="0" lang="en-US" altLang="zh-CN" sz="2000" b="0" i="1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由</a:t>
            </a:r>
            <a:r>
              <a:rPr kumimoji="0" lang="en-US" altLang="zh-CN" sz="18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abc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和 </a:t>
            </a:r>
            <a:r>
              <a:rPr kumimoji="0" lang="en-US" altLang="zh-CN" sz="18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abd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生成</a:t>
            </a:r>
            <a:r>
              <a:rPr kumimoji="0" lang="en-US" altLang="zh-CN" sz="18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abcd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</a:t>
            </a:r>
          </a:p>
          <a:p>
            <a:pPr marL="1143000" marR="0" lvl="2" indent="-22860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由</a:t>
            </a:r>
            <a:r>
              <a:rPr kumimoji="0" lang="en-US" altLang="zh-CN" sz="18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acd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和 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ace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生成</a:t>
            </a:r>
            <a:r>
              <a:rPr kumimoji="0" lang="en-US" altLang="zh-CN" sz="18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acde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Pruning:</a:t>
            </a:r>
          </a:p>
          <a:p>
            <a:pPr marL="1143000" marR="0" lvl="2" indent="-22860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因为</a:t>
            </a:r>
            <a:r>
              <a:rPr kumimoji="0" lang="en-US" altLang="zh-CN" sz="18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ade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不在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L</a:t>
            </a:r>
            <a:r>
              <a:rPr kumimoji="0" lang="en-US" altLang="zh-CN" sz="1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中，所以不用处理</a:t>
            </a:r>
            <a:r>
              <a:rPr kumimoji="0" lang="en-US" altLang="zh-CN" sz="18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acde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（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它不可能是频繁项集）</a:t>
            </a:r>
            <a:endParaRPr kumimoji="0" lang="zh-CN" altLang="en-US" sz="1800" b="0" i="1" u="none" strike="noStrike" kern="1200" cap="none" spc="0" normalizeH="0" baseline="-25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C</a:t>
            </a:r>
            <a:r>
              <a:rPr kumimoji="0" lang="en-US" altLang="zh-CN" sz="20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4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={</a:t>
            </a:r>
            <a:r>
              <a:rPr kumimoji="0" lang="en-US" altLang="zh-CN" sz="20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abcd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}</a:t>
            </a:r>
          </a:p>
        </p:txBody>
      </p:sp>
      <p:sp>
        <p:nvSpPr>
          <p:cNvPr id="4" name="矩形 26">
            <a:extLst>
              <a:ext uri="{FF2B5EF4-FFF2-40B4-BE49-F238E27FC236}">
                <a16:creationId xmlns:a16="http://schemas.microsoft.com/office/drawing/2014/main" id="{8DEA8BB0-1DCE-BA2F-1ECD-6C1A658C607F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 err="1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Apriori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算法重要细节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3178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0B8FB-7921-C645-C4A0-B0522A9A5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矩形: 圆角 55">
            <a:extLst>
              <a:ext uri="{FF2B5EF4-FFF2-40B4-BE49-F238E27FC236}">
                <a16:creationId xmlns:a16="http://schemas.microsoft.com/office/drawing/2014/main" id="{715657A0-2AC8-5217-459F-10E0E920756E}"/>
              </a:ext>
            </a:extLst>
          </p:cNvPr>
          <p:cNvSpPr/>
          <p:nvPr/>
        </p:nvSpPr>
        <p:spPr>
          <a:xfrm>
            <a:off x="496162" y="1115485"/>
            <a:ext cx="2279513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生成候选集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C5FA7A0-2A84-EE84-067B-30E6465C3A3E}"/>
              </a:ext>
            </a:extLst>
          </p:cNvPr>
          <p:cNvSpPr txBox="1">
            <a:spLocks noChangeArrowheads="1"/>
          </p:cNvSpPr>
          <p:nvPr/>
        </p:nvSpPr>
        <p:spPr>
          <a:xfrm>
            <a:off x="2577548" y="1733002"/>
            <a:ext cx="8229600" cy="4876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Suppose the items in </a:t>
            </a: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L</a:t>
            </a:r>
            <a:r>
              <a:rPr kumimoji="0" lang="en-US" altLang="zh-CN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k-1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are listed in an order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Step 1: self-joining </a:t>
            </a: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L</a:t>
            </a:r>
            <a:r>
              <a:rPr kumimoji="0" lang="en-US" altLang="zh-CN" sz="28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k-1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</a:t>
            </a:r>
          </a:p>
          <a:p>
            <a:pPr marL="685800" marR="0" lvl="1" indent="-22860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insert into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C</a:t>
            </a:r>
            <a:r>
              <a:rPr kumimoji="0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</a:t>
            </a:r>
          </a:p>
          <a:p>
            <a:pPr marL="685800" marR="0" lvl="1" indent="-22860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select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p.item</a:t>
            </a:r>
            <a:r>
              <a:rPr kumimoji="0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, p.item</a:t>
            </a:r>
            <a:r>
              <a:rPr kumimoji="0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2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, …, p.item</a:t>
            </a:r>
            <a:r>
              <a:rPr kumimoji="0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k-1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, q.item</a:t>
            </a:r>
            <a:r>
              <a:rPr kumimoji="0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k-1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from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L</a:t>
            </a:r>
            <a:r>
              <a:rPr kumimoji="0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k-1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p, L</a:t>
            </a:r>
            <a:r>
              <a:rPr kumimoji="0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k-1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q</a:t>
            </a:r>
          </a:p>
          <a:p>
            <a:pPr marL="685800" marR="0" lvl="1" indent="-22860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where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p.item</a:t>
            </a:r>
            <a:r>
              <a:rPr kumimoji="0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=q.item</a:t>
            </a:r>
            <a:r>
              <a:rPr kumimoji="0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, …, p.item</a:t>
            </a:r>
            <a:r>
              <a:rPr kumimoji="0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k-2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=q.item</a:t>
            </a:r>
            <a:r>
              <a:rPr kumimoji="0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k-2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, p.item</a:t>
            </a:r>
            <a:r>
              <a:rPr kumimoji="0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k-1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&lt; q.item</a:t>
            </a:r>
            <a:r>
              <a:rPr kumimoji="0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k-1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Step 2: pruning</a:t>
            </a:r>
          </a:p>
          <a:p>
            <a:pPr marL="685800" marR="0" lvl="1" indent="-22860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For all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itemsets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c in C</a:t>
            </a:r>
            <a:r>
              <a:rPr kumimoji="0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do</a:t>
            </a:r>
          </a:p>
          <a:p>
            <a:pPr marL="1143000" marR="0" lvl="2" indent="-22860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For all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(k-1)-subsets s of c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do</a:t>
            </a:r>
          </a:p>
          <a:p>
            <a:pPr marL="1600200" marR="0" lvl="3" indent="-22860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if 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(s is not in L</a:t>
            </a:r>
            <a:r>
              <a:rPr kumimoji="0" lang="en-US" altLang="zh-CN" sz="24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k-1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)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then delete 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c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from 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C</a:t>
            </a:r>
            <a:r>
              <a:rPr kumimoji="0" lang="en-US" altLang="zh-CN" sz="24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矩形 26">
            <a:extLst>
              <a:ext uri="{FF2B5EF4-FFF2-40B4-BE49-F238E27FC236}">
                <a16:creationId xmlns:a16="http://schemas.microsoft.com/office/drawing/2014/main" id="{178BFE25-94B0-F16B-D62B-61996FAD7F7E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 err="1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Apriori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算法的一个优化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3201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53131-ACE4-FCCA-EA56-D9C7DE7DC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A74080CA-3627-3222-734F-6EA0B345BD66}"/>
              </a:ext>
            </a:extLst>
          </p:cNvPr>
          <p:cNvSpPr txBox="1">
            <a:spLocks noChangeArrowheads="1"/>
          </p:cNvSpPr>
          <p:nvPr/>
        </p:nvSpPr>
        <p:spPr>
          <a:xfrm>
            <a:off x="2387600" y="2353502"/>
            <a:ext cx="7416800" cy="42481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Apriori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算法在构造候选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k-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项集的时候利用了频繁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k-1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项集进行裁减，有效地降低了候选项集的数量。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但是这个方法对生成候选2-项集基本上没有太大作用。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令频繁1-项集个数为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n，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则候选2-项集个数为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n(n-1)/2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基本方法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第一次扫描事务数据库时计算2-项集的支持度，从而直接获得频繁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2-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项集</a:t>
            </a:r>
          </a:p>
        </p:txBody>
      </p:sp>
      <p:sp>
        <p:nvSpPr>
          <p:cNvPr id="10" name="矩形 26">
            <a:extLst>
              <a:ext uri="{FF2B5EF4-FFF2-40B4-BE49-F238E27FC236}">
                <a16:creationId xmlns:a16="http://schemas.microsoft.com/office/drawing/2014/main" id="{4BFA0C05-0C2A-0BF6-5021-FAEBDDFCCC35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 err="1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Apriori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算法的一个优化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11" name="矩形: 圆角 55">
            <a:extLst>
              <a:ext uri="{FF2B5EF4-FFF2-40B4-BE49-F238E27FC236}">
                <a16:creationId xmlns:a16="http://schemas.microsoft.com/office/drawing/2014/main" id="{3FE8D927-6E33-1CA7-13D8-567EB18996D2}"/>
              </a:ext>
            </a:extLst>
          </p:cNvPr>
          <p:cNvSpPr/>
          <p:nvPr/>
        </p:nvSpPr>
        <p:spPr>
          <a:xfrm>
            <a:off x="496162" y="1115485"/>
            <a:ext cx="3120187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减少候选项集数目</a:t>
            </a:r>
          </a:p>
        </p:txBody>
      </p:sp>
    </p:spTree>
    <p:extLst>
      <p:ext uri="{BB962C8B-B14F-4D97-AF65-F5344CB8AC3E}">
        <p14:creationId xmlns:p14="http://schemas.microsoft.com/office/powerpoint/2010/main" val="3255851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A756C-A7EE-A2DD-EC62-DC426C4ED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FAE85165-1400-ECA9-69C4-B74D8608CFA8}"/>
              </a:ext>
            </a:extLst>
          </p:cNvPr>
          <p:cNvSpPr txBox="1">
            <a:spLocks noChangeArrowheads="1"/>
          </p:cNvSpPr>
          <p:nvPr/>
        </p:nvSpPr>
        <p:spPr>
          <a:xfrm>
            <a:off x="1610135" y="2032417"/>
            <a:ext cx="8394290" cy="41639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很多实验表明，在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Apriori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算法（或基于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Apriori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的算法）频繁模式挖掘过程中，频繁2-项集的查找最费时间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频繁1-项集很多，所以候选2-项集就非常多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方法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在扫描事务数据库时，同时计算每个事务所包含2-项集的支持度。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第一次扫描数据库，同时找到频繁1-项集和频繁2-项集</a:t>
            </a:r>
          </a:p>
        </p:txBody>
      </p:sp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4F9FACBB-79C3-40EF-44E8-C409D71928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283104"/>
              </p:ext>
            </p:extLst>
          </p:nvPr>
        </p:nvGraphicFramePr>
        <p:xfrm>
          <a:off x="5726112" y="3888889"/>
          <a:ext cx="739775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15713" imgH="241091" progId="Equation.3">
                  <p:embed/>
                </p:oleObj>
              </mc:Choice>
              <mc:Fallback>
                <p:oleObj r:id="rId3" imgW="215713" imgH="241091" progId="Equation.3">
                  <p:embed/>
                  <p:pic>
                    <p:nvPicPr>
                      <p:cNvPr id="9" name="Object 4">
                        <a:extLst>
                          <a:ext uri="{FF2B5EF4-FFF2-40B4-BE49-F238E27FC236}">
                            <a16:creationId xmlns:a16="http://schemas.microsoft.com/office/drawing/2014/main" id="{4F9FACBB-79C3-40EF-44E8-C409D71928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6112" y="3888889"/>
                        <a:ext cx="739775" cy="72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26">
            <a:extLst>
              <a:ext uri="{FF2B5EF4-FFF2-40B4-BE49-F238E27FC236}">
                <a16:creationId xmlns:a16="http://schemas.microsoft.com/office/drawing/2014/main" id="{D38E1F57-D402-818B-7FA8-96DD55418A69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 err="1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Apriori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算法的一个优化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11" name="矩形: 圆角 55">
            <a:extLst>
              <a:ext uri="{FF2B5EF4-FFF2-40B4-BE49-F238E27FC236}">
                <a16:creationId xmlns:a16="http://schemas.microsoft.com/office/drawing/2014/main" id="{2A5D1A8B-7C13-C1F1-F1F3-0302D06F4660}"/>
              </a:ext>
            </a:extLst>
          </p:cNvPr>
          <p:cNvSpPr/>
          <p:nvPr/>
        </p:nvSpPr>
        <p:spPr>
          <a:xfrm>
            <a:off x="496162" y="1115485"/>
            <a:ext cx="3677077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直接挖掘频繁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2</a:t>
            </a: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项集</a:t>
            </a:r>
          </a:p>
        </p:txBody>
      </p:sp>
    </p:spTree>
    <p:extLst>
      <p:ext uri="{BB962C8B-B14F-4D97-AF65-F5344CB8AC3E}">
        <p14:creationId xmlns:p14="http://schemas.microsoft.com/office/powerpoint/2010/main" val="2067771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F5017-5CB2-3E17-F8F2-4F2A5320F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oup 4">
            <a:extLst>
              <a:ext uri="{FF2B5EF4-FFF2-40B4-BE49-F238E27FC236}">
                <a16:creationId xmlns:a16="http://schemas.microsoft.com/office/drawing/2014/main" id="{2A3D6487-B9A9-6685-990F-C71CA6D29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34279"/>
              </p:ext>
            </p:extLst>
          </p:nvPr>
        </p:nvGraphicFramePr>
        <p:xfrm>
          <a:off x="2799521" y="2836479"/>
          <a:ext cx="1905000" cy="16922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455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Tid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Items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455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A, C, D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455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B, C, E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455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A, B, C, E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455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40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B, E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Group 44">
            <a:extLst>
              <a:ext uri="{FF2B5EF4-FFF2-40B4-BE49-F238E27FC236}">
                <a16:creationId xmlns:a16="http://schemas.microsoft.com/office/drawing/2014/main" id="{44DAE6C5-F306-8C8B-5F67-ABBA3463D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820432"/>
              </p:ext>
            </p:extLst>
          </p:nvPr>
        </p:nvGraphicFramePr>
        <p:xfrm>
          <a:off x="6304721" y="1998279"/>
          <a:ext cx="1752600" cy="169227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455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Itemset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sup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455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{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A}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455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{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B}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455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{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C}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455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{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E}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" name="Group 115">
            <a:extLst>
              <a:ext uri="{FF2B5EF4-FFF2-40B4-BE49-F238E27FC236}">
                <a16:creationId xmlns:a16="http://schemas.microsoft.com/office/drawing/2014/main" id="{C1851E9C-348E-4E33-FDF4-B2DF76536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71342"/>
              </p:ext>
            </p:extLst>
          </p:nvPr>
        </p:nvGraphicFramePr>
        <p:xfrm>
          <a:off x="6228521" y="4327142"/>
          <a:ext cx="1752600" cy="155427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32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Itemset</a:t>
                      </a:r>
                    </a:p>
                  </a:txBody>
                  <a:tcPr marT="45699" marB="45699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sup</a:t>
                      </a:r>
                    </a:p>
                  </a:txBody>
                  <a:tcPr marT="45699" marB="45699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32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{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A, C}</a:t>
                      </a:r>
                    </a:p>
                  </a:txBody>
                  <a:tcPr marT="45699" marB="45699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699" marB="45699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32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{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B, C}</a:t>
                      </a:r>
                    </a:p>
                  </a:txBody>
                  <a:tcPr marT="45699" marB="45699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699" marB="45699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32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{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B, E}</a:t>
                      </a:r>
                    </a:p>
                  </a:txBody>
                  <a:tcPr marT="45699" marB="45699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699" marB="45699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32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{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C, E}</a:t>
                      </a:r>
                    </a:p>
                  </a:txBody>
                  <a:tcPr marT="45699" marB="45699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699" marB="45699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16">
            <a:extLst>
              <a:ext uri="{FF2B5EF4-FFF2-40B4-BE49-F238E27FC236}">
                <a16:creationId xmlns:a16="http://schemas.microsoft.com/office/drawing/2014/main" id="{04A4F091-1F21-D3EA-6D8C-082CACEA3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9921" y="4819267"/>
            <a:ext cx="3470275" cy="973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A, C, D </a:t>
            </a: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 {</a:t>
            </a: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A, C}, </a:t>
            </a: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{</a:t>
            </a: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A, D},</a:t>
            </a: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{</a:t>
            </a: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C, D}</a:t>
            </a:r>
          </a:p>
          <a:p>
            <a:pPr marL="0" marR="0" lvl="0" indent="0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800080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B, C, E</a:t>
            </a: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 {</a:t>
            </a: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B, C}, </a:t>
            </a: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{</a:t>
            </a: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B, E},</a:t>
            </a: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{</a:t>
            </a: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C, E}</a:t>
            </a:r>
          </a:p>
          <a:p>
            <a:pPr marL="0" marR="0" lvl="0" indent="0" defTabSz="4572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800080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…</a:t>
            </a:r>
          </a:p>
        </p:txBody>
      </p:sp>
      <p:sp>
        <p:nvSpPr>
          <p:cNvPr id="4" name="矩形 26">
            <a:extLst>
              <a:ext uri="{FF2B5EF4-FFF2-40B4-BE49-F238E27FC236}">
                <a16:creationId xmlns:a16="http://schemas.microsoft.com/office/drawing/2014/main" id="{5BBAB200-3748-343B-732F-A8559DAA41CB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 err="1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Apriori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算法的一个优化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8" name="矩形: 圆角 55">
            <a:extLst>
              <a:ext uri="{FF2B5EF4-FFF2-40B4-BE49-F238E27FC236}">
                <a16:creationId xmlns:a16="http://schemas.microsoft.com/office/drawing/2014/main" id="{EE49FA4B-935C-A81E-E488-FA74C244C050}"/>
              </a:ext>
            </a:extLst>
          </p:cNvPr>
          <p:cNvSpPr/>
          <p:nvPr/>
        </p:nvSpPr>
        <p:spPr>
          <a:xfrm>
            <a:off x="496162" y="1115485"/>
            <a:ext cx="3677077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发现频繁</a:t>
            </a:r>
            <a:r>
              <a:rPr kumimoji="0" lang="en-US" altLang="zh-CN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2</a:t>
            </a: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项集示例</a:t>
            </a:r>
          </a:p>
        </p:txBody>
      </p:sp>
    </p:spTree>
    <p:extLst>
      <p:ext uri="{BB962C8B-B14F-4D97-AF65-F5344CB8AC3E}">
        <p14:creationId xmlns:p14="http://schemas.microsoft.com/office/powerpoint/2010/main" val="1828427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2ED58-F0CB-457A-5234-55BC39D9E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012A758-177D-5718-12DF-20647DEAB609}"/>
              </a:ext>
            </a:extLst>
          </p:cNvPr>
          <p:cNvSpPr txBox="1"/>
          <p:nvPr/>
        </p:nvSpPr>
        <p:spPr>
          <a:xfrm>
            <a:off x="1407684" y="1631607"/>
            <a:ext cx="9839634" cy="4119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优点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  <a:sym typeface="Symbol" panose="05050102010706020507" pitchFamily="18" charset="2"/>
            </a:endParaRPr>
          </a:p>
          <a:p>
            <a:pPr marL="742950" marR="0" lvl="1" indent="-285750" defTabSz="457200" fontAlgn="auto">
              <a:lnSpc>
                <a:spcPct val="125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减少了在非频繁项集上的运算，提高了运算效率</a:t>
            </a:r>
            <a:endParaRPr kumimoji="1" lang="en-US" altLang="zh-CN" sz="20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采用逐层搜索的迭代方法，算法简单明了，没有复杂的理论推导，易于实现</a:t>
            </a:r>
            <a:endParaRPr kumimoji="1" lang="en-US" altLang="zh-CN" sz="20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42950" marR="0" lvl="1" indent="-285750" defTabSz="457200" fontAlgn="auto">
              <a:lnSpc>
                <a:spcPct val="125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已发展出多种优化方法，广泛应用</a:t>
            </a:r>
            <a:endParaRPr kumimoji="1" lang="en-US" altLang="zh-CN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缺点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仍需生成大量的候选项集</a:t>
            </a:r>
            <a:endParaRPr kumimoji="1" lang="en-US" altLang="zh-CN" sz="20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多次遍历事务数据库来计算候选项集的支持度</a:t>
            </a:r>
            <a:endParaRPr kumimoji="1" lang="en-US" altLang="zh-CN" sz="20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lvl="2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800080"/>
              </a:buClr>
              <a:buSzPct val="50000"/>
              <a:buFont typeface="Wingdings" panose="05000000000000000000" pitchFamily="2" charset="2"/>
              <a:buChar char="p"/>
              <a:tabLst/>
              <a:defRPr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使用场景</a:t>
            </a: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事务数据库、稀疏型数据集和短模式的关联规则挖掘</a:t>
            </a:r>
            <a:endParaRPr kumimoji="1" lang="en-US" altLang="zh-CN" sz="20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26">
            <a:extLst>
              <a:ext uri="{FF2B5EF4-FFF2-40B4-BE49-F238E27FC236}">
                <a16:creationId xmlns:a16="http://schemas.microsoft.com/office/drawing/2014/main" id="{3C4F3FCF-8BF4-D683-5F21-A81BCFEB6454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 err="1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Apriori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算法评价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9923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CB18C-5F02-9E1B-16DB-B84654D40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矩形: 圆角 55">
            <a:extLst>
              <a:ext uri="{FF2B5EF4-FFF2-40B4-BE49-F238E27FC236}">
                <a16:creationId xmlns:a16="http://schemas.microsoft.com/office/drawing/2014/main" id="{687DA501-100C-7169-65D1-A36362FBEF3A}"/>
              </a:ext>
            </a:extLst>
          </p:cNvPr>
          <p:cNvSpPr/>
          <p:nvPr/>
        </p:nvSpPr>
        <p:spPr>
          <a:xfrm>
            <a:off x="284721" y="1119791"/>
            <a:ext cx="3166623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基于散列的技术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3C9AF4B-65B8-E650-3B89-52CF329C6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55" y="2375590"/>
            <a:ext cx="10318939" cy="2520861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2662300-5263-53DC-6FDB-CC6FBE197E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479685"/>
              </p:ext>
            </p:extLst>
          </p:nvPr>
        </p:nvGraphicFramePr>
        <p:xfrm>
          <a:off x="5326137" y="4627492"/>
          <a:ext cx="5267960" cy="20297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77570">
                  <a:extLst>
                    <a:ext uri="{9D8B030D-6E8A-4147-A177-3AD203B41FA5}">
                      <a16:colId xmlns:a16="http://schemas.microsoft.com/office/drawing/2014/main" val="1797507308"/>
                    </a:ext>
                  </a:extLst>
                </a:gridCol>
                <a:gridCol w="877570">
                  <a:extLst>
                    <a:ext uri="{9D8B030D-6E8A-4147-A177-3AD203B41FA5}">
                      <a16:colId xmlns:a16="http://schemas.microsoft.com/office/drawing/2014/main" val="3865963856"/>
                    </a:ext>
                  </a:extLst>
                </a:gridCol>
                <a:gridCol w="878205">
                  <a:extLst>
                    <a:ext uri="{9D8B030D-6E8A-4147-A177-3AD203B41FA5}">
                      <a16:colId xmlns:a16="http://schemas.microsoft.com/office/drawing/2014/main" val="3416429098"/>
                    </a:ext>
                  </a:extLst>
                </a:gridCol>
                <a:gridCol w="878205">
                  <a:extLst>
                    <a:ext uri="{9D8B030D-6E8A-4147-A177-3AD203B41FA5}">
                      <a16:colId xmlns:a16="http://schemas.microsoft.com/office/drawing/2014/main" val="4144406386"/>
                    </a:ext>
                  </a:extLst>
                </a:gridCol>
                <a:gridCol w="878205">
                  <a:extLst>
                    <a:ext uri="{9D8B030D-6E8A-4147-A177-3AD203B41FA5}">
                      <a16:colId xmlns:a16="http://schemas.microsoft.com/office/drawing/2014/main" val="1490699242"/>
                    </a:ext>
                  </a:extLst>
                </a:gridCol>
                <a:gridCol w="878205">
                  <a:extLst>
                    <a:ext uri="{9D8B030D-6E8A-4147-A177-3AD203B41FA5}">
                      <a16:colId xmlns:a16="http://schemas.microsoft.com/office/drawing/2014/main" val="1490137920"/>
                    </a:ext>
                  </a:extLst>
                </a:gridCol>
              </a:tblGrid>
              <a:tr h="1562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桶地址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2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6638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桶计数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739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桶内容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(1, 3)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(1, 3)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(1, 3)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(1, 3)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(1, 5)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(1, 5)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(1, 8)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(1, 8)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(1, 8)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(2, 3)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(1, 13)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(1, 14)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616191"/>
                  </a:ext>
                </a:extLst>
              </a:tr>
            </a:tbl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2A2A735-B6C1-859A-3F90-0E89EE6FC2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4780036"/>
              </p:ext>
            </p:extLst>
          </p:nvPr>
        </p:nvGraphicFramePr>
        <p:xfrm>
          <a:off x="869730" y="4671952"/>
          <a:ext cx="2787739" cy="40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00200" imgH="228600" progId="Equation.DSMT4">
                  <p:embed/>
                </p:oleObj>
              </mc:Choice>
              <mc:Fallback>
                <p:oleObj name="Equation" r:id="rId4" imgW="1600200" imgH="2286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D2A2A735-B6C1-859A-3F90-0E89EE6FC2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730" y="4671952"/>
                        <a:ext cx="2787739" cy="4060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A7B60E1-9C2F-E281-61C7-4E4AB0A823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0761775"/>
              </p:ext>
            </p:extLst>
          </p:nvPr>
        </p:nvGraphicFramePr>
        <p:xfrm>
          <a:off x="1184860" y="5202726"/>
          <a:ext cx="3187899" cy="366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65080" imgH="203040" progId="Equation.DSMT4">
                  <p:embed/>
                </p:oleObj>
              </mc:Choice>
              <mc:Fallback>
                <p:oleObj name="Equation" r:id="rId6" imgW="1765080" imgH="2030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DA7B60E1-9C2F-E281-61C7-4E4AB0A823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84860" y="5202726"/>
                        <a:ext cx="3187899" cy="3669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6D43235-7F8B-924F-57D0-D60215AF4782}"/>
              </a:ext>
            </a:extLst>
          </p:cNvPr>
          <p:cNvCxnSpPr>
            <a:endCxn id="11" idx="1"/>
          </p:cNvCxnSpPr>
          <p:nvPr/>
        </p:nvCxnSpPr>
        <p:spPr>
          <a:xfrm>
            <a:off x="926512" y="5386202"/>
            <a:ext cx="25834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3C898717-0A2C-6856-D31B-4A55F055233D}"/>
              </a:ext>
            </a:extLst>
          </p:cNvPr>
          <p:cNvSpPr txBox="1"/>
          <p:nvPr/>
        </p:nvSpPr>
        <p:spPr>
          <a:xfrm>
            <a:off x="405507" y="5634817"/>
            <a:ext cx="4843493" cy="753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设置</a:t>
            </a:r>
            <a:r>
              <a:rPr kumimoji="1" lang="en-US" altLang="zh-CN" i="1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min_sup_count</a:t>
            </a:r>
            <a:r>
              <a:rPr kumimoji="1" lang="en-US" altLang="zh-CN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=3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，桶</a:t>
            </a:r>
            <a:r>
              <a:rPr kumimoji="1" lang="en-US" altLang="zh-CN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1,3</a:t>
            </a:r>
            <a:r>
              <a:rPr kumimoji="1" lang="zh-CN" altLang="en-US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中候选项集直接被删除</a:t>
            </a:r>
            <a:endParaRPr kumimoji="1" lang="en-US" altLang="zh-CN" sz="18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9FAFB39-7F49-2383-2B3D-B285DBC99C5F}"/>
              </a:ext>
            </a:extLst>
          </p:cNvPr>
          <p:cNvCxnSpPr/>
          <p:nvPr/>
        </p:nvCxnSpPr>
        <p:spPr>
          <a:xfrm>
            <a:off x="4591177" y="5326654"/>
            <a:ext cx="25834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5EDFACB7-AFDB-5E81-7D22-A2E1A24D8211}"/>
              </a:ext>
            </a:extLst>
          </p:cNvPr>
          <p:cNvSpPr txBox="1"/>
          <p:nvPr/>
        </p:nvSpPr>
        <p:spPr>
          <a:xfrm>
            <a:off x="4849525" y="1844678"/>
            <a:ext cx="5825170" cy="441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defRPr/>
            </a:pP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主要用于减少候选</a:t>
            </a: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项集支持度计数的工作量</a:t>
            </a:r>
            <a:endParaRPr kumimoji="1" lang="en-US" altLang="zh-CN" sz="20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26">
            <a:extLst>
              <a:ext uri="{FF2B5EF4-FFF2-40B4-BE49-F238E27FC236}">
                <a16:creationId xmlns:a16="http://schemas.microsoft.com/office/drawing/2014/main" id="{534938CF-2B86-51A0-92F4-DCE978BD0E9C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 err="1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Apriori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算法优化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9696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D2B8B-3843-18B6-54C2-DF3D2D4E4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矩形: 圆角 55">
            <a:extLst>
              <a:ext uri="{FF2B5EF4-FFF2-40B4-BE49-F238E27FC236}">
                <a16:creationId xmlns:a16="http://schemas.microsoft.com/office/drawing/2014/main" id="{1885B2F1-1421-04D9-AF22-F871E770C29F}"/>
              </a:ext>
            </a:extLst>
          </p:cNvPr>
          <p:cNvSpPr/>
          <p:nvPr/>
        </p:nvSpPr>
        <p:spPr>
          <a:xfrm>
            <a:off x="179903" y="1176907"/>
            <a:ext cx="4306456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事务压缩技术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6F8008-634B-33F1-1C9B-7F9C4F3F2EAF}"/>
              </a:ext>
            </a:extLst>
          </p:cNvPr>
          <p:cNvSpPr txBox="1"/>
          <p:nvPr/>
        </p:nvSpPr>
        <p:spPr>
          <a:xfrm>
            <a:off x="995423" y="2270502"/>
            <a:ext cx="9839634" cy="3934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原理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  <a:sym typeface="Symbol" panose="05050102010706020507" pitchFamily="18" charset="2"/>
            </a:endParaRPr>
          </a:p>
          <a:p>
            <a:pPr marL="742950" marR="0" lvl="1" indent="-285750" defTabSz="457200" fontAlgn="auto">
              <a:lnSpc>
                <a:spcPct val="125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事务压缩技术通过减少事务的数量，来减少计算     支持度的开销，从而提高算法运行的效率。</a:t>
            </a:r>
          </a:p>
          <a:p>
            <a:pPr marL="285750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基本思想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如果一个事务不包含任何频繁</a:t>
            </a:r>
            <a:r>
              <a:rPr kumimoji="1" lang="en-US" altLang="zh-CN" sz="2000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项集，那么这个事务也不包含任何频繁</a:t>
            </a:r>
            <a:r>
              <a:rPr kumimoji="1" lang="en-US" altLang="zh-CN" sz="2000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项集。</a:t>
            </a:r>
          </a:p>
          <a:p>
            <a:pPr marL="285750" marR="0" lvl="2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800080"/>
              </a:buClr>
              <a:buSzPct val="100000"/>
              <a:buFont typeface="Wingdings" panose="05000000000000000000" pitchFamily="2" charset="2"/>
              <a:buChar char="p"/>
              <a:tabLst/>
              <a:defRPr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具体操作</a:t>
            </a: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在扫描数据库寻找频繁</a:t>
            </a:r>
            <a:r>
              <a:rPr kumimoji="1" lang="en-US" altLang="zh-CN" sz="2000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项集    时，如果识别出一条事务不包含任何频繁</a:t>
            </a:r>
            <a:r>
              <a:rPr kumimoji="1" lang="en-US" altLang="zh-CN" sz="2000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项集，可对这类事务进行标记或删除，后续搜寻               时也不需要对这类事务进行扫描。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5DD1E08-F6EF-8B27-D44B-00236DB5EE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1275835"/>
              </p:ext>
            </p:extLst>
          </p:nvPr>
        </p:nvGraphicFramePr>
        <p:xfrm>
          <a:off x="7164799" y="3115480"/>
          <a:ext cx="279400" cy="344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0500" imgH="228600" progId="Equation.DSMT4">
                  <p:embed/>
                </p:oleObj>
              </mc:Choice>
              <mc:Fallback>
                <p:oleObj name="Equation" r:id="rId3" imgW="190500" imgH="228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799" y="3115480"/>
                        <a:ext cx="279400" cy="3445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BA64064E-3E12-BB00-367B-8819ECE9C5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9176352"/>
              </p:ext>
            </p:extLst>
          </p:nvPr>
        </p:nvGraphicFramePr>
        <p:xfrm>
          <a:off x="4993099" y="5303427"/>
          <a:ext cx="254000" cy="348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7646" imgH="228402" progId="Equation.DSMT4">
                  <p:embed/>
                </p:oleObj>
              </mc:Choice>
              <mc:Fallback>
                <p:oleObj name="Equation" r:id="rId5" imgW="177646" imgH="228402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3099" y="5303427"/>
                        <a:ext cx="254000" cy="3480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BD897CEE-B890-8E29-9714-BC6AA23723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0810539"/>
              </p:ext>
            </p:extLst>
          </p:nvPr>
        </p:nvGraphicFramePr>
        <p:xfrm>
          <a:off x="6409151" y="5687524"/>
          <a:ext cx="952498" cy="372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09403" imgH="237935" progId="Equation.DSMT4">
                  <p:embed/>
                </p:oleObj>
              </mc:Choice>
              <mc:Fallback>
                <p:oleObj name="Equation" r:id="rId7" imgW="609403" imgH="23793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09151" y="5687524"/>
                        <a:ext cx="952498" cy="372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26">
            <a:extLst>
              <a:ext uri="{FF2B5EF4-FFF2-40B4-BE49-F238E27FC236}">
                <a16:creationId xmlns:a16="http://schemas.microsoft.com/office/drawing/2014/main" id="{C3F1A0A9-79D5-FB9F-660E-B47A9DC8A834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 err="1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Apriori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算法优化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657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239C5-0F75-C72F-06F4-9E6DD85F8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矩形: 圆角 55">
            <a:extLst>
              <a:ext uri="{FF2B5EF4-FFF2-40B4-BE49-F238E27FC236}">
                <a16:creationId xmlns:a16="http://schemas.microsoft.com/office/drawing/2014/main" id="{18607194-1073-AD51-2D8E-070923D195C1}"/>
              </a:ext>
            </a:extLst>
          </p:cNvPr>
          <p:cNvSpPr/>
          <p:nvPr/>
        </p:nvSpPr>
        <p:spPr>
          <a:xfrm>
            <a:off x="159278" y="1121905"/>
            <a:ext cx="4306456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划分技术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488B890-2BE2-5027-D8B4-7978A0E1FE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925"/>
          <a:stretch/>
        </p:blipFill>
        <p:spPr>
          <a:xfrm>
            <a:off x="1369001" y="4175818"/>
            <a:ext cx="8836596" cy="220457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3D3877C-19D1-E75A-2D9B-4211FA20C1EF}"/>
              </a:ext>
            </a:extLst>
          </p:cNvPr>
          <p:cNvSpPr txBox="1"/>
          <p:nvPr/>
        </p:nvSpPr>
        <p:spPr>
          <a:xfrm>
            <a:off x="1167005" y="1916984"/>
            <a:ext cx="9477053" cy="2204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原理</a:t>
            </a: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  <a:sym typeface="Symbol" panose="05050102010706020507" pitchFamily="18" charset="2"/>
              </a:rPr>
              <a:t>：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通过将事务数据库划分为多个分区进行并行计算，避免大规模数据的运算，从而提高计算效率。</a:t>
            </a:r>
            <a:endParaRPr kumimoji="1" lang="en-US" altLang="zh-CN" sz="20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基本思想：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划分技术先将数据划分为多个分区，若项集 </a:t>
            </a:r>
            <a:r>
              <a:rPr kumimoji="1" lang="en-US" altLang="zh-CN" sz="2000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满足                          ，则在至少一个分区中，项集 </a:t>
            </a:r>
            <a:r>
              <a:rPr kumimoji="1" lang="en-US" altLang="zh-CN" sz="2000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是频繁的。</a:t>
            </a:r>
            <a:endParaRPr kumimoji="1" lang="en-US" altLang="zh-CN" sz="20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操作过程：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DDB2D4F-EF9A-CB20-832B-3C81D697CB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0447152"/>
              </p:ext>
            </p:extLst>
          </p:nvPr>
        </p:nvGraphicFramePr>
        <p:xfrm>
          <a:off x="8795894" y="2913815"/>
          <a:ext cx="16986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55600" imgH="203040" progId="Equation.DSMT4">
                  <p:embed/>
                </p:oleObj>
              </mc:Choice>
              <mc:Fallback>
                <p:oleObj name="Equation" r:id="rId4" imgW="11556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795894" y="2913815"/>
                        <a:ext cx="1698625" cy="298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26">
            <a:extLst>
              <a:ext uri="{FF2B5EF4-FFF2-40B4-BE49-F238E27FC236}">
                <a16:creationId xmlns:a16="http://schemas.microsoft.com/office/drawing/2014/main" id="{0E99623F-EB54-3F8A-920C-40C3D2B439B6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 err="1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Apriori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算法优化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011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82C54-1D0B-78CB-4A82-C7A2D5CAD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矩形: 圆角 55">
            <a:extLst>
              <a:ext uri="{FF2B5EF4-FFF2-40B4-BE49-F238E27FC236}">
                <a16:creationId xmlns:a16="http://schemas.microsoft.com/office/drawing/2014/main" id="{582E7C24-3BDF-7C8F-62E1-F56CF3F34163}"/>
              </a:ext>
            </a:extLst>
          </p:cNvPr>
          <p:cNvSpPr/>
          <p:nvPr/>
        </p:nvSpPr>
        <p:spPr>
          <a:xfrm>
            <a:off x="186778" y="1176906"/>
            <a:ext cx="4306456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抽样</a:t>
            </a: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技术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AA00B0C-0767-9525-1B37-58C89B23D0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32" r="3696" b="15483"/>
          <a:stretch/>
        </p:blipFill>
        <p:spPr>
          <a:xfrm>
            <a:off x="1226182" y="4721637"/>
            <a:ext cx="9405114" cy="176747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482BFE5-E3E7-C4E6-6F53-E0FB06E3B7B2}"/>
              </a:ext>
            </a:extLst>
          </p:cNvPr>
          <p:cNvSpPr txBox="1"/>
          <p:nvPr/>
        </p:nvSpPr>
        <p:spPr>
          <a:xfrm>
            <a:off x="733169" y="2086761"/>
            <a:ext cx="10391141" cy="263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原理</a:t>
            </a: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  <a:sym typeface="Symbol" panose="05050102010706020507" pitchFamily="18" charset="2"/>
              </a:rPr>
              <a:t>：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  <a:sym typeface="Symbol" panose="05050102010706020507" pitchFamily="18" charset="2"/>
            </a:endParaRP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抽样方法是从数据库中随机抽样，并对抽样数据使用</a:t>
            </a: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Apriori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算法得出局部数据中的频繁项集，再使用数据库数据来验证这些频繁项集在全局上是否是频繁的。</a:t>
            </a:r>
            <a:endParaRPr kumimoji="1" lang="en-US" altLang="zh-CN" sz="20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Apriori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的计算效率受事务数据库的规模影响，通过抽样算法能降低挖掘频繁项集过程中的</a:t>
            </a: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I/O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开销。</a:t>
            </a:r>
            <a:endParaRPr kumimoji="1" lang="en-US" altLang="zh-CN" sz="20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lvl="0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操作过程：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4DB04623-5BB6-827B-39F1-9E9E290A3C0B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 err="1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Apriori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算法优化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0790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BCADC-4916-2114-671D-E413778CF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矩形: 圆角 55">
            <a:extLst>
              <a:ext uri="{FF2B5EF4-FFF2-40B4-BE49-F238E27FC236}">
                <a16:creationId xmlns:a16="http://schemas.microsoft.com/office/drawing/2014/main" id="{5452448B-1307-0ACB-AD93-4A30BC4745AD}"/>
              </a:ext>
            </a:extLst>
          </p:cNvPr>
          <p:cNvSpPr/>
          <p:nvPr/>
        </p:nvSpPr>
        <p:spPr>
          <a:xfrm>
            <a:off x="255530" y="1115030"/>
            <a:ext cx="4306456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动态项集计数</a:t>
            </a:r>
            <a:endParaRPr kumimoji="0" lang="zh-CN" altLang="en-US" sz="2667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E2A4C7-0B19-292D-0072-075DBC75BB76}"/>
              </a:ext>
            </a:extLst>
          </p:cNvPr>
          <p:cNvSpPr txBox="1"/>
          <p:nvPr/>
        </p:nvSpPr>
        <p:spPr>
          <a:xfrm>
            <a:off x="871670" y="2269647"/>
            <a:ext cx="9839634" cy="3473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原理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  <a:sym typeface="Symbol" panose="05050102010706020507" pitchFamily="18" charset="2"/>
            </a:endParaRPr>
          </a:p>
          <a:p>
            <a:pPr marL="742950" marR="0" lvl="1" indent="-285750" defTabSz="457200" fontAlgn="auto">
              <a:lnSpc>
                <a:spcPct val="125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动态项集计数将数据库划分为若干个区段，逐个扫描区段，并动态添加频繁项集和生成候选项集，从而减少</a:t>
            </a: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Apriori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算法过程中的数据库遍历次数。</a:t>
            </a:r>
            <a:endParaRPr kumimoji="1" lang="en-US" altLang="zh-CN" sz="20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具体操作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动态项集计数在生成候选项集后，逐个扫描区段来对候选项集进行支持度计数</a:t>
            </a:r>
            <a:endParaRPr kumimoji="1" lang="en-US" altLang="zh-CN" sz="20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扫描数个区段后，若候选项集在这些区段的支持度计数已大于最小支持度计数阈值，则添加为频繁项集，并利用新的频繁项集生成新的候选项集，继续扫描下个区段对候选项集进行支持度计数。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19BC436C-D9EC-9118-18E4-17B5E33D48D5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 err="1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Apriori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算法优化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803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8E919-4912-930F-BED5-C4FD58CAE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BFB81F1-3895-F918-E42F-AF29E32DA2D5}"/>
              </a:ext>
            </a:extLst>
          </p:cNvPr>
          <p:cNvSpPr/>
          <p:nvPr/>
        </p:nvSpPr>
        <p:spPr>
          <a:xfrm>
            <a:off x="5673436" y="1249002"/>
            <a:ext cx="6352410" cy="5414269"/>
          </a:xfrm>
          <a:prstGeom prst="rect">
            <a:avLst/>
          </a:prstGeom>
          <a:solidFill>
            <a:schemeClr val="bg1"/>
          </a:solidFill>
          <a:ln w="3175">
            <a:solidFill>
              <a:srgbClr val="0444AE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51" name="矩形: 圆角 55">
            <a:extLst>
              <a:ext uri="{FF2B5EF4-FFF2-40B4-BE49-F238E27FC236}">
                <a16:creationId xmlns:a16="http://schemas.microsoft.com/office/drawing/2014/main" id="{E0FC5312-1344-AE90-8C26-351B0FBAC165}"/>
              </a:ext>
            </a:extLst>
          </p:cNvPr>
          <p:cNvSpPr/>
          <p:nvPr/>
        </p:nvSpPr>
        <p:spPr>
          <a:xfrm>
            <a:off x="118028" y="1163156"/>
            <a:ext cx="4412472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购物篮分析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AB5F4D9-2B5B-754A-C2D7-E3E8A8106403}"/>
              </a:ext>
            </a:extLst>
          </p:cNvPr>
          <p:cNvSpPr txBox="1"/>
          <p:nvPr/>
        </p:nvSpPr>
        <p:spPr>
          <a:xfrm>
            <a:off x="5768511" y="1249003"/>
            <a:ext cx="6162260" cy="5391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>
              <a:lnSpc>
                <a:spcPct val="120000"/>
              </a:lnSpc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import</a:t>
            </a:r>
            <a:r>
              <a:rPr lang="en-US" altLang="zh-CN" sz="16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pandas </a:t>
            </a:r>
            <a:r>
              <a:rPr lang="en-US" altLang="zh-CN" sz="16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</a:t>
            </a:r>
            <a:r>
              <a:rPr lang="en-US" altLang="zh-CN" sz="16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pd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0" algn="l">
              <a:lnSpc>
                <a:spcPct val="120000"/>
              </a:lnSpc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from</a:t>
            </a:r>
            <a:r>
              <a:rPr lang="en-US" altLang="zh-CN" sz="16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 altLang="zh-CN" sz="16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mlxtend.frequent_patterns</a:t>
            </a:r>
            <a:r>
              <a:rPr lang="en-US" altLang="zh-CN" sz="16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 altLang="zh-CN" sz="16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import</a:t>
            </a:r>
            <a:r>
              <a:rPr lang="en-US" altLang="zh-CN" sz="16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apriori  </a:t>
            </a:r>
            <a:r>
              <a:rPr lang="en-US" altLang="zh-CN" sz="16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 </a:t>
            </a:r>
            <a:r>
              <a:rPr lang="zh-CN" altLang="zh-CN" sz="16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生成频繁项集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0" algn="l">
              <a:lnSpc>
                <a:spcPct val="120000"/>
              </a:lnSpc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from</a:t>
            </a:r>
            <a:r>
              <a:rPr lang="en-US" altLang="zh-CN" sz="16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 altLang="zh-CN" sz="16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mlxtend.frequent_patterns</a:t>
            </a:r>
            <a:r>
              <a:rPr lang="en-US" altLang="zh-CN" sz="16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 altLang="zh-CN" sz="16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import</a:t>
            </a:r>
            <a:r>
              <a:rPr lang="en-US" altLang="zh-CN" sz="16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 altLang="zh-CN" sz="16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association_rules</a:t>
            </a:r>
            <a:r>
              <a:rPr lang="en-US" altLang="zh-CN" sz="16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 </a:t>
            </a:r>
            <a:r>
              <a:rPr lang="en-US" altLang="zh-CN" sz="16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 </a:t>
            </a:r>
            <a:r>
              <a:rPr lang="zh-CN" altLang="zh-CN" sz="16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生成强关联规则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0" algn="l">
              <a:lnSpc>
                <a:spcPct val="120000"/>
              </a:lnSpc>
              <a:tabLst>
                <a:tab pos="457200" algn="l"/>
              </a:tabLst>
            </a:pPr>
            <a:r>
              <a:rPr lang="en-US" altLang="zh-CN" sz="16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en-US" altLang="zh-CN" sz="12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 altLang="zh-CN" sz="16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lang="zh-CN" altLang="zh-CN" sz="16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导入数据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0" algn="l">
              <a:lnSpc>
                <a:spcPct val="120000"/>
              </a:lnSpc>
              <a:tabLst>
                <a:tab pos="457200" algn="l"/>
              </a:tabLst>
            </a:pPr>
            <a:r>
              <a:rPr lang="en-US" altLang="zh-CN" sz="16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dataSet</a:t>
            </a:r>
            <a:r>
              <a:rPr lang="en-US" altLang="zh-CN" sz="16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= </a:t>
            </a:r>
            <a:r>
              <a:rPr lang="en-US" altLang="zh-CN" sz="16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pd.read_csv</a:t>
            </a:r>
            <a:r>
              <a:rPr lang="en-US" altLang="zh-CN" sz="16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600" kern="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'../data/</a:t>
            </a:r>
            <a:r>
              <a:rPr lang="zh-CN" altLang="zh-CN" sz="1600" kern="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购物篮数据</a:t>
            </a:r>
            <a:r>
              <a:rPr lang="en-US" altLang="zh-CN" sz="1600" kern="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.csv'</a:t>
            </a:r>
            <a:r>
              <a:rPr lang="en-US" altLang="zh-CN" sz="16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0" algn="l">
              <a:lnSpc>
                <a:spcPct val="120000"/>
              </a:lnSpc>
              <a:tabLst>
                <a:tab pos="457200" algn="l"/>
              </a:tabLst>
            </a:pPr>
            <a:r>
              <a:rPr lang="en-US" altLang="zh-CN" sz="16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en-US" altLang="zh-CN" sz="12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 altLang="zh-CN" sz="16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lang="zh-CN" altLang="zh-CN" sz="16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调用</a:t>
            </a:r>
            <a:r>
              <a:rPr lang="en-US" altLang="zh-CN" sz="16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apriori</a:t>
            </a:r>
            <a:r>
              <a:rPr lang="zh-CN" altLang="zh-CN" sz="16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函数，生成频繁项集与关联规则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0" algn="l">
              <a:lnSpc>
                <a:spcPct val="120000"/>
              </a:lnSpc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sz="16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__name__ == </a:t>
            </a:r>
            <a:r>
              <a:rPr lang="en-US" altLang="zh-CN" sz="1600" kern="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'__main__'</a:t>
            </a:r>
            <a:r>
              <a:rPr lang="en-US" altLang="zh-CN" sz="16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    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0" algn="l">
              <a:lnSpc>
                <a:spcPct val="120000"/>
              </a:lnSpc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   </a:t>
            </a:r>
            <a:r>
              <a:rPr lang="en-US" altLang="zh-CN" sz="16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frequent_itemsets</a:t>
            </a:r>
            <a:r>
              <a:rPr lang="en-US" altLang="zh-CN" sz="16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= apriori(</a:t>
            </a:r>
            <a:r>
              <a:rPr lang="en-US" altLang="zh-CN" sz="16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dataSet</a:t>
            </a:r>
            <a:r>
              <a:rPr lang="en-US" altLang="zh-CN" sz="16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 </a:t>
            </a:r>
            <a:r>
              <a:rPr lang="en-US" altLang="zh-CN" sz="16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min_support</a:t>
            </a:r>
            <a:r>
              <a:rPr lang="en-US" altLang="zh-CN" sz="16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600" kern="0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0.02</a:t>
            </a:r>
            <a:r>
              <a:rPr lang="en-US" altLang="zh-CN" sz="16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 </a:t>
            </a:r>
            <a:r>
              <a:rPr lang="en-US" altLang="zh-CN" sz="16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use_colnames</a:t>
            </a:r>
            <a:r>
              <a:rPr lang="en-US" altLang="zh-CN" sz="16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600" kern="0" dirty="0">
                <a:solidFill>
                  <a:srgbClr val="0184B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6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  </a:t>
            </a:r>
            <a:r>
              <a:rPr lang="en-US" altLang="zh-CN" sz="16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 apriori</a:t>
            </a:r>
            <a:r>
              <a:rPr lang="zh-CN" altLang="zh-CN" sz="16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算法生成频繁项集</a:t>
            </a:r>
            <a:r>
              <a:rPr lang="en-US" altLang="zh-CN" sz="16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 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0" algn="l">
              <a:lnSpc>
                <a:spcPct val="120000"/>
              </a:lnSpc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   rules = </a:t>
            </a:r>
            <a:r>
              <a:rPr lang="en-US" altLang="zh-CN" sz="16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association_rules</a:t>
            </a:r>
            <a:r>
              <a:rPr lang="en-US" altLang="zh-CN" sz="16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6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frequent_itemsets</a:t>
            </a:r>
            <a:r>
              <a:rPr lang="en-US" altLang="zh-CN" sz="16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 metric=</a:t>
            </a:r>
            <a:r>
              <a:rPr lang="en-US" altLang="zh-CN" sz="1600" kern="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"confidence"</a:t>
            </a:r>
            <a:r>
              <a:rPr lang="en-US" altLang="zh-CN" sz="16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 </a:t>
            </a:r>
            <a:r>
              <a:rPr lang="en-US" altLang="zh-CN" sz="16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min_threshold</a:t>
            </a:r>
            <a:r>
              <a:rPr lang="en-US" altLang="zh-CN" sz="16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600" kern="0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0.35</a:t>
            </a:r>
            <a:r>
              <a:rPr lang="en-US" altLang="zh-CN" sz="16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  </a:t>
            </a:r>
            <a:r>
              <a:rPr lang="en-US" altLang="zh-CN" sz="16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 </a:t>
            </a:r>
            <a:r>
              <a:rPr lang="zh-CN" altLang="zh-CN" sz="16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使用频繁项集生成强关联规则</a:t>
            </a:r>
            <a:r>
              <a:rPr lang="en-US" altLang="zh-CN" sz="16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   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0" algn="l">
              <a:lnSpc>
                <a:spcPct val="120000"/>
              </a:lnSpc>
              <a:tabLst>
                <a:tab pos="457200" algn="l"/>
              </a:tabLst>
            </a:pPr>
            <a:r>
              <a:rPr lang="en-US" altLang="zh-CN" sz="16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en-US" altLang="zh-CN" sz="12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 altLang="zh-CN" sz="16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3.</a:t>
            </a:r>
            <a:r>
              <a:rPr lang="zh-CN" altLang="zh-CN" sz="16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结果展示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0" algn="l">
              <a:lnSpc>
                <a:spcPct val="120000"/>
              </a:lnSpc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print(</a:t>
            </a:r>
            <a:r>
              <a:rPr lang="en-US" altLang="zh-CN" sz="16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frequent_itemsets</a:t>
            </a:r>
            <a:r>
              <a:rPr lang="en-US" altLang="zh-CN" sz="16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print(rules[[</a:t>
            </a:r>
            <a:r>
              <a:rPr lang="en-US" altLang="zh-CN" sz="160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'antecedents'</a:t>
            </a:r>
            <a:r>
              <a:rPr lang="en-US" altLang="zh-CN" sz="160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 </a:t>
            </a:r>
            <a:r>
              <a:rPr lang="en-US" altLang="zh-CN" sz="160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'consequents'</a:t>
            </a:r>
            <a:r>
              <a:rPr lang="en-US" altLang="zh-CN" sz="160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 </a:t>
            </a:r>
            <a:r>
              <a:rPr lang="en-US" altLang="zh-CN" sz="160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'support'</a:t>
            </a:r>
            <a:r>
              <a:rPr lang="en-US" altLang="zh-CN" sz="160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 </a:t>
            </a:r>
            <a:r>
              <a:rPr lang="en-US" altLang="zh-CN" sz="160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'confidence'</a:t>
            </a:r>
            <a:r>
              <a:rPr lang="en-US" altLang="zh-CN" sz="160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 </a:t>
            </a:r>
            <a:r>
              <a:rPr lang="en-US" altLang="zh-CN" sz="160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'lift'</a:t>
            </a:r>
            <a:r>
              <a:rPr lang="en-US" altLang="zh-CN" sz="160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]])</a:t>
            </a:r>
            <a:endParaRPr lang="zh-CN" altLang="en-US" sz="32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3CF8230-FD49-9CDF-60E4-C42C8E5E50D5}"/>
              </a:ext>
            </a:extLst>
          </p:cNvPr>
          <p:cNvSpPr txBox="1"/>
          <p:nvPr/>
        </p:nvSpPr>
        <p:spPr>
          <a:xfrm>
            <a:off x="677941" y="1970935"/>
            <a:ext cx="4947958" cy="3611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数据集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  <a:sym typeface="Symbol" panose="05050102010706020507" pitchFamily="18" charset="2"/>
            </a:endParaRPr>
          </a:p>
          <a:p>
            <a:pPr marL="742950" marR="0" lvl="1" indent="-285750" defTabSz="457200" fontAlgn="auto">
              <a:lnSpc>
                <a:spcPct val="125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某超市的</a:t>
            </a: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9835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条购物篮数据（消费记录）：每条数据包含若干个商品</a:t>
            </a:r>
            <a:endParaRPr kumimoji="1" lang="en-US" altLang="zh-CN" sz="20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算法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mlxtend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库中的</a:t>
            </a: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apriori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</a:t>
            </a:r>
            <a:endParaRPr kumimoji="1" lang="en-US" altLang="zh-CN" sz="20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lvl="1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SzPct val="55000"/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指标设置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000" i="1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min</a:t>
            </a:r>
            <a:r>
              <a:rPr kumimoji="1" lang="en-US" altLang="zh-CN" sz="2000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_</a:t>
            </a:r>
            <a:r>
              <a:rPr kumimoji="1" lang="en-US" altLang="zh-CN" sz="2000" i="1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sup</a:t>
            </a: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0.02</a:t>
            </a: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000" i="1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min</a:t>
            </a:r>
            <a:r>
              <a:rPr kumimoji="1" lang="en-US" altLang="zh-CN" sz="2000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_</a:t>
            </a:r>
            <a:r>
              <a:rPr kumimoji="1" lang="en-US" altLang="zh-CN" sz="2000" i="1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conf</a:t>
            </a: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0.35</a:t>
            </a:r>
          </a:p>
        </p:txBody>
      </p:sp>
      <p:sp>
        <p:nvSpPr>
          <p:cNvPr id="4" name="矩形 26">
            <a:extLst>
              <a:ext uri="{FF2B5EF4-FFF2-40B4-BE49-F238E27FC236}">
                <a16:creationId xmlns:a16="http://schemas.microsoft.com/office/drawing/2014/main" id="{EBE6B837-1F1E-2F30-D1FE-793EE037BE62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 err="1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Apriori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算法实践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9925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55223-5326-3B7C-55A9-63521199D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4AA5B3D-DC42-0B74-B2CE-6E0488803FC1}"/>
              </a:ext>
            </a:extLst>
          </p:cNvPr>
          <p:cNvSpPr txBox="1"/>
          <p:nvPr/>
        </p:nvSpPr>
        <p:spPr>
          <a:xfrm>
            <a:off x="5221620" y="1934315"/>
            <a:ext cx="4947958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关联规则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  <a:sym typeface="Symbol" panose="05050102010706020507" pitchFamily="18" charset="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241518C-805F-6F84-1DF4-389E3D2898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918273"/>
              </p:ext>
            </p:extLst>
          </p:nvPr>
        </p:nvGraphicFramePr>
        <p:xfrm>
          <a:off x="118028" y="2752099"/>
          <a:ext cx="4947958" cy="3172654"/>
        </p:xfrm>
        <a:graphic>
          <a:graphicData uri="http://schemas.openxmlformats.org/drawingml/2006/table">
            <a:tbl>
              <a:tblPr firstRow="1" firstCol="1" bandRow="1"/>
              <a:tblGrid>
                <a:gridCol w="847727">
                  <a:extLst>
                    <a:ext uri="{9D8B030D-6E8A-4147-A177-3AD203B41FA5}">
                      <a16:colId xmlns:a16="http://schemas.microsoft.com/office/drawing/2014/main" val="1308810109"/>
                    </a:ext>
                  </a:extLst>
                </a:gridCol>
                <a:gridCol w="1131456">
                  <a:extLst>
                    <a:ext uri="{9D8B030D-6E8A-4147-A177-3AD203B41FA5}">
                      <a16:colId xmlns:a16="http://schemas.microsoft.com/office/drawing/2014/main" val="1100960080"/>
                    </a:ext>
                  </a:extLst>
                </a:gridCol>
                <a:gridCol w="2968775">
                  <a:extLst>
                    <a:ext uri="{9D8B030D-6E8A-4147-A177-3AD203B41FA5}">
                      <a16:colId xmlns:a16="http://schemas.microsoft.com/office/drawing/2014/main" val="2040887522"/>
                    </a:ext>
                  </a:extLst>
                </a:gridCol>
              </a:tblGrid>
              <a:tr h="201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05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2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b="1" i="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support</a:t>
                      </a:r>
                      <a:endParaRPr lang="zh-CN" altLang="en-US" sz="2000" b="1" i="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b="1" i="0" kern="1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itemsets</a:t>
                      </a:r>
                      <a:endParaRPr lang="zh-CN" altLang="en-US" sz="2000" b="1" i="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477076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0.139502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酸奶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918511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0.033452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超高温杀菌的牛奶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486033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0.031012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洋葱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368851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endParaRPr 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endParaRPr 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endParaRPr lang="en-US" sz="2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948698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120</a:t>
                      </a:r>
                      <a:endParaRPr lang="zh-CN" altLang="en-US" sz="2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0.022267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全脂牛奶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其他蔬菜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酸奶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389414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121</a:t>
                      </a:r>
                      <a:endParaRPr lang="zh-CN" altLang="en-US" sz="2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0.023183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全脂牛奶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其他蔬菜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根茎类蔬菜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1143"/>
                  </a:ext>
                </a:extLst>
              </a:tr>
            </a:tbl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E95CD88-0950-6EB4-CAF6-F60F0B3D5E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4992870"/>
              </p:ext>
            </p:extLst>
          </p:nvPr>
        </p:nvGraphicFramePr>
        <p:xfrm>
          <a:off x="353313" y="4192615"/>
          <a:ext cx="457366" cy="29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4885" imgH="101468" progId="Equation.DSMT4">
                  <p:embed/>
                </p:oleObj>
              </mc:Choice>
              <mc:Fallback>
                <p:oleObj name="Equation" r:id="rId3" imgW="164885" imgH="101468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FE95CD88-0950-6EB4-CAF6-F60F0B3D5E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313" y="4192615"/>
                        <a:ext cx="457366" cy="291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7E8F9E1-5A37-3A33-2C14-66624BD575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2937336"/>
              </p:ext>
            </p:extLst>
          </p:nvPr>
        </p:nvGraphicFramePr>
        <p:xfrm>
          <a:off x="1284136" y="4192615"/>
          <a:ext cx="457366" cy="29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4885" imgH="101468" progId="Equation.DSMT4">
                  <p:embed/>
                </p:oleObj>
              </mc:Choice>
              <mc:Fallback>
                <p:oleObj name="Equation" r:id="rId5" imgW="164885" imgH="101468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87E8F9E1-5A37-3A33-2C14-66624BD575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4136" y="4192615"/>
                        <a:ext cx="457366" cy="291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A1097D3-6E6C-07A1-7CEE-A3B93DBC87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9983589"/>
              </p:ext>
            </p:extLst>
          </p:nvPr>
        </p:nvGraphicFramePr>
        <p:xfrm>
          <a:off x="3331935" y="4192615"/>
          <a:ext cx="457366" cy="29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5" imgH="101468" progId="Equation.DSMT4">
                  <p:embed/>
                </p:oleObj>
              </mc:Choice>
              <mc:Fallback>
                <p:oleObj name="Equation" r:id="rId6" imgW="164885" imgH="101468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A1097D3-6E6C-07A1-7CEE-A3B93DBC87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1935" y="4192615"/>
                        <a:ext cx="457366" cy="291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D658E3B3-88E0-23BE-5837-70812EDE96B6}"/>
              </a:ext>
            </a:extLst>
          </p:cNvPr>
          <p:cNvSpPr txBox="1"/>
          <p:nvPr/>
        </p:nvSpPr>
        <p:spPr>
          <a:xfrm>
            <a:off x="273662" y="1934315"/>
            <a:ext cx="4947958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频繁项集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  <a:sym typeface="Symbol" panose="05050102010706020507" pitchFamily="18" charset="2"/>
            </a:endParaRP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D4D1CB28-8FC2-A4F8-626C-F6E1FBADA7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813499"/>
              </p:ext>
            </p:extLst>
          </p:nvPr>
        </p:nvGraphicFramePr>
        <p:xfrm>
          <a:off x="5221620" y="2752099"/>
          <a:ext cx="6806287" cy="3172654"/>
        </p:xfrm>
        <a:graphic>
          <a:graphicData uri="http://schemas.openxmlformats.org/drawingml/2006/table">
            <a:tbl>
              <a:tblPr firstRow="1" firstCol="1" bandRow="1"/>
              <a:tblGrid>
                <a:gridCol w="586920">
                  <a:extLst>
                    <a:ext uri="{9D8B030D-6E8A-4147-A177-3AD203B41FA5}">
                      <a16:colId xmlns:a16="http://schemas.microsoft.com/office/drawing/2014/main" val="3250300086"/>
                    </a:ext>
                  </a:extLst>
                </a:gridCol>
                <a:gridCol w="1544673">
                  <a:extLst>
                    <a:ext uri="{9D8B030D-6E8A-4147-A177-3AD203B41FA5}">
                      <a16:colId xmlns:a16="http://schemas.microsoft.com/office/drawing/2014/main" val="2868529208"/>
                    </a:ext>
                  </a:extLst>
                </a:gridCol>
                <a:gridCol w="1477618">
                  <a:extLst>
                    <a:ext uri="{9D8B030D-6E8A-4147-A177-3AD203B41FA5}">
                      <a16:colId xmlns:a16="http://schemas.microsoft.com/office/drawing/2014/main" val="1561446241"/>
                    </a:ext>
                  </a:extLst>
                </a:gridCol>
                <a:gridCol w="1073426">
                  <a:extLst>
                    <a:ext uri="{9D8B030D-6E8A-4147-A177-3AD203B41FA5}">
                      <a16:colId xmlns:a16="http://schemas.microsoft.com/office/drawing/2014/main" val="3259206424"/>
                    </a:ext>
                  </a:extLst>
                </a:gridCol>
                <a:gridCol w="1020417">
                  <a:extLst>
                    <a:ext uri="{9D8B030D-6E8A-4147-A177-3AD203B41FA5}">
                      <a16:colId xmlns:a16="http://schemas.microsoft.com/office/drawing/2014/main" val="1297470154"/>
                    </a:ext>
                  </a:extLst>
                </a:gridCol>
                <a:gridCol w="1103233">
                  <a:extLst>
                    <a:ext uri="{9D8B030D-6E8A-4147-A177-3AD203B41FA5}">
                      <a16:colId xmlns:a16="http://schemas.microsoft.com/office/drawing/2014/main" val="2149392417"/>
                    </a:ext>
                  </a:extLst>
                </a:gridCol>
              </a:tblGrid>
              <a:tr h="3452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antecedents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consequents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support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4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confidence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lift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719567"/>
                  </a:ext>
                </a:extLst>
              </a:tr>
              <a:tr h="3452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sz="18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酸奶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sz="18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全脂牛奶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0.056024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0.401603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1.571735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90676"/>
                  </a:ext>
                </a:extLst>
              </a:tr>
              <a:tr h="3452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sz="18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柑橘类水果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sz="18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全脂牛奶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0.030503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0.368550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1.442377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178455"/>
                  </a:ext>
                </a:extLst>
              </a:tr>
              <a:tr h="3452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猪肉</a:t>
                      </a: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其他蔬菜</a:t>
                      </a: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0.021657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0.375661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1.941476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038668"/>
                  </a:ext>
                </a:extLst>
              </a:tr>
              <a:tr h="3452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endParaRPr lang="en-US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endParaRPr lang="en-US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274572"/>
                  </a:ext>
                </a:extLst>
              </a:tr>
              <a:tr h="7231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其他蔬菜，根茎类蔬菜</a:t>
                      </a: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全脂牛奶</a:t>
                      </a: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0.023183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0.489270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1.914833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503719"/>
                  </a:ext>
                </a:extLst>
              </a:tr>
              <a:tr h="7231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sz="18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全脂牛奶，根茎类蔬菜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sz="18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其他蔬菜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0.023183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0.474012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2.449770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154781"/>
                  </a:ext>
                </a:extLst>
              </a:tr>
            </a:tbl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DF57B725-3363-CAEF-C212-315F62ED5E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357274"/>
              </p:ext>
            </p:extLst>
          </p:nvPr>
        </p:nvGraphicFramePr>
        <p:xfrm>
          <a:off x="5324919" y="4192615"/>
          <a:ext cx="457366" cy="29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4885" imgH="101468" progId="Equation.DSMT4">
                  <p:embed/>
                </p:oleObj>
              </mc:Choice>
              <mc:Fallback>
                <p:oleObj name="Equation" r:id="rId3" imgW="164885" imgH="101468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DF57B725-3363-CAEF-C212-315F62ED5E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4919" y="4192615"/>
                        <a:ext cx="457366" cy="291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D1271A24-9A3C-1E68-0131-F7F4C89132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9962031"/>
              </p:ext>
            </p:extLst>
          </p:nvPr>
        </p:nvGraphicFramePr>
        <p:xfrm>
          <a:off x="6411925" y="4192615"/>
          <a:ext cx="457366" cy="29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4885" imgH="101468" progId="Equation.DSMT4">
                  <p:embed/>
                </p:oleObj>
              </mc:Choice>
              <mc:Fallback>
                <p:oleObj name="Equation" r:id="rId5" imgW="164885" imgH="101468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D1271A24-9A3C-1E68-0131-F7F4C89132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1925" y="4192615"/>
                        <a:ext cx="457366" cy="291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C2B651A5-B947-9C81-FB10-66B43E25DA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7428468"/>
              </p:ext>
            </p:extLst>
          </p:nvPr>
        </p:nvGraphicFramePr>
        <p:xfrm>
          <a:off x="7865802" y="4192615"/>
          <a:ext cx="457366" cy="29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5" imgH="101468" progId="Equation.DSMT4">
                  <p:embed/>
                </p:oleObj>
              </mc:Choice>
              <mc:Fallback>
                <p:oleObj name="Equation" r:id="rId6" imgW="164885" imgH="101468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C2B651A5-B947-9C81-FB10-66B43E25DA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5802" y="4192615"/>
                        <a:ext cx="457366" cy="291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FEE10440-CA0D-896C-964C-83A2652329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4761963"/>
              </p:ext>
            </p:extLst>
          </p:nvPr>
        </p:nvGraphicFramePr>
        <p:xfrm>
          <a:off x="9131324" y="4192615"/>
          <a:ext cx="457366" cy="29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4885" imgH="101468" progId="Equation.DSMT4">
                  <p:embed/>
                </p:oleObj>
              </mc:Choice>
              <mc:Fallback>
                <p:oleObj name="Equation" r:id="rId3" imgW="164885" imgH="101468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FEE10440-CA0D-896C-964C-83A2652329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31324" y="4192615"/>
                        <a:ext cx="457366" cy="291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2C533081-6ABF-5BBE-7F22-DCE8FC3C21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2593640"/>
              </p:ext>
            </p:extLst>
          </p:nvPr>
        </p:nvGraphicFramePr>
        <p:xfrm>
          <a:off x="10130765" y="4192615"/>
          <a:ext cx="457366" cy="29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4885" imgH="101468" progId="Equation.DSMT4">
                  <p:embed/>
                </p:oleObj>
              </mc:Choice>
              <mc:Fallback>
                <p:oleObj name="Equation" r:id="rId5" imgW="164885" imgH="101468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2C533081-6ABF-5BBE-7F22-DCE8FC3C21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30765" y="4192615"/>
                        <a:ext cx="457366" cy="291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2BED99E7-7BBB-D375-76DC-981DAB1198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4717971"/>
              </p:ext>
            </p:extLst>
          </p:nvPr>
        </p:nvGraphicFramePr>
        <p:xfrm>
          <a:off x="11204973" y="4192615"/>
          <a:ext cx="457366" cy="29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5" imgH="101468" progId="Equation.DSMT4">
                  <p:embed/>
                </p:oleObj>
              </mc:Choice>
              <mc:Fallback>
                <p:oleObj name="Equation" r:id="rId6" imgW="164885" imgH="101468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2BED99E7-7BBB-D375-76DC-981DAB1198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04973" y="4192615"/>
                        <a:ext cx="457366" cy="291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26">
            <a:extLst>
              <a:ext uri="{FF2B5EF4-FFF2-40B4-BE49-F238E27FC236}">
                <a16:creationId xmlns:a16="http://schemas.microsoft.com/office/drawing/2014/main" id="{C6FD1B1F-1D9A-35FC-B2EE-0E78D2E7B94E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 err="1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Apriori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算法实践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6" name="矩形: 圆角 55">
            <a:extLst>
              <a:ext uri="{FF2B5EF4-FFF2-40B4-BE49-F238E27FC236}">
                <a16:creationId xmlns:a16="http://schemas.microsoft.com/office/drawing/2014/main" id="{17CF16E4-4DA9-B06D-47B7-312C0F59BC59}"/>
              </a:ext>
            </a:extLst>
          </p:cNvPr>
          <p:cNvSpPr/>
          <p:nvPr/>
        </p:nvSpPr>
        <p:spPr>
          <a:xfrm>
            <a:off x="118028" y="1163156"/>
            <a:ext cx="4412472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购物篮分析</a:t>
            </a:r>
          </a:p>
        </p:txBody>
      </p:sp>
    </p:spTree>
    <p:extLst>
      <p:ext uri="{BB962C8B-B14F-4D97-AF65-F5344CB8AC3E}">
        <p14:creationId xmlns:p14="http://schemas.microsoft.com/office/powerpoint/2010/main" val="243577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1035ED6-ED79-6653-E473-3F5FCA3CC077}"/>
              </a:ext>
            </a:extLst>
          </p:cNvPr>
          <p:cNvSpPr txBox="1">
            <a:spLocks/>
          </p:cNvSpPr>
          <p:nvPr/>
        </p:nvSpPr>
        <p:spPr>
          <a:xfrm>
            <a:off x="2974694" y="2267379"/>
            <a:ext cx="7326776" cy="1352550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dist"/>
            <a:r>
              <a:rPr lang="zh-CN" altLang="en-US" b="0" dirty="0">
                <a:solidFill>
                  <a:schemeClr val="bg1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恳请批评指正！</a:t>
            </a:r>
            <a:endParaRPr lang="en-US" b="0" dirty="0">
              <a:solidFill>
                <a:schemeClr val="bg1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353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57fef28-e1f3-418f-8f7b-57f60670b37e"/>
  <p:tag name="COMMONDATA" val="eyJoZGlkIjoiNGZlODdkOGY2N2FkZjEzZjVmYjI5NGY1MTQ2NGRhNj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7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muant0k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9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8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9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6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3E28D3-CC25-4935-9535-3CA44F295BD0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6211</TotalTime>
  <Words>1714</Words>
  <Application>Microsoft Office PowerPoint</Application>
  <PresentationFormat>宽屏</PresentationFormat>
  <Paragraphs>302</Paragraphs>
  <Slides>20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12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20</vt:i4>
      </vt:variant>
    </vt:vector>
  </HeadingPairs>
  <TitlesOfParts>
    <vt:vector size="47" baseType="lpstr">
      <vt:lpstr>等线</vt:lpstr>
      <vt:lpstr>华光综艺_CNKI</vt:lpstr>
      <vt:lpstr>思源黑体</vt:lpstr>
      <vt:lpstr>思源黑体 CN Bold</vt:lpstr>
      <vt:lpstr>微软雅黑</vt:lpstr>
      <vt:lpstr>Arial</vt:lpstr>
      <vt:lpstr>Calibri</vt:lpstr>
      <vt:lpstr>Consolas</vt:lpstr>
      <vt:lpstr>Tahoma</vt:lpstr>
      <vt:lpstr>Times New Roman</vt:lpstr>
      <vt:lpstr>Wingdings</vt:lpstr>
      <vt:lpstr>Office 主题​​</vt:lpstr>
      <vt:lpstr>10_自定义设计方案</vt:lpstr>
      <vt:lpstr>17_自定义设计方案</vt:lpstr>
      <vt:lpstr>21_自定义设计方案</vt:lpstr>
      <vt:lpstr>11_自定义设计方案</vt:lpstr>
      <vt:lpstr>2_默认设计模板</vt:lpstr>
      <vt:lpstr>1_默认设计模板</vt:lpstr>
      <vt:lpstr>7_自定义设计方案</vt:lpstr>
      <vt:lpstr>18_自定义设计方案</vt:lpstr>
      <vt:lpstr>12_自定义设计方案</vt:lpstr>
      <vt:lpstr>19_自定义设计方案</vt:lpstr>
      <vt:lpstr>16_自定义设计方案</vt:lpstr>
      <vt:lpstr>Equation</vt:lpstr>
      <vt:lpstr>Visio</vt:lpstr>
      <vt:lpstr>Equation.3</vt:lpstr>
      <vt:lpstr>Photo Editor 照片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 大数据分析-模版-吕欣.pptx</dc:title>
  <dc:creator>吕欣</dc:creator>
  <cp:lastModifiedBy>qing zhang</cp:lastModifiedBy>
  <cp:revision>2472</cp:revision>
  <dcterms:created xsi:type="dcterms:W3CDTF">2022-05-23T09:13:00Z</dcterms:created>
  <dcterms:modified xsi:type="dcterms:W3CDTF">2025-04-16T07:43:07Z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03DF3E81453D43789918EC1D3CAC176D_12</vt:lpwstr>
  </property>
  <property fmtid="{D5CDD505-2E9C-101B-9397-08002B2CF9AE}" pid="3" name="KSOProductBuildVer">
    <vt:lpwstr>2052-11.1.0.14309</vt:lpwstr>
  </property>
</Properties>
</file>