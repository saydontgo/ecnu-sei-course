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2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7"/>
  </p:notesMasterIdLst>
  <p:handoutMasterIdLst>
    <p:handoutMasterId r:id="rId28"/>
  </p:handoutMasterIdLst>
  <p:sldIdLst>
    <p:sldId id="15638" r:id="rId13"/>
    <p:sldId id="15669" r:id="rId14"/>
    <p:sldId id="15771" r:id="rId15"/>
    <p:sldId id="15870" r:id="rId16"/>
    <p:sldId id="15874" r:id="rId17"/>
    <p:sldId id="15772" r:id="rId18"/>
    <p:sldId id="15875" r:id="rId19"/>
    <p:sldId id="15876" r:id="rId20"/>
    <p:sldId id="15850" r:id="rId21"/>
    <p:sldId id="15867" r:id="rId22"/>
    <p:sldId id="15877" r:id="rId23"/>
    <p:sldId id="15868" r:id="rId24"/>
    <p:sldId id="15878" r:id="rId25"/>
    <p:sldId id="15502" r:id="rId26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252" userDrawn="1">
          <p15:clr>
            <a:srgbClr val="A4A3A4"/>
          </p15:clr>
        </p15:guide>
        <p15:guide id="5" orient="horz" pos="24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C0C"/>
    <a:srgbClr val="FFFFFF"/>
    <a:srgbClr val="0066FF"/>
    <a:srgbClr val="7EA4EE"/>
    <a:srgbClr val="00FF00"/>
    <a:srgbClr val="F6F9FE"/>
    <a:srgbClr val="91CF50"/>
    <a:srgbClr val="FF66FF"/>
    <a:srgbClr val="00CCFF"/>
    <a:srgbClr val="009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2" autoAdjust="0"/>
    <p:restoredTop sz="88617" autoAdjust="0"/>
  </p:normalViewPr>
  <p:slideViewPr>
    <p:cSldViewPr snapToGrid="0">
      <p:cViewPr varScale="1">
        <p:scale>
          <a:sx n="94" d="100"/>
          <a:sy n="94" d="100"/>
        </p:scale>
        <p:origin x="726" y="78"/>
      </p:cViewPr>
      <p:guideLst>
        <p:guide pos="2252"/>
        <p:guide orient="horz" pos="24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B2364-C4ED-C4F6-5139-791D90C5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08D54-AB53-7A3D-FE9F-B742B0538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1F1FB-5D20-0CC0-48E6-5024F25A6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2DC0CC-ECDA-C7C5-4E37-F0F8AC80C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8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F808B-8B6B-876C-4873-82E7F5D8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3B2AF-6C1D-EEF6-89F5-0A5C7193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11878E-66BA-AAE1-0D42-623D3FC1F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17A170-5736-4367-B77C-C762C1E3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39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38EFD-B506-DCF6-3F22-6EF1B3C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0E00BE-2040-9E50-7ECD-3451D7EFD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83FD00-E356-999A-9A47-268AE18CF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78127-D3CD-BFD0-0126-0BE180F5E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038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38C4-F802-328B-B7C1-2EA215FE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38F44-B2FD-2E24-D25A-E0C3810C8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227DAB-9B8B-EAC2-67F0-65856240F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78C6A5-8F2A-908E-2DE7-71C8EB453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37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E554-75CF-5A65-B810-42E36A683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1F06C3-2A71-99B6-B78D-AA3567844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98CCE1-BB65-A77B-7133-818562C1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62295-F3E0-8D7F-4FA4-ACB8E9B50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8567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05C5A-3879-0497-90B3-FE614220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92049D-3366-C19A-1401-3D337D17F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67C108-5A60-923E-49C9-4D466F153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71DB2D-40EF-C7DF-333B-0F75409B8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5549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A8D2-8EDD-BA30-D41D-B9F837E26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4E6346-19D7-AD95-5C66-F9BE83DC7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CFAD58-2F1B-7F66-AF6C-D7508188E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F9284A-8645-01C5-9592-81414582C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1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1AC82-2BA1-260A-4749-460E71B8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255D39-6108-AA4F-D421-E4D793E4F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45A93-6C92-CC3A-9356-EF3B65935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DDC318-15C3-7F19-015B-0EAAFE596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35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6EF7-1128-D6E2-1678-D3C3290A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D59989-A60A-F73B-0ED8-3B37246CB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A468BC-2CD6-C6F7-15DB-9ABF8AE7A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6016B-7367-CB90-2F3E-F10353F50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712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D565-6699-59F8-739C-D6426561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E5E620-A797-DED6-B718-4332DBF65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6F09773-C034-BDE0-D7FA-1802C42E9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FE3569-614A-4D60-19D6-B357C4B7F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885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0266-73F7-7A36-9467-620C2BAF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44FEBD-F80E-912A-B19D-5F2923656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28005F-6F37-AD52-CCFE-CB5943D74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9A5A8-D535-92BA-CD4A-15977E522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053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D993-4ABB-0362-877B-9CC2B5E9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328C3B-7362-1D58-4B72-DD67974FD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61AD89-0237-C235-9B1C-BD6602161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99C83A-219B-DDF4-9A29-B7889A09B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814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39.wmf"/><Relationship Id="rId3" Type="http://schemas.openxmlformats.org/officeDocument/2006/relationships/image" Target="../media/image33.png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8.w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8.bin"/><Relationship Id="rId4" Type="http://schemas.openxmlformats.org/officeDocument/2006/relationships/image" Target="../media/image34.svg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CBC5161-4448-DA26-9386-B6055113A398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9.4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基于降维的异常检测</a:t>
            </a:r>
            <a:endParaRPr lang="en-US" altLang="zh-CN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4B536-A18F-2B1B-8F1F-2882FB9ED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B537DC0-F4BE-6724-1330-CDCA8268D23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主成分分析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基本原理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FDBF35D-1811-E453-3027-485898E7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DF8654-114B-FB55-D3E3-0A1E7B5CC3C5}"/>
              </a:ext>
            </a:extLst>
          </p:cNvPr>
          <p:cNvSpPr txBox="1"/>
          <p:nvPr/>
        </p:nvSpPr>
        <p:spPr>
          <a:xfrm>
            <a:off x="166155" y="1053943"/>
            <a:ext cx="11524298" cy="282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 </a:t>
            </a:r>
            <a:r>
              <a:rPr lang="zh-CN" altLang="en-US" dirty="0"/>
              <a:t>基于降维的</a:t>
            </a:r>
            <a:r>
              <a:rPr lang="en-US" altLang="zh-CN" dirty="0"/>
              <a:t>PCA</a:t>
            </a:r>
            <a:r>
              <a:rPr lang="zh-CN" altLang="en-US" dirty="0"/>
              <a:t>异常检测</a:t>
            </a:r>
          </a:p>
          <a:p>
            <a:r>
              <a:rPr lang="zh-CN" altLang="en-US" dirty="0"/>
              <a:t>通过</a:t>
            </a:r>
            <a:r>
              <a:rPr lang="en-US" altLang="zh-CN" dirty="0"/>
              <a:t>PCA</a:t>
            </a:r>
            <a:r>
              <a:rPr lang="zh-CN" altLang="en-US" dirty="0"/>
              <a:t>将数据降维到主成分空间，异常点在该空间中的</a:t>
            </a:r>
            <a:r>
              <a:rPr lang="zh-CN" altLang="en-US" b="1" dirty="0">
                <a:solidFill>
                  <a:srgbClr val="FF0000"/>
                </a:solidFill>
              </a:rPr>
              <a:t>分布</a:t>
            </a:r>
            <a:r>
              <a:rPr lang="zh-CN" altLang="en-US" dirty="0"/>
              <a:t>与大多数样本明显不同，因此可以通过分析其位置偏离来识别异常。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基于重构误差的异常检测</a:t>
            </a:r>
          </a:p>
          <a:p>
            <a:r>
              <a:rPr lang="zh-CN" altLang="en-US" dirty="0"/>
              <a:t>利用</a:t>
            </a:r>
            <a:r>
              <a:rPr lang="en-US" altLang="zh-CN" dirty="0"/>
              <a:t>PCA</a:t>
            </a:r>
            <a:r>
              <a:rPr lang="zh-CN" altLang="en-US" dirty="0"/>
              <a:t>将数据从低维空间重构回高维原空间，异常样本在重构过程中会产生较大的</a:t>
            </a:r>
            <a:r>
              <a:rPr lang="zh-CN" altLang="en-US" b="1" dirty="0">
                <a:solidFill>
                  <a:srgbClr val="FF0000"/>
                </a:solidFill>
              </a:rPr>
              <a:t>重构误差</a:t>
            </a:r>
            <a:r>
              <a:rPr lang="zh-CN" altLang="en-US" dirty="0"/>
              <a:t>，通过评估误差大小可以有效发现异常点。</a:t>
            </a:r>
            <a:endParaRPr lang="zh-CN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C2782A-69A4-31D1-992B-4EABFC213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547" y="3874074"/>
            <a:ext cx="6243513" cy="290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46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30A7A-7077-A8E3-CC2F-86BC11CD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336A6A0-2B84-F164-4AC9-3D5570D9366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主成分分析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1A5F329-1383-8C25-D93D-C509036A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76B954-5F5D-373B-C795-A6C857F0A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: 圆角 55">
            <a:extLst>
              <a:ext uri="{FF2B5EF4-FFF2-40B4-BE49-F238E27FC236}">
                <a16:creationId xmlns:a16="http://schemas.microsoft.com/office/drawing/2014/main" id="{7377A6AA-E045-9A67-42F0-C16DF54AD71C}"/>
              </a:ext>
            </a:extLst>
          </p:cNvPr>
          <p:cNvSpPr/>
          <p:nvPr/>
        </p:nvSpPr>
        <p:spPr>
          <a:xfrm>
            <a:off x="438873" y="1196636"/>
            <a:ext cx="439728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基于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降维的</a:t>
            </a:r>
            <a:r>
              <a:rPr lang="en-US" altLang="zh-CN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PCA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异常检测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0B8970-FC07-2EE4-2585-CE1E0065FF30}"/>
              </a:ext>
            </a:extLst>
          </p:cNvPr>
          <p:cNvSpPr txBox="1"/>
          <p:nvPr/>
        </p:nvSpPr>
        <p:spPr>
          <a:xfrm>
            <a:off x="347980" y="2139474"/>
            <a:ext cx="6120764" cy="42051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在</a:t>
            </a:r>
            <a:r>
              <a:rPr lang="en-US" altLang="zh-CN" b="1" dirty="0">
                <a:solidFill>
                  <a:srgbClr val="FF0000"/>
                </a:solidFill>
              </a:rPr>
              <a:t>PCA</a:t>
            </a:r>
            <a:r>
              <a:rPr lang="zh-CN" altLang="en-US" b="1" dirty="0">
                <a:solidFill>
                  <a:srgbClr val="FF0000"/>
                </a:solidFill>
              </a:rPr>
              <a:t>降维</a:t>
            </a:r>
            <a:r>
              <a:rPr lang="zh-CN" altLang="en-US" dirty="0"/>
              <a:t>过程中，更关注具有</a:t>
            </a:r>
            <a:r>
              <a:rPr lang="zh-CN" altLang="en-US" b="1" dirty="0">
                <a:solidFill>
                  <a:srgbClr val="FF0000"/>
                </a:solidFill>
              </a:rPr>
              <a:t>较大特征值</a:t>
            </a:r>
            <a:r>
              <a:rPr lang="zh-CN" altLang="en-US" dirty="0"/>
              <a:t>的对应特征向量，因为这些特征向量代表了数据中方差较大的方向。</a:t>
            </a:r>
            <a:endParaRPr lang="en-US" altLang="zh-CN" dirty="0"/>
          </a:p>
          <a:p>
            <a:r>
              <a:rPr lang="zh-CN" altLang="en-US" dirty="0"/>
              <a:t>然而，在</a:t>
            </a:r>
            <a:r>
              <a:rPr lang="zh-CN" altLang="en-US" b="1" dirty="0">
                <a:solidFill>
                  <a:srgbClr val="FF0000"/>
                </a:solidFill>
              </a:rPr>
              <a:t>异常检测</a:t>
            </a:r>
            <a:r>
              <a:rPr lang="zh-CN" altLang="en-US" dirty="0"/>
              <a:t>中，更关注</a:t>
            </a:r>
            <a:r>
              <a:rPr lang="zh-CN" altLang="en-US" b="1" dirty="0">
                <a:solidFill>
                  <a:srgbClr val="FF0000"/>
                </a:solidFill>
              </a:rPr>
              <a:t>较小特征值</a:t>
            </a:r>
            <a:r>
              <a:rPr lang="zh-CN" altLang="en-US" dirty="0"/>
              <a:t>的对应特征向量。较小的特征值意味着投影后的数据点在这个轴上分布较为集中，而异常点更容易在这些情况下偏离。因此，</a:t>
            </a:r>
            <a:r>
              <a:rPr lang="zh-CN" altLang="en-US" b="1" u="sng" dirty="0"/>
              <a:t>当单个数据点在某些方向上与整体数据的特征差异较大时，可以将这个数据点视为异常点</a:t>
            </a:r>
            <a:r>
              <a:rPr lang="zh-CN" altLang="en-US" dirty="0"/>
              <a:t>。</a:t>
            </a:r>
            <a:endParaRPr lang="zh-CN" altLang="zh-CN" dirty="0"/>
          </a:p>
        </p:txBody>
      </p:sp>
      <p:pic>
        <p:nvPicPr>
          <p:cNvPr id="7" name="图形 8">
            <a:extLst>
              <a:ext uri="{FF2B5EF4-FFF2-40B4-BE49-F238E27FC236}">
                <a16:creationId xmlns:a16="http://schemas.microsoft.com/office/drawing/2014/main" id="{40425B6A-B6F1-BE16-F25D-AF8E49E7DE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175" t="7190" r="6272" b="2531"/>
          <a:stretch/>
        </p:blipFill>
        <p:spPr bwMode="auto">
          <a:xfrm>
            <a:off x="6679564" y="1939401"/>
            <a:ext cx="5164456" cy="42919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6079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CD3DE-6E20-6F3F-A2BB-38E3D878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83FE7FD-5E20-87FF-1781-B5F005C58CF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主成分分析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E5FB17B-E473-0FAA-412B-729D776C5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9E5A034-C990-9DF9-B6C3-731E7F627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矩形: 圆角 55">
            <a:extLst>
              <a:ext uri="{FF2B5EF4-FFF2-40B4-BE49-F238E27FC236}">
                <a16:creationId xmlns:a16="http://schemas.microsoft.com/office/drawing/2014/main" id="{B5CF8788-D27A-CB3E-7620-04AF82332A40}"/>
              </a:ext>
            </a:extLst>
          </p:cNvPr>
          <p:cNvSpPr/>
          <p:nvPr/>
        </p:nvSpPr>
        <p:spPr>
          <a:xfrm>
            <a:off x="438873" y="1196636"/>
            <a:ext cx="4397287" cy="584764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67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/>
                <a:cs typeface="+mn-cs"/>
                <a:sym typeface="Times New Roman" panose="02020603050405020304" pitchFamily="18" charset="0"/>
              </a:rPr>
              <a:t>基于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重构的</a:t>
            </a:r>
            <a:r>
              <a:rPr lang="en-US" altLang="zh-CN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PCA</a:t>
            </a: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异常检测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B54FA8-6CF4-534C-3E42-EF6401545309}"/>
              </a:ext>
            </a:extLst>
          </p:cNvPr>
          <p:cNvSpPr txBox="1"/>
          <p:nvPr/>
        </p:nvSpPr>
        <p:spPr>
          <a:xfrm>
            <a:off x="150552" y="1985757"/>
            <a:ext cx="10520911" cy="14351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将高维数据线性变换至由主成分构成的新空间中实现降维。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将降维后的数据点从新空间重构回原始高维空间。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依据每个数据点在重构过程中的差异来判断其是否为异常点。</a:t>
            </a:r>
            <a:endParaRPr lang="zh-CN" altLang="zh-CN" dirty="0"/>
          </a:p>
        </p:txBody>
      </p:sp>
      <p:pic>
        <p:nvPicPr>
          <p:cNvPr id="6" name="图形 7">
            <a:extLst>
              <a:ext uri="{FF2B5EF4-FFF2-40B4-BE49-F238E27FC236}">
                <a16:creationId xmlns:a16="http://schemas.microsoft.com/office/drawing/2014/main" id="{BE7259E2-7744-436D-3384-3A1EED4EE1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735" y="3625250"/>
            <a:ext cx="10135693" cy="300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9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4CBB-371D-458B-5337-1317A6AC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F4267B1-84EF-D0B2-57B9-9C8A0421CD8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主成分分析</a:t>
            </a:r>
            <a:endParaRPr kumimoji="0" lang="de-DE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C0E4A76-260F-7A5E-28AD-275FBFFA9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E972678-F04A-AF19-2ADE-304B957BC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A1952F-875F-A9BB-92F9-1EEABF84A8E4}"/>
              </a:ext>
            </a:extLst>
          </p:cNvPr>
          <p:cNvSpPr txBox="1"/>
          <p:nvPr/>
        </p:nvSpPr>
        <p:spPr>
          <a:xfrm>
            <a:off x="449580" y="1056005"/>
            <a:ext cx="11318240" cy="5654561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484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算法评价：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484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优势：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1.PCA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通过将数据转换为主要成分，有效地降低数据维度，简化了后续处理过程。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2.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PCA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能够消除噪音和冗余特征，提升算法效率，使得异常检测更为精准。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3.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PCA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是一种无监督学习技术，无需依赖事先的标签信息。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不足：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1.PCA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对数据中的异常值高度敏感，这些异常值有时会扭曲主成分的方向，从而影响整体的检测效果。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由于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PCA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基于线性变换，可能无法充分捕捉数据中的复杂非线性关系，这在处理实际数据集时可能显得力不从心。</a:t>
            </a:r>
          </a:p>
        </p:txBody>
      </p:sp>
    </p:spTree>
    <p:extLst>
      <p:ext uri="{BB962C8B-B14F-4D97-AF65-F5344CB8AC3E}">
        <p14:creationId xmlns:p14="http://schemas.microsoft.com/office/powerpoint/2010/main" val="186649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57A67-0160-44A1-A966-03B59952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2C509F0-80A7-652D-BC02-F377E658DF57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自编码器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D827F71-DA99-405F-9CDA-46AA8E796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5503EF8-19DE-DB61-F5BA-A82C9C15E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2DA8F2-5A41-E557-62CC-A17193D507C9}"/>
              </a:ext>
            </a:extLst>
          </p:cNvPr>
          <p:cNvSpPr txBox="1"/>
          <p:nvPr/>
        </p:nvSpPr>
        <p:spPr>
          <a:xfrm>
            <a:off x="551180" y="1228083"/>
            <a:ext cx="10821670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6070" algn="just">
              <a:lnSpc>
                <a:spcPct val="125000"/>
              </a:lnSpc>
            </a:pPr>
            <a:r>
              <a:rPr lang="zh-CN" altLang="en-US" sz="2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自编码器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Autoencoder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AE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的基本思想是通过学习数据的内部表示来重构输入，从而捕捉数据的潜在结构。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9C278D-4F36-0ADC-3E78-80605FEF851C}"/>
              </a:ext>
            </a:extLst>
          </p:cNvPr>
          <p:cNvSpPr txBox="1"/>
          <p:nvPr/>
        </p:nvSpPr>
        <p:spPr>
          <a:xfrm>
            <a:off x="551180" y="2483811"/>
            <a:ext cx="10919460" cy="32817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304800" algn="just">
              <a:lnSpc>
                <a:spcPct val="125000"/>
              </a:lnSpc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自编码器可拆解为两个部分：</a:t>
            </a:r>
          </a:p>
          <a:p>
            <a:r>
              <a:rPr lang="zh-CN" altLang="en-US" dirty="0"/>
              <a:t>①编码器，负责将输入数据转换为降维表示，通常称为“潜在空间”或“编码”。即通过一个参数化函数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dirty="0"/>
              <a:t>将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/>
              <a:t>映射到表示    。</a:t>
            </a:r>
          </a:p>
          <a:p>
            <a:r>
              <a:rPr lang="zh-CN" altLang="en-US" dirty="0"/>
              <a:t>②解码器，用于重建初始输入，通常称为“解码”。即通过一个参数化函数</a:t>
            </a:r>
            <a:r>
              <a:rPr lang="en-US" altLang="zh-CN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/>
              <a:t> 将表示   映射到观测数据 </a:t>
            </a:r>
            <a:r>
              <a:rPr lang="en-US" altLang="zh-CN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i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模型训练的目标是最小化输入与重构输出之间的差异，使得                  ，二者之间的差异通常称为</a:t>
            </a:r>
            <a:r>
              <a:rPr lang="zh-CN" altLang="en-US" b="1" dirty="0">
                <a:solidFill>
                  <a:srgbClr val="FF0000"/>
                </a:solidFill>
              </a:rPr>
              <a:t>重构误差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CE1FE9C-7EDD-8ABA-4105-583A19FC5B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310871"/>
              </p:ext>
            </p:extLst>
          </p:nvPr>
        </p:nvGraphicFramePr>
        <p:xfrm>
          <a:off x="7035165" y="3429000"/>
          <a:ext cx="3000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0" imgH="164880" progId="Equation.DSMT4">
                  <p:embed/>
                </p:oleObj>
              </mc:Choice>
              <mc:Fallback>
                <p:oleObj name="Equation" r:id="rId3" imgW="1267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35165" y="3429000"/>
                        <a:ext cx="300038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302F50C-9BAA-3738-5E78-29AF8C1AE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973520"/>
              </p:ext>
            </p:extLst>
          </p:nvPr>
        </p:nvGraphicFramePr>
        <p:xfrm>
          <a:off x="1545908" y="4369358"/>
          <a:ext cx="300037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0262" imgH="388814" progId="Equation.DSMT4">
                  <p:embed/>
                </p:oleObj>
              </mc:Choice>
              <mc:Fallback>
                <p:oleObj name="Equation" r:id="rId5" imgW="300262" imgH="3888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5908" y="4369358"/>
                        <a:ext cx="300037" cy="388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D5837D1-FC37-440E-7AE1-9B26ADB7C5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956579"/>
              </p:ext>
            </p:extLst>
          </p:nvPr>
        </p:nvGraphicFramePr>
        <p:xfrm>
          <a:off x="8916669" y="4836718"/>
          <a:ext cx="1924051" cy="504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74360" imgH="203040" progId="Equation.DSMT4">
                  <p:embed/>
                </p:oleObj>
              </mc:Choice>
              <mc:Fallback>
                <p:oleObj name="Equation" r:id="rId7" imgW="774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16669" y="4836718"/>
                        <a:ext cx="1924051" cy="504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578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07342-9573-B6F0-A27B-737789E9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A5FB909-4C25-6360-DC57-A3684ABED2C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自编码器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471FA75-5935-7402-6C8F-27F3CD99C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30D4BEF8-9CA6-7280-6DB5-639411008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0036" y="1609825"/>
            <a:ext cx="53732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图形 8">
            <a:extLst>
              <a:ext uri="{FF2B5EF4-FFF2-40B4-BE49-F238E27FC236}">
                <a16:creationId xmlns:a16="http://schemas.microsoft.com/office/drawing/2014/main" id="{CBE0B0A1-A6CC-2D69-FD97-1A84E04C4B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7475" y="2293303"/>
            <a:ext cx="4257040" cy="36998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B93C882-A892-A2C8-4EAC-E143EB454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7" y="1427932"/>
            <a:ext cx="9516026" cy="67156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AB75C3C-A755-F5CD-C122-A94733D6DE1F}"/>
              </a:ext>
            </a:extLst>
          </p:cNvPr>
          <p:cNvSpPr txBox="1"/>
          <p:nvPr/>
        </p:nvSpPr>
        <p:spPr>
          <a:xfrm>
            <a:off x="6377363" y="2694464"/>
            <a:ext cx="4390116" cy="2775760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计算每个数据点   的重构误差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设定阈值  ，若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则标记数据点  为异常。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265B2DC-DD56-8436-E56C-CD1AD794C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166551"/>
              </p:ext>
            </p:extLst>
          </p:nvPr>
        </p:nvGraphicFramePr>
        <p:xfrm>
          <a:off x="8570380" y="2694464"/>
          <a:ext cx="471424" cy="62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203040" progId="Equation.DSMT4">
                  <p:embed/>
                </p:oleObj>
              </mc:Choice>
              <mc:Fallback>
                <p:oleObj name="Equation" r:id="rId6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70380" y="2694464"/>
                        <a:ext cx="471424" cy="6285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1FD8B23-CFD8-C340-82C8-8E78A2C8AB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989315"/>
              </p:ext>
            </p:extLst>
          </p:nvPr>
        </p:nvGraphicFramePr>
        <p:xfrm>
          <a:off x="6467258" y="3213766"/>
          <a:ext cx="3418851" cy="671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279360" progId="Equation.DSMT4">
                  <p:embed/>
                </p:oleObj>
              </mc:Choice>
              <mc:Fallback>
                <p:oleObj name="Equation" r:id="rId8" imgW="14223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67258" y="3213766"/>
                        <a:ext cx="3418851" cy="6715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776A2F2-6A18-DD14-801E-471994C603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283325"/>
              </p:ext>
            </p:extLst>
          </p:nvPr>
        </p:nvGraphicFramePr>
        <p:xfrm>
          <a:off x="7659789" y="3949189"/>
          <a:ext cx="398744" cy="44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26720" progId="Equation.DSMT4">
                  <p:embed/>
                </p:oleObj>
              </mc:Choice>
              <mc:Fallback>
                <p:oleObj name="Equation" r:id="rId10" imgW="11412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59789" y="3949189"/>
                        <a:ext cx="398744" cy="443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8E8D3B6-90BA-896F-8BA9-368078877B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450731"/>
              </p:ext>
            </p:extLst>
          </p:nvPr>
        </p:nvGraphicFramePr>
        <p:xfrm>
          <a:off x="6442954" y="4392821"/>
          <a:ext cx="1530815" cy="556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8720" imgH="203040" progId="Equation.DSMT4">
                  <p:embed/>
                </p:oleObj>
              </mc:Choice>
              <mc:Fallback>
                <p:oleObj name="Equation" r:id="rId12" imgW="558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42954" y="4392821"/>
                        <a:ext cx="1530815" cy="556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D99EFEF-CF22-F1F6-33EB-DCE4A8BE77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747425"/>
              </p:ext>
            </p:extLst>
          </p:nvPr>
        </p:nvGraphicFramePr>
        <p:xfrm>
          <a:off x="8263059" y="4900600"/>
          <a:ext cx="471714" cy="628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15198" imgH="687625" progId="Equation.DSMT4">
                  <p:embed/>
                </p:oleObj>
              </mc:Choice>
              <mc:Fallback>
                <p:oleObj name="Equation" r:id="rId14" imgW="515198" imgH="6876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263059" y="4900600"/>
                        <a:ext cx="471714" cy="628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153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9085-0705-848F-62FF-1DFE6D7B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2D44C83-1A29-9409-F04F-37C9D04573FD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自编码器</a:t>
            </a:r>
            <a:endParaRPr kumimoji="0" lang="de-DE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华光综艺_CNKI" panose="02000500000000000000" pitchFamily="2" charset="-122"/>
              <a:ea typeface="华光综艺_CNKI" panose="02000500000000000000" pitchFamily="2" charset="-122"/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5E75E1F-C811-69A9-A27C-E15E8FCD6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4640B00D-47D4-9F7B-EFAE-0F075A7BB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1070F6-564C-E747-CBFC-F80546CBF464}"/>
              </a:ext>
            </a:extLst>
          </p:cNvPr>
          <p:cNvSpPr txBox="1"/>
          <p:nvPr/>
        </p:nvSpPr>
        <p:spPr>
          <a:xfrm>
            <a:off x="449580" y="1056005"/>
            <a:ext cx="11318240" cy="5654561"/>
          </a:xfrm>
          <a:prstGeom prst="rect">
            <a:avLst/>
          </a:prstGeom>
          <a:noFill/>
          <a:ln w="19050">
            <a:solidFill>
              <a:srgbClr val="3484FF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484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算法评价：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3484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自编码器在数据压缩和重建方面具有强大的能力，对于未标记的数据集具有较好的适应性，且能够捕获数据的非线性关系。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然而，自编码器本质上属于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确定性编码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，它提供每个输入的固定、单一的表示。这种确定性结构限制了它们建模具有不确定性的真实数据的能力。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变体：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引入了概率分布的变分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自编码器（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Variational Autoencoder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VAE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还有引入稀疏性约束的稀疏自编码器（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Sparse Autoencoder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SAE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；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适用于处理图像等具有空间相关性的数据的卷积自编码器（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Convolutional Autoencoder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，</a:t>
            </a:r>
            <a:r>
              <a:rPr kumimoji="0" lang="de-DE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CAE</a:t>
            </a:r>
            <a:r>
              <a:rPr kumimoji="0" lang="zh-CN" alt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+mn-cs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2474080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8DAC-B673-4353-40D8-6579617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2217CF0-DCC2-44E5-5A0D-3969EA560FA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实践案例：基于主成分分析的飞机引擎异常状态识别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EF0F45D7-A32A-18E1-50F7-27F83F9B1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C004A51-C1AA-CF2A-A8B5-528DA9AA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A32EFD-7084-A974-325F-A82DAEC98D7F}"/>
              </a:ext>
            </a:extLst>
          </p:cNvPr>
          <p:cNvSpPr txBox="1"/>
          <p:nvPr/>
        </p:nvSpPr>
        <p:spPr>
          <a:xfrm>
            <a:off x="166155" y="983047"/>
            <a:ext cx="11873445" cy="279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本节将利用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对飞机引擎进行异常检测。我们选取引擎产生的热量、振幅、转速、燃油消耗率以及振动频率这五个核心指标作为分析特征。这些指标能够全面反映引擎的性能与健康状况，是确保引擎安全运行的关键信息。以燃油管道堵塞为例，这种异常情况会直接导致燃油消耗率显著上升。因此，通过监测以上指标，能够及时发现飞机引擎的状态变化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C24965-150C-1DF6-7A95-FE72804F0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97" y="4066539"/>
            <a:ext cx="10497605" cy="293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DC9D-830F-624C-17DD-7576EE47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B6C7267-53D0-32F3-C99D-8BA94523D83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实践案例：基于主成分分析的飞机引擎异常状态识别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B8B8B41-6F4D-567D-0DAC-706E3FCB6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10F6AF56-ED5C-0485-F2E2-33E1F71B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B75B8-9A68-1F8D-4F2F-A68D1C2BF9DB}"/>
              </a:ext>
            </a:extLst>
          </p:cNvPr>
          <p:cNvSpPr txBox="1"/>
          <p:nvPr/>
        </p:nvSpPr>
        <p:spPr>
          <a:xfrm>
            <a:off x="0" y="1369077"/>
            <a:ext cx="4406772" cy="464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模型训练。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sklearn.decomposition.PCA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降维；</a:t>
            </a:r>
            <a:endParaRPr lang="en-US" altLang="zh-CN" sz="2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利用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pca.score_samples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函数直接计算得出每个样本的异常得分（</a:t>
            </a:r>
            <a:r>
              <a:rPr lang="en-US" altLang="zh-CN" sz="2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pca.score_samples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函数计算的是每个样本在新空间中的对数似然得分）。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5D3BB74-5A63-AB2F-7905-259CD6B75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245"/>
          <a:stretch/>
        </p:blipFill>
        <p:spPr>
          <a:xfrm>
            <a:off x="4521073" y="2133218"/>
            <a:ext cx="7292508" cy="369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3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A0BF-E088-B6D1-CD1E-3D76790B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9FEDA44-B29D-E3EE-7443-E7F3112C010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实践案例：基于主成分分析的飞机引擎异常状态识别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26A6611-C915-85CA-85E2-BEE8D936C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2749C98F-99EE-B8E2-53E5-E3FF657F5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3690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8FF001-D9DE-3DB9-F42E-241C01DADA84}"/>
              </a:ext>
            </a:extLst>
          </p:cNvPr>
          <p:cNvSpPr txBox="1"/>
          <p:nvPr/>
        </p:nvSpPr>
        <p:spPr>
          <a:xfrm>
            <a:off x="0" y="1369077"/>
            <a:ext cx="4406772" cy="2427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可视化。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调整坐标轴的旋转角度，从两个角度对异常检测结果进行可视化。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75EF47-1436-0484-6954-88A9C5C34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772" y="1395605"/>
            <a:ext cx="6982549" cy="52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62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38C9-AFD4-568B-56E4-DA61CFC9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1D674A0-544C-F028-99A5-1000F359DD9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实践案例：基于主成分分析的飞机引擎异常状态识别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C9CCC12-4634-E707-9FA4-444E333B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65CC2521-477A-2107-C9EF-62E3ECC3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19ACA0-DC6E-578E-4B5D-3CC38298922B}"/>
              </a:ext>
            </a:extLst>
          </p:cNvPr>
          <p:cNvSpPr txBox="1"/>
          <p:nvPr/>
        </p:nvSpPr>
        <p:spPr>
          <a:xfrm>
            <a:off x="279132" y="1519869"/>
            <a:ext cx="1151181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svm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模块的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SVC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类构建一个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SVM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分类模型。参数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是惩罚因子，用于控制误差项对结果的影响，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值越大，模型越严格地限制误差项，但其取值过大容易造成过拟合。参数“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kernel”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是核函数，默认为高斯核函数。参数“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gamma”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和“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degree”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分别是高斯核函数和多项式核函数的参数，前者用于控制高斯核的形状，后者用于控制多项式拟合数据的复杂度，二者的值越大，可以使模型捕捉更多的数据细节，但同时也增加了模型过拟合的风险。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AB2D9D-6D18-39B9-DA0A-A478DE9A4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964" y="3360405"/>
            <a:ext cx="9173347" cy="335095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60318C3-68AA-F23D-65AD-C4F4017C8996}"/>
              </a:ext>
            </a:extLst>
          </p:cNvPr>
          <p:cNvSpPr txBox="1"/>
          <p:nvPr/>
        </p:nvSpPr>
        <p:spPr>
          <a:xfrm>
            <a:off x="289827" y="1076907"/>
            <a:ext cx="631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模型训练。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222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AB98-C6E8-B257-4E36-B83C3106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29CD8C8-05EE-229E-B036-2651DC00B25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光综艺_CNKI" panose="02000500000000000000" pitchFamily="2" charset="-122"/>
                <a:ea typeface="华光综艺_CNKI" panose="02000500000000000000" pitchFamily="2" charset="-122"/>
                <a:cs typeface="+mn-cs"/>
              </a:rPr>
              <a:t>实践案例：不良用户识别不良用户识别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4849EF2-41E6-18A5-82AF-112F7508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6523EEF-0DA1-8070-A0A3-9EB35B35A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902C04-D79C-31E9-941E-8FABFBE34BCB}"/>
              </a:ext>
            </a:extLst>
          </p:cNvPr>
          <p:cNvSpPr txBox="1"/>
          <p:nvPr/>
        </p:nvSpPr>
        <p:spPr>
          <a:xfrm>
            <a:off x="279132" y="1519869"/>
            <a:ext cx="115118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数据点的颜色越偏紫色，代表其异常概率越高，越可能被视为异常状态；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而颜色越接近黄色，则异常概率越低，更可能被视为正常状态。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97D491-1241-0B5A-157F-372E46758074}"/>
              </a:ext>
            </a:extLst>
          </p:cNvPr>
          <p:cNvSpPr txBox="1"/>
          <p:nvPr/>
        </p:nvSpPr>
        <p:spPr>
          <a:xfrm>
            <a:off x="289827" y="1076907"/>
            <a:ext cx="6316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输出结果。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形 3">
            <a:extLst>
              <a:ext uri="{FF2B5EF4-FFF2-40B4-BE49-F238E27FC236}">
                <a16:creationId xmlns:a16="http://schemas.microsoft.com/office/drawing/2014/main" id="{36EB17CA-48C5-4CE4-6DC4-BB6260D139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90" r="2089"/>
          <a:stretch/>
        </p:blipFill>
        <p:spPr bwMode="auto">
          <a:xfrm>
            <a:off x="1254518" y="3276689"/>
            <a:ext cx="9682964" cy="33331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1F47BD1-29FE-3EBF-AC56-20516EA403AF}"/>
              </a:ext>
            </a:extLst>
          </p:cNvPr>
          <p:cNvSpPr txBox="1"/>
          <p:nvPr/>
        </p:nvSpPr>
        <p:spPr>
          <a:xfrm>
            <a:off x="294130" y="2362341"/>
            <a:ext cx="115118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观察结果显示，在降维后的三维空间中，黄色的正常数据点形成了显著的聚类区域，而偏紫色的异常数据点则明显偏离了这些聚集区域，表现为离群点的特征。</a:t>
            </a:r>
          </a:p>
        </p:txBody>
      </p:sp>
    </p:spTree>
    <p:extLst>
      <p:ext uri="{BB962C8B-B14F-4D97-AF65-F5344CB8AC3E}">
        <p14:creationId xmlns:p14="http://schemas.microsoft.com/office/powerpoint/2010/main" val="3433938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5136</TotalTime>
  <Words>1124</Words>
  <Application>Microsoft Office PowerPoint</Application>
  <PresentationFormat>宽屏</PresentationFormat>
  <Paragraphs>90</Paragraphs>
  <Slides>14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8" baseType="lpstr">
      <vt:lpstr>等线</vt:lpstr>
      <vt:lpstr>华光综艺_CNKI</vt:lpstr>
      <vt:lpstr>楷体</vt:lpstr>
      <vt:lpstr>思源黑体</vt:lpstr>
      <vt:lpstr>思源黑体 CN Bold</vt:lpstr>
      <vt:lpstr>微软雅黑</vt:lpstr>
      <vt:lpstr>Arial</vt:lpstr>
      <vt:lpstr>Calibri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Photo Editor 照片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Mengxin Ou</cp:lastModifiedBy>
  <cp:revision>2900</cp:revision>
  <dcterms:created xsi:type="dcterms:W3CDTF">2022-05-23T09:13:00Z</dcterms:created>
  <dcterms:modified xsi:type="dcterms:W3CDTF">2025-04-17T15:02:16Z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