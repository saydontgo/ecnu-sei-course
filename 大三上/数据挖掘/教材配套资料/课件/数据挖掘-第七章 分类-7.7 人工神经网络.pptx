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42"/>
  </p:notesMasterIdLst>
  <p:handoutMasterIdLst>
    <p:handoutMasterId r:id="rId43"/>
  </p:handoutMasterIdLst>
  <p:sldIdLst>
    <p:sldId id="15638" r:id="rId13"/>
    <p:sldId id="15793" r:id="rId14"/>
    <p:sldId id="15794" r:id="rId15"/>
    <p:sldId id="15795" r:id="rId16"/>
    <p:sldId id="15893" r:id="rId17"/>
    <p:sldId id="15796" r:id="rId18"/>
    <p:sldId id="15870" r:id="rId19"/>
    <p:sldId id="15871" r:id="rId20"/>
    <p:sldId id="15872" r:id="rId21"/>
    <p:sldId id="15873" r:id="rId22"/>
    <p:sldId id="15874" r:id="rId23"/>
    <p:sldId id="15875" r:id="rId24"/>
    <p:sldId id="15876" r:id="rId25"/>
    <p:sldId id="15878" r:id="rId26"/>
    <p:sldId id="15877" r:id="rId27"/>
    <p:sldId id="15885" r:id="rId28"/>
    <p:sldId id="15879" r:id="rId29"/>
    <p:sldId id="15880" r:id="rId30"/>
    <p:sldId id="15881" r:id="rId31"/>
    <p:sldId id="15882" r:id="rId32"/>
    <p:sldId id="15883" r:id="rId33"/>
    <p:sldId id="15887" r:id="rId34"/>
    <p:sldId id="15886" r:id="rId35"/>
    <p:sldId id="15884" r:id="rId36"/>
    <p:sldId id="15888" r:id="rId37"/>
    <p:sldId id="15889" r:id="rId38"/>
    <p:sldId id="15892" r:id="rId39"/>
    <p:sldId id="15890" r:id="rId40"/>
    <p:sldId id="15502" r:id="rId41"/>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p:scale>
          <a:sx n="66" d="100"/>
          <a:sy n="66" d="100"/>
        </p:scale>
        <p:origin x="1408" y="464"/>
      </p:cViewPr>
      <p:guideLst>
        <p:guide pos="2252"/>
        <p:guide orient="horz" pos="2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19679-3E2B-C1FD-1224-B2AC5323E2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625FE8-588C-91C1-1378-31902C6D43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497C05-EDA0-E309-1313-5DEE2C06054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FF49D05-6C9E-6E52-BAE7-EFA07C2075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493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8B019-104A-C9CB-0B8E-830B4F02D7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3E0FA-FDB5-EAB1-1F19-382BE7B386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F2A213-028B-3E31-32DA-AF487E9E2C5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24F6F0C-76D8-5F81-D13E-4C2982FF61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76657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E814-2FC4-94DA-0685-95E6C4AC6B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C9E630-AD23-9455-1F03-E092BC736F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FB5385-0457-610F-B31F-5FC46DE5564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0EABAED-FB38-A58F-CB6A-D55EC98E47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7332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D7E15-97B6-7376-7B0B-F7561AD0B5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EFEBF2-AD6B-3321-1B85-67EE242717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961ACC-6D23-DD10-9C80-6098E3D27D8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C9908F1-F213-7209-F847-F402384949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9011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D203-35C0-B840-868B-731ECAB887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4D080F-6F62-A2CA-2E73-875B3C8C00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711B49-3DB6-981B-7BE6-E6D5CBD42FD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273E067-E264-E2F2-CA28-B7C753167A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74278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8FA36-EA1B-9C56-FE6F-C9D7642A75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D82B14-B693-2D16-AA35-B2CC5C3F40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2445F4-A78A-A6D8-AA5C-26FF9580E4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ADA553E-A034-12CD-F116-8508F6EA53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15920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29A7-ABDB-A027-B8BA-BCC0E0052A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4D6A17-D2EF-B252-4227-3CB6753252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4B138B-D411-FCA7-F859-8ADD95A3D93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1CD2E18-47AC-4DF5-E725-EDE5AA2A8C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61189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27E03-AAFC-48DA-5FD2-CABBABC637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FFF0EC-DE92-F838-F794-9DF2242875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85C9D8-4EA2-80A2-F697-4D3EBC9590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62381E-FA9C-F83F-29A2-ACF7286D51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56623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4AE3-3305-A6FC-D5E5-38B8D89BB0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AA37B4-76D1-9300-F00D-3AA559C427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3224A9-199D-6C31-CD9B-F5372D20505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09DB776-D30F-1507-43FA-233E4075CE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19303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D9B-DFED-3339-C1F9-D7FCD142CC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874B23-F552-0354-E6F6-5C651C8FED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8B1077-D958-B1FA-858F-93CDBF6E575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9C1BCF0-86A5-B91F-F9F4-EFCAC43DE2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32714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53D7D-1043-62C2-AAF2-FCB11DE01B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ED7382-EA8F-087F-E472-78B3EC040D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091C12-ADA8-34F0-A3C8-BD6B27CAB5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61A448-8C7E-66F2-ABFD-3456CFBA1A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80628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E776-E503-8C0D-A159-10C0B7C0AB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FC1588-6073-B6A8-3CED-A2B74F36EB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1F845F-1A59-F00D-9E52-C0235341C0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F052258-D906-517C-326B-34BE8D25C6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07337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BF1BA-4663-4A35-2408-0679F34AB7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5B0405-1750-BD6A-A3BA-85F83B052A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F1B19C-AAB4-AD74-3C3A-797162E5C0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962C375-9614-C899-751F-20D4E9945C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88122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E1B6-5039-8380-D0DA-7DA0BC7BCA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E9A339-2A02-D3B1-3F5C-D70A3F6C4F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57DAE5-EA13-C6C3-5EC6-225FC65C61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A202F26-AC21-2563-3174-31B9EDE4AB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70998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65332-A4F7-E580-C973-A0D1ABEB0D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E7B527-3697-7368-3DB3-7B61C348FA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4A53DA-169F-823F-59AF-73DFD789503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F6206E-1BE6-BD0F-3EFD-7A4D866A94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74889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200D9-053F-7B23-25F1-5962478972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A5FFF6-3CCC-44E9-CD89-233EAC0C62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0CC635-463F-C0D1-6197-D16A6CBE28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C78B671-5C85-F3C6-1930-CC7FA91B1D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93130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33240-1D06-4BE0-EF5A-D564FC4E8A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33BC79-F8BA-F26A-0395-B1E6EA664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E9C5ED-45C6-D5EB-CFB5-ADBC0869517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219E327-3A63-20ED-A606-45727AA142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91692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8B16-4958-E0CD-C598-248522DB3E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FF99E4-893A-5C5C-DBAA-ED464A4F3E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15CB73-746A-8B60-2124-0A6E9DCEAAE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BC00B0A-FF61-3510-C705-F16E921980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87815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8F814-F7C5-537B-A90B-A68DD8D0A8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4ECB9A-B80C-709A-5E39-1F2D59E966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CE2CB7-A756-08EA-5668-2C179E84355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B2139CE-EA83-7469-5E16-5DF27037C1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62631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657C2-10F0-110E-BCC1-0CEE572512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7A3648-EC06-7B2B-1A37-76891C85BA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8D3151-5B9D-BC7C-380B-3E10B13637D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0F713FD-1CC9-3E49-CBBA-524FF53AE7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30354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4348-7760-69D7-8872-6E638E7E3E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392B15-0BA1-B36F-72A1-6427091DF4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39F7C6-22CF-D9B3-82F2-E6C5ACBD117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241F435-1908-92AB-6513-C8EB44624A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10050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70374-80BF-A447-A88D-C39D7074E7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9E793C-1F4E-5C8E-A832-12AB5824A1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E7FB04-9E2E-55C0-BCEC-D689AAF7437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387D2E9-1F99-C80D-1E81-3FC9607052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672833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4C49-F515-4252-E5BC-1FA66590D8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3765F1-46E4-10FF-272F-DC3633C239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F237C8-22AD-400D-05DA-2B1876F9078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180514B-1551-FD02-9DF4-CFE2961114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55419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D786E-FEF7-88F5-4363-A1AFEA4EB2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BD6F42-8502-1A36-2B9E-6AE999857B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3984D8-D965-0791-FFA5-2FEA7421A3D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6C47112-636F-9653-C1FA-5CF8DFA8C7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68743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3892A-E1E4-4BC2-AD1D-28051ACBF9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6F8C19-EBE2-7E1B-CD72-CA3AB7B291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EBC0C0-62BC-B453-9FCF-123DE7D728C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A3A3BB0-27A1-815A-B7C3-16DD6EC88D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14896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5180E-B79F-D86F-B181-1B06B1B545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EC72F3-8E64-D77D-17E2-011B54E1CD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D8158B-74DD-9289-0987-0A1D4795A3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357896-27A5-BDB1-4E84-B8FF133F88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854015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BF23D-039B-BF71-9B77-A7CDB73EAC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3549F6-6FAA-F28F-3779-86C43631DE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7D0D64-63D5-F1C6-4837-62065EE96F6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75412D-517E-2780-2DB3-2968CC67CC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87349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4.bin"/><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9.emf"/></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46.png"/><Relationship Id="rId7" Type="http://schemas.openxmlformats.org/officeDocument/2006/relationships/image" Target="../media/image48.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50.emf"/><Relationship Id="rId5" Type="http://schemas.openxmlformats.org/officeDocument/2006/relationships/image" Target="../media/image47.e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49.emf"/></Relationships>
</file>

<file path=ppt/slides/_rels/slide16.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oleObject" Target="../embeddings/oleObject11.bin"/><Relationship Id="rId4" Type="http://schemas.openxmlformats.org/officeDocument/2006/relationships/image" Target="../media/image51.emf"/><Relationship Id="rId9"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5.emf"/><Relationship Id="rId5" Type="http://schemas.openxmlformats.org/officeDocument/2006/relationships/oleObject" Target="../embeddings/oleObject14.bin"/><Relationship Id="rId4" Type="http://schemas.openxmlformats.org/officeDocument/2006/relationships/image" Target="../media/image54.emf"/></Relationships>
</file>

<file path=ppt/slides/_rels/slide18.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oleObject" Target="../embeddings/oleObject16.bin"/><Relationship Id="rId7" Type="http://schemas.openxmlformats.org/officeDocument/2006/relationships/image" Target="../media/image62.e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1.emf"/><Relationship Id="rId5" Type="http://schemas.openxmlformats.org/officeDocument/2006/relationships/image" Target="../media/image60.emf"/><Relationship Id="rId10" Type="http://schemas.openxmlformats.org/officeDocument/2006/relationships/image" Target="../media/image64.emf"/><Relationship Id="rId4" Type="http://schemas.openxmlformats.org/officeDocument/2006/relationships/image" Target="../media/image59.emf"/><Relationship Id="rId9" Type="http://schemas.openxmlformats.org/officeDocument/2006/relationships/image" Target="../media/image63.emf"/></Relationships>
</file>

<file path=ppt/slides/_rels/slide20.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66.emf"/><Relationship Id="rId4" Type="http://schemas.openxmlformats.org/officeDocument/2006/relationships/oleObject" Target="../embeddings/oleObject18.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72.emf"/><Relationship Id="rId3" Type="http://schemas.openxmlformats.org/officeDocument/2006/relationships/image" Target="../media/image67.emf"/><Relationship Id="rId7" Type="http://schemas.openxmlformats.org/officeDocument/2006/relationships/image" Target="../media/image69.emf"/><Relationship Id="rId12" Type="http://schemas.openxmlformats.org/officeDocument/2006/relationships/oleObject" Target="../embeddings/oleObject23.bin"/><Relationship Id="rId17" Type="http://schemas.openxmlformats.org/officeDocument/2006/relationships/image" Target="../media/image74.emf"/><Relationship Id="rId2" Type="http://schemas.openxmlformats.org/officeDocument/2006/relationships/notesSlide" Target="../notesSlides/notesSlide21.xml"/><Relationship Id="rId16"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71.emf"/><Relationship Id="rId5" Type="http://schemas.openxmlformats.org/officeDocument/2006/relationships/image" Target="../media/image68.emf"/><Relationship Id="rId15" Type="http://schemas.openxmlformats.org/officeDocument/2006/relationships/image" Target="../media/image73.e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70.emf"/><Relationship Id="rId14" Type="http://schemas.openxmlformats.org/officeDocument/2006/relationships/oleObject" Target="../embeddings/oleObject24.bin"/></Relationships>
</file>

<file path=ppt/slides/_rels/slide22.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6.emf"/><Relationship Id="rId4" Type="http://schemas.openxmlformats.org/officeDocument/2006/relationships/oleObject" Target="../embeddings/oleObject26.bin"/></Relationships>
</file>

<file path=ppt/slides/_rels/slide23.xml.rels><?xml version="1.0" encoding="UTF-8" standalone="yes"?>
<Relationships xmlns="http://schemas.openxmlformats.org/package/2006/relationships"><Relationship Id="rId8" Type="http://schemas.openxmlformats.org/officeDocument/2006/relationships/image" Target="../media/image79.e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8.emf"/><Relationship Id="rId5" Type="http://schemas.openxmlformats.org/officeDocument/2006/relationships/oleObject" Target="../embeddings/oleObject28.bin"/><Relationship Id="rId10" Type="http://schemas.openxmlformats.org/officeDocument/2006/relationships/image" Target="../media/image80.emf"/><Relationship Id="rId4" Type="http://schemas.openxmlformats.org/officeDocument/2006/relationships/image" Target="../media/image77.wmf"/><Relationship Id="rId9" Type="http://schemas.openxmlformats.org/officeDocument/2006/relationships/oleObject" Target="../embeddings/oleObject30.bin"/></Relationships>
</file>

<file path=ppt/slides/_rels/slide2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6.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BE016-0840-FD37-C535-64105991CF21}"/>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7.7</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人工神经网络</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26A15-53E1-60A3-29EE-454013BE47B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7700802-989A-5FF2-BC0E-BF5792D1BBB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人工神经网络基本原理</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0A8C9DE-3F50-A3FE-F867-50504623626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D45A514A-95D5-43DF-C1EE-62B1191401EA}"/>
              </a:ext>
            </a:extLst>
          </p:cNvPr>
          <p:cNvSpPr>
            <a:spLocks noChangeArrowheads="1"/>
          </p:cNvSpPr>
          <p:nvPr/>
        </p:nvSpPr>
        <p:spPr bwMode="auto">
          <a:xfrm>
            <a:off x="12700" y="12690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D11276BA-5967-1980-51A3-E7AFF459EB8C}"/>
              </a:ext>
            </a:extLst>
          </p:cNvPr>
          <p:cNvSpPr txBox="1"/>
          <p:nvPr/>
        </p:nvSpPr>
        <p:spPr>
          <a:xfrm>
            <a:off x="166155" y="1185597"/>
            <a:ext cx="11903926" cy="1846659"/>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人工神经网络（</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Artificial Neural Network</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ANN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）是一种通过数学模型来模仿大脑神经网络的模型。</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在生物体中，神经元是携带和传输信息的细胞，是人脑神经系统中最基本的单元。</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在人工神经网络中，感知机对应的就是生物神经网络中的组成单元</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神经元。</a:t>
            </a:r>
          </a:p>
        </p:txBody>
      </p:sp>
      <p:pic>
        <p:nvPicPr>
          <p:cNvPr id="6" name="图形 1">
            <a:extLst>
              <a:ext uri="{FF2B5EF4-FFF2-40B4-BE49-F238E27FC236}">
                <a16:creationId xmlns:a16="http://schemas.microsoft.com/office/drawing/2014/main" id="{4A2E8630-1A06-6443-F154-4102C8A0AF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5721" y="3231429"/>
            <a:ext cx="9500558" cy="3378373"/>
          </a:xfrm>
          <a:prstGeom prst="rect">
            <a:avLst/>
          </a:prstGeom>
        </p:spPr>
      </p:pic>
    </p:spTree>
    <p:extLst>
      <p:ext uri="{BB962C8B-B14F-4D97-AF65-F5344CB8AC3E}">
        <p14:creationId xmlns:p14="http://schemas.microsoft.com/office/powerpoint/2010/main" val="13408823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5C090-898F-0BCC-6B44-92C71E6117C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3AAFCFC-9E77-BB93-F6B5-8DB6BF81600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感知机</a:t>
            </a:r>
          </a:p>
        </p:txBody>
      </p:sp>
      <p:sp>
        <p:nvSpPr>
          <p:cNvPr id="15" name="Rectangle 3">
            <a:extLst>
              <a:ext uri="{FF2B5EF4-FFF2-40B4-BE49-F238E27FC236}">
                <a16:creationId xmlns:a16="http://schemas.microsoft.com/office/drawing/2014/main" id="{E11B1D9B-020F-D072-DBF1-01B20A89E5E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图片 5">
            <a:extLst>
              <a:ext uri="{FF2B5EF4-FFF2-40B4-BE49-F238E27FC236}">
                <a16:creationId xmlns:a16="http://schemas.microsoft.com/office/drawing/2014/main" id="{96B4225B-F0DF-2572-36FA-21ED0218F818}"/>
              </a:ext>
            </a:extLst>
          </p:cNvPr>
          <p:cNvPicPr>
            <a:picLocks noChangeAspect="1"/>
          </p:cNvPicPr>
          <p:nvPr/>
        </p:nvPicPr>
        <p:blipFill>
          <a:blip r:embed="rId3"/>
          <a:stretch>
            <a:fillRect/>
          </a:stretch>
        </p:blipFill>
        <p:spPr>
          <a:xfrm>
            <a:off x="381000" y="1087660"/>
            <a:ext cx="11430000" cy="2220704"/>
          </a:xfrm>
          <a:prstGeom prst="rect">
            <a:avLst/>
          </a:prstGeom>
        </p:spPr>
      </p:pic>
      <p:sp>
        <p:nvSpPr>
          <p:cNvPr id="9" name="文本框 8">
            <a:extLst>
              <a:ext uri="{FF2B5EF4-FFF2-40B4-BE49-F238E27FC236}">
                <a16:creationId xmlns:a16="http://schemas.microsoft.com/office/drawing/2014/main" id="{6CD2A94A-E26A-184A-CEAB-038E8E243128}"/>
              </a:ext>
            </a:extLst>
          </p:cNvPr>
          <p:cNvSpPr txBox="1"/>
          <p:nvPr/>
        </p:nvSpPr>
        <p:spPr>
          <a:xfrm>
            <a:off x="995423" y="3308364"/>
            <a:ext cx="6126480" cy="461665"/>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感知机模型的训练步骤如下：</a:t>
            </a:r>
          </a:p>
        </p:txBody>
      </p:sp>
      <p:pic>
        <p:nvPicPr>
          <p:cNvPr id="10" name="图片 9">
            <a:extLst>
              <a:ext uri="{FF2B5EF4-FFF2-40B4-BE49-F238E27FC236}">
                <a16:creationId xmlns:a16="http://schemas.microsoft.com/office/drawing/2014/main" id="{885933AD-55B8-7A7D-FCF2-5B250E4AB293}"/>
              </a:ext>
            </a:extLst>
          </p:cNvPr>
          <p:cNvPicPr>
            <a:picLocks noChangeAspect="1"/>
          </p:cNvPicPr>
          <p:nvPr/>
        </p:nvPicPr>
        <p:blipFill>
          <a:blip r:embed="rId4"/>
          <a:srcRect b="16068"/>
          <a:stretch/>
        </p:blipFill>
        <p:spPr>
          <a:xfrm>
            <a:off x="478263" y="3897313"/>
            <a:ext cx="10857299" cy="2670978"/>
          </a:xfrm>
          <a:prstGeom prst="rect">
            <a:avLst/>
          </a:prstGeom>
          <a:ln>
            <a:solidFill>
              <a:schemeClr val="tx1"/>
            </a:solidFill>
          </a:ln>
        </p:spPr>
      </p:pic>
    </p:spTree>
    <p:extLst>
      <p:ext uri="{BB962C8B-B14F-4D97-AF65-F5344CB8AC3E}">
        <p14:creationId xmlns:p14="http://schemas.microsoft.com/office/powerpoint/2010/main" val="30133700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F3FA9-DB4A-5232-2817-AD02A9CAD061}"/>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10A43B35-AFD3-5A6D-4F7C-F2739A318647}"/>
              </a:ext>
            </a:extLst>
          </p:cNvPr>
          <p:cNvPicPr>
            <a:picLocks noChangeAspect="1"/>
          </p:cNvPicPr>
          <p:nvPr/>
        </p:nvPicPr>
        <p:blipFill>
          <a:blip r:embed="rId3"/>
          <a:stretch>
            <a:fillRect/>
          </a:stretch>
        </p:blipFill>
        <p:spPr>
          <a:xfrm>
            <a:off x="2106112" y="3978130"/>
            <a:ext cx="7924348" cy="2892430"/>
          </a:xfrm>
          <a:prstGeom prst="rect">
            <a:avLst/>
          </a:prstGeom>
        </p:spPr>
      </p:pic>
      <p:sp>
        <p:nvSpPr>
          <p:cNvPr id="3" name="矩形 26">
            <a:extLst>
              <a:ext uri="{FF2B5EF4-FFF2-40B4-BE49-F238E27FC236}">
                <a16:creationId xmlns:a16="http://schemas.microsoft.com/office/drawing/2014/main" id="{366FEA30-45DE-82BB-DCD1-E7A05C9FEB4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逻辑门问题</a:t>
            </a:r>
          </a:p>
        </p:txBody>
      </p:sp>
      <p:sp>
        <p:nvSpPr>
          <p:cNvPr id="15" name="Rectangle 3">
            <a:extLst>
              <a:ext uri="{FF2B5EF4-FFF2-40B4-BE49-F238E27FC236}">
                <a16:creationId xmlns:a16="http://schemas.microsoft.com/office/drawing/2014/main" id="{A8572BEA-794D-AEE8-1DEE-9A26ACB3173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1B436C5A-CF39-8D57-5E49-5A353E2A6C1F}"/>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1733C0E5-1958-D52F-A8D2-440567A054D9}"/>
              </a:ext>
            </a:extLst>
          </p:cNvPr>
          <p:cNvSpPr txBox="1"/>
          <p:nvPr/>
        </p:nvSpPr>
        <p:spPr>
          <a:xfrm>
            <a:off x="338667" y="1171322"/>
            <a:ext cx="11866033" cy="830997"/>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与门、与非门、非门都是经典的逻辑门电路问题。这三种问题均为线性可分，将其表示在二维坐标系中，可找到线性函数将两类样本完全正确地分开。</a:t>
            </a:r>
          </a:p>
        </p:txBody>
      </p:sp>
      <p:pic>
        <p:nvPicPr>
          <p:cNvPr id="8" name="图片 7">
            <a:extLst>
              <a:ext uri="{FF2B5EF4-FFF2-40B4-BE49-F238E27FC236}">
                <a16:creationId xmlns:a16="http://schemas.microsoft.com/office/drawing/2014/main" id="{F0FE1F3D-E1C6-63F8-F0E4-081AC81D3628}"/>
              </a:ext>
            </a:extLst>
          </p:cNvPr>
          <p:cNvPicPr>
            <a:picLocks noChangeAspect="1"/>
          </p:cNvPicPr>
          <p:nvPr/>
        </p:nvPicPr>
        <p:blipFill>
          <a:blip r:embed="rId4"/>
          <a:stretch>
            <a:fillRect/>
          </a:stretch>
        </p:blipFill>
        <p:spPr>
          <a:xfrm>
            <a:off x="2106112" y="2139474"/>
            <a:ext cx="7924348" cy="1838656"/>
          </a:xfrm>
          <a:prstGeom prst="rect">
            <a:avLst/>
          </a:prstGeom>
        </p:spPr>
      </p:pic>
      <p:pic>
        <p:nvPicPr>
          <p:cNvPr id="10" name="图形 1">
            <a:extLst>
              <a:ext uri="{FF2B5EF4-FFF2-40B4-BE49-F238E27FC236}">
                <a16:creationId xmlns:a16="http://schemas.microsoft.com/office/drawing/2014/main" id="{0D1E2D6E-8564-2C39-3768-855D4D2A32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84981" y="4127183"/>
            <a:ext cx="7645479" cy="2743377"/>
          </a:xfrm>
          <a:prstGeom prst="rect">
            <a:avLst/>
          </a:prstGeom>
        </p:spPr>
      </p:pic>
    </p:spTree>
    <p:extLst>
      <p:ext uri="{BB962C8B-B14F-4D97-AF65-F5344CB8AC3E}">
        <p14:creationId xmlns:p14="http://schemas.microsoft.com/office/powerpoint/2010/main" val="27110269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1F6B-AED7-8B0D-9B1A-AD107B004D15}"/>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F40538C5-2404-5181-4B08-EDFE2B15AAD3}"/>
              </a:ext>
            </a:extLst>
          </p:cNvPr>
          <p:cNvPicPr>
            <a:picLocks noChangeAspect="1"/>
          </p:cNvPicPr>
          <p:nvPr/>
        </p:nvPicPr>
        <p:blipFill>
          <a:blip r:embed="rId3"/>
          <a:stretch>
            <a:fillRect/>
          </a:stretch>
        </p:blipFill>
        <p:spPr>
          <a:xfrm>
            <a:off x="2277533" y="2451097"/>
            <a:ext cx="7087970" cy="3636433"/>
          </a:xfrm>
          <a:prstGeom prst="rect">
            <a:avLst/>
          </a:prstGeom>
        </p:spPr>
      </p:pic>
      <p:sp>
        <p:nvSpPr>
          <p:cNvPr id="3" name="矩形 26">
            <a:extLst>
              <a:ext uri="{FF2B5EF4-FFF2-40B4-BE49-F238E27FC236}">
                <a16:creationId xmlns:a16="http://schemas.microsoft.com/office/drawing/2014/main" id="{96AD3B60-3272-C11A-C7A5-726E43C37026}"/>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XOR</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问题</a:t>
            </a:r>
          </a:p>
        </p:txBody>
      </p:sp>
      <p:sp>
        <p:nvSpPr>
          <p:cNvPr id="15" name="Rectangle 3">
            <a:extLst>
              <a:ext uri="{FF2B5EF4-FFF2-40B4-BE49-F238E27FC236}">
                <a16:creationId xmlns:a16="http://schemas.microsoft.com/office/drawing/2014/main" id="{0EFB29BD-2804-2AE6-80F7-7F48CAD9F82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AB89EFAC-92DB-FE67-3B22-8A56C642DC11}"/>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3867703F-D355-150F-FD12-0D910997255C}"/>
              </a:ext>
            </a:extLst>
          </p:cNvPr>
          <p:cNvSpPr txBox="1"/>
          <p:nvPr/>
        </p:nvSpPr>
        <p:spPr>
          <a:xfrm>
            <a:off x="455737" y="1302048"/>
            <a:ext cx="11097259" cy="461665"/>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在感知机的单层结构中，无法找到一个合适的线性函数解决异或问题。</a:t>
            </a:r>
          </a:p>
        </p:txBody>
      </p:sp>
      <p:pic>
        <p:nvPicPr>
          <p:cNvPr id="4" name="图形 1">
            <a:extLst>
              <a:ext uri="{FF2B5EF4-FFF2-40B4-BE49-F238E27FC236}">
                <a16:creationId xmlns:a16="http://schemas.microsoft.com/office/drawing/2014/main" id="{779F9620-1616-BD67-3A4D-B360193CF5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47289" y="2555237"/>
            <a:ext cx="6918214" cy="3636433"/>
          </a:xfrm>
          <a:prstGeom prst="rect">
            <a:avLst/>
          </a:prstGeom>
        </p:spPr>
      </p:pic>
    </p:spTree>
    <p:extLst>
      <p:ext uri="{BB962C8B-B14F-4D97-AF65-F5344CB8AC3E}">
        <p14:creationId xmlns:p14="http://schemas.microsoft.com/office/powerpoint/2010/main" val="29768503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63E99-365F-5FE7-7E81-91509A03782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0390795-1D90-44BF-668D-B9198184D23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多层感知机模型</a:t>
            </a:r>
          </a:p>
        </p:txBody>
      </p:sp>
      <p:sp>
        <p:nvSpPr>
          <p:cNvPr id="15" name="Rectangle 3">
            <a:extLst>
              <a:ext uri="{FF2B5EF4-FFF2-40B4-BE49-F238E27FC236}">
                <a16:creationId xmlns:a16="http://schemas.microsoft.com/office/drawing/2014/main" id="{29A2AD8B-169D-D2DC-6B27-1B8C25C7661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D278F9CD-12DC-1D2B-AA0D-970E7D20E924}"/>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文本框 9">
            <a:extLst>
              <a:ext uri="{FF2B5EF4-FFF2-40B4-BE49-F238E27FC236}">
                <a16:creationId xmlns:a16="http://schemas.microsoft.com/office/drawing/2014/main" id="{1FF9C619-D6BA-2D8D-4EE4-272EE9B2129E}"/>
              </a:ext>
            </a:extLst>
          </p:cNvPr>
          <p:cNvSpPr txBox="1"/>
          <p:nvPr/>
        </p:nvSpPr>
        <p:spPr>
          <a:xfrm>
            <a:off x="326390" y="1670568"/>
            <a:ext cx="11277600" cy="1569660"/>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多层感知机</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Multilayer Perceptron</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MLP</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一种人工神经网络的模型。它由多个神经元层组成，包括输入层、至少一个或多个隐藏层和输出层。输入层用于接收外部输入，通常由输入特征组成；隐藏层用于处理输入层提供的信息，将输入信息转换为更加抽象的特征，通常由多个神经元组成；输出层用于输出模型的预测结果。</a:t>
            </a:r>
          </a:p>
        </p:txBody>
      </p:sp>
      <p:sp>
        <p:nvSpPr>
          <p:cNvPr id="12" name="文本框 11">
            <a:extLst>
              <a:ext uri="{FF2B5EF4-FFF2-40B4-BE49-F238E27FC236}">
                <a16:creationId xmlns:a16="http://schemas.microsoft.com/office/drawing/2014/main" id="{43C87222-C9AB-73A5-99E5-E1CB3E8ADD11}"/>
              </a:ext>
            </a:extLst>
          </p:cNvPr>
          <p:cNvSpPr txBox="1"/>
          <p:nvPr/>
        </p:nvSpPr>
        <p:spPr>
          <a:xfrm>
            <a:off x="416367" y="3813250"/>
            <a:ext cx="11277600" cy="1200329"/>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多层感知机通过引入隐藏层，允许数据在多个非线性变换之间传递，从而捕捉到更为复杂的模式和关系。随着隐藏层数的增加，可以引入更多的非线性映射，使得模型可以解决更加复杂和抽象的问题。</a:t>
            </a:r>
          </a:p>
        </p:txBody>
      </p:sp>
    </p:spTree>
    <p:extLst>
      <p:ext uri="{BB962C8B-B14F-4D97-AF65-F5344CB8AC3E}">
        <p14:creationId xmlns:p14="http://schemas.microsoft.com/office/powerpoint/2010/main" val="14164471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979CD-95ED-07E9-6C10-FB467E1B46F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8572584-600A-AB2C-E163-5604A8BE879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多层感知机模型</a:t>
            </a:r>
          </a:p>
        </p:txBody>
      </p:sp>
      <p:sp>
        <p:nvSpPr>
          <p:cNvPr id="15" name="Rectangle 3">
            <a:extLst>
              <a:ext uri="{FF2B5EF4-FFF2-40B4-BE49-F238E27FC236}">
                <a16:creationId xmlns:a16="http://schemas.microsoft.com/office/drawing/2014/main" id="{C210DCF5-B081-BE7A-4A13-0854146A8EC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图片 3">
            <a:extLst>
              <a:ext uri="{FF2B5EF4-FFF2-40B4-BE49-F238E27FC236}">
                <a16:creationId xmlns:a16="http://schemas.microsoft.com/office/drawing/2014/main" id="{E5F255E7-CA50-11A5-8F0E-7AE10ADA146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496" y="1595967"/>
            <a:ext cx="10382863" cy="4672288"/>
          </a:xfrm>
          <a:prstGeom prst="rect">
            <a:avLst/>
          </a:prstGeom>
          <a:solidFill>
            <a:schemeClr val="bg1"/>
          </a:solidFill>
        </p:spPr>
      </p:pic>
      <p:sp>
        <p:nvSpPr>
          <p:cNvPr id="8" name="文本框 7">
            <a:extLst>
              <a:ext uri="{FF2B5EF4-FFF2-40B4-BE49-F238E27FC236}">
                <a16:creationId xmlns:a16="http://schemas.microsoft.com/office/drawing/2014/main" id="{D58BFC7F-C4DA-2E79-8E04-F5F47A3AC38C}"/>
              </a:ext>
            </a:extLst>
          </p:cNvPr>
          <p:cNvSpPr txBox="1"/>
          <p:nvPr/>
        </p:nvSpPr>
        <p:spPr>
          <a:xfrm>
            <a:off x="4160520" y="5657426"/>
            <a:ext cx="1097280" cy="461665"/>
          </a:xfrm>
          <a:prstGeom prst="rect">
            <a:avLst/>
          </a:prstGeom>
          <a:noFill/>
        </p:spPr>
        <p:txBody>
          <a:bodyPr wrap="square">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0.5</a:t>
            </a:r>
            <a:endParaRPr lang="zh-CN" altLang="en-US" sz="2400" dirty="0"/>
          </a:p>
        </p:txBody>
      </p:sp>
      <p:sp>
        <p:nvSpPr>
          <p:cNvPr id="9" name="文本框 8">
            <a:extLst>
              <a:ext uri="{FF2B5EF4-FFF2-40B4-BE49-F238E27FC236}">
                <a16:creationId xmlns:a16="http://schemas.microsoft.com/office/drawing/2014/main" id="{8BBF0E7B-7CC1-2514-F5F5-203B3D12B5A3}"/>
              </a:ext>
            </a:extLst>
          </p:cNvPr>
          <p:cNvSpPr txBox="1"/>
          <p:nvPr/>
        </p:nvSpPr>
        <p:spPr>
          <a:xfrm>
            <a:off x="7441544" y="5622588"/>
            <a:ext cx="1097280" cy="461665"/>
          </a:xfrm>
          <a:prstGeom prst="rect">
            <a:avLst/>
          </a:prstGeom>
          <a:noFill/>
        </p:spPr>
        <p:txBody>
          <a:bodyPr wrap="square">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0.5</a:t>
            </a:r>
            <a:endParaRPr lang="zh-CN" altLang="en-US" sz="2400" dirty="0"/>
          </a:p>
        </p:txBody>
      </p:sp>
    </p:spTree>
    <p:extLst>
      <p:ext uri="{BB962C8B-B14F-4D97-AF65-F5344CB8AC3E}">
        <p14:creationId xmlns:p14="http://schemas.microsoft.com/office/powerpoint/2010/main" val="24273591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A1FE-7E6D-E8BC-8B1D-0877898152C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E305BF6-A4B3-806C-719F-E8FA9474E5D6}"/>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多层感知机模型</a:t>
            </a:r>
          </a:p>
        </p:txBody>
      </p:sp>
      <p:sp>
        <p:nvSpPr>
          <p:cNvPr id="15" name="Rectangle 3">
            <a:extLst>
              <a:ext uri="{FF2B5EF4-FFF2-40B4-BE49-F238E27FC236}">
                <a16:creationId xmlns:a16="http://schemas.microsoft.com/office/drawing/2014/main" id="{A1C1A5EC-62D8-1F2F-BA54-7CF41D2BC31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对象 3">
            <a:extLst>
              <a:ext uri="{FF2B5EF4-FFF2-40B4-BE49-F238E27FC236}">
                <a16:creationId xmlns:a16="http://schemas.microsoft.com/office/drawing/2014/main" id="{21E6E450-F902-3614-47B6-0BA05F05516D}"/>
              </a:ext>
            </a:extLst>
          </p:cNvPr>
          <p:cNvGraphicFramePr>
            <a:graphicFrameLocks noChangeAspect="1"/>
          </p:cNvGraphicFramePr>
          <p:nvPr>
            <p:extLst>
              <p:ext uri="{D42A27DB-BD31-4B8C-83A1-F6EECF244321}">
                <p14:modId xmlns:p14="http://schemas.microsoft.com/office/powerpoint/2010/main" val="4293100508"/>
              </p:ext>
            </p:extLst>
          </p:nvPr>
        </p:nvGraphicFramePr>
        <p:xfrm>
          <a:off x="1535356" y="1675291"/>
          <a:ext cx="8734584" cy="518747"/>
        </p:xfrm>
        <a:graphic>
          <a:graphicData uri="http://schemas.openxmlformats.org/presentationml/2006/ole">
            <mc:AlternateContent xmlns:mc="http://schemas.openxmlformats.org/markup-compatibility/2006">
              <mc:Choice xmlns:v="urn:schemas-microsoft-com:vml" Requires="v">
                <p:oleObj name="Equation" r:id="rId3" imgW="3962400" imgH="228600" progId="Equation.DSMT4">
                  <p:embed/>
                </p:oleObj>
              </mc:Choice>
              <mc:Fallback>
                <p:oleObj name="Equation" r:id="rId3" imgW="39624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5356" y="1675291"/>
                        <a:ext cx="8734584" cy="518747"/>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B9BE7E5A-4CC0-EBE8-71EF-28F253A154E8}"/>
              </a:ext>
            </a:extLst>
          </p:cNvPr>
          <p:cNvGraphicFramePr>
            <a:graphicFrameLocks noChangeAspect="1"/>
          </p:cNvGraphicFramePr>
          <p:nvPr>
            <p:extLst>
              <p:ext uri="{D42A27DB-BD31-4B8C-83A1-F6EECF244321}">
                <p14:modId xmlns:p14="http://schemas.microsoft.com/office/powerpoint/2010/main" val="4066459208"/>
              </p:ext>
            </p:extLst>
          </p:nvPr>
        </p:nvGraphicFramePr>
        <p:xfrm>
          <a:off x="1535356" y="2306481"/>
          <a:ext cx="8762624" cy="518747"/>
        </p:xfrm>
        <a:graphic>
          <a:graphicData uri="http://schemas.openxmlformats.org/presentationml/2006/ole">
            <mc:AlternateContent xmlns:mc="http://schemas.openxmlformats.org/markup-compatibility/2006">
              <mc:Choice xmlns:v="urn:schemas-microsoft-com:vml" Requires="v">
                <p:oleObj name="Equation" r:id="rId5" imgW="3987800" imgH="228600" progId="Equation.DSMT4">
                  <p:embed/>
                </p:oleObj>
              </mc:Choice>
              <mc:Fallback>
                <p:oleObj name="Equation" r:id="rId5" imgW="3987800" imgH="2286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5356" y="2306481"/>
                        <a:ext cx="8762624" cy="518747"/>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B7E217EB-9871-247F-BC28-9E1686076885}"/>
              </a:ext>
            </a:extLst>
          </p:cNvPr>
          <p:cNvGraphicFramePr>
            <a:graphicFrameLocks noChangeAspect="1"/>
          </p:cNvGraphicFramePr>
          <p:nvPr>
            <p:extLst>
              <p:ext uri="{D42A27DB-BD31-4B8C-83A1-F6EECF244321}">
                <p14:modId xmlns:p14="http://schemas.microsoft.com/office/powerpoint/2010/main" val="3255777066"/>
              </p:ext>
            </p:extLst>
          </p:nvPr>
        </p:nvGraphicFramePr>
        <p:xfrm>
          <a:off x="1542643" y="2876708"/>
          <a:ext cx="8271917" cy="518747"/>
        </p:xfrm>
        <a:graphic>
          <a:graphicData uri="http://schemas.openxmlformats.org/presentationml/2006/ole">
            <mc:AlternateContent xmlns:mc="http://schemas.openxmlformats.org/markup-compatibility/2006">
              <mc:Choice xmlns:v="urn:schemas-microsoft-com:vml" Requires="v">
                <p:oleObj name="Equation" r:id="rId7" imgW="3733800" imgH="228600" progId="Equation.DSMT4">
                  <p:embed/>
                </p:oleObj>
              </mc:Choice>
              <mc:Fallback>
                <p:oleObj name="Equation" r:id="rId7" imgW="3733800" imgH="228600" progId="Equation.DSMT4">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2643" y="2876708"/>
                        <a:ext cx="8271917" cy="518747"/>
                      </a:xfrm>
                      <a:prstGeom prst="rect">
                        <a:avLst/>
                      </a:prstGeom>
                      <a:noFill/>
                    </p:spPr>
                  </p:pic>
                </p:oleObj>
              </mc:Fallback>
            </mc:AlternateContent>
          </a:graphicData>
        </a:graphic>
      </p:graphicFrame>
      <p:pic>
        <p:nvPicPr>
          <p:cNvPr id="11" name="图片 10">
            <a:extLst>
              <a:ext uri="{FF2B5EF4-FFF2-40B4-BE49-F238E27FC236}">
                <a16:creationId xmlns:a16="http://schemas.microsoft.com/office/drawing/2014/main" id="{A24C21FE-A0DE-82CA-7550-B15716FD6636}"/>
              </a:ext>
            </a:extLst>
          </p:cNvPr>
          <p:cNvPicPr>
            <a:picLocks noChangeAspect="1"/>
          </p:cNvPicPr>
          <p:nvPr/>
        </p:nvPicPr>
        <p:blipFill>
          <a:blip r:embed="rId9"/>
          <a:stretch>
            <a:fillRect/>
          </a:stretch>
        </p:blipFill>
        <p:spPr>
          <a:xfrm>
            <a:off x="865712" y="976587"/>
            <a:ext cx="11512573" cy="716280"/>
          </a:xfrm>
          <a:prstGeom prst="rect">
            <a:avLst/>
          </a:prstGeom>
        </p:spPr>
      </p:pic>
      <p:pic>
        <p:nvPicPr>
          <p:cNvPr id="8" name="图片 7">
            <a:extLst>
              <a:ext uri="{FF2B5EF4-FFF2-40B4-BE49-F238E27FC236}">
                <a16:creationId xmlns:a16="http://schemas.microsoft.com/office/drawing/2014/main" id="{BE462ABD-1B01-9B3B-322C-EF1C77F19641}"/>
              </a:ext>
            </a:extLst>
          </p:cNvPr>
          <p:cNvPicPr>
            <a:picLocks noChangeAspect="1"/>
          </p:cNvPicPr>
          <p:nvPr/>
        </p:nvPicPr>
        <p:blipFill>
          <a:blip r:embed="rId10"/>
          <a:stretch>
            <a:fillRect/>
          </a:stretch>
        </p:blipFill>
        <p:spPr>
          <a:xfrm>
            <a:off x="0" y="3883630"/>
            <a:ext cx="12192000" cy="2443544"/>
          </a:xfrm>
          <a:prstGeom prst="rect">
            <a:avLst/>
          </a:prstGeom>
        </p:spPr>
      </p:pic>
    </p:spTree>
    <p:extLst>
      <p:ext uri="{BB962C8B-B14F-4D97-AF65-F5344CB8AC3E}">
        <p14:creationId xmlns:p14="http://schemas.microsoft.com/office/powerpoint/2010/main" val="18733833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5DA75-C386-3F61-C2AA-27E4ED6C969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1DA6E95-A21B-EEF0-757C-C8CC41172F5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多层感知机模型</a:t>
            </a:r>
          </a:p>
        </p:txBody>
      </p:sp>
      <p:sp>
        <p:nvSpPr>
          <p:cNvPr id="15" name="Rectangle 3">
            <a:extLst>
              <a:ext uri="{FF2B5EF4-FFF2-40B4-BE49-F238E27FC236}">
                <a16:creationId xmlns:a16="http://schemas.microsoft.com/office/drawing/2014/main" id="{32A8443F-3A31-5895-4667-461377C6095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图片 3">
            <a:extLst>
              <a:ext uri="{FF2B5EF4-FFF2-40B4-BE49-F238E27FC236}">
                <a16:creationId xmlns:a16="http://schemas.microsoft.com/office/drawing/2014/main" id="{7BCFECA6-9422-42AC-2727-058FB4CB152A}"/>
              </a:ext>
            </a:extLst>
          </p:cNvPr>
          <p:cNvPicPr>
            <a:picLocks noChangeAspect="1"/>
          </p:cNvPicPr>
          <p:nvPr/>
        </p:nvPicPr>
        <p:blipFill>
          <a:blip r:embed="rId3" cstate="print">
            <a:extLst>
              <a:ext uri="{28A0092B-C50C-407E-A947-70E740481C1C}">
                <a14:useLocalDpi xmlns:a14="http://schemas.microsoft.com/office/drawing/2010/main" val="0"/>
              </a:ext>
            </a:extLst>
          </a:blip>
          <a:srcRect r="50111"/>
          <a:stretch/>
        </p:blipFill>
        <p:spPr bwMode="auto">
          <a:xfrm>
            <a:off x="3074772" y="3348181"/>
            <a:ext cx="6074681" cy="3501352"/>
          </a:xfrm>
          <a:prstGeom prst="rect">
            <a:avLst/>
          </a:prstGeom>
          <a:solidFill>
            <a:schemeClr val="bg1"/>
          </a:solidFill>
        </p:spPr>
      </p:pic>
      <p:pic>
        <p:nvPicPr>
          <p:cNvPr id="5" name="图片 4">
            <a:extLst>
              <a:ext uri="{FF2B5EF4-FFF2-40B4-BE49-F238E27FC236}">
                <a16:creationId xmlns:a16="http://schemas.microsoft.com/office/drawing/2014/main" id="{5F0708BA-B30A-A37F-5DA7-CD2C50377C29}"/>
              </a:ext>
            </a:extLst>
          </p:cNvPr>
          <p:cNvPicPr>
            <a:picLocks noChangeAspect="1"/>
          </p:cNvPicPr>
          <p:nvPr/>
        </p:nvPicPr>
        <p:blipFill>
          <a:blip r:embed="rId4"/>
          <a:stretch>
            <a:fillRect/>
          </a:stretch>
        </p:blipFill>
        <p:spPr>
          <a:xfrm>
            <a:off x="166155" y="889803"/>
            <a:ext cx="11389544" cy="2322359"/>
          </a:xfrm>
          <a:prstGeom prst="rect">
            <a:avLst/>
          </a:prstGeom>
        </p:spPr>
      </p:pic>
    </p:spTree>
    <p:extLst>
      <p:ext uri="{BB962C8B-B14F-4D97-AF65-F5344CB8AC3E}">
        <p14:creationId xmlns:p14="http://schemas.microsoft.com/office/powerpoint/2010/main" val="37619642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91C41-572B-462E-E20A-D9B5999C22A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6F85F9B-4309-05A6-D5C3-DCD0ABB369F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多层感知机模型</a:t>
            </a:r>
          </a:p>
        </p:txBody>
      </p:sp>
      <p:sp>
        <p:nvSpPr>
          <p:cNvPr id="15" name="Rectangle 3">
            <a:extLst>
              <a:ext uri="{FF2B5EF4-FFF2-40B4-BE49-F238E27FC236}">
                <a16:creationId xmlns:a16="http://schemas.microsoft.com/office/drawing/2014/main" id="{55ACEBA6-2EC7-7CCD-E8C2-96ABCF942DE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79504971-C156-F1AD-458E-1F6A8F2CB99B}"/>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A4E301FF-6199-AAEA-0778-B444A2D3C7AB}"/>
              </a:ext>
            </a:extLst>
          </p:cNvPr>
          <p:cNvPicPr>
            <a:picLocks noChangeAspect="1"/>
          </p:cNvPicPr>
          <p:nvPr/>
        </p:nvPicPr>
        <p:blipFill>
          <a:blip r:embed="rId3" cstate="print">
            <a:extLst>
              <a:ext uri="{28A0092B-C50C-407E-A947-70E740481C1C}">
                <a14:useLocalDpi xmlns:a14="http://schemas.microsoft.com/office/drawing/2010/main" val="0"/>
              </a:ext>
            </a:extLst>
          </a:blip>
          <a:srcRect l="49889"/>
          <a:stretch/>
        </p:blipFill>
        <p:spPr bwMode="auto">
          <a:xfrm>
            <a:off x="3385142" y="3499786"/>
            <a:ext cx="5752836" cy="3301206"/>
          </a:xfrm>
          <a:prstGeom prst="rect">
            <a:avLst/>
          </a:prstGeom>
          <a:solidFill>
            <a:schemeClr val="bg1"/>
          </a:solidFill>
        </p:spPr>
      </p:pic>
      <p:sp>
        <p:nvSpPr>
          <p:cNvPr id="8" name="文本框 7">
            <a:extLst>
              <a:ext uri="{FF2B5EF4-FFF2-40B4-BE49-F238E27FC236}">
                <a16:creationId xmlns:a16="http://schemas.microsoft.com/office/drawing/2014/main" id="{BB0B63DE-FE69-574A-A091-7C9E72C0D429}"/>
              </a:ext>
            </a:extLst>
          </p:cNvPr>
          <p:cNvSpPr txBox="1"/>
          <p:nvPr/>
        </p:nvSpPr>
        <p:spPr>
          <a:xfrm>
            <a:off x="235604" y="941887"/>
            <a:ext cx="11778919" cy="2242858"/>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进一步地，将隐藏层神经元的输出</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作为输入传送到下一层的神经元</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，这等同于将输入空间的点映射到隐空间，原本在输入空间无法线性可分的四个样本中，在经过隐藏层的非线性变换后，样本之间的相对位置发生了变换，使得其在隐空间通过</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变得线性可分，其中</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由神经元</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决定。</a:t>
            </a:r>
          </a:p>
        </p:txBody>
      </p:sp>
    </p:spTree>
    <p:extLst>
      <p:ext uri="{BB962C8B-B14F-4D97-AF65-F5344CB8AC3E}">
        <p14:creationId xmlns:p14="http://schemas.microsoft.com/office/powerpoint/2010/main" val="37037356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A9B0A-51A7-1AD0-7355-4366AD43458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30833C6-E990-2497-50D0-34B5A146535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多层感知机模型</a:t>
            </a:r>
          </a:p>
        </p:txBody>
      </p:sp>
      <p:sp>
        <p:nvSpPr>
          <p:cNvPr id="15" name="Rectangle 3">
            <a:extLst>
              <a:ext uri="{FF2B5EF4-FFF2-40B4-BE49-F238E27FC236}">
                <a16:creationId xmlns:a16="http://schemas.microsoft.com/office/drawing/2014/main" id="{593F02D8-12CF-CD22-06D5-5F1E7A5BCEF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8CFBA3A5-4213-2B9C-0037-0E4C705B10A6}"/>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F913045E-6C62-7DF8-CC56-2009CFA86A51}"/>
              </a:ext>
            </a:extLst>
          </p:cNvPr>
          <p:cNvSpPr txBox="1"/>
          <p:nvPr/>
        </p:nvSpPr>
        <p:spPr>
          <a:xfrm>
            <a:off x="221227" y="1682105"/>
            <a:ext cx="4107269" cy="4093428"/>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在神经网络模型中，隐藏层的主要作用是将样本从输入空间非线性映射到隐空间，进而实现特征提取和表示学习，以便更好地捕捉输入数据的复杂性和模式。</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一个神经网络可以有多个隐藏层，确定隐藏层的数量及大小是一个经验问题，通常需要经过多次试验来得到最佳结果，隐藏层数越多，网络就可以捕捉到更多的模式，但同时也可能导致模型过拟合以及训练时间过长等问题。</a:t>
            </a:r>
          </a:p>
        </p:txBody>
      </p:sp>
      <p:pic>
        <p:nvPicPr>
          <p:cNvPr id="4" name="图片 3">
            <a:extLst>
              <a:ext uri="{FF2B5EF4-FFF2-40B4-BE49-F238E27FC236}">
                <a16:creationId xmlns:a16="http://schemas.microsoft.com/office/drawing/2014/main" id="{3C5EDBDA-6F12-1729-ED9B-19F4810E62CC}"/>
              </a:ext>
            </a:extLst>
          </p:cNvPr>
          <p:cNvPicPr>
            <a:picLocks noChangeAspect="1"/>
          </p:cNvPicPr>
          <p:nvPr/>
        </p:nvPicPr>
        <p:blipFill>
          <a:blip r:embed="rId3"/>
          <a:stretch>
            <a:fillRect/>
          </a:stretch>
        </p:blipFill>
        <p:spPr>
          <a:xfrm>
            <a:off x="4439109" y="1057597"/>
            <a:ext cx="7654978" cy="5552205"/>
          </a:xfrm>
          <a:prstGeom prst="rect">
            <a:avLst/>
          </a:prstGeom>
        </p:spPr>
      </p:pic>
    </p:spTree>
    <p:extLst>
      <p:ext uri="{BB962C8B-B14F-4D97-AF65-F5344CB8AC3E}">
        <p14:creationId xmlns:p14="http://schemas.microsoft.com/office/powerpoint/2010/main" val="250745961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1A94-F2F9-DE46-56A8-28637F609FF2}"/>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0D06E38A-B828-AD87-DA4C-ED0E26AC2A69}"/>
              </a:ext>
            </a:extLst>
          </p:cNvPr>
          <p:cNvSpPr/>
          <p:nvPr/>
        </p:nvSpPr>
        <p:spPr>
          <a:xfrm>
            <a:off x="2122668" y="2277166"/>
            <a:ext cx="7817949" cy="434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6">
            <a:extLst>
              <a:ext uri="{FF2B5EF4-FFF2-40B4-BE49-F238E27FC236}">
                <a16:creationId xmlns:a16="http://schemas.microsoft.com/office/drawing/2014/main" id="{74460A04-12E8-48C7-4E61-4A5C552C2EE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激活函数</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E7E80770-C1BB-8B89-1CC8-4900F12FEC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文本框 4">
            <a:extLst>
              <a:ext uri="{FF2B5EF4-FFF2-40B4-BE49-F238E27FC236}">
                <a16:creationId xmlns:a16="http://schemas.microsoft.com/office/drawing/2014/main" id="{3025463E-46AB-6C86-30C2-9E2403836330}"/>
              </a:ext>
            </a:extLst>
          </p:cNvPr>
          <p:cNvSpPr txBox="1"/>
          <p:nvPr/>
        </p:nvSpPr>
        <p:spPr>
          <a:xfrm>
            <a:off x="370389" y="1206668"/>
            <a:ext cx="11539959" cy="830997"/>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激活函数</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Activation function</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是一种非线性函数，用于模拟生物神经元的激活机制，其作用是对输入信息进行非线性转换，以增强网络的非线性能力。</a:t>
            </a:r>
          </a:p>
        </p:txBody>
      </p:sp>
      <p:pic>
        <p:nvPicPr>
          <p:cNvPr id="6" name="图片 5">
            <a:extLst>
              <a:ext uri="{FF2B5EF4-FFF2-40B4-BE49-F238E27FC236}">
                <a16:creationId xmlns:a16="http://schemas.microsoft.com/office/drawing/2014/main" id="{57681367-5F99-DB74-C069-F325A877D28F}"/>
              </a:ext>
            </a:extLst>
          </p:cNvPr>
          <p:cNvPicPr>
            <a:picLocks noChangeAspect="1"/>
          </p:cNvPicPr>
          <p:nvPr/>
        </p:nvPicPr>
        <p:blipFill>
          <a:blip r:embed="rId3"/>
          <a:stretch>
            <a:fillRect/>
          </a:stretch>
        </p:blipFill>
        <p:spPr>
          <a:xfrm>
            <a:off x="565123" y="1011935"/>
            <a:ext cx="9508217" cy="5875360"/>
          </a:xfrm>
          <a:prstGeom prst="rect">
            <a:avLst/>
          </a:prstGeom>
        </p:spPr>
      </p:pic>
    </p:spTree>
    <p:extLst>
      <p:ext uri="{BB962C8B-B14F-4D97-AF65-F5344CB8AC3E}">
        <p14:creationId xmlns:p14="http://schemas.microsoft.com/office/powerpoint/2010/main" val="6638392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C1DC1-5757-318D-4ED0-E8991F24BDF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AF6FA55-12E8-A01F-24CC-42DA9A62DC66}"/>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EA79A8A1-F21B-425D-E16B-69854C9FEDC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0441CA4A-AADB-B295-241F-FB4C0285CA22}"/>
              </a:ext>
            </a:extLst>
          </p:cNvPr>
          <p:cNvSpPr txBox="1"/>
          <p:nvPr/>
        </p:nvSpPr>
        <p:spPr>
          <a:xfrm>
            <a:off x="370605" y="1907656"/>
            <a:ext cx="11250592" cy="1815882"/>
          </a:xfrm>
          <a:prstGeom prst="rect">
            <a:avLst/>
          </a:prstGeom>
          <a:no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误差反向传播</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Backpropagation</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）算法  也称</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BP</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算法，是一种用于训练神经网络的常见优化算法，其主要目标是通过梯度下降法调整神经网络中的参数来最小化神经网络在训练数据上的预测误差，使其能够更好地完成预测任务。</a:t>
            </a:r>
          </a:p>
        </p:txBody>
      </p:sp>
      <p:sp>
        <p:nvSpPr>
          <p:cNvPr id="9" name="文本框 8">
            <a:extLst>
              <a:ext uri="{FF2B5EF4-FFF2-40B4-BE49-F238E27FC236}">
                <a16:creationId xmlns:a16="http://schemas.microsoft.com/office/drawing/2014/main" id="{8373D646-3C65-9048-EE02-4BA5AAFBDA9A}"/>
              </a:ext>
            </a:extLst>
          </p:cNvPr>
          <p:cNvSpPr txBox="1"/>
          <p:nvPr/>
        </p:nvSpPr>
        <p:spPr>
          <a:xfrm>
            <a:off x="370605" y="4536623"/>
            <a:ext cx="9949967" cy="523220"/>
          </a:xfrm>
          <a:prstGeom prst="rect">
            <a:avLst/>
          </a:prstGeom>
          <a:noFill/>
        </p:spPr>
        <p:txBody>
          <a:bodyPr wrap="square">
            <a:spAutoFit/>
          </a:bodyPr>
          <a:lstStyle/>
          <a:p>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算法的学习过程由</a:t>
            </a:r>
            <a:r>
              <a:rPr lang="zh-CN" altLang="en-US"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信息的正向传播</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误差的反向传播</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组成。</a:t>
            </a:r>
          </a:p>
        </p:txBody>
      </p:sp>
    </p:spTree>
    <p:extLst>
      <p:ext uri="{BB962C8B-B14F-4D97-AF65-F5344CB8AC3E}">
        <p14:creationId xmlns:p14="http://schemas.microsoft.com/office/powerpoint/2010/main" val="30835684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3555E-D3A2-8202-812F-8EC20F4CFBC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75FC520-A994-9870-CD59-44EE72EF108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CFD00688-3F85-146E-67FC-728A479D5FD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94BBD312-5A9C-7F5B-8646-6A050E8EFEC9}"/>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7463102E-1013-E863-F0F5-70A0E6C4BC4F}"/>
              </a:ext>
            </a:extLst>
          </p:cNvPr>
          <p:cNvSpPr txBox="1"/>
          <p:nvPr/>
        </p:nvSpPr>
        <p:spPr>
          <a:xfrm>
            <a:off x="267168" y="978883"/>
            <a:ext cx="11526899" cy="1569660"/>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在正向传播（</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Forward Propagation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过程中，首先将输入数据传递给神经网络的输入层，并将这些输入加权求和，然后通过激活函数进行处理，最终得到输出。需注意，在正向传播过程中，每个神经元的输入是前一层神经元的输出，每一层的神经元的状态值只影响下一层神经元的状态值。</a:t>
            </a:r>
          </a:p>
        </p:txBody>
      </p:sp>
      <p:pic>
        <p:nvPicPr>
          <p:cNvPr id="76" name="图片 75">
            <a:extLst>
              <a:ext uri="{FF2B5EF4-FFF2-40B4-BE49-F238E27FC236}">
                <a16:creationId xmlns:a16="http://schemas.microsoft.com/office/drawing/2014/main" id="{7F259FBD-F1E9-4C03-6647-846D8FE46598}"/>
              </a:ext>
            </a:extLst>
          </p:cNvPr>
          <p:cNvPicPr>
            <a:picLocks noChangeAspect="1"/>
          </p:cNvPicPr>
          <p:nvPr/>
        </p:nvPicPr>
        <p:blipFill>
          <a:blip r:embed="rId3"/>
          <a:stretch>
            <a:fillRect/>
          </a:stretch>
        </p:blipFill>
        <p:spPr>
          <a:xfrm>
            <a:off x="1332011" y="2646841"/>
            <a:ext cx="9344712" cy="4090104"/>
          </a:xfrm>
          <a:prstGeom prst="rect">
            <a:avLst/>
          </a:prstGeom>
          <a:solidFill>
            <a:schemeClr val="bg1"/>
          </a:solidFill>
        </p:spPr>
      </p:pic>
    </p:spTree>
    <p:extLst>
      <p:ext uri="{BB962C8B-B14F-4D97-AF65-F5344CB8AC3E}">
        <p14:creationId xmlns:p14="http://schemas.microsoft.com/office/powerpoint/2010/main" val="306405371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CB980-BD83-D05E-E68C-4982AF55A29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5EA38C6-ED7D-C993-F853-F0E67B22A284}"/>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9C3046A0-9068-1AF2-0A46-092CD03132F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2" name="文本框 71">
            <a:extLst>
              <a:ext uri="{FF2B5EF4-FFF2-40B4-BE49-F238E27FC236}">
                <a16:creationId xmlns:a16="http://schemas.microsoft.com/office/drawing/2014/main" id="{033892A8-FD90-3975-EFDB-972B6010A1F9}"/>
              </a:ext>
            </a:extLst>
          </p:cNvPr>
          <p:cNvSpPr txBox="1"/>
          <p:nvPr/>
        </p:nvSpPr>
        <p:spPr>
          <a:xfrm>
            <a:off x="378358" y="1250044"/>
            <a:ext cx="11813642" cy="523220"/>
          </a:xfrm>
          <a:prstGeom prst="rect">
            <a:avLst/>
          </a:prstGeom>
          <a:noFill/>
        </p:spPr>
        <p:txBody>
          <a:bodyPr wrap="square">
            <a:spAutoFit/>
          </a:bodyPr>
          <a:lstStyle/>
          <a:p>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将神经网络矩阵化表示：</a:t>
            </a:r>
          </a:p>
        </p:txBody>
      </p:sp>
      <p:pic>
        <p:nvPicPr>
          <p:cNvPr id="140" name="图片 139">
            <a:extLst>
              <a:ext uri="{FF2B5EF4-FFF2-40B4-BE49-F238E27FC236}">
                <a16:creationId xmlns:a16="http://schemas.microsoft.com/office/drawing/2014/main" id="{2BB9696D-6CB1-2540-5FA4-282105020232}"/>
              </a:ext>
            </a:extLst>
          </p:cNvPr>
          <p:cNvPicPr>
            <a:picLocks noChangeAspect="1"/>
          </p:cNvPicPr>
          <p:nvPr/>
        </p:nvPicPr>
        <p:blipFill>
          <a:blip r:embed="rId3"/>
          <a:stretch>
            <a:fillRect/>
          </a:stretch>
        </p:blipFill>
        <p:spPr>
          <a:xfrm>
            <a:off x="378358" y="2414778"/>
            <a:ext cx="7584931" cy="3492165"/>
          </a:xfrm>
          <a:prstGeom prst="rect">
            <a:avLst/>
          </a:prstGeom>
          <a:solidFill>
            <a:schemeClr val="bg1"/>
          </a:solidFill>
        </p:spPr>
      </p:pic>
      <p:graphicFrame>
        <p:nvGraphicFramePr>
          <p:cNvPr id="141" name="对象 140">
            <a:extLst>
              <a:ext uri="{FF2B5EF4-FFF2-40B4-BE49-F238E27FC236}">
                <a16:creationId xmlns:a16="http://schemas.microsoft.com/office/drawing/2014/main" id="{EAA3820F-01B4-208A-41DA-143094638289}"/>
              </a:ext>
            </a:extLst>
          </p:cNvPr>
          <p:cNvGraphicFramePr>
            <a:graphicFrameLocks noChangeAspect="1"/>
          </p:cNvGraphicFramePr>
          <p:nvPr>
            <p:extLst>
              <p:ext uri="{D42A27DB-BD31-4B8C-83A1-F6EECF244321}">
                <p14:modId xmlns:p14="http://schemas.microsoft.com/office/powerpoint/2010/main" val="2380000045"/>
              </p:ext>
            </p:extLst>
          </p:nvPr>
        </p:nvGraphicFramePr>
        <p:xfrm>
          <a:off x="8377105" y="985969"/>
          <a:ext cx="1374301" cy="1743294"/>
        </p:xfrm>
        <a:graphic>
          <a:graphicData uri="http://schemas.openxmlformats.org/presentationml/2006/ole">
            <mc:AlternateContent xmlns:mc="http://schemas.openxmlformats.org/markup-compatibility/2006">
              <mc:Choice xmlns:v="urn:schemas-microsoft-com:vml" Requires="v">
                <p:oleObj name="Equation" r:id="rId4" imgW="579621" imgH="734490" progId="Equation.DSMT4">
                  <p:embed/>
                </p:oleObj>
              </mc:Choice>
              <mc:Fallback>
                <p:oleObj name="Equation" r:id="rId4" imgW="579621" imgH="734490" progId="Equation.DSMT4">
                  <p:embed/>
                  <p:pic>
                    <p:nvPicPr>
                      <p:cNvPr id="0" name=""/>
                      <p:cNvPicPr/>
                      <p:nvPr/>
                    </p:nvPicPr>
                    <p:blipFill>
                      <a:blip r:embed="rId5"/>
                      <a:stretch>
                        <a:fillRect/>
                      </a:stretch>
                    </p:blipFill>
                    <p:spPr>
                      <a:xfrm>
                        <a:off x="8377105" y="985969"/>
                        <a:ext cx="1374301" cy="1743294"/>
                      </a:xfrm>
                      <a:prstGeom prst="rect">
                        <a:avLst/>
                      </a:prstGeom>
                    </p:spPr>
                  </p:pic>
                </p:oleObj>
              </mc:Fallback>
            </mc:AlternateContent>
          </a:graphicData>
        </a:graphic>
      </p:graphicFrame>
      <p:graphicFrame>
        <p:nvGraphicFramePr>
          <p:cNvPr id="142" name="对象 141">
            <a:extLst>
              <a:ext uri="{FF2B5EF4-FFF2-40B4-BE49-F238E27FC236}">
                <a16:creationId xmlns:a16="http://schemas.microsoft.com/office/drawing/2014/main" id="{1AA7EEA2-DF50-9FFD-E656-508415CBAA1A}"/>
              </a:ext>
            </a:extLst>
          </p:cNvPr>
          <p:cNvGraphicFramePr>
            <a:graphicFrameLocks noChangeAspect="1"/>
          </p:cNvGraphicFramePr>
          <p:nvPr>
            <p:extLst>
              <p:ext uri="{D42A27DB-BD31-4B8C-83A1-F6EECF244321}">
                <p14:modId xmlns:p14="http://schemas.microsoft.com/office/powerpoint/2010/main" val="1973981044"/>
              </p:ext>
            </p:extLst>
          </p:nvPr>
        </p:nvGraphicFramePr>
        <p:xfrm>
          <a:off x="8377105" y="2858272"/>
          <a:ext cx="2567875" cy="1539971"/>
        </p:xfrm>
        <a:graphic>
          <a:graphicData uri="http://schemas.openxmlformats.org/presentationml/2006/ole">
            <mc:AlternateContent xmlns:mc="http://schemas.openxmlformats.org/markup-compatibility/2006">
              <mc:Choice xmlns:v="urn:schemas-microsoft-com:vml" Requires="v">
                <p:oleObj name="Equation" r:id="rId6" imgW="1083108" imgH="648673" progId="Equation.DSMT4">
                  <p:embed/>
                </p:oleObj>
              </mc:Choice>
              <mc:Fallback>
                <p:oleObj name="Equation" r:id="rId6" imgW="1083108" imgH="648673" progId="Equation.DSMT4">
                  <p:embed/>
                  <p:pic>
                    <p:nvPicPr>
                      <p:cNvPr id="0" name=""/>
                      <p:cNvPicPr/>
                      <p:nvPr/>
                    </p:nvPicPr>
                    <p:blipFill>
                      <a:blip r:embed="rId7"/>
                      <a:stretch>
                        <a:fillRect/>
                      </a:stretch>
                    </p:blipFill>
                    <p:spPr>
                      <a:xfrm>
                        <a:off x="8377105" y="2858272"/>
                        <a:ext cx="2567875" cy="1539971"/>
                      </a:xfrm>
                      <a:prstGeom prst="rect">
                        <a:avLst/>
                      </a:prstGeom>
                    </p:spPr>
                  </p:pic>
                </p:oleObj>
              </mc:Fallback>
            </mc:AlternateContent>
          </a:graphicData>
        </a:graphic>
      </p:graphicFrame>
      <p:graphicFrame>
        <p:nvGraphicFramePr>
          <p:cNvPr id="143" name="对象 142">
            <a:extLst>
              <a:ext uri="{FF2B5EF4-FFF2-40B4-BE49-F238E27FC236}">
                <a16:creationId xmlns:a16="http://schemas.microsoft.com/office/drawing/2014/main" id="{3B67FD4E-AA35-3F20-537E-24FABD64C9B2}"/>
              </a:ext>
            </a:extLst>
          </p:cNvPr>
          <p:cNvGraphicFramePr>
            <a:graphicFrameLocks noChangeAspect="1"/>
          </p:cNvGraphicFramePr>
          <p:nvPr>
            <p:extLst>
              <p:ext uri="{D42A27DB-BD31-4B8C-83A1-F6EECF244321}">
                <p14:modId xmlns:p14="http://schemas.microsoft.com/office/powerpoint/2010/main" val="3000779773"/>
              </p:ext>
            </p:extLst>
          </p:nvPr>
        </p:nvGraphicFramePr>
        <p:xfrm>
          <a:off x="8377105" y="4527252"/>
          <a:ext cx="2274188" cy="497008"/>
        </p:xfrm>
        <a:graphic>
          <a:graphicData uri="http://schemas.openxmlformats.org/presentationml/2006/ole">
            <mc:AlternateContent xmlns:mc="http://schemas.openxmlformats.org/markup-compatibility/2006">
              <mc:Choice xmlns:v="urn:schemas-microsoft-com:vml" Requires="v">
                <p:oleObj name="Equation" r:id="rId8" imgW="959571" imgH="209854" progId="Equation.DSMT4">
                  <p:embed/>
                </p:oleObj>
              </mc:Choice>
              <mc:Fallback>
                <p:oleObj name="Equation" r:id="rId8" imgW="959571" imgH="209854" progId="Equation.DSMT4">
                  <p:embed/>
                  <p:pic>
                    <p:nvPicPr>
                      <p:cNvPr id="0" name=""/>
                      <p:cNvPicPr/>
                      <p:nvPr/>
                    </p:nvPicPr>
                    <p:blipFill>
                      <a:blip r:embed="rId9"/>
                      <a:stretch>
                        <a:fillRect/>
                      </a:stretch>
                    </p:blipFill>
                    <p:spPr>
                      <a:xfrm>
                        <a:off x="8377105" y="4527252"/>
                        <a:ext cx="2274188" cy="497008"/>
                      </a:xfrm>
                      <a:prstGeom prst="rect">
                        <a:avLst/>
                      </a:prstGeom>
                    </p:spPr>
                  </p:pic>
                </p:oleObj>
              </mc:Fallback>
            </mc:AlternateContent>
          </a:graphicData>
        </a:graphic>
      </p:graphicFrame>
      <p:graphicFrame>
        <p:nvGraphicFramePr>
          <p:cNvPr id="144" name="对象 143">
            <a:extLst>
              <a:ext uri="{FF2B5EF4-FFF2-40B4-BE49-F238E27FC236}">
                <a16:creationId xmlns:a16="http://schemas.microsoft.com/office/drawing/2014/main" id="{5933603A-E4E8-CEFA-3F5C-5AD74C065095}"/>
              </a:ext>
            </a:extLst>
          </p:cNvPr>
          <p:cNvGraphicFramePr>
            <a:graphicFrameLocks noChangeAspect="1"/>
          </p:cNvGraphicFramePr>
          <p:nvPr>
            <p:extLst>
              <p:ext uri="{D42A27DB-BD31-4B8C-83A1-F6EECF244321}">
                <p14:modId xmlns:p14="http://schemas.microsoft.com/office/powerpoint/2010/main" val="2528057500"/>
              </p:ext>
            </p:extLst>
          </p:nvPr>
        </p:nvGraphicFramePr>
        <p:xfrm>
          <a:off x="8377105" y="5250667"/>
          <a:ext cx="2118224" cy="1607333"/>
        </p:xfrm>
        <a:graphic>
          <a:graphicData uri="http://schemas.openxmlformats.org/presentationml/2006/ole">
            <mc:AlternateContent xmlns:mc="http://schemas.openxmlformats.org/markup-compatibility/2006">
              <mc:Choice xmlns:v="urn:schemas-microsoft-com:vml" Requires="v">
                <p:oleObj name="Equation" r:id="rId10" imgW="855067" imgH="648673" progId="Equation.DSMT4">
                  <p:embed/>
                </p:oleObj>
              </mc:Choice>
              <mc:Fallback>
                <p:oleObj name="Equation" r:id="rId10" imgW="855067" imgH="648673" progId="Equation.DSMT4">
                  <p:embed/>
                  <p:pic>
                    <p:nvPicPr>
                      <p:cNvPr id="0" name=""/>
                      <p:cNvPicPr/>
                      <p:nvPr/>
                    </p:nvPicPr>
                    <p:blipFill>
                      <a:blip r:embed="rId11"/>
                      <a:stretch>
                        <a:fillRect/>
                      </a:stretch>
                    </p:blipFill>
                    <p:spPr>
                      <a:xfrm>
                        <a:off x="8377105" y="5250667"/>
                        <a:ext cx="2118224" cy="1607333"/>
                      </a:xfrm>
                      <a:prstGeom prst="rect">
                        <a:avLst/>
                      </a:prstGeom>
                    </p:spPr>
                  </p:pic>
                </p:oleObj>
              </mc:Fallback>
            </mc:AlternateContent>
          </a:graphicData>
        </a:graphic>
      </p:graphicFrame>
    </p:spTree>
    <p:extLst>
      <p:ext uri="{BB962C8B-B14F-4D97-AF65-F5344CB8AC3E}">
        <p14:creationId xmlns:p14="http://schemas.microsoft.com/office/powerpoint/2010/main" val="19679923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FE47F-89C2-F756-F8BB-6FC2ADB3342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C3FEBDC-9435-48C0-6483-2A7C20EEBB88}"/>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七、</a:t>
            </a:r>
            <a:r>
              <a:rPr lang="zh-CN" altLang="en-US" sz="3200" dirty="0">
                <a:solidFill>
                  <a:srgbClr val="FFFF00"/>
                </a:solidFill>
                <a:latin typeface="华光综艺_CNKI" panose="02000500000000000000" pitchFamily="2" charset="-122"/>
                <a:ea typeface="华光综艺_CNKI" panose="02000500000000000000" pitchFamily="2" charset="-122"/>
              </a:rPr>
              <a:t>人工神经网络</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A53DF25-C3C1-B8FD-F8A4-D9C2E94AA56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对象 3">
            <a:extLst>
              <a:ext uri="{FF2B5EF4-FFF2-40B4-BE49-F238E27FC236}">
                <a16:creationId xmlns:a16="http://schemas.microsoft.com/office/drawing/2014/main" id="{4136A3BA-4D24-968D-C403-33698272DB1E}"/>
              </a:ext>
            </a:extLst>
          </p:cNvPr>
          <p:cNvGraphicFramePr>
            <a:graphicFrameLocks noChangeAspect="1"/>
          </p:cNvGraphicFramePr>
          <p:nvPr>
            <p:extLst>
              <p:ext uri="{D42A27DB-BD31-4B8C-83A1-F6EECF244321}">
                <p14:modId xmlns:p14="http://schemas.microsoft.com/office/powerpoint/2010/main" val="2919633967"/>
              </p:ext>
            </p:extLst>
          </p:nvPr>
        </p:nvGraphicFramePr>
        <p:xfrm>
          <a:off x="8181569" y="1097595"/>
          <a:ext cx="3578673" cy="1631668"/>
        </p:xfrm>
        <a:graphic>
          <a:graphicData uri="http://schemas.openxmlformats.org/presentationml/2006/ole">
            <mc:AlternateContent xmlns:mc="http://schemas.openxmlformats.org/markup-compatibility/2006">
              <mc:Choice xmlns:v="urn:schemas-microsoft-com:vml" Requires="v">
                <p:oleObj name="Equation" r:id="rId3" imgW="1548888" imgH="706004" progId="Equation.DSMT4">
                  <p:embed/>
                </p:oleObj>
              </mc:Choice>
              <mc:Fallback>
                <p:oleObj name="Equation" r:id="rId3" imgW="1548888" imgH="706004" progId="Equation.DSMT4">
                  <p:embed/>
                  <p:pic>
                    <p:nvPicPr>
                      <p:cNvPr id="0" name=""/>
                      <p:cNvPicPr/>
                      <p:nvPr/>
                    </p:nvPicPr>
                    <p:blipFill>
                      <a:blip r:embed="rId4"/>
                      <a:stretch>
                        <a:fillRect/>
                      </a:stretch>
                    </p:blipFill>
                    <p:spPr>
                      <a:xfrm>
                        <a:off x="8181569" y="1097595"/>
                        <a:ext cx="3578673" cy="163166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CFF7D813-D308-7117-430D-79FBB07D1034}"/>
              </a:ext>
            </a:extLst>
          </p:cNvPr>
          <p:cNvGraphicFramePr>
            <a:graphicFrameLocks noChangeAspect="1"/>
          </p:cNvGraphicFramePr>
          <p:nvPr>
            <p:extLst>
              <p:ext uri="{D42A27DB-BD31-4B8C-83A1-F6EECF244321}">
                <p14:modId xmlns:p14="http://schemas.microsoft.com/office/powerpoint/2010/main" val="334764183"/>
              </p:ext>
            </p:extLst>
          </p:nvPr>
        </p:nvGraphicFramePr>
        <p:xfrm>
          <a:off x="8242472" y="2786391"/>
          <a:ext cx="2698672" cy="1697671"/>
        </p:xfrm>
        <a:graphic>
          <a:graphicData uri="http://schemas.openxmlformats.org/presentationml/2006/ole">
            <mc:AlternateContent xmlns:mc="http://schemas.openxmlformats.org/markup-compatibility/2006">
              <mc:Choice xmlns:v="urn:schemas-microsoft-com:vml" Requires="v">
                <p:oleObj name="Equation" r:id="rId5" imgW="1168579" imgH="734490" progId="Equation.DSMT4">
                  <p:embed/>
                </p:oleObj>
              </mc:Choice>
              <mc:Fallback>
                <p:oleObj name="Equation" r:id="rId5" imgW="1168579" imgH="734490" progId="Equation.DSMT4">
                  <p:embed/>
                  <p:pic>
                    <p:nvPicPr>
                      <p:cNvPr id="0" name=""/>
                      <p:cNvPicPr/>
                      <p:nvPr/>
                    </p:nvPicPr>
                    <p:blipFill>
                      <a:blip r:embed="rId6"/>
                      <a:stretch>
                        <a:fillRect/>
                      </a:stretch>
                    </p:blipFill>
                    <p:spPr>
                      <a:xfrm>
                        <a:off x="8242472" y="2786391"/>
                        <a:ext cx="2698672" cy="1697671"/>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BCBF9042-A298-0178-2128-07BB7E3D6ADD}"/>
              </a:ext>
            </a:extLst>
          </p:cNvPr>
          <p:cNvGraphicFramePr>
            <a:graphicFrameLocks noChangeAspect="1"/>
          </p:cNvGraphicFramePr>
          <p:nvPr>
            <p:extLst>
              <p:ext uri="{D42A27DB-BD31-4B8C-83A1-F6EECF244321}">
                <p14:modId xmlns:p14="http://schemas.microsoft.com/office/powerpoint/2010/main" val="1992528738"/>
              </p:ext>
            </p:extLst>
          </p:nvPr>
        </p:nvGraphicFramePr>
        <p:xfrm>
          <a:off x="8410170" y="4728887"/>
          <a:ext cx="2698671" cy="1653671"/>
        </p:xfrm>
        <a:graphic>
          <a:graphicData uri="http://schemas.openxmlformats.org/presentationml/2006/ole">
            <mc:AlternateContent xmlns:mc="http://schemas.openxmlformats.org/markup-compatibility/2006">
              <mc:Choice xmlns:v="urn:schemas-microsoft-com:vml" Requires="v">
                <p:oleObj name="Equation" r:id="rId7" imgW="1168579" imgH="715379" progId="Equation.DSMT4">
                  <p:embed/>
                </p:oleObj>
              </mc:Choice>
              <mc:Fallback>
                <p:oleObj name="Equation" r:id="rId7" imgW="1168579" imgH="715379" progId="Equation.DSMT4">
                  <p:embed/>
                  <p:pic>
                    <p:nvPicPr>
                      <p:cNvPr id="0" name=""/>
                      <p:cNvPicPr/>
                      <p:nvPr/>
                    </p:nvPicPr>
                    <p:blipFill>
                      <a:blip r:embed="rId8"/>
                      <a:stretch>
                        <a:fillRect/>
                      </a:stretch>
                    </p:blipFill>
                    <p:spPr>
                      <a:xfrm>
                        <a:off x="8410170" y="4728887"/>
                        <a:ext cx="2698671" cy="1653671"/>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71433FE9-E3E7-55F5-EF3F-8E4F47923A3F}"/>
              </a:ext>
            </a:extLst>
          </p:cNvPr>
          <p:cNvSpPr txBox="1"/>
          <p:nvPr/>
        </p:nvSpPr>
        <p:spPr>
          <a:xfrm>
            <a:off x="378358" y="1250044"/>
            <a:ext cx="11813642" cy="523220"/>
          </a:xfrm>
          <a:prstGeom prst="rect">
            <a:avLst/>
          </a:prstGeom>
          <a:noFill/>
        </p:spPr>
        <p:txBody>
          <a:bodyPr wrap="square">
            <a:spAutoFit/>
          </a:bodyPr>
          <a:lstStyle/>
          <a:p>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将神经网络矩阵化表示：</a:t>
            </a:r>
          </a:p>
        </p:txBody>
      </p:sp>
      <p:pic>
        <p:nvPicPr>
          <p:cNvPr id="9" name="图片 8">
            <a:extLst>
              <a:ext uri="{FF2B5EF4-FFF2-40B4-BE49-F238E27FC236}">
                <a16:creationId xmlns:a16="http://schemas.microsoft.com/office/drawing/2014/main" id="{58CF00B7-F358-F459-EA22-7405C01038E2}"/>
              </a:ext>
            </a:extLst>
          </p:cNvPr>
          <p:cNvPicPr>
            <a:picLocks noChangeAspect="1"/>
          </p:cNvPicPr>
          <p:nvPr/>
        </p:nvPicPr>
        <p:blipFill>
          <a:blip r:embed="rId9"/>
          <a:stretch>
            <a:fillRect/>
          </a:stretch>
        </p:blipFill>
        <p:spPr>
          <a:xfrm>
            <a:off x="378358" y="2414778"/>
            <a:ext cx="7584931" cy="3492165"/>
          </a:xfrm>
          <a:prstGeom prst="rect">
            <a:avLst/>
          </a:prstGeom>
          <a:solidFill>
            <a:schemeClr val="bg1"/>
          </a:solidFill>
        </p:spPr>
      </p:pic>
    </p:spTree>
    <p:extLst>
      <p:ext uri="{BB962C8B-B14F-4D97-AF65-F5344CB8AC3E}">
        <p14:creationId xmlns:p14="http://schemas.microsoft.com/office/powerpoint/2010/main" val="39257618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4CBF8-5243-AF5E-4463-AE94BB0A3F2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D4D09AB-3D48-6689-25DC-AD5A0FC3205E}"/>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21E7E372-6E54-13A2-A424-C0038948E7E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对象 3">
            <a:extLst>
              <a:ext uri="{FF2B5EF4-FFF2-40B4-BE49-F238E27FC236}">
                <a16:creationId xmlns:a16="http://schemas.microsoft.com/office/drawing/2014/main" id="{62C10B13-20D9-7212-D7FD-0E6C229E05BA}"/>
              </a:ext>
            </a:extLst>
          </p:cNvPr>
          <p:cNvGraphicFramePr>
            <a:graphicFrameLocks noChangeAspect="1"/>
          </p:cNvGraphicFramePr>
          <p:nvPr>
            <p:extLst>
              <p:ext uri="{D42A27DB-BD31-4B8C-83A1-F6EECF244321}">
                <p14:modId xmlns:p14="http://schemas.microsoft.com/office/powerpoint/2010/main" val="772718979"/>
              </p:ext>
            </p:extLst>
          </p:nvPr>
        </p:nvGraphicFramePr>
        <p:xfrm>
          <a:off x="178237" y="2761723"/>
          <a:ext cx="2360967" cy="1446735"/>
        </p:xfrm>
        <a:graphic>
          <a:graphicData uri="http://schemas.openxmlformats.org/presentationml/2006/ole">
            <mc:AlternateContent xmlns:mc="http://schemas.openxmlformats.org/markup-compatibility/2006">
              <mc:Choice xmlns:v="urn:schemas-microsoft-com:vml" Requires="v">
                <p:oleObj name="Equation" r:id="rId3" imgW="1168579" imgH="715379" progId="Equation.DSMT4">
                  <p:embed/>
                </p:oleObj>
              </mc:Choice>
              <mc:Fallback>
                <p:oleObj name="Equation" r:id="rId3" imgW="1168579" imgH="715379" progId="Equation.DSMT4">
                  <p:embed/>
                  <p:pic>
                    <p:nvPicPr>
                      <p:cNvPr id="0" name=""/>
                      <p:cNvPicPr/>
                      <p:nvPr/>
                    </p:nvPicPr>
                    <p:blipFill>
                      <a:blip r:embed="rId4"/>
                      <a:stretch>
                        <a:fillRect/>
                      </a:stretch>
                    </p:blipFill>
                    <p:spPr>
                      <a:xfrm>
                        <a:off x="178237" y="2761723"/>
                        <a:ext cx="2360967" cy="1446735"/>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E40066D5-192F-B144-CBAC-404C1C478620}"/>
              </a:ext>
            </a:extLst>
          </p:cNvPr>
          <p:cNvSpPr txBox="1"/>
          <p:nvPr/>
        </p:nvSpPr>
        <p:spPr>
          <a:xfrm>
            <a:off x="2942864" y="1937917"/>
            <a:ext cx="6123006" cy="3416320"/>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神经网络每一层的操作首先是对输入向量</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左乘一个权重向量</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进行线性变换，得到一个新的向量，然后再对该向量逐元素应用激活函数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f</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神经网络中的每个神经元将上一层神经元的输出值作为本神经元的输入值，将其运算处理后再传递给下一层，因此神经网络第</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&gt;0)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层的输出可表示为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对象 7">
            <a:extLst>
              <a:ext uri="{FF2B5EF4-FFF2-40B4-BE49-F238E27FC236}">
                <a16:creationId xmlns:a16="http://schemas.microsoft.com/office/drawing/2014/main" id="{BC4B0280-4C4F-4B4F-63BE-2586DF65FBC7}"/>
              </a:ext>
            </a:extLst>
          </p:cNvPr>
          <p:cNvGraphicFramePr>
            <a:graphicFrameLocks noChangeAspect="1"/>
          </p:cNvGraphicFramePr>
          <p:nvPr>
            <p:extLst>
              <p:ext uri="{D42A27DB-BD31-4B8C-83A1-F6EECF244321}">
                <p14:modId xmlns:p14="http://schemas.microsoft.com/office/powerpoint/2010/main" val="3841925865"/>
              </p:ext>
            </p:extLst>
          </p:nvPr>
        </p:nvGraphicFramePr>
        <p:xfrm>
          <a:off x="9560689" y="3179930"/>
          <a:ext cx="2411392" cy="623636"/>
        </p:xfrm>
        <a:graphic>
          <a:graphicData uri="http://schemas.openxmlformats.org/presentationml/2006/ole">
            <mc:AlternateContent xmlns:mc="http://schemas.openxmlformats.org/markup-compatibility/2006">
              <mc:Choice xmlns:v="urn:schemas-microsoft-com:vml" Requires="v">
                <p:oleObj name="Equation" r:id="rId5" imgW="921504" imgH="238340" progId="Equation.DSMT4">
                  <p:embed/>
                </p:oleObj>
              </mc:Choice>
              <mc:Fallback>
                <p:oleObj name="Equation" r:id="rId5" imgW="921504" imgH="238340" progId="Equation.DSMT4">
                  <p:embed/>
                  <p:pic>
                    <p:nvPicPr>
                      <p:cNvPr id="0" name=""/>
                      <p:cNvPicPr/>
                      <p:nvPr/>
                    </p:nvPicPr>
                    <p:blipFill>
                      <a:blip r:embed="rId6"/>
                      <a:stretch>
                        <a:fillRect/>
                      </a:stretch>
                    </p:blipFill>
                    <p:spPr>
                      <a:xfrm>
                        <a:off x="9560689" y="3179930"/>
                        <a:ext cx="2411392" cy="623636"/>
                      </a:xfrm>
                      <a:prstGeom prst="rect">
                        <a:avLst/>
                      </a:prstGeom>
                    </p:spPr>
                  </p:pic>
                </p:oleObj>
              </mc:Fallback>
            </mc:AlternateContent>
          </a:graphicData>
        </a:graphic>
      </p:graphicFrame>
      <p:cxnSp>
        <p:nvCxnSpPr>
          <p:cNvPr id="9" name="直接箭头连接符 8">
            <a:extLst>
              <a:ext uri="{FF2B5EF4-FFF2-40B4-BE49-F238E27FC236}">
                <a16:creationId xmlns:a16="http://schemas.microsoft.com/office/drawing/2014/main" id="{65001F2E-1300-C02D-8EC6-2B3584537174}"/>
              </a:ext>
            </a:extLst>
          </p:cNvPr>
          <p:cNvCxnSpPr>
            <a:cxnSpLocks/>
          </p:cNvCxnSpPr>
          <p:nvPr/>
        </p:nvCxnSpPr>
        <p:spPr>
          <a:xfrm flipV="1">
            <a:off x="1759352" y="2549109"/>
            <a:ext cx="1041721" cy="4311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DA2D4577-AD25-E3C8-6EA7-8C76788F62C7}"/>
              </a:ext>
            </a:extLst>
          </p:cNvPr>
          <p:cNvCxnSpPr>
            <a:cxnSpLocks/>
          </p:cNvCxnSpPr>
          <p:nvPr/>
        </p:nvCxnSpPr>
        <p:spPr>
          <a:xfrm flipV="1">
            <a:off x="8989196" y="3961220"/>
            <a:ext cx="1335422" cy="7683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1067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AB49-9670-8E9E-1B2F-FB5BEF722DB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0DDED4C-70A0-20F5-1D30-CA531058A74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120087C7-AB41-D8D1-79F4-7215DC6EBCE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图片 3">
            <a:extLst>
              <a:ext uri="{FF2B5EF4-FFF2-40B4-BE49-F238E27FC236}">
                <a16:creationId xmlns:a16="http://schemas.microsoft.com/office/drawing/2014/main" id="{1440B0A7-9BC7-AAEE-0BD1-176804D903AC}"/>
              </a:ext>
            </a:extLst>
          </p:cNvPr>
          <p:cNvPicPr>
            <a:picLocks noChangeAspect="1"/>
          </p:cNvPicPr>
          <p:nvPr/>
        </p:nvPicPr>
        <p:blipFill>
          <a:blip r:embed="rId3"/>
          <a:stretch>
            <a:fillRect/>
          </a:stretch>
        </p:blipFill>
        <p:spPr>
          <a:xfrm>
            <a:off x="321986" y="1413933"/>
            <a:ext cx="11548027" cy="2119533"/>
          </a:xfrm>
          <a:prstGeom prst="rect">
            <a:avLst/>
          </a:prstGeom>
        </p:spPr>
      </p:pic>
      <p:graphicFrame>
        <p:nvGraphicFramePr>
          <p:cNvPr id="5" name="对象 4">
            <a:extLst>
              <a:ext uri="{FF2B5EF4-FFF2-40B4-BE49-F238E27FC236}">
                <a16:creationId xmlns:a16="http://schemas.microsoft.com/office/drawing/2014/main" id="{B0A4B165-4553-041F-F53B-0BC2AE1DA1B1}"/>
              </a:ext>
            </a:extLst>
          </p:cNvPr>
          <p:cNvGraphicFramePr>
            <a:graphicFrameLocks noChangeAspect="1"/>
          </p:cNvGraphicFramePr>
          <p:nvPr>
            <p:extLst>
              <p:ext uri="{D42A27DB-BD31-4B8C-83A1-F6EECF244321}">
                <p14:modId xmlns:p14="http://schemas.microsoft.com/office/powerpoint/2010/main" val="2275974185"/>
              </p:ext>
            </p:extLst>
          </p:nvPr>
        </p:nvGraphicFramePr>
        <p:xfrm>
          <a:off x="4218011" y="3407584"/>
          <a:ext cx="3725417" cy="1349718"/>
        </p:xfrm>
        <a:graphic>
          <a:graphicData uri="http://schemas.openxmlformats.org/presentationml/2006/ole">
            <mc:AlternateContent xmlns:mc="http://schemas.openxmlformats.org/markup-compatibility/2006">
              <mc:Choice xmlns:v="urn:schemas-microsoft-com:vml" Requires="v">
                <p:oleObj name="Equation" r:id="rId4" imgW="1187612" imgH="429444" progId="Equation.DSMT4">
                  <p:embed/>
                </p:oleObj>
              </mc:Choice>
              <mc:Fallback>
                <p:oleObj name="Equation" r:id="rId4" imgW="1187612" imgH="429444" progId="Equation.DSMT4">
                  <p:embed/>
                  <p:pic>
                    <p:nvPicPr>
                      <p:cNvPr id="0" name=""/>
                      <p:cNvPicPr/>
                      <p:nvPr/>
                    </p:nvPicPr>
                    <p:blipFill>
                      <a:blip r:embed="rId5"/>
                      <a:stretch>
                        <a:fillRect/>
                      </a:stretch>
                    </p:blipFill>
                    <p:spPr>
                      <a:xfrm>
                        <a:off x="4218011" y="3407584"/>
                        <a:ext cx="3725417" cy="1349718"/>
                      </a:xfrm>
                      <a:prstGeom prst="rect">
                        <a:avLst/>
                      </a:prstGeom>
                    </p:spPr>
                  </p:pic>
                </p:oleObj>
              </mc:Fallback>
            </mc:AlternateContent>
          </a:graphicData>
        </a:graphic>
      </p:graphicFrame>
      <p:pic>
        <p:nvPicPr>
          <p:cNvPr id="6" name="图片 5">
            <a:extLst>
              <a:ext uri="{FF2B5EF4-FFF2-40B4-BE49-F238E27FC236}">
                <a16:creationId xmlns:a16="http://schemas.microsoft.com/office/drawing/2014/main" id="{E1A4DC7D-888A-707D-0664-9AFB47842D29}"/>
              </a:ext>
            </a:extLst>
          </p:cNvPr>
          <p:cNvPicPr>
            <a:picLocks noChangeAspect="1"/>
          </p:cNvPicPr>
          <p:nvPr/>
        </p:nvPicPr>
        <p:blipFill>
          <a:blip r:embed="rId6"/>
          <a:srcRect r="65380"/>
          <a:stretch/>
        </p:blipFill>
        <p:spPr>
          <a:xfrm>
            <a:off x="691829" y="5061411"/>
            <a:ext cx="4337371" cy="765312"/>
          </a:xfrm>
          <a:prstGeom prst="rect">
            <a:avLst/>
          </a:prstGeom>
        </p:spPr>
      </p:pic>
    </p:spTree>
    <p:extLst>
      <p:ext uri="{BB962C8B-B14F-4D97-AF65-F5344CB8AC3E}">
        <p14:creationId xmlns:p14="http://schemas.microsoft.com/office/powerpoint/2010/main" val="299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B5F6B-A54E-2E10-DA1D-B78A12DE6B9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AFAFF52-D2D3-466B-83F8-FDA93B4CD5C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A67CA3F2-DB59-C548-6B72-7008EC503B1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2" name="文本框 71">
            <a:extLst>
              <a:ext uri="{FF2B5EF4-FFF2-40B4-BE49-F238E27FC236}">
                <a16:creationId xmlns:a16="http://schemas.microsoft.com/office/drawing/2014/main" id="{CED946A2-62DF-AFF4-9329-2DC1EB1A821A}"/>
              </a:ext>
            </a:extLst>
          </p:cNvPr>
          <p:cNvSpPr txBox="1"/>
          <p:nvPr/>
        </p:nvSpPr>
        <p:spPr>
          <a:xfrm>
            <a:off x="166155" y="1665044"/>
            <a:ext cx="17265704" cy="461665"/>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以目标的负梯度方向对参数进行调整，                   ：</a:t>
            </a:r>
          </a:p>
        </p:txBody>
      </p:sp>
      <p:graphicFrame>
        <p:nvGraphicFramePr>
          <p:cNvPr id="4" name="对象 3">
            <a:extLst>
              <a:ext uri="{FF2B5EF4-FFF2-40B4-BE49-F238E27FC236}">
                <a16:creationId xmlns:a16="http://schemas.microsoft.com/office/drawing/2014/main" id="{40834749-732B-1A03-389A-AB6DD935B483}"/>
              </a:ext>
            </a:extLst>
          </p:cNvPr>
          <p:cNvGraphicFramePr>
            <a:graphicFrameLocks noChangeAspect="1"/>
          </p:cNvGraphicFramePr>
          <p:nvPr>
            <p:extLst>
              <p:ext uri="{D42A27DB-BD31-4B8C-83A1-F6EECF244321}">
                <p14:modId xmlns:p14="http://schemas.microsoft.com/office/powerpoint/2010/main" val="1322512907"/>
              </p:ext>
            </p:extLst>
          </p:nvPr>
        </p:nvGraphicFramePr>
        <p:xfrm>
          <a:off x="4196728" y="2403968"/>
          <a:ext cx="2285094" cy="650590"/>
        </p:xfrm>
        <a:graphic>
          <a:graphicData uri="http://schemas.openxmlformats.org/presentationml/2006/ole">
            <mc:AlternateContent xmlns:mc="http://schemas.openxmlformats.org/markup-compatibility/2006">
              <mc:Choice xmlns:v="urn:schemas-microsoft-com:vml" Requires="v">
                <p:oleObj name="Equation" r:id="rId3" imgW="902830" imgH="257450" progId="Equation.DSMT4">
                  <p:embed/>
                </p:oleObj>
              </mc:Choice>
              <mc:Fallback>
                <p:oleObj name="Equation" r:id="rId3" imgW="902830" imgH="257450" progId="Equation.DSMT4">
                  <p:embed/>
                  <p:pic>
                    <p:nvPicPr>
                      <p:cNvPr id="0" name=""/>
                      <p:cNvPicPr/>
                      <p:nvPr/>
                    </p:nvPicPr>
                    <p:blipFill>
                      <a:blip r:embed="rId4"/>
                      <a:stretch>
                        <a:fillRect/>
                      </a:stretch>
                    </p:blipFill>
                    <p:spPr>
                      <a:xfrm>
                        <a:off x="4196728" y="2403968"/>
                        <a:ext cx="2285094" cy="650590"/>
                      </a:xfrm>
                      <a:prstGeom prst="rect">
                        <a:avLst/>
                      </a:prstGeom>
                    </p:spPr>
                  </p:pic>
                </p:oleObj>
              </mc:Fallback>
            </mc:AlternateContent>
          </a:graphicData>
        </a:graphic>
      </p:graphicFrame>
      <p:pic>
        <p:nvPicPr>
          <p:cNvPr id="5" name="图片 4">
            <a:extLst>
              <a:ext uri="{FF2B5EF4-FFF2-40B4-BE49-F238E27FC236}">
                <a16:creationId xmlns:a16="http://schemas.microsoft.com/office/drawing/2014/main" id="{2311D20F-2139-D481-001A-1665FD07D8FB}"/>
              </a:ext>
            </a:extLst>
          </p:cNvPr>
          <p:cNvPicPr>
            <a:picLocks noChangeAspect="1"/>
          </p:cNvPicPr>
          <p:nvPr/>
        </p:nvPicPr>
        <p:blipFill>
          <a:blip r:embed="rId5"/>
          <a:stretch>
            <a:fillRect/>
          </a:stretch>
        </p:blipFill>
        <p:spPr>
          <a:xfrm>
            <a:off x="5324353" y="1617612"/>
            <a:ext cx="10817849" cy="660819"/>
          </a:xfrm>
          <a:prstGeom prst="rect">
            <a:avLst/>
          </a:prstGeom>
        </p:spPr>
      </p:pic>
      <p:sp>
        <p:nvSpPr>
          <p:cNvPr id="9" name="矩形: 圆角 55">
            <a:extLst>
              <a:ext uri="{FF2B5EF4-FFF2-40B4-BE49-F238E27FC236}">
                <a16:creationId xmlns:a16="http://schemas.microsoft.com/office/drawing/2014/main" id="{789B8539-6E1C-AA63-E5A2-4AC7DEF7E463}"/>
              </a:ext>
            </a:extLst>
          </p:cNvPr>
          <p:cNvSpPr/>
          <p:nvPr/>
        </p:nvSpPr>
        <p:spPr>
          <a:xfrm>
            <a:off x="368954" y="941788"/>
            <a:ext cx="5072835"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使用梯度下降法调整参数</a:t>
            </a:r>
          </a:p>
        </p:txBody>
      </p:sp>
      <p:pic>
        <p:nvPicPr>
          <p:cNvPr id="11" name="图片 10">
            <a:extLst>
              <a:ext uri="{FF2B5EF4-FFF2-40B4-BE49-F238E27FC236}">
                <a16:creationId xmlns:a16="http://schemas.microsoft.com/office/drawing/2014/main" id="{088776AF-3792-6F0C-C7E9-788E88B5815F}"/>
              </a:ext>
            </a:extLst>
          </p:cNvPr>
          <p:cNvPicPr>
            <a:picLocks noChangeAspect="1"/>
          </p:cNvPicPr>
          <p:nvPr/>
        </p:nvPicPr>
        <p:blipFill>
          <a:blip r:embed="rId6"/>
          <a:stretch>
            <a:fillRect/>
          </a:stretch>
        </p:blipFill>
        <p:spPr>
          <a:xfrm>
            <a:off x="166155" y="3177790"/>
            <a:ext cx="10089852" cy="650590"/>
          </a:xfrm>
          <a:prstGeom prst="rect">
            <a:avLst/>
          </a:prstGeom>
        </p:spPr>
      </p:pic>
      <p:pic>
        <p:nvPicPr>
          <p:cNvPr id="12" name="图片 11">
            <a:extLst>
              <a:ext uri="{FF2B5EF4-FFF2-40B4-BE49-F238E27FC236}">
                <a16:creationId xmlns:a16="http://schemas.microsoft.com/office/drawing/2014/main" id="{6A4877D4-41A9-71E9-45E4-F510BB3CD027}"/>
              </a:ext>
            </a:extLst>
          </p:cNvPr>
          <p:cNvPicPr>
            <a:picLocks noChangeAspect="1"/>
          </p:cNvPicPr>
          <p:nvPr/>
        </p:nvPicPr>
        <p:blipFill>
          <a:blip r:embed="rId7"/>
          <a:stretch>
            <a:fillRect/>
          </a:stretch>
        </p:blipFill>
        <p:spPr>
          <a:xfrm>
            <a:off x="6980919" y="3190636"/>
            <a:ext cx="10089852" cy="650590"/>
          </a:xfrm>
          <a:prstGeom prst="rect">
            <a:avLst/>
          </a:prstGeom>
        </p:spPr>
      </p:pic>
      <p:graphicFrame>
        <p:nvGraphicFramePr>
          <p:cNvPr id="13" name="对象 12">
            <a:extLst>
              <a:ext uri="{FF2B5EF4-FFF2-40B4-BE49-F238E27FC236}">
                <a16:creationId xmlns:a16="http://schemas.microsoft.com/office/drawing/2014/main" id="{03EE2387-6E6A-9BDE-464A-0EFA86B59039}"/>
              </a:ext>
            </a:extLst>
          </p:cNvPr>
          <p:cNvGraphicFramePr>
            <a:graphicFrameLocks noChangeAspect="1"/>
          </p:cNvGraphicFramePr>
          <p:nvPr>
            <p:extLst>
              <p:ext uri="{D42A27DB-BD31-4B8C-83A1-F6EECF244321}">
                <p14:modId xmlns:p14="http://schemas.microsoft.com/office/powerpoint/2010/main" val="2022811231"/>
              </p:ext>
            </p:extLst>
          </p:nvPr>
        </p:nvGraphicFramePr>
        <p:xfrm>
          <a:off x="4196728" y="4161228"/>
          <a:ext cx="2580347" cy="922773"/>
        </p:xfrm>
        <a:graphic>
          <a:graphicData uri="http://schemas.openxmlformats.org/presentationml/2006/ole">
            <mc:AlternateContent xmlns:mc="http://schemas.openxmlformats.org/markup-compatibility/2006">
              <mc:Choice xmlns:v="urn:schemas-microsoft-com:vml" Requires="v">
                <p:oleObj name="Equation" r:id="rId8" imgW="959571" imgH="343627" progId="Equation.DSMT4">
                  <p:embed/>
                </p:oleObj>
              </mc:Choice>
              <mc:Fallback>
                <p:oleObj name="Equation" r:id="rId8" imgW="959571" imgH="343627" progId="Equation.DSMT4">
                  <p:embed/>
                  <p:pic>
                    <p:nvPicPr>
                      <p:cNvPr id="0" name=""/>
                      <p:cNvPicPr/>
                      <p:nvPr/>
                    </p:nvPicPr>
                    <p:blipFill>
                      <a:blip r:embed="rId9"/>
                      <a:stretch>
                        <a:fillRect/>
                      </a:stretch>
                    </p:blipFill>
                    <p:spPr>
                      <a:xfrm>
                        <a:off x="4196728" y="4161228"/>
                        <a:ext cx="2580347" cy="922773"/>
                      </a:xfrm>
                      <a:prstGeom prst="rect">
                        <a:avLst/>
                      </a:prstGeom>
                    </p:spPr>
                  </p:pic>
                </p:oleObj>
              </mc:Fallback>
            </mc:AlternateContent>
          </a:graphicData>
        </a:graphic>
      </p:graphicFrame>
      <p:pic>
        <p:nvPicPr>
          <p:cNvPr id="14" name="图片 13">
            <a:extLst>
              <a:ext uri="{FF2B5EF4-FFF2-40B4-BE49-F238E27FC236}">
                <a16:creationId xmlns:a16="http://schemas.microsoft.com/office/drawing/2014/main" id="{09657561-4BEA-EFB3-B2F4-68FD94844A2B}"/>
              </a:ext>
            </a:extLst>
          </p:cNvPr>
          <p:cNvPicPr>
            <a:picLocks noChangeAspect="1"/>
          </p:cNvPicPr>
          <p:nvPr/>
        </p:nvPicPr>
        <p:blipFill>
          <a:blip r:embed="rId10"/>
          <a:stretch>
            <a:fillRect/>
          </a:stretch>
        </p:blipFill>
        <p:spPr>
          <a:xfrm>
            <a:off x="166155" y="5348950"/>
            <a:ext cx="10650383" cy="650589"/>
          </a:xfrm>
          <a:prstGeom prst="rect">
            <a:avLst/>
          </a:prstGeom>
        </p:spPr>
      </p:pic>
    </p:spTree>
    <p:extLst>
      <p:ext uri="{BB962C8B-B14F-4D97-AF65-F5344CB8AC3E}">
        <p14:creationId xmlns:p14="http://schemas.microsoft.com/office/powerpoint/2010/main" val="6982141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694C1-6304-39AD-C5E7-93A376333EB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5F824EA-3CB5-7991-330E-0BA285F7B794}"/>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2698A547-0CF9-E9E1-0658-4AC72C87D22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图片 4">
            <a:extLst>
              <a:ext uri="{FF2B5EF4-FFF2-40B4-BE49-F238E27FC236}">
                <a16:creationId xmlns:a16="http://schemas.microsoft.com/office/drawing/2014/main" id="{BB51E500-0E35-F91E-4DB0-D82D035E764F}"/>
              </a:ext>
            </a:extLst>
          </p:cNvPr>
          <p:cNvPicPr>
            <a:picLocks noChangeAspect="1"/>
          </p:cNvPicPr>
          <p:nvPr/>
        </p:nvPicPr>
        <p:blipFill>
          <a:blip r:embed="rId3"/>
          <a:stretch>
            <a:fillRect/>
          </a:stretch>
        </p:blipFill>
        <p:spPr>
          <a:xfrm>
            <a:off x="-93986" y="1866302"/>
            <a:ext cx="10547950" cy="680128"/>
          </a:xfrm>
          <a:prstGeom prst="rect">
            <a:avLst/>
          </a:prstGeom>
        </p:spPr>
      </p:pic>
      <p:graphicFrame>
        <p:nvGraphicFramePr>
          <p:cNvPr id="8" name="对象 7">
            <a:extLst>
              <a:ext uri="{FF2B5EF4-FFF2-40B4-BE49-F238E27FC236}">
                <a16:creationId xmlns:a16="http://schemas.microsoft.com/office/drawing/2014/main" id="{2D5DB102-A112-0FE2-80CA-00760825CFE2}"/>
              </a:ext>
            </a:extLst>
          </p:cNvPr>
          <p:cNvGraphicFramePr>
            <a:graphicFrameLocks noChangeAspect="1"/>
          </p:cNvGraphicFramePr>
          <p:nvPr>
            <p:extLst>
              <p:ext uri="{D42A27DB-BD31-4B8C-83A1-F6EECF244321}">
                <p14:modId xmlns:p14="http://schemas.microsoft.com/office/powerpoint/2010/main" val="3428534200"/>
              </p:ext>
            </p:extLst>
          </p:nvPr>
        </p:nvGraphicFramePr>
        <p:xfrm>
          <a:off x="2889748" y="2554759"/>
          <a:ext cx="5917364" cy="1173878"/>
        </p:xfrm>
        <a:graphic>
          <a:graphicData uri="http://schemas.openxmlformats.org/presentationml/2006/ole">
            <mc:AlternateContent xmlns:mc="http://schemas.openxmlformats.org/markup-compatibility/2006">
              <mc:Choice xmlns:v="urn:schemas-microsoft-com:vml" Requires="v">
                <p:oleObj name="Equation" r:id="rId4" imgW="2936172" imgH="581967" progId="Equation.DSMT4">
                  <p:embed/>
                </p:oleObj>
              </mc:Choice>
              <mc:Fallback>
                <p:oleObj name="Equation" r:id="rId4" imgW="2936172" imgH="581967" progId="Equation.DSMT4">
                  <p:embed/>
                  <p:pic>
                    <p:nvPicPr>
                      <p:cNvPr id="0" name=""/>
                      <p:cNvPicPr/>
                      <p:nvPr/>
                    </p:nvPicPr>
                    <p:blipFill>
                      <a:blip r:embed="rId5"/>
                      <a:stretch>
                        <a:fillRect/>
                      </a:stretch>
                    </p:blipFill>
                    <p:spPr>
                      <a:xfrm>
                        <a:off x="2889748" y="2554759"/>
                        <a:ext cx="5917364" cy="1173878"/>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5958A307-FE24-AA09-FA9C-D9D62ED58CA6}"/>
              </a:ext>
            </a:extLst>
          </p:cNvPr>
          <p:cNvSpPr/>
          <p:nvPr/>
        </p:nvSpPr>
        <p:spPr>
          <a:xfrm>
            <a:off x="7488820" y="2673752"/>
            <a:ext cx="1527858" cy="1173878"/>
          </a:xfrm>
          <a:prstGeom prst="rect">
            <a:avLst/>
          </a:prstGeom>
          <a:noFill/>
          <a:ln w="28575">
            <a:solidFill>
              <a:srgbClr val="FD5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79CE0DF7-AA89-617A-5BD6-E43DEAAB4943}"/>
              </a:ext>
            </a:extLst>
          </p:cNvPr>
          <p:cNvCxnSpPr/>
          <p:nvPr/>
        </p:nvCxnSpPr>
        <p:spPr>
          <a:xfrm flipH="1">
            <a:off x="6817489" y="4097438"/>
            <a:ext cx="1041721" cy="694481"/>
          </a:xfrm>
          <a:prstGeom prst="straightConnector1">
            <a:avLst/>
          </a:prstGeom>
          <a:noFill/>
          <a:ln w="28575">
            <a:solidFill>
              <a:srgbClr val="FD5C0C"/>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cxnSp>
      <p:cxnSp>
        <p:nvCxnSpPr>
          <p:cNvPr id="12" name="直接箭头连接符 11">
            <a:extLst>
              <a:ext uri="{FF2B5EF4-FFF2-40B4-BE49-F238E27FC236}">
                <a16:creationId xmlns:a16="http://schemas.microsoft.com/office/drawing/2014/main" id="{7258E550-5ECA-8492-3BDE-5CC7FA324A70}"/>
              </a:ext>
            </a:extLst>
          </p:cNvPr>
          <p:cNvCxnSpPr>
            <a:cxnSpLocks/>
          </p:cNvCxnSpPr>
          <p:nvPr/>
        </p:nvCxnSpPr>
        <p:spPr>
          <a:xfrm>
            <a:off x="8632417" y="4097438"/>
            <a:ext cx="939846" cy="694481"/>
          </a:xfrm>
          <a:prstGeom prst="straightConnector1">
            <a:avLst/>
          </a:prstGeom>
          <a:noFill/>
          <a:ln w="28575">
            <a:solidFill>
              <a:srgbClr val="FD5C0C"/>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cxnSp>
      <p:sp>
        <p:nvSpPr>
          <p:cNvPr id="17" name="文本框 16">
            <a:extLst>
              <a:ext uri="{FF2B5EF4-FFF2-40B4-BE49-F238E27FC236}">
                <a16:creationId xmlns:a16="http://schemas.microsoft.com/office/drawing/2014/main" id="{55EE253E-A2CD-DC32-FA9B-2EDB95F7A0FB}"/>
              </a:ext>
            </a:extLst>
          </p:cNvPr>
          <p:cNvSpPr txBox="1"/>
          <p:nvPr/>
        </p:nvSpPr>
        <p:spPr>
          <a:xfrm>
            <a:off x="6298557" y="5048812"/>
            <a:ext cx="6169306" cy="461665"/>
          </a:xfrm>
          <a:prstGeom prst="rect">
            <a:avLst/>
          </a:prstGeom>
          <a:noFill/>
        </p:spPr>
        <p:txBody>
          <a:bodyPr wrap="square">
            <a:spAutoFit/>
          </a:bodyPr>
          <a:lstStyle/>
          <a:p>
            <a:r>
              <a:rPr lang="zh-CN" altLang="en-US" sz="24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输出层</a:t>
            </a:r>
            <a:endParaRPr lang="zh-CN" altLang="en-US" sz="2400" b="1" dirty="0">
              <a:solidFill>
                <a:schemeClr val="accent2"/>
              </a:solidFill>
            </a:endParaRPr>
          </a:p>
        </p:txBody>
      </p:sp>
      <p:sp>
        <p:nvSpPr>
          <p:cNvPr id="18" name="文本框 17">
            <a:extLst>
              <a:ext uri="{FF2B5EF4-FFF2-40B4-BE49-F238E27FC236}">
                <a16:creationId xmlns:a16="http://schemas.microsoft.com/office/drawing/2014/main" id="{16CC7C6D-5007-F0F0-7E94-594B9DB7952A}"/>
              </a:ext>
            </a:extLst>
          </p:cNvPr>
          <p:cNvSpPr txBox="1"/>
          <p:nvPr/>
        </p:nvSpPr>
        <p:spPr>
          <a:xfrm>
            <a:off x="9252031" y="5048812"/>
            <a:ext cx="6169306" cy="461665"/>
          </a:xfrm>
          <a:prstGeom prst="rect">
            <a:avLst/>
          </a:prstGeom>
          <a:noFill/>
        </p:spPr>
        <p:txBody>
          <a:bodyPr wrap="square">
            <a:spAutoFit/>
          </a:bodyPr>
          <a:lstStyle/>
          <a:p>
            <a:r>
              <a:rPr lang="zh-CN" altLang="en-US" sz="24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隐藏层</a:t>
            </a:r>
            <a:endParaRPr lang="zh-CN" altLang="en-US" sz="2400" b="1" dirty="0">
              <a:solidFill>
                <a:schemeClr val="accent2"/>
              </a:solidFill>
            </a:endParaRPr>
          </a:p>
        </p:txBody>
      </p:sp>
      <p:sp>
        <p:nvSpPr>
          <p:cNvPr id="6" name="矩形: 圆角 55">
            <a:extLst>
              <a:ext uri="{FF2B5EF4-FFF2-40B4-BE49-F238E27FC236}">
                <a16:creationId xmlns:a16="http://schemas.microsoft.com/office/drawing/2014/main" id="{BD6DB0C3-B504-5B9B-70D6-FF7909147E96}"/>
              </a:ext>
            </a:extLst>
          </p:cNvPr>
          <p:cNvSpPr/>
          <p:nvPr/>
        </p:nvSpPr>
        <p:spPr>
          <a:xfrm>
            <a:off x="368954" y="941788"/>
            <a:ext cx="5072835"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使用链式法则对目标函数求导</a:t>
            </a:r>
          </a:p>
        </p:txBody>
      </p:sp>
    </p:spTree>
    <p:extLst>
      <p:ext uri="{BB962C8B-B14F-4D97-AF65-F5344CB8AC3E}">
        <p14:creationId xmlns:p14="http://schemas.microsoft.com/office/powerpoint/2010/main" val="611600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FF507-3CA8-8922-2ED7-9695922D769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9F32685-6509-0134-25CE-EFCBC777DCB4}"/>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885B063A-4B7F-5C93-E93D-06310226777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矩形: 圆角 55">
            <a:extLst>
              <a:ext uri="{FF2B5EF4-FFF2-40B4-BE49-F238E27FC236}">
                <a16:creationId xmlns:a16="http://schemas.microsoft.com/office/drawing/2014/main" id="{7D59C426-D50B-FA39-6E35-CE04D0FFDB0B}"/>
              </a:ext>
            </a:extLst>
          </p:cNvPr>
          <p:cNvSpPr/>
          <p:nvPr/>
        </p:nvSpPr>
        <p:spPr>
          <a:xfrm>
            <a:off x="677664" y="1019905"/>
            <a:ext cx="1882140"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输出层</a:t>
            </a:r>
          </a:p>
        </p:txBody>
      </p:sp>
      <p:pic>
        <p:nvPicPr>
          <p:cNvPr id="5" name="图片 4">
            <a:extLst>
              <a:ext uri="{FF2B5EF4-FFF2-40B4-BE49-F238E27FC236}">
                <a16:creationId xmlns:a16="http://schemas.microsoft.com/office/drawing/2014/main" id="{72B82814-195D-EB20-CDDD-EAA8C3E00E0E}"/>
              </a:ext>
            </a:extLst>
          </p:cNvPr>
          <p:cNvPicPr>
            <a:picLocks noChangeAspect="1"/>
          </p:cNvPicPr>
          <p:nvPr/>
        </p:nvPicPr>
        <p:blipFill>
          <a:blip r:embed="rId3"/>
          <a:stretch>
            <a:fillRect/>
          </a:stretch>
        </p:blipFill>
        <p:spPr>
          <a:xfrm>
            <a:off x="166155" y="1773674"/>
            <a:ext cx="10017888" cy="1289066"/>
          </a:xfrm>
          <a:prstGeom prst="rect">
            <a:avLst/>
          </a:prstGeom>
        </p:spPr>
      </p:pic>
      <p:graphicFrame>
        <p:nvGraphicFramePr>
          <p:cNvPr id="6" name="对象 5">
            <a:extLst>
              <a:ext uri="{FF2B5EF4-FFF2-40B4-BE49-F238E27FC236}">
                <a16:creationId xmlns:a16="http://schemas.microsoft.com/office/drawing/2014/main" id="{8CEC0512-7166-4EAA-39EC-513D4BF03ADB}"/>
              </a:ext>
            </a:extLst>
          </p:cNvPr>
          <p:cNvGraphicFramePr>
            <a:graphicFrameLocks noChangeAspect="1"/>
          </p:cNvGraphicFramePr>
          <p:nvPr>
            <p:extLst>
              <p:ext uri="{D42A27DB-BD31-4B8C-83A1-F6EECF244321}">
                <p14:modId xmlns:p14="http://schemas.microsoft.com/office/powerpoint/2010/main" val="3054580659"/>
              </p:ext>
            </p:extLst>
          </p:nvPr>
        </p:nvGraphicFramePr>
        <p:xfrm>
          <a:off x="8401841" y="2288061"/>
          <a:ext cx="2234098" cy="833446"/>
        </p:xfrm>
        <a:graphic>
          <a:graphicData uri="http://schemas.openxmlformats.org/presentationml/2006/ole">
            <mc:AlternateContent xmlns:mc="http://schemas.openxmlformats.org/markup-compatibility/2006">
              <mc:Choice xmlns:v="urn:schemas-microsoft-com:vml" Requires="v">
                <p:oleObj name="Equation" r:id="rId4" imgW="1225679" imgH="457929" progId="Equation.DSMT4">
                  <p:embed/>
                </p:oleObj>
              </mc:Choice>
              <mc:Fallback>
                <p:oleObj name="Equation" r:id="rId4" imgW="1225679" imgH="457929" progId="Equation.DSMT4">
                  <p:embed/>
                  <p:pic>
                    <p:nvPicPr>
                      <p:cNvPr id="0" name=""/>
                      <p:cNvPicPr/>
                      <p:nvPr/>
                    </p:nvPicPr>
                    <p:blipFill>
                      <a:blip r:embed="rId5"/>
                      <a:stretch>
                        <a:fillRect/>
                      </a:stretch>
                    </p:blipFill>
                    <p:spPr>
                      <a:xfrm>
                        <a:off x="8401841" y="2288061"/>
                        <a:ext cx="2234098" cy="83344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CC1FEFD-1437-C590-7A57-B0D3E1444D06}"/>
              </a:ext>
            </a:extLst>
          </p:cNvPr>
          <p:cNvGraphicFramePr>
            <a:graphicFrameLocks noChangeAspect="1"/>
          </p:cNvGraphicFramePr>
          <p:nvPr>
            <p:extLst>
              <p:ext uri="{D42A27DB-BD31-4B8C-83A1-F6EECF244321}">
                <p14:modId xmlns:p14="http://schemas.microsoft.com/office/powerpoint/2010/main" val="3756160708"/>
              </p:ext>
            </p:extLst>
          </p:nvPr>
        </p:nvGraphicFramePr>
        <p:xfrm>
          <a:off x="166155" y="3419361"/>
          <a:ext cx="3251479" cy="671273"/>
        </p:xfrm>
        <a:graphic>
          <a:graphicData uri="http://schemas.openxmlformats.org/presentationml/2006/ole">
            <mc:AlternateContent xmlns:mc="http://schemas.openxmlformats.org/markup-compatibility/2006">
              <mc:Choice xmlns:v="urn:schemas-microsoft-com:vml" Requires="v">
                <p:oleObj name="Equation" r:id="rId6" imgW="2213980" imgH="457929" progId="Equation.DSMT4">
                  <p:embed/>
                </p:oleObj>
              </mc:Choice>
              <mc:Fallback>
                <p:oleObj name="Equation" r:id="rId6" imgW="2213980" imgH="457929" progId="Equation.DSMT4">
                  <p:embed/>
                  <p:pic>
                    <p:nvPicPr>
                      <p:cNvPr id="0" name=""/>
                      <p:cNvPicPr/>
                      <p:nvPr/>
                    </p:nvPicPr>
                    <p:blipFill>
                      <a:blip r:embed="rId7"/>
                      <a:stretch>
                        <a:fillRect/>
                      </a:stretch>
                    </p:blipFill>
                    <p:spPr>
                      <a:xfrm>
                        <a:off x="166155" y="3419361"/>
                        <a:ext cx="3251479" cy="67127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C71A6EF-0911-2FD1-A346-A89977778119}"/>
              </a:ext>
            </a:extLst>
          </p:cNvPr>
          <p:cNvGraphicFramePr>
            <a:graphicFrameLocks noChangeAspect="1"/>
          </p:cNvGraphicFramePr>
          <p:nvPr>
            <p:extLst>
              <p:ext uri="{D42A27DB-BD31-4B8C-83A1-F6EECF244321}">
                <p14:modId xmlns:p14="http://schemas.microsoft.com/office/powerpoint/2010/main" val="1658781434"/>
              </p:ext>
            </p:extLst>
          </p:nvPr>
        </p:nvGraphicFramePr>
        <p:xfrm>
          <a:off x="166155" y="4252588"/>
          <a:ext cx="3153586" cy="713228"/>
        </p:xfrm>
        <a:graphic>
          <a:graphicData uri="http://schemas.openxmlformats.org/presentationml/2006/ole">
            <mc:AlternateContent xmlns:mc="http://schemas.openxmlformats.org/markup-compatibility/2006">
              <mc:Choice xmlns:v="urn:schemas-microsoft-com:vml" Requires="v">
                <p:oleObj name="Equation" r:id="rId8" imgW="2147542" imgH="486415" progId="Equation.DSMT4">
                  <p:embed/>
                </p:oleObj>
              </mc:Choice>
              <mc:Fallback>
                <p:oleObj name="Equation" r:id="rId8" imgW="2147542" imgH="486415" progId="Equation.DSMT4">
                  <p:embed/>
                  <p:pic>
                    <p:nvPicPr>
                      <p:cNvPr id="0" name=""/>
                      <p:cNvPicPr/>
                      <p:nvPr/>
                    </p:nvPicPr>
                    <p:blipFill>
                      <a:blip r:embed="rId9"/>
                      <a:stretch>
                        <a:fillRect/>
                      </a:stretch>
                    </p:blipFill>
                    <p:spPr>
                      <a:xfrm>
                        <a:off x="166155" y="4252588"/>
                        <a:ext cx="3153586" cy="713228"/>
                      </a:xfrm>
                      <a:prstGeom prst="rect">
                        <a:avLst/>
                      </a:prstGeom>
                    </p:spPr>
                  </p:pic>
                </p:oleObj>
              </mc:Fallback>
            </mc:AlternateContent>
          </a:graphicData>
        </a:graphic>
      </p:graphicFrame>
      <p:sp>
        <p:nvSpPr>
          <p:cNvPr id="10" name="右大括号 9">
            <a:extLst>
              <a:ext uri="{FF2B5EF4-FFF2-40B4-BE49-F238E27FC236}">
                <a16:creationId xmlns:a16="http://schemas.microsoft.com/office/drawing/2014/main" id="{2055533E-64A1-3431-0702-346BC3B9DC24}"/>
              </a:ext>
            </a:extLst>
          </p:cNvPr>
          <p:cNvSpPr/>
          <p:nvPr/>
        </p:nvSpPr>
        <p:spPr>
          <a:xfrm>
            <a:off x="3575050" y="3665287"/>
            <a:ext cx="335666" cy="1174601"/>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aphicFrame>
        <p:nvGraphicFramePr>
          <p:cNvPr id="11" name="对象 10">
            <a:extLst>
              <a:ext uri="{FF2B5EF4-FFF2-40B4-BE49-F238E27FC236}">
                <a16:creationId xmlns:a16="http://schemas.microsoft.com/office/drawing/2014/main" id="{997AAFE5-067A-A060-0ABC-2F658C6E298D}"/>
              </a:ext>
            </a:extLst>
          </p:cNvPr>
          <p:cNvGraphicFramePr>
            <a:graphicFrameLocks noChangeAspect="1"/>
          </p:cNvGraphicFramePr>
          <p:nvPr>
            <p:extLst>
              <p:ext uri="{D42A27DB-BD31-4B8C-83A1-F6EECF244321}">
                <p14:modId xmlns:p14="http://schemas.microsoft.com/office/powerpoint/2010/main" val="1071168418"/>
              </p:ext>
            </p:extLst>
          </p:nvPr>
        </p:nvGraphicFramePr>
        <p:xfrm>
          <a:off x="3999899" y="3958721"/>
          <a:ext cx="2378967" cy="650481"/>
        </p:xfrm>
        <a:graphic>
          <a:graphicData uri="http://schemas.openxmlformats.org/presentationml/2006/ole">
            <mc:AlternateContent xmlns:mc="http://schemas.openxmlformats.org/markup-compatibility/2006">
              <mc:Choice xmlns:v="urn:schemas-microsoft-com:vml" Requires="v">
                <p:oleObj name="Equation" r:id="rId10" imgW="1643696" imgH="448554" progId="Equation.DSMT4">
                  <p:embed/>
                </p:oleObj>
              </mc:Choice>
              <mc:Fallback>
                <p:oleObj name="Equation" r:id="rId10" imgW="1643696" imgH="448554" progId="Equation.DSMT4">
                  <p:embed/>
                  <p:pic>
                    <p:nvPicPr>
                      <p:cNvPr id="0" name=""/>
                      <p:cNvPicPr/>
                      <p:nvPr/>
                    </p:nvPicPr>
                    <p:blipFill>
                      <a:blip r:embed="rId11"/>
                      <a:stretch>
                        <a:fillRect/>
                      </a:stretch>
                    </p:blipFill>
                    <p:spPr>
                      <a:xfrm>
                        <a:off x="3999899" y="3958721"/>
                        <a:ext cx="2378967" cy="65048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F6289414-E06F-8336-B93F-C9B973BB375F}"/>
              </a:ext>
            </a:extLst>
          </p:cNvPr>
          <p:cNvGraphicFramePr>
            <a:graphicFrameLocks noChangeAspect="1"/>
          </p:cNvGraphicFramePr>
          <p:nvPr>
            <p:extLst>
              <p:ext uri="{D42A27DB-BD31-4B8C-83A1-F6EECF244321}">
                <p14:modId xmlns:p14="http://schemas.microsoft.com/office/powerpoint/2010/main" val="3223066512"/>
              </p:ext>
            </p:extLst>
          </p:nvPr>
        </p:nvGraphicFramePr>
        <p:xfrm>
          <a:off x="7109096" y="3445174"/>
          <a:ext cx="1372327" cy="814908"/>
        </p:xfrm>
        <a:graphic>
          <a:graphicData uri="http://schemas.openxmlformats.org/presentationml/2006/ole">
            <mc:AlternateContent xmlns:mc="http://schemas.openxmlformats.org/markup-compatibility/2006">
              <mc:Choice xmlns:v="urn:schemas-microsoft-com:vml" Requires="v">
                <p:oleObj name="Equation" r:id="rId12" imgW="769596" imgH="457929" progId="Equation.DSMT4">
                  <p:embed/>
                </p:oleObj>
              </mc:Choice>
              <mc:Fallback>
                <p:oleObj name="Equation" r:id="rId12" imgW="769596" imgH="457929" progId="Equation.DSMT4">
                  <p:embed/>
                  <p:pic>
                    <p:nvPicPr>
                      <p:cNvPr id="0" name=""/>
                      <p:cNvPicPr/>
                      <p:nvPr/>
                    </p:nvPicPr>
                    <p:blipFill>
                      <a:blip r:embed="rId13"/>
                      <a:stretch>
                        <a:fillRect/>
                      </a:stretch>
                    </p:blipFill>
                    <p:spPr>
                      <a:xfrm>
                        <a:off x="7109096" y="3445174"/>
                        <a:ext cx="1372327" cy="81490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EE3E3C4B-72B3-2F76-F481-883B099C3F4F}"/>
              </a:ext>
            </a:extLst>
          </p:cNvPr>
          <p:cNvGraphicFramePr>
            <a:graphicFrameLocks noChangeAspect="1"/>
          </p:cNvGraphicFramePr>
          <p:nvPr>
            <p:extLst>
              <p:ext uri="{D42A27DB-BD31-4B8C-83A1-F6EECF244321}">
                <p14:modId xmlns:p14="http://schemas.microsoft.com/office/powerpoint/2010/main" val="3835238259"/>
              </p:ext>
            </p:extLst>
          </p:nvPr>
        </p:nvGraphicFramePr>
        <p:xfrm>
          <a:off x="8909937" y="4058848"/>
          <a:ext cx="2378968" cy="450225"/>
        </p:xfrm>
        <a:graphic>
          <a:graphicData uri="http://schemas.openxmlformats.org/presentationml/2006/ole">
            <mc:AlternateContent xmlns:mc="http://schemas.openxmlformats.org/markup-compatibility/2006">
              <mc:Choice xmlns:v="urn:schemas-microsoft-com:vml" Requires="v">
                <p:oleObj name="Equation" r:id="rId14" imgW="1358913" imgH="257450" progId="Equation.DSMT4">
                  <p:embed/>
                </p:oleObj>
              </mc:Choice>
              <mc:Fallback>
                <p:oleObj name="Equation" r:id="rId14" imgW="1358913" imgH="257450" progId="Equation.DSMT4">
                  <p:embed/>
                  <p:pic>
                    <p:nvPicPr>
                      <p:cNvPr id="0" name=""/>
                      <p:cNvPicPr/>
                      <p:nvPr/>
                    </p:nvPicPr>
                    <p:blipFill>
                      <a:blip r:embed="rId15"/>
                      <a:stretch>
                        <a:fillRect/>
                      </a:stretch>
                    </p:blipFill>
                    <p:spPr>
                      <a:xfrm>
                        <a:off x="8909937" y="4058848"/>
                        <a:ext cx="2378968" cy="450225"/>
                      </a:xfrm>
                      <a:prstGeom prst="rect">
                        <a:avLst/>
                      </a:prstGeom>
                    </p:spPr>
                  </p:pic>
                </p:oleObj>
              </mc:Fallback>
            </mc:AlternateContent>
          </a:graphicData>
        </a:graphic>
      </p:graphicFrame>
      <p:cxnSp>
        <p:nvCxnSpPr>
          <p:cNvPr id="14" name="直接箭头连接符 13">
            <a:extLst>
              <a:ext uri="{FF2B5EF4-FFF2-40B4-BE49-F238E27FC236}">
                <a16:creationId xmlns:a16="http://schemas.microsoft.com/office/drawing/2014/main" id="{3B2FEE71-1EEF-7616-963C-F83A96FBA144}"/>
              </a:ext>
            </a:extLst>
          </p:cNvPr>
          <p:cNvCxnSpPr>
            <a:cxnSpLocks/>
          </p:cNvCxnSpPr>
          <p:nvPr/>
        </p:nvCxnSpPr>
        <p:spPr>
          <a:xfrm>
            <a:off x="6777990" y="4366260"/>
            <a:ext cx="203454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C24FD38-E334-8967-E8C5-45E3542808B4}"/>
              </a:ext>
            </a:extLst>
          </p:cNvPr>
          <p:cNvCxnSpPr>
            <a:cxnSpLocks/>
          </p:cNvCxnSpPr>
          <p:nvPr/>
        </p:nvCxnSpPr>
        <p:spPr>
          <a:xfrm>
            <a:off x="10184043" y="4839888"/>
            <a:ext cx="0" cy="81391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对象 20">
            <a:extLst>
              <a:ext uri="{FF2B5EF4-FFF2-40B4-BE49-F238E27FC236}">
                <a16:creationId xmlns:a16="http://schemas.microsoft.com/office/drawing/2014/main" id="{886BA30F-39DE-8237-93A4-F14D8E5332A8}"/>
              </a:ext>
            </a:extLst>
          </p:cNvPr>
          <p:cNvGraphicFramePr>
            <a:graphicFrameLocks noChangeAspect="1"/>
          </p:cNvGraphicFramePr>
          <p:nvPr>
            <p:extLst>
              <p:ext uri="{D42A27DB-BD31-4B8C-83A1-F6EECF244321}">
                <p14:modId xmlns:p14="http://schemas.microsoft.com/office/powerpoint/2010/main" val="246455581"/>
              </p:ext>
            </p:extLst>
          </p:nvPr>
        </p:nvGraphicFramePr>
        <p:xfrm>
          <a:off x="3609279" y="5777229"/>
          <a:ext cx="7679626" cy="928519"/>
        </p:xfrm>
        <a:graphic>
          <a:graphicData uri="http://schemas.openxmlformats.org/presentationml/2006/ole">
            <mc:AlternateContent xmlns:mc="http://schemas.openxmlformats.org/markup-compatibility/2006">
              <mc:Choice xmlns:v="urn:schemas-microsoft-com:vml" Requires="v">
                <p:oleObj name="Equation" r:id="rId16" imgW="3781542" imgH="457929" progId="Equation.DSMT4">
                  <p:embed/>
                </p:oleObj>
              </mc:Choice>
              <mc:Fallback>
                <p:oleObj name="Equation" r:id="rId16" imgW="3781542" imgH="457929" progId="Equation.DSMT4">
                  <p:embed/>
                  <p:pic>
                    <p:nvPicPr>
                      <p:cNvPr id="0" name=""/>
                      <p:cNvPicPr/>
                      <p:nvPr/>
                    </p:nvPicPr>
                    <p:blipFill>
                      <a:blip r:embed="rId17"/>
                      <a:stretch>
                        <a:fillRect/>
                      </a:stretch>
                    </p:blipFill>
                    <p:spPr>
                      <a:xfrm>
                        <a:off x="3609279" y="5777229"/>
                        <a:ext cx="7679626" cy="928519"/>
                      </a:xfrm>
                      <a:prstGeom prst="rect">
                        <a:avLst/>
                      </a:prstGeom>
                      <a:solidFill>
                        <a:schemeClr val="accent4"/>
                      </a:solidFill>
                    </p:spPr>
                  </p:pic>
                </p:oleObj>
              </mc:Fallback>
            </mc:AlternateContent>
          </a:graphicData>
        </a:graphic>
      </p:graphicFrame>
      <p:sp>
        <p:nvSpPr>
          <p:cNvPr id="22" name="文本框 21">
            <a:extLst>
              <a:ext uri="{FF2B5EF4-FFF2-40B4-BE49-F238E27FC236}">
                <a16:creationId xmlns:a16="http://schemas.microsoft.com/office/drawing/2014/main" id="{E84598A5-BFA2-4D4C-6C7E-93EBD866F387}"/>
              </a:ext>
            </a:extLst>
          </p:cNvPr>
          <p:cNvSpPr txBox="1"/>
          <p:nvPr/>
        </p:nvSpPr>
        <p:spPr>
          <a:xfrm>
            <a:off x="6339781" y="3564428"/>
            <a:ext cx="11093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algn="ctr" eaLnBrk="0" fontAlgn="base" hangingPunct="0">
              <a:spcBef>
                <a:spcPct val="0"/>
              </a:spcBef>
              <a:spcAft>
                <a:spcPct val="0"/>
              </a:spcAft>
              <a:defRPr kern="100">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2400" dirty="0"/>
              <a:t>令</a:t>
            </a:r>
          </a:p>
        </p:txBody>
      </p:sp>
      <p:sp>
        <p:nvSpPr>
          <p:cNvPr id="23" name="文本框 22">
            <a:extLst>
              <a:ext uri="{FF2B5EF4-FFF2-40B4-BE49-F238E27FC236}">
                <a16:creationId xmlns:a16="http://schemas.microsoft.com/office/drawing/2014/main" id="{6233FC1B-6018-CF5D-E61A-DC4A3332C5DF}"/>
              </a:ext>
            </a:extLst>
          </p:cNvPr>
          <p:cNvSpPr txBox="1"/>
          <p:nvPr/>
        </p:nvSpPr>
        <p:spPr>
          <a:xfrm>
            <a:off x="10282353" y="4727652"/>
            <a:ext cx="14619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algn="ctr" eaLnBrk="0" fontAlgn="base" hangingPunct="0">
              <a:spcBef>
                <a:spcPct val="0"/>
              </a:spcBef>
              <a:spcAft>
                <a:spcPct val="0"/>
              </a:spcAft>
              <a:defRPr kern="100">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2400" dirty="0"/>
              <a:t>代入梯度下降公式</a:t>
            </a:r>
          </a:p>
        </p:txBody>
      </p:sp>
    </p:spTree>
    <p:extLst>
      <p:ext uri="{BB962C8B-B14F-4D97-AF65-F5344CB8AC3E}">
        <p14:creationId xmlns:p14="http://schemas.microsoft.com/office/powerpoint/2010/main" val="131207434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731F6-693A-B1CC-D313-B569DAADEB0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87AD7C4-3BD4-64AC-885B-DFAB84A3129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092285F8-8E58-FB38-230A-22F910FA3D9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7" name="图片 16">
            <a:extLst>
              <a:ext uri="{FF2B5EF4-FFF2-40B4-BE49-F238E27FC236}">
                <a16:creationId xmlns:a16="http://schemas.microsoft.com/office/drawing/2014/main" id="{95EA7E41-53F6-6D85-A307-340FCD7D602D}"/>
              </a:ext>
            </a:extLst>
          </p:cNvPr>
          <p:cNvPicPr>
            <a:picLocks noChangeAspect="1"/>
          </p:cNvPicPr>
          <p:nvPr/>
        </p:nvPicPr>
        <p:blipFill>
          <a:blip r:embed="rId3"/>
          <a:stretch>
            <a:fillRect/>
          </a:stretch>
        </p:blipFill>
        <p:spPr>
          <a:xfrm>
            <a:off x="677664" y="1830629"/>
            <a:ext cx="9901065" cy="1909651"/>
          </a:xfrm>
          <a:prstGeom prst="rect">
            <a:avLst/>
          </a:prstGeom>
        </p:spPr>
      </p:pic>
      <p:graphicFrame>
        <p:nvGraphicFramePr>
          <p:cNvPr id="19" name="对象 18">
            <a:extLst>
              <a:ext uri="{FF2B5EF4-FFF2-40B4-BE49-F238E27FC236}">
                <a16:creationId xmlns:a16="http://schemas.microsoft.com/office/drawing/2014/main" id="{2BD22BC5-CF68-85B8-0429-E22920B23D47}"/>
              </a:ext>
            </a:extLst>
          </p:cNvPr>
          <p:cNvGraphicFramePr>
            <a:graphicFrameLocks noChangeAspect="1"/>
          </p:cNvGraphicFramePr>
          <p:nvPr>
            <p:extLst>
              <p:ext uri="{D42A27DB-BD31-4B8C-83A1-F6EECF244321}">
                <p14:modId xmlns:p14="http://schemas.microsoft.com/office/powerpoint/2010/main" val="3556871405"/>
              </p:ext>
            </p:extLst>
          </p:nvPr>
        </p:nvGraphicFramePr>
        <p:xfrm>
          <a:off x="1139414" y="3966240"/>
          <a:ext cx="9123523" cy="1956192"/>
        </p:xfrm>
        <a:graphic>
          <a:graphicData uri="http://schemas.openxmlformats.org/presentationml/2006/ole">
            <mc:AlternateContent xmlns:mc="http://schemas.openxmlformats.org/markup-compatibility/2006">
              <mc:Choice xmlns:v="urn:schemas-microsoft-com:vml" Requires="v">
                <p:oleObj name="Equation" r:id="rId4" imgW="4494397" imgH="963454" progId="Equation.DSMT4">
                  <p:embed/>
                </p:oleObj>
              </mc:Choice>
              <mc:Fallback>
                <p:oleObj name="Equation" r:id="rId4" imgW="4494397" imgH="963454" progId="Equation.DSMT4">
                  <p:embed/>
                  <p:pic>
                    <p:nvPicPr>
                      <p:cNvPr id="19" name="对象 18">
                        <a:extLst>
                          <a:ext uri="{FF2B5EF4-FFF2-40B4-BE49-F238E27FC236}">
                            <a16:creationId xmlns:a16="http://schemas.microsoft.com/office/drawing/2014/main" id="{6FD93DE4-6873-165A-586E-01611B013011}"/>
                          </a:ext>
                        </a:extLst>
                      </p:cNvPr>
                      <p:cNvPicPr/>
                      <p:nvPr/>
                    </p:nvPicPr>
                    <p:blipFill>
                      <a:blip r:embed="rId5"/>
                      <a:stretch>
                        <a:fillRect/>
                      </a:stretch>
                    </p:blipFill>
                    <p:spPr>
                      <a:xfrm>
                        <a:off x="1139414" y="3966240"/>
                        <a:ext cx="9123523" cy="1956192"/>
                      </a:xfrm>
                      <a:prstGeom prst="rect">
                        <a:avLst/>
                      </a:prstGeom>
                    </p:spPr>
                  </p:pic>
                </p:oleObj>
              </mc:Fallback>
            </mc:AlternateContent>
          </a:graphicData>
        </a:graphic>
      </p:graphicFrame>
      <p:sp>
        <p:nvSpPr>
          <p:cNvPr id="4" name="矩形: 圆角 55">
            <a:extLst>
              <a:ext uri="{FF2B5EF4-FFF2-40B4-BE49-F238E27FC236}">
                <a16:creationId xmlns:a16="http://schemas.microsoft.com/office/drawing/2014/main" id="{84F11789-F69C-EF84-8DC5-A54711BFE3B8}"/>
              </a:ext>
            </a:extLst>
          </p:cNvPr>
          <p:cNvSpPr/>
          <p:nvPr/>
        </p:nvSpPr>
        <p:spPr>
          <a:xfrm>
            <a:off x="677664" y="1019905"/>
            <a:ext cx="1882140"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隐藏</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层</a:t>
            </a:r>
          </a:p>
        </p:txBody>
      </p:sp>
    </p:spTree>
    <p:extLst>
      <p:ext uri="{BB962C8B-B14F-4D97-AF65-F5344CB8AC3E}">
        <p14:creationId xmlns:p14="http://schemas.microsoft.com/office/powerpoint/2010/main" val="38330497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13EFA-5B98-9CEC-178B-62EEE4CB93D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EF66EAF-FEB3-D63E-4C79-714FB1D4038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误差反向传播</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(BP)</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a:t>
            </a:r>
          </a:p>
        </p:txBody>
      </p:sp>
      <p:sp>
        <p:nvSpPr>
          <p:cNvPr id="15" name="Rectangle 3">
            <a:extLst>
              <a:ext uri="{FF2B5EF4-FFF2-40B4-BE49-F238E27FC236}">
                <a16:creationId xmlns:a16="http://schemas.microsoft.com/office/drawing/2014/main" id="{15D5DAB9-5A3D-6E56-29BC-E4AA0CE4745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cxnSp>
        <p:nvCxnSpPr>
          <p:cNvPr id="14" name="直接箭头连接符 13">
            <a:extLst>
              <a:ext uri="{FF2B5EF4-FFF2-40B4-BE49-F238E27FC236}">
                <a16:creationId xmlns:a16="http://schemas.microsoft.com/office/drawing/2014/main" id="{157BCF4A-537F-AEC1-3C2F-A3523A46EF21}"/>
              </a:ext>
            </a:extLst>
          </p:cNvPr>
          <p:cNvCxnSpPr>
            <a:cxnSpLocks/>
          </p:cNvCxnSpPr>
          <p:nvPr/>
        </p:nvCxnSpPr>
        <p:spPr>
          <a:xfrm>
            <a:off x="5315512" y="3118767"/>
            <a:ext cx="185798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53906993-0947-DCDA-E25D-2FA29FC92FCB}"/>
              </a:ext>
            </a:extLst>
          </p:cNvPr>
          <p:cNvSpPr txBox="1"/>
          <p:nvPr/>
        </p:nvSpPr>
        <p:spPr>
          <a:xfrm>
            <a:off x="5012945" y="1386517"/>
            <a:ext cx="22512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algn="ctr" eaLnBrk="0" fontAlgn="base" hangingPunct="0">
              <a:spcBef>
                <a:spcPct val="0"/>
              </a:spcBef>
              <a:spcAft>
                <a:spcPct val="0"/>
              </a:spcAft>
              <a:defRPr kern="100">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2400" dirty="0"/>
              <a:t>已知隐藏层神经元</a:t>
            </a:r>
            <a:r>
              <a:rPr lang="en-US" altLang="zh-CN" sz="2400" i="1" dirty="0"/>
              <a:t>j</a:t>
            </a:r>
            <a:r>
              <a:rPr lang="zh-CN" altLang="en-US" sz="2400" dirty="0"/>
              <a:t>误差为</a:t>
            </a:r>
          </a:p>
        </p:txBody>
      </p:sp>
      <p:graphicFrame>
        <p:nvGraphicFramePr>
          <p:cNvPr id="19" name="对象 18">
            <a:extLst>
              <a:ext uri="{FF2B5EF4-FFF2-40B4-BE49-F238E27FC236}">
                <a16:creationId xmlns:a16="http://schemas.microsoft.com/office/drawing/2014/main" id="{6FD93DE4-6873-165A-586E-01611B013011}"/>
              </a:ext>
            </a:extLst>
          </p:cNvPr>
          <p:cNvGraphicFramePr>
            <a:graphicFrameLocks noChangeAspect="1"/>
          </p:cNvGraphicFramePr>
          <p:nvPr>
            <p:extLst>
              <p:ext uri="{D42A27DB-BD31-4B8C-83A1-F6EECF244321}">
                <p14:modId xmlns:p14="http://schemas.microsoft.com/office/powerpoint/2010/main" val="652748528"/>
              </p:ext>
            </p:extLst>
          </p:nvPr>
        </p:nvGraphicFramePr>
        <p:xfrm>
          <a:off x="476935" y="2435065"/>
          <a:ext cx="4450899" cy="1059631"/>
        </p:xfrm>
        <a:graphic>
          <a:graphicData uri="http://schemas.openxmlformats.org/presentationml/2006/ole">
            <mc:AlternateContent xmlns:mc="http://schemas.openxmlformats.org/markup-compatibility/2006">
              <mc:Choice xmlns:v="urn:schemas-microsoft-com:vml" Requires="v">
                <p:oleObj name="Equation" r:id="rId3" imgW="1866600" imgH="444240" progId="Equation.DSMT4">
                  <p:embed/>
                </p:oleObj>
              </mc:Choice>
              <mc:Fallback>
                <p:oleObj name="Equation" r:id="rId3" imgW="1866600" imgH="444240" progId="Equation.DSMT4">
                  <p:embed/>
                  <p:pic>
                    <p:nvPicPr>
                      <p:cNvPr id="0" name=""/>
                      <p:cNvPicPr/>
                      <p:nvPr/>
                    </p:nvPicPr>
                    <p:blipFill>
                      <a:blip r:embed="rId4"/>
                      <a:stretch>
                        <a:fillRect/>
                      </a:stretch>
                    </p:blipFill>
                    <p:spPr>
                      <a:xfrm>
                        <a:off x="476935" y="2435065"/>
                        <a:ext cx="4450899" cy="1059631"/>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4BBF699E-EE1B-C5B2-646D-2219DF9C29A0}"/>
              </a:ext>
            </a:extLst>
          </p:cNvPr>
          <p:cNvGraphicFramePr>
            <a:graphicFrameLocks noChangeAspect="1"/>
          </p:cNvGraphicFramePr>
          <p:nvPr>
            <p:extLst>
              <p:ext uri="{D42A27DB-BD31-4B8C-83A1-F6EECF244321}">
                <p14:modId xmlns:p14="http://schemas.microsoft.com/office/powerpoint/2010/main" val="937741618"/>
              </p:ext>
            </p:extLst>
          </p:nvPr>
        </p:nvGraphicFramePr>
        <p:xfrm>
          <a:off x="5848113" y="2180322"/>
          <a:ext cx="580885" cy="682837"/>
        </p:xfrm>
        <a:graphic>
          <a:graphicData uri="http://schemas.openxmlformats.org/presentationml/2006/ole">
            <mc:AlternateContent xmlns:mc="http://schemas.openxmlformats.org/markup-compatibility/2006">
              <mc:Choice xmlns:v="urn:schemas-microsoft-com:vml" Requires="v">
                <p:oleObj name="Equation" r:id="rId5" imgW="389646" imgH="457929" progId="Equation.DSMT4">
                  <p:embed/>
                </p:oleObj>
              </mc:Choice>
              <mc:Fallback>
                <p:oleObj name="Equation" r:id="rId5" imgW="389646" imgH="457929" progId="Equation.DSMT4">
                  <p:embed/>
                  <p:pic>
                    <p:nvPicPr>
                      <p:cNvPr id="0" name=""/>
                      <p:cNvPicPr/>
                      <p:nvPr/>
                    </p:nvPicPr>
                    <p:blipFill>
                      <a:blip r:embed="rId6"/>
                      <a:stretch>
                        <a:fillRect/>
                      </a:stretch>
                    </p:blipFill>
                    <p:spPr>
                      <a:xfrm>
                        <a:off x="5848113" y="2180322"/>
                        <a:ext cx="580885" cy="682837"/>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F5ECE6F9-81BF-5359-B79B-B2A96B084343}"/>
              </a:ext>
            </a:extLst>
          </p:cNvPr>
          <p:cNvGraphicFramePr>
            <a:graphicFrameLocks noChangeAspect="1"/>
          </p:cNvGraphicFramePr>
          <p:nvPr>
            <p:extLst>
              <p:ext uri="{D42A27DB-BD31-4B8C-83A1-F6EECF244321}">
                <p14:modId xmlns:p14="http://schemas.microsoft.com/office/powerpoint/2010/main" val="808075288"/>
              </p:ext>
            </p:extLst>
          </p:nvPr>
        </p:nvGraphicFramePr>
        <p:xfrm>
          <a:off x="7492846" y="2777348"/>
          <a:ext cx="3271124" cy="682839"/>
        </p:xfrm>
        <a:graphic>
          <a:graphicData uri="http://schemas.openxmlformats.org/presentationml/2006/ole">
            <mc:AlternateContent xmlns:mc="http://schemas.openxmlformats.org/markup-compatibility/2006">
              <mc:Choice xmlns:v="urn:schemas-microsoft-com:vml" Requires="v">
                <p:oleObj name="Equation" r:id="rId7" imgW="1596292" imgH="333892" progId="Equation.DSMT4">
                  <p:embed/>
                </p:oleObj>
              </mc:Choice>
              <mc:Fallback>
                <p:oleObj name="Equation" r:id="rId7" imgW="1596292" imgH="333892" progId="Equation.DSMT4">
                  <p:embed/>
                  <p:pic>
                    <p:nvPicPr>
                      <p:cNvPr id="0" name=""/>
                      <p:cNvPicPr/>
                      <p:nvPr/>
                    </p:nvPicPr>
                    <p:blipFill>
                      <a:blip r:embed="rId8"/>
                      <a:stretch>
                        <a:fillRect/>
                      </a:stretch>
                    </p:blipFill>
                    <p:spPr>
                      <a:xfrm>
                        <a:off x="7492846" y="2777348"/>
                        <a:ext cx="3271124" cy="682839"/>
                      </a:xfrm>
                      <a:prstGeom prst="rect">
                        <a:avLst/>
                      </a:prstGeom>
                    </p:spPr>
                  </p:pic>
                </p:oleObj>
              </mc:Fallback>
            </mc:AlternateContent>
          </a:graphicData>
        </a:graphic>
      </p:graphicFrame>
      <p:sp>
        <p:nvSpPr>
          <p:cNvPr id="36" name="文本框 35">
            <a:extLst>
              <a:ext uri="{FF2B5EF4-FFF2-40B4-BE49-F238E27FC236}">
                <a16:creationId xmlns:a16="http://schemas.microsoft.com/office/drawing/2014/main" id="{18CE32FF-D45C-2C2A-B793-68E0E5AEEEE8}"/>
              </a:ext>
            </a:extLst>
          </p:cNvPr>
          <p:cNvSpPr txBox="1"/>
          <p:nvPr/>
        </p:nvSpPr>
        <p:spPr>
          <a:xfrm>
            <a:off x="514668" y="4020021"/>
            <a:ext cx="6120764" cy="461665"/>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因此，权重的更新公式为：</a:t>
            </a:r>
          </a:p>
        </p:txBody>
      </p:sp>
      <p:graphicFrame>
        <p:nvGraphicFramePr>
          <p:cNvPr id="37" name="对象 36">
            <a:extLst>
              <a:ext uri="{FF2B5EF4-FFF2-40B4-BE49-F238E27FC236}">
                <a16:creationId xmlns:a16="http://schemas.microsoft.com/office/drawing/2014/main" id="{D24AB454-8369-AEE2-8ED5-06106F2F5EAF}"/>
              </a:ext>
            </a:extLst>
          </p:cNvPr>
          <p:cNvGraphicFramePr>
            <a:graphicFrameLocks noChangeAspect="1"/>
          </p:cNvGraphicFramePr>
          <p:nvPr>
            <p:extLst>
              <p:ext uri="{D42A27DB-BD31-4B8C-83A1-F6EECF244321}">
                <p14:modId xmlns:p14="http://schemas.microsoft.com/office/powerpoint/2010/main" val="4003528627"/>
              </p:ext>
            </p:extLst>
          </p:nvPr>
        </p:nvGraphicFramePr>
        <p:xfrm>
          <a:off x="3775124" y="4714105"/>
          <a:ext cx="4145978" cy="937900"/>
        </p:xfrm>
        <a:graphic>
          <a:graphicData uri="http://schemas.openxmlformats.org/presentationml/2006/ole">
            <mc:AlternateContent xmlns:mc="http://schemas.openxmlformats.org/markup-compatibility/2006">
              <mc:Choice xmlns:v="urn:schemas-microsoft-com:vml" Requires="v">
                <p:oleObj name="Equation" r:id="rId9" imgW="1985938" imgH="448554" progId="Equation.DSMT4">
                  <p:embed/>
                </p:oleObj>
              </mc:Choice>
              <mc:Fallback>
                <p:oleObj name="Equation" r:id="rId9" imgW="1985938" imgH="448554" progId="Equation.DSMT4">
                  <p:embed/>
                  <p:pic>
                    <p:nvPicPr>
                      <p:cNvPr id="0" name=""/>
                      <p:cNvPicPr/>
                      <p:nvPr/>
                    </p:nvPicPr>
                    <p:blipFill>
                      <a:blip r:embed="rId10"/>
                      <a:stretch>
                        <a:fillRect/>
                      </a:stretch>
                    </p:blipFill>
                    <p:spPr>
                      <a:xfrm>
                        <a:off x="3775124" y="4714105"/>
                        <a:ext cx="4145978" cy="937900"/>
                      </a:xfrm>
                      <a:prstGeom prst="rect">
                        <a:avLst/>
                      </a:prstGeom>
                      <a:solidFill>
                        <a:schemeClr val="accent4"/>
                      </a:solidFill>
                    </p:spPr>
                  </p:pic>
                </p:oleObj>
              </mc:Fallback>
            </mc:AlternateContent>
          </a:graphicData>
        </a:graphic>
      </p:graphicFrame>
      <p:sp>
        <p:nvSpPr>
          <p:cNvPr id="39" name="文本框 38">
            <a:extLst>
              <a:ext uri="{FF2B5EF4-FFF2-40B4-BE49-F238E27FC236}">
                <a16:creationId xmlns:a16="http://schemas.microsoft.com/office/drawing/2014/main" id="{8B345716-5C19-C12F-B17C-D8415AFE6A45}"/>
              </a:ext>
            </a:extLst>
          </p:cNvPr>
          <p:cNvSpPr txBox="1"/>
          <p:nvPr/>
        </p:nvSpPr>
        <p:spPr>
          <a:xfrm>
            <a:off x="526914" y="5859313"/>
            <a:ext cx="10948806" cy="830997"/>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通过逆误差传播算法，神经网络能够根据输出结果对参数进行调整，从而学习到输入数据的复杂特征和模式。</a:t>
            </a:r>
          </a:p>
        </p:txBody>
      </p:sp>
      <p:sp>
        <p:nvSpPr>
          <p:cNvPr id="4" name="矩形: 圆角 55">
            <a:extLst>
              <a:ext uri="{FF2B5EF4-FFF2-40B4-BE49-F238E27FC236}">
                <a16:creationId xmlns:a16="http://schemas.microsoft.com/office/drawing/2014/main" id="{E5A3AF89-9FC3-E6E6-AC20-85E9375D8F61}"/>
              </a:ext>
            </a:extLst>
          </p:cNvPr>
          <p:cNvSpPr/>
          <p:nvPr/>
        </p:nvSpPr>
        <p:spPr>
          <a:xfrm>
            <a:off x="677664" y="1019905"/>
            <a:ext cx="1882140"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隐藏</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层</a:t>
            </a:r>
          </a:p>
        </p:txBody>
      </p:sp>
    </p:spTree>
    <p:extLst>
      <p:ext uri="{BB962C8B-B14F-4D97-AF65-F5344CB8AC3E}">
        <p14:creationId xmlns:p14="http://schemas.microsoft.com/office/powerpoint/2010/main" val="17916278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2346-7D76-33A0-D102-DDFB143D008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8B90C97-3519-1BA2-4B0D-2D6A49EA8CF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深度神经网络</a:t>
            </a:r>
          </a:p>
        </p:txBody>
      </p:sp>
      <p:sp>
        <p:nvSpPr>
          <p:cNvPr id="15" name="Rectangle 3">
            <a:extLst>
              <a:ext uri="{FF2B5EF4-FFF2-40B4-BE49-F238E27FC236}">
                <a16:creationId xmlns:a16="http://schemas.microsoft.com/office/drawing/2014/main" id="{81D88A90-0867-475F-7534-BBB25AAD1E3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2" name="文本框 71">
            <a:extLst>
              <a:ext uri="{FF2B5EF4-FFF2-40B4-BE49-F238E27FC236}">
                <a16:creationId xmlns:a16="http://schemas.microsoft.com/office/drawing/2014/main" id="{7E089529-681B-DB0C-15F9-765EA2108C46}"/>
              </a:ext>
            </a:extLst>
          </p:cNvPr>
          <p:cNvSpPr txBox="1"/>
          <p:nvPr/>
        </p:nvSpPr>
        <p:spPr>
          <a:xfrm>
            <a:off x="242882" y="1600075"/>
            <a:ext cx="2481068" cy="4401205"/>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随着数据规模和网络复杂度的增加，传统的神经网络在处理大规模数据和复杂任务时面临着挑战。为了应对这些挑战，深度神经网络应运而生。深度神经网络通过引入更多的隐藏层和参数，能更有效地学习和表示复杂的数据模式，从而提高其在大规模数据和复杂任务下的性能表现。</a:t>
            </a:r>
          </a:p>
        </p:txBody>
      </p:sp>
      <p:pic>
        <p:nvPicPr>
          <p:cNvPr id="4" name="图片 3">
            <a:extLst>
              <a:ext uri="{FF2B5EF4-FFF2-40B4-BE49-F238E27FC236}">
                <a16:creationId xmlns:a16="http://schemas.microsoft.com/office/drawing/2014/main" id="{96FA63BF-F859-1DDE-D45D-A875B2D2FF5F}"/>
              </a:ext>
            </a:extLst>
          </p:cNvPr>
          <p:cNvPicPr>
            <a:picLocks noChangeAspect="1"/>
          </p:cNvPicPr>
          <p:nvPr/>
        </p:nvPicPr>
        <p:blipFill>
          <a:blip r:embed="rId3"/>
          <a:stretch>
            <a:fillRect/>
          </a:stretch>
        </p:blipFill>
        <p:spPr>
          <a:xfrm>
            <a:off x="2781700" y="1408939"/>
            <a:ext cx="9240501" cy="4783475"/>
          </a:xfrm>
          <a:prstGeom prst="rect">
            <a:avLst/>
          </a:prstGeom>
        </p:spPr>
      </p:pic>
    </p:spTree>
    <p:extLst>
      <p:ext uri="{BB962C8B-B14F-4D97-AF65-F5344CB8AC3E}">
        <p14:creationId xmlns:p14="http://schemas.microsoft.com/office/powerpoint/2010/main" val="26336332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A007D-16AF-8931-A523-9E837C994A6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B10B048-AF7E-44E0-6522-8347048A2B3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实践案例：基于面部特征的性别分类</a:t>
            </a:r>
          </a:p>
        </p:txBody>
      </p:sp>
      <p:sp>
        <p:nvSpPr>
          <p:cNvPr id="15" name="Rectangle 3">
            <a:extLst>
              <a:ext uri="{FF2B5EF4-FFF2-40B4-BE49-F238E27FC236}">
                <a16:creationId xmlns:a16="http://schemas.microsoft.com/office/drawing/2014/main" id="{981312ED-98C6-6D32-C0F6-2D8299CE916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2" name="文本框 71">
            <a:extLst>
              <a:ext uri="{FF2B5EF4-FFF2-40B4-BE49-F238E27FC236}">
                <a16:creationId xmlns:a16="http://schemas.microsoft.com/office/drawing/2014/main" id="{78FC905A-CE15-076B-3D72-0F29EF4E05B1}"/>
              </a:ext>
            </a:extLst>
          </p:cNvPr>
          <p:cNvSpPr txBox="1"/>
          <p:nvPr/>
        </p:nvSpPr>
        <p:spPr>
          <a:xfrm>
            <a:off x="541263" y="1308911"/>
            <a:ext cx="11386843" cy="1015663"/>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本节利用神经网络算法对性别进行分类，数据集由部分男女性面部特征和性别标签组成，共包含</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5001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个样本，具体字段包括：是否长短发、前额宽度、前额高度、是否鼻宽、是否鼻长、是否嘴唇薄、鼻子到嘴唇距离是否长和性别。</a:t>
            </a:r>
          </a:p>
        </p:txBody>
      </p:sp>
      <p:pic>
        <p:nvPicPr>
          <p:cNvPr id="5" name="图片 4">
            <a:extLst>
              <a:ext uri="{FF2B5EF4-FFF2-40B4-BE49-F238E27FC236}">
                <a16:creationId xmlns:a16="http://schemas.microsoft.com/office/drawing/2014/main" id="{444BB394-C82A-6733-72EE-86B98F589EA2}"/>
              </a:ext>
            </a:extLst>
          </p:cNvPr>
          <p:cNvPicPr>
            <a:picLocks noChangeAspect="1"/>
          </p:cNvPicPr>
          <p:nvPr/>
        </p:nvPicPr>
        <p:blipFill>
          <a:blip r:embed="rId3"/>
          <a:stretch>
            <a:fillRect/>
          </a:stretch>
        </p:blipFill>
        <p:spPr>
          <a:xfrm>
            <a:off x="0" y="2459038"/>
            <a:ext cx="12192000" cy="3787977"/>
          </a:xfrm>
          <a:prstGeom prst="rect">
            <a:avLst/>
          </a:prstGeom>
        </p:spPr>
      </p:pic>
    </p:spTree>
    <p:extLst>
      <p:ext uri="{BB962C8B-B14F-4D97-AF65-F5344CB8AC3E}">
        <p14:creationId xmlns:p14="http://schemas.microsoft.com/office/powerpoint/2010/main" val="112311220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78245-098B-1866-89DE-295BE8AD505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0A0FBE8-3C00-CF35-13F0-AC9E23915EC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实践案例：基于面部特征的性别分类</a:t>
            </a:r>
          </a:p>
        </p:txBody>
      </p:sp>
      <p:sp>
        <p:nvSpPr>
          <p:cNvPr id="15" name="Rectangle 3">
            <a:extLst>
              <a:ext uri="{FF2B5EF4-FFF2-40B4-BE49-F238E27FC236}">
                <a16:creationId xmlns:a16="http://schemas.microsoft.com/office/drawing/2014/main" id="{BFC9DE56-63AB-8744-D2BD-E9CBE0187C4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2" name="文本框 71">
            <a:extLst>
              <a:ext uri="{FF2B5EF4-FFF2-40B4-BE49-F238E27FC236}">
                <a16:creationId xmlns:a16="http://schemas.microsoft.com/office/drawing/2014/main" id="{7E724FE8-E51F-2D17-EE95-A9D1017CD23C}"/>
              </a:ext>
            </a:extLst>
          </p:cNvPr>
          <p:cNvSpPr txBox="1"/>
          <p:nvPr/>
        </p:nvSpPr>
        <p:spPr>
          <a:xfrm>
            <a:off x="271756" y="1318536"/>
            <a:ext cx="11524004" cy="1323439"/>
          </a:xfrm>
          <a:prstGeom prst="rect">
            <a:avLst/>
          </a:prstGeom>
          <a:noFill/>
        </p:spPr>
        <p:txBody>
          <a:bodyPr wrap="square">
            <a:spAutoFit/>
          </a:bodyPr>
          <a:lstStyle/>
          <a:p>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数据预处理。</a:t>
            </a:r>
            <a:endPar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“性别”特征是离散特征，使用数值编码的方式将其转换为数值特征。</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scikit-learn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库中</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preprocessing</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模块的</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LabelEncoder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类用于对离散特征进行编码。处理后，“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Male”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被编码为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Female”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被编码为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12" name="图片 11">
            <a:extLst>
              <a:ext uri="{FF2B5EF4-FFF2-40B4-BE49-F238E27FC236}">
                <a16:creationId xmlns:a16="http://schemas.microsoft.com/office/drawing/2014/main" id="{5E949919-D112-EA87-8C9F-0FDA8B96EDDD}"/>
              </a:ext>
            </a:extLst>
          </p:cNvPr>
          <p:cNvPicPr>
            <a:picLocks noChangeAspect="1"/>
          </p:cNvPicPr>
          <p:nvPr/>
        </p:nvPicPr>
        <p:blipFill>
          <a:blip r:embed="rId3"/>
          <a:stretch>
            <a:fillRect/>
          </a:stretch>
        </p:blipFill>
        <p:spPr>
          <a:xfrm>
            <a:off x="1482990" y="2926080"/>
            <a:ext cx="8825667" cy="3718805"/>
          </a:xfrm>
          <a:prstGeom prst="rect">
            <a:avLst/>
          </a:prstGeom>
        </p:spPr>
      </p:pic>
    </p:spTree>
    <p:extLst>
      <p:ext uri="{BB962C8B-B14F-4D97-AF65-F5344CB8AC3E}">
        <p14:creationId xmlns:p14="http://schemas.microsoft.com/office/powerpoint/2010/main" val="311268173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A0C0-394C-3E1D-DDF2-084AB96D8EC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A768188-FBFC-CD52-ECCA-90EEA36C56A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实践案例：基于面部特征的性别分类</a:t>
            </a:r>
          </a:p>
        </p:txBody>
      </p:sp>
      <p:sp>
        <p:nvSpPr>
          <p:cNvPr id="15" name="Rectangle 3">
            <a:extLst>
              <a:ext uri="{FF2B5EF4-FFF2-40B4-BE49-F238E27FC236}">
                <a16:creationId xmlns:a16="http://schemas.microsoft.com/office/drawing/2014/main" id="{EA9B3170-9237-8996-7581-289CA57F889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2" name="文本框 71">
            <a:extLst>
              <a:ext uri="{FF2B5EF4-FFF2-40B4-BE49-F238E27FC236}">
                <a16:creationId xmlns:a16="http://schemas.microsoft.com/office/drawing/2014/main" id="{5CD68ED6-F66F-BB40-0023-A27354149C03}"/>
              </a:ext>
            </a:extLst>
          </p:cNvPr>
          <p:cNvSpPr txBox="1"/>
          <p:nvPr/>
        </p:nvSpPr>
        <p:spPr>
          <a:xfrm>
            <a:off x="179156" y="1104463"/>
            <a:ext cx="4296591" cy="5416868"/>
          </a:xfrm>
          <a:prstGeom prst="rect">
            <a:avLst/>
          </a:prstGeom>
          <a:noFill/>
        </p:spPr>
        <p:txBody>
          <a:bodyPr wrap="square">
            <a:spAutoFit/>
          </a:bodyPr>
          <a:lstStyle/>
          <a:p>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模型训练。</a:t>
            </a:r>
            <a:endPar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Keras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库中</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models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模块的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Sequential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类构建一个全连接神经网络。</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Sequential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模型是</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Keras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中的顺序模型，它是一种单输入、单输出的模型，支持逐个添加神经网络层，用于构建多个网络层的简单堆叠模型。在本例中，首先调用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Sequential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构建模型；第二步，使用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Dense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层添加隐藏层，其中</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units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参数代表隐藏层中神经元的数量，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activation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参数代表激活函数，</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input_dim</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参数代表输入数据的维数；第三步，使用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compile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方法编译模型，</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loss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参数代表损失函数，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optimizer</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参数代表优化器，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metrics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参数代表评估指标；第四步，使用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fit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方法训练模型。本例中测试了不同隐藏层的神经元数量，以及不同隐藏层数量下的预测性能，模型评价指标使用准确率、精准率、召回率和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得分。</a:t>
            </a:r>
          </a:p>
        </p:txBody>
      </p:sp>
      <p:pic>
        <p:nvPicPr>
          <p:cNvPr id="5" name="图片 4">
            <a:extLst>
              <a:ext uri="{FF2B5EF4-FFF2-40B4-BE49-F238E27FC236}">
                <a16:creationId xmlns:a16="http://schemas.microsoft.com/office/drawing/2014/main" id="{870CBFBB-DED7-1418-82E6-8785C681D9A6}"/>
              </a:ext>
            </a:extLst>
          </p:cNvPr>
          <p:cNvPicPr>
            <a:picLocks noChangeAspect="1"/>
          </p:cNvPicPr>
          <p:nvPr/>
        </p:nvPicPr>
        <p:blipFill>
          <a:blip r:embed="rId3"/>
          <a:stretch>
            <a:fillRect/>
          </a:stretch>
        </p:blipFill>
        <p:spPr>
          <a:xfrm>
            <a:off x="4689671" y="1862849"/>
            <a:ext cx="7242447" cy="4068927"/>
          </a:xfrm>
          <a:prstGeom prst="rect">
            <a:avLst/>
          </a:prstGeom>
        </p:spPr>
      </p:pic>
    </p:spTree>
    <p:extLst>
      <p:ext uri="{BB962C8B-B14F-4D97-AF65-F5344CB8AC3E}">
        <p14:creationId xmlns:p14="http://schemas.microsoft.com/office/powerpoint/2010/main" val="2812655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EAE8E-D2EF-D62D-D598-8B756F37D6A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1D478C0-323B-442A-EE9F-38867B74C25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实践案例：基于面部特征的性别分类</a:t>
            </a:r>
          </a:p>
        </p:txBody>
      </p:sp>
      <p:sp>
        <p:nvSpPr>
          <p:cNvPr id="15" name="Rectangle 3">
            <a:extLst>
              <a:ext uri="{FF2B5EF4-FFF2-40B4-BE49-F238E27FC236}">
                <a16:creationId xmlns:a16="http://schemas.microsoft.com/office/drawing/2014/main" id="{2FD01EBC-A541-B1E6-9057-7EF560CCF2F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图形 1">
            <a:extLst>
              <a:ext uri="{FF2B5EF4-FFF2-40B4-BE49-F238E27FC236}">
                <a16:creationId xmlns:a16="http://schemas.microsoft.com/office/drawing/2014/main" id="{D103E3DE-B1E6-F9AE-D30C-E543930415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58062" y="1137714"/>
            <a:ext cx="8149476" cy="4074738"/>
          </a:xfrm>
          <a:prstGeom prst="rect">
            <a:avLst/>
          </a:prstGeom>
        </p:spPr>
      </p:pic>
      <p:sp>
        <p:nvSpPr>
          <p:cNvPr id="8" name="文本框 7">
            <a:extLst>
              <a:ext uri="{FF2B5EF4-FFF2-40B4-BE49-F238E27FC236}">
                <a16:creationId xmlns:a16="http://schemas.microsoft.com/office/drawing/2014/main" id="{23BE4C92-17B2-6A20-9A0E-6A25E0C3268B}"/>
              </a:ext>
            </a:extLst>
          </p:cNvPr>
          <p:cNvSpPr txBox="1"/>
          <p:nvPr/>
        </p:nvSpPr>
        <p:spPr>
          <a:xfrm>
            <a:off x="606907" y="5517206"/>
            <a:ext cx="10794919" cy="1015663"/>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当隐藏层的数量由</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递增到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，每层的节点数量均设定为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时，可发现隐藏层数量为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28</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层时，模型性能骤降，准确率为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0.5</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，与随机猜想无异。这是因为隐藏层数量过多，导致模型过拟合。同时，结果显示，模型训练的时间也随着隐藏层数量的增加而线性增加。</a:t>
            </a:r>
          </a:p>
        </p:txBody>
      </p:sp>
    </p:spTree>
    <p:extLst>
      <p:ext uri="{BB962C8B-B14F-4D97-AF65-F5344CB8AC3E}">
        <p14:creationId xmlns:p14="http://schemas.microsoft.com/office/powerpoint/2010/main" val="127195013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5107</TotalTime>
  <Words>1419</Words>
  <Application>Microsoft Office PowerPoint</Application>
  <PresentationFormat>宽屏</PresentationFormat>
  <Paragraphs>112</Paragraphs>
  <Slides>29</Slides>
  <Notes>29</Notes>
  <HiddenSlides>0</HiddenSlides>
  <MMClips>0</MMClips>
  <ScaleCrop>false</ScaleCrop>
  <HeadingPairs>
    <vt:vector size="8" baseType="variant">
      <vt:variant>
        <vt:lpstr>已用的字体</vt:lpstr>
      </vt:variant>
      <vt:variant>
        <vt:i4>9</vt:i4>
      </vt:variant>
      <vt:variant>
        <vt:lpstr>主题</vt:lpstr>
      </vt:variant>
      <vt:variant>
        <vt:i4>12</vt:i4>
      </vt:variant>
      <vt:variant>
        <vt:lpstr>嵌入 OLE 服务器</vt:lpstr>
      </vt:variant>
      <vt:variant>
        <vt:i4>2</vt:i4>
      </vt:variant>
      <vt:variant>
        <vt:lpstr>幻灯片标题</vt:lpstr>
      </vt:variant>
      <vt:variant>
        <vt:i4>29</vt:i4>
      </vt:variant>
    </vt:vector>
  </HeadingPairs>
  <TitlesOfParts>
    <vt:vector size="52" baseType="lpstr">
      <vt:lpstr>等线</vt:lpstr>
      <vt:lpstr>华光综艺_CNKI</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Mengning Wang</cp:lastModifiedBy>
  <cp:revision>2906</cp:revision>
  <dcterms:created xsi:type="dcterms:W3CDTF">2022-05-23T09:13:00Z</dcterms:created>
  <dcterms:modified xsi:type="dcterms:W3CDTF">2025-04-15T12:49:51Z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