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7" r:id="rId2"/>
    <p:sldId id="345" r:id="rId3"/>
    <p:sldId id="346" r:id="rId4"/>
    <p:sldId id="347" r:id="rId5"/>
    <p:sldId id="387" r:id="rId6"/>
    <p:sldId id="348" r:id="rId7"/>
    <p:sldId id="388" r:id="rId8"/>
    <p:sldId id="349" r:id="rId9"/>
    <p:sldId id="389" r:id="rId10"/>
    <p:sldId id="390" r:id="rId11"/>
    <p:sldId id="351" r:id="rId12"/>
    <p:sldId id="353" r:id="rId13"/>
    <p:sldId id="352" r:id="rId14"/>
    <p:sldId id="391" r:id="rId15"/>
    <p:sldId id="361" r:id="rId16"/>
    <p:sldId id="15502"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4" userDrawn="1">
          <p15:clr>
            <a:srgbClr val="A4A3A4"/>
          </p15:clr>
        </p15:guide>
        <p15:guide id="2" pos="387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7" autoAdjust="0"/>
    <p:restoredTop sz="94660"/>
  </p:normalViewPr>
  <p:slideViewPr>
    <p:cSldViewPr snapToGrid="0" showGuides="1">
      <p:cViewPr varScale="1">
        <p:scale>
          <a:sx n="83" d="100"/>
          <a:sy n="83" d="100"/>
        </p:scale>
        <p:origin x="614" y="48"/>
      </p:cViewPr>
      <p:guideLst>
        <p:guide orient="horz" pos="2134"/>
        <p:guide pos="3874"/>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2025/4/18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96F833C-0931-4030-8352-AFD9186768B5}"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4</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938F7-CA6B-1199-8DFF-D71362F0D9D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88AECC5-21FA-C396-037E-5E7C1314F95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25E2ECE-EF86-2AC4-29C4-2EECCAD61E4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a:extLst>
              <a:ext uri="{FF2B5EF4-FFF2-40B4-BE49-F238E27FC236}">
                <a16:creationId xmlns:a16="http://schemas.microsoft.com/office/drawing/2014/main" id="{D90F1E4A-42D9-F861-78E5-0D0C7EAE704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5</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10395387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6</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5634A-EAF8-A20B-7BF3-59E92442CE3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8862D3E-B0E2-C518-5BD3-77F25ED30A5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687AB36-B624-3300-AFC7-C03FB5A489A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a:extLst>
              <a:ext uri="{FF2B5EF4-FFF2-40B4-BE49-F238E27FC236}">
                <a16:creationId xmlns:a16="http://schemas.microsoft.com/office/drawing/2014/main" id="{71FDED8B-1623-2B91-2B59-38ABD4EFBA5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7</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29196299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8</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FF06E-2520-B775-C161-FBE3161822D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2809FA0-323A-E22D-6E5F-3ACC1E52708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B737D36-EB1B-0171-D94E-CAF52BA3266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a:extLst>
              <a:ext uri="{FF2B5EF4-FFF2-40B4-BE49-F238E27FC236}">
                <a16:creationId xmlns:a16="http://schemas.microsoft.com/office/drawing/2014/main" id="{365C148F-FC24-6491-50A2-945EB03D579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9</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25042337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BB500-5778-4F3E-AD75-66B8A76FDB5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8EB030D-63CB-E9E1-CB38-E4A687C68B9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4452208-78EA-8495-8794-57913D85621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a:extLst>
              <a:ext uri="{FF2B5EF4-FFF2-40B4-BE49-F238E27FC236}">
                <a16:creationId xmlns:a16="http://schemas.microsoft.com/office/drawing/2014/main" id="{D3C30597-CE8E-A7D3-F776-2CE3CAEA29C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10</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34835670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11</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13</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5BBB0-0C64-9209-CA7D-3F7D7AC49B6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BF58FBF-4AFC-753C-8EC5-25904503C50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6878077-DAFE-C031-25BC-0F7A92E6296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a:extLst>
              <a:ext uri="{FF2B5EF4-FFF2-40B4-BE49-F238E27FC236}">
                <a16:creationId xmlns:a16="http://schemas.microsoft.com/office/drawing/2014/main" id="{D0E9E114-635B-A465-18F1-242D37859C4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14</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11932730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15</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524093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主要内容">
    <p:spTree>
      <p:nvGrpSpPr>
        <p:cNvPr id="1" name=""/>
        <p:cNvGrpSpPr/>
        <p:nvPr/>
      </p:nvGrpSpPr>
      <p:grpSpPr>
        <a:xfrm>
          <a:off x="0" y="0"/>
          <a:ext cx="0" cy="0"/>
          <a:chOff x="0" y="0"/>
          <a:chExt cx="0" cy="0"/>
        </a:xfrm>
      </p:grpSpPr>
      <p:sp>
        <p:nvSpPr>
          <p:cNvPr id="6" name="矩形 5"/>
          <p:cNvSpPr/>
          <p:nvPr userDrawn="1"/>
        </p:nvSpPr>
        <p:spPr bwMode="auto">
          <a:xfrm>
            <a:off x="0" y="1771650"/>
            <a:ext cx="12192000" cy="1261491"/>
          </a:xfrm>
          <a:prstGeom prst="rect">
            <a:avLst/>
          </a:prstGeom>
          <a:gradFill flip="none" rotWithShape="1">
            <a:gsLst>
              <a:gs pos="0">
                <a:schemeClr val="accent5">
                  <a:lumMod val="20000"/>
                  <a:lumOff val="80000"/>
                </a:schemeClr>
              </a:gs>
              <a:gs pos="50000">
                <a:schemeClr val="accent5">
                  <a:lumMod val="20000"/>
                  <a:lumOff val="80000"/>
                </a:schemeClr>
              </a:gs>
              <a:gs pos="100000">
                <a:schemeClr val="bg1"/>
              </a:gs>
            </a:gsLst>
            <a:lin ang="16200000" scaled="1"/>
            <a:tileRect/>
          </a:gra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algn="ctr">
              <a:spcBef>
                <a:spcPct val="50000"/>
              </a:spcBef>
            </a:pPr>
            <a:endParaRPr lang="zh-CN" altLang="en-US" sz="2800" b="1" dirty="0">
              <a:latin typeface="微软雅黑" panose="020B0503020204020204" charset="-122"/>
              <a:ea typeface="微软雅黑" panose="020B0503020204020204" charset="-122"/>
            </a:endParaRPr>
          </a:p>
        </p:txBody>
      </p:sp>
      <p:sp>
        <p:nvSpPr>
          <p:cNvPr id="7" name="矩形 6"/>
          <p:cNvSpPr/>
          <p:nvPr userDrawn="1"/>
        </p:nvSpPr>
        <p:spPr>
          <a:xfrm>
            <a:off x="0" y="2394901"/>
            <a:ext cx="12192000" cy="3796496"/>
          </a:xfrm>
          <a:prstGeom prst="rect">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28495"/>
            <a:endParaRPr lang="zh-CN" altLang="en-US" sz="1400" dirty="0"/>
          </a:p>
        </p:txBody>
      </p:sp>
      <p:grpSp>
        <p:nvGrpSpPr>
          <p:cNvPr id="22" name="组合 21"/>
          <p:cNvGrpSpPr/>
          <p:nvPr userDrawn="1"/>
        </p:nvGrpSpPr>
        <p:grpSpPr>
          <a:xfrm>
            <a:off x="0" y="2291460"/>
            <a:ext cx="12192000" cy="4004169"/>
            <a:chOff x="1960583" y="2188019"/>
            <a:chExt cx="9297266" cy="4004169"/>
          </a:xfrm>
        </p:grpSpPr>
        <p:pic>
          <p:nvPicPr>
            <p:cNvPr id="23" name="图片 22"/>
            <p:cNvPicPr>
              <a:picLocks noChangeAspect="1"/>
            </p:cNvPicPr>
            <p:nvPr/>
          </p:nvPicPr>
          <p:blipFill rotWithShape="1">
            <a:blip r:embed="rId2">
              <a:grayscl/>
            </a:blip>
            <a:srcRect b="72279"/>
            <a:stretch>
              <a:fillRect/>
            </a:stretch>
          </p:blipFill>
          <p:spPr>
            <a:xfrm rot="10800000" flipH="1">
              <a:off x="1960583" y="6087956"/>
              <a:ext cx="9297266" cy="104232"/>
            </a:xfrm>
            <a:prstGeom prst="rect">
              <a:avLst/>
            </a:prstGeom>
          </p:spPr>
        </p:pic>
        <p:pic>
          <p:nvPicPr>
            <p:cNvPr id="24" name="图片 23"/>
            <p:cNvPicPr>
              <a:picLocks noChangeAspect="1"/>
            </p:cNvPicPr>
            <p:nvPr/>
          </p:nvPicPr>
          <p:blipFill rotWithShape="1">
            <a:blip r:embed="rId2">
              <a:grayscl/>
            </a:blip>
            <a:srcRect b="72279"/>
            <a:stretch>
              <a:fillRect/>
            </a:stretch>
          </p:blipFill>
          <p:spPr>
            <a:xfrm flipH="1">
              <a:off x="1960583" y="2188019"/>
              <a:ext cx="9297266" cy="104232"/>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一节">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a:extLst>
              <a:ext uri="{28A0092B-C50C-407E-A947-70E740481C1C}">
                <a14:useLocalDpi xmlns:a14="http://schemas.microsoft.com/office/drawing/2010/main" val="0"/>
              </a:ext>
            </a:extLst>
          </a:blip>
          <a:srcRect l="8455"/>
          <a:stretch>
            <a:fillRect/>
          </a:stretch>
        </p:blipFill>
        <p:spPr>
          <a:xfrm>
            <a:off x="916640" y="227763"/>
            <a:ext cx="11161059" cy="603504"/>
          </a:xfrm>
          <a:prstGeom prst="rect">
            <a:avLst/>
          </a:prstGeom>
        </p:spPr>
      </p:pic>
      <p:pic>
        <p:nvPicPr>
          <p:cNvPr id="3" name="Picture 2" descr="A logo with dots and lines&#10;&#10;Description automatically generated"/>
          <p:cNvPicPr>
            <a:picLocks noChangeAspect="1"/>
          </p:cNvPicPr>
          <p:nvPr userDrawn="1"/>
        </p:nvPicPr>
        <p:blipFill rotWithShape="1">
          <a:blip r:embed="rId3" cstate="print">
            <a:extLst>
              <a:ext uri="{28A0092B-C50C-407E-A947-70E740481C1C}">
                <a14:useLocalDpi xmlns:a14="http://schemas.microsoft.com/office/drawing/2010/main" val="0"/>
              </a:ext>
            </a:extLst>
          </a:blip>
          <a:srcRect l="3808" r="8389" b="36069"/>
          <a:stretch>
            <a:fillRect/>
          </a:stretch>
        </p:blipFill>
        <p:spPr>
          <a:xfrm>
            <a:off x="11249224" y="166730"/>
            <a:ext cx="828475" cy="725570"/>
          </a:xfrm>
          <a:prstGeom prst="ellipse">
            <a:avLst/>
          </a:prstGeom>
          <a:ln>
            <a:noFill/>
          </a:ln>
          <a:effectLst>
            <a:softEdge rad="112500"/>
          </a:effectLst>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第一节">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srcRect l="453"/>
          <a:stretch>
            <a:fillRect/>
          </a:stretch>
        </p:blipFill>
        <p:spPr>
          <a:xfrm>
            <a:off x="0" y="0"/>
            <a:ext cx="12192000" cy="1014998"/>
          </a:xfrm>
          <a:prstGeom prst="rect">
            <a:avLst/>
          </a:prstGeom>
        </p:spPr>
      </p:pic>
      <p:sp>
        <p:nvSpPr>
          <p:cNvPr id="2" name="Rectangle 1"/>
          <p:cNvSpPr/>
          <p:nvPr userDrawn="1"/>
        </p:nvSpPr>
        <p:spPr>
          <a:xfrm>
            <a:off x="5982657" y="0"/>
            <a:ext cx="202179" cy="10149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第一节">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第二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charset="-122"/>
                <a:ea typeface="微软雅黑" panose="020B0503020204020204" charset="-122"/>
              </a:rPr>
              <a:t>二、主要工作</a:t>
            </a: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第三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charset="-122"/>
                <a:ea typeface="微软雅黑" panose="020B0503020204020204" charset="-122"/>
              </a:rPr>
              <a:t>三、总结展望</a:t>
            </a: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sp>
        <p:nvSpPr>
          <p:cNvPr id="7" name="矩形 6"/>
          <p:cNvSpPr/>
          <p:nvPr userDrawn="1"/>
        </p:nvSpPr>
        <p:spPr>
          <a:xfrm>
            <a:off x="978805" y="232958"/>
            <a:ext cx="1531166"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charset="-122"/>
                <a:ea typeface="微软雅黑" panose="020B0503020204020204" charset="-122"/>
              </a:rPr>
              <a:t>结束语</a:t>
            </a: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纯背景带校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pic>
        <p:nvPicPr>
          <p:cNvPr id="7" name="Picture 4" descr="D:\works\工作\周琴\56-2019-大数据与复杂网络\模板设计\内页.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677" y="0"/>
            <a:ext cx="12192000" cy="686006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solidFill>
                  <a:prstClr val="black">
                    <a:tint val="75000"/>
                  </a:prstClr>
                </a:solidFill>
              </a:rPr>
              <a:t>15 June, 2011</a:t>
            </a:r>
            <a:endParaRPr lang="en-GB" dirty="0">
              <a:solidFill>
                <a:prstClr val="black">
                  <a:tint val="75000"/>
                </a:prstClr>
              </a:solidFill>
            </a:endParaRPr>
          </a:p>
        </p:txBody>
      </p:sp>
      <p:sp>
        <p:nvSpPr>
          <p:cNvPr id="3" name="Footer Placeholder 2"/>
          <p:cNvSpPr>
            <a:spLocks noGrp="1"/>
          </p:cNvSpPr>
          <p:nvPr>
            <p:ph type="ftr" sz="quarter" idx="11"/>
          </p:nvPr>
        </p:nvSpPr>
        <p:spPr/>
        <p:txBody>
          <a:bodyPr/>
          <a:lstStyle/>
          <a:p>
            <a:r>
              <a:rPr lang="en-US">
                <a:solidFill>
                  <a:prstClr val="black">
                    <a:tint val="75000"/>
                  </a:prstClr>
                </a:solidFill>
              </a:rPr>
              <a:t>IHCAR</a:t>
            </a:r>
            <a:endParaRPr lang="en-GB"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25446203-2B80-4CBC-A257-89A48550B42A}" type="slidenum">
              <a:rPr lang="en-GB" smtClean="0">
                <a:solidFill>
                  <a:prstClr val="black">
                    <a:tint val="75000"/>
                  </a:prstClr>
                </a:solidFill>
              </a:rPr>
              <a:t>‹#›</a:t>
            </a:fld>
            <a:endParaRPr lang="en-GB" dirty="0">
              <a:solidFill>
                <a:prstClr val="black">
                  <a:tint val="75000"/>
                </a:prstClr>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grpSp>
        <p:nvGrpSpPr>
          <p:cNvPr id="2" name="组合 1"/>
          <p:cNvGrpSpPr/>
          <p:nvPr userDrawn="1"/>
        </p:nvGrpSpPr>
        <p:grpSpPr>
          <a:xfrm>
            <a:off x="375374" y="1"/>
            <a:ext cx="140967" cy="962147"/>
            <a:chOff x="281524" y="0"/>
            <a:chExt cx="105725" cy="721610"/>
          </a:xfrm>
          <a:solidFill>
            <a:srgbClr val="1A7BAE"/>
          </a:solidFill>
        </p:grpSpPr>
        <p:sp>
          <p:nvSpPr>
            <p:cNvPr id="5" name="矩形 4"/>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61465"/>
              <a:endParaRPr lang="zh-CN" altLang="en-US" sz="3065">
                <a:solidFill>
                  <a:prstClr val="white"/>
                </a:solidFill>
              </a:endParaRPr>
            </a:p>
          </p:txBody>
        </p:sp>
        <p:sp>
          <p:nvSpPr>
            <p:cNvPr id="6" name="矩形 5"/>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61465"/>
              <a:endParaRPr lang="zh-CN" altLang="en-US" sz="3065">
                <a:solidFill>
                  <a:prstClr val="white"/>
                </a:solidFill>
              </a:endParaRPr>
            </a:p>
          </p:txBody>
        </p:sp>
      </p:grpSp>
      <p:grpSp>
        <p:nvGrpSpPr>
          <p:cNvPr id="7" name="组合 6"/>
          <p:cNvGrpSpPr/>
          <p:nvPr userDrawn="1"/>
        </p:nvGrpSpPr>
        <p:grpSpPr>
          <a:xfrm rot="10800000">
            <a:off x="11735683" y="6617464"/>
            <a:ext cx="140967" cy="240536"/>
            <a:chOff x="281524" y="0"/>
            <a:chExt cx="105725" cy="721610"/>
          </a:xfrm>
          <a:solidFill>
            <a:srgbClr val="1A7BAE"/>
          </a:solidFill>
        </p:grpSpPr>
        <p:sp>
          <p:nvSpPr>
            <p:cNvPr id="10" name="矩形 9"/>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61465"/>
              <a:endParaRPr lang="zh-CN" altLang="en-US" sz="3065">
                <a:solidFill>
                  <a:prstClr val="white"/>
                </a:solidFill>
              </a:endParaRPr>
            </a:p>
          </p:txBody>
        </p:sp>
        <p:sp>
          <p:nvSpPr>
            <p:cNvPr id="11" name="矩形 10"/>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61465"/>
              <a:endParaRPr lang="zh-CN" altLang="en-US" sz="3065">
                <a:solidFill>
                  <a:prstClr val="white"/>
                </a:solidFill>
              </a:endParaRPr>
            </a:p>
          </p:txBody>
        </p:sp>
      </p:gr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3" name="矩形 2"/>
          <p:cNvSpPr/>
          <p:nvPr userDrawn="1"/>
        </p:nvSpPr>
        <p:spPr>
          <a:xfrm>
            <a:off x="11803774" y="6581013"/>
            <a:ext cx="372196" cy="276987"/>
          </a:xfrm>
          <a:prstGeom prst="rect">
            <a:avLst/>
          </a:prstGeom>
        </p:spPr>
        <p:txBody>
          <a:bodyPr wrap="none" lIns="91429" tIns="45714" rIns="91429" bIns="45714">
            <a:spAutoFit/>
          </a:bodyPr>
          <a:lstStyle/>
          <a:p>
            <a:fld id="{5E083074-D3FF-49A6-8E12-2ECAA15AAAA1}" type="slidenum">
              <a:rPr lang="zh-CN" altLang="en-US" sz="1200" smtClean="0">
                <a:solidFill>
                  <a:schemeClr val="tx1">
                    <a:lumMod val="50000"/>
                    <a:lumOff val="50000"/>
                  </a:schemeClr>
                </a:solidFill>
                <a:latin typeface="Arial" panose="020B0604020202020204" pitchFamily="34" charset="0"/>
                <a:ea typeface="微软雅黑" panose="020B0503020204020204" charset="-122"/>
                <a:cs typeface="Arial" panose="020B0604020202020204" pitchFamily="34" charset="0"/>
              </a:rPr>
              <a:t>‹#›</a:t>
            </a:fld>
            <a:endParaRPr lang="zh-CN" altLang="en-US" sz="1200" dirty="0">
              <a:solidFill>
                <a:schemeClr val="tx1">
                  <a:lumMod val="50000"/>
                  <a:lumOff val="50000"/>
                </a:schemeClr>
              </a:solidFill>
              <a:latin typeface="Arial" panose="020B0604020202020204" pitchFamily="34" charset="0"/>
              <a:ea typeface="微软雅黑" panose="020B0503020204020204" charset="-122"/>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wmf"/><Relationship Id="rId4"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8.wmf"/><Relationship Id="rId5" Type="http://schemas.openxmlformats.org/officeDocument/2006/relationships/oleObject" Target="../embeddings/oleObject2.bin"/><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image" Target="../media/image19.png"/><Relationship Id="rId7" Type="http://schemas.openxmlformats.org/officeDocument/2006/relationships/oleObject" Target="../embeddings/oleObject4.bin"/><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wmf"/><Relationship Id="rId4" Type="http://schemas.openxmlformats.org/officeDocument/2006/relationships/oleObject" Target="../embeddings/oleObject3.bin"/></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5.wmf"/><Relationship Id="rId5" Type="http://schemas.openxmlformats.org/officeDocument/2006/relationships/oleObject" Target="../embeddings/oleObject5.bin"/><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8" Type="http://schemas.openxmlformats.org/officeDocument/2006/relationships/image" Target="../media/image29.wmf"/><Relationship Id="rId3" Type="http://schemas.openxmlformats.org/officeDocument/2006/relationships/image" Target="../media/image26.png"/><Relationship Id="rId7" Type="http://schemas.openxmlformats.org/officeDocument/2006/relationships/oleObject" Target="../embeddings/oleObject7.bin"/><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wmf"/><Relationship Id="rId4" Type="http://schemas.openxmlformats.org/officeDocument/2006/relationships/oleObject" Target="../embeddings/oleObject6.bin"/></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87A11-A8AA-5826-9F04-B5E86CBE047D}"/>
              </a:ext>
            </a:extLst>
          </p:cNvPr>
          <p:cNvSpPr txBox="1">
            <a:spLocks/>
          </p:cNvSpPr>
          <p:nvPr/>
        </p:nvSpPr>
        <p:spPr>
          <a:xfrm>
            <a:off x="408972" y="1926317"/>
            <a:ext cx="11374056" cy="218340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nSpc>
                <a:spcPct val="200000"/>
              </a:lnSpc>
              <a:spcAft>
                <a:spcPts val="1200"/>
              </a:spcAft>
            </a:pPr>
            <a:r>
              <a:rPr lang="zh-CN" altLang="en-US" sz="5400" b="0" dirty="0">
                <a:solidFill>
                  <a:schemeClr val="bg1"/>
                </a:solidFill>
                <a:ea typeface="华光综艺_CNKI" panose="02000500000000000000" pitchFamily="2" charset="-122"/>
              </a:rPr>
              <a:t>第</a:t>
            </a:r>
            <a:r>
              <a:rPr lang="en-US" altLang="zh-CN" sz="5400" b="0" dirty="0">
                <a:solidFill>
                  <a:schemeClr val="bg1"/>
                </a:solidFill>
                <a:ea typeface="华光综艺_CNKI" panose="02000500000000000000" pitchFamily="2" charset="-122"/>
              </a:rPr>
              <a:t>5.8</a:t>
            </a:r>
            <a:r>
              <a:rPr lang="zh-CN" altLang="en-US" sz="5400" b="0" dirty="0">
                <a:solidFill>
                  <a:schemeClr val="bg1"/>
                </a:solidFill>
                <a:ea typeface="华光综艺_CNKI" panose="02000500000000000000" pitchFamily="2" charset="-122"/>
              </a:rPr>
              <a:t>节</a:t>
            </a:r>
            <a:endParaRPr lang="en-US" altLang="zh-CN" sz="5400" b="0" dirty="0">
              <a:solidFill>
                <a:schemeClr val="bg1"/>
              </a:solidFill>
              <a:ea typeface="华光综艺_CNKI" panose="02000500000000000000" pitchFamily="2" charset="-122"/>
            </a:endParaRPr>
          </a:p>
          <a:p>
            <a:r>
              <a:rPr lang="zh-CN" altLang="en-US" b="0" dirty="0">
                <a:ea typeface="华光综艺_CNKI" panose="02000500000000000000" pitchFamily="2" charset="-122"/>
              </a:rPr>
              <a:t> </a:t>
            </a:r>
            <a:r>
              <a:rPr lang="en-US" altLang="zh-CN" b="0" dirty="0">
                <a:ea typeface="华光综艺_CNKI" panose="02000500000000000000" pitchFamily="2" charset="-122"/>
              </a:rPr>
              <a:t>t</a:t>
            </a:r>
            <a:r>
              <a:rPr lang="zh-CN" altLang="en-US" b="0" dirty="0">
                <a:ea typeface="华光综艺_CNKI" panose="02000500000000000000" pitchFamily="2" charset="-122"/>
              </a:rPr>
              <a:t>分布随机邻域嵌入</a:t>
            </a:r>
            <a:endParaRPr lang="en-US" altLang="zh-CN" b="0" dirty="0">
              <a:ea typeface="华光综艺_CNKI" panose="02000500000000000000" pitchFamily="2" charset="-122"/>
            </a:endParaRPr>
          </a:p>
          <a:p>
            <a:r>
              <a:rPr lang="zh-CN" altLang="en-US" b="0" dirty="0">
                <a:ea typeface="华光综艺_CNKI" panose="02000500000000000000" pitchFamily="2" charset="-122"/>
              </a:rPr>
              <a:t>（</a:t>
            </a:r>
            <a:r>
              <a:rPr lang="en-US" altLang="zh-CN" b="0" dirty="0">
                <a:ea typeface="华光综艺_CNKI" panose="02000500000000000000" pitchFamily="2" charset="-122"/>
              </a:rPr>
              <a:t>t-SNE</a:t>
            </a:r>
            <a:r>
              <a:rPr lang="zh-CN" altLang="en-US" b="0" dirty="0">
                <a:ea typeface="华光综艺_CNKI" panose="02000500000000000000" pitchFamily="2" charset="-122"/>
              </a:rPr>
              <a:t>）</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1077206"/>
          </a:xfrm>
          <a:prstGeom prst="rect">
            <a:avLst/>
          </a:prstGeom>
          <a:noFill/>
        </p:spPr>
        <p:txBody>
          <a:bodyPr wrap="square" lIns="91429" tIns="45714" rIns="91429" bIns="45714">
            <a:spAutoFit/>
          </a:bodyPr>
          <a:lstStyle/>
          <a:p>
            <a:r>
              <a:rPr lang="en-US" altLang="zh-CN" sz="3200" dirty="0">
                <a:solidFill>
                  <a:srgbClr val="FFFF00"/>
                </a:solidFill>
                <a:latin typeface="华光综艺_CNKI" panose="02000500000000000000" pitchFamily="2" charset="-122"/>
                <a:ea typeface="华光综艺_CNKI" panose="02000500000000000000" pitchFamily="2" charset="-122"/>
                <a:sym typeface="+mn-ea"/>
              </a:rPr>
              <a:t>t-SNE</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基本概念</a:t>
            </a:r>
          </a:p>
          <a:p>
            <a:endParaRPr lang="zh-CN" altLang="en-US" sz="3200" dirty="0">
              <a:solidFill>
                <a:srgbClr val="FFFF00"/>
              </a:solidFill>
              <a:latin typeface="华光综艺_CNKI" panose="02000500000000000000" pitchFamily="2" charset="-122"/>
              <a:ea typeface="华光综艺_CNKI" panose="02000500000000000000" pitchFamily="2" charset="-122"/>
              <a:sym typeface="+mn-ea"/>
            </a:endParaRPr>
          </a:p>
        </p:txBody>
      </p:sp>
      <p:sp>
        <p:nvSpPr>
          <p:cNvPr id="4" name="文本框 3"/>
          <p:cNvSpPr txBox="1"/>
          <p:nvPr/>
        </p:nvSpPr>
        <p:spPr>
          <a:xfrm>
            <a:off x="675986" y="2944264"/>
            <a:ext cx="10599420" cy="3274551"/>
          </a:xfrm>
          <a:prstGeom prst="rect">
            <a:avLst/>
          </a:prstGeom>
        </p:spPr>
        <p:txBody>
          <a:bodyPr wrap="square">
            <a:spAutoFit/>
          </a:bodyPr>
          <a:lstStyle/>
          <a:p>
            <a:pPr marL="342900" indent="-342900" algn="just" defTabSz="266700" fontAlgn="auto">
              <a:lnSpc>
                <a:spcPct val="125000"/>
              </a:lnSpc>
              <a:spcBef>
                <a:spcPct val="0"/>
              </a:spcBef>
              <a:spcAft>
                <a:spcPct val="0"/>
              </a:spcAft>
              <a:buFont typeface="Wingdings" panose="05000000000000000000" charset="0"/>
              <a:buChar char="Ø"/>
            </a:pPr>
            <a:r>
              <a:rPr lang="en-US" altLang="zh-CN" sz="2800" dirty="0">
                <a:solidFill>
                  <a:schemeClr val="tx1"/>
                </a:solidFill>
                <a:uFillTx/>
                <a:latin typeface="Times New Roman" panose="02020603050405020304" pitchFamily="18" charset="0"/>
                <a:ea typeface="微软雅黑" panose="020B0503020204020204" charset="-122"/>
              </a:rPr>
              <a:t>t-SNE</a:t>
            </a:r>
            <a:r>
              <a:rPr lang="zh-CN" altLang="en-US" sz="2800" dirty="0">
                <a:solidFill>
                  <a:schemeClr val="tx1"/>
                </a:solidFill>
                <a:uFillTx/>
                <a:latin typeface="Times New Roman" panose="02020603050405020304" pitchFamily="18" charset="0"/>
                <a:ea typeface="微软雅黑" panose="020B0503020204020204" charset="-122"/>
              </a:rPr>
              <a:t>算法用条件概率度量数据点之间的相似性</a:t>
            </a:r>
          </a:p>
          <a:p>
            <a:pPr marL="342900" indent="-342900" algn="just" defTabSz="266700" fontAlgn="auto">
              <a:lnSpc>
                <a:spcPct val="125000"/>
              </a:lnSpc>
              <a:spcBef>
                <a:spcPct val="0"/>
              </a:spcBef>
              <a:spcAft>
                <a:spcPct val="0"/>
              </a:spcAft>
              <a:buFont typeface="Wingdings" panose="05000000000000000000" charset="0"/>
              <a:buChar char="Ø"/>
            </a:pPr>
            <a:r>
              <a:rPr lang="zh-CN" altLang="en-US" sz="2800" dirty="0">
                <a:solidFill>
                  <a:schemeClr val="tx1"/>
                </a:solidFill>
                <a:uFillTx/>
                <a:latin typeface="Times New Roman" panose="02020603050405020304" pitchFamily="18" charset="0"/>
                <a:ea typeface="微软雅黑" panose="020B0503020204020204" charset="-122"/>
              </a:rPr>
              <a:t>最小化高维空间和低维空间中数据点相似度的差异来实现数据的非线性降维。</a:t>
            </a:r>
          </a:p>
          <a:p>
            <a:pPr indent="0" algn="just" defTabSz="266700" fontAlgn="auto">
              <a:lnSpc>
                <a:spcPct val="125000"/>
              </a:lnSpc>
              <a:spcBef>
                <a:spcPct val="0"/>
              </a:spcBef>
              <a:spcAft>
                <a:spcPct val="0"/>
              </a:spcAft>
            </a:pPr>
            <a:endParaRPr lang="zh-CN" altLang="en-US" sz="2800" dirty="0">
              <a:solidFill>
                <a:schemeClr val="tx1"/>
              </a:solidFill>
              <a:uFillTx/>
              <a:latin typeface="Times New Roman" panose="02020603050405020304" pitchFamily="18" charset="0"/>
              <a:ea typeface="微软雅黑" panose="020B0503020204020204" charset="-122"/>
            </a:endParaRPr>
          </a:p>
          <a:p>
            <a:pPr indent="0" algn="just" defTabSz="266700" fontAlgn="auto">
              <a:lnSpc>
                <a:spcPct val="125000"/>
              </a:lnSpc>
              <a:spcBef>
                <a:spcPct val="0"/>
              </a:spcBef>
              <a:spcAft>
                <a:spcPct val="0"/>
              </a:spcAft>
            </a:pPr>
            <a:r>
              <a:rPr lang="zh-CN" altLang="en-US" sz="2800" dirty="0">
                <a:solidFill>
                  <a:schemeClr val="tx1"/>
                </a:solidFill>
                <a:uFillTx/>
                <a:latin typeface="Times New Roman" panose="02020603050405020304" pitchFamily="18" charset="0"/>
                <a:ea typeface="微软雅黑" panose="020B0503020204020204" charset="-122"/>
              </a:rPr>
              <a:t>考虑到</a:t>
            </a:r>
            <a:r>
              <a:rPr lang="en-US" altLang="zh-CN" sz="2800" dirty="0">
                <a:solidFill>
                  <a:schemeClr val="tx1"/>
                </a:solidFill>
                <a:uFillTx/>
                <a:latin typeface="Times New Roman" panose="02020603050405020304" pitchFamily="18" charset="0"/>
                <a:ea typeface="微软雅黑" panose="020B0503020204020204" charset="-122"/>
              </a:rPr>
              <a:t>t-SNE</a:t>
            </a:r>
            <a:r>
              <a:rPr lang="zh-CN" altLang="en-US" sz="2800" dirty="0">
                <a:solidFill>
                  <a:schemeClr val="tx1"/>
                </a:solidFill>
                <a:uFillTx/>
                <a:latin typeface="Times New Roman" panose="02020603050405020304" pitchFamily="18" charset="0"/>
                <a:ea typeface="微软雅黑" panose="020B0503020204020204" charset="-122"/>
              </a:rPr>
              <a:t>是由随机邻域嵌入（</a:t>
            </a:r>
            <a:r>
              <a:rPr lang="en-US" altLang="zh-CN" sz="2800" dirty="0">
                <a:solidFill>
                  <a:schemeClr val="tx1"/>
                </a:solidFill>
                <a:uFillTx/>
                <a:latin typeface="Times New Roman" panose="02020603050405020304" pitchFamily="18" charset="0"/>
                <a:ea typeface="微软雅黑" panose="020B0503020204020204" charset="-122"/>
              </a:rPr>
              <a:t>Stochastic Neighbor Embedding</a:t>
            </a:r>
            <a:r>
              <a:rPr lang="zh-CN" altLang="en-US" sz="2800" dirty="0">
                <a:solidFill>
                  <a:schemeClr val="tx1"/>
                </a:solidFill>
                <a:uFillTx/>
                <a:latin typeface="Times New Roman" panose="02020603050405020304" pitchFamily="18" charset="0"/>
                <a:ea typeface="微软雅黑" panose="020B0503020204020204" charset="-122"/>
              </a:rPr>
              <a:t>，</a:t>
            </a:r>
            <a:r>
              <a:rPr lang="en-US" altLang="zh-CN" sz="2800" dirty="0">
                <a:solidFill>
                  <a:schemeClr val="tx1"/>
                </a:solidFill>
                <a:uFillTx/>
                <a:latin typeface="Times New Roman" panose="02020603050405020304" pitchFamily="18" charset="0"/>
                <a:ea typeface="微软雅黑" panose="020B0503020204020204" charset="-122"/>
              </a:rPr>
              <a:t>SNE</a:t>
            </a:r>
            <a:r>
              <a:rPr lang="zh-CN" altLang="en-US" sz="2800" dirty="0">
                <a:solidFill>
                  <a:schemeClr val="tx1"/>
                </a:solidFill>
                <a:uFillTx/>
                <a:latin typeface="Times New Roman" panose="02020603050405020304" pitchFamily="18" charset="0"/>
                <a:ea typeface="微软雅黑" panose="020B0503020204020204" charset="-122"/>
              </a:rPr>
              <a:t>）发展而来的，因此首先介绍</a:t>
            </a:r>
            <a:r>
              <a:rPr lang="en-US" altLang="zh-CN" sz="2800" dirty="0">
                <a:solidFill>
                  <a:schemeClr val="tx1"/>
                </a:solidFill>
                <a:uFillTx/>
                <a:latin typeface="Times New Roman" panose="02020603050405020304" pitchFamily="18" charset="0"/>
                <a:ea typeface="微软雅黑" panose="020B0503020204020204" charset="-122"/>
              </a:rPr>
              <a:t>SNE</a:t>
            </a:r>
            <a:r>
              <a:rPr lang="zh-CN" altLang="en-US" sz="2800" dirty="0">
                <a:solidFill>
                  <a:schemeClr val="tx1"/>
                </a:solidFill>
                <a:uFillTx/>
                <a:latin typeface="Times New Roman" panose="02020603050405020304" pitchFamily="18" charset="0"/>
                <a:ea typeface="微软雅黑" panose="020B0503020204020204" charset="-122"/>
              </a:rPr>
              <a:t>的基本原理。</a:t>
            </a:r>
          </a:p>
        </p:txBody>
      </p:sp>
      <p:sp>
        <p:nvSpPr>
          <p:cNvPr id="5" name="文本框 4"/>
          <p:cNvSpPr txBox="1"/>
          <p:nvPr/>
        </p:nvSpPr>
        <p:spPr>
          <a:xfrm>
            <a:off x="675986" y="1325404"/>
            <a:ext cx="11075035" cy="954107"/>
          </a:xfrm>
          <a:prstGeom prst="rect">
            <a:avLst/>
          </a:prstGeom>
          <a:noFill/>
        </p:spPr>
        <p:txBody>
          <a:bodyPr wrap="square" rtlCol="0" anchor="t">
            <a:spAutoFit/>
          </a:bodyPr>
          <a:lstStyle/>
          <a:p>
            <a:r>
              <a:rPr lang="en-US" altLang="zh-CN" sz="2800" b="1" dirty="0">
                <a:solidFill>
                  <a:schemeClr val="tx1"/>
                </a:solidFill>
                <a:uFillTx/>
                <a:latin typeface="Times New Roman" panose="02020603050405020304" pitchFamily="18" charset="0"/>
                <a:ea typeface="微软雅黑" panose="020B0503020204020204" charset="-122"/>
                <a:sym typeface="+mn-ea"/>
              </a:rPr>
              <a:t>t-SNE</a:t>
            </a:r>
            <a:r>
              <a:rPr lang="zh-CN" altLang="en-US" sz="2800" b="1" dirty="0">
                <a:solidFill>
                  <a:schemeClr val="tx1"/>
                </a:solidFill>
                <a:uFillTx/>
                <a:latin typeface="Times New Roman" panose="02020603050405020304" pitchFamily="18" charset="0"/>
                <a:ea typeface="微软雅黑" panose="020B0503020204020204" charset="-122"/>
                <a:sym typeface="+mn-ea"/>
              </a:rPr>
              <a:t>（</a:t>
            </a:r>
            <a:r>
              <a:rPr lang="en-US" altLang="zh-CN" sz="2800" b="1" dirty="0">
                <a:solidFill>
                  <a:schemeClr val="tx1"/>
                </a:solidFill>
                <a:uFillTx/>
                <a:latin typeface="Times New Roman" panose="02020603050405020304" pitchFamily="18" charset="0"/>
                <a:ea typeface="微软雅黑" panose="020B0503020204020204" charset="-122"/>
                <a:sym typeface="+mn-ea"/>
              </a:rPr>
              <a:t>t-distributed Stochastic Neighbor Embedding</a:t>
            </a:r>
            <a:r>
              <a:rPr lang="zh-CN" altLang="en-US" sz="2800" b="1" dirty="0">
                <a:solidFill>
                  <a:schemeClr val="tx1"/>
                </a:solidFill>
                <a:uFillTx/>
                <a:latin typeface="Times New Roman" panose="02020603050405020304" pitchFamily="18" charset="0"/>
                <a:ea typeface="微软雅黑" panose="020B0503020204020204" charset="-122"/>
                <a:sym typeface="+mn-ea"/>
              </a:rPr>
              <a:t>）</a:t>
            </a:r>
            <a:r>
              <a:rPr lang="zh-CN" altLang="en-US" sz="2800" dirty="0">
                <a:solidFill>
                  <a:schemeClr val="tx1"/>
                </a:solidFill>
                <a:uFillTx/>
                <a:latin typeface="Times New Roman" panose="02020603050405020304" pitchFamily="18" charset="0"/>
                <a:ea typeface="微软雅黑" panose="020B0503020204020204" charset="-122"/>
                <a:sym typeface="+mn-ea"/>
              </a:rPr>
              <a:t>是一种关注数据的局部结构流形学习方法。</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en-US" altLang="zh-CN" sz="3200" dirty="0">
                <a:solidFill>
                  <a:srgbClr val="FFFF00"/>
                </a:solidFill>
                <a:latin typeface="华光综艺_CNKI" panose="02000500000000000000" pitchFamily="2" charset="-122"/>
                <a:ea typeface="华光综艺_CNKI" panose="02000500000000000000" pitchFamily="2" charset="-122"/>
                <a:sym typeface="+mn-ea"/>
              </a:rPr>
              <a:t>t-SNE</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基本概念</a:t>
            </a:r>
          </a:p>
        </p:txBody>
      </p:sp>
      <p:pic>
        <p:nvPicPr>
          <p:cNvPr id="6" name="图片 5" descr="9"/>
          <p:cNvPicPr>
            <a:picLocks noChangeAspect="1"/>
          </p:cNvPicPr>
          <p:nvPr/>
        </p:nvPicPr>
        <p:blipFill>
          <a:blip r:embed="rId3">
            <a:clrChange>
              <a:clrFrom>
                <a:srgbClr val="FFFFFF">
                  <a:alpha val="100000"/>
                </a:srgbClr>
              </a:clrFrom>
              <a:clrTo>
                <a:srgbClr val="FFFFFF">
                  <a:alpha val="100000"/>
                  <a:alpha val="0"/>
                </a:srgbClr>
              </a:clrTo>
            </a:clrChange>
          </a:blip>
          <a:srcRect t="24315" b="6500"/>
          <a:stretch>
            <a:fillRect/>
          </a:stretch>
        </p:blipFill>
        <p:spPr>
          <a:xfrm>
            <a:off x="5636087" y="1332055"/>
            <a:ext cx="5628005" cy="4744720"/>
          </a:xfrm>
          <a:prstGeom prst="rect">
            <a:avLst/>
          </a:prstGeom>
        </p:spPr>
      </p:pic>
      <p:sp>
        <p:nvSpPr>
          <p:cNvPr id="8" name="文本框 7"/>
          <p:cNvSpPr txBox="1"/>
          <p:nvPr/>
        </p:nvSpPr>
        <p:spPr>
          <a:xfrm>
            <a:off x="526068" y="1474991"/>
            <a:ext cx="4461567" cy="4458849"/>
          </a:xfrm>
          <a:prstGeom prst="rect">
            <a:avLst/>
          </a:prstGeom>
        </p:spPr>
        <p:txBody>
          <a:bodyPr wrap="square">
            <a:spAutoFit/>
          </a:bodyPr>
          <a:lstStyle/>
          <a:p>
            <a:pPr marL="0" indent="308610" algn="just" defTabSz="266700">
              <a:lnSpc>
                <a:spcPct val="150000"/>
              </a:lnSpc>
              <a:spcBef>
                <a:spcPct val="0"/>
              </a:spcBef>
              <a:spcAft>
                <a:spcPct val="0"/>
              </a:spcAft>
            </a:pPr>
            <a:r>
              <a:rPr lang="en-US" altLang="zh-CN" sz="2400" dirty="0">
                <a:solidFill>
                  <a:schemeClr val="tx1"/>
                </a:solidFill>
                <a:uFillTx/>
                <a:latin typeface="Times New Roman" panose="02020603050405020304" pitchFamily="18" charset="0"/>
                <a:ea typeface="微软雅黑" panose="020B0503020204020204" charset="-122"/>
              </a:rPr>
              <a:t>SNE</a:t>
            </a:r>
            <a:r>
              <a:rPr lang="zh-CN" altLang="en-US" sz="2400" dirty="0">
                <a:solidFill>
                  <a:schemeClr val="tx1"/>
                </a:solidFill>
                <a:uFillTx/>
                <a:latin typeface="Times New Roman" panose="02020603050405020304" pitchFamily="18" charset="0"/>
                <a:ea typeface="微软雅黑" panose="020B0503020204020204" charset="-122"/>
              </a:rPr>
              <a:t>算法的基本思想是利用样本数据邻近点的分布实现非线性降维。不同于</a:t>
            </a:r>
            <a:r>
              <a:rPr lang="en-US" altLang="zh-CN" sz="2400" dirty="0">
                <a:solidFill>
                  <a:schemeClr val="tx1"/>
                </a:solidFill>
                <a:uFillTx/>
                <a:latin typeface="Times New Roman" panose="02020603050405020304" pitchFamily="18" charset="0"/>
                <a:ea typeface="微软雅黑" panose="020B0503020204020204" charset="-122"/>
              </a:rPr>
              <a:t>MDS</a:t>
            </a:r>
            <a:r>
              <a:rPr lang="zh-CN" altLang="en-US" sz="2400" dirty="0">
                <a:solidFill>
                  <a:schemeClr val="tx1"/>
                </a:solidFill>
                <a:uFillTx/>
                <a:latin typeface="Times New Roman" panose="02020603050405020304" pitchFamily="18" charset="0"/>
                <a:ea typeface="微软雅黑" panose="020B0503020204020204" charset="-122"/>
              </a:rPr>
              <a:t>和</a:t>
            </a:r>
            <a:r>
              <a:rPr lang="en-US" altLang="zh-CN" sz="2400" dirty="0" err="1">
                <a:solidFill>
                  <a:schemeClr val="tx1"/>
                </a:solidFill>
                <a:uFillTx/>
                <a:latin typeface="Times New Roman" panose="02020603050405020304" pitchFamily="18" charset="0"/>
                <a:ea typeface="微软雅黑" panose="020B0503020204020204" charset="-122"/>
              </a:rPr>
              <a:t>IsoMap</a:t>
            </a:r>
            <a:r>
              <a:rPr lang="zh-CN" altLang="en-US" sz="2400" dirty="0">
                <a:solidFill>
                  <a:schemeClr val="tx1"/>
                </a:solidFill>
                <a:uFillTx/>
                <a:latin typeface="Times New Roman" panose="02020603050405020304" pitchFamily="18" charset="0"/>
                <a:ea typeface="微软雅黑" panose="020B0503020204020204" charset="-122"/>
              </a:rPr>
              <a:t>算法中基于距离不变的思想，</a:t>
            </a:r>
            <a:r>
              <a:rPr lang="en-US" altLang="zh-CN" sz="2400" dirty="0">
                <a:solidFill>
                  <a:schemeClr val="tx1"/>
                </a:solidFill>
                <a:uFillTx/>
                <a:latin typeface="Times New Roman" panose="02020603050405020304" pitchFamily="18" charset="0"/>
                <a:ea typeface="微软雅黑" panose="020B0503020204020204" charset="-122"/>
              </a:rPr>
              <a:t>SNE</a:t>
            </a:r>
            <a:r>
              <a:rPr lang="zh-CN" altLang="en-US" sz="2400" dirty="0">
                <a:solidFill>
                  <a:schemeClr val="tx1"/>
                </a:solidFill>
                <a:uFillTx/>
                <a:latin typeface="Times New Roman" panose="02020603050405020304" pitchFamily="18" charset="0"/>
                <a:ea typeface="微软雅黑" panose="020B0503020204020204" charset="-122"/>
              </a:rPr>
              <a:t>算法构建高维数据之间的概率分布</a:t>
            </a:r>
            <a:r>
              <a:rPr lang="en-US" altLang="zh-CN" sz="2400" i="1" dirty="0">
                <a:solidFill>
                  <a:schemeClr val="tx1"/>
                </a:solidFill>
                <a:uFillTx/>
                <a:latin typeface="Times New Roman" panose="02020603050405020304" pitchFamily="18" charset="0"/>
                <a:ea typeface="微软雅黑" panose="020B0503020204020204" charset="-122"/>
              </a:rPr>
              <a:t>P</a:t>
            </a:r>
            <a:r>
              <a:rPr lang="zh-CN" altLang="en-US" sz="2400" dirty="0">
                <a:solidFill>
                  <a:schemeClr val="tx1"/>
                </a:solidFill>
                <a:uFillTx/>
                <a:latin typeface="Times New Roman" panose="02020603050405020304" pitchFamily="18" charset="0"/>
                <a:ea typeface="微软雅黑" panose="020B0503020204020204" charset="-122"/>
              </a:rPr>
              <a:t>，将欧氏距离转换为条件概率分布，用条件概率来描述数据点之间的相似性。</a:t>
            </a:r>
          </a:p>
        </p:txBody>
      </p:sp>
      <p:sp>
        <p:nvSpPr>
          <p:cNvPr id="9" name="矩形 8"/>
          <p:cNvSpPr/>
          <p:nvPr/>
        </p:nvSpPr>
        <p:spPr>
          <a:xfrm>
            <a:off x="347345" y="1438047"/>
            <a:ext cx="4876799" cy="4744720"/>
          </a:xfrm>
          <a:prstGeom prst="rect">
            <a:avLst/>
          </a:prstGeom>
        </p:spPr>
        <p:style>
          <a:lnRef idx="3">
            <a:prstClr val="black"/>
          </a:lnRef>
          <a:fillRef idx="0">
            <a:srgbClr val="FFFFFF"/>
          </a:fillRef>
          <a:effectRef idx="0">
            <a:srgbClr val="FFFFFF"/>
          </a:effectRef>
          <a:fontRef idx="minor">
            <a:schemeClr val="tx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en-US" altLang="zh-CN" sz="3200" dirty="0">
                <a:solidFill>
                  <a:srgbClr val="FFFF00"/>
                </a:solidFill>
                <a:latin typeface="华光综艺_CNKI" panose="02000500000000000000" pitchFamily="2" charset="-122"/>
                <a:ea typeface="华光综艺_CNKI" panose="02000500000000000000" pitchFamily="2" charset="-122"/>
                <a:sym typeface="+mn-ea"/>
              </a:rPr>
              <a:t>t-SNE</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公式推导</a:t>
            </a:r>
          </a:p>
        </p:txBody>
      </p:sp>
      <p:pic>
        <p:nvPicPr>
          <p:cNvPr id="4" name="图片 3"/>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732122" y="1751329"/>
            <a:ext cx="8422687" cy="2044878"/>
          </a:xfrm>
          <a:prstGeom prst="rect">
            <a:avLst/>
          </a:prstGeom>
        </p:spPr>
      </p:pic>
      <p:pic>
        <p:nvPicPr>
          <p:cNvPr id="5" name="图片 4"/>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2346273" y="3949994"/>
            <a:ext cx="3944419" cy="1232631"/>
          </a:xfrm>
          <a:prstGeom prst="rect">
            <a:avLst/>
          </a:prstGeom>
        </p:spPr>
      </p:pic>
      <p:pic>
        <p:nvPicPr>
          <p:cNvPr id="10" name="图片 9"/>
          <p:cNvPicPr>
            <a:picLocks noChangeAspect="1"/>
          </p:cNvPicPr>
          <p:nvPr/>
        </p:nvPicPr>
        <p:blipFill>
          <a:blip r:embed="rId5">
            <a:clrChange>
              <a:clrFrom>
                <a:srgbClr val="FFFFFF">
                  <a:alpha val="100000"/>
                </a:srgbClr>
              </a:clrFrom>
              <a:clrTo>
                <a:srgbClr val="FFFFFF">
                  <a:alpha val="100000"/>
                  <a:alpha val="0"/>
                </a:srgbClr>
              </a:clrTo>
            </a:clrChange>
          </a:blip>
          <a:stretch>
            <a:fillRect/>
          </a:stretch>
        </p:blipFill>
        <p:spPr>
          <a:xfrm>
            <a:off x="661751" y="5472465"/>
            <a:ext cx="8201618" cy="983752"/>
          </a:xfrm>
          <a:prstGeom prst="rect">
            <a:avLst/>
          </a:prstGeom>
        </p:spPr>
      </p:pic>
      <p:sp>
        <p:nvSpPr>
          <p:cNvPr id="11" name="文本框 10"/>
          <p:cNvSpPr txBox="1"/>
          <p:nvPr/>
        </p:nvSpPr>
        <p:spPr>
          <a:xfrm>
            <a:off x="661751" y="1190764"/>
            <a:ext cx="5720574" cy="406778"/>
          </a:xfrm>
          <a:prstGeom prst="rect">
            <a:avLst/>
          </a:prstGeom>
        </p:spPr>
        <p:txBody>
          <a:bodyPr wrap="square">
            <a:spAutoFit/>
          </a:bodyPr>
          <a:lstStyle/>
          <a:p>
            <a:pPr indent="0" algn="just" defTabSz="266700" fontAlgn="auto">
              <a:lnSpc>
                <a:spcPct val="125000"/>
              </a:lnSpc>
              <a:spcBef>
                <a:spcPct val="0"/>
              </a:spcBef>
              <a:spcAft>
                <a:spcPct val="0"/>
              </a:spcAft>
            </a:pPr>
            <a:r>
              <a:rPr lang="zh-CN" altLang="en-US" b="1" dirty="0">
                <a:solidFill>
                  <a:srgbClr val="000000"/>
                </a:solidFill>
                <a:latin typeface="Times New Roman" panose="02020603050405020304" pitchFamily="18" charset="0"/>
                <a:ea typeface="微软雅黑" panose="020B0503020204020204" charset="-122"/>
              </a:rPr>
              <a:t>（</a:t>
            </a:r>
            <a:r>
              <a:rPr lang="en-US" altLang="zh-CN" b="1" dirty="0">
                <a:solidFill>
                  <a:srgbClr val="000000"/>
                </a:solidFill>
                <a:latin typeface="Times New Roman" panose="02020603050405020304" pitchFamily="18" charset="0"/>
                <a:ea typeface="微软雅黑" panose="020B0503020204020204" charset="-122"/>
              </a:rPr>
              <a:t>1</a:t>
            </a:r>
            <a:r>
              <a:rPr lang="zh-CN" altLang="en-US" b="1" dirty="0">
                <a:solidFill>
                  <a:srgbClr val="000000"/>
                </a:solidFill>
                <a:latin typeface="Times New Roman" panose="02020603050405020304" pitchFamily="18" charset="0"/>
                <a:ea typeface="微软雅黑" panose="020B0503020204020204" charset="-122"/>
              </a:rPr>
              <a:t>）构建高维空间数据点的条件概率分布</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3DA70-7495-E3E7-5B8A-557BE7036374}"/>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84C67C66-C5E2-72FB-F25C-D679696C51D3}"/>
              </a:ext>
            </a:extLst>
          </p:cNvPr>
          <p:cNvSpPr/>
          <p:nvPr/>
        </p:nvSpPr>
        <p:spPr>
          <a:xfrm>
            <a:off x="995423" y="248198"/>
            <a:ext cx="10017888" cy="582295"/>
          </a:xfrm>
          <a:prstGeom prst="rect">
            <a:avLst/>
          </a:prstGeom>
          <a:noFill/>
        </p:spPr>
        <p:txBody>
          <a:bodyPr wrap="square" lIns="91429" tIns="45714" rIns="91429" bIns="45714">
            <a:spAutoFit/>
          </a:bodyPr>
          <a:lstStyle/>
          <a:p>
            <a:r>
              <a:rPr lang="en-US" altLang="zh-CN" sz="3200" dirty="0">
                <a:solidFill>
                  <a:srgbClr val="FFFF00"/>
                </a:solidFill>
                <a:latin typeface="华光综艺_CNKI" panose="02000500000000000000" pitchFamily="2" charset="-122"/>
                <a:ea typeface="华光综艺_CNKI" panose="02000500000000000000" pitchFamily="2" charset="-122"/>
                <a:sym typeface="+mn-ea"/>
              </a:rPr>
              <a:t>t-SNE</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公式推导</a:t>
            </a:r>
          </a:p>
        </p:txBody>
      </p:sp>
      <p:sp>
        <p:nvSpPr>
          <p:cNvPr id="12" name="文本框 11">
            <a:extLst>
              <a:ext uri="{FF2B5EF4-FFF2-40B4-BE49-F238E27FC236}">
                <a16:creationId xmlns:a16="http://schemas.microsoft.com/office/drawing/2014/main" id="{C2413CFE-3AAD-632B-8B7E-77CDB784205C}"/>
              </a:ext>
            </a:extLst>
          </p:cNvPr>
          <p:cNvSpPr txBox="1"/>
          <p:nvPr/>
        </p:nvSpPr>
        <p:spPr>
          <a:xfrm>
            <a:off x="828675" y="1330324"/>
            <a:ext cx="5453924" cy="406778"/>
          </a:xfrm>
          <a:prstGeom prst="rect">
            <a:avLst/>
          </a:prstGeom>
        </p:spPr>
        <p:txBody>
          <a:bodyPr wrap="square">
            <a:spAutoFit/>
          </a:bodyPr>
          <a:lstStyle/>
          <a:p>
            <a:pPr indent="0" algn="just" defTabSz="266700" fontAlgn="auto">
              <a:lnSpc>
                <a:spcPct val="125000"/>
              </a:lnSpc>
              <a:spcBef>
                <a:spcPct val="0"/>
              </a:spcBef>
              <a:spcAft>
                <a:spcPct val="0"/>
              </a:spcAft>
            </a:pPr>
            <a:r>
              <a:rPr lang="zh-CN" altLang="en-US" b="1" dirty="0">
                <a:solidFill>
                  <a:srgbClr val="000000"/>
                </a:solidFill>
                <a:latin typeface="Times New Roman" panose="02020603050405020304" pitchFamily="18" charset="0"/>
                <a:ea typeface="微软雅黑" panose="020B0503020204020204" charset="-122"/>
              </a:rPr>
              <a:t>（</a:t>
            </a:r>
            <a:r>
              <a:rPr lang="en-US" altLang="zh-CN" b="1" dirty="0">
                <a:solidFill>
                  <a:srgbClr val="000000"/>
                </a:solidFill>
                <a:latin typeface="Times New Roman" panose="02020603050405020304" pitchFamily="18" charset="0"/>
                <a:ea typeface="微软雅黑" panose="020B0503020204020204" charset="-122"/>
              </a:rPr>
              <a:t>2</a:t>
            </a:r>
            <a:r>
              <a:rPr lang="zh-CN" altLang="en-US" b="1" dirty="0">
                <a:solidFill>
                  <a:srgbClr val="000000"/>
                </a:solidFill>
                <a:latin typeface="Times New Roman" panose="02020603050405020304" pitchFamily="18" charset="0"/>
                <a:ea typeface="微软雅黑" panose="020B0503020204020204" charset="-122"/>
              </a:rPr>
              <a:t>）构建低维空间数据点的条件概率分布</a:t>
            </a:r>
          </a:p>
        </p:txBody>
      </p:sp>
      <p:pic>
        <p:nvPicPr>
          <p:cNvPr id="13" name="图片 12">
            <a:extLst>
              <a:ext uri="{FF2B5EF4-FFF2-40B4-BE49-F238E27FC236}">
                <a16:creationId xmlns:a16="http://schemas.microsoft.com/office/drawing/2014/main" id="{B1D3A20C-8092-F468-6EEF-0070B34A03F6}"/>
              </a:ext>
            </a:extLst>
          </p:cNvPr>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901700" y="1775459"/>
            <a:ext cx="9046542" cy="2207644"/>
          </a:xfrm>
          <a:prstGeom prst="rect">
            <a:avLst/>
          </a:prstGeom>
        </p:spPr>
      </p:pic>
      <p:graphicFrame>
        <p:nvGraphicFramePr>
          <p:cNvPr id="6" name="对象 -2147482178">
            <a:extLst>
              <a:ext uri="{FF2B5EF4-FFF2-40B4-BE49-F238E27FC236}">
                <a16:creationId xmlns:a16="http://schemas.microsoft.com/office/drawing/2014/main" id="{643C2E58-29C8-06CC-BCE4-F3D14035D056}"/>
              </a:ext>
            </a:extLst>
          </p:cNvPr>
          <p:cNvGraphicFramePr>
            <a:graphicFrameLocks noChangeAspect="1"/>
          </p:cNvGraphicFramePr>
          <p:nvPr>
            <p:extLst>
              <p:ext uri="{D42A27DB-BD31-4B8C-83A1-F6EECF244321}">
                <p14:modId xmlns:p14="http://schemas.microsoft.com/office/powerpoint/2010/main" val="2271726189"/>
              </p:ext>
            </p:extLst>
          </p:nvPr>
        </p:nvGraphicFramePr>
        <p:xfrm>
          <a:off x="3357128" y="3892231"/>
          <a:ext cx="3803137" cy="1412594"/>
        </p:xfrm>
        <a:graphic>
          <a:graphicData uri="http://schemas.openxmlformats.org/presentationml/2006/ole">
            <mc:AlternateContent xmlns:mc="http://schemas.openxmlformats.org/markup-compatibility/2006">
              <mc:Choice xmlns:v="urn:schemas-microsoft-com:vml" Requires="v">
                <p:oleObj r:id="rId4" imgW="1778000" imgH="660400" progId="Equation.DSMT4">
                  <p:embed/>
                </p:oleObj>
              </mc:Choice>
              <mc:Fallback>
                <p:oleObj r:id="rId4" imgW="1778000" imgH="660400" progId="Equation.DSMT4">
                  <p:embed/>
                  <p:pic>
                    <p:nvPicPr>
                      <p:cNvPr id="6" name="对象 -2147482178"/>
                      <p:cNvPicPr/>
                      <p:nvPr/>
                    </p:nvPicPr>
                    <p:blipFill>
                      <a:blip r:embed="rId5"/>
                      <a:stretch>
                        <a:fillRect/>
                      </a:stretch>
                    </p:blipFill>
                    <p:spPr>
                      <a:xfrm>
                        <a:off x="3357128" y="3892231"/>
                        <a:ext cx="3803137" cy="1412594"/>
                      </a:xfrm>
                      <a:prstGeom prst="rect">
                        <a:avLst/>
                      </a:prstGeom>
                      <a:noFill/>
                      <a:ln w="38100">
                        <a:noFill/>
                        <a:miter/>
                      </a:ln>
                    </p:spPr>
                  </p:pic>
                </p:oleObj>
              </mc:Fallback>
            </mc:AlternateContent>
          </a:graphicData>
        </a:graphic>
      </p:graphicFrame>
      <p:pic>
        <p:nvPicPr>
          <p:cNvPr id="14" name="图片 13">
            <a:extLst>
              <a:ext uri="{FF2B5EF4-FFF2-40B4-BE49-F238E27FC236}">
                <a16:creationId xmlns:a16="http://schemas.microsoft.com/office/drawing/2014/main" id="{5F80EA06-92F1-925E-FD54-795E7950578E}"/>
              </a:ext>
            </a:extLst>
          </p:cNvPr>
          <p:cNvPicPr>
            <a:picLocks noChangeAspect="1"/>
          </p:cNvPicPr>
          <p:nvPr/>
        </p:nvPicPr>
        <p:blipFill>
          <a:blip r:embed="rId6">
            <a:clrChange>
              <a:clrFrom>
                <a:srgbClr val="FFFFFF">
                  <a:alpha val="100000"/>
                </a:srgbClr>
              </a:clrFrom>
              <a:clrTo>
                <a:srgbClr val="FFFFFF">
                  <a:alpha val="100000"/>
                  <a:alpha val="0"/>
                </a:srgbClr>
              </a:clrTo>
            </a:clrChange>
          </a:blip>
          <a:stretch>
            <a:fillRect/>
          </a:stretch>
        </p:blipFill>
        <p:spPr>
          <a:xfrm>
            <a:off x="995423" y="5304825"/>
            <a:ext cx="9812339" cy="1158220"/>
          </a:xfrm>
          <a:prstGeom prst="rect">
            <a:avLst/>
          </a:prstGeom>
        </p:spPr>
      </p:pic>
    </p:spTree>
    <p:extLst>
      <p:ext uri="{BB962C8B-B14F-4D97-AF65-F5344CB8AC3E}">
        <p14:creationId xmlns:p14="http://schemas.microsoft.com/office/powerpoint/2010/main" val="3741360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4763"/>
          </a:xfrm>
          <a:prstGeom prst="rect">
            <a:avLst/>
          </a:prstGeom>
          <a:noFill/>
        </p:spPr>
        <p:txBody>
          <a:bodyPr wrap="square" lIns="91429" tIns="45714" rIns="91429" bIns="45714">
            <a:spAutoFit/>
          </a:bodyPr>
          <a:lstStyle/>
          <a:p>
            <a:r>
              <a:rPr lang="en-US" altLang="zh-CN" sz="3200" dirty="0">
                <a:solidFill>
                  <a:srgbClr val="FFFF00"/>
                </a:solidFill>
                <a:latin typeface="华光综艺_CNKI" panose="02000500000000000000" pitchFamily="2" charset="-122"/>
                <a:ea typeface="华光综艺_CNKI" panose="02000500000000000000" pitchFamily="2" charset="-122"/>
                <a:sym typeface="+mn-ea"/>
              </a:rPr>
              <a:t>t-SNE</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公式推导</a:t>
            </a:r>
          </a:p>
        </p:txBody>
      </p:sp>
      <p:pic>
        <p:nvPicPr>
          <p:cNvPr id="8" name="图片 7"/>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995423" y="1444148"/>
            <a:ext cx="9204197" cy="1521858"/>
          </a:xfrm>
          <a:prstGeom prst="rect">
            <a:avLst/>
          </a:prstGeom>
        </p:spPr>
      </p:pic>
      <p:pic>
        <p:nvPicPr>
          <p:cNvPr id="9" name="图片 8"/>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995423" y="3262454"/>
            <a:ext cx="9380627" cy="1521857"/>
          </a:xfrm>
          <a:prstGeom prst="rect">
            <a:avLst/>
          </a:prstGeom>
        </p:spPr>
      </p:pic>
      <p:graphicFrame>
        <p:nvGraphicFramePr>
          <p:cNvPr id="4" name="对象 -2147482172"/>
          <p:cNvGraphicFramePr>
            <a:graphicFrameLocks noChangeAspect="1"/>
          </p:cNvGraphicFramePr>
          <p:nvPr>
            <p:extLst>
              <p:ext uri="{D42A27DB-BD31-4B8C-83A1-F6EECF244321}">
                <p14:modId xmlns:p14="http://schemas.microsoft.com/office/powerpoint/2010/main" val="2060145885"/>
              </p:ext>
            </p:extLst>
          </p:nvPr>
        </p:nvGraphicFramePr>
        <p:xfrm>
          <a:off x="2934079" y="5080759"/>
          <a:ext cx="3351996" cy="787247"/>
        </p:xfrm>
        <a:graphic>
          <a:graphicData uri="http://schemas.openxmlformats.org/presentationml/2006/ole">
            <mc:AlternateContent xmlns:mc="http://schemas.openxmlformats.org/markup-compatibility/2006">
              <mc:Choice xmlns:v="urn:schemas-microsoft-com:vml" Requires="v">
                <p:oleObj r:id="rId5" imgW="1803400" imgH="419100" progId="Equation.DSMT4">
                  <p:embed/>
                </p:oleObj>
              </mc:Choice>
              <mc:Fallback>
                <p:oleObj r:id="rId5" imgW="1803400" imgH="419100" progId="Equation.DSMT4">
                  <p:embed/>
                  <p:pic>
                    <p:nvPicPr>
                      <p:cNvPr id="0" name="图片 14"/>
                      <p:cNvPicPr/>
                      <p:nvPr/>
                    </p:nvPicPr>
                    <p:blipFill>
                      <a:blip r:embed="rId6"/>
                      <a:stretch>
                        <a:fillRect/>
                      </a:stretch>
                    </p:blipFill>
                    <p:spPr>
                      <a:xfrm>
                        <a:off x="2934079" y="5080759"/>
                        <a:ext cx="3351996" cy="787247"/>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952D1-40FE-B772-6484-3D2D7BEB4566}"/>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26B9721F-8E6C-651F-5F2F-C485C3A7E89B}"/>
              </a:ext>
            </a:extLst>
          </p:cNvPr>
          <p:cNvSpPr/>
          <p:nvPr/>
        </p:nvSpPr>
        <p:spPr>
          <a:xfrm>
            <a:off x="995423" y="248198"/>
            <a:ext cx="10017888" cy="582295"/>
          </a:xfrm>
          <a:prstGeom prst="rect">
            <a:avLst/>
          </a:prstGeom>
          <a:noFill/>
        </p:spPr>
        <p:txBody>
          <a:bodyPr wrap="square" lIns="91429" tIns="45714" rIns="91429" bIns="45714">
            <a:spAutoFit/>
          </a:bodyPr>
          <a:lstStyle/>
          <a:p>
            <a:r>
              <a:rPr lang="en-US" altLang="zh-CN" sz="3200" dirty="0">
                <a:solidFill>
                  <a:srgbClr val="FFFF00"/>
                </a:solidFill>
                <a:latin typeface="华光综艺_CNKI" panose="02000500000000000000" pitchFamily="2" charset="-122"/>
                <a:ea typeface="华光综艺_CNKI" panose="02000500000000000000" pitchFamily="2" charset="-122"/>
                <a:sym typeface="+mn-ea"/>
              </a:rPr>
              <a:t>t-SNE</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公式推导</a:t>
            </a:r>
          </a:p>
        </p:txBody>
      </p:sp>
      <p:pic>
        <p:nvPicPr>
          <p:cNvPr id="16" name="图片 15">
            <a:extLst>
              <a:ext uri="{FF2B5EF4-FFF2-40B4-BE49-F238E27FC236}">
                <a16:creationId xmlns:a16="http://schemas.microsoft.com/office/drawing/2014/main" id="{39711964-AE62-9F40-6263-569535577049}"/>
              </a:ext>
            </a:extLst>
          </p:cNvPr>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844665" y="1286046"/>
            <a:ext cx="9210423" cy="1549303"/>
          </a:xfrm>
          <a:prstGeom prst="rect">
            <a:avLst/>
          </a:prstGeom>
        </p:spPr>
      </p:pic>
      <p:graphicFrame>
        <p:nvGraphicFramePr>
          <p:cNvPr id="5" name="对象 -2147482171">
            <a:extLst>
              <a:ext uri="{FF2B5EF4-FFF2-40B4-BE49-F238E27FC236}">
                <a16:creationId xmlns:a16="http://schemas.microsoft.com/office/drawing/2014/main" id="{9DC76105-428F-52FE-91ED-DB9967AA50EC}"/>
              </a:ext>
            </a:extLst>
          </p:cNvPr>
          <p:cNvGraphicFramePr>
            <a:graphicFrameLocks noChangeAspect="1"/>
          </p:cNvGraphicFramePr>
          <p:nvPr>
            <p:extLst>
              <p:ext uri="{D42A27DB-BD31-4B8C-83A1-F6EECF244321}">
                <p14:modId xmlns:p14="http://schemas.microsoft.com/office/powerpoint/2010/main" val="2422878422"/>
              </p:ext>
            </p:extLst>
          </p:nvPr>
        </p:nvGraphicFramePr>
        <p:xfrm>
          <a:off x="2926196" y="2817921"/>
          <a:ext cx="4737233" cy="1029833"/>
        </p:xfrm>
        <a:graphic>
          <a:graphicData uri="http://schemas.openxmlformats.org/presentationml/2006/ole">
            <mc:AlternateContent xmlns:mc="http://schemas.openxmlformats.org/markup-compatibility/2006">
              <mc:Choice xmlns:v="urn:schemas-microsoft-com:vml" Requires="v">
                <p:oleObj r:id="rId4" imgW="2336800" imgH="508000" progId="Equation.DSMT4">
                  <p:embed/>
                </p:oleObj>
              </mc:Choice>
              <mc:Fallback>
                <p:oleObj r:id="rId4" imgW="2336800" imgH="508000" progId="Equation.DSMT4">
                  <p:embed/>
                  <p:pic>
                    <p:nvPicPr>
                      <p:cNvPr id="5" name="对象 -2147482171"/>
                      <p:cNvPicPr/>
                      <p:nvPr/>
                    </p:nvPicPr>
                    <p:blipFill>
                      <a:blip r:embed="rId5"/>
                      <a:stretch>
                        <a:fillRect/>
                      </a:stretch>
                    </p:blipFill>
                    <p:spPr>
                      <a:xfrm>
                        <a:off x="2926196" y="2817921"/>
                        <a:ext cx="4737233" cy="1029833"/>
                      </a:xfrm>
                      <a:prstGeom prst="rect">
                        <a:avLst/>
                      </a:prstGeom>
                      <a:noFill/>
                      <a:ln w="38100">
                        <a:noFill/>
                        <a:miter/>
                      </a:ln>
                    </p:spPr>
                  </p:pic>
                </p:oleObj>
              </mc:Fallback>
            </mc:AlternateContent>
          </a:graphicData>
        </a:graphic>
      </p:graphicFrame>
      <p:pic>
        <p:nvPicPr>
          <p:cNvPr id="18" name="图片 17">
            <a:extLst>
              <a:ext uri="{FF2B5EF4-FFF2-40B4-BE49-F238E27FC236}">
                <a16:creationId xmlns:a16="http://schemas.microsoft.com/office/drawing/2014/main" id="{9C4F0532-28A6-8939-681E-28626445290D}"/>
              </a:ext>
            </a:extLst>
          </p:cNvPr>
          <p:cNvPicPr>
            <a:picLocks noChangeAspect="1"/>
          </p:cNvPicPr>
          <p:nvPr/>
        </p:nvPicPr>
        <p:blipFill>
          <a:blip r:embed="rId6">
            <a:clrChange>
              <a:clrFrom>
                <a:srgbClr val="FFFFFF">
                  <a:alpha val="100000"/>
                </a:srgbClr>
              </a:clrFrom>
              <a:clrTo>
                <a:srgbClr val="FFFFFF">
                  <a:alpha val="100000"/>
                  <a:alpha val="0"/>
                </a:srgbClr>
              </a:clrTo>
            </a:clrChange>
          </a:blip>
          <a:stretch>
            <a:fillRect/>
          </a:stretch>
        </p:blipFill>
        <p:spPr>
          <a:xfrm>
            <a:off x="844665" y="3944496"/>
            <a:ext cx="10358964" cy="1166241"/>
          </a:xfrm>
          <a:prstGeom prst="rect">
            <a:avLst/>
          </a:prstGeom>
        </p:spPr>
      </p:pic>
      <p:graphicFrame>
        <p:nvGraphicFramePr>
          <p:cNvPr id="6" name="对象 -2147482170">
            <a:extLst>
              <a:ext uri="{FF2B5EF4-FFF2-40B4-BE49-F238E27FC236}">
                <a16:creationId xmlns:a16="http://schemas.microsoft.com/office/drawing/2014/main" id="{CC68DC27-8968-4308-0886-4E5089B8E020}"/>
              </a:ext>
            </a:extLst>
          </p:cNvPr>
          <p:cNvGraphicFramePr>
            <a:graphicFrameLocks noChangeAspect="1"/>
          </p:cNvGraphicFramePr>
          <p:nvPr>
            <p:extLst>
              <p:ext uri="{D42A27DB-BD31-4B8C-83A1-F6EECF244321}">
                <p14:modId xmlns:p14="http://schemas.microsoft.com/office/powerpoint/2010/main" val="3151745600"/>
              </p:ext>
            </p:extLst>
          </p:nvPr>
        </p:nvGraphicFramePr>
        <p:xfrm>
          <a:off x="2926196" y="5304221"/>
          <a:ext cx="5574194" cy="970169"/>
        </p:xfrm>
        <a:graphic>
          <a:graphicData uri="http://schemas.openxmlformats.org/presentationml/2006/ole">
            <mc:AlternateContent xmlns:mc="http://schemas.openxmlformats.org/markup-compatibility/2006">
              <mc:Choice xmlns:v="urn:schemas-microsoft-com:vml" Requires="v">
                <p:oleObj r:id="rId7" imgW="2476500" imgH="431800" progId="Equation.DSMT4">
                  <p:embed/>
                </p:oleObj>
              </mc:Choice>
              <mc:Fallback>
                <p:oleObj r:id="rId7" imgW="2476500" imgH="431800" progId="Equation.DSMT4">
                  <p:embed/>
                  <p:pic>
                    <p:nvPicPr>
                      <p:cNvPr id="6" name="对象 -2147482170"/>
                      <p:cNvPicPr/>
                      <p:nvPr/>
                    </p:nvPicPr>
                    <p:blipFill>
                      <a:blip r:embed="rId8"/>
                      <a:stretch>
                        <a:fillRect/>
                      </a:stretch>
                    </p:blipFill>
                    <p:spPr>
                      <a:xfrm>
                        <a:off x="2926196" y="5304221"/>
                        <a:ext cx="5574194" cy="970169"/>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10119528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en-US" altLang="zh-CN" sz="3200" dirty="0">
                <a:solidFill>
                  <a:srgbClr val="FFFF00"/>
                </a:solidFill>
                <a:latin typeface="华光综艺_CNKI" panose="02000500000000000000" pitchFamily="2" charset="-122"/>
                <a:ea typeface="华光综艺_CNKI" panose="02000500000000000000" pitchFamily="2" charset="-122"/>
                <a:sym typeface="+mn-ea"/>
              </a:rPr>
              <a:t>t-SNE</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公式推导</a:t>
            </a:r>
          </a:p>
        </p:txBody>
      </p:sp>
      <p:pic>
        <p:nvPicPr>
          <p:cNvPr id="20" name="图片 19">
            <a:extLst>
              <a:ext uri="{FF2B5EF4-FFF2-40B4-BE49-F238E27FC236}">
                <a16:creationId xmlns:a16="http://schemas.microsoft.com/office/drawing/2014/main" id="{B13DBD73-2CE4-6B16-4C73-3C6F96356F44}"/>
              </a:ext>
            </a:extLst>
          </p:cNvPr>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761682" y="1346090"/>
            <a:ext cx="9514183" cy="1641663"/>
          </a:xfrm>
          <a:prstGeom prst="rect">
            <a:avLst/>
          </a:prstGeom>
        </p:spPr>
      </p:pic>
      <p:pic>
        <p:nvPicPr>
          <p:cNvPr id="9" name="图片 8">
            <a:extLst>
              <a:ext uri="{FF2B5EF4-FFF2-40B4-BE49-F238E27FC236}">
                <a16:creationId xmlns:a16="http://schemas.microsoft.com/office/drawing/2014/main" id="{155491F6-3A05-A2DF-0841-B47979BFAED6}"/>
              </a:ext>
            </a:extLst>
          </p:cNvPr>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761682" y="3293397"/>
            <a:ext cx="9628753" cy="1795839"/>
          </a:xfrm>
          <a:prstGeom prst="rect">
            <a:avLst/>
          </a:prstGeom>
        </p:spPr>
      </p:pic>
      <p:graphicFrame>
        <p:nvGraphicFramePr>
          <p:cNvPr id="12" name="对象 -2147482048">
            <a:extLst>
              <a:ext uri="{FF2B5EF4-FFF2-40B4-BE49-F238E27FC236}">
                <a16:creationId xmlns:a16="http://schemas.microsoft.com/office/drawing/2014/main" id="{67F06A69-16C5-425D-23C2-BF957758ED7A}"/>
              </a:ext>
            </a:extLst>
          </p:cNvPr>
          <p:cNvGraphicFramePr>
            <a:graphicFrameLocks noChangeAspect="1"/>
          </p:cNvGraphicFramePr>
          <p:nvPr>
            <p:extLst>
              <p:ext uri="{D42A27DB-BD31-4B8C-83A1-F6EECF244321}">
                <p14:modId xmlns:p14="http://schemas.microsoft.com/office/powerpoint/2010/main" val="2814849430"/>
              </p:ext>
            </p:extLst>
          </p:nvPr>
        </p:nvGraphicFramePr>
        <p:xfrm>
          <a:off x="4053868" y="5211715"/>
          <a:ext cx="2213027" cy="998579"/>
        </p:xfrm>
        <a:graphic>
          <a:graphicData uri="http://schemas.openxmlformats.org/presentationml/2006/ole">
            <mc:AlternateContent xmlns:mc="http://schemas.openxmlformats.org/markup-compatibility/2006">
              <mc:Choice xmlns:v="urn:schemas-microsoft-com:vml" Requires="v">
                <p:oleObj r:id="rId5" imgW="951865" imgH="431800" progId="Equation.DSMT4">
                  <p:embed/>
                </p:oleObj>
              </mc:Choice>
              <mc:Fallback>
                <p:oleObj r:id="rId5" imgW="951865" imgH="431800" progId="Equation.DSMT4">
                  <p:embed/>
                  <p:pic>
                    <p:nvPicPr>
                      <p:cNvPr id="5" name="对象 -2147482048">
                        <a:extLst>
                          <a:ext uri="{FF2B5EF4-FFF2-40B4-BE49-F238E27FC236}">
                            <a16:creationId xmlns:a16="http://schemas.microsoft.com/office/drawing/2014/main" id="{D2AAA4EB-BD53-045A-E4D0-C3E74B77F750}"/>
                          </a:ext>
                        </a:extLst>
                      </p:cNvPr>
                      <p:cNvPicPr/>
                      <p:nvPr/>
                    </p:nvPicPr>
                    <p:blipFill>
                      <a:blip r:embed="rId6"/>
                      <a:stretch>
                        <a:fillRect/>
                      </a:stretch>
                    </p:blipFill>
                    <p:spPr>
                      <a:xfrm>
                        <a:off x="4053868" y="5211715"/>
                        <a:ext cx="2213027" cy="998579"/>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C52F2-F6B3-52C8-9503-DCCD0F483E9D}"/>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69CDCEC9-3BEE-0F40-B03B-4A18FC734189}"/>
              </a:ext>
            </a:extLst>
          </p:cNvPr>
          <p:cNvSpPr/>
          <p:nvPr/>
        </p:nvSpPr>
        <p:spPr>
          <a:xfrm>
            <a:off x="995423" y="248198"/>
            <a:ext cx="10017888" cy="582295"/>
          </a:xfrm>
          <a:prstGeom prst="rect">
            <a:avLst/>
          </a:prstGeom>
          <a:noFill/>
        </p:spPr>
        <p:txBody>
          <a:bodyPr wrap="square" lIns="91429" tIns="45714" rIns="91429" bIns="45714">
            <a:spAutoFit/>
          </a:bodyPr>
          <a:lstStyle/>
          <a:p>
            <a:r>
              <a:rPr lang="en-US" altLang="zh-CN" sz="3200" dirty="0">
                <a:solidFill>
                  <a:srgbClr val="FFFF00"/>
                </a:solidFill>
                <a:latin typeface="华光综艺_CNKI" panose="02000500000000000000" pitchFamily="2" charset="-122"/>
                <a:ea typeface="华光综艺_CNKI" panose="02000500000000000000" pitchFamily="2" charset="-122"/>
                <a:sym typeface="+mn-ea"/>
              </a:rPr>
              <a:t>t-SNE</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公式推导</a:t>
            </a:r>
          </a:p>
        </p:txBody>
      </p:sp>
      <p:pic>
        <p:nvPicPr>
          <p:cNvPr id="6" name="图片 5">
            <a:extLst>
              <a:ext uri="{FF2B5EF4-FFF2-40B4-BE49-F238E27FC236}">
                <a16:creationId xmlns:a16="http://schemas.microsoft.com/office/drawing/2014/main" id="{EA7F4AD7-8DD0-FD71-A6D9-09FCD4107874}"/>
              </a:ext>
            </a:extLst>
          </p:cNvPr>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800376" y="1395360"/>
            <a:ext cx="10337538" cy="1337799"/>
          </a:xfrm>
          <a:prstGeom prst="rect">
            <a:avLst/>
          </a:prstGeom>
        </p:spPr>
      </p:pic>
      <p:graphicFrame>
        <p:nvGraphicFramePr>
          <p:cNvPr id="8" name="对象 -2147482047">
            <a:extLst>
              <a:ext uri="{FF2B5EF4-FFF2-40B4-BE49-F238E27FC236}">
                <a16:creationId xmlns:a16="http://schemas.microsoft.com/office/drawing/2014/main" id="{F2AAEBE9-C8B2-2B38-4B27-9BA99E54397C}"/>
              </a:ext>
            </a:extLst>
          </p:cNvPr>
          <p:cNvGraphicFramePr>
            <a:graphicFrameLocks noChangeAspect="1"/>
          </p:cNvGraphicFramePr>
          <p:nvPr>
            <p:extLst>
              <p:ext uri="{D42A27DB-BD31-4B8C-83A1-F6EECF244321}">
                <p14:modId xmlns:p14="http://schemas.microsoft.com/office/powerpoint/2010/main" val="231762932"/>
              </p:ext>
            </p:extLst>
          </p:nvPr>
        </p:nvGraphicFramePr>
        <p:xfrm>
          <a:off x="3572535" y="2062739"/>
          <a:ext cx="3163156" cy="1624531"/>
        </p:xfrm>
        <a:graphic>
          <a:graphicData uri="http://schemas.openxmlformats.org/presentationml/2006/ole">
            <mc:AlternateContent xmlns:mc="http://schemas.openxmlformats.org/markup-compatibility/2006">
              <mc:Choice xmlns:v="urn:schemas-microsoft-com:vml" Requires="v">
                <p:oleObj r:id="rId4" imgW="1562100" imgH="800100" progId="Equation.DSMT4">
                  <p:embed/>
                </p:oleObj>
              </mc:Choice>
              <mc:Fallback>
                <p:oleObj r:id="rId4" imgW="1562100" imgH="800100" progId="Equation.DSMT4">
                  <p:embed/>
                  <p:pic>
                    <p:nvPicPr>
                      <p:cNvPr id="8" name="对象 -2147482047"/>
                      <p:cNvPicPr/>
                      <p:nvPr/>
                    </p:nvPicPr>
                    <p:blipFill>
                      <a:blip r:embed="rId5"/>
                      <a:stretch>
                        <a:fillRect/>
                      </a:stretch>
                    </p:blipFill>
                    <p:spPr>
                      <a:xfrm>
                        <a:off x="3572535" y="2062739"/>
                        <a:ext cx="3163156" cy="1624531"/>
                      </a:xfrm>
                      <a:prstGeom prst="rect">
                        <a:avLst/>
                      </a:prstGeom>
                      <a:noFill/>
                      <a:ln w="38100">
                        <a:noFill/>
                        <a:miter/>
                      </a:ln>
                    </p:spPr>
                  </p:pic>
                </p:oleObj>
              </mc:Fallback>
            </mc:AlternateContent>
          </a:graphicData>
        </a:graphic>
      </p:graphicFrame>
      <p:pic>
        <p:nvPicPr>
          <p:cNvPr id="10" name="图片 9">
            <a:extLst>
              <a:ext uri="{FF2B5EF4-FFF2-40B4-BE49-F238E27FC236}">
                <a16:creationId xmlns:a16="http://schemas.microsoft.com/office/drawing/2014/main" id="{916DF583-5BD7-D311-7750-040F3024AEEE}"/>
              </a:ext>
            </a:extLst>
          </p:cNvPr>
          <p:cNvPicPr>
            <a:picLocks noChangeAspect="1"/>
          </p:cNvPicPr>
          <p:nvPr/>
        </p:nvPicPr>
        <p:blipFill>
          <a:blip r:embed="rId6">
            <a:clrChange>
              <a:clrFrom>
                <a:srgbClr val="FFFFFF">
                  <a:alpha val="100000"/>
                </a:srgbClr>
              </a:clrFrom>
              <a:clrTo>
                <a:srgbClr val="FFFFFF">
                  <a:alpha val="100000"/>
                  <a:alpha val="0"/>
                </a:srgbClr>
              </a:clrTo>
            </a:clrChange>
          </a:blip>
          <a:stretch>
            <a:fillRect/>
          </a:stretch>
        </p:blipFill>
        <p:spPr>
          <a:xfrm>
            <a:off x="800376" y="3812975"/>
            <a:ext cx="10587014" cy="1131858"/>
          </a:xfrm>
          <a:prstGeom prst="rect">
            <a:avLst/>
          </a:prstGeom>
        </p:spPr>
      </p:pic>
      <p:graphicFrame>
        <p:nvGraphicFramePr>
          <p:cNvPr id="11" name="对象 -2147482158">
            <a:extLst>
              <a:ext uri="{FF2B5EF4-FFF2-40B4-BE49-F238E27FC236}">
                <a16:creationId xmlns:a16="http://schemas.microsoft.com/office/drawing/2014/main" id="{2C594B6C-F97F-E631-84FB-BB242CF430CC}"/>
              </a:ext>
            </a:extLst>
          </p:cNvPr>
          <p:cNvGraphicFramePr>
            <a:graphicFrameLocks noChangeAspect="1"/>
          </p:cNvGraphicFramePr>
          <p:nvPr>
            <p:extLst>
              <p:ext uri="{D42A27DB-BD31-4B8C-83A1-F6EECF244321}">
                <p14:modId xmlns:p14="http://schemas.microsoft.com/office/powerpoint/2010/main" val="329757605"/>
              </p:ext>
            </p:extLst>
          </p:nvPr>
        </p:nvGraphicFramePr>
        <p:xfrm>
          <a:off x="2925990" y="5228524"/>
          <a:ext cx="5312551" cy="1089150"/>
        </p:xfrm>
        <a:graphic>
          <a:graphicData uri="http://schemas.openxmlformats.org/presentationml/2006/ole">
            <mc:AlternateContent xmlns:mc="http://schemas.openxmlformats.org/markup-compatibility/2006">
              <mc:Choice xmlns:v="urn:schemas-microsoft-com:vml" Requires="v">
                <p:oleObj r:id="rId7" imgW="2857500" imgH="444500" progId="Equation.DSMT4">
                  <p:embed/>
                </p:oleObj>
              </mc:Choice>
              <mc:Fallback>
                <p:oleObj r:id="rId7" imgW="2857500" imgH="444500" progId="Equation.DSMT4">
                  <p:embed/>
                  <p:pic>
                    <p:nvPicPr>
                      <p:cNvPr id="11" name="对象 -2147482158"/>
                      <p:cNvPicPr/>
                      <p:nvPr/>
                    </p:nvPicPr>
                    <p:blipFill>
                      <a:blip r:embed="rId8"/>
                      <a:stretch>
                        <a:fillRect/>
                      </a:stretch>
                    </p:blipFill>
                    <p:spPr>
                      <a:xfrm>
                        <a:off x="2925990" y="5228524"/>
                        <a:ext cx="5312551" cy="1089150"/>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112216538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BF452-C21F-0A91-0362-20601B610AAD}"/>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0C10FC68-416E-7979-CDE2-89A619E024B0}"/>
              </a:ext>
            </a:extLst>
          </p:cNvPr>
          <p:cNvSpPr/>
          <p:nvPr/>
        </p:nvSpPr>
        <p:spPr>
          <a:xfrm>
            <a:off x="995423" y="248198"/>
            <a:ext cx="10017888" cy="582295"/>
          </a:xfrm>
          <a:prstGeom prst="rect">
            <a:avLst/>
          </a:prstGeom>
          <a:noFill/>
        </p:spPr>
        <p:txBody>
          <a:bodyPr wrap="square" lIns="91429" tIns="45714" rIns="91429" bIns="45714">
            <a:spAutoFit/>
          </a:bodyPr>
          <a:lstStyle/>
          <a:p>
            <a:r>
              <a:rPr lang="en-US" altLang="zh-CN" sz="3200" dirty="0">
                <a:solidFill>
                  <a:srgbClr val="FFFF00"/>
                </a:solidFill>
                <a:latin typeface="华光综艺_CNKI" panose="02000500000000000000" pitchFamily="2" charset="-122"/>
                <a:ea typeface="华光综艺_CNKI" panose="02000500000000000000" pitchFamily="2" charset="-122"/>
                <a:sym typeface="+mn-ea"/>
              </a:rPr>
              <a:t>t-SNE</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公式推导</a:t>
            </a:r>
          </a:p>
        </p:txBody>
      </p:sp>
      <p:pic>
        <p:nvPicPr>
          <p:cNvPr id="13" name="图片 12">
            <a:extLst>
              <a:ext uri="{FF2B5EF4-FFF2-40B4-BE49-F238E27FC236}">
                <a16:creationId xmlns:a16="http://schemas.microsoft.com/office/drawing/2014/main" id="{B4F0A8A7-2687-700A-C8AF-484A219C55B0}"/>
              </a:ext>
            </a:extLst>
          </p:cNvPr>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465384" y="1378535"/>
            <a:ext cx="11261232" cy="1163469"/>
          </a:xfrm>
          <a:prstGeom prst="rect">
            <a:avLst/>
          </a:prstGeom>
        </p:spPr>
      </p:pic>
      <p:pic>
        <p:nvPicPr>
          <p:cNvPr id="14" name="图片 13" descr="10">
            <a:extLst>
              <a:ext uri="{FF2B5EF4-FFF2-40B4-BE49-F238E27FC236}">
                <a16:creationId xmlns:a16="http://schemas.microsoft.com/office/drawing/2014/main" id="{5909F210-DF31-2C8D-9A5C-B5105853BABD}"/>
              </a:ext>
            </a:extLst>
          </p:cNvPr>
          <p:cNvPicPr>
            <a:picLocks noChangeAspect="1"/>
          </p:cNvPicPr>
          <p:nvPr/>
        </p:nvPicPr>
        <p:blipFill>
          <a:blip r:embed="rId4">
            <a:clrChange>
              <a:clrFrom>
                <a:srgbClr val="FFFFFF">
                  <a:alpha val="100000"/>
                </a:srgbClr>
              </a:clrFrom>
              <a:clrTo>
                <a:srgbClr val="FFFFFF">
                  <a:alpha val="100000"/>
                  <a:alpha val="0"/>
                </a:srgbClr>
              </a:clrTo>
            </a:clrChange>
          </a:blip>
          <a:srcRect l="3289" t="18368" r="2770" b="7499"/>
          <a:stretch>
            <a:fillRect/>
          </a:stretch>
        </p:blipFill>
        <p:spPr>
          <a:xfrm>
            <a:off x="2962355" y="2585304"/>
            <a:ext cx="5784850" cy="3461385"/>
          </a:xfrm>
          <a:prstGeom prst="rect">
            <a:avLst/>
          </a:prstGeom>
        </p:spPr>
      </p:pic>
    </p:spTree>
    <p:extLst>
      <p:ext uri="{BB962C8B-B14F-4D97-AF65-F5344CB8AC3E}">
        <p14:creationId xmlns:p14="http://schemas.microsoft.com/office/powerpoint/2010/main" val="22877422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1077206"/>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sym typeface="+mn-ea"/>
              </a:rPr>
              <a:t>实践案例：基于</a:t>
            </a:r>
            <a:r>
              <a:rPr lang="en-US" altLang="zh-CN" sz="3200" dirty="0">
                <a:solidFill>
                  <a:srgbClr val="FFFF00"/>
                </a:solidFill>
                <a:latin typeface="华光综艺_CNKI" panose="02000500000000000000" pitchFamily="2" charset="-122"/>
                <a:ea typeface="华光综艺_CNKI" panose="02000500000000000000" pitchFamily="2" charset="-122"/>
                <a:sym typeface="+mn-ea"/>
              </a:rPr>
              <a:t>t-SNE</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的手写数字数据集降维</a:t>
            </a:r>
          </a:p>
          <a:p>
            <a:endParaRPr lang="zh-CN" altLang="en-US" sz="3200" dirty="0">
              <a:solidFill>
                <a:srgbClr val="FFFF00"/>
              </a:solidFill>
              <a:latin typeface="华光综艺_CNKI" panose="02000500000000000000" pitchFamily="2" charset="-122"/>
              <a:ea typeface="华光综艺_CNKI" panose="02000500000000000000" pitchFamily="2" charset="-122"/>
              <a:sym typeface="+mn-ea"/>
            </a:endParaRPr>
          </a:p>
        </p:txBody>
      </p:sp>
      <p:pic>
        <p:nvPicPr>
          <p:cNvPr id="9" name="图片 8" descr="12"/>
          <p:cNvPicPr>
            <a:picLocks noChangeAspect="1"/>
          </p:cNvPicPr>
          <p:nvPr/>
        </p:nvPicPr>
        <p:blipFill>
          <a:blip r:embed="rId3">
            <a:clrChange>
              <a:clrFrom>
                <a:srgbClr val="FFFFFF">
                  <a:alpha val="100000"/>
                </a:srgbClr>
              </a:clrFrom>
              <a:clrTo>
                <a:srgbClr val="FFFFFF">
                  <a:alpha val="100000"/>
                  <a:alpha val="0"/>
                </a:srgbClr>
              </a:clrTo>
            </a:clrChange>
          </a:blip>
          <a:srcRect l="1650" t="9618" r="3575" b="10693"/>
          <a:stretch>
            <a:fillRect/>
          </a:stretch>
        </p:blipFill>
        <p:spPr>
          <a:xfrm>
            <a:off x="1681999" y="1729741"/>
            <a:ext cx="8350250" cy="423545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sym typeface="+mn-ea"/>
              </a:rPr>
              <a:t>实践案例：基于</a:t>
            </a:r>
            <a:r>
              <a:rPr lang="en-US" altLang="zh-CN" sz="3200" dirty="0">
                <a:solidFill>
                  <a:srgbClr val="FFFF00"/>
                </a:solidFill>
                <a:latin typeface="华光综艺_CNKI" panose="02000500000000000000" pitchFamily="2" charset="-122"/>
                <a:ea typeface="华光综艺_CNKI" panose="02000500000000000000" pitchFamily="2" charset="-122"/>
                <a:sym typeface="+mn-ea"/>
              </a:rPr>
              <a:t>t-SNE</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的手写数字数据集降维</a:t>
            </a:r>
          </a:p>
        </p:txBody>
      </p:sp>
      <p:pic>
        <p:nvPicPr>
          <p:cNvPr id="209" name="图片 278"/>
          <p:cNvPicPr>
            <a:picLocks noChangeAspect="1"/>
          </p:cNvPicPr>
          <p:nvPr/>
        </p:nvPicPr>
        <p:blipFill>
          <a:blip r:embed="rId3"/>
          <a:srcRect/>
          <a:stretch>
            <a:fillRect/>
          </a:stretch>
        </p:blipFill>
        <p:spPr>
          <a:xfrm>
            <a:off x="7539226" y="2159838"/>
            <a:ext cx="3474085" cy="3474085"/>
          </a:xfrm>
          <a:prstGeom prst="rect">
            <a:avLst/>
          </a:prstGeom>
          <a:noFill/>
          <a:ln>
            <a:noFill/>
          </a:ln>
        </p:spPr>
      </p:pic>
      <p:sp>
        <p:nvSpPr>
          <p:cNvPr id="5" name="文本框 4"/>
          <p:cNvSpPr txBox="1"/>
          <p:nvPr/>
        </p:nvSpPr>
        <p:spPr>
          <a:xfrm>
            <a:off x="541654" y="1907177"/>
            <a:ext cx="5903596" cy="3731278"/>
          </a:xfrm>
          <a:prstGeom prst="rect">
            <a:avLst/>
          </a:prstGeom>
        </p:spPr>
        <p:txBody>
          <a:bodyPr wrap="square">
            <a:spAutoFit/>
          </a:bodyPr>
          <a:lstStyle/>
          <a:p>
            <a:pPr indent="0" algn="just" defTabSz="266700" fontAlgn="auto">
              <a:lnSpc>
                <a:spcPct val="150000"/>
              </a:lnSpc>
              <a:spcBef>
                <a:spcPct val="0"/>
              </a:spcBef>
              <a:spcAft>
                <a:spcPct val="0"/>
              </a:spcAft>
            </a:pPr>
            <a:r>
              <a:rPr lang="zh-CN" altLang="en-US" sz="2000" b="1" dirty="0">
                <a:solidFill>
                  <a:srgbClr val="000000"/>
                </a:solidFill>
                <a:latin typeface="Times New Roman" panose="02020603050405020304" pitchFamily="18" charset="0"/>
                <a:ea typeface="微软雅黑" panose="020B0503020204020204" charset="-122"/>
              </a:rPr>
              <a:t>    数据集：</a:t>
            </a:r>
            <a:r>
              <a:rPr lang="zh-CN" altLang="en-US" sz="2000" dirty="0">
                <a:solidFill>
                  <a:srgbClr val="000000"/>
                </a:solidFill>
                <a:latin typeface="Times New Roman" panose="02020603050405020304" pitchFamily="18" charset="0"/>
                <a:ea typeface="微软雅黑" panose="020B0503020204020204" charset="-122"/>
              </a:rPr>
              <a:t>手写数字图片数据集。</a:t>
            </a:r>
          </a:p>
          <a:p>
            <a:pPr indent="0" algn="just" defTabSz="266700" fontAlgn="auto">
              <a:lnSpc>
                <a:spcPct val="150000"/>
              </a:lnSpc>
              <a:spcBef>
                <a:spcPct val="0"/>
              </a:spcBef>
              <a:spcAft>
                <a:spcPct val="0"/>
              </a:spcAft>
            </a:pPr>
            <a:r>
              <a:rPr lang="zh-CN" altLang="en-US" sz="2000" dirty="0">
                <a:solidFill>
                  <a:srgbClr val="000000"/>
                </a:solidFill>
                <a:latin typeface="Times New Roman" panose="02020603050405020304" pitchFamily="18" charset="0"/>
                <a:ea typeface="微软雅黑" panose="020B0503020204020204" charset="-122"/>
              </a:rPr>
              <a:t>    该数据集常用于机器学习和模式识别领域，一共有</a:t>
            </a:r>
            <a:r>
              <a:rPr lang="en-US" altLang="zh-CN" sz="2000" dirty="0">
                <a:solidFill>
                  <a:srgbClr val="000000"/>
                </a:solidFill>
                <a:latin typeface="Times New Roman" panose="02020603050405020304" pitchFamily="18" charset="0"/>
                <a:ea typeface="微软雅黑" panose="020B0503020204020204" charset="-122"/>
              </a:rPr>
              <a:t>1797</a:t>
            </a:r>
            <a:r>
              <a:rPr lang="zh-CN" altLang="en-US" sz="2000" dirty="0">
                <a:solidFill>
                  <a:srgbClr val="000000"/>
                </a:solidFill>
                <a:latin typeface="Times New Roman" panose="02020603050405020304" pitchFamily="18" charset="0"/>
                <a:ea typeface="微软雅黑" panose="020B0503020204020204" charset="-122"/>
              </a:rPr>
              <a:t>张分辨率为</a:t>
            </a:r>
            <a:r>
              <a:rPr lang="en-US" altLang="zh-CN" sz="2000" dirty="0">
                <a:solidFill>
                  <a:srgbClr val="000000"/>
                </a:solidFill>
                <a:latin typeface="Times New Roman" panose="02020603050405020304" pitchFamily="18" charset="0"/>
                <a:ea typeface="微软雅黑" panose="020B0503020204020204" charset="-122"/>
              </a:rPr>
              <a:t>8×8</a:t>
            </a:r>
            <a:r>
              <a:rPr lang="zh-CN" altLang="en-US" sz="2000" dirty="0">
                <a:solidFill>
                  <a:srgbClr val="000000"/>
                </a:solidFill>
                <a:latin typeface="Times New Roman" panose="02020603050405020304" pitchFamily="18" charset="0"/>
                <a:ea typeface="微软雅黑" panose="020B0503020204020204" charset="-122"/>
              </a:rPr>
              <a:t>像素的手写数字图片，包含从</a:t>
            </a:r>
            <a:r>
              <a:rPr lang="en-US" altLang="zh-CN" sz="2000" dirty="0">
                <a:solidFill>
                  <a:srgbClr val="000000"/>
                </a:solidFill>
                <a:latin typeface="Times New Roman" panose="02020603050405020304" pitchFamily="18" charset="0"/>
                <a:ea typeface="微软雅黑" panose="020B0503020204020204" charset="-122"/>
              </a:rPr>
              <a:t>0</a:t>
            </a:r>
            <a:r>
              <a:rPr lang="zh-CN" altLang="en-US" sz="2000" dirty="0">
                <a:solidFill>
                  <a:srgbClr val="000000"/>
                </a:solidFill>
                <a:latin typeface="Times New Roman" panose="02020603050405020304" pitchFamily="18" charset="0"/>
                <a:ea typeface="微软雅黑" panose="020B0503020204020204" charset="-122"/>
              </a:rPr>
              <a:t>到</a:t>
            </a:r>
            <a:r>
              <a:rPr lang="en-US" altLang="zh-CN" sz="2000" dirty="0">
                <a:solidFill>
                  <a:srgbClr val="000000"/>
                </a:solidFill>
                <a:latin typeface="Times New Roman" panose="02020603050405020304" pitchFamily="18" charset="0"/>
                <a:ea typeface="微软雅黑" panose="020B0503020204020204" charset="-122"/>
              </a:rPr>
              <a:t>9</a:t>
            </a:r>
            <a:r>
              <a:rPr lang="zh-CN" altLang="en-US" sz="2000" dirty="0">
                <a:solidFill>
                  <a:srgbClr val="000000"/>
                </a:solidFill>
                <a:latin typeface="Times New Roman" panose="02020603050405020304" pitchFamily="18" charset="0"/>
                <a:ea typeface="微软雅黑" panose="020B0503020204020204" charset="-122"/>
              </a:rPr>
              <a:t>共十类数字，本案例中选取从</a:t>
            </a:r>
            <a:r>
              <a:rPr lang="en-US" altLang="zh-CN" sz="2000" dirty="0">
                <a:solidFill>
                  <a:srgbClr val="000000"/>
                </a:solidFill>
                <a:latin typeface="Times New Roman" panose="02020603050405020304" pitchFamily="18" charset="0"/>
                <a:ea typeface="微软雅黑" panose="020B0503020204020204" charset="-122"/>
              </a:rPr>
              <a:t>0</a:t>
            </a:r>
            <a:r>
              <a:rPr lang="zh-CN" altLang="en-US" sz="2000" dirty="0">
                <a:solidFill>
                  <a:srgbClr val="000000"/>
                </a:solidFill>
                <a:latin typeface="Times New Roman" panose="02020603050405020304" pitchFamily="18" charset="0"/>
                <a:ea typeface="微软雅黑" panose="020B0503020204020204" charset="-122"/>
              </a:rPr>
              <a:t>到</a:t>
            </a:r>
            <a:r>
              <a:rPr lang="en-US" altLang="zh-CN" sz="2000" dirty="0">
                <a:solidFill>
                  <a:srgbClr val="000000"/>
                </a:solidFill>
                <a:latin typeface="Times New Roman" panose="02020603050405020304" pitchFamily="18" charset="0"/>
                <a:ea typeface="微软雅黑" panose="020B0503020204020204" charset="-122"/>
              </a:rPr>
              <a:t>4</a:t>
            </a:r>
            <a:r>
              <a:rPr lang="zh-CN" altLang="en-US" sz="2000" dirty="0">
                <a:solidFill>
                  <a:srgbClr val="000000"/>
                </a:solidFill>
                <a:latin typeface="Times New Roman" panose="02020603050405020304" pitchFamily="18" charset="0"/>
                <a:ea typeface="微软雅黑" panose="020B0503020204020204" charset="-122"/>
              </a:rPr>
              <a:t>共五类数字。</a:t>
            </a:r>
          </a:p>
          <a:p>
            <a:pPr indent="0" algn="just" defTabSz="266700" fontAlgn="auto">
              <a:lnSpc>
                <a:spcPct val="150000"/>
              </a:lnSpc>
              <a:spcBef>
                <a:spcPct val="0"/>
              </a:spcBef>
              <a:spcAft>
                <a:spcPct val="0"/>
              </a:spcAft>
            </a:pPr>
            <a:r>
              <a:rPr lang="zh-CN" altLang="en-US" sz="2000" dirty="0">
                <a:latin typeface="Times New Roman" panose="02020603050405020304" pitchFamily="18" charset="0"/>
                <a:ea typeface="微软雅黑" panose="020B0503020204020204" charset="-122"/>
              </a:rPr>
              <a:t>   在手写数字数据集中，每个样本是一个图像，其被展平为一个长度为</a:t>
            </a:r>
            <a:r>
              <a:rPr lang="en-US" altLang="zh-CN" sz="2000" dirty="0">
                <a:latin typeface="Times New Roman" panose="02020603050405020304" pitchFamily="18" charset="0"/>
                <a:ea typeface="微软雅黑" panose="020B0503020204020204" charset="-122"/>
              </a:rPr>
              <a:t>64</a:t>
            </a:r>
            <a:r>
              <a:rPr lang="zh-CN" altLang="en-US" sz="2000" dirty="0">
                <a:latin typeface="Times New Roman" panose="02020603050405020304" pitchFamily="18" charset="0"/>
                <a:ea typeface="微软雅黑" panose="020B0503020204020204" charset="-122"/>
              </a:rPr>
              <a:t>的特征向量（</a:t>
            </a:r>
            <a:r>
              <a:rPr lang="en-US" altLang="zh-CN" sz="2000" dirty="0">
                <a:latin typeface="Times New Roman" panose="02020603050405020304" pitchFamily="18" charset="0"/>
                <a:ea typeface="微软雅黑" panose="020B0503020204020204" charset="-122"/>
              </a:rPr>
              <a:t>8×8=64</a:t>
            </a:r>
            <a:r>
              <a:rPr lang="zh-CN" altLang="en-US" sz="2000" dirty="0">
                <a:latin typeface="Times New Roman" panose="02020603050405020304" pitchFamily="18" charset="0"/>
                <a:ea typeface="微软雅黑" panose="020B0503020204020204" charset="-122"/>
              </a:rPr>
              <a:t>），即图像的每个像素点信息均为高维空间中的一个特征</a:t>
            </a:r>
            <a:r>
              <a:rPr lang="zh-CN" altLang="en-US" dirty="0">
                <a:latin typeface="Times New Roman" panose="02020603050405020304" pitchFamily="18" charset="0"/>
                <a:ea typeface="微软雅黑" panose="020B0503020204020204" charset="-122"/>
              </a:rPr>
              <a:t>。</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sym typeface="+mn-ea"/>
              </a:rPr>
              <a:t>实践案例：基于</a:t>
            </a:r>
            <a:r>
              <a:rPr lang="en-US" altLang="zh-CN" sz="3200" dirty="0">
                <a:solidFill>
                  <a:srgbClr val="FFFF00"/>
                </a:solidFill>
                <a:latin typeface="华光综艺_CNKI" panose="02000500000000000000" pitchFamily="2" charset="-122"/>
                <a:ea typeface="华光综艺_CNKI" panose="02000500000000000000" pitchFamily="2" charset="-122"/>
                <a:sym typeface="+mn-ea"/>
              </a:rPr>
              <a:t>t-SNE</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的手写数字数据集降维</a:t>
            </a:r>
          </a:p>
        </p:txBody>
      </p:sp>
      <p:pic>
        <p:nvPicPr>
          <p:cNvPr id="5" name="图片 4"/>
          <p:cNvPicPr>
            <a:picLocks noChangeAspect="1"/>
          </p:cNvPicPr>
          <p:nvPr/>
        </p:nvPicPr>
        <p:blipFill>
          <a:blip r:embed="rId3"/>
          <a:stretch>
            <a:fillRect/>
          </a:stretch>
        </p:blipFill>
        <p:spPr>
          <a:xfrm>
            <a:off x="267566" y="1850851"/>
            <a:ext cx="5829300" cy="3436620"/>
          </a:xfrm>
          <a:prstGeom prst="rect">
            <a:avLst/>
          </a:prstGeom>
        </p:spPr>
      </p:pic>
      <p:pic>
        <p:nvPicPr>
          <p:cNvPr id="6" name="图片 5"/>
          <p:cNvPicPr>
            <a:picLocks noChangeAspect="1"/>
          </p:cNvPicPr>
          <p:nvPr/>
        </p:nvPicPr>
        <p:blipFill>
          <a:blip r:embed="rId3"/>
          <a:stretch>
            <a:fillRect/>
          </a:stretch>
        </p:blipFill>
        <p:spPr>
          <a:xfrm>
            <a:off x="6223866" y="1850851"/>
            <a:ext cx="5829300" cy="343662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781E9-65B3-300B-B295-518DD5493D4C}"/>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68AABAE9-0292-C734-6526-2BF1BE8A6461}"/>
              </a:ext>
            </a:extLst>
          </p:cNvPr>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sym typeface="+mn-ea"/>
              </a:rPr>
              <a:t>实践案例：基于</a:t>
            </a:r>
            <a:r>
              <a:rPr lang="en-US" altLang="zh-CN" sz="3200" dirty="0">
                <a:solidFill>
                  <a:srgbClr val="FFFF00"/>
                </a:solidFill>
                <a:latin typeface="华光综艺_CNKI" panose="02000500000000000000" pitchFamily="2" charset="-122"/>
                <a:ea typeface="华光综艺_CNKI" panose="02000500000000000000" pitchFamily="2" charset="-122"/>
                <a:sym typeface="+mn-ea"/>
              </a:rPr>
              <a:t>t-SNE</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的手写数字数据集降维</a:t>
            </a:r>
          </a:p>
        </p:txBody>
      </p:sp>
      <p:pic>
        <p:nvPicPr>
          <p:cNvPr id="209" name="图片 278">
            <a:extLst>
              <a:ext uri="{FF2B5EF4-FFF2-40B4-BE49-F238E27FC236}">
                <a16:creationId xmlns:a16="http://schemas.microsoft.com/office/drawing/2014/main" id="{464EB397-5662-679C-4133-EA2D469DD8E9}"/>
              </a:ext>
            </a:extLst>
          </p:cNvPr>
          <p:cNvPicPr>
            <a:picLocks noChangeAspect="1"/>
          </p:cNvPicPr>
          <p:nvPr/>
        </p:nvPicPr>
        <p:blipFill>
          <a:blip r:embed="rId3"/>
          <a:srcRect/>
          <a:stretch>
            <a:fillRect/>
          </a:stretch>
        </p:blipFill>
        <p:spPr>
          <a:xfrm>
            <a:off x="1201825" y="2997835"/>
            <a:ext cx="3703993" cy="3703993"/>
          </a:xfrm>
          <a:prstGeom prst="rect">
            <a:avLst/>
          </a:prstGeom>
          <a:noFill/>
          <a:ln>
            <a:noFill/>
          </a:ln>
        </p:spPr>
      </p:pic>
      <p:pic>
        <p:nvPicPr>
          <p:cNvPr id="23" name="图片 574" descr="IMG_256">
            <a:extLst>
              <a:ext uri="{FF2B5EF4-FFF2-40B4-BE49-F238E27FC236}">
                <a16:creationId xmlns:a16="http://schemas.microsoft.com/office/drawing/2014/main" id="{CCE7FEA6-BD52-2597-0542-F8571FBED17C}"/>
              </a:ext>
            </a:extLst>
          </p:cNvPr>
          <p:cNvPicPr>
            <a:picLocks noChangeAspect="1"/>
          </p:cNvPicPr>
          <p:nvPr/>
        </p:nvPicPr>
        <p:blipFill>
          <a:blip r:embed="rId4"/>
          <a:srcRect/>
          <a:stretch>
            <a:fillRect/>
          </a:stretch>
        </p:blipFill>
        <p:spPr>
          <a:xfrm>
            <a:off x="6641927" y="2915900"/>
            <a:ext cx="3785928" cy="3785928"/>
          </a:xfrm>
          <a:prstGeom prst="rect">
            <a:avLst/>
          </a:prstGeom>
          <a:noFill/>
          <a:ln w="9525">
            <a:noFill/>
          </a:ln>
        </p:spPr>
      </p:pic>
      <p:sp>
        <p:nvSpPr>
          <p:cNvPr id="4" name="文本框 3">
            <a:extLst>
              <a:ext uri="{FF2B5EF4-FFF2-40B4-BE49-F238E27FC236}">
                <a16:creationId xmlns:a16="http://schemas.microsoft.com/office/drawing/2014/main" id="{EDD5D0E8-C01B-1DD7-EB24-04A6BC09F243}"/>
              </a:ext>
            </a:extLst>
          </p:cNvPr>
          <p:cNvSpPr txBox="1"/>
          <p:nvPr/>
        </p:nvSpPr>
        <p:spPr>
          <a:xfrm>
            <a:off x="868680" y="1160780"/>
            <a:ext cx="10214956" cy="1434945"/>
          </a:xfrm>
          <a:prstGeom prst="rect">
            <a:avLst/>
          </a:prstGeom>
        </p:spPr>
        <p:txBody>
          <a:bodyPr wrap="square">
            <a:spAutoFit/>
          </a:bodyPr>
          <a:lstStyle/>
          <a:p>
            <a:pPr indent="0" algn="just" defTabSz="266700" fontAlgn="auto">
              <a:lnSpc>
                <a:spcPct val="125000"/>
              </a:lnSpc>
              <a:spcBef>
                <a:spcPct val="0"/>
              </a:spcBef>
              <a:spcAft>
                <a:spcPct val="0"/>
              </a:spcAft>
            </a:pPr>
            <a:r>
              <a:rPr lang="zh-CN" altLang="en-US" sz="2400" dirty="0">
                <a:solidFill>
                  <a:schemeClr val="tx1"/>
                </a:solidFill>
                <a:uFillTx/>
                <a:latin typeface="Times New Roman" panose="02020603050405020304"/>
                <a:ea typeface="微软雅黑" panose="020B0503020204020204" charset="-122"/>
              </a:rPr>
              <a:t>通过观察</a:t>
            </a:r>
            <a:r>
              <a:rPr lang="en-US" altLang="zh-CN" sz="2400" dirty="0">
                <a:solidFill>
                  <a:schemeClr val="tx1"/>
                </a:solidFill>
                <a:uFillTx/>
                <a:latin typeface="Times New Roman" panose="02020603050405020304"/>
                <a:ea typeface="微软雅黑" panose="020B0503020204020204" charset="-122"/>
              </a:rPr>
              <a:t>t-SNE</a:t>
            </a:r>
            <a:r>
              <a:rPr lang="zh-CN" altLang="en-US" sz="2400" dirty="0">
                <a:solidFill>
                  <a:schemeClr val="tx1"/>
                </a:solidFill>
                <a:uFillTx/>
                <a:latin typeface="Times New Roman" panose="02020603050405020304"/>
                <a:ea typeface="微软雅黑" panose="020B0503020204020204" charset="-122"/>
              </a:rPr>
              <a:t>算法降维后的结果，发现在二维空间中，具有相似特征的数据点形成紧密的簇，不同类别的数据簇相距较远，这表明</a:t>
            </a:r>
            <a:r>
              <a:rPr lang="en-US" altLang="zh-CN" sz="2400" dirty="0">
                <a:solidFill>
                  <a:schemeClr val="tx1"/>
                </a:solidFill>
                <a:uFillTx/>
                <a:latin typeface="Times New Roman" panose="02020603050405020304"/>
                <a:ea typeface="微软雅黑" panose="020B0503020204020204" charset="-122"/>
              </a:rPr>
              <a:t>t-SNE</a:t>
            </a:r>
            <a:r>
              <a:rPr lang="zh-CN" altLang="en-US" sz="2400" dirty="0">
                <a:solidFill>
                  <a:schemeClr val="tx1"/>
                </a:solidFill>
                <a:uFillTx/>
                <a:latin typeface="Times New Roman" panose="02020603050405020304"/>
                <a:ea typeface="微软雅黑" panose="020B0503020204020204" charset="-122"/>
              </a:rPr>
              <a:t>能够有效地区分不同类别的数据点，提高了数据的可分离性。</a:t>
            </a:r>
          </a:p>
        </p:txBody>
      </p:sp>
    </p:spTree>
    <p:extLst>
      <p:ext uri="{BB962C8B-B14F-4D97-AF65-F5344CB8AC3E}">
        <p14:creationId xmlns:p14="http://schemas.microsoft.com/office/powerpoint/2010/main" val="89787283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en-US" altLang="zh-CN" sz="3200" dirty="0">
                <a:solidFill>
                  <a:srgbClr val="FFFF00"/>
                </a:solidFill>
                <a:latin typeface="华光综艺_CNKI" panose="02000500000000000000" pitchFamily="2" charset="-122"/>
                <a:ea typeface="华光综艺_CNKI" panose="02000500000000000000" pitchFamily="2" charset="-122"/>
                <a:sym typeface="+mn-ea"/>
              </a:rPr>
              <a:t>t-SNE</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算法评价</a:t>
            </a:r>
          </a:p>
        </p:txBody>
      </p:sp>
      <p:pic>
        <p:nvPicPr>
          <p:cNvPr id="15" name="图片 14" descr="11"/>
          <p:cNvPicPr>
            <a:picLocks noChangeAspect="1"/>
          </p:cNvPicPr>
          <p:nvPr/>
        </p:nvPicPr>
        <p:blipFill>
          <a:blip r:embed="rId3">
            <a:clrChange>
              <a:clrFrom>
                <a:srgbClr val="FFFFFF">
                  <a:alpha val="100000"/>
                </a:srgbClr>
              </a:clrFrom>
              <a:clrTo>
                <a:srgbClr val="FFFFFF">
                  <a:alpha val="100000"/>
                  <a:alpha val="0"/>
                </a:srgbClr>
              </a:clrTo>
            </a:clrChange>
          </a:blip>
          <a:srcRect l="2997" t="9630" r="2665" b="8601"/>
          <a:stretch>
            <a:fillRect/>
          </a:stretch>
        </p:blipFill>
        <p:spPr>
          <a:xfrm>
            <a:off x="2407409" y="1325764"/>
            <a:ext cx="7193915" cy="520065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1035ED6-ED79-6653-E473-3F5FCA3CC077}"/>
              </a:ext>
            </a:extLst>
          </p:cNvPr>
          <p:cNvSpPr txBox="1">
            <a:spLocks/>
          </p:cNvSpPr>
          <p:nvPr/>
        </p:nvSpPr>
        <p:spPr>
          <a:xfrm>
            <a:off x="2974694" y="2267379"/>
            <a:ext cx="7326776" cy="1352550"/>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gn="dist"/>
            <a:r>
              <a:rPr lang="zh-CN" altLang="en-US" b="0" dirty="0">
                <a:solidFill>
                  <a:schemeClr val="bg1"/>
                </a:solidFill>
                <a:latin typeface="华光综艺_CNKI" panose="02000500000000000000" pitchFamily="2" charset="-122"/>
                <a:ea typeface="华光综艺_CNKI" panose="02000500000000000000" pitchFamily="2" charset="-122"/>
              </a:rPr>
              <a:t>恳请批评指正！</a:t>
            </a:r>
            <a:endParaRPr lang="en-US" b="0" dirty="0">
              <a:solidFill>
                <a:schemeClr val="bg1"/>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6235327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1724</TotalTime>
  <Words>425</Words>
  <Application>Microsoft Office PowerPoint</Application>
  <PresentationFormat>宽屏</PresentationFormat>
  <Paragraphs>46</Paragraphs>
  <Slides>16</Slides>
  <Notes>16</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16</vt:i4>
      </vt:variant>
    </vt:vector>
  </HeadingPairs>
  <TitlesOfParts>
    <vt:vector size="25" baseType="lpstr">
      <vt:lpstr>等线</vt:lpstr>
      <vt:lpstr>华光综艺_CNKI</vt:lpstr>
      <vt:lpstr>微软雅黑</vt:lpstr>
      <vt:lpstr>Arial</vt:lpstr>
      <vt:lpstr>Calibri</vt:lpstr>
      <vt:lpstr>Times New Roman</vt:lpstr>
      <vt:lpstr>Wingdings</vt:lpstr>
      <vt:lpstr>Office 主题​​</vt:lpstr>
      <vt:lpstr>MathType 7.0 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wy h</dc:creator>
  <cp:lastModifiedBy>Mengning Wang</cp:lastModifiedBy>
  <cp:revision>186</cp:revision>
  <dcterms:created xsi:type="dcterms:W3CDTF">2019-06-19T02:08:00Z</dcterms:created>
  <dcterms:modified xsi:type="dcterms:W3CDTF">2025-04-18T15:06:01Z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2052-12.1.0.18912</vt:lpwstr>
  </property>
  <property fmtid="{D5CDD505-2E9C-101B-9397-08002B2CF9AE}" pid="3" name="ICV">
    <vt:lpwstr>290520E9665F40D5BBE3CCA2763F3BF4_11</vt:lpwstr>
  </property>
</Properties>
</file>