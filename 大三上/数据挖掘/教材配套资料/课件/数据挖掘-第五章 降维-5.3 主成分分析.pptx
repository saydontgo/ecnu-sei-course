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2"/>
    <p:sldId id="311" r:id="rId3"/>
    <p:sldId id="369" r:id="rId4"/>
    <p:sldId id="313" r:id="rId5"/>
    <p:sldId id="314" r:id="rId6"/>
    <p:sldId id="315" r:id="rId7"/>
    <p:sldId id="316" r:id="rId8"/>
    <p:sldId id="370" r:id="rId9"/>
    <p:sldId id="317" r:id="rId10"/>
    <p:sldId id="318" r:id="rId11"/>
    <p:sldId id="371" r:id="rId12"/>
    <p:sldId id="320" r:id="rId13"/>
    <p:sldId id="321" r:id="rId14"/>
    <p:sldId id="1550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showGuides="1">
      <p:cViewPr varScale="1">
        <p:scale>
          <a:sx n="83" d="100"/>
          <a:sy n="83" d="100"/>
        </p:scale>
        <p:origin x="614" y="48"/>
      </p:cViewPr>
      <p:guideLst>
        <p:guide orient="horz" pos="2134"/>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4E404-F4DA-DEC9-711C-62F741327F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C70B52-C622-9588-6B48-B1FF7A2CA3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72CF3D-99AB-E328-6547-3E01B5A1B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FEDCFF1D-4821-AF56-B4D4-1B286A9C4C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826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EFAFB-5DAB-796B-5CB7-BC4CBD123B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AF5A35-DB65-D428-CD56-261B37D0F5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E775D3-0EE2-1CBC-722C-98F0ED6074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62B575E6-F407-255F-4FBC-17CD8680BC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141595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3D038-A20B-87F0-BB5D-EBA1C13987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5BCC93-6DF4-0F39-F22A-0312109B14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A450D5-FFF7-EB6C-2EED-0E0D370075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C2543100-9417-C5D7-7DD2-BCC73DF6C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448242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3.emf"/><Relationship Id="rId2" Type="http://schemas.openxmlformats.org/officeDocument/2006/relationships/notesSlide" Target="../notesSlides/notesSlide3.xml"/><Relationship Id="rId16"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0.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4.bin"/><Relationship Id="rId14" Type="http://schemas.openxmlformats.org/officeDocument/2006/relationships/image" Target="../media/image14.wmf"/></Relationships>
</file>

<file path=ppt/slides/_rels/slide4.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9.bin"/><Relationship Id="rId10" Type="http://schemas.openxmlformats.org/officeDocument/2006/relationships/image" Target="../media/image19.emf"/><Relationship Id="rId4" Type="http://schemas.openxmlformats.org/officeDocument/2006/relationships/image" Target="../media/image16.wmf"/><Relationship Id="rId9"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0.bin"/><Relationship Id="rId7" Type="http://schemas.openxmlformats.org/officeDocument/2006/relationships/oleObject" Target="../embeddings/oleObject13.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oleObject" Target="../embeddings/oleObject12.bin"/><Relationship Id="rId10" Type="http://schemas.openxmlformats.org/officeDocument/2006/relationships/image" Target="../media/image22.wmf"/><Relationship Id="rId4" Type="http://schemas.openxmlformats.org/officeDocument/2006/relationships/image" Target="../media/image18.emf"/><Relationship Id="rId9"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8" Type="http://schemas.openxmlformats.org/officeDocument/2006/relationships/image" Target="../media/image25.emf"/><Relationship Id="rId13" Type="http://schemas.openxmlformats.org/officeDocument/2006/relationships/oleObject" Target="../embeddings/oleObject20.bin"/><Relationship Id="rId18" Type="http://schemas.openxmlformats.org/officeDocument/2006/relationships/image" Target="../media/image30.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7.emf"/><Relationship Id="rId17" Type="http://schemas.openxmlformats.org/officeDocument/2006/relationships/oleObject" Target="../embeddings/oleObject22.bin"/><Relationship Id="rId2" Type="http://schemas.openxmlformats.org/officeDocument/2006/relationships/notesSlide" Target="../notesSlides/notesSlide6.xml"/><Relationship Id="rId16" Type="http://schemas.openxmlformats.org/officeDocument/2006/relationships/image" Target="../media/image29.emf"/><Relationship Id="rId1" Type="http://schemas.openxmlformats.org/officeDocument/2006/relationships/slideLayout" Target="../slideLayouts/slideLayout2.xml"/><Relationship Id="rId6" Type="http://schemas.openxmlformats.org/officeDocument/2006/relationships/image" Target="../media/image24.e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6.emf"/><Relationship Id="rId19" Type="http://schemas.openxmlformats.org/officeDocument/2006/relationships/image" Target="../media/image31.jpeg"/><Relationship Id="rId4" Type="http://schemas.openxmlformats.org/officeDocument/2006/relationships/image" Target="../media/image23.emf"/><Relationship Id="rId9" Type="http://schemas.openxmlformats.org/officeDocument/2006/relationships/oleObject" Target="../embeddings/oleObject18.bin"/><Relationship Id="rId14" Type="http://schemas.openxmlformats.org/officeDocument/2006/relationships/image" Target="../media/image28.emf"/></Relationships>
</file>

<file path=ppt/slides/_rels/slide7.xml.rels><?xml version="1.0" encoding="UTF-8" standalone="yes"?>
<Relationships xmlns="http://schemas.openxmlformats.org/package/2006/relationships"><Relationship Id="rId8" Type="http://schemas.openxmlformats.org/officeDocument/2006/relationships/image" Target="../media/image34.emf"/><Relationship Id="rId13" Type="http://schemas.openxmlformats.org/officeDocument/2006/relationships/oleObject" Target="../embeddings/oleObject28.bin"/><Relationship Id="rId18" Type="http://schemas.openxmlformats.org/officeDocument/2006/relationships/image" Target="../media/image39.e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36.emf"/><Relationship Id="rId17" Type="http://schemas.openxmlformats.org/officeDocument/2006/relationships/oleObject" Target="../embeddings/oleObject30.bin"/><Relationship Id="rId2" Type="http://schemas.openxmlformats.org/officeDocument/2006/relationships/notesSlide" Target="../notesSlides/notesSlide7.xml"/><Relationship Id="rId16"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image" Target="../media/image33.e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35.emf"/><Relationship Id="rId4" Type="http://schemas.openxmlformats.org/officeDocument/2006/relationships/image" Target="../media/image32.wmf"/><Relationship Id="rId9" Type="http://schemas.openxmlformats.org/officeDocument/2006/relationships/oleObject" Target="../embeddings/oleObject26.bin"/><Relationship Id="rId14" Type="http://schemas.openxmlformats.org/officeDocument/2006/relationships/image" Target="../media/image37.wmf"/></Relationships>
</file>

<file path=ppt/slides/_rels/slide8.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44.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1.e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43.emf"/><Relationship Id="rId4" Type="http://schemas.openxmlformats.org/officeDocument/2006/relationships/image" Target="../media/image40.emf"/><Relationship Id="rId9" Type="http://schemas.openxmlformats.org/officeDocument/2006/relationships/oleObject" Target="../embeddings/oleObject34.bin"/><Relationship Id="rId14" Type="http://schemas.openxmlformats.org/officeDocument/2006/relationships/image" Target="../media/image45.emf"/></Relationships>
</file>

<file path=ppt/slides/_rels/slide9.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50.emf"/><Relationship Id="rId2" Type="http://schemas.openxmlformats.org/officeDocument/2006/relationships/notesSlide" Target="../notesSlides/notesSlide9.xml"/><Relationship Id="rId16" Type="http://schemas.openxmlformats.org/officeDocument/2006/relationships/image" Target="../media/image52.emf"/><Relationship Id="rId1" Type="http://schemas.openxmlformats.org/officeDocument/2006/relationships/slideLayout" Target="../slideLayouts/slideLayout2.xml"/><Relationship Id="rId6" Type="http://schemas.openxmlformats.org/officeDocument/2006/relationships/image" Target="../media/image47.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49.wmf"/><Relationship Id="rId4" Type="http://schemas.openxmlformats.org/officeDocument/2006/relationships/image" Target="../media/image46.emf"/><Relationship Id="rId9" Type="http://schemas.openxmlformats.org/officeDocument/2006/relationships/oleObject" Target="../embeddings/oleObject40.bin"/><Relationship Id="rId14" Type="http://schemas.openxmlformats.org/officeDocument/2006/relationships/image" Target="../media/image5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4.emf"/><Relationship Id="rId5" Type="http://schemas.openxmlformats.org/officeDocument/2006/relationships/oleObject" Target="../embeddings/oleObject45.bin"/><Relationship Id="rId4" Type="http://schemas.openxmlformats.org/officeDocument/2006/relationships/image" Target="../media/image53.wmf"/></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E9C9-8F8F-4FDC-EEC9-77BB19A8C5AC}"/>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5.3</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主成分分析</a:t>
            </a:r>
            <a:endParaRPr lang="en-US" altLang="zh-CN" b="0" dirty="0">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9" name="文本框 8"/>
          <p:cNvSpPr txBox="1"/>
          <p:nvPr/>
        </p:nvSpPr>
        <p:spPr>
          <a:xfrm>
            <a:off x="828009" y="1940450"/>
            <a:ext cx="10017888" cy="4828373"/>
          </a:xfrm>
          <a:prstGeom prst="rect">
            <a:avLst/>
          </a:prstGeom>
          <a:noFill/>
        </p:spPr>
        <p:txBody>
          <a:bodyPr wrap="square">
            <a:spAutoFit/>
          </a:bodyPr>
          <a:lstStyle/>
          <a:p>
            <a:pPr indent="304800" algn="just">
              <a:lnSpc>
                <a:spcPct val="150000"/>
              </a:lnSpc>
              <a:tabLst>
                <a:tab pos="304800" algn="l"/>
              </a:tabLst>
            </a:pPr>
            <a:r>
              <a:rPr lang="zh-CN" altLang="zh-CN" sz="3600" b="1"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主成分分析</a:t>
            </a:r>
            <a:r>
              <a:rPr lang="zh-CN" altLang="zh-CN" sz="3600" kern="100" dirty="0">
                <a:latin typeface="微软雅黑" panose="020B0503020204020204" charset="-122"/>
                <a:ea typeface="微软雅黑" panose="020B0503020204020204" charset="-122"/>
                <a:cs typeface="Times New Roman" panose="02020603050405020304" pitchFamily="18" charset="0"/>
              </a:rPr>
              <a:t>（</a:t>
            </a:r>
            <a:r>
              <a:rPr lang="en-US" altLang="zh-CN" sz="3600" kern="100" dirty="0">
                <a:latin typeface="微软雅黑" panose="020B0503020204020204" charset="-122"/>
                <a:ea typeface="微软雅黑" panose="020B0503020204020204" charset="-122"/>
                <a:cs typeface="Times New Roman" panose="02020603050405020304" pitchFamily="18" charset="0"/>
              </a:rPr>
              <a:t>Principal Component Analysis</a:t>
            </a:r>
            <a:r>
              <a:rPr lang="zh-CN" altLang="zh-CN" sz="3600" kern="100" dirty="0">
                <a:latin typeface="微软雅黑" panose="020B0503020204020204" charset="-122"/>
                <a:ea typeface="微软雅黑" panose="020B0503020204020204" charset="-122"/>
                <a:cs typeface="Times New Roman" panose="02020603050405020304" pitchFamily="18" charset="0"/>
              </a:rPr>
              <a:t>，</a:t>
            </a:r>
            <a:r>
              <a:rPr lang="en-US" altLang="zh-CN" sz="3600" b="1"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PCA</a:t>
            </a:r>
            <a:r>
              <a:rPr lang="zh-CN" altLang="zh-CN" sz="3600" kern="100" dirty="0">
                <a:latin typeface="微软雅黑" panose="020B0503020204020204" charset="-122"/>
                <a:ea typeface="微软雅黑" panose="020B0503020204020204" charset="-122"/>
                <a:cs typeface="Times New Roman" panose="02020603050405020304" pitchFamily="18" charset="0"/>
              </a:rPr>
              <a:t>）采用</a:t>
            </a:r>
            <a:r>
              <a:rPr lang="zh-CN" altLang="zh-CN" sz="3600"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线性变换</a:t>
            </a:r>
            <a:r>
              <a:rPr lang="zh-CN" altLang="zh-CN" sz="3600" kern="100" dirty="0">
                <a:latin typeface="微软雅黑" panose="020B0503020204020204" charset="-122"/>
                <a:ea typeface="微软雅黑" panose="020B0503020204020204" charset="-122"/>
                <a:cs typeface="Times New Roman" panose="02020603050405020304" pitchFamily="18" charset="0"/>
              </a:rPr>
              <a:t>将一组统计变量（指标）变换为新的一组综合变量，转换后的这组变量称</a:t>
            </a:r>
            <a:r>
              <a:rPr lang="zh-CN" altLang="zh-CN" sz="3600" b="1"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为主成分</a:t>
            </a:r>
            <a:r>
              <a:rPr lang="zh-CN" altLang="zh-CN" sz="3600" kern="100" dirty="0">
                <a:latin typeface="微软雅黑" panose="020B0503020204020204" charset="-122"/>
                <a:ea typeface="微软雅黑" panose="020B0503020204020204" charset="-122"/>
                <a:cs typeface="Times New Roman" panose="02020603050405020304" pitchFamily="18" charset="0"/>
              </a:rPr>
              <a:t>，且主成分之间互不相关</a:t>
            </a:r>
            <a:r>
              <a:rPr lang="zh-CN" altLang="en-US" sz="3600" kern="100" dirty="0">
                <a:latin typeface="微软雅黑" panose="020B0503020204020204" charset="-122"/>
                <a:ea typeface="微软雅黑" panose="020B0503020204020204" charset="-122"/>
                <a:cs typeface="Times New Roman" panose="02020603050405020304" pitchFamily="18" charset="0"/>
              </a:rPr>
              <a:t>。</a:t>
            </a:r>
            <a:endParaRPr lang="en-US" altLang="zh-CN" sz="3600" kern="100" dirty="0">
              <a:latin typeface="微软雅黑" panose="020B0503020204020204" charset="-122"/>
              <a:ea typeface="微软雅黑" panose="020B0503020204020204" charset="-122"/>
              <a:cs typeface="Times New Roman" panose="02020603050405020304" pitchFamily="18" charset="0"/>
            </a:endParaRPr>
          </a:p>
          <a:p>
            <a:pPr indent="304800" algn="just">
              <a:lnSpc>
                <a:spcPct val="150000"/>
              </a:lnSpc>
              <a:tabLst>
                <a:tab pos="304800" algn="l"/>
              </a:tabLst>
            </a:pPr>
            <a:endParaRPr lang="en-US" altLang="zh-CN" sz="2000" kern="100" dirty="0">
              <a:latin typeface="微软雅黑" panose="020B0503020204020204" charset="-122"/>
              <a:ea typeface="微软雅黑" panose="020B0503020204020204" charset="-122"/>
              <a:cs typeface="Times New Roman" panose="02020603050405020304" pitchFamily="18" charset="0"/>
            </a:endParaRPr>
          </a:p>
          <a:p>
            <a:pPr indent="304800" algn="just">
              <a:lnSpc>
                <a:spcPct val="150000"/>
              </a:lnSpc>
              <a:tabLst>
                <a:tab pos="304800" algn="l"/>
              </a:tabLst>
            </a:pPr>
            <a:endParaRPr lang="en-US" altLang="zh-CN" sz="2000" kern="100" dirty="0">
              <a:effectLst/>
              <a:latin typeface="微软雅黑" panose="020B0503020204020204" charset="-122"/>
              <a:ea typeface="微软雅黑" panose="020B0503020204020204" charset="-122"/>
              <a:cs typeface="Times New Roman" panose="02020603050405020304" pitchFamily="18" charset="0"/>
            </a:endParaRPr>
          </a:p>
          <a:p>
            <a:pPr indent="304800" algn="just">
              <a:lnSpc>
                <a:spcPct val="150000"/>
              </a:lnSpc>
              <a:tabLst>
                <a:tab pos="304800" algn="l"/>
              </a:tabLst>
            </a:pPr>
            <a:endParaRPr lang="zh-CN" altLang="zh-CN" sz="24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27E36-BA81-A5D5-C911-6C0BC5FD731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B2AB0DA-8D2A-213B-BD49-0FDF0EDC851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主成分分析的基本概念</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9" name="文本框 8">
            <a:extLst>
              <a:ext uri="{FF2B5EF4-FFF2-40B4-BE49-F238E27FC236}">
                <a16:creationId xmlns:a16="http://schemas.microsoft.com/office/drawing/2014/main" id="{A9A74E8F-404D-137E-288F-62DB063C5342}"/>
              </a:ext>
            </a:extLst>
          </p:cNvPr>
          <p:cNvSpPr txBox="1"/>
          <p:nvPr/>
        </p:nvSpPr>
        <p:spPr>
          <a:xfrm>
            <a:off x="328572" y="2543566"/>
            <a:ext cx="5798247" cy="3351046"/>
          </a:xfrm>
          <a:prstGeom prst="rect">
            <a:avLst/>
          </a:prstGeom>
          <a:noFill/>
        </p:spPr>
        <p:txBody>
          <a:bodyPr wrap="square">
            <a:spAutoFit/>
          </a:bodyPr>
          <a:lstStyle/>
          <a:p>
            <a:pPr indent="304800" algn="just">
              <a:lnSpc>
                <a:spcPct val="150000"/>
              </a:lnSpc>
              <a:tabLst>
                <a:tab pos="304800" algn="l"/>
              </a:tabLst>
            </a:pPr>
            <a:r>
              <a:rPr lang="zh-CN" altLang="en-US" sz="2000" dirty="0">
                <a:solidFill>
                  <a:schemeClr val="tx1"/>
                </a:solidFill>
                <a:latin typeface="微软雅黑" panose="020B0503020204020204" charset="-122"/>
                <a:ea typeface="微软雅黑" panose="020B0503020204020204" charset="-122"/>
              </a:rPr>
              <a:t>主成分分析利用数据               ，对现有的坐标轴进行旋转，依次找出使得散点图的</a:t>
            </a:r>
            <a:r>
              <a:rPr lang="zh-CN" altLang="en-US" sz="2000" dirty="0">
                <a:solidFill>
                  <a:schemeClr val="accent1">
                    <a:lumMod val="75000"/>
                  </a:schemeClr>
                </a:solidFill>
                <a:latin typeface="微软雅黑" panose="020B0503020204020204" charset="-122"/>
                <a:ea typeface="微软雅黑" panose="020B0503020204020204" charset="-122"/>
              </a:rPr>
              <a:t>变异最大、次大、</a:t>
            </a:r>
            <a:r>
              <a:rPr lang="en-US" altLang="zh-CN" sz="2000" dirty="0">
                <a:solidFill>
                  <a:schemeClr val="tx1"/>
                </a:solidFill>
                <a:latin typeface="微软雅黑" panose="020B0503020204020204" charset="-122"/>
                <a:ea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rPr>
              <a:t>的方向  </a:t>
            </a:r>
            <a:r>
              <a:rPr lang="en-US" altLang="zh-CN" sz="2000" dirty="0">
                <a:latin typeface="微软雅黑" panose="020B0503020204020204" charset="-122"/>
                <a:ea typeface="微软雅黑" panose="020B0503020204020204" charset="-122"/>
              </a:rPr>
              <a:t>            </a:t>
            </a:r>
            <a:r>
              <a:rPr lang="zh-CN" altLang="en-US" sz="2000" dirty="0">
                <a:solidFill>
                  <a:schemeClr val="tx1"/>
                </a:solidFill>
                <a:latin typeface="微软雅黑" panose="020B0503020204020204" charset="-122"/>
                <a:ea typeface="微软雅黑" panose="020B0503020204020204" charset="-122"/>
              </a:rPr>
              <a:t>，并要求            之间</a:t>
            </a:r>
            <a:r>
              <a:rPr lang="zh-CN" altLang="en-US" sz="2000" dirty="0">
                <a:solidFill>
                  <a:schemeClr val="accent1">
                    <a:lumMod val="75000"/>
                  </a:schemeClr>
                </a:solidFill>
                <a:latin typeface="微软雅黑" panose="020B0503020204020204" charset="-122"/>
                <a:ea typeface="微软雅黑" panose="020B0503020204020204" charset="-122"/>
              </a:rPr>
              <a:t>互不相关</a:t>
            </a:r>
            <a:r>
              <a:rPr lang="zh-CN" altLang="en-US" sz="2000" dirty="0">
                <a:solidFill>
                  <a:schemeClr val="tx1"/>
                </a:solidFill>
                <a:latin typeface="微软雅黑" panose="020B0503020204020204" charset="-122"/>
                <a:ea typeface="微软雅黑" panose="020B0503020204020204" charset="-122"/>
              </a:rPr>
              <a:t>，则分别称为第</a:t>
            </a:r>
            <a:r>
              <a:rPr lang="en-US" altLang="zh-CN"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1</a:t>
            </a:r>
            <a:r>
              <a:rPr lang="zh-CN" altLang="en-US"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a:t>
            </a:r>
            <a:r>
              <a:rPr lang="en-US" altLang="zh-CN"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2</a:t>
            </a:r>
            <a:r>
              <a:rPr lang="zh-CN" altLang="en-US"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a:t>
            </a:r>
            <a:r>
              <a:rPr lang="en-US" altLang="zh-CN"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a:t>
            </a:r>
            <a:r>
              <a:rPr lang="zh-CN" altLang="en-US"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a:t>
            </a:r>
            <a:r>
              <a:rPr lang="en-US" altLang="zh-CN" sz="2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p</a:t>
            </a:r>
            <a:r>
              <a:rPr lang="zh-CN" altLang="en-US" sz="2000" dirty="0">
                <a:solidFill>
                  <a:schemeClr val="tx1"/>
                </a:solidFill>
                <a:latin typeface="微软雅黑" panose="020B0503020204020204" charset="-122"/>
                <a:ea typeface="微软雅黑" panose="020B0503020204020204" charset="-122"/>
              </a:rPr>
              <a:t>主成分。</a:t>
            </a:r>
          </a:p>
          <a:p>
            <a:pPr indent="304800" algn="just">
              <a:lnSpc>
                <a:spcPct val="150000"/>
              </a:lnSpc>
              <a:tabLst>
                <a:tab pos="304800" algn="l"/>
              </a:tabLst>
            </a:pPr>
            <a:endParaRPr lang="en-US" altLang="zh-CN" sz="2000" kern="100" dirty="0">
              <a:latin typeface="微软雅黑" panose="020B0503020204020204" charset="-122"/>
              <a:ea typeface="微软雅黑" panose="020B0503020204020204" charset="-122"/>
              <a:cs typeface="Times New Roman" panose="02020603050405020304" pitchFamily="18" charset="0"/>
            </a:endParaRPr>
          </a:p>
          <a:p>
            <a:pPr indent="304800" algn="just">
              <a:lnSpc>
                <a:spcPct val="150000"/>
              </a:lnSpc>
              <a:tabLst>
                <a:tab pos="304800" algn="l"/>
              </a:tabLst>
            </a:pPr>
            <a:endParaRPr lang="en-US" altLang="zh-CN" sz="2000" kern="100" dirty="0">
              <a:effectLst/>
              <a:latin typeface="微软雅黑" panose="020B0503020204020204" charset="-122"/>
              <a:ea typeface="微软雅黑" panose="020B0503020204020204" charset="-122"/>
              <a:cs typeface="Times New Roman" panose="02020603050405020304" pitchFamily="18" charset="0"/>
            </a:endParaRPr>
          </a:p>
          <a:p>
            <a:pPr indent="304800" algn="just">
              <a:lnSpc>
                <a:spcPct val="150000"/>
              </a:lnSpc>
              <a:tabLst>
                <a:tab pos="304800" algn="l"/>
              </a:tabLst>
            </a:pPr>
            <a:endParaRPr lang="zh-CN" altLang="zh-CN" sz="2400" kern="100" dirty="0">
              <a:effectLst/>
              <a:latin typeface="微软雅黑" panose="020B0503020204020204" charset="-122"/>
              <a:ea typeface="微软雅黑" panose="020B0503020204020204" charset="-122"/>
              <a:cs typeface="Times New Roman" panose="02020603050405020304" pitchFamily="18" charset="0"/>
            </a:endParaRPr>
          </a:p>
        </p:txBody>
      </p:sp>
      <p:grpSp>
        <p:nvGrpSpPr>
          <p:cNvPr id="10" name="Group 2">
            <a:extLst>
              <a:ext uri="{FF2B5EF4-FFF2-40B4-BE49-F238E27FC236}">
                <a16:creationId xmlns:a16="http://schemas.microsoft.com/office/drawing/2014/main" id="{2624149C-F787-DF16-C172-C606ED23CE67}"/>
              </a:ext>
            </a:extLst>
          </p:cNvPr>
          <p:cNvGrpSpPr/>
          <p:nvPr/>
        </p:nvGrpSpPr>
        <p:grpSpPr>
          <a:xfrm>
            <a:off x="6615039" y="836236"/>
            <a:ext cx="5254455" cy="5932401"/>
            <a:chOff x="611188" y="-458788"/>
            <a:chExt cx="5633343" cy="6408738"/>
          </a:xfrm>
        </p:grpSpPr>
        <p:sp>
          <p:nvSpPr>
            <p:cNvPr id="16" name="Line 2">
              <a:extLst>
                <a:ext uri="{FF2B5EF4-FFF2-40B4-BE49-F238E27FC236}">
                  <a16:creationId xmlns:a16="http://schemas.microsoft.com/office/drawing/2014/main" id="{FD599495-D7AC-12BC-A261-4697426321FC}"/>
                </a:ext>
              </a:extLst>
            </p:cNvPr>
            <p:cNvSpPr>
              <a:spLocks noChangeShapeType="1"/>
            </p:cNvSpPr>
            <p:nvPr/>
          </p:nvSpPr>
          <p:spPr bwMode="auto">
            <a:xfrm flipV="1">
              <a:off x="3059113" y="404813"/>
              <a:ext cx="0" cy="53340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 name="Oval 3">
              <a:extLst>
                <a:ext uri="{FF2B5EF4-FFF2-40B4-BE49-F238E27FC236}">
                  <a16:creationId xmlns:a16="http://schemas.microsoft.com/office/drawing/2014/main" id="{B0D60443-9C49-6088-3B4E-27340317E3E6}"/>
                </a:ext>
              </a:extLst>
            </p:cNvPr>
            <p:cNvSpPr>
              <a:spLocks noChangeArrowheads="1"/>
            </p:cNvSpPr>
            <p:nvPr/>
          </p:nvSpPr>
          <p:spPr bwMode="auto">
            <a:xfrm rot="18850805">
              <a:off x="535781" y="2545557"/>
              <a:ext cx="5691187" cy="768350"/>
            </a:xfrm>
            <a:prstGeom prst="ellipse">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Line 4">
              <a:extLst>
                <a:ext uri="{FF2B5EF4-FFF2-40B4-BE49-F238E27FC236}">
                  <a16:creationId xmlns:a16="http://schemas.microsoft.com/office/drawing/2014/main" id="{9AB21C92-D33E-EF26-EDD7-BCAF44F43E33}"/>
                </a:ext>
              </a:extLst>
            </p:cNvPr>
            <p:cNvSpPr>
              <a:spLocks noChangeShapeType="1"/>
            </p:cNvSpPr>
            <p:nvPr/>
          </p:nvSpPr>
          <p:spPr bwMode="auto">
            <a:xfrm rot="18793590">
              <a:off x="345282" y="2670968"/>
              <a:ext cx="6408738" cy="149225"/>
            </a:xfrm>
            <a:prstGeom prst="line">
              <a:avLst/>
            </a:prstGeom>
            <a:noFill/>
            <a:ln w="28575">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5">
              <a:extLst>
                <a:ext uri="{FF2B5EF4-FFF2-40B4-BE49-F238E27FC236}">
                  <a16:creationId xmlns:a16="http://schemas.microsoft.com/office/drawing/2014/main" id="{9CCFA21A-ADCB-56C7-CE1E-992E83EF0E72}"/>
                </a:ext>
              </a:extLst>
            </p:cNvPr>
            <p:cNvSpPr>
              <a:spLocks noChangeShapeType="1"/>
            </p:cNvSpPr>
            <p:nvPr/>
          </p:nvSpPr>
          <p:spPr bwMode="auto">
            <a:xfrm>
              <a:off x="611188" y="3213100"/>
              <a:ext cx="54864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2" name="Line 6">
              <a:extLst>
                <a:ext uri="{FF2B5EF4-FFF2-40B4-BE49-F238E27FC236}">
                  <a16:creationId xmlns:a16="http://schemas.microsoft.com/office/drawing/2014/main" id="{931A127A-1678-43B0-2CE5-37D0D535B35D}"/>
                </a:ext>
              </a:extLst>
            </p:cNvPr>
            <p:cNvSpPr>
              <a:spLocks noChangeShapeType="1"/>
            </p:cNvSpPr>
            <p:nvPr/>
          </p:nvSpPr>
          <p:spPr bwMode="auto">
            <a:xfrm rot="18996666" flipV="1">
              <a:off x="2771775" y="260350"/>
              <a:ext cx="1588" cy="5334000"/>
            </a:xfrm>
            <a:prstGeom prst="line">
              <a:avLst/>
            </a:prstGeom>
            <a:noFill/>
            <a:ln w="28575">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3" name="Rectangle 7">
              <a:extLst>
                <a:ext uri="{FF2B5EF4-FFF2-40B4-BE49-F238E27FC236}">
                  <a16:creationId xmlns:a16="http://schemas.microsoft.com/office/drawing/2014/main" id="{C328C9C8-C4E7-2C87-0A8E-F7F90D45BDB8}"/>
                </a:ext>
              </a:extLst>
            </p:cNvPr>
            <p:cNvSpPr>
              <a:spLocks noChangeArrowheads="1"/>
            </p:cNvSpPr>
            <p:nvPr/>
          </p:nvSpPr>
          <p:spPr bwMode="auto">
            <a:xfrm>
              <a:off x="3617913" y="22780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graphicFrame>
          <p:nvGraphicFramePr>
            <p:cNvPr id="24" name="Object 8">
              <a:extLst>
                <a:ext uri="{FF2B5EF4-FFF2-40B4-BE49-F238E27FC236}">
                  <a16:creationId xmlns:a16="http://schemas.microsoft.com/office/drawing/2014/main" id="{854FBF90-8E0D-FEEF-E7CB-AAD3055776DA}"/>
                </a:ext>
              </a:extLst>
            </p:cNvPr>
            <p:cNvGraphicFramePr>
              <a:graphicFrameLocks noChangeAspect="1"/>
            </p:cNvGraphicFramePr>
            <p:nvPr/>
          </p:nvGraphicFramePr>
          <p:xfrm>
            <a:off x="3089861" y="165264"/>
            <a:ext cx="439152" cy="594688"/>
          </p:xfrm>
          <a:graphic>
            <a:graphicData uri="http://schemas.openxmlformats.org/presentationml/2006/ole">
              <mc:AlternateContent xmlns:mc="http://schemas.openxmlformats.org/markup-compatibility/2006">
                <mc:Choice xmlns:v="urn:schemas-microsoft-com:vml" Requires="v">
                  <p:oleObj name="Equation" r:id="rId3" imgW="3962400" imgH="5486400" progId="Equation.DSMT4">
                    <p:embed/>
                  </p:oleObj>
                </mc:Choice>
                <mc:Fallback>
                  <p:oleObj name="Equation" r:id="rId3" imgW="3962400" imgH="5486400" progId="Equation.DSMT4">
                    <p:embed/>
                    <p:pic>
                      <p:nvPicPr>
                        <p:cNvPr id="24" name="Object 8"/>
                        <p:cNvPicPr>
                          <a:picLocks noChangeAspect="1" noChangeArrowheads="1"/>
                        </p:cNvPicPr>
                        <p:nvPr/>
                      </p:nvPicPr>
                      <p:blipFill>
                        <a:blip r:embed="rId4"/>
                        <a:srcRect/>
                        <a:stretch>
                          <a:fillRect/>
                        </a:stretch>
                      </p:blipFill>
                      <p:spPr bwMode="auto">
                        <a:xfrm>
                          <a:off x="3089861" y="165264"/>
                          <a:ext cx="439152" cy="594688"/>
                        </a:xfrm>
                        <a:prstGeom prst="rect">
                          <a:avLst/>
                        </a:prstGeom>
                        <a:noFill/>
                        <a:ln>
                          <a:noFill/>
                        </a:ln>
                      </p:spPr>
                    </p:pic>
                  </p:oleObj>
                </mc:Fallback>
              </mc:AlternateContent>
            </a:graphicData>
          </a:graphic>
        </p:graphicFrame>
        <p:graphicFrame>
          <p:nvGraphicFramePr>
            <p:cNvPr id="25" name="Object 9">
              <a:extLst>
                <a:ext uri="{FF2B5EF4-FFF2-40B4-BE49-F238E27FC236}">
                  <a16:creationId xmlns:a16="http://schemas.microsoft.com/office/drawing/2014/main" id="{0B5D9334-A68A-B4DC-5E07-3D6E6ADA2DEA}"/>
                </a:ext>
              </a:extLst>
            </p:cNvPr>
            <p:cNvGraphicFramePr>
              <a:graphicFrameLocks noChangeAspect="1"/>
            </p:cNvGraphicFramePr>
            <p:nvPr/>
          </p:nvGraphicFramePr>
          <p:xfrm>
            <a:off x="5838462" y="2645033"/>
            <a:ext cx="406069" cy="590068"/>
          </p:xfrm>
          <a:graphic>
            <a:graphicData uri="http://schemas.openxmlformats.org/presentationml/2006/ole">
              <mc:AlternateContent xmlns:mc="http://schemas.openxmlformats.org/markup-compatibility/2006">
                <mc:Choice xmlns:v="urn:schemas-microsoft-com:vml" Requires="v">
                  <p:oleObj name="Equation" r:id="rId5" imgW="3657600" imgH="5486400" progId="Equation.DSMT4">
                    <p:embed/>
                  </p:oleObj>
                </mc:Choice>
                <mc:Fallback>
                  <p:oleObj name="Equation" r:id="rId5" imgW="3657600" imgH="5486400" progId="Equation.DSMT4">
                    <p:embed/>
                    <p:pic>
                      <p:nvPicPr>
                        <p:cNvPr id="25" name="Object 9"/>
                        <p:cNvPicPr>
                          <a:picLocks noChangeAspect="1" noChangeArrowheads="1"/>
                        </p:cNvPicPr>
                        <p:nvPr/>
                      </p:nvPicPr>
                      <p:blipFill>
                        <a:blip r:embed="rId6"/>
                        <a:srcRect/>
                        <a:stretch>
                          <a:fillRect/>
                        </a:stretch>
                      </p:blipFill>
                      <p:spPr bwMode="auto">
                        <a:xfrm>
                          <a:off x="5838462" y="2645033"/>
                          <a:ext cx="406069" cy="590068"/>
                        </a:xfrm>
                        <a:prstGeom prst="rect">
                          <a:avLst/>
                        </a:prstGeom>
                        <a:noFill/>
                        <a:ln>
                          <a:noFill/>
                        </a:ln>
                      </p:spPr>
                    </p:pic>
                  </p:oleObj>
                </mc:Fallback>
              </mc:AlternateContent>
            </a:graphicData>
          </a:graphic>
        </p:graphicFrame>
        <p:graphicFrame>
          <p:nvGraphicFramePr>
            <p:cNvPr id="26" name="Object 10">
              <a:extLst>
                <a:ext uri="{FF2B5EF4-FFF2-40B4-BE49-F238E27FC236}">
                  <a16:creationId xmlns:a16="http://schemas.microsoft.com/office/drawing/2014/main" id="{2327AD42-3FED-3D21-0933-98B4F805B374}"/>
                </a:ext>
              </a:extLst>
            </p:cNvPr>
            <p:cNvGraphicFramePr>
              <a:graphicFrameLocks noChangeAspect="1"/>
            </p:cNvGraphicFramePr>
            <p:nvPr/>
          </p:nvGraphicFramePr>
          <p:xfrm>
            <a:off x="5812757" y="199517"/>
            <a:ext cx="369872" cy="506579"/>
          </p:xfrm>
          <a:graphic>
            <a:graphicData uri="http://schemas.openxmlformats.org/presentationml/2006/ole">
              <mc:AlternateContent xmlns:mc="http://schemas.openxmlformats.org/markup-compatibility/2006">
                <mc:Choice xmlns:v="urn:schemas-microsoft-com:vml" Requires="v">
                  <p:oleObj name="Equation" r:id="rId7" imgW="3962400" imgH="5486400" progId="Equation.DSMT4">
                    <p:embed/>
                  </p:oleObj>
                </mc:Choice>
                <mc:Fallback>
                  <p:oleObj name="Equation" r:id="rId7" imgW="3962400" imgH="5486400" progId="Equation.DSMT4">
                    <p:embed/>
                    <p:pic>
                      <p:nvPicPr>
                        <p:cNvPr id="26" name="Object 10"/>
                        <p:cNvPicPr>
                          <a:picLocks noChangeAspect="1" noChangeArrowheads="1"/>
                        </p:cNvPicPr>
                        <p:nvPr/>
                      </p:nvPicPr>
                      <p:blipFill>
                        <a:blip r:embed="rId8"/>
                        <a:srcRect/>
                        <a:stretch>
                          <a:fillRect/>
                        </a:stretch>
                      </p:blipFill>
                      <p:spPr bwMode="auto">
                        <a:xfrm>
                          <a:off x="5812757" y="199517"/>
                          <a:ext cx="369872" cy="506579"/>
                        </a:xfrm>
                        <a:prstGeom prst="rect">
                          <a:avLst/>
                        </a:prstGeom>
                        <a:noFill/>
                        <a:ln>
                          <a:noFill/>
                        </a:ln>
                      </p:spPr>
                    </p:pic>
                  </p:oleObj>
                </mc:Fallback>
              </mc:AlternateContent>
            </a:graphicData>
          </a:graphic>
        </p:graphicFrame>
        <p:graphicFrame>
          <p:nvGraphicFramePr>
            <p:cNvPr id="27" name="Object 11">
              <a:extLst>
                <a:ext uri="{FF2B5EF4-FFF2-40B4-BE49-F238E27FC236}">
                  <a16:creationId xmlns:a16="http://schemas.microsoft.com/office/drawing/2014/main" id="{E805D929-14C4-373C-A86E-EF4CD4ED935C}"/>
                </a:ext>
              </a:extLst>
            </p:cNvPr>
            <p:cNvGraphicFramePr>
              <a:graphicFrameLocks noChangeAspect="1"/>
            </p:cNvGraphicFramePr>
            <p:nvPr/>
          </p:nvGraphicFramePr>
          <p:xfrm>
            <a:off x="1098954" y="642341"/>
            <a:ext cx="405930" cy="516863"/>
          </p:xfrm>
          <a:graphic>
            <a:graphicData uri="http://schemas.openxmlformats.org/presentationml/2006/ole">
              <mc:AlternateContent xmlns:mc="http://schemas.openxmlformats.org/markup-compatibility/2006">
                <mc:Choice xmlns:v="urn:schemas-microsoft-com:vml" Requires="v">
                  <p:oleObj name="Equation" r:id="rId9" imgW="4267200" imgH="5486400" progId="Equation.DSMT4">
                    <p:embed/>
                  </p:oleObj>
                </mc:Choice>
                <mc:Fallback>
                  <p:oleObj name="Equation" r:id="rId9" imgW="4267200" imgH="5486400" progId="Equation.DSMT4">
                    <p:embed/>
                    <p:pic>
                      <p:nvPicPr>
                        <p:cNvPr id="27" name="Object 11"/>
                        <p:cNvPicPr>
                          <a:picLocks noChangeAspect="1" noChangeArrowheads="1"/>
                        </p:cNvPicPr>
                        <p:nvPr/>
                      </p:nvPicPr>
                      <p:blipFill>
                        <a:blip r:embed="rId10"/>
                        <a:srcRect/>
                        <a:stretch>
                          <a:fillRect/>
                        </a:stretch>
                      </p:blipFill>
                      <p:spPr bwMode="auto">
                        <a:xfrm>
                          <a:off x="1098954" y="642341"/>
                          <a:ext cx="405930" cy="516863"/>
                        </a:xfrm>
                        <a:prstGeom prst="rect">
                          <a:avLst/>
                        </a:prstGeom>
                        <a:noFill/>
                        <a:ln>
                          <a:noFill/>
                        </a:ln>
                      </p:spPr>
                    </p:pic>
                  </p:oleObj>
                </mc:Fallback>
              </mc:AlternateContent>
            </a:graphicData>
          </a:graphic>
        </p:graphicFrame>
        <p:sp>
          <p:nvSpPr>
            <p:cNvPr id="28" name="Rectangle 12">
              <a:extLst>
                <a:ext uri="{FF2B5EF4-FFF2-40B4-BE49-F238E27FC236}">
                  <a16:creationId xmlns:a16="http://schemas.microsoft.com/office/drawing/2014/main" id="{D6858583-D23C-5FA8-55F5-289FA8D53528}"/>
                </a:ext>
              </a:extLst>
            </p:cNvPr>
            <p:cNvSpPr>
              <a:spLocks noChangeArrowheads="1"/>
            </p:cNvSpPr>
            <p:nvPr/>
          </p:nvSpPr>
          <p:spPr bwMode="auto">
            <a:xfrm>
              <a:off x="3978275" y="17748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29" name="Rectangle 13">
              <a:extLst>
                <a:ext uri="{FF2B5EF4-FFF2-40B4-BE49-F238E27FC236}">
                  <a16:creationId xmlns:a16="http://schemas.microsoft.com/office/drawing/2014/main" id="{194A29FB-7371-63AB-E315-DC9DEBD1DF03}"/>
                </a:ext>
              </a:extLst>
            </p:cNvPr>
            <p:cNvSpPr>
              <a:spLocks noChangeArrowheads="1"/>
            </p:cNvSpPr>
            <p:nvPr/>
          </p:nvSpPr>
          <p:spPr bwMode="auto">
            <a:xfrm>
              <a:off x="4189413" y="20161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0" name="Rectangle 14">
              <a:extLst>
                <a:ext uri="{FF2B5EF4-FFF2-40B4-BE49-F238E27FC236}">
                  <a16:creationId xmlns:a16="http://schemas.microsoft.com/office/drawing/2014/main" id="{EB05B71F-AB06-0B35-CB22-A39BACAD4CDF}"/>
                </a:ext>
              </a:extLst>
            </p:cNvPr>
            <p:cNvSpPr>
              <a:spLocks noChangeArrowheads="1"/>
            </p:cNvSpPr>
            <p:nvPr/>
          </p:nvSpPr>
          <p:spPr bwMode="auto">
            <a:xfrm>
              <a:off x="4410075" y="14859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1" name="Rectangle 15">
              <a:extLst>
                <a:ext uri="{FF2B5EF4-FFF2-40B4-BE49-F238E27FC236}">
                  <a16:creationId xmlns:a16="http://schemas.microsoft.com/office/drawing/2014/main" id="{02EA07D1-134C-0EE4-AD78-0B01230D6FAD}"/>
                </a:ext>
              </a:extLst>
            </p:cNvPr>
            <p:cNvSpPr>
              <a:spLocks noChangeArrowheads="1"/>
            </p:cNvSpPr>
            <p:nvPr/>
          </p:nvSpPr>
          <p:spPr bwMode="auto">
            <a:xfrm>
              <a:off x="4494213" y="15589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2" name="Rectangle 16">
              <a:extLst>
                <a:ext uri="{FF2B5EF4-FFF2-40B4-BE49-F238E27FC236}">
                  <a16:creationId xmlns:a16="http://schemas.microsoft.com/office/drawing/2014/main" id="{E161C9EA-DB01-3F85-3EB1-416E7F4C576F}"/>
                </a:ext>
              </a:extLst>
            </p:cNvPr>
            <p:cNvSpPr>
              <a:spLocks noChangeArrowheads="1"/>
            </p:cNvSpPr>
            <p:nvPr/>
          </p:nvSpPr>
          <p:spPr bwMode="auto">
            <a:xfrm>
              <a:off x="4570413" y="11779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3" name="Rectangle 17">
              <a:extLst>
                <a:ext uri="{FF2B5EF4-FFF2-40B4-BE49-F238E27FC236}">
                  <a16:creationId xmlns:a16="http://schemas.microsoft.com/office/drawing/2014/main" id="{4DE1A8C4-59EF-484E-DEDA-EAC0794DED72}"/>
                </a:ext>
              </a:extLst>
            </p:cNvPr>
            <p:cNvSpPr>
              <a:spLocks noChangeArrowheads="1"/>
            </p:cNvSpPr>
            <p:nvPr/>
          </p:nvSpPr>
          <p:spPr bwMode="auto">
            <a:xfrm>
              <a:off x="4410075" y="17748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4" name="Rectangle 18">
              <a:extLst>
                <a:ext uri="{FF2B5EF4-FFF2-40B4-BE49-F238E27FC236}">
                  <a16:creationId xmlns:a16="http://schemas.microsoft.com/office/drawing/2014/main" id="{05BFFFE3-B73B-82DE-6295-774078D70202}"/>
                </a:ext>
              </a:extLst>
            </p:cNvPr>
            <p:cNvSpPr>
              <a:spLocks noChangeArrowheads="1"/>
            </p:cNvSpPr>
            <p:nvPr/>
          </p:nvSpPr>
          <p:spPr bwMode="auto">
            <a:xfrm>
              <a:off x="3546475" y="26384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5" name="Rectangle 19">
              <a:extLst>
                <a:ext uri="{FF2B5EF4-FFF2-40B4-BE49-F238E27FC236}">
                  <a16:creationId xmlns:a16="http://schemas.microsoft.com/office/drawing/2014/main" id="{00DA6872-7A79-8313-9129-4A2326760A0A}"/>
                </a:ext>
              </a:extLst>
            </p:cNvPr>
            <p:cNvSpPr>
              <a:spLocks noChangeArrowheads="1"/>
            </p:cNvSpPr>
            <p:nvPr/>
          </p:nvSpPr>
          <p:spPr bwMode="auto">
            <a:xfrm>
              <a:off x="4265613" y="19177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6" name="Rectangle 20">
              <a:extLst>
                <a:ext uri="{FF2B5EF4-FFF2-40B4-BE49-F238E27FC236}">
                  <a16:creationId xmlns:a16="http://schemas.microsoft.com/office/drawing/2014/main" id="{9226B3FB-771F-EB2F-7D77-7876E0AAADC9}"/>
                </a:ext>
              </a:extLst>
            </p:cNvPr>
            <p:cNvSpPr>
              <a:spLocks noChangeArrowheads="1"/>
            </p:cNvSpPr>
            <p:nvPr/>
          </p:nvSpPr>
          <p:spPr bwMode="auto">
            <a:xfrm>
              <a:off x="3579813" y="23209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7" name="Rectangle 21">
              <a:extLst>
                <a:ext uri="{FF2B5EF4-FFF2-40B4-BE49-F238E27FC236}">
                  <a16:creationId xmlns:a16="http://schemas.microsoft.com/office/drawing/2014/main" id="{9734FBD8-6347-3425-B204-E01983EEE8A8}"/>
                </a:ext>
              </a:extLst>
            </p:cNvPr>
            <p:cNvSpPr>
              <a:spLocks noChangeArrowheads="1"/>
            </p:cNvSpPr>
            <p:nvPr/>
          </p:nvSpPr>
          <p:spPr bwMode="auto">
            <a:xfrm>
              <a:off x="3884613" y="21685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cs typeface="Times New Roman" panose="02020603050405020304" pitchFamily="18" charset="0"/>
                </a:rPr>
                <a:t>•</a:t>
              </a:r>
              <a:endParaRPr lang="en-US" altLang="zh-CN" sz="2800" dirty="0">
                <a:ea typeface="华文琥珀" panose="02010800040101010101" pitchFamily="2" charset="-122"/>
              </a:endParaRPr>
            </a:p>
          </p:txBody>
        </p:sp>
        <p:sp>
          <p:nvSpPr>
            <p:cNvPr id="38" name="Rectangle 22">
              <a:extLst>
                <a:ext uri="{FF2B5EF4-FFF2-40B4-BE49-F238E27FC236}">
                  <a16:creationId xmlns:a16="http://schemas.microsoft.com/office/drawing/2014/main" id="{A9F5A67A-0339-4716-92C3-98D033D3F80C}"/>
                </a:ext>
              </a:extLst>
            </p:cNvPr>
            <p:cNvSpPr>
              <a:spLocks noChangeArrowheads="1"/>
            </p:cNvSpPr>
            <p:nvPr/>
          </p:nvSpPr>
          <p:spPr bwMode="auto">
            <a:xfrm>
              <a:off x="4037013" y="23209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39" name="Rectangle 23">
              <a:extLst>
                <a:ext uri="{FF2B5EF4-FFF2-40B4-BE49-F238E27FC236}">
                  <a16:creationId xmlns:a16="http://schemas.microsoft.com/office/drawing/2014/main" id="{C4D8ABBB-4CFE-3711-B8EA-7ED7C71648C9}"/>
                </a:ext>
              </a:extLst>
            </p:cNvPr>
            <p:cNvSpPr>
              <a:spLocks noChangeArrowheads="1"/>
            </p:cNvSpPr>
            <p:nvPr/>
          </p:nvSpPr>
          <p:spPr bwMode="auto">
            <a:xfrm>
              <a:off x="3690938" y="23495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0" name="Rectangle 24">
              <a:extLst>
                <a:ext uri="{FF2B5EF4-FFF2-40B4-BE49-F238E27FC236}">
                  <a16:creationId xmlns:a16="http://schemas.microsoft.com/office/drawing/2014/main" id="{C3F90DE5-EE30-E15D-FEFE-979BA04431AE}"/>
                </a:ext>
              </a:extLst>
            </p:cNvPr>
            <p:cNvSpPr>
              <a:spLocks noChangeArrowheads="1"/>
            </p:cNvSpPr>
            <p:nvPr/>
          </p:nvSpPr>
          <p:spPr bwMode="auto">
            <a:xfrm>
              <a:off x="3257550" y="27098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1" name="Rectangle 25">
              <a:extLst>
                <a:ext uri="{FF2B5EF4-FFF2-40B4-BE49-F238E27FC236}">
                  <a16:creationId xmlns:a16="http://schemas.microsoft.com/office/drawing/2014/main" id="{883B05F2-CF31-0542-982C-04B74A12102D}"/>
                </a:ext>
              </a:extLst>
            </p:cNvPr>
            <p:cNvSpPr>
              <a:spLocks noChangeArrowheads="1"/>
            </p:cNvSpPr>
            <p:nvPr/>
          </p:nvSpPr>
          <p:spPr bwMode="auto">
            <a:xfrm>
              <a:off x="2898775" y="321468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2" name="Rectangle 26">
              <a:extLst>
                <a:ext uri="{FF2B5EF4-FFF2-40B4-BE49-F238E27FC236}">
                  <a16:creationId xmlns:a16="http://schemas.microsoft.com/office/drawing/2014/main" id="{88260BBA-6941-D2A2-4C96-ADDBEC61C7C1}"/>
                </a:ext>
              </a:extLst>
            </p:cNvPr>
            <p:cNvSpPr>
              <a:spLocks noChangeArrowheads="1"/>
            </p:cNvSpPr>
            <p:nvPr/>
          </p:nvSpPr>
          <p:spPr bwMode="auto">
            <a:xfrm>
              <a:off x="3833813" y="24225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3" name="Rectangle 27">
              <a:extLst>
                <a:ext uri="{FF2B5EF4-FFF2-40B4-BE49-F238E27FC236}">
                  <a16:creationId xmlns:a16="http://schemas.microsoft.com/office/drawing/2014/main" id="{EEEC7F48-FD37-FF0B-13F7-048AAF75AEE4}"/>
                </a:ext>
              </a:extLst>
            </p:cNvPr>
            <p:cNvSpPr>
              <a:spLocks noChangeArrowheads="1"/>
            </p:cNvSpPr>
            <p:nvPr/>
          </p:nvSpPr>
          <p:spPr bwMode="auto">
            <a:xfrm>
              <a:off x="2322513" y="37179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4" name="Rectangle 28">
              <a:extLst>
                <a:ext uri="{FF2B5EF4-FFF2-40B4-BE49-F238E27FC236}">
                  <a16:creationId xmlns:a16="http://schemas.microsoft.com/office/drawing/2014/main" id="{33DF17FC-9FFA-5C24-18C7-5C11EE4477CA}"/>
                </a:ext>
              </a:extLst>
            </p:cNvPr>
            <p:cNvSpPr>
              <a:spLocks noChangeArrowheads="1"/>
            </p:cNvSpPr>
            <p:nvPr/>
          </p:nvSpPr>
          <p:spPr bwMode="auto">
            <a:xfrm>
              <a:off x="4122738" y="18462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5" name="Rectangle 29">
              <a:extLst>
                <a:ext uri="{FF2B5EF4-FFF2-40B4-BE49-F238E27FC236}">
                  <a16:creationId xmlns:a16="http://schemas.microsoft.com/office/drawing/2014/main" id="{E474242D-C688-AF33-6890-CF4FF656C970}"/>
                </a:ext>
              </a:extLst>
            </p:cNvPr>
            <p:cNvSpPr>
              <a:spLocks noChangeArrowheads="1"/>
            </p:cNvSpPr>
            <p:nvPr/>
          </p:nvSpPr>
          <p:spPr bwMode="auto">
            <a:xfrm>
              <a:off x="3690938" y="21336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6" name="Rectangle 30">
              <a:extLst>
                <a:ext uri="{FF2B5EF4-FFF2-40B4-BE49-F238E27FC236}">
                  <a16:creationId xmlns:a16="http://schemas.microsoft.com/office/drawing/2014/main" id="{B6CF679E-8B19-8854-2ED6-77A6A8575355}"/>
                </a:ext>
              </a:extLst>
            </p:cNvPr>
            <p:cNvSpPr>
              <a:spLocks noChangeArrowheads="1"/>
            </p:cNvSpPr>
            <p:nvPr/>
          </p:nvSpPr>
          <p:spPr bwMode="auto">
            <a:xfrm>
              <a:off x="2898775" y="28543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7" name="Rectangle 31">
              <a:extLst>
                <a:ext uri="{FF2B5EF4-FFF2-40B4-BE49-F238E27FC236}">
                  <a16:creationId xmlns:a16="http://schemas.microsoft.com/office/drawing/2014/main" id="{AE967228-69CF-9112-FF12-3FFC1A832F35}"/>
                </a:ext>
              </a:extLst>
            </p:cNvPr>
            <p:cNvSpPr>
              <a:spLocks noChangeArrowheads="1"/>
            </p:cNvSpPr>
            <p:nvPr/>
          </p:nvSpPr>
          <p:spPr bwMode="auto">
            <a:xfrm>
              <a:off x="1962150" y="4078288"/>
              <a:ext cx="338138"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8" name="Rectangle 32">
              <a:extLst>
                <a:ext uri="{FF2B5EF4-FFF2-40B4-BE49-F238E27FC236}">
                  <a16:creationId xmlns:a16="http://schemas.microsoft.com/office/drawing/2014/main" id="{846A479C-173D-752F-DE88-EAD01E1AD1BC}"/>
                </a:ext>
              </a:extLst>
            </p:cNvPr>
            <p:cNvSpPr>
              <a:spLocks noChangeArrowheads="1"/>
            </p:cNvSpPr>
            <p:nvPr/>
          </p:nvSpPr>
          <p:spPr bwMode="auto">
            <a:xfrm>
              <a:off x="2589213" y="32353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49" name="Rectangle 33">
              <a:extLst>
                <a:ext uri="{FF2B5EF4-FFF2-40B4-BE49-F238E27FC236}">
                  <a16:creationId xmlns:a16="http://schemas.microsoft.com/office/drawing/2014/main" id="{55FE03AE-402E-199B-6E02-8D65187D060D}"/>
                </a:ext>
              </a:extLst>
            </p:cNvPr>
            <p:cNvSpPr>
              <a:spLocks noChangeArrowheads="1"/>
            </p:cNvSpPr>
            <p:nvPr/>
          </p:nvSpPr>
          <p:spPr bwMode="auto">
            <a:xfrm>
              <a:off x="2208213" y="35401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0" name="Rectangle 34">
              <a:extLst>
                <a:ext uri="{FF2B5EF4-FFF2-40B4-BE49-F238E27FC236}">
                  <a16:creationId xmlns:a16="http://schemas.microsoft.com/office/drawing/2014/main" id="{B705EE34-FDCD-0E05-1717-422FBB05E68E}"/>
                </a:ext>
              </a:extLst>
            </p:cNvPr>
            <p:cNvSpPr>
              <a:spLocks noChangeArrowheads="1"/>
            </p:cNvSpPr>
            <p:nvPr/>
          </p:nvSpPr>
          <p:spPr bwMode="auto">
            <a:xfrm>
              <a:off x="1746250" y="429418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1" name="Rectangle 35">
              <a:extLst>
                <a:ext uri="{FF2B5EF4-FFF2-40B4-BE49-F238E27FC236}">
                  <a16:creationId xmlns:a16="http://schemas.microsoft.com/office/drawing/2014/main" id="{8F0496E5-5ECC-8D7A-9232-75B728BB6C51}"/>
                </a:ext>
              </a:extLst>
            </p:cNvPr>
            <p:cNvSpPr>
              <a:spLocks noChangeArrowheads="1"/>
            </p:cNvSpPr>
            <p:nvPr/>
          </p:nvSpPr>
          <p:spPr bwMode="auto">
            <a:xfrm>
              <a:off x="3186113" y="29257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2" name="Rectangle 36">
              <a:extLst>
                <a:ext uri="{FF2B5EF4-FFF2-40B4-BE49-F238E27FC236}">
                  <a16:creationId xmlns:a16="http://schemas.microsoft.com/office/drawing/2014/main" id="{3D0CB12E-FC78-5BAE-88BC-13B9E44F5274}"/>
                </a:ext>
              </a:extLst>
            </p:cNvPr>
            <p:cNvSpPr>
              <a:spLocks noChangeArrowheads="1"/>
            </p:cNvSpPr>
            <p:nvPr/>
          </p:nvSpPr>
          <p:spPr bwMode="auto">
            <a:xfrm>
              <a:off x="3427413" y="30829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3" name="Rectangle 37">
              <a:extLst>
                <a:ext uri="{FF2B5EF4-FFF2-40B4-BE49-F238E27FC236}">
                  <a16:creationId xmlns:a16="http://schemas.microsoft.com/office/drawing/2014/main" id="{67020B93-033C-46C1-3233-2B90C29AE963}"/>
                </a:ext>
              </a:extLst>
            </p:cNvPr>
            <p:cNvSpPr>
              <a:spLocks noChangeArrowheads="1"/>
            </p:cNvSpPr>
            <p:nvPr/>
          </p:nvSpPr>
          <p:spPr bwMode="auto">
            <a:xfrm>
              <a:off x="2741613" y="36925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4" name="Rectangle 38">
              <a:extLst>
                <a:ext uri="{FF2B5EF4-FFF2-40B4-BE49-F238E27FC236}">
                  <a16:creationId xmlns:a16="http://schemas.microsoft.com/office/drawing/2014/main" id="{9AA81CC8-B8E3-0EAB-DD5E-C90EDB39F63B}"/>
                </a:ext>
              </a:extLst>
            </p:cNvPr>
            <p:cNvSpPr>
              <a:spLocks noChangeArrowheads="1"/>
            </p:cNvSpPr>
            <p:nvPr/>
          </p:nvSpPr>
          <p:spPr bwMode="auto">
            <a:xfrm>
              <a:off x="1979613" y="36163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5" name="Rectangle 39">
              <a:extLst>
                <a:ext uri="{FF2B5EF4-FFF2-40B4-BE49-F238E27FC236}">
                  <a16:creationId xmlns:a16="http://schemas.microsoft.com/office/drawing/2014/main" id="{04D75E8F-1DA8-22D1-5922-F1809BCD7F0B}"/>
                </a:ext>
              </a:extLst>
            </p:cNvPr>
            <p:cNvSpPr>
              <a:spLocks noChangeArrowheads="1"/>
            </p:cNvSpPr>
            <p:nvPr/>
          </p:nvSpPr>
          <p:spPr bwMode="auto">
            <a:xfrm>
              <a:off x="2249488" y="379095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6" name="Rectangle 40">
              <a:extLst>
                <a:ext uri="{FF2B5EF4-FFF2-40B4-BE49-F238E27FC236}">
                  <a16:creationId xmlns:a16="http://schemas.microsoft.com/office/drawing/2014/main" id="{3B0E2E9B-D2D3-D242-20D7-460DA3E2684C}"/>
                </a:ext>
              </a:extLst>
            </p:cNvPr>
            <p:cNvSpPr>
              <a:spLocks noChangeArrowheads="1"/>
            </p:cNvSpPr>
            <p:nvPr/>
          </p:nvSpPr>
          <p:spPr bwMode="auto">
            <a:xfrm>
              <a:off x="2589213" y="30067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7" name="Rectangle 41">
              <a:extLst>
                <a:ext uri="{FF2B5EF4-FFF2-40B4-BE49-F238E27FC236}">
                  <a16:creationId xmlns:a16="http://schemas.microsoft.com/office/drawing/2014/main" id="{FB8F96C6-8CCB-A849-698F-CA83548FBCEF}"/>
                </a:ext>
              </a:extLst>
            </p:cNvPr>
            <p:cNvSpPr>
              <a:spLocks noChangeArrowheads="1"/>
            </p:cNvSpPr>
            <p:nvPr/>
          </p:nvSpPr>
          <p:spPr bwMode="auto">
            <a:xfrm>
              <a:off x="2538413" y="3286125"/>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8" name="Rectangle 42">
              <a:extLst>
                <a:ext uri="{FF2B5EF4-FFF2-40B4-BE49-F238E27FC236}">
                  <a16:creationId xmlns:a16="http://schemas.microsoft.com/office/drawing/2014/main" id="{4754D6ED-48B0-A459-60DE-93CB4A228A79}"/>
                </a:ext>
              </a:extLst>
            </p:cNvPr>
            <p:cNvSpPr>
              <a:spLocks noChangeArrowheads="1"/>
            </p:cNvSpPr>
            <p:nvPr/>
          </p:nvSpPr>
          <p:spPr bwMode="auto">
            <a:xfrm>
              <a:off x="2132013" y="40735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59" name="Rectangle 43">
              <a:extLst>
                <a:ext uri="{FF2B5EF4-FFF2-40B4-BE49-F238E27FC236}">
                  <a16:creationId xmlns:a16="http://schemas.microsoft.com/office/drawing/2014/main" id="{33A031E2-B1DB-A5EE-7C7E-7CFA4236ED45}"/>
                </a:ext>
              </a:extLst>
            </p:cNvPr>
            <p:cNvSpPr>
              <a:spLocks noChangeArrowheads="1"/>
            </p:cNvSpPr>
            <p:nvPr/>
          </p:nvSpPr>
          <p:spPr bwMode="auto">
            <a:xfrm>
              <a:off x="4770438" y="134143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60" name="Rectangle 44">
              <a:extLst>
                <a:ext uri="{FF2B5EF4-FFF2-40B4-BE49-F238E27FC236}">
                  <a16:creationId xmlns:a16="http://schemas.microsoft.com/office/drawing/2014/main" id="{C017D54C-B1C4-47D9-0574-9B9F16674A01}"/>
                </a:ext>
              </a:extLst>
            </p:cNvPr>
            <p:cNvSpPr>
              <a:spLocks noChangeArrowheads="1"/>
            </p:cNvSpPr>
            <p:nvPr/>
          </p:nvSpPr>
          <p:spPr bwMode="auto">
            <a:xfrm>
              <a:off x="4875213" y="10255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61" name="Rectangle 45">
              <a:extLst>
                <a:ext uri="{FF2B5EF4-FFF2-40B4-BE49-F238E27FC236}">
                  <a16:creationId xmlns:a16="http://schemas.microsoft.com/office/drawing/2014/main" id="{CBB23279-DA40-DAE2-01C0-4FBDB0D5EE7B}"/>
                </a:ext>
              </a:extLst>
            </p:cNvPr>
            <p:cNvSpPr>
              <a:spLocks noChangeArrowheads="1"/>
            </p:cNvSpPr>
            <p:nvPr/>
          </p:nvSpPr>
          <p:spPr bwMode="auto">
            <a:xfrm>
              <a:off x="4483100" y="14144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62" name="Rectangle 46">
              <a:extLst>
                <a:ext uri="{FF2B5EF4-FFF2-40B4-BE49-F238E27FC236}">
                  <a16:creationId xmlns:a16="http://schemas.microsoft.com/office/drawing/2014/main" id="{F2BC1CAE-ECC2-DA35-D955-5398C5F6633A}"/>
                </a:ext>
              </a:extLst>
            </p:cNvPr>
            <p:cNvSpPr>
              <a:spLocks noChangeArrowheads="1"/>
            </p:cNvSpPr>
            <p:nvPr/>
          </p:nvSpPr>
          <p:spPr bwMode="auto">
            <a:xfrm>
              <a:off x="4194175" y="16303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63" name="Rectangle 47">
              <a:extLst>
                <a:ext uri="{FF2B5EF4-FFF2-40B4-BE49-F238E27FC236}">
                  <a16:creationId xmlns:a16="http://schemas.microsoft.com/office/drawing/2014/main" id="{1B35239E-A182-DD7C-D451-081D7422CD71}"/>
                </a:ext>
              </a:extLst>
            </p:cNvPr>
            <p:cNvSpPr>
              <a:spLocks noChangeArrowheads="1"/>
            </p:cNvSpPr>
            <p:nvPr/>
          </p:nvSpPr>
          <p:spPr bwMode="auto">
            <a:xfrm>
              <a:off x="3330575" y="249396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sp>
          <p:nvSpPr>
            <p:cNvPr id="128" name="Rectangle 49">
              <a:extLst>
                <a:ext uri="{FF2B5EF4-FFF2-40B4-BE49-F238E27FC236}">
                  <a16:creationId xmlns:a16="http://schemas.microsoft.com/office/drawing/2014/main" id="{75CAE3AE-6AB7-0D86-9196-F3012CF594FC}"/>
                </a:ext>
              </a:extLst>
            </p:cNvPr>
            <p:cNvSpPr>
              <a:spLocks noChangeArrowheads="1"/>
            </p:cNvSpPr>
            <p:nvPr/>
          </p:nvSpPr>
          <p:spPr bwMode="auto">
            <a:xfrm>
              <a:off x="755650" y="92075"/>
              <a:ext cx="2232025" cy="498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u="none" dirty="0">
                  <a:solidFill>
                    <a:schemeClr val="accent1">
                      <a:lumMod val="75000"/>
                    </a:schemeClr>
                  </a:solidFill>
                  <a:latin typeface="微软雅黑" panose="020B0503020204020204" charset="-122"/>
                  <a:ea typeface="微软雅黑" panose="020B0503020204020204" charset="-122"/>
                </a:rPr>
                <a:t>旋转坐标轴</a:t>
              </a:r>
            </a:p>
          </p:txBody>
        </p:sp>
        <p:sp>
          <p:nvSpPr>
            <p:cNvPr id="129" name="Rectangle 50">
              <a:extLst>
                <a:ext uri="{FF2B5EF4-FFF2-40B4-BE49-F238E27FC236}">
                  <a16:creationId xmlns:a16="http://schemas.microsoft.com/office/drawing/2014/main" id="{A435E9D5-225A-88BA-14F9-879DF33A9A58}"/>
                </a:ext>
              </a:extLst>
            </p:cNvPr>
            <p:cNvSpPr>
              <a:spLocks noChangeArrowheads="1"/>
            </p:cNvSpPr>
            <p:nvPr/>
          </p:nvSpPr>
          <p:spPr bwMode="auto">
            <a:xfrm>
              <a:off x="3906838" y="199072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u="sng">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u="sng">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u="sng">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u="sng">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cs typeface="Times New Roman" panose="02020603050405020304" pitchFamily="18" charset="0"/>
                </a:rPr>
                <a:t>•</a:t>
              </a:r>
              <a:endParaRPr lang="en-US" altLang="zh-CN" sz="2800">
                <a:ea typeface="华文琥珀" panose="02010800040101010101" pitchFamily="2" charset="-122"/>
              </a:endParaRPr>
            </a:p>
          </p:txBody>
        </p:sp>
      </p:grpSp>
      <p:graphicFrame>
        <p:nvGraphicFramePr>
          <p:cNvPr id="141" name="对象 140">
            <a:extLst>
              <a:ext uri="{FF2B5EF4-FFF2-40B4-BE49-F238E27FC236}">
                <a16:creationId xmlns:a16="http://schemas.microsoft.com/office/drawing/2014/main" id="{1F1E0CA4-84BE-25F4-402E-7E3161DDF504}"/>
              </a:ext>
            </a:extLst>
          </p:cNvPr>
          <p:cNvGraphicFramePr>
            <a:graphicFrameLocks noChangeAspect="1"/>
          </p:cNvGraphicFramePr>
          <p:nvPr>
            <p:extLst>
              <p:ext uri="{D42A27DB-BD31-4B8C-83A1-F6EECF244321}">
                <p14:modId xmlns:p14="http://schemas.microsoft.com/office/powerpoint/2010/main" val="4163318343"/>
              </p:ext>
            </p:extLst>
          </p:nvPr>
        </p:nvGraphicFramePr>
        <p:xfrm>
          <a:off x="3145610" y="2712301"/>
          <a:ext cx="1127125" cy="382587"/>
        </p:xfrm>
        <a:graphic>
          <a:graphicData uri="http://schemas.openxmlformats.org/presentationml/2006/ole">
            <mc:AlternateContent xmlns:mc="http://schemas.openxmlformats.org/markup-compatibility/2006">
              <mc:Choice xmlns:v="urn:schemas-microsoft-com:vml" Requires="v">
                <p:oleObj name="Equation" r:id="rId11" imgW="1233170" imgH="420370" progId="Equation.DSMT4">
                  <p:embed/>
                </p:oleObj>
              </mc:Choice>
              <mc:Fallback>
                <p:oleObj name="Equation" r:id="rId11" imgW="1233170" imgH="420370" progId="Equation.DSMT4">
                  <p:embed/>
                  <p:pic>
                    <p:nvPicPr>
                      <p:cNvPr id="141" name="对象 140"/>
                      <p:cNvPicPr/>
                      <p:nvPr/>
                    </p:nvPicPr>
                    <p:blipFill>
                      <a:blip r:embed="rId12"/>
                      <a:stretch>
                        <a:fillRect/>
                      </a:stretch>
                    </p:blipFill>
                    <p:spPr>
                      <a:xfrm>
                        <a:off x="3145610" y="2712301"/>
                        <a:ext cx="1127125" cy="382587"/>
                      </a:xfrm>
                      <a:prstGeom prst="rect">
                        <a:avLst/>
                      </a:prstGeom>
                    </p:spPr>
                  </p:pic>
                </p:oleObj>
              </mc:Fallback>
            </mc:AlternateContent>
          </a:graphicData>
        </a:graphic>
      </p:graphicFrame>
      <p:graphicFrame>
        <p:nvGraphicFramePr>
          <p:cNvPr id="143" name="对象 142">
            <a:extLst>
              <a:ext uri="{FF2B5EF4-FFF2-40B4-BE49-F238E27FC236}">
                <a16:creationId xmlns:a16="http://schemas.microsoft.com/office/drawing/2014/main" id="{7C91B808-C02D-3EFB-028A-EBDAED301D98}"/>
              </a:ext>
            </a:extLst>
          </p:cNvPr>
          <p:cNvGraphicFramePr>
            <a:graphicFrameLocks noChangeAspect="1"/>
          </p:cNvGraphicFramePr>
          <p:nvPr>
            <p:extLst>
              <p:ext uri="{D42A27DB-BD31-4B8C-83A1-F6EECF244321}">
                <p14:modId xmlns:p14="http://schemas.microsoft.com/office/powerpoint/2010/main" val="1104818866"/>
              </p:ext>
            </p:extLst>
          </p:nvPr>
        </p:nvGraphicFramePr>
        <p:xfrm>
          <a:off x="1991244" y="3589564"/>
          <a:ext cx="1016000" cy="419100"/>
        </p:xfrm>
        <a:graphic>
          <a:graphicData uri="http://schemas.openxmlformats.org/presentationml/2006/ole">
            <mc:AlternateContent xmlns:mc="http://schemas.openxmlformats.org/markup-compatibility/2006">
              <mc:Choice xmlns:v="urn:schemas-microsoft-com:vml" Requires="v">
                <p:oleObj name="Equation" r:id="rId13" imgW="24384000" imgH="10058400" progId="Equation.DSMT4">
                  <p:embed/>
                </p:oleObj>
              </mc:Choice>
              <mc:Fallback>
                <p:oleObj name="Equation" r:id="rId13" imgW="24384000" imgH="10058400" progId="Equation.DSMT4">
                  <p:embed/>
                  <p:pic>
                    <p:nvPicPr>
                      <p:cNvPr id="143" name="对象 142"/>
                      <p:cNvPicPr/>
                      <p:nvPr/>
                    </p:nvPicPr>
                    <p:blipFill>
                      <a:blip r:embed="rId14"/>
                      <a:stretch>
                        <a:fillRect/>
                      </a:stretch>
                    </p:blipFill>
                    <p:spPr>
                      <a:xfrm>
                        <a:off x="1991244" y="3589564"/>
                        <a:ext cx="1016000" cy="419100"/>
                      </a:xfrm>
                      <a:prstGeom prst="rect">
                        <a:avLst/>
                      </a:prstGeom>
                    </p:spPr>
                  </p:pic>
                </p:oleObj>
              </mc:Fallback>
            </mc:AlternateContent>
          </a:graphicData>
        </a:graphic>
      </p:graphicFrame>
      <p:graphicFrame>
        <p:nvGraphicFramePr>
          <p:cNvPr id="144" name="对象 143">
            <a:extLst>
              <a:ext uri="{FF2B5EF4-FFF2-40B4-BE49-F238E27FC236}">
                <a16:creationId xmlns:a16="http://schemas.microsoft.com/office/drawing/2014/main" id="{25A63A09-0629-C5F9-D3D0-E8737C493B5A}"/>
              </a:ext>
            </a:extLst>
          </p:cNvPr>
          <p:cNvGraphicFramePr>
            <a:graphicFrameLocks noChangeAspect="1"/>
          </p:cNvGraphicFramePr>
          <p:nvPr>
            <p:extLst>
              <p:ext uri="{D42A27DB-BD31-4B8C-83A1-F6EECF244321}">
                <p14:modId xmlns:p14="http://schemas.microsoft.com/office/powerpoint/2010/main" val="2856417289"/>
              </p:ext>
            </p:extLst>
          </p:nvPr>
        </p:nvGraphicFramePr>
        <p:xfrm>
          <a:off x="4075721" y="3581038"/>
          <a:ext cx="1016000" cy="419100"/>
        </p:xfrm>
        <a:graphic>
          <a:graphicData uri="http://schemas.openxmlformats.org/presentationml/2006/ole">
            <mc:AlternateContent xmlns:mc="http://schemas.openxmlformats.org/markup-compatibility/2006">
              <mc:Choice xmlns:v="urn:schemas-microsoft-com:vml" Requires="v">
                <p:oleObj name="Equation" r:id="rId15" imgW="1017905" imgH="420370" progId="Equation.DSMT4">
                  <p:embed/>
                </p:oleObj>
              </mc:Choice>
              <mc:Fallback>
                <p:oleObj name="Equation" r:id="rId15" imgW="1017905" imgH="420370" progId="Equation.DSMT4">
                  <p:embed/>
                  <p:pic>
                    <p:nvPicPr>
                      <p:cNvPr id="144" name="对象 143"/>
                      <p:cNvPicPr/>
                      <p:nvPr/>
                    </p:nvPicPr>
                    <p:blipFill>
                      <a:blip r:embed="rId16"/>
                      <a:stretch>
                        <a:fillRect/>
                      </a:stretch>
                    </p:blipFill>
                    <p:spPr>
                      <a:xfrm>
                        <a:off x="4075721" y="3581038"/>
                        <a:ext cx="1016000" cy="419100"/>
                      </a:xfrm>
                      <a:prstGeom prst="rect">
                        <a:avLst/>
                      </a:prstGeom>
                    </p:spPr>
                  </p:pic>
                </p:oleObj>
              </mc:Fallback>
            </mc:AlternateContent>
          </a:graphicData>
        </a:graphic>
      </p:graphicFrame>
    </p:spTree>
    <p:extLst>
      <p:ext uri="{BB962C8B-B14F-4D97-AF65-F5344CB8AC3E}">
        <p14:creationId xmlns:p14="http://schemas.microsoft.com/office/powerpoint/2010/main" val="21371562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4" name="文本框 3"/>
          <p:cNvSpPr txBox="1"/>
          <p:nvPr/>
        </p:nvSpPr>
        <p:spPr>
          <a:xfrm>
            <a:off x="579120" y="2763582"/>
            <a:ext cx="4094480" cy="461665"/>
          </a:xfrm>
          <a:prstGeom prst="rect">
            <a:avLst/>
          </a:prstGeom>
          <a:noFill/>
        </p:spPr>
        <p:txBody>
          <a:bodyPr wrap="square" rtlCol="0">
            <a:spAutoFit/>
          </a:bodyPr>
          <a:lstStyle/>
          <a:p>
            <a:r>
              <a:rPr lang="zh-CN" altLang="en-US" sz="2400" dirty="0"/>
              <a:t>原始</a:t>
            </a:r>
            <a:r>
              <a:rPr lang="en-US" altLang="zh-CN" sz="2400" dirty="0"/>
              <a:t>p</a:t>
            </a:r>
            <a:r>
              <a:rPr lang="zh-CN" altLang="en-US" sz="2400" dirty="0"/>
              <a:t>维数据</a:t>
            </a:r>
            <a:r>
              <a:rPr lang="zh-CN" altLang="en-US" dirty="0"/>
              <a:t>：</a:t>
            </a:r>
          </a:p>
        </p:txBody>
      </p:sp>
      <p:graphicFrame>
        <p:nvGraphicFramePr>
          <p:cNvPr id="5" name="对象 4"/>
          <p:cNvGraphicFramePr>
            <a:graphicFrameLocks noChangeAspect="1"/>
          </p:cNvGraphicFramePr>
          <p:nvPr>
            <p:extLst>
              <p:ext uri="{D42A27DB-BD31-4B8C-83A1-F6EECF244321}">
                <p14:modId xmlns:p14="http://schemas.microsoft.com/office/powerpoint/2010/main" val="1447124554"/>
              </p:ext>
            </p:extLst>
          </p:nvPr>
        </p:nvGraphicFramePr>
        <p:xfrm>
          <a:off x="2736291" y="2809748"/>
          <a:ext cx="715043" cy="369332"/>
        </p:xfrm>
        <a:graphic>
          <a:graphicData uri="http://schemas.openxmlformats.org/presentationml/2006/ole">
            <mc:AlternateContent xmlns:mc="http://schemas.openxmlformats.org/markup-compatibility/2006">
              <mc:Choice xmlns:v="urn:schemas-microsoft-com:vml" Requires="v">
                <p:oleObj name="Equation" r:id="rId3" imgW="8839200" imgH="4572000" progId="Equation.DSMT4">
                  <p:embed/>
                </p:oleObj>
              </mc:Choice>
              <mc:Fallback>
                <p:oleObj name="Equation" r:id="rId3" imgW="8839200" imgH="4572000" progId="Equation.DSMT4">
                  <p:embed/>
                  <p:pic>
                    <p:nvPicPr>
                      <p:cNvPr id="0" name="对象 4"/>
                      <p:cNvPicPr/>
                      <p:nvPr/>
                    </p:nvPicPr>
                    <p:blipFill>
                      <a:blip r:embed="rId4"/>
                      <a:stretch>
                        <a:fillRect/>
                      </a:stretch>
                    </p:blipFill>
                    <p:spPr>
                      <a:xfrm>
                        <a:off x="2736291" y="2809748"/>
                        <a:ext cx="715043" cy="36933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995423" y="3429000"/>
          <a:ext cx="3481737" cy="2534045"/>
        </p:xfrm>
        <a:graphic>
          <a:graphicData uri="http://schemas.openxmlformats.org/presentationml/2006/ole">
            <mc:AlternateContent xmlns:mc="http://schemas.openxmlformats.org/markup-compatibility/2006">
              <mc:Choice xmlns:v="urn:schemas-microsoft-com:vml" Requires="v">
                <p:oleObj name="Equation" r:id="rId5" imgW="51511200" imgH="37490400" progId="Equation.DSMT4">
                  <p:embed/>
                </p:oleObj>
              </mc:Choice>
              <mc:Fallback>
                <p:oleObj name="Equation" r:id="rId5" imgW="51511200" imgH="37490400" progId="Equation.DSMT4">
                  <p:embed/>
                  <p:pic>
                    <p:nvPicPr>
                      <p:cNvPr id="0" name="对象 5"/>
                      <p:cNvPicPr/>
                      <p:nvPr/>
                    </p:nvPicPr>
                    <p:blipFill>
                      <a:blip r:embed="rId6"/>
                      <a:stretch>
                        <a:fillRect/>
                      </a:stretch>
                    </p:blipFill>
                    <p:spPr>
                      <a:xfrm>
                        <a:off x="995423" y="3429000"/>
                        <a:ext cx="3481737" cy="2534045"/>
                      </a:xfrm>
                      <a:prstGeom prst="rect">
                        <a:avLst/>
                      </a:prstGeom>
                    </p:spPr>
                  </p:pic>
                </p:oleObj>
              </mc:Fallback>
            </mc:AlternateContent>
          </a:graphicData>
        </a:graphic>
      </p:graphicFrame>
      <p:sp>
        <p:nvSpPr>
          <p:cNvPr id="10" name="箭头: 下 7"/>
          <p:cNvSpPr/>
          <p:nvPr/>
        </p:nvSpPr>
        <p:spPr>
          <a:xfrm rot="16200000">
            <a:off x="5191997" y="4165018"/>
            <a:ext cx="320040" cy="5634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对象 10"/>
          <p:cNvGraphicFramePr>
            <a:graphicFrameLocks noChangeAspect="1"/>
          </p:cNvGraphicFramePr>
          <p:nvPr/>
        </p:nvGraphicFramePr>
        <p:xfrm>
          <a:off x="6096000" y="3429558"/>
          <a:ext cx="4492625" cy="2397125"/>
        </p:xfrm>
        <a:graphic>
          <a:graphicData uri="http://schemas.openxmlformats.org/presentationml/2006/ole">
            <mc:AlternateContent xmlns:mc="http://schemas.openxmlformats.org/markup-compatibility/2006">
              <mc:Choice xmlns:v="urn:schemas-microsoft-com:vml" Requires="v">
                <p:oleObj name="Equation" r:id="rId7" imgW="4494530" imgH="2399030" progId="Equation.DSMT4">
                  <p:embed/>
                </p:oleObj>
              </mc:Choice>
              <mc:Fallback>
                <p:oleObj name="Equation" r:id="rId7" imgW="4494530" imgH="2399030" progId="Equation.DSMT4">
                  <p:embed/>
                  <p:pic>
                    <p:nvPicPr>
                      <p:cNvPr id="0" name="对象 10"/>
                      <p:cNvPicPr/>
                      <p:nvPr/>
                    </p:nvPicPr>
                    <p:blipFill>
                      <a:blip r:embed="rId8"/>
                      <a:stretch>
                        <a:fillRect/>
                      </a:stretch>
                    </p:blipFill>
                    <p:spPr>
                      <a:xfrm>
                        <a:off x="6096000" y="3429558"/>
                        <a:ext cx="4492625" cy="2397125"/>
                      </a:xfrm>
                      <a:prstGeom prst="rect">
                        <a:avLst/>
                      </a:prstGeom>
                    </p:spPr>
                  </p:pic>
                </p:oleObj>
              </mc:Fallback>
            </mc:AlternateContent>
          </a:graphicData>
        </a:graphic>
      </p:graphicFrame>
      <p:sp>
        <p:nvSpPr>
          <p:cNvPr id="13" name="Rectangle 6"/>
          <p:cNvSpPr>
            <a:spLocks noChangeArrowheads="1"/>
          </p:cNvSpPr>
          <p:nvPr/>
        </p:nvSpPr>
        <p:spPr bwMode="auto">
          <a:xfrm>
            <a:off x="547658" y="1188305"/>
            <a:ext cx="10748572" cy="1040285"/>
          </a:xfrm>
          <a:prstGeom prst="rect">
            <a:avLst/>
          </a:prstGeom>
          <a:solidFill>
            <a:schemeClr val="accent5">
              <a:lumMod val="20000"/>
              <a:lumOff val="80000"/>
            </a:schemeClr>
          </a:solidFill>
        </p:spPr>
        <p:style>
          <a:lnRef idx="0">
            <a:schemeClr val="accent5"/>
          </a:lnRef>
          <a:fillRef idx="3">
            <a:schemeClr val="accent5"/>
          </a:fillRef>
          <a:effectRef idx="3">
            <a:schemeClr val="accent5"/>
          </a:effectRef>
          <a:fontRef idx="minor">
            <a:schemeClr val="lt1"/>
          </a:fontRef>
        </p:style>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kumimoji="1" lang="zh-CN" altLang="en-US" sz="2800" dirty="0">
                <a:latin typeface="微软雅黑" panose="020B0503020204020204" charset="-122"/>
                <a:ea typeface="微软雅黑" panose="020B0503020204020204" charset="-122"/>
              </a:rPr>
              <a:t>主成分分析的核心思想是寻求原指标的能表征原始数据最大信息量的原始特征的线性组合</a:t>
            </a:r>
            <a:r>
              <a:rPr kumimoji="1" lang="en-US" altLang="zh-CN" sz="2800" i="1" dirty="0">
                <a:latin typeface="Arial" panose="020B0604020202020204" pitchFamily="34" charset="0"/>
              </a:rPr>
              <a:t>F</a:t>
            </a:r>
            <a:r>
              <a:rPr kumimoji="1" lang="en-US" altLang="zh-CN" sz="2800" i="1" baseline="-25000" dirty="0">
                <a:latin typeface="Arial" panose="020B0604020202020204" pitchFamily="34" charset="0"/>
              </a:rPr>
              <a:t>i</a:t>
            </a:r>
            <a:r>
              <a:rPr kumimoji="1" lang="zh-CN" altLang="en-US" sz="2800" dirty="0">
                <a:latin typeface="Arial" panose="020B0604020202020204" pitchFamily="34" charset="0"/>
              </a:rPr>
              <a:t>。</a:t>
            </a:r>
          </a:p>
        </p:txBody>
      </p:sp>
      <p:graphicFrame>
        <p:nvGraphicFramePr>
          <p:cNvPr id="14" name="对象 13"/>
          <p:cNvGraphicFramePr>
            <a:graphicFrameLocks noChangeAspect="1"/>
          </p:cNvGraphicFramePr>
          <p:nvPr/>
        </p:nvGraphicFramePr>
        <p:xfrm>
          <a:off x="7518402" y="2741468"/>
          <a:ext cx="1350221" cy="403051"/>
        </p:xfrm>
        <a:graphic>
          <a:graphicData uri="http://schemas.openxmlformats.org/presentationml/2006/ole">
            <mc:AlternateContent xmlns:mc="http://schemas.openxmlformats.org/markup-compatibility/2006">
              <mc:Choice xmlns:v="urn:schemas-microsoft-com:vml" Requires="v">
                <p:oleObj name="Equation" r:id="rId9" imgW="640080" imgH="191770" progId="Equation.DSMT4">
                  <p:embed/>
                </p:oleObj>
              </mc:Choice>
              <mc:Fallback>
                <p:oleObj name="Equation" r:id="rId9" imgW="640080" imgH="191770" progId="Equation.DSMT4">
                  <p:embed/>
                  <p:pic>
                    <p:nvPicPr>
                      <p:cNvPr id="0" name="对象 8"/>
                      <p:cNvPicPr/>
                      <p:nvPr/>
                    </p:nvPicPr>
                    <p:blipFill>
                      <a:blip r:embed="rId10"/>
                      <a:stretch>
                        <a:fillRect/>
                      </a:stretch>
                    </p:blipFill>
                    <p:spPr>
                      <a:xfrm>
                        <a:off x="7518402" y="2741468"/>
                        <a:ext cx="1350221" cy="403051"/>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11" name="对象 10"/>
          <p:cNvGraphicFramePr>
            <a:graphicFrameLocks noChangeAspect="1"/>
          </p:cNvGraphicFramePr>
          <p:nvPr/>
        </p:nvGraphicFramePr>
        <p:xfrm>
          <a:off x="346677" y="3212184"/>
          <a:ext cx="3521198" cy="1878802"/>
        </p:xfrm>
        <a:graphic>
          <a:graphicData uri="http://schemas.openxmlformats.org/presentationml/2006/ole">
            <mc:AlternateContent xmlns:mc="http://schemas.openxmlformats.org/markup-compatibility/2006">
              <mc:Choice xmlns:v="urn:schemas-microsoft-com:vml" Requires="v">
                <p:oleObj name="Equation" r:id="rId3" imgW="4494530" imgH="2399030" progId="Equation.DSMT4">
                  <p:embed/>
                </p:oleObj>
              </mc:Choice>
              <mc:Fallback>
                <p:oleObj name="Equation" r:id="rId3" imgW="4494530" imgH="2399030" progId="Equation.DSMT4">
                  <p:embed/>
                  <p:pic>
                    <p:nvPicPr>
                      <p:cNvPr id="0" name="对象 10"/>
                      <p:cNvPicPr/>
                      <p:nvPr/>
                    </p:nvPicPr>
                    <p:blipFill>
                      <a:blip r:embed="rId4"/>
                      <a:stretch>
                        <a:fillRect/>
                      </a:stretch>
                    </p:blipFill>
                    <p:spPr>
                      <a:xfrm>
                        <a:off x="346677" y="3212184"/>
                        <a:ext cx="3521198" cy="1878802"/>
                      </a:xfrm>
                      <a:prstGeom prst="rect">
                        <a:avLst/>
                      </a:prstGeom>
                    </p:spPr>
                  </p:pic>
                </p:oleObj>
              </mc:Fallback>
            </mc:AlternateContent>
          </a:graphicData>
        </a:graphic>
      </p:graphicFrame>
      <p:sp>
        <p:nvSpPr>
          <p:cNvPr id="4" name="箭头: 上弧形 8"/>
          <p:cNvSpPr/>
          <p:nvPr/>
        </p:nvSpPr>
        <p:spPr>
          <a:xfrm>
            <a:off x="3505200" y="2134764"/>
            <a:ext cx="1559560" cy="818679"/>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 name="文本框 9"/>
          <p:cNvSpPr txBox="1"/>
          <p:nvPr/>
        </p:nvSpPr>
        <p:spPr>
          <a:xfrm>
            <a:off x="3718367" y="1606246"/>
            <a:ext cx="2209800" cy="400110"/>
          </a:xfrm>
          <a:prstGeom prst="rect">
            <a:avLst/>
          </a:prstGeom>
          <a:noFill/>
        </p:spPr>
        <p:txBody>
          <a:bodyPr wrap="square" rtlCol="0">
            <a:spAutoFit/>
          </a:bodyPr>
          <a:lstStyle/>
          <a:p>
            <a:r>
              <a:rPr lang="zh-CN" altLang="en-US" sz="2000" dirty="0">
                <a:latin typeface="微软雅黑" panose="020B0503020204020204" charset="-122"/>
                <a:ea typeface="微软雅黑" panose="020B0503020204020204" charset="-122"/>
              </a:rPr>
              <a:t>满足条件</a:t>
            </a:r>
          </a:p>
        </p:txBody>
      </p:sp>
      <p:graphicFrame>
        <p:nvGraphicFramePr>
          <p:cNvPr id="13" name="Object 3"/>
          <p:cNvGraphicFramePr>
            <a:graphicFrameLocks noChangeAspect="1"/>
          </p:cNvGraphicFramePr>
          <p:nvPr/>
        </p:nvGraphicFramePr>
        <p:xfrm>
          <a:off x="6096000" y="2335213"/>
          <a:ext cx="3058160" cy="618230"/>
        </p:xfrm>
        <a:graphic>
          <a:graphicData uri="http://schemas.openxmlformats.org/presentationml/2006/ole">
            <mc:AlternateContent xmlns:mc="http://schemas.openxmlformats.org/markup-compatibility/2006">
              <mc:Choice xmlns:v="urn:schemas-microsoft-com:vml" Requires="v">
                <p:oleObj name="Equation" r:id="rId5" imgW="1193800" imgH="222250" progId="Equation.DSMT4">
                  <p:embed/>
                </p:oleObj>
              </mc:Choice>
              <mc:Fallback>
                <p:oleObj name="Equation" r:id="rId5" imgW="1193800" imgH="22225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2335213"/>
                        <a:ext cx="3058160" cy="618230"/>
                      </a:xfrm>
                      <a:prstGeom prst="rect">
                        <a:avLst/>
                      </a:prstGeom>
                      <a:noFill/>
                      <a:ln>
                        <a:noFill/>
                      </a:ln>
                    </p:spPr>
                  </p:pic>
                </p:oleObj>
              </mc:Fallback>
            </mc:AlternateContent>
          </a:graphicData>
        </a:graphic>
      </p:graphicFrame>
      <p:graphicFrame>
        <p:nvGraphicFramePr>
          <p:cNvPr id="14" name="Object 4"/>
          <p:cNvGraphicFramePr>
            <a:graphicFrameLocks noChangeAspect="1"/>
          </p:cNvGraphicFramePr>
          <p:nvPr/>
        </p:nvGraphicFramePr>
        <p:xfrm>
          <a:off x="5869622" y="3794185"/>
          <a:ext cx="5342122" cy="357400"/>
        </p:xfrm>
        <a:graphic>
          <a:graphicData uri="http://schemas.openxmlformats.org/presentationml/2006/ole">
            <mc:AlternateContent xmlns:mc="http://schemas.openxmlformats.org/markup-compatibility/2006">
              <mc:Choice xmlns:v="urn:schemas-microsoft-com:vml" Requires="v">
                <p:oleObj name="Equation" r:id="rId7" imgW="6318250" imgH="412115" progId="Equation.3">
                  <p:embed/>
                </p:oleObj>
              </mc:Choice>
              <mc:Fallback>
                <p:oleObj name="Equation" r:id="rId7" imgW="6318250" imgH="41211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9622" y="3794185"/>
                        <a:ext cx="5342122" cy="357400"/>
                      </a:xfrm>
                      <a:prstGeom prst="rect">
                        <a:avLst/>
                      </a:prstGeom>
                      <a:noFill/>
                      <a:ln>
                        <a:noFill/>
                      </a:ln>
                    </p:spPr>
                  </p:pic>
                </p:oleObj>
              </mc:Fallback>
            </mc:AlternateContent>
          </a:graphicData>
        </a:graphic>
      </p:graphicFrame>
      <p:graphicFrame>
        <p:nvGraphicFramePr>
          <p:cNvPr id="15" name="Object 5"/>
          <p:cNvGraphicFramePr>
            <a:graphicFrameLocks noChangeAspect="1"/>
          </p:cNvGraphicFramePr>
          <p:nvPr/>
        </p:nvGraphicFramePr>
        <p:xfrm>
          <a:off x="6055360" y="5144388"/>
          <a:ext cx="4294872" cy="520690"/>
        </p:xfrm>
        <a:graphic>
          <a:graphicData uri="http://schemas.openxmlformats.org/presentationml/2006/ole">
            <mc:AlternateContent xmlns:mc="http://schemas.openxmlformats.org/markup-compatibility/2006">
              <mc:Choice xmlns:v="urn:schemas-microsoft-com:vml" Requires="v">
                <p:oleObj name="Equation" r:id="rId9" imgW="49072800" imgH="5791200" progId="Equation.DSMT4">
                  <p:embed/>
                </p:oleObj>
              </mc:Choice>
              <mc:Fallback>
                <p:oleObj name="Equation" r:id="rId9" imgW="49072800" imgH="5791200" progId="Equation.DSMT4">
                  <p:embed/>
                  <p:pic>
                    <p:nvPicPr>
                      <p:cNvPr id="0" name="Object 5"/>
                      <p:cNvPicPr>
                        <a:picLocks noChangeAspect="1" noChangeArrowheads="1"/>
                      </p:cNvPicPr>
                      <p:nvPr/>
                    </p:nvPicPr>
                    <p:blipFill>
                      <a:blip r:embed="rId10"/>
                      <a:srcRect/>
                      <a:stretch>
                        <a:fillRect/>
                      </a:stretch>
                    </p:blipFill>
                    <p:spPr bwMode="auto">
                      <a:xfrm>
                        <a:off x="6055360" y="5144388"/>
                        <a:ext cx="4294872" cy="520690"/>
                      </a:xfrm>
                      <a:prstGeom prst="rect">
                        <a:avLst/>
                      </a:prstGeom>
                      <a:noFill/>
                      <a:ln>
                        <a:noFill/>
                      </a:ln>
                    </p:spPr>
                  </p:pic>
                </p:oleObj>
              </mc:Fallback>
            </mc:AlternateContent>
          </a:graphicData>
        </a:graphic>
      </p:graphicFrame>
      <p:sp>
        <p:nvSpPr>
          <p:cNvPr id="16" name="Rectangle 7"/>
          <p:cNvSpPr>
            <a:spLocks noChangeArrowheads="1"/>
          </p:cNvSpPr>
          <p:nvPr/>
        </p:nvSpPr>
        <p:spPr bwMode="auto">
          <a:xfrm>
            <a:off x="5195570" y="3108042"/>
            <a:ext cx="7097713"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000" b="1" dirty="0">
                <a:latin typeface="Arial" panose="020B0604020202020204" pitchFamily="34" charset="0"/>
              </a:rPr>
              <a:t>2.</a:t>
            </a:r>
            <a:r>
              <a:rPr kumimoji="1" lang="zh-CN" altLang="en-US" sz="2000" b="1" dirty="0">
                <a:latin typeface="Arial" panose="020B0604020202020204" pitchFamily="34" charset="0"/>
              </a:rPr>
              <a:t>主成分之间相互独立，即无重叠的信息。即</a:t>
            </a:r>
          </a:p>
        </p:txBody>
      </p:sp>
      <p:sp>
        <p:nvSpPr>
          <p:cNvPr id="17" name="Rectangle 8"/>
          <p:cNvSpPr>
            <a:spLocks noChangeArrowheads="1"/>
          </p:cNvSpPr>
          <p:nvPr/>
        </p:nvSpPr>
        <p:spPr bwMode="auto">
          <a:xfrm>
            <a:off x="5195570" y="4406380"/>
            <a:ext cx="693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000" b="1" dirty="0">
                <a:latin typeface="Arial" panose="020B0604020202020204" pitchFamily="34" charset="0"/>
              </a:rPr>
              <a:t>3.</a:t>
            </a:r>
            <a:r>
              <a:rPr kumimoji="1" lang="zh-CN" altLang="en-US" sz="2000" b="1" dirty="0">
                <a:latin typeface="Arial" panose="020B0604020202020204" pitchFamily="34" charset="0"/>
              </a:rPr>
              <a:t>主成分的方差依次递减，重要性依次递减，即</a:t>
            </a:r>
          </a:p>
        </p:txBody>
      </p:sp>
      <p:sp>
        <p:nvSpPr>
          <p:cNvPr id="18" name="Rectangle 9"/>
          <p:cNvSpPr>
            <a:spLocks noChangeArrowheads="1"/>
          </p:cNvSpPr>
          <p:nvPr/>
        </p:nvSpPr>
        <p:spPr bwMode="auto">
          <a:xfrm>
            <a:off x="5195570" y="1918481"/>
            <a:ext cx="7016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None/>
            </a:pPr>
            <a:r>
              <a:rPr kumimoji="1" lang="en-US" altLang="zh-CN" sz="2000" b="1" dirty="0">
                <a:latin typeface="Arial" panose="020B0604020202020204" pitchFamily="34" charset="0"/>
              </a:rPr>
              <a:t>1. </a:t>
            </a:r>
            <a:r>
              <a:rPr kumimoji="1" lang="zh-CN" altLang="en-US" sz="2000" b="1" dirty="0">
                <a:latin typeface="Arial" panose="020B0604020202020204" pitchFamily="34" charset="0"/>
              </a:rPr>
              <a:t>每个主成分的系数平方和为</a:t>
            </a:r>
            <a:r>
              <a:rPr kumimoji="1" lang="en-US" altLang="zh-CN" sz="2000" b="1" dirty="0">
                <a:latin typeface="Arial" panose="020B0604020202020204" pitchFamily="34" charset="0"/>
              </a:rPr>
              <a:t>1</a:t>
            </a:r>
            <a:r>
              <a:rPr kumimoji="1" lang="zh-CN" altLang="en-US" sz="2000" b="1" dirty="0">
                <a:latin typeface="Arial" panose="020B0604020202020204" pitchFamily="34" charset="0"/>
              </a:rPr>
              <a:t>。即</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12" name="Rectangle 6"/>
          <p:cNvSpPr>
            <a:spLocks noChangeArrowheads="1"/>
          </p:cNvSpPr>
          <p:nvPr/>
        </p:nvSpPr>
        <p:spPr bwMode="auto">
          <a:xfrm>
            <a:off x="419370" y="2398237"/>
            <a:ext cx="1152105" cy="418320"/>
          </a:xfrm>
          <a:prstGeom prst="rect">
            <a:avLst/>
          </a:prstGeom>
          <a:solidFill>
            <a:schemeClr val="accent5">
              <a:lumMod val="20000"/>
              <a:lumOff val="80000"/>
            </a:schemeClr>
          </a:solidFill>
        </p:spPr>
        <p:style>
          <a:lnRef idx="0">
            <a:schemeClr val="accent5"/>
          </a:lnRef>
          <a:fillRef idx="3">
            <a:schemeClr val="accent5"/>
          </a:fillRef>
          <a:effectRef idx="3">
            <a:schemeClr val="accent5"/>
          </a:effectRef>
          <a:fontRef idx="minor">
            <a:schemeClr val="lt1"/>
          </a:fontRef>
        </p:style>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kumimoji="1" lang="en-US" altLang="zh-CN" sz="2000" dirty="0">
                <a:latin typeface="微软雅黑" panose="020B0503020204020204" charset="-122"/>
                <a:ea typeface="微软雅黑" panose="020B0503020204020204" charset="-122"/>
              </a:rPr>
              <a:t>  </a:t>
            </a:r>
            <a:r>
              <a:rPr kumimoji="1" lang="zh-CN" altLang="en-US" sz="2000" dirty="0">
                <a:latin typeface="微软雅黑" panose="020B0503020204020204" charset="-122"/>
                <a:ea typeface="微软雅黑" panose="020B0503020204020204" charset="-122"/>
              </a:rPr>
              <a:t>求解</a:t>
            </a:r>
            <a:r>
              <a:rPr kumimoji="1" lang="en-US" altLang="zh-CN" sz="2000" dirty="0">
                <a:latin typeface="微软雅黑" panose="020B0503020204020204" charset="-122"/>
                <a:ea typeface="微软雅黑" panose="020B0503020204020204" charset="-122"/>
              </a:rPr>
              <a:t>A</a:t>
            </a:r>
            <a:endParaRPr kumimoji="1" lang="zh-CN" altLang="en-US" sz="2400" dirty="0">
              <a:latin typeface="Arial" panose="020B0604020202020204" pitchFamily="34" charset="0"/>
            </a:endParaRPr>
          </a:p>
        </p:txBody>
      </p:sp>
      <p:graphicFrame>
        <p:nvGraphicFramePr>
          <p:cNvPr id="10" name="对象 9"/>
          <p:cNvGraphicFramePr>
            <a:graphicFrameLocks noChangeAspect="1"/>
          </p:cNvGraphicFramePr>
          <p:nvPr/>
        </p:nvGraphicFramePr>
        <p:xfrm>
          <a:off x="228592" y="3124765"/>
          <a:ext cx="2971800" cy="2159000"/>
        </p:xfrm>
        <a:graphic>
          <a:graphicData uri="http://schemas.openxmlformats.org/presentationml/2006/ole">
            <mc:AlternateContent xmlns:mc="http://schemas.openxmlformats.org/markup-compatibility/2006">
              <mc:Choice xmlns:v="urn:schemas-microsoft-com:vml" Requires="v">
                <p:oleObj name="Equation" r:id="rId3" imgW="2973070" imgH="2160905" progId="Equation.DSMT4">
                  <p:embed/>
                </p:oleObj>
              </mc:Choice>
              <mc:Fallback>
                <p:oleObj name="Equation" r:id="rId3" imgW="2973070" imgH="2160905" progId="Equation.DSMT4">
                  <p:embed/>
                  <p:pic>
                    <p:nvPicPr>
                      <p:cNvPr id="0" name="图片 8"/>
                      <p:cNvPicPr/>
                      <p:nvPr/>
                    </p:nvPicPr>
                    <p:blipFill>
                      <a:blip r:embed="rId4"/>
                      <a:stretch>
                        <a:fillRect/>
                      </a:stretch>
                    </p:blipFill>
                    <p:spPr>
                      <a:xfrm>
                        <a:off x="228592" y="3124765"/>
                        <a:ext cx="2971800" cy="2159000"/>
                      </a:xfrm>
                      <a:prstGeom prst="rect">
                        <a:avLst/>
                      </a:prstGeom>
                    </p:spPr>
                  </p:pic>
                </p:oleObj>
              </mc:Fallback>
            </mc:AlternateContent>
          </a:graphicData>
        </a:graphic>
      </p:graphicFrame>
      <p:sp>
        <p:nvSpPr>
          <p:cNvPr id="13" name="Rectangle 3"/>
          <p:cNvSpPr>
            <a:spLocks noChangeArrowheads="1"/>
          </p:cNvSpPr>
          <p:nvPr/>
        </p:nvSpPr>
        <p:spPr bwMode="auto">
          <a:xfrm>
            <a:off x="3664359" y="1428868"/>
            <a:ext cx="33554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kumimoji="1" lang="zh-CN" altLang="en-US" sz="2400" b="1" dirty="0">
                <a:latin typeface="宋体" panose="02010600030101010101" pitchFamily="2" charset="-122"/>
              </a:rPr>
              <a:t>（一）</a:t>
            </a:r>
            <a:r>
              <a:rPr kumimoji="1" lang="zh-CN" altLang="en-US" sz="2400" b="1" dirty="0">
                <a:latin typeface="Times New Roman" panose="02020603050405020304" pitchFamily="18" charset="0"/>
                <a:cs typeface="Times New Roman" panose="02020603050405020304" pitchFamily="18" charset="0"/>
              </a:rPr>
              <a:t> 求解</a:t>
            </a:r>
            <a:r>
              <a:rPr kumimoji="1" lang="zh-CN" altLang="en-US" sz="2400" b="1" dirty="0">
                <a:latin typeface="宋体" panose="02010600030101010101" pitchFamily="2" charset="-122"/>
              </a:rPr>
              <a:t>第一主成分</a:t>
            </a:r>
          </a:p>
        </p:txBody>
      </p:sp>
      <p:graphicFrame>
        <p:nvGraphicFramePr>
          <p:cNvPr id="14" name="Object 7"/>
          <p:cNvGraphicFramePr>
            <a:graphicFrameLocks noChangeAspect="1"/>
          </p:cNvGraphicFramePr>
          <p:nvPr>
            <p:extLst>
              <p:ext uri="{D42A27DB-BD31-4B8C-83A1-F6EECF244321}">
                <p14:modId xmlns:p14="http://schemas.microsoft.com/office/powerpoint/2010/main" val="3039346281"/>
              </p:ext>
            </p:extLst>
          </p:nvPr>
        </p:nvGraphicFramePr>
        <p:xfrm>
          <a:off x="3879339" y="1997797"/>
          <a:ext cx="4649788" cy="609600"/>
        </p:xfrm>
        <a:graphic>
          <a:graphicData uri="http://schemas.openxmlformats.org/presentationml/2006/ole">
            <mc:AlternateContent xmlns:mc="http://schemas.openxmlformats.org/markup-compatibility/2006">
              <mc:Choice xmlns:v="urn:schemas-microsoft-com:vml" Requires="v">
                <p:oleObj name="公式" r:id="rId5" imgW="1696085" imgH="222250" progId="Equation.3">
                  <p:embed/>
                </p:oleObj>
              </mc:Choice>
              <mc:Fallback>
                <p:oleObj name="公式" r:id="rId5" imgW="1696085" imgH="22225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9339" y="1997797"/>
                        <a:ext cx="46497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3"/>
          <p:cNvGraphicFramePr>
            <a:graphicFrameLocks noChangeAspect="1"/>
          </p:cNvGraphicFramePr>
          <p:nvPr/>
        </p:nvGraphicFramePr>
        <p:xfrm>
          <a:off x="3876224" y="2700042"/>
          <a:ext cx="4568825" cy="541338"/>
        </p:xfrm>
        <a:graphic>
          <a:graphicData uri="http://schemas.openxmlformats.org/presentationml/2006/ole">
            <mc:AlternateContent xmlns:mc="http://schemas.openxmlformats.org/markup-compatibility/2006">
              <mc:Choice xmlns:v="urn:schemas-microsoft-com:vml" Requires="v">
                <p:oleObj name="公式" r:id="rId7" imgW="1638935" imgH="186690" progId="Equation.3">
                  <p:embed/>
                </p:oleObj>
              </mc:Choice>
              <mc:Fallback>
                <p:oleObj name="公式" r:id="rId7" imgW="1638935" imgH="18669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6224" y="2700042"/>
                        <a:ext cx="4568825"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6"/>
          <p:cNvGraphicFramePr>
            <a:graphicFrameLocks noChangeAspect="1"/>
          </p:cNvGraphicFramePr>
          <p:nvPr/>
        </p:nvGraphicFramePr>
        <p:xfrm>
          <a:off x="7617961" y="4155080"/>
          <a:ext cx="1281113" cy="350838"/>
        </p:xfrm>
        <a:graphic>
          <a:graphicData uri="http://schemas.openxmlformats.org/presentationml/2006/ole">
            <mc:AlternateContent xmlns:mc="http://schemas.openxmlformats.org/markup-compatibility/2006">
              <mc:Choice xmlns:v="urn:schemas-microsoft-com:vml" Requires="v">
                <p:oleObj name="公式" r:id="rId9" imgW="448310" imgH="118110" progId="Equation.3">
                  <p:embed/>
                </p:oleObj>
              </mc:Choice>
              <mc:Fallback>
                <p:oleObj name="公式" r:id="rId9" imgW="448310" imgH="11811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17961" y="4155080"/>
                        <a:ext cx="12811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7" name="组合 16"/>
          <p:cNvGrpSpPr/>
          <p:nvPr/>
        </p:nvGrpSpPr>
        <p:grpSpPr bwMode="auto">
          <a:xfrm>
            <a:off x="3770807" y="3407293"/>
            <a:ext cx="7572375" cy="581873"/>
            <a:chOff x="938187" y="3106042"/>
            <a:chExt cx="7572428" cy="581874"/>
          </a:xfrm>
        </p:grpSpPr>
        <p:sp>
          <p:nvSpPr>
            <p:cNvPr id="18" name="矩形 12"/>
            <p:cNvSpPr>
              <a:spLocks noChangeArrowheads="1"/>
            </p:cNvSpPr>
            <p:nvPr/>
          </p:nvSpPr>
          <p:spPr bwMode="auto">
            <a:xfrm>
              <a:off x="938187" y="3164696"/>
              <a:ext cx="75724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dirty="0">
                  <a:latin typeface="Calibri" panose="020F0502020204030204" charset="0"/>
                </a:rPr>
                <a:t>寻找合适的单位向量       ，使</a:t>
              </a:r>
              <a:r>
                <a:rPr lang="en-US" altLang="zh-CN" sz="2800" i="1" dirty="0">
                  <a:latin typeface="Calibri" panose="020F0502020204030204" charset="0"/>
                </a:rPr>
                <a:t>F</a:t>
              </a:r>
              <a:r>
                <a:rPr lang="en-US" altLang="zh-CN" sz="2800" baseline="-25000" dirty="0">
                  <a:latin typeface="Calibri" panose="020F0502020204030204" charset="0"/>
                </a:rPr>
                <a:t>1</a:t>
              </a:r>
              <a:r>
                <a:rPr lang="zh-CN" altLang="en-US" sz="2800" dirty="0">
                  <a:latin typeface="Calibri" panose="020F0502020204030204" charset="0"/>
                </a:rPr>
                <a:t>的方差最大。</a:t>
              </a:r>
            </a:p>
          </p:txBody>
        </p:sp>
        <p:graphicFrame>
          <p:nvGraphicFramePr>
            <p:cNvPr id="19" name="Object 5"/>
            <p:cNvGraphicFramePr>
              <a:graphicFrameLocks noChangeAspect="1"/>
            </p:cNvGraphicFramePr>
            <p:nvPr/>
          </p:nvGraphicFramePr>
          <p:xfrm>
            <a:off x="4287836" y="3106042"/>
            <a:ext cx="458790" cy="541338"/>
          </p:xfrm>
          <a:graphic>
            <a:graphicData uri="http://schemas.openxmlformats.org/presentationml/2006/ole">
              <mc:AlternateContent xmlns:mc="http://schemas.openxmlformats.org/markup-compatibility/2006">
                <mc:Choice xmlns:v="urn:schemas-microsoft-com:vml" Requires="v">
                  <p:oleObj name="公式" r:id="rId11" imgW="150495" imgH="186690" progId="Equation.3">
                    <p:embed/>
                  </p:oleObj>
                </mc:Choice>
                <mc:Fallback>
                  <p:oleObj name="公式" r:id="rId11" imgW="150495" imgH="18669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87836" y="3106042"/>
                          <a:ext cx="45879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0" name="Object 8"/>
          <p:cNvGraphicFramePr>
            <a:graphicFrameLocks noChangeAspect="1"/>
          </p:cNvGraphicFramePr>
          <p:nvPr/>
        </p:nvGraphicFramePr>
        <p:xfrm>
          <a:off x="3876224" y="4083643"/>
          <a:ext cx="3811587" cy="541337"/>
        </p:xfrm>
        <a:graphic>
          <a:graphicData uri="http://schemas.openxmlformats.org/presentationml/2006/ole">
            <mc:AlternateContent xmlns:mc="http://schemas.openxmlformats.org/markup-compatibility/2006">
              <mc:Choice xmlns:v="urn:schemas-microsoft-com:vml" Requires="v">
                <p:oleObj name="公式" r:id="rId13" imgW="1373505" imgH="186690" progId="Equation.3">
                  <p:embed/>
                </p:oleObj>
              </mc:Choice>
              <mc:Fallback>
                <p:oleObj name="公式" r:id="rId13" imgW="1373505" imgH="18669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76224" y="4083643"/>
                        <a:ext cx="3811587"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9"/>
          <p:cNvGraphicFramePr>
            <a:graphicFrameLocks noChangeAspect="1"/>
          </p:cNvGraphicFramePr>
          <p:nvPr/>
        </p:nvGraphicFramePr>
        <p:xfrm>
          <a:off x="3919086" y="4798018"/>
          <a:ext cx="3744913" cy="1082675"/>
        </p:xfrm>
        <a:graphic>
          <a:graphicData uri="http://schemas.openxmlformats.org/presentationml/2006/ole">
            <mc:AlternateContent xmlns:mc="http://schemas.openxmlformats.org/markup-compatibility/2006">
              <mc:Choice xmlns:v="urn:schemas-microsoft-com:vml" Requires="v">
                <p:oleObj name="Equation" r:id="rId15" imgW="1344930" imgH="383540" progId="Equation.DSMT4">
                  <p:embed/>
                </p:oleObj>
              </mc:Choice>
              <mc:Fallback>
                <p:oleObj name="Equation" r:id="rId15" imgW="1344930" imgH="38354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19086" y="4798018"/>
                        <a:ext cx="3744913" cy="1082675"/>
                      </a:xfrm>
                      <a:prstGeom prst="rect">
                        <a:avLst/>
                      </a:prstGeom>
                      <a:noFill/>
                      <a:ln>
                        <a:noFill/>
                      </a:ln>
                    </p:spPr>
                  </p:pic>
                </p:oleObj>
              </mc:Fallback>
            </mc:AlternateContent>
          </a:graphicData>
        </a:graphic>
      </p:graphicFrame>
      <p:sp>
        <p:nvSpPr>
          <p:cNvPr id="23" name="TextBox 25"/>
          <p:cNvSpPr txBox="1"/>
          <p:nvPr/>
        </p:nvSpPr>
        <p:spPr>
          <a:xfrm>
            <a:off x="9492848" y="4145833"/>
            <a:ext cx="1936700" cy="369332"/>
          </a:xfrm>
          <a:prstGeom prst="rect">
            <a:avLst/>
          </a:prstGeom>
          <a:solidFill>
            <a:srgbClr val="92D050"/>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zh-CN" altLang="en-US" dirty="0">
                <a:latin typeface="楷体" panose="02010609060101010101" charset="-122"/>
                <a:ea typeface="楷体" panose="02010609060101010101" charset="-122"/>
              </a:rPr>
              <a:t>拉格朗日乘子法</a:t>
            </a:r>
            <a:r>
              <a:rPr lang="en-US" altLang="zh-CN" dirty="0">
                <a:latin typeface="楷体" panose="02010609060101010101" charset="-122"/>
                <a:ea typeface="楷体" panose="02010609060101010101" charset="-122"/>
              </a:rPr>
              <a:t>!</a:t>
            </a:r>
            <a:endParaRPr lang="en-US" dirty="0">
              <a:latin typeface="楷体" panose="02010609060101010101" charset="-122"/>
              <a:ea typeface="楷体" panose="02010609060101010101" charset="-122"/>
            </a:endParaRPr>
          </a:p>
        </p:txBody>
      </p:sp>
      <p:sp>
        <p:nvSpPr>
          <p:cNvPr id="24" name="箭头: 下 22"/>
          <p:cNvSpPr/>
          <p:nvPr/>
        </p:nvSpPr>
        <p:spPr>
          <a:xfrm rot="16200000">
            <a:off x="7965226" y="5002062"/>
            <a:ext cx="320040" cy="5634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3"/>
          <p:cNvSpPr/>
          <p:nvPr/>
        </p:nvSpPr>
        <p:spPr>
          <a:xfrm>
            <a:off x="8829040" y="4910705"/>
            <a:ext cx="2448559" cy="857300"/>
          </a:xfrm>
          <a:prstGeom prst="roundRect">
            <a:avLst/>
          </a:prstGeom>
          <a:noFill/>
          <a:ln w="28575">
            <a:solidFill>
              <a:schemeClr val="accent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26" name="对象 25"/>
          <p:cNvGraphicFramePr>
            <a:graphicFrameLocks noChangeAspect="1"/>
          </p:cNvGraphicFramePr>
          <p:nvPr/>
        </p:nvGraphicFramePr>
        <p:xfrm>
          <a:off x="9347200" y="5060950"/>
          <a:ext cx="1525588" cy="517525"/>
        </p:xfrm>
        <a:graphic>
          <a:graphicData uri="http://schemas.openxmlformats.org/presentationml/2006/ole">
            <mc:AlternateContent xmlns:mc="http://schemas.openxmlformats.org/markup-compatibility/2006">
              <mc:Choice xmlns:v="urn:schemas-microsoft-com:vml" Requires="v">
                <p:oleObj name="Equation" r:id="rId17" imgW="16154400" imgH="5486400" progId="Equation.DSMT4">
                  <p:embed/>
                </p:oleObj>
              </mc:Choice>
              <mc:Fallback>
                <p:oleObj name="Equation" r:id="rId17" imgW="16154400" imgH="5486400" progId="Equation.DSMT4">
                  <p:embed/>
                  <p:pic>
                    <p:nvPicPr>
                      <p:cNvPr id="0" name="图片 26"/>
                      <p:cNvPicPr/>
                      <p:nvPr/>
                    </p:nvPicPr>
                    <p:blipFill>
                      <a:blip r:embed="rId18"/>
                      <a:stretch>
                        <a:fillRect/>
                      </a:stretch>
                    </p:blipFill>
                    <p:spPr>
                      <a:xfrm>
                        <a:off x="9347200" y="5060950"/>
                        <a:ext cx="1525588" cy="517525"/>
                      </a:xfrm>
                      <a:prstGeom prst="rect">
                        <a:avLst/>
                      </a:prstGeom>
                    </p:spPr>
                  </p:pic>
                </p:oleObj>
              </mc:Fallback>
            </mc:AlternateContent>
          </a:graphicData>
        </a:graphic>
      </p:graphicFrame>
      <p:pic>
        <p:nvPicPr>
          <p:cNvPr id="28" name="Picture 1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740110" y="967165"/>
            <a:ext cx="4146456" cy="10495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659896286"/>
              </p:ext>
            </p:extLst>
          </p:nvPr>
        </p:nvGraphicFramePr>
        <p:xfrm>
          <a:off x="696497" y="2894980"/>
          <a:ext cx="1630647" cy="552921"/>
        </p:xfrm>
        <a:graphic>
          <a:graphicData uri="http://schemas.openxmlformats.org/presentationml/2006/ole">
            <mc:AlternateContent xmlns:mc="http://schemas.openxmlformats.org/markup-compatibility/2006">
              <mc:Choice xmlns:v="urn:schemas-microsoft-com:vml" Requires="v">
                <p:oleObj name="Equation" r:id="rId3" imgW="16154400" imgH="5486400" progId="Equation.DSMT4">
                  <p:embed/>
                </p:oleObj>
              </mc:Choice>
              <mc:Fallback>
                <p:oleObj name="Equation" r:id="rId3" imgW="16154400" imgH="5486400" progId="Equation.DSMT4">
                  <p:embed/>
                  <p:pic>
                    <p:nvPicPr>
                      <p:cNvPr id="0" name="图片 8"/>
                      <p:cNvPicPr/>
                      <p:nvPr/>
                    </p:nvPicPr>
                    <p:blipFill>
                      <a:blip r:embed="rId4"/>
                      <a:stretch>
                        <a:fillRect/>
                      </a:stretch>
                    </p:blipFill>
                    <p:spPr>
                      <a:xfrm>
                        <a:off x="696497" y="2894980"/>
                        <a:ext cx="1630647" cy="552921"/>
                      </a:xfrm>
                      <a:prstGeom prst="rect">
                        <a:avLst/>
                      </a:prstGeom>
                    </p:spPr>
                  </p:pic>
                </p:oleObj>
              </mc:Fallback>
            </mc:AlternateContent>
          </a:graphicData>
        </a:graphic>
      </p:graphicFrame>
      <p:sp>
        <p:nvSpPr>
          <p:cNvPr id="5" name="矩形: 圆角 4"/>
          <p:cNvSpPr/>
          <p:nvPr/>
        </p:nvSpPr>
        <p:spPr>
          <a:xfrm>
            <a:off x="390352" y="2742178"/>
            <a:ext cx="2448559" cy="857300"/>
          </a:xfrm>
          <a:prstGeom prst="roundRect">
            <a:avLst/>
          </a:prstGeom>
          <a:noFill/>
          <a:ln w="28575">
            <a:solidFill>
              <a:schemeClr val="accent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21"/>
          <p:cNvGrpSpPr/>
          <p:nvPr/>
        </p:nvGrpSpPr>
        <p:grpSpPr bwMode="auto">
          <a:xfrm>
            <a:off x="3145056" y="2858780"/>
            <a:ext cx="9568120" cy="523220"/>
            <a:chOff x="500034" y="2714620"/>
            <a:chExt cx="7429552" cy="523230"/>
          </a:xfrm>
        </p:grpSpPr>
        <p:sp>
          <p:nvSpPr>
            <p:cNvPr id="8" name="矩形 16"/>
            <p:cNvSpPr>
              <a:spLocks noChangeArrowheads="1"/>
            </p:cNvSpPr>
            <p:nvPr/>
          </p:nvSpPr>
          <p:spPr bwMode="auto">
            <a:xfrm>
              <a:off x="500034" y="2714620"/>
              <a:ext cx="7429552" cy="52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92175" indent="-892175"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892175" marR="0" lvl="0" indent="-892175"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rPr>
                <a:t>表明：   应为     的特征值，而     为与    对应的单位特征向量</a:t>
              </a:r>
              <a:r>
                <a:rPr kumimoji="0" lang="zh-CN" altLang="en-US" sz="28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rPr>
                <a:t>。        </a:t>
              </a:r>
            </a:p>
          </p:txBody>
        </p:sp>
        <p:graphicFrame>
          <p:nvGraphicFramePr>
            <p:cNvPr id="10" name="Object 4"/>
            <p:cNvGraphicFramePr>
              <a:graphicFrameLocks noChangeAspect="1"/>
            </p:cNvGraphicFramePr>
            <p:nvPr/>
          </p:nvGraphicFramePr>
          <p:xfrm>
            <a:off x="988399" y="2791762"/>
            <a:ext cx="361950" cy="446087"/>
          </p:xfrm>
          <a:graphic>
            <a:graphicData uri="http://schemas.openxmlformats.org/presentationml/2006/ole">
              <mc:AlternateContent xmlns:mc="http://schemas.openxmlformats.org/markup-compatibility/2006">
                <mc:Choice xmlns:v="urn:schemas-microsoft-com:vml" Requires="v">
                  <p:oleObj name="公式" r:id="rId5" imgW="114935" imgH="154305" progId="Equation.3">
                    <p:embed/>
                  </p:oleObj>
                </mc:Choice>
                <mc:Fallback>
                  <p:oleObj name="公式" r:id="rId5" imgW="114935" imgH="15430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8399" y="2791762"/>
                          <a:ext cx="3619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2"/>
            <p:cNvGraphicFramePr>
              <a:graphicFrameLocks noChangeAspect="1"/>
            </p:cNvGraphicFramePr>
            <p:nvPr/>
          </p:nvGraphicFramePr>
          <p:xfrm>
            <a:off x="1694969" y="2814275"/>
            <a:ext cx="361950" cy="381000"/>
          </p:xfrm>
          <a:graphic>
            <a:graphicData uri="http://schemas.openxmlformats.org/presentationml/2006/ole">
              <mc:AlternateContent xmlns:mc="http://schemas.openxmlformats.org/markup-compatibility/2006">
                <mc:Choice xmlns:v="urn:schemas-microsoft-com:vml" Requires="v">
                  <p:oleObj name="公式" r:id="rId7" imgW="114935" imgH="125730" progId="Equation.3">
                    <p:embed/>
                  </p:oleObj>
                </mc:Choice>
                <mc:Fallback>
                  <p:oleObj name="公式" r:id="rId7" imgW="114935" imgH="12573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4969" y="2814275"/>
                          <a:ext cx="3619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3"/>
            <p:cNvGraphicFramePr>
              <a:graphicFrameLocks noChangeAspect="1"/>
            </p:cNvGraphicFramePr>
            <p:nvPr>
              <p:extLst>
                <p:ext uri="{D42A27DB-BD31-4B8C-83A1-F6EECF244321}">
                  <p14:modId xmlns:p14="http://schemas.microsoft.com/office/powerpoint/2010/main" val="2167476139"/>
                </p:ext>
              </p:extLst>
            </p:nvPr>
          </p:nvGraphicFramePr>
          <p:xfrm>
            <a:off x="3203012" y="2791762"/>
            <a:ext cx="322897" cy="381001"/>
          </p:xfrm>
          <a:graphic>
            <a:graphicData uri="http://schemas.openxmlformats.org/presentationml/2006/ole">
              <mc:AlternateContent xmlns:mc="http://schemas.openxmlformats.org/markup-compatibility/2006">
                <mc:Choice xmlns:v="urn:schemas-microsoft-com:vml" Requires="v">
                  <p:oleObj name="公式" r:id="rId9" imgW="150495" imgH="186690" progId="Equation.3">
                    <p:embed/>
                  </p:oleObj>
                </mc:Choice>
                <mc:Fallback>
                  <p:oleObj name="公式" r:id="rId9" imgW="150495" imgH="18669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012" y="2791762"/>
                          <a:ext cx="322897" cy="381001"/>
                        </a:xfrm>
                        <a:prstGeom prst="rect">
                          <a:avLst/>
                        </a:prstGeom>
                        <a:noFill/>
                        <a:ln>
                          <a:noFill/>
                        </a:ln>
                      </p:spPr>
                    </p:pic>
                  </p:oleObj>
                </mc:Fallback>
              </mc:AlternateContent>
            </a:graphicData>
          </a:graphic>
        </p:graphicFrame>
        <p:graphicFrame>
          <p:nvGraphicFramePr>
            <p:cNvPr id="27" name="Object 14"/>
            <p:cNvGraphicFramePr>
              <a:graphicFrameLocks noChangeAspect="1"/>
            </p:cNvGraphicFramePr>
            <p:nvPr>
              <p:extLst>
                <p:ext uri="{D42A27DB-BD31-4B8C-83A1-F6EECF244321}">
                  <p14:modId xmlns:p14="http://schemas.microsoft.com/office/powerpoint/2010/main" val="3663559262"/>
                </p:ext>
              </p:extLst>
            </p:nvPr>
          </p:nvGraphicFramePr>
          <p:xfrm>
            <a:off x="3851458" y="2844024"/>
            <a:ext cx="266735" cy="328739"/>
          </p:xfrm>
          <a:graphic>
            <a:graphicData uri="http://schemas.openxmlformats.org/presentationml/2006/ole">
              <mc:AlternateContent xmlns:mc="http://schemas.openxmlformats.org/markup-compatibility/2006">
                <mc:Choice xmlns:v="urn:schemas-microsoft-com:vml" Requires="v">
                  <p:oleObj name="公式" r:id="rId11" imgW="114935" imgH="154305" progId="Equation.3">
                    <p:embed/>
                  </p:oleObj>
                </mc:Choice>
                <mc:Fallback>
                  <p:oleObj name="公式" r:id="rId11" imgW="114935" imgH="154305"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1458" y="2844024"/>
                          <a:ext cx="266735" cy="328739"/>
                        </a:xfrm>
                        <a:prstGeom prst="rect">
                          <a:avLst/>
                        </a:prstGeom>
                        <a:noFill/>
                        <a:ln>
                          <a:noFill/>
                        </a:ln>
                      </p:spPr>
                    </p:pic>
                  </p:oleObj>
                </mc:Fallback>
              </mc:AlternateContent>
            </a:graphicData>
          </a:graphic>
        </p:graphicFrame>
      </p:grpSp>
      <p:grpSp>
        <p:nvGrpSpPr>
          <p:cNvPr id="28" name="组合 27"/>
          <p:cNvGrpSpPr/>
          <p:nvPr/>
        </p:nvGrpSpPr>
        <p:grpSpPr bwMode="auto">
          <a:xfrm>
            <a:off x="0" y="3896207"/>
            <a:ext cx="5307507" cy="737061"/>
            <a:chOff x="500034" y="4071942"/>
            <a:chExt cx="5149002" cy="868839"/>
          </a:xfrm>
        </p:grpSpPr>
        <p:graphicFrame>
          <p:nvGraphicFramePr>
            <p:cNvPr id="29" name="Object 15"/>
            <p:cNvGraphicFramePr>
              <a:graphicFrameLocks noChangeAspect="1"/>
            </p:cNvGraphicFramePr>
            <p:nvPr>
              <p:extLst>
                <p:ext uri="{D42A27DB-BD31-4B8C-83A1-F6EECF244321}">
                  <p14:modId xmlns:p14="http://schemas.microsoft.com/office/powerpoint/2010/main" val="2569348045"/>
                </p:ext>
              </p:extLst>
            </p:nvPr>
          </p:nvGraphicFramePr>
          <p:xfrm>
            <a:off x="859289" y="4323243"/>
            <a:ext cx="4789747" cy="617538"/>
          </p:xfrm>
          <a:graphic>
            <a:graphicData uri="http://schemas.openxmlformats.org/presentationml/2006/ole">
              <mc:AlternateContent xmlns:mc="http://schemas.openxmlformats.org/markup-compatibility/2006">
                <mc:Choice xmlns:v="urn:schemas-microsoft-com:vml" Requires="v">
                  <p:oleObj name="Equation" r:id="rId13" imgW="43891200" imgH="5486400" progId="Equation.DSMT4">
                    <p:embed/>
                  </p:oleObj>
                </mc:Choice>
                <mc:Fallback>
                  <p:oleObj name="Equation" r:id="rId13" imgW="43891200" imgH="5486400" progId="Equation.DSMT4">
                    <p:embed/>
                    <p:pic>
                      <p:nvPicPr>
                        <p:cNvPr id="0" name="Object 15"/>
                        <p:cNvPicPr>
                          <a:picLocks noChangeAspect="1" noChangeArrowheads="1"/>
                        </p:cNvPicPr>
                        <p:nvPr/>
                      </p:nvPicPr>
                      <p:blipFill>
                        <a:blip r:embed="rId14"/>
                        <a:srcRect/>
                        <a:stretch>
                          <a:fillRect/>
                        </a:stretch>
                      </p:blipFill>
                      <p:spPr bwMode="auto">
                        <a:xfrm>
                          <a:off x="859289" y="4323243"/>
                          <a:ext cx="478974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TextBox 22"/>
            <p:cNvSpPr txBox="1">
              <a:spLocks noChangeArrowheads="1"/>
            </p:cNvSpPr>
            <p:nvPr/>
          </p:nvSpPr>
          <p:spPr bwMode="auto">
            <a:xfrm>
              <a:off x="500034" y="4071942"/>
              <a:ext cx="177731" cy="523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endParaRPr>
            </a:p>
          </p:txBody>
        </p:sp>
      </p:grpSp>
      <p:grpSp>
        <p:nvGrpSpPr>
          <p:cNvPr id="31" name="组合 26"/>
          <p:cNvGrpSpPr/>
          <p:nvPr/>
        </p:nvGrpSpPr>
        <p:grpSpPr bwMode="auto">
          <a:xfrm>
            <a:off x="5307507" y="4039386"/>
            <a:ext cx="7358062" cy="523875"/>
            <a:chOff x="500034" y="4929196"/>
            <a:chExt cx="7358114" cy="523220"/>
          </a:xfrm>
        </p:grpSpPr>
        <p:sp>
          <p:nvSpPr>
            <p:cNvPr id="32" name="TextBox 23"/>
            <p:cNvSpPr txBox="1">
              <a:spLocks noChangeArrowheads="1"/>
            </p:cNvSpPr>
            <p:nvPr/>
          </p:nvSpPr>
          <p:spPr bwMode="auto">
            <a:xfrm>
              <a:off x="500034" y="4929196"/>
              <a:ext cx="73581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rPr>
                <a:t>可见      应取     的最大特征根</a:t>
              </a:r>
              <a:r>
                <a:rPr kumimoji="0" lang="zh-CN" altLang="en-US" sz="28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mn-cs"/>
                </a:rPr>
                <a:t>。</a:t>
              </a:r>
            </a:p>
          </p:txBody>
        </p:sp>
        <p:graphicFrame>
          <p:nvGraphicFramePr>
            <p:cNvPr id="33" name="Object 16"/>
            <p:cNvGraphicFramePr>
              <a:graphicFrameLocks noChangeAspect="1"/>
            </p:cNvGraphicFramePr>
            <p:nvPr/>
          </p:nvGraphicFramePr>
          <p:xfrm>
            <a:off x="1129329" y="5024583"/>
            <a:ext cx="361950" cy="399798"/>
          </p:xfrm>
          <a:graphic>
            <a:graphicData uri="http://schemas.openxmlformats.org/presentationml/2006/ole">
              <mc:AlternateContent xmlns:mc="http://schemas.openxmlformats.org/markup-compatibility/2006">
                <mc:Choice xmlns:v="urn:schemas-microsoft-com:vml" Requires="v">
                  <p:oleObj name="公式" r:id="rId15" imgW="114935" imgH="154305" progId="Equation.3">
                    <p:embed/>
                  </p:oleObj>
                </mc:Choice>
                <mc:Fallback>
                  <p:oleObj name="公式" r:id="rId15" imgW="114935" imgH="154305"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29329" y="5024583"/>
                          <a:ext cx="361950" cy="399798"/>
                        </a:xfrm>
                        <a:prstGeom prst="rect">
                          <a:avLst/>
                        </a:prstGeom>
                        <a:noFill/>
                        <a:ln>
                          <a:noFill/>
                        </a:ln>
                      </p:spPr>
                    </p:pic>
                  </p:oleObj>
                </mc:Fallback>
              </mc:AlternateContent>
            </a:graphicData>
          </a:graphic>
        </p:graphicFrame>
        <p:graphicFrame>
          <p:nvGraphicFramePr>
            <p:cNvPr id="34" name="Object 17"/>
            <p:cNvGraphicFramePr>
              <a:graphicFrameLocks noChangeAspect="1"/>
            </p:cNvGraphicFramePr>
            <p:nvPr/>
          </p:nvGraphicFramePr>
          <p:xfrm>
            <a:off x="2081090" y="5068096"/>
            <a:ext cx="320783" cy="339075"/>
          </p:xfrm>
          <a:graphic>
            <a:graphicData uri="http://schemas.openxmlformats.org/presentationml/2006/ole">
              <mc:AlternateContent xmlns:mc="http://schemas.openxmlformats.org/markup-compatibility/2006">
                <mc:Choice xmlns:v="urn:schemas-microsoft-com:vml" Requires="v">
                  <p:oleObj name="公式" r:id="rId17" imgW="114935" imgH="125730" progId="Equation.3">
                    <p:embed/>
                  </p:oleObj>
                </mc:Choice>
                <mc:Fallback>
                  <p:oleObj name="公式" r:id="rId17" imgW="114935" imgH="125730" progId="Equation.3">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1090" y="5068096"/>
                          <a:ext cx="320783" cy="339075"/>
                        </a:xfrm>
                        <a:prstGeom prst="rect">
                          <a:avLst/>
                        </a:prstGeom>
                        <a:noFill/>
                        <a:ln>
                          <a:noFill/>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B86E6-C8D7-C56E-0659-D23720E2180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9EF0D37-9F99-A0B4-EEBE-16A396C2395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36" name="文本框 35">
            <a:extLst>
              <a:ext uri="{FF2B5EF4-FFF2-40B4-BE49-F238E27FC236}">
                <a16:creationId xmlns:a16="http://schemas.microsoft.com/office/drawing/2014/main" id="{5AE7DAE5-1F04-67BB-80FA-712F80E20157}"/>
              </a:ext>
            </a:extLst>
          </p:cNvPr>
          <p:cNvSpPr txBox="1"/>
          <p:nvPr/>
        </p:nvSpPr>
        <p:spPr>
          <a:xfrm>
            <a:off x="303751" y="4081748"/>
            <a:ext cx="11052812" cy="1777474"/>
          </a:xfrm>
          <a:prstGeom prst="rect">
            <a:avLst/>
          </a:prstGeom>
          <a:noFill/>
        </p:spPr>
        <p:txBody>
          <a:bodyPr wrap="square">
            <a:spAutoFit/>
          </a:bodyPr>
          <a:lstStyle/>
          <a:p>
            <a:pPr marL="241300" marR="0" lvl="0" indent="-241300" algn="l" defTabSz="914400" rtl="0" eaLnBrk="1" fontAlgn="base" latinLnBrk="0" hangingPunct="1">
              <a:lnSpc>
                <a:spcPct val="135000"/>
              </a:lnSpc>
              <a:spcBef>
                <a:spcPct val="0"/>
              </a:spcBef>
              <a:spcAft>
                <a:spcPct val="0"/>
              </a:spcAft>
              <a:buClrTx/>
              <a:buSzTx/>
              <a:buFontTx/>
              <a:buNone/>
              <a:defRPr/>
            </a:pPr>
            <a:r>
              <a:rPr kumimoji="0" lang="zh-CN" altLang="en-US" sz="2800" b="0" i="0" u="none" strike="noStrike" kern="0" cap="none" spc="0" normalizeH="0" baseline="0" noProof="0" dirty="0">
                <a:ln>
                  <a:noFill/>
                </a:ln>
                <a:effectLst/>
                <a:uLnTx/>
                <a:uFillTx/>
                <a:latin typeface="微软雅黑" panose="020B0503020204020204" charset="-122"/>
                <a:ea typeface="微软雅黑" panose="020B0503020204020204" charset="-122"/>
                <a:sym typeface="Symbol" panose="05050102010706020507" pitchFamily="18" charset="2"/>
              </a:rPr>
              <a:t>        如果第一主成分的信息不够，则需要寻找第二主成分。</a:t>
            </a:r>
            <a:r>
              <a:rPr lang="zh-CN" altLang="zh-CN" sz="2800" kern="0" dirty="0">
                <a:latin typeface="微软雅黑" panose="020B0503020204020204" charset="-122"/>
                <a:ea typeface="微软雅黑" panose="020B0503020204020204" charset="-122"/>
              </a:rPr>
              <a:t>寻找第二主成分时，</a:t>
            </a:r>
            <a:r>
              <a:rPr kumimoji="0" lang="zh-CN" altLang="en-US"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rPr>
              <a:t> 应取     的第二大特征根，以此类推，</a:t>
            </a:r>
            <a:r>
              <a:rPr lang="zh-CN" altLang="zh-CN" sz="2800" dirty="0">
                <a:solidFill>
                  <a:prstClr val="black"/>
                </a:solidFill>
                <a:latin typeface="微软雅黑" panose="020B0503020204020204" charset="-122"/>
                <a:ea typeface="微软雅黑" panose="020B0503020204020204" charset="-122"/>
              </a:rPr>
              <a:t>最多可以求出</a:t>
            </a:r>
            <a:r>
              <a:rPr lang="en-US" altLang="zh-CN" sz="2800" dirty="0">
                <a:solidFill>
                  <a:prstClr val="black"/>
                </a:solidFill>
                <a:latin typeface="微软雅黑" panose="020B0503020204020204" charset="-122"/>
                <a:ea typeface="微软雅黑" panose="020B0503020204020204" charset="-122"/>
              </a:rPr>
              <a:t>p</a:t>
            </a:r>
            <a:r>
              <a:rPr lang="zh-CN" altLang="zh-CN" sz="2800" dirty="0">
                <a:solidFill>
                  <a:prstClr val="black"/>
                </a:solidFill>
                <a:latin typeface="微软雅黑" panose="020B0503020204020204" charset="-122"/>
                <a:ea typeface="微软雅黑" panose="020B0503020204020204" charset="-122"/>
              </a:rPr>
              <a:t>个主成分</a:t>
            </a:r>
            <a:r>
              <a:rPr lang="zh-CN" altLang="en-US" sz="2800" dirty="0">
                <a:solidFill>
                  <a:prstClr val="black"/>
                </a:solidFill>
                <a:latin typeface="微软雅黑" panose="020B0503020204020204" charset="-122"/>
                <a:ea typeface="微软雅黑" panose="020B0503020204020204" charset="-122"/>
              </a:rPr>
              <a:t>。</a:t>
            </a:r>
          </a:p>
        </p:txBody>
      </p:sp>
      <p:graphicFrame>
        <p:nvGraphicFramePr>
          <p:cNvPr id="43" name="对象 42">
            <a:extLst>
              <a:ext uri="{FF2B5EF4-FFF2-40B4-BE49-F238E27FC236}">
                <a16:creationId xmlns:a16="http://schemas.microsoft.com/office/drawing/2014/main" id="{EAA13B6C-3298-97AB-5690-8B63D6C689FC}"/>
              </a:ext>
            </a:extLst>
          </p:cNvPr>
          <p:cNvGraphicFramePr>
            <a:graphicFrameLocks noChangeAspect="1"/>
          </p:cNvGraphicFramePr>
          <p:nvPr>
            <p:extLst>
              <p:ext uri="{D42A27DB-BD31-4B8C-83A1-F6EECF244321}">
                <p14:modId xmlns:p14="http://schemas.microsoft.com/office/powerpoint/2010/main" val="1000681547"/>
              </p:ext>
            </p:extLst>
          </p:nvPr>
        </p:nvGraphicFramePr>
        <p:xfrm>
          <a:off x="3309940" y="4807301"/>
          <a:ext cx="412315" cy="436809"/>
        </p:xfrm>
        <a:graphic>
          <a:graphicData uri="http://schemas.openxmlformats.org/presentationml/2006/ole">
            <mc:AlternateContent xmlns:mc="http://schemas.openxmlformats.org/markup-compatibility/2006">
              <mc:Choice xmlns:v="urn:schemas-microsoft-com:vml" Requires="v">
                <p:oleObj name="Equation" r:id="rId3" imgW="321310" imgH="341630" progId="Equation.DSMT4">
                  <p:embed/>
                </p:oleObj>
              </mc:Choice>
              <mc:Fallback>
                <p:oleObj name="Equation" r:id="rId3" imgW="321310" imgH="341630" progId="Equation.DSMT4">
                  <p:embed/>
                  <p:pic>
                    <p:nvPicPr>
                      <p:cNvPr id="43" name="对象 42"/>
                      <p:cNvPicPr/>
                      <p:nvPr/>
                    </p:nvPicPr>
                    <p:blipFill>
                      <a:blip r:embed="rId4"/>
                      <a:stretch>
                        <a:fillRect/>
                      </a:stretch>
                    </p:blipFill>
                    <p:spPr>
                      <a:xfrm>
                        <a:off x="3309940" y="4807301"/>
                        <a:ext cx="412315" cy="436809"/>
                      </a:xfrm>
                      <a:prstGeom prst="rect">
                        <a:avLst/>
                      </a:prstGeom>
                    </p:spPr>
                  </p:pic>
                </p:oleObj>
              </mc:Fallback>
            </mc:AlternateContent>
          </a:graphicData>
        </a:graphic>
      </p:graphicFrame>
      <p:grpSp>
        <p:nvGrpSpPr>
          <p:cNvPr id="45" name="Group 3">
            <a:extLst>
              <a:ext uri="{FF2B5EF4-FFF2-40B4-BE49-F238E27FC236}">
                <a16:creationId xmlns:a16="http://schemas.microsoft.com/office/drawing/2014/main" id="{71DCA25D-622E-EE09-0E13-3DE4D4C3209F}"/>
              </a:ext>
            </a:extLst>
          </p:cNvPr>
          <p:cNvGrpSpPr/>
          <p:nvPr/>
        </p:nvGrpSpPr>
        <p:grpSpPr>
          <a:xfrm>
            <a:off x="4822409" y="1753676"/>
            <a:ext cx="8320087" cy="1264144"/>
            <a:chOff x="368913" y="3962356"/>
            <a:chExt cx="8320087" cy="1264144"/>
          </a:xfrm>
        </p:grpSpPr>
        <p:sp>
          <p:nvSpPr>
            <p:cNvPr id="47" name="Text Box 8">
              <a:extLst>
                <a:ext uri="{FF2B5EF4-FFF2-40B4-BE49-F238E27FC236}">
                  <a16:creationId xmlns:a16="http://schemas.microsoft.com/office/drawing/2014/main" id="{579BE839-EBB4-B5C1-0172-E066693510FC}"/>
                </a:ext>
              </a:extLst>
            </p:cNvPr>
            <p:cNvSpPr txBox="1">
              <a:spLocks noChangeArrowheads="1"/>
            </p:cNvSpPr>
            <p:nvPr/>
          </p:nvSpPr>
          <p:spPr bwMode="auto">
            <a:xfrm>
              <a:off x="368913" y="3962356"/>
              <a:ext cx="8320087" cy="123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200000"/>
                </a:lnSpc>
                <a:spcBef>
                  <a:spcPct val="50000"/>
                </a:spcBef>
              </a:pPr>
              <a:r>
                <a:rPr lang="en-US" altLang="zh-CN" sz="2000" dirty="0">
                  <a:latin typeface="微软雅黑" panose="020B0503020204020204" charset="-122"/>
                  <a:ea typeface="微软雅黑" panose="020B0503020204020204" charset="-122"/>
                </a:rPr>
                <a:t>X</a:t>
              </a:r>
              <a:r>
                <a:rPr lang="zh-CN" altLang="en-US" sz="2000" dirty="0">
                  <a:latin typeface="微软雅黑" panose="020B0503020204020204" charset="-122"/>
                  <a:ea typeface="微软雅黑" panose="020B0503020204020204" charset="-122"/>
                </a:rPr>
                <a:t>的协方差矩阵</a:t>
              </a:r>
              <a:r>
                <a:rPr lang="en-US" altLang="zh-CN" sz="2000" dirty="0">
                  <a:latin typeface="微软雅黑" panose="020B0503020204020204" charset="-122"/>
                  <a:ea typeface="微软雅黑" panose="020B0503020204020204" charset="-122"/>
                </a:rPr>
                <a:t>   </a:t>
              </a:r>
              <a:r>
                <a:rPr lang="zh-CN" altLang="en-US" sz="2000" dirty="0">
                  <a:latin typeface="微软雅黑" panose="020B0503020204020204" charset="-122"/>
                  <a:ea typeface="微软雅黑" panose="020B0503020204020204" charset="-122"/>
                </a:rPr>
                <a:t>的最大特征根    所对应的单位特征向量即为                      。并且    就是</a:t>
              </a:r>
              <a:r>
                <a:rPr lang="en-US" altLang="zh-CN" sz="2000" dirty="0">
                  <a:latin typeface="微软雅黑" panose="020B0503020204020204" charset="-122"/>
                  <a:ea typeface="微软雅黑" panose="020B0503020204020204" charset="-122"/>
                </a:rPr>
                <a:t>F</a:t>
              </a:r>
              <a:r>
                <a:rPr lang="en-US" altLang="zh-CN" sz="2000" baseline="-25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的方差。</a:t>
              </a:r>
            </a:p>
          </p:txBody>
        </p:sp>
        <p:graphicFrame>
          <p:nvGraphicFramePr>
            <p:cNvPr id="48" name="Object 9">
              <a:extLst>
                <a:ext uri="{FF2B5EF4-FFF2-40B4-BE49-F238E27FC236}">
                  <a16:creationId xmlns:a16="http://schemas.microsoft.com/office/drawing/2014/main" id="{2F0D298C-458F-6881-D60A-EA5844FDC54C}"/>
                </a:ext>
              </a:extLst>
            </p:cNvPr>
            <p:cNvGraphicFramePr>
              <a:graphicFrameLocks noChangeAspect="1"/>
            </p:cNvGraphicFramePr>
            <p:nvPr/>
          </p:nvGraphicFramePr>
          <p:xfrm>
            <a:off x="702061" y="4808417"/>
            <a:ext cx="1671657" cy="418083"/>
          </p:xfrm>
          <a:graphic>
            <a:graphicData uri="http://schemas.openxmlformats.org/presentationml/2006/ole">
              <mc:AlternateContent xmlns:mc="http://schemas.openxmlformats.org/markup-compatibility/2006">
                <mc:Choice xmlns:v="urn:schemas-microsoft-com:vml" Requires="v">
                  <p:oleObj name="公式" r:id="rId5" imgW="885825" imgH="208280" progId="Equation.3">
                    <p:embed/>
                  </p:oleObj>
                </mc:Choice>
                <mc:Fallback>
                  <p:oleObj name="公式" r:id="rId5" imgW="885825" imgH="208280" progId="Equation.3">
                    <p:embed/>
                    <p:pic>
                      <p:nvPicPr>
                        <p:cNvPr id="48"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061" y="4808417"/>
                          <a:ext cx="1671657" cy="418083"/>
                        </a:xfrm>
                        <a:prstGeom prst="rect">
                          <a:avLst/>
                        </a:prstGeom>
                        <a:noFill/>
                        <a:ln>
                          <a:noFill/>
                        </a:ln>
                        <a:effectLst/>
                      </p:spPr>
                    </p:pic>
                  </p:oleObj>
                </mc:Fallback>
              </mc:AlternateContent>
            </a:graphicData>
          </a:graphic>
        </p:graphicFrame>
        <p:graphicFrame>
          <p:nvGraphicFramePr>
            <p:cNvPr id="49" name="Object 2">
              <a:extLst>
                <a:ext uri="{FF2B5EF4-FFF2-40B4-BE49-F238E27FC236}">
                  <a16:creationId xmlns:a16="http://schemas.microsoft.com/office/drawing/2014/main" id="{D1929FA9-C3B3-C3AB-8A5F-CA2129040D6D}"/>
                </a:ext>
              </a:extLst>
            </p:cNvPr>
            <p:cNvGraphicFramePr>
              <a:graphicFrameLocks noChangeAspect="1"/>
            </p:cNvGraphicFramePr>
            <p:nvPr/>
          </p:nvGraphicFramePr>
          <p:xfrm>
            <a:off x="3856692" y="4123841"/>
            <a:ext cx="333118" cy="435739"/>
          </p:xfrm>
          <a:graphic>
            <a:graphicData uri="http://schemas.openxmlformats.org/presentationml/2006/ole">
              <mc:AlternateContent xmlns:mc="http://schemas.openxmlformats.org/markup-compatibility/2006">
                <mc:Choice xmlns:v="urn:schemas-microsoft-com:vml" Requires="v">
                  <p:oleObj name="公式" r:id="rId7" imgW="136525" imgH="186690" progId="Equation.3">
                    <p:embed/>
                  </p:oleObj>
                </mc:Choice>
                <mc:Fallback>
                  <p:oleObj name="公式" r:id="rId7" imgW="136525" imgH="186690" progId="Equation.3">
                    <p:embed/>
                    <p:pic>
                      <p:nvPicPr>
                        <p:cNvPr id="49"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6692" y="4123841"/>
                          <a:ext cx="333118" cy="435739"/>
                        </a:xfrm>
                        <a:prstGeom prst="rect">
                          <a:avLst/>
                        </a:prstGeom>
                        <a:noFill/>
                        <a:ln>
                          <a:noFill/>
                        </a:ln>
                        <a:effectLst/>
                      </p:spPr>
                    </p:pic>
                  </p:oleObj>
                </mc:Fallback>
              </mc:AlternateContent>
            </a:graphicData>
          </a:graphic>
        </p:graphicFrame>
      </p:grpSp>
      <p:graphicFrame>
        <p:nvGraphicFramePr>
          <p:cNvPr id="50" name="对象 49">
            <a:extLst>
              <a:ext uri="{FF2B5EF4-FFF2-40B4-BE49-F238E27FC236}">
                <a16:creationId xmlns:a16="http://schemas.microsoft.com/office/drawing/2014/main" id="{D7776479-8733-2ADE-0E46-16ADE14431DA}"/>
              </a:ext>
            </a:extLst>
          </p:cNvPr>
          <p:cNvGraphicFramePr>
            <a:graphicFrameLocks noChangeAspect="1"/>
          </p:cNvGraphicFramePr>
          <p:nvPr>
            <p:extLst>
              <p:ext uri="{D42A27DB-BD31-4B8C-83A1-F6EECF244321}">
                <p14:modId xmlns:p14="http://schemas.microsoft.com/office/powerpoint/2010/main" val="3149634729"/>
              </p:ext>
            </p:extLst>
          </p:nvPr>
        </p:nvGraphicFramePr>
        <p:xfrm>
          <a:off x="6550220" y="2020231"/>
          <a:ext cx="333118" cy="364981"/>
        </p:xfrm>
        <a:graphic>
          <a:graphicData uri="http://schemas.openxmlformats.org/presentationml/2006/ole">
            <mc:AlternateContent xmlns:mc="http://schemas.openxmlformats.org/markup-compatibility/2006">
              <mc:Choice xmlns:v="urn:schemas-microsoft-com:vml" Requires="v">
                <p:oleObj name="Equation" r:id="rId9" imgW="146050" imgH="155575" progId="Equation.DSMT4">
                  <p:embed/>
                </p:oleObj>
              </mc:Choice>
              <mc:Fallback>
                <p:oleObj name="Equation" r:id="rId9" imgW="146050" imgH="155575" progId="Equation.DSMT4">
                  <p:embed/>
                  <p:pic>
                    <p:nvPicPr>
                      <p:cNvPr id="50" name="对象 49"/>
                      <p:cNvPicPr/>
                      <p:nvPr/>
                    </p:nvPicPr>
                    <p:blipFill>
                      <a:blip r:embed="rId10"/>
                      <a:stretch>
                        <a:fillRect/>
                      </a:stretch>
                    </p:blipFill>
                    <p:spPr>
                      <a:xfrm>
                        <a:off x="6550220" y="2020231"/>
                        <a:ext cx="333118" cy="364981"/>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31033945-74E5-8198-96C0-86F72C8B40A8}"/>
              </a:ext>
            </a:extLst>
          </p:cNvPr>
          <p:cNvGraphicFramePr>
            <a:graphicFrameLocks noChangeAspect="1"/>
          </p:cNvGraphicFramePr>
          <p:nvPr>
            <p:extLst>
              <p:ext uri="{D42A27DB-BD31-4B8C-83A1-F6EECF244321}">
                <p14:modId xmlns:p14="http://schemas.microsoft.com/office/powerpoint/2010/main" val="2344044905"/>
              </p:ext>
            </p:extLst>
          </p:nvPr>
        </p:nvGraphicFramePr>
        <p:xfrm>
          <a:off x="303751" y="1530116"/>
          <a:ext cx="3489824" cy="1854479"/>
        </p:xfrm>
        <a:graphic>
          <a:graphicData uri="http://schemas.openxmlformats.org/presentationml/2006/ole">
            <mc:AlternateContent xmlns:mc="http://schemas.openxmlformats.org/markup-compatibility/2006">
              <mc:Choice xmlns:v="urn:schemas-microsoft-com:vml" Requires="v">
                <p:oleObj name="Equation" r:id="rId11" imgW="4754880" imgH="2526665" progId="Equation.DSMT4">
                  <p:embed/>
                </p:oleObj>
              </mc:Choice>
              <mc:Fallback>
                <p:oleObj name="Equation" r:id="rId11" imgW="4754880" imgH="2526665" progId="Equation.DSMT4">
                  <p:embed/>
                  <p:pic>
                    <p:nvPicPr>
                      <p:cNvPr id="52" name="对象 51"/>
                      <p:cNvPicPr/>
                      <p:nvPr/>
                    </p:nvPicPr>
                    <p:blipFill>
                      <a:blip r:embed="rId12"/>
                      <a:stretch>
                        <a:fillRect/>
                      </a:stretch>
                    </p:blipFill>
                    <p:spPr>
                      <a:xfrm>
                        <a:off x="303751" y="1530116"/>
                        <a:ext cx="3489824" cy="1854479"/>
                      </a:xfrm>
                      <a:prstGeom prst="rect">
                        <a:avLst/>
                      </a:prstGeom>
                    </p:spPr>
                  </p:pic>
                </p:oleObj>
              </mc:Fallback>
            </mc:AlternateContent>
          </a:graphicData>
        </a:graphic>
      </p:graphicFrame>
      <p:sp>
        <p:nvSpPr>
          <p:cNvPr id="53" name="箭头: 下 52">
            <a:extLst>
              <a:ext uri="{FF2B5EF4-FFF2-40B4-BE49-F238E27FC236}">
                <a16:creationId xmlns:a16="http://schemas.microsoft.com/office/drawing/2014/main" id="{C253F933-7525-8E12-BF88-F338D5182D4B}"/>
              </a:ext>
            </a:extLst>
          </p:cNvPr>
          <p:cNvSpPr/>
          <p:nvPr/>
        </p:nvSpPr>
        <p:spPr>
          <a:xfrm rot="16200000">
            <a:off x="3985844" y="2175652"/>
            <a:ext cx="320040" cy="5634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4" name="对象 53">
            <a:extLst>
              <a:ext uri="{FF2B5EF4-FFF2-40B4-BE49-F238E27FC236}">
                <a16:creationId xmlns:a16="http://schemas.microsoft.com/office/drawing/2014/main" id="{F100423A-3D23-8B05-4517-8DCC7592F472}"/>
              </a:ext>
            </a:extLst>
          </p:cNvPr>
          <p:cNvGraphicFramePr>
            <a:graphicFrameLocks noChangeAspect="1"/>
          </p:cNvGraphicFramePr>
          <p:nvPr>
            <p:extLst>
              <p:ext uri="{D42A27DB-BD31-4B8C-83A1-F6EECF244321}">
                <p14:modId xmlns:p14="http://schemas.microsoft.com/office/powerpoint/2010/main" val="2164152423"/>
              </p:ext>
            </p:extLst>
          </p:nvPr>
        </p:nvGraphicFramePr>
        <p:xfrm>
          <a:off x="7551246" y="2581257"/>
          <a:ext cx="333375" cy="436563"/>
        </p:xfrm>
        <a:graphic>
          <a:graphicData uri="http://schemas.openxmlformats.org/presentationml/2006/ole">
            <mc:AlternateContent xmlns:mc="http://schemas.openxmlformats.org/markup-compatibility/2006">
              <mc:Choice xmlns:v="urn:schemas-microsoft-com:vml" Requires="v">
                <p:oleObj name="Equation" r:id="rId13" imgW="335280" imgH="437515" progId="Equation.DSMT4">
                  <p:embed/>
                </p:oleObj>
              </mc:Choice>
              <mc:Fallback>
                <p:oleObj name="Equation" r:id="rId13" imgW="335280" imgH="437515" progId="Equation.DSMT4">
                  <p:embed/>
                  <p:pic>
                    <p:nvPicPr>
                      <p:cNvPr id="54" name="对象 53"/>
                      <p:cNvPicPr/>
                      <p:nvPr/>
                    </p:nvPicPr>
                    <p:blipFill>
                      <a:blip r:embed="rId14"/>
                      <a:stretch>
                        <a:fillRect/>
                      </a:stretch>
                    </p:blipFill>
                    <p:spPr>
                      <a:xfrm>
                        <a:off x="7551246" y="2581257"/>
                        <a:ext cx="333375" cy="436563"/>
                      </a:xfrm>
                      <a:prstGeom prst="rect">
                        <a:avLst/>
                      </a:prstGeom>
                    </p:spPr>
                  </p:pic>
                </p:oleObj>
              </mc:Fallback>
            </mc:AlternateContent>
          </a:graphicData>
        </a:graphic>
      </p:graphicFrame>
      <p:sp>
        <p:nvSpPr>
          <p:cNvPr id="55" name="矩形: 圆角 54">
            <a:extLst>
              <a:ext uri="{FF2B5EF4-FFF2-40B4-BE49-F238E27FC236}">
                <a16:creationId xmlns:a16="http://schemas.microsoft.com/office/drawing/2014/main" id="{CBC10379-7CCC-0B74-0842-1B3DE31575E9}"/>
              </a:ext>
            </a:extLst>
          </p:cNvPr>
          <p:cNvSpPr/>
          <p:nvPr/>
        </p:nvSpPr>
        <p:spPr>
          <a:xfrm>
            <a:off x="218886" y="1424238"/>
            <a:ext cx="3645275" cy="2262915"/>
          </a:xfrm>
          <a:prstGeom prst="roundRect">
            <a:avLst/>
          </a:prstGeom>
          <a:noFill/>
          <a:ln w="28575">
            <a:solidFill>
              <a:schemeClr val="accent1">
                <a:lumMod val="40000"/>
                <a:lumOff val="6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3979826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主成分分析的公式推导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13" name="Rectangle 35"/>
          <p:cNvSpPr>
            <a:spLocks noChangeArrowheads="1"/>
          </p:cNvSpPr>
          <p:nvPr/>
        </p:nvSpPr>
        <p:spPr bwMode="auto">
          <a:xfrm>
            <a:off x="1320056" y="1246916"/>
            <a:ext cx="3275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Tx/>
              <a:buAutoNum type="arabicPeriod"/>
            </a:pPr>
            <a:r>
              <a:rPr kumimoji="1" lang="zh-CN" altLang="en-US" sz="2000" dirty="0">
                <a:latin typeface="微软雅黑" panose="020B0503020204020204" charset="-122"/>
                <a:ea typeface="微软雅黑" panose="020B0503020204020204" charset="-122"/>
                <a:cs typeface="Times New Roman" panose="02020603050405020304" pitchFamily="18" charset="0"/>
              </a:rPr>
              <a:t>求解样本的协方差矩阵</a:t>
            </a:r>
            <a:r>
              <a:rPr kumimoji="1" lang="en-US" altLang="zh-CN" sz="2000" i="1" dirty="0">
                <a:latin typeface="微软雅黑" panose="020B0503020204020204" charset="-122"/>
                <a:ea typeface="微软雅黑" panose="020B0503020204020204" charset="-122"/>
                <a:cs typeface="Times New Roman" panose="02020603050405020304" pitchFamily="18" charset="0"/>
              </a:rPr>
              <a:t>S</a:t>
            </a:r>
            <a:r>
              <a:rPr kumimoji="1" lang="zh-CN" altLang="en-US" sz="2000" dirty="0">
                <a:latin typeface="微软雅黑" panose="020B0503020204020204" charset="-122"/>
                <a:ea typeface="微软雅黑" panose="020B0503020204020204" charset="-122"/>
                <a:cs typeface="Times New Roman" panose="02020603050405020304" pitchFamily="18" charset="0"/>
              </a:rPr>
              <a:t> </a:t>
            </a:r>
            <a:r>
              <a:rPr kumimoji="1" lang="en-US" altLang="zh-CN" sz="2000" dirty="0">
                <a:latin typeface="微软雅黑" panose="020B0503020204020204" charset="-122"/>
                <a:ea typeface="微软雅黑" panose="020B0503020204020204" charset="-122"/>
                <a:cs typeface="Times New Roman" panose="02020603050405020304" pitchFamily="18" charset="0"/>
              </a:rPr>
              <a:t>;</a:t>
            </a:r>
            <a:endParaRPr kumimoji="1" lang="en-US" altLang="zh-CN" sz="2000" dirty="0">
              <a:latin typeface="微软雅黑" panose="020B0503020204020204" charset="-122"/>
              <a:ea typeface="微软雅黑" panose="020B0503020204020204" charset="-122"/>
            </a:endParaRPr>
          </a:p>
        </p:txBody>
      </p:sp>
      <p:sp>
        <p:nvSpPr>
          <p:cNvPr id="16" name="Rectangle 41"/>
          <p:cNvSpPr>
            <a:spLocks noChangeArrowheads="1"/>
          </p:cNvSpPr>
          <p:nvPr/>
        </p:nvSpPr>
        <p:spPr bwMode="auto">
          <a:xfrm>
            <a:off x="1341973" y="1777393"/>
            <a:ext cx="21723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000" dirty="0">
                <a:latin typeface="微软雅黑" panose="020B0503020204020204" charset="-122"/>
                <a:ea typeface="微软雅黑" panose="020B0503020204020204" charset="-122"/>
                <a:cs typeface="Times New Roman" panose="02020603050405020304" pitchFamily="18" charset="0"/>
              </a:rPr>
              <a:t>2.</a:t>
            </a:r>
            <a:r>
              <a:rPr kumimoji="1" lang="zh-CN" altLang="en-US" sz="2000" dirty="0">
                <a:latin typeface="微软雅黑" panose="020B0503020204020204" charset="-122"/>
                <a:ea typeface="微软雅黑" panose="020B0503020204020204" charset="-122"/>
                <a:cs typeface="Times New Roman" panose="02020603050405020304" pitchFamily="18" charset="0"/>
              </a:rPr>
              <a:t>求解特征方程</a:t>
            </a:r>
            <a:r>
              <a:rPr kumimoji="1" lang="zh-CN" altLang="en-US" sz="2000" dirty="0">
                <a:latin typeface="Times New Roman" panose="02020603050405020304" pitchFamily="18" charset="0"/>
                <a:cs typeface="Times New Roman" panose="02020603050405020304" pitchFamily="18" charset="0"/>
              </a:rPr>
              <a:t>：</a:t>
            </a:r>
            <a:endParaRPr kumimoji="1" lang="zh-CN" altLang="en-US" sz="2000" dirty="0">
              <a:latin typeface="Times New Roman" panose="02020603050405020304" pitchFamily="18" charset="0"/>
            </a:endParaRPr>
          </a:p>
        </p:txBody>
      </p:sp>
      <p:graphicFrame>
        <p:nvGraphicFramePr>
          <p:cNvPr id="19" name="Object 39"/>
          <p:cNvGraphicFramePr>
            <a:graphicFrameLocks noChangeAspect="1"/>
          </p:cNvGraphicFramePr>
          <p:nvPr>
            <p:extLst>
              <p:ext uri="{D42A27DB-BD31-4B8C-83A1-F6EECF244321}">
                <p14:modId xmlns:p14="http://schemas.microsoft.com/office/powerpoint/2010/main" val="758806162"/>
              </p:ext>
            </p:extLst>
          </p:nvPr>
        </p:nvGraphicFramePr>
        <p:xfrm>
          <a:off x="3422742" y="1730279"/>
          <a:ext cx="3744913" cy="1716087"/>
        </p:xfrm>
        <a:graphic>
          <a:graphicData uri="http://schemas.openxmlformats.org/presentationml/2006/ole">
            <mc:AlternateContent xmlns:mc="http://schemas.openxmlformats.org/markup-compatibility/2006">
              <mc:Choice xmlns:v="urn:schemas-microsoft-com:vml" Requires="v">
                <p:oleObj name="Equation" r:id="rId3" imgW="1918335" imgH="871220" progId="Equation.DSMT4">
                  <p:embed/>
                </p:oleObj>
              </mc:Choice>
              <mc:Fallback>
                <p:oleObj name="Equation" r:id="rId3" imgW="1918335" imgH="871220" progId="Equation.DSMT4">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2742" y="1730279"/>
                        <a:ext cx="3744913"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1" name="Group 52"/>
          <p:cNvGrpSpPr/>
          <p:nvPr/>
        </p:nvGrpSpPr>
        <p:grpSpPr bwMode="auto">
          <a:xfrm>
            <a:off x="1354996" y="3683694"/>
            <a:ext cx="5862636" cy="550863"/>
            <a:chOff x="567" y="2299"/>
            <a:chExt cx="3693" cy="347"/>
          </a:xfrm>
        </p:grpSpPr>
        <p:sp>
          <p:nvSpPr>
            <p:cNvPr id="22" name="Rectangle 48"/>
            <p:cNvSpPr>
              <a:spLocks noChangeArrowheads="1"/>
            </p:cNvSpPr>
            <p:nvPr/>
          </p:nvSpPr>
          <p:spPr bwMode="auto">
            <a:xfrm>
              <a:off x="567" y="2333"/>
              <a:ext cx="118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sz="2000" dirty="0">
                  <a:latin typeface="微软雅黑" panose="020B0503020204020204" charset="-122"/>
                  <a:ea typeface="微软雅黑" panose="020B0503020204020204" charset="-122"/>
                  <a:cs typeface="Times New Roman" panose="02020603050405020304" pitchFamily="18" charset="0"/>
                </a:rPr>
                <a:t>解得</a:t>
              </a:r>
              <a:r>
                <a:rPr kumimoji="1" lang="en-US" altLang="zh-CN" sz="2000" dirty="0">
                  <a:latin typeface="微软雅黑" panose="020B0503020204020204" charset="-122"/>
                  <a:ea typeface="微软雅黑" panose="020B0503020204020204" charset="-122"/>
                  <a:cs typeface="Times New Roman" panose="02020603050405020304" pitchFamily="18" charset="0"/>
                </a:rPr>
                <a:t>p</a:t>
              </a:r>
              <a:r>
                <a:rPr kumimoji="1" lang="zh-CN" altLang="en-US" sz="2000" dirty="0">
                  <a:latin typeface="微软雅黑" panose="020B0503020204020204" charset="-122"/>
                  <a:ea typeface="微软雅黑" panose="020B0503020204020204" charset="-122"/>
                  <a:cs typeface="Times New Roman" panose="02020603050405020304" pitchFamily="18" charset="0"/>
                </a:rPr>
                <a:t>个特征根</a:t>
              </a:r>
            </a:p>
          </p:txBody>
        </p:sp>
        <p:graphicFrame>
          <p:nvGraphicFramePr>
            <p:cNvPr id="23" name="Object 46"/>
            <p:cNvGraphicFramePr>
              <a:graphicFrameLocks noChangeAspect="1"/>
            </p:cNvGraphicFramePr>
            <p:nvPr/>
          </p:nvGraphicFramePr>
          <p:xfrm>
            <a:off x="1739" y="2299"/>
            <a:ext cx="2521" cy="347"/>
          </p:xfrm>
          <a:graphic>
            <a:graphicData uri="http://schemas.openxmlformats.org/presentationml/2006/ole">
              <mc:AlternateContent xmlns:mc="http://schemas.openxmlformats.org/markup-compatibility/2006">
                <mc:Choice xmlns:v="urn:schemas-microsoft-com:vml" Requires="v">
                  <p:oleObj name="Equation" r:id="rId5" imgW="44805600" imgH="5791200" progId="Equation.DSMT4">
                    <p:embed/>
                  </p:oleObj>
                </mc:Choice>
                <mc:Fallback>
                  <p:oleObj name="Equation" r:id="rId5" imgW="44805600" imgH="5791200" progId="Equation.DSMT4">
                    <p:embed/>
                    <p:pic>
                      <p:nvPicPr>
                        <p:cNvPr id="0" name="Object 46"/>
                        <p:cNvPicPr>
                          <a:picLocks noChangeAspect="1" noChangeArrowheads="1"/>
                        </p:cNvPicPr>
                        <p:nvPr/>
                      </p:nvPicPr>
                      <p:blipFill>
                        <a:blip r:embed="rId6"/>
                        <a:srcRect/>
                        <a:stretch>
                          <a:fillRect/>
                        </a:stretch>
                      </p:blipFill>
                      <p:spPr bwMode="auto">
                        <a:xfrm>
                          <a:off x="1739" y="2299"/>
                          <a:ext cx="2521"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5" name="Group 60"/>
          <p:cNvGrpSpPr/>
          <p:nvPr/>
        </p:nvGrpSpPr>
        <p:grpSpPr bwMode="auto">
          <a:xfrm>
            <a:off x="1302920" y="4374261"/>
            <a:ext cx="3608388" cy="419100"/>
            <a:chOff x="249" y="2877"/>
            <a:chExt cx="2273" cy="264"/>
          </a:xfrm>
        </p:grpSpPr>
        <p:sp>
          <p:nvSpPr>
            <p:cNvPr id="35" name="Rectangle 56"/>
            <p:cNvSpPr>
              <a:spLocks noChangeArrowheads="1"/>
            </p:cNvSpPr>
            <p:nvPr/>
          </p:nvSpPr>
          <p:spPr bwMode="auto">
            <a:xfrm>
              <a:off x="249" y="2877"/>
              <a:ext cx="4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000" dirty="0">
                  <a:latin typeface="微软雅黑" panose="020B0503020204020204" charset="-122"/>
                  <a:ea typeface="微软雅黑" panose="020B0503020204020204" charset="-122"/>
                  <a:cs typeface="Times New Roman" panose="02020603050405020304" pitchFamily="18" charset="0"/>
                </a:rPr>
                <a:t>3. </a:t>
              </a:r>
              <a:r>
                <a:rPr kumimoji="1" lang="zh-CN" altLang="en-US" sz="2000" dirty="0">
                  <a:latin typeface="微软雅黑" panose="020B0503020204020204" charset="-122"/>
                  <a:ea typeface="微软雅黑" panose="020B0503020204020204" charset="-122"/>
                  <a:cs typeface="Times New Roman" panose="02020603050405020304" pitchFamily="18" charset="0"/>
                </a:rPr>
                <a:t>求</a:t>
              </a:r>
              <a:endParaRPr kumimoji="1" lang="zh-CN" altLang="en-US" sz="2000" dirty="0">
                <a:latin typeface="微软雅黑" panose="020B0503020204020204" charset="-122"/>
                <a:ea typeface="微软雅黑" panose="020B0503020204020204" charset="-122"/>
              </a:endParaRPr>
            </a:p>
          </p:txBody>
        </p:sp>
        <p:graphicFrame>
          <p:nvGraphicFramePr>
            <p:cNvPr id="37" name="Object 55"/>
            <p:cNvGraphicFramePr>
              <a:graphicFrameLocks noChangeAspect="1"/>
            </p:cNvGraphicFramePr>
            <p:nvPr/>
          </p:nvGraphicFramePr>
          <p:xfrm>
            <a:off x="640" y="2880"/>
            <a:ext cx="207" cy="261"/>
          </p:xfrm>
          <a:graphic>
            <a:graphicData uri="http://schemas.openxmlformats.org/presentationml/2006/ole">
              <mc:AlternateContent xmlns:mc="http://schemas.openxmlformats.org/markup-compatibility/2006">
                <mc:Choice xmlns:v="urn:schemas-microsoft-com:vml" Requires="v">
                  <p:oleObj name="公式" r:id="rId7" imgW="150495" imgH="197485" progId="Equation.3">
                    <p:embed/>
                  </p:oleObj>
                </mc:Choice>
                <mc:Fallback>
                  <p:oleObj name="公式" r:id="rId7" imgW="150495" imgH="197485" progId="Equation.3">
                    <p:embed/>
                    <p:pic>
                      <p:nvPicPr>
                        <p:cNvPr id="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 y="2880"/>
                          <a:ext cx="207" cy="261"/>
                        </a:xfrm>
                        <a:prstGeom prst="rect">
                          <a:avLst/>
                        </a:prstGeom>
                        <a:noFill/>
                        <a:ln>
                          <a:noFill/>
                        </a:ln>
                      </p:spPr>
                    </p:pic>
                  </p:oleObj>
                </mc:Fallback>
              </mc:AlternateContent>
            </a:graphicData>
          </a:graphic>
        </p:graphicFrame>
        <p:sp>
          <p:nvSpPr>
            <p:cNvPr id="38" name="Rectangle 57"/>
            <p:cNvSpPr>
              <a:spLocks noChangeArrowheads="1"/>
            </p:cNvSpPr>
            <p:nvPr/>
          </p:nvSpPr>
          <p:spPr bwMode="auto">
            <a:xfrm>
              <a:off x="790" y="2877"/>
              <a:ext cx="17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sz="2000" dirty="0">
                  <a:latin typeface="微软雅黑" panose="020B0503020204020204" charset="-122"/>
                  <a:ea typeface="微软雅黑" panose="020B0503020204020204" charset="-122"/>
                  <a:cs typeface="Times New Roman" panose="02020603050405020304" pitchFamily="18" charset="0"/>
                </a:rPr>
                <a:t>所对应的单位特征向量</a:t>
              </a:r>
              <a:endParaRPr kumimoji="1" lang="zh-CN" altLang="en-US" sz="2000" dirty="0">
                <a:latin typeface="微软雅黑" panose="020B0503020204020204" charset="-122"/>
                <a:ea typeface="微软雅黑" panose="020B0503020204020204" charset="-122"/>
              </a:endParaRPr>
            </a:p>
          </p:txBody>
        </p:sp>
      </p:grpSp>
      <p:sp>
        <p:nvSpPr>
          <p:cNvPr id="41" name="Rectangle 59"/>
          <p:cNvSpPr>
            <a:spLocks noChangeArrowheads="1"/>
          </p:cNvSpPr>
          <p:nvPr/>
        </p:nvSpPr>
        <p:spPr bwMode="auto">
          <a:xfrm>
            <a:off x="4677151" y="4917185"/>
            <a:ext cx="23336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1100"/>
              <a:t> </a:t>
            </a:r>
            <a:endParaRPr kumimoji="1" lang="en-US" altLang="zh-CN" sz="2400">
              <a:latin typeface="Times New Roman" panose="02020603050405020304" pitchFamily="18" charset="0"/>
            </a:endParaRPr>
          </a:p>
        </p:txBody>
      </p:sp>
      <p:graphicFrame>
        <p:nvGraphicFramePr>
          <p:cNvPr id="46" name="Object 62"/>
          <p:cNvGraphicFramePr>
            <a:graphicFrameLocks noChangeAspect="1"/>
          </p:cNvGraphicFramePr>
          <p:nvPr>
            <p:extLst>
              <p:ext uri="{D42A27DB-BD31-4B8C-83A1-F6EECF244321}">
                <p14:modId xmlns:p14="http://schemas.microsoft.com/office/powerpoint/2010/main" val="2506229302"/>
              </p:ext>
            </p:extLst>
          </p:nvPr>
        </p:nvGraphicFramePr>
        <p:xfrm>
          <a:off x="2033170" y="4898756"/>
          <a:ext cx="1849028" cy="369331"/>
        </p:xfrm>
        <a:graphic>
          <a:graphicData uri="http://schemas.openxmlformats.org/presentationml/2006/ole">
            <mc:AlternateContent xmlns:mc="http://schemas.openxmlformats.org/markup-compatibility/2006">
              <mc:Choice xmlns:v="urn:schemas-microsoft-com:vml" Requires="v">
                <p:oleObj name="Equation" r:id="rId9" imgW="23469600" imgH="5486400" progId="Equation.DSMT4">
                  <p:embed/>
                </p:oleObj>
              </mc:Choice>
              <mc:Fallback>
                <p:oleObj name="Equation" r:id="rId9" imgW="23469600" imgH="5486400" progId="Equation.DSMT4">
                  <p:embed/>
                  <p:pic>
                    <p:nvPicPr>
                      <p:cNvPr id="0" name="Object 62"/>
                      <p:cNvPicPr>
                        <a:picLocks noChangeAspect="1" noChangeArrowheads="1"/>
                      </p:cNvPicPr>
                      <p:nvPr/>
                    </p:nvPicPr>
                    <p:blipFill>
                      <a:blip r:embed="rId10"/>
                      <a:srcRect/>
                      <a:stretch>
                        <a:fillRect/>
                      </a:stretch>
                    </p:blipFill>
                    <p:spPr bwMode="auto">
                      <a:xfrm>
                        <a:off x="2033170" y="4898756"/>
                        <a:ext cx="1849028" cy="369331"/>
                      </a:xfrm>
                      <a:prstGeom prst="rect">
                        <a:avLst/>
                      </a:prstGeom>
                      <a:noFill/>
                      <a:ln>
                        <a:noFill/>
                      </a:ln>
                    </p:spPr>
                  </p:pic>
                </p:oleObj>
              </mc:Fallback>
            </mc:AlternateContent>
          </a:graphicData>
        </a:graphic>
      </p:graphicFrame>
      <p:sp>
        <p:nvSpPr>
          <p:cNvPr id="57" name="Rectangle 65"/>
          <p:cNvSpPr>
            <a:spLocks noChangeArrowheads="1"/>
          </p:cNvSpPr>
          <p:nvPr/>
        </p:nvSpPr>
        <p:spPr bwMode="auto">
          <a:xfrm>
            <a:off x="4732714" y="4699698"/>
            <a:ext cx="23336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1100"/>
              <a:t> </a:t>
            </a:r>
            <a:endParaRPr kumimoji="1" lang="en-US" altLang="zh-CN" sz="2400">
              <a:latin typeface="Times New Roman" panose="02020603050405020304" pitchFamily="18" charset="0"/>
            </a:endParaRPr>
          </a:p>
        </p:txBody>
      </p:sp>
      <p:graphicFrame>
        <p:nvGraphicFramePr>
          <p:cNvPr id="58" name="对象 57"/>
          <p:cNvGraphicFramePr>
            <a:graphicFrameLocks noChangeAspect="1"/>
          </p:cNvGraphicFramePr>
          <p:nvPr>
            <p:extLst>
              <p:ext uri="{D42A27DB-BD31-4B8C-83A1-F6EECF244321}">
                <p14:modId xmlns:p14="http://schemas.microsoft.com/office/powerpoint/2010/main" val="2846923992"/>
              </p:ext>
            </p:extLst>
          </p:nvPr>
        </p:nvGraphicFramePr>
        <p:xfrm>
          <a:off x="4797642" y="4358383"/>
          <a:ext cx="362658" cy="436576"/>
        </p:xfrm>
        <a:graphic>
          <a:graphicData uri="http://schemas.openxmlformats.org/presentationml/2006/ole">
            <mc:AlternateContent xmlns:mc="http://schemas.openxmlformats.org/markup-compatibility/2006">
              <mc:Choice xmlns:v="urn:schemas-microsoft-com:vml" Requires="v">
                <p:oleObj name="Equation" r:id="rId11" imgW="194310" imgH="233680" progId="Equation.DSMT4">
                  <p:embed/>
                </p:oleObj>
              </mc:Choice>
              <mc:Fallback>
                <p:oleObj name="Equation" r:id="rId11" imgW="194310" imgH="233680" progId="Equation.DSMT4">
                  <p:embed/>
                  <p:pic>
                    <p:nvPicPr>
                      <p:cNvPr id="0" name="图片 7"/>
                      <p:cNvPicPr/>
                      <p:nvPr/>
                    </p:nvPicPr>
                    <p:blipFill>
                      <a:blip r:embed="rId12"/>
                      <a:stretch>
                        <a:fillRect/>
                      </a:stretch>
                    </p:blipFill>
                    <p:spPr>
                      <a:xfrm>
                        <a:off x="4797642" y="4358383"/>
                        <a:ext cx="362658" cy="436576"/>
                      </a:xfrm>
                      <a:prstGeom prst="rect">
                        <a:avLst/>
                      </a:prstGeom>
                    </p:spPr>
                  </p:pic>
                </p:oleObj>
              </mc:Fallback>
            </mc:AlternateContent>
          </a:graphicData>
        </a:graphic>
      </p:graphicFrame>
      <p:sp>
        <p:nvSpPr>
          <p:cNvPr id="59" name="文本框 58"/>
          <p:cNvSpPr txBox="1"/>
          <p:nvPr/>
        </p:nvSpPr>
        <p:spPr>
          <a:xfrm>
            <a:off x="1451193" y="4879705"/>
            <a:ext cx="944880"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根据</a:t>
            </a:r>
          </a:p>
        </p:txBody>
      </p:sp>
      <p:sp>
        <p:nvSpPr>
          <p:cNvPr id="60" name="文本框 59"/>
          <p:cNvSpPr txBox="1"/>
          <p:nvPr/>
        </p:nvSpPr>
        <p:spPr>
          <a:xfrm>
            <a:off x="3833570" y="4879705"/>
            <a:ext cx="892209"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，求得</a:t>
            </a:r>
          </a:p>
        </p:txBody>
      </p:sp>
      <p:graphicFrame>
        <p:nvGraphicFramePr>
          <p:cNvPr id="61" name="对象 60"/>
          <p:cNvGraphicFramePr>
            <a:graphicFrameLocks noChangeAspect="1"/>
          </p:cNvGraphicFramePr>
          <p:nvPr>
            <p:extLst>
              <p:ext uri="{D42A27DB-BD31-4B8C-83A1-F6EECF244321}">
                <p14:modId xmlns:p14="http://schemas.microsoft.com/office/powerpoint/2010/main" val="1800256056"/>
              </p:ext>
            </p:extLst>
          </p:nvPr>
        </p:nvGraphicFramePr>
        <p:xfrm>
          <a:off x="4677151" y="4862694"/>
          <a:ext cx="2021109" cy="369331"/>
        </p:xfrm>
        <a:graphic>
          <a:graphicData uri="http://schemas.openxmlformats.org/presentationml/2006/ole">
            <mc:AlternateContent xmlns:mc="http://schemas.openxmlformats.org/markup-compatibility/2006">
              <mc:Choice xmlns:v="urn:schemas-microsoft-com:vml" Requires="v">
                <p:oleObj name="Equation" r:id="rId13" imgW="1327785" imgH="248285" progId="Equation.DSMT4">
                  <p:embed/>
                </p:oleObj>
              </mc:Choice>
              <mc:Fallback>
                <p:oleObj name="Equation" r:id="rId13" imgW="1327785" imgH="248285" progId="Equation.DSMT4">
                  <p:embed/>
                  <p:pic>
                    <p:nvPicPr>
                      <p:cNvPr id="0" name="图片 9"/>
                      <p:cNvPicPr/>
                      <p:nvPr/>
                    </p:nvPicPr>
                    <p:blipFill>
                      <a:blip r:embed="rId14"/>
                      <a:stretch>
                        <a:fillRect/>
                      </a:stretch>
                    </p:blipFill>
                    <p:spPr>
                      <a:xfrm>
                        <a:off x="4677151" y="4862694"/>
                        <a:ext cx="2021109" cy="369331"/>
                      </a:xfrm>
                      <a:prstGeom prst="rect">
                        <a:avLst/>
                      </a:prstGeom>
                    </p:spPr>
                  </p:pic>
                </p:oleObj>
              </mc:Fallback>
            </mc:AlternateContent>
          </a:graphicData>
        </a:graphic>
      </p:graphicFrame>
      <p:sp>
        <p:nvSpPr>
          <p:cNvPr id="63" name="Rectangle 56"/>
          <p:cNvSpPr>
            <a:spLocks noChangeArrowheads="1"/>
          </p:cNvSpPr>
          <p:nvPr/>
        </p:nvSpPr>
        <p:spPr bwMode="auto">
          <a:xfrm>
            <a:off x="1341973" y="5441032"/>
            <a:ext cx="2525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000" dirty="0">
                <a:latin typeface="微软雅黑" panose="020B0503020204020204" charset="-122"/>
                <a:ea typeface="微软雅黑" panose="020B0503020204020204" charset="-122"/>
                <a:cs typeface="Times New Roman" panose="02020603050405020304" pitchFamily="18" charset="0"/>
              </a:rPr>
              <a:t>4. </a:t>
            </a:r>
            <a:r>
              <a:rPr kumimoji="1" lang="zh-CN" altLang="en-US" sz="2000" dirty="0">
                <a:latin typeface="微软雅黑" panose="020B0503020204020204" charset="-122"/>
                <a:ea typeface="微软雅黑" panose="020B0503020204020204" charset="-122"/>
                <a:cs typeface="Times New Roman" panose="02020603050405020304" pitchFamily="18" charset="0"/>
              </a:rPr>
              <a:t>写出主成分表达式</a:t>
            </a:r>
            <a:endParaRPr kumimoji="1" lang="zh-CN" altLang="en-US" sz="2000" dirty="0">
              <a:latin typeface="微软雅黑" panose="020B0503020204020204" charset="-122"/>
              <a:ea typeface="微软雅黑" panose="020B0503020204020204" charset="-122"/>
            </a:endParaRPr>
          </a:p>
        </p:txBody>
      </p:sp>
      <p:graphicFrame>
        <p:nvGraphicFramePr>
          <p:cNvPr id="130" name="对象 129"/>
          <p:cNvGraphicFramePr>
            <a:graphicFrameLocks noChangeAspect="1"/>
          </p:cNvGraphicFramePr>
          <p:nvPr>
            <p:extLst>
              <p:ext uri="{D42A27DB-BD31-4B8C-83A1-F6EECF244321}">
                <p14:modId xmlns:p14="http://schemas.microsoft.com/office/powerpoint/2010/main" val="4247025288"/>
              </p:ext>
            </p:extLst>
          </p:nvPr>
        </p:nvGraphicFramePr>
        <p:xfrm>
          <a:off x="1531519" y="5892986"/>
          <a:ext cx="6291263" cy="566737"/>
        </p:xfrm>
        <a:graphic>
          <a:graphicData uri="http://schemas.openxmlformats.org/presentationml/2006/ole">
            <mc:AlternateContent xmlns:mc="http://schemas.openxmlformats.org/markup-compatibility/2006">
              <mc:Choice xmlns:v="urn:schemas-microsoft-com:vml" Requires="v">
                <p:oleObj name="Equation" r:id="rId15" imgW="6292850" imgH="568325" progId="Equation.DSMT4">
                  <p:embed/>
                </p:oleObj>
              </mc:Choice>
              <mc:Fallback>
                <p:oleObj name="Equation" r:id="rId15" imgW="6292850" imgH="568325" progId="Equation.DSMT4">
                  <p:embed/>
                  <p:pic>
                    <p:nvPicPr>
                      <p:cNvPr id="0" name="图片 10"/>
                      <p:cNvPicPr/>
                      <p:nvPr/>
                    </p:nvPicPr>
                    <p:blipFill>
                      <a:blip r:embed="rId16"/>
                      <a:stretch>
                        <a:fillRect/>
                      </a:stretch>
                    </p:blipFill>
                    <p:spPr>
                      <a:xfrm>
                        <a:off x="1531519" y="5892986"/>
                        <a:ext cx="6291263" cy="566737"/>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主成分个数</a:t>
            </a:r>
          </a:p>
        </p:txBody>
      </p:sp>
      <p:sp>
        <p:nvSpPr>
          <p:cNvPr id="6" name="TextBox 19"/>
          <p:cNvSpPr txBox="1"/>
          <p:nvPr/>
        </p:nvSpPr>
        <p:spPr>
          <a:xfrm>
            <a:off x="596227" y="1071509"/>
            <a:ext cx="6840199" cy="7530908"/>
          </a:xfrm>
          <a:prstGeom prst="rect">
            <a:avLst/>
          </a:prstGeom>
          <a:noFill/>
        </p:spPr>
        <p:txBody>
          <a:bodyPr wrap="square" rtlCol="0">
            <a:spAutoFit/>
          </a:bodyPr>
          <a:lstStyle/>
          <a:p>
            <a:pPr>
              <a:lnSpc>
                <a:spcPct val="150000"/>
              </a:lnSpc>
            </a:pPr>
            <a:r>
              <a:rPr lang="zh-CN" altLang="en-US" sz="2400" dirty="0">
                <a:solidFill>
                  <a:schemeClr val="accent1">
                    <a:lumMod val="75000"/>
                  </a:schemeClr>
                </a:solidFill>
                <a:latin typeface="微软雅黑" panose="020B0503020204020204" charset="-122"/>
                <a:ea typeface="微软雅黑" panose="020B0503020204020204" charset="-122"/>
              </a:rPr>
              <a:t>                   确定主成分个数</a:t>
            </a:r>
            <a:endParaRPr lang="en-US" altLang="zh-CN" sz="2400" b="1" dirty="0">
              <a:solidFill>
                <a:schemeClr val="accent1">
                  <a:lumMod val="75000"/>
                </a:schemeClr>
              </a:solidFill>
              <a:latin typeface="微软雅黑" panose="020B0503020204020204" charset="-122"/>
              <a:ea typeface="微软雅黑" panose="020B0503020204020204" charset="-122"/>
            </a:endParaRPr>
          </a:p>
          <a:p>
            <a:pPr>
              <a:lnSpc>
                <a:spcPct val="150000"/>
              </a:lnSpc>
            </a:pP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1</a:t>
            </a:r>
            <a:r>
              <a:rPr lang="zh-CN" altLang="en-US" sz="2000" b="1" dirty="0">
                <a:latin typeface="微软雅黑" panose="020B0503020204020204" charset="-122"/>
                <a:ea typeface="微软雅黑" panose="020B0503020204020204" charset="-122"/>
              </a:rPr>
              <a:t>）根据提取的主成分的累积方差贡献率</a:t>
            </a:r>
            <a:endParaRPr lang="en-US" altLang="zh-CN" sz="2000" b="1" dirty="0">
              <a:latin typeface="微软雅黑" panose="020B0503020204020204" charset="-122"/>
              <a:ea typeface="微软雅黑" panose="020B0503020204020204" charset="-122"/>
            </a:endParaRPr>
          </a:p>
          <a:p>
            <a:pPr>
              <a:lnSpc>
                <a:spcPct val="150000"/>
              </a:lnSpc>
            </a:pPr>
            <a:r>
              <a:rPr lang="en-US" altLang="zh-CN" sz="1800" dirty="0">
                <a:effectLst/>
                <a:latin typeface="微软雅黑" panose="020B0503020204020204" charset="-122"/>
                <a:ea typeface="微软雅黑" panose="020B0503020204020204" charset="-122"/>
                <a:cs typeface="Times New Roman" panose="02020603050405020304" pitchFamily="18" charset="0"/>
              </a:rPr>
              <a:t>    </a:t>
            </a:r>
          </a:p>
          <a:p>
            <a:pPr>
              <a:lnSpc>
                <a:spcPct val="150000"/>
              </a:lnSpc>
            </a:pPr>
            <a:r>
              <a:rPr lang="en-US" altLang="zh-CN" sz="1800" dirty="0">
                <a:effectLst/>
                <a:latin typeface="微软雅黑" panose="020B0503020204020204" charset="-122"/>
                <a:ea typeface="微软雅黑" panose="020B0503020204020204" charset="-122"/>
                <a:cs typeface="Times New Roman" panose="02020603050405020304" pitchFamily="18" charset="0"/>
              </a:rPr>
              <a:t>    </a:t>
            </a:r>
            <a:r>
              <a:rPr lang="zh-CN" altLang="zh-CN" sz="1800" dirty="0">
                <a:effectLst/>
                <a:latin typeface="微软雅黑" panose="020B0503020204020204" charset="-122"/>
                <a:ea typeface="微软雅黑" panose="020B0503020204020204" charset="-122"/>
                <a:cs typeface="Times New Roman" panose="02020603050405020304" pitchFamily="18" charset="0"/>
              </a:rPr>
              <a:t>根据累计贡献率来确定主成分的个数</a:t>
            </a:r>
            <a:r>
              <a:rPr lang="en-US" altLang="zh-CN" sz="1800" i="1" dirty="0">
                <a:effectLst/>
                <a:latin typeface="微软雅黑" panose="020B0503020204020204" charset="-122"/>
                <a:ea typeface="微软雅黑" panose="020B0503020204020204" charset="-122"/>
              </a:rPr>
              <a:t>m</a:t>
            </a:r>
            <a:r>
              <a:rPr lang="zh-CN" altLang="zh-CN" sz="1800" dirty="0">
                <a:effectLst/>
                <a:latin typeface="微软雅黑" panose="020B0503020204020204" charset="-122"/>
                <a:ea typeface="微软雅黑" panose="020B0503020204020204" charset="-122"/>
                <a:cs typeface="Times New Roman" panose="02020603050405020304" pitchFamily="18" charset="0"/>
              </a:rPr>
              <a:t>，一般需满足累计贡献率为</a:t>
            </a:r>
            <a:r>
              <a:rPr lang="en-US" altLang="zh-CN" sz="1800" dirty="0">
                <a:effectLst/>
                <a:latin typeface="微软雅黑" panose="020B0503020204020204" charset="-122"/>
                <a:ea typeface="微软雅黑" panose="020B0503020204020204" charset="-122"/>
              </a:rPr>
              <a:t>80%</a:t>
            </a:r>
            <a:r>
              <a:rPr lang="zh-CN" altLang="zh-CN" sz="1800" dirty="0">
                <a:effectLst/>
                <a:latin typeface="微软雅黑" panose="020B0503020204020204" charset="-122"/>
                <a:ea typeface="微软雅黑" panose="020B0503020204020204" charset="-122"/>
                <a:cs typeface="Times New Roman" panose="02020603050405020304" pitchFamily="18" charset="0"/>
              </a:rPr>
              <a:t>以上</a:t>
            </a:r>
            <a:r>
              <a:rPr lang="zh-CN" altLang="en-US" sz="1800" dirty="0">
                <a:effectLst/>
                <a:latin typeface="微软雅黑" panose="020B0503020204020204" charset="-122"/>
                <a:ea typeface="微软雅黑" panose="020B0503020204020204" charset="-122"/>
                <a:cs typeface="Times New Roman" panose="02020603050405020304" pitchFamily="18" charset="0"/>
              </a:rPr>
              <a:t>。</a:t>
            </a:r>
            <a:endParaRPr lang="en-US" altLang="zh-CN" sz="2000" b="1" dirty="0">
              <a:latin typeface="微软雅黑" panose="020B0503020204020204" charset="-122"/>
              <a:ea typeface="微软雅黑" panose="020B0503020204020204" charset="-122"/>
            </a:endParaRPr>
          </a:p>
          <a:p>
            <a:pPr>
              <a:lnSpc>
                <a:spcPct val="150000"/>
              </a:lnSpc>
            </a:pP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2</a:t>
            </a:r>
            <a:r>
              <a:rPr lang="zh-CN" altLang="en-US" sz="2000" b="1" dirty="0">
                <a:latin typeface="微软雅黑" panose="020B0503020204020204" charset="-122"/>
                <a:ea typeface="微软雅黑" panose="020B0503020204020204" charset="-122"/>
              </a:rPr>
              <a:t>）利用碎石图，即   和 </a:t>
            </a:r>
            <a:r>
              <a:rPr lang="en-US" altLang="zh-CN" sz="2000" b="1" i="1" dirty="0" err="1">
                <a:latin typeface="Times New Roman" panose="02020603050405020304" pitchFamily="18" charset="0"/>
                <a:ea typeface="微软雅黑" panose="020B0503020204020204" charset="-122"/>
                <a:cs typeface="Times New Roman" panose="02020603050405020304" pitchFamily="18" charset="0"/>
              </a:rPr>
              <a:t>i</a:t>
            </a:r>
            <a:r>
              <a:rPr lang="en-US" altLang="zh-CN" sz="2000" b="1" i="1" dirty="0">
                <a:latin typeface="Times New Roman" panose="02020603050405020304" pitchFamily="18" charset="0"/>
                <a:ea typeface="微软雅黑" panose="020B0503020204020204" charset="-122"/>
                <a:cs typeface="Times New Roman" panose="02020603050405020304" pitchFamily="18" charset="0"/>
              </a:rPr>
              <a:t> </a:t>
            </a:r>
            <a:r>
              <a:rPr lang="zh-CN" altLang="en-US" sz="2000" b="1" dirty="0">
                <a:latin typeface="微软雅黑" panose="020B0503020204020204" charset="-122"/>
                <a:ea typeface="微软雅黑" panose="020B0503020204020204" charset="-122"/>
              </a:rPr>
              <a:t>的关系图辅助进行。</a:t>
            </a:r>
            <a:endParaRPr lang="en-US" altLang="zh-CN" sz="2000" b="1" dirty="0">
              <a:latin typeface="微软雅黑" panose="020B0503020204020204" charset="-122"/>
              <a:ea typeface="微软雅黑" panose="020B0503020204020204" charset="-122"/>
            </a:endParaRPr>
          </a:p>
          <a:p>
            <a:pPr>
              <a:lnSpc>
                <a:spcPct val="150000"/>
              </a:lnSpc>
            </a:pP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3</a:t>
            </a:r>
            <a:r>
              <a:rPr lang="zh-CN" altLang="en-US" sz="2000" b="1" dirty="0">
                <a:latin typeface="微软雅黑" panose="020B0503020204020204" charset="-122"/>
                <a:ea typeface="微软雅黑" panose="020B0503020204020204" charset="-122"/>
              </a:rPr>
              <a:t>）根据特征值是否大于</a:t>
            </a:r>
            <a:r>
              <a:rPr lang="en-US" altLang="zh-CN" sz="2000" b="1" dirty="0">
                <a:latin typeface="微软雅黑" panose="020B0503020204020204" charset="-122"/>
                <a:ea typeface="微软雅黑" panose="020B0503020204020204" charset="-122"/>
              </a:rPr>
              <a:t>1</a:t>
            </a:r>
            <a:r>
              <a:rPr lang="zh-CN" altLang="en-US" sz="2000" b="1" dirty="0">
                <a:latin typeface="微软雅黑" panose="020B0503020204020204" charset="-122"/>
                <a:ea typeface="微软雅黑" panose="020B0503020204020204" charset="-122"/>
              </a:rPr>
              <a:t>，确定是否保留对应的主成分。</a:t>
            </a:r>
            <a:endParaRPr lang="en-US" altLang="zh-CN" sz="2000" b="1" dirty="0">
              <a:latin typeface="微软雅黑" panose="020B0503020204020204" charset="-122"/>
              <a:ea typeface="微软雅黑" panose="020B0503020204020204" charset="-122"/>
            </a:endParaRPr>
          </a:p>
          <a:p>
            <a:pPr>
              <a:lnSpc>
                <a:spcPct val="150000"/>
              </a:lnSpc>
            </a:pPr>
            <a:r>
              <a:rPr lang="en-US" altLang="zh-CN" sz="2000" dirty="0">
                <a:latin typeface="微软雅黑" panose="020B0503020204020204" charset="-122"/>
                <a:ea typeface="微软雅黑" panose="020B0503020204020204" charset="-122"/>
              </a:rPr>
              <a:t>   </a:t>
            </a:r>
            <a:endParaRPr lang="zh-CN" altLang="en-US" sz="2000" b="1" dirty="0">
              <a:latin typeface="微软雅黑" panose="020B0503020204020204" charset="-122"/>
              <a:ea typeface="微软雅黑" panose="020B0503020204020204" charset="-122"/>
            </a:endParaRPr>
          </a:p>
          <a:p>
            <a:pPr>
              <a:lnSpc>
                <a:spcPct val="150000"/>
              </a:lnSpc>
            </a:pPr>
            <a:endParaRPr lang="en-US" altLang="zh-CN" sz="2400" b="1" dirty="0">
              <a:solidFill>
                <a:srgbClr val="CC0066"/>
              </a:solidFill>
              <a:latin typeface="黑体" panose="02010609060101010101" charset="-122"/>
              <a:ea typeface="黑体" panose="02010609060101010101" charset="-122"/>
            </a:endParaRPr>
          </a:p>
          <a:p>
            <a:pPr>
              <a:lnSpc>
                <a:spcPct val="150000"/>
              </a:lnSpc>
            </a:pPr>
            <a:endParaRPr lang="en-US" altLang="zh-CN" sz="2400" b="1" dirty="0">
              <a:solidFill>
                <a:srgbClr val="CC0066"/>
              </a:solidFill>
              <a:latin typeface="黑体" panose="02010609060101010101" charset="-122"/>
              <a:ea typeface="黑体" panose="02010609060101010101" charset="-122"/>
            </a:endParaRPr>
          </a:p>
          <a:p>
            <a:pPr>
              <a:lnSpc>
                <a:spcPct val="150000"/>
              </a:lnSpc>
            </a:pPr>
            <a:endParaRPr lang="en-US" altLang="zh-CN" sz="2400" b="1" dirty="0">
              <a:solidFill>
                <a:srgbClr val="CC0066"/>
              </a:solidFill>
              <a:latin typeface="黑体" panose="02010609060101010101" charset="-122"/>
              <a:ea typeface="黑体" panose="02010609060101010101" charset="-122"/>
            </a:endParaRPr>
          </a:p>
          <a:p>
            <a:pPr>
              <a:lnSpc>
                <a:spcPct val="150000"/>
              </a:lnSpc>
            </a:pPr>
            <a:endParaRPr lang="en-US" altLang="zh-CN" sz="2400" b="1" dirty="0">
              <a:solidFill>
                <a:srgbClr val="CC0066"/>
              </a:solidFill>
              <a:latin typeface="黑体" panose="02010609060101010101" charset="-122"/>
              <a:ea typeface="黑体" panose="02010609060101010101" charset="-122"/>
            </a:endParaRPr>
          </a:p>
          <a:p>
            <a:pPr>
              <a:lnSpc>
                <a:spcPct val="150000"/>
              </a:lnSpc>
            </a:pPr>
            <a:endParaRPr lang="en-US" altLang="zh-CN" sz="2400" b="1" dirty="0">
              <a:solidFill>
                <a:srgbClr val="CC0066"/>
              </a:solidFill>
              <a:latin typeface="黑体" panose="02010609060101010101" charset="-122"/>
              <a:ea typeface="黑体" panose="02010609060101010101" charset="-122"/>
            </a:endParaRPr>
          </a:p>
          <a:p>
            <a:pPr>
              <a:lnSpc>
                <a:spcPct val="150000"/>
              </a:lnSpc>
            </a:pPr>
            <a:endParaRPr lang="en-US" altLang="zh-CN" sz="2400" b="1" dirty="0">
              <a:solidFill>
                <a:srgbClr val="CC0066"/>
              </a:solidFill>
              <a:latin typeface="黑体" panose="02010609060101010101" charset="-122"/>
              <a:ea typeface="黑体" panose="02010609060101010101" charset="-122"/>
            </a:endParaRPr>
          </a:p>
          <a:p>
            <a:pPr>
              <a:lnSpc>
                <a:spcPct val="150000"/>
              </a:lnSpc>
            </a:pPr>
            <a:endParaRPr lang="zh-CN" altLang="en-US" sz="2400" b="1" dirty="0">
              <a:solidFill>
                <a:srgbClr val="CC0066"/>
              </a:solidFill>
              <a:latin typeface="黑体" panose="02010609060101010101" charset="-122"/>
              <a:ea typeface="黑体" panose="02010609060101010101" charset="-122"/>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1880700571"/>
              </p:ext>
            </p:extLst>
          </p:nvPr>
        </p:nvGraphicFramePr>
        <p:xfrm>
          <a:off x="2401013" y="2111375"/>
          <a:ext cx="1543050" cy="469900"/>
        </p:xfrm>
        <a:graphic>
          <a:graphicData uri="http://schemas.openxmlformats.org/presentationml/2006/ole">
            <mc:AlternateContent xmlns:mc="http://schemas.openxmlformats.org/markup-compatibility/2006">
              <mc:Choice xmlns:v="urn:schemas-microsoft-com:vml" Requires="v">
                <p:oleObj name="Equation" r:id="rId3" imgW="24079200" imgH="7315200" progId="Equation.DSMT4">
                  <p:embed/>
                </p:oleObj>
              </mc:Choice>
              <mc:Fallback>
                <p:oleObj name="Equation" r:id="rId3" imgW="24079200" imgH="7315200" progId="Equation.DSMT4">
                  <p:embed/>
                  <p:pic>
                    <p:nvPicPr>
                      <p:cNvPr id="0" name="图片 3"/>
                      <p:cNvPicPr/>
                      <p:nvPr/>
                    </p:nvPicPr>
                    <p:blipFill>
                      <a:blip r:embed="rId4"/>
                      <a:stretch>
                        <a:fillRect/>
                      </a:stretch>
                    </p:blipFill>
                    <p:spPr>
                      <a:xfrm>
                        <a:off x="2401013" y="2111375"/>
                        <a:ext cx="1543050" cy="469900"/>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656020685"/>
              </p:ext>
            </p:extLst>
          </p:nvPr>
        </p:nvGraphicFramePr>
        <p:xfrm>
          <a:off x="3123008" y="3429000"/>
          <a:ext cx="252412" cy="378617"/>
        </p:xfrm>
        <a:graphic>
          <a:graphicData uri="http://schemas.openxmlformats.org/presentationml/2006/ole">
            <mc:AlternateContent xmlns:mc="http://schemas.openxmlformats.org/markup-compatibility/2006">
              <mc:Choice xmlns:v="urn:schemas-microsoft-com:vml" Requires="v">
                <p:oleObj name="Equation" r:id="rId5" imgW="155575" imgH="233680" progId="Equation.DSMT4">
                  <p:embed/>
                </p:oleObj>
              </mc:Choice>
              <mc:Fallback>
                <p:oleObj name="Equation" r:id="rId5" imgW="155575" imgH="233680" progId="Equation.DSMT4">
                  <p:embed/>
                  <p:pic>
                    <p:nvPicPr>
                      <p:cNvPr id="0" name="图片 7"/>
                      <p:cNvPicPr/>
                      <p:nvPr/>
                    </p:nvPicPr>
                    <p:blipFill>
                      <a:blip r:embed="rId6"/>
                      <a:stretch>
                        <a:fillRect/>
                      </a:stretch>
                    </p:blipFill>
                    <p:spPr>
                      <a:xfrm>
                        <a:off x="3123008" y="3429000"/>
                        <a:ext cx="252412" cy="378617"/>
                      </a:xfrm>
                      <a:prstGeom prst="rect">
                        <a:avLst/>
                      </a:prstGeom>
                    </p:spPr>
                  </p:pic>
                </p:oleObj>
              </mc:Fallback>
            </mc:AlternateContent>
          </a:graphicData>
        </a:graphic>
      </p:graphicFrame>
      <p:sp>
        <p:nvSpPr>
          <p:cNvPr id="27" name="文本框 26"/>
          <p:cNvSpPr txBox="1"/>
          <p:nvPr/>
        </p:nvSpPr>
        <p:spPr>
          <a:xfrm>
            <a:off x="742206" y="4836963"/>
            <a:ext cx="10646230" cy="1689052"/>
          </a:xfrm>
          <a:prstGeom prst="rect">
            <a:avLst/>
          </a:prstGeom>
          <a:noFill/>
        </p:spPr>
        <p:txBody>
          <a:bodyPr wrap="square">
            <a:spAutoFit/>
          </a:bodyPr>
          <a:lstStyle/>
          <a:p>
            <a:pPr>
              <a:lnSpc>
                <a:spcPct val="150000"/>
              </a:lnSpc>
            </a:pPr>
            <a:r>
              <a:rPr lang="en-US" altLang="zh-CN" sz="2400" dirty="0">
                <a:latin typeface="微软雅黑" panose="020B0503020204020204" charset="-122"/>
                <a:ea typeface="微软雅黑" panose="020B0503020204020204" charset="-122"/>
              </a:rPr>
              <a:t>    PCA</a:t>
            </a:r>
            <a:r>
              <a:rPr lang="zh-CN" altLang="en-US" sz="2400" dirty="0">
                <a:latin typeface="微软雅黑" panose="020B0503020204020204" charset="-122"/>
                <a:ea typeface="微软雅黑" panose="020B0503020204020204" charset="-122"/>
              </a:rPr>
              <a:t>算法</a:t>
            </a:r>
            <a:r>
              <a:rPr lang="zh-CN" altLang="zh-CN" sz="2400" dirty="0">
                <a:latin typeface="微软雅黑" panose="020B0503020204020204" charset="-122"/>
                <a:ea typeface="微软雅黑" panose="020B0503020204020204" charset="-122"/>
              </a:rPr>
              <a:t>目标是减少数据特征的个数</a:t>
            </a:r>
            <a:r>
              <a:rPr lang="zh-CN" altLang="en-US" sz="2400" dirty="0">
                <a:latin typeface="微软雅黑" panose="020B0503020204020204" charset="-122"/>
                <a:ea typeface="微软雅黑" panose="020B0503020204020204" charset="-122"/>
              </a:rPr>
              <a:t>，</a:t>
            </a:r>
            <a:r>
              <a:rPr lang="zh-CN" altLang="zh-CN" sz="2400" dirty="0">
                <a:latin typeface="微软雅黑" panose="020B0503020204020204" charset="-122"/>
                <a:ea typeface="微软雅黑" panose="020B0503020204020204" charset="-122"/>
              </a:rPr>
              <a:t>既能尽可能地保留原始数据的主要信息，又可以实现数据的降维</a:t>
            </a:r>
            <a:r>
              <a:rPr lang="zh-CN" altLang="en-US" sz="2400" dirty="0">
                <a:latin typeface="微软雅黑" panose="020B0503020204020204" charset="-122"/>
                <a:ea typeface="微软雅黑" panose="020B0503020204020204" charset="-122"/>
              </a:rPr>
              <a:t>，</a:t>
            </a:r>
            <a:r>
              <a:rPr lang="zh-CN" altLang="zh-CN" sz="2400" dirty="0">
                <a:latin typeface="微软雅黑" panose="020B0503020204020204" charset="-122"/>
                <a:ea typeface="微软雅黑" panose="020B0503020204020204" charset="-122"/>
              </a:rPr>
              <a:t>忽略带有较小方差的主成分将不会给数据的总方差带来太大的影响</a:t>
            </a:r>
            <a:r>
              <a:rPr lang="zh-CN" altLang="en-US" sz="2400" dirty="0">
                <a:latin typeface="微软雅黑" panose="020B0503020204020204" charset="-122"/>
                <a:ea typeface="微软雅黑" panose="020B0503020204020204"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1758F-CE6E-D5A0-EEEB-3A5A0EB3B1C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A2A6336-6751-9CA8-68DB-0C46C4C886E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实践案例：基于主成分分析的红酒数据集分析</a:t>
            </a:r>
          </a:p>
        </p:txBody>
      </p:sp>
      <p:pic>
        <p:nvPicPr>
          <p:cNvPr id="16" name="图片 15">
            <a:extLst>
              <a:ext uri="{FF2B5EF4-FFF2-40B4-BE49-F238E27FC236}">
                <a16:creationId xmlns:a16="http://schemas.microsoft.com/office/drawing/2014/main" id="{66515572-6B58-B898-4CB5-C2B69DD5FC56}"/>
              </a:ext>
            </a:extLst>
          </p:cNvPr>
          <p:cNvPicPr>
            <a:picLocks noChangeAspect="1"/>
          </p:cNvPicPr>
          <p:nvPr/>
        </p:nvPicPr>
        <p:blipFill>
          <a:blip r:embed="rId3"/>
          <a:stretch>
            <a:fillRect/>
          </a:stretch>
        </p:blipFill>
        <p:spPr>
          <a:xfrm>
            <a:off x="6247436" y="3176490"/>
            <a:ext cx="5495446" cy="2373663"/>
          </a:xfrm>
          <a:prstGeom prst="rect">
            <a:avLst/>
          </a:prstGeom>
        </p:spPr>
      </p:pic>
      <p:sp>
        <p:nvSpPr>
          <p:cNvPr id="19" name="文本框 18">
            <a:extLst>
              <a:ext uri="{FF2B5EF4-FFF2-40B4-BE49-F238E27FC236}">
                <a16:creationId xmlns:a16="http://schemas.microsoft.com/office/drawing/2014/main" id="{6FA997B1-09A2-8C2B-3396-81170769BA87}"/>
              </a:ext>
            </a:extLst>
          </p:cNvPr>
          <p:cNvSpPr txBox="1"/>
          <p:nvPr/>
        </p:nvSpPr>
        <p:spPr>
          <a:xfrm>
            <a:off x="467590" y="3244278"/>
            <a:ext cx="5760720" cy="1884618"/>
          </a:xfrm>
          <a:prstGeom prst="rect">
            <a:avLst/>
          </a:prstGeom>
          <a:noFill/>
        </p:spPr>
        <p:txBody>
          <a:bodyPr wrap="square">
            <a:spAutoFit/>
          </a:bodyPr>
          <a:lstStyle/>
          <a:p>
            <a:pPr>
              <a:lnSpc>
                <a:spcPct val="150000"/>
              </a:lnSpc>
            </a:pPr>
            <a:r>
              <a:rPr lang="zh-CN" altLang="zh-CN" sz="2000" kern="100" dirty="0">
                <a:solidFill>
                  <a:srgbClr val="000000"/>
                </a:solidFill>
                <a:effectLst/>
                <a:latin typeface="微软雅黑" panose="020B0503020204020204" charset="-122"/>
                <a:ea typeface="微软雅黑" panose="020B0503020204020204" charset="-122"/>
                <a:cs typeface="Times New Roman" panose="02020603050405020304" pitchFamily="18" charset="0"/>
              </a:rPr>
              <a:t>该数据集一共有</a:t>
            </a:r>
            <a:r>
              <a:rPr lang="en-US" altLang="zh-CN" sz="2000" kern="100" dirty="0">
                <a:solidFill>
                  <a:srgbClr val="000000"/>
                </a:solidFill>
                <a:effectLst/>
                <a:latin typeface="微软雅黑" panose="020B0503020204020204" charset="-122"/>
                <a:ea typeface="微软雅黑" panose="020B0503020204020204" charset="-122"/>
              </a:rPr>
              <a:t>1599</a:t>
            </a:r>
            <a:r>
              <a:rPr lang="zh-CN" altLang="zh-CN" sz="2000" kern="100" dirty="0">
                <a:solidFill>
                  <a:srgbClr val="000000"/>
                </a:solidFill>
                <a:effectLst/>
                <a:latin typeface="微软雅黑" panose="020B0503020204020204" charset="-122"/>
                <a:ea typeface="微软雅黑" panose="020B0503020204020204" charset="-122"/>
                <a:cs typeface="Times New Roman" panose="02020603050405020304" pitchFamily="18" charset="0"/>
              </a:rPr>
              <a:t>个样本，</a:t>
            </a:r>
            <a:r>
              <a:rPr lang="en-US" altLang="zh-CN" sz="2000" kern="100" dirty="0">
                <a:solidFill>
                  <a:srgbClr val="000000"/>
                </a:solidFill>
                <a:effectLst/>
                <a:latin typeface="微软雅黑" panose="020B0503020204020204" charset="-122"/>
                <a:ea typeface="微软雅黑" panose="020B0503020204020204" charset="-122"/>
              </a:rPr>
              <a:t>12</a:t>
            </a:r>
            <a:r>
              <a:rPr lang="zh-CN" altLang="zh-CN" sz="2000" kern="100" dirty="0">
                <a:solidFill>
                  <a:srgbClr val="000000"/>
                </a:solidFill>
                <a:effectLst/>
                <a:latin typeface="微软雅黑" panose="020B0503020204020204" charset="-122"/>
                <a:ea typeface="微软雅黑" panose="020B0503020204020204" charset="-122"/>
                <a:cs typeface="Times New Roman" panose="02020603050405020304" pitchFamily="18" charset="0"/>
              </a:rPr>
              <a:t>个特征指标，包括红酒的理化性质与品质得分，可用于探索葡萄酒的特征、了解不同品种和产地的差异、分析葡萄酒的质量等任务</a:t>
            </a:r>
            <a:r>
              <a:rPr lang="zh-CN" altLang="zh-CN" kern="100" dirty="0">
                <a:solidFill>
                  <a:srgbClr val="000000"/>
                </a:solidFill>
                <a:effectLst/>
                <a:latin typeface="微软雅黑" panose="020B0503020204020204" charset="-122"/>
                <a:ea typeface="微软雅黑" panose="020B0503020204020204" charset="-122"/>
                <a:cs typeface="Times New Roman" panose="02020603050405020304" pitchFamily="18" charset="0"/>
              </a:rPr>
              <a:t>。</a:t>
            </a:r>
            <a:endParaRPr lang="zh-CN" altLang="en-US" dirty="0">
              <a:latin typeface="微软雅黑" panose="020B0503020204020204" charset="-122"/>
              <a:ea typeface="微软雅黑" panose="020B0503020204020204" charset="-122"/>
            </a:endParaRPr>
          </a:p>
        </p:txBody>
      </p:sp>
      <p:pic>
        <p:nvPicPr>
          <p:cNvPr id="23" name="图片 22">
            <a:extLst>
              <a:ext uri="{FF2B5EF4-FFF2-40B4-BE49-F238E27FC236}">
                <a16:creationId xmlns:a16="http://schemas.microsoft.com/office/drawing/2014/main" id="{89331068-BE8C-B173-C25C-60BB9E3EBAD6}"/>
              </a:ext>
            </a:extLst>
          </p:cNvPr>
          <p:cNvPicPr>
            <a:picLocks noChangeAspect="1"/>
          </p:cNvPicPr>
          <p:nvPr/>
        </p:nvPicPr>
        <p:blipFill>
          <a:blip r:embed="rId4"/>
          <a:stretch>
            <a:fillRect/>
          </a:stretch>
        </p:blipFill>
        <p:spPr>
          <a:xfrm>
            <a:off x="587664" y="5787077"/>
            <a:ext cx="9516918" cy="822725"/>
          </a:xfrm>
          <a:prstGeom prst="rect">
            <a:avLst/>
          </a:prstGeom>
        </p:spPr>
      </p:pic>
      <p:sp>
        <p:nvSpPr>
          <p:cNvPr id="22" name="文本框 21"/>
          <p:cNvSpPr txBox="1"/>
          <p:nvPr/>
        </p:nvSpPr>
        <p:spPr>
          <a:xfrm>
            <a:off x="449118" y="1112622"/>
            <a:ext cx="11465791" cy="1826910"/>
          </a:xfrm>
          <a:prstGeom prst="rect">
            <a:avLst/>
          </a:prstGeom>
          <a:noFill/>
        </p:spPr>
        <p:txBody>
          <a:bodyPr wrap="square">
            <a:spAutoFit/>
          </a:bodyPr>
          <a:lstStyle/>
          <a:p>
            <a:pPr indent="304800" algn="just">
              <a:lnSpc>
                <a:spcPct val="125000"/>
              </a:lnSpc>
              <a:tabLst>
                <a:tab pos="304800" algn="l"/>
              </a:tabLst>
            </a:pPr>
            <a:r>
              <a:rPr lang="zh-CN" altLang="zh-CN" sz="2000" b="1" kern="100" dirty="0">
                <a:effectLst/>
                <a:latin typeface="微软雅黑" panose="020B0503020204020204" charset="-122"/>
                <a:ea typeface="微软雅黑" panose="020B0503020204020204" charset="-122"/>
                <a:cs typeface="Times New Roman" panose="02020603050405020304" pitchFamily="18" charset="0"/>
              </a:rPr>
              <a:t>数据处理。</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由于葡萄酒数据通常具有不同的尺度和单位，为避免一些变量对主成分分析结果的影响过大，需要对原始数据进行标准化处理。</a:t>
            </a:r>
            <a:endParaRPr lang="en-US" altLang="zh-CN" sz="2000" kern="100" dirty="0">
              <a:effectLst/>
              <a:latin typeface="微软雅黑" panose="020B0503020204020204" charset="-122"/>
              <a:ea typeface="微软雅黑" panose="020B0503020204020204" charset="-122"/>
              <a:cs typeface="Times New Roman" panose="02020603050405020304" pitchFamily="18" charset="0"/>
            </a:endParaRPr>
          </a:p>
          <a:p>
            <a:pPr indent="304800" algn="just">
              <a:lnSpc>
                <a:spcPct val="125000"/>
              </a:lnSpc>
              <a:tabLst>
                <a:tab pos="304800" algn="l"/>
              </a:tabLst>
            </a:pPr>
            <a:endParaRPr lang="zh-CN" altLang="zh-CN" sz="1200" kern="100" dirty="0">
              <a:effectLst/>
              <a:latin typeface="微软雅黑" panose="020B0503020204020204" charset="-122"/>
              <a:ea typeface="微软雅黑" panose="020B0503020204020204" charset="-122"/>
              <a:cs typeface="Times New Roman" panose="02020603050405020304" pitchFamily="18" charset="0"/>
            </a:endParaRPr>
          </a:p>
          <a:p>
            <a:pPr indent="304800" algn="just">
              <a:lnSpc>
                <a:spcPct val="125000"/>
              </a:lnSpc>
              <a:tabLst>
                <a:tab pos="304800" algn="l"/>
              </a:tabLst>
            </a:pPr>
            <a:r>
              <a:rPr lang="zh-CN" altLang="zh-CN" sz="2000" b="1" kern="100" dirty="0">
                <a:effectLst/>
                <a:latin typeface="微软雅黑" panose="020B0503020204020204" charset="-122"/>
                <a:ea typeface="微软雅黑" panose="020B0503020204020204" charset="-122"/>
                <a:cs typeface="Times New Roman" panose="02020603050405020304" pitchFamily="18" charset="0"/>
              </a:rPr>
              <a:t>模型构建。</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PCA</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算法可通过</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Scikit-learn</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中</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decomposition</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模块的</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PCA</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函数实现</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a:t>
            </a:r>
            <a:r>
              <a:rPr lang="zh-CN" altLang="zh-CN" sz="2000" kern="100" dirty="0">
                <a:latin typeface="微软雅黑" panose="020B0503020204020204" charset="-122"/>
                <a:ea typeface="微软雅黑" panose="020B0503020204020204" charset="-122"/>
                <a:cs typeface="Times New Roman" panose="02020603050405020304" pitchFamily="18" charset="0"/>
              </a:rPr>
              <a:t>创建</a:t>
            </a:r>
            <a:r>
              <a:rPr lang="en-US" altLang="zh-CN" sz="2000" kern="100" dirty="0">
                <a:latin typeface="微软雅黑" panose="020B0503020204020204" charset="-122"/>
                <a:ea typeface="微软雅黑" panose="020B0503020204020204" charset="-122"/>
                <a:cs typeface="Times New Roman" panose="02020603050405020304" pitchFamily="18" charset="0"/>
              </a:rPr>
              <a:t>PCA</a:t>
            </a:r>
            <a:r>
              <a:rPr lang="zh-CN" altLang="zh-CN" sz="2000" kern="100" dirty="0">
                <a:latin typeface="微软雅黑" panose="020B0503020204020204" charset="-122"/>
                <a:ea typeface="微软雅黑" panose="020B0503020204020204" charset="-122"/>
                <a:cs typeface="Times New Roman" panose="02020603050405020304" pitchFamily="18" charset="0"/>
              </a:rPr>
              <a:t>对象并指定降维的维数，然后拟合数据并对数据进行转换。</a:t>
            </a:r>
          </a:p>
        </p:txBody>
      </p:sp>
    </p:spTree>
    <p:extLst>
      <p:ext uri="{BB962C8B-B14F-4D97-AF65-F5344CB8AC3E}">
        <p14:creationId xmlns:p14="http://schemas.microsoft.com/office/powerpoint/2010/main" val="5005986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实践案例：基于主成分分析的红酒数据集分析</a:t>
            </a:r>
          </a:p>
        </p:txBody>
      </p:sp>
      <p:pic>
        <p:nvPicPr>
          <p:cNvPr id="4" name="图片 3"/>
          <p:cNvPicPr>
            <a:picLocks noChangeAspect="1"/>
          </p:cNvPicPr>
          <p:nvPr/>
        </p:nvPicPr>
        <p:blipFill>
          <a:blip r:embed="rId3"/>
          <a:srcRect t="7268"/>
          <a:stretch>
            <a:fillRect/>
          </a:stretch>
        </p:blipFill>
        <p:spPr>
          <a:xfrm>
            <a:off x="0" y="1345943"/>
            <a:ext cx="5479255" cy="2569802"/>
          </a:xfrm>
          <a:prstGeom prst="rect">
            <a:avLst/>
          </a:prstGeom>
        </p:spPr>
      </p:pic>
      <p:pic>
        <p:nvPicPr>
          <p:cNvPr id="5" name="图片 4"/>
          <p:cNvPicPr>
            <a:picLocks noChangeAspect="1"/>
          </p:cNvPicPr>
          <p:nvPr/>
        </p:nvPicPr>
        <p:blipFill>
          <a:blip r:embed="rId4"/>
          <a:srcRect r="9657" b="60164"/>
          <a:stretch>
            <a:fillRect/>
          </a:stretch>
        </p:blipFill>
        <p:spPr>
          <a:xfrm>
            <a:off x="-1" y="4428727"/>
            <a:ext cx="5479256" cy="1519911"/>
          </a:xfrm>
          <a:prstGeom prst="rect">
            <a:avLst/>
          </a:prstGeom>
        </p:spPr>
      </p:pic>
      <p:pic>
        <p:nvPicPr>
          <p:cNvPr id="6" name="图片 5"/>
          <p:cNvPicPr>
            <a:picLocks noChangeAspect="1"/>
          </p:cNvPicPr>
          <p:nvPr/>
        </p:nvPicPr>
        <p:blipFill>
          <a:blip r:embed="rId5"/>
          <a:stretch>
            <a:fillRect/>
          </a:stretch>
        </p:blipFill>
        <p:spPr>
          <a:xfrm>
            <a:off x="5655836" y="1074378"/>
            <a:ext cx="3808203" cy="3112933"/>
          </a:xfrm>
          <a:prstGeom prst="rect">
            <a:avLst/>
          </a:prstGeom>
        </p:spPr>
      </p:pic>
      <p:sp>
        <p:nvSpPr>
          <p:cNvPr id="10" name="文本框 9"/>
          <p:cNvSpPr txBox="1"/>
          <p:nvPr/>
        </p:nvSpPr>
        <p:spPr>
          <a:xfrm>
            <a:off x="5655836" y="4428728"/>
            <a:ext cx="6096000" cy="1788310"/>
          </a:xfrm>
          <a:prstGeom prst="rect">
            <a:avLst/>
          </a:prstGeom>
          <a:noFill/>
        </p:spPr>
        <p:txBody>
          <a:bodyPr wrap="square">
            <a:spAutoFit/>
          </a:bodyPr>
          <a:lstStyle/>
          <a:p>
            <a:pPr indent="304800" algn="just">
              <a:lnSpc>
                <a:spcPct val="125000"/>
              </a:lnSpc>
              <a:spcBef>
                <a:spcPts val="600"/>
              </a:spcBef>
              <a:spcAft>
                <a:spcPts val="600"/>
              </a:spcAft>
              <a:tabLst>
                <a:tab pos="304800" algn="l"/>
              </a:tabLst>
            </a:pPr>
            <a:r>
              <a:rPr lang="zh-CN" altLang="zh-CN" sz="1800" kern="100" dirty="0">
                <a:effectLst/>
                <a:latin typeface="微软雅黑" panose="020B0503020204020204" charset="-122"/>
                <a:ea typeface="微软雅黑" panose="020B0503020204020204" charset="-122"/>
                <a:cs typeface="Times New Roman" panose="02020603050405020304" pitchFamily="18" charset="0"/>
              </a:rPr>
              <a:t>红酒数据集在最大主成分（</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PC1</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）和次大主成分（</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PC2</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），不同品种或产地的红酒样本之间存在明显的聚类。</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PCA</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算法有助于将高维的红酒特征数据转换为较低维数的表示，便于在低维空间中进行可视化展示，从而更好地理解数据的结构和关系。</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实践案例：基于主成分分析的红酒数据集分析</a:t>
            </a:r>
          </a:p>
        </p:txBody>
      </p:sp>
      <p:grpSp>
        <p:nvGrpSpPr>
          <p:cNvPr id="8" name="Group 86"/>
          <p:cNvGrpSpPr/>
          <p:nvPr/>
        </p:nvGrpSpPr>
        <p:grpSpPr bwMode="auto">
          <a:xfrm>
            <a:off x="433368" y="3029659"/>
            <a:ext cx="6408278" cy="2628999"/>
            <a:chOff x="432" y="1296"/>
            <a:chExt cx="4451" cy="2208"/>
          </a:xfrm>
        </p:grpSpPr>
        <p:grpSp>
          <p:nvGrpSpPr>
            <p:cNvPr id="9" name="Group 80"/>
            <p:cNvGrpSpPr/>
            <p:nvPr/>
          </p:nvGrpSpPr>
          <p:grpSpPr bwMode="auto">
            <a:xfrm>
              <a:off x="3552" y="1671"/>
              <a:ext cx="1331" cy="1401"/>
              <a:chOff x="3469" y="1959"/>
              <a:chExt cx="1331" cy="1401"/>
            </a:xfrm>
          </p:grpSpPr>
          <p:sp>
            <p:nvSpPr>
              <p:cNvPr id="48" name="椭圆 16"/>
              <p:cNvSpPr>
                <a:spLocks noChangeArrowheads="1"/>
              </p:cNvSpPr>
              <p:nvPr/>
            </p:nvSpPr>
            <p:spPr bwMode="auto">
              <a:xfrm>
                <a:off x="4275" y="2330"/>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49" name="椭圆 17"/>
              <p:cNvSpPr>
                <a:spLocks noChangeArrowheads="1"/>
              </p:cNvSpPr>
              <p:nvPr/>
            </p:nvSpPr>
            <p:spPr bwMode="auto">
              <a:xfrm>
                <a:off x="4275" y="2463"/>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0" name="椭圆 18"/>
              <p:cNvSpPr>
                <a:spLocks noChangeArrowheads="1"/>
              </p:cNvSpPr>
              <p:nvPr/>
            </p:nvSpPr>
            <p:spPr bwMode="auto">
              <a:xfrm>
                <a:off x="4384" y="2396"/>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1" name="椭圆 19"/>
              <p:cNvSpPr>
                <a:spLocks noChangeArrowheads="1"/>
              </p:cNvSpPr>
              <p:nvPr/>
            </p:nvSpPr>
            <p:spPr bwMode="auto">
              <a:xfrm>
                <a:off x="4428" y="2263"/>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2" name="椭圆 20"/>
              <p:cNvSpPr>
                <a:spLocks noChangeArrowheads="1"/>
              </p:cNvSpPr>
              <p:nvPr/>
            </p:nvSpPr>
            <p:spPr bwMode="auto">
              <a:xfrm>
                <a:off x="4188" y="2496"/>
                <a:ext cx="43"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3" name="椭圆 21"/>
              <p:cNvSpPr>
                <a:spLocks noChangeArrowheads="1"/>
              </p:cNvSpPr>
              <p:nvPr/>
            </p:nvSpPr>
            <p:spPr bwMode="auto">
              <a:xfrm>
                <a:off x="4275" y="2596"/>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4" name="椭圆 22"/>
              <p:cNvSpPr>
                <a:spLocks noChangeArrowheads="1"/>
              </p:cNvSpPr>
              <p:nvPr/>
            </p:nvSpPr>
            <p:spPr bwMode="auto">
              <a:xfrm>
                <a:off x="4188" y="2629"/>
                <a:ext cx="43"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5" name="椭圆 23"/>
              <p:cNvSpPr>
                <a:spLocks noChangeArrowheads="1"/>
              </p:cNvSpPr>
              <p:nvPr/>
            </p:nvSpPr>
            <p:spPr bwMode="auto">
              <a:xfrm>
                <a:off x="4384" y="2529"/>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6" name="椭圆 24"/>
              <p:cNvSpPr>
                <a:spLocks noChangeArrowheads="1"/>
              </p:cNvSpPr>
              <p:nvPr/>
            </p:nvSpPr>
            <p:spPr bwMode="auto">
              <a:xfrm>
                <a:off x="4363" y="2130"/>
                <a:ext cx="43"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7" name="椭圆 25"/>
              <p:cNvSpPr>
                <a:spLocks noChangeArrowheads="1"/>
              </p:cNvSpPr>
              <p:nvPr/>
            </p:nvSpPr>
            <p:spPr bwMode="auto">
              <a:xfrm>
                <a:off x="4363" y="2263"/>
                <a:ext cx="43"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8" name="椭圆 26"/>
              <p:cNvSpPr>
                <a:spLocks noChangeArrowheads="1"/>
              </p:cNvSpPr>
              <p:nvPr/>
            </p:nvSpPr>
            <p:spPr bwMode="auto">
              <a:xfrm>
                <a:off x="4516" y="2130"/>
                <a:ext cx="43"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59" name="椭圆 27"/>
              <p:cNvSpPr>
                <a:spLocks noChangeArrowheads="1"/>
              </p:cNvSpPr>
              <p:nvPr/>
            </p:nvSpPr>
            <p:spPr bwMode="auto">
              <a:xfrm>
                <a:off x="4537" y="2330"/>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60" name="椭圆 28"/>
              <p:cNvSpPr>
                <a:spLocks noChangeArrowheads="1"/>
              </p:cNvSpPr>
              <p:nvPr/>
            </p:nvSpPr>
            <p:spPr bwMode="auto">
              <a:xfrm>
                <a:off x="4625" y="2197"/>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61" name="椭圆 29"/>
              <p:cNvSpPr>
                <a:spLocks noChangeArrowheads="1"/>
              </p:cNvSpPr>
              <p:nvPr/>
            </p:nvSpPr>
            <p:spPr bwMode="auto">
              <a:xfrm>
                <a:off x="4472" y="2463"/>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62" name="椭圆 30"/>
              <p:cNvSpPr>
                <a:spLocks noChangeArrowheads="1"/>
              </p:cNvSpPr>
              <p:nvPr/>
            </p:nvSpPr>
            <p:spPr bwMode="auto">
              <a:xfrm>
                <a:off x="3903" y="2662"/>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63" name="椭圆 31"/>
              <p:cNvSpPr>
                <a:spLocks noChangeArrowheads="1"/>
              </p:cNvSpPr>
              <p:nvPr/>
            </p:nvSpPr>
            <p:spPr bwMode="auto">
              <a:xfrm>
                <a:off x="3903" y="2795"/>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28" name="椭圆 32"/>
              <p:cNvSpPr>
                <a:spLocks noChangeArrowheads="1"/>
              </p:cNvSpPr>
              <p:nvPr/>
            </p:nvSpPr>
            <p:spPr bwMode="auto">
              <a:xfrm>
                <a:off x="4013" y="2729"/>
                <a:ext cx="43"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29" name="椭圆 33"/>
              <p:cNvSpPr>
                <a:spLocks noChangeArrowheads="1"/>
              </p:cNvSpPr>
              <p:nvPr/>
            </p:nvSpPr>
            <p:spPr bwMode="auto">
              <a:xfrm>
                <a:off x="4056" y="2596"/>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0" name="椭圆 34"/>
              <p:cNvSpPr>
                <a:spLocks noChangeArrowheads="1"/>
              </p:cNvSpPr>
              <p:nvPr/>
            </p:nvSpPr>
            <p:spPr bwMode="auto">
              <a:xfrm>
                <a:off x="3816" y="2828"/>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1" name="椭圆 35"/>
              <p:cNvSpPr>
                <a:spLocks noChangeArrowheads="1"/>
              </p:cNvSpPr>
              <p:nvPr/>
            </p:nvSpPr>
            <p:spPr bwMode="auto">
              <a:xfrm>
                <a:off x="3903" y="2928"/>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2" name="椭圆 36"/>
              <p:cNvSpPr>
                <a:spLocks noChangeArrowheads="1"/>
              </p:cNvSpPr>
              <p:nvPr/>
            </p:nvSpPr>
            <p:spPr bwMode="auto">
              <a:xfrm>
                <a:off x="3816" y="2961"/>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3" name="椭圆 37"/>
              <p:cNvSpPr>
                <a:spLocks noChangeArrowheads="1"/>
              </p:cNvSpPr>
              <p:nvPr/>
            </p:nvSpPr>
            <p:spPr bwMode="auto">
              <a:xfrm>
                <a:off x="4013" y="2862"/>
                <a:ext cx="43"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4" name="椭圆 38"/>
              <p:cNvSpPr>
                <a:spLocks noChangeArrowheads="1"/>
              </p:cNvSpPr>
              <p:nvPr/>
            </p:nvSpPr>
            <p:spPr bwMode="auto">
              <a:xfrm>
                <a:off x="3991" y="2463"/>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5" name="椭圆 39"/>
              <p:cNvSpPr>
                <a:spLocks noChangeArrowheads="1"/>
              </p:cNvSpPr>
              <p:nvPr/>
            </p:nvSpPr>
            <p:spPr bwMode="auto">
              <a:xfrm>
                <a:off x="3991" y="2596"/>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6" name="椭圆 40"/>
              <p:cNvSpPr>
                <a:spLocks noChangeArrowheads="1"/>
              </p:cNvSpPr>
              <p:nvPr/>
            </p:nvSpPr>
            <p:spPr bwMode="auto">
              <a:xfrm>
                <a:off x="4144" y="2463"/>
                <a:ext cx="44"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7" name="椭圆 41"/>
              <p:cNvSpPr>
                <a:spLocks noChangeArrowheads="1"/>
              </p:cNvSpPr>
              <p:nvPr/>
            </p:nvSpPr>
            <p:spPr bwMode="auto">
              <a:xfrm>
                <a:off x="4166" y="2662"/>
                <a:ext cx="43"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8" name="椭圆 42"/>
              <p:cNvSpPr>
                <a:spLocks noChangeArrowheads="1"/>
              </p:cNvSpPr>
              <p:nvPr/>
            </p:nvSpPr>
            <p:spPr bwMode="auto">
              <a:xfrm>
                <a:off x="4253" y="2529"/>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39" name="椭圆 43"/>
              <p:cNvSpPr>
                <a:spLocks noChangeArrowheads="1"/>
              </p:cNvSpPr>
              <p:nvPr/>
            </p:nvSpPr>
            <p:spPr bwMode="auto">
              <a:xfrm>
                <a:off x="4100" y="2795"/>
                <a:ext cx="44" cy="67"/>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sp>
            <p:nvSpPr>
              <p:cNvPr id="140" name="椭圆 44"/>
              <p:cNvSpPr>
                <a:spLocks noChangeArrowheads="1"/>
              </p:cNvSpPr>
              <p:nvPr/>
            </p:nvSpPr>
            <p:spPr bwMode="auto">
              <a:xfrm>
                <a:off x="4188" y="2363"/>
                <a:ext cx="43" cy="66"/>
              </a:xfrm>
              <a:prstGeom prst="ellipse">
                <a:avLst/>
              </a:prstGeom>
              <a:solidFill>
                <a:srgbClr val="0000FF"/>
              </a:solidFill>
              <a:ln w="25400" algn="ctr">
                <a:solidFill>
                  <a:srgbClr val="0000FF"/>
                </a:solidFill>
                <a:round/>
              </a:ln>
            </p:spPr>
            <p:txBody>
              <a:bodyPr anchor="ctr"/>
              <a:lstStyle/>
              <a:p>
                <a:pPr algn="ctr">
                  <a:defRPr/>
                </a:pPr>
                <a:endParaRPr lang="zh-CN" altLang="en-US">
                  <a:solidFill>
                    <a:schemeClr val="lt1"/>
                  </a:solidFill>
                  <a:latin typeface="+mn-lt"/>
                  <a:ea typeface="+mn-ea"/>
                </a:endParaRPr>
              </a:p>
            </p:txBody>
          </p:sp>
          <p:cxnSp>
            <p:nvCxnSpPr>
              <p:cNvPr id="141" name="直接箭头连接符 47"/>
              <p:cNvCxnSpPr/>
              <p:nvPr/>
            </p:nvCxnSpPr>
            <p:spPr>
              <a:xfrm flipV="1">
                <a:off x="3469" y="1959"/>
                <a:ext cx="1331" cy="1401"/>
              </a:xfrm>
              <a:prstGeom prst="straightConnector1">
                <a:avLst/>
              </a:prstGeom>
              <a:ln>
                <a:solidFill>
                  <a:srgbClr val="FF0000"/>
                </a:solidFill>
                <a:tailEnd type="arrow"/>
              </a:ln>
            </p:spPr>
            <p:style>
              <a:lnRef idx="3">
                <a:schemeClr val="accent1"/>
              </a:lnRef>
              <a:fillRef idx="0">
                <a:schemeClr val="accent1"/>
              </a:fillRef>
              <a:effectRef idx="2">
                <a:schemeClr val="accent1"/>
              </a:effectRef>
              <a:fontRef idx="minor">
                <a:schemeClr val="tx1"/>
              </a:fontRef>
            </p:style>
          </p:cxnSp>
          <p:cxnSp>
            <p:nvCxnSpPr>
              <p:cNvPr id="142" name="直接箭头连接符 48"/>
              <p:cNvCxnSpPr/>
              <p:nvPr/>
            </p:nvCxnSpPr>
            <p:spPr>
              <a:xfrm rot="16200000" flipV="1">
                <a:off x="3790" y="2238"/>
                <a:ext cx="582" cy="600"/>
              </a:xfrm>
              <a:prstGeom prst="straightConnector1">
                <a:avLst/>
              </a:prstGeom>
              <a:ln>
                <a:solidFill>
                  <a:srgbClr val="FF0000"/>
                </a:solidFill>
                <a:tailEnd type="arrow"/>
              </a:ln>
            </p:spPr>
            <p:style>
              <a:lnRef idx="3">
                <a:schemeClr val="accent1"/>
              </a:lnRef>
              <a:fillRef idx="0">
                <a:schemeClr val="accent1"/>
              </a:fillRef>
              <a:effectRef idx="2">
                <a:schemeClr val="accent1"/>
              </a:effectRef>
              <a:fontRef idx="minor">
                <a:schemeClr val="tx1"/>
              </a:fontRef>
            </p:style>
          </p:cxnSp>
        </p:grpSp>
        <p:grpSp>
          <p:nvGrpSpPr>
            <p:cNvPr id="11" name="Group 83"/>
            <p:cNvGrpSpPr/>
            <p:nvPr/>
          </p:nvGrpSpPr>
          <p:grpSpPr bwMode="auto">
            <a:xfrm>
              <a:off x="432" y="1296"/>
              <a:ext cx="2448" cy="2208"/>
              <a:chOff x="432" y="1296"/>
              <a:chExt cx="2448" cy="2208"/>
            </a:xfrm>
          </p:grpSpPr>
          <p:grpSp>
            <p:nvGrpSpPr>
              <p:cNvPr id="13" name="Group 79"/>
              <p:cNvGrpSpPr/>
              <p:nvPr/>
            </p:nvGrpSpPr>
            <p:grpSpPr bwMode="auto">
              <a:xfrm rot="-5131942">
                <a:off x="1174" y="1946"/>
                <a:ext cx="853" cy="898"/>
                <a:chOff x="1313" y="1742"/>
                <a:chExt cx="853" cy="898"/>
              </a:xfrm>
            </p:grpSpPr>
            <p:sp>
              <p:nvSpPr>
                <p:cNvPr id="19" name="椭圆 18"/>
                <p:cNvSpPr>
                  <a:spLocks noChangeArrowheads="1"/>
                </p:cNvSpPr>
                <p:nvPr/>
              </p:nvSpPr>
              <p:spPr bwMode="auto">
                <a:xfrm>
                  <a:off x="1772" y="1942"/>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0" name="椭圆 19"/>
                <p:cNvSpPr>
                  <a:spLocks noChangeArrowheads="1"/>
                </p:cNvSpPr>
                <p:nvPr/>
              </p:nvSpPr>
              <p:spPr bwMode="auto">
                <a:xfrm>
                  <a:off x="1772" y="2075"/>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1" name="椭圆 20"/>
                <p:cNvSpPr>
                  <a:spLocks noChangeArrowheads="1"/>
                </p:cNvSpPr>
                <p:nvPr/>
              </p:nvSpPr>
              <p:spPr bwMode="auto">
                <a:xfrm>
                  <a:off x="1881" y="2008"/>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2" name="椭圆 21"/>
                <p:cNvSpPr>
                  <a:spLocks noChangeArrowheads="1"/>
                </p:cNvSpPr>
                <p:nvPr/>
              </p:nvSpPr>
              <p:spPr bwMode="auto">
                <a:xfrm>
                  <a:off x="1925" y="1875"/>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3" name="椭圆 22"/>
                <p:cNvSpPr>
                  <a:spLocks noChangeArrowheads="1"/>
                </p:cNvSpPr>
                <p:nvPr/>
              </p:nvSpPr>
              <p:spPr bwMode="auto">
                <a:xfrm>
                  <a:off x="1685" y="2108"/>
                  <a:ext cx="43"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4" name="椭圆 23"/>
                <p:cNvSpPr>
                  <a:spLocks noChangeArrowheads="1"/>
                </p:cNvSpPr>
                <p:nvPr/>
              </p:nvSpPr>
              <p:spPr bwMode="auto">
                <a:xfrm>
                  <a:off x="1772" y="2208"/>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5" name="椭圆 24"/>
                <p:cNvSpPr>
                  <a:spLocks noChangeArrowheads="1"/>
                </p:cNvSpPr>
                <p:nvPr/>
              </p:nvSpPr>
              <p:spPr bwMode="auto">
                <a:xfrm>
                  <a:off x="1685" y="2241"/>
                  <a:ext cx="43"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6" name="椭圆 25"/>
                <p:cNvSpPr>
                  <a:spLocks noChangeArrowheads="1"/>
                </p:cNvSpPr>
                <p:nvPr/>
              </p:nvSpPr>
              <p:spPr bwMode="auto">
                <a:xfrm>
                  <a:off x="1881" y="2141"/>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7" name="椭圆 26"/>
                <p:cNvSpPr>
                  <a:spLocks noChangeArrowheads="1"/>
                </p:cNvSpPr>
                <p:nvPr/>
              </p:nvSpPr>
              <p:spPr bwMode="auto">
                <a:xfrm>
                  <a:off x="1860" y="1742"/>
                  <a:ext cx="43"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8" name="椭圆 27"/>
                <p:cNvSpPr>
                  <a:spLocks noChangeArrowheads="1"/>
                </p:cNvSpPr>
                <p:nvPr/>
              </p:nvSpPr>
              <p:spPr bwMode="auto">
                <a:xfrm>
                  <a:off x="1860" y="1875"/>
                  <a:ext cx="43"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29" name="椭圆 28"/>
                <p:cNvSpPr>
                  <a:spLocks noChangeArrowheads="1"/>
                </p:cNvSpPr>
                <p:nvPr/>
              </p:nvSpPr>
              <p:spPr bwMode="auto">
                <a:xfrm>
                  <a:off x="2013" y="1742"/>
                  <a:ext cx="43"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0" name="椭圆 29"/>
                <p:cNvSpPr>
                  <a:spLocks noChangeArrowheads="1"/>
                </p:cNvSpPr>
                <p:nvPr/>
              </p:nvSpPr>
              <p:spPr bwMode="auto">
                <a:xfrm>
                  <a:off x="2034" y="1942"/>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1" name="椭圆 30"/>
                <p:cNvSpPr>
                  <a:spLocks noChangeArrowheads="1"/>
                </p:cNvSpPr>
                <p:nvPr/>
              </p:nvSpPr>
              <p:spPr bwMode="auto">
                <a:xfrm>
                  <a:off x="2122" y="1809"/>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2" name="椭圆 31"/>
                <p:cNvSpPr>
                  <a:spLocks noChangeArrowheads="1"/>
                </p:cNvSpPr>
                <p:nvPr/>
              </p:nvSpPr>
              <p:spPr bwMode="auto">
                <a:xfrm>
                  <a:off x="1969" y="2075"/>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3" name="椭圆 32"/>
                <p:cNvSpPr>
                  <a:spLocks noChangeArrowheads="1"/>
                </p:cNvSpPr>
                <p:nvPr/>
              </p:nvSpPr>
              <p:spPr bwMode="auto">
                <a:xfrm>
                  <a:off x="1400" y="2274"/>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4" name="椭圆 33"/>
                <p:cNvSpPr>
                  <a:spLocks noChangeArrowheads="1"/>
                </p:cNvSpPr>
                <p:nvPr/>
              </p:nvSpPr>
              <p:spPr bwMode="auto">
                <a:xfrm>
                  <a:off x="1400" y="2407"/>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5" name="椭圆 34"/>
                <p:cNvSpPr>
                  <a:spLocks noChangeArrowheads="1"/>
                </p:cNvSpPr>
                <p:nvPr/>
              </p:nvSpPr>
              <p:spPr bwMode="auto">
                <a:xfrm>
                  <a:off x="1510" y="2341"/>
                  <a:ext cx="43"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6" name="椭圆 35"/>
                <p:cNvSpPr>
                  <a:spLocks noChangeArrowheads="1"/>
                </p:cNvSpPr>
                <p:nvPr/>
              </p:nvSpPr>
              <p:spPr bwMode="auto">
                <a:xfrm>
                  <a:off x="1553" y="2208"/>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7" name="椭圆 36"/>
                <p:cNvSpPr>
                  <a:spLocks noChangeArrowheads="1"/>
                </p:cNvSpPr>
                <p:nvPr/>
              </p:nvSpPr>
              <p:spPr bwMode="auto">
                <a:xfrm>
                  <a:off x="1313" y="2440"/>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8" name="椭圆 37"/>
                <p:cNvSpPr>
                  <a:spLocks noChangeArrowheads="1"/>
                </p:cNvSpPr>
                <p:nvPr/>
              </p:nvSpPr>
              <p:spPr bwMode="auto">
                <a:xfrm>
                  <a:off x="1400" y="2540"/>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39" name="椭圆 38"/>
                <p:cNvSpPr>
                  <a:spLocks noChangeArrowheads="1"/>
                </p:cNvSpPr>
                <p:nvPr/>
              </p:nvSpPr>
              <p:spPr bwMode="auto">
                <a:xfrm>
                  <a:off x="1313" y="2573"/>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0" name="椭圆 39"/>
                <p:cNvSpPr>
                  <a:spLocks noChangeArrowheads="1"/>
                </p:cNvSpPr>
                <p:nvPr/>
              </p:nvSpPr>
              <p:spPr bwMode="auto">
                <a:xfrm>
                  <a:off x="1510" y="2474"/>
                  <a:ext cx="43"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1" name="椭圆 40"/>
                <p:cNvSpPr>
                  <a:spLocks noChangeArrowheads="1"/>
                </p:cNvSpPr>
                <p:nvPr/>
              </p:nvSpPr>
              <p:spPr bwMode="auto">
                <a:xfrm>
                  <a:off x="1488" y="2075"/>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2" name="椭圆 41"/>
                <p:cNvSpPr>
                  <a:spLocks noChangeArrowheads="1"/>
                </p:cNvSpPr>
                <p:nvPr/>
              </p:nvSpPr>
              <p:spPr bwMode="auto">
                <a:xfrm>
                  <a:off x="1488" y="2208"/>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3" name="椭圆 42"/>
                <p:cNvSpPr>
                  <a:spLocks noChangeArrowheads="1"/>
                </p:cNvSpPr>
                <p:nvPr/>
              </p:nvSpPr>
              <p:spPr bwMode="auto">
                <a:xfrm>
                  <a:off x="1641" y="2075"/>
                  <a:ext cx="44"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4" name="椭圆 43"/>
                <p:cNvSpPr>
                  <a:spLocks noChangeArrowheads="1"/>
                </p:cNvSpPr>
                <p:nvPr/>
              </p:nvSpPr>
              <p:spPr bwMode="auto">
                <a:xfrm>
                  <a:off x="1663" y="2274"/>
                  <a:ext cx="43"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5" name="椭圆 44"/>
                <p:cNvSpPr>
                  <a:spLocks noChangeArrowheads="1"/>
                </p:cNvSpPr>
                <p:nvPr/>
              </p:nvSpPr>
              <p:spPr bwMode="auto">
                <a:xfrm>
                  <a:off x="1750" y="2141"/>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6" name="椭圆 45"/>
                <p:cNvSpPr>
                  <a:spLocks noChangeArrowheads="1"/>
                </p:cNvSpPr>
                <p:nvPr/>
              </p:nvSpPr>
              <p:spPr bwMode="auto">
                <a:xfrm>
                  <a:off x="1597" y="2407"/>
                  <a:ext cx="44" cy="67"/>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sp>
              <p:nvSpPr>
                <p:cNvPr id="47" name="椭圆 46"/>
                <p:cNvSpPr>
                  <a:spLocks noChangeArrowheads="1"/>
                </p:cNvSpPr>
                <p:nvPr/>
              </p:nvSpPr>
              <p:spPr bwMode="auto">
                <a:xfrm>
                  <a:off x="1685" y="1975"/>
                  <a:ext cx="43" cy="66"/>
                </a:xfrm>
                <a:prstGeom prst="ellipse">
                  <a:avLst/>
                </a:prstGeom>
                <a:solidFill>
                  <a:srgbClr val="0000FF"/>
                </a:solidFill>
                <a:ln w="25400" algn="ctr">
                  <a:solidFill>
                    <a:srgbClr val="0000FF"/>
                  </a:solidFill>
                  <a:round/>
                </a:ln>
              </p:spPr>
              <p:txBody>
                <a:bodyPr vert="eaVert" anchor="ctr"/>
                <a:lstStyle/>
                <a:p>
                  <a:pPr algn="ctr">
                    <a:defRPr/>
                  </a:pPr>
                  <a:endParaRPr lang="zh-CN" altLang="en-US">
                    <a:solidFill>
                      <a:schemeClr val="lt1"/>
                    </a:solidFill>
                    <a:latin typeface="+mn-lt"/>
                    <a:ea typeface="+mn-ea"/>
                  </a:endParaRPr>
                </a:p>
              </p:txBody>
            </p:sp>
          </p:grpSp>
          <p:grpSp>
            <p:nvGrpSpPr>
              <p:cNvPr id="14" name="Group 82"/>
              <p:cNvGrpSpPr/>
              <p:nvPr/>
            </p:nvGrpSpPr>
            <p:grpSpPr bwMode="auto">
              <a:xfrm>
                <a:off x="432" y="1296"/>
                <a:ext cx="2448" cy="2208"/>
                <a:chOff x="432" y="1344"/>
                <a:chExt cx="2448" cy="2208"/>
              </a:xfrm>
            </p:grpSpPr>
            <p:cxnSp>
              <p:nvCxnSpPr>
                <p:cNvPr id="16" name="直接箭头连接符 15"/>
                <p:cNvCxnSpPr>
                  <a:cxnSpLocks noChangeShapeType="1"/>
                </p:cNvCxnSpPr>
                <p:nvPr/>
              </p:nvCxnSpPr>
              <p:spPr bwMode="auto">
                <a:xfrm flipH="1" flipV="1">
                  <a:off x="960" y="1344"/>
                  <a:ext cx="6" cy="1628"/>
                </a:xfrm>
                <a:prstGeom prst="straightConnector1">
                  <a:avLst/>
                </a:prstGeom>
                <a:noFill/>
                <a:ln w="38100" algn="ctr">
                  <a:solidFill>
                    <a:schemeClr val="tx1"/>
                  </a:solidFill>
                  <a:round/>
                  <a:tailEnd type="arrow" w="med" len="med"/>
                </a:ln>
                <a:effectLst>
                  <a:outerShdw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17" name="直接箭头连接符 16"/>
                <p:cNvCxnSpPr>
                  <a:cxnSpLocks noChangeShapeType="1"/>
                </p:cNvCxnSpPr>
                <p:nvPr/>
              </p:nvCxnSpPr>
              <p:spPr bwMode="auto">
                <a:xfrm>
                  <a:off x="960" y="2976"/>
                  <a:ext cx="1920" cy="0"/>
                </a:xfrm>
                <a:prstGeom prst="straightConnector1">
                  <a:avLst/>
                </a:prstGeom>
                <a:noFill/>
                <a:ln w="38100" algn="ctr">
                  <a:solidFill>
                    <a:schemeClr val="tx1"/>
                  </a:solidFill>
                  <a:round/>
                  <a:tailEnd type="arrow" w="med" len="med"/>
                </a:ln>
                <a:effectLst>
                  <a:outerShdw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18" name="直接箭头连接符 48"/>
                <p:cNvCxnSpPr>
                  <a:cxnSpLocks noChangeShapeType="1"/>
                </p:cNvCxnSpPr>
                <p:nvPr/>
              </p:nvCxnSpPr>
              <p:spPr bwMode="auto">
                <a:xfrm flipH="1">
                  <a:off x="432" y="2976"/>
                  <a:ext cx="528" cy="576"/>
                </a:xfrm>
                <a:prstGeom prst="straightConnector1">
                  <a:avLst/>
                </a:prstGeom>
                <a:noFill/>
                <a:ln w="38100" algn="ctr">
                  <a:solidFill>
                    <a:schemeClr val="tx1"/>
                  </a:solidFill>
                  <a:round/>
                  <a:tailEnd type="arrow" w="med" len="med"/>
                </a:ln>
                <a:effectLst>
                  <a:outerShdw dist="23000" dir="5400000" rotWithShape="0">
                    <a:srgbClr val="000000">
                      <a:alpha val="34999"/>
                    </a:srgbClr>
                  </a:outerShdw>
                </a:effectLst>
                <a:extLst>
                  <a:ext uri="{909E8E84-426E-40DD-AFC4-6F175D3DCCD1}">
                    <a14:hiddenFill xmlns:a14="http://schemas.microsoft.com/office/drawing/2010/main">
                      <a:noFill/>
                    </a14:hiddenFill>
                  </a:ext>
                </a:extLst>
              </p:spPr>
            </p:cxnSp>
          </p:grpSp>
          <p:sp>
            <p:nvSpPr>
              <p:cNvPr id="15" name="AutoShape 78"/>
              <p:cNvSpPr>
                <a:spLocks noChangeArrowheads="1"/>
              </p:cNvSpPr>
              <p:nvPr/>
            </p:nvSpPr>
            <p:spPr bwMode="auto">
              <a:xfrm rot="-8542549">
                <a:off x="457" y="1961"/>
                <a:ext cx="2413" cy="967"/>
              </a:xfrm>
              <a:prstGeom prst="parallelogram">
                <a:avLst>
                  <a:gd name="adj" fmla="val 62384"/>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 name="AutoShape 81"/>
            <p:cNvSpPr>
              <a:spLocks noChangeArrowheads="1"/>
            </p:cNvSpPr>
            <p:nvPr/>
          </p:nvSpPr>
          <p:spPr bwMode="auto">
            <a:xfrm>
              <a:off x="2832" y="2160"/>
              <a:ext cx="615" cy="306"/>
            </a:xfrm>
            <a:prstGeom prst="rightArrow">
              <a:avLst>
                <a:gd name="adj1" fmla="val 50000"/>
                <a:gd name="adj2" fmla="val 5024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5" name="文本框 144"/>
          <p:cNvSpPr txBox="1"/>
          <p:nvPr/>
        </p:nvSpPr>
        <p:spPr>
          <a:xfrm>
            <a:off x="321727" y="1159736"/>
            <a:ext cx="11297617" cy="1211357"/>
          </a:xfrm>
          <a:prstGeom prst="rect">
            <a:avLst/>
          </a:prstGeom>
          <a:noFill/>
        </p:spPr>
        <p:txBody>
          <a:bodyPr wrap="square">
            <a:spAutoFit/>
          </a:bodyPr>
          <a:lstStyle/>
          <a:p>
            <a:pPr indent="304800" algn="just">
              <a:lnSpc>
                <a:spcPct val="125000"/>
              </a:lnSpc>
            </a:pPr>
            <a:r>
              <a:rPr lang="zh-CN" altLang="zh-CN" sz="2000" kern="100" dirty="0">
                <a:effectLst/>
                <a:latin typeface="微软雅黑" panose="020B0503020204020204" charset="-122"/>
                <a:ea typeface="微软雅黑" panose="020B0503020204020204" charset="-122"/>
                <a:cs typeface="Times New Roman" panose="02020603050405020304" pitchFamily="18" charset="0"/>
              </a:rPr>
              <a:t>原始数据的低方差主成分中通常存在噪声，</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PCA</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算法保留高方差的主成分并过滤掉较小方差的主成分，能够有效地去除噪声并保留数据的主要特征。</a:t>
            </a:r>
            <a:r>
              <a:rPr lang="en-US" altLang="zh-CN" sz="2000" kern="100" dirty="0">
                <a:effectLst/>
                <a:latin typeface="微软雅黑" panose="020B0503020204020204" charset="-122"/>
                <a:ea typeface="微软雅黑" panose="020B0503020204020204" charset="-122"/>
                <a:cs typeface="Times New Roman" panose="02020603050405020304" pitchFamily="18" charset="0"/>
              </a:rPr>
              <a:t>PCA</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算法常用于特征工程、图像处理、数据压缩和模式识别等领域。</a:t>
            </a:r>
          </a:p>
        </p:txBody>
      </p:sp>
      <p:sp>
        <p:nvSpPr>
          <p:cNvPr id="147" name="文本框 146"/>
          <p:cNvSpPr txBox="1"/>
          <p:nvPr/>
        </p:nvSpPr>
        <p:spPr>
          <a:xfrm>
            <a:off x="7290845" y="2708625"/>
            <a:ext cx="4472106" cy="2813847"/>
          </a:xfrm>
          <a:prstGeom prst="rect">
            <a:avLst/>
          </a:prstGeom>
          <a:noFill/>
        </p:spPr>
        <p:txBody>
          <a:bodyPr wrap="square">
            <a:spAutoFit/>
          </a:bodyPr>
          <a:lstStyle/>
          <a:p>
            <a:pPr>
              <a:lnSpc>
                <a:spcPct val="150000"/>
              </a:lnSpc>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PCA</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算法适用于变量间有较强相关性的数据，如果原始数据相关性较弱时，方差小的成分可能含有影响样本差异的重要信息，降维丢弃可能对后续数据处理有影响，这时主成分分析算法就不能起到很好的降维效果。</a:t>
            </a: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1700</TotalTime>
  <Words>829</Words>
  <Application>Microsoft Office PowerPoint</Application>
  <PresentationFormat>宽屏</PresentationFormat>
  <Paragraphs>116</Paragraphs>
  <Slides>14</Slides>
  <Notes>14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14</vt:i4>
      </vt:variant>
    </vt:vector>
  </HeadingPairs>
  <TitlesOfParts>
    <vt:vector size="28" baseType="lpstr">
      <vt:lpstr>等线</vt:lpstr>
      <vt:lpstr>黑体</vt:lpstr>
      <vt:lpstr>华光综艺_CNKI</vt:lpstr>
      <vt:lpstr>华文琥珀</vt:lpstr>
      <vt:lpstr>楷体</vt:lpstr>
      <vt:lpstr>宋体</vt:lpstr>
      <vt:lpstr>微软雅黑</vt:lpstr>
      <vt:lpstr>Arial</vt:lpstr>
      <vt:lpstr>Calibri</vt:lpstr>
      <vt:lpstr>Times New Roman</vt:lpstr>
      <vt:lpstr>Wingdings</vt:lpstr>
      <vt:lpstr>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wy h</dc:creator>
  <cp:lastModifiedBy>Mengning Wang</cp:lastModifiedBy>
  <cp:revision>188</cp:revision>
  <dcterms:created xsi:type="dcterms:W3CDTF">2019-06-19T02:08:00Z</dcterms:created>
  <dcterms:modified xsi:type="dcterms:W3CDTF">2025-04-18T14:46:34Z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