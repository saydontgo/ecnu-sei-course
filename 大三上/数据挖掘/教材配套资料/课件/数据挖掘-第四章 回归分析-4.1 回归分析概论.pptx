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6">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9"/>
  </p:notesMasterIdLst>
  <p:handoutMasterIdLst>
    <p:handoutMasterId r:id="rId30"/>
  </p:handoutMasterIdLst>
  <p:sldIdLst>
    <p:sldId id="15638" r:id="rId13"/>
    <p:sldId id="15666" r:id="rId14"/>
    <p:sldId id="15667" r:id="rId15"/>
    <p:sldId id="15514" r:id="rId16"/>
    <p:sldId id="15668" r:id="rId17"/>
    <p:sldId id="15774" r:id="rId18"/>
    <p:sldId id="15665" r:id="rId19"/>
    <p:sldId id="15671" r:id="rId20"/>
    <p:sldId id="15670" r:id="rId21"/>
    <p:sldId id="15673" r:id="rId22"/>
    <p:sldId id="15775" r:id="rId23"/>
    <p:sldId id="15675" r:id="rId24"/>
    <p:sldId id="15672" r:id="rId25"/>
    <p:sldId id="15772" r:id="rId26"/>
    <p:sldId id="15773" r:id="rId27"/>
    <p:sldId id="15502" r:id="rId28"/>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8"/>
            <p14:sldId id="15666"/>
            <p14:sldId id="15667"/>
            <p14:sldId id="15514"/>
            <p14:sldId id="15668"/>
            <p14:sldId id="15774"/>
            <p14:sldId id="15665"/>
            <p14:sldId id="15671"/>
            <p14:sldId id="15670"/>
            <p14:sldId id="15673"/>
            <p14:sldId id="15775"/>
            <p14:sldId id="15675"/>
            <p14:sldId id="15672"/>
            <p14:sldId id="15772"/>
            <p14:sldId id="15773"/>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8BD5"/>
    <a:srgbClr val="E77500"/>
    <a:srgbClr val="0066FF"/>
    <a:srgbClr val="033BA7"/>
    <a:srgbClr val="FFFFFF"/>
    <a:srgbClr val="FD5C0C"/>
    <a:srgbClr val="7EA4EE"/>
    <a:srgbClr val="00FF00"/>
    <a:srgbClr val="F6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923" autoAdjust="0"/>
    <p:restoredTop sz="78121" autoAdjust="0"/>
  </p:normalViewPr>
  <p:slideViewPr>
    <p:cSldViewPr snapToGrid="0">
      <p:cViewPr varScale="1">
        <p:scale>
          <a:sx n="72" d="100"/>
          <a:sy n="72" d="100"/>
        </p:scale>
        <p:origin x="67" y="538"/>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C050B-425D-91B9-52C1-DF7AD6AF77F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10B16F-555A-EB7F-A2E3-945C166679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1BBC3F-47D0-C942-FAE4-D8552D15F6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DEFD67C-4196-2C12-C986-8A6C05C333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81950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3A8D4-6DC4-893B-2974-FF9962D8B5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D97CA6-A49A-DC6D-8DA8-FD068D0F2D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245238-F57B-8067-3818-5D0B201D00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当时的“线性”和“回归”只是上述研究得出的两个方面的结论，与线形关系拟合的一般规则无关。</a:t>
            </a:r>
            <a:endParaRPr lang="zh-CN" altLang="en-US" sz="1800" u="sng" dirty="0"/>
          </a:p>
        </p:txBody>
      </p:sp>
      <p:sp>
        <p:nvSpPr>
          <p:cNvPr id="4" name="灯片编号占位符 3">
            <a:extLst>
              <a:ext uri="{FF2B5EF4-FFF2-40B4-BE49-F238E27FC236}">
                <a16:creationId xmlns:a16="http://schemas.microsoft.com/office/drawing/2014/main" id="{17FF5470-FE03-8938-0BAA-CED704F751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7641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74801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2F7A6-6EEB-A1FF-10B3-470E70CCD0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EC3C42-0434-D3C9-A456-DB1FD71E5E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485ED5-F2E8-5949-310E-73ABD7E46B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D7C7830-F189-F28D-EB9F-875EBD0B08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58459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8A413-6DDB-E77B-EB8B-DA08C741C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EF6E02-0B11-4EDC-5FEB-97662AE3EB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EAB2DC-371D-3705-5E7C-12A2816A2E2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67D669-63FC-4B45-E8F1-9081FB6814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18160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E4CF3-EC93-00B9-2817-212400435C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4CABDB-5CCD-BCCB-C52A-3C922932A1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E1EBB2-677A-C8F8-F321-B1BECB7F06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C876B0F-4E16-8D85-3A3D-C248CB138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8634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266C-CAA1-8EE7-E44B-1CE608834A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994E16-D957-ED43-DF9B-2B3CDCE07A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4C9CC6-482A-7141-56F9-2B42F8390E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E996289-3A90-4F86-AA93-FE04A9CE6B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14764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91D41-7962-1018-B9C9-1BE2B95911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CB4569-E20D-38FC-C11F-CB258926DA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CFF83D-0C20-FAB6-D9E6-6D1652158B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D0765F6A-865B-1510-650E-869B797EA5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5097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2239F-7FCF-8367-D90A-F89D8030DD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8470BF-7234-1DE5-606D-A03092C22B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1A8FC8-56BB-B895-8AB8-16B285C716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02CD2A80-6452-4D5E-15E8-3B8C410C02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3110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E9C95-A397-8197-DD52-5000FFEEAA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4BDA7B-AE27-39D9-EEEB-87484E690C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CF0709-7B86-4752-776B-38DFC6C644B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80A756B-EF3F-B0D8-2350-D3B87BA212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13505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27D41-3F88-E4DF-42FA-22420161DF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D29368-9F7A-5702-578D-BB596205B2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6675C2-24C4-447A-8084-6FE094E70C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7971003-11B5-E4B9-A4F6-19AD8794F1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71559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3A9B6-158F-F1F2-7C49-B83777F91C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E6EED3-D8C7-00F4-A0C4-A7CE6368C5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6A89C6-F0FE-C4F4-55AE-B1F6E8D74A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E77138E-E887-904F-0CE2-425C86A894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7170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78CB6-BC94-C275-A445-D3DC19FF81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631596-309D-EBA9-0F05-26B5FD9440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6F4F9D-C295-0D52-B8B5-0E2D7A5AEA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44D88739-8056-52E9-5C62-85DB75A2E9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1852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5EDA-6410-8A8C-E015-7D5B9015E2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0CF80D-8F85-5AEB-6AD1-EF49B5C610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A82C32-5146-8D43-19AA-1D8F0A9736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宋体" panose="02010600030101010101" pitchFamily="2" charset="-122"/>
              </a:rPr>
              <a:t>MAE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值越趋近于</a:t>
            </a:r>
            <a:r>
              <a:rPr lang="en-US" altLang="zh-CN" sz="1800" kern="100" dirty="0">
                <a:effectLst/>
                <a:latin typeface="Times New Roman" panose="02020603050405020304" pitchFamily="18" charset="0"/>
                <a:ea typeface="宋体" panose="02010600030101010101" pitchFamily="2" charset="-122"/>
              </a:rPr>
              <a:t>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，表示模型的预测误差越小，即模型的预测结果与实际观测值越接近，拟合效果越好。</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u="sng"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MAE</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相比，“</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平方后再求平方根”</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的计算方式使得</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RMSE</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对较大的误差更加敏感。因此，</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RMSE</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更加关注较大误差的影响，对异常值更敏感。</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u="sng"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MAPE</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可以直观地表示预测误差的百分比，使得不同规模的数据具有可比性，但其对较小的实际观测值更敏感，可能会导致误差放大。</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B9F19D4-DD57-AA4E-76D3-7B39AFF9A9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29032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5.jpg"/><Relationship Id="rId4" Type="http://schemas.openxmlformats.org/officeDocument/2006/relationships/image" Target="../media/image34.jpg"/></Relationships>
</file>

<file path=ppt/slides/_rels/slide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sv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oleObject" Target="../embeddings/oleObject4.bin"/><Relationship Id="rId7" Type="http://schemas.openxmlformats.org/officeDocument/2006/relationships/image" Target="../media/image47.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46.emf"/><Relationship Id="rId4" Type="http://schemas.openxmlformats.org/officeDocument/2006/relationships/image" Target="../media/image4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oleObject" Target="../embeddings/oleObject6.bin"/><Relationship Id="rId4" Type="http://schemas.openxmlformats.org/officeDocument/2006/relationships/image" Target="../media/image45.wmf"/></Relationships>
</file>

<file path=ppt/slides/_rels/slide14.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oleObject" Target="../embeddings/oleObject4.bin"/><Relationship Id="rId7" Type="http://schemas.openxmlformats.org/officeDocument/2006/relationships/oleObject" Target="../embeddings/oleObject8.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9.emf"/><Relationship Id="rId5" Type="http://schemas.openxmlformats.org/officeDocument/2006/relationships/oleObject" Target="../embeddings/oleObject7.bin"/><Relationship Id="rId4" Type="http://schemas.openxmlformats.org/officeDocument/2006/relationships/image" Target="../media/image45.wmf"/><Relationship Id="rId9" Type="http://schemas.openxmlformats.org/officeDocument/2006/relationships/image" Target="../media/image52.png"/></Relationships>
</file>

<file path=ppt/slides/_rels/slide15.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4.bin"/><Relationship Id="rId7" Type="http://schemas.openxmlformats.org/officeDocument/2006/relationships/oleObject" Target="../embeddings/oleObject10.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emf"/><Relationship Id="rId5" Type="http://schemas.openxmlformats.org/officeDocument/2006/relationships/oleObject" Target="../embeddings/oleObject9.bin"/><Relationship Id="rId10" Type="http://schemas.openxmlformats.org/officeDocument/2006/relationships/image" Target="../media/image53.emf"/><Relationship Id="rId4" Type="http://schemas.openxmlformats.org/officeDocument/2006/relationships/image" Target="../media/image45.wmf"/><Relationship Id="rId9"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4.1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回归分析概论</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24F4-33CC-744D-924F-E2C77203A8C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F202F7D-9BB5-597E-1BAB-BFFB0C35748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回归分析概论</a:t>
            </a:r>
          </a:p>
        </p:txBody>
      </p:sp>
      <p:sp>
        <p:nvSpPr>
          <p:cNvPr id="5" name="内容占位符 2">
            <a:extLst>
              <a:ext uri="{FF2B5EF4-FFF2-40B4-BE49-F238E27FC236}">
                <a16:creationId xmlns:a16="http://schemas.microsoft.com/office/drawing/2014/main" id="{6FA2040D-F91E-C198-8B91-74FAB1D48894}"/>
              </a:ext>
            </a:extLst>
          </p:cNvPr>
          <p:cNvSpPr txBox="1">
            <a:spLocks/>
          </p:cNvSpPr>
          <p:nvPr/>
        </p:nvSpPr>
        <p:spPr>
          <a:xfrm>
            <a:off x="457200" y="1317566"/>
            <a:ext cx="1138843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a:latin typeface="Euclid" panose="02020503060505020303" pitchFamily="18" charset="0"/>
              </a:rPr>
              <a:t>变量之间存在一定的关联关系，能否利用这种关联关系完成某些现象的预测与判断？</a:t>
            </a:r>
            <a:endParaRPr lang="en-US" altLang="zh-CN" sz="2400">
              <a:latin typeface="Euclid" panose="02020503060505020303" pitchFamily="18" charset="0"/>
            </a:endParaRPr>
          </a:p>
          <a:p>
            <a:endParaRPr lang="zh-CN" altLang="en-US" sz="2400" dirty="0">
              <a:latin typeface="Euclid" panose="02020503060505020303" pitchFamily="18" charset="0"/>
            </a:endParaRPr>
          </a:p>
        </p:txBody>
      </p:sp>
      <p:pic>
        <p:nvPicPr>
          <p:cNvPr id="6" name="图片 5">
            <a:extLst>
              <a:ext uri="{FF2B5EF4-FFF2-40B4-BE49-F238E27FC236}">
                <a16:creationId xmlns:a16="http://schemas.microsoft.com/office/drawing/2014/main" id="{ECBBB3BB-4550-C3BC-1ADD-2DADAC1ADA20}"/>
              </a:ext>
            </a:extLst>
          </p:cNvPr>
          <p:cNvPicPr>
            <a:picLocks noChangeAspect="1"/>
          </p:cNvPicPr>
          <p:nvPr/>
        </p:nvPicPr>
        <p:blipFill>
          <a:blip r:embed="rId3"/>
          <a:stretch>
            <a:fillRect/>
          </a:stretch>
        </p:blipFill>
        <p:spPr>
          <a:xfrm>
            <a:off x="995423" y="2477186"/>
            <a:ext cx="4996024" cy="3849982"/>
          </a:xfrm>
          <a:prstGeom prst="rect">
            <a:avLst/>
          </a:prstGeom>
        </p:spPr>
      </p:pic>
      <p:pic>
        <p:nvPicPr>
          <p:cNvPr id="8" name="图片 7">
            <a:extLst>
              <a:ext uri="{FF2B5EF4-FFF2-40B4-BE49-F238E27FC236}">
                <a16:creationId xmlns:a16="http://schemas.microsoft.com/office/drawing/2014/main" id="{E28DBBD1-A768-999B-B4FC-6C071130EFE4}"/>
              </a:ext>
            </a:extLst>
          </p:cNvPr>
          <p:cNvPicPr>
            <a:picLocks noChangeAspect="1"/>
          </p:cNvPicPr>
          <p:nvPr/>
        </p:nvPicPr>
        <p:blipFill>
          <a:blip r:embed="rId4"/>
          <a:stretch>
            <a:fillRect/>
          </a:stretch>
        </p:blipFill>
        <p:spPr>
          <a:xfrm>
            <a:off x="6391738" y="2477186"/>
            <a:ext cx="4804839" cy="3849982"/>
          </a:xfrm>
          <a:prstGeom prst="rect">
            <a:avLst/>
          </a:prstGeom>
        </p:spPr>
      </p:pic>
    </p:spTree>
    <p:extLst>
      <p:ext uri="{BB962C8B-B14F-4D97-AF65-F5344CB8AC3E}">
        <p14:creationId xmlns:p14="http://schemas.microsoft.com/office/powerpoint/2010/main" val="29493093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9C666-49F6-0EB4-0564-209CAE30E73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DA9B60C-6582-EAC1-F3F3-C7C409D1B54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高尔顿身高回归研究</a:t>
            </a:r>
          </a:p>
        </p:txBody>
      </p:sp>
      <p:sp>
        <p:nvSpPr>
          <p:cNvPr id="5" name="内容占位符 2">
            <a:extLst>
              <a:ext uri="{FF2B5EF4-FFF2-40B4-BE49-F238E27FC236}">
                <a16:creationId xmlns:a16="http://schemas.microsoft.com/office/drawing/2014/main" id="{28AE9EC5-4861-7381-C275-47992D991452}"/>
              </a:ext>
            </a:extLst>
          </p:cNvPr>
          <p:cNvSpPr txBox="1">
            <a:spLocks/>
          </p:cNvSpPr>
          <p:nvPr/>
        </p:nvSpPr>
        <p:spPr>
          <a:xfrm>
            <a:off x="506337" y="1118062"/>
            <a:ext cx="1138843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400" dirty="0">
                <a:latin typeface="Euclid" panose="02020503060505020303" pitchFamily="18" charset="0"/>
              </a:rPr>
              <a:t>1855</a:t>
            </a:r>
            <a:r>
              <a:rPr lang="zh-CN" altLang="en-US" sz="2400" dirty="0">
                <a:latin typeface="Euclid" panose="02020503060505020303" pitchFamily="18" charset="0"/>
              </a:rPr>
              <a:t>年，在英国著名统计学家高尔顿发表的论文</a:t>
            </a:r>
            <a:r>
              <a:rPr lang="en-US" altLang="zh-CN" sz="2400" dirty="0">
                <a:latin typeface="Euclid" panose="02020503060505020303" pitchFamily="18" charset="0"/>
              </a:rPr>
              <a:t>《</a:t>
            </a:r>
            <a:r>
              <a:rPr lang="zh-CN" altLang="en-US" sz="2400" dirty="0">
                <a:latin typeface="Euclid" panose="02020503060505020303" pitchFamily="18" charset="0"/>
              </a:rPr>
              <a:t>遗传的身高向平均数方向的回归</a:t>
            </a:r>
            <a:r>
              <a:rPr lang="en-US" altLang="zh-CN" sz="2400" dirty="0">
                <a:latin typeface="Euclid" panose="02020503060505020303" pitchFamily="18" charset="0"/>
              </a:rPr>
              <a:t>》</a:t>
            </a:r>
            <a:r>
              <a:rPr lang="zh-CN" altLang="en-US" sz="2400" dirty="0">
                <a:latin typeface="Euclid" panose="02020503060505020303" pitchFamily="18" charset="0"/>
              </a:rPr>
              <a:t>中，“回归”一词首次出现。</a:t>
            </a:r>
          </a:p>
        </p:txBody>
      </p:sp>
      <p:pic>
        <p:nvPicPr>
          <p:cNvPr id="2" name="图片 1">
            <a:extLst>
              <a:ext uri="{FF2B5EF4-FFF2-40B4-BE49-F238E27FC236}">
                <a16:creationId xmlns:a16="http://schemas.microsoft.com/office/drawing/2014/main" id="{8854A015-FAEF-0857-89EB-E5A38BEDCB95}"/>
              </a:ext>
            </a:extLst>
          </p:cNvPr>
          <p:cNvPicPr>
            <a:picLocks noChangeAspect="1"/>
          </p:cNvPicPr>
          <p:nvPr/>
        </p:nvPicPr>
        <p:blipFill>
          <a:blip r:embed="rId3"/>
          <a:stretch>
            <a:fillRect/>
          </a:stretch>
        </p:blipFill>
        <p:spPr>
          <a:xfrm>
            <a:off x="6096000" y="1954709"/>
            <a:ext cx="5619173" cy="4793729"/>
          </a:xfrm>
          <a:prstGeom prst="rect">
            <a:avLst/>
          </a:prstGeom>
        </p:spPr>
      </p:pic>
      <p:grpSp>
        <p:nvGrpSpPr>
          <p:cNvPr id="20" name="组合 19">
            <a:extLst>
              <a:ext uri="{FF2B5EF4-FFF2-40B4-BE49-F238E27FC236}">
                <a16:creationId xmlns:a16="http://schemas.microsoft.com/office/drawing/2014/main" id="{94943AE5-AF02-1656-E827-E8EE03B3A4BC}"/>
              </a:ext>
            </a:extLst>
          </p:cNvPr>
          <p:cNvGrpSpPr/>
          <p:nvPr/>
        </p:nvGrpSpPr>
        <p:grpSpPr>
          <a:xfrm>
            <a:off x="655968" y="2310938"/>
            <a:ext cx="5063190" cy="4290551"/>
            <a:chOff x="572839" y="2319251"/>
            <a:chExt cx="5063190" cy="4290551"/>
          </a:xfrm>
        </p:grpSpPr>
        <p:graphicFrame>
          <p:nvGraphicFramePr>
            <p:cNvPr id="4" name="对象 3">
              <a:extLst>
                <a:ext uri="{FF2B5EF4-FFF2-40B4-BE49-F238E27FC236}">
                  <a16:creationId xmlns:a16="http://schemas.microsoft.com/office/drawing/2014/main" id="{F0636844-66FB-B084-C9FD-47D898D60DA5}"/>
                </a:ext>
              </a:extLst>
            </p:cNvPr>
            <p:cNvGraphicFramePr>
              <a:graphicFrameLocks noChangeAspect="1"/>
            </p:cNvGraphicFramePr>
            <p:nvPr>
              <p:extLst>
                <p:ext uri="{D42A27DB-BD31-4B8C-83A1-F6EECF244321}">
                  <p14:modId xmlns:p14="http://schemas.microsoft.com/office/powerpoint/2010/main" val="141958120"/>
                </p:ext>
              </p:extLst>
            </p:nvPr>
          </p:nvGraphicFramePr>
          <p:xfrm>
            <a:off x="961563" y="4464910"/>
            <a:ext cx="4389120" cy="539444"/>
          </p:xfrm>
          <a:graphic>
            <a:graphicData uri="http://schemas.openxmlformats.org/presentationml/2006/ole">
              <mc:AlternateContent xmlns:mc="http://schemas.openxmlformats.org/markup-compatibility/2006">
                <mc:Choice xmlns:v="urn:schemas-microsoft-com:vml" Requires="v">
                  <p:oleObj name="Equation" r:id="rId4" imgW="1705087" imgH="209528" progId="Equation.DSMT4">
                    <p:embed/>
                  </p:oleObj>
                </mc:Choice>
                <mc:Fallback>
                  <p:oleObj name="Equation" r:id="rId4" imgW="1705087" imgH="209528" progId="Equation.DSMT4">
                    <p:embed/>
                    <p:pic>
                      <p:nvPicPr>
                        <p:cNvPr id="0" name=""/>
                        <p:cNvPicPr/>
                        <p:nvPr/>
                      </p:nvPicPr>
                      <p:blipFill>
                        <a:blip r:embed="rId5"/>
                        <a:stretch>
                          <a:fillRect/>
                        </a:stretch>
                      </p:blipFill>
                      <p:spPr>
                        <a:xfrm>
                          <a:off x="961563" y="4464910"/>
                          <a:ext cx="4389120" cy="539444"/>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EA15E355-96A9-76EE-544D-A2975A31A157}"/>
                </a:ext>
              </a:extLst>
            </p:cNvPr>
            <p:cNvSpPr txBox="1"/>
            <p:nvPr/>
          </p:nvSpPr>
          <p:spPr>
            <a:xfrm>
              <a:off x="867410" y="2495881"/>
              <a:ext cx="4508037" cy="369332"/>
            </a:xfrm>
            <a:prstGeom prst="rect">
              <a:avLst/>
            </a:prstGeom>
            <a:noFill/>
          </p:spPr>
          <p:txBody>
            <a:bodyPr wrap="square">
              <a:spAutoFit/>
            </a:bodyPr>
            <a:lstStyle/>
            <a:p>
              <a:r>
                <a:rPr lang="en-US" altLang="zh-CN" sz="1800" kern="100" dirty="0">
                  <a:effectLst/>
                  <a:latin typeface="微软雅黑" panose="020B0503020204020204" pitchFamily="34" charset="-122"/>
                  <a:ea typeface="微软雅黑" panose="020B0503020204020204" pitchFamily="34" charset="-122"/>
                </a:rPr>
                <a:t>1078</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对夫妇及其一个成年儿子的身高数据</a:t>
              </a:r>
              <a:endParaRPr lang="zh-CN" altLang="en-US" dirty="0">
                <a:latin typeface="微软雅黑" panose="020B0503020204020204" pitchFamily="34" charset="-122"/>
                <a:ea typeface="微软雅黑" panose="020B0503020204020204" pitchFamily="34" charset="-122"/>
              </a:endParaRPr>
            </a:p>
          </p:txBody>
        </p:sp>
        <p:cxnSp>
          <p:nvCxnSpPr>
            <p:cNvPr id="13" name="直接箭头连接符 12">
              <a:extLst>
                <a:ext uri="{FF2B5EF4-FFF2-40B4-BE49-F238E27FC236}">
                  <a16:creationId xmlns:a16="http://schemas.microsoft.com/office/drawing/2014/main" id="{6316E250-CDD5-E970-9D8D-ED82DE48BFEC}"/>
                </a:ext>
              </a:extLst>
            </p:cNvPr>
            <p:cNvCxnSpPr/>
            <p:nvPr/>
          </p:nvCxnSpPr>
          <p:spPr>
            <a:xfrm>
              <a:off x="3017519" y="2994958"/>
              <a:ext cx="0" cy="5440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89E688FD-5EA1-0418-86E7-078852FD864A}"/>
                </a:ext>
              </a:extLst>
            </p:cNvPr>
            <p:cNvSpPr txBox="1"/>
            <p:nvPr/>
          </p:nvSpPr>
          <p:spPr>
            <a:xfrm>
              <a:off x="867410" y="3713556"/>
              <a:ext cx="4577426" cy="646331"/>
            </a:xfrm>
            <a:prstGeom prst="rect">
              <a:avLst/>
            </a:prstGeom>
            <a:noFill/>
          </p:spPr>
          <p:txBody>
            <a:bodyPr wrap="square">
              <a:spAutoFit/>
            </a:bodyPr>
            <a:lstStyle/>
            <a:p>
              <a:r>
                <a:rPr lang="zh-CN" altLang="en-US" sz="1800" kern="100" dirty="0">
                  <a:effectLst/>
                  <a:latin typeface="微软雅黑" panose="020B0503020204020204" pitchFamily="34" charset="-122"/>
                  <a:ea typeface="微软雅黑" panose="020B0503020204020204" pitchFamily="34" charset="-122"/>
                </a:rPr>
                <a:t>以儿子身高为纵坐标，父母平均身高为横坐标作散点图，数据点大致呈线性分布</a:t>
              </a:r>
              <a:endParaRPr lang="zh-CN" altLang="en-US" dirty="0">
                <a:latin typeface="微软雅黑" panose="020B0503020204020204" pitchFamily="34" charset="-122"/>
                <a:ea typeface="微软雅黑" panose="020B0503020204020204" pitchFamily="34" charset="-122"/>
              </a:endParaRPr>
            </a:p>
          </p:txBody>
        </p:sp>
        <p:cxnSp>
          <p:nvCxnSpPr>
            <p:cNvPr id="15" name="直接箭头连接符 14">
              <a:extLst>
                <a:ext uri="{FF2B5EF4-FFF2-40B4-BE49-F238E27FC236}">
                  <a16:creationId xmlns:a16="http://schemas.microsoft.com/office/drawing/2014/main" id="{F857F9BB-1A8E-D162-F903-7B73D5D576D6}"/>
                </a:ext>
              </a:extLst>
            </p:cNvPr>
            <p:cNvCxnSpPr/>
            <p:nvPr/>
          </p:nvCxnSpPr>
          <p:spPr>
            <a:xfrm>
              <a:off x="3017519" y="5099993"/>
              <a:ext cx="0" cy="54403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4ABCBEB6-87E6-A390-889D-6F721397CADD}"/>
                </a:ext>
              </a:extLst>
            </p:cNvPr>
            <p:cNvSpPr txBox="1"/>
            <p:nvPr/>
          </p:nvSpPr>
          <p:spPr>
            <a:xfrm>
              <a:off x="867410" y="5771904"/>
              <a:ext cx="4577426" cy="646331"/>
            </a:xfrm>
            <a:prstGeom prst="rect">
              <a:avLst/>
            </a:prstGeom>
            <a:noFill/>
          </p:spPr>
          <p:txBody>
            <a:bodyPr wrap="square">
              <a:spAutoFit/>
            </a:bodyPr>
            <a:lstStyle/>
            <a:p>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儿子的身高在一定程度上呈现出向他们父母的平均身高“回归”的趋势。</a:t>
              </a:r>
              <a:endParaRPr lang="zh-CN" altLang="en-US"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95845809-A7D1-1416-AD1B-E338CA80EFB4}"/>
                </a:ext>
              </a:extLst>
            </p:cNvPr>
            <p:cNvSpPr/>
            <p:nvPr/>
          </p:nvSpPr>
          <p:spPr>
            <a:xfrm>
              <a:off x="572839" y="2319251"/>
              <a:ext cx="5063190" cy="4290551"/>
            </a:xfrm>
            <a:prstGeom prst="roundRect">
              <a:avLst/>
            </a:prstGeom>
            <a:noFill/>
            <a:ln w="28575">
              <a:solidFill>
                <a:srgbClr val="033BA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252518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回归分析概论</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3" name="内容占位符 2">
            <a:extLst>
              <a:ext uri="{FF2B5EF4-FFF2-40B4-BE49-F238E27FC236}">
                <a16:creationId xmlns:a16="http://schemas.microsoft.com/office/drawing/2014/main" id="{FF289A2E-A5F7-59CB-7942-199D0BE158CA}"/>
              </a:ext>
            </a:extLst>
          </p:cNvPr>
          <p:cNvSpPr txBox="1">
            <a:spLocks/>
          </p:cNvSpPr>
          <p:nvPr/>
        </p:nvSpPr>
        <p:spPr>
          <a:xfrm>
            <a:off x="506337" y="1118062"/>
            <a:ext cx="1138843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家庭书刊消费水平</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与家庭收入</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、户主受教育年数</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(x2)</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之间的关系</a:t>
            </a:r>
          </a:p>
          <a:p>
            <a:endParaRPr lang="zh-CN" altLang="en-US" sz="2400" dirty="0">
              <a:latin typeface="Euclid" panose="02020503060505020303" pitchFamily="18" charset="0"/>
            </a:endParaRPr>
          </a:p>
        </p:txBody>
      </p:sp>
      <p:pic>
        <p:nvPicPr>
          <p:cNvPr id="14" name="图片 13">
            <a:extLst>
              <a:ext uri="{FF2B5EF4-FFF2-40B4-BE49-F238E27FC236}">
                <a16:creationId xmlns:a16="http://schemas.microsoft.com/office/drawing/2014/main" id="{C257A0D1-9A6C-DC87-8CFD-9D9730D98EFB}"/>
              </a:ext>
            </a:extLst>
          </p:cNvPr>
          <p:cNvPicPr>
            <a:picLocks noChangeAspect="1"/>
          </p:cNvPicPr>
          <p:nvPr/>
        </p:nvPicPr>
        <p:blipFill>
          <a:blip r:embed="rId3"/>
          <a:stretch>
            <a:fillRect/>
          </a:stretch>
        </p:blipFill>
        <p:spPr>
          <a:xfrm>
            <a:off x="1550519" y="2215994"/>
            <a:ext cx="3262550" cy="4549090"/>
          </a:xfrm>
          <a:prstGeom prst="rect">
            <a:avLst/>
          </a:prstGeom>
        </p:spPr>
      </p:pic>
      <p:pic>
        <p:nvPicPr>
          <p:cNvPr id="15" name="Picture 2" descr="http://info.tgnet.com/Info/Images/2007/09/07/1613352603_598558.jpg">
            <a:extLst>
              <a:ext uri="{FF2B5EF4-FFF2-40B4-BE49-F238E27FC236}">
                <a16:creationId xmlns:a16="http://schemas.microsoft.com/office/drawing/2014/main" id="{90256266-517B-043E-5F2B-0E2CB437B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5201" y="2224414"/>
            <a:ext cx="3411083" cy="341961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www.jn-brd.com/uploadfile/20120101162209844.jpg">
            <a:extLst>
              <a:ext uri="{FF2B5EF4-FFF2-40B4-BE49-F238E27FC236}">
                <a16:creationId xmlns:a16="http://schemas.microsoft.com/office/drawing/2014/main" id="{F49DECD3-19A0-7B82-C5F8-5B476084A6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9916" y="4490539"/>
            <a:ext cx="2825684" cy="211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369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A6E8C-0482-2216-1FBC-2E397D71A23A}"/>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45F61D1-A99D-37DD-8EB5-47C774FF32B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回归分析概论</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3" name="内容占位符 2">
            <a:extLst>
              <a:ext uri="{FF2B5EF4-FFF2-40B4-BE49-F238E27FC236}">
                <a16:creationId xmlns:a16="http://schemas.microsoft.com/office/drawing/2014/main" id="{D016FF82-BB0B-52D0-6CF9-40E9AB9C9BC2}"/>
              </a:ext>
            </a:extLst>
          </p:cNvPr>
          <p:cNvSpPr txBox="1">
            <a:spLocks/>
          </p:cNvSpPr>
          <p:nvPr/>
        </p:nvSpPr>
        <p:spPr>
          <a:xfrm>
            <a:off x="506337" y="1118062"/>
            <a:ext cx="1138843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家庭书刊消费水平</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与家庭收入</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、户主受教育年数</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(x2)</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之间的关系</a:t>
            </a:r>
          </a:p>
          <a:p>
            <a:endParaRPr lang="zh-CN" altLang="en-US" sz="2400" dirty="0">
              <a:latin typeface="Euclid" panose="02020503060505020303" pitchFamily="18" charset="0"/>
            </a:endParaRPr>
          </a:p>
        </p:txBody>
      </p:sp>
      <p:pic>
        <p:nvPicPr>
          <p:cNvPr id="14" name="图片 13">
            <a:extLst>
              <a:ext uri="{FF2B5EF4-FFF2-40B4-BE49-F238E27FC236}">
                <a16:creationId xmlns:a16="http://schemas.microsoft.com/office/drawing/2014/main" id="{B86D4235-9947-A6C1-D429-CA6496A0CCE2}"/>
              </a:ext>
            </a:extLst>
          </p:cNvPr>
          <p:cNvPicPr>
            <a:picLocks noChangeAspect="1"/>
          </p:cNvPicPr>
          <p:nvPr/>
        </p:nvPicPr>
        <p:blipFill>
          <a:blip r:embed="rId3"/>
          <a:stretch>
            <a:fillRect/>
          </a:stretch>
        </p:blipFill>
        <p:spPr>
          <a:xfrm>
            <a:off x="1550519" y="2215994"/>
            <a:ext cx="3262550" cy="4549090"/>
          </a:xfrm>
          <a:prstGeom prst="rect">
            <a:avLst/>
          </a:prstGeom>
        </p:spPr>
      </p:pic>
      <p:sp>
        <p:nvSpPr>
          <p:cNvPr id="5" name="矩形 4">
            <a:extLst>
              <a:ext uri="{FF2B5EF4-FFF2-40B4-BE49-F238E27FC236}">
                <a16:creationId xmlns:a16="http://schemas.microsoft.com/office/drawing/2014/main" id="{E0DDE169-3D36-9443-038F-5B5E5B956314}"/>
              </a:ext>
            </a:extLst>
          </p:cNvPr>
          <p:cNvSpPr/>
          <p:nvPr/>
        </p:nvSpPr>
        <p:spPr>
          <a:xfrm>
            <a:off x="5711165" y="2768901"/>
            <a:ext cx="4493538" cy="830997"/>
          </a:xfrm>
          <a:prstGeom prst="rect">
            <a:avLst/>
          </a:prstGeom>
        </p:spPr>
        <p:txBody>
          <a:bodyPr wrap="none">
            <a:spAutoFit/>
          </a:bodyPr>
          <a:lstStyle/>
          <a:p>
            <a:r>
              <a:rPr lang="en-US" altLang="zh-CN"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X1</a:t>
            </a:r>
            <a:r>
              <a:rPr lang="zh-CN" altLang="en-US"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a:t>
            </a:r>
            <a:r>
              <a:rPr lang="en-US" altLang="zh-CN"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X2</a:t>
            </a:r>
            <a:r>
              <a:rPr lang="zh-CN" altLang="en-US"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：自变量</a:t>
            </a:r>
            <a:endParaRPr lang="en-US" altLang="zh-CN"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endParaRPr>
          </a:p>
          <a:p>
            <a:r>
              <a:rPr lang="zh-CN" altLang="en-US" sz="2400" b="1" dirty="0">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是由实验者操纵、掌握的变量。</a:t>
            </a:r>
          </a:p>
        </p:txBody>
      </p:sp>
      <p:sp>
        <p:nvSpPr>
          <p:cNvPr id="6" name="矩形 5">
            <a:extLst>
              <a:ext uri="{FF2B5EF4-FFF2-40B4-BE49-F238E27FC236}">
                <a16:creationId xmlns:a16="http://schemas.microsoft.com/office/drawing/2014/main" id="{8A2534BC-A1F9-2890-2E57-FE208ECECDBC}"/>
              </a:ext>
            </a:extLst>
          </p:cNvPr>
          <p:cNvSpPr/>
          <p:nvPr/>
        </p:nvSpPr>
        <p:spPr>
          <a:xfrm>
            <a:off x="5837505" y="4634895"/>
            <a:ext cx="4240857" cy="1569660"/>
          </a:xfrm>
          <a:prstGeom prst="rect">
            <a:avLst/>
          </a:prstGeom>
        </p:spPr>
        <p:txBody>
          <a:bodyPr wrap="square">
            <a:spAutoFit/>
          </a:bodyPr>
          <a:lstStyle/>
          <a:p>
            <a:r>
              <a:rPr lang="en-US" altLang="zh-CN" sz="2400" b="1" dirty="0">
                <a:solidFill>
                  <a:srgbClr val="0000FF"/>
                </a:solidFill>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Y</a:t>
            </a:r>
            <a:r>
              <a:rPr lang="zh-CN" altLang="en-US" sz="2400" b="1" dirty="0">
                <a:solidFill>
                  <a:srgbClr val="0000FF"/>
                </a:solidFill>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：因变量</a:t>
            </a:r>
            <a:endParaRPr lang="en-US" altLang="zh-CN" sz="2400" b="1" dirty="0">
              <a:solidFill>
                <a:srgbClr val="0000FF"/>
              </a:solidFill>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endParaRPr>
          </a:p>
          <a:p>
            <a:r>
              <a:rPr lang="zh-CN" altLang="en-US" sz="2400" b="1" dirty="0">
                <a:solidFill>
                  <a:srgbClr val="0000FF"/>
                </a:solidFill>
                <a:effectLst>
                  <a:outerShdw blurRad="38100" dist="38100" dir="2700000" algn="tl">
                    <a:srgbClr val="000000">
                      <a:alpha val="43137"/>
                    </a:srgbClr>
                  </a:outerShdw>
                </a:effectLst>
                <a:latin typeface="Arial Rounded MT Bold" panose="020F0704030504030204" pitchFamily="34" charset="0"/>
                <a:ea typeface="微软雅黑" panose="020B0503020204020204" pitchFamily="34" charset="-122"/>
              </a:rPr>
              <a:t>在实验中，由操纵自变量而引起的被试的某种特定的反应称为因变量。</a:t>
            </a:r>
          </a:p>
        </p:txBody>
      </p:sp>
    </p:spTree>
    <p:extLst>
      <p:ext uri="{BB962C8B-B14F-4D97-AF65-F5344CB8AC3E}">
        <p14:creationId xmlns:p14="http://schemas.microsoft.com/office/powerpoint/2010/main" val="13856911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A4545-D9A1-BE8C-82CE-BCD636D7FF40}"/>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28AB7C30-A310-399A-2B7C-9EDE9AE4CE68}"/>
              </a:ext>
            </a:extLst>
          </p:cNvPr>
          <p:cNvSpPr txBox="1">
            <a:spLocks noChangeArrowheads="1"/>
          </p:cNvSpPr>
          <p:nvPr/>
        </p:nvSpPr>
        <p:spPr bwMode="auto">
          <a:xfrm>
            <a:off x="3489906" y="2566613"/>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dirty="0">
                <a:solidFill>
                  <a:srgbClr val="0084CF"/>
                </a:solidFill>
              </a:rPr>
              <a:t>高尔顿身高回归研究</a:t>
            </a:r>
          </a:p>
        </p:txBody>
      </p:sp>
      <p:sp>
        <p:nvSpPr>
          <p:cNvPr id="26" name="矩形 33">
            <a:extLst>
              <a:ext uri="{FF2B5EF4-FFF2-40B4-BE49-F238E27FC236}">
                <a16:creationId xmlns:a16="http://schemas.microsoft.com/office/drawing/2014/main" id="{529E84CD-2BAC-4199-7FB5-BB13C6000EA4}"/>
              </a:ext>
            </a:extLst>
          </p:cNvPr>
          <p:cNvSpPr/>
          <p:nvPr/>
        </p:nvSpPr>
        <p:spPr>
          <a:xfrm>
            <a:off x="2306212" y="2405183"/>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991F43DA-4A63-B3B5-0A9C-A2A707CAF645}"/>
              </a:ext>
            </a:extLst>
          </p:cNvPr>
          <p:cNvSpPr/>
          <p:nvPr/>
        </p:nvSpPr>
        <p:spPr>
          <a:xfrm>
            <a:off x="2396223" y="2489846"/>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D274FAD3-94A5-171D-5B42-2C70833D3023}"/>
              </a:ext>
            </a:extLst>
          </p:cNvPr>
          <p:cNvCxnSpPr>
            <a:stCxn id="26" idx="2"/>
          </p:cNvCxnSpPr>
          <p:nvPr/>
        </p:nvCxnSpPr>
        <p:spPr>
          <a:xfrm>
            <a:off x="2805074" y="3343625"/>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17" name="组合 26">
            <a:extLst>
              <a:ext uri="{FF2B5EF4-FFF2-40B4-BE49-F238E27FC236}">
                <a16:creationId xmlns:a16="http://schemas.microsoft.com/office/drawing/2014/main" id="{A9D4F252-3348-D9A0-20F9-2D41AB6E2D4A}"/>
              </a:ext>
            </a:extLst>
          </p:cNvPr>
          <p:cNvGrpSpPr/>
          <p:nvPr/>
        </p:nvGrpSpPr>
        <p:grpSpPr>
          <a:xfrm>
            <a:off x="2306212" y="3548157"/>
            <a:ext cx="7476443" cy="938442"/>
            <a:chOff x="3382706" y="3231661"/>
            <a:chExt cx="7329156" cy="978068"/>
          </a:xfrm>
        </p:grpSpPr>
        <p:sp>
          <p:nvSpPr>
            <p:cNvPr id="19" name="Text Box 7">
              <a:extLst>
                <a:ext uri="{FF2B5EF4-FFF2-40B4-BE49-F238E27FC236}">
                  <a16:creationId xmlns:a16="http://schemas.microsoft.com/office/drawing/2014/main" id="{A5E4AA64-B236-C67E-5EFB-9AEBF4998096}"/>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  </a:t>
              </a: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回归分析概论</a:t>
              </a:r>
              <a:r>
                <a:rPr kumimoji="0" lang="en-US" altLang="zh-CN"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	</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2">
              <a:extLst>
                <a:ext uri="{FF2B5EF4-FFF2-40B4-BE49-F238E27FC236}">
                  <a16:creationId xmlns:a16="http://schemas.microsoft.com/office/drawing/2014/main" id="{037BA882-8D97-C9B1-11F8-10FA55DC2C33}"/>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09F26AC7-D7DE-E06D-793B-F5D3032C3CB9}"/>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1E788E17-E1B9-C7DE-768D-623A7F76D74B}"/>
                  </a:ext>
                </a:extLst>
              </p:cNvPr>
              <p:cNvSpPr/>
              <p:nvPr/>
            </p:nvSpPr>
            <p:spPr>
              <a:xfrm>
                <a:off x="2155661" y="1485905"/>
                <a:ext cx="944247" cy="94424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02</a:t>
                </a:r>
                <a:endParaRPr lang="zh-CN" altLang="en-US" sz="3600" dirty="0">
                  <a:solidFill>
                    <a:prstClr val="white"/>
                  </a:solidFill>
                  <a:latin typeface="Impact" panose="020B0806030902050204" pitchFamily="34" charset="0"/>
                  <a:ea typeface="等线" panose="02010600030101010101" pitchFamily="2" charset="-122"/>
                </a:endParaRPr>
              </a:p>
            </p:txBody>
          </p:sp>
        </p:grpSp>
      </p:grpSp>
      <p:cxnSp>
        <p:nvCxnSpPr>
          <p:cNvPr id="18" name="直接连接符 43">
            <a:extLst>
              <a:ext uri="{FF2B5EF4-FFF2-40B4-BE49-F238E27FC236}">
                <a16:creationId xmlns:a16="http://schemas.microsoft.com/office/drawing/2014/main" id="{7DAC65EF-01EC-5C50-BD07-BE149F611044}"/>
              </a:ext>
            </a:extLst>
          </p:cNvPr>
          <p:cNvCxnSpPr>
            <a:stCxn id="21" idx="2"/>
          </p:cNvCxnSpPr>
          <p:nvPr/>
        </p:nvCxnSpPr>
        <p:spPr>
          <a:xfrm>
            <a:off x="2805074" y="4486599"/>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7" name="组合 10">
            <a:extLst>
              <a:ext uri="{FF2B5EF4-FFF2-40B4-BE49-F238E27FC236}">
                <a16:creationId xmlns:a16="http://schemas.microsoft.com/office/drawing/2014/main" id="{620FC80C-1EFC-BC6E-0038-5C5F12B08544}"/>
              </a:ext>
            </a:extLst>
          </p:cNvPr>
          <p:cNvGrpSpPr/>
          <p:nvPr/>
        </p:nvGrpSpPr>
        <p:grpSpPr>
          <a:xfrm>
            <a:off x="2306212" y="4691131"/>
            <a:ext cx="7579576" cy="938442"/>
            <a:chOff x="2734890" y="5002222"/>
            <a:chExt cx="7430257" cy="978068"/>
          </a:xfrm>
        </p:grpSpPr>
        <p:grpSp>
          <p:nvGrpSpPr>
            <p:cNvPr id="8" name="组合 35">
              <a:extLst>
                <a:ext uri="{FF2B5EF4-FFF2-40B4-BE49-F238E27FC236}">
                  <a16:creationId xmlns:a16="http://schemas.microsoft.com/office/drawing/2014/main" id="{90E58638-C17E-6A77-E834-547C568773EE}"/>
                </a:ext>
              </a:extLst>
            </p:cNvPr>
            <p:cNvGrpSpPr/>
            <p:nvPr/>
          </p:nvGrpSpPr>
          <p:grpSpPr>
            <a:xfrm>
              <a:off x="2734890" y="5002222"/>
              <a:ext cx="7329156" cy="978068"/>
              <a:chOff x="3382706" y="3231661"/>
              <a:chExt cx="7329156" cy="978068"/>
            </a:xfrm>
          </p:grpSpPr>
          <p:sp>
            <p:nvSpPr>
              <p:cNvPr id="13" name="Text Box 7">
                <a:extLst>
                  <a:ext uri="{FF2B5EF4-FFF2-40B4-BE49-F238E27FC236}">
                    <a16:creationId xmlns:a16="http://schemas.microsoft.com/office/drawing/2014/main" id="{56723AE3-094C-7077-4D98-DC9D15DCC298}"/>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回归模型的评价指标</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14" name="组合 12">
                <a:extLst>
                  <a:ext uri="{FF2B5EF4-FFF2-40B4-BE49-F238E27FC236}">
                    <a16:creationId xmlns:a16="http://schemas.microsoft.com/office/drawing/2014/main" id="{3D96FC5A-D9D6-6536-1FB3-F2E629DCE8F2}"/>
                  </a:ext>
                </a:extLst>
              </p:cNvPr>
              <p:cNvGrpSpPr/>
              <p:nvPr/>
            </p:nvGrpSpPr>
            <p:grpSpPr>
              <a:xfrm>
                <a:off x="3382706" y="3231661"/>
                <a:ext cx="978070" cy="978068"/>
                <a:chOff x="2051720" y="1381964"/>
                <a:chExt cx="1152128" cy="1152128"/>
              </a:xfrm>
            </p:grpSpPr>
            <p:sp>
              <p:nvSpPr>
                <p:cNvPr id="15" name="矩形 41">
                  <a:extLst>
                    <a:ext uri="{FF2B5EF4-FFF2-40B4-BE49-F238E27FC236}">
                      <a16:creationId xmlns:a16="http://schemas.microsoft.com/office/drawing/2014/main" id="{A82BD246-E8C4-2328-D46B-9B3D91DD65A1}"/>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66B8095F-BD4F-C4AE-E62B-F7268091E7CD}"/>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2" name="直接连接符 45">
              <a:extLst>
                <a:ext uri="{FF2B5EF4-FFF2-40B4-BE49-F238E27FC236}">
                  <a16:creationId xmlns:a16="http://schemas.microsoft.com/office/drawing/2014/main" id="{0A22795F-4740-AE93-77EA-704C90EA2D9A}"/>
                </a:ext>
              </a:extLst>
            </p:cNvPr>
            <p:cNvCxnSpPr>
              <a:stCxn id="15"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9" name="Title 1">
            <a:extLst>
              <a:ext uri="{FF2B5EF4-FFF2-40B4-BE49-F238E27FC236}">
                <a16:creationId xmlns:a16="http://schemas.microsoft.com/office/drawing/2014/main" id="{77222B28-0211-F22C-ADF5-5F2B15F2EC13}"/>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6329EE15-E6AE-30B9-1550-4003E9041AF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spTree>
    <p:extLst>
      <p:ext uri="{BB962C8B-B14F-4D97-AF65-F5344CB8AC3E}">
        <p14:creationId xmlns:p14="http://schemas.microsoft.com/office/powerpoint/2010/main" val="330987481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61BA-DF0E-A34A-A8B3-AD58D790AEB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3A89F11-E8E2-7C38-4291-BBCEE97C004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回归分析定义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内容占位符 2">
            <a:extLst>
              <a:ext uri="{FF2B5EF4-FFF2-40B4-BE49-F238E27FC236}">
                <a16:creationId xmlns:a16="http://schemas.microsoft.com/office/drawing/2014/main" id="{420E5577-2010-D135-4B72-5A0FAAF89D49}"/>
              </a:ext>
            </a:extLst>
          </p:cNvPr>
          <p:cNvSpPr txBox="1">
            <a:spLocks/>
          </p:cNvSpPr>
          <p:nvPr/>
        </p:nvSpPr>
        <p:spPr>
          <a:xfrm>
            <a:off x="506337" y="1118062"/>
            <a:ext cx="11388436"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回归分析（</a:t>
            </a:r>
            <a:r>
              <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Regression analysis</a:t>
            </a: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：是研究一个随机变量（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Y</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，也称因变量、被解释变量）关于另一个（</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，也称自变量、解释变量）或一组变量（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X1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X2</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en-US" altLang="zh-CN" sz="2800" b="1" i="0" u="none" strike="noStrike" kern="1200" cap="none" spc="0" normalizeH="0" baseline="0" noProof="0" dirty="0" err="1">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Xp</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 ）之间定量相互关系的统计分析方法，常用于时间序列分析、变量之间的因果发现以及预测估计等。</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1400" y="3899801"/>
            <a:ext cx="2667000" cy="2667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6208" y="3966624"/>
            <a:ext cx="3634154" cy="2448272"/>
          </a:xfrm>
          <a:prstGeom prst="rect">
            <a:avLst/>
          </a:prstGeom>
          <a:ln>
            <a:noFill/>
          </a:ln>
          <a:effectLst>
            <a:outerShdw blurRad="190500" algn="tl" rotWithShape="0">
              <a:srgbClr val="000000">
                <a:alpha val="70000"/>
              </a:srgbClr>
            </a:outerShdw>
          </a:effec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6343" y="3497422"/>
            <a:ext cx="2961706" cy="260541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389913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EC6F0-EDF8-A2E3-8776-6F80305E190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BD79696-5143-1B4A-5668-275B5BF67E9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回归模型定义</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内容占位符 4">
            <a:extLst>
              <a:ext uri="{FF2B5EF4-FFF2-40B4-BE49-F238E27FC236}">
                <a16:creationId xmlns:a16="http://schemas.microsoft.com/office/drawing/2014/main" id="{A5710B60-82E7-C39D-072E-DB62AAA087E4}"/>
              </a:ext>
            </a:extLst>
          </p:cNvPr>
          <p:cNvSpPr txBox="1">
            <a:spLocks/>
          </p:cNvSpPr>
          <p:nvPr/>
        </p:nvSpPr>
        <p:spPr>
          <a:xfrm>
            <a:off x="1192906" y="2855397"/>
            <a:ext cx="9102982" cy="452596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目的</a:t>
            </a:r>
            <a:r>
              <a:rPr kumimoji="0" lang="en-US" altLang="zh-CN"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回答“变量之间是什么样的关系？”</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目的</a:t>
            </a:r>
            <a:r>
              <a:rPr kumimoji="0" lang="en-US" altLang="zh-CN" sz="2800" b="1" i="0" u="none" strike="noStrike" kern="1200" cap="none" spc="0" normalizeH="0" baseline="0" noProof="0" dirty="0">
                <a:ln w="11430"/>
                <a:solidFill>
                  <a:srgbClr val="FF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2:</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主要用于预测和估计</a:t>
            </a: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要求</a:t>
            </a:r>
            <a:r>
              <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1:1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个数字的因变量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响应变量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被预测的变量</a:t>
            </a:r>
            <a:endParaRPr kumimoji="0" lang="en-US" altLang="zh-CN"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1" indent="-438150" algn="l" defTabSz="914400" rtl="0" eaLnBrk="1" fontAlgn="auto" latinLnBrk="0" hangingPunct="1">
              <a:lnSpc>
                <a:spcPct val="125000"/>
              </a:lnSpc>
              <a:spcBef>
                <a:spcPct val="0"/>
              </a:spcBef>
              <a:spcAft>
                <a:spcPts val="0"/>
              </a:spcAft>
              <a:buClr>
                <a:srgbClr val="000066"/>
              </a:buClr>
              <a:buSzTx/>
              <a:buFont typeface="Wingdings" pitchFamily="2" charset="2"/>
              <a:buChar char="n"/>
              <a:tabLst/>
              <a:defRPr/>
            </a:pP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要求</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2:1</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个或多个数字的或分类的自变量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解释变量</a:t>
            </a:r>
            <a:r>
              <a:rPr kumimoji="0" lang="en-US" altLang="zh-CN"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a:t>
            </a:r>
            <a:r>
              <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rPr>
              <a:t>用于预测的变量</a:t>
            </a: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rgbClr val="0000FF"/>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p:txBody>
      </p:sp>
      <p:sp>
        <p:nvSpPr>
          <p:cNvPr id="5" name="TextBox 7">
            <a:extLst>
              <a:ext uri="{FF2B5EF4-FFF2-40B4-BE49-F238E27FC236}">
                <a16:creationId xmlns:a16="http://schemas.microsoft.com/office/drawing/2014/main" id="{61FAD638-AF5C-0C48-F189-7EA81F6A61C3}"/>
              </a:ext>
            </a:extLst>
          </p:cNvPr>
          <p:cNvSpPr txBox="1"/>
          <p:nvPr/>
        </p:nvSpPr>
        <p:spPr>
          <a:xfrm>
            <a:off x="568460" y="1285737"/>
            <a:ext cx="11356213" cy="156966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回归模型：</a:t>
            </a:r>
            <a:r>
              <a:rPr kumimoji="0" lang="zh-CN" altLang="en-US" sz="32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是通过回归分析建立起来的数学模型 ，用于定量描述变量之间的相互关系。</a:t>
            </a: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5063" y="2729433"/>
            <a:ext cx="3139610" cy="1609898"/>
          </a:xfrm>
          <a:prstGeom prst="rect">
            <a:avLst/>
          </a:prstGeom>
        </p:spPr>
      </p:pic>
    </p:spTree>
    <p:extLst>
      <p:ext uri="{BB962C8B-B14F-4D97-AF65-F5344CB8AC3E}">
        <p14:creationId xmlns:p14="http://schemas.microsoft.com/office/powerpoint/2010/main" val="17330086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E4795-F2E9-7FB3-D6EB-1FBDDEA354AC}"/>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C87C34B-AB5C-D0FC-E54F-5A2E8631EE5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回归模型分类</a:t>
            </a:r>
            <a:endParaRPr lang="en-US" sz="3200" b="0" dirty="0">
              <a:solidFill>
                <a:srgbClr val="FFFF00"/>
              </a:solidFill>
              <a:latin typeface="华光综艺_CNKI" panose="02000500000000000000" pitchFamily="2" charset="-122"/>
              <a:ea typeface="华光综艺_CNKI" panose="02000500000000000000" pitchFamily="2" charset="-122"/>
            </a:endParaRPr>
          </a:p>
        </p:txBody>
      </p:sp>
      <p:pic>
        <p:nvPicPr>
          <p:cNvPr id="7" name="图形 13">
            <a:extLst>
              <a:ext uri="{FF2B5EF4-FFF2-40B4-BE49-F238E27FC236}">
                <a16:creationId xmlns:a16="http://schemas.microsoft.com/office/drawing/2014/main" id="{AB910A13-3A6F-FE3F-2CE2-70F0CAD02D3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7238" r="2475" b="3691"/>
          <a:stretch/>
        </p:blipFill>
        <p:spPr bwMode="auto">
          <a:xfrm>
            <a:off x="1147155" y="2445242"/>
            <a:ext cx="9492827" cy="4231064"/>
          </a:xfrm>
          <a:prstGeom prst="rect">
            <a:avLst/>
          </a:prstGeom>
          <a:ln>
            <a:noFill/>
          </a:ln>
          <a:extLst>
            <a:ext uri="{53640926-AAD7-44D8-BBD7-CCE9431645EC}">
              <a14:shadowObscured xmlns:a14="http://schemas.microsoft.com/office/drawing/2010/main"/>
            </a:ext>
          </a:extLst>
        </p:spPr>
      </p:pic>
      <p:sp>
        <p:nvSpPr>
          <p:cNvPr id="11" name="内容占位符 2">
            <a:extLst>
              <a:ext uri="{FF2B5EF4-FFF2-40B4-BE49-F238E27FC236}">
                <a16:creationId xmlns:a16="http://schemas.microsoft.com/office/drawing/2014/main" id="{2994097C-AE22-0270-AABD-FFA9196CD9EB}"/>
              </a:ext>
            </a:extLst>
          </p:cNvPr>
          <p:cNvSpPr txBox="1">
            <a:spLocks/>
          </p:cNvSpPr>
          <p:nvPr/>
        </p:nvSpPr>
        <p:spPr>
          <a:xfrm>
            <a:off x="401780" y="1041976"/>
            <a:ext cx="11502043" cy="1609898"/>
          </a:xfrm>
          <a:prstGeom prst="rect">
            <a:avLst/>
          </a:prstGeom>
          <a:noFill/>
          <a:ln>
            <a:noFill/>
          </a:ln>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回归模型的类型：</a:t>
            </a:r>
            <a:r>
              <a:rPr kumimoji="0" lang="zh-CN" altLang="en-US" sz="2800" i="0" u="none" strike="noStrike" kern="1200" cap="none" spc="0" normalizeH="0" baseline="0" noProof="0" dirty="0">
                <a:ln w="11430"/>
                <a:solidFill>
                  <a:sysClr val="windowText" lastClr="000000"/>
                </a:solidFill>
                <a:effectLst>
                  <a:outerShdw blurRad="38100" dist="38100" dir="2700000" algn="tl">
                    <a:srgbClr val="000000">
                      <a:alpha val="43137"/>
                    </a:srgbClr>
                  </a:outerShdw>
                </a:effectLst>
                <a:uLnTx/>
                <a:uFillTx/>
                <a:latin typeface="微软雅黑" panose="020B0503020204020204" pitchFamily="34" charset="-122"/>
              </a:rPr>
              <a:t>根据自变量个数的不同，回归模型可划分为</a:t>
            </a:r>
            <a:r>
              <a:rPr lang="zh-CN" altLang="en-US" dirty="0">
                <a:solidFill>
                  <a:srgbClr val="0000FF"/>
                </a:solidFill>
              </a:rPr>
              <a:t>一元回归模型和多元回归模型</a:t>
            </a:r>
            <a:r>
              <a:rPr kumimoji="0" lang="zh-CN" altLang="en-US" sz="2800" i="0" u="none" strike="noStrike" kern="1200" cap="none" spc="0" normalizeH="0" baseline="0" noProof="0" dirty="0">
                <a:ln w="11430"/>
                <a:solidFill>
                  <a:sysClr val="windowText" lastClr="000000"/>
                </a:solidFill>
                <a:effectLst>
                  <a:outerShdw blurRad="38100" dist="38100" dir="2700000" algn="tl">
                    <a:srgbClr val="000000">
                      <a:alpha val="43137"/>
                    </a:srgbClr>
                  </a:outerShdw>
                </a:effectLst>
                <a:uLnTx/>
                <a:uFillTx/>
                <a:latin typeface="微软雅黑" panose="020B0503020204020204" pitchFamily="34" charset="-122"/>
              </a:rPr>
              <a:t>。而根据函数</a:t>
            </a:r>
            <a:r>
              <a:rPr kumimoji="0" lang="en-US" altLang="zh-CN" sz="2800" i="0" u="none" strike="noStrike" kern="1200" cap="none" spc="0" normalizeH="0" baseline="0" noProof="0" dirty="0">
                <a:ln w="11430"/>
                <a:solidFill>
                  <a:sysClr val="windowText" lastClr="000000"/>
                </a:solidFill>
                <a:effectLst>
                  <a:outerShdw blurRad="38100" dist="38100" dir="2700000" algn="tl">
                    <a:srgbClr val="000000">
                      <a:alpha val="43137"/>
                    </a:srgbClr>
                  </a:outerShdw>
                </a:effectLst>
                <a:uLnTx/>
                <a:uFillTx/>
                <a:latin typeface="微软雅黑" panose="020B0503020204020204" pitchFamily="34" charset="-122"/>
              </a:rPr>
              <a:t>f(x)</a:t>
            </a:r>
            <a:r>
              <a:rPr kumimoji="0" lang="zh-CN" altLang="en-US" sz="2800" i="0" u="none" strike="noStrike" kern="1200" cap="none" spc="0" normalizeH="0" baseline="0" noProof="0" dirty="0">
                <a:ln w="11430"/>
                <a:solidFill>
                  <a:sysClr val="windowText" lastClr="000000"/>
                </a:solidFill>
                <a:effectLst>
                  <a:outerShdw blurRad="38100" dist="38100" dir="2700000" algn="tl">
                    <a:srgbClr val="000000">
                      <a:alpha val="43137"/>
                    </a:srgbClr>
                  </a:outerShdw>
                </a:effectLst>
                <a:uLnTx/>
                <a:uFillTx/>
                <a:latin typeface="微软雅黑" panose="020B0503020204020204" pitchFamily="34" charset="-122"/>
              </a:rPr>
              <a:t>的具体形式，回归模型又可划分为</a:t>
            </a:r>
            <a:r>
              <a:rPr lang="zh-CN" altLang="en-US" dirty="0">
                <a:solidFill>
                  <a:srgbClr val="0000FF"/>
                </a:solidFill>
              </a:rPr>
              <a:t>线性和非线性回归模型</a:t>
            </a:r>
            <a:endPar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auto" latinLnBrk="0" hangingPunct="1">
              <a:lnSpc>
                <a:spcPct val="125000"/>
              </a:lnSpc>
              <a:spcBef>
                <a:spcPct val="20000"/>
              </a:spcBef>
              <a:spcAft>
                <a:spcPts val="0"/>
              </a:spcAft>
              <a:buClrTx/>
              <a:buSzTx/>
              <a:buNone/>
              <a:tabLst/>
              <a:defRPr/>
            </a:pPr>
            <a:endParaRPr lang="zh-CN" altLang="en-US" dirty="0">
              <a:solidFill>
                <a:srgbClr val="0000FF"/>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spTree>
    <p:extLst>
      <p:ext uri="{BB962C8B-B14F-4D97-AF65-F5344CB8AC3E}">
        <p14:creationId xmlns:p14="http://schemas.microsoft.com/office/powerpoint/2010/main" val="252071274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0CDF5-ADE1-F91F-9378-52BEB0335996}"/>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544DA47-F51F-839E-F1B4-591733796FE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回归分析的一般步骤</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1" name="内容占位符 2">
            <a:extLst>
              <a:ext uri="{FF2B5EF4-FFF2-40B4-BE49-F238E27FC236}">
                <a16:creationId xmlns:a16="http://schemas.microsoft.com/office/drawing/2014/main" id="{7FA23477-FB46-814B-9586-4C2108A40605}"/>
              </a:ext>
            </a:extLst>
          </p:cNvPr>
          <p:cNvSpPr txBox="1">
            <a:spLocks/>
          </p:cNvSpPr>
          <p:nvPr/>
        </p:nvSpPr>
        <p:spPr>
          <a:xfrm>
            <a:off x="401779" y="1098137"/>
            <a:ext cx="11502043"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使用回归分析解决问题的一般步骤：</a:t>
            </a:r>
            <a:endParaRPr lang="zh-CN" altLang="en-US" dirty="0">
              <a:solidFill>
                <a:srgbClr val="0000FF"/>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graphicFrame>
        <p:nvGraphicFramePr>
          <p:cNvPr id="5" name="表格 4">
            <a:extLst>
              <a:ext uri="{FF2B5EF4-FFF2-40B4-BE49-F238E27FC236}">
                <a16:creationId xmlns:a16="http://schemas.microsoft.com/office/drawing/2014/main" id="{5618DE34-48FA-2D22-2648-D0FC3EB98804}"/>
              </a:ext>
            </a:extLst>
          </p:cNvPr>
          <p:cNvGraphicFramePr>
            <a:graphicFrameLocks noGrp="1"/>
          </p:cNvGraphicFramePr>
          <p:nvPr>
            <p:extLst>
              <p:ext uri="{D42A27DB-BD31-4B8C-83A1-F6EECF244321}">
                <p14:modId xmlns:p14="http://schemas.microsoft.com/office/powerpoint/2010/main" val="4288655793"/>
              </p:ext>
            </p:extLst>
          </p:nvPr>
        </p:nvGraphicFramePr>
        <p:xfrm>
          <a:off x="923903" y="1991813"/>
          <a:ext cx="10344194" cy="2909625"/>
        </p:xfrm>
        <a:graphic>
          <a:graphicData uri="http://schemas.openxmlformats.org/drawingml/2006/table">
            <a:tbl>
              <a:tblPr firstRow="1" firstCol="1" bandRow="1"/>
              <a:tblGrid>
                <a:gridCol w="10344194">
                  <a:extLst>
                    <a:ext uri="{9D8B030D-6E8A-4147-A177-3AD203B41FA5}">
                      <a16:colId xmlns:a16="http://schemas.microsoft.com/office/drawing/2014/main" val="4042085876"/>
                    </a:ext>
                  </a:extLst>
                </a:gridCol>
              </a:tblGrid>
              <a:tr h="2909625">
                <a:tc>
                  <a:txBody>
                    <a:bodyPr/>
                    <a:lstStyle/>
                    <a:p>
                      <a:pPr marL="533400" indent="-533400" algn="just">
                        <a:lnSpc>
                          <a:spcPct val="150000"/>
                        </a:lnSpc>
                        <a:spcBef>
                          <a:spcPts val="360"/>
                        </a:spcBef>
                      </a:pP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步骤</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：根据任务目的收集并处理得到一组具有因变量和自变量的数据，即样本观察值；</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533400" indent="-533400" algn="l">
                        <a:lnSpc>
                          <a:spcPct val="150000"/>
                        </a:lnSpc>
                      </a:pP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步骤</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：根据样本观察值分析变量之间相关关系的具体形式，并选定适合描述变量间关系的模型；</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533400" indent="-533400" algn="l">
                        <a:lnSpc>
                          <a:spcPct val="150000"/>
                        </a:lnSpc>
                      </a:pP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步骤</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：按照一定准则（如最小二乘法）估计模型中的未知参数，以求得回归模型具体方程；</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533400" indent="-533400" algn="just">
                        <a:lnSpc>
                          <a:spcPct val="150000"/>
                        </a:lnSpc>
                      </a:pP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步骤</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：对回归模型和参数估计值进行显著性检验；</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533400" indent="-533400" algn="just">
                        <a:lnSpc>
                          <a:spcPct val="150000"/>
                        </a:lnSpc>
                        <a:spcAft>
                          <a:spcPts val="600"/>
                        </a:spcAft>
                      </a:pP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步骤</a:t>
                      </a:r>
                      <a:r>
                        <a:rPr lang="en-US"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sz="20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：利用模型对因变量做出解释或预测。</a:t>
                      </a:r>
                      <a:endParaRPr lang="en-US" altLang="zh-CN" sz="2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4D5"/>
                    </a:solidFill>
                  </a:tcPr>
                </a:tc>
                <a:extLst>
                  <a:ext uri="{0D108BD9-81ED-4DB2-BD59-A6C34878D82A}">
                    <a16:rowId xmlns:a16="http://schemas.microsoft.com/office/drawing/2014/main" val="3860433269"/>
                  </a:ext>
                </a:extLst>
              </a:tr>
            </a:tbl>
          </a:graphicData>
        </a:graphic>
      </p:graphicFrame>
      <p:pic>
        <p:nvPicPr>
          <p:cNvPr id="6" name="图形 41">
            <a:extLst>
              <a:ext uri="{FF2B5EF4-FFF2-40B4-BE49-F238E27FC236}">
                <a16:creationId xmlns:a16="http://schemas.microsoft.com/office/drawing/2014/main" id="{EA806B5B-E951-7FA6-A24F-7AB546DD34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5656" y="4887682"/>
            <a:ext cx="2865120" cy="2148840"/>
          </a:xfrm>
          <a:prstGeom prst="rect">
            <a:avLst/>
          </a:prstGeom>
        </p:spPr>
      </p:pic>
      <p:pic>
        <p:nvPicPr>
          <p:cNvPr id="9" name="图片 8">
            <a:extLst>
              <a:ext uri="{FF2B5EF4-FFF2-40B4-BE49-F238E27FC236}">
                <a16:creationId xmlns:a16="http://schemas.microsoft.com/office/drawing/2014/main" id="{63F500FF-4A26-D170-C178-6FD4DD527190}"/>
              </a:ext>
            </a:extLst>
          </p:cNvPr>
          <p:cNvPicPr>
            <a:picLocks noChangeAspect="1"/>
          </p:cNvPicPr>
          <p:nvPr/>
        </p:nvPicPr>
        <p:blipFill>
          <a:blip r:embed="rId5"/>
          <a:stretch>
            <a:fillRect/>
          </a:stretch>
        </p:blipFill>
        <p:spPr>
          <a:xfrm>
            <a:off x="484990" y="5450162"/>
            <a:ext cx="3028173" cy="920793"/>
          </a:xfrm>
          <a:prstGeom prst="rect">
            <a:avLst/>
          </a:prstGeom>
        </p:spPr>
      </p:pic>
      <p:pic>
        <p:nvPicPr>
          <p:cNvPr id="10" name="图形 2">
            <a:extLst>
              <a:ext uri="{FF2B5EF4-FFF2-40B4-BE49-F238E27FC236}">
                <a16:creationId xmlns:a16="http://schemas.microsoft.com/office/drawing/2014/main" id="{50A4FF6C-2277-5E52-790E-00C634CED8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28052" y="5127287"/>
            <a:ext cx="2193290" cy="1566545"/>
          </a:xfrm>
          <a:prstGeom prst="rect">
            <a:avLst/>
          </a:prstGeom>
        </p:spPr>
      </p:pic>
      <p:pic>
        <p:nvPicPr>
          <p:cNvPr id="12" name="图片 11">
            <a:extLst>
              <a:ext uri="{FF2B5EF4-FFF2-40B4-BE49-F238E27FC236}">
                <a16:creationId xmlns:a16="http://schemas.microsoft.com/office/drawing/2014/main" id="{EB499F50-0633-10BD-174A-7EE5B6F6569F}"/>
              </a:ext>
            </a:extLst>
          </p:cNvPr>
          <p:cNvPicPr>
            <a:picLocks noChangeAspect="1"/>
          </p:cNvPicPr>
          <p:nvPr/>
        </p:nvPicPr>
        <p:blipFill>
          <a:blip r:embed="rId8"/>
          <a:stretch>
            <a:fillRect/>
          </a:stretch>
        </p:blipFill>
        <p:spPr>
          <a:xfrm>
            <a:off x="9546327" y="5314402"/>
            <a:ext cx="2124075" cy="1295400"/>
          </a:xfrm>
          <a:prstGeom prst="rect">
            <a:avLst/>
          </a:prstGeom>
        </p:spPr>
      </p:pic>
    </p:spTree>
    <p:extLst>
      <p:ext uri="{BB962C8B-B14F-4D97-AF65-F5344CB8AC3E}">
        <p14:creationId xmlns:p14="http://schemas.microsoft.com/office/powerpoint/2010/main" val="34244381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12F3D-0431-22A2-7881-5A0FC2E03EDC}"/>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8E052DC7-D240-56AF-8C4F-858BCF9833D8}"/>
              </a:ext>
            </a:extLst>
          </p:cNvPr>
          <p:cNvSpPr txBox="1">
            <a:spLocks noChangeArrowheads="1"/>
          </p:cNvSpPr>
          <p:nvPr/>
        </p:nvSpPr>
        <p:spPr bwMode="auto">
          <a:xfrm>
            <a:off x="3489906" y="2566613"/>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dirty="0">
                <a:solidFill>
                  <a:srgbClr val="0084CF"/>
                </a:solidFill>
              </a:rPr>
              <a:t>高尔顿身高回归研究</a:t>
            </a:r>
          </a:p>
        </p:txBody>
      </p:sp>
      <p:sp>
        <p:nvSpPr>
          <p:cNvPr id="26" name="矩形 33">
            <a:extLst>
              <a:ext uri="{FF2B5EF4-FFF2-40B4-BE49-F238E27FC236}">
                <a16:creationId xmlns:a16="http://schemas.microsoft.com/office/drawing/2014/main" id="{B0905854-3171-148D-D2E9-1536E8D96313}"/>
              </a:ext>
            </a:extLst>
          </p:cNvPr>
          <p:cNvSpPr/>
          <p:nvPr/>
        </p:nvSpPr>
        <p:spPr>
          <a:xfrm>
            <a:off x="2306212" y="2405183"/>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AACFE4D8-ACCA-2948-DAE2-778749F81228}"/>
              </a:ext>
            </a:extLst>
          </p:cNvPr>
          <p:cNvSpPr/>
          <p:nvPr/>
        </p:nvSpPr>
        <p:spPr>
          <a:xfrm>
            <a:off x="2396223" y="2489846"/>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3EECD787-3D5C-3BAA-1416-3D1C4560F52B}"/>
              </a:ext>
            </a:extLst>
          </p:cNvPr>
          <p:cNvCxnSpPr>
            <a:stCxn id="26" idx="2"/>
          </p:cNvCxnSpPr>
          <p:nvPr/>
        </p:nvCxnSpPr>
        <p:spPr>
          <a:xfrm>
            <a:off x="2805074" y="3343625"/>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5" name="组合 9">
            <a:extLst>
              <a:ext uri="{FF2B5EF4-FFF2-40B4-BE49-F238E27FC236}">
                <a16:creationId xmlns:a16="http://schemas.microsoft.com/office/drawing/2014/main" id="{27964A98-20E8-3EC3-E539-E8406600F802}"/>
              </a:ext>
            </a:extLst>
          </p:cNvPr>
          <p:cNvGrpSpPr/>
          <p:nvPr/>
        </p:nvGrpSpPr>
        <p:grpSpPr>
          <a:xfrm>
            <a:off x="2306212" y="3548157"/>
            <a:ext cx="7579576" cy="938442"/>
            <a:chOff x="2734890" y="3810985"/>
            <a:chExt cx="7430257" cy="978068"/>
          </a:xfrm>
        </p:grpSpPr>
        <p:grpSp>
          <p:nvGrpSpPr>
            <p:cNvPr id="17" name="组合 26">
              <a:extLst>
                <a:ext uri="{FF2B5EF4-FFF2-40B4-BE49-F238E27FC236}">
                  <a16:creationId xmlns:a16="http://schemas.microsoft.com/office/drawing/2014/main" id="{A1E342D6-6993-2249-ED39-09E66D618320}"/>
                </a:ext>
              </a:extLst>
            </p:cNvPr>
            <p:cNvGrpSpPr/>
            <p:nvPr/>
          </p:nvGrpSpPr>
          <p:grpSpPr>
            <a:xfrm>
              <a:off x="2734890" y="3810985"/>
              <a:ext cx="7329156" cy="978068"/>
              <a:chOff x="3382706" y="3231661"/>
              <a:chExt cx="7329156" cy="978068"/>
            </a:xfrm>
          </p:grpSpPr>
          <p:sp>
            <p:nvSpPr>
              <p:cNvPr id="19" name="Text Box 7">
                <a:extLst>
                  <a:ext uri="{FF2B5EF4-FFF2-40B4-BE49-F238E27FC236}">
                    <a16:creationId xmlns:a16="http://schemas.microsoft.com/office/drawing/2014/main" id="{7E2915E6-480E-46B0-2CB7-405CE7DBD32A}"/>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  回归分析概论</a:t>
                </a:r>
                <a:r>
                  <a:rPr kumimoji="0" lang="en-US" altLang="zh-CN"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rPr>
                  <a:t>	</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2">
                <a:extLst>
                  <a:ext uri="{FF2B5EF4-FFF2-40B4-BE49-F238E27FC236}">
                    <a16:creationId xmlns:a16="http://schemas.microsoft.com/office/drawing/2014/main" id="{91401805-3886-EE42-E0B6-4677E94D056C}"/>
                  </a:ext>
                </a:extLst>
              </p:cNvPr>
              <p:cNvGrpSpPr/>
              <p:nvPr/>
            </p:nvGrpSpPr>
            <p:grpSpPr>
              <a:xfrm>
                <a:off x="3382706" y="3231661"/>
                <a:ext cx="978070" cy="978068"/>
                <a:chOff x="2051720" y="1381964"/>
                <a:chExt cx="1152128" cy="1152128"/>
              </a:xfrm>
            </p:grpSpPr>
            <p:sp>
              <p:nvSpPr>
                <p:cNvPr id="21" name="矩形 29">
                  <a:extLst>
                    <a:ext uri="{FF2B5EF4-FFF2-40B4-BE49-F238E27FC236}">
                      <a16:creationId xmlns:a16="http://schemas.microsoft.com/office/drawing/2014/main" id="{2DD5AA09-0126-D8AE-C751-ACFDA602F592}"/>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E7089FBB-DFBD-65C5-40C6-DC9271E2D0FE}"/>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8" name="直接连接符 43">
              <a:extLst>
                <a:ext uri="{FF2B5EF4-FFF2-40B4-BE49-F238E27FC236}">
                  <a16:creationId xmlns:a16="http://schemas.microsoft.com/office/drawing/2014/main" id="{A3152450-7634-62F9-27D4-3CB623E4D4B4}"/>
                </a:ext>
              </a:extLst>
            </p:cNvPr>
            <p:cNvCxnSpPr>
              <a:stCxn id="21" idx="2"/>
            </p:cNvCxnSpPr>
            <p:nvPr/>
          </p:nvCxnSpPr>
          <p:spPr>
            <a:xfrm>
              <a:off x="3223924" y="4789053"/>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13" name="Text Box 7">
            <a:extLst>
              <a:ext uri="{FF2B5EF4-FFF2-40B4-BE49-F238E27FC236}">
                <a16:creationId xmlns:a16="http://schemas.microsoft.com/office/drawing/2014/main" id="{6C13B90F-9F7E-9E17-96C9-DA78D1231112}"/>
              </a:ext>
            </a:extLst>
          </p:cNvPr>
          <p:cNvSpPr txBox="1">
            <a:spLocks noChangeArrowheads="1"/>
          </p:cNvSpPr>
          <p:nvPr/>
        </p:nvSpPr>
        <p:spPr bwMode="auto">
          <a:xfrm>
            <a:off x="3489906" y="4852561"/>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105000"/>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回归模型的评价指标</a:t>
            </a:r>
          </a:p>
        </p:txBody>
      </p:sp>
      <p:sp>
        <p:nvSpPr>
          <p:cNvPr id="15" name="矩形 41">
            <a:extLst>
              <a:ext uri="{FF2B5EF4-FFF2-40B4-BE49-F238E27FC236}">
                <a16:creationId xmlns:a16="http://schemas.microsoft.com/office/drawing/2014/main" id="{47A6E902-AEAA-22C3-7536-AC4EA2A7A361}"/>
              </a:ext>
            </a:extLst>
          </p:cNvPr>
          <p:cNvSpPr/>
          <p:nvPr/>
        </p:nvSpPr>
        <p:spPr>
          <a:xfrm>
            <a:off x="2306212" y="4691131"/>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05722393-3D7C-335E-6B92-F36B459B2E19}"/>
              </a:ext>
            </a:extLst>
          </p:cNvPr>
          <p:cNvSpPr/>
          <p:nvPr/>
        </p:nvSpPr>
        <p:spPr>
          <a:xfrm>
            <a:off x="2396223" y="4775794"/>
            <a:ext cx="817703" cy="76911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03</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12" name="直接连接符 45">
            <a:extLst>
              <a:ext uri="{FF2B5EF4-FFF2-40B4-BE49-F238E27FC236}">
                <a16:creationId xmlns:a16="http://schemas.microsoft.com/office/drawing/2014/main" id="{B4688F0A-063A-D13D-573E-7552F8B25AFA}"/>
              </a:ext>
            </a:extLst>
          </p:cNvPr>
          <p:cNvCxnSpPr>
            <a:stCxn id="15" idx="2"/>
          </p:cNvCxnSpPr>
          <p:nvPr/>
        </p:nvCxnSpPr>
        <p:spPr>
          <a:xfrm>
            <a:off x="2805074" y="5629573"/>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A345A2F2-DCBD-5402-5367-CEF8D4866C1F}"/>
              </a:ext>
            </a:extLst>
          </p:cNvPr>
          <p:cNvSpPr txBox="1">
            <a:spLocks/>
          </p:cNvSpPr>
          <p:nvPr/>
        </p:nvSpPr>
        <p:spPr>
          <a:xfrm>
            <a:off x="1371600" y="419621"/>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A4C2AF80-7B40-98DC-A9FB-85BAFC62312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spTree>
    <p:extLst>
      <p:ext uri="{BB962C8B-B14F-4D97-AF65-F5344CB8AC3E}">
        <p14:creationId xmlns:p14="http://schemas.microsoft.com/office/powerpoint/2010/main" val="3235363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E6320-E20D-E21B-BFDD-3A10105182B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8AF4A7D-DA14-43B3-1854-D096CAC5F23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回归模型的评价指标</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11" name="内容占位符 2">
            <a:extLst>
              <a:ext uri="{FF2B5EF4-FFF2-40B4-BE49-F238E27FC236}">
                <a16:creationId xmlns:a16="http://schemas.microsoft.com/office/drawing/2014/main" id="{FAF2169F-E0EC-54B0-68EE-336E36EECCF5}"/>
              </a:ext>
            </a:extLst>
          </p:cNvPr>
          <p:cNvSpPr txBox="1">
            <a:spLocks/>
          </p:cNvSpPr>
          <p:nvPr/>
        </p:nvSpPr>
        <p:spPr>
          <a:xfrm>
            <a:off x="292449" y="1161245"/>
            <a:ext cx="11790220" cy="786824"/>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lang="zh-CN" altLang="en-US" dirty="0">
                <a:solidFill>
                  <a:srgbClr val="008000"/>
                </a:solidFill>
                <a:effectLst>
                  <a:outerShdw blurRad="38100" dist="38100" dir="2700000" algn="tl">
                    <a:srgbClr val="000000">
                      <a:alpha val="43137"/>
                    </a:srgbClr>
                  </a:outerShdw>
                </a:effectLst>
                <a:latin typeface="微软雅黑" panose="020B0503020204020204" pitchFamily="34" charset="-122"/>
              </a:rPr>
              <a:t>回归模型的评价指标用于评估回归模型预测结果与实际观测值之间的差异</a:t>
            </a:r>
            <a:endParaRPr kumimoji="0" lang="zh-CN" altLang="en-US" sz="2800" b="1" i="0" u="none" strike="noStrike" kern="1200" cap="none" spc="0" normalizeH="0" baseline="0" noProof="0" dirty="0">
              <a:ln w="11430"/>
              <a:solidFill>
                <a:srgbClr val="008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graphicFrame>
        <p:nvGraphicFramePr>
          <p:cNvPr id="15" name="对象 14">
            <a:extLst>
              <a:ext uri="{FF2B5EF4-FFF2-40B4-BE49-F238E27FC236}">
                <a16:creationId xmlns:a16="http://schemas.microsoft.com/office/drawing/2014/main" id="{11A503EB-1D69-A0CF-ADE3-66B390ED0D9E}"/>
              </a:ext>
            </a:extLst>
          </p:cNvPr>
          <p:cNvGraphicFramePr>
            <a:graphicFrameLocks noChangeAspect="1"/>
          </p:cNvGraphicFramePr>
          <p:nvPr/>
        </p:nvGraphicFramePr>
        <p:xfrm>
          <a:off x="0" y="457200"/>
          <a:ext cx="203200" cy="184150"/>
        </p:xfrm>
        <a:graphic>
          <a:graphicData uri="http://schemas.openxmlformats.org/presentationml/2006/ole">
            <mc:AlternateContent xmlns:mc="http://schemas.openxmlformats.org/markup-compatibility/2006">
              <mc:Choice xmlns:v="urn:schemas-microsoft-com:vml" Requires="v">
                <p:oleObj name="Equation" r:id="rId3" imgW="203112" imgH="190417" progId="Equation.DSMT4">
                  <p:embed/>
                </p:oleObj>
              </mc:Choice>
              <mc:Fallback>
                <p:oleObj name="Equation" r:id="rId3" imgW="203112" imgH="190417" progId="Equation.DSMT4">
                  <p:embed/>
                  <p:pic>
                    <p:nvPicPr>
                      <p:cNvPr id="15" name="对象 14">
                        <a:extLst>
                          <a:ext uri="{FF2B5EF4-FFF2-40B4-BE49-F238E27FC236}">
                            <a16:creationId xmlns:a16="http://schemas.microsoft.com/office/drawing/2014/main" id="{6901BBA0-1CFD-6983-5CB9-086213D80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2032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CEFC32CB-45F1-6857-FDEC-A8555ADB7D93}"/>
              </a:ext>
            </a:extLst>
          </p:cNvPr>
          <p:cNvSpPr>
            <a:spLocks noChangeArrowheads="1"/>
          </p:cNvSpPr>
          <p:nvPr/>
        </p:nvSpPr>
        <p:spPr bwMode="auto">
          <a:xfrm>
            <a:off x="0" y="64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 name="内容占位符 2">
            <a:extLst>
              <a:ext uri="{FF2B5EF4-FFF2-40B4-BE49-F238E27FC236}">
                <a16:creationId xmlns:a16="http://schemas.microsoft.com/office/drawing/2014/main" id="{29626004-3CC4-0CA9-3E36-94D17458F7E2}"/>
              </a:ext>
            </a:extLst>
          </p:cNvPr>
          <p:cNvSpPr txBox="1">
            <a:spLocks/>
          </p:cNvSpPr>
          <p:nvPr/>
        </p:nvSpPr>
        <p:spPr>
          <a:xfrm>
            <a:off x="203200" y="1979761"/>
            <a:ext cx="11790220" cy="1609898"/>
          </a:xfrm>
          <a:prstGeom prst="rect">
            <a:avLst/>
          </a:prstGeom>
          <a:noFill/>
          <a:ln>
            <a:noFill/>
          </a:ln>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1</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）拟合优度检验：</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拟合优度检验通过一个统计量来检验样本数据点聚集在回归线周围的密集程度，以衡量模型对样本观测值的拟合程度。常用统计量为判定系数</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R2</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 。</a:t>
            </a:r>
            <a:endParaRPr lang="zh-CN" altLang="en-US" dirty="0">
              <a:solidFill>
                <a:schemeClr val="tx1"/>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pic>
        <p:nvPicPr>
          <p:cNvPr id="4" name="图片 3">
            <a:extLst>
              <a:ext uri="{FF2B5EF4-FFF2-40B4-BE49-F238E27FC236}">
                <a16:creationId xmlns:a16="http://schemas.microsoft.com/office/drawing/2014/main" id="{5EE6D132-6ADA-7E1B-D658-10FA890A5E0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5729" b="5607"/>
          <a:stretch/>
        </p:blipFill>
        <p:spPr bwMode="auto">
          <a:xfrm>
            <a:off x="588285" y="3509230"/>
            <a:ext cx="4408107" cy="3384629"/>
          </a:xfrm>
          <a:prstGeom prst="rect">
            <a:avLst/>
          </a:prstGeom>
          <a:noFill/>
          <a:ln>
            <a:noFill/>
          </a:ln>
          <a:extLst>
            <a:ext uri="{53640926-AAD7-44D8-BBD7-CCE9431645EC}">
              <a14:shadowObscured xmlns:a14="http://schemas.microsoft.com/office/drawing/2010/main"/>
            </a:ext>
          </a:extLst>
        </p:spPr>
      </p:pic>
      <p:graphicFrame>
        <p:nvGraphicFramePr>
          <p:cNvPr id="5" name="对象 4">
            <a:extLst>
              <a:ext uri="{FF2B5EF4-FFF2-40B4-BE49-F238E27FC236}">
                <a16:creationId xmlns:a16="http://schemas.microsoft.com/office/drawing/2014/main" id="{E268CFC3-9F64-0378-CCBA-A1B7F9F1765E}"/>
              </a:ext>
            </a:extLst>
          </p:cNvPr>
          <p:cNvGraphicFramePr>
            <a:graphicFrameLocks noChangeAspect="1"/>
          </p:cNvGraphicFramePr>
          <p:nvPr>
            <p:extLst>
              <p:ext uri="{D42A27DB-BD31-4B8C-83A1-F6EECF244321}">
                <p14:modId xmlns:p14="http://schemas.microsoft.com/office/powerpoint/2010/main" val="626897021"/>
              </p:ext>
            </p:extLst>
          </p:nvPr>
        </p:nvGraphicFramePr>
        <p:xfrm>
          <a:off x="6357888" y="5228071"/>
          <a:ext cx="4043647" cy="468684"/>
        </p:xfrm>
        <a:graphic>
          <a:graphicData uri="http://schemas.openxmlformats.org/presentationml/2006/ole">
            <mc:AlternateContent xmlns:mc="http://schemas.openxmlformats.org/markup-compatibility/2006">
              <mc:Choice xmlns:v="urn:schemas-microsoft-com:vml" Requires="v">
                <p:oleObj name="Equation" r:id="rId6" imgW="1647843" imgH="219248" progId="Equation.DSMT4">
                  <p:embed/>
                </p:oleObj>
              </mc:Choice>
              <mc:Fallback>
                <p:oleObj name="Equation" r:id="rId6" imgW="1647843" imgH="219248" progId="Equation.DSMT4">
                  <p:embed/>
                  <p:pic>
                    <p:nvPicPr>
                      <p:cNvPr id="10" name="对象 9">
                        <a:extLst>
                          <a:ext uri="{FF2B5EF4-FFF2-40B4-BE49-F238E27FC236}">
                            <a16:creationId xmlns:a16="http://schemas.microsoft.com/office/drawing/2014/main" id="{E268CFC3-9F64-0378-CCBA-A1B7F9F1765E}"/>
                          </a:ext>
                        </a:extLst>
                      </p:cNvPr>
                      <p:cNvPicPr/>
                      <p:nvPr/>
                    </p:nvPicPr>
                    <p:blipFill>
                      <a:blip r:embed="rId7"/>
                      <a:stretch>
                        <a:fillRect/>
                      </a:stretch>
                    </p:blipFill>
                    <p:spPr>
                      <a:xfrm>
                        <a:off x="6357888" y="5228071"/>
                        <a:ext cx="4043647" cy="46868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2348204C-0C21-FA9E-DF34-9974A55149C5}"/>
                  </a:ext>
                </a:extLst>
              </p:cNvPr>
              <p:cNvSpPr txBox="1">
                <a:spLocks/>
              </p:cNvSpPr>
              <p:nvPr/>
            </p:nvSpPr>
            <p:spPr>
              <a:xfrm>
                <a:off x="6004367" y="4606752"/>
                <a:ext cx="6112573"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400" b="1" i="0" u="none" strike="noStrike" kern="0" cap="none" spc="50" normalizeH="0" baseline="0" noProof="0" dirty="0">
                    <a:ln w="11430">
                      <a:solidFill>
                        <a:schemeClr val="tx1"/>
                      </a:solid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rPr>
                  <a:t>离差</a:t>
                </a:r>
                <a14:m>
                  <m:oMath xmlns:m="http://schemas.openxmlformats.org/officeDocument/2006/math">
                    <m:sSub>
                      <m:sSubPr>
                        <m:ctrlP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ctrlPr>
                      </m:sSubPr>
                      <m:e>
                        <m: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t>𝒚</m:t>
                        </m:r>
                      </m:e>
                      <m:sub>
                        <m: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t>𝒊</m:t>
                        </m:r>
                      </m:sub>
                    </m:sSub>
                    <m: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t>−</m:t>
                    </m:r>
                    <m:acc>
                      <m:accPr>
                        <m:chr m:val="̅"/>
                        <m:ctrlP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ctrlPr>
                      </m:accPr>
                      <m:e>
                        <m:r>
                          <a:rPr kumimoji="0" lang="en-US" altLang="zh-CN" sz="2400" b="1" i="1" u="none" strike="noStrike" kern="0" cap="none" spc="50" normalizeH="0" baseline="0" noProof="0" smtClean="0">
                            <a:ln w="11430">
                              <a:solidFill>
                                <a:schemeClr val="tx1"/>
                              </a:solidFill>
                            </a:ln>
                            <a:solidFill>
                              <a:schemeClr val="tx1"/>
                            </a:solidFill>
                            <a:effectLst/>
                            <a:uLnTx/>
                            <a:uFillTx/>
                            <a:latin typeface="Cambria Math" panose="02040503050406030204" pitchFamily="18" charset="0"/>
                            <a:ea typeface="微软雅黑" panose="020B0503020204020204" pitchFamily="34" charset="-122"/>
                            <a:cs typeface="Arial" panose="020B0604020202020204" pitchFamily="34" charset="0"/>
                          </a:rPr>
                          <m:t>𝒚</m:t>
                        </m:r>
                      </m:e>
                    </m:acc>
                  </m:oMath>
                </a14:m>
                <a:r>
                  <a:rPr kumimoji="0" lang="zh-CN" altLang="en-US" sz="2400" b="1" i="0" u="none" strike="noStrike" kern="0" cap="none" spc="50" normalizeH="0" baseline="0" noProof="0" dirty="0">
                    <a:ln w="11430">
                      <a:solidFill>
                        <a:schemeClr val="tx1"/>
                      </a:solid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rPr>
                  <a:t>可以分解为两部分之和</a:t>
                </a:r>
                <a:endParaRPr lang="zh-CN" altLang="en-US" dirty="0">
                  <a:solidFill>
                    <a:schemeClr val="tx1"/>
                  </a:solidFill>
                  <a:effectLst/>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mc:Choice>
        <mc:Fallback xmlns="">
          <p:sp>
            <p:nvSpPr>
              <p:cNvPr id="19" name="内容占位符 2">
                <a:extLst>
                  <a:ext uri="{FF2B5EF4-FFF2-40B4-BE49-F238E27FC236}">
                    <a16:creationId xmlns:a16="http://schemas.microsoft.com/office/drawing/2014/main" id="{2348204C-0C21-FA9E-DF34-9974A55149C5}"/>
                  </a:ext>
                </a:extLst>
              </p:cNvPr>
              <p:cNvSpPr txBox="1">
                <a:spLocks noRot="1" noChangeAspect="1" noMove="1" noResize="1" noEditPoints="1" noAdjustHandles="1" noChangeArrowheads="1" noChangeShapeType="1" noTextEdit="1"/>
              </p:cNvSpPr>
              <p:nvPr/>
            </p:nvSpPr>
            <p:spPr>
              <a:xfrm>
                <a:off x="6004367" y="4606752"/>
                <a:ext cx="6112573" cy="1609898"/>
              </a:xfrm>
              <a:prstGeom prst="rect">
                <a:avLst/>
              </a:prstGeom>
              <a:blipFill>
                <a:blip r:embed="rId8"/>
                <a:stretch>
                  <a:fillRect/>
                </a:stretch>
              </a:blipFill>
              <a:ln>
                <a:noFill/>
              </a:ln>
            </p:spPr>
            <p:txBody>
              <a:bodyPr/>
              <a:lstStyle/>
              <a:p>
                <a:r>
                  <a:rPr lang="zh-CN" altLang="en-US">
                    <a:noFill/>
                  </a:rPr>
                  <a:t> </a:t>
                </a:r>
              </a:p>
            </p:txBody>
          </p:sp>
        </mc:Fallback>
      </mc:AlternateContent>
      <p:sp>
        <p:nvSpPr>
          <p:cNvPr id="20" name="矩形: 圆角 19">
            <a:extLst>
              <a:ext uri="{FF2B5EF4-FFF2-40B4-BE49-F238E27FC236}">
                <a16:creationId xmlns:a16="http://schemas.microsoft.com/office/drawing/2014/main" id="{EB822237-9E68-C997-D54D-4CDE04718501}"/>
              </a:ext>
            </a:extLst>
          </p:cNvPr>
          <p:cNvSpPr/>
          <p:nvPr/>
        </p:nvSpPr>
        <p:spPr>
          <a:xfrm>
            <a:off x="5701553" y="4377227"/>
            <a:ext cx="5405718" cy="1536243"/>
          </a:xfrm>
          <a:prstGeom prst="round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108341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80832-DCA5-B6FE-F101-90B61185D2A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5137CCA-5DC0-65D6-0A1F-03D6DEE83CB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回归模型的评价指标</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15" name="对象 14">
            <a:extLst>
              <a:ext uri="{FF2B5EF4-FFF2-40B4-BE49-F238E27FC236}">
                <a16:creationId xmlns:a16="http://schemas.microsoft.com/office/drawing/2014/main" id="{6901BBA0-1CFD-6983-5CB9-086213D80EBD}"/>
              </a:ext>
            </a:extLst>
          </p:cNvPr>
          <p:cNvGraphicFramePr>
            <a:graphicFrameLocks noChangeAspect="1"/>
          </p:cNvGraphicFramePr>
          <p:nvPr/>
        </p:nvGraphicFramePr>
        <p:xfrm>
          <a:off x="0" y="457200"/>
          <a:ext cx="203200" cy="184150"/>
        </p:xfrm>
        <a:graphic>
          <a:graphicData uri="http://schemas.openxmlformats.org/presentationml/2006/ole">
            <mc:AlternateContent xmlns:mc="http://schemas.openxmlformats.org/markup-compatibility/2006">
              <mc:Choice xmlns:v="urn:schemas-microsoft-com:vml" Requires="v">
                <p:oleObj name="Equation" r:id="rId3" imgW="203112" imgH="190417" progId="Equation.DSMT4">
                  <p:embed/>
                </p:oleObj>
              </mc:Choice>
              <mc:Fallback>
                <p:oleObj name="Equation" r:id="rId3" imgW="203112" imgH="190417"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2032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a:extLst>
              <a:ext uri="{FF2B5EF4-FFF2-40B4-BE49-F238E27FC236}">
                <a16:creationId xmlns:a16="http://schemas.microsoft.com/office/drawing/2014/main" id="{761C8CC2-46E9-CED2-B665-C7DB9C467CC8}"/>
              </a:ext>
            </a:extLst>
          </p:cNvPr>
          <p:cNvSpPr/>
          <p:nvPr/>
        </p:nvSpPr>
        <p:spPr>
          <a:xfrm>
            <a:off x="2635623" y="5172633"/>
            <a:ext cx="7368989" cy="1622612"/>
          </a:xfrm>
          <a:prstGeom prst="rect">
            <a:avLst/>
          </a:prstGeom>
          <a:solidFill>
            <a:schemeClr val="accent5">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3">
            <a:extLst>
              <a:ext uri="{FF2B5EF4-FFF2-40B4-BE49-F238E27FC236}">
                <a16:creationId xmlns:a16="http://schemas.microsoft.com/office/drawing/2014/main" id="{C12475A3-F92A-62CB-CA2C-AC140A159B81}"/>
              </a:ext>
            </a:extLst>
          </p:cNvPr>
          <p:cNvSpPr>
            <a:spLocks noChangeArrowheads="1"/>
          </p:cNvSpPr>
          <p:nvPr/>
        </p:nvSpPr>
        <p:spPr bwMode="auto">
          <a:xfrm>
            <a:off x="0" y="64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17" name="对象 16">
            <a:extLst>
              <a:ext uri="{FF2B5EF4-FFF2-40B4-BE49-F238E27FC236}">
                <a16:creationId xmlns:a16="http://schemas.microsoft.com/office/drawing/2014/main" id="{8D30F83F-5C3C-DE72-06BA-57AA6A4FA7FD}"/>
              </a:ext>
            </a:extLst>
          </p:cNvPr>
          <p:cNvGraphicFramePr>
            <a:graphicFrameLocks noChangeAspect="1"/>
          </p:cNvGraphicFramePr>
          <p:nvPr>
            <p:extLst>
              <p:ext uri="{D42A27DB-BD31-4B8C-83A1-F6EECF244321}">
                <p14:modId xmlns:p14="http://schemas.microsoft.com/office/powerpoint/2010/main" val="1376264449"/>
              </p:ext>
            </p:extLst>
          </p:nvPr>
        </p:nvGraphicFramePr>
        <p:xfrm>
          <a:off x="2906257" y="5305051"/>
          <a:ext cx="6825192" cy="1371132"/>
        </p:xfrm>
        <a:graphic>
          <a:graphicData uri="http://schemas.openxmlformats.org/presentationml/2006/ole">
            <mc:AlternateContent xmlns:mc="http://schemas.openxmlformats.org/markup-compatibility/2006">
              <mc:Choice xmlns:v="urn:schemas-microsoft-com:vml" Requires="v">
                <p:oleObj name="Equation" r:id="rId5" imgW="4267398" imgH="857191" progId="Equation.DSMT4">
                  <p:embed/>
                </p:oleObj>
              </mc:Choice>
              <mc:Fallback>
                <p:oleObj name="Equation" r:id="rId5" imgW="4267398" imgH="857191" progId="Equation.DSMT4">
                  <p:embed/>
                  <p:pic>
                    <p:nvPicPr>
                      <p:cNvPr id="6" name="对象 5">
                        <a:extLst>
                          <a:ext uri="{FF2B5EF4-FFF2-40B4-BE49-F238E27FC236}">
                            <a16:creationId xmlns:a16="http://schemas.microsoft.com/office/drawing/2014/main" id="{8D30F83F-5C3C-DE72-06BA-57AA6A4FA7FD}"/>
                          </a:ext>
                        </a:extLst>
                      </p:cNvPr>
                      <p:cNvPicPr/>
                      <p:nvPr/>
                    </p:nvPicPr>
                    <p:blipFill>
                      <a:blip r:embed="rId6"/>
                      <a:stretch>
                        <a:fillRect/>
                      </a:stretch>
                    </p:blipFill>
                    <p:spPr>
                      <a:xfrm>
                        <a:off x="2906257" y="5305051"/>
                        <a:ext cx="6825192" cy="1371132"/>
                      </a:xfrm>
                      <a:prstGeom prst="rect">
                        <a:avLst/>
                      </a:prstGeom>
                    </p:spPr>
                  </p:pic>
                </p:oleObj>
              </mc:Fallback>
            </mc:AlternateContent>
          </a:graphicData>
        </a:graphic>
      </p:graphicFrame>
      <p:sp>
        <p:nvSpPr>
          <p:cNvPr id="19" name="内容占位符 2">
            <a:extLst>
              <a:ext uri="{FF2B5EF4-FFF2-40B4-BE49-F238E27FC236}">
                <a16:creationId xmlns:a16="http://schemas.microsoft.com/office/drawing/2014/main" id="{6528FDA3-80CD-B283-69F4-E98B68709879}"/>
              </a:ext>
            </a:extLst>
          </p:cNvPr>
          <p:cNvSpPr txBox="1">
            <a:spLocks/>
          </p:cNvSpPr>
          <p:nvPr/>
        </p:nvSpPr>
        <p:spPr>
          <a:xfrm>
            <a:off x="289367" y="1163360"/>
            <a:ext cx="11429999" cy="4141693"/>
          </a:xfrm>
          <a:prstGeom prst="rect">
            <a:avLst/>
          </a:prstGeom>
          <a:noFill/>
          <a:ln>
            <a:noFill/>
          </a:ln>
        </p:spPr>
        <p:txBody>
          <a:bodyPr vert="horz" lIns="91440" tIns="45720" rIns="91440" bIns="45720" rtlCol="0">
            <a:normAutofit fontScale="92500"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总平方和（</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Total Sum of Squares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TSS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：所有点与样本均值离差的平方和，反映样本观测值总体离差的大小；</a:t>
            </a:r>
            <a:endPar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a:defRPr/>
            </a:pP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回归平方和（</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Explained Sum of Squares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ESS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也称为可解释的平方和，反映模型中解释变量所解释的那部分离差的大小，即自变量</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x</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的变化对因变量</a:t>
            </a:r>
            <a:r>
              <a:rPr lang="en-US" altLang="zh-CN" kern="0" spc="50" dirty="0">
                <a:solidFill>
                  <a:schemeClr val="tx1"/>
                </a:solidFill>
                <a:latin typeface="Arial" panose="020B0604020202020204" pitchFamily="34" charset="0"/>
              </a:rPr>
              <a:t>y</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取值变化的影响；</a:t>
            </a:r>
            <a:endPar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endParaRPr>
          </a:p>
          <a:p>
            <a:pPr>
              <a:defRPr/>
            </a:pP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残差平方和（</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Residual Sum of Squares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RSS</a:t>
            </a:r>
            <a:r>
              <a:rPr kumimoji="0" lang="zh-CN" altLang="en-US" sz="2800" b="1" i="0" u="none" strike="noStrike" kern="0" cap="none" spc="50" normalizeH="0" baseline="0" noProof="0" dirty="0">
                <a:ln w="11430"/>
                <a:solidFill>
                  <a:srgbClr val="008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也称为不可解释的平方和或剩余平方和，反映样本观测值与估计值偏离的大小，即随机因素（除</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x</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以外的其他因素）对</a:t>
            </a:r>
            <a:r>
              <a:rPr kumimoji="0" lang="en-US" altLang="zh-CN"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y</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取值的影响。</a:t>
            </a:r>
            <a:endParaRPr lang="zh-CN" altLang="en-US" dirty="0">
              <a:solidFill>
                <a:schemeClr val="tx1"/>
              </a:solidFill>
            </a:endParaRPr>
          </a:p>
          <a:p>
            <a:pPr marL="438150" marR="0" lvl="0" indent="-438150" algn="l" defTabSz="914400" rtl="0" eaLnBrk="1" fontAlgn="auto" latinLnBrk="0" hangingPunct="1">
              <a:lnSpc>
                <a:spcPct val="125000"/>
              </a:lnSpc>
              <a:spcBef>
                <a:spcPct val="20000"/>
              </a:spcBef>
              <a:spcAft>
                <a:spcPts val="0"/>
              </a:spcAft>
              <a:buClrTx/>
              <a:buSzTx/>
              <a:buFont typeface="Wingdings" pitchFamily="2" charset="2"/>
              <a:buChar char="n"/>
              <a:tabLst/>
              <a:defRPr/>
            </a:pP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sp>
        <p:nvSpPr>
          <p:cNvPr id="21" name="文本框 20">
            <a:extLst>
              <a:ext uri="{FF2B5EF4-FFF2-40B4-BE49-F238E27FC236}">
                <a16:creationId xmlns:a16="http://schemas.microsoft.com/office/drawing/2014/main" id="{CD76A7DD-C56B-BB3F-6482-1F50B1E04763}"/>
              </a:ext>
            </a:extLst>
          </p:cNvPr>
          <p:cNvSpPr txBox="1"/>
          <p:nvPr/>
        </p:nvSpPr>
        <p:spPr>
          <a:xfrm>
            <a:off x="264733" y="5990617"/>
            <a:ext cx="2395525"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总平方和可被分解为</a:t>
            </a:r>
          </a:p>
        </p:txBody>
      </p:sp>
    </p:spTree>
    <p:extLst>
      <p:ext uri="{BB962C8B-B14F-4D97-AF65-F5344CB8AC3E}">
        <p14:creationId xmlns:p14="http://schemas.microsoft.com/office/powerpoint/2010/main" val="18725088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3A1BB-F1B9-EEF6-7DC4-55A111F667E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F979EDEF-7976-4923-0CE7-8F7CC8D5F0B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回归模型的评价指标</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15" name="对象 14">
            <a:extLst>
              <a:ext uri="{FF2B5EF4-FFF2-40B4-BE49-F238E27FC236}">
                <a16:creationId xmlns:a16="http://schemas.microsoft.com/office/drawing/2014/main" id="{1A6E8FC5-5B49-9539-061E-AA65C61C1DC7}"/>
              </a:ext>
            </a:extLst>
          </p:cNvPr>
          <p:cNvGraphicFramePr>
            <a:graphicFrameLocks noChangeAspect="1"/>
          </p:cNvGraphicFramePr>
          <p:nvPr/>
        </p:nvGraphicFramePr>
        <p:xfrm>
          <a:off x="0" y="457200"/>
          <a:ext cx="203200" cy="184150"/>
        </p:xfrm>
        <a:graphic>
          <a:graphicData uri="http://schemas.openxmlformats.org/presentationml/2006/ole">
            <mc:AlternateContent xmlns:mc="http://schemas.openxmlformats.org/markup-compatibility/2006">
              <mc:Choice xmlns:v="urn:schemas-microsoft-com:vml" Requires="v">
                <p:oleObj name="Equation" r:id="rId3" imgW="203112" imgH="190417" progId="Equation.DSMT4">
                  <p:embed/>
                </p:oleObj>
              </mc:Choice>
              <mc:Fallback>
                <p:oleObj name="Equation" r:id="rId3" imgW="203112" imgH="190417" progId="Equation.DSMT4">
                  <p:embed/>
                  <p:pic>
                    <p:nvPicPr>
                      <p:cNvPr id="15" name="对象 14">
                        <a:extLst>
                          <a:ext uri="{FF2B5EF4-FFF2-40B4-BE49-F238E27FC236}">
                            <a16:creationId xmlns:a16="http://schemas.microsoft.com/office/drawing/2014/main" id="{6901BBA0-1CFD-6983-5CB9-086213D80E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2032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CE0EDC5C-98A8-6DEA-D080-19C2DCC9CF66}"/>
              </a:ext>
            </a:extLst>
          </p:cNvPr>
          <p:cNvSpPr>
            <a:spLocks noChangeArrowheads="1"/>
          </p:cNvSpPr>
          <p:nvPr/>
        </p:nvSpPr>
        <p:spPr bwMode="auto">
          <a:xfrm>
            <a:off x="0" y="64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9" name="内容占位符 2">
            <a:extLst>
              <a:ext uri="{FF2B5EF4-FFF2-40B4-BE49-F238E27FC236}">
                <a16:creationId xmlns:a16="http://schemas.microsoft.com/office/drawing/2014/main" id="{F9E93819-2633-2C90-226F-158D4E894EFF}"/>
              </a:ext>
            </a:extLst>
          </p:cNvPr>
          <p:cNvSpPr txBox="1">
            <a:spLocks/>
          </p:cNvSpPr>
          <p:nvPr/>
        </p:nvSpPr>
        <p:spPr>
          <a:xfrm>
            <a:off x="381000" y="1226113"/>
            <a:ext cx="11429999" cy="4141693"/>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依据上述分解，定义</a:t>
            </a:r>
            <a:r>
              <a:rPr kumimoji="0" lang="zh-CN" altLang="en-US" sz="2800" b="1" i="0" u="none" strike="noStrike" kern="0" cap="none" spc="50" normalizeH="0" baseline="0" noProof="0" dirty="0">
                <a:ln w="11430"/>
                <a:solidFill>
                  <a:srgbClr val="C0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判定系数 （回归平方和占总平方和的比例）</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来检验模型的拟合优度：</a:t>
            </a:r>
            <a:endParaRPr kumimoji="0" lang="zh-CN" altLang="en-US" sz="2800" b="1" i="0" u="none" strike="noStrike" kern="1200" cap="none" spc="0" normalizeH="0" baseline="0" noProof="0" dirty="0">
              <a:ln w="11430"/>
              <a:solidFill>
                <a:sysClr val="windowText" lastClr="000000"/>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graphicFrame>
        <p:nvGraphicFramePr>
          <p:cNvPr id="2" name="对象 1">
            <a:extLst>
              <a:ext uri="{FF2B5EF4-FFF2-40B4-BE49-F238E27FC236}">
                <a16:creationId xmlns:a16="http://schemas.microsoft.com/office/drawing/2014/main" id="{D440B09F-41CE-4C0D-D179-286F9856A01B}"/>
              </a:ext>
            </a:extLst>
          </p:cNvPr>
          <p:cNvGraphicFramePr>
            <a:graphicFrameLocks noChangeAspect="1"/>
          </p:cNvGraphicFramePr>
          <p:nvPr>
            <p:extLst>
              <p:ext uri="{D42A27DB-BD31-4B8C-83A1-F6EECF244321}">
                <p14:modId xmlns:p14="http://schemas.microsoft.com/office/powerpoint/2010/main" val="988248854"/>
              </p:ext>
            </p:extLst>
          </p:nvPr>
        </p:nvGraphicFramePr>
        <p:xfrm>
          <a:off x="1939649" y="2926747"/>
          <a:ext cx="4488043" cy="1759629"/>
        </p:xfrm>
        <a:graphic>
          <a:graphicData uri="http://schemas.openxmlformats.org/presentationml/2006/ole">
            <mc:AlternateContent xmlns:mc="http://schemas.openxmlformats.org/markup-compatibility/2006">
              <mc:Choice xmlns:v="urn:schemas-microsoft-com:vml" Requires="v">
                <p:oleObj name="Equation" r:id="rId5" imgW="2162321" imgH="847830" progId="Equation.DSMT4">
                  <p:embed/>
                </p:oleObj>
              </mc:Choice>
              <mc:Fallback>
                <p:oleObj name="Equation" r:id="rId5" imgW="2162321" imgH="847830" progId="Equation.DSMT4">
                  <p:embed/>
                  <p:pic>
                    <p:nvPicPr>
                      <p:cNvPr id="0" name=""/>
                      <p:cNvPicPr/>
                      <p:nvPr/>
                    </p:nvPicPr>
                    <p:blipFill>
                      <a:blip r:embed="rId6"/>
                      <a:stretch>
                        <a:fillRect/>
                      </a:stretch>
                    </p:blipFill>
                    <p:spPr>
                      <a:xfrm>
                        <a:off x="1939649" y="2926747"/>
                        <a:ext cx="4488043" cy="1759629"/>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70E9F8E1-9A92-44E7-040B-13D6FAB50432}"/>
              </a:ext>
            </a:extLst>
          </p:cNvPr>
          <p:cNvGraphicFramePr>
            <a:graphicFrameLocks noChangeAspect="1"/>
          </p:cNvGraphicFramePr>
          <p:nvPr>
            <p:extLst>
              <p:ext uri="{D42A27DB-BD31-4B8C-83A1-F6EECF244321}">
                <p14:modId xmlns:p14="http://schemas.microsoft.com/office/powerpoint/2010/main" val="85331182"/>
              </p:ext>
            </p:extLst>
          </p:nvPr>
        </p:nvGraphicFramePr>
        <p:xfrm>
          <a:off x="7478543" y="3553185"/>
          <a:ext cx="1498228" cy="506754"/>
        </p:xfrm>
        <a:graphic>
          <a:graphicData uri="http://schemas.openxmlformats.org/presentationml/2006/ole">
            <mc:AlternateContent xmlns:mc="http://schemas.openxmlformats.org/markup-compatibility/2006">
              <mc:Choice xmlns:v="urn:schemas-microsoft-com:vml" Requires="v">
                <p:oleObj name="Equation" r:id="rId7" imgW="647688" imgH="219248" progId="Equation.DSMT4">
                  <p:embed/>
                </p:oleObj>
              </mc:Choice>
              <mc:Fallback>
                <p:oleObj name="Equation" r:id="rId7" imgW="647688" imgH="219248" progId="Equation.DSMT4">
                  <p:embed/>
                  <p:pic>
                    <p:nvPicPr>
                      <p:cNvPr id="0" name=""/>
                      <p:cNvPicPr/>
                      <p:nvPr/>
                    </p:nvPicPr>
                    <p:blipFill>
                      <a:blip r:embed="rId8"/>
                      <a:stretch>
                        <a:fillRect/>
                      </a:stretch>
                    </p:blipFill>
                    <p:spPr>
                      <a:xfrm>
                        <a:off x="7478543" y="3553185"/>
                        <a:ext cx="1498228" cy="506754"/>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3876A4C-9220-84CE-AEBC-E96CA2D5528B}"/>
                  </a:ext>
                </a:extLst>
              </p:cNvPr>
              <p:cNvSpPr txBox="1"/>
              <p:nvPr/>
            </p:nvSpPr>
            <p:spPr>
              <a:xfrm>
                <a:off x="1102828" y="5089960"/>
                <a:ext cx="10452678" cy="862608"/>
              </a:xfrm>
              <a:prstGeom prst="rect">
                <a:avLst/>
              </a:prstGeom>
              <a:noFill/>
            </p:spPr>
            <p:txBody>
              <a:bodyPr wrap="square">
                <a:spAutoFit/>
              </a:bodyPr>
              <a:lstStyle/>
              <a:p>
                <a:r>
                  <a:rPr lang="zh-CN" altLang="en-US" sz="2400" b="1" dirty="0">
                    <a:solidFill>
                      <a:srgbClr val="008000"/>
                    </a:solidFill>
                    <a:latin typeface="微软雅黑" panose="020B0503020204020204" pitchFamily="34" charset="-122"/>
                    <a:ea typeface="微软雅黑" panose="020B0503020204020204" pitchFamily="34" charset="-122"/>
                  </a:rPr>
                  <a:t>回归平方和在总平方和中的占比越大，表示能被自变量解释的部分占比越大。</a:t>
                </a:r>
                <a:r>
                  <a:rPr lang="zh-CN" altLang="en-US" sz="2400" b="1" dirty="0">
                    <a:latin typeface="微软雅黑" panose="020B0503020204020204" pitchFamily="34" charset="-122"/>
                    <a:ea typeface="微软雅黑" panose="020B0503020204020204" pitchFamily="34" charset="-122"/>
                  </a:rPr>
                  <a:t>此时，判定系数</a:t>
                </a:r>
                <a14:m>
                  <m:oMath xmlns:m="http://schemas.openxmlformats.org/officeDocument/2006/math">
                    <m:sSup>
                      <m:sSupPr>
                        <m:ctrlPr>
                          <a:rPr lang="en-US" altLang="zh-CN" sz="2400" b="1" i="1" smtClean="0">
                            <a:latin typeface="Cambria Math" panose="02040503050406030204" pitchFamily="18" charset="0"/>
                            <a:ea typeface="微软雅黑" panose="020B0503020204020204" pitchFamily="34" charset="-122"/>
                          </a:rPr>
                        </m:ctrlPr>
                      </m:sSupPr>
                      <m:e>
                        <m:r>
                          <a:rPr lang="en-US" altLang="zh-CN" sz="2400" b="1" i="1" smtClean="0">
                            <a:latin typeface="Cambria Math" panose="02040503050406030204" pitchFamily="18" charset="0"/>
                            <a:ea typeface="微软雅黑" panose="020B0503020204020204" pitchFamily="34" charset="-122"/>
                          </a:rPr>
                          <m:t>𝑹</m:t>
                        </m:r>
                      </m:e>
                      <m:sup>
                        <m:r>
                          <a:rPr lang="en-US" altLang="zh-CN" sz="2400" b="1" i="1" smtClean="0">
                            <a:latin typeface="Cambria Math" panose="02040503050406030204" pitchFamily="18" charset="0"/>
                            <a:ea typeface="微软雅黑" panose="020B0503020204020204" pitchFamily="34" charset="-122"/>
                          </a:rPr>
                          <m:t>𝟐</m:t>
                        </m:r>
                      </m:sup>
                    </m:sSup>
                  </m:oMath>
                </a14:m>
                <a:r>
                  <a:rPr lang="zh-CN" altLang="en-US" sz="2400" b="1" dirty="0">
                    <a:latin typeface="微软雅黑" panose="020B0503020204020204" pitchFamily="34" charset="-122"/>
                    <a:ea typeface="微软雅黑" panose="020B0503020204020204" pitchFamily="34" charset="-122"/>
                  </a:rPr>
                  <a:t>值就越高，能有效反映回归方程的拟合效果。</a:t>
                </a:r>
              </a:p>
            </p:txBody>
          </p:sp>
        </mc:Choice>
        <mc:Fallback xmlns="">
          <p:sp>
            <p:nvSpPr>
              <p:cNvPr id="11" name="文本框 10">
                <a:extLst>
                  <a:ext uri="{FF2B5EF4-FFF2-40B4-BE49-F238E27FC236}">
                    <a16:creationId xmlns:a16="http://schemas.microsoft.com/office/drawing/2014/main" id="{A3876A4C-9220-84CE-AEBC-E96CA2D5528B}"/>
                  </a:ext>
                </a:extLst>
              </p:cNvPr>
              <p:cNvSpPr txBox="1">
                <a:spLocks noRot="1" noChangeAspect="1" noMove="1" noResize="1" noEditPoints="1" noAdjustHandles="1" noChangeArrowheads="1" noChangeShapeType="1" noTextEdit="1"/>
              </p:cNvSpPr>
              <p:nvPr/>
            </p:nvSpPr>
            <p:spPr>
              <a:xfrm>
                <a:off x="1102828" y="5089960"/>
                <a:ext cx="10452678" cy="862608"/>
              </a:xfrm>
              <a:prstGeom prst="rect">
                <a:avLst/>
              </a:prstGeom>
              <a:blipFill>
                <a:blip r:embed="rId9"/>
                <a:stretch>
                  <a:fillRect l="-933" t="-5674" r="-1749" b="-134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74991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1F75-BDD7-6854-394C-7B856E11B50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1002E7A-EEE7-BDDA-8B85-5F83F566889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回归模型的评价指标</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15" name="对象 14">
            <a:extLst>
              <a:ext uri="{FF2B5EF4-FFF2-40B4-BE49-F238E27FC236}">
                <a16:creationId xmlns:a16="http://schemas.microsoft.com/office/drawing/2014/main" id="{7DA5D67A-BE7F-38FE-FF7D-7EFA19E198FA}"/>
              </a:ext>
            </a:extLst>
          </p:cNvPr>
          <p:cNvGraphicFramePr>
            <a:graphicFrameLocks noChangeAspect="1"/>
          </p:cNvGraphicFramePr>
          <p:nvPr/>
        </p:nvGraphicFramePr>
        <p:xfrm>
          <a:off x="0" y="457200"/>
          <a:ext cx="203200" cy="184150"/>
        </p:xfrm>
        <a:graphic>
          <a:graphicData uri="http://schemas.openxmlformats.org/presentationml/2006/ole">
            <mc:AlternateContent xmlns:mc="http://schemas.openxmlformats.org/markup-compatibility/2006">
              <mc:Choice xmlns:v="urn:schemas-microsoft-com:vml" Requires="v">
                <p:oleObj name="Equation" r:id="rId3" imgW="203112" imgH="190417" progId="Equation.DSMT4">
                  <p:embed/>
                </p:oleObj>
              </mc:Choice>
              <mc:Fallback>
                <p:oleObj name="Equation" r:id="rId3" imgW="203112" imgH="190417" progId="Equation.DSMT4">
                  <p:embed/>
                  <p:pic>
                    <p:nvPicPr>
                      <p:cNvPr id="15" name="对象 14">
                        <a:extLst>
                          <a:ext uri="{FF2B5EF4-FFF2-40B4-BE49-F238E27FC236}">
                            <a16:creationId xmlns:a16="http://schemas.microsoft.com/office/drawing/2014/main" id="{11A503EB-1D69-A0CF-ADE3-66B390ED0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7200"/>
                        <a:ext cx="203200" cy="184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a:extLst>
              <a:ext uri="{FF2B5EF4-FFF2-40B4-BE49-F238E27FC236}">
                <a16:creationId xmlns:a16="http://schemas.microsoft.com/office/drawing/2014/main" id="{D389E83E-08D0-490B-A2BD-84B62B8E77F6}"/>
              </a:ext>
            </a:extLst>
          </p:cNvPr>
          <p:cNvSpPr>
            <a:spLocks noChangeArrowheads="1"/>
          </p:cNvSpPr>
          <p:nvPr/>
        </p:nvSpPr>
        <p:spPr bwMode="auto">
          <a:xfrm>
            <a:off x="0" y="641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 name="内容占位符 2">
            <a:extLst>
              <a:ext uri="{FF2B5EF4-FFF2-40B4-BE49-F238E27FC236}">
                <a16:creationId xmlns:a16="http://schemas.microsoft.com/office/drawing/2014/main" id="{8A0C67EA-826C-788F-E7F5-4C215A580580}"/>
              </a:ext>
            </a:extLst>
          </p:cNvPr>
          <p:cNvSpPr txBox="1">
            <a:spLocks/>
          </p:cNvSpPr>
          <p:nvPr/>
        </p:nvSpPr>
        <p:spPr>
          <a:xfrm>
            <a:off x="101600" y="1089526"/>
            <a:ext cx="11790220"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en-US" altLang="zh-CN" kern="0" spc="50" dirty="0">
                <a:solidFill>
                  <a:srgbClr val="FF0000"/>
                </a:solidFill>
                <a:latin typeface="Arial" panose="020B0604020202020204" pitchFamily="34" charset="0"/>
              </a:rPr>
              <a:t>2</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）平均绝对误差（</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Mean Absolute Error</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MAE</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是绝对误差的平均值</a:t>
            </a:r>
            <a:endParaRPr kumimoji="0" lang="zh-CN" altLang="en-US" sz="2800" b="1" i="0" u="none" strike="noStrike" kern="1200" cap="none" spc="0" normalizeH="0" baseline="0" noProof="0" dirty="0">
              <a:ln w="11430"/>
              <a:solidFill>
                <a:schemeClr val="tx1"/>
              </a:solidFill>
              <a:effectLst>
                <a:outerShdw blurRad="76200" dist="50800" dir="5400000" algn="tl" rotWithShape="0">
                  <a:srgbClr val="000000">
                    <a:alpha val="65000"/>
                  </a:srgbClr>
                </a:outerShdw>
              </a:effectLst>
              <a:uLnTx/>
              <a:uFillTx/>
              <a:latin typeface="Arial Rounded MT Bold" panose="020F0704030504030204" pitchFamily="34" charset="0"/>
              <a:ea typeface="微软雅黑" panose="020B0503020204020204" pitchFamily="34" charset="-122"/>
              <a:cs typeface="Arial" pitchFamily="34" charset="0"/>
            </a:endParaRPr>
          </a:p>
          <a:p>
            <a:endParaRPr lang="zh-CN" altLang="en-US" sz="2400" dirty="0">
              <a:latin typeface="Euclid" panose="02020503060505020303" pitchFamily="18" charset="0"/>
            </a:endParaRPr>
          </a:p>
        </p:txBody>
      </p:sp>
      <p:graphicFrame>
        <p:nvGraphicFramePr>
          <p:cNvPr id="6" name="对象 5">
            <a:extLst>
              <a:ext uri="{FF2B5EF4-FFF2-40B4-BE49-F238E27FC236}">
                <a16:creationId xmlns:a16="http://schemas.microsoft.com/office/drawing/2014/main" id="{8D477D72-D21F-2C93-2233-C0407626907B}"/>
              </a:ext>
            </a:extLst>
          </p:cNvPr>
          <p:cNvGraphicFramePr>
            <a:graphicFrameLocks noChangeAspect="1"/>
          </p:cNvGraphicFramePr>
          <p:nvPr>
            <p:extLst>
              <p:ext uri="{D42A27DB-BD31-4B8C-83A1-F6EECF244321}">
                <p14:modId xmlns:p14="http://schemas.microsoft.com/office/powerpoint/2010/main" val="2089784541"/>
              </p:ext>
            </p:extLst>
          </p:nvPr>
        </p:nvGraphicFramePr>
        <p:xfrm>
          <a:off x="4833380" y="1767509"/>
          <a:ext cx="2894197" cy="957792"/>
        </p:xfrm>
        <a:graphic>
          <a:graphicData uri="http://schemas.openxmlformats.org/presentationml/2006/ole">
            <mc:AlternateContent xmlns:mc="http://schemas.openxmlformats.org/markup-compatibility/2006">
              <mc:Choice xmlns:v="urn:schemas-microsoft-com:vml" Requires="v">
                <p:oleObj name="Equation" r:id="rId5" imgW="1324179" imgH="438136" progId="Equation.DSMT4">
                  <p:embed/>
                </p:oleObj>
              </mc:Choice>
              <mc:Fallback>
                <p:oleObj name="Equation" r:id="rId5" imgW="1324179" imgH="438136" progId="Equation.DSMT4">
                  <p:embed/>
                  <p:pic>
                    <p:nvPicPr>
                      <p:cNvPr id="0" name=""/>
                      <p:cNvPicPr/>
                      <p:nvPr/>
                    </p:nvPicPr>
                    <p:blipFill>
                      <a:blip r:embed="rId6"/>
                      <a:stretch>
                        <a:fillRect/>
                      </a:stretch>
                    </p:blipFill>
                    <p:spPr>
                      <a:xfrm>
                        <a:off x="4833380" y="1767509"/>
                        <a:ext cx="2894197" cy="957792"/>
                      </a:xfrm>
                      <a:prstGeom prst="rect">
                        <a:avLst/>
                      </a:prstGeom>
                    </p:spPr>
                  </p:pic>
                </p:oleObj>
              </mc:Fallback>
            </mc:AlternateContent>
          </a:graphicData>
        </a:graphic>
      </p:graphicFrame>
      <p:sp>
        <p:nvSpPr>
          <p:cNvPr id="7" name="内容占位符 2">
            <a:extLst>
              <a:ext uri="{FF2B5EF4-FFF2-40B4-BE49-F238E27FC236}">
                <a16:creationId xmlns:a16="http://schemas.microsoft.com/office/drawing/2014/main" id="{0593E893-C7B5-1971-938D-4F678AD90C23}"/>
              </a:ext>
            </a:extLst>
          </p:cNvPr>
          <p:cNvSpPr txBox="1">
            <a:spLocks/>
          </p:cNvSpPr>
          <p:nvPr/>
        </p:nvSpPr>
        <p:spPr>
          <a:xfrm>
            <a:off x="109257" y="2514438"/>
            <a:ext cx="11790220" cy="1609898"/>
          </a:xfrm>
          <a:prstGeom prst="rect">
            <a:avLst/>
          </a:prstGeom>
          <a:noFill/>
          <a:ln>
            <a:noFill/>
          </a:ln>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en-US" altLang="zh-CN" kern="0" spc="50" dirty="0">
                <a:solidFill>
                  <a:srgbClr val="FF0000"/>
                </a:solidFill>
                <a:latin typeface="Arial" panose="020B0604020202020204" pitchFamily="34" charset="0"/>
              </a:rPr>
              <a:t>3</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）均方根误差（</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Root Mean Square Error</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RMSE</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是预测值与实际观测值之间差值的平方的平均值的平方根</a:t>
            </a:r>
            <a:endParaRPr lang="zh-CN" altLang="en-US" sz="2400" dirty="0">
              <a:solidFill>
                <a:schemeClr val="tx1"/>
              </a:solidFill>
              <a:latin typeface="Euclid" panose="02020503060505020303" pitchFamily="18" charset="0"/>
            </a:endParaRPr>
          </a:p>
        </p:txBody>
      </p:sp>
      <p:graphicFrame>
        <p:nvGraphicFramePr>
          <p:cNvPr id="9" name="对象 8">
            <a:extLst>
              <a:ext uri="{FF2B5EF4-FFF2-40B4-BE49-F238E27FC236}">
                <a16:creationId xmlns:a16="http://schemas.microsoft.com/office/drawing/2014/main" id="{3B415472-59CA-7B71-A211-AF7393C901F2}"/>
              </a:ext>
            </a:extLst>
          </p:cNvPr>
          <p:cNvGraphicFramePr>
            <a:graphicFrameLocks noChangeAspect="1"/>
          </p:cNvGraphicFramePr>
          <p:nvPr>
            <p:extLst>
              <p:ext uri="{D42A27DB-BD31-4B8C-83A1-F6EECF244321}">
                <p14:modId xmlns:p14="http://schemas.microsoft.com/office/powerpoint/2010/main" val="102723185"/>
              </p:ext>
            </p:extLst>
          </p:nvPr>
        </p:nvGraphicFramePr>
        <p:xfrm>
          <a:off x="4833380" y="3671317"/>
          <a:ext cx="3294804" cy="957792"/>
        </p:xfrm>
        <a:graphic>
          <a:graphicData uri="http://schemas.openxmlformats.org/presentationml/2006/ole">
            <mc:AlternateContent xmlns:mc="http://schemas.openxmlformats.org/markup-compatibility/2006">
              <mc:Choice xmlns:v="urn:schemas-microsoft-com:vml" Requires="v">
                <p:oleObj name="Equation" r:id="rId7" imgW="1638482" imgH="476297" progId="Equation.DSMT4">
                  <p:embed/>
                </p:oleObj>
              </mc:Choice>
              <mc:Fallback>
                <p:oleObj name="Equation" r:id="rId7" imgW="1638482" imgH="476297" progId="Equation.DSMT4">
                  <p:embed/>
                  <p:pic>
                    <p:nvPicPr>
                      <p:cNvPr id="0" name=""/>
                      <p:cNvPicPr/>
                      <p:nvPr/>
                    </p:nvPicPr>
                    <p:blipFill>
                      <a:blip r:embed="rId8"/>
                      <a:stretch>
                        <a:fillRect/>
                      </a:stretch>
                    </p:blipFill>
                    <p:spPr>
                      <a:xfrm>
                        <a:off x="4833380" y="3671317"/>
                        <a:ext cx="3294804" cy="957792"/>
                      </a:xfrm>
                      <a:prstGeom prst="rect">
                        <a:avLst/>
                      </a:prstGeom>
                    </p:spPr>
                  </p:pic>
                </p:oleObj>
              </mc:Fallback>
            </mc:AlternateContent>
          </a:graphicData>
        </a:graphic>
      </p:graphicFrame>
      <p:sp>
        <p:nvSpPr>
          <p:cNvPr id="10" name="内容占位符 2">
            <a:extLst>
              <a:ext uri="{FF2B5EF4-FFF2-40B4-BE49-F238E27FC236}">
                <a16:creationId xmlns:a16="http://schemas.microsoft.com/office/drawing/2014/main" id="{047C766C-0718-DA6D-9BF2-1210A4DB8EFC}"/>
              </a:ext>
            </a:extLst>
          </p:cNvPr>
          <p:cNvSpPr txBox="1">
            <a:spLocks/>
          </p:cNvSpPr>
          <p:nvPr/>
        </p:nvSpPr>
        <p:spPr>
          <a:xfrm>
            <a:off x="59949" y="4486761"/>
            <a:ext cx="12275486" cy="1609898"/>
          </a:xfrm>
          <a:prstGeom prst="rect">
            <a:avLst/>
          </a:prstGeom>
          <a:noFill/>
          <a:ln>
            <a:noFill/>
          </a:ln>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4</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）平均绝对百分比误差（</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Mean Absolute Percentage Error</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kumimoji="0" lang="en-US" altLang="zh-CN"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MAPE</a:t>
            </a:r>
            <a:r>
              <a:rPr kumimoji="0" lang="zh-CN" altLang="en-US" sz="2800" b="1" i="0" u="none" strike="noStrike" kern="0" cap="none" spc="50" normalizeH="0" baseline="0" noProof="0" dirty="0">
                <a:ln w="11430"/>
                <a:solidFill>
                  <a:srgbClr val="FF0000"/>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a:t>
            </a:r>
            <a:r>
              <a:rPr lang="en-US" altLang="zh-CN" kern="0" spc="50" dirty="0">
                <a:solidFill>
                  <a:srgbClr val="FF0000"/>
                </a:solidFill>
                <a:latin typeface="Arial" panose="020B0604020202020204" pitchFamily="34" charset="0"/>
              </a:rPr>
              <a:t>:</a:t>
            </a:r>
            <a:r>
              <a:rPr kumimoji="0" lang="zh-CN" altLang="en-US" sz="2800" b="1" i="0" u="none" strike="noStrike" kern="0" cap="none" spc="50" normalizeH="0" baseline="0" noProof="0" dirty="0">
                <a:ln w="11430"/>
                <a:solidFill>
                  <a:schemeClr val="tx1"/>
                </a:solidFill>
                <a:effectLst>
                  <a:outerShdw blurRad="76200" dist="50800" dir="5400000" algn="tl" rotWithShape="0">
                    <a:srgbClr val="000000">
                      <a:alpha val="65000"/>
                    </a:srgbClr>
                  </a:outerShdw>
                </a:effectLst>
                <a:uLnTx/>
                <a:uFillTx/>
                <a:latin typeface="Arial" panose="020B0604020202020204" pitchFamily="34" charset="0"/>
                <a:ea typeface="微软雅黑" panose="020B0503020204020204" pitchFamily="34" charset="-122"/>
                <a:cs typeface="Arial" panose="020B0604020202020204" pitchFamily="34" charset="0"/>
              </a:rPr>
              <a:t>预测值与实际观测值之间的绝对百分比差值的平均值，使用绝对值来避免正误差和负误差之间的相互抵消</a:t>
            </a:r>
            <a:endParaRPr lang="zh-CN" altLang="en-US" sz="2400" dirty="0">
              <a:solidFill>
                <a:schemeClr val="tx1"/>
              </a:solidFill>
              <a:latin typeface="Euclid" panose="02020503060505020303" pitchFamily="18" charset="0"/>
            </a:endParaRPr>
          </a:p>
        </p:txBody>
      </p:sp>
      <p:graphicFrame>
        <p:nvGraphicFramePr>
          <p:cNvPr id="12" name="对象 11">
            <a:extLst>
              <a:ext uri="{FF2B5EF4-FFF2-40B4-BE49-F238E27FC236}">
                <a16:creationId xmlns:a16="http://schemas.microsoft.com/office/drawing/2014/main" id="{16DBA725-16BE-7F79-4328-0C48F3FE391F}"/>
              </a:ext>
            </a:extLst>
          </p:cNvPr>
          <p:cNvGraphicFramePr>
            <a:graphicFrameLocks noChangeAspect="1"/>
          </p:cNvGraphicFramePr>
          <p:nvPr>
            <p:extLst>
              <p:ext uri="{D42A27DB-BD31-4B8C-83A1-F6EECF244321}">
                <p14:modId xmlns:p14="http://schemas.microsoft.com/office/powerpoint/2010/main" val="12348762"/>
              </p:ext>
            </p:extLst>
          </p:nvPr>
        </p:nvGraphicFramePr>
        <p:xfrm>
          <a:off x="4833380" y="5965614"/>
          <a:ext cx="3588619" cy="901663"/>
        </p:xfrm>
        <a:graphic>
          <a:graphicData uri="http://schemas.openxmlformats.org/presentationml/2006/ole">
            <mc:AlternateContent xmlns:mc="http://schemas.openxmlformats.org/markup-compatibility/2006">
              <mc:Choice xmlns:v="urn:schemas-microsoft-com:vml" Requires="v">
                <p:oleObj name="Equation" r:id="rId9" imgW="1895541" imgH="476297" progId="Equation.DSMT4">
                  <p:embed/>
                </p:oleObj>
              </mc:Choice>
              <mc:Fallback>
                <p:oleObj name="Equation" r:id="rId9" imgW="1895541" imgH="476297" progId="Equation.DSMT4">
                  <p:embed/>
                  <p:pic>
                    <p:nvPicPr>
                      <p:cNvPr id="0" name=""/>
                      <p:cNvPicPr/>
                      <p:nvPr/>
                    </p:nvPicPr>
                    <p:blipFill>
                      <a:blip r:embed="rId10"/>
                      <a:stretch>
                        <a:fillRect/>
                      </a:stretch>
                    </p:blipFill>
                    <p:spPr>
                      <a:xfrm>
                        <a:off x="4833380" y="5965614"/>
                        <a:ext cx="3588619" cy="901663"/>
                      </a:xfrm>
                      <a:prstGeom prst="rect">
                        <a:avLst/>
                      </a:prstGeom>
                    </p:spPr>
                  </p:pic>
                </p:oleObj>
              </mc:Fallback>
            </mc:AlternateContent>
          </a:graphicData>
        </a:graphic>
      </p:graphicFrame>
    </p:spTree>
    <p:extLst>
      <p:ext uri="{BB962C8B-B14F-4D97-AF65-F5344CB8AC3E}">
        <p14:creationId xmlns:p14="http://schemas.microsoft.com/office/powerpoint/2010/main" val="82904881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3574</TotalTime>
  <Words>1061</Words>
  <Application>Microsoft Office PowerPoint</Application>
  <PresentationFormat>宽屏</PresentationFormat>
  <Paragraphs>95</Paragraphs>
  <Slides>16</Slides>
  <Notes>16</Notes>
  <HiddenSlides>0</HiddenSlides>
  <MMClips>0</MMClips>
  <ScaleCrop>false</ScaleCrop>
  <HeadingPairs>
    <vt:vector size="8" baseType="variant">
      <vt:variant>
        <vt:lpstr>已用的字体</vt:lpstr>
      </vt:variant>
      <vt:variant>
        <vt:i4>13</vt:i4>
      </vt:variant>
      <vt:variant>
        <vt:lpstr>主题</vt:lpstr>
      </vt:variant>
      <vt:variant>
        <vt:i4>12</vt:i4>
      </vt:variant>
      <vt:variant>
        <vt:lpstr>嵌入 OLE 服务器</vt:lpstr>
      </vt:variant>
      <vt:variant>
        <vt:i4>2</vt:i4>
      </vt:variant>
      <vt:variant>
        <vt:lpstr>幻灯片标题</vt:lpstr>
      </vt:variant>
      <vt:variant>
        <vt:i4>16</vt:i4>
      </vt:variant>
    </vt:vector>
  </HeadingPairs>
  <TitlesOfParts>
    <vt:vector size="43" baseType="lpstr">
      <vt:lpstr>Euclid</vt:lpstr>
      <vt:lpstr>等线</vt:lpstr>
      <vt:lpstr>华光综艺_CNKI</vt:lpstr>
      <vt:lpstr>思源黑体</vt:lpstr>
      <vt:lpstr>思源黑体 CN Bold</vt:lpstr>
      <vt:lpstr>微软雅黑</vt:lpstr>
      <vt:lpstr>Arial</vt:lpstr>
      <vt:lpstr>Arial Rounded MT Bold</vt:lpstr>
      <vt:lpstr>Calibri</vt:lpstr>
      <vt:lpstr>Cambria Math</vt:lpstr>
      <vt:lpstr>Impact</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Star Champion</cp:lastModifiedBy>
  <cp:revision>2519</cp:revision>
  <dcterms:created xsi:type="dcterms:W3CDTF">2022-05-23T09:13:00Z</dcterms:created>
  <dcterms:modified xsi:type="dcterms:W3CDTF">2025-04-18T13:15:30Z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