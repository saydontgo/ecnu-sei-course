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6">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64"/>
  </p:notesMasterIdLst>
  <p:handoutMasterIdLst>
    <p:handoutMasterId r:id="rId65"/>
  </p:handoutMasterIdLst>
  <p:sldIdLst>
    <p:sldId id="15638" r:id="rId13"/>
    <p:sldId id="15677" r:id="rId14"/>
    <p:sldId id="15674" r:id="rId15"/>
    <p:sldId id="15676" r:id="rId16"/>
    <p:sldId id="15678" r:id="rId17"/>
    <p:sldId id="15679" r:id="rId18"/>
    <p:sldId id="15680" r:id="rId19"/>
    <p:sldId id="15681" r:id="rId20"/>
    <p:sldId id="15682" r:id="rId21"/>
    <p:sldId id="15705" r:id="rId22"/>
    <p:sldId id="15685" r:id="rId23"/>
    <p:sldId id="15686" r:id="rId24"/>
    <p:sldId id="15687" r:id="rId25"/>
    <p:sldId id="15776" r:id="rId26"/>
    <p:sldId id="15689" r:id="rId27"/>
    <p:sldId id="15688" r:id="rId28"/>
    <p:sldId id="15690" r:id="rId29"/>
    <p:sldId id="15693" r:id="rId30"/>
    <p:sldId id="15694" r:id="rId31"/>
    <p:sldId id="15695" r:id="rId32"/>
    <p:sldId id="15696" r:id="rId33"/>
    <p:sldId id="15777" r:id="rId34"/>
    <p:sldId id="15697" r:id="rId35"/>
    <p:sldId id="15698" r:id="rId36"/>
    <p:sldId id="15700" r:id="rId37"/>
    <p:sldId id="15701" r:id="rId38"/>
    <p:sldId id="15702" r:id="rId39"/>
    <p:sldId id="15703" r:id="rId40"/>
    <p:sldId id="15711" r:id="rId41"/>
    <p:sldId id="15712" r:id="rId42"/>
    <p:sldId id="15713" r:id="rId43"/>
    <p:sldId id="15714" r:id="rId44"/>
    <p:sldId id="15715" r:id="rId45"/>
    <p:sldId id="15716" r:id="rId46"/>
    <p:sldId id="15708" r:id="rId47"/>
    <p:sldId id="15718" r:id="rId48"/>
    <p:sldId id="15717" r:id="rId49"/>
    <p:sldId id="15719" r:id="rId50"/>
    <p:sldId id="15726" r:id="rId51"/>
    <p:sldId id="15727" r:id="rId52"/>
    <p:sldId id="15732" r:id="rId53"/>
    <p:sldId id="15778" r:id="rId54"/>
    <p:sldId id="15710" r:id="rId55"/>
    <p:sldId id="15720" r:id="rId56"/>
    <p:sldId id="15729" r:id="rId57"/>
    <p:sldId id="15721" r:id="rId58"/>
    <p:sldId id="15722" r:id="rId59"/>
    <p:sldId id="15724" r:id="rId60"/>
    <p:sldId id="15730" r:id="rId61"/>
    <p:sldId id="15723" r:id="rId62"/>
    <p:sldId id="15502" r:id="rId63"/>
  </p:sldIdLst>
  <p:sldSz cx="12192000" cy="6858000"/>
  <p:notesSz cx="6858000" cy="9144000"/>
  <p:custDataLst>
    <p:tags r:id="rId6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一节" id="{B76A38E9-E72E-4BCB-B362-B21FAC086E6B}">
          <p14:sldIdLst>
            <p14:sldId id="15638"/>
            <p14:sldId id="15677"/>
            <p14:sldId id="15674"/>
            <p14:sldId id="15676"/>
            <p14:sldId id="15678"/>
            <p14:sldId id="15679"/>
            <p14:sldId id="15680"/>
            <p14:sldId id="15681"/>
            <p14:sldId id="15682"/>
            <p14:sldId id="15705"/>
            <p14:sldId id="15685"/>
            <p14:sldId id="15686"/>
            <p14:sldId id="15687"/>
            <p14:sldId id="15776"/>
            <p14:sldId id="15689"/>
            <p14:sldId id="15688"/>
            <p14:sldId id="15690"/>
            <p14:sldId id="15693"/>
            <p14:sldId id="15694"/>
            <p14:sldId id="15695"/>
            <p14:sldId id="15696"/>
            <p14:sldId id="15777"/>
            <p14:sldId id="15697"/>
            <p14:sldId id="15698"/>
            <p14:sldId id="15700"/>
            <p14:sldId id="15701"/>
            <p14:sldId id="15702"/>
            <p14:sldId id="15703"/>
            <p14:sldId id="15711"/>
            <p14:sldId id="15712"/>
            <p14:sldId id="15713"/>
            <p14:sldId id="15714"/>
            <p14:sldId id="15715"/>
            <p14:sldId id="15716"/>
            <p14:sldId id="15708"/>
            <p14:sldId id="15718"/>
            <p14:sldId id="15717"/>
            <p14:sldId id="15719"/>
            <p14:sldId id="15726"/>
            <p14:sldId id="15727"/>
            <p14:sldId id="15732"/>
            <p14:sldId id="15778"/>
            <p14:sldId id="15710"/>
            <p14:sldId id="15720"/>
            <p14:sldId id="15729"/>
            <p14:sldId id="15721"/>
            <p14:sldId id="15722"/>
            <p14:sldId id="15724"/>
            <p14:sldId id="15730"/>
            <p14:sldId id="15723"/>
          </p14:sldIdLst>
        </p14:section>
        <p14:section name="第三节" id="{D73DEBA0-8DA1-425E-BF8D-3499E83F0652}">
          <p14:sldIdLst>
            <p14:sldId id="15502"/>
          </p14:sldIdLst>
        </p14:section>
      </p14:sectionLst>
    </p:ext>
    <p:ext uri="{EFAFB233-063F-42B5-8137-9DF3F51BA10A}">
      <p15:sldGuideLst xmlns:p15="http://schemas.microsoft.com/office/powerpoint/2012/main">
        <p15:guide id="4" pos="2280" userDrawn="1">
          <p15:clr>
            <a:srgbClr val="A4A3A4"/>
          </p15:clr>
        </p15:guide>
        <p15:guide id="5" orient="horz" pos="29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8BD5"/>
    <a:srgbClr val="E77500"/>
    <a:srgbClr val="0066FF"/>
    <a:srgbClr val="033BA7"/>
    <a:srgbClr val="FFFFFF"/>
    <a:srgbClr val="FD5C0C"/>
    <a:srgbClr val="7EA4EE"/>
    <a:srgbClr val="00FF00"/>
    <a:srgbClr val="F6F9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923" autoAdjust="0"/>
    <p:restoredTop sz="78121" autoAdjust="0"/>
  </p:normalViewPr>
  <p:slideViewPr>
    <p:cSldViewPr snapToGrid="0">
      <p:cViewPr varScale="1">
        <p:scale>
          <a:sx n="72" d="100"/>
          <a:sy n="72" d="100"/>
        </p:scale>
        <p:origin x="67" y="538"/>
      </p:cViewPr>
      <p:guideLst>
        <p:guide pos="2280"/>
        <p:guide orient="horz" pos="290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4.xml"/><Relationship Id="rId21" Type="http://schemas.openxmlformats.org/officeDocument/2006/relationships/slide" Target="slides/slide9.xml"/><Relationship Id="rId42" Type="http://schemas.openxmlformats.org/officeDocument/2006/relationships/slide" Target="slides/slide30.xml"/><Relationship Id="rId47" Type="http://schemas.openxmlformats.org/officeDocument/2006/relationships/slide" Target="slides/slide35.xml"/><Relationship Id="rId63" Type="http://schemas.openxmlformats.org/officeDocument/2006/relationships/slide" Target="slides/slide51.xml"/><Relationship Id="rId68"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slide" Target="slides/slide46.xml"/><Relationship Id="rId66" Type="http://schemas.openxmlformats.org/officeDocument/2006/relationships/tags" Target="tags/tag1.xml"/><Relationship Id="rId5" Type="http://schemas.openxmlformats.org/officeDocument/2006/relationships/slideMaster" Target="slideMasters/slideMaster5.xml"/><Relationship Id="rId61" Type="http://schemas.openxmlformats.org/officeDocument/2006/relationships/slide" Target="slides/slide49.xml"/><Relationship Id="rId19" Type="http://schemas.openxmlformats.org/officeDocument/2006/relationships/slide" Target="slides/slide7.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39.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67" Type="http://schemas.openxmlformats.org/officeDocument/2006/relationships/presProps" Target="presProps.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slide" Target="slides/slide5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10" Type="http://schemas.openxmlformats.org/officeDocument/2006/relationships/slideMaster" Target="slideMasters/slideMaster10.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9046F-3EBF-10D1-E35E-5ED99363CD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4941E9-3FBD-5148-668D-476307FDE0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C2ACF9-4A79-3E50-9E4D-C8BAF0BC5B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B1D97749-8771-9EE6-F927-F9C631DEFA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84631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52D0B-11D0-5D82-8985-33460E2ADC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E080A2-5B12-1AA7-AAAF-5D7707FA98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EB0B44-3F54-D4F3-EF13-B8F8339F48A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3CBADEF9-F76B-581B-48B3-11B8A53314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58950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90200-0AD7-BF63-4DE4-1ABC57B2F5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C3F547-6C74-A2EC-8D34-ABA2E792A3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38AC055-B5DF-ACBC-AFF3-71FC81F8A2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E0C493AC-855A-9A70-1F1B-0BBBCE6C8F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79541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98A90-88B8-842B-E277-2C36AE9687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F1398A-94AC-C86B-EAB5-654244F1B1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2AFC4B-76A4-8D01-CBC1-9297E2400A8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F6EF9D7C-642A-90CE-043C-B2F06BB31F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63601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377F1-5CB0-827B-6382-9F84B2EAED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95F579-9E61-8AD1-5AE1-E0D391B825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FD4EDD4-D398-01FD-BE01-F3210A1E094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E97B024A-1269-E4ED-CE4A-D15735C7F5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56461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2067A-8C17-201B-CB76-6C84EA9F3C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884522-AC9F-0335-F775-403C94D4BE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C51CFD3-0FD8-D016-E892-9CC35026E9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6CEDA297-F81E-D011-988F-F384A37CC5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59896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7A1BA-7386-5709-6B39-5594F26145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128852-C814-096B-AF68-1883A39528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04BC26-C995-3084-0DCA-DF1AF249BE4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8919094D-BCF4-F9D3-BC84-0FF165CE87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69840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3A9D6-4EC4-4800-660D-B6244A747E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A98210-3572-1344-3A94-7DA0F4F12D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D793CA-A349-3329-AD4F-5373479A004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B1970D0D-6664-BB31-530E-D93CB9ACDB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10333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DF59F-1EB4-BCDF-FAE3-BFAD1E7996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85E293-F691-0E47-DBE4-D704AADC6D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DBADD0-A19B-A06C-DB9E-1C67610907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33664FC-E653-4460-C58B-F91D702C36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65987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23F49-C4C0-0C81-D6B3-504FB06922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E27D2B-8F1A-5444-88AB-61161F91AF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750F9A-082A-6867-4967-03A873AA7B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C2AF109E-6FF7-1D14-3BD6-0D7C4C30CC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76858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A004B-9DEB-D46F-EEC4-D2AD6514F5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C49CC9-80F5-505C-E877-441BD572D0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EAAFF6-A0BB-A09F-079A-044C370DE8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8CFAC53B-4B03-2EFD-1204-4EE1672AB4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99624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953D6-96CC-53F2-C1A7-5AA23A87F0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AD1BB4D-C129-F868-34F7-48B8DA7A964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CC91274-9D87-B60D-539C-05491A8051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F5BCDE22-9EBB-75CF-8C38-B2CEC6457C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501526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FE291-42BD-46EB-7EDE-13CEBAFF54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22C521-6E39-929D-6FF7-5A26F29DD1F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97A6124-0C1F-78FA-5850-E24AC6EFF67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45F4129-905D-E8D7-19EB-80FDA3CE7A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87316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28276-3736-13CF-03BC-F538D7A2D4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9030C0-7565-44A9-296D-FA63BEC7DA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7D8EB99-5935-706B-1660-BD2693A5079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851951F8-3E68-5B4C-9DEF-BE0FF9876A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497573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0DB78-DF11-DC71-E1C9-579D33E991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F1B02E-22FE-ACBB-95F9-1835740EA66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C1CEC3-2A35-2399-BB56-A67E431861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AD2BAFDA-D952-B198-5FAD-F50BE687B0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62738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73CD8-9895-2E5A-7945-78ECB4C4D2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B5CA49-1F72-6A40-897B-88DFCE8B34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3B5209-993E-203D-BE54-E8614CB03C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1CC0E1A6-8CA8-9623-FFA9-FD162EB3D5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41673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C4D09-2934-7B94-B8F8-AD58FE95E6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30B875-BDA5-95FA-E4C7-99E6E087CE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95D2B6-D897-FFE2-25BD-5E8EC38B51A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DBFC7064-96F2-1C6B-B038-C28206B5BE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154303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7DB7C-550F-F913-6B10-3E752B45D7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7F7F4A-57E5-7312-3E18-4E957D86FA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2EF29E-223D-D9EF-958F-FBBDBAF90D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E2F634B5-85E3-7F00-E1B4-0FCA902BFD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05015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4D704-190F-8265-445F-F1F59631A9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BAC167-ECF1-E221-AE47-A4A9F0E52A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8CD495-7F2B-33C3-09F7-2035A2366A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959EA431-A02F-5FFE-05AA-CAE05C1EBA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03637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BD655-73CC-98AF-CEB9-080BB93E5C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1021F6-E1E0-C3E9-26CB-77F15F7986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132054-5341-2500-2740-DC88E35007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48DC478F-F05A-879A-7AC5-0554D92E38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528886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39AB4-BA51-0FE5-751C-FFF6A0E2C5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147A30-1496-9E7F-4D50-91990FD5DBF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0A9B05-E18D-538C-48D9-EDEB5605818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9622002-AF0D-2643-8D70-EB24FB8109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046161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7C2EC-3F6B-DB1B-9960-80F21287B4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D3F081-D3E3-355D-6966-229195C5CB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BDF63EB-1E80-EB2A-5929-57BCE92BF8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B3BFEFA3-C3F0-E0F4-7E45-BA120B1F1B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236058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3E951-F3E5-2FCC-72B4-DC77252645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0347E7-B39A-936D-C58F-97A0E6E39E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3A6A29-EC6F-5636-B7E2-4888394EF2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DDB7387-6901-BA29-6ED5-11B16D07EB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493696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7D0F0-FB5A-C168-5FB3-22438954F8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340C1D-5514-1B22-46D0-97797E7631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BDED1C-73C5-FAD0-0CE1-5362F7E30F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06FCC659-9FEA-8718-3B02-56ABEC4DC4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08066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92FBD-90BA-9B20-8428-01F5A67054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7FFCF2-8E87-B9CC-A27F-25FE64CD3A8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AD68B46-E541-D136-2888-1C9EA9AD0A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3D61860C-AD88-EF5B-0915-73B1F724E97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788125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4483A-FB34-370E-7181-2D67F55AC4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958B1A-8FFE-CD3C-27B7-32FB9D733F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2CE367-3347-7C83-0D92-4653306252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A3F50E01-ECEF-8C1A-E23D-8724CD6AB0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295756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71A0F-C9AC-ED84-B17D-AC0A1EE5E9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ADF2F6-A72E-11B2-1754-B18BF08B6A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D2E473-6478-CC87-7D56-9E88B01A39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DA97801E-B36E-A9C8-2C16-9724D2377A5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504868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69000-0E21-AF47-8992-DD6D0A688A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01CA9B-AAFA-561B-1A15-12E8472C96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2D20528-48B5-EE38-1618-D6A70D2322A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66187DB0-433C-ADA6-C849-AD80C766F4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303865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BEA21-3FDA-855D-5BDF-C5B3DA544B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F102B5-5257-39CB-519B-CA8BE0FBA16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C89577-BDA4-A0D0-2F96-E3604616DB0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6382D43B-B24D-F396-6447-A885F77EB1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698064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35869-2029-CA8E-3368-D4A4E0B7BD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EF98C2-F0D2-98A0-8EEC-61F8F5B54CA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03A962-0FCF-3BFD-6386-D3ABDFDB5DC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E3A93FE2-44EE-D36A-CD2C-D6870E9AD3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364563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0B53F-ACE6-71C5-33E2-3489A2EC5A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63F6B8-79A5-B224-2EBA-D248B39D1E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7DDE45-1712-2C7A-0239-7FDD894B0E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13527860-73F6-3A61-2D66-95B74577D1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495084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8AA9E-6964-4885-EF0E-5F621D44E1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5EA0E3-15BA-33C6-FE10-6CE554BE17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99BDA4-92C5-D1FC-FB54-1892A4C1BAF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BC99B6AE-9DC8-5726-4CB4-33C4E36291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941525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39E12-729C-F680-6C4B-53664BD3A5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0985FB-1B8B-A5A4-F3E7-5903DCFED2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3A4948-18BA-5DE5-393E-469FADDF8E8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1ABEFDC-0089-7461-98D8-AB01C0C26E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717917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414A8-714B-62DC-575A-6F17AB9C67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75352C-E5EE-50C2-0A44-0998D8ADD4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8E6241-B71A-6787-15F3-F9E84B392E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在多元线性回归中，增加方程中解释变量的个数（无论这些解释变量是否真正与被解释变量相关）会引起判定系数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R2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的增加，进而导致过度拟合的问题，即模型在样本内表现良好但在样本外效果较差。因此，</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为解决此问题，需要考虑模型的自由度</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R2</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进行修正，</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使用调整的判定系数进行检验：</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4E447DE4-9355-462A-DFBB-2EB0EB3426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239151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B9834-C6AF-5645-6393-DDA44ED4DE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EE79EE-E301-71FD-3273-3AB13ECCE8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5E5B5F-8A1D-CA03-491B-1753207D2F9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D56A0D02-1B0E-D665-2B8D-8AF831AECD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610906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39383-4FF3-0714-F60C-B7C1EF643F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C7AB14-FAF9-92E9-1A39-1E898A22B6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AC1B3D-4B85-9114-181A-3DF923103C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其原假设为自变量对因变量的联合影响不显著，即所有自变量的系数都等于零：</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u="sng"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拒绝原假设，认为模型的线性关系在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的显著性水平下成立。相反，如果接受</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H0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，则表明回归模型中的自变量整体上对因变量的解释能力不显著。</a:t>
            </a:r>
            <a:endParaRPr lang="zh-CN" altLang="en-US" sz="1800" u="sng" dirty="0"/>
          </a:p>
        </p:txBody>
      </p:sp>
      <p:sp>
        <p:nvSpPr>
          <p:cNvPr id="4" name="灯片编号占位符 3">
            <a:extLst>
              <a:ext uri="{FF2B5EF4-FFF2-40B4-BE49-F238E27FC236}">
                <a16:creationId xmlns:a16="http://schemas.microsoft.com/office/drawing/2014/main" id="{74C5DFBB-3507-7730-1EF3-8D7A4B9098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824718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2EBF2-B8D0-45A2-DB8A-3E99F7C802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181142-A832-2256-3B59-A546AAEA83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2B633B6-ADE2-2E76-313F-AFBB0784702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拒绝原假设</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则</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认为该自变量的系数是显著不为零的</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1800" u="sng" dirty="0"/>
          </a:p>
        </p:txBody>
      </p:sp>
      <p:sp>
        <p:nvSpPr>
          <p:cNvPr id="4" name="灯片编号占位符 3">
            <a:extLst>
              <a:ext uri="{FF2B5EF4-FFF2-40B4-BE49-F238E27FC236}">
                <a16:creationId xmlns:a16="http://schemas.microsoft.com/office/drawing/2014/main" id="{240BCE37-F245-4E71-9EEA-6C5F4A4D2C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682980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8C97-BEE5-0715-DBFA-C446463D0E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25CBCA-B563-4EFE-278C-F682859E18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C64F84-F442-4F0B-85AF-5B94AF099D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A1D4D189-D9C2-974C-BAA9-5588A293BB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006983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DBFEB-5340-1866-20BD-E3C30A414C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0D24DB-F471-1703-D332-85563B36A2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DF02BA-0EE1-780E-25B6-96CDF109C6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1B7FEE6D-A8BF-09AD-D319-9E62F41908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255740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538A1-2C74-F324-5D89-6B580FFF97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B0BB16-C629-63CF-C7F3-5B45A42CC7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FF7AA24-09E0-2DF9-C1C4-F5A9EFE3836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6CB803A0-9CD7-C677-B4AD-688AF1D8C9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274979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CE006-260D-0660-AAE5-33DD3DB6DA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925990-8088-6BF3-F32D-436705D7FBC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0871A2-78EE-C6CB-001D-731482AA728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3917A33-0641-C0BA-5CCF-46D8360D23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631207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3D116-8EE0-8320-31F5-854B37469D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356AAC-4914-3FD2-AE89-0CF39F776E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07AEF4-3797-714D-5712-AB515E42141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D091042A-A9C6-8A5C-76C7-1A2C8A8F20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13973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5C6CC-7B33-6036-90EB-13F7EF5BBC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A0E5C9-B486-BF01-4413-98B6C225A2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0939D0-DEEB-A8F2-8A93-C196BC23666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2A407E9-BA40-E9AD-1F6E-207F57A085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472957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4A09E-F5BF-06A0-4C56-784A84E9A2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469C6E-D7A5-A4C9-D141-76F1F35A6E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C0E5B5-43BC-4A68-4219-21FAEDF7AA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C5E4A012-621C-BEF1-F073-AA0987D059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135989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A9056-D928-AA5B-8B55-DBD29DB330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E29208-4FF0-C12E-657B-17C80F29AAA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BF3873-14B2-5698-75BC-C1DABF3461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E18B2E6-BD99-7E29-27DA-ADD9D5EDFB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4269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FFBAC-93BD-6EEC-4F5E-C760213899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839A56-A1B6-E3C4-090C-E4196C6B8A7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DDEA59-8790-9AE0-F62E-DFDDC971D0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A2617608-1382-1B37-9B6B-B67D22C544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797642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9211A-4D8F-3D61-E7D1-1EA1E8FF1B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7A7310-6712-3769-A86E-C3AAC8C58E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0C98B9-C60C-4CD6-129E-5C67AD89A3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FA5F6CCC-8A8F-E00E-562F-4083CB2B61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248815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27655-F988-137D-5FF6-9EBB8626F8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9B8870-A73E-6A2F-8B6B-4E7A8E89E6E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6C818D-C2DD-2F4D-AC65-85054C2AE48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393E534-7118-9FA2-7D16-F112825BAC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674088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EC7D0-906E-AE70-34C0-BAF22639B7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E85510D-151D-C4F3-8C29-8C6CB021E3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A970A8-1108-B6C6-B6F2-4E95C1765C0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排量（</a:t>
            </a:r>
            <a:r>
              <a:rPr lang="en-US" altLang="zh-CN" sz="1800" kern="100" dirty="0">
                <a:effectLst/>
                <a:latin typeface="Times New Roman" panose="02020603050405020304" pitchFamily="18" charset="0"/>
                <a:ea typeface="宋体" panose="02010600030101010101" pitchFamily="2" charset="-122"/>
              </a:rPr>
              <a:t>displacement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）系数为</a:t>
            </a:r>
            <a:r>
              <a:rPr lang="en-US" altLang="zh-CN" sz="1800" kern="100" dirty="0">
                <a:effectLst/>
                <a:latin typeface="Times New Roman" panose="02020603050405020304" pitchFamily="18" charset="0"/>
                <a:ea typeface="宋体" panose="02010600030101010101" pitchFamily="2" charset="-122"/>
              </a:rPr>
              <a:t>0.0114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，这意味着在其他变量不变的条件下，每增加一单位排量，燃油效率提高</a:t>
            </a:r>
            <a:r>
              <a:rPr lang="en-US" altLang="zh-CN" sz="1800" kern="100" dirty="0">
                <a:effectLst/>
                <a:latin typeface="Times New Roman" panose="02020603050405020304" pitchFamily="18" charset="0"/>
                <a:ea typeface="宋体" panose="02010600030101010101" pitchFamily="2" charset="-122"/>
              </a:rPr>
              <a:t>0.0114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单位。马力（</a:t>
            </a:r>
            <a:r>
              <a:rPr lang="en-US" altLang="zh-CN" sz="1800" kern="100" dirty="0">
                <a:effectLst/>
                <a:latin typeface="Times New Roman" panose="02020603050405020304" pitchFamily="18" charset="0"/>
                <a:ea typeface="宋体" panose="02010600030101010101" pitchFamily="2" charset="-122"/>
              </a:rPr>
              <a:t>horsepower</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）系数为</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，表示在其他变量不变的条件下，每增加一单位马力，燃油效率会减少</a:t>
            </a:r>
            <a:r>
              <a:rPr lang="en-US" altLang="zh-CN" sz="1800" kern="100" dirty="0">
                <a:effectLst/>
                <a:latin typeface="Times New Roman" panose="02020603050405020304" pitchFamily="18" charset="0"/>
                <a:ea typeface="宋体" panose="02010600030101010101" pitchFamily="2" charset="-122"/>
              </a:rPr>
              <a:t>0.0219</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单位。而生产年份和产地的系数分别为</a:t>
            </a:r>
            <a:r>
              <a:rPr lang="en-US" altLang="zh-CN" sz="1800" kern="100" dirty="0">
                <a:effectLst/>
                <a:latin typeface="Times New Roman" panose="02020603050405020304" pitchFamily="18" charset="0"/>
                <a:ea typeface="宋体" panose="02010600030101010101" pitchFamily="2" charset="-122"/>
              </a:rPr>
              <a:t>0.7484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effectLst/>
                <a:latin typeface="Times New Roman" panose="02020603050405020304" pitchFamily="18" charset="0"/>
                <a:ea typeface="宋体" panose="02010600030101010101" pitchFamily="2" charset="-122"/>
              </a:rPr>
              <a:t>1.3853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，表示生产年份、产地与燃油效率之间存在正相关关系，即：车型年份越新，燃油效率越高，且某些特定的生产地区与较高的燃油效率相关。</a:t>
            </a:r>
            <a:endParaRPr lang="zh-CN" altLang="en-US" sz="1800" u="sng" dirty="0"/>
          </a:p>
        </p:txBody>
      </p:sp>
      <p:sp>
        <p:nvSpPr>
          <p:cNvPr id="4" name="灯片编号占位符 3">
            <a:extLst>
              <a:ext uri="{FF2B5EF4-FFF2-40B4-BE49-F238E27FC236}">
                <a16:creationId xmlns:a16="http://schemas.microsoft.com/office/drawing/2014/main" id="{13C26953-0A4D-46B0-94BB-76D2456314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24909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5.emf"/><Relationship Id="rId4" Type="http://schemas.openxmlformats.org/officeDocument/2006/relationships/oleObject" Target="../embeddings/oleObject3.bin"/></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7.wmf"/></Relationships>
</file>

<file path=ppt/slides/_rels/slide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33.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0.e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32.emf"/><Relationship Id="rId4" Type="http://schemas.openxmlformats.org/officeDocument/2006/relationships/image" Target="../media/image29.emf"/><Relationship Id="rId9"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oleObject" Target="../embeddings/oleObject10.bin"/><Relationship Id="rId7" Type="http://schemas.openxmlformats.org/officeDocument/2006/relationships/image" Target="../media/image7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5.wmf"/><Relationship Id="rId5" Type="http://schemas.openxmlformats.org/officeDocument/2006/relationships/oleObject" Target="../embeddings/oleObject11.bin"/><Relationship Id="rId4" Type="http://schemas.openxmlformats.org/officeDocument/2006/relationships/image" Target="../media/image34.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0.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4.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emf"/><Relationship Id="rId4" Type="http://schemas.openxmlformats.org/officeDocument/2006/relationships/oleObject" Target="../embeddings/oleObject12.bin"/></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2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7.emf"/><Relationship Id="rId4" Type="http://schemas.openxmlformats.org/officeDocument/2006/relationships/oleObject" Target="../embeddings/oleObject13.bin"/></Relationships>
</file>

<file path=ppt/slides/_rels/slide2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48.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9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0.emf"/><Relationship Id="rId5" Type="http://schemas.openxmlformats.org/officeDocument/2006/relationships/oleObject" Target="../embeddings/oleObject16.bin"/><Relationship Id="rId4" Type="http://schemas.openxmlformats.org/officeDocument/2006/relationships/image" Target="../media/image49.emf"/></Relationships>
</file>

<file path=ppt/slides/_rels/slide30.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image" Target="../media/image94.png"/><Relationship Id="rId7" Type="http://schemas.openxmlformats.org/officeDocument/2006/relationships/oleObject" Target="../embeddings/oleObject18.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51.emf"/><Relationship Id="rId4" Type="http://schemas.openxmlformats.org/officeDocument/2006/relationships/oleObject" Target="../embeddings/oleObject17.bin"/></Relationships>
</file>

<file path=ppt/slides/_rels/slide3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53.emf"/><Relationship Id="rId4" Type="http://schemas.openxmlformats.org/officeDocument/2006/relationships/oleObject" Target="../embeddings/oleObject19.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4.emf"/></Relationships>
</file>

<file path=ppt/slides/_rels/slide33.xml.rels><?xml version="1.0" encoding="UTF-8" standalone="yes"?>
<Relationships xmlns="http://schemas.openxmlformats.org/package/2006/relationships"><Relationship Id="rId8" Type="http://schemas.openxmlformats.org/officeDocument/2006/relationships/image" Target="../media/image57.e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56.emf"/><Relationship Id="rId5" Type="http://schemas.openxmlformats.org/officeDocument/2006/relationships/oleObject" Target="../embeddings/oleObject22.bin"/><Relationship Id="rId4" Type="http://schemas.openxmlformats.org/officeDocument/2006/relationships/image" Target="../media/image55.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3.bin"/><Relationship Id="rId7" Type="http://schemas.openxmlformats.org/officeDocument/2006/relationships/image" Target="../media/image105.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oleObject" Target="../embeddings/oleObject24.bin"/><Relationship Id="rId4" Type="http://schemas.openxmlformats.org/officeDocument/2006/relationships/image" Target="../media/image57.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9.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9.emf"/></Relationships>
</file>

<file path=ppt/slides/_rels/slide37.xml.rels><?xml version="1.0" encoding="UTF-8" standalone="yes"?>
<Relationships xmlns="http://schemas.openxmlformats.org/package/2006/relationships"><Relationship Id="rId8" Type="http://schemas.openxmlformats.org/officeDocument/2006/relationships/image" Target="../media/image62.wmf"/><Relationship Id="rId13" Type="http://schemas.openxmlformats.org/officeDocument/2006/relationships/oleObject" Target="../embeddings/oleObject31.bin"/><Relationship Id="rId18" Type="http://schemas.openxmlformats.org/officeDocument/2006/relationships/image" Target="../media/image67.emf"/><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64.emf"/><Relationship Id="rId17" Type="http://schemas.openxmlformats.org/officeDocument/2006/relationships/oleObject" Target="../embeddings/oleObject33.bin"/><Relationship Id="rId2" Type="http://schemas.openxmlformats.org/officeDocument/2006/relationships/notesSlide" Target="../notesSlides/notesSlide37.xml"/><Relationship Id="rId16" Type="http://schemas.openxmlformats.org/officeDocument/2006/relationships/image" Target="../media/image66.emf"/><Relationship Id="rId1" Type="http://schemas.openxmlformats.org/officeDocument/2006/relationships/slideLayout" Target="../slideLayouts/slideLayout2.xml"/><Relationship Id="rId6" Type="http://schemas.openxmlformats.org/officeDocument/2006/relationships/image" Target="../media/image61.wmf"/><Relationship Id="rId11" Type="http://schemas.openxmlformats.org/officeDocument/2006/relationships/oleObject" Target="../embeddings/oleObject30.bin"/><Relationship Id="rId5" Type="http://schemas.openxmlformats.org/officeDocument/2006/relationships/oleObject" Target="../embeddings/oleObject27.bin"/><Relationship Id="rId15" Type="http://schemas.openxmlformats.org/officeDocument/2006/relationships/oleObject" Target="../embeddings/oleObject32.bin"/><Relationship Id="rId10" Type="http://schemas.openxmlformats.org/officeDocument/2006/relationships/image" Target="../media/image63.wmf"/><Relationship Id="rId4" Type="http://schemas.openxmlformats.org/officeDocument/2006/relationships/image" Target="../media/image60.wmf"/><Relationship Id="rId9" Type="http://schemas.openxmlformats.org/officeDocument/2006/relationships/oleObject" Target="../embeddings/oleObject29.bin"/><Relationship Id="rId14" Type="http://schemas.openxmlformats.org/officeDocument/2006/relationships/image" Target="../media/image65.emf"/></Relationships>
</file>

<file path=ppt/slides/_rels/slide38.xml.rels><?xml version="1.0" encoding="UTF-8" standalone="yes"?>
<Relationships xmlns="http://schemas.openxmlformats.org/package/2006/relationships"><Relationship Id="rId8" Type="http://schemas.openxmlformats.org/officeDocument/2006/relationships/image" Target="../media/image62.wmf"/><Relationship Id="rId13" Type="http://schemas.openxmlformats.org/officeDocument/2006/relationships/oleObject" Target="../embeddings/oleObject37.bin"/><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70.emf"/><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68.emf"/><Relationship Id="rId11" Type="http://schemas.openxmlformats.org/officeDocument/2006/relationships/oleObject" Target="../embeddings/oleObject36.bin"/><Relationship Id="rId5" Type="http://schemas.openxmlformats.org/officeDocument/2006/relationships/oleObject" Target="../embeddings/oleObject34.bin"/><Relationship Id="rId15" Type="http://schemas.openxmlformats.org/officeDocument/2006/relationships/image" Target="../media/image119.png"/><Relationship Id="rId10" Type="http://schemas.openxmlformats.org/officeDocument/2006/relationships/image" Target="../media/image69.emf"/><Relationship Id="rId4" Type="http://schemas.openxmlformats.org/officeDocument/2006/relationships/image" Target="../media/image60.wmf"/><Relationship Id="rId9" Type="http://schemas.openxmlformats.org/officeDocument/2006/relationships/oleObject" Target="../embeddings/oleObject35.bin"/><Relationship Id="rId14" Type="http://schemas.openxmlformats.org/officeDocument/2006/relationships/image" Target="../media/image71.e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74.svg"/></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75.e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77.emf"/><Relationship Id="rId4" Type="http://schemas.openxmlformats.org/officeDocument/2006/relationships/oleObject" Target="../embeddings/oleObject39.bin"/></Relationships>
</file>

<file path=ppt/slides/_rels/slide4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126.png"/></Relationships>
</file>

<file path=ppt/slides/_rels/slide4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27.png"/></Relationships>
</file>

<file path=ppt/slides/_rels/slide5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4.2</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线性回归</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1C3D0-C0AE-7420-C98F-3551AAEBC0A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38B6F90-F5F9-532D-28C7-F7A54B7ED81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线性回归定义</a:t>
            </a:r>
            <a:endParaRPr lang="en-US" sz="3200" b="0" dirty="0">
              <a:solidFill>
                <a:srgbClr val="FFFF00"/>
              </a:solidFill>
              <a:latin typeface="华光综艺_CNKI" panose="02000500000000000000" pitchFamily="2" charset="-122"/>
              <a:ea typeface="华光综艺_CNKI" panose="02000500000000000000" pitchFamily="2" charset="-122"/>
            </a:endParaRPr>
          </a:p>
        </p:txBody>
      </p:sp>
      <mc:AlternateContent xmlns:mc="http://schemas.openxmlformats.org/markup-compatibility/2006" xmlns:a14="http://schemas.microsoft.com/office/drawing/2010/main">
        <mc:Choice Requires="a14">
          <p:sp>
            <p:nvSpPr>
              <p:cNvPr id="4" name="TextBox 7">
                <a:extLst>
                  <a:ext uri="{FF2B5EF4-FFF2-40B4-BE49-F238E27FC236}">
                    <a16:creationId xmlns:a16="http://schemas.microsoft.com/office/drawing/2014/main" id="{A6E0FB5B-9F5B-D655-0997-5E850EEE6C73}"/>
                  </a:ext>
                </a:extLst>
              </p:cNvPr>
              <p:cNvSpPr txBox="1"/>
              <p:nvPr/>
            </p:nvSpPr>
            <p:spPr>
              <a:xfrm>
                <a:off x="516834" y="1389459"/>
                <a:ext cx="11420061" cy="1195968"/>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pPr marL="438150" lvl="0" indent="-438150">
                  <a:lnSpc>
                    <a:spcPct val="125000"/>
                  </a:lnSpc>
                  <a:spcBef>
                    <a:spcPct val="20000"/>
                  </a:spcBef>
                  <a:buFont typeface="Wingdings" pitchFamily="2" charset="2"/>
                  <a:buChar char="n"/>
                  <a:defRPr/>
                </a:pPr>
                <a:r>
                  <a:rPr lang="zh-CN" altLang="en-US" dirty="0"/>
                  <a:t>线性回归：</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是指因变量（</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 y</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 ）和一个或多个自变量</a:t>
                </a:r>
                <a14:m>
                  <m:oMath xmlns:m="http://schemas.openxmlformats.org/officeDocument/2006/math">
                    <m:r>
                      <a:rPr lang="zh-CN" altLang="en-US" sz="2800" spc="0" dirty="0">
                        <a:solidFill>
                          <a:sysClr val="windowText" lastClr="000000"/>
                        </a:solidFill>
                        <a:latin typeface="Cambria Math" panose="02040503050406030204" pitchFamily="18" charset="0"/>
                      </a:rPr>
                      <m:t>（</m:t>
                    </m:r>
                    <m:sSub>
                      <m:sSubPr>
                        <m:ctrlPr>
                          <a:rPr lang="en-US" altLang="zh-CN" sz="2800" i="1" spc="0" dirty="0" smtClean="0">
                            <a:solidFill>
                              <a:sysClr val="windowText" lastClr="000000"/>
                            </a:solidFill>
                            <a:latin typeface="Cambria Math" panose="02040503050406030204" pitchFamily="18" charset="0"/>
                          </a:rPr>
                        </m:ctrlPr>
                      </m:sSubPr>
                      <m:e>
                        <m:r>
                          <a:rPr lang="en-US" altLang="zh-CN" sz="2800" b="1" i="1" spc="0" dirty="0" smtClean="0">
                            <a:solidFill>
                              <a:sysClr val="windowText" lastClr="000000"/>
                            </a:solidFill>
                            <a:latin typeface="Cambria Math" panose="02040503050406030204" pitchFamily="18" charset="0"/>
                          </a:rPr>
                          <m:t>𝒙</m:t>
                        </m:r>
                      </m:e>
                      <m:sub>
                        <m:r>
                          <a:rPr lang="en-US" altLang="zh-CN" sz="2800" b="1" i="1" spc="0" dirty="0" smtClean="0">
                            <a:solidFill>
                              <a:sysClr val="windowText" lastClr="000000"/>
                            </a:solidFill>
                            <a:latin typeface="Cambria Math" panose="02040503050406030204" pitchFamily="18" charset="0"/>
                          </a:rPr>
                          <m:t>𝟏</m:t>
                        </m:r>
                      </m:sub>
                    </m:sSub>
                    <m:r>
                      <a:rPr lang="en-US" altLang="zh-CN" sz="2800" b="1" i="1" spc="0" dirty="0" smtClean="0">
                        <a:solidFill>
                          <a:sysClr val="windowText" lastClr="000000"/>
                        </a:solidFill>
                        <a:latin typeface="Cambria Math" panose="02040503050406030204" pitchFamily="18" charset="0"/>
                      </a:rPr>
                      <m:t>,</m:t>
                    </m:r>
                    <m:sSub>
                      <m:sSubPr>
                        <m:ctrlPr>
                          <a:rPr lang="en-US" altLang="zh-CN" sz="2800" i="1" spc="0" dirty="0">
                            <a:solidFill>
                              <a:sysClr val="windowText" lastClr="000000"/>
                            </a:solidFill>
                            <a:latin typeface="Cambria Math" panose="02040503050406030204" pitchFamily="18" charset="0"/>
                          </a:rPr>
                        </m:ctrlPr>
                      </m:sSubPr>
                      <m:e>
                        <m:r>
                          <a:rPr lang="en-US" altLang="zh-CN" sz="2800" i="1" spc="0" dirty="0">
                            <a:solidFill>
                              <a:sysClr val="windowText" lastClr="000000"/>
                            </a:solidFill>
                            <a:latin typeface="Cambria Math" panose="02040503050406030204" pitchFamily="18" charset="0"/>
                          </a:rPr>
                          <m:t>𝒙</m:t>
                        </m:r>
                      </m:e>
                      <m:sub>
                        <m:r>
                          <a:rPr lang="en-US" altLang="zh-CN" sz="2800" b="1" i="1" spc="0" dirty="0" smtClean="0">
                            <a:solidFill>
                              <a:sysClr val="windowText" lastClr="000000"/>
                            </a:solidFill>
                            <a:latin typeface="Cambria Math" panose="02040503050406030204" pitchFamily="18" charset="0"/>
                          </a:rPr>
                          <m:t>𝟐</m:t>
                        </m:r>
                      </m:sub>
                    </m:sSub>
                    <m:r>
                      <a:rPr lang="en-US" altLang="zh-CN" sz="2800" b="1" i="0" spc="0" dirty="0" smtClean="0">
                        <a:solidFill>
                          <a:sysClr val="windowText" lastClr="000000"/>
                        </a:solidFill>
                        <a:latin typeface="Cambria Math" panose="02040503050406030204" pitchFamily="18" charset="0"/>
                      </a:rPr>
                      <m:t>,</m:t>
                    </m:r>
                    <m:r>
                      <a:rPr lang="en-US" altLang="zh-CN" sz="2800" i="1" spc="0" dirty="0" smtClean="0">
                        <a:solidFill>
                          <a:sysClr val="windowText" lastClr="000000"/>
                        </a:solidFill>
                        <a:latin typeface="Cambria Math" panose="02040503050406030204" pitchFamily="18" charset="0"/>
                      </a:rPr>
                      <m:t> </m:t>
                    </m:r>
                    <m:r>
                      <a:rPr lang="en-US" altLang="zh-CN" sz="2800" i="1" spc="0" dirty="0" smtClean="0">
                        <a:solidFill>
                          <a:sysClr val="windowText" lastClr="000000"/>
                        </a:solidFill>
                        <a:latin typeface="Cambria Math" panose="02040503050406030204" pitchFamily="18" charset="0"/>
                        <a:ea typeface="Cambria Math" panose="02040503050406030204" pitchFamily="18" charset="0"/>
                      </a:rPr>
                      <m:t>⋯</m:t>
                    </m:r>
                    <m:r>
                      <a:rPr lang="en-US" altLang="zh-CN" sz="2800" b="1" i="1" spc="0" dirty="0" smtClean="0">
                        <a:solidFill>
                          <a:sysClr val="windowText" lastClr="000000"/>
                        </a:solidFill>
                        <a:latin typeface="Cambria Math" panose="02040503050406030204" pitchFamily="18" charset="0"/>
                        <a:ea typeface="Cambria Math" panose="02040503050406030204" pitchFamily="18" charset="0"/>
                      </a:rPr>
                      <m:t>,</m:t>
                    </m:r>
                    <m:sSub>
                      <m:sSubPr>
                        <m:ctrlPr>
                          <a:rPr lang="en-US" altLang="zh-CN" sz="2800" i="1" spc="0" dirty="0">
                            <a:solidFill>
                              <a:sysClr val="windowText" lastClr="000000"/>
                            </a:solidFill>
                            <a:latin typeface="Cambria Math" panose="02040503050406030204" pitchFamily="18" charset="0"/>
                          </a:rPr>
                        </m:ctrlPr>
                      </m:sSubPr>
                      <m:e>
                        <m:r>
                          <a:rPr lang="en-US" altLang="zh-CN" sz="2800" i="1" spc="0" dirty="0">
                            <a:solidFill>
                              <a:sysClr val="windowText" lastClr="000000"/>
                            </a:solidFill>
                            <a:latin typeface="Cambria Math" panose="02040503050406030204" pitchFamily="18" charset="0"/>
                          </a:rPr>
                          <m:t>𝒙</m:t>
                        </m:r>
                      </m:e>
                      <m:sub>
                        <m:r>
                          <a:rPr lang="en-US" altLang="zh-CN" sz="2800" b="1" i="1" spc="0" dirty="0" smtClean="0">
                            <a:solidFill>
                              <a:sysClr val="windowText" lastClr="000000"/>
                            </a:solidFill>
                            <a:latin typeface="Cambria Math" panose="02040503050406030204" pitchFamily="18" charset="0"/>
                          </a:rPr>
                          <m:t>𝒑</m:t>
                        </m:r>
                      </m:sub>
                    </m:sSub>
                    <m:r>
                      <a:rPr lang="zh-CN" altLang="en-US" sz="2800" spc="0" dirty="0" smtClean="0">
                        <a:solidFill>
                          <a:sysClr val="windowText" lastClr="000000"/>
                        </a:solidFill>
                        <a:latin typeface="Cambria Math" panose="02040503050406030204" pitchFamily="18" charset="0"/>
                      </a:rPr>
                      <m:t>）</m:t>
                    </m:r>
                  </m:oMath>
                </a14:m>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之间为线性关系时的回归，通用回归模型表达式为：</a:t>
                </a:r>
                <a:endParaRPr lang="zh-CN" altLang="en-US" dirty="0"/>
              </a:p>
            </p:txBody>
          </p:sp>
        </mc:Choice>
        <mc:Fallback xmlns="">
          <p:sp>
            <p:nvSpPr>
              <p:cNvPr id="4" name="TextBox 7">
                <a:extLst>
                  <a:ext uri="{FF2B5EF4-FFF2-40B4-BE49-F238E27FC236}">
                    <a16:creationId xmlns:a16="http://schemas.microsoft.com/office/drawing/2014/main" id="{A6E0FB5B-9F5B-D655-0997-5E850EEE6C73}"/>
                  </a:ext>
                </a:extLst>
              </p:cNvPr>
              <p:cNvSpPr txBox="1">
                <a:spLocks noRot="1" noChangeAspect="1" noMove="1" noResize="1" noEditPoints="1" noAdjustHandles="1" noChangeArrowheads="1" noChangeShapeType="1" noTextEdit="1"/>
              </p:cNvSpPr>
              <p:nvPr/>
            </p:nvSpPr>
            <p:spPr>
              <a:xfrm>
                <a:off x="516834" y="1389459"/>
                <a:ext cx="11420061" cy="1195968"/>
              </a:xfrm>
              <a:prstGeom prst="rect">
                <a:avLst/>
              </a:prstGeom>
              <a:blipFill>
                <a:blip r:embed="rId3"/>
                <a:stretch>
                  <a:fillRect b="-1531"/>
                </a:stretch>
              </a:blipFill>
            </p:spPr>
            <p:txBody>
              <a:bodyPr/>
              <a:lstStyle/>
              <a:p>
                <a:r>
                  <a:rPr lang="zh-CN" altLang="en-US">
                    <a:noFill/>
                  </a:rPr>
                  <a:t> </a:t>
                </a:r>
              </a:p>
            </p:txBody>
          </p:sp>
        </mc:Fallback>
      </mc:AlternateContent>
      <p:graphicFrame>
        <p:nvGraphicFramePr>
          <p:cNvPr id="5" name="对象 4">
            <a:extLst>
              <a:ext uri="{FF2B5EF4-FFF2-40B4-BE49-F238E27FC236}">
                <a16:creationId xmlns:a16="http://schemas.microsoft.com/office/drawing/2014/main" id="{5077AD58-9532-CC5D-6EF1-0B3C3C23D93F}"/>
              </a:ext>
            </a:extLst>
          </p:cNvPr>
          <p:cNvGraphicFramePr>
            <a:graphicFrameLocks noChangeAspect="1"/>
          </p:cNvGraphicFramePr>
          <p:nvPr>
            <p:extLst>
              <p:ext uri="{D42A27DB-BD31-4B8C-83A1-F6EECF244321}">
                <p14:modId xmlns:p14="http://schemas.microsoft.com/office/powerpoint/2010/main" val="1703844344"/>
              </p:ext>
            </p:extLst>
          </p:nvPr>
        </p:nvGraphicFramePr>
        <p:xfrm>
          <a:off x="2488302" y="3141925"/>
          <a:ext cx="7215396" cy="830090"/>
        </p:xfrm>
        <a:graphic>
          <a:graphicData uri="http://schemas.openxmlformats.org/presentationml/2006/ole">
            <mc:AlternateContent xmlns:mc="http://schemas.openxmlformats.org/markup-compatibility/2006">
              <mc:Choice xmlns:v="urn:schemas-microsoft-com:vml" Requires="v">
                <p:oleObj name="Equation" r:id="rId4" imgW="2152961" imgH="247689" progId="Equation.DSMT4">
                  <p:embed/>
                </p:oleObj>
              </mc:Choice>
              <mc:Fallback>
                <p:oleObj name="Equation" r:id="rId4" imgW="2152961" imgH="247689" progId="Equation.DSMT4">
                  <p:embed/>
                  <p:pic>
                    <p:nvPicPr>
                      <p:cNvPr id="0" name=""/>
                      <p:cNvPicPr/>
                      <p:nvPr/>
                    </p:nvPicPr>
                    <p:blipFill>
                      <a:blip r:embed="rId5"/>
                      <a:stretch>
                        <a:fillRect/>
                      </a:stretch>
                    </p:blipFill>
                    <p:spPr>
                      <a:xfrm>
                        <a:off x="2488302" y="3141925"/>
                        <a:ext cx="7215396" cy="830090"/>
                      </a:xfrm>
                      <a:prstGeom prst="rect">
                        <a:avLst/>
                      </a:prstGeom>
                    </p:spPr>
                  </p:pic>
                </p:oleObj>
              </mc:Fallback>
            </mc:AlternateContent>
          </a:graphicData>
        </a:graphic>
      </p:graphicFrame>
      <p:sp>
        <p:nvSpPr>
          <p:cNvPr id="6" name="TextBox 7">
            <a:extLst>
              <a:ext uri="{FF2B5EF4-FFF2-40B4-BE49-F238E27FC236}">
                <a16:creationId xmlns:a16="http://schemas.microsoft.com/office/drawing/2014/main" id="{B2880D91-8961-E5EC-81D8-7C98358CEEBD}"/>
              </a:ext>
            </a:extLst>
          </p:cNvPr>
          <p:cNvSpPr txBox="1"/>
          <p:nvPr/>
        </p:nvSpPr>
        <p:spPr>
          <a:xfrm>
            <a:off x="516834" y="4441651"/>
            <a:ext cx="11420061" cy="111966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在线性回归中，因变量和自变量间的关系被拟合成一条直线，即回归直线，该回归直线的方程即为该回归问题的线性回归模型。</a:t>
            </a:r>
            <a:endParaRPr lang="zh-CN" altLang="en-US" dirty="0"/>
          </a:p>
        </p:txBody>
      </p:sp>
    </p:spTree>
    <p:extLst>
      <p:ext uri="{BB962C8B-B14F-4D97-AF65-F5344CB8AC3E}">
        <p14:creationId xmlns:p14="http://schemas.microsoft.com/office/powerpoint/2010/main" val="7398746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E54D3-C61C-9CB7-E155-6A2429F97D6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DF489884-8DD7-930F-BA04-6310A2AB93B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一元线性回归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4" name="TextBox 7">
            <a:extLst>
              <a:ext uri="{FF2B5EF4-FFF2-40B4-BE49-F238E27FC236}">
                <a16:creationId xmlns:a16="http://schemas.microsoft.com/office/drawing/2014/main" id="{89DC8879-FA98-5DCC-B359-3E8B0A7B5044}"/>
              </a:ext>
            </a:extLst>
          </p:cNvPr>
          <p:cNvSpPr txBox="1"/>
          <p:nvPr/>
        </p:nvSpPr>
        <p:spPr>
          <a:xfrm>
            <a:off x="457200" y="110122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一元线性回归模型</a:t>
            </a:r>
          </a:p>
        </p:txBody>
      </p:sp>
      <p:sp>
        <p:nvSpPr>
          <p:cNvPr id="7" name="内容占位符 2">
            <a:extLst>
              <a:ext uri="{FF2B5EF4-FFF2-40B4-BE49-F238E27FC236}">
                <a16:creationId xmlns:a16="http://schemas.microsoft.com/office/drawing/2014/main" id="{E0B5387C-76A9-D851-E53E-8677A9FB9D27}"/>
              </a:ext>
            </a:extLst>
          </p:cNvPr>
          <p:cNvSpPr txBox="1">
            <a:spLocks/>
          </p:cNvSpPr>
          <p:nvPr/>
        </p:nvSpPr>
        <p:spPr>
          <a:xfrm>
            <a:off x="1435448" y="1819102"/>
            <a:ext cx="11790220" cy="1609898"/>
          </a:xfrm>
          <a:prstGeom prst="rect">
            <a:avLst/>
          </a:prstGeom>
          <a:noFill/>
          <a:ln>
            <a:noFill/>
          </a:ln>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我国</a:t>
            </a:r>
            <a:r>
              <a:rPr kumimoji="0" lang="en-US" altLang="zh-CN"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1998-2007</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年的通货膨胀率和城镇登记失业率</a:t>
            </a:r>
            <a:r>
              <a:rPr kumimoji="0" lang="en-US" altLang="zh-CN"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单位：</a:t>
            </a:r>
            <a:r>
              <a:rPr kumimoji="0" lang="en-US" altLang="zh-CN"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p>
          <a:p>
            <a:pPr marL="0" indent="0">
              <a:buNone/>
              <a:defRPr/>
            </a:pPr>
            <a:endParaRPr lang="zh-CN" altLang="en-US" dirty="0">
              <a:solidFill>
                <a:schemeClr val="tx1"/>
              </a:solidFill>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endParaRPr lang="zh-CN" altLang="en-US" sz="2400" dirty="0">
              <a:latin typeface="Euclid" panose="02020503060505020303"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354131897"/>
              </p:ext>
            </p:extLst>
          </p:nvPr>
        </p:nvGraphicFramePr>
        <p:xfrm>
          <a:off x="1715885" y="2728158"/>
          <a:ext cx="3528392" cy="4104640"/>
        </p:xfrm>
        <a:graphic>
          <a:graphicData uri="http://schemas.openxmlformats.org/drawingml/2006/table">
            <a:tbl>
              <a:tblPr firstRow="1" bandRow="1">
                <a:tableStyleId>{5C22544A-7EE6-4342-B048-85BDC9FD1C3A}</a:tableStyleId>
              </a:tblPr>
              <a:tblGrid>
                <a:gridCol w="803608">
                  <a:extLst>
                    <a:ext uri="{9D8B030D-6E8A-4147-A177-3AD203B41FA5}">
                      <a16:colId xmlns:a16="http://schemas.microsoft.com/office/drawing/2014/main" val="20000"/>
                    </a:ext>
                  </a:extLst>
                </a:gridCol>
                <a:gridCol w="1644664">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tblGrid>
              <a:tr h="370840">
                <a:tc>
                  <a:txBody>
                    <a:bodyPr/>
                    <a:lstStyle/>
                    <a:p>
                      <a:r>
                        <a:rPr lang="zh-CN" altLang="en-US" sz="2000">
                          <a:latin typeface="Arial Rounded MT Bold" panose="020F0704030504030204" pitchFamily="34" charset="0"/>
                        </a:rPr>
                        <a:t>年份</a:t>
                      </a:r>
                    </a:p>
                  </a:txBody>
                  <a:tcPr/>
                </a:tc>
                <a:tc>
                  <a:txBody>
                    <a:bodyPr/>
                    <a:lstStyle/>
                    <a:p>
                      <a:r>
                        <a:rPr lang="zh-CN" altLang="en-US" sz="2000">
                          <a:solidFill>
                            <a:schemeClr val="tx1"/>
                          </a:solidFill>
                          <a:latin typeface="Arial Rounded MT Bold" panose="020F0704030504030204" pitchFamily="34" charset="0"/>
                        </a:rPr>
                        <a:t>通货膨胀率</a:t>
                      </a:r>
                      <a:endParaRPr lang="zh-CN" altLang="en-US" sz="2000">
                        <a:latin typeface="Arial Rounded MT Bold" panose="020F0704030504030204" pitchFamily="34" charset="0"/>
                      </a:endParaRPr>
                    </a:p>
                  </a:txBody>
                  <a:tcPr/>
                </a:tc>
                <a:tc>
                  <a:txBody>
                    <a:bodyPr/>
                    <a:lstStyle/>
                    <a:p>
                      <a:r>
                        <a:rPr lang="zh-CN" altLang="en-US" sz="2000">
                          <a:solidFill>
                            <a:schemeClr val="tx1"/>
                          </a:solidFill>
                          <a:latin typeface="Arial Rounded MT Bold" panose="020F0704030504030204" pitchFamily="34" charset="0"/>
                        </a:rPr>
                        <a:t>失业率</a:t>
                      </a:r>
                      <a:endParaRPr lang="zh-CN" altLang="en-US" sz="2000">
                        <a:latin typeface="Arial Rounded MT Bold" panose="020F0704030504030204" pitchFamily="34" charset="0"/>
                      </a:endParaRPr>
                    </a:p>
                  </a:txBody>
                  <a:tcPr/>
                </a:tc>
                <a:extLst>
                  <a:ext uri="{0D108BD9-81ED-4DB2-BD59-A6C34878D82A}">
                    <a16:rowId xmlns:a16="http://schemas.microsoft.com/office/drawing/2014/main" val="10000"/>
                  </a:ext>
                </a:extLst>
              </a:tr>
              <a:tr h="370840">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1998</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-.84</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3.1</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70840">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1999</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-1.41</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3.1</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370840">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2000</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.26</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3.1</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370840">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2001</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.46</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3.6</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370840">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2002</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-.77</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4.0</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370840">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2003</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1.16</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4.3</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370840">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2004</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3.89</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dirty="0">
                          <a:effectLst/>
                          <a:latin typeface="Arial Rounded MT Bold" panose="020F0704030504030204" pitchFamily="34" charset="0"/>
                          <a:ea typeface="宋体" panose="02010600030101010101" pitchFamily="2" charset="-122"/>
                          <a:cs typeface="Times New Roman" panose="02020603050405020304" pitchFamily="18" charset="0"/>
                        </a:rPr>
                        <a:t>4.2</a:t>
                      </a:r>
                      <a:endParaRPr lang="zh-CN" sz="2000" kern="100" dirty="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370840">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2005</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1.82</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4.2</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r h="370840">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2006</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1.46</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4.1</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9"/>
                  </a:ext>
                </a:extLst>
              </a:tr>
              <a:tr h="370840">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2007</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Arial Rounded MT Bold" panose="020F0704030504030204" pitchFamily="34" charset="0"/>
                          <a:ea typeface="宋体" panose="02010600030101010101" pitchFamily="2" charset="-122"/>
                          <a:cs typeface="Times New Roman" panose="02020603050405020304" pitchFamily="18" charset="0"/>
                        </a:rPr>
                        <a:t>4.75</a:t>
                      </a:r>
                      <a:endParaRPr lang="zh-CN" sz="2000" kern="10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dirty="0">
                          <a:effectLst/>
                          <a:latin typeface="Arial Rounded MT Bold" panose="020F0704030504030204" pitchFamily="34" charset="0"/>
                          <a:ea typeface="宋体" panose="02010600030101010101" pitchFamily="2" charset="-122"/>
                          <a:cs typeface="Times New Roman" panose="02020603050405020304" pitchFamily="18" charset="0"/>
                        </a:rPr>
                        <a:t>4.0</a:t>
                      </a:r>
                      <a:endParaRPr lang="zh-CN" sz="2000" kern="100" dirty="0">
                        <a:effectLst/>
                        <a:latin typeface="Arial Rounded MT Bold" panose="020F07040305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10"/>
                  </a:ext>
                </a:extLst>
              </a:tr>
            </a:tbl>
          </a:graphicData>
        </a:graphic>
      </p:graphicFrame>
      <p:pic>
        <p:nvPicPr>
          <p:cNvPr id="9" name="图片 8"/>
          <p:cNvPicPr>
            <a:picLocks noChangeAspect="1"/>
          </p:cNvPicPr>
          <p:nvPr/>
        </p:nvPicPr>
        <p:blipFill>
          <a:blip r:embed="rId3"/>
          <a:stretch>
            <a:fillRect/>
          </a:stretch>
        </p:blipFill>
        <p:spPr>
          <a:xfrm>
            <a:off x="5460301" y="2800350"/>
            <a:ext cx="5040560" cy="4057650"/>
          </a:xfrm>
          <a:prstGeom prst="rect">
            <a:avLst/>
          </a:prstGeom>
        </p:spPr>
      </p:pic>
    </p:spTree>
    <p:extLst>
      <p:ext uri="{BB962C8B-B14F-4D97-AF65-F5344CB8AC3E}">
        <p14:creationId xmlns:p14="http://schemas.microsoft.com/office/powerpoint/2010/main" val="213678220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F460-D658-5781-27A0-F3EB12D33EF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EAF0C05-6523-7AED-5A3F-546ADA15DE2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一元线性回归定义</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6F3246CB-3F68-ACE8-B915-4E0BE5BFF341}"/>
              </a:ext>
            </a:extLst>
          </p:cNvPr>
          <p:cNvSpPr txBox="1"/>
          <p:nvPr/>
        </p:nvSpPr>
        <p:spPr>
          <a:xfrm>
            <a:off x="457200" y="110122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一元线性回归模型</a:t>
            </a:r>
          </a:p>
        </p:txBody>
      </p:sp>
      <p:sp>
        <p:nvSpPr>
          <p:cNvPr id="4" name="内容占位符 4">
            <a:extLst>
              <a:ext uri="{FF2B5EF4-FFF2-40B4-BE49-F238E27FC236}">
                <a16:creationId xmlns:a16="http://schemas.microsoft.com/office/drawing/2014/main" id="{4301FBDC-0F85-5BB3-DF43-41490B2D900B}"/>
              </a:ext>
            </a:extLst>
          </p:cNvPr>
          <p:cNvSpPr txBox="1">
            <a:spLocks/>
          </p:cNvSpPr>
          <p:nvPr/>
        </p:nvSpPr>
        <p:spPr>
          <a:xfrm>
            <a:off x="526774" y="1954264"/>
            <a:ext cx="11549270" cy="452596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只涉及</a:t>
            </a:r>
            <a:r>
              <a:rPr kumimoji="0" lang="zh-CN" altLang="en-US"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一个自变量</a:t>
            </a:r>
            <a:r>
              <a:rPr lang="zh-CN" altLang="en-US" dirty="0">
                <a:latin typeface="Euclid" panose="02020503060505020303" pitchFamily="18" charset="0"/>
              </a:rPr>
              <a:t>，且</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因变量</a:t>
            </a:r>
            <a:r>
              <a:rPr kumimoji="0" lang="en-US" altLang="zh-CN" sz="2800" b="1" i="1"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y</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与自变量</a:t>
            </a:r>
            <a:r>
              <a:rPr kumimoji="0" lang="en-US" altLang="zh-CN" sz="2800" b="1" i="1"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x</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之间呈</a:t>
            </a:r>
            <a:r>
              <a:rPr lang="zh-CN" altLang="en-US" dirty="0">
                <a:solidFill>
                  <a:srgbClr val="0000FF"/>
                </a:solidFill>
                <a:latin typeface="Euclid" panose="02020503060505020303" pitchFamily="18" charset="0"/>
              </a:rPr>
              <a:t>线性关系</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的回归称为</a:t>
            </a:r>
            <a:r>
              <a:rPr kumimoji="0" lang="zh-CN" altLang="en-US"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一元线性回归</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a:t>
            </a: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对于具有线性关系的两个变量，可以用一条线性方程来表示它们之间的关系。</a:t>
            </a:r>
          </a:p>
        </p:txBody>
      </p:sp>
      <p:grpSp>
        <p:nvGrpSpPr>
          <p:cNvPr id="7" name="组合 6">
            <a:extLst>
              <a:ext uri="{FF2B5EF4-FFF2-40B4-BE49-F238E27FC236}">
                <a16:creationId xmlns:a16="http://schemas.microsoft.com/office/drawing/2014/main" id="{560EAB45-D8C2-019D-9A7C-A47216EF0E15}"/>
              </a:ext>
            </a:extLst>
          </p:cNvPr>
          <p:cNvGrpSpPr/>
          <p:nvPr/>
        </p:nvGrpSpPr>
        <p:grpSpPr>
          <a:xfrm>
            <a:off x="4622829" y="5406795"/>
            <a:ext cx="2763076" cy="662538"/>
            <a:chOff x="4353339" y="5106195"/>
            <a:chExt cx="2723322" cy="662538"/>
          </a:xfrm>
        </p:grpSpPr>
        <p:sp>
          <p:nvSpPr>
            <p:cNvPr id="6" name="矩形 5">
              <a:extLst>
                <a:ext uri="{FF2B5EF4-FFF2-40B4-BE49-F238E27FC236}">
                  <a16:creationId xmlns:a16="http://schemas.microsoft.com/office/drawing/2014/main" id="{3985DAE5-1DFB-0684-C644-F14EF3DEDD57}"/>
                </a:ext>
              </a:extLst>
            </p:cNvPr>
            <p:cNvSpPr/>
            <p:nvPr/>
          </p:nvSpPr>
          <p:spPr>
            <a:xfrm>
              <a:off x="4353339" y="5106195"/>
              <a:ext cx="2723322" cy="662538"/>
            </a:xfrm>
            <a:prstGeom prst="rect">
              <a:avLst/>
            </a:prstGeom>
            <a:solidFill>
              <a:schemeClr val="accent5">
                <a:lumMod val="20000"/>
                <a:lumOff val="8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a:extLst>
                <a:ext uri="{FF2B5EF4-FFF2-40B4-BE49-F238E27FC236}">
                  <a16:creationId xmlns:a16="http://schemas.microsoft.com/office/drawing/2014/main" id="{45016839-3475-4483-1B0D-F669256C63E5}"/>
                </a:ext>
              </a:extLst>
            </p:cNvPr>
            <p:cNvGraphicFramePr>
              <a:graphicFrameLocks noChangeAspect="1"/>
            </p:cNvGraphicFramePr>
            <p:nvPr>
              <p:extLst>
                <p:ext uri="{D42A27DB-BD31-4B8C-83A1-F6EECF244321}">
                  <p14:modId xmlns:p14="http://schemas.microsoft.com/office/powerpoint/2010/main" val="2582199393"/>
                </p:ext>
              </p:extLst>
            </p:nvPr>
          </p:nvGraphicFramePr>
          <p:xfrm>
            <a:off x="4570413" y="5132388"/>
            <a:ext cx="2378075" cy="609600"/>
          </p:xfrm>
          <a:graphic>
            <a:graphicData uri="http://schemas.openxmlformats.org/presentationml/2006/ole">
              <mc:AlternateContent xmlns:mc="http://schemas.openxmlformats.org/markup-compatibility/2006">
                <mc:Choice xmlns:v="urn:schemas-microsoft-com:vml" Requires="v">
                  <p:oleObj name="Equation" r:id="rId3" imgW="888840" imgH="228600" progId="Equation.DSMT4">
                    <p:embed/>
                  </p:oleObj>
                </mc:Choice>
                <mc:Fallback>
                  <p:oleObj name="Equation" r:id="rId3" imgW="888840" imgH="228600" progId="Equation.DSMT4">
                    <p:embed/>
                    <p:pic>
                      <p:nvPicPr>
                        <p:cNvPr id="0" name=""/>
                        <p:cNvPicPr/>
                        <p:nvPr/>
                      </p:nvPicPr>
                      <p:blipFill>
                        <a:blip r:embed="rId4"/>
                        <a:stretch>
                          <a:fillRect/>
                        </a:stretch>
                      </p:blipFill>
                      <p:spPr>
                        <a:xfrm>
                          <a:off x="4570413" y="5132388"/>
                          <a:ext cx="2378075" cy="609600"/>
                        </a:xfrm>
                        <a:prstGeom prst="rect">
                          <a:avLst/>
                        </a:prstGeom>
                      </p:spPr>
                    </p:pic>
                  </p:oleObj>
                </mc:Fallback>
              </mc:AlternateContent>
            </a:graphicData>
          </a:graphic>
        </p:graphicFrame>
      </p:grpSp>
      <p:sp>
        <p:nvSpPr>
          <p:cNvPr id="9" name="内容占位符 4">
            <a:extLst>
              <a:ext uri="{FF2B5EF4-FFF2-40B4-BE49-F238E27FC236}">
                <a16:creationId xmlns:a16="http://schemas.microsoft.com/office/drawing/2014/main" id="{04D74175-31F9-1433-881B-CE55DB313EE4}"/>
              </a:ext>
            </a:extLst>
          </p:cNvPr>
          <p:cNvSpPr txBox="1">
            <a:spLocks/>
          </p:cNvSpPr>
          <p:nvPr/>
        </p:nvSpPr>
        <p:spPr>
          <a:xfrm>
            <a:off x="545066" y="4346821"/>
            <a:ext cx="11120160" cy="791710"/>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一元线性回归的数学模型：</a:t>
            </a:r>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p:spTree>
    <p:extLst>
      <p:ext uri="{BB962C8B-B14F-4D97-AF65-F5344CB8AC3E}">
        <p14:creationId xmlns:p14="http://schemas.microsoft.com/office/powerpoint/2010/main" val="7683546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79372-44B7-3A5A-587E-8A28ECE08E0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64FDA5F-FAE8-183A-FF35-64A553A39E2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一元线性回归模型</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CE6582B1-068B-A022-AD41-E31E9F574D20}"/>
              </a:ext>
            </a:extLst>
          </p:cNvPr>
          <p:cNvSpPr txBox="1"/>
          <p:nvPr/>
        </p:nvSpPr>
        <p:spPr>
          <a:xfrm>
            <a:off x="457200" y="1204090"/>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一元线性回归模型</a:t>
            </a:r>
          </a:p>
        </p:txBody>
      </p:sp>
      <mc:AlternateContent xmlns:mc="http://schemas.openxmlformats.org/markup-compatibility/2006" xmlns:a14="http://schemas.microsoft.com/office/drawing/2010/main">
        <mc:Choice Requires="a14">
          <p:sp>
            <p:nvSpPr>
              <p:cNvPr id="9" name="内容占位符 4">
                <a:extLst>
                  <a:ext uri="{FF2B5EF4-FFF2-40B4-BE49-F238E27FC236}">
                    <a16:creationId xmlns:a16="http://schemas.microsoft.com/office/drawing/2014/main" id="{8587F321-3C36-D630-DEEB-5B73E173D324}"/>
                  </a:ext>
                </a:extLst>
              </p:cNvPr>
              <p:cNvSpPr txBox="1">
                <a:spLocks/>
              </p:cNvSpPr>
              <p:nvPr/>
            </p:nvSpPr>
            <p:spPr>
              <a:xfrm>
                <a:off x="995423" y="2159994"/>
                <a:ext cx="9346096" cy="452596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rgbClr val="1F497D">
                        <a:lumMod val="60000"/>
                        <a:lumOff val="40000"/>
                      </a:srgbClr>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一元线性回归的数学模型</a:t>
                </a:r>
                <a:endParaRPr kumimoji="0" lang="en-US" altLang="zh-CN" sz="2800" b="1" i="0" u="none" strike="noStrike" kern="1200" cap="none" spc="0" normalizeH="0" baseline="0" noProof="0" dirty="0">
                  <a:ln w="11430"/>
                  <a:solidFill>
                    <a:srgbClr val="1F497D">
                      <a:lumMod val="60000"/>
                      <a:lumOff val="40000"/>
                    </a:srgbClr>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0" marR="0" lvl="0" indent="0" algn="l" defTabSz="914400" rtl="0" eaLnBrk="1" fontAlgn="auto" latinLnBrk="0" hangingPunct="1">
                  <a:lnSpc>
                    <a:spcPct val="125000"/>
                  </a:lnSpc>
                  <a:spcBef>
                    <a:spcPct val="20000"/>
                  </a:spcBef>
                  <a:spcAft>
                    <a:spcPts val="0"/>
                  </a:spcAft>
                  <a:buClrTx/>
                  <a:buSzTx/>
                  <a:buFont typeface="Wingdings" pitchFamily="2" charset="2"/>
                  <a:buNone/>
                  <a:tabLst/>
                  <a:defRPr/>
                </a:pPr>
                <a14:m>
                  <m:oMathPara xmlns:m="http://schemas.openxmlformats.org/officeDocument/2006/math">
                    <m:oMathParaPr>
                      <m:jc m:val="centerGroup"/>
                    </m:oMathParaPr>
                    <m:oMath xmlns:m="http://schemas.openxmlformats.org/officeDocument/2006/math">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𝒚</m:t>
                      </m:r>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m:t>
                      </m:r>
                      <m:sSub>
                        <m:sSubPr>
                          <m:ctrlP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zh-CN" altLang="en-US"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𝟎</m:t>
                          </m:r>
                        </m:sub>
                      </m:s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m:t>
                      </m:r>
                      <m:sSub>
                        <m:sSubPr>
                          <m:ctrlP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zh-CN" altLang="en-US"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𝟏</m:t>
                          </m:r>
                        </m:sub>
                      </m:s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𝒙</m:t>
                      </m:r>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m:t>
                      </m:r>
                      <m:r>
                        <a:rPr kumimoji="0" lang="zh-CN" altLang="en-US"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𝜺</m:t>
                      </m:r>
                    </m:oMath>
                  </m:oMathPara>
                </a14:m>
                <a:endParaRPr kumimoji="0" lang="en-US" altLang="zh-CN"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0" marR="0" lvl="0" indent="0" algn="l" defTabSz="914400" rtl="0" eaLnBrk="1" fontAlgn="auto" latinLnBrk="0" hangingPunct="1">
                  <a:lnSpc>
                    <a:spcPct val="125000"/>
                  </a:lnSpc>
                  <a:spcBef>
                    <a:spcPct val="20000"/>
                  </a:spcBef>
                  <a:spcAft>
                    <a:spcPts val="0"/>
                  </a:spcAft>
                  <a:buClrTx/>
                  <a:buSzTx/>
                  <a:buFont typeface="Wingdings" pitchFamily="2" charset="2"/>
                  <a:buNone/>
                  <a:tabLst/>
                  <a:defRPr/>
                </a:pPr>
                <a:r>
                  <a:rPr kumimoji="0" lang="zh-CN" altLang="en-US" sz="28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被解释的变量</a:t>
                </a:r>
                <a14:m>
                  <m:oMath xmlns:m="http://schemas.openxmlformats.org/officeDocument/2006/math">
                    <m:r>
                      <a:rPr kumimoji="0" lang="en-US" altLang="zh-CN" sz="2800" b="1" i="1" u="none" strike="noStrike" kern="1200" cap="none" spc="0" normalizeH="0" baseline="0" noProof="0" smtClean="0">
                        <a:ln w="11430"/>
                        <a:solidFill>
                          <a:srgbClr val="008000"/>
                        </a:solidFill>
                        <a:effectLst>
                          <a:outerShdw blurRad="76200" dist="50800" dir="5400000" algn="tl" rotWithShape="0">
                            <a:srgbClr val="000000">
                              <a:alpha val="65000"/>
                            </a:srgbClr>
                          </a:outerShdw>
                        </a:effectLst>
                        <a:uLnTx/>
                        <a:uFillTx/>
                        <a:latin typeface="Cambria Math" panose="02040503050406030204" pitchFamily="18" charset="0"/>
                      </a:rPr>
                      <m:t>𝒚</m:t>
                    </m:r>
                  </m:oMath>
                </a14:m>
                <a:r>
                  <a:rPr kumimoji="0" lang="zh-CN" altLang="en-US" sz="28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的变化可由两个部分解释：</a:t>
                </a:r>
                <a:endParaRPr kumimoji="0" lang="en-US" altLang="zh-CN" sz="28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由于解释变量</a:t>
                </a:r>
                <a14:m>
                  <m:oMath xmlns:m="http://schemas.openxmlformats.org/officeDocument/2006/math">
                    <m: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rPr>
                      <m:t>𝒙</m:t>
                    </m:r>
                  </m:oMath>
                </a14:m>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的变化引起的</a:t>
                </a:r>
                <a14:m>
                  <m:oMath xmlns:m="http://schemas.openxmlformats.org/officeDocument/2006/math">
                    <m:r>
                      <a:rPr kumimoji="0" lang="en-US" altLang="zh-CN" sz="2800" b="1" i="1" u="none" strike="noStrike" kern="1200" cap="none" spc="0" normalizeH="0" baseline="0" noProof="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rPr>
                      <m:t>𝒚</m:t>
                    </m:r>
                  </m:oMath>
                </a14:m>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的线性变化部分</a:t>
                </a:r>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rgbClr val="4BACC6">
                        <a:lumMod val="25000"/>
                      </a:srgbClr>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由其他随机因素引起的</a:t>
                </a:r>
                <a14:m>
                  <m:oMath xmlns:m="http://schemas.openxmlformats.org/officeDocument/2006/math">
                    <m:r>
                      <a:rPr kumimoji="0" lang="en-US" altLang="zh-CN" sz="2800" b="1" i="1" u="none" strike="noStrike" kern="1200" cap="none" spc="0" normalizeH="0" baseline="0" noProof="0">
                        <a:ln w="11430"/>
                        <a:solidFill>
                          <a:srgbClr val="4BACC6">
                            <a:lumMod val="25000"/>
                          </a:srgbClr>
                        </a:solidFill>
                        <a:effectLst>
                          <a:outerShdw blurRad="76200" dist="50800" dir="5400000" algn="tl" rotWithShape="0">
                            <a:srgbClr val="000000">
                              <a:alpha val="65000"/>
                            </a:srgbClr>
                          </a:outerShdw>
                        </a:effectLst>
                        <a:uLnTx/>
                        <a:uFillTx/>
                        <a:latin typeface="Cambria Math" panose="02040503050406030204" pitchFamily="18" charset="0"/>
                      </a:rPr>
                      <m:t>𝒚</m:t>
                    </m:r>
                  </m:oMath>
                </a14:m>
                <a:r>
                  <a:rPr kumimoji="0" lang="zh-CN" altLang="en-US" sz="2800" b="1" i="0" u="none" strike="noStrike" kern="1200" cap="none" spc="0" normalizeH="0" baseline="0" noProof="0" dirty="0">
                    <a:ln w="11430"/>
                    <a:solidFill>
                      <a:srgbClr val="4BACC6">
                        <a:lumMod val="25000"/>
                      </a:srgbClr>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的变化部分，即</a:t>
                </a:r>
                <a14:m>
                  <m:oMath xmlns:m="http://schemas.openxmlformats.org/officeDocument/2006/math">
                    <m:r>
                      <a:rPr kumimoji="0" lang="zh-CN" altLang="en-US" sz="2800" b="1" i="1" u="none" strike="noStrike" kern="1200" cap="none" spc="0" normalizeH="0" baseline="0" noProof="0">
                        <a:ln w="11430"/>
                        <a:solidFill>
                          <a:srgbClr val="4BACC6">
                            <a:lumMod val="25000"/>
                          </a:srgbClr>
                        </a:solidFill>
                        <a:effectLst>
                          <a:outerShdw blurRad="76200" dist="50800" dir="5400000" algn="tl" rotWithShape="0">
                            <a:srgbClr val="000000">
                              <a:alpha val="65000"/>
                            </a:srgbClr>
                          </a:outerShdw>
                        </a:effectLst>
                        <a:uLnTx/>
                        <a:uFillTx/>
                        <a:latin typeface="Cambria Math" panose="02040503050406030204" pitchFamily="18" charset="0"/>
                      </a:rPr>
                      <m:t>𝜺</m:t>
                    </m:r>
                  </m:oMath>
                </a14:m>
                <a:endParaRPr kumimoji="0" lang="en-US" altLang="zh-CN" sz="2800" b="1" i="0" u="none" strike="noStrike" kern="1200" cap="none" spc="0" normalizeH="0" baseline="0" noProof="0" dirty="0">
                  <a:ln w="11430"/>
                  <a:solidFill>
                    <a:srgbClr val="4BACC6">
                      <a:lumMod val="25000"/>
                    </a:srgbClr>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mc:Choice>
        <mc:Fallback xmlns="">
          <p:sp>
            <p:nvSpPr>
              <p:cNvPr id="9" name="内容占位符 4">
                <a:extLst>
                  <a:ext uri="{FF2B5EF4-FFF2-40B4-BE49-F238E27FC236}">
                    <a16:creationId xmlns:a16="http://schemas.microsoft.com/office/drawing/2014/main" id="{8587F321-3C36-D630-DEEB-5B73E173D324}"/>
                  </a:ext>
                </a:extLst>
              </p:cNvPr>
              <p:cNvSpPr txBox="1">
                <a:spLocks noRot="1" noChangeAspect="1" noMove="1" noResize="1" noEditPoints="1" noAdjustHandles="1" noChangeArrowheads="1" noChangeShapeType="1" noTextEdit="1"/>
              </p:cNvSpPr>
              <p:nvPr/>
            </p:nvSpPr>
            <p:spPr>
              <a:xfrm>
                <a:off x="995423" y="2159994"/>
                <a:ext cx="9346096" cy="4525963"/>
              </a:xfrm>
              <a:prstGeom prst="rect">
                <a:avLst/>
              </a:prstGeom>
              <a:blipFill>
                <a:blip r:embed="rId3"/>
                <a:stretch>
                  <a:fillRect/>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35F23ADF-6170-E509-E6F1-9EA52F9FB493}"/>
              </a:ext>
            </a:extLst>
          </p:cNvPr>
          <p:cNvPicPr>
            <a:picLocks noChangeAspect="1"/>
          </p:cNvPicPr>
          <p:nvPr/>
        </p:nvPicPr>
        <p:blipFill>
          <a:blip r:embed="rId4"/>
          <a:stretch>
            <a:fillRect/>
          </a:stretch>
        </p:blipFill>
        <p:spPr>
          <a:xfrm>
            <a:off x="8943030" y="3878772"/>
            <a:ext cx="3090154" cy="2487574"/>
          </a:xfrm>
          <a:prstGeom prst="rect">
            <a:avLst/>
          </a:prstGeom>
          <a:ln>
            <a:noFill/>
          </a:ln>
          <a:effectLst>
            <a:outerShdw blurRad="292100" dist="139700" dir="2700000" algn="tl" rotWithShape="0">
              <a:srgbClr val="333333">
                <a:alpha val="65000"/>
              </a:srgbClr>
            </a:outerShdw>
          </a:effectLst>
        </p:spPr>
      </p:pic>
      <p:pic>
        <p:nvPicPr>
          <p:cNvPr id="11" name="图片 10">
            <a:extLst>
              <a:ext uri="{FF2B5EF4-FFF2-40B4-BE49-F238E27FC236}">
                <a16:creationId xmlns:a16="http://schemas.microsoft.com/office/drawing/2014/main" id="{0CDDDE94-B4CF-5191-4179-C8B832FE2211}"/>
              </a:ext>
            </a:extLst>
          </p:cNvPr>
          <p:cNvPicPr>
            <a:picLocks noChangeAspect="1"/>
          </p:cNvPicPr>
          <p:nvPr/>
        </p:nvPicPr>
        <p:blipFill>
          <a:blip r:embed="rId5"/>
          <a:stretch>
            <a:fillRect/>
          </a:stretch>
        </p:blipFill>
        <p:spPr>
          <a:xfrm>
            <a:off x="7876864" y="1103298"/>
            <a:ext cx="3162672" cy="245586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7229474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8E3D0-97AD-7401-4FF5-F72BF0C3ED7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9ED62ED-1C87-5CAB-6AB0-16B680D85EF1}"/>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一元线性回归模型</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04FE36AD-86C9-916E-2E20-C495CB410844}"/>
              </a:ext>
            </a:extLst>
          </p:cNvPr>
          <p:cNvSpPr txBox="1"/>
          <p:nvPr/>
        </p:nvSpPr>
        <p:spPr>
          <a:xfrm>
            <a:off x="457200" y="1204090"/>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一元线性回归模型</a:t>
            </a:r>
          </a:p>
        </p:txBody>
      </p:sp>
      <mc:AlternateContent xmlns:mc="http://schemas.openxmlformats.org/markup-compatibility/2006" xmlns:a14="http://schemas.microsoft.com/office/drawing/2010/main">
        <mc:Choice Requires="a14">
          <p:sp>
            <p:nvSpPr>
              <p:cNvPr id="4" name="内容占位符 4">
                <a:extLst>
                  <a:ext uri="{FF2B5EF4-FFF2-40B4-BE49-F238E27FC236}">
                    <a16:creationId xmlns:a16="http://schemas.microsoft.com/office/drawing/2014/main" id="{E3554AA1-8C58-3372-52A1-7FEB4179174C}"/>
                  </a:ext>
                </a:extLst>
              </p:cNvPr>
              <p:cNvSpPr txBox="1">
                <a:spLocks/>
              </p:cNvSpPr>
              <p:nvPr/>
            </p:nvSpPr>
            <p:spPr>
              <a:xfrm>
                <a:off x="1311965" y="2159994"/>
                <a:ext cx="8229600" cy="452596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rgbClr val="1F497D">
                        <a:lumMod val="60000"/>
                        <a:lumOff val="40000"/>
                      </a:srgbClr>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一元线性回归的数学模型</a:t>
                </a:r>
                <a:endParaRPr kumimoji="0" lang="en-US" altLang="zh-CN" sz="2800" b="1" i="0" u="none" strike="noStrike" kern="1200" cap="none" spc="0" normalizeH="0" baseline="0" noProof="0" dirty="0">
                  <a:ln w="11430"/>
                  <a:solidFill>
                    <a:srgbClr val="1F497D">
                      <a:lumMod val="60000"/>
                      <a:lumOff val="40000"/>
                    </a:srgbClr>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0" marR="0" lvl="0" indent="0" algn="l" defTabSz="914400" rtl="0" eaLnBrk="1" fontAlgn="auto" latinLnBrk="0" hangingPunct="1">
                  <a:lnSpc>
                    <a:spcPct val="125000"/>
                  </a:lnSpc>
                  <a:spcBef>
                    <a:spcPct val="20000"/>
                  </a:spcBef>
                  <a:spcAft>
                    <a:spcPts val="0"/>
                  </a:spcAft>
                  <a:buClrTx/>
                  <a:buSzTx/>
                  <a:buFont typeface="Wingdings" pitchFamily="2" charset="2"/>
                  <a:buNone/>
                  <a:tabLst/>
                  <a:defRPr/>
                </a:pPr>
                <a14:m>
                  <m:oMathPara xmlns:m="http://schemas.openxmlformats.org/officeDocument/2006/math">
                    <m:oMathParaPr>
                      <m:jc m:val="centerGroup"/>
                    </m:oMathParaPr>
                    <m:oMath xmlns:m="http://schemas.openxmlformats.org/officeDocument/2006/math">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𝒚</m:t>
                      </m:r>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m:t>
                      </m:r>
                      <m:sSub>
                        <m:sSubPr>
                          <m:ctrlP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zh-CN" altLang="en-US"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𝟎</m:t>
                          </m:r>
                        </m:sub>
                      </m:s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m:t>
                      </m:r>
                      <m:sSub>
                        <m:sSubPr>
                          <m:ctrlP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zh-CN" altLang="en-US"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𝟏</m:t>
                          </m:r>
                        </m:sub>
                      </m:s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𝒙</m:t>
                      </m:r>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m:t>
                      </m:r>
                      <m:r>
                        <a:rPr kumimoji="0" lang="zh-CN" altLang="en-US"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𝜺</m:t>
                      </m:r>
                    </m:oMath>
                  </m:oMathPara>
                </a14:m>
                <a:endParaRPr kumimoji="0" lang="en-US" altLang="zh-CN"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0" marR="0" lvl="0" indent="0" algn="l" defTabSz="914400" rtl="0" eaLnBrk="1" fontAlgn="auto" latinLnBrk="0" hangingPunct="1">
                  <a:lnSpc>
                    <a:spcPct val="125000"/>
                  </a:lnSpc>
                  <a:spcBef>
                    <a:spcPct val="20000"/>
                  </a:spcBef>
                  <a:spcAft>
                    <a:spcPts val="0"/>
                  </a:spcAft>
                  <a:buClrTx/>
                  <a:buSzTx/>
                  <a:buFont typeface="Wingdings" pitchFamily="2" charset="2"/>
                  <a:buNone/>
                  <a:tabLst/>
                  <a:defRPr/>
                </a:pPr>
                <a:r>
                  <a:rPr kumimoji="0" lang="zh-CN" altLang="en-US" sz="28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回归模型中的参数说明：</a:t>
                </a:r>
                <a:endParaRPr kumimoji="0" lang="en-US" altLang="zh-CN" sz="28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14:m>
                  <m:oMath xmlns:m="http://schemas.openxmlformats.org/officeDocument/2006/math">
                    <m:sSub>
                      <m:sSubPr>
                        <m:ctrlPr>
                          <a:rPr kumimoji="0" lang="en-US" altLang="zh-CN" sz="2800" b="1" i="1" u="none" strike="noStrike" kern="1200" cap="none" spc="0" normalizeH="0" baseline="0" noProof="0" smtClean="0">
                            <a:ln w="11430"/>
                            <a:solidFill>
                              <a:sysClr val="windowText" lastClr="000000">
                                <a:lumMod val="95000"/>
                                <a:lumOff val="5000"/>
                              </a:sysClr>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zh-CN" altLang="en-US" sz="2800" b="1" i="1" u="none" strike="noStrike" kern="1200" cap="none" spc="0" normalizeH="0" baseline="0" noProof="0">
                            <a:ln w="11430"/>
                            <a:solidFill>
                              <a:sysClr val="windowText" lastClr="000000">
                                <a:lumMod val="95000"/>
                                <a:lumOff val="5000"/>
                              </a:sysClr>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800" b="1" i="1" u="none" strike="noStrike" kern="1200" cap="none" spc="0" normalizeH="0" baseline="0" noProof="0">
                            <a:ln w="11430"/>
                            <a:solidFill>
                              <a:sysClr val="windowText" lastClr="000000">
                                <a:lumMod val="95000"/>
                                <a:lumOff val="5000"/>
                              </a:sysClr>
                            </a:solidFill>
                            <a:effectLst>
                              <a:outerShdw blurRad="76200" dist="50800" dir="5400000" algn="tl" rotWithShape="0">
                                <a:srgbClr val="000000">
                                  <a:alpha val="65000"/>
                                </a:srgbClr>
                              </a:outerShdw>
                            </a:effectLst>
                            <a:uLnTx/>
                            <a:uFillTx/>
                            <a:latin typeface="Cambria Math" panose="02040503050406030204" pitchFamily="18" charset="0"/>
                          </a:rPr>
                          <m:t>𝟎</m:t>
                        </m:r>
                      </m:sub>
                    </m:sSub>
                  </m:oMath>
                </a14:m>
                <a:r>
                  <a:rPr kumimoji="0" lang="zh-CN" altLang="en-US" sz="2800" b="1" i="0" u="none" strike="noStrike" kern="1200" cap="none" spc="0" normalizeH="0" baseline="0" noProof="0" dirty="0">
                    <a:ln w="11430"/>
                    <a:solidFill>
                      <a:sysClr val="windowText" lastClr="000000">
                        <a:lumMod val="95000"/>
                        <a:lumOff val="5000"/>
                      </a:sysClr>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：回归</a:t>
                </a:r>
                <a:r>
                  <a:rPr kumimoji="0" lang="zh-CN" altLang="en-US" sz="2800" b="1" i="0" u="none" strike="noStrike" kern="1200" cap="none" spc="0" normalizeH="0" baseline="0" noProof="0" dirty="0">
                    <a:ln w="11430"/>
                    <a:solidFill>
                      <a:srgbClr val="FF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常数</a:t>
                </a:r>
                <a:endParaRPr kumimoji="0" lang="en-US" altLang="zh-CN" sz="2800" b="1" i="0" u="none" strike="noStrike" kern="1200" cap="none" spc="0" normalizeH="0" baseline="0" noProof="0" dirty="0">
                  <a:ln w="11430"/>
                  <a:solidFill>
                    <a:srgbClr val="FF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14:m>
                  <m:oMath xmlns:m="http://schemas.openxmlformats.org/officeDocument/2006/math">
                    <m:sSub>
                      <m:sSubPr>
                        <m:ctrlPr>
                          <a:rPr kumimoji="0" lang="en-US" altLang="zh-CN" sz="2800" b="1" i="1" u="none" strike="noStrike" kern="1200" cap="none" spc="0" normalizeH="0" baseline="0" noProof="0">
                            <a:ln w="11430"/>
                            <a:solidFill>
                              <a:sysClr val="windowText" lastClr="000000">
                                <a:lumMod val="95000"/>
                                <a:lumOff val="5000"/>
                              </a:sysClr>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zh-CN" altLang="en-US" sz="2800" b="1" i="1" u="none" strike="noStrike" kern="1200" cap="none" spc="0" normalizeH="0" baseline="0" noProof="0">
                            <a:ln w="11430"/>
                            <a:solidFill>
                              <a:sysClr val="windowText" lastClr="000000">
                                <a:lumMod val="95000"/>
                                <a:lumOff val="5000"/>
                              </a:sysClr>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800" b="1" i="1" u="none" strike="noStrike" kern="1200" cap="none" spc="0" normalizeH="0" baseline="0" noProof="0">
                            <a:ln w="11430"/>
                            <a:solidFill>
                              <a:sysClr val="windowText" lastClr="000000">
                                <a:lumMod val="95000"/>
                                <a:lumOff val="5000"/>
                              </a:sysClr>
                            </a:solidFill>
                            <a:effectLst>
                              <a:outerShdw blurRad="76200" dist="50800" dir="5400000" algn="tl" rotWithShape="0">
                                <a:srgbClr val="000000">
                                  <a:alpha val="65000"/>
                                </a:srgbClr>
                              </a:outerShdw>
                            </a:effectLst>
                            <a:uLnTx/>
                            <a:uFillTx/>
                            <a:latin typeface="Cambria Math" panose="02040503050406030204" pitchFamily="18" charset="0"/>
                          </a:rPr>
                          <m:t>𝟏</m:t>
                        </m:r>
                      </m:sub>
                    </m:sSub>
                  </m:oMath>
                </a14:m>
                <a:r>
                  <a:rPr kumimoji="0" lang="zh-CN" altLang="en-US" sz="2800" b="1" i="0" u="none" strike="noStrike" kern="1200" cap="none" spc="0" normalizeH="0" baseline="0" noProof="0" dirty="0">
                    <a:ln w="11430"/>
                    <a:solidFill>
                      <a:sysClr val="windowText" lastClr="000000">
                        <a:lumMod val="95000"/>
                        <a:lumOff val="5000"/>
                      </a:sysClr>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：回归</a:t>
                </a:r>
                <a:r>
                  <a:rPr kumimoji="0" lang="zh-CN" altLang="en-US" sz="2800" b="1" i="0" u="none" strike="noStrike" kern="1200" cap="none" spc="0" normalizeH="0" baseline="0" noProof="0" dirty="0">
                    <a:ln w="11430"/>
                    <a:solidFill>
                      <a:srgbClr val="FF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系数，</a:t>
                </a:r>
                <a14:m>
                  <m:oMath xmlns:m="http://schemas.openxmlformats.org/officeDocument/2006/math">
                    <m:r>
                      <a:rPr kumimoji="0" lang="zh-CN" altLang="en-US" sz="28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𝜺</m:t>
                    </m:r>
                  </m:oMath>
                </a14:m>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：随机误差</a:t>
                </a:r>
                <a:endParaRPr kumimoji="0" lang="en-US" altLang="zh-CN"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en-US" altLang="zh-CN" sz="28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mc:Choice>
        <mc:Fallback xmlns="">
          <p:sp>
            <p:nvSpPr>
              <p:cNvPr id="4" name="内容占位符 4">
                <a:extLst>
                  <a:ext uri="{FF2B5EF4-FFF2-40B4-BE49-F238E27FC236}">
                    <a16:creationId xmlns:a16="http://schemas.microsoft.com/office/drawing/2014/main" id="{E3554AA1-8C58-3372-52A1-7FEB4179174C}"/>
                  </a:ext>
                </a:extLst>
              </p:cNvPr>
              <p:cNvSpPr txBox="1">
                <a:spLocks noRot="1" noChangeAspect="1" noMove="1" noResize="1" noEditPoints="1" noAdjustHandles="1" noChangeArrowheads="1" noChangeShapeType="1" noTextEdit="1"/>
              </p:cNvSpPr>
              <p:nvPr/>
            </p:nvSpPr>
            <p:spPr>
              <a:xfrm>
                <a:off x="1311965" y="2159994"/>
                <a:ext cx="8229600" cy="4525963"/>
              </a:xfrm>
              <a:prstGeom prst="rect">
                <a:avLst/>
              </a:prstGeom>
              <a:blipFill>
                <a:blip r:embed="rId3"/>
                <a:stretch>
                  <a:fillRect/>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71B42319-9E68-17A1-007E-DE76C4D2AB6C}"/>
              </a:ext>
            </a:extLst>
          </p:cNvPr>
          <p:cNvSpPr/>
          <p:nvPr/>
        </p:nvSpPr>
        <p:spPr>
          <a:xfrm>
            <a:off x="7052535" y="4687918"/>
            <a:ext cx="4413765"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355600" lvl="1" indent="-355600" eaLnBrk="1" hangingPunct="1">
              <a:buFont typeface="Wingdings" panose="05000000000000000000" pitchFamily="2" charset="2"/>
              <a:buChar char="u"/>
            </a:pPr>
            <a:r>
              <a:rPr lang="zh-CN" altLang="en-US" sz="1600" b="1" dirty="0">
                <a:effectLst>
                  <a:outerShdw blurRad="38100" dist="38100" dir="2700000" algn="tl">
                    <a:srgbClr val="000000">
                      <a:alpha val="43137"/>
                    </a:srgbClr>
                  </a:outerShdw>
                </a:effectLst>
                <a:latin typeface="Euclid" panose="02020503060505020303" pitchFamily="18" charset="0"/>
                <a:ea typeface="微软雅黑" panose="020B0503020204020204" pitchFamily="34" charset="-122"/>
              </a:rPr>
              <a:t>反映了除</a:t>
            </a:r>
            <a:r>
              <a:rPr lang="en-US" altLang="zh-CN" sz="1600" b="1" i="1" dirty="0">
                <a:effectLst>
                  <a:outerShdw blurRad="38100" dist="38100" dir="2700000" algn="tl">
                    <a:srgbClr val="000000">
                      <a:alpha val="43137"/>
                    </a:srgbClr>
                  </a:outerShdw>
                </a:effectLst>
                <a:latin typeface="Euclid" panose="02020503060505020303" pitchFamily="18" charset="0"/>
                <a:ea typeface="微软雅黑" panose="020B0503020204020204" pitchFamily="34" charset="-122"/>
              </a:rPr>
              <a:t>x</a:t>
            </a:r>
            <a:r>
              <a:rPr lang="zh-CN" altLang="en-US" sz="1600" b="1" dirty="0">
                <a:effectLst>
                  <a:outerShdw blurRad="38100" dist="38100" dir="2700000" algn="tl">
                    <a:srgbClr val="000000">
                      <a:alpha val="43137"/>
                    </a:srgbClr>
                  </a:outerShdw>
                </a:effectLst>
                <a:latin typeface="Euclid" panose="02020503060505020303" pitchFamily="18" charset="0"/>
                <a:ea typeface="微软雅黑" panose="020B0503020204020204" pitchFamily="34" charset="-122"/>
              </a:rPr>
              <a:t>和</a:t>
            </a:r>
            <a:r>
              <a:rPr lang="en-US" altLang="zh-CN" sz="1600" b="1" i="1" dirty="0">
                <a:effectLst>
                  <a:outerShdw blurRad="38100" dist="38100" dir="2700000" algn="tl">
                    <a:srgbClr val="000000">
                      <a:alpha val="43137"/>
                    </a:srgbClr>
                  </a:outerShdw>
                </a:effectLst>
                <a:latin typeface="Euclid" panose="02020503060505020303" pitchFamily="18" charset="0"/>
                <a:ea typeface="微软雅黑" panose="020B0503020204020204" pitchFamily="34" charset="-122"/>
              </a:rPr>
              <a:t>y</a:t>
            </a:r>
            <a:r>
              <a:rPr lang="zh-CN" altLang="en-US" sz="1600" b="1" dirty="0">
                <a:effectLst>
                  <a:outerShdw blurRad="38100" dist="38100" dir="2700000" algn="tl">
                    <a:srgbClr val="000000">
                      <a:alpha val="43137"/>
                    </a:srgbClr>
                  </a:outerShdw>
                </a:effectLst>
                <a:latin typeface="Euclid" panose="02020503060505020303" pitchFamily="18" charset="0"/>
                <a:ea typeface="微软雅黑" panose="020B0503020204020204" pitchFamily="34" charset="-122"/>
              </a:rPr>
              <a:t>之间的线性关系之外的随机因素对</a:t>
            </a:r>
            <a:r>
              <a:rPr lang="en-US" altLang="zh-CN" sz="1600" b="1" i="1" dirty="0">
                <a:effectLst>
                  <a:outerShdw blurRad="38100" dist="38100" dir="2700000" algn="tl">
                    <a:srgbClr val="000000">
                      <a:alpha val="43137"/>
                    </a:srgbClr>
                  </a:outerShdw>
                </a:effectLst>
                <a:latin typeface="Euclid" panose="02020503060505020303" pitchFamily="18" charset="0"/>
                <a:ea typeface="微软雅黑" panose="020B0503020204020204" pitchFamily="34" charset="-122"/>
              </a:rPr>
              <a:t>y</a:t>
            </a:r>
            <a:r>
              <a:rPr lang="zh-CN" altLang="en-US" sz="1600" b="1" dirty="0">
                <a:effectLst>
                  <a:outerShdw blurRad="38100" dist="38100" dir="2700000" algn="tl">
                    <a:srgbClr val="000000">
                      <a:alpha val="43137"/>
                    </a:srgbClr>
                  </a:outerShdw>
                </a:effectLst>
                <a:latin typeface="Euclid" panose="02020503060505020303" pitchFamily="18" charset="0"/>
                <a:ea typeface="微软雅黑" panose="020B0503020204020204" pitchFamily="34" charset="-122"/>
              </a:rPr>
              <a:t>的影响</a:t>
            </a:r>
          </a:p>
          <a:p>
            <a:pPr marL="355600" lvl="1" indent="-355600" eaLnBrk="1" hangingPunct="1">
              <a:buFont typeface="Wingdings" panose="05000000000000000000" pitchFamily="2" charset="2"/>
              <a:buChar char="u"/>
            </a:pPr>
            <a:r>
              <a:rPr lang="zh-CN" altLang="en-US" sz="1600" b="1" dirty="0">
                <a:effectLst>
                  <a:outerShdw blurRad="38100" dist="38100" dir="2700000" algn="tl">
                    <a:srgbClr val="000000">
                      <a:alpha val="43137"/>
                    </a:srgbClr>
                  </a:outerShdw>
                </a:effectLst>
                <a:latin typeface="Euclid" panose="02020503060505020303" pitchFamily="18" charset="0"/>
                <a:ea typeface="微软雅黑" panose="020B0503020204020204" pitchFamily="34" charset="-122"/>
              </a:rPr>
              <a:t>是不能由</a:t>
            </a:r>
            <a:r>
              <a:rPr lang="en-US" altLang="zh-CN" sz="1600" b="1" i="1" dirty="0">
                <a:effectLst>
                  <a:outerShdw blurRad="38100" dist="38100" dir="2700000" algn="tl">
                    <a:srgbClr val="000000">
                      <a:alpha val="43137"/>
                    </a:srgbClr>
                  </a:outerShdw>
                </a:effectLst>
                <a:latin typeface="Euclid" panose="02020503060505020303" pitchFamily="18" charset="0"/>
                <a:ea typeface="微软雅黑" panose="020B0503020204020204" pitchFamily="34" charset="-122"/>
              </a:rPr>
              <a:t>x</a:t>
            </a:r>
            <a:r>
              <a:rPr lang="zh-CN" altLang="en-US" sz="1600" b="1" dirty="0">
                <a:effectLst>
                  <a:outerShdw blurRad="38100" dist="38100" dir="2700000" algn="tl">
                    <a:srgbClr val="000000">
                      <a:alpha val="43137"/>
                    </a:srgbClr>
                  </a:outerShdw>
                </a:effectLst>
                <a:latin typeface="Euclid" panose="02020503060505020303" pitchFamily="18" charset="0"/>
                <a:ea typeface="微软雅黑" panose="020B0503020204020204" pitchFamily="34" charset="-122"/>
              </a:rPr>
              <a:t>和</a:t>
            </a:r>
            <a:r>
              <a:rPr lang="en-US" altLang="zh-CN" sz="1600" b="1" i="1" dirty="0">
                <a:effectLst>
                  <a:outerShdw blurRad="38100" dist="38100" dir="2700000" algn="tl">
                    <a:srgbClr val="000000">
                      <a:alpha val="43137"/>
                    </a:srgbClr>
                  </a:outerShdw>
                </a:effectLst>
                <a:latin typeface="Euclid" panose="02020503060505020303" pitchFamily="18" charset="0"/>
                <a:ea typeface="微软雅黑" panose="020B0503020204020204" pitchFamily="34" charset="-122"/>
              </a:rPr>
              <a:t>y</a:t>
            </a:r>
            <a:r>
              <a:rPr lang="zh-CN" altLang="en-US" sz="1600" b="1" dirty="0">
                <a:effectLst>
                  <a:outerShdw blurRad="38100" dist="38100" dir="2700000" algn="tl">
                    <a:srgbClr val="000000">
                      <a:alpha val="43137"/>
                    </a:srgbClr>
                  </a:outerShdw>
                </a:effectLst>
                <a:latin typeface="Euclid" panose="02020503060505020303" pitchFamily="18" charset="0"/>
                <a:ea typeface="微软雅黑" panose="020B0503020204020204" pitchFamily="34" charset="-122"/>
              </a:rPr>
              <a:t>之间的线性关系所解释的变异性</a:t>
            </a:r>
          </a:p>
        </p:txBody>
      </p:sp>
    </p:spTree>
    <p:extLst>
      <p:ext uri="{BB962C8B-B14F-4D97-AF65-F5344CB8AC3E}">
        <p14:creationId xmlns:p14="http://schemas.microsoft.com/office/powerpoint/2010/main" val="167165681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B15C4-6E84-32F4-D3F8-4FCB7FF7613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888F16B-11AE-F27D-ECDF-D07EFEE775B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一元线性回归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6F3D84DA-8044-C0CD-C9A5-27ABF62C77FF}"/>
              </a:ext>
            </a:extLst>
          </p:cNvPr>
          <p:cNvSpPr txBox="1"/>
          <p:nvPr/>
        </p:nvSpPr>
        <p:spPr>
          <a:xfrm>
            <a:off x="457200" y="1204090"/>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一元线性回归模型</a:t>
            </a:r>
          </a:p>
        </p:txBody>
      </p:sp>
      <p:sp>
        <p:nvSpPr>
          <p:cNvPr id="6" name="内容占位符 2">
            <a:extLst>
              <a:ext uri="{FF2B5EF4-FFF2-40B4-BE49-F238E27FC236}">
                <a16:creationId xmlns:a16="http://schemas.microsoft.com/office/drawing/2014/main" id="{F56DBC85-4848-DBC0-0039-AD072690A0B2}"/>
              </a:ext>
            </a:extLst>
          </p:cNvPr>
          <p:cNvSpPr txBox="1">
            <a:spLocks/>
          </p:cNvSpPr>
          <p:nvPr/>
        </p:nvSpPr>
        <p:spPr>
          <a:xfrm>
            <a:off x="3887710" y="1204090"/>
            <a:ext cx="11790220" cy="1609898"/>
          </a:xfrm>
          <a:prstGeom prst="rect">
            <a:avLst/>
          </a:prstGeom>
          <a:noFill/>
          <a:ln>
            <a:noFill/>
          </a:ln>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需要满足以下基本假设：</a:t>
            </a:r>
            <a:endParaRPr kumimoji="0" lang="en-US" altLang="zh-CN"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endParaRPr>
          </a:p>
          <a:p>
            <a:pPr marL="0" indent="0">
              <a:buNone/>
              <a:defRPr/>
            </a:pPr>
            <a:endParaRPr lang="zh-CN" altLang="en-US" dirty="0">
              <a:solidFill>
                <a:schemeClr val="tx1"/>
              </a:solidFill>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endParaRPr lang="zh-CN" altLang="en-US" sz="2400" dirty="0">
              <a:latin typeface="Euclid" panose="02020503060505020303" pitchFamily="18" charset="0"/>
            </a:endParaRPr>
          </a:p>
        </p:txBody>
      </p:sp>
      <mc:AlternateContent xmlns:mc="http://schemas.openxmlformats.org/markup-compatibility/2006" xmlns:a14="http://schemas.microsoft.com/office/drawing/2010/main">
        <mc:Choice Requires="a14">
          <p:sp>
            <p:nvSpPr>
              <p:cNvPr id="17" name="内容占位符 2">
                <a:extLst>
                  <a:ext uri="{FF2B5EF4-FFF2-40B4-BE49-F238E27FC236}">
                    <a16:creationId xmlns:a16="http://schemas.microsoft.com/office/drawing/2014/main" id="{B036104F-70F7-3101-F04A-8697C1860F50}"/>
                  </a:ext>
                </a:extLst>
              </p:cNvPr>
              <p:cNvSpPr txBox="1">
                <a:spLocks/>
              </p:cNvSpPr>
              <p:nvPr/>
            </p:nvSpPr>
            <p:spPr>
              <a:xfrm>
                <a:off x="864702" y="2355094"/>
                <a:ext cx="10903228" cy="4155317"/>
              </a:xfrm>
              <a:prstGeom prst="rect">
                <a:avLst/>
              </a:prstGeom>
              <a:noFill/>
              <a:ln>
                <a:noFill/>
              </a:ln>
            </p:spPr>
            <p:txBody>
              <a:bodyPr vert="horz" lIns="91440" tIns="45720" rIns="91440" bIns="45720" rtlCol="0">
                <a:normAutofit fontScale="70000" lnSpcReduction="20000"/>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r>
                  <a:rPr kumimoji="0" lang="zh-CN" altLang="en-US"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1</a:t>
                </a:r>
                <a:r>
                  <a:rPr kumimoji="0" lang="zh-CN" altLang="en-US"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lang="zh-CN" altLang="en-US" sz="4000" dirty="0">
                    <a:solidFill>
                      <a:srgbClr val="0000FF"/>
                    </a:solidFill>
                    <a:latin typeface="Euclid" panose="02020503060505020303" pitchFamily="18" charset="0"/>
                  </a:rPr>
                  <a:t>线性关系</a:t>
                </a:r>
                <a:r>
                  <a:rPr kumimoji="0" lang="zh-CN" altLang="en-US"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。观测数据相互独立且自变量和因变量之间存在线性关系。</a:t>
                </a:r>
              </a:p>
              <a:p>
                <a:pPr marL="0" indent="0">
                  <a:buNone/>
                  <a:defRPr/>
                </a:pPr>
                <a:r>
                  <a:rPr kumimoji="0" lang="zh-CN" altLang="en-US"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2</a:t>
                </a:r>
                <a:r>
                  <a:rPr kumimoji="0" lang="zh-CN" altLang="en-US"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lang="zh-CN" altLang="en-US" sz="4000" dirty="0">
                    <a:solidFill>
                      <a:srgbClr val="0000FF"/>
                    </a:solidFill>
                    <a:latin typeface="Euclid" panose="02020503060505020303" pitchFamily="18" charset="0"/>
                  </a:rPr>
                  <a:t>正态性和齐方差性</a:t>
                </a:r>
                <a:r>
                  <a:rPr kumimoji="0" lang="zh-CN" altLang="en-US"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。误差</a:t>
                </a:r>
                <a14:m>
                  <m:oMath xmlns:m="http://schemas.openxmlformats.org/officeDocument/2006/math">
                    <m:r>
                      <a:rPr kumimoji="0" lang="zh-CN" altLang="en-US" sz="3600" b="1" i="1" u="none" strike="noStrike" kern="1200" cap="none" spc="0" normalizeH="0" baseline="0" noProof="0" smtClean="0">
                        <a:ln w="11430"/>
                        <a:solidFill>
                          <a:srgbClr val="4BACC6">
                            <a:lumMod val="25000"/>
                          </a:srgbClr>
                        </a:solidFill>
                        <a:effectLst>
                          <a:outerShdw blurRad="76200" dist="50800" dir="5400000" algn="tl" rotWithShape="0">
                            <a:srgbClr val="000000">
                              <a:alpha val="65000"/>
                            </a:srgbClr>
                          </a:outerShdw>
                        </a:effectLst>
                        <a:uLnTx/>
                        <a:uFillTx/>
                        <a:latin typeface="Cambria Math" panose="02040503050406030204" pitchFamily="18" charset="0"/>
                      </a:rPr>
                      <m:t>𝜺</m:t>
                    </m:r>
                  </m:oMath>
                </a14:m>
                <a:r>
                  <a:rPr kumimoji="0" lang="zh-CN" altLang="en-US"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服从</a:t>
                </a:r>
                <a14:m>
                  <m:oMath xmlns:m="http://schemas.openxmlformats.org/officeDocument/2006/math">
                    <m:r>
                      <a:rPr lang="zh-CN" altLang="en-US" sz="3600" i="1">
                        <a:solidFill>
                          <a:srgbClr val="4BACC6">
                            <a:lumMod val="25000"/>
                          </a:srgbClr>
                        </a:solidFill>
                        <a:latin typeface="Cambria Math" panose="02040503050406030204" pitchFamily="18" charset="0"/>
                      </a:rPr>
                      <m:t>𝜺</m:t>
                    </m:r>
                  </m:oMath>
                </a14:m>
                <a:r>
                  <a:rPr kumimoji="0" lang="en-US" altLang="zh-CN"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~N</a:t>
                </a:r>
                <a:r>
                  <a:rPr lang="en-US" altLang="zh-CN" sz="3500" kern="0" spc="50" dirty="0">
                    <a:solidFill>
                      <a:schemeClr val="tx1"/>
                    </a:solidFill>
                    <a:latin typeface="Arial" panose="020B0604020202020204" pitchFamily="34" charset="0"/>
                  </a:rPr>
                  <a:t>(0,</a:t>
                </a:r>
                <a14:m>
                  <m:oMath xmlns:m="http://schemas.openxmlformats.org/officeDocument/2006/math">
                    <m:sSup>
                      <m:sSupPr>
                        <m:ctrlPr>
                          <a:rPr lang="en-US" altLang="zh-CN" sz="3500" i="1" kern="0" spc="50" smtClean="0">
                            <a:solidFill>
                              <a:schemeClr val="tx1"/>
                            </a:solidFill>
                            <a:latin typeface="Cambria Math" panose="02040503050406030204" pitchFamily="18" charset="0"/>
                          </a:rPr>
                        </m:ctrlPr>
                      </m:sSupPr>
                      <m:e>
                        <m:r>
                          <a:rPr lang="zh-CN" altLang="en-US" sz="3500" i="1" kern="0" spc="50" smtClean="0">
                            <a:solidFill>
                              <a:schemeClr val="tx1"/>
                            </a:solidFill>
                            <a:latin typeface="Cambria Math" panose="02040503050406030204" pitchFamily="18" charset="0"/>
                          </a:rPr>
                          <m:t>𝝈</m:t>
                        </m:r>
                      </m:e>
                      <m:sup>
                        <m:r>
                          <a:rPr lang="en-US" altLang="zh-CN" sz="3500" b="1" i="1" kern="0" spc="50" smtClean="0">
                            <a:solidFill>
                              <a:schemeClr val="tx1"/>
                            </a:solidFill>
                            <a:latin typeface="Cambria Math" panose="02040503050406030204" pitchFamily="18" charset="0"/>
                          </a:rPr>
                          <m:t>𝟐</m:t>
                        </m:r>
                      </m:sup>
                    </m:sSup>
                  </m:oMath>
                </a14:m>
                <a:r>
                  <a:rPr lang="en-US" altLang="zh-CN" sz="3500" kern="0" spc="50" dirty="0">
                    <a:solidFill>
                      <a:schemeClr val="tx1"/>
                    </a:solidFill>
                    <a:latin typeface="Arial" panose="020B0604020202020204" pitchFamily="34" charset="0"/>
                  </a:rPr>
                  <a:t>)</a:t>
                </a:r>
                <a:r>
                  <a:rPr kumimoji="0" lang="zh-CN" altLang="en-US"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分布，且在不同的自变量取值上，满足</a:t>
                </a:r>
                <a:r>
                  <a:rPr kumimoji="0" lang="en-US" altLang="zh-CN"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p>
              <a:p>
                <a:pPr marL="0" indent="0" algn="ctr">
                  <a:buNone/>
                  <a:defRPr/>
                </a:pPr>
                <a14:m>
                  <m:oMathPara xmlns:m="http://schemas.openxmlformats.org/officeDocument/2006/math">
                    <m:oMathParaPr>
                      <m:jc m:val="centerGroup"/>
                    </m:oMathParaPr>
                    <m:oMath xmlns:m="http://schemas.openxmlformats.org/officeDocument/2006/math">
                      <m:d>
                        <m:dPr>
                          <m:begChr m:val="{"/>
                          <m:endChr m:val=""/>
                          <m:ctrlPr>
                            <a:rPr lang="en-US" altLang="zh-CN" sz="3600" i="1" smtClean="0">
                              <a:solidFill>
                                <a:srgbClr val="0000FF"/>
                              </a:solidFill>
                              <a:latin typeface="Cambria Math" panose="02040503050406030204" pitchFamily="18" charset="0"/>
                            </a:rPr>
                          </m:ctrlPr>
                        </m:dPr>
                        <m:e>
                          <m:m>
                            <m:mPr>
                              <m:mcs>
                                <m:mc>
                                  <m:mcPr>
                                    <m:count m:val="1"/>
                                    <m:mcJc m:val="center"/>
                                  </m:mcPr>
                                </m:mc>
                              </m:mcs>
                              <m:ctrlPr>
                                <a:rPr lang="en-US" altLang="zh-CN" sz="3600" i="1" smtClean="0">
                                  <a:solidFill>
                                    <a:srgbClr val="0000FF"/>
                                  </a:solidFill>
                                  <a:latin typeface="Cambria Math" panose="02040503050406030204" pitchFamily="18" charset="0"/>
                                </a:rPr>
                              </m:ctrlPr>
                            </m:mPr>
                            <m:mr>
                              <m:e>
                                <m:r>
                                  <m:rPr>
                                    <m:brk m:alnAt="7"/>
                                  </m:rPr>
                                  <a:rPr lang="en-US" altLang="zh-CN" sz="3600" b="1" i="1" smtClean="0">
                                    <a:solidFill>
                                      <a:srgbClr val="0000FF"/>
                                    </a:solidFill>
                                    <a:latin typeface="Cambria Math" panose="02040503050406030204" pitchFamily="18" charset="0"/>
                                  </a:rPr>
                                  <m:t>𝑬</m:t>
                                </m:r>
                                <m:d>
                                  <m:dPr>
                                    <m:ctrlPr>
                                      <a:rPr lang="en-US" altLang="zh-CN" sz="3600" b="1" i="1" smtClean="0">
                                        <a:solidFill>
                                          <a:srgbClr val="0000FF"/>
                                        </a:solidFill>
                                        <a:latin typeface="Cambria Math" panose="02040503050406030204" pitchFamily="18" charset="0"/>
                                      </a:rPr>
                                    </m:ctrlPr>
                                  </m:dPr>
                                  <m:e>
                                    <m:r>
                                      <a:rPr lang="zh-CN" altLang="en-US" sz="3600" b="1" i="1" smtClean="0">
                                        <a:solidFill>
                                          <a:srgbClr val="0000FF"/>
                                        </a:solidFill>
                                        <a:latin typeface="Cambria Math" panose="02040503050406030204" pitchFamily="18" charset="0"/>
                                      </a:rPr>
                                      <m:t>𝜺</m:t>
                                    </m:r>
                                  </m:e>
                                </m:d>
                                <m:r>
                                  <m:rPr>
                                    <m:brk m:alnAt="7"/>
                                  </m:rPr>
                                  <a:rPr lang="en-US" altLang="zh-CN" sz="3600" b="1" i="1" smtClean="0">
                                    <a:solidFill>
                                      <a:srgbClr val="0000FF"/>
                                    </a:solidFill>
                                    <a:latin typeface="Cambria Math" panose="02040503050406030204" pitchFamily="18" charset="0"/>
                                  </a:rPr>
                                  <m:t>=</m:t>
                                </m:r>
                                <m:r>
                                  <a:rPr lang="en-US" altLang="zh-CN" sz="3600" b="1" i="1" smtClean="0">
                                    <a:solidFill>
                                      <a:srgbClr val="0000FF"/>
                                    </a:solidFill>
                                    <a:latin typeface="Cambria Math" panose="02040503050406030204" pitchFamily="18" charset="0"/>
                                  </a:rPr>
                                  <m:t>𝟎</m:t>
                                </m:r>
                              </m:e>
                            </m:mr>
                            <m:mr>
                              <m:e>
                                <m:r>
                                  <a:rPr lang="en-US" altLang="zh-CN" sz="3600" b="1" i="1" smtClean="0">
                                    <a:solidFill>
                                      <a:srgbClr val="0000FF"/>
                                    </a:solidFill>
                                    <a:latin typeface="Cambria Math" panose="02040503050406030204" pitchFamily="18" charset="0"/>
                                  </a:rPr>
                                  <m:t>𝑽𝒂𝒓</m:t>
                                </m:r>
                                <m:d>
                                  <m:dPr>
                                    <m:ctrlPr>
                                      <a:rPr lang="en-US" altLang="zh-CN" sz="3600" i="1">
                                        <a:solidFill>
                                          <a:srgbClr val="0000FF"/>
                                        </a:solidFill>
                                        <a:latin typeface="Cambria Math" panose="02040503050406030204" pitchFamily="18" charset="0"/>
                                      </a:rPr>
                                    </m:ctrlPr>
                                  </m:dPr>
                                  <m:e>
                                    <m:r>
                                      <a:rPr lang="zh-CN" altLang="en-US" sz="3600" i="1">
                                        <a:solidFill>
                                          <a:srgbClr val="0000FF"/>
                                        </a:solidFill>
                                        <a:latin typeface="Cambria Math" panose="02040503050406030204" pitchFamily="18" charset="0"/>
                                      </a:rPr>
                                      <m:t>𝜺</m:t>
                                    </m:r>
                                  </m:e>
                                </m:d>
                                <m:r>
                                  <m:rPr>
                                    <m:brk m:alnAt="7"/>
                                  </m:rPr>
                                  <a:rPr lang="en-US" altLang="zh-CN" sz="3600" i="1">
                                    <a:solidFill>
                                      <a:srgbClr val="0000FF"/>
                                    </a:solidFill>
                                    <a:latin typeface="Cambria Math" panose="02040503050406030204" pitchFamily="18" charset="0"/>
                                  </a:rPr>
                                  <m:t>=</m:t>
                                </m:r>
                                <m:sSup>
                                  <m:sSupPr>
                                    <m:ctrlPr>
                                      <a:rPr lang="en-US" altLang="zh-CN" sz="3600" i="1" smtClean="0">
                                        <a:solidFill>
                                          <a:srgbClr val="0000FF"/>
                                        </a:solidFill>
                                        <a:latin typeface="Cambria Math" panose="02040503050406030204" pitchFamily="18" charset="0"/>
                                      </a:rPr>
                                    </m:ctrlPr>
                                  </m:sSupPr>
                                  <m:e>
                                    <m:r>
                                      <a:rPr lang="zh-CN" altLang="en-US" sz="3600" i="1" smtClean="0">
                                        <a:solidFill>
                                          <a:srgbClr val="0000FF"/>
                                        </a:solidFill>
                                        <a:latin typeface="Cambria Math" panose="02040503050406030204" pitchFamily="18" charset="0"/>
                                      </a:rPr>
                                      <m:t>𝝈</m:t>
                                    </m:r>
                                  </m:e>
                                  <m:sup>
                                    <m:r>
                                      <a:rPr lang="en-US" altLang="zh-CN" sz="3600" b="1" i="1" smtClean="0">
                                        <a:solidFill>
                                          <a:srgbClr val="0000FF"/>
                                        </a:solidFill>
                                        <a:latin typeface="Cambria Math" panose="02040503050406030204" pitchFamily="18" charset="0"/>
                                      </a:rPr>
                                      <m:t>𝟐</m:t>
                                    </m:r>
                                  </m:sup>
                                </m:sSup>
                              </m:e>
                            </m:mr>
                          </m:m>
                        </m:e>
                      </m:d>
                    </m:oMath>
                  </m:oMathPara>
                </a14:m>
                <a:endParaRPr kumimoji="0" lang="en-US" altLang="zh-CN"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endParaRPr>
              </a:p>
              <a:p>
                <a:pPr marL="0" indent="0">
                  <a:buNone/>
                  <a:defRPr/>
                </a:pPr>
                <a:r>
                  <a:rPr kumimoji="0" lang="en-US" altLang="zh-CN"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	</a:t>
                </a:r>
                <a:r>
                  <a:rPr kumimoji="0" lang="zh-CN" altLang="en-US"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即残差的方差恒定。</a:t>
                </a:r>
                <a:endParaRPr kumimoji="0" lang="en-US" altLang="zh-CN"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endParaRPr>
              </a:p>
              <a:p>
                <a:pPr marL="0" indent="0">
                  <a:buNone/>
                  <a:defRPr/>
                </a:pPr>
                <a:r>
                  <a:rPr kumimoji="0" lang="zh-CN" altLang="en-US"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3</a:t>
                </a:r>
                <a:r>
                  <a:rPr kumimoji="0" lang="zh-CN" altLang="en-US"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lang="zh-CN" altLang="en-US" sz="4000" dirty="0">
                    <a:solidFill>
                      <a:srgbClr val="0000FF"/>
                    </a:solidFill>
                    <a:latin typeface="Euclid" panose="02020503060505020303" pitchFamily="18" charset="0"/>
                  </a:rPr>
                  <a:t>独立性</a:t>
                </a:r>
                <a:r>
                  <a:rPr kumimoji="0" lang="zh-CN" altLang="en-US" sz="35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zh-CN" altLang="en-US" sz="3500" b="1" i="0" u="none" strike="noStrike" kern="0" cap="none" spc="50" normalizeH="0" baseline="0" noProof="0" dirty="0">
                    <a:ln w="11430">
                      <a:solidFill>
                        <a:schemeClr val="tx1"/>
                      </a:solidFill>
                    </a:ln>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误差彼此之间不相关且误差和自变量不相关。</a:t>
                </a:r>
                <a:endParaRPr kumimoji="0" lang="en-US" altLang="zh-CN" sz="3500" b="1" i="0" u="none" strike="noStrike" kern="0" cap="none" spc="50" normalizeH="0" baseline="0" noProof="0" dirty="0">
                  <a:ln w="11430">
                    <a:solidFill>
                      <a:schemeClr val="tx1"/>
                    </a:solidFill>
                  </a:ln>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endParaRPr>
              </a:p>
              <a:p>
                <a:pPr marL="0" indent="0">
                  <a:buNone/>
                  <a:defRPr/>
                </a:pPr>
                <a:endPar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endParaRPr>
              </a:p>
              <a:p>
                <a:pPr marL="0" indent="0">
                  <a:buNone/>
                  <a:defRPr/>
                </a:pPr>
                <a:endParaRPr kumimoji="0" lang="en-US" altLang="zh-CN"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endParaRPr>
              </a:p>
              <a:p>
                <a:pPr marL="0" indent="0">
                  <a:buNone/>
                  <a:defRPr/>
                </a:pPr>
                <a:endParaRPr lang="zh-CN" altLang="en-US" dirty="0">
                  <a:solidFill>
                    <a:schemeClr val="tx1"/>
                  </a:solidFill>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endParaRPr lang="zh-CN" altLang="en-US" sz="2400" dirty="0">
                  <a:latin typeface="Euclid" panose="02020503060505020303" pitchFamily="18" charset="0"/>
                </a:endParaRPr>
              </a:p>
            </p:txBody>
          </p:sp>
        </mc:Choice>
        <mc:Fallback xmlns="">
          <p:sp>
            <p:nvSpPr>
              <p:cNvPr id="17" name="内容占位符 2">
                <a:extLst>
                  <a:ext uri="{FF2B5EF4-FFF2-40B4-BE49-F238E27FC236}">
                    <a16:creationId xmlns:a16="http://schemas.microsoft.com/office/drawing/2014/main" id="{B036104F-70F7-3101-F04A-8697C1860F50}"/>
                  </a:ext>
                </a:extLst>
              </p:cNvPr>
              <p:cNvSpPr txBox="1">
                <a:spLocks noRot="1" noChangeAspect="1" noMove="1" noResize="1" noEditPoints="1" noAdjustHandles="1" noChangeArrowheads="1" noChangeShapeType="1" noTextEdit="1"/>
              </p:cNvSpPr>
              <p:nvPr/>
            </p:nvSpPr>
            <p:spPr>
              <a:xfrm>
                <a:off x="864702" y="2355094"/>
                <a:ext cx="10903228" cy="4155317"/>
              </a:xfrm>
              <a:prstGeom prst="rect">
                <a:avLst/>
              </a:prstGeom>
              <a:blipFill>
                <a:blip r:embed="rId3"/>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07328580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F29A0-10DF-E37C-078A-A14B428D8E5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072E651-FE83-ACC9-F938-30B97B8FA973}"/>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一元线性回归模型的参数估计</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C77C17B8-70D5-EC41-C006-A34352843C42}"/>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一元线性回归模型的参数估计</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414F311-9274-35BD-6D32-7DE33A24C053}"/>
                  </a:ext>
                </a:extLst>
              </p:cNvPr>
              <p:cNvSpPr txBox="1"/>
              <p:nvPr/>
            </p:nvSpPr>
            <p:spPr>
              <a:xfrm>
                <a:off x="4052681" y="2161275"/>
                <a:ext cx="6097656" cy="677108"/>
              </a:xfrm>
              <a:prstGeom prst="rect">
                <a:avLst/>
              </a:prstGeom>
              <a:noFill/>
            </p:spPr>
            <p:txBody>
              <a:bodyPr wrap="square">
                <a:spAutoFit/>
              </a:bodyPr>
              <a:lstStyle/>
              <a:p>
                <a:pPr>
                  <a:lnSpc>
                    <a:spcPct val="125000"/>
                  </a:lnSpc>
                  <a:spcBef>
                    <a:spcPct val="20000"/>
                  </a:spcBef>
                  <a:defRPr/>
                </a:pPr>
                <a14:m>
                  <m:oMath xmlns:m="http://schemas.openxmlformats.org/officeDocument/2006/math">
                    <m:sSub>
                      <m:sSubPr>
                        <m:ctrlPr>
                          <a:rPr lang="en-US" altLang="zh-CN" sz="3200" b="1" i="1" smtClean="0">
                            <a:ln w="11430">
                              <a:no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sSubPr>
                      <m:e>
                        <m:r>
                          <a:rPr lang="zh-CN" altLang="en-US" sz="3200" b="1">
                            <a:ln w="11430">
                              <a:no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e>
                      <m:sub>
                        <m:r>
                          <a:rPr lang="en-US" altLang="zh-CN" sz="3200" b="1">
                            <a:ln w="11430">
                              <a:no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𝟎</m:t>
                        </m:r>
                      </m:sub>
                    </m:sSub>
                  </m:oMath>
                </a14:m>
                <a:r>
                  <a:rPr lang="en-US" altLang="zh-CN" sz="3200" b="1" dirty="0">
                    <a:ln w="11430">
                      <a:no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a:t>
                </a:r>
                <a:r>
                  <a:rPr lang="zh-CN" altLang="en-US" sz="3200" b="1" dirty="0">
                    <a:ln w="11430">
                      <a:no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a:t>
                </a:r>
                <a:r>
                  <a:rPr lang="en-US" altLang="zh-CN" sz="3200" b="1" dirty="0">
                    <a:ln w="11430">
                      <a:no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              </a:t>
                </a:r>
                <a14:m>
                  <m:oMath xmlns:m="http://schemas.openxmlformats.org/officeDocument/2006/math">
                    <m:sSub>
                      <m:sSubPr>
                        <m:ctrlPr>
                          <a:rPr lang="en-US" altLang="zh-CN" sz="3200" b="1" i="1" smtClean="0">
                            <a:ln w="11430">
                              <a:no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sSubPr>
                      <m:e>
                        <m:r>
                          <a:rPr lang="zh-CN" altLang="en-US" sz="3200" b="1">
                            <a:ln w="11430">
                              <a:no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e>
                      <m:sub>
                        <m:r>
                          <a:rPr lang="en-US" altLang="zh-CN" sz="3200" b="1">
                            <a:ln w="11430">
                              <a:no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𝟏</m:t>
                        </m:r>
                      </m:sub>
                    </m:sSub>
                  </m:oMath>
                </a14:m>
                <a:r>
                  <a:rPr lang="en-US" altLang="zh-CN" sz="3200" b="1" dirty="0">
                    <a:ln w="11430">
                      <a:no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a:t>
                </a:r>
                <a:r>
                  <a:rPr lang="zh-CN" altLang="en-US" sz="3200" b="1" dirty="0">
                    <a:ln w="11430">
                      <a:no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a:t>
                </a:r>
                <a:endParaRPr lang="en-US" altLang="zh-CN" sz="3200" b="1" dirty="0">
                  <a:ln w="11430"/>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endParaRPr>
              </a:p>
            </p:txBody>
          </p:sp>
        </mc:Choice>
        <mc:Fallback xmlns="">
          <p:sp>
            <p:nvSpPr>
              <p:cNvPr id="8" name="文本框 7">
                <a:extLst>
                  <a:ext uri="{FF2B5EF4-FFF2-40B4-BE49-F238E27FC236}">
                    <a16:creationId xmlns:a16="http://schemas.microsoft.com/office/drawing/2014/main" id="{6414F311-9274-35BD-6D32-7DE33A24C053}"/>
                  </a:ext>
                </a:extLst>
              </p:cNvPr>
              <p:cNvSpPr txBox="1">
                <a:spLocks noRot="1" noChangeAspect="1" noMove="1" noResize="1" noEditPoints="1" noAdjustHandles="1" noChangeArrowheads="1" noChangeShapeType="1" noTextEdit="1"/>
              </p:cNvSpPr>
              <p:nvPr/>
            </p:nvSpPr>
            <p:spPr>
              <a:xfrm>
                <a:off x="4052681" y="2161275"/>
                <a:ext cx="6097656" cy="677108"/>
              </a:xfrm>
              <a:prstGeom prst="rect">
                <a:avLst/>
              </a:prstGeom>
              <a:blipFill>
                <a:blip r:embed="rId3"/>
                <a:stretch>
                  <a:fillRect t="-6306" b="-405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AC5979D-7297-397C-C27C-21592AC8B9BE}"/>
                  </a:ext>
                </a:extLst>
              </p:cNvPr>
              <p:cNvSpPr txBox="1"/>
              <p:nvPr/>
            </p:nvSpPr>
            <p:spPr>
              <a:xfrm>
                <a:off x="1180271" y="4754354"/>
                <a:ext cx="10031068" cy="1765996"/>
              </a:xfrm>
              <a:prstGeom prst="rect">
                <a:avLst/>
              </a:prstGeom>
              <a:noFill/>
              <a:ln>
                <a:noFill/>
              </a:ln>
            </p:spPr>
            <p:txBody>
              <a:bodyPr wrap="square">
                <a:spAutoFit/>
              </a:bodyPr>
              <a:lstStyle/>
              <a:p>
                <a:pPr marL="438150" marR="0" lvl="0" indent="-438150" fontAlgn="auto">
                  <a:lnSpc>
                    <a:spcPct val="125000"/>
                  </a:lnSpc>
                  <a:spcBef>
                    <a:spcPct val="20000"/>
                  </a:spcBef>
                  <a:spcAft>
                    <a:spcPts val="0"/>
                  </a:spcAft>
                  <a:buClrTx/>
                  <a:buSzTx/>
                  <a:buFont typeface="Wingdings" pitchFamily="2" charset="2"/>
                  <a:buChar char="n"/>
                  <a:tabLst/>
                  <a:defRPr/>
                </a:pPr>
                <a:r>
                  <a:rPr lang="zh-CN" altLang="en-US" sz="2800" b="1" dirty="0">
                    <a:ln w="11430">
                      <a:solidFill>
                        <a:schemeClr val="bg1"/>
                      </a:solidFill>
                    </a:ln>
                    <a:solidFill>
                      <a:srgbClr val="0000FF"/>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基于样本数据，得出参数</a:t>
                </a:r>
                <a14:m>
                  <m:oMath xmlns:m="http://schemas.openxmlformats.org/officeDocument/2006/math">
                    <m:sSub>
                      <m:sSubPr>
                        <m:ctrlPr>
                          <a:rPr lang="en-US" altLang="zh-CN" sz="2800" b="1" i="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sSubPr>
                      <m:e>
                        <m:r>
                          <a:rPr lang="zh-CN" altLang="en-US" sz="2800" b="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e>
                      <m:sub>
                        <m:r>
                          <a:rPr lang="en-US" altLang="zh-CN" sz="2800" b="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𝟎</m:t>
                        </m:r>
                      </m:sub>
                    </m:sSub>
                  </m:oMath>
                </a14:m>
                <a:r>
                  <a:rPr lang="zh-CN" altLang="en-US" sz="2800" b="1" dirty="0">
                    <a:ln w="11430">
                      <a:solidFill>
                        <a:schemeClr val="bg1"/>
                      </a:solidFill>
                    </a:ln>
                    <a:solidFill>
                      <a:srgbClr val="0000FF"/>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a:t>
                </a:r>
                <a14:m>
                  <m:oMath xmlns:m="http://schemas.openxmlformats.org/officeDocument/2006/math">
                    <m:sSub>
                      <m:sSubPr>
                        <m:ctrlPr>
                          <a:rPr lang="en-US" altLang="zh-CN" sz="2800" b="1" i="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sSubPr>
                      <m:e>
                        <m:r>
                          <a:rPr lang="zh-CN" altLang="en-US" sz="2800" b="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e>
                      <m:sub>
                        <m:r>
                          <a:rPr lang="en-US" altLang="zh-CN" sz="2800" b="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𝟏</m:t>
                        </m:r>
                      </m:sub>
                    </m:sSub>
                  </m:oMath>
                </a14:m>
                <a:r>
                  <a:rPr lang="zh-CN" altLang="en-US" sz="2800" b="1" dirty="0">
                    <a:ln w="11430">
                      <a:solidFill>
                        <a:schemeClr val="bg1"/>
                      </a:solidFill>
                    </a:ln>
                    <a:solidFill>
                      <a:srgbClr val="0000FF"/>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的估计值</a:t>
                </a:r>
                <a14:m>
                  <m:oMath xmlns:m="http://schemas.openxmlformats.org/officeDocument/2006/math">
                    <m:sSub>
                      <m:sSubPr>
                        <m:ctrlPr>
                          <a:rPr lang="en-US" altLang="zh-CN" sz="2800" b="1" i="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sSubPr>
                      <m:e>
                        <m:acc>
                          <m:accPr>
                            <m:chr m:val="̂"/>
                            <m:ctrlPr>
                              <a:rPr lang="en-US" altLang="zh-CN" sz="2800" b="1" i="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accPr>
                          <m:e>
                            <m:r>
                              <a:rPr lang="zh-CN" altLang="en-US" sz="2800" b="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e>
                        </m:acc>
                      </m:e>
                      <m:sub>
                        <m:r>
                          <a:rPr lang="en-US" altLang="zh-CN" sz="2800" b="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𝟎</m:t>
                        </m:r>
                      </m:sub>
                    </m:sSub>
                  </m:oMath>
                </a14:m>
                <a:r>
                  <a:rPr lang="zh-CN" altLang="en-US" sz="2800" b="1" dirty="0">
                    <a:ln w="11430">
                      <a:solidFill>
                        <a:schemeClr val="bg1"/>
                      </a:solidFill>
                    </a:ln>
                    <a:solidFill>
                      <a:srgbClr val="0000FF"/>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a:t>
                </a:r>
                <a14:m>
                  <m:oMath xmlns:m="http://schemas.openxmlformats.org/officeDocument/2006/math">
                    <m:sSub>
                      <m:sSubPr>
                        <m:ctrlPr>
                          <a:rPr lang="en-US" altLang="zh-CN" sz="2800" b="1" i="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sSubPr>
                      <m:e>
                        <m:acc>
                          <m:accPr>
                            <m:chr m:val="̂"/>
                            <m:ctrlPr>
                              <a:rPr lang="en-US" altLang="zh-CN" sz="2800" b="1" i="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accPr>
                          <m:e>
                            <m:r>
                              <a:rPr lang="zh-CN" altLang="en-US" sz="2800" b="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e>
                        </m:acc>
                      </m:e>
                      <m:sub>
                        <m:r>
                          <a:rPr lang="en-US" altLang="zh-CN" sz="2800" b="1">
                            <a:ln w="11430">
                              <a:solidFill>
                                <a:schemeClr val="bg1"/>
                              </a:solidFill>
                            </a:ln>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1</m:t>
                        </m:r>
                      </m:sub>
                    </m:sSub>
                  </m:oMath>
                </a14:m>
                <a:r>
                  <a:rPr lang="zh-CN" altLang="en-US" sz="2800" b="1" dirty="0">
                    <a:ln w="11430">
                      <a:solidFill>
                        <a:schemeClr val="bg1"/>
                      </a:solidFill>
                    </a:ln>
                    <a:solidFill>
                      <a:srgbClr val="0000FF"/>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，从而得到一元经验回归方程</a:t>
                </a:r>
                <a:r>
                  <a:rPr lang="zh-CN" altLang="en-US" sz="2500" b="1" kern="0" spc="50" dirty="0">
                    <a:ln w="11430">
                      <a:solidFill>
                        <a:schemeClr val="bg1"/>
                      </a:solidFill>
                    </a:ln>
                    <a:solidFill>
                      <a:prstClr val="black"/>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rPr>
                  <a:t>。</a:t>
                </a:r>
                <a:endParaRPr lang="en-US" altLang="zh-CN" sz="2800" b="1" dirty="0">
                  <a:ln w="11430">
                    <a:solidFill>
                      <a:schemeClr val="bg1"/>
                    </a:solidFill>
                  </a:ln>
                  <a:solidFill>
                    <a:srgbClr val="0000FF"/>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endParaRPr>
              </a:p>
              <a:p>
                <a:pPr marL="0" marR="0" lvl="0" indent="0" algn="l" defTabSz="914400" rtl="0" eaLnBrk="1" fontAlgn="auto" latinLnBrk="0" hangingPunct="1">
                  <a:lnSpc>
                    <a:spcPct val="125000"/>
                  </a:lnSpc>
                  <a:spcBef>
                    <a:spcPct val="20000"/>
                  </a:spcBef>
                  <a:spcAft>
                    <a:spcPts val="0"/>
                  </a:spcAft>
                  <a:buClrTx/>
                  <a:buSzTx/>
                  <a:buFont typeface="Wingdings" pitchFamily="2" charset="2"/>
                  <a:buNone/>
                  <a:tabLst/>
                  <a:defRPr/>
                </a:pPr>
                <a14:m>
                  <m:oMathPara xmlns:m="http://schemas.openxmlformats.org/officeDocument/2006/math">
                    <m:oMathParaPr>
                      <m:jc m:val="centerGroup"/>
                    </m:oMathParaPr>
                    <m:oMath xmlns:m="http://schemas.openxmlformats.org/officeDocument/2006/math">
                      <m:acc>
                        <m:accPr>
                          <m:chr m:val="̂"/>
                          <m:ctrlPr>
                            <a:rPr lang="en-US" altLang="zh-CN" sz="2800" b="1" i="1">
                              <a:ln w="11430"/>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accPr>
                        <m:e>
                          <m:r>
                            <a:rPr lang="en-US" altLang="zh-CN" sz="2800" b="1">
                              <a:ln w="11430"/>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𝒚</m:t>
                          </m:r>
                        </m:e>
                      </m:acc>
                      <m:r>
                        <a:rPr lang="en-US" altLang="zh-CN" sz="2800" b="1">
                          <a:ln w="11430"/>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m:t>
                      </m:r>
                      <m:sSub>
                        <m:sSubPr>
                          <m:ctrlPr>
                            <a:rPr lang="en-US" altLang="zh-CN" sz="2800" b="1" i="1">
                              <a:ln w="11430"/>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sSubPr>
                        <m:e>
                          <m:acc>
                            <m:accPr>
                              <m:chr m:val="̂"/>
                              <m:ctrlPr>
                                <a:rPr lang="en-US" altLang="zh-CN" sz="2800" b="1" i="1">
                                  <a:ln w="11430"/>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accPr>
                            <m:e>
                              <m:r>
                                <a:rPr lang="zh-CN" altLang="en-US" sz="2800" b="1">
                                  <a:ln w="11430"/>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e>
                          </m:acc>
                        </m:e>
                        <m:sub>
                          <m:r>
                            <a:rPr lang="en-US" altLang="zh-CN" sz="2800" b="1">
                              <a:ln w="11430"/>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𝟎</m:t>
                          </m:r>
                        </m:sub>
                      </m:sSub>
                      <m:r>
                        <a:rPr lang="en-US" altLang="zh-CN" sz="2800" b="1">
                          <a:ln w="11430"/>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m:t>
                      </m:r>
                      <m:sSub>
                        <m:sSubPr>
                          <m:ctrlPr>
                            <a:rPr lang="en-US" altLang="zh-CN" sz="2800" b="1" i="1">
                              <a:ln w="11430"/>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sSubPr>
                        <m:e>
                          <m:acc>
                            <m:accPr>
                              <m:chr m:val="̂"/>
                              <m:ctrlPr>
                                <a:rPr lang="en-US" altLang="zh-CN" sz="2800" b="1" i="1">
                                  <a:ln w="11430"/>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accPr>
                            <m:e>
                              <m:r>
                                <a:rPr lang="zh-CN" altLang="en-US" sz="2800" b="1">
                                  <a:ln w="11430"/>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e>
                          </m:acc>
                        </m:e>
                        <m:sub>
                          <m:r>
                            <a:rPr lang="en-US" altLang="zh-CN" sz="2800" b="1">
                              <a:ln w="11430"/>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1</m:t>
                          </m:r>
                        </m:sub>
                      </m:sSub>
                      <m:r>
                        <a:rPr lang="en-US" altLang="zh-CN" sz="2800" b="1">
                          <a:ln w="11430"/>
                          <a:solidFill>
                            <a:srgbClr val="0000FF"/>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𝒙</m:t>
                      </m:r>
                    </m:oMath>
                  </m:oMathPara>
                </a14:m>
                <a:endParaRPr lang="en-US" altLang="zh-CN" sz="2800" b="1" dirty="0">
                  <a:ln w="11430"/>
                  <a:solidFill>
                    <a:srgbClr val="0000FF"/>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endParaRPr>
              </a:p>
            </p:txBody>
          </p:sp>
        </mc:Choice>
        <mc:Fallback xmlns="">
          <p:sp>
            <p:nvSpPr>
              <p:cNvPr id="10" name="文本框 9">
                <a:extLst>
                  <a:ext uri="{FF2B5EF4-FFF2-40B4-BE49-F238E27FC236}">
                    <a16:creationId xmlns:a16="http://schemas.microsoft.com/office/drawing/2014/main" id="{7AC5979D-7297-397C-C27C-21592AC8B9BE}"/>
                  </a:ext>
                </a:extLst>
              </p:cNvPr>
              <p:cNvSpPr txBox="1">
                <a:spLocks noRot="1" noChangeAspect="1" noMove="1" noResize="1" noEditPoints="1" noAdjustHandles="1" noChangeArrowheads="1" noChangeShapeType="1" noTextEdit="1"/>
              </p:cNvSpPr>
              <p:nvPr/>
            </p:nvSpPr>
            <p:spPr>
              <a:xfrm>
                <a:off x="1180271" y="4754354"/>
                <a:ext cx="10031068" cy="1765996"/>
              </a:xfrm>
              <a:prstGeom prst="rect">
                <a:avLst/>
              </a:prstGeom>
              <a:blipFill>
                <a:blip r:embed="rId4"/>
                <a:stretch>
                  <a:fillRect/>
                </a:stretch>
              </a:blipFill>
              <a:ln>
                <a:noFill/>
              </a:ln>
            </p:spPr>
            <p:txBody>
              <a:bodyPr/>
              <a:lstStyle/>
              <a:p>
                <a:r>
                  <a:rPr lang="zh-CN" altLang="en-US">
                    <a:noFill/>
                  </a:rPr>
                  <a:t> </a:t>
                </a:r>
              </a:p>
            </p:txBody>
          </p:sp>
        </mc:Fallback>
      </mc:AlternateContent>
      <p:cxnSp>
        <p:nvCxnSpPr>
          <p:cNvPr id="11" name="直接箭头连接符 10">
            <a:extLst>
              <a:ext uri="{FF2B5EF4-FFF2-40B4-BE49-F238E27FC236}">
                <a16:creationId xmlns:a16="http://schemas.microsoft.com/office/drawing/2014/main" id="{6DE1501A-3942-348C-AEB9-A07C63EAADEC}"/>
              </a:ext>
            </a:extLst>
          </p:cNvPr>
          <p:cNvCxnSpPr>
            <a:cxnSpLocks/>
          </p:cNvCxnSpPr>
          <p:nvPr/>
        </p:nvCxnSpPr>
        <p:spPr>
          <a:xfrm>
            <a:off x="6195805" y="3429000"/>
            <a:ext cx="0" cy="108839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3" name="矩形: 圆角 12">
            <a:extLst>
              <a:ext uri="{FF2B5EF4-FFF2-40B4-BE49-F238E27FC236}">
                <a16:creationId xmlns:a16="http://schemas.microsoft.com/office/drawing/2014/main" id="{5A87A1BF-86B9-A379-10C1-D497AAD941E0}"/>
              </a:ext>
            </a:extLst>
          </p:cNvPr>
          <p:cNvSpPr/>
          <p:nvPr/>
        </p:nvSpPr>
        <p:spPr>
          <a:xfrm>
            <a:off x="1079521" y="2014194"/>
            <a:ext cx="9849693" cy="1007302"/>
          </a:xfrm>
          <a:prstGeom prst="roundRect">
            <a:avLst/>
          </a:prstGeom>
          <a:noFill/>
          <a:ln w="28575">
            <a:solidFill>
              <a:srgbClr val="033BA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A65C05AA-8607-4EB5-48FF-35C16C2A4752}"/>
              </a:ext>
            </a:extLst>
          </p:cNvPr>
          <p:cNvSpPr txBox="1"/>
          <p:nvPr/>
        </p:nvSpPr>
        <p:spPr>
          <a:xfrm>
            <a:off x="6195805" y="3679509"/>
            <a:ext cx="4379429" cy="523220"/>
          </a:xfrm>
          <a:prstGeom prst="rect">
            <a:avLst/>
          </a:prstGeom>
          <a:noFill/>
        </p:spPr>
        <p:txBody>
          <a:bodyPr wrap="square" rtlCol="0">
            <a:spAutoFit/>
          </a:bodyPr>
          <a:lstStyle>
            <a:defPPr>
              <a:defRPr lang="zh-CN"/>
            </a:defPPr>
            <a:lvl1pPr algn="ctr">
              <a:defRPr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sz="2800" spc="50" dirty="0">
                <a:ln w="11430"/>
                <a:solidFill>
                  <a:srgbClr val="FF0000"/>
                </a:solidFill>
                <a:effectLst>
                  <a:outerShdw blurRad="76200" dist="50800" dir="5400000" algn="tl" rotWithShape="0">
                    <a:srgbClr val="000000">
                      <a:alpha val="65000"/>
                    </a:srgbClr>
                  </a:outerShdw>
                </a:effectLst>
                <a:latin typeface="Arial" panose="020B0604020202020204" pitchFamily="34" charset="0"/>
                <a:cs typeface="Arial" panose="020B0604020202020204" pitchFamily="34" charset="0"/>
              </a:rPr>
              <a:t>最小二乘估计、</a:t>
            </a:r>
            <a:r>
              <a:rPr lang="en-US" altLang="zh-CN" sz="2800" spc="50" dirty="0">
                <a:ln w="11430"/>
                <a:solidFill>
                  <a:srgbClr val="FF0000"/>
                </a:solidFill>
                <a:effectLst>
                  <a:outerShdw blurRad="76200" dist="50800" dir="5400000" algn="tl" rotWithShape="0">
                    <a:srgbClr val="000000">
                      <a:alpha val="65000"/>
                    </a:srgbClr>
                  </a:outerShdw>
                </a:effectLst>
                <a:latin typeface="Arial" panose="020B0604020202020204" pitchFamily="34" charset="0"/>
                <a:cs typeface="Arial" panose="020B0604020202020204" pitchFamily="34" charset="0"/>
              </a:rPr>
              <a:t>……</a:t>
            </a:r>
            <a:endParaRPr lang="zh-CN" altLang="en-US" sz="2800" spc="50" dirty="0">
              <a:ln w="11430"/>
              <a:solidFill>
                <a:srgbClr val="FF0000"/>
              </a:solidFill>
              <a:effectLst>
                <a:outerShdw blurRad="76200" dist="50800" dir="5400000" algn="tl" rotWithShape="0">
                  <a:srgbClr val="000000">
                    <a:alpha val="65000"/>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13420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F9C32-1A1A-969F-455B-1D2AEE986B3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DE9747C5-3D65-49DE-9342-C5880B62EE42}"/>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一元线性回归模型的参数估计</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E93CBC69-9B0E-56BC-FF7A-98E02B4271E4}"/>
              </a:ext>
            </a:extLst>
          </p:cNvPr>
          <p:cNvSpPr txBox="1"/>
          <p:nvPr/>
        </p:nvSpPr>
        <p:spPr>
          <a:xfrm>
            <a:off x="487015" y="1337318"/>
            <a:ext cx="11529393" cy="2316019"/>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pPr marL="0" marR="0" lvl="0" indent="0" algn="l" defTabSz="914400" rtl="0" eaLnBrk="1" fontAlgn="auto" latinLnBrk="0" hangingPunct="1">
              <a:lnSpc>
                <a:spcPts val="4500"/>
              </a:lnSpc>
              <a:spcBef>
                <a:spcPts val="0"/>
              </a:spcBef>
              <a:spcAft>
                <a:spcPts val="0"/>
              </a:spcAft>
              <a:buClrTx/>
              <a:buSzTx/>
              <a:buFontTx/>
              <a:buNone/>
              <a:tabLst/>
              <a:defRPr/>
            </a:pPr>
            <a:r>
              <a:rPr lang="zh-CN" altLang="en-US" dirty="0"/>
              <a:t>最小二乘法：</a:t>
            </a:r>
            <a:r>
              <a:rPr kumimoji="0" lang="zh-CN" altLang="en-US" sz="2600" b="1" i="0" u="none" strike="noStrike" kern="0" cap="none" spc="50" normalizeH="0" baseline="0" noProof="0" dirty="0">
                <a:ln w="11430"/>
                <a:solidFill>
                  <a:prstClr val="black"/>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通过最小化每个数据点到回归线的垂直距离的平方和来计算最佳拟合线。具体而言，最小二乘法的目标是找到一条直线，使得残差平方和最小。</a:t>
            </a:r>
            <a:endParaRPr kumimoji="0" lang="en-US" altLang="zh-CN" sz="2600" b="1" i="0" u="none" strike="noStrike" kern="0" cap="none" spc="50" normalizeH="0" baseline="0" noProof="0" dirty="0">
              <a:ln w="11430"/>
              <a:solidFill>
                <a:prstClr val="black"/>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endParaRPr>
          </a:p>
          <a:p>
            <a:endParaRPr lang="zh-CN" altLang="en-US" dirty="0"/>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E129A6EF-DC07-202F-571B-013C84986830}"/>
                  </a:ext>
                </a:extLst>
              </p:cNvPr>
              <p:cNvSpPr txBox="1"/>
              <p:nvPr/>
            </p:nvSpPr>
            <p:spPr>
              <a:xfrm>
                <a:off x="1277176" y="3514190"/>
                <a:ext cx="9949070" cy="1765996"/>
              </a:xfrm>
              <a:prstGeom prst="rect">
                <a:avLst/>
              </a:prstGeom>
              <a:noFill/>
            </p:spPr>
            <p:txBody>
              <a:bodyPr wrap="square">
                <a:spAutoFit/>
              </a:bodyPr>
              <a:lstStyle/>
              <a:p>
                <a:pPr lvl="0">
                  <a:lnSpc>
                    <a:spcPct val="125000"/>
                  </a:lnSpc>
                  <a:spcBef>
                    <a:spcPct val="20000"/>
                  </a:spcBef>
                  <a:defRPr/>
                </a:pPr>
                <a:r>
                  <a:rPr kumimoji="0" lang="zh-CN" altLang="en-US" sz="2800" b="1" i="0" u="none" strike="noStrike" kern="1200" cap="none" spc="0" normalizeH="0" baseline="0" noProof="0" dirty="0">
                    <a:ln w="11430">
                      <a:solidFill>
                        <a:prstClr val="white"/>
                      </a:solidFill>
                    </a:ln>
                    <a:solidFill>
                      <a:srgbClr val="008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设</a:t>
                </a:r>
                <a14:m>
                  <m:oMath xmlns:m="http://schemas.openxmlformats.org/officeDocument/2006/math">
                    <m:sSub>
                      <m:sSubPr>
                        <m:ctrlPr>
                          <a:rPr lang="en-US" altLang="zh-CN" sz="2800" b="1" i="1">
                            <a:ln w="11430">
                              <a:solidFill>
                                <a:prstClr val="white"/>
                              </a:solid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sSubPr>
                      <m:e>
                        <m:acc>
                          <m:accPr>
                            <m:chr m:val="̂"/>
                            <m:ctrlPr>
                              <a:rPr lang="en-US" altLang="zh-CN" sz="2800" b="1" i="1">
                                <a:ln w="11430">
                                  <a:solidFill>
                                    <a:prstClr val="white"/>
                                  </a:solid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accPr>
                          <m:e>
                            <m:r>
                              <a:rPr lang="zh-CN" altLang="en-US" sz="2800" b="1">
                                <a:ln w="11430">
                                  <a:solidFill>
                                    <a:prstClr val="white"/>
                                  </a:solid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e>
                        </m:acc>
                      </m:e>
                      <m:sub>
                        <m:r>
                          <a:rPr lang="en-US" altLang="zh-CN" sz="2800" b="1">
                            <a:ln w="11430">
                              <a:solidFill>
                                <a:prstClr val="white"/>
                              </a:solid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𝟎</m:t>
                        </m:r>
                      </m:sub>
                    </m:sSub>
                  </m:oMath>
                </a14:m>
                <a:r>
                  <a:rPr lang="zh-CN" altLang="en-US" sz="2800" b="1" dirty="0">
                    <a:ln w="11430">
                      <a:solidFill>
                        <a:prstClr val="white"/>
                      </a:solid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a:t>
                </a:r>
                <a14:m>
                  <m:oMath xmlns:m="http://schemas.openxmlformats.org/officeDocument/2006/math">
                    <m:sSub>
                      <m:sSubPr>
                        <m:ctrlPr>
                          <a:rPr lang="en-US" altLang="zh-CN" sz="2800" b="1" i="1">
                            <a:ln w="11430">
                              <a:solidFill>
                                <a:prstClr val="white"/>
                              </a:solid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sSubPr>
                      <m:e>
                        <m:acc>
                          <m:accPr>
                            <m:chr m:val="̂"/>
                            <m:ctrlPr>
                              <a:rPr lang="en-US" altLang="zh-CN" sz="2800" b="1" i="1">
                                <a:ln w="11430">
                                  <a:solidFill>
                                    <a:prstClr val="white"/>
                                  </a:solid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accPr>
                          <m:e>
                            <m:r>
                              <a:rPr lang="zh-CN" altLang="en-US" sz="2800" b="1">
                                <a:ln w="11430">
                                  <a:solidFill>
                                    <a:prstClr val="white"/>
                                  </a:solid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e>
                        </m:acc>
                      </m:e>
                      <m:sub>
                        <m:r>
                          <a:rPr lang="en-US" altLang="zh-CN" sz="2800" b="1">
                            <a:ln w="11430">
                              <a:solidFill>
                                <a:prstClr val="white"/>
                              </a:solidFill>
                            </a:ln>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1</m:t>
                        </m:r>
                      </m:sub>
                    </m:sSub>
                  </m:oMath>
                </a14:m>
                <a:r>
                  <a:rPr kumimoji="0" lang="zh-CN" altLang="en-US" sz="2800" b="1" i="0" u="none" strike="noStrike" kern="1200" cap="none" spc="0" normalizeH="0" baseline="0" noProof="0" dirty="0">
                    <a:ln w="11430">
                      <a:solidFill>
                        <a:prstClr val="white"/>
                      </a:solidFill>
                    </a:ln>
                    <a:solidFill>
                      <a:srgbClr val="008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是回归</a:t>
                </a:r>
                <a:r>
                  <a:rPr lang="zh-CN" altLang="en-US" sz="2800" b="1" dirty="0">
                    <a:ln w="11430">
                      <a:solidFill>
                        <a:prstClr val="white"/>
                      </a:solid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常数</a:t>
                </a:r>
                <a14:m>
                  <m:oMath xmlns:m="http://schemas.openxmlformats.org/officeDocument/2006/math">
                    <m:sSub>
                      <m:sSubPr>
                        <m:ctrlPr>
                          <a:rPr kumimoji="0" lang="en-US" altLang="zh-CN" sz="2800" b="1" i="1" u="none" strike="noStrike" kern="1200" cap="none" spc="0" normalizeH="0" baseline="0" noProof="0">
                            <a:ln w="11430">
                              <a:solidFill>
                                <a:prstClr val="white"/>
                              </a:solidFill>
                            </a:ln>
                            <a:solidFill>
                              <a:srgbClr val="008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ctrlPr>
                      </m:sSubPr>
                      <m:e>
                        <m:r>
                          <a:rPr kumimoji="0" lang="zh-CN" altLang="en-US" sz="2800" b="1" i="0" u="none" strike="noStrike" kern="1200" cap="none" spc="0" normalizeH="0" baseline="0" noProof="0">
                            <a:ln w="11430">
                              <a:solidFill>
                                <a:prstClr val="white"/>
                              </a:solidFill>
                            </a:ln>
                            <a:solidFill>
                              <a:srgbClr val="008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t>𝜷</m:t>
                        </m:r>
                      </m:e>
                      <m:sub>
                        <m:r>
                          <a:rPr kumimoji="0" lang="en-US" altLang="zh-CN" sz="2800" b="1" i="0" u="none" strike="noStrike" kern="1200" cap="none" spc="0" normalizeH="0" baseline="0" noProof="0">
                            <a:ln w="11430">
                              <a:solidFill>
                                <a:prstClr val="white"/>
                              </a:solidFill>
                            </a:ln>
                            <a:solidFill>
                              <a:srgbClr val="008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t>𝟎</m:t>
                        </m:r>
                      </m:sub>
                    </m:sSub>
                  </m:oMath>
                </a14:m>
                <a:r>
                  <a:rPr kumimoji="0" lang="zh-CN" altLang="en-US" sz="2800" b="1" i="0" u="none" strike="noStrike" kern="1200" cap="none" spc="0" normalizeH="0" baseline="0" noProof="0" dirty="0">
                    <a:ln w="11430">
                      <a:solidFill>
                        <a:prstClr val="white"/>
                      </a:solidFill>
                    </a:ln>
                    <a:solidFill>
                      <a:srgbClr val="008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和回归系数</a:t>
                </a:r>
                <a14:m>
                  <m:oMath xmlns:m="http://schemas.openxmlformats.org/officeDocument/2006/math">
                    <m:sSub>
                      <m:sSubPr>
                        <m:ctrlPr>
                          <a:rPr kumimoji="0" lang="en-US" altLang="zh-CN" sz="2800" b="1" i="1" u="none" strike="noStrike" kern="1200" cap="none" spc="0" normalizeH="0" baseline="0" noProof="0">
                            <a:ln w="11430">
                              <a:solidFill>
                                <a:prstClr val="white"/>
                              </a:solidFill>
                            </a:ln>
                            <a:solidFill>
                              <a:srgbClr val="008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ctrlPr>
                      </m:sSubPr>
                      <m:e>
                        <m:r>
                          <a:rPr kumimoji="0" lang="zh-CN" altLang="en-US" sz="2800" b="1" i="0" u="none" strike="noStrike" kern="1200" cap="none" spc="0" normalizeH="0" baseline="0" noProof="0">
                            <a:ln w="11430">
                              <a:solidFill>
                                <a:prstClr val="white"/>
                              </a:solidFill>
                            </a:ln>
                            <a:solidFill>
                              <a:srgbClr val="008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t>𝜷</m:t>
                        </m:r>
                      </m:e>
                      <m:sub>
                        <m:r>
                          <a:rPr kumimoji="0" lang="en-US" altLang="zh-CN" sz="2800" b="1" i="0" u="none" strike="noStrike" kern="1200" cap="none" spc="0" normalizeH="0" baseline="0" noProof="0">
                            <a:ln w="11430">
                              <a:solidFill>
                                <a:prstClr val="white"/>
                              </a:solidFill>
                            </a:ln>
                            <a:solidFill>
                              <a:srgbClr val="008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t>𝟏</m:t>
                        </m:r>
                      </m:sub>
                    </m:sSub>
                  </m:oMath>
                </a14:m>
                <a:r>
                  <a:rPr kumimoji="0" lang="zh-CN" altLang="en-US" sz="2800" b="1" i="0" u="none" strike="noStrike" kern="1200" cap="none" spc="0" normalizeH="0" baseline="0" noProof="0" dirty="0">
                    <a:ln w="11430">
                      <a:solidFill>
                        <a:prstClr val="white"/>
                      </a:solidFill>
                    </a:ln>
                    <a:solidFill>
                      <a:srgbClr val="008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的最小二乘估计，则回归模型方程为：</a:t>
                </a:r>
                <a:endParaRPr kumimoji="0" lang="en-US" altLang="zh-CN" sz="2800" b="1" i="0" u="none" strike="noStrike" kern="1200" cap="none" spc="0" normalizeH="0" baseline="0" noProof="0" dirty="0">
                  <a:ln w="11430">
                    <a:solidFill>
                      <a:prstClr val="white"/>
                    </a:solidFill>
                  </a:ln>
                  <a:solidFill>
                    <a:srgbClr val="008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endParaRPr>
              </a:p>
              <a:p>
                <a:pPr>
                  <a:lnSpc>
                    <a:spcPct val="125000"/>
                  </a:lnSpc>
                  <a:spcBef>
                    <a:spcPct val="20000"/>
                  </a:spcBef>
                  <a:defRPr/>
                </a:pPr>
                <a14:m>
                  <m:oMathPara xmlns:m="http://schemas.openxmlformats.org/officeDocument/2006/math">
                    <m:oMathParaPr>
                      <m:jc m:val="centerGroup"/>
                    </m:oMathParaPr>
                    <m:oMath xmlns:m="http://schemas.openxmlformats.org/officeDocument/2006/math">
                      <m:acc>
                        <m:accPr>
                          <m:chr m:val="̂"/>
                          <m:ctrlPr>
                            <a:rPr lang="en-US" altLang="zh-CN" sz="2800" b="1" i="1" smtClean="0">
                              <a:ln w="11430"/>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accPr>
                        <m:e>
                          <m:r>
                            <a:rPr lang="en-US" altLang="zh-CN" sz="2800" b="1">
                              <a:ln w="11430"/>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𝒚</m:t>
                          </m:r>
                        </m:e>
                      </m:acc>
                      <m:r>
                        <a:rPr lang="en-US" altLang="zh-CN" sz="2800" b="1">
                          <a:ln w="11430"/>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m:t>
                      </m:r>
                      <m:sSub>
                        <m:sSubPr>
                          <m:ctrlPr>
                            <a:rPr lang="en-US" altLang="zh-CN" sz="2800" b="1" i="1">
                              <a:ln w="11430"/>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sSubPr>
                        <m:e>
                          <m:acc>
                            <m:accPr>
                              <m:chr m:val="̂"/>
                              <m:ctrlPr>
                                <a:rPr lang="en-US" altLang="zh-CN" sz="2800" b="1" i="1">
                                  <a:ln w="11430"/>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accPr>
                            <m:e>
                              <m:r>
                                <a:rPr lang="zh-CN" altLang="en-US" sz="2800" b="1">
                                  <a:ln w="11430"/>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e>
                          </m:acc>
                        </m:e>
                        <m:sub>
                          <m:r>
                            <a:rPr lang="en-US" altLang="zh-CN" sz="2800" b="1">
                              <a:ln w="11430"/>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𝟎</m:t>
                          </m:r>
                        </m:sub>
                      </m:sSub>
                      <m:r>
                        <a:rPr lang="en-US" altLang="zh-CN" sz="2800" b="1">
                          <a:ln w="11430"/>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m:t>
                      </m:r>
                      <m:sSub>
                        <m:sSubPr>
                          <m:ctrlPr>
                            <a:rPr lang="en-US" altLang="zh-CN" sz="2800" b="1" i="1">
                              <a:ln w="11430"/>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sSubPr>
                        <m:e>
                          <m:acc>
                            <m:accPr>
                              <m:chr m:val="̂"/>
                              <m:ctrlPr>
                                <a:rPr lang="en-US" altLang="zh-CN" sz="2800" b="1" i="1">
                                  <a:ln w="11430"/>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accPr>
                            <m:e>
                              <m:r>
                                <a:rPr lang="zh-CN" altLang="en-US" sz="2800" b="1">
                                  <a:ln w="11430"/>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e>
                          </m:acc>
                        </m:e>
                        <m:sub>
                          <m:r>
                            <a:rPr lang="en-US" altLang="zh-CN" sz="2800" b="1">
                              <a:ln w="11430"/>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1</m:t>
                          </m:r>
                        </m:sub>
                      </m:sSub>
                      <m:r>
                        <a:rPr lang="en-US" altLang="zh-CN" sz="2800" b="1">
                          <a:ln w="11430"/>
                          <a:solidFill>
                            <a:srgbClr val="008000"/>
                          </a:solidFill>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𝒙</m:t>
                      </m:r>
                    </m:oMath>
                  </m:oMathPara>
                </a14:m>
                <a:endParaRPr lang="en-US" altLang="zh-CN" sz="2800" b="1" dirty="0">
                  <a:ln w="11430"/>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endParaRPr>
              </a:p>
            </p:txBody>
          </p:sp>
        </mc:Choice>
        <mc:Fallback xmlns="">
          <p:sp>
            <p:nvSpPr>
              <p:cNvPr id="22" name="文本框 21">
                <a:extLst>
                  <a:ext uri="{FF2B5EF4-FFF2-40B4-BE49-F238E27FC236}">
                    <a16:creationId xmlns:a16="http://schemas.microsoft.com/office/drawing/2014/main" id="{E129A6EF-DC07-202F-571B-013C84986830}"/>
                  </a:ext>
                </a:extLst>
              </p:cNvPr>
              <p:cNvSpPr txBox="1">
                <a:spLocks noRot="1" noChangeAspect="1" noMove="1" noResize="1" noEditPoints="1" noAdjustHandles="1" noChangeArrowheads="1" noChangeShapeType="1" noTextEdit="1"/>
              </p:cNvSpPr>
              <p:nvPr/>
            </p:nvSpPr>
            <p:spPr>
              <a:xfrm>
                <a:off x="1277176" y="3514190"/>
                <a:ext cx="9949070" cy="176599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966757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04C9B-5CD3-9571-09BC-2C9FA64DFDC3}"/>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3B8DDC2-F645-D13F-03F5-39825C51891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一元线性回归模型的参数估计</a:t>
            </a:r>
            <a:endParaRPr lang="en-US"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6" name="对象 5">
            <a:extLst>
              <a:ext uri="{FF2B5EF4-FFF2-40B4-BE49-F238E27FC236}">
                <a16:creationId xmlns:a16="http://schemas.microsoft.com/office/drawing/2014/main" id="{CEC50072-1844-9904-59CF-D39A2BFBD17E}"/>
              </a:ext>
            </a:extLst>
          </p:cNvPr>
          <p:cNvGraphicFramePr>
            <a:graphicFrameLocks noChangeAspect="1"/>
          </p:cNvGraphicFramePr>
          <p:nvPr>
            <p:extLst>
              <p:ext uri="{D42A27DB-BD31-4B8C-83A1-F6EECF244321}">
                <p14:modId xmlns:p14="http://schemas.microsoft.com/office/powerpoint/2010/main" val="1859137223"/>
              </p:ext>
            </p:extLst>
          </p:nvPr>
        </p:nvGraphicFramePr>
        <p:xfrm>
          <a:off x="3812027" y="2071014"/>
          <a:ext cx="4384679" cy="1126789"/>
        </p:xfrm>
        <a:graphic>
          <a:graphicData uri="http://schemas.openxmlformats.org/presentationml/2006/ole">
            <mc:AlternateContent xmlns:mc="http://schemas.openxmlformats.org/markup-compatibility/2006">
              <mc:Choice xmlns:v="urn:schemas-microsoft-com:vml" Requires="v">
                <p:oleObj name="Equation" r:id="rId3" imgW="1705087" imgH="438136" progId="Equation.DSMT4">
                  <p:embed/>
                </p:oleObj>
              </mc:Choice>
              <mc:Fallback>
                <p:oleObj name="Equation" r:id="rId3" imgW="1705087" imgH="438136" progId="Equation.DSMT4">
                  <p:embed/>
                  <p:pic>
                    <p:nvPicPr>
                      <p:cNvPr id="6" name="对象 5">
                        <a:extLst>
                          <a:ext uri="{FF2B5EF4-FFF2-40B4-BE49-F238E27FC236}">
                            <a16:creationId xmlns:a16="http://schemas.microsoft.com/office/drawing/2014/main" id="{D20288C0-5071-5300-DF29-1B19E7F77277}"/>
                          </a:ext>
                        </a:extLst>
                      </p:cNvPr>
                      <p:cNvPicPr/>
                      <p:nvPr/>
                    </p:nvPicPr>
                    <p:blipFill>
                      <a:blip r:embed="rId4"/>
                      <a:stretch>
                        <a:fillRect/>
                      </a:stretch>
                    </p:blipFill>
                    <p:spPr>
                      <a:xfrm>
                        <a:off x="3812027" y="2071014"/>
                        <a:ext cx="4384679" cy="1126789"/>
                      </a:xfrm>
                      <a:prstGeom prst="rect">
                        <a:avLst/>
                      </a:prstGeom>
                    </p:spPr>
                  </p:pic>
                </p:oleObj>
              </mc:Fallback>
            </mc:AlternateContent>
          </a:graphicData>
        </a:graphic>
      </p:graphicFrame>
      <p:sp>
        <p:nvSpPr>
          <p:cNvPr id="8" name="内容占位符 4">
            <a:extLst>
              <a:ext uri="{FF2B5EF4-FFF2-40B4-BE49-F238E27FC236}">
                <a16:creationId xmlns:a16="http://schemas.microsoft.com/office/drawing/2014/main" id="{17A8A3B5-FC28-4124-4EB8-FDD6E0110C98}"/>
              </a:ext>
            </a:extLst>
          </p:cNvPr>
          <p:cNvSpPr txBox="1">
            <a:spLocks/>
          </p:cNvSpPr>
          <p:nvPr/>
        </p:nvSpPr>
        <p:spPr>
          <a:xfrm>
            <a:off x="839854" y="1303041"/>
            <a:ext cx="11120160" cy="791710"/>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r>
              <a:rPr lang="zh-CN" altLang="en-US" sz="2800" b="1" dirty="0">
                <a:ln w="11430"/>
                <a:solidFill>
                  <a:prstClr val="black">
                    <a:lumMod val="95000"/>
                    <a:lumOff val="5000"/>
                  </a:prstClr>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rPr>
              <a:t>残差平方和</a:t>
            </a:r>
            <a:r>
              <a:rPr lang="en-US" altLang="zh-CN" sz="2800" b="1" dirty="0">
                <a:ln w="11430"/>
                <a:solidFill>
                  <a:prstClr val="black">
                    <a:lumMod val="95000"/>
                    <a:lumOff val="5000"/>
                  </a:prstClr>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rPr>
              <a:t>RSS</a:t>
            </a:r>
            <a:r>
              <a:rPr lang="zh-CN" altLang="en-US" sz="2800" b="1" dirty="0">
                <a:ln w="11430"/>
                <a:solidFill>
                  <a:prstClr val="black">
                    <a:lumMod val="95000"/>
                    <a:lumOff val="5000"/>
                  </a:prstClr>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rPr>
              <a:t>的计算公式为：</a:t>
            </a:r>
            <a:endParaRPr lang="en-US" altLang="zh-CN" sz="2800" b="1" dirty="0">
              <a:ln w="11430"/>
              <a:solidFill>
                <a:prstClr val="black">
                  <a:lumMod val="95000"/>
                  <a:lumOff val="5000"/>
                </a:prstClr>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endParaRPr>
          </a:p>
        </p:txBody>
      </p:sp>
      <p:sp>
        <p:nvSpPr>
          <p:cNvPr id="9" name="内容占位符 4">
            <a:extLst>
              <a:ext uri="{FF2B5EF4-FFF2-40B4-BE49-F238E27FC236}">
                <a16:creationId xmlns:a16="http://schemas.microsoft.com/office/drawing/2014/main" id="{4F012E9D-5FFE-B549-7A29-F0238BBB42BB}"/>
              </a:ext>
            </a:extLst>
          </p:cNvPr>
          <p:cNvSpPr txBox="1">
            <a:spLocks/>
          </p:cNvSpPr>
          <p:nvPr/>
        </p:nvSpPr>
        <p:spPr>
          <a:xfrm>
            <a:off x="839854" y="3384989"/>
            <a:ext cx="11120160" cy="791710"/>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r>
              <a:rPr lang="zh-CN" altLang="en-US" sz="2800" b="1" dirty="0">
                <a:ln w="11430"/>
                <a:solidFill>
                  <a:prstClr val="black">
                    <a:lumMod val="95000"/>
                    <a:lumOff val="5000"/>
                  </a:prstClr>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rPr>
              <a:t>对其求导并令导数等于零，即可求解回归模型参数的最优估计值。</a:t>
            </a:r>
            <a:endParaRPr lang="en-US" altLang="zh-CN" sz="2800" b="1" dirty="0">
              <a:ln w="11430"/>
              <a:solidFill>
                <a:prstClr val="black">
                  <a:lumMod val="95000"/>
                  <a:lumOff val="5000"/>
                </a:prstClr>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endParaRPr>
          </a:p>
          <a:p>
            <a:pPr>
              <a:defRPr/>
            </a:pPr>
            <a:endParaRPr lang="en-US" altLang="zh-CN" sz="2800" b="1" dirty="0">
              <a:ln w="11430"/>
              <a:solidFill>
                <a:prstClr val="black">
                  <a:lumMod val="95000"/>
                  <a:lumOff val="5000"/>
                </a:prstClr>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endParaRPr>
          </a:p>
        </p:txBody>
      </p:sp>
      <p:graphicFrame>
        <p:nvGraphicFramePr>
          <p:cNvPr id="10" name="对象 9">
            <a:extLst>
              <a:ext uri="{FF2B5EF4-FFF2-40B4-BE49-F238E27FC236}">
                <a16:creationId xmlns:a16="http://schemas.microsoft.com/office/drawing/2014/main" id="{CA511983-14E1-0E6C-6566-4BF849339B62}"/>
              </a:ext>
            </a:extLst>
          </p:cNvPr>
          <p:cNvGraphicFramePr>
            <a:graphicFrameLocks noChangeAspect="1"/>
          </p:cNvGraphicFramePr>
          <p:nvPr/>
        </p:nvGraphicFramePr>
        <p:xfrm>
          <a:off x="364839" y="4567529"/>
          <a:ext cx="4738895" cy="2025169"/>
        </p:xfrm>
        <a:graphic>
          <a:graphicData uri="http://schemas.openxmlformats.org/presentationml/2006/ole">
            <mc:AlternateContent xmlns:mc="http://schemas.openxmlformats.org/markup-compatibility/2006">
              <mc:Choice xmlns:v="urn:schemas-microsoft-com:vml" Requires="v">
                <p:oleObj name="Equation" r:id="rId5" imgW="2228926" imgH="952594" progId="Equation.DSMT4">
                  <p:embed/>
                </p:oleObj>
              </mc:Choice>
              <mc:Fallback>
                <p:oleObj name="Equation" r:id="rId5" imgW="2228926" imgH="952594" progId="Equation.DSMT4">
                  <p:embed/>
                  <p:pic>
                    <p:nvPicPr>
                      <p:cNvPr id="5" name="对象 4">
                        <a:extLst>
                          <a:ext uri="{FF2B5EF4-FFF2-40B4-BE49-F238E27FC236}">
                            <a16:creationId xmlns:a16="http://schemas.microsoft.com/office/drawing/2014/main" id="{59537602-9FE9-BD56-F885-F24B2457F6B5}"/>
                          </a:ext>
                        </a:extLst>
                      </p:cNvPr>
                      <p:cNvPicPr/>
                      <p:nvPr/>
                    </p:nvPicPr>
                    <p:blipFill>
                      <a:blip r:embed="rId6"/>
                      <a:stretch>
                        <a:fillRect/>
                      </a:stretch>
                    </p:blipFill>
                    <p:spPr>
                      <a:xfrm>
                        <a:off x="364839" y="4567529"/>
                        <a:ext cx="4738895" cy="2025169"/>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1003DCAB-7D88-B1BE-A905-98E06BE92509}"/>
              </a:ext>
            </a:extLst>
          </p:cNvPr>
          <p:cNvGraphicFramePr>
            <a:graphicFrameLocks noChangeAspect="1"/>
          </p:cNvGraphicFramePr>
          <p:nvPr/>
        </p:nvGraphicFramePr>
        <p:xfrm>
          <a:off x="8040535" y="4599007"/>
          <a:ext cx="3786626" cy="1660801"/>
        </p:xfrm>
        <a:graphic>
          <a:graphicData uri="http://schemas.openxmlformats.org/presentationml/2006/ole">
            <mc:AlternateContent xmlns:mc="http://schemas.openxmlformats.org/markup-compatibility/2006">
              <mc:Choice xmlns:v="urn:schemas-microsoft-com:vml" Requires="v">
                <p:oleObj name="Equation" r:id="rId7" imgW="1628762" imgH="714266" progId="Equation.DSMT4">
                  <p:embed/>
                </p:oleObj>
              </mc:Choice>
              <mc:Fallback>
                <p:oleObj name="Equation" r:id="rId7" imgW="1628762" imgH="714266" progId="Equation.DSMT4">
                  <p:embed/>
                  <p:pic>
                    <p:nvPicPr>
                      <p:cNvPr id="2" name="对象 1">
                        <a:extLst>
                          <a:ext uri="{FF2B5EF4-FFF2-40B4-BE49-F238E27FC236}">
                            <a16:creationId xmlns:a16="http://schemas.microsoft.com/office/drawing/2014/main" id="{213641BB-D976-F0B5-A5EB-3726C99E12A9}"/>
                          </a:ext>
                        </a:extLst>
                      </p:cNvPr>
                      <p:cNvPicPr/>
                      <p:nvPr/>
                    </p:nvPicPr>
                    <p:blipFill>
                      <a:blip r:embed="rId8"/>
                      <a:stretch>
                        <a:fillRect/>
                      </a:stretch>
                    </p:blipFill>
                    <p:spPr>
                      <a:xfrm>
                        <a:off x="8040535" y="4599007"/>
                        <a:ext cx="3786626" cy="1660801"/>
                      </a:xfrm>
                      <a:prstGeom prst="rect">
                        <a:avLst/>
                      </a:prstGeom>
                    </p:spPr>
                  </p:pic>
                </p:oleObj>
              </mc:Fallback>
            </mc:AlternateContent>
          </a:graphicData>
        </a:graphic>
      </p:graphicFrame>
      <p:cxnSp>
        <p:nvCxnSpPr>
          <p:cNvPr id="12" name="直接箭头连接符 11">
            <a:extLst>
              <a:ext uri="{FF2B5EF4-FFF2-40B4-BE49-F238E27FC236}">
                <a16:creationId xmlns:a16="http://schemas.microsoft.com/office/drawing/2014/main" id="{C10F0008-4511-78D4-3159-0B427C25510A}"/>
              </a:ext>
            </a:extLst>
          </p:cNvPr>
          <p:cNvCxnSpPr>
            <a:cxnSpLocks/>
          </p:cNvCxnSpPr>
          <p:nvPr/>
        </p:nvCxnSpPr>
        <p:spPr>
          <a:xfrm>
            <a:off x="5482641" y="5424312"/>
            <a:ext cx="2120794"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graphicFrame>
        <p:nvGraphicFramePr>
          <p:cNvPr id="13" name="对象 12">
            <a:extLst>
              <a:ext uri="{FF2B5EF4-FFF2-40B4-BE49-F238E27FC236}">
                <a16:creationId xmlns:a16="http://schemas.microsoft.com/office/drawing/2014/main" id="{D2D847C3-95D9-9A47-ED48-0887CA668A9D}"/>
              </a:ext>
            </a:extLst>
          </p:cNvPr>
          <p:cNvGraphicFramePr>
            <a:graphicFrameLocks noChangeAspect="1"/>
          </p:cNvGraphicFramePr>
          <p:nvPr/>
        </p:nvGraphicFramePr>
        <p:xfrm>
          <a:off x="5939834" y="4522962"/>
          <a:ext cx="1282603" cy="737497"/>
        </p:xfrm>
        <a:graphic>
          <a:graphicData uri="http://schemas.openxmlformats.org/presentationml/2006/ole">
            <mc:AlternateContent xmlns:mc="http://schemas.openxmlformats.org/markup-compatibility/2006">
              <mc:Choice xmlns:v="urn:schemas-microsoft-com:vml" Requires="v">
                <p:oleObj name="Equation" r:id="rId9" imgW="762177" imgH="438136" progId="Equation.DSMT4">
                  <p:embed/>
                </p:oleObj>
              </mc:Choice>
              <mc:Fallback>
                <p:oleObj name="Equation" r:id="rId9" imgW="762177" imgH="438136" progId="Equation.DSMT4">
                  <p:embed/>
                  <p:pic>
                    <p:nvPicPr>
                      <p:cNvPr id="9" name="对象 8">
                        <a:extLst>
                          <a:ext uri="{FF2B5EF4-FFF2-40B4-BE49-F238E27FC236}">
                            <a16:creationId xmlns:a16="http://schemas.microsoft.com/office/drawing/2014/main" id="{8DD462FD-D7D7-044D-F2D3-4F71A913C57C}"/>
                          </a:ext>
                        </a:extLst>
                      </p:cNvPr>
                      <p:cNvPicPr/>
                      <p:nvPr/>
                    </p:nvPicPr>
                    <p:blipFill>
                      <a:blip r:embed="rId10"/>
                      <a:stretch>
                        <a:fillRect/>
                      </a:stretch>
                    </p:blipFill>
                    <p:spPr>
                      <a:xfrm>
                        <a:off x="5939834" y="4522962"/>
                        <a:ext cx="1282603" cy="73749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39B82E5B-6236-5FAD-4519-A1F23D6E62B6}"/>
              </a:ext>
            </a:extLst>
          </p:cNvPr>
          <p:cNvGraphicFramePr>
            <a:graphicFrameLocks noChangeAspect="1"/>
          </p:cNvGraphicFramePr>
          <p:nvPr/>
        </p:nvGraphicFramePr>
        <p:xfrm>
          <a:off x="5939834" y="5693121"/>
          <a:ext cx="1379791" cy="774029"/>
        </p:xfrm>
        <a:graphic>
          <a:graphicData uri="http://schemas.openxmlformats.org/presentationml/2006/ole">
            <mc:AlternateContent xmlns:mc="http://schemas.openxmlformats.org/markup-compatibility/2006">
              <mc:Choice xmlns:v="urn:schemas-microsoft-com:vml" Requires="v">
                <p:oleObj name="Equation" r:id="rId11" imgW="781258" imgH="438136" progId="Equation.DSMT4">
                  <p:embed/>
                </p:oleObj>
              </mc:Choice>
              <mc:Fallback>
                <p:oleObj name="Equation" r:id="rId11" imgW="781258" imgH="438136" progId="Equation.DSMT4">
                  <p:embed/>
                  <p:pic>
                    <p:nvPicPr>
                      <p:cNvPr id="10" name="对象 9">
                        <a:extLst>
                          <a:ext uri="{FF2B5EF4-FFF2-40B4-BE49-F238E27FC236}">
                            <a16:creationId xmlns:a16="http://schemas.microsoft.com/office/drawing/2014/main" id="{55DBDD18-386A-AA0F-3E81-B6937A297360}"/>
                          </a:ext>
                        </a:extLst>
                      </p:cNvPr>
                      <p:cNvPicPr/>
                      <p:nvPr/>
                    </p:nvPicPr>
                    <p:blipFill>
                      <a:blip r:embed="rId12"/>
                      <a:stretch>
                        <a:fillRect/>
                      </a:stretch>
                    </p:blipFill>
                    <p:spPr>
                      <a:xfrm>
                        <a:off x="5939834" y="5693121"/>
                        <a:ext cx="1379791" cy="774029"/>
                      </a:xfrm>
                      <a:prstGeom prst="rect">
                        <a:avLst/>
                      </a:prstGeom>
                    </p:spPr>
                  </p:pic>
                </p:oleObj>
              </mc:Fallback>
            </mc:AlternateContent>
          </a:graphicData>
        </a:graphic>
      </p:graphicFrame>
      <p:sp>
        <p:nvSpPr>
          <p:cNvPr id="15" name="矩形: 圆角 14">
            <a:extLst>
              <a:ext uri="{FF2B5EF4-FFF2-40B4-BE49-F238E27FC236}">
                <a16:creationId xmlns:a16="http://schemas.microsoft.com/office/drawing/2014/main" id="{EC2F01CF-D229-DD40-4F2F-D8D2AC2ECAC2}"/>
              </a:ext>
            </a:extLst>
          </p:cNvPr>
          <p:cNvSpPr/>
          <p:nvPr/>
        </p:nvSpPr>
        <p:spPr>
          <a:xfrm>
            <a:off x="84156" y="4473257"/>
            <a:ext cx="5253158" cy="2245591"/>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2420B8C2-165F-FA40-E463-F56EE1F882FD}"/>
              </a:ext>
            </a:extLst>
          </p:cNvPr>
          <p:cNvSpPr/>
          <p:nvPr/>
        </p:nvSpPr>
        <p:spPr>
          <a:xfrm>
            <a:off x="7824957" y="4471570"/>
            <a:ext cx="4111939" cy="1995580"/>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95B09FED-DA97-F44F-8C2B-60F2BEAB0952}"/>
              </a:ext>
            </a:extLst>
          </p:cNvPr>
          <p:cNvSpPr txBox="1"/>
          <p:nvPr/>
        </p:nvSpPr>
        <p:spPr>
          <a:xfrm>
            <a:off x="8666922" y="4045226"/>
            <a:ext cx="1490869" cy="369332"/>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正规方程组</a:t>
            </a:r>
          </a:p>
        </p:txBody>
      </p:sp>
      <p:sp>
        <p:nvSpPr>
          <p:cNvPr id="18" name="文本框 17">
            <a:extLst>
              <a:ext uri="{FF2B5EF4-FFF2-40B4-BE49-F238E27FC236}">
                <a16:creationId xmlns:a16="http://schemas.microsoft.com/office/drawing/2014/main" id="{D187F270-1EA0-8EEE-C62B-E248F5B60979}"/>
              </a:ext>
            </a:extLst>
          </p:cNvPr>
          <p:cNvSpPr txBox="1"/>
          <p:nvPr/>
        </p:nvSpPr>
        <p:spPr>
          <a:xfrm>
            <a:off x="3991772" y="4081758"/>
            <a:ext cx="1490869" cy="369332"/>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正规方程组</a:t>
            </a:r>
          </a:p>
        </p:txBody>
      </p:sp>
    </p:spTree>
    <p:extLst>
      <p:ext uri="{BB962C8B-B14F-4D97-AF65-F5344CB8AC3E}">
        <p14:creationId xmlns:p14="http://schemas.microsoft.com/office/powerpoint/2010/main" val="32695086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254BE-1C0A-2556-1365-A04DE101927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B102036-57D2-450B-50E5-43002B2D815F}"/>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一元线性回归模型的参数估计</a:t>
            </a:r>
            <a:endParaRPr lang="en-US"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8" name="对象 7">
            <a:extLst>
              <a:ext uri="{FF2B5EF4-FFF2-40B4-BE49-F238E27FC236}">
                <a16:creationId xmlns:a16="http://schemas.microsoft.com/office/drawing/2014/main" id="{A0F0C4AD-0CE0-C4A8-2270-ED33CCF59E4D}"/>
              </a:ext>
            </a:extLst>
          </p:cNvPr>
          <p:cNvGraphicFramePr>
            <a:graphicFrameLocks noChangeAspect="1"/>
          </p:cNvGraphicFramePr>
          <p:nvPr>
            <p:extLst>
              <p:ext uri="{D42A27DB-BD31-4B8C-83A1-F6EECF244321}">
                <p14:modId xmlns:p14="http://schemas.microsoft.com/office/powerpoint/2010/main" val="38151374"/>
              </p:ext>
            </p:extLst>
          </p:nvPr>
        </p:nvGraphicFramePr>
        <p:xfrm>
          <a:off x="2123310" y="2154461"/>
          <a:ext cx="3485916" cy="2549077"/>
        </p:xfrm>
        <a:graphic>
          <a:graphicData uri="http://schemas.openxmlformats.org/presentationml/2006/ole">
            <mc:AlternateContent xmlns:mc="http://schemas.openxmlformats.org/markup-compatibility/2006">
              <mc:Choice xmlns:v="urn:schemas-microsoft-com:vml" Requires="v">
                <p:oleObj name="Equation" r:id="rId3" imgW="1523994" imgH="1114600" progId="Equation.DSMT4">
                  <p:embed/>
                </p:oleObj>
              </mc:Choice>
              <mc:Fallback>
                <p:oleObj name="Equation" r:id="rId3" imgW="1523994" imgH="1114600" progId="Equation.DSMT4">
                  <p:embed/>
                  <p:pic>
                    <p:nvPicPr>
                      <p:cNvPr id="0" name=""/>
                      <p:cNvPicPr/>
                      <p:nvPr/>
                    </p:nvPicPr>
                    <p:blipFill>
                      <a:blip r:embed="rId4"/>
                      <a:stretch>
                        <a:fillRect/>
                      </a:stretch>
                    </p:blipFill>
                    <p:spPr>
                      <a:xfrm>
                        <a:off x="2123310" y="2154461"/>
                        <a:ext cx="3485916" cy="2549077"/>
                      </a:xfrm>
                      <a:prstGeom prst="rect">
                        <a:avLst/>
                      </a:prstGeom>
                    </p:spPr>
                  </p:pic>
                </p:oleObj>
              </mc:Fallback>
            </mc:AlternateContent>
          </a:graphicData>
        </a:graphic>
      </p:graphicFrame>
      <p:grpSp>
        <p:nvGrpSpPr>
          <p:cNvPr id="17" name="组合 16">
            <a:extLst>
              <a:ext uri="{FF2B5EF4-FFF2-40B4-BE49-F238E27FC236}">
                <a16:creationId xmlns:a16="http://schemas.microsoft.com/office/drawing/2014/main" id="{84EDA16D-BB46-7272-EC12-F4D664A4A0DF}"/>
              </a:ext>
            </a:extLst>
          </p:cNvPr>
          <p:cNvGrpSpPr/>
          <p:nvPr/>
        </p:nvGrpSpPr>
        <p:grpSpPr>
          <a:xfrm>
            <a:off x="7383093" y="3005695"/>
            <a:ext cx="3630218" cy="846607"/>
            <a:chOff x="4609656" y="5328162"/>
            <a:chExt cx="3630218" cy="846607"/>
          </a:xfrm>
        </p:grpSpPr>
        <p:graphicFrame>
          <p:nvGraphicFramePr>
            <p:cNvPr id="15" name="对象 14">
              <a:extLst>
                <a:ext uri="{FF2B5EF4-FFF2-40B4-BE49-F238E27FC236}">
                  <a16:creationId xmlns:a16="http://schemas.microsoft.com/office/drawing/2014/main" id="{611617AC-C9A1-6850-E4C6-A0719D10D84E}"/>
                </a:ext>
              </a:extLst>
            </p:cNvPr>
            <p:cNvGraphicFramePr>
              <a:graphicFrameLocks noChangeAspect="1"/>
            </p:cNvGraphicFramePr>
            <p:nvPr>
              <p:extLst>
                <p:ext uri="{D42A27DB-BD31-4B8C-83A1-F6EECF244321}">
                  <p14:modId xmlns:p14="http://schemas.microsoft.com/office/powerpoint/2010/main" val="3548943207"/>
                </p:ext>
              </p:extLst>
            </p:nvPr>
          </p:nvGraphicFramePr>
          <p:xfrm>
            <a:off x="4900613" y="5383783"/>
            <a:ext cx="3021012" cy="719137"/>
          </p:xfrm>
          <a:graphic>
            <a:graphicData uri="http://schemas.openxmlformats.org/presentationml/2006/ole">
              <mc:AlternateContent xmlns:mc="http://schemas.openxmlformats.org/markup-compatibility/2006">
                <mc:Choice xmlns:v="urn:schemas-microsoft-com:vml" Requires="v">
                  <p:oleObj name="Equation" r:id="rId5" imgW="1066680" imgH="253800" progId="Equation.DSMT4">
                    <p:embed/>
                  </p:oleObj>
                </mc:Choice>
                <mc:Fallback>
                  <p:oleObj name="Equation" r:id="rId5" imgW="1066680" imgH="253800" progId="Equation.DSMT4">
                    <p:embed/>
                    <p:pic>
                      <p:nvPicPr>
                        <p:cNvPr id="0" name=""/>
                        <p:cNvPicPr/>
                        <p:nvPr/>
                      </p:nvPicPr>
                      <p:blipFill>
                        <a:blip r:embed="rId6"/>
                        <a:stretch>
                          <a:fillRect/>
                        </a:stretch>
                      </p:blipFill>
                      <p:spPr>
                        <a:xfrm>
                          <a:off x="4900613" y="5383783"/>
                          <a:ext cx="3021012" cy="719137"/>
                        </a:xfrm>
                        <a:prstGeom prst="rect">
                          <a:avLst/>
                        </a:prstGeom>
                      </p:spPr>
                    </p:pic>
                  </p:oleObj>
                </mc:Fallback>
              </mc:AlternateContent>
            </a:graphicData>
          </a:graphic>
        </p:graphicFrame>
        <p:sp>
          <p:nvSpPr>
            <p:cNvPr id="16" name="矩形: 圆角 15">
              <a:extLst>
                <a:ext uri="{FF2B5EF4-FFF2-40B4-BE49-F238E27FC236}">
                  <a16:creationId xmlns:a16="http://schemas.microsoft.com/office/drawing/2014/main" id="{22FBAB26-721F-207B-FF1D-D6965888B7DF}"/>
                </a:ext>
              </a:extLst>
            </p:cNvPr>
            <p:cNvSpPr/>
            <p:nvPr/>
          </p:nvSpPr>
          <p:spPr>
            <a:xfrm>
              <a:off x="4609656" y="5328162"/>
              <a:ext cx="3630218" cy="846607"/>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箭头连接符 17">
            <a:extLst>
              <a:ext uri="{FF2B5EF4-FFF2-40B4-BE49-F238E27FC236}">
                <a16:creationId xmlns:a16="http://schemas.microsoft.com/office/drawing/2014/main" id="{4C49E771-9F8B-F48C-9FB9-35E208571DAA}"/>
              </a:ext>
            </a:extLst>
          </p:cNvPr>
          <p:cNvCxnSpPr>
            <a:cxnSpLocks/>
          </p:cNvCxnSpPr>
          <p:nvPr/>
        </p:nvCxnSpPr>
        <p:spPr>
          <a:xfrm>
            <a:off x="5831961" y="3429000"/>
            <a:ext cx="122400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9" name="文本框 18">
            <a:extLst>
              <a:ext uri="{FF2B5EF4-FFF2-40B4-BE49-F238E27FC236}">
                <a16:creationId xmlns:a16="http://schemas.microsoft.com/office/drawing/2014/main" id="{AA31118A-D901-F7F3-AA96-1484B23B2BE3}"/>
              </a:ext>
            </a:extLst>
          </p:cNvPr>
          <p:cNvSpPr txBox="1"/>
          <p:nvPr/>
        </p:nvSpPr>
        <p:spPr>
          <a:xfrm>
            <a:off x="9072081" y="2484537"/>
            <a:ext cx="2619574" cy="369332"/>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回归方程的另一种形式</a:t>
            </a:r>
          </a:p>
        </p:txBody>
      </p:sp>
      <p:cxnSp>
        <p:nvCxnSpPr>
          <p:cNvPr id="24" name="直接箭头连接符 23">
            <a:extLst>
              <a:ext uri="{FF2B5EF4-FFF2-40B4-BE49-F238E27FC236}">
                <a16:creationId xmlns:a16="http://schemas.microsoft.com/office/drawing/2014/main" id="{92CCFB3F-3CA5-502E-38C8-FA548CFAE396}"/>
              </a:ext>
            </a:extLst>
          </p:cNvPr>
          <p:cNvCxnSpPr>
            <a:cxnSpLocks/>
          </p:cNvCxnSpPr>
          <p:nvPr/>
        </p:nvCxnSpPr>
        <p:spPr>
          <a:xfrm>
            <a:off x="9287522" y="4033463"/>
            <a:ext cx="0" cy="57963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E557A160-497B-6627-F7C3-7E95CA3EF961}"/>
                  </a:ext>
                </a:extLst>
              </p:cNvPr>
              <p:cNvSpPr txBox="1"/>
              <p:nvPr/>
            </p:nvSpPr>
            <p:spPr>
              <a:xfrm>
                <a:off x="8083377" y="4922119"/>
                <a:ext cx="3300390" cy="523220"/>
              </a:xfrm>
              <a:prstGeom prst="rect">
                <a:avLst/>
              </a:prstGeom>
              <a:noFill/>
            </p:spPr>
            <p:txBody>
              <a:bodyPr wrap="square" rtlCol="0">
                <a:spAutoFit/>
              </a:bodyPr>
              <a:lstStyle/>
              <a:p>
                <a:r>
                  <a:rPr lang="zh-CN" altLang="en-US" sz="2800" b="1" dirty="0">
                    <a:solidFill>
                      <a:srgbClr val="C00000"/>
                    </a:solidFill>
                    <a:latin typeface="微软雅黑" panose="020B0503020204020204" pitchFamily="34" charset="-122"/>
                    <a:ea typeface="微软雅黑" panose="020B0503020204020204" pitchFamily="34" charset="-122"/>
                  </a:rPr>
                  <a:t>经过点 </a:t>
                </a:r>
                <a14:m>
                  <m:oMath xmlns:m="http://schemas.openxmlformats.org/officeDocument/2006/math">
                    <m:d>
                      <m:dPr>
                        <m:ctrlPr>
                          <a:rPr lang="en-US" altLang="zh-CN" sz="2800" b="1" i="1" smtClean="0">
                            <a:solidFill>
                              <a:srgbClr val="C00000"/>
                            </a:solidFill>
                            <a:latin typeface="Cambria Math" panose="02040503050406030204" pitchFamily="18" charset="0"/>
                            <a:ea typeface="微软雅黑" panose="020B0503020204020204" pitchFamily="34" charset="-122"/>
                          </a:rPr>
                        </m:ctrlPr>
                      </m:dPr>
                      <m:e>
                        <m:acc>
                          <m:accPr>
                            <m:chr m:val="̅"/>
                            <m:ctrlPr>
                              <a:rPr lang="en-US" altLang="zh-CN" sz="2800" b="1" i="1" smtClean="0">
                                <a:solidFill>
                                  <a:srgbClr val="C00000"/>
                                </a:solidFill>
                                <a:latin typeface="Cambria Math" panose="02040503050406030204" pitchFamily="18" charset="0"/>
                                <a:ea typeface="微软雅黑" panose="020B0503020204020204" pitchFamily="34" charset="-122"/>
                              </a:rPr>
                            </m:ctrlPr>
                          </m:accPr>
                          <m:e>
                            <m:r>
                              <a:rPr lang="en-US" altLang="zh-CN" sz="2800" b="1" i="1" smtClean="0">
                                <a:solidFill>
                                  <a:srgbClr val="C00000"/>
                                </a:solidFill>
                                <a:latin typeface="Cambria Math" panose="02040503050406030204" pitchFamily="18" charset="0"/>
                                <a:ea typeface="微软雅黑" panose="020B0503020204020204" pitchFamily="34" charset="-122"/>
                              </a:rPr>
                              <m:t>𝒙</m:t>
                            </m:r>
                          </m:e>
                        </m:acc>
                        <m:r>
                          <a:rPr lang="en-US" altLang="zh-CN" sz="2800" b="1" i="1" smtClean="0">
                            <a:solidFill>
                              <a:srgbClr val="C00000"/>
                            </a:solidFill>
                            <a:latin typeface="Cambria Math" panose="02040503050406030204" pitchFamily="18" charset="0"/>
                            <a:ea typeface="微软雅黑" panose="020B0503020204020204" pitchFamily="34" charset="-122"/>
                          </a:rPr>
                          <m:t>, </m:t>
                        </m:r>
                        <m:acc>
                          <m:accPr>
                            <m:chr m:val="̅"/>
                            <m:ctrlPr>
                              <a:rPr lang="en-US" altLang="zh-CN" sz="2800" b="1" i="1" smtClean="0">
                                <a:solidFill>
                                  <a:srgbClr val="C00000"/>
                                </a:solidFill>
                                <a:latin typeface="Cambria Math" panose="02040503050406030204" pitchFamily="18" charset="0"/>
                                <a:ea typeface="微软雅黑" panose="020B0503020204020204" pitchFamily="34" charset="-122"/>
                              </a:rPr>
                            </m:ctrlPr>
                          </m:accPr>
                          <m:e>
                            <m:r>
                              <a:rPr lang="en-US" altLang="zh-CN" sz="2800" b="1" i="1" smtClean="0">
                                <a:solidFill>
                                  <a:srgbClr val="C00000"/>
                                </a:solidFill>
                                <a:latin typeface="Cambria Math" panose="02040503050406030204" pitchFamily="18" charset="0"/>
                                <a:ea typeface="微软雅黑" panose="020B0503020204020204" pitchFamily="34" charset="-122"/>
                              </a:rPr>
                              <m:t>𝒚</m:t>
                            </m:r>
                          </m:e>
                        </m:acc>
                      </m:e>
                    </m:d>
                  </m:oMath>
                </a14:m>
                <a:endParaRPr lang="zh-CN" altLang="en-US" sz="2800" b="1" dirty="0">
                  <a:solidFill>
                    <a:srgbClr val="C00000"/>
                  </a:solidFill>
                  <a:latin typeface="微软雅黑" panose="020B0503020204020204" pitchFamily="34" charset="-122"/>
                  <a:ea typeface="微软雅黑" panose="020B0503020204020204" pitchFamily="34" charset="-122"/>
                </a:endParaRPr>
              </a:p>
            </p:txBody>
          </p:sp>
        </mc:Choice>
        <mc:Fallback xmlns="">
          <p:sp>
            <p:nvSpPr>
              <p:cNvPr id="27" name="文本框 26">
                <a:extLst>
                  <a:ext uri="{FF2B5EF4-FFF2-40B4-BE49-F238E27FC236}">
                    <a16:creationId xmlns:a16="http://schemas.microsoft.com/office/drawing/2014/main" id="{E557A160-497B-6627-F7C3-7E95CA3EF961}"/>
                  </a:ext>
                </a:extLst>
              </p:cNvPr>
              <p:cNvSpPr txBox="1">
                <a:spLocks noRot="1" noChangeAspect="1" noMove="1" noResize="1" noEditPoints="1" noAdjustHandles="1" noChangeArrowheads="1" noChangeShapeType="1" noTextEdit="1"/>
              </p:cNvSpPr>
              <p:nvPr/>
            </p:nvSpPr>
            <p:spPr>
              <a:xfrm>
                <a:off x="8083377" y="4922119"/>
                <a:ext cx="3300390" cy="523220"/>
              </a:xfrm>
              <a:prstGeom prst="rect">
                <a:avLst/>
              </a:prstGeom>
              <a:blipFill>
                <a:blip r:embed="rId7"/>
                <a:stretch>
                  <a:fillRect l="-3697" t="-11628" b="-313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内容占位符 4">
                <a:extLst>
                  <a:ext uri="{FF2B5EF4-FFF2-40B4-BE49-F238E27FC236}">
                    <a16:creationId xmlns:a16="http://schemas.microsoft.com/office/drawing/2014/main" id="{F71BF86C-F2E7-907B-9F39-9A8F9B2294C9}"/>
                  </a:ext>
                </a:extLst>
              </p:cNvPr>
              <p:cNvSpPr txBox="1">
                <a:spLocks/>
              </p:cNvSpPr>
              <p:nvPr/>
            </p:nvSpPr>
            <p:spPr>
              <a:xfrm>
                <a:off x="1071840" y="1362751"/>
                <a:ext cx="11120160" cy="791710"/>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r>
                  <a:rPr lang="zh-CN" altLang="en-US" sz="2800" b="1" dirty="0">
                    <a:ln w="11430">
                      <a:solidFill>
                        <a:schemeClr val="tx1"/>
                      </a:solidFill>
                    </a:ln>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通过求解正规方程组可得</a:t>
                </a:r>
                <a14:m>
                  <m:oMath xmlns:m="http://schemas.openxmlformats.org/officeDocument/2006/math">
                    <m:r>
                      <a:rPr lang="zh-CN" altLang="en-US" sz="2800" b="1" i="1" smtClean="0">
                        <a:ln w="11430">
                          <a:solidFill>
                            <a:schemeClr val="tx1"/>
                          </a:solidFill>
                        </a:ln>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oMath>
                </a14:m>
                <a:r>
                  <a:rPr lang="zh-CN" altLang="en-US" sz="2800" b="1" dirty="0">
                    <a:ln w="11430">
                      <a:solidFill>
                        <a:schemeClr val="tx1"/>
                      </a:solidFill>
                    </a:ln>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的最小二乘估计</a:t>
                </a:r>
                <a14:m>
                  <m:oMath xmlns:m="http://schemas.openxmlformats.org/officeDocument/2006/math">
                    <m:acc>
                      <m:accPr>
                        <m:chr m:val="̂"/>
                        <m:ctrlPr>
                          <a:rPr lang="zh-CN" altLang="en-US" sz="2800" b="1" i="1" smtClean="0">
                            <a:ln w="11430">
                              <a:solidFill>
                                <a:schemeClr val="tx1"/>
                              </a:solidFill>
                            </a:ln>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ctrlPr>
                      </m:accPr>
                      <m:e>
                        <m:r>
                          <a:rPr lang="zh-CN" altLang="en-US" sz="2800" b="1" i="1" smtClean="0">
                            <a:ln w="11430">
                              <a:solidFill>
                                <a:schemeClr val="tx1"/>
                              </a:solidFill>
                            </a:ln>
                            <a:effectLst>
                              <a:outerShdw blurRad="76200" dist="50800" dir="5400000" algn="tl" rotWithShape="0">
                                <a:srgbClr val="000000">
                                  <a:alpha val="65000"/>
                                </a:srgbClr>
                              </a:outerShdw>
                            </a:effectLst>
                            <a:latin typeface="Cambria Math" panose="02040503050406030204" pitchFamily="18" charset="0"/>
                            <a:ea typeface="微软雅黑" panose="020B0503020204020204" pitchFamily="34" charset="-122"/>
                            <a:cs typeface="Arial" pitchFamily="34" charset="0"/>
                          </a:rPr>
                          <m:t>𝜷</m:t>
                        </m:r>
                      </m:e>
                    </m:acc>
                  </m:oMath>
                </a14:m>
                <a:r>
                  <a:rPr lang="en-US" altLang="zh-CN" sz="2800" b="1" dirty="0">
                    <a:ln w="11430">
                      <a:solidFill>
                        <a:schemeClr val="tx1"/>
                      </a:solidFill>
                    </a:ln>
                    <a:solidFill>
                      <a:prstClr val="black">
                        <a:lumMod val="95000"/>
                        <a:lumOff val="5000"/>
                      </a:prstClr>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rPr>
                  <a:t>:</a:t>
                </a:r>
              </a:p>
            </p:txBody>
          </p:sp>
        </mc:Choice>
        <mc:Fallback xmlns="">
          <p:sp>
            <p:nvSpPr>
              <p:cNvPr id="28" name="内容占位符 4">
                <a:extLst>
                  <a:ext uri="{FF2B5EF4-FFF2-40B4-BE49-F238E27FC236}">
                    <a16:creationId xmlns:a16="http://schemas.microsoft.com/office/drawing/2014/main" id="{F71BF86C-F2E7-907B-9F39-9A8F9B2294C9}"/>
                  </a:ext>
                </a:extLst>
              </p:cNvPr>
              <p:cNvSpPr txBox="1">
                <a:spLocks noRot="1" noChangeAspect="1" noMove="1" noResize="1" noEditPoints="1" noAdjustHandles="1" noChangeArrowheads="1" noChangeShapeType="1" noTextEdit="1"/>
              </p:cNvSpPr>
              <p:nvPr/>
            </p:nvSpPr>
            <p:spPr>
              <a:xfrm>
                <a:off x="1071840" y="1362751"/>
                <a:ext cx="11120160" cy="791710"/>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592718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CCF21-DB4C-EE58-7515-FFAEEE1C380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1EE456E-5015-A8BF-45ED-AA8F031BCF55}"/>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一元线性回归模型的统计检验</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2" name="文本框 21">
            <a:extLst>
              <a:ext uri="{FF2B5EF4-FFF2-40B4-BE49-F238E27FC236}">
                <a16:creationId xmlns:a16="http://schemas.microsoft.com/office/drawing/2014/main" id="{9E7A386F-8699-7077-AA48-6483E70255C7}"/>
              </a:ext>
            </a:extLst>
          </p:cNvPr>
          <p:cNvSpPr txBox="1"/>
          <p:nvPr/>
        </p:nvSpPr>
        <p:spPr>
          <a:xfrm>
            <a:off x="1363836" y="2157956"/>
            <a:ext cx="9949070" cy="3555589"/>
          </a:xfrm>
          <a:prstGeom prst="rect">
            <a:avLst/>
          </a:prstGeom>
          <a:noFill/>
        </p:spPr>
        <p:txBody>
          <a:bodyPr wrap="square">
            <a:spAutoFit/>
          </a:bodyPr>
          <a:lstStyle/>
          <a:p>
            <a:pPr marL="457200" lvl="0" indent="-457200">
              <a:lnSpc>
                <a:spcPct val="125000"/>
              </a:lnSpc>
              <a:spcBef>
                <a:spcPct val="20000"/>
              </a:spcBef>
              <a:buFont typeface="Wingdings" panose="05000000000000000000" pitchFamily="2" charset="2"/>
              <a:buChar char="n"/>
              <a:defRPr/>
            </a:pPr>
            <a:r>
              <a:rPr lang="zh-CN" altLang="en-US" sz="2800" b="1" dirty="0">
                <a:ln w="11430">
                  <a:solidFill>
                    <a:prstClr val="white"/>
                  </a:solidFill>
                </a:ln>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除拟合优度检验外，一元线性回归模型常用</a:t>
            </a:r>
            <a:r>
              <a:rPr lang="en-US" altLang="zh-CN" sz="2800" b="1" dirty="0">
                <a:ln w="11430">
                  <a:solidFill>
                    <a:prstClr val="white"/>
                  </a:solidFill>
                </a:ln>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F</a:t>
            </a:r>
            <a:r>
              <a:rPr lang="zh-CN" altLang="en-US" sz="2800" b="1" dirty="0">
                <a:ln w="11430">
                  <a:solidFill>
                    <a:prstClr val="white"/>
                  </a:solidFill>
                </a:ln>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检验、</a:t>
            </a:r>
            <a:r>
              <a:rPr lang="en-US" altLang="zh-CN" sz="2800" b="1" dirty="0">
                <a:ln w="11430">
                  <a:solidFill>
                    <a:prstClr val="white"/>
                  </a:solidFill>
                </a:ln>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t</a:t>
            </a:r>
            <a:r>
              <a:rPr lang="zh-CN" altLang="en-US" sz="2800" b="1" dirty="0">
                <a:ln w="11430">
                  <a:solidFill>
                    <a:prstClr val="white"/>
                  </a:solidFill>
                </a:ln>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检验进行显著性检验</a:t>
            </a:r>
            <a:endParaRPr lang="en-US" altLang="zh-CN" sz="2800" b="1" dirty="0">
              <a:ln w="11430">
                <a:solidFill>
                  <a:prstClr val="white"/>
                </a:solidFill>
              </a:ln>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endParaRPr>
          </a:p>
          <a:p>
            <a:pPr lvl="0">
              <a:lnSpc>
                <a:spcPct val="125000"/>
              </a:lnSpc>
              <a:spcBef>
                <a:spcPct val="20000"/>
              </a:spcBef>
              <a:defRPr/>
            </a:pPr>
            <a:endParaRPr lang="en-US" altLang="zh-CN" sz="2800" b="1" dirty="0">
              <a:ln w="11430">
                <a:solidFill>
                  <a:schemeClr val="bg1"/>
                </a:solid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endParaRPr>
          </a:p>
          <a:p>
            <a:pPr marL="457200" lvl="0" indent="-457200">
              <a:lnSpc>
                <a:spcPct val="125000"/>
              </a:lnSpc>
              <a:spcBef>
                <a:spcPct val="20000"/>
              </a:spcBef>
              <a:buFont typeface="Wingdings" panose="05000000000000000000" pitchFamily="2" charset="2"/>
              <a:buChar char="n"/>
              <a:defRPr/>
            </a:pPr>
            <a:r>
              <a:rPr lang="en-US" altLang="zh-CN" sz="2800" b="1" dirty="0">
                <a:ln w="11430">
                  <a:solidFill>
                    <a:schemeClr val="bg1"/>
                  </a:solid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F</a:t>
            </a:r>
            <a:r>
              <a:rPr lang="zh-CN" altLang="en-US" sz="2800" b="1" dirty="0">
                <a:ln w="11430">
                  <a:solidFill>
                    <a:schemeClr val="bg1"/>
                  </a:solid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检验用于评估整体回归模型的显著性，检验解释变量和被解释变量之间的线性关系是否显著。</a:t>
            </a:r>
            <a:endParaRPr lang="en-US" altLang="zh-CN" sz="2800" b="1" dirty="0">
              <a:ln w="11430">
                <a:solidFill>
                  <a:schemeClr val="bg1"/>
                </a:solid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endParaRPr>
          </a:p>
          <a:p>
            <a:pPr marL="457200" lvl="0" indent="-457200">
              <a:lnSpc>
                <a:spcPct val="125000"/>
              </a:lnSpc>
              <a:spcBef>
                <a:spcPct val="20000"/>
              </a:spcBef>
              <a:buFont typeface="Wingdings" panose="05000000000000000000" pitchFamily="2" charset="2"/>
              <a:buChar char="n"/>
              <a:defRPr/>
            </a:pPr>
            <a:r>
              <a:rPr lang="en-US" altLang="zh-CN" sz="2800" b="1" dirty="0">
                <a:ln w="11430">
                  <a:solidFill>
                    <a:schemeClr val="bg1"/>
                  </a:solid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t</a:t>
            </a:r>
            <a:r>
              <a:rPr lang="zh-CN" altLang="en-US" sz="2800" b="1" dirty="0">
                <a:ln w="11430">
                  <a:solidFill>
                    <a:schemeClr val="bg1"/>
                  </a:solid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rPr>
              <a:t>检验用于评估每个自变量的回归系数是否显著不为零。</a:t>
            </a:r>
            <a:endParaRPr lang="en-US" altLang="zh-CN" sz="2800" b="1" dirty="0">
              <a:ln w="11430">
                <a:solidFill>
                  <a:schemeClr val="bg1"/>
                </a:solidFill>
              </a:ln>
              <a:solidFill>
                <a:srgbClr val="008000"/>
              </a:solidFill>
              <a:effectLst>
                <a:outerShdw blurRad="76200" dist="50800" dir="5400000" algn="tl" rotWithShape="0">
                  <a:srgbClr val="000000">
                    <a:alpha val="65000"/>
                  </a:srgbClr>
                </a:outerShdw>
              </a:effectLst>
              <a:latin typeface="Euclid" panose="02020503060505020303" pitchFamily="18" charset="0"/>
              <a:ea typeface="微软雅黑" panose="020B0503020204020204" pitchFamily="34" charset="-122"/>
              <a:cs typeface="Arial" pitchFamily="34" charset="0"/>
            </a:endParaRPr>
          </a:p>
        </p:txBody>
      </p:sp>
      <p:sp>
        <p:nvSpPr>
          <p:cNvPr id="2" name="TextBox 7">
            <a:extLst>
              <a:ext uri="{FF2B5EF4-FFF2-40B4-BE49-F238E27FC236}">
                <a16:creationId xmlns:a16="http://schemas.microsoft.com/office/drawing/2014/main" id="{1CBF1079-A8E8-4BA4-6945-22A7FCD81552}"/>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一元线性回归模型的统计检验</a:t>
            </a:r>
          </a:p>
        </p:txBody>
      </p:sp>
    </p:spTree>
    <p:extLst>
      <p:ext uri="{BB962C8B-B14F-4D97-AF65-F5344CB8AC3E}">
        <p14:creationId xmlns:p14="http://schemas.microsoft.com/office/powerpoint/2010/main" val="266680161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E8ED6-64A0-B460-4091-5106DC5ADA3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7D876BB-0E69-E31D-96DE-56268799340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一元线性回归模型的统计检验</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3C4067B7-3A6B-103C-4B45-522DF1B18BBC}"/>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一元线性回归模型的统计检验：</a:t>
            </a:r>
            <a:r>
              <a:rPr lang="en-US" altLang="zh-CN" dirty="0">
                <a:solidFill>
                  <a:schemeClr val="tx1"/>
                </a:solidFill>
              </a:rPr>
              <a:t>F</a:t>
            </a:r>
            <a:r>
              <a:rPr lang="zh-CN" altLang="en-US" dirty="0">
                <a:solidFill>
                  <a:schemeClr val="tx1"/>
                </a:solidFill>
              </a:rPr>
              <a:t>检验和</a:t>
            </a:r>
            <a:r>
              <a:rPr lang="en-US" altLang="zh-CN" dirty="0">
                <a:solidFill>
                  <a:schemeClr val="tx1"/>
                </a:solidFill>
              </a:rPr>
              <a:t>t</a:t>
            </a:r>
            <a:r>
              <a:rPr lang="zh-CN" altLang="en-US" dirty="0">
                <a:solidFill>
                  <a:schemeClr val="tx1"/>
                </a:solidFill>
              </a:rPr>
              <a:t>检验</a:t>
            </a:r>
          </a:p>
        </p:txBody>
      </p:sp>
      <p:pic>
        <p:nvPicPr>
          <p:cNvPr id="4" name="图片 3">
            <a:extLst>
              <a:ext uri="{FF2B5EF4-FFF2-40B4-BE49-F238E27FC236}">
                <a16:creationId xmlns:a16="http://schemas.microsoft.com/office/drawing/2014/main" id="{DE922028-7A2E-068C-1904-52A7ED2A8422}"/>
              </a:ext>
            </a:extLst>
          </p:cNvPr>
          <p:cNvPicPr>
            <a:picLocks noChangeAspect="1"/>
          </p:cNvPicPr>
          <p:nvPr/>
        </p:nvPicPr>
        <p:blipFill>
          <a:blip r:embed="rId3"/>
          <a:stretch>
            <a:fillRect/>
          </a:stretch>
        </p:blipFill>
        <p:spPr>
          <a:xfrm>
            <a:off x="863444" y="2407473"/>
            <a:ext cx="10917174" cy="3029373"/>
          </a:xfrm>
          <a:prstGeom prst="rect">
            <a:avLst/>
          </a:prstGeom>
        </p:spPr>
      </p:pic>
    </p:spTree>
    <p:extLst>
      <p:ext uri="{BB962C8B-B14F-4D97-AF65-F5344CB8AC3E}">
        <p14:creationId xmlns:p14="http://schemas.microsoft.com/office/powerpoint/2010/main" val="32483160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01F07-AF84-B74C-1528-EE7056D31A85}"/>
            </a:ext>
          </a:extLst>
        </p:cNvPr>
        <p:cNvGrpSpPr/>
        <p:nvPr/>
      </p:nvGrpSpPr>
      <p:grpSpPr>
        <a:xfrm>
          <a:off x="0" y="0"/>
          <a:ext cx="0" cy="0"/>
          <a:chOff x="0" y="0"/>
          <a:chExt cx="0" cy="0"/>
        </a:xfrm>
      </p:grpSpPr>
      <p:sp>
        <p:nvSpPr>
          <p:cNvPr id="23" name="Text Box 7">
            <a:extLst>
              <a:ext uri="{FF2B5EF4-FFF2-40B4-BE49-F238E27FC236}">
                <a16:creationId xmlns:a16="http://schemas.microsoft.com/office/drawing/2014/main" id="{658B708E-3BA2-7071-890B-96D8BD74FC58}"/>
              </a:ext>
            </a:extLst>
          </p:cNvPr>
          <p:cNvSpPr txBox="1">
            <a:spLocks noChangeArrowheads="1"/>
          </p:cNvSpPr>
          <p:nvPr/>
        </p:nvSpPr>
        <p:spPr bwMode="auto">
          <a:xfrm>
            <a:off x="3489906" y="2381085"/>
            <a:ext cx="62927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zh-CN"/>
            </a:defPPr>
            <a:lvl1pPr algn="ctr">
              <a:buClr>
                <a:srgbClr val="002060"/>
              </a:buClr>
              <a:buSzPct val="105000"/>
              <a:defRPr sz="4400" b="1">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defRPr>
            </a:lvl1pPr>
            <a:lvl2pPr marL="742950" indent="-285750" eaLnBrk="0" hangingPunct="0">
              <a:defRPr sz="2400">
                <a:latin typeface="Arial" panose="020B0604020202020204" pitchFamily="34" charset="0"/>
                <a:ea typeface="宋体" panose="02010600030101010101" pitchFamily="2" charset="-122"/>
              </a:defRPr>
            </a:lvl2pPr>
            <a:lvl3pPr marL="1143000" indent="-228600" eaLnBrk="0" hangingPunct="0">
              <a:defRPr sz="2400">
                <a:latin typeface="Arial" panose="020B0604020202020204" pitchFamily="34" charset="0"/>
                <a:ea typeface="宋体" panose="02010600030101010101" pitchFamily="2" charset="-122"/>
              </a:defRPr>
            </a:lvl3pPr>
            <a:lvl4pPr marL="1600200" indent="-228600" eaLnBrk="0" hangingPunct="0">
              <a:defRPr sz="2400">
                <a:latin typeface="Arial" panose="020B0604020202020204" pitchFamily="34" charset="0"/>
                <a:ea typeface="宋体" panose="02010600030101010101" pitchFamily="2" charset="-122"/>
              </a:defRPr>
            </a:lvl4pPr>
            <a:lvl5pPr marL="2057400" indent="-228600" eaLnBrk="0" hangingPunct="0">
              <a:defRPr sz="2400">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latin typeface="Arial" panose="020B0604020202020204" pitchFamily="34" charset="0"/>
                <a:ea typeface="宋体" panose="02010600030101010101" pitchFamily="2" charset="-122"/>
              </a:defRPr>
            </a:lvl9pPr>
          </a:lstStyle>
          <a:p>
            <a:pPr>
              <a:defRPr/>
            </a:pPr>
            <a:r>
              <a:rPr lang="zh-CN" altLang="en-US" sz="4000" dirty="0">
                <a:solidFill>
                  <a:srgbClr val="0084CF"/>
                </a:solidFill>
              </a:rPr>
              <a:t>一元线性回归</a:t>
            </a:r>
          </a:p>
        </p:txBody>
      </p:sp>
      <p:sp>
        <p:nvSpPr>
          <p:cNvPr id="26" name="矩形 33">
            <a:extLst>
              <a:ext uri="{FF2B5EF4-FFF2-40B4-BE49-F238E27FC236}">
                <a16:creationId xmlns:a16="http://schemas.microsoft.com/office/drawing/2014/main" id="{2E8D269E-3AA2-9AC5-8669-25E6852D5447}"/>
              </a:ext>
            </a:extLst>
          </p:cNvPr>
          <p:cNvSpPr/>
          <p:nvPr/>
        </p:nvSpPr>
        <p:spPr>
          <a:xfrm>
            <a:off x="2306212" y="2219655"/>
            <a:ext cx="997725" cy="938442"/>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7" name="矩形 34">
            <a:extLst>
              <a:ext uri="{FF2B5EF4-FFF2-40B4-BE49-F238E27FC236}">
                <a16:creationId xmlns:a16="http://schemas.microsoft.com/office/drawing/2014/main" id="{96A4A8A2-E940-EEB1-D9A4-91F295064745}"/>
              </a:ext>
            </a:extLst>
          </p:cNvPr>
          <p:cNvSpPr/>
          <p:nvPr/>
        </p:nvSpPr>
        <p:spPr>
          <a:xfrm>
            <a:off x="2396223" y="2304318"/>
            <a:ext cx="817703" cy="76911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rPr>
              <a:t>01</a:t>
            </a:r>
            <a:endParaRPr lang="zh-CN" altLang="en-US" sz="3600" dirty="0">
              <a:solidFill>
                <a:prstClr val="white"/>
              </a:solidFill>
              <a:latin typeface="Impact" panose="020B0806030902050204" pitchFamily="34" charset="0"/>
              <a:ea typeface="等线" panose="02010600030101010101" pitchFamily="2" charset="-122"/>
            </a:endParaRPr>
          </a:p>
        </p:txBody>
      </p:sp>
      <p:cxnSp>
        <p:nvCxnSpPr>
          <p:cNvPr id="25" name="直接连接符 5">
            <a:extLst>
              <a:ext uri="{FF2B5EF4-FFF2-40B4-BE49-F238E27FC236}">
                <a16:creationId xmlns:a16="http://schemas.microsoft.com/office/drawing/2014/main" id="{98C57DCD-EF0C-DBEF-3697-18E4AEB3C33B}"/>
              </a:ext>
            </a:extLst>
          </p:cNvPr>
          <p:cNvCxnSpPr>
            <a:stCxn id="26" idx="2"/>
          </p:cNvCxnSpPr>
          <p:nvPr/>
        </p:nvCxnSpPr>
        <p:spPr>
          <a:xfrm>
            <a:off x="2805074" y="3158097"/>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nvGrpSpPr>
          <p:cNvPr id="5" name="组合 9">
            <a:extLst>
              <a:ext uri="{FF2B5EF4-FFF2-40B4-BE49-F238E27FC236}">
                <a16:creationId xmlns:a16="http://schemas.microsoft.com/office/drawing/2014/main" id="{0B903235-B38C-742D-8F60-7CD4FC1FEF95}"/>
              </a:ext>
            </a:extLst>
          </p:cNvPr>
          <p:cNvGrpSpPr/>
          <p:nvPr/>
        </p:nvGrpSpPr>
        <p:grpSpPr>
          <a:xfrm>
            <a:off x="2306212" y="3362629"/>
            <a:ext cx="7579576" cy="938442"/>
            <a:chOff x="2734890" y="3810985"/>
            <a:chExt cx="7430257" cy="978068"/>
          </a:xfrm>
        </p:grpSpPr>
        <p:grpSp>
          <p:nvGrpSpPr>
            <p:cNvPr id="17" name="组合 26">
              <a:extLst>
                <a:ext uri="{FF2B5EF4-FFF2-40B4-BE49-F238E27FC236}">
                  <a16:creationId xmlns:a16="http://schemas.microsoft.com/office/drawing/2014/main" id="{E5B162CA-657E-DDEC-DDCD-E167A29F7BF6}"/>
                </a:ext>
              </a:extLst>
            </p:cNvPr>
            <p:cNvGrpSpPr/>
            <p:nvPr/>
          </p:nvGrpSpPr>
          <p:grpSpPr>
            <a:xfrm>
              <a:off x="2734890" y="3810985"/>
              <a:ext cx="7357638" cy="978068"/>
              <a:chOff x="3382706" y="3231661"/>
              <a:chExt cx="7357638" cy="978068"/>
            </a:xfrm>
          </p:grpSpPr>
          <p:sp>
            <p:nvSpPr>
              <p:cNvPr id="19" name="Text Box 7">
                <a:extLst>
                  <a:ext uri="{FF2B5EF4-FFF2-40B4-BE49-F238E27FC236}">
                    <a16:creationId xmlns:a16="http://schemas.microsoft.com/office/drawing/2014/main" id="{FC5F2E23-D3D4-446E-66A4-699210C1C8AA}"/>
                  </a:ext>
                </a:extLst>
              </p:cNvPr>
              <p:cNvSpPr txBox="1">
                <a:spLocks noChangeArrowheads="1"/>
              </p:cNvSpPr>
              <p:nvPr/>
            </p:nvSpPr>
            <p:spPr bwMode="auto">
              <a:xfrm>
                <a:off x="4543081" y="3399907"/>
                <a:ext cx="6197263"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b="1" dirty="0">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rPr>
                  <a:t>一元线性回归实践案例</a:t>
                </a:r>
              </a:p>
            </p:txBody>
          </p:sp>
          <p:grpSp>
            <p:nvGrpSpPr>
              <p:cNvPr id="20" name="组合 12">
                <a:extLst>
                  <a:ext uri="{FF2B5EF4-FFF2-40B4-BE49-F238E27FC236}">
                    <a16:creationId xmlns:a16="http://schemas.microsoft.com/office/drawing/2014/main" id="{F024BC05-7B34-2F9D-7BBB-016C916631BE}"/>
                  </a:ext>
                </a:extLst>
              </p:cNvPr>
              <p:cNvGrpSpPr/>
              <p:nvPr/>
            </p:nvGrpSpPr>
            <p:grpSpPr>
              <a:xfrm>
                <a:off x="3382706" y="3231661"/>
                <a:ext cx="978070" cy="978068"/>
                <a:chOff x="2051720" y="1381964"/>
                <a:chExt cx="1152128" cy="1152128"/>
              </a:xfrm>
            </p:grpSpPr>
            <p:sp>
              <p:nvSpPr>
                <p:cNvPr id="21" name="矩形 29">
                  <a:extLst>
                    <a:ext uri="{FF2B5EF4-FFF2-40B4-BE49-F238E27FC236}">
                      <a16:creationId xmlns:a16="http://schemas.microsoft.com/office/drawing/2014/main" id="{456896FF-214B-0B78-63DD-E6F868128CE6}"/>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2" name="矩形 30">
                  <a:extLst>
                    <a:ext uri="{FF2B5EF4-FFF2-40B4-BE49-F238E27FC236}">
                      <a16:creationId xmlns:a16="http://schemas.microsoft.com/office/drawing/2014/main" id="{477EA258-4390-FC57-0217-DED788E89A9D}"/>
                    </a:ext>
                  </a:extLst>
                </p:cNvPr>
                <p:cNvSpPr/>
                <p:nvPr/>
              </p:nvSpPr>
              <p:spPr>
                <a:xfrm>
                  <a:off x="2155661" y="1485905"/>
                  <a:ext cx="944247" cy="944246"/>
                </a:xfrm>
                <a:prstGeom prst="rect">
                  <a:avLst/>
                </a:prstGeom>
                <a:gradFill>
                  <a:gsLst>
                    <a:gs pos="417">
                      <a:srgbClr val="FFC000"/>
                    </a:gs>
                    <a:gs pos="99000">
                      <a:srgbClr val="C00000"/>
                    </a:gs>
                  </a:gsLst>
                  <a:lin ang="2700000" scaled="0"/>
                </a:gradFill>
                <a:ln w="1270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prstClr val="white"/>
                      </a:solidFill>
                      <a:latin typeface="Impact" panose="020B0806030902050204" pitchFamily="34" charset="0"/>
                      <a:ea typeface="等线" panose="02010600030101010101" pitchFamily="2" charset="-122"/>
                    </a:rPr>
                    <a:t>02</a:t>
                  </a:r>
                  <a:endParaRPr lang="zh-CN" altLang="en-US" sz="3600" dirty="0">
                    <a:solidFill>
                      <a:prstClr val="white"/>
                    </a:solidFill>
                    <a:latin typeface="Impact" panose="020B0806030902050204" pitchFamily="34" charset="0"/>
                    <a:ea typeface="等线" panose="02010600030101010101" pitchFamily="2" charset="-122"/>
                  </a:endParaRPr>
                </a:p>
              </p:txBody>
            </p:sp>
          </p:grpSp>
        </p:grpSp>
        <p:cxnSp>
          <p:nvCxnSpPr>
            <p:cNvPr id="18" name="直接连接符 43">
              <a:extLst>
                <a:ext uri="{FF2B5EF4-FFF2-40B4-BE49-F238E27FC236}">
                  <a16:creationId xmlns:a16="http://schemas.microsoft.com/office/drawing/2014/main" id="{D2C16B09-5FB0-27D3-F16C-08CCA0AE4F20}"/>
                </a:ext>
              </a:extLst>
            </p:cNvPr>
            <p:cNvCxnSpPr>
              <a:stCxn id="21" idx="2"/>
            </p:cNvCxnSpPr>
            <p:nvPr/>
          </p:nvCxnSpPr>
          <p:spPr>
            <a:xfrm>
              <a:off x="3223924" y="4789053"/>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grpSp>
        <p:nvGrpSpPr>
          <p:cNvPr id="7" name="组合 10">
            <a:extLst>
              <a:ext uri="{FF2B5EF4-FFF2-40B4-BE49-F238E27FC236}">
                <a16:creationId xmlns:a16="http://schemas.microsoft.com/office/drawing/2014/main" id="{18612194-54C4-539E-D066-6EDFCB448394}"/>
              </a:ext>
            </a:extLst>
          </p:cNvPr>
          <p:cNvGrpSpPr/>
          <p:nvPr/>
        </p:nvGrpSpPr>
        <p:grpSpPr>
          <a:xfrm>
            <a:off x="2306212" y="4505603"/>
            <a:ext cx="7579576" cy="938442"/>
            <a:chOff x="2734890" y="5002222"/>
            <a:chExt cx="7430257" cy="978068"/>
          </a:xfrm>
        </p:grpSpPr>
        <p:grpSp>
          <p:nvGrpSpPr>
            <p:cNvPr id="8" name="组合 35">
              <a:extLst>
                <a:ext uri="{FF2B5EF4-FFF2-40B4-BE49-F238E27FC236}">
                  <a16:creationId xmlns:a16="http://schemas.microsoft.com/office/drawing/2014/main" id="{70776B2A-9A02-1E94-C2A5-4091B4E34603}"/>
                </a:ext>
              </a:extLst>
            </p:cNvPr>
            <p:cNvGrpSpPr/>
            <p:nvPr/>
          </p:nvGrpSpPr>
          <p:grpSpPr>
            <a:xfrm>
              <a:off x="2734890" y="5002222"/>
              <a:ext cx="7329156" cy="978068"/>
              <a:chOff x="3382706" y="3231661"/>
              <a:chExt cx="7329156" cy="978068"/>
            </a:xfrm>
          </p:grpSpPr>
          <p:sp>
            <p:nvSpPr>
              <p:cNvPr id="13" name="Text Box 7">
                <a:extLst>
                  <a:ext uri="{FF2B5EF4-FFF2-40B4-BE49-F238E27FC236}">
                    <a16:creationId xmlns:a16="http://schemas.microsoft.com/office/drawing/2014/main" id="{7CBFC146-DE0F-62B6-7CFA-36FEF7965B34}"/>
                  </a:ext>
                </a:extLst>
              </p:cNvPr>
              <p:cNvSpPr txBox="1">
                <a:spLocks noChangeArrowheads="1"/>
              </p:cNvSpPr>
              <p:nvPr/>
            </p:nvSpPr>
            <p:spPr bwMode="auto">
              <a:xfrm>
                <a:off x="4543081" y="3399907"/>
                <a:ext cx="6168781"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b="1" dirty="0">
                    <a:solidFill>
                      <a:srgbClr val="0084CF"/>
                    </a:solidFill>
                    <a:latin typeface="微软雅黑" panose="020B0503020204020204" pitchFamily="34" charset="-122"/>
                    <a:ea typeface="微软雅黑" panose="020B0503020204020204" pitchFamily="34" charset="-122"/>
                  </a:rPr>
                  <a:t>多元线性回归</a:t>
                </a:r>
                <a:endPar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endParaRPr>
              </a:p>
            </p:txBody>
          </p:sp>
          <p:grpSp>
            <p:nvGrpSpPr>
              <p:cNvPr id="14" name="组合 12">
                <a:extLst>
                  <a:ext uri="{FF2B5EF4-FFF2-40B4-BE49-F238E27FC236}">
                    <a16:creationId xmlns:a16="http://schemas.microsoft.com/office/drawing/2014/main" id="{9E39495D-E0C9-AF31-2CD8-40FD7B6CF780}"/>
                  </a:ext>
                </a:extLst>
              </p:cNvPr>
              <p:cNvGrpSpPr/>
              <p:nvPr/>
            </p:nvGrpSpPr>
            <p:grpSpPr>
              <a:xfrm>
                <a:off x="3382706" y="3231661"/>
                <a:ext cx="978070" cy="978068"/>
                <a:chOff x="2051720" y="1381964"/>
                <a:chExt cx="1152128" cy="1152128"/>
              </a:xfrm>
            </p:grpSpPr>
            <p:sp>
              <p:nvSpPr>
                <p:cNvPr id="15" name="矩形 41">
                  <a:extLst>
                    <a:ext uri="{FF2B5EF4-FFF2-40B4-BE49-F238E27FC236}">
                      <a16:creationId xmlns:a16="http://schemas.microsoft.com/office/drawing/2014/main" id="{331EE969-E384-75D1-5CBC-A05905EA3653}"/>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sng"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 name="矩形 42">
                  <a:extLst>
                    <a:ext uri="{FF2B5EF4-FFF2-40B4-BE49-F238E27FC236}">
                      <a16:creationId xmlns:a16="http://schemas.microsoft.com/office/drawing/2014/main" id="{805E7258-3A21-321C-752D-E62B74DFA5F9}"/>
                    </a:ext>
                  </a:extLst>
                </p:cNvPr>
                <p:cNvSpPr/>
                <p:nvPr/>
              </p:nvSpPr>
              <p:spPr>
                <a:xfrm>
                  <a:off x="2155661" y="1485905"/>
                  <a:ext cx="944247" cy="94424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03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grpSp>
        </p:grpSp>
        <p:cxnSp>
          <p:nvCxnSpPr>
            <p:cNvPr id="12" name="直接连接符 45">
              <a:extLst>
                <a:ext uri="{FF2B5EF4-FFF2-40B4-BE49-F238E27FC236}">
                  <a16:creationId xmlns:a16="http://schemas.microsoft.com/office/drawing/2014/main" id="{FD11CCC5-3B90-7923-DC4C-CFD32057EDFC}"/>
                </a:ext>
              </a:extLst>
            </p:cNvPr>
            <p:cNvCxnSpPr>
              <a:stCxn id="15" idx="2"/>
            </p:cNvCxnSpPr>
            <p:nvPr/>
          </p:nvCxnSpPr>
          <p:spPr>
            <a:xfrm>
              <a:off x="3223924" y="5980290"/>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sp>
        <p:nvSpPr>
          <p:cNvPr id="9" name="Title 1">
            <a:extLst>
              <a:ext uri="{FF2B5EF4-FFF2-40B4-BE49-F238E27FC236}">
                <a16:creationId xmlns:a16="http://schemas.microsoft.com/office/drawing/2014/main" id="{9181E7ED-F3F7-237C-BA52-7BF810853747}"/>
              </a:ext>
            </a:extLst>
          </p:cNvPr>
          <p:cNvSpPr txBox="1">
            <a:spLocks/>
          </p:cNvSpPr>
          <p:nvPr/>
        </p:nvSpPr>
        <p:spPr>
          <a:xfrm>
            <a:off x="1371600" y="419621"/>
            <a:ext cx="9448800" cy="133989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r>
              <a:rPr lang="zh-CN" altLang="en-US" b="0" dirty="0">
                <a:solidFill>
                  <a:srgbClr val="FD5C0C"/>
                </a:solidFill>
                <a:effectLst/>
                <a:latin typeface="华光综艺_CNKI" panose="02000500000000000000" pitchFamily="2" charset="-122"/>
                <a:ea typeface="华光综艺_CNKI" panose="02000500000000000000" pitchFamily="2" charset="-122"/>
              </a:rPr>
              <a:t>汇报提纲</a:t>
            </a:r>
            <a:endParaRPr lang="en-US" b="0" dirty="0">
              <a:solidFill>
                <a:schemeClr val="bg1"/>
              </a:solidFill>
              <a:effectLst/>
              <a:latin typeface="华光综艺_CNKI" panose="02000500000000000000" pitchFamily="2" charset="-122"/>
              <a:ea typeface="华光综艺_CNKI" panose="02000500000000000000" pitchFamily="2" charset="-122"/>
            </a:endParaRPr>
          </a:p>
        </p:txBody>
      </p:sp>
      <p:pic>
        <p:nvPicPr>
          <p:cNvPr id="3" name="Picture 2" descr="A logo with dots and lines&#10;&#10;Description automatically generated">
            <a:extLst>
              <a:ext uri="{FF2B5EF4-FFF2-40B4-BE49-F238E27FC236}">
                <a16:creationId xmlns:a16="http://schemas.microsoft.com/office/drawing/2014/main" id="{D05EDD9D-76D5-0C25-4986-67822507209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p:blipFill>
        <p:spPr>
          <a:xfrm>
            <a:off x="11471423" y="93711"/>
            <a:ext cx="588328" cy="453368"/>
          </a:xfrm>
          <a:prstGeom prst="rect">
            <a:avLst/>
          </a:prstGeom>
        </p:spPr>
      </p:pic>
      <p:grpSp>
        <p:nvGrpSpPr>
          <p:cNvPr id="31" name="组合 10">
            <a:extLst>
              <a:ext uri="{FF2B5EF4-FFF2-40B4-BE49-F238E27FC236}">
                <a16:creationId xmlns:a16="http://schemas.microsoft.com/office/drawing/2014/main" id="{FF817361-C0AE-3560-7BC9-59029A5207CD}"/>
              </a:ext>
            </a:extLst>
          </p:cNvPr>
          <p:cNvGrpSpPr/>
          <p:nvPr/>
        </p:nvGrpSpPr>
        <p:grpSpPr>
          <a:xfrm>
            <a:off x="2335267" y="5648576"/>
            <a:ext cx="7579576" cy="938442"/>
            <a:chOff x="2734890" y="5002222"/>
            <a:chExt cx="7430257" cy="978068"/>
          </a:xfrm>
        </p:grpSpPr>
        <p:grpSp>
          <p:nvGrpSpPr>
            <p:cNvPr id="32" name="组合 35">
              <a:extLst>
                <a:ext uri="{FF2B5EF4-FFF2-40B4-BE49-F238E27FC236}">
                  <a16:creationId xmlns:a16="http://schemas.microsoft.com/office/drawing/2014/main" id="{EE09255C-9D8A-5A86-D582-71CE6E57477E}"/>
                </a:ext>
              </a:extLst>
            </p:cNvPr>
            <p:cNvGrpSpPr/>
            <p:nvPr/>
          </p:nvGrpSpPr>
          <p:grpSpPr>
            <a:xfrm>
              <a:off x="2734890" y="5002222"/>
              <a:ext cx="7329156" cy="978068"/>
              <a:chOff x="3382706" y="3231661"/>
              <a:chExt cx="7329156" cy="978068"/>
            </a:xfrm>
          </p:grpSpPr>
          <p:sp>
            <p:nvSpPr>
              <p:cNvPr id="34" name="Text Box 7">
                <a:extLst>
                  <a:ext uri="{FF2B5EF4-FFF2-40B4-BE49-F238E27FC236}">
                    <a16:creationId xmlns:a16="http://schemas.microsoft.com/office/drawing/2014/main" id="{DBE35B4E-BC1F-BE75-63C7-E8C4A7FAB1D5}"/>
                  </a:ext>
                </a:extLst>
              </p:cNvPr>
              <p:cNvSpPr txBox="1">
                <a:spLocks noChangeArrowheads="1"/>
              </p:cNvSpPr>
              <p:nvPr/>
            </p:nvSpPr>
            <p:spPr bwMode="auto">
              <a:xfrm>
                <a:off x="4543081" y="3399907"/>
                <a:ext cx="6168781"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b="1" dirty="0">
                    <a:solidFill>
                      <a:srgbClr val="0084CF"/>
                    </a:solidFill>
                    <a:latin typeface="微软雅黑" panose="020B0503020204020204" pitchFamily="34" charset="-122"/>
                    <a:ea typeface="微软雅黑" panose="020B0503020204020204" pitchFamily="34" charset="-122"/>
                  </a:rPr>
                  <a:t>多元线性回归实践案例</a:t>
                </a:r>
                <a:endPar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endParaRPr>
              </a:p>
            </p:txBody>
          </p:sp>
          <p:grpSp>
            <p:nvGrpSpPr>
              <p:cNvPr id="35" name="组合 12">
                <a:extLst>
                  <a:ext uri="{FF2B5EF4-FFF2-40B4-BE49-F238E27FC236}">
                    <a16:creationId xmlns:a16="http://schemas.microsoft.com/office/drawing/2014/main" id="{1269185E-9BCA-BC6F-2706-7FE91C4EFA92}"/>
                  </a:ext>
                </a:extLst>
              </p:cNvPr>
              <p:cNvGrpSpPr/>
              <p:nvPr/>
            </p:nvGrpSpPr>
            <p:grpSpPr>
              <a:xfrm>
                <a:off x="3382706" y="3231661"/>
                <a:ext cx="978070" cy="978068"/>
                <a:chOff x="2051720" y="1381964"/>
                <a:chExt cx="1152128" cy="1152128"/>
              </a:xfrm>
            </p:grpSpPr>
            <p:sp>
              <p:nvSpPr>
                <p:cNvPr id="36" name="矩形 41">
                  <a:extLst>
                    <a:ext uri="{FF2B5EF4-FFF2-40B4-BE49-F238E27FC236}">
                      <a16:creationId xmlns:a16="http://schemas.microsoft.com/office/drawing/2014/main" id="{ABA2377A-AB52-E2E8-7706-CC4A82449F39}"/>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sng"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8" name="矩形 42">
                  <a:extLst>
                    <a:ext uri="{FF2B5EF4-FFF2-40B4-BE49-F238E27FC236}">
                      <a16:creationId xmlns:a16="http://schemas.microsoft.com/office/drawing/2014/main" id="{A7776604-B4AC-FCBF-D56A-37E8F506E18B}"/>
                    </a:ext>
                  </a:extLst>
                </p:cNvPr>
                <p:cNvSpPr/>
                <p:nvPr/>
              </p:nvSpPr>
              <p:spPr>
                <a:xfrm>
                  <a:off x="2155661" y="1485905"/>
                  <a:ext cx="944247" cy="94424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04</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grpSp>
        </p:grpSp>
        <p:cxnSp>
          <p:nvCxnSpPr>
            <p:cNvPr id="33" name="直接连接符 45">
              <a:extLst>
                <a:ext uri="{FF2B5EF4-FFF2-40B4-BE49-F238E27FC236}">
                  <a16:creationId xmlns:a16="http://schemas.microsoft.com/office/drawing/2014/main" id="{65C8C50D-0F0F-54C4-4205-641ABBF1DA31}"/>
                </a:ext>
              </a:extLst>
            </p:cNvPr>
            <p:cNvCxnSpPr>
              <a:stCxn id="36" idx="2"/>
            </p:cNvCxnSpPr>
            <p:nvPr/>
          </p:nvCxnSpPr>
          <p:spPr>
            <a:xfrm>
              <a:off x="3223924" y="5980290"/>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187246797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01E36-84EA-C2F2-106F-6A640B2CD76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F9C60DC-BE87-09E4-CB27-E3577D4D701B}"/>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实践案例：直播平台观众数预测</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155FC650-D256-60F0-4160-306C2B4DF1BE}"/>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一元线性回归实践案例：</a:t>
            </a:r>
            <a:r>
              <a:rPr lang="zh-CN" altLang="en-US" dirty="0">
                <a:solidFill>
                  <a:schemeClr val="tx1"/>
                </a:solidFill>
              </a:rPr>
              <a:t>直播平台数据集</a:t>
            </a:r>
          </a:p>
        </p:txBody>
      </p:sp>
      <p:pic>
        <p:nvPicPr>
          <p:cNvPr id="5" name="图片 4">
            <a:extLst>
              <a:ext uri="{FF2B5EF4-FFF2-40B4-BE49-F238E27FC236}">
                <a16:creationId xmlns:a16="http://schemas.microsoft.com/office/drawing/2014/main" id="{C14C6D87-6650-B93A-2C53-FBF7777F00C3}"/>
              </a:ext>
            </a:extLst>
          </p:cNvPr>
          <p:cNvPicPr>
            <a:picLocks noChangeAspect="1"/>
          </p:cNvPicPr>
          <p:nvPr/>
        </p:nvPicPr>
        <p:blipFill>
          <a:blip r:embed="rId3">
            <a:extLst>
              <a:ext uri="{28A0092B-C50C-407E-A947-70E740481C1C}">
                <a14:useLocalDpi xmlns:a14="http://schemas.microsoft.com/office/drawing/2010/main" val="0"/>
              </a:ext>
            </a:extLst>
          </a:blip>
          <a:srcRect t="16178"/>
          <a:stretch/>
        </p:blipFill>
        <p:spPr>
          <a:xfrm>
            <a:off x="200059" y="2681555"/>
            <a:ext cx="11510316" cy="2447216"/>
          </a:xfrm>
          <a:prstGeom prst="rect">
            <a:avLst/>
          </a:prstGeom>
        </p:spPr>
      </p:pic>
    </p:spTree>
    <p:extLst>
      <p:ext uri="{BB962C8B-B14F-4D97-AF65-F5344CB8AC3E}">
        <p14:creationId xmlns:p14="http://schemas.microsoft.com/office/powerpoint/2010/main" val="34390053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B60B9-5152-9069-98FE-76A8AF112F6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2F07643-D260-ADDB-AB9C-FA5F1B8A67EB}"/>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实践案例：直播平台观众数预测</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0CE8B20B-3DB4-D245-133E-B500AFE34B87}"/>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一元线性回归实践案例：</a:t>
            </a:r>
            <a:r>
              <a:rPr lang="zh-CN" altLang="en-US" dirty="0">
                <a:solidFill>
                  <a:schemeClr val="tx1"/>
                </a:solidFill>
              </a:rPr>
              <a:t>绘制散点图</a:t>
            </a:r>
          </a:p>
        </p:txBody>
      </p:sp>
      <p:sp>
        <p:nvSpPr>
          <p:cNvPr id="8" name="文本框 7">
            <a:extLst>
              <a:ext uri="{FF2B5EF4-FFF2-40B4-BE49-F238E27FC236}">
                <a16:creationId xmlns:a16="http://schemas.microsoft.com/office/drawing/2014/main" id="{50E56104-B883-7C26-2254-3F463DEB3109}"/>
              </a:ext>
            </a:extLst>
          </p:cNvPr>
          <p:cNvSpPr txBox="1"/>
          <p:nvPr/>
        </p:nvSpPr>
        <p:spPr>
          <a:xfrm>
            <a:off x="579612" y="5224807"/>
            <a:ext cx="10849510" cy="1384995"/>
          </a:xfrm>
          <a:prstGeom prst="rect">
            <a:avLst/>
          </a:prstGeom>
          <a:noFill/>
        </p:spPr>
        <p:txBody>
          <a:bodyPr wrap="square">
            <a:spAutoFit/>
          </a:bodyPr>
          <a:lstStyle/>
          <a:p>
            <a:r>
              <a:rPr lang="zh-CN"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经观察，自变量和因变量之间存在</a:t>
            </a:r>
            <a:r>
              <a:rPr lang="zh-CN" altLang="zh-CN" sz="28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较强的线性关系</a:t>
            </a:r>
            <a:r>
              <a:rPr lang="zh-CN"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，可以创建关于主播数量和观众数量的</a:t>
            </a:r>
            <a:r>
              <a:rPr lang="zh-CN" altLang="zh-CN" sz="28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一元线性回归方程</a:t>
            </a:r>
            <a:r>
              <a:rPr lang="zh-CN"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来描述二者之间的相关关系。</a:t>
            </a:r>
            <a:endPar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endParaRPr>
          </a:p>
        </p:txBody>
      </p:sp>
      <p:pic>
        <p:nvPicPr>
          <p:cNvPr id="9" name="图形 41">
            <a:extLst>
              <a:ext uri="{FF2B5EF4-FFF2-40B4-BE49-F238E27FC236}">
                <a16:creationId xmlns:a16="http://schemas.microsoft.com/office/drawing/2014/main" id="{6BA4A849-6CDE-9659-753A-54FB69931F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81817" y="1830491"/>
            <a:ext cx="4397706" cy="3298280"/>
          </a:xfrm>
          <a:prstGeom prst="rect">
            <a:avLst/>
          </a:prstGeom>
        </p:spPr>
      </p:pic>
    </p:spTree>
    <p:extLst>
      <p:ext uri="{BB962C8B-B14F-4D97-AF65-F5344CB8AC3E}">
        <p14:creationId xmlns:p14="http://schemas.microsoft.com/office/powerpoint/2010/main" val="34556144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3C528-C715-B43B-EF82-B7864CE578A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69B04CA1-C60B-5804-B8C6-19C35838962F}"/>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实践案例：直播平台观众数预测</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4A9E41E0-B0F1-7452-41D6-237E040E8D3C}"/>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一元线性回归实践案例：</a:t>
            </a:r>
            <a:r>
              <a:rPr lang="zh-CN" altLang="en-US" dirty="0">
                <a:solidFill>
                  <a:schemeClr val="tx1"/>
                </a:solidFill>
              </a:rPr>
              <a:t>构建模型</a:t>
            </a:r>
          </a:p>
        </p:txBody>
      </p:sp>
      <p:sp>
        <p:nvSpPr>
          <p:cNvPr id="6" name="文本框 5">
            <a:extLst>
              <a:ext uri="{FF2B5EF4-FFF2-40B4-BE49-F238E27FC236}">
                <a16:creationId xmlns:a16="http://schemas.microsoft.com/office/drawing/2014/main" id="{A65D8C51-A46C-8B05-90CD-E867C8DB53D9}"/>
              </a:ext>
            </a:extLst>
          </p:cNvPr>
          <p:cNvSpPr txBox="1"/>
          <p:nvPr/>
        </p:nvSpPr>
        <p:spPr>
          <a:xfrm>
            <a:off x="85971" y="1905569"/>
            <a:ext cx="12106029" cy="954107"/>
          </a:xfrm>
          <a:prstGeom prst="rect">
            <a:avLst/>
          </a:prstGeom>
          <a:noFill/>
        </p:spPr>
        <p:txBody>
          <a:bodyPr wrap="square">
            <a:spAutoFit/>
          </a:bodyPr>
          <a:lstStyle/>
          <a:p>
            <a:r>
              <a:rPr lang="zh-CN"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使用</a:t>
            </a:r>
            <a:r>
              <a:rPr lang="en-US" altLang="zh-CN" sz="2800" b="1" spc="50" dirty="0" err="1">
                <a:ln w="11430">
                  <a:noFill/>
                </a:ln>
                <a:latin typeface="Arial" panose="020B0604020202020204" pitchFamily="34" charset="0"/>
                <a:ea typeface="微软雅黑" panose="020B0503020204020204" pitchFamily="34" charset="-122"/>
                <a:cs typeface="Arial" panose="020B0604020202020204" pitchFamily="34" charset="0"/>
              </a:rPr>
              <a:t>statsmodels</a:t>
            </a:r>
            <a:r>
              <a:rPr lang="zh-CN"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库中</a:t>
            </a:r>
            <a:r>
              <a:rPr lang="en-US" altLang="zh-CN" sz="28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a:t>
            </a:r>
            <a:r>
              <a:rPr lang="en-US" altLang="zh-CN" sz="2800" b="1" spc="50" dirty="0" err="1">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add_constant</a:t>
            </a:r>
            <a:r>
              <a:rPr lang="zh-CN" altLang="zh-CN" sz="28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方法和</a:t>
            </a:r>
            <a:r>
              <a:rPr lang="en-US" altLang="zh-CN" sz="28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.OLS</a:t>
            </a:r>
            <a:r>
              <a:rPr lang="zh-CN" altLang="zh-CN" sz="28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函数</a:t>
            </a:r>
            <a:r>
              <a:rPr lang="zh-CN"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添加截距项并建立一元线性回归模型。</a:t>
            </a:r>
            <a:endPar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endParaRPr>
          </a:p>
        </p:txBody>
      </p:sp>
      <p:sp>
        <p:nvSpPr>
          <p:cNvPr id="10" name="矩形 9">
            <a:extLst>
              <a:ext uri="{FF2B5EF4-FFF2-40B4-BE49-F238E27FC236}">
                <a16:creationId xmlns:a16="http://schemas.microsoft.com/office/drawing/2014/main" id="{DC2B53B4-5F5B-4100-6003-8B13E0F62B98}"/>
              </a:ext>
            </a:extLst>
          </p:cNvPr>
          <p:cNvSpPr/>
          <p:nvPr/>
        </p:nvSpPr>
        <p:spPr>
          <a:xfrm>
            <a:off x="30031" y="4182047"/>
            <a:ext cx="5233227" cy="737889"/>
          </a:xfrm>
          <a:prstGeom prst="rect">
            <a:avLst/>
          </a:prstGeom>
          <a:solidFill>
            <a:schemeClr val="accent1">
              <a:lumMod val="20000"/>
              <a:lumOff val="80000"/>
            </a:schemeClr>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9" name="文本框 8">
            <a:extLst>
              <a:ext uri="{FF2B5EF4-FFF2-40B4-BE49-F238E27FC236}">
                <a16:creationId xmlns:a16="http://schemas.microsoft.com/office/drawing/2014/main" id="{683EC4D3-A97D-0FB3-8810-844D14D4A25C}"/>
              </a:ext>
            </a:extLst>
          </p:cNvPr>
          <p:cNvSpPr txBox="1"/>
          <p:nvPr/>
        </p:nvSpPr>
        <p:spPr>
          <a:xfrm>
            <a:off x="29647" y="4120402"/>
            <a:ext cx="5446479" cy="830356"/>
          </a:xfrm>
          <a:prstGeom prst="rect">
            <a:avLst/>
          </a:prstGeom>
          <a:noFill/>
        </p:spPr>
        <p:txBody>
          <a:bodyPr wrap="square">
            <a:spAutoFit/>
          </a:bodyPr>
          <a:lstStyle/>
          <a:p>
            <a:pPr marL="342900" lvl="0" indent="-342900">
              <a:lnSpc>
                <a:spcPct val="125000"/>
              </a:lnSpc>
              <a:tabLst>
                <a:tab pos="457200" algn="l"/>
              </a:tabLst>
            </a:pPr>
            <a:r>
              <a:rPr lang="en-US" altLang="zh-CN" sz="2000" kern="0" dirty="0" err="1">
                <a:solidFill>
                  <a:srgbClr val="5C5C5C"/>
                </a:solidFill>
                <a:effectLst/>
                <a:latin typeface="Consolas" panose="020B0609020204030204" pitchFamily="49" charset="0"/>
                <a:ea typeface="宋体" panose="02010600030101010101" pitchFamily="2" charset="-122"/>
                <a:cs typeface="宋体" panose="02010600030101010101" pitchFamily="2" charset="-122"/>
              </a:rPr>
              <a:t>sm.add_constant</a:t>
            </a:r>
            <a:r>
              <a:rPr lang="en-US" altLang="zh-CN" sz="2000" kern="0" dirty="0">
                <a:solidFill>
                  <a:srgbClr val="5C5C5C"/>
                </a:solidFill>
                <a:effectLst/>
                <a:latin typeface="Consolas" panose="020B0609020204030204" pitchFamily="49" charset="0"/>
                <a:ea typeface="宋体" panose="02010600030101010101" pitchFamily="2" charset="-122"/>
                <a:cs typeface="宋体" panose="02010600030101010101" pitchFamily="2" charset="-122"/>
              </a:rPr>
              <a:t>(data, prepend=</a:t>
            </a:r>
            <a:r>
              <a:rPr lang="en-US" altLang="zh-CN" sz="2000" kern="0" dirty="0">
                <a:solidFill>
                  <a:srgbClr val="0184BB"/>
                </a:solidFill>
                <a:effectLst/>
                <a:latin typeface="Consolas" panose="020B0609020204030204" pitchFamily="49" charset="0"/>
                <a:ea typeface="宋体" panose="02010600030101010101" pitchFamily="2" charset="-122"/>
                <a:cs typeface="宋体" panose="02010600030101010101" pitchFamily="2" charset="-122"/>
              </a:rPr>
              <a:t>False</a:t>
            </a:r>
            <a:r>
              <a:rPr lang="en-US" altLang="zh-CN" sz="2000" kern="0" dirty="0">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36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nSpc>
                <a:spcPct val="125000"/>
              </a:lnSpc>
              <a:spcAft>
                <a:spcPts val="600"/>
              </a:spcAft>
              <a:tabLst>
                <a:tab pos="457200" algn="l"/>
              </a:tabLst>
            </a:pPr>
            <a:r>
              <a:rPr lang="en-US" altLang="zh-CN" sz="2000" kern="0" dirty="0" err="1">
                <a:solidFill>
                  <a:srgbClr val="5C5C5C"/>
                </a:solidFill>
                <a:effectLst/>
                <a:latin typeface="Consolas" panose="020B0609020204030204" pitchFamily="49" charset="0"/>
                <a:ea typeface="宋体" panose="02010600030101010101" pitchFamily="2" charset="-122"/>
                <a:cs typeface="宋体" panose="02010600030101010101" pitchFamily="2" charset="-122"/>
              </a:rPr>
              <a:t>sm.OLS</a:t>
            </a:r>
            <a:r>
              <a:rPr lang="en-US" altLang="zh-CN" sz="2000" kern="0" dirty="0">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2000" kern="0" dirty="0" err="1">
                <a:solidFill>
                  <a:srgbClr val="5C5C5C"/>
                </a:solidFill>
                <a:effectLst/>
                <a:latin typeface="Consolas" panose="020B0609020204030204" pitchFamily="49" charset="0"/>
                <a:ea typeface="宋体" panose="02010600030101010101" pitchFamily="2" charset="-122"/>
                <a:cs typeface="宋体" panose="02010600030101010101" pitchFamily="2" charset="-122"/>
              </a:rPr>
              <a:t>endog</a:t>
            </a:r>
            <a:r>
              <a:rPr lang="en-US" altLang="zh-CN" sz="2000" kern="0" dirty="0">
                <a:solidFill>
                  <a:srgbClr val="5C5C5C"/>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2000" kern="0" dirty="0" err="1">
                <a:solidFill>
                  <a:srgbClr val="5C5C5C"/>
                </a:solidFill>
                <a:effectLst/>
                <a:latin typeface="Consolas" panose="020B0609020204030204" pitchFamily="49" charset="0"/>
                <a:ea typeface="宋体" panose="02010600030101010101" pitchFamily="2" charset="-122"/>
                <a:cs typeface="宋体" panose="02010600030101010101" pitchFamily="2" charset="-122"/>
              </a:rPr>
              <a:t>exog</a:t>
            </a:r>
            <a:r>
              <a:rPr lang="en-US" altLang="zh-CN" sz="2000" kern="0" dirty="0">
                <a:solidFill>
                  <a:srgbClr val="5C5C5C"/>
                </a:solidFill>
                <a:effectLst/>
                <a:latin typeface="Consolas" panose="020B0609020204030204" pitchFamily="49" charset="0"/>
                <a:ea typeface="宋体" panose="02010600030101010101" pitchFamily="2" charset="-122"/>
                <a:cs typeface="宋体" panose="02010600030101010101" pitchFamily="2" charset="-122"/>
              </a:rPr>
              <a:t>, missing=</a:t>
            </a:r>
            <a:r>
              <a:rPr lang="en-US" altLang="zh-CN" sz="2000" kern="0" dirty="0">
                <a:solidFill>
                  <a:srgbClr val="50A14F"/>
                </a:solidFill>
                <a:effectLst/>
                <a:latin typeface="Consolas" panose="020B0609020204030204" pitchFamily="49" charset="0"/>
                <a:ea typeface="宋体" panose="02010600030101010101" pitchFamily="2" charset="-122"/>
                <a:cs typeface="宋体" panose="02010600030101010101" pitchFamily="2" charset="-122"/>
              </a:rPr>
              <a:t>'None'</a:t>
            </a:r>
            <a:r>
              <a:rPr lang="en-US" altLang="zh-CN" sz="2000" kern="0" dirty="0">
                <a:solidFill>
                  <a:srgbClr val="5C5C5C"/>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36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矩形 16">
            <a:extLst>
              <a:ext uri="{FF2B5EF4-FFF2-40B4-BE49-F238E27FC236}">
                <a16:creationId xmlns:a16="http://schemas.microsoft.com/office/drawing/2014/main" id="{90624C56-7461-5503-8C51-A0AE7C856B3D}"/>
              </a:ext>
            </a:extLst>
          </p:cNvPr>
          <p:cNvSpPr/>
          <p:nvPr/>
        </p:nvSpPr>
        <p:spPr>
          <a:xfrm>
            <a:off x="5455578" y="2732207"/>
            <a:ext cx="6308332" cy="3918691"/>
          </a:xfrm>
          <a:prstGeom prst="rect">
            <a:avLst/>
          </a:prstGeom>
          <a:solidFill>
            <a:schemeClr val="accent1">
              <a:lumMod val="20000"/>
              <a:lumOff val="80000"/>
            </a:schemeClr>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5" name="文本框 14">
            <a:extLst>
              <a:ext uri="{FF2B5EF4-FFF2-40B4-BE49-F238E27FC236}">
                <a16:creationId xmlns:a16="http://schemas.microsoft.com/office/drawing/2014/main" id="{F79A1D05-2F24-B602-930D-A798330253AD}"/>
              </a:ext>
            </a:extLst>
          </p:cNvPr>
          <p:cNvSpPr txBox="1"/>
          <p:nvPr/>
        </p:nvSpPr>
        <p:spPr>
          <a:xfrm>
            <a:off x="5476126" y="2798260"/>
            <a:ext cx="6308333" cy="3785652"/>
          </a:xfrm>
          <a:prstGeom prst="rect">
            <a:avLst/>
          </a:prstGeom>
          <a:noFill/>
        </p:spPr>
        <p:txBody>
          <a:bodyPr wrap="square">
            <a:spAutoFit/>
          </a:bodyPr>
          <a:lstStyle/>
          <a:p>
            <a:pPr marL="342900" indent="-3429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import pandas as pd</a:t>
            </a:r>
            <a:endParaRPr lang="zh-CN" altLang="zh-CN" sz="2000" kern="0" dirty="0">
              <a:solidFill>
                <a:srgbClr val="5C5C5C"/>
              </a:solidFill>
              <a:latin typeface="Consolas" panose="020B0609020204030204" pitchFamily="49" charset="0"/>
              <a:ea typeface="宋体" panose="02010600030101010101" pitchFamily="2" charset="-122"/>
            </a:endParaRPr>
          </a:p>
          <a:p>
            <a:pPr marL="342900" indent="-3429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import </a:t>
            </a:r>
            <a:r>
              <a:rPr lang="en-US" altLang="zh-CN" sz="2000" kern="0" dirty="0" err="1">
                <a:solidFill>
                  <a:srgbClr val="5C5C5C"/>
                </a:solidFill>
                <a:latin typeface="Consolas" panose="020B0609020204030204" pitchFamily="49" charset="0"/>
                <a:ea typeface="宋体" panose="02010600030101010101" pitchFamily="2" charset="-122"/>
              </a:rPr>
              <a:t>statsmodels.api</a:t>
            </a:r>
            <a:r>
              <a:rPr lang="en-US" altLang="zh-CN" sz="2000" kern="0" dirty="0">
                <a:solidFill>
                  <a:srgbClr val="5C5C5C"/>
                </a:solidFill>
                <a:latin typeface="Consolas" panose="020B0609020204030204" pitchFamily="49" charset="0"/>
                <a:ea typeface="宋体" panose="02010600030101010101" pitchFamily="2" charset="-122"/>
              </a:rPr>
              <a:t> as </a:t>
            </a:r>
            <a:r>
              <a:rPr lang="en-US" altLang="zh-CN" sz="2000" kern="0" dirty="0" err="1">
                <a:solidFill>
                  <a:srgbClr val="5C5C5C"/>
                </a:solidFill>
                <a:latin typeface="Consolas" panose="020B0609020204030204" pitchFamily="49" charset="0"/>
                <a:ea typeface="宋体" panose="02010600030101010101" pitchFamily="2" charset="-122"/>
              </a:rPr>
              <a:t>sm</a:t>
            </a:r>
            <a:endParaRPr lang="zh-CN" altLang="zh-CN" sz="2000" kern="0" dirty="0">
              <a:solidFill>
                <a:srgbClr val="5C5C5C"/>
              </a:solidFill>
              <a:latin typeface="Consolas" panose="020B0609020204030204" pitchFamily="49" charset="0"/>
              <a:ea typeface="宋体" panose="02010600030101010101" pitchFamily="2" charset="-122"/>
            </a:endParaRPr>
          </a:p>
          <a:p>
            <a:pPr marL="342900" indent="-3429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from matplotlib import </a:t>
            </a:r>
            <a:r>
              <a:rPr lang="en-US" altLang="zh-CN" sz="2000" kern="0" dirty="0" err="1">
                <a:solidFill>
                  <a:srgbClr val="5C5C5C"/>
                </a:solidFill>
                <a:latin typeface="Consolas" panose="020B0609020204030204" pitchFamily="49" charset="0"/>
                <a:ea typeface="宋体" panose="02010600030101010101" pitchFamily="2" charset="-122"/>
              </a:rPr>
              <a:t>pyplot</a:t>
            </a:r>
            <a:r>
              <a:rPr lang="en-US" altLang="zh-CN" sz="2000" kern="0" dirty="0">
                <a:solidFill>
                  <a:srgbClr val="5C5C5C"/>
                </a:solidFill>
                <a:latin typeface="Consolas" panose="020B0609020204030204" pitchFamily="49" charset="0"/>
                <a:ea typeface="宋体" panose="02010600030101010101" pitchFamily="2" charset="-122"/>
              </a:rPr>
              <a:t> as </a:t>
            </a:r>
            <a:r>
              <a:rPr lang="en-US" altLang="zh-CN" sz="2000" kern="0" dirty="0" err="1">
                <a:solidFill>
                  <a:srgbClr val="5C5C5C"/>
                </a:solidFill>
                <a:latin typeface="Consolas" panose="020B0609020204030204" pitchFamily="49" charset="0"/>
                <a:ea typeface="宋体" panose="02010600030101010101" pitchFamily="2" charset="-122"/>
              </a:rPr>
              <a:t>plt</a:t>
            </a:r>
            <a:endParaRPr lang="zh-CN" altLang="zh-CN" sz="2000" kern="0" dirty="0">
              <a:solidFill>
                <a:srgbClr val="5C5C5C"/>
              </a:solidFill>
              <a:latin typeface="Consolas" panose="020B0609020204030204" pitchFamily="49" charset="0"/>
              <a:ea typeface="宋体" panose="02010600030101010101" pitchFamily="2" charset="-122"/>
            </a:endParaRPr>
          </a:p>
          <a:p>
            <a:pPr marL="342900" indent="-3429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 1.</a:t>
            </a:r>
            <a:r>
              <a:rPr lang="zh-CN" altLang="zh-CN" sz="2000" kern="0" dirty="0">
                <a:solidFill>
                  <a:srgbClr val="5C5C5C"/>
                </a:solidFill>
                <a:latin typeface="Consolas" panose="020B0609020204030204" pitchFamily="49" charset="0"/>
                <a:ea typeface="宋体" panose="02010600030101010101" pitchFamily="2" charset="-122"/>
              </a:rPr>
              <a:t>读取数据集</a:t>
            </a:r>
          </a:p>
          <a:p>
            <a:pPr marL="342900" indent="-3429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data = </a:t>
            </a:r>
            <a:r>
              <a:rPr lang="en-US" altLang="zh-CN" sz="2000" kern="0" dirty="0" err="1">
                <a:solidFill>
                  <a:srgbClr val="5C5C5C"/>
                </a:solidFill>
                <a:latin typeface="Consolas" panose="020B0609020204030204" pitchFamily="49" charset="0"/>
                <a:ea typeface="宋体" panose="02010600030101010101" pitchFamily="2" charset="-122"/>
              </a:rPr>
              <a:t>pd.read_csv</a:t>
            </a:r>
            <a:r>
              <a:rPr lang="en-US" altLang="zh-CN" sz="2000" kern="0" dirty="0">
                <a:solidFill>
                  <a:srgbClr val="5C5C5C"/>
                </a:solidFill>
                <a:latin typeface="Consolas" panose="020B0609020204030204" pitchFamily="49" charset="0"/>
                <a:ea typeface="宋体" panose="02010600030101010101" pitchFamily="2" charset="-122"/>
              </a:rPr>
              <a:t>('../data/livestreaming.csv')</a:t>
            </a:r>
            <a:endParaRPr lang="zh-CN" altLang="zh-CN" sz="2000" kern="0" dirty="0">
              <a:solidFill>
                <a:srgbClr val="5C5C5C"/>
              </a:solidFill>
              <a:latin typeface="Consolas" panose="020B0609020204030204" pitchFamily="49" charset="0"/>
              <a:ea typeface="宋体" panose="02010600030101010101" pitchFamily="2" charset="-122"/>
            </a:endParaRPr>
          </a:p>
          <a:p>
            <a:pPr marL="342900" indent="-3429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X = data['</a:t>
            </a:r>
            <a:r>
              <a:rPr lang="en-US" altLang="zh-CN" sz="2000" kern="0" dirty="0" err="1">
                <a:solidFill>
                  <a:srgbClr val="5C5C5C"/>
                </a:solidFill>
                <a:latin typeface="Consolas" panose="020B0609020204030204" pitchFamily="49" charset="0"/>
                <a:ea typeface="宋体" panose="02010600030101010101" pitchFamily="2" charset="-122"/>
              </a:rPr>
              <a:t>streamers_count</a:t>
            </a:r>
            <a:r>
              <a:rPr lang="en-US" altLang="zh-CN" sz="2000" kern="0" dirty="0">
                <a:solidFill>
                  <a:srgbClr val="5C5C5C"/>
                </a:solidFill>
                <a:latin typeface="Consolas" panose="020B0609020204030204" pitchFamily="49" charset="0"/>
                <a:ea typeface="宋体" panose="02010600030101010101" pitchFamily="2" charset="-122"/>
              </a:rPr>
              <a:t>']</a:t>
            </a:r>
            <a:endParaRPr lang="zh-CN" altLang="zh-CN" sz="2000" kern="0" dirty="0">
              <a:solidFill>
                <a:srgbClr val="5C5C5C"/>
              </a:solidFill>
              <a:latin typeface="Consolas" panose="020B0609020204030204" pitchFamily="49" charset="0"/>
              <a:ea typeface="宋体" panose="02010600030101010101" pitchFamily="2" charset="-122"/>
            </a:endParaRPr>
          </a:p>
          <a:p>
            <a:pPr marL="342900" indent="-3429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y = data['</a:t>
            </a:r>
            <a:r>
              <a:rPr lang="en-US" altLang="zh-CN" sz="2000" kern="0" dirty="0" err="1">
                <a:solidFill>
                  <a:srgbClr val="5C5C5C"/>
                </a:solidFill>
                <a:latin typeface="Consolas" panose="020B0609020204030204" pitchFamily="49" charset="0"/>
                <a:ea typeface="宋体" panose="02010600030101010101" pitchFamily="2" charset="-122"/>
              </a:rPr>
              <a:t>viewers_count</a:t>
            </a:r>
            <a:r>
              <a:rPr lang="en-US" altLang="zh-CN" sz="2000" kern="0" dirty="0">
                <a:solidFill>
                  <a:srgbClr val="5C5C5C"/>
                </a:solidFill>
                <a:latin typeface="Consolas" panose="020B0609020204030204" pitchFamily="49" charset="0"/>
                <a:ea typeface="宋体" panose="02010600030101010101" pitchFamily="2" charset="-122"/>
              </a:rPr>
              <a:t>']</a:t>
            </a:r>
            <a:endParaRPr lang="zh-CN" altLang="zh-CN" sz="2000" kern="0" dirty="0">
              <a:solidFill>
                <a:srgbClr val="5C5C5C"/>
              </a:solidFill>
              <a:latin typeface="Consolas" panose="020B0609020204030204" pitchFamily="49" charset="0"/>
              <a:ea typeface="宋体" panose="02010600030101010101" pitchFamily="2" charset="-122"/>
            </a:endParaRPr>
          </a:p>
          <a:p>
            <a:pPr marL="342900" indent="-3429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 2.</a:t>
            </a:r>
            <a:r>
              <a:rPr lang="zh-CN" altLang="zh-CN" sz="2000" kern="0" dirty="0">
                <a:solidFill>
                  <a:srgbClr val="5C5C5C"/>
                </a:solidFill>
                <a:latin typeface="Consolas" panose="020B0609020204030204" pitchFamily="49" charset="0"/>
                <a:ea typeface="宋体" panose="02010600030101010101" pitchFamily="2" charset="-122"/>
              </a:rPr>
              <a:t>构建一元线性回归模型</a:t>
            </a:r>
          </a:p>
          <a:p>
            <a:pPr marL="342900" indent="-3429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X = </a:t>
            </a:r>
            <a:r>
              <a:rPr lang="en-US" altLang="zh-CN" sz="2000" kern="0" dirty="0" err="1">
                <a:solidFill>
                  <a:srgbClr val="5C5C5C"/>
                </a:solidFill>
                <a:latin typeface="Consolas" panose="020B0609020204030204" pitchFamily="49" charset="0"/>
                <a:ea typeface="宋体" panose="02010600030101010101" pitchFamily="2" charset="-122"/>
              </a:rPr>
              <a:t>sm.add_constant</a:t>
            </a:r>
            <a:r>
              <a:rPr lang="en-US" altLang="zh-CN" sz="2000" kern="0" dirty="0">
                <a:solidFill>
                  <a:srgbClr val="5C5C5C"/>
                </a:solidFill>
                <a:latin typeface="Consolas" panose="020B0609020204030204" pitchFamily="49" charset="0"/>
                <a:ea typeface="宋体" panose="02010600030101010101" pitchFamily="2" charset="-122"/>
              </a:rPr>
              <a:t>(X)  # </a:t>
            </a:r>
            <a:r>
              <a:rPr lang="zh-CN" altLang="zh-CN" sz="2000" kern="0" dirty="0">
                <a:solidFill>
                  <a:srgbClr val="5C5C5C"/>
                </a:solidFill>
                <a:latin typeface="Consolas" panose="020B0609020204030204" pitchFamily="49" charset="0"/>
                <a:ea typeface="宋体" panose="02010600030101010101" pitchFamily="2" charset="-122"/>
              </a:rPr>
              <a:t>添加截距项</a:t>
            </a:r>
          </a:p>
          <a:p>
            <a:pPr marL="342900" indent="-3429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model = </a:t>
            </a:r>
            <a:r>
              <a:rPr lang="en-US" altLang="zh-CN" sz="2000" kern="0" dirty="0" err="1">
                <a:solidFill>
                  <a:srgbClr val="5C5C5C"/>
                </a:solidFill>
                <a:latin typeface="Consolas" panose="020B0609020204030204" pitchFamily="49" charset="0"/>
                <a:ea typeface="宋体" panose="02010600030101010101" pitchFamily="2" charset="-122"/>
              </a:rPr>
              <a:t>sm.OLS</a:t>
            </a:r>
            <a:r>
              <a:rPr lang="en-US" altLang="zh-CN" sz="2000" kern="0" dirty="0">
                <a:solidFill>
                  <a:srgbClr val="5C5C5C"/>
                </a:solidFill>
                <a:latin typeface="Consolas" panose="020B0609020204030204" pitchFamily="49" charset="0"/>
                <a:ea typeface="宋体" panose="02010600030101010101" pitchFamily="2" charset="-122"/>
              </a:rPr>
              <a:t>(y, X).fit()  # </a:t>
            </a:r>
            <a:r>
              <a:rPr lang="zh-CN" altLang="zh-CN" sz="2000" kern="0" dirty="0">
                <a:solidFill>
                  <a:srgbClr val="5C5C5C"/>
                </a:solidFill>
                <a:latin typeface="Consolas" panose="020B0609020204030204" pitchFamily="49" charset="0"/>
                <a:ea typeface="宋体" panose="02010600030101010101" pitchFamily="2" charset="-122"/>
              </a:rPr>
              <a:t>拟合模型</a:t>
            </a:r>
          </a:p>
          <a:p>
            <a:pPr marL="342900" indent="-3429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print(</a:t>
            </a:r>
            <a:r>
              <a:rPr lang="en-US" altLang="zh-CN" sz="2000" kern="0" dirty="0" err="1">
                <a:solidFill>
                  <a:srgbClr val="5C5C5C"/>
                </a:solidFill>
                <a:latin typeface="Consolas" panose="020B0609020204030204" pitchFamily="49" charset="0"/>
                <a:ea typeface="宋体" panose="02010600030101010101" pitchFamily="2" charset="-122"/>
              </a:rPr>
              <a:t>model.summary</a:t>
            </a:r>
            <a:r>
              <a:rPr lang="en-US" altLang="zh-CN" sz="2000" kern="0" dirty="0">
                <a:solidFill>
                  <a:srgbClr val="5C5C5C"/>
                </a:solidFill>
                <a:latin typeface="Consolas" panose="020B0609020204030204" pitchFamily="49" charset="0"/>
                <a:ea typeface="宋体" panose="02010600030101010101" pitchFamily="2" charset="-122"/>
              </a:rPr>
              <a:t>())  # </a:t>
            </a:r>
            <a:r>
              <a:rPr lang="zh-CN" altLang="zh-CN" sz="2000" kern="0" dirty="0">
                <a:solidFill>
                  <a:srgbClr val="5C5C5C"/>
                </a:solidFill>
                <a:latin typeface="Consolas" panose="020B0609020204030204" pitchFamily="49" charset="0"/>
                <a:ea typeface="宋体" panose="02010600030101010101" pitchFamily="2" charset="-122"/>
              </a:rPr>
              <a:t>输出模型摘要信息</a:t>
            </a:r>
          </a:p>
        </p:txBody>
      </p:sp>
    </p:spTree>
    <p:extLst>
      <p:ext uri="{BB962C8B-B14F-4D97-AF65-F5344CB8AC3E}">
        <p14:creationId xmlns:p14="http://schemas.microsoft.com/office/powerpoint/2010/main" val="13697601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5BBA0-78A5-E693-477A-8AC3CD37BF06}"/>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09D6A53-481D-850E-32B5-150FBBF513D9}"/>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实践案例：直播平台观众数预测</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F048304F-95A0-C8F6-842B-7C3C8DF75E0F}"/>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一元线性回归实践案例：</a:t>
            </a:r>
            <a:r>
              <a:rPr lang="zh-CN" altLang="en-US" dirty="0">
                <a:solidFill>
                  <a:schemeClr val="tx1"/>
                </a:solidFill>
              </a:rPr>
              <a:t>建模结果及可视化</a:t>
            </a:r>
          </a:p>
        </p:txBody>
      </p:sp>
      <p:pic>
        <p:nvPicPr>
          <p:cNvPr id="4" name="图片 3">
            <a:extLst>
              <a:ext uri="{FF2B5EF4-FFF2-40B4-BE49-F238E27FC236}">
                <a16:creationId xmlns:a16="http://schemas.microsoft.com/office/drawing/2014/main" id="{14AE3AC3-DFF5-CEEF-831C-BC774B138D17}"/>
              </a:ext>
            </a:extLst>
          </p:cNvPr>
          <p:cNvPicPr>
            <a:picLocks noChangeAspect="1"/>
          </p:cNvPicPr>
          <p:nvPr/>
        </p:nvPicPr>
        <p:blipFill>
          <a:blip r:embed="rId3"/>
          <a:stretch>
            <a:fillRect/>
          </a:stretch>
        </p:blipFill>
        <p:spPr>
          <a:xfrm>
            <a:off x="277192" y="1828800"/>
            <a:ext cx="7486860" cy="4162103"/>
          </a:xfrm>
          <a:prstGeom prst="rect">
            <a:avLst/>
          </a:prstGeom>
        </p:spPr>
      </p:pic>
      <p:graphicFrame>
        <p:nvGraphicFramePr>
          <p:cNvPr id="8" name="对象 7">
            <a:extLst>
              <a:ext uri="{FF2B5EF4-FFF2-40B4-BE49-F238E27FC236}">
                <a16:creationId xmlns:a16="http://schemas.microsoft.com/office/drawing/2014/main" id="{55B0209F-9C5E-341F-7A01-BD596D676966}"/>
              </a:ext>
            </a:extLst>
          </p:cNvPr>
          <p:cNvGraphicFramePr>
            <a:graphicFrameLocks noChangeAspect="1"/>
          </p:cNvGraphicFramePr>
          <p:nvPr>
            <p:extLst>
              <p:ext uri="{D42A27DB-BD31-4B8C-83A1-F6EECF244321}">
                <p14:modId xmlns:p14="http://schemas.microsoft.com/office/powerpoint/2010/main" val="2391615799"/>
              </p:ext>
            </p:extLst>
          </p:nvPr>
        </p:nvGraphicFramePr>
        <p:xfrm>
          <a:off x="3251396" y="6090473"/>
          <a:ext cx="5689207" cy="688693"/>
        </p:xfrm>
        <a:graphic>
          <a:graphicData uri="http://schemas.openxmlformats.org/presentationml/2006/ole">
            <mc:AlternateContent xmlns:mc="http://schemas.openxmlformats.org/markup-compatibility/2006">
              <mc:Choice xmlns:v="urn:schemas-microsoft-com:vml" Requires="v">
                <p:oleObj name="Equation" r:id="rId4" imgW="1809855" imgH="219248" progId="Equation.DSMT4">
                  <p:embed/>
                </p:oleObj>
              </mc:Choice>
              <mc:Fallback>
                <p:oleObj name="Equation" r:id="rId4" imgW="1809855" imgH="219248" progId="Equation.DSMT4">
                  <p:embed/>
                  <p:pic>
                    <p:nvPicPr>
                      <p:cNvPr id="0" name=""/>
                      <p:cNvPicPr/>
                      <p:nvPr/>
                    </p:nvPicPr>
                    <p:blipFill>
                      <a:blip r:embed="rId5"/>
                      <a:stretch>
                        <a:fillRect/>
                      </a:stretch>
                    </p:blipFill>
                    <p:spPr>
                      <a:xfrm>
                        <a:off x="3251396" y="6090473"/>
                        <a:ext cx="5689207" cy="688693"/>
                      </a:xfrm>
                      <a:prstGeom prst="rect">
                        <a:avLst/>
                      </a:prstGeom>
                    </p:spPr>
                  </p:pic>
                </p:oleObj>
              </mc:Fallback>
            </mc:AlternateContent>
          </a:graphicData>
        </a:graphic>
      </p:graphicFrame>
      <p:sp>
        <p:nvSpPr>
          <p:cNvPr id="11" name="矩形: 圆角 10">
            <a:extLst>
              <a:ext uri="{FF2B5EF4-FFF2-40B4-BE49-F238E27FC236}">
                <a16:creationId xmlns:a16="http://schemas.microsoft.com/office/drawing/2014/main" id="{FEA05588-FE62-2992-70C3-AB94B725C56B}"/>
              </a:ext>
            </a:extLst>
          </p:cNvPr>
          <p:cNvSpPr/>
          <p:nvPr/>
        </p:nvSpPr>
        <p:spPr>
          <a:xfrm>
            <a:off x="133564" y="3945276"/>
            <a:ext cx="7798086" cy="1027416"/>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形 2">
            <a:extLst>
              <a:ext uri="{FF2B5EF4-FFF2-40B4-BE49-F238E27FC236}">
                <a16:creationId xmlns:a16="http://schemas.microsoft.com/office/drawing/2014/main" id="{E0247AB2-8287-5F3E-E05E-2CCE45B9A60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18859" y="2756238"/>
            <a:ext cx="3908755" cy="2791806"/>
          </a:xfrm>
          <a:prstGeom prst="rect">
            <a:avLst/>
          </a:prstGeom>
        </p:spPr>
      </p:pic>
    </p:spTree>
    <p:extLst>
      <p:ext uri="{BB962C8B-B14F-4D97-AF65-F5344CB8AC3E}">
        <p14:creationId xmlns:p14="http://schemas.microsoft.com/office/powerpoint/2010/main" val="11331800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97730-FF6E-8898-4D84-558392A819A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90D0A8A-BD70-0B90-206E-101C0F2A8B00}"/>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实践案例：直播平台观众数预测</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CDF935EC-7C68-ACFA-0D1F-6C72929D41BC}"/>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一元线性回归实践案例：</a:t>
            </a:r>
            <a:r>
              <a:rPr lang="zh-CN" altLang="en-US" dirty="0">
                <a:solidFill>
                  <a:schemeClr val="tx1"/>
                </a:solidFill>
              </a:rPr>
              <a:t>统计检验</a:t>
            </a:r>
            <a:r>
              <a:rPr lang="en-US" altLang="zh-CN" dirty="0">
                <a:solidFill>
                  <a:schemeClr val="tx1"/>
                </a:solidFill>
              </a:rPr>
              <a:t>—t</a:t>
            </a:r>
            <a:r>
              <a:rPr lang="zh-CN" altLang="en-US" dirty="0">
                <a:solidFill>
                  <a:schemeClr val="tx1"/>
                </a:solidFill>
              </a:rPr>
              <a:t>检验</a:t>
            </a:r>
          </a:p>
        </p:txBody>
      </p:sp>
      <p:pic>
        <p:nvPicPr>
          <p:cNvPr id="4" name="图片 3">
            <a:extLst>
              <a:ext uri="{FF2B5EF4-FFF2-40B4-BE49-F238E27FC236}">
                <a16:creationId xmlns:a16="http://schemas.microsoft.com/office/drawing/2014/main" id="{6C4461DB-6693-AF5C-783E-CBD56D81C823}"/>
              </a:ext>
            </a:extLst>
          </p:cNvPr>
          <p:cNvPicPr>
            <a:picLocks noChangeAspect="1"/>
          </p:cNvPicPr>
          <p:nvPr/>
        </p:nvPicPr>
        <p:blipFill>
          <a:blip r:embed="rId3"/>
          <a:stretch>
            <a:fillRect/>
          </a:stretch>
        </p:blipFill>
        <p:spPr>
          <a:xfrm>
            <a:off x="133356" y="2137022"/>
            <a:ext cx="7486860" cy="4162103"/>
          </a:xfrm>
          <a:prstGeom prst="rect">
            <a:avLst/>
          </a:prstGeom>
        </p:spPr>
      </p:pic>
      <p:sp>
        <p:nvSpPr>
          <p:cNvPr id="11" name="矩形: 圆角 10">
            <a:extLst>
              <a:ext uri="{FF2B5EF4-FFF2-40B4-BE49-F238E27FC236}">
                <a16:creationId xmlns:a16="http://schemas.microsoft.com/office/drawing/2014/main" id="{2D30BEEE-A75F-3FC1-2CB8-0C268EB6126D}"/>
              </a:ext>
            </a:extLst>
          </p:cNvPr>
          <p:cNvSpPr/>
          <p:nvPr/>
        </p:nvSpPr>
        <p:spPr>
          <a:xfrm>
            <a:off x="3929306" y="4253498"/>
            <a:ext cx="1670112" cy="1027416"/>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圆角右 5">
            <a:extLst>
              <a:ext uri="{FF2B5EF4-FFF2-40B4-BE49-F238E27FC236}">
                <a16:creationId xmlns:a16="http://schemas.microsoft.com/office/drawing/2014/main" id="{CB4E956A-AD48-2AEC-28AC-E7A4909A6AC3}"/>
              </a:ext>
            </a:extLst>
          </p:cNvPr>
          <p:cNvSpPr/>
          <p:nvPr/>
        </p:nvSpPr>
        <p:spPr>
          <a:xfrm>
            <a:off x="5594845" y="3914451"/>
            <a:ext cx="2465795" cy="339047"/>
          </a:xfrm>
          <a:prstGeom prst="ben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39D19E9-86EC-B1DE-5649-01EC59858A52}"/>
                  </a:ext>
                </a:extLst>
              </p:cNvPr>
              <p:cNvSpPr txBox="1"/>
              <p:nvPr/>
            </p:nvSpPr>
            <p:spPr>
              <a:xfrm>
                <a:off x="8188712" y="2596797"/>
                <a:ext cx="3869932" cy="3539430"/>
              </a:xfrm>
              <a:prstGeom prst="rect">
                <a:avLst/>
              </a:prstGeom>
              <a:noFill/>
            </p:spPr>
            <p:txBody>
              <a:bodyPr wrap="square">
                <a:spAutoFit/>
              </a:bodyPr>
              <a:lstStyle/>
              <a:p>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回归系数的 </a:t>
                </a:r>
                <a:r>
                  <a:rPr lang="en-US"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t </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检验结果为 </a:t>
                </a:r>
                <a14:m>
                  <m:oMath xmlns:m="http://schemas.openxmlformats.org/officeDocument/2006/math">
                    <m:r>
                      <a:rPr lang="zh-CN" altLang="en-US"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𝝆</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𝟎</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𝟎𝟎𝟎</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&lt;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𝟎</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𝟎𝟓</m:t>
                    </m:r>
                  </m:oMath>
                </a14:m>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a:t>
                </a:r>
                <a:r>
                  <a:rPr lang="zh-CN" altLang="en-US" sz="28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拒绝原假设</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，认为回归系数显著不为</a:t>
                </a:r>
                <a:r>
                  <a:rPr lang="en-US"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0</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。这意味着回归系数的估计值不由随机误差解释，具有统计显著性和实际应用意义。</a:t>
                </a:r>
              </a:p>
            </p:txBody>
          </p:sp>
        </mc:Choice>
        <mc:Fallback xmlns="">
          <p:sp>
            <p:nvSpPr>
              <p:cNvPr id="7" name="文本框 6">
                <a:extLst>
                  <a:ext uri="{FF2B5EF4-FFF2-40B4-BE49-F238E27FC236}">
                    <a16:creationId xmlns:a16="http://schemas.microsoft.com/office/drawing/2014/main" id="{F39D19E9-86EC-B1DE-5649-01EC59858A52}"/>
                  </a:ext>
                </a:extLst>
              </p:cNvPr>
              <p:cNvSpPr txBox="1">
                <a:spLocks noRot="1" noChangeAspect="1" noMove="1" noResize="1" noEditPoints="1" noAdjustHandles="1" noChangeArrowheads="1" noChangeShapeType="1" noTextEdit="1"/>
              </p:cNvSpPr>
              <p:nvPr/>
            </p:nvSpPr>
            <p:spPr>
              <a:xfrm>
                <a:off x="8188712" y="2596797"/>
                <a:ext cx="3869932" cy="3539430"/>
              </a:xfrm>
              <a:prstGeom prst="rect">
                <a:avLst/>
              </a:prstGeom>
              <a:blipFill>
                <a:blip r:embed="rId4"/>
                <a:stretch>
                  <a:fillRect l="-3150" t="-2065" r="-12756" b="-37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372345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CF691-FCC6-B2BA-3656-B6BD1C981FA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D6234E5-037B-42C6-13A7-17D1789890EE}"/>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实践案例：直播平台观众数预测</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mc:AlternateContent xmlns:mc="http://schemas.openxmlformats.org/markup-compatibility/2006" xmlns:a14="http://schemas.microsoft.com/office/drawing/2010/main">
        <mc:Choice Requires="a14">
          <p:sp>
            <p:nvSpPr>
              <p:cNvPr id="2" name="TextBox 7">
                <a:extLst>
                  <a:ext uri="{FF2B5EF4-FFF2-40B4-BE49-F238E27FC236}">
                    <a16:creationId xmlns:a16="http://schemas.microsoft.com/office/drawing/2014/main" id="{EDAC5B07-1E5D-28E2-0CD0-4923162604B5}"/>
                  </a:ext>
                </a:extLst>
              </p:cNvPr>
              <p:cNvSpPr txBox="1"/>
              <p:nvPr/>
            </p:nvSpPr>
            <p:spPr>
              <a:xfrm>
                <a:off x="487017" y="1144455"/>
                <a:ext cx="9001000" cy="595932"/>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一元线性回归实践案例：</a:t>
                </a:r>
                <a:r>
                  <a:rPr lang="zh-CN" altLang="en-US" dirty="0">
                    <a:solidFill>
                      <a:schemeClr val="tx1"/>
                    </a:solidFill>
                  </a:rPr>
                  <a:t>统计检验</a:t>
                </a:r>
                <a:r>
                  <a:rPr lang="en-US" altLang="zh-CN" dirty="0">
                    <a:solidFill>
                      <a:schemeClr val="tx1"/>
                    </a:solidFill>
                  </a:rPr>
                  <a:t>—</a:t>
                </a:r>
                <a14:m>
                  <m:oMath xmlns:m="http://schemas.openxmlformats.org/officeDocument/2006/math">
                    <m:sSup>
                      <m:sSupPr>
                        <m:ctrlPr>
                          <a:rPr lang="en-US" altLang="zh-CN" sz="3200" b="1" i="1" spc="50" smtClean="0">
                            <a:ln w="11430">
                              <a:noFill/>
                            </a:ln>
                            <a:solidFill>
                              <a:schemeClr val="tx1"/>
                            </a:solidFill>
                            <a:latin typeface="Cambria Math" panose="02040503050406030204" pitchFamily="18" charset="0"/>
                            <a:ea typeface="微软雅黑" panose="020B0503020204020204" pitchFamily="34" charset="-122"/>
                            <a:cs typeface="Arial" panose="020B0604020202020204" pitchFamily="34" charset="0"/>
                          </a:rPr>
                        </m:ctrlPr>
                      </m:sSupPr>
                      <m:e>
                        <m:r>
                          <a:rPr lang="en-US" altLang="zh-CN" sz="3200" b="1" i="1" spc="50" smtClean="0">
                            <a:ln w="11430">
                              <a:noFill/>
                            </a:ln>
                            <a:solidFill>
                              <a:schemeClr val="tx1"/>
                            </a:solidFill>
                            <a:latin typeface="Cambria Math" panose="02040503050406030204" pitchFamily="18" charset="0"/>
                            <a:ea typeface="微软雅黑" panose="020B0503020204020204" pitchFamily="34" charset="-122"/>
                            <a:cs typeface="Arial" panose="020B0604020202020204" pitchFamily="34" charset="0"/>
                          </a:rPr>
                          <m:t>𝑹</m:t>
                        </m:r>
                      </m:e>
                      <m:sup>
                        <m:r>
                          <a:rPr lang="en-US" altLang="zh-CN" sz="3200" b="1" i="1" spc="50" smtClean="0">
                            <a:ln w="11430">
                              <a:noFill/>
                            </a:ln>
                            <a:solidFill>
                              <a:schemeClr val="tx1"/>
                            </a:solidFill>
                            <a:latin typeface="Cambria Math" panose="02040503050406030204" pitchFamily="18" charset="0"/>
                            <a:ea typeface="微软雅黑" panose="020B0503020204020204" pitchFamily="34" charset="-122"/>
                            <a:cs typeface="Arial" panose="020B0604020202020204" pitchFamily="34" charset="0"/>
                          </a:rPr>
                          <m:t>𝟐</m:t>
                        </m:r>
                      </m:sup>
                    </m:sSup>
                  </m:oMath>
                </a14:m>
                <a:endParaRPr lang="zh-CN" altLang="en-US" dirty="0">
                  <a:solidFill>
                    <a:schemeClr val="tx1"/>
                  </a:solidFill>
                </a:endParaRPr>
              </a:p>
            </p:txBody>
          </p:sp>
        </mc:Choice>
        <mc:Fallback xmlns="">
          <p:sp>
            <p:nvSpPr>
              <p:cNvPr id="2" name="TextBox 7">
                <a:extLst>
                  <a:ext uri="{FF2B5EF4-FFF2-40B4-BE49-F238E27FC236}">
                    <a16:creationId xmlns:a16="http://schemas.microsoft.com/office/drawing/2014/main" id="{EDAC5B07-1E5D-28E2-0CD0-4923162604B5}"/>
                  </a:ext>
                </a:extLst>
              </p:cNvPr>
              <p:cNvSpPr txBox="1">
                <a:spLocks noRot="1" noChangeAspect="1" noMove="1" noResize="1" noEditPoints="1" noAdjustHandles="1" noChangeArrowheads="1" noChangeShapeType="1" noTextEdit="1"/>
              </p:cNvSpPr>
              <p:nvPr/>
            </p:nvSpPr>
            <p:spPr>
              <a:xfrm>
                <a:off x="487017" y="1144455"/>
                <a:ext cx="9001000" cy="595932"/>
              </a:xfrm>
              <a:prstGeom prst="rect">
                <a:avLst/>
              </a:prstGeom>
              <a:blipFill>
                <a:blip r:embed="rId3"/>
                <a:stretch>
                  <a:fillRect b="-3093"/>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FE9BE60C-8138-079D-D700-6B39F93B3716}"/>
              </a:ext>
            </a:extLst>
          </p:cNvPr>
          <p:cNvPicPr>
            <a:picLocks noChangeAspect="1"/>
          </p:cNvPicPr>
          <p:nvPr/>
        </p:nvPicPr>
        <p:blipFill>
          <a:blip r:embed="rId4"/>
          <a:stretch>
            <a:fillRect/>
          </a:stretch>
        </p:blipFill>
        <p:spPr>
          <a:xfrm>
            <a:off x="133356" y="2137022"/>
            <a:ext cx="7486860" cy="4162103"/>
          </a:xfrm>
          <a:prstGeom prst="rect">
            <a:avLst/>
          </a:prstGeom>
        </p:spPr>
      </p:pic>
      <p:sp>
        <p:nvSpPr>
          <p:cNvPr id="5" name="矩形: 圆角 4">
            <a:extLst>
              <a:ext uri="{FF2B5EF4-FFF2-40B4-BE49-F238E27FC236}">
                <a16:creationId xmlns:a16="http://schemas.microsoft.com/office/drawing/2014/main" id="{26BB4443-DBA0-39DB-D814-6F4A3E922094}"/>
              </a:ext>
            </a:extLst>
          </p:cNvPr>
          <p:cNvSpPr/>
          <p:nvPr/>
        </p:nvSpPr>
        <p:spPr>
          <a:xfrm>
            <a:off x="4008624" y="2502805"/>
            <a:ext cx="3686721" cy="856842"/>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圆角右 5">
            <a:extLst>
              <a:ext uri="{FF2B5EF4-FFF2-40B4-BE49-F238E27FC236}">
                <a16:creationId xmlns:a16="http://schemas.microsoft.com/office/drawing/2014/main" id="{0D50CFEA-E4C5-E90E-4201-A730C6A2726F}"/>
              </a:ext>
            </a:extLst>
          </p:cNvPr>
          <p:cNvSpPr/>
          <p:nvPr/>
        </p:nvSpPr>
        <p:spPr>
          <a:xfrm flipV="1">
            <a:off x="5875526" y="3503942"/>
            <a:ext cx="2131036" cy="526994"/>
          </a:xfrm>
          <a:prstGeom prst="bentArrow">
            <a:avLst>
              <a:gd name="adj1" fmla="val 25000"/>
              <a:gd name="adj2" fmla="val 25000"/>
              <a:gd name="adj3" fmla="val 25000"/>
              <a:gd name="adj4" fmla="val 40720"/>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3CCDE1C-C922-4649-391B-26A84AC647DE}"/>
                  </a:ext>
                </a:extLst>
              </p:cNvPr>
              <p:cNvSpPr txBox="1"/>
              <p:nvPr/>
            </p:nvSpPr>
            <p:spPr>
              <a:xfrm>
                <a:off x="8010627" y="2931226"/>
                <a:ext cx="4048017" cy="26874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ctrlPr>
                        </m:sSupPr>
                        <m:e>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𝑹</m:t>
                          </m:r>
                        </m:e>
                        <m:sup>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𝟐</m:t>
                          </m:r>
                        </m:sup>
                      </m:sSup>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𝟎</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𝟖𝟗𝟔</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 </m:t>
                      </m:r>
                    </m:oMath>
                  </m:oMathPara>
                </a14:m>
                <a:endParaRPr lang="en-US" altLang="zh-CN" sz="2800" b="1" spc="50" dirty="0">
                  <a:ln w="11430">
                    <a:noFill/>
                  </a:ln>
                  <a:latin typeface="Arial" panose="020B0604020202020204" pitchFamily="34" charset="0"/>
                  <a:ea typeface="微软雅黑" panose="020B0503020204020204" pitchFamily="34" charset="-122"/>
                  <a:cs typeface="Arial" panose="020B0604020202020204" pitchFamily="34" charset="0"/>
                </a:endParaRPr>
              </a:p>
              <a:p>
                <a:pPr latinLnBrk="1"/>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说明自变量</a:t>
                </a:r>
                <a:r>
                  <a:rPr lang="en-US" altLang="zh-CN" sz="2800" b="1" spc="50" dirty="0" err="1">
                    <a:ln w="11430">
                      <a:noFill/>
                    </a:ln>
                    <a:latin typeface="Arial" panose="020B0604020202020204" pitchFamily="34" charset="0"/>
                    <a:ea typeface="微软雅黑" panose="020B0503020204020204" pitchFamily="34" charset="-122"/>
                    <a:cs typeface="Arial" panose="020B0604020202020204" pitchFamily="34" charset="0"/>
                  </a:rPr>
                  <a:t>streamers_count</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能够解释因变量</a:t>
                </a:r>
                <a:r>
                  <a:rPr lang="en-US" altLang="zh-CN" sz="2800" b="1" spc="50" dirty="0" err="1">
                    <a:ln w="11430">
                      <a:noFill/>
                    </a:ln>
                    <a:latin typeface="Arial" panose="020B0604020202020204" pitchFamily="34" charset="0"/>
                    <a:ea typeface="微软雅黑" panose="020B0503020204020204" pitchFamily="34" charset="-122"/>
                    <a:cs typeface="Arial" panose="020B0604020202020204" pitchFamily="34" charset="0"/>
                  </a:rPr>
                  <a:t>viewers_count</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的</a:t>
                </a:r>
                <a:r>
                  <a:rPr lang="en-US"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89.6%</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的变异程度，拟合效果较好</a:t>
                </a:r>
              </a:p>
            </p:txBody>
          </p:sp>
        </mc:Choice>
        <mc:Fallback xmlns="">
          <p:sp>
            <p:nvSpPr>
              <p:cNvPr id="7" name="文本框 6">
                <a:extLst>
                  <a:ext uri="{FF2B5EF4-FFF2-40B4-BE49-F238E27FC236}">
                    <a16:creationId xmlns:a16="http://schemas.microsoft.com/office/drawing/2014/main" id="{63CCDE1C-C922-4649-391B-26A84AC647DE}"/>
                  </a:ext>
                </a:extLst>
              </p:cNvPr>
              <p:cNvSpPr txBox="1">
                <a:spLocks noRot="1" noChangeAspect="1" noMove="1" noResize="1" noEditPoints="1" noAdjustHandles="1" noChangeArrowheads="1" noChangeShapeType="1" noTextEdit="1"/>
              </p:cNvSpPr>
              <p:nvPr/>
            </p:nvSpPr>
            <p:spPr>
              <a:xfrm>
                <a:off x="8010627" y="2931226"/>
                <a:ext cx="4048017" cy="2687402"/>
              </a:xfrm>
              <a:prstGeom prst="rect">
                <a:avLst/>
              </a:prstGeom>
              <a:blipFill>
                <a:blip r:embed="rId5"/>
                <a:stretch>
                  <a:fillRect l="-3012" r="-1958" b="-544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838673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6DA21-3298-99AA-AA36-B8DEDEF9898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27C0D21-E023-8DEB-3C41-B421205432AF}"/>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实践案例：直播平台观众数预测</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6B400976-ECA3-C73A-F902-35B6CF1D459A}"/>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一元线性回归实践案例：</a:t>
            </a:r>
            <a:r>
              <a:rPr lang="zh-CN" altLang="en-US" dirty="0">
                <a:solidFill>
                  <a:schemeClr val="tx1"/>
                </a:solidFill>
              </a:rPr>
              <a:t>统计检验</a:t>
            </a:r>
            <a:r>
              <a:rPr lang="en-US" altLang="zh-CN" dirty="0">
                <a:solidFill>
                  <a:schemeClr val="tx1"/>
                </a:solidFill>
              </a:rPr>
              <a:t>—F</a:t>
            </a:r>
            <a:r>
              <a:rPr lang="zh-CN" altLang="en-US" dirty="0">
                <a:solidFill>
                  <a:schemeClr val="tx1"/>
                </a:solidFill>
              </a:rPr>
              <a:t>检验</a:t>
            </a:r>
          </a:p>
        </p:txBody>
      </p:sp>
      <p:pic>
        <p:nvPicPr>
          <p:cNvPr id="4" name="图片 3">
            <a:extLst>
              <a:ext uri="{FF2B5EF4-FFF2-40B4-BE49-F238E27FC236}">
                <a16:creationId xmlns:a16="http://schemas.microsoft.com/office/drawing/2014/main" id="{5A114B2A-DA5D-C1C2-0550-04CF5DBE6984}"/>
              </a:ext>
            </a:extLst>
          </p:cNvPr>
          <p:cNvPicPr>
            <a:picLocks noChangeAspect="1"/>
          </p:cNvPicPr>
          <p:nvPr/>
        </p:nvPicPr>
        <p:blipFill>
          <a:blip r:embed="rId3"/>
          <a:stretch>
            <a:fillRect/>
          </a:stretch>
        </p:blipFill>
        <p:spPr>
          <a:xfrm>
            <a:off x="133356" y="2137022"/>
            <a:ext cx="7486860" cy="4162103"/>
          </a:xfrm>
          <a:prstGeom prst="rect">
            <a:avLst/>
          </a:prstGeom>
        </p:spPr>
      </p:pic>
      <p:sp>
        <p:nvSpPr>
          <p:cNvPr id="5" name="矩形: 圆角 4">
            <a:extLst>
              <a:ext uri="{FF2B5EF4-FFF2-40B4-BE49-F238E27FC236}">
                <a16:creationId xmlns:a16="http://schemas.microsoft.com/office/drawing/2014/main" id="{13A6E628-5712-F77D-E08A-A26E1C8C91F2}"/>
              </a:ext>
            </a:extLst>
          </p:cNvPr>
          <p:cNvSpPr/>
          <p:nvPr/>
        </p:nvSpPr>
        <p:spPr>
          <a:xfrm>
            <a:off x="4008624" y="2502805"/>
            <a:ext cx="3686721" cy="856842"/>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圆角右 5">
            <a:extLst>
              <a:ext uri="{FF2B5EF4-FFF2-40B4-BE49-F238E27FC236}">
                <a16:creationId xmlns:a16="http://schemas.microsoft.com/office/drawing/2014/main" id="{784FFFA7-0C4A-5295-4012-7E13B0946F4B}"/>
              </a:ext>
            </a:extLst>
          </p:cNvPr>
          <p:cNvSpPr/>
          <p:nvPr/>
        </p:nvSpPr>
        <p:spPr>
          <a:xfrm flipV="1">
            <a:off x="5875526" y="3503942"/>
            <a:ext cx="2131036" cy="526994"/>
          </a:xfrm>
          <a:prstGeom prst="bentArrow">
            <a:avLst>
              <a:gd name="adj1" fmla="val 25000"/>
              <a:gd name="adj2" fmla="val 25000"/>
              <a:gd name="adj3" fmla="val 25000"/>
              <a:gd name="adj4" fmla="val 40720"/>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BBAA7A3-7433-D499-A61E-767AF062D822}"/>
                  </a:ext>
                </a:extLst>
              </p:cNvPr>
              <p:cNvSpPr txBox="1"/>
              <p:nvPr/>
            </p:nvSpPr>
            <p:spPr>
              <a:xfrm>
                <a:off x="8010627" y="2920952"/>
                <a:ext cx="4266991" cy="3108543"/>
              </a:xfrm>
              <a:prstGeom prst="rect">
                <a:avLst/>
              </a:prstGeom>
              <a:noFill/>
            </p:spPr>
            <p:txBody>
              <a:bodyPr wrap="square">
                <a:spAutoFit/>
              </a:bodyPr>
              <a:lstStyle/>
              <a:p>
                <a:r>
                  <a:rPr lang="zh-CN" altLang="en-US" sz="2800" b="1" spc="50" dirty="0">
                    <a:ln w="11430">
                      <a:noFill/>
                    </a:ln>
                    <a:ea typeface="微软雅黑" panose="020B0503020204020204" pitchFamily="34" charset="-122"/>
                    <a:cs typeface="Arial" panose="020B0604020202020204" pitchFamily="34" charset="0"/>
                  </a:rPr>
                  <a:t>回归方程</a:t>
                </a:r>
                <a:r>
                  <a:rPr lang="en-US" altLang="zh-CN" sz="2800" b="1" spc="50" dirty="0">
                    <a:ln w="11430">
                      <a:noFill/>
                    </a:ln>
                    <a:ea typeface="微软雅黑" panose="020B0503020204020204" pitchFamily="34" charset="-122"/>
                    <a:cs typeface="Arial" panose="020B0604020202020204" pitchFamily="34" charset="0"/>
                  </a:rPr>
                  <a:t>F</a:t>
                </a:r>
                <a:r>
                  <a:rPr lang="zh-CN" altLang="en-US" sz="2800" b="1" spc="50" dirty="0">
                    <a:ln w="11430">
                      <a:noFill/>
                    </a:ln>
                    <a:ea typeface="微软雅黑" panose="020B0503020204020204" pitchFamily="34" charset="-122"/>
                    <a:cs typeface="Arial" panose="020B0604020202020204" pitchFamily="34" charset="0"/>
                  </a:rPr>
                  <a:t>检验结果为</a:t>
                </a:r>
                <a14:m>
                  <m:oMath xmlns:m="http://schemas.openxmlformats.org/officeDocument/2006/math">
                    <m:r>
                      <a:rPr lang="zh-CN" altLang="en-US"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𝝆</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𝟏</m:t>
                    </m:r>
                    <m:r>
                      <a:rPr lang="en-US" altLang="zh-CN" sz="2800" b="1" i="1" spc="5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𝟒𝟏</m:t>
                    </m:r>
                    <m:r>
                      <a:rPr lang="en-US" altLang="zh-CN" sz="2800" b="1" i="1" spc="5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𝒆</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𝟏𝟑𝟎</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&lt;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𝟎</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𝟎𝟓</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 </m:t>
                    </m:r>
                  </m:oMath>
                </a14:m>
                <a:endParaRPr lang="en-US" altLang="zh-CN" sz="2800" b="1" spc="50" dirty="0">
                  <a:ln w="11430">
                    <a:noFill/>
                  </a:ln>
                  <a:latin typeface="Arial" panose="020B0604020202020204" pitchFamily="34" charset="0"/>
                  <a:ea typeface="微软雅黑" panose="020B0503020204020204" pitchFamily="34" charset="-122"/>
                  <a:cs typeface="Arial" panose="020B0604020202020204" pitchFamily="34" charset="0"/>
                </a:endParaRPr>
              </a:p>
              <a:p>
                <a:pPr latinLnBrk="1"/>
                <a:r>
                  <a:rPr lang="zh-CN" altLang="en-US" sz="28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拒绝原假设</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，认为回归方程整体显著。这意味着回归模型中的主播数量与观众数量之间存在显著的线性关系。</a:t>
                </a:r>
              </a:p>
            </p:txBody>
          </p:sp>
        </mc:Choice>
        <mc:Fallback xmlns="">
          <p:sp>
            <p:nvSpPr>
              <p:cNvPr id="7" name="文本框 6">
                <a:extLst>
                  <a:ext uri="{FF2B5EF4-FFF2-40B4-BE49-F238E27FC236}">
                    <a16:creationId xmlns:a16="http://schemas.microsoft.com/office/drawing/2014/main" id="{2BBAA7A3-7433-D499-A61E-767AF062D822}"/>
                  </a:ext>
                </a:extLst>
              </p:cNvPr>
              <p:cNvSpPr txBox="1">
                <a:spLocks noRot="1" noChangeAspect="1" noMove="1" noResize="1" noEditPoints="1" noAdjustHandles="1" noChangeArrowheads="1" noChangeShapeType="1" noTextEdit="1"/>
              </p:cNvSpPr>
              <p:nvPr/>
            </p:nvSpPr>
            <p:spPr>
              <a:xfrm>
                <a:off x="8010627" y="2920952"/>
                <a:ext cx="4266991" cy="3108543"/>
              </a:xfrm>
              <a:prstGeom prst="rect">
                <a:avLst/>
              </a:prstGeom>
              <a:blipFill>
                <a:blip r:embed="rId4"/>
                <a:stretch>
                  <a:fillRect l="-2857" t="-2157" b="-45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9860577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2F50A-73BC-5166-0FD5-21D561DE0BAB}"/>
            </a:ext>
          </a:extLst>
        </p:cNvPr>
        <p:cNvGrpSpPr/>
        <p:nvPr/>
      </p:nvGrpSpPr>
      <p:grpSpPr>
        <a:xfrm>
          <a:off x="0" y="0"/>
          <a:ext cx="0" cy="0"/>
          <a:chOff x="0" y="0"/>
          <a:chExt cx="0" cy="0"/>
        </a:xfrm>
      </p:grpSpPr>
      <p:sp>
        <p:nvSpPr>
          <p:cNvPr id="23" name="Text Box 7">
            <a:extLst>
              <a:ext uri="{FF2B5EF4-FFF2-40B4-BE49-F238E27FC236}">
                <a16:creationId xmlns:a16="http://schemas.microsoft.com/office/drawing/2014/main" id="{5525AA7A-255A-42CE-BF38-5583E235A10C}"/>
              </a:ext>
            </a:extLst>
          </p:cNvPr>
          <p:cNvSpPr txBox="1">
            <a:spLocks noChangeArrowheads="1"/>
          </p:cNvSpPr>
          <p:nvPr/>
        </p:nvSpPr>
        <p:spPr bwMode="auto">
          <a:xfrm>
            <a:off x="3489906" y="2381085"/>
            <a:ext cx="62927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zh-CN"/>
            </a:defPPr>
            <a:lvl1pPr algn="ctr">
              <a:buClr>
                <a:srgbClr val="002060"/>
              </a:buClr>
              <a:buSzPct val="105000"/>
              <a:defRPr sz="4400" b="1">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defRPr>
            </a:lvl1pPr>
            <a:lvl2pPr marL="742950" indent="-285750" eaLnBrk="0" hangingPunct="0">
              <a:defRPr sz="2400">
                <a:latin typeface="Arial" panose="020B0604020202020204" pitchFamily="34" charset="0"/>
                <a:ea typeface="宋体" panose="02010600030101010101" pitchFamily="2" charset="-122"/>
              </a:defRPr>
            </a:lvl2pPr>
            <a:lvl3pPr marL="1143000" indent="-228600" eaLnBrk="0" hangingPunct="0">
              <a:defRPr sz="2400">
                <a:latin typeface="Arial" panose="020B0604020202020204" pitchFamily="34" charset="0"/>
                <a:ea typeface="宋体" panose="02010600030101010101" pitchFamily="2" charset="-122"/>
              </a:defRPr>
            </a:lvl3pPr>
            <a:lvl4pPr marL="1600200" indent="-228600" eaLnBrk="0" hangingPunct="0">
              <a:defRPr sz="2400">
                <a:latin typeface="Arial" panose="020B0604020202020204" pitchFamily="34" charset="0"/>
                <a:ea typeface="宋体" panose="02010600030101010101" pitchFamily="2" charset="-122"/>
              </a:defRPr>
            </a:lvl4pPr>
            <a:lvl5pPr marL="2057400" indent="-228600" eaLnBrk="0" hangingPunct="0">
              <a:defRPr sz="2400">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dirty="0">
                <a:solidFill>
                  <a:srgbClr val="0084CF"/>
                </a:solidFill>
              </a:rPr>
              <a:t>一元线性回归</a:t>
            </a:r>
          </a:p>
        </p:txBody>
      </p:sp>
      <p:sp>
        <p:nvSpPr>
          <p:cNvPr id="26" name="矩形 33">
            <a:extLst>
              <a:ext uri="{FF2B5EF4-FFF2-40B4-BE49-F238E27FC236}">
                <a16:creationId xmlns:a16="http://schemas.microsoft.com/office/drawing/2014/main" id="{BB622B10-6ED3-8EF7-4D72-D2A1107186CB}"/>
              </a:ext>
            </a:extLst>
          </p:cNvPr>
          <p:cNvSpPr/>
          <p:nvPr/>
        </p:nvSpPr>
        <p:spPr>
          <a:xfrm>
            <a:off x="2306212" y="2219655"/>
            <a:ext cx="997725" cy="938442"/>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7" name="矩形 34">
            <a:extLst>
              <a:ext uri="{FF2B5EF4-FFF2-40B4-BE49-F238E27FC236}">
                <a16:creationId xmlns:a16="http://schemas.microsoft.com/office/drawing/2014/main" id="{155DB199-3F09-8515-2AAB-0A60C8C6AEDA}"/>
              </a:ext>
            </a:extLst>
          </p:cNvPr>
          <p:cNvSpPr/>
          <p:nvPr/>
        </p:nvSpPr>
        <p:spPr>
          <a:xfrm>
            <a:off x="2396223" y="2304318"/>
            <a:ext cx="817703" cy="76911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rPr>
              <a:t>01</a:t>
            </a:r>
            <a:endParaRPr lang="zh-CN" altLang="en-US" sz="3600" dirty="0">
              <a:solidFill>
                <a:prstClr val="white"/>
              </a:solidFill>
              <a:latin typeface="Impact" panose="020B0806030902050204" pitchFamily="34" charset="0"/>
              <a:ea typeface="等线" panose="02010600030101010101" pitchFamily="2" charset="-122"/>
            </a:endParaRPr>
          </a:p>
        </p:txBody>
      </p:sp>
      <p:cxnSp>
        <p:nvCxnSpPr>
          <p:cNvPr id="25" name="直接连接符 5">
            <a:extLst>
              <a:ext uri="{FF2B5EF4-FFF2-40B4-BE49-F238E27FC236}">
                <a16:creationId xmlns:a16="http://schemas.microsoft.com/office/drawing/2014/main" id="{66C1E075-6872-B736-F1D5-BCD33F1418E0}"/>
              </a:ext>
            </a:extLst>
          </p:cNvPr>
          <p:cNvCxnSpPr>
            <a:stCxn id="26" idx="2"/>
          </p:cNvCxnSpPr>
          <p:nvPr/>
        </p:nvCxnSpPr>
        <p:spPr>
          <a:xfrm>
            <a:off x="2805074" y="3158097"/>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nvGrpSpPr>
          <p:cNvPr id="5" name="组合 9">
            <a:extLst>
              <a:ext uri="{FF2B5EF4-FFF2-40B4-BE49-F238E27FC236}">
                <a16:creationId xmlns:a16="http://schemas.microsoft.com/office/drawing/2014/main" id="{6284B902-6BB6-53EF-9C44-34E99E463310}"/>
              </a:ext>
            </a:extLst>
          </p:cNvPr>
          <p:cNvGrpSpPr/>
          <p:nvPr/>
        </p:nvGrpSpPr>
        <p:grpSpPr>
          <a:xfrm>
            <a:off x="2306212" y="3362629"/>
            <a:ext cx="7579576" cy="938442"/>
            <a:chOff x="2734890" y="3810985"/>
            <a:chExt cx="7430257" cy="978068"/>
          </a:xfrm>
        </p:grpSpPr>
        <p:grpSp>
          <p:nvGrpSpPr>
            <p:cNvPr id="17" name="组合 26">
              <a:extLst>
                <a:ext uri="{FF2B5EF4-FFF2-40B4-BE49-F238E27FC236}">
                  <a16:creationId xmlns:a16="http://schemas.microsoft.com/office/drawing/2014/main" id="{A6B67277-F1CC-B79E-9F14-CD4CED423A94}"/>
                </a:ext>
              </a:extLst>
            </p:cNvPr>
            <p:cNvGrpSpPr/>
            <p:nvPr/>
          </p:nvGrpSpPr>
          <p:grpSpPr>
            <a:xfrm>
              <a:off x="2734890" y="3810985"/>
              <a:ext cx="7357638" cy="978068"/>
              <a:chOff x="3382706" y="3231661"/>
              <a:chExt cx="7357638" cy="978068"/>
            </a:xfrm>
          </p:grpSpPr>
          <p:sp>
            <p:nvSpPr>
              <p:cNvPr id="19" name="Text Box 7">
                <a:extLst>
                  <a:ext uri="{FF2B5EF4-FFF2-40B4-BE49-F238E27FC236}">
                    <a16:creationId xmlns:a16="http://schemas.microsoft.com/office/drawing/2014/main" id="{86DE030C-A908-35E5-683C-69A294F4CCE6}"/>
                  </a:ext>
                </a:extLst>
              </p:cNvPr>
              <p:cNvSpPr txBox="1">
                <a:spLocks noChangeArrowheads="1"/>
              </p:cNvSpPr>
              <p:nvPr/>
            </p:nvSpPr>
            <p:spPr bwMode="auto">
              <a:xfrm>
                <a:off x="4543081" y="3399907"/>
                <a:ext cx="6197263"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rPr>
                  <a:t>一元线性回归实践案例</a:t>
                </a:r>
              </a:p>
            </p:txBody>
          </p:sp>
          <p:grpSp>
            <p:nvGrpSpPr>
              <p:cNvPr id="20" name="组合 12">
                <a:extLst>
                  <a:ext uri="{FF2B5EF4-FFF2-40B4-BE49-F238E27FC236}">
                    <a16:creationId xmlns:a16="http://schemas.microsoft.com/office/drawing/2014/main" id="{DE704110-CC67-A480-F37F-54CA3758FF8B}"/>
                  </a:ext>
                </a:extLst>
              </p:cNvPr>
              <p:cNvGrpSpPr/>
              <p:nvPr/>
            </p:nvGrpSpPr>
            <p:grpSpPr>
              <a:xfrm>
                <a:off x="3382706" y="3231661"/>
                <a:ext cx="978070" cy="978068"/>
                <a:chOff x="2051720" y="1381964"/>
                <a:chExt cx="1152128" cy="1152128"/>
              </a:xfrm>
            </p:grpSpPr>
            <p:sp>
              <p:nvSpPr>
                <p:cNvPr id="21" name="矩形 29">
                  <a:extLst>
                    <a:ext uri="{FF2B5EF4-FFF2-40B4-BE49-F238E27FC236}">
                      <a16:creationId xmlns:a16="http://schemas.microsoft.com/office/drawing/2014/main" id="{90B9B1CC-F124-9D6A-E50D-E239292BEDA7}"/>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2" name="矩形 30">
                  <a:extLst>
                    <a:ext uri="{FF2B5EF4-FFF2-40B4-BE49-F238E27FC236}">
                      <a16:creationId xmlns:a16="http://schemas.microsoft.com/office/drawing/2014/main" id="{ABCF8960-0F5B-F153-2838-CD3B0F02477E}"/>
                    </a:ext>
                  </a:extLst>
                </p:cNvPr>
                <p:cNvSpPr/>
                <p:nvPr/>
              </p:nvSpPr>
              <p:spPr>
                <a:xfrm>
                  <a:off x="2155661" y="1485905"/>
                  <a:ext cx="944247" cy="94424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02</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grpSp>
        </p:grpSp>
        <p:cxnSp>
          <p:nvCxnSpPr>
            <p:cNvPr id="18" name="直接连接符 43">
              <a:extLst>
                <a:ext uri="{FF2B5EF4-FFF2-40B4-BE49-F238E27FC236}">
                  <a16:creationId xmlns:a16="http://schemas.microsoft.com/office/drawing/2014/main" id="{C19ABCA1-42FD-C04C-03F5-CA956C08E98B}"/>
                </a:ext>
              </a:extLst>
            </p:cNvPr>
            <p:cNvCxnSpPr>
              <a:stCxn id="21" idx="2"/>
            </p:cNvCxnSpPr>
            <p:nvPr/>
          </p:nvCxnSpPr>
          <p:spPr>
            <a:xfrm>
              <a:off x="3223924" y="4789053"/>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sp>
        <p:nvSpPr>
          <p:cNvPr id="13" name="Text Box 7">
            <a:extLst>
              <a:ext uri="{FF2B5EF4-FFF2-40B4-BE49-F238E27FC236}">
                <a16:creationId xmlns:a16="http://schemas.microsoft.com/office/drawing/2014/main" id="{282DAA20-28C3-2275-D487-765160654648}"/>
              </a:ext>
            </a:extLst>
          </p:cNvPr>
          <p:cNvSpPr txBox="1">
            <a:spLocks noChangeArrowheads="1"/>
          </p:cNvSpPr>
          <p:nvPr/>
        </p:nvSpPr>
        <p:spPr bwMode="auto">
          <a:xfrm>
            <a:off x="3489906" y="4667033"/>
            <a:ext cx="62927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Clr>
                <a:srgbClr val="002060"/>
              </a:buClr>
              <a:buSzPct val="105000"/>
              <a:defRPr/>
            </a:pPr>
            <a:r>
              <a:rPr lang="zh-CN" altLang="en-US" sz="4000" b="1" dirty="0">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rPr>
              <a:t>多元线性回归</a:t>
            </a:r>
          </a:p>
        </p:txBody>
      </p:sp>
      <p:sp>
        <p:nvSpPr>
          <p:cNvPr id="15" name="矩形 41">
            <a:extLst>
              <a:ext uri="{FF2B5EF4-FFF2-40B4-BE49-F238E27FC236}">
                <a16:creationId xmlns:a16="http://schemas.microsoft.com/office/drawing/2014/main" id="{EE41C663-3773-B9E5-3C1B-B7D5441A8D78}"/>
              </a:ext>
            </a:extLst>
          </p:cNvPr>
          <p:cNvSpPr/>
          <p:nvPr/>
        </p:nvSpPr>
        <p:spPr>
          <a:xfrm>
            <a:off x="2306212" y="4505603"/>
            <a:ext cx="997725" cy="938442"/>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sng"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 name="矩形 42">
            <a:extLst>
              <a:ext uri="{FF2B5EF4-FFF2-40B4-BE49-F238E27FC236}">
                <a16:creationId xmlns:a16="http://schemas.microsoft.com/office/drawing/2014/main" id="{75AB0C6C-E6BD-54F2-367C-979023FE6DD0}"/>
              </a:ext>
            </a:extLst>
          </p:cNvPr>
          <p:cNvSpPr/>
          <p:nvPr/>
        </p:nvSpPr>
        <p:spPr>
          <a:xfrm>
            <a:off x="2396223" y="4590266"/>
            <a:ext cx="817703" cy="769116"/>
          </a:xfrm>
          <a:prstGeom prst="rect">
            <a:avLst/>
          </a:prstGeom>
          <a:gradFill>
            <a:gsLst>
              <a:gs pos="417">
                <a:srgbClr val="FFC000"/>
              </a:gs>
              <a:gs pos="99000">
                <a:srgbClr val="C00000"/>
              </a:gs>
            </a:gsLst>
            <a:lin ang="2700000" scaled="0"/>
          </a:gradFill>
          <a:ln w="1270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prstClr val="white"/>
                </a:solidFill>
                <a:latin typeface="Impact" panose="020B0806030902050204" pitchFamily="34" charset="0"/>
                <a:ea typeface="等线" panose="02010600030101010101" pitchFamily="2" charset="-122"/>
              </a:rPr>
              <a:t>03</a:t>
            </a:r>
            <a:endParaRPr lang="zh-CN" altLang="en-US" sz="3600" dirty="0">
              <a:solidFill>
                <a:prstClr val="white"/>
              </a:solidFill>
              <a:latin typeface="Impact" panose="020B0806030902050204" pitchFamily="34" charset="0"/>
              <a:ea typeface="等线" panose="02010600030101010101" pitchFamily="2" charset="-122"/>
            </a:endParaRPr>
          </a:p>
        </p:txBody>
      </p:sp>
      <p:cxnSp>
        <p:nvCxnSpPr>
          <p:cNvPr id="12" name="直接连接符 45">
            <a:extLst>
              <a:ext uri="{FF2B5EF4-FFF2-40B4-BE49-F238E27FC236}">
                <a16:creationId xmlns:a16="http://schemas.microsoft.com/office/drawing/2014/main" id="{E3D5C200-E83B-7BFC-BE5A-5C1F42B4371C}"/>
              </a:ext>
            </a:extLst>
          </p:cNvPr>
          <p:cNvCxnSpPr>
            <a:stCxn id="15" idx="2"/>
          </p:cNvCxnSpPr>
          <p:nvPr/>
        </p:nvCxnSpPr>
        <p:spPr>
          <a:xfrm>
            <a:off x="2805074" y="5444045"/>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F44D077B-9F4B-05E7-4597-DE7027590386}"/>
              </a:ext>
            </a:extLst>
          </p:cNvPr>
          <p:cNvSpPr txBox="1">
            <a:spLocks/>
          </p:cNvSpPr>
          <p:nvPr/>
        </p:nvSpPr>
        <p:spPr>
          <a:xfrm>
            <a:off x="1371600" y="419621"/>
            <a:ext cx="9448800" cy="133989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r>
              <a:rPr lang="zh-CN" altLang="en-US" b="0" dirty="0">
                <a:solidFill>
                  <a:srgbClr val="FD5C0C"/>
                </a:solidFill>
                <a:effectLst/>
                <a:latin typeface="华光综艺_CNKI" panose="02000500000000000000" pitchFamily="2" charset="-122"/>
                <a:ea typeface="华光综艺_CNKI" panose="02000500000000000000" pitchFamily="2" charset="-122"/>
              </a:rPr>
              <a:t>汇报提纲</a:t>
            </a:r>
            <a:endParaRPr lang="en-US" b="0" dirty="0">
              <a:solidFill>
                <a:schemeClr val="bg1"/>
              </a:solidFill>
              <a:effectLst/>
              <a:latin typeface="华光综艺_CNKI" panose="02000500000000000000" pitchFamily="2" charset="-122"/>
              <a:ea typeface="华光综艺_CNKI" panose="02000500000000000000" pitchFamily="2" charset="-122"/>
            </a:endParaRPr>
          </a:p>
        </p:txBody>
      </p:sp>
      <p:pic>
        <p:nvPicPr>
          <p:cNvPr id="3" name="Picture 2" descr="A logo with dots and lines&#10;&#10;Description automatically generated">
            <a:extLst>
              <a:ext uri="{FF2B5EF4-FFF2-40B4-BE49-F238E27FC236}">
                <a16:creationId xmlns:a16="http://schemas.microsoft.com/office/drawing/2014/main" id="{ED0724ED-5D8C-ADA0-342D-4586703CE43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p:blipFill>
        <p:spPr>
          <a:xfrm>
            <a:off x="11471423" y="93711"/>
            <a:ext cx="588328" cy="453368"/>
          </a:xfrm>
          <a:prstGeom prst="rect">
            <a:avLst/>
          </a:prstGeom>
        </p:spPr>
      </p:pic>
      <p:grpSp>
        <p:nvGrpSpPr>
          <p:cNvPr id="31" name="组合 10">
            <a:extLst>
              <a:ext uri="{FF2B5EF4-FFF2-40B4-BE49-F238E27FC236}">
                <a16:creationId xmlns:a16="http://schemas.microsoft.com/office/drawing/2014/main" id="{DFA1B036-8C51-1748-F87A-F2FA37AA64A8}"/>
              </a:ext>
            </a:extLst>
          </p:cNvPr>
          <p:cNvGrpSpPr/>
          <p:nvPr/>
        </p:nvGrpSpPr>
        <p:grpSpPr>
          <a:xfrm>
            <a:off x="2335267" y="5648576"/>
            <a:ext cx="7579576" cy="938442"/>
            <a:chOff x="2734890" y="5002222"/>
            <a:chExt cx="7430257" cy="978068"/>
          </a:xfrm>
        </p:grpSpPr>
        <p:grpSp>
          <p:nvGrpSpPr>
            <p:cNvPr id="32" name="组合 35">
              <a:extLst>
                <a:ext uri="{FF2B5EF4-FFF2-40B4-BE49-F238E27FC236}">
                  <a16:creationId xmlns:a16="http://schemas.microsoft.com/office/drawing/2014/main" id="{899DBCC2-1696-92E4-ECD2-FD7AD2D56BC9}"/>
                </a:ext>
              </a:extLst>
            </p:cNvPr>
            <p:cNvGrpSpPr/>
            <p:nvPr/>
          </p:nvGrpSpPr>
          <p:grpSpPr>
            <a:xfrm>
              <a:off x="2734890" y="5002222"/>
              <a:ext cx="7329156" cy="978068"/>
              <a:chOff x="3382706" y="3231661"/>
              <a:chExt cx="7329156" cy="978068"/>
            </a:xfrm>
          </p:grpSpPr>
          <p:sp>
            <p:nvSpPr>
              <p:cNvPr id="34" name="Text Box 7">
                <a:extLst>
                  <a:ext uri="{FF2B5EF4-FFF2-40B4-BE49-F238E27FC236}">
                    <a16:creationId xmlns:a16="http://schemas.microsoft.com/office/drawing/2014/main" id="{EB85C14A-E134-E30F-16C0-4219414AB3E5}"/>
                  </a:ext>
                </a:extLst>
              </p:cNvPr>
              <p:cNvSpPr txBox="1">
                <a:spLocks noChangeArrowheads="1"/>
              </p:cNvSpPr>
              <p:nvPr/>
            </p:nvSpPr>
            <p:spPr bwMode="auto">
              <a:xfrm>
                <a:off x="4543081" y="3399907"/>
                <a:ext cx="6168781"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b="1" dirty="0">
                    <a:solidFill>
                      <a:srgbClr val="0084CF"/>
                    </a:solidFill>
                    <a:latin typeface="微软雅黑" panose="020B0503020204020204" pitchFamily="34" charset="-122"/>
                    <a:ea typeface="微软雅黑" panose="020B0503020204020204" pitchFamily="34" charset="-122"/>
                  </a:rPr>
                  <a:t>多元线性回归实践案例</a:t>
                </a:r>
                <a:endPar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endParaRPr>
              </a:p>
            </p:txBody>
          </p:sp>
          <p:grpSp>
            <p:nvGrpSpPr>
              <p:cNvPr id="35" name="组合 12">
                <a:extLst>
                  <a:ext uri="{FF2B5EF4-FFF2-40B4-BE49-F238E27FC236}">
                    <a16:creationId xmlns:a16="http://schemas.microsoft.com/office/drawing/2014/main" id="{77AAB3C8-A589-FE2F-FF97-6424C1AB6DF6}"/>
                  </a:ext>
                </a:extLst>
              </p:cNvPr>
              <p:cNvGrpSpPr/>
              <p:nvPr/>
            </p:nvGrpSpPr>
            <p:grpSpPr>
              <a:xfrm>
                <a:off x="3382706" y="3231661"/>
                <a:ext cx="978070" cy="978068"/>
                <a:chOff x="2051720" y="1381964"/>
                <a:chExt cx="1152128" cy="1152128"/>
              </a:xfrm>
            </p:grpSpPr>
            <p:sp>
              <p:nvSpPr>
                <p:cNvPr id="36" name="矩形 41">
                  <a:extLst>
                    <a:ext uri="{FF2B5EF4-FFF2-40B4-BE49-F238E27FC236}">
                      <a16:creationId xmlns:a16="http://schemas.microsoft.com/office/drawing/2014/main" id="{2EAE79D3-F7BB-D747-A8D7-0C76AE34AEF8}"/>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sng"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8" name="矩形 42">
                  <a:extLst>
                    <a:ext uri="{FF2B5EF4-FFF2-40B4-BE49-F238E27FC236}">
                      <a16:creationId xmlns:a16="http://schemas.microsoft.com/office/drawing/2014/main" id="{35616FB7-CEC9-CF92-9A26-B088122A0240}"/>
                    </a:ext>
                  </a:extLst>
                </p:cNvPr>
                <p:cNvSpPr/>
                <p:nvPr/>
              </p:nvSpPr>
              <p:spPr>
                <a:xfrm>
                  <a:off x="2155661" y="1485905"/>
                  <a:ext cx="944247" cy="94424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04</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grpSp>
        </p:grpSp>
        <p:cxnSp>
          <p:nvCxnSpPr>
            <p:cNvPr id="33" name="直接连接符 45">
              <a:extLst>
                <a:ext uri="{FF2B5EF4-FFF2-40B4-BE49-F238E27FC236}">
                  <a16:creationId xmlns:a16="http://schemas.microsoft.com/office/drawing/2014/main" id="{ACF7F674-2FDF-C182-A3F5-30E88B285583}"/>
                </a:ext>
              </a:extLst>
            </p:cNvPr>
            <p:cNvCxnSpPr>
              <a:stCxn id="36" idx="2"/>
            </p:cNvCxnSpPr>
            <p:nvPr/>
          </p:nvCxnSpPr>
          <p:spPr>
            <a:xfrm>
              <a:off x="3223924" y="5980290"/>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23457163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7222B-9D38-D623-B153-CBD3DCF947C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522B18C-70BA-FFA5-1521-6B670D085E7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8949DEF5-6AB8-821E-1490-4D8B6C87F195}"/>
              </a:ext>
            </a:extLst>
          </p:cNvPr>
          <p:cNvSpPr txBox="1"/>
          <p:nvPr/>
        </p:nvSpPr>
        <p:spPr>
          <a:xfrm>
            <a:off x="425372" y="1062440"/>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a:t>
            </a:r>
            <a:endParaRPr lang="zh-CN" altLang="en-US" dirty="0">
              <a:solidFill>
                <a:schemeClr val="tx1"/>
              </a:solidFill>
            </a:endParaRPr>
          </a:p>
        </p:txBody>
      </p:sp>
      <p:sp>
        <p:nvSpPr>
          <p:cNvPr id="12" name="内容占位符 2">
            <a:extLst>
              <a:ext uri="{FF2B5EF4-FFF2-40B4-BE49-F238E27FC236}">
                <a16:creationId xmlns:a16="http://schemas.microsoft.com/office/drawing/2014/main" id="{565AD8A0-EF5D-76F7-1A77-58DE2ECD7421}"/>
              </a:ext>
            </a:extLst>
          </p:cNvPr>
          <p:cNvSpPr txBox="1">
            <a:spLocks/>
          </p:cNvSpPr>
          <p:nvPr/>
        </p:nvSpPr>
        <p:spPr>
          <a:xfrm>
            <a:off x="323258" y="1812315"/>
            <a:ext cx="11734800" cy="452596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家庭书刊消费水平</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(y)</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与家庭收入</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(x1)</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、户主受教育年数</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(x2)</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之间的关系</a:t>
            </a: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p:pic>
        <p:nvPicPr>
          <p:cNvPr id="13" name="图片 12">
            <a:extLst>
              <a:ext uri="{FF2B5EF4-FFF2-40B4-BE49-F238E27FC236}">
                <a16:creationId xmlns:a16="http://schemas.microsoft.com/office/drawing/2014/main" id="{CD8A17F6-82E8-8D83-A7E3-74B1EB672344}"/>
              </a:ext>
            </a:extLst>
          </p:cNvPr>
          <p:cNvPicPr>
            <a:picLocks noChangeAspect="1"/>
          </p:cNvPicPr>
          <p:nvPr/>
        </p:nvPicPr>
        <p:blipFill>
          <a:blip r:embed="rId3"/>
          <a:stretch>
            <a:fillRect/>
          </a:stretch>
        </p:blipFill>
        <p:spPr>
          <a:xfrm>
            <a:off x="1690255" y="2799100"/>
            <a:ext cx="2952328" cy="3704278"/>
          </a:xfrm>
          <a:prstGeom prst="rect">
            <a:avLst/>
          </a:prstGeom>
        </p:spPr>
      </p:pic>
      <p:pic>
        <p:nvPicPr>
          <p:cNvPr id="16" name="图片 15">
            <a:extLst>
              <a:ext uri="{FF2B5EF4-FFF2-40B4-BE49-F238E27FC236}">
                <a16:creationId xmlns:a16="http://schemas.microsoft.com/office/drawing/2014/main" id="{0AA8105B-D500-D685-6458-C2F8407A6803}"/>
              </a:ext>
            </a:extLst>
          </p:cNvPr>
          <p:cNvPicPr>
            <a:picLocks noChangeAspect="1"/>
          </p:cNvPicPr>
          <p:nvPr/>
        </p:nvPicPr>
        <p:blipFill>
          <a:blip r:embed="rId4"/>
          <a:stretch>
            <a:fillRect/>
          </a:stretch>
        </p:blipFill>
        <p:spPr>
          <a:xfrm>
            <a:off x="5490337" y="2845260"/>
            <a:ext cx="4507780" cy="3611957"/>
          </a:xfrm>
          <a:prstGeom prst="rect">
            <a:avLst/>
          </a:prstGeom>
        </p:spPr>
      </p:pic>
    </p:spTree>
    <p:extLst>
      <p:ext uri="{BB962C8B-B14F-4D97-AF65-F5344CB8AC3E}">
        <p14:creationId xmlns:p14="http://schemas.microsoft.com/office/powerpoint/2010/main" val="40765960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E0C8A-44C0-9FC8-9645-858CAD70EDA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65BA3740-58C1-5BE6-6A8D-37A3E40E8F36}"/>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2E101CD1-3B42-4FEC-57AE-623034DEDB6D}"/>
              </a:ext>
            </a:extLst>
          </p:cNvPr>
          <p:cNvSpPr txBox="1"/>
          <p:nvPr/>
        </p:nvSpPr>
        <p:spPr>
          <a:xfrm>
            <a:off x="425372" y="1062440"/>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E5E163BE-8E69-2FB6-4F32-00E33BAFD49E}"/>
                  </a:ext>
                </a:extLst>
              </p:cNvPr>
              <p:cNvSpPr txBox="1">
                <a:spLocks/>
              </p:cNvSpPr>
              <p:nvPr/>
            </p:nvSpPr>
            <p:spPr>
              <a:xfrm>
                <a:off x="425372" y="1952836"/>
                <a:ext cx="11734800" cy="452596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家庭书刊消费水平</a:t>
                </a:r>
                <a:r>
                  <a:rPr kumimoji="0" lang="en-US" altLang="zh-CN"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(y)</a:t>
                </a:r>
                <a:r>
                  <a:rPr kumimoji="0" lang="zh-CN" altLang="en-US"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与家庭收入</a:t>
                </a:r>
                <a:r>
                  <a:rPr kumimoji="0" lang="en-US" altLang="zh-CN"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(x1)</a:t>
                </a:r>
                <a:r>
                  <a:rPr kumimoji="0" lang="zh-CN" altLang="en-US"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、户主受教育年数</a:t>
                </a:r>
                <a:r>
                  <a:rPr kumimoji="0" lang="en-US" altLang="zh-CN"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(x2)</a:t>
                </a:r>
                <a:r>
                  <a:rPr kumimoji="0" lang="zh-CN" altLang="en-US"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之间的关系</a:t>
                </a:r>
                <a:endParaRPr kumimoji="0" lang="en-US" altLang="zh-CN"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0" marR="0" lvl="0" indent="0" algn="l" defTabSz="914400" rtl="0" eaLnBrk="1" fontAlgn="auto" latinLnBrk="0" hangingPunct="1">
                  <a:lnSpc>
                    <a:spcPct val="125000"/>
                  </a:lnSpc>
                  <a:spcBef>
                    <a:spcPct val="20000"/>
                  </a:spcBef>
                  <a:spcAft>
                    <a:spcPts val="0"/>
                  </a:spcAft>
                  <a:buClrTx/>
                  <a:buSzTx/>
                  <a:buFont typeface="Wingdings" pitchFamily="2" charset="2"/>
                  <a:buNone/>
                  <a:tabLst/>
                  <a:defRPr/>
                </a:pPr>
                <a:endParaRPr kumimoji="0" lang="en-US" altLang="zh-CN" sz="2800" b="1" i="1"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endParaRPr>
              </a:p>
              <a:p>
                <a:pPr marL="0" marR="0" lvl="0" indent="0" algn="l" defTabSz="914400" rtl="0" eaLnBrk="1" fontAlgn="auto" latinLnBrk="0" hangingPunct="1">
                  <a:lnSpc>
                    <a:spcPct val="125000"/>
                  </a:lnSpc>
                  <a:spcBef>
                    <a:spcPct val="20000"/>
                  </a:spcBef>
                  <a:spcAft>
                    <a:spcPts val="0"/>
                  </a:spcAft>
                  <a:buClrTx/>
                  <a:buSzTx/>
                  <a:buFont typeface="Wingdings" pitchFamily="2" charset="2"/>
                  <a:buNone/>
                  <a:tabLst/>
                  <a:defRPr/>
                </a:pPr>
                <a14:m>
                  <m:oMathPara xmlns:m="http://schemas.openxmlformats.org/officeDocument/2006/math">
                    <m:oMathParaPr>
                      <m:jc m:val="centerGroup"/>
                    </m:oMathParaPr>
                    <m:oMath xmlns:m="http://schemas.openxmlformats.org/officeDocument/2006/math">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𝒚</m:t>
                      </m:r>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m:t>
                      </m:r>
                      <m:sSub>
                        <m:sSubPr>
                          <m:ctrlP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zh-CN" altLang="en-US"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𝟎</m:t>
                          </m:r>
                        </m:sub>
                      </m:s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m:t>
                      </m:r>
                      <m:sSub>
                        <m:sSubPr>
                          <m:ctrlP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zh-CN" altLang="en-US"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𝟏</m:t>
                          </m:r>
                        </m:sub>
                      </m:sSub>
                      <m:sSub>
                        <m:sSubPr>
                          <m:ctrlP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𝒙</m:t>
                          </m:r>
                        </m:e>
                        <m: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𝟏</m:t>
                          </m:r>
                        </m:sub>
                      </m:s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m:t>
                      </m:r>
                      <m:sSub>
                        <m:sSubPr>
                          <m:ctrlPr>
                            <a:rPr kumimoji="0" lang="en-US" altLang="zh-CN" sz="28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zh-CN" altLang="en-US" sz="28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𝟐</m:t>
                          </m:r>
                        </m:sub>
                      </m:sSub>
                      <m:sSub>
                        <m:sSubPr>
                          <m:ctrlPr>
                            <a:rPr kumimoji="0" lang="en-US" altLang="zh-CN" sz="28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en-US" altLang="zh-CN" sz="28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𝒙</m:t>
                          </m:r>
                        </m:e>
                        <m: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𝟐</m:t>
                          </m:r>
                        </m:sub>
                      </m:sSub>
                      <m:r>
                        <a:rPr kumimoji="0" lang="en-US" altLang="zh-CN"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m:t>
                      </m:r>
                      <m:r>
                        <a:rPr kumimoji="0" lang="zh-CN" altLang="en-US" sz="2800" b="1" i="1" u="none" strike="noStrike" kern="1200" cap="none" spc="0" normalizeH="0" baseline="0" noProof="0" smtClean="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𝜺</m:t>
                      </m:r>
                    </m:oMath>
                  </m:oMathPara>
                </a14:m>
                <a:endParaRPr kumimoji="0" lang="zh-CN" altLang="en-US"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mc:Choice>
        <mc:Fallback xmlns="">
          <p:sp>
            <p:nvSpPr>
              <p:cNvPr id="4" name="内容占位符 2">
                <a:extLst>
                  <a:ext uri="{FF2B5EF4-FFF2-40B4-BE49-F238E27FC236}">
                    <a16:creationId xmlns:a16="http://schemas.microsoft.com/office/drawing/2014/main" id="{E5E163BE-8E69-2FB6-4F32-00E33BAFD49E}"/>
                  </a:ext>
                </a:extLst>
              </p:cNvPr>
              <p:cNvSpPr txBox="1">
                <a:spLocks noRot="1" noChangeAspect="1" noMove="1" noResize="1" noEditPoints="1" noAdjustHandles="1" noChangeArrowheads="1" noChangeShapeType="1" noTextEdit="1"/>
              </p:cNvSpPr>
              <p:nvPr/>
            </p:nvSpPr>
            <p:spPr>
              <a:xfrm>
                <a:off x="425372" y="1952836"/>
                <a:ext cx="11734800" cy="4525963"/>
              </a:xfrm>
              <a:prstGeom prst="rect">
                <a:avLst/>
              </a:prstGeom>
              <a:blipFill>
                <a:blip r:embed="rId3"/>
                <a:stretch>
                  <a:fillRect/>
                </a:stretch>
              </a:blipFill>
            </p:spPr>
            <p:txBody>
              <a:bodyPr/>
              <a:lstStyle/>
              <a:p>
                <a:r>
                  <a:rPr lang="zh-CN" altLang="en-US">
                    <a:noFill/>
                  </a:rPr>
                  <a:t> </a:t>
                </a:r>
              </a:p>
            </p:txBody>
          </p:sp>
        </mc:Fallback>
      </mc:AlternateContent>
      <p:sp>
        <p:nvSpPr>
          <p:cNvPr id="5" name="椭圆 4">
            <a:extLst>
              <a:ext uri="{FF2B5EF4-FFF2-40B4-BE49-F238E27FC236}">
                <a16:creationId xmlns:a16="http://schemas.microsoft.com/office/drawing/2014/main" id="{1E34166C-1791-8A42-9F8C-9291D4D5E970}"/>
              </a:ext>
            </a:extLst>
          </p:cNvPr>
          <p:cNvSpPr/>
          <p:nvPr/>
        </p:nvSpPr>
        <p:spPr>
          <a:xfrm>
            <a:off x="4498926" y="1836340"/>
            <a:ext cx="2282018" cy="1036924"/>
          </a:xfrm>
          <a:prstGeom prst="ellipse">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椭圆 5">
            <a:extLst>
              <a:ext uri="{FF2B5EF4-FFF2-40B4-BE49-F238E27FC236}">
                <a16:creationId xmlns:a16="http://schemas.microsoft.com/office/drawing/2014/main" id="{1E7E63A3-C436-95EF-0815-FF2471F36219}"/>
              </a:ext>
            </a:extLst>
          </p:cNvPr>
          <p:cNvSpPr/>
          <p:nvPr/>
        </p:nvSpPr>
        <p:spPr>
          <a:xfrm>
            <a:off x="6961929" y="1763711"/>
            <a:ext cx="3188937" cy="1036925"/>
          </a:xfrm>
          <a:prstGeom prst="ellipse">
            <a:avLst/>
          </a:prstGeom>
          <a:noFill/>
          <a:ln w="25400" cap="flat" cmpd="sng" algn="ctr">
            <a:solidFill>
              <a:srgbClr val="0000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cxnSp>
        <p:nvCxnSpPr>
          <p:cNvPr id="7" name="直接箭头连接符 6">
            <a:extLst>
              <a:ext uri="{FF2B5EF4-FFF2-40B4-BE49-F238E27FC236}">
                <a16:creationId xmlns:a16="http://schemas.microsoft.com/office/drawing/2014/main" id="{1DF9E138-C7BB-98E7-66C1-3C9DAF7930C3}"/>
              </a:ext>
            </a:extLst>
          </p:cNvPr>
          <p:cNvCxnSpPr>
            <a:cxnSpLocks/>
            <a:stCxn id="5" idx="4"/>
          </p:cNvCxnSpPr>
          <p:nvPr/>
        </p:nvCxnSpPr>
        <p:spPr>
          <a:xfrm>
            <a:off x="5639935" y="2873264"/>
            <a:ext cx="195786" cy="897352"/>
          </a:xfrm>
          <a:prstGeom prst="straightConnector1">
            <a:avLst/>
          </a:prstGeom>
          <a:noFill/>
          <a:ln w="38100" cap="flat" cmpd="sng" algn="ctr">
            <a:solidFill>
              <a:srgbClr val="FF0000"/>
            </a:solidFill>
            <a:prstDash val="solid"/>
            <a:tailEnd type="triangle"/>
          </a:ln>
          <a:effectLst>
            <a:outerShdw blurRad="40000" dist="23000" dir="5400000" rotWithShape="0">
              <a:srgbClr val="000000">
                <a:alpha val="35000"/>
              </a:srgbClr>
            </a:outerShdw>
          </a:effectLst>
        </p:spPr>
      </p:cxnSp>
      <p:cxnSp>
        <p:nvCxnSpPr>
          <p:cNvPr id="8" name="直接箭头连接符 7">
            <a:extLst>
              <a:ext uri="{FF2B5EF4-FFF2-40B4-BE49-F238E27FC236}">
                <a16:creationId xmlns:a16="http://schemas.microsoft.com/office/drawing/2014/main" id="{E88AA889-AD5F-1960-811A-F34EE5086E45}"/>
              </a:ext>
            </a:extLst>
          </p:cNvPr>
          <p:cNvCxnSpPr>
            <a:cxnSpLocks/>
            <a:stCxn id="6" idx="4"/>
          </p:cNvCxnSpPr>
          <p:nvPr/>
        </p:nvCxnSpPr>
        <p:spPr>
          <a:xfrm flipH="1">
            <a:off x="7428216" y="2800636"/>
            <a:ext cx="1128182" cy="930750"/>
          </a:xfrm>
          <a:prstGeom prst="straightConnector1">
            <a:avLst/>
          </a:prstGeom>
          <a:noFill/>
          <a:ln w="38100" cap="flat" cmpd="sng" algn="ctr">
            <a:solidFill>
              <a:srgbClr val="0000FF"/>
            </a:solidFill>
            <a:prstDash val="solid"/>
            <a:tailEnd type="triangle"/>
          </a:ln>
          <a:effectLst>
            <a:outerShdw blurRad="40000" dist="23000" dir="5400000" rotWithShape="0">
              <a:srgbClr val="000000">
                <a:alpha val="35000"/>
              </a:srgbClr>
            </a:outerShdw>
          </a:effectLst>
        </p:spPr>
      </p:cxnSp>
    </p:spTree>
    <p:extLst>
      <p:ext uri="{BB962C8B-B14F-4D97-AF65-F5344CB8AC3E}">
        <p14:creationId xmlns:p14="http://schemas.microsoft.com/office/powerpoint/2010/main" val="15793303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048D1-D157-0F39-C52F-5EEB1D042D5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E94FD42F-71A6-0DBF-2EBE-C2C19129DFEC}"/>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6216BFE7-F86E-02EB-A726-8DD73465B7C7}"/>
              </a:ext>
            </a:extLst>
          </p:cNvPr>
          <p:cNvSpPr txBox="1"/>
          <p:nvPr/>
        </p:nvSpPr>
        <p:spPr>
          <a:xfrm>
            <a:off x="457200" y="110122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a:t>
            </a:r>
          </a:p>
        </p:txBody>
      </p:sp>
      <mc:AlternateContent xmlns:mc="http://schemas.openxmlformats.org/markup-compatibility/2006" xmlns:a14="http://schemas.microsoft.com/office/drawing/2010/main">
        <mc:Choice Requires="a14">
          <p:sp>
            <p:nvSpPr>
              <p:cNvPr id="4" name="内容占位符 4">
                <a:extLst>
                  <a:ext uri="{FF2B5EF4-FFF2-40B4-BE49-F238E27FC236}">
                    <a16:creationId xmlns:a16="http://schemas.microsoft.com/office/drawing/2014/main" id="{3177686F-A886-099F-CF49-E7102DB9A164}"/>
                  </a:ext>
                </a:extLst>
              </p:cNvPr>
              <p:cNvSpPr txBox="1">
                <a:spLocks/>
              </p:cNvSpPr>
              <p:nvPr/>
            </p:nvSpPr>
            <p:spPr>
              <a:xfrm>
                <a:off x="526774" y="1954264"/>
                <a:ext cx="11549270" cy="452596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指有多个解释变量的线性回归模型，用于揭示因变量</a:t>
                </a:r>
                <a:r>
                  <a:rPr kumimoji="0" lang="en-US" altLang="zh-CN" sz="2800" b="1" i="1"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y</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与多个解释变量</a:t>
                </a:r>
                <a14:m>
                  <m:oMath xmlns:m="http://schemas.openxmlformats.org/officeDocument/2006/math">
                    <m:sSub>
                      <m:sSubPr>
                        <m:ctrlPr>
                          <a:rPr lang="en-US" altLang="zh-CN" sz="2800" i="1" spc="0" dirty="0" smtClean="0">
                            <a:solidFill>
                              <a:sysClr val="windowText" lastClr="000000"/>
                            </a:solidFill>
                            <a:latin typeface="Cambria Math" panose="02040503050406030204" pitchFamily="18" charset="0"/>
                          </a:rPr>
                        </m:ctrlPr>
                      </m:sSubPr>
                      <m:e>
                        <m:r>
                          <a:rPr lang="en-US" altLang="zh-CN" sz="2800" b="1" i="1" spc="0" dirty="0" smtClean="0">
                            <a:solidFill>
                              <a:sysClr val="windowText" lastClr="000000"/>
                            </a:solidFill>
                            <a:latin typeface="Cambria Math" panose="02040503050406030204" pitchFamily="18" charset="0"/>
                          </a:rPr>
                          <m:t>𝒙</m:t>
                        </m:r>
                      </m:e>
                      <m:sub>
                        <m:r>
                          <a:rPr lang="en-US" altLang="zh-CN" sz="2800" b="1" i="1" spc="0" dirty="0" smtClean="0">
                            <a:solidFill>
                              <a:sysClr val="windowText" lastClr="000000"/>
                            </a:solidFill>
                            <a:latin typeface="Cambria Math" panose="02040503050406030204" pitchFamily="18" charset="0"/>
                          </a:rPr>
                          <m:t>𝟏</m:t>
                        </m:r>
                      </m:sub>
                    </m:sSub>
                    <m:r>
                      <a:rPr lang="en-US" altLang="zh-CN" sz="2800" b="1" i="1" spc="0" dirty="0" smtClean="0">
                        <a:solidFill>
                          <a:sysClr val="windowText" lastClr="000000"/>
                        </a:solidFill>
                        <a:latin typeface="Cambria Math" panose="02040503050406030204" pitchFamily="18" charset="0"/>
                      </a:rPr>
                      <m:t>,</m:t>
                    </m:r>
                    <m:sSub>
                      <m:sSubPr>
                        <m:ctrlPr>
                          <a:rPr lang="en-US" altLang="zh-CN" sz="2800" i="1" spc="0" dirty="0">
                            <a:solidFill>
                              <a:sysClr val="windowText" lastClr="000000"/>
                            </a:solidFill>
                            <a:latin typeface="Cambria Math" panose="02040503050406030204" pitchFamily="18" charset="0"/>
                          </a:rPr>
                        </m:ctrlPr>
                      </m:sSubPr>
                      <m:e>
                        <m:r>
                          <a:rPr lang="en-US" altLang="zh-CN" sz="2800" i="1" spc="0" dirty="0">
                            <a:solidFill>
                              <a:sysClr val="windowText" lastClr="000000"/>
                            </a:solidFill>
                            <a:latin typeface="Cambria Math" panose="02040503050406030204" pitchFamily="18" charset="0"/>
                          </a:rPr>
                          <m:t>𝒙</m:t>
                        </m:r>
                      </m:e>
                      <m:sub>
                        <m:r>
                          <a:rPr lang="en-US" altLang="zh-CN" sz="2800" b="1" i="1" spc="0" dirty="0" smtClean="0">
                            <a:solidFill>
                              <a:sysClr val="windowText" lastClr="000000"/>
                            </a:solidFill>
                            <a:latin typeface="Cambria Math" panose="02040503050406030204" pitchFamily="18" charset="0"/>
                          </a:rPr>
                          <m:t>𝟐</m:t>
                        </m:r>
                      </m:sub>
                    </m:sSub>
                    <m:r>
                      <a:rPr lang="en-US" altLang="zh-CN" sz="2800" b="1" i="0" spc="0" dirty="0" smtClean="0">
                        <a:solidFill>
                          <a:sysClr val="windowText" lastClr="000000"/>
                        </a:solidFill>
                        <a:latin typeface="Cambria Math" panose="02040503050406030204" pitchFamily="18" charset="0"/>
                      </a:rPr>
                      <m:t>,</m:t>
                    </m:r>
                    <m:r>
                      <a:rPr lang="en-US" altLang="zh-CN" sz="2800" i="1" spc="0" dirty="0" smtClean="0">
                        <a:solidFill>
                          <a:sysClr val="windowText" lastClr="000000"/>
                        </a:solidFill>
                        <a:latin typeface="Cambria Math" panose="02040503050406030204" pitchFamily="18" charset="0"/>
                      </a:rPr>
                      <m:t> </m:t>
                    </m:r>
                    <m:r>
                      <a:rPr lang="en-US" altLang="zh-CN" sz="2800" i="1" spc="0" dirty="0" smtClean="0">
                        <a:solidFill>
                          <a:sysClr val="windowText" lastClr="000000"/>
                        </a:solidFill>
                        <a:latin typeface="Cambria Math" panose="02040503050406030204" pitchFamily="18" charset="0"/>
                        <a:ea typeface="Cambria Math" panose="02040503050406030204" pitchFamily="18" charset="0"/>
                      </a:rPr>
                      <m:t>⋯</m:t>
                    </m:r>
                    <m:r>
                      <a:rPr lang="en-US" altLang="zh-CN" sz="2800" b="1" i="1" spc="0" dirty="0" smtClean="0">
                        <a:solidFill>
                          <a:sysClr val="windowText" lastClr="000000"/>
                        </a:solidFill>
                        <a:latin typeface="Cambria Math" panose="02040503050406030204" pitchFamily="18" charset="0"/>
                        <a:ea typeface="Cambria Math" panose="02040503050406030204" pitchFamily="18" charset="0"/>
                      </a:rPr>
                      <m:t>,</m:t>
                    </m:r>
                    <m:sSub>
                      <m:sSubPr>
                        <m:ctrlPr>
                          <a:rPr lang="en-US" altLang="zh-CN" sz="2800" i="1" spc="0" dirty="0">
                            <a:solidFill>
                              <a:sysClr val="windowText" lastClr="000000"/>
                            </a:solidFill>
                            <a:latin typeface="Cambria Math" panose="02040503050406030204" pitchFamily="18" charset="0"/>
                          </a:rPr>
                        </m:ctrlPr>
                      </m:sSubPr>
                      <m:e>
                        <m:r>
                          <a:rPr lang="en-US" altLang="zh-CN" sz="2800" i="1" spc="0" dirty="0">
                            <a:solidFill>
                              <a:sysClr val="windowText" lastClr="000000"/>
                            </a:solidFill>
                            <a:latin typeface="Cambria Math" panose="02040503050406030204" pitchFamily="18" charset="0"/>
                          </a:rPr>
                          <m:t>𝒙</m:t>
                        </m:r>
                      </m:e>
                      <m:sub>
                        <m:r>
                          <a:rPr lang="en-US" altLang="zh-CN" sz="2800" b="1" i="1" spc="0" dirty="0" smtClean="0">
                            <a:solidFill>
                              <a:sysClr val="windowText" lastClr="000000"/>
                            </a:solidFill>
                            <a:latin typeface="Cambria Math" panose="02040503050406030204" pitchFamily="18" charset="0"/>
                          </a:rPr>
                          <m:t>𝒑</m:t>
                        </m:r>
                      </m:sub>
                    </m:sSub>
                  </m:oMath>
                </a14:m>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之间的</a:t>
                </a:r>
                <a:r>
                  <a:rPr lang="zh-CN" altLang="en-US" dirty="0">
                    <a:solidFill>
                      <a:srgbClr val="0000FF"/>
                    </a:solidFill>
                    <a:latin typeface="Euclid" panose="02020503060505020303" pitchFamily="18" charset="0"/>
                  </a:rPr>
                  <a:t>线性关系</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a:t>
                </a: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企业的总成本</a:t>
                </a:r>
                <a:r>
                  <a:rPr kumimoji="0" lang="en-US" altLang="zh-CN"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(TC)</a:t>
                </a:r>
                <a:r>
                  <a:rPr kumimoji="0" lang="zh-CN" altLang="en-US"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与产量、工资率</a:t>
                </a:r>
                <a:r>
                  <a:rPr kumimoji="0" lang="en-US" altLang="zh-CN"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(PL)</a:t>
                </a:r>
                <a:r>
                  <a:rPr kumimoji="0" lang="zh-CN" altLang="en-US"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、燃料价格</a:t>
                </a:r>
                <a:r>
                  <a:rPr kumimoji="0" lang="en-US" altLang="zh-CN"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(PF)</a:t>
                </a:r>
                <a:r>
                  <a:rPr kumimoji="0" lang="zh-CN" altLang="en-US"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和资本租赁价格</a:t>
                </a:r>
                <a:r>
                  <a:rPr kumimoji="0" lang="en-US" altLang="zh-CN"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(PK)</a:t>
                </a:r>
                <a:r>
                  <a:rPr kumimoji="0" lang="zh-CN" altLang="en-US"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之间的关系。</a:t>
                </a: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学习成绩与投入学习的时间、</a:t>
                </a:r>
                <a:r>
                  <a:rPr kumimoji="0" lang="en-US" altLang="zh-CN"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IQ</a:t>
                </a:r>
                <a:r>
                  <a:rPr kumimoji="0" lang="zh-CN" altLang="en-US"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、校园环境、教员任教水平等之间的关系。</a:t>
                </a: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rgbClr val="0099FF"/>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endParaRPr>
              </a:p>
            </p:txBody>
          </p:sp>
        </mc:Choice>
        <mc:Fallback xmlns="">
          <p:sp>
            <p:nvSpPr>
              <p:cNvPr id="4" name="内容占位符 4">
                <a:extLst>
                  <a:ext uri="{FF2B5EF4-FFF2-40B4-BE49-F238E27FC236}">
                    <a16:creationId xmlns:a16="http://schemas.microsoft.com/office/drawing/2014/main" id="{3177686F-A886-099F-CF49-E7102DB9A164}"/>
                  </a:ext>
                </a:extLst>
              </p:cNvPr>
              <p:cNvSpPr txBox="1">
                <a:spLocks noRot="1" noChangeAspect="1" noMove="1" noResize="1" noEditPoints="1" noAdjustHandles="1" noChangeArrowheads="1" noChangeShapeType="1" noTextEdit="1"/>
              </p:cNvSpPr>
              <p:nvPr/>
            </p:nvSpPr>
            <p:spPr>
              <a:xfrm>
                <a:off x="526774" y="1954264"/>
                <a:ext cx="11549270" cy="4525963"/>
              </a:xfrm>
              <a:prstGeom prst="rect">
                <a:avLst/>
              </a:prstGeom>
              <a:blipFill>
                <a:blip r:embed="rId3"/>
                <a:stretch>
                  <a:fillRect/>
                </a:stretch>
              </a:blipFill>
            </p:spPr>
            <p:txBody>
              <a:bodyPr/>
              <a:lstStyle/>
              <a:p>
                <a:r>
                  <a:rPr lang="zh-CN" altLang="en-US">
                    <a:noFill/>
                  </a:rPr>
                  <a:t> </a:t>
                </a:r>
              </a:p>
            </p:txBody>
          </p:sp>
        </mc:Fallback>
      </mc:AlternateContent>
      <p:sp>
        <p:nvSpPr>
          <p:cNvPr id="9" name="内容占位符 4">
            <a:extLst>
              <a:ext uri="{FF2B5EF4-FFF2-40B4-BE49-F238E27FC236}">
                <a16:creationId xmlns:a16="http://schemas.microsoft.com/office/drawing/2014/main" id="{AFDC451D-AC85-D8BD-FC3E-0116C9567D5F}"/>
              </a:ext>
            </a:extLst>
          </p:cNvPr>
          <p:cNvSpPr txBox="1">
            <a:spLocks/>
          </p:cNvSpPr>
          <p:nvPr/>
        </p:nvSpPr>
        <p:spPr>
          <a:xfrm>
            <a:off x="545066" y="5432988"/>
            <a:ext cx="11120160" cy="791710"/>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lang="zh-CN" altLang="en-US" dirty="0"/>
              <a:t>多</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元线性回归的数学模型：</a:t>
            </a:r>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p:grpSp>
        <p:nvGrpSpPr>
          <p:cNvPr id="11" name="组合 10">
            <a:extLst>
              <a:ext uri="{FF2B5EF4-FFF2-40B4-BE49-F238E27FC236}">
                <a16:creationId xmlns:a16="http://schemas.microsoft.com/office/drawing/2014/main" id="{B5557456-5C13-72BC-E8B5-04E68149D322}"/>
              </a:ext>
            </a:extLst>
          </p:cNvPr>
          <p:cNvGrpSpPr/>
          <p:nvPr/>
        </p:nvGrpSpPr>
        <p:grpSpPr>
          <a:xfrm>
            <a:off x="5506406" y="5443935"/>
            <a:ext cx="6281961" cy="667749"/>
            <a:chOff x="5794082" y="5432988"/>
            <a:chExt cx="6281961" cy="667749"/>
          </a:xfrm>
        </p:grpSpPr>
        <p:sp>
          <p:nvSpPr>
            <p:cNvPr id="6" name="矩形 5">
              <a:extLst>
                <a:ext uri="{FF2B5EF4-FFF2-40B4-BE49-F238E27FC236}">
                  <a16:creationId xmlns:a16="http://schemas.microsoft.com/office/drawing/2014/main" id="{BEDCE78E-64F7-058E-C722-BC3641252CE3}"/>
                </a:ext>
              </a:extLst>
            </p:cNvPr>
            <p:cNvSpPr/>
            <p:nvPr/>
          </p:nvSpPr>
          <p:spPr>
            <a:xfrm>
              <a:off x="5794082" y="5432988"/>
              <a:ext cx="6281961" cy="662538"/>
            </a:xfrm>
            <a:prstGeom prst="rect">
              <a:avLst/>
            </a:prstGeom>
            <a:solidFill>
              <a:schemeClr val="accent5">
                <a:lumMod val="20000"/>
                <a:lumOff val="8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 name="对象 9">
              <a:extLst>
                <a:ext uri="{FF2B5EF4-FFF2-40B4-BE49-F238E27FC236}">
                  <a16:creationId xmlns:a16="http://schemas.microsoft.com/office/drawing/2014/main" id="{2DCB3D11-494A-8C86-E940-23641530971C}"/>
                </a:ext>
              </a:extLst>
            </p:cNvPr>
            <p:cNvGraphicFramePr>
              <a:graphicFrameLocks noChangeAspect="1"/>
            </p:cNvGraphicFramePr>
            <p:nvPr>
              <p:extLst>
                <p:ext uri="{D42A27DB-BD31-4B8C-83A1-F6EECF244321}">
                  <p14:modId xmlns:p14="http://schemas.microsoft.com/office/powerpoint/2010/main" val="3799439317"/>
                </p:ext>
              </p:extLst>
            </p:nvPr>
          </p:nvGraphicFramePr>
          <p:xfrm>
            <a:off x="5923314" y="5432988"/>
            <a:ext cx="6089871" cy="667749"/>
          </p:xfrm>
          <a:graphic>
            <a:graphicData uri="http://schemas.openxmlformats.org/presentationml/2006/ole">
              <mc:AlternateContent xmlns:mc="http://schemas.openxmlformats.org/markup-compatibility/2006">
                <mc:Choice xmlns:v="urn:schemas-microsoft-com:vml" Requires="v">
                  <p:oleObj name="Equation" r:id="rId4" imgW="2172042" imgH="237969" progId="Equation.DSMT4">
                    <p:embed/>
                  </p:oleObj>
                </mc:Choice>
                <mc:Fallback>
                  <p:oleObj name="Equation" r:id="rId4" imgW="2172042" imgH="237969" progId="Equation.DSMT4">
                    <p:embed/>
                    <p:pic>
                      <p:nvPicPr>
                        <p:cNvPr id="0" name=""/>
                        <p:cNvPicPr/>
                        <p:nvPr/>
                      </p:nvPicPr>
                      <p:blipFill>
                        <a:blip r:embed="rId5"/>
                        <a:stretch>
                          <a:fillRect/>
                        </a:stretch>
                      </p:blipFill>
                      <p:spPr>
                        <a:xfrm>
                          <a:off x="5923314" y="5432988"/>
                          <a:ext cx="6089871" cy="667749"/>
                        </a:xfrm>
                        <a:prstGeom prst="rect">
                          <a:avLst/>
                        </a:prstGeom>
                      </p:spPr>
                    </p:pic>
                  </p:oleObj>
                </mc:Fallback>
              </mc:AlternateContent>
            </a:graphicData>
          </a:graphic>
        </p:graphicFrame>
      </p:grpSp>
    </p:spTree>
    <p:extLst>
      <p:ext uri="{BB962C8B-B14F-4D97-AF65-F5344CB8AC3E}">
        <p14:creationId xmlns:p14="http://schemas.microsoft.com/office/powerpoint/2010/main" val="335064395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A8AFF-0E2F-5653-B0DB-0041F4F889C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C313132-745F-9A1B-4ECD-570B477960D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EA278CCD-F524-D1D7-B804-09CD09FE17BA}"/>
              </a:ext>
            </a:extLst>
          </p:cNvPr>
          <p:cNvSpPr txBox="1"/>
          <p:nvPr/>
        </p:nvSpPr>
        <p:spPr>
          <a:xfrm>
            <a:off x="457200" y="1204090"/>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a:t>
            </a:r>
          </a:p>
        </p:txBody>
      </p:sp>
      <mc:AlternateContent xmlns:mc="http://schemas.openxmlformats.org/markup-compatibility/2006" xmlns:a14="http://schemas.microsoft.com/office/drawing/2010/main">
        <mc:Choice Requires="a14">
          <p:sp>
            <p:nvSpPr>
              <p:cNvPr id="9" name="内容占位符 4">
                <a:extLst>
                  <a:ext uri="{FF2B5EF4-FFF2-40B4-BE49-F238E27FC236}">
                    <a16:creationId xmlns:a16="http://schemas.microsoft.com/office/drawing/2014/main" id="{0CCCC129-F595-0DFE-9695-421A96FC31A0}"/>
                  </a:ext>
                </a:extLst>
              </p:cNvPr>
              <p:cNvSpPr txBox="1">
                <a:spLocks/>
              </p:cNvSpPr>
              <p:nvPr/>
            </p:nvSpPr>
            <p:spPr>
              <a:xfrm>
                <a:off x="995422" y="2159994"/>
                <a:ext cx="10624649" cy="452596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lang="zh-CN" altLang="en-US" dirty="0">
                    <a:solidFill>
                      <a:srgbClr val="1F497D">
                        <a:lumMod val="60000"/>
                        <a:lumOff val="40000"/>
                      </a:srgbClr>
                    </a:solidFill>
                  </a:rPr>
                  <a:t>多</a:t>
                </a:r>
                <a:r>
                  <a:rPr kumimoji="0" lang="zh-CN" altLang="en-US" sz="2800" b="1" i="0" u="none" strike="noStrike" kern="1200" cap="none" spc="0" normalizeH="0" baseline="0" noProof="0" dirty="0">
                    <a:ln w="11430"/>
                    <a:solidFill>
                      <a:srgbClr val="1F497D">
                        <a:lumMod val="60000"/>
                        <a:lumOff val="40000"/>
                      </a:srgbClr>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元线性回归的数学模型</a:t>
                </a:r>
                <a:endParaRPr kumimoji="0" lang="en-US" altLang="zh-CN" sz="2800" b="1" i="0" u="none" strike="noStrike" kern="1200" cap="none" spc="0" normalizeH="0" baseline="0" noProof="0" dirty="0">
                  <a:ln w="11430"/>
                  <a:solidFill>
                    <a:srgbClr val="1F497D">
                      <a:lumMod val="60000"/>
                      <a:lumOff val="40000"/>
                    </a:srgbClr>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0" lvl="0" indent="0">
                  <a:buNone/>
                </a:pPr>
                <a14:m>
                  <m:oMathPara xmlns:m="http://schemas.openxmlformats.org/officeDocument/2006/math">
                    <m:oMathParaPr>
                      <m:jc m:val="centerGroup"/>
                    </m:oMathParaPr>
                    <m:oMath xmlns:m="http://schemas.openxmlformats.org/officeDocument/2006/math">
                      <m:r>
                        <a:rPr lang="en-US" altLang="zh-CN" sz="2600" i="1">
                          <a:solidFill>
                            <a:srgbClr val="0000FF"/>
                          </a:solidFill>
                          <a:latin typeface="Cambria Math" panose="02040503050406030204" pitchFamily="18" charset="0"/>
                        </a:rPr>
                        <m:t>𝒚</m:t>
                      </m:r>
                      <m:r>
                        <a:rPr lang="en-US" altLang="zh-CN" sz="2600" i="1">
                          <a:solidFill>
                            <a:srgbClr val="0000FF"/>
                          </a:solidFill>
                          <a:latin typeface="Cambria Math" panose="02040503050406030204" pitchFamily="18" charset="0"/>
                        </a:rPr>
                        <m:t>=</m:t>
                      </m:r>
                      <m:sSub>
                        <m:sSubPr>
                          <m:ctrlPr>
                            <a:rPr lang="en-US" altLang="zh-CN" sz="2600" i="1">
                              <a:solidFill>
                                <a:srgbClr val="0000FF"/>
                              </a:solidFill>
                              <a:latin typeface="Cambria Math" panose="02040503050406030204" pitchFamily="18" charset="0"/>
                            </a:rPr>
                          </m:ctrlPr>
                        </m:sSubPr>
                        <m:e>
                          <m:r>
                            <a:rPr lang="zh-CN" altLang="en-US" sz="2600" i="1">
                              <a:solidFill>
                                <a:srgbClr val="0000FF"/>
                              </a:solidFill>
                              <a:latin typeface="Cambria Math" panose="02040503050406030204" pitchFamily="18" charset="0"/>
                            </a:rPr>
                            <m:t>𝜷</m:t>
                          </m:r>
                        </m:e>
                        <m:sub>
                          <m:r>
                            <a:rPr lang="en-US" altLang="zh-CN" sz="2600" i="1">
                              <a:solidFill>
                                <a:srgbClr val="0000FF"/>
                              </a:solidFill>
                              <a:latin typeface="Cambria Math" panose="02040503050406030204" pitchFamily="18" charset="0"/>
                            </a:rPr>
                            <m:t>𝟎</m:t>
                          </m:r>
                        </m:sub>
                      </m:sSub>
                      <m:r>
                        <a:rPr lang="en-US" altLang="zh-CN" sz="2600" i="1">
                          <a:solidFill>
                            <a:srgbClr val="0000FF"/>
                          </a:solidFill>
                          <a:latin typeface="Cambria Math" panose="02040503050406030204" pitchFamily="18" charset="0"/>
                        </a:rPr>
                        <m:t>+</m:t>
                      </m:r>
                      <m:sSub>
                        <m:sSubPr>
                          <m:ctrlPr>
                            <a:rPr lang="en-US" altLang="zh-CN" sz="2600" i="1">
                              <a:solidFill>
                                <a:srgbClr val="0000FF"/>
                              </a:solidFill>
                              <a:latin typeface="Cambria Math" panose="02040503050406030204" pitchFamily="18" charset="0"/>
                            </a:rPr>
                          </m:ctrlPr>
                        </m:sSubPr>
                        <m:e>
                          <m:r>
                            <a:rPr lang="zh-CN" altLang="en-US" sz="2600" i="1">
                              <a:solidFill>
                                <a:srgbClr val="0000FF"/>
                              </a:solidFill>
                              <a:latin typeface="Cambria Math" panose="02040503050406030204" pitchFamily="18" charset="0"/>
                            </a:rPr>
                            <m:t>𝜷</m:t>
                          </m:r>
                        </m:e>
                        <m:sub>
                          <m:r>
                            <a:rPr lang="en-US" altLang="zh-CN" sz="2600" i="1">
                              <a:solidFill>
                                <a:srgbClr val="0000FF"/>
                              </a:solidFill>
                              <a:latin typeface="Cambria Math" panose="02040503050406030204" pitchFamily="18" charset="0"/>
                            </a:rPr>
                            <m:t>𝟏</m:t>
                          </m:r>
                        </m:sub>
                      </m:sSub>
                      <m:sSub>
                        <m:sSubPr>
                          <m:ctrlPr>
                            <a:rPr lang="en-US" altLang="zh-CN" sz="2600" i="1">
                              <a:solidFill>
                                <a:srgbClr val="0000FF"/>
                              </a:solidFill>
                              <a:latin typeface="Cambria Math" panose="02040503050406030204" pitchFamily="18" charset="0"/>
                            </a:rPr>
                          </m:ctrlPr>
                        </m:sSubPr>
                        <m:e>
                          <m:r>
                            <a:rPr lang="en-US" altLang="zh-CN" sz="2600" i="1">
                              <a:solidFill>
                                <a:srgbClr val="0000FF"/>
                              </a:solidFill>
                              <a:latin typeface="Cambria Math" panose="02040503050406030204" pitchFamily="18" charset="0"/>
                            </a:rPr>
                            <m:t>𝒙</m:t>
                          </m:r>
                        </m:e>
                        <m:sub>
                          <m:r>
                            <a:rPr lang="en-US" altLang="zh-CN" sz="2600" i="1">
                              <a:solidFill>
                                <a:srgbClr val="0000FF"/>
                              </a:solidFill>
                              <a:latin typeface="Cambria Math" panose="02040503050406030204" pitchFamily="18" charset="0"/>
                            </a:rPr>
                            <m:t>𝟏</m:t>
                          </m:r>
                        </m:sub>
                      </m:sSub>
                      <m:r>
                        <a:rPr lang="en-US" altLang="zh-CN" sz="2600" i="1">
                          <a:solidFill>
                            <a:srgbClr val="0000FF"/>
                          </a:solidFill>
                          <a:latin typeface="Cambria Math" panose="02040503050406030204" pitchFamily="18" charset="0"/>
                        </a:rPr>
                        <m:t>+</m:t>
                      </m:r>
                      <m:sSub>
                        <m:sSubPr>
                          <m:ctrlPr>
                            <a:rPr lang="en-US" altLang="zh-CN" sz="2600" i="1">
                              <a:solidFill>
                                <a:srgbClr val="0000FF"/>
                              </a:solidFill>
                              <a:latin typeface="Cambria Math" panose="02040503050406030204" pitchFamily="18" charset="0"/>
                            </a:rPr>
                          </m:ctrlPr>
                        </m:sSubPr>
                        <m:e>
                          <m:r>
                            <a:rPr lang="zh-CN" altLang="en-US" sz="2600" i="1">
                              <a:solidFill>
                                <a:srgbClr val="0000FF"/>
                              </a:solidFill>
                              <a:latin typeface="Cambria Math" panose="02040503050406030204" pitchFamily="18" charset="0"/>
                            </a:rPr>
                            <m:t>𝜷</m:t>
                          </m:r>
                        </m:e>
                        <m:sub>
                          <m:r>
                            <a:rPr lang="en-US" altLang="zh-CN" sz="2600" i="1">
                              <a:solidFill>
                                <a:srgbClr val="0000FF"/>
                              </a:solidFill>
                              <a:latin typeface="Cambria Math" panose="02040503050406030204" pitchFamily="18" charset="0"/>
                            </a:rPr>
                            <m:t>𝟐</m:t>
                          </m:r>
                        </m:sub>
                      </m:sSub>
                      <m:sSub>
                        <m:sSubPr>
                          <m:ctrlPr>
                            <a:rPr lang="en-US" altLang="zh-CN" sz="2600" i="1">
                              <a:solidFill>
                                <a:srgbClr val="0000FF"/>
                              </a:solidFill>
                              <a:latin typeface="Cambria Math" panose="02040503050406030204" pitchFamily="18" charset="0"/>
                            </a:rPr>
                          </m:ctrlPr>
                        </m:sSubPr>
                        <m:e>
                          <m:r>
                            <a:rPr lang="en-US" altLang="zh-CN" sz="2600" i="1">
                              <a:solidFill>
                                <a:srgbClr val="0000FF"/>
                              </a:solidFill>
                              <a:latin typeface="Cambria Math" panose="02040503050406030204" pitchFamily="18" charset="0"/>
                            </a:rPr>
                            <m:t>𝒙</m:t>
                          </m:r>
                        </m:e>
                        <m:sub>
                          <m:r>
                            <a:rPr lang="en-US" altLang="zh-CN" sz="2600" i="1">
                              <a:solidFill>
                                <a:srgbClr val="0000FF"/>
                              </a:solidFill>
                              <a:latin typeface="Cambria Math" panose="02040503050406030204" pitchFamily="18" charset="0"/>
                            </a:rPr>
                            <m:t>𝟐</m:t>
                          </m:r>
                        </m:sub>
                      </m:sSub>
                      <m:r>
                        <a:rPr lang="en-US" altLang="zh-CN" sz="2600" i="1">
                          <a:solidFill>
                            <a:srgbClr val="0000FF"/>
                          </a:solidFill>
                          <a:latin typeface="Cambria Math" panose="02040503050406030204" pitchFamily="18" charset="0"/>
                        </a:rPr>
                        <m:t>+</m:t>
                      </m:r>
                      <m:r>
                        <a:rPr lang="en-US" altLang="zh-CN" sz="2600" i="1">
                          <a:solidFill>
                            <a:srgbClr val="0000FF"/>
                          </a:solidFill>
                          <a:latin typeface="Cambria Math" panose="02040503050406030204" pitchFamily="18" charset="0"/>
                          <a:ea typeface="Cambria Math" panose="02040503050406030204" pitchFamily="18" charset="0"/>
                        </a:rPr>
                        <m:t>⋯+</m:t>
                      </m:r>
                      <m:sSub>
                        <m:sSubPr>
                          <m:ctrlPr>
                            <a:rPr lang="en-US" altLang="zh-CN" sz="2600" i="1">
                              <a:solidFill>
                                <a:srgbClr val="0000FF"/>
                              </a:solidFill>
                              <a:latin typeface="Cambria Math" panose="02040503050406030204" pitchFamily="18" charset="0"/>
                            </a:rPr>
                          </m:ctrlPr>
                        </m:sSubPr>
                        <m:e>
                          <m:r>
                            <a:rPr lang="zh-CN" altLang="en-US" sz="2600" i="1">
                              <a:solidFill>
                                <a:srgbClr val="0000FF"/>
                              </a:solidFill>
                              <a:latin typeface="Cambria Math" panose="02040503050406030204" pitchFamily="18" charset="0"/>
                            </a:rPr>
                            <m:t>𝜷</m:t>
                          </m:r>
                        </m:e>
                        <m:sub>
                          <m:r>
                            <a:rPr lang="en-US" altLang="zh-CN" sz="2600" i="1">
                              <a:solidFill>
                                <a:srgbClr val="0000FF"/>
                              </a:solidFill>
                              <a:latin typeface="Cambria Math" panose="02040503050406030204" pitchFamily="18" charset="0"/>
                            </a:rPr>
                            <m:t>𝒑</m:t>
                          </m:r>
                        </m:sub>
                      </m:sSub>
                      <m:sSub>
                        <m:sSubPr>
                          <m:ctrlPr>
                            <a:rPr lang="en-US" altLang="zh-CN" sz="2600" i="1">
                              <a:solidFill>
                                <a:srgbClr val="0000FF"/>
                              </a:solidFill>
                              <a:latin typeface="Cambria Math" panose="02040503050406030204" pitchFamily="18" charset="0"/>
                            </a:rPr>
                          </m:ctrlPr>
                        </m:sSubPr>
                        <m:e>
                          <m:r>
                            <a:rPr lang="en-US" altLang="zh-CN" sz="2600" i="1">
                              <a:solidFill>
                                <a:srgbClr val="0000FF"/>
                              </a:solidFill>
                              <a:latin typeface="Cambria Math" panose="02040503050406030204" pitchFamily="18" charset="0"/>
                            </a:rPr>
                            <m:t>𝒙</m:t>
                          </m:r>
                        </m:e>
                        <m:sub>
                          <m:r>
                            <a:rPr lang="en-US" altLang="zh-CN" sz="2600" i="1">
                              <a:solidFill>
                                <a:srgbClr val="0000FF"/>
                              </a:solidFill>
                              <a:latin typeface="Cambria Math" panose="02040503050406030204" pitchFamily="18" charset="0"/>
                            </a:rPr>
                            <m:t>𝒑</m:t>
                          </m:r>
                        </m:sub>
                      </m:sSub>
                      <m:r>
                        <a:rPr lang="en-US" altLang="zh-CN" sz="2600" i="1">
                          <a:solidFill>
                            <a:srgbClr val="0000FF"/>
                          </a:solidFill>
                          <a:latin typeface="Cambria Math" panose="02040503050406030204" pitchFamily="18" charset="0"/>
                        </a:rPr>
                        <m:t>+</m:t>
                      </m:r>
                      <m:r>
                        <a:rPr lang="zh-CN" altLang="en-US" sz="2600" i="1">
                          <a:solidFill>
                            <a:srgbClr val="0000FF"/>
                          </a:solidFill>
                          <a:latin typeface="Cambria Math" panose="02040503050406030204" pitchFamily="18" charset="0"/>
                        </a:rPr>
                        <m:t>𝜺</m:t>
                      </m:r>
                    </m:oMath>
                  </m:oMathPara>
                </a14:m>
                <a:endParaRPr lang="en-US" altLang="zh-CN" sz="2600" dirty="0">
                  <a:solidFill>
                    <a:srgbClr val="0000FF"/>
                  </a:solidFill>
                </a:endParaRPr>
              </a:p>
              <a:p>
                <a:pPr marL="0" marR="0" lvl="0" indent="0" algn="l" defTabSz="914400" rtl="0" eaLnBrk="1" fontAlgn="auto" latinLnBrk="0" hangingPunct="1">
                  <a:lnSpc>
                    <a:spcPct val="125000"/>
                  </a:lnSpc>
                  <a:spcBef>
                    <a:spcPct val="20000"/>
                  </a:spcBef>
                  <a:spcAft>
                    <a:spcPts val="0"/>
                  </a:spcAft>
                  <a:buClrTx/>
                  <a:buSzTx/>
                  <a:buFont typeface="Wingdings" pitchFamily="2" charset="2"/>
                  <a:buNone/>
                  <a:tabLst/>
                  <a:defRPr/>
                </a:pPr>
                <a:r>
                  <a:rPr kumimoji="0" lang="zh-CN" altLang="en-US" sz="28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被解释的变量</a:t>
                </a:r>
                <a14:m>
                  <m:oMath xmlns:m="http://schemas.openxmlformats.org/officeDocument/2006/math">
                    <m:r>
                      <a:rPr kumimoji="0" lang="en-US" altLang="zh-CN" sz="2800" b="1" i="1" u="none" strike="noStrike" kern="1200" cap="none" spc="0" normalizeH="0" baseline="0" noProof="0" smtClean="0">
                        <a:ln w="11430"/>
                        <a:solidFill>
                          <a:srgbClr val="008000"/>
                        </a:solidFill>
                        <a:effectLst>
                          <a:outerShdw blurRad="76200" dist="50800" dir="5400000" algn="tl" rotWithShape="0">
                            <a:srgbClr val="000000">
                              <a:alpha val="65000"/>
                            </a:srgbClr>
                          </a:outerShdw>
                        </a:effectLst>
                        <a:uLnTx/>
                        <a:uFillTx/>
                        <a:latin typeface="Cambria Math" panose="02040503050406030204" pitchFamily="18" charset="0"/>
                      </a:rPr>
                      <m:t>𝒚</m:t>
                    </m:r>
                  </m:oMath>
                </a14:m>
                <a:r>
                  <a:rPr kumimoji="0" lang="zh-CN" altLang="en-US" sz="28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的变化可由两个部分解释：</a:t>
                </a:r>
                <a:endParaRPr kumimoji="0" lang="en-US" altLang="zh-CN" sz="28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endParaRPr>
              </a:p>
              <a:p>
                <a:pPr lvl="0"/>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由于</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p</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个解释变量</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𝒙</m:t>
                        </m:r>
                      </m:e>
                      <m:sub>
                        <m:r>
                          <a:rPr lang="en-US" altLang="zh-CN" i="1" dirty="0">
                            <a:latin typeface="Cambria Math" panose="02040503050406030204" pitchFamily="18" charset="0"/>
                          </a:rPr>
                          <m:t>𝟏</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𝒙</m:t>
                        </m:r>
                      </m:e>
                      <m:sub>
                        <m:r>
                          <a:rPr lang="en-US" altLang="zh-CN" i="1" dirty="0">
                            <a:latin typeface="Cambria Math" panose="02040503050406030204" pitchFamily="18" charset="0"/>
                          </a:rPr>
                          <m:t>𝟐</m:t>
                        </m:r>
                      </m:sub>
                    </m:sSub>
                    <m:r>
                      <a:rPr lang="en-US" altLang="zh-CN" dirty="0">
                        <a:latin typeface="Cambria Math" panose="02040503050406030204" pitchFamily="18" charset="0"/>
                      </a:rPr>
                      <m:t>,</m:t>
                    </m:r>
                    <m:r>
                      <a:rPr lang="en-US" altLang="zh-CN" i="1" dirty="0">
                        <a:latin typeface="Cambria Math" panose="02040503050406030204" pitchFamily="18" charset="0"/>
                      </a:rPr>
                      <m:t> </m:t>
                    </m:r>
                    <m:r>
                      <a:rPr lang="en-US"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𝒙</m:t>
                        </m:r>
                      </m:e>
                      <m:sub>
                        <m:r>
                          <a:rPr lang="en-US" altLang="zh-CN" i="1" dirty="0">
                            <a:latin typeface="Cambria Math" panose="02040503050406030204" pitchFamily="18" charset="0"/>
                          </a:rPr>
                          <m:t>𝒑</m:t>
                        </m:r>
                      </m:sub>
                    </m:sSub>
                  </m:oMath>
                </a14:m>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的变化引起的</a:t>
                </a:r>
                <a14:m>
                  <m:oMath xmlns:m="http://schemas.openxmlformats.org/officeDocument/2006/math">
                    <m:r>
                      <a:rPr kumimoji="0" lang="en-US" altLang="zh-CN" sz="2800" b="1" i="1" u="none" strike="noStrike" kern="1200" cap="none" spc="0" normalizeH="0" baseline="0" noProof="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rPr>
                      <m:t>𝒚</m:t>
                    </m:r>
                  </m:oMath>
                </a14:m>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的线性变化部分，</a:t>
                </a:r>
                <a:r>
                  <a:rPr lang="zh-CN" altLang="en-US" dirty="0">
                    <a:solidFill>
                      <a:prstClr val="black"/>
                    </a:solidFill>
                    <a:latin typeface="Euclid" panose="02020503060505020303" pitchFamily="18" charset="0"/>
                  </a:rPr>
                  <a:t>即</a:t>
                </a:r>
                <a14:m>
                  <m:oMath xmlns:m="http://schemas.openxmlformats.org/officeDocument/2006/math">
                    <m:sSub>
                      <m:sSubPr>
                        <m:ctrlPr>
                          <a:rPr lang="en-US" altLang="zh-CN"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𝜷</m:t>
                        </m:r>
                      </m:e>
                      <m:sub>
                        <m:r>
                          <a:rPr lang="en-US" altLang="zh-CN" i="1">
                            <a:solidFill>
                              <a:srgbClr val="0000FF"/>
                            </a:solidFill>
                            <a:latin typeface="Cambria Math" panose="02040503050406030204" pitchFamily="18" charset="0"/>
                          </a:rPr>
                          <m:t>𝟎</m:t>
                        </m:r>
                      </m:sub>
                    </m:sSub>
                    <m:r>
                      <a:rPr lang="en-US" altLang="zh-CN" i="1">
                        <a:solidFill>
                          <a:srgbClr val="0000FF"/>
                        </a:solidFill>
                        <a:latin typeface="Cambria Math" panose="02040503050406030204" pitchFamily="18" charset="0"/>
                      </a:rPr>
                      <m:t>+</m:t>
                    </m:r>
                    <m:sSub>
                      <m:sSubPr>
                        <m:ctrlPr>
                          <a:rPr lang="en-US" altLang="zh-CN"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𝜷</m:t>
                        </m:r>
                      </m:e>
                      <m:sub>
                        <m:r>
                          <a:rPr lang="en-US" altLang="zh-CN" i="1">
                            <a:solidFill>
                              <a:srgbClr val="0000FF"/>
                            </a:solidFill>
                            <a:latin typeface="Cambria Math" panose="02040503050406030204" pitchFamily="18" charset="0"/>
                          </a:rPr>
                          <m:t>𝟏</m:t>
                        </m:r>
                      </m:sub>
                    </m:sSub>
                    <m:sSub>
                      <m:sSubPr>
                        <m:ctrlPr>
                          <a:rPr lang="en-US" altLang="zh-CN" i="1">
                            <a:solidFill>
                              <a:srgbClr val="0000FF"/>
                            </a:solidFill>
                            <a:latin typeface="Cambria Math" panose="02040503050406030204" pitchFamily="18" charset="0"/>
                          </a:rPr>
                        </m:ctrlPr>
                      </m:sSubPr>
                      <m:e>
                        <m:r>
                          <a:rPr lang="en-US" altLang="zh-CN" i="1">
                            <a:solidFill>
                              <a:srgbClr val="0000FF"/>
                            </a:solidFill>
                            <a:latin typeface="Cambria Math" panose="02040503050406030204" pitchFamily="18" charset="0"/>
                          </a:rPr>
                          <m:t>𝒙</m:t>
                        </m:r>
                      </m:e>
                      <m:sub>
                        <m:r>
                          <a:rPr lang="en-US" altLang="zh-CN" i="1">
                            <a:solidFill>
                              <a:srgbClr val="0000FF"/>
                            </a:solidFill>
                            <a:latin typeface="Cambria Math" panose="02040503050406030204" pitchFamily="18" charset="0"/>
                          </a:rPr>
                          <m:t>𝟏</m:t>
                        </m:r>
                      </m:sub>
                    </m:sSub>
                    <m:r>
                      <a:rPr lang="en-US" altLang="zh-CN" i="1">
                        <a:solidFill>
                          <a:srgbClr val="0000FF"/>
                        </a:solidFill>
                        <a:latin typeface="Cambria Math" panose="02040503050406030204" pitchFamily="18" charset="0"/>
                      </a:rPr>
                      <m:t>+</m:t>
                    </m:r>
                    <m:sSub>
                      <m:sSubPr>
                        <m:ctrlPr>
                          <a:rPr lang="en-US" altLang="zh-CN"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𝜷</m:t>
                        </m:r>
                      </m:e>
                      <m:sub>
                        <m:r>
                          <a:rPr lang="en-US" altLang="zh-CN" i="1">
                            <a:solidFill>
                              <a:srgbClr val="0000FF"/>
                            </a:solidFill>
                            <a:latin typeface="Cambria Math" panose="02040503050406030204" pitchFamily="18" charset="0"/>
                          </a:rPr>
                          <m:t>𝟐</m:t>
                        </m:r>
                      </m:sub>
                    </m:sSub>
                    <m:sSub>
                      <m:sSubPr>
                        <m:ctrlPr>
                          <a:rPr lang="en-US" altLang="zh-CN" i="1">
                            <a:solidFill>
                              <a:srgbClr val="0000FF"/>
                            </a:solidFill>
                            <a:latin typeface="Cambria Math" panose="02040503050406030204" pitchFamily="18" charset="0"/>
                          </a:rPr>
                        </m:ctrlPr>
                      </m:sSubPr>
                      <m:e>
                        <m:r>
                          <a:rPr lang="en-US" altLang="zh-CN" i="1">
                            <a:solidFill>
                              <a:srgbClr val="0000FF"/>
                            </a:solidFill>
                            <a:latin typeface="Cambria Math" panose="02040503050406030204" pitchFamily="18" charset="0"/>
                          </a:rPr>
                          <m:t>𝒙</m:t>
                        </m:r>
                      </m:e>
                      <m:sub>
                        <m:r>
                          <a:rPr lang="en-US" altLang="zh-CN" i="1">
                            <a:solidFill>
                              <a:srgbClr val="0000FF"/>
                            </a:solidFill>
                            <a:latin typeface="Cambria Math" panose="02040503050406030204" pitchFamily="18" charset="0"/>
                          </a:rPr>
                          <m:t>𝟐</m:t>
                        </m:r>
                      </m:sub>
                    </m:sSub>
                    <m:r>
                      <a:rPr lang="en-US" altLang="zh-CN" i="1">
                        <a:solidFill>
                          <a:srgbClr val="0000FF"/>
                        </a:solidFill>
                        <a:latin typeface="Cambria Math" panose="02040503050406030204" pitchFamily="18" charset="0"/>
                      </a:rPr>
                      <m:t>+</m:t>
                    </m:r>
                    <m:r>
                      <a:rPr lang="en-US" altLang="zh-CN" i="1">
                        <a:solidFill>
                          <a:srgbClr val="0000FF"/>
                        </a:solidFill>
                        <a:latin typeface="Cambria Math" panose="02040503050406030204" pitchFamily="18" charset="0"/>
                        <a:ea typeface="Cambria Math" panose="02040503050406030204" pitchFamily="18" charset="0"/>
                      </a:rPr>
                      <m:t>⋯+</m:t>
                    </m:r>
                    <m:sSub>
                      <m:sSubPr>
                        <m:ctrlPr>
                          <a:rPr lang="en-US" altLang="zh-CN" i="1">
                            <a:solidFill>
                              <a:srgbClr val="0000FF"/>
                            </a:solidFill>
                            <a:latin typeface="Cambria Math" panose="02040503050406030204" pitchFamily="18" charset="0"/>
                          </a:rPr>
                        </m:ctrlPr>
                      </m:sSubPr>
                      <m:e>
                        <m:r>
                          <a:rPr lang="zh-CN" altLang="en-US" i="1">
                            <a:solidFill>
                              <a:srgbClr val="0000FF"/>
                            </a:solidFill>
                            <a:latin typeface="Cambria Math" panose="02040503050406030204" pitchFamily="18" charset="0"/>
                          </a:rPr>
                          <m:t>𝜷</m:t>
                        </m:r>
                      </m:e>
                      <m:sub>
                        <m:r>
                          <a:rPr lang="en-US" altLang="zh-CN" i="1">
                            <a:solidFill>
                              <a:srgbClr val="0000FF"/>
                            </a:solidFill>
                            <a:latin typeface="Cambria Math" panose="02040503050406030204" pitchFamily="18" charset="0"/>
                          </a:rPr>
                          <m:t>𝒑</m:t>
                        </m:r>
                      </m:sub>
                    </m:sSub>
                    <m:sSub>
                      <m:sSubPr>
                        <m:ctrlPr>
                          <a:rPr lang="en-US" altLang="zh-CN" i="1">
                            <a:solidFill>
                              <a:srgbClr val="0000FF"/>
                            </a:solidFill>
                            <a:latin typeface="Cambria Math" panose="02040503050406030204" pitchFamily="18" charset="0"/>
                          </a:rPr>
                        </m:ctrlPr>
                      </m:sSubPr>
                      <m:e>
                        <m:r>
                          <a:rPr lang="en-US" altLang="zh-CN" i="1">
                            <a:solidFill>
                              <a:srgbClr val="0000FF"/>
                            </a:solidFill>
                            <a:latin typeface="Cambria Math" panose="02040503050406030204" pitchFamily="18" charset="0"/>
                          </a:rPr>
                          <m:t>𝒙</m:t>
                        </m:r>
                      </m:e>
                      <m:sub>
                        <m:r>
                          <a:rPr lang="en-US" altLang="zh-CN" i="1">
                            <a:solidFill>
                              <a:srgbClr val="0000FF"/>
                            </a:solidFill>
                            <a:latin typeface="Cambria Math" panose="02040503050406030204" pitchFamily="18" charset="0"/>
                          </a:rPr>
                          <m:t>𝒑</m:t>
                        </m:r>
                      </m:sub>
                    </m:sSub>
                  </m:oMath>
                </a14:m>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rgbClr val="4BACC6">
                        <a:lumMod val="25000"/>
                      </a:srgbClr>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由其他随机因素引起的</a:t>
                </a:r>
                <a14:m>
                  <m:oMath xmlns:m="http://schemas.openxmlformats.org/officeDocument/2006/math">
                    <m:r>
                      <a:rPr kumimoji="0" lang="en-US" altLang="zh-CN" sz="2800" b="1" i="1" u="none" strike="noStrike" kern="1200" cap="none" spc="0" normalizeH="0" baseline="0" noProof="0">
                        <a:ln w="11430"/>
                        <a:solidFill>
                          <a:srgbClr val="4BACC6">
                            <a:lumMod val="25000"/>
                          </a:srgbClr>
                        </a:solidFill>
                        <a:effectLst>
                          <a:outerShdw blurRad="76200" dist="50800" dir="5400000" algn="tl" rotWithShape="0">
                            <a:srgbClr val="000000">
                              <a:alpha val="65000"/>
                            </a:srgbClr>
                          </a:outerShdw>
                        </a:effectLst>
                        <a:uLnTx/>
                        <a:uFillTx/>
                        <a:latin typeface="Cambria Math" panose="02040503050406030204" pitchFamily="18" charset="0"/>
                      </a:rPr>
                      <m:t>𝒚</m:t>
                    </m:r>
                  </m:oMath>
                </a14:m>
                <a:r>
                  <a:rPr kumimoji="0" lang="zh-CN" altLang="en-US" sz="2800" b="1" i="0" u="none" strike="noStrike" kern="1200" cap="none" spc="0" normalizeH="0" baseline="0" noProof="0" dirty="0">
                    <a:ln w="11430"/>
                    <a:solidFill>
                      <a:srgbClr val="4BACC6">
                        <a:lumMod val="25000"/>
                      </a:srgbClr>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rPr>
                  <a:t>的变化部分，即</a:t>
                </a:r>
                <a14:m>
                  <m:oMath xmlns:m="http://schemas.openxmlformats.org/officeDocument/2006/math">
                    <m:r>
                      <a:rPr kumimoji="0" lang="zh-CN" altLang="en-US" sz="2800" b="1" i="1" u="none" strike="noStrike" kern="1200" cap="none" spc="0" normalizeH="0" baseline="0" noProof="0">
                        <a:ln w="11430"/>
                        <a:solidFill>
                          <a:srgbClr val="4BACC6">
                            <a:lumMod val="25000"/>
                          </a:srgbClr>
                        </a:solidFill>
                        <a:effectLst>
                          <a:outerShdw blurRad="76200" dist="50800" dir="5400000" algn="tl" rotWithShape="0">
                            <a:srgbClr val="000000">
                              <a:alpha val="65000"/>
                            </a:srgbClr>
                          </a:outerShdw>
                        </a:effectLst>
                        <a:uLnTx/>
                        <a:uFillTx/>
                        <a:latin typeface="Cambria Math" panose="02040503050406030204" pitchFamily="18" charset="0"/>
                      </a:rPr>
                      <m:t>𝜺</m:t>
                    </m:r>
                  </m:oMath>
                </a14:m>
                <a:endParaRPr kumimoji="0" lang="en-US" altLang="zh-CN" sz="2800" b="1" i="0" u="none" strike="noStrike" kern="1200" cap="none" spc="0" normalizeH="0" baseline="0" noProof="0" dirty="0">
                  <a:ln w="11430"/>
                  <a:solidFill>
                    <a:srgbClr val="4BACC6">
                      <a:lumMod val="25000"/>
                    </a:srgbClr>
                  </a:solidFill>
                  <a:effectLst>
                    <a:outerShdw blurRad="76200" dist="50800" dir="5400000" algn="tl" rotWithShape="0">
                      <a:srgbClr val="000000">
                        <a:alpha val="65000"/>
                      </a:srgbClr>
                    </a:outerShdw>
                  </a:effectLst>
                  <a:uLnTx/>
                  <a:uFillTx/>
                  <a:latin typeface="Euclid" panose="02020503060505020303" pitchFamily="18"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mc:Choice>
        <mc:Fallback xmlns="">
          <p:sp>
            <p:nvSpPr>
              <p:cNvPr id="9" name="内容占位符 4">
                <a:extLst>
                  <a:ext uri="{FF2B5EF4-FFF2-40B4-BE49-F238E27FC236}">
                    <a16:creationId xmlns:a16="http://schemas.microsoft.com/office/drawing/2014/main" id="{0CCCC129-F595-0DFE-9695-421A96FC31A0}"/>
                  </a:ext>
                </a:extLst>
              </p:cNvPr>
              <p:cNvSpPr txBox="1">
                <a:spLocks noRot="1" noChangeAspect="1" noMove="1" noResize="1" noEditPoints="1" noAdjustHandles="1" noChangeArrowheads="1" noChangeShapeType="1" noTextEdit="1"/>
              </p:cNvSpPr>
              <p:nvPr/>
            </p:nvSpPr>
            <p:spPr>
              <a:xfrm>
                <a:off x="995422" y="2159994"/>
                <a:ext cx="10624649" cy="4525963"/>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4152344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52DBC-108A-27A1-8BC4-6020B884426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1ECD5599-E849-E069-1981-C341229D3215}"/>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8E5865CD-7E64-0155-2D8A-49457331B582}"/>
              </a:ext>
            </a:extLst>
          </p:cNvPr>
          <p:cNvSpPr txBox="1"/>
          <p:nvPr/>
        </p:nvSpPr>
        <p:spPr>
          <a:xfrm>
            <a:off x="457200" y="1204090"/>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a:t>
            </a:r>
          </a:p>
        </p:txBody>
      </p:sp>
      <mc:AlternateContent xmlns:mc="http://schemas.openxmlformats.org/markup-compatibility/2006" xmlns:a14="http://schemas.microsoft.com/office/drawing/2010/main">
        <mc:Choice Requires="a14">
          <p:sp>
            <p:nvSpPr>
              <p:cNvPr id="4" name="内容占位符 4">
                <a:extLst>
                  <a:ext uri="{FF2B5EF4-FFF2-40B4-BE49-F238E27FC236}">
                    <a16:creationId xmlns:a16="http://schemas.microsoft.com/office/drawing/2014/main" id="{3DA59F04-414D-3D0A-B868-4F87728AAC4B}"/>
                  </a:ext>
                </a:extLst>
              </p:cNvPr>
              <p:cNvSpPr txBox="1">
                <a:spLocks/>
              </p:cNvSpPr>
              <p:nvPr/>
            </p:nvSpPr>
            <p:spPr>
              <a:xfrm>
                <a:off x="1311965" y="2108624"/>
                <a:ext cx="8229600" cy="4525963"/>
              </a:xfrm>
              <a:prstGeom prst="rect">
                <a:avLst/>
              </a:prstGeom>
            </p:spPr>
            <p:txBody>
              <a:bodyPr vert="horz" lIns="91440" tIns="45720" rIns="91440" bIns="45720" rtlCol="0">
                <a:normAutofit lnSpcReduction="10000"/>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lang="zh-CN" altLang="en-US" dirty="0">
                    <a:solidFill>
                      <a:srgbClr val="1F497D">
                        <a:lumMod val="60000"/>
                        <a:lumOff val="40000"/>
                      </a:srgbClr>
                    </a:solidFill>
                  </a:rPr>
                  <a:t>多</a:t>
                </a:r>
                <a:r>
                  <a:rPr kumimoji="0" lang="zh-CN" altLang="en-US" sz="2800" b="1" i="0" u="none" strike="noStrike" kern="1200" cap="none" spc="0" normalizeH="0" baseline="0" noProof="0" dirty="0">
                    <a:ln w="11430"/>
                    <a:solidFill>
                      <a:srgbClr val="1F497D">
                        <a:lumMod val="60000"/>
                        <a:lumOff val="40000"/>
                      </a:srgbClr>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元线性回归的数学模型</a:t>
                </a:r>
                <a:endParaRPr kumimoji="0" lang="en-US" altLang="zh-CN" sz="2800" b="1" i="0" u="none" strike="noStrike" kern="1200" cap="none" spc="0" normalizeH="0" baseline="0" noProof="0" dirty="0">
                  <a:ln w="11430"/>
                  <a:solidFill>
                    <a:srgbClr val="1F497D">
                      <a:lumMod val="60000"/>
                      <a:lumOff val="40000"/>
                    </a:srgbClr>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0" lvl="0" indent="0">
                  <a:buNone/>
                </a:pPr>
                <a14:m>
                  <m:oMathPara xmlns:m="http://schemas.openxmlformats.org/officeDocument/2006/math">
                    <m:oMathParaPr>
                      <m:jc m:val="centerGroup"/>
                    </m:oMathParaPr>
                    <m:oMath xmlns:m="http://schemas.openxmlformats.org/officeDocument/2006/math">
                      <m:r>
                        <a:rPr lang="en-US" altLang="zh-CN" sz="2600" b="0" i="1">
                          <a:ln>
                            <a:noFill/>
                          </a:ln>
                          <a:solidFill>
                            <a:srgbClr val="0000FF"/>
                          </a:solidFill>
                          <a:effectLst/>
                          <a:latin typeface="Cambria Math" panose="02040503050406030204" pitchFamily="18" charset="0"/>
                          <a:cs typeface="+mn-cs"/>
                        </a:rPr>
                        <m:t>𝒚</m:t>
                      </m:r>
                      <m:r>
                        <a:rPr lang="en-US" altLang="zh-CN" sz="2600" b="0" i="1">
                          <a:ln>
                            <a:noFill/>
                          </a:ln>
                          <a:solidFill>
                            <a:srgbClr val="0000FF"/>
                          </a:solidFill>
                          <a:effectLst/>
                          <a:latin typeface="Cambria Math" panose="02040503050406030204" pitchFamily="18" charset="0"/>
                          <a:cs typeface="+mn-cs"/>
                        </a:rPr>
                        <m:t>=</m:t>
                      </m:r>
                      <m:sSub>
                        <m:sSubPr>
                          <m:ctrlPr>
                            <a:rPr lang="en-US" altLang="zh-CN" sz="2600" b="0" i="1">
                              <a:ln>
                                <a:noFill/>
                              </a:ln>
                              <a:solidFill>
                                <a:srgbClr val="0000FF"/>
                              </a:solidFill>
                              <a:effectLst/>
                              <a:latin typeface="Cambria Math" panose="02040503050406030204" pitchFamily="18" charset="0"/>
                              <a:cs typeface="+mn-cs"/>
                            </a:rPr>
                          </m:ctrlPr>
                        </m:sSubPr>
                        <m:e>
                          <m:r>
                            <a:rPr lang="zh-CN" altLang="en-US" sz="2600" b="0" i="1">
                              <a:ln>
                                <a:noFill/>
                              </a:ln>
                              <a:solidFill>
                                <a:srgbClr val="0000FF"/>
                              </a:solidFill>
                              <a:effectLst/>
                              <a:latin typeface="Cambria Math" panose="02040503050406030204" pitchFamily="18" charset="0"/>
                              <a:cs typeface="+mn-cs"/>
                            </a:rPr>
                            <m:t>𝜷</m:t>
                          </m:r>
                        </m:e>
                        <m:sub>
                          <m:r>
                            <a:rPr lang="en-US" altLang="zh-CN" sz="2600" b="0" i="1">
                              <a:ln>
                                <a:noFill/>
                              </a:ln>
                              <a:solidFill>
                                <a:srgbClr val="0000FF"/>
                              </a:solidFill>
                              <a:effectLst/>
                              <a:latin typeface="Cambria Math" panose="02040503050406030204" pitchFamily="18" charset="0"/>
                              <a:cs typeface="+mn-cs"/>
                            </a:rPr>
                            <m:t>𝟎</m:t>
                          </m:r>
                        </m:sub>
                      </m:sSub>
                      <m:r>
                        <a:rPr lang="en-US" altLang="zh-CN" sz="2600" b="0" i="1">
                          <a:ln>
                            <a:noFill/>
                          </a:ln>
                          <a:solidFill>
                            <a:srgbClr val="0000FF"/>
                          </a:solidFill>
                          <a:effectLst/>
                          <a:latin typeface="Cambria Math" panose="02040503050406030204" pitchFamily="18" charset="0"/>
                          <a:cs typeface="+mn-cs"/>
                        </a:rPr>
                        <m:t>+</m:t>
                      </m:r>
                      <m:sSub>
                        <m:sSubPr>
                          <m:ctrlPr>
                            <a:rPr lang="en-US" altLang="zh-CN" sz="2600" b="0" i="1">
                              <a:ln>
                                <a:noFill/>
                              </a:ln>
                              <a:solidFill>
                                <a:srgbClr val="0000FF"/>
                              </a:solidFill>
                              <a:effectLst/>
                              <a:latin typeface="Cambria Math" panose="02040503050406030204" pitchFamily="18" charset="0"/>
                              <a:cs typeface="+mn-cs"/>
                            </a:rPr>
                          </m:ctrlPr>
                        </m:sSubPr>
                        <m:e>
                          <m:r>
                            <a:rPr lang="zh-CN" altLang="en-US" sz="2600" b="0" i="1">
                              <a:ln>
                                <a:noFill/>
                              </a:ln>
                              <a:solidFill>
                                <a:srgbClr val="0000FF"/>
                              </a:solidFill>
                              <a:effectLst/>
                              <a:latin typeface="Cambria Math" panose="02040503050406030204" pitchFamily="18" charset="0"/>
                              <a:cs typeface="+mn-cs"/>
                            </a:rPr>
                            <m:t>𝜷</m:t>
                          </m:r>
                        </m:e>
                        <m:sub>
                          <m:r>
                            <a:rPr lang="en-US" altLang="zh-CN" sz="2600" b="0" i="1">
                              <a:ln>
                                <a:noFill/>
                              </a:ln>
                              <a:solidFill>
                                <a:srgbClr val="0000FF"/>
                              </a:solidFill>
                              <a:effectLst/>
                              <a:latin typeface="Cambria Math" panose="02040503050406030204" pitchFamily="18" charset="0"/>
                              <a:cs typeface="+mn-cs"/>
                            </a:rPr>
                            <m:t>𝟏</m:t>
                          </m:r>
                        </m:sub>
                      </m:sSub>
                      <m:sSub>
                        <m:sSubPr>
                          <m:ctrlPr>
                            <a:rPr lang="en-US" altLang="zh-CN" sz="2600" b="0" i="1">
                              <a:ln>
                                <a:noFill/>
                              </a:ln>
                              <a:solidFill>
                                <a:srgbClr val="0000FF"/>
                              </a:solidFill>
                              <a:effectLst/>
                              <a:latin typeface="Cambria Math" panose="02040503050406030204" pitchFamily="18" charset="0"/>
                              <a:cs typeface="+mn-cs"/>
                            </a:rPr>
                          </m:ctrlPr>
                        </m:sSubPr>
                        <m:e>
                          <m:r>
                            <a:rPr lang="en-US" altLang="zh-CN" sz="2600" b="0" i="1">
                              <a:ln>
                                <a:noFill/>
                              </a:ln>
                              <a:solidFill>
                                <a:srgbClr val="0000FF"/>
                              </a:solidFill>
                              <a:effectLst/>
                              <a:latin typeface="Cambria Math" panose="02040503050406030204" pitchFamily="18" charset="0"/>
                              <a:cs typeface="+mn-cs"/>
                            </a:rPr>
                            <m:t>𝒙</m:t>
                          </m:r>
                        </m:e>
                        <m:sub>
                          <m:r>
                            <a:rPr lang="en-US" altLang="zh-CN" sz="2600" b="0" i="1">
                              <a:ln>
                                <a:noFill/>
                              </a:ln>
                              <a:solidFill>
                                <a:srgbClr val="0000FF"/>
                              </a:solidFill>
                              <a:effectLst/>
                              <a:latin typeface="Cambria Math" panose="02040503050406030204" pitchFamily="18" charset="0"/>
                              <a:cs typeface="+mn-cs"/>
                            </a:rPr>
                            <m:t>𝟏</m:t>
                          </m:r>
                        </m:sub>
                      </m:sSub>
                      <m:r>
                        <a:rPr lang="en-US" altLang="zh-CN" sz="2600" b="0" i="1">
                          <a:ln>
                            <a:noFill/>
                          </a:ln>
                          <a:solidFill>
                            <a:srgbClr val="0000FF"/>
                          </a:solidFill>
                          <a:effectLst/>
                          <a:latin typeface="Cambria Math" panose="02040503050406030204" pitchFamily="18" charset="0"/>
                          <a:cs typeface="+mn-cs"/>
                        </a:rPr>
                        <m:t>+</m:t>
                      </m:r>
                      <m:sSub>
                        <m:sSubPr>
                          <m:ctrlPr>
                            <a:rPr lang="en-US" altLang="zh-CN" sz="2600" b="0" i="1">
                              <a:ln>
                                <a:noFill/>
                              </a:ln>
                              <a:solidFill>
                                <a:srgbClr val="0000FF"/>
                              </a:solidFill>
                              <a:effectLst/>
                              <a:latin typeface="Cambria Math" panose="02040503050406030204" pitchFamily="18" charset="0"/>
                              <a:cs typeface="+mn-cs"/>
                            </a:rPr>
                          </m:ctrlPr>
                        </m:sSubPr>
                        <m:e>
                          <m:r>
                            <a:rPr lang="zh-CN" altLang="en-US" sz="2600" b="0" i="1">
                              <a:ln>
                                <a:noFill/>
                              </a:ln>
                              <a:solidFill>
                                <a:srgbClr val="0000FF"/>
                              </a:solidFill>
                              <a:effectLst/>
                              <a:latin typeface="Cambria Math" panose="02040503050406030204" pitchFamily="18" charset="0"/>
                              <a:cs typeface="+mn-cs"/>
                            </a:rPr>
                            <m:t>𝜷</m:t>
                          </m:r>
                        </m:e>
                        <m:sub>
                          <m:r>
                            <a:rPr lang="en-US" altLang="zh-CN" sz="2600" b="0" i="1">
                              <a:ln>
                                <a:noFill/>
                              </a:ln>
                              <a:solidFill>
                                <a:srgbClr val="0000FF"/>
                              </a:solidFill>
                              <a:effectLst/>
                              <a:latin typeface="Cambria Math" panose="02040503050406030204" pitchFamily="18" charset="0"/>
                              <a:cs typeface="+mn-cs"/>
                            </a:rPr>
                            <m:t>𝟐</m:t>
                          </m:r>
                        </m:sub>
                      </m:sSub>
                      <m:sSub>
                        <m:sSubPr>
                          <m:ctrlPr>
                            <a:rPr lang="en-US" altLang="zh-CN" sz="2600" b="0" i="1">
                              <a:ln>
                                <a:noFill/>
                              </a:ln>
                              <a:solidFill>
                                <a:srgbClr val="0000FF"/>
                              </a:solidFill>
                              <a:effectLst/>
                              <a:latin typeface="Cambria Math" panose="02040503050406030204" pitchFamily="18" charset="0"/>
                              <a:cs typeface="+mn-cs"/>
                            </a:rPr>
                          </m:ctrlPr>
                        </m:sSubPr>
                        <m:e>
                          <m:r>
                            <a:rPr lang="en-US" altLang="zh-CN" sz="2600" b="0" i="1">
                              <a:ln>
                                <a:noFill/>
                              </a:ln>
                              <a:solidFill>
                                <a:srgbClr val="0000FF"/>
                              </a:solidFill>
                              <a:effectLst/>
                              <a:latin typeface="Cambria Math" panose="02040503050406030204" pitchFamily="18" charset="0"/>
                              <a:cs typeface="+mn-cs"/>
                            </a:rPr>
                            <m:t>𝒙</m:t>
                          </m:r>
                        </m:e>
                        <m:sub>
                          <m:r>
                            <a:rPr lang="en-US" altLang="zh-CN" sz="2600" b="0" i="1">
                              <a:ln>
                                <a:noFill/>
                              </a:ln>
                              <a:solidFill>
                                <a:srgbClr val="0000FF"/>
                              </a:solidFill>
                              <a:effectLst/>
                              <a:latin typeface="Cambria Math" panose="02040503050406030204" pitchFamily="18" charset="0"/>
                              <a:cs typeface="+mn-cs"/>
                            </a:rPr>
                            <m:t>𝟐</m:t>
                          </m:r>
                        </m:sub>
                      </m:sSub>
                      <m:r>
                        <a:rPr lang="en-US" altLang="zh-CN" sz="2600" b="0" i="1">
                          <a:ln>
                            <a:noFill/>
                          </a:ln>
                          <a:solidFill>
                            <a:srgbClr val="0000FF"/>
                          </a:solidFill>
                          <a:effectLst/>
                          <a:latin typeface="Cambria Math" panose="02040503050406030204" pitchFamily="18" charset="0"/>
                          <a:cs typeface="+mn-cs"/>
                        </a:rPr>
                        <m:t>+</m:t>
                      </m:r>
                      <m:r>
                        <a:rPr lang="en-US" altLang="zh-CN" sz="2600" b="0" i="1">
                          <a:ln>
                            <a:noFill/>
                          </a:ln>
                          <a:solidFill>
                            <a:srgbClr val="0000FF"/>
                          </a:solidFill>
                          <a:effectLst/>
                          <a:latin typeface="Cambria Math" panose="02040503050406030204" pitchFamily="18" charset="0"/>
                          <a:ea typeface="Cambria Math" panose="02040503050406030204" pitchFamily="18" charset="0"/>
                          <a:cs typeface="+mn-cs"/>
                        </a:rPr>
                        <m:t>⋯+</m:t>
                      </m:r>
                      <m:sSub>
                        <m:sSubPr>
                          <m:ctrlPr>
                            <a:rPr lang="en-US" altLang="zh-CN" sz="2600" b="0" i="1">
                              <a:ln>
                                <a:noFill/>
                              </a:ln>
                              <a:solidFill>
                                <a:srgbClr val="0000FF"/>
                              </a:solidFill>
                              <a:effectLst/>
                              <a:latin typeface="Cambria Math" panose="02040503050406030204" pitchFamily="18" charset="0"/>
                              <a:cs typeface="+mn-cs"/>
                            </a:rPr>
                          </m:ctrlPr>
                        </m:sSubPr>
                        <m:e>
                          <m:r>
                            <a:rPr lang="zh-CN" altLang="en-US" sz="2600" b="0" i="1">
                              <a:ln>
                                <a:noFill/>
                              </a:ln>
                              <a:solidFill>
                                <a:srgbClr val="0000FF"/>
                              </a:solidFill>
                              <a:effectLst/>
                              <a:latin typeface="Cambria Math" panose="02040503050406030204" pitchFamily="18" charset="0"/>
                              <a:cs typeface="+mn-cs"/>
                            </a:rPr>
                            <m:t>𝜷</m:t>
                          </m:r>
                        </m:e>
                        <m:sub>
                          <m:r>
                            <a:rPr lang="en-US" altLang="zh-CN" sz="2600" b="0" i="1">
                              <a:ln>
                                <a:noFill/>
                              </a:ln>
                              <a:solidFill>
                                <a:srgbClr val="0000FF"/>
                              </a:solidFill>
                              <a:effectLst/>
                              <a:latin typeface="Cambria Math" panose="02040503050406030204" pitchFamily="18" charset="0"/>
                              <a:cs typeface="+mn-cs"/>
                            </a:rPr>
                            <m:t>𝒑</m:t>
                          </m:r>
                        </m:sub>
                      </m:sSub>
                      <m:sSub>
                        <m:sSubPr>
                          <m:ctrlPr>
                            <a:rPr lang="en-US" altLang="zh-CN" sz="2600" b="0" i="1">
                              <a:ln>
                                <a:noFill/>
                              </a:ln>
                              <a:solidFill>
                                <a:srgbClr val="0000FF"/>
                              </a:solidFill>
                              <a:effectLst/>
                              <a:latin typeface="Cambria Math" panose="02040503050406030204" pitchFamily="18" charset="0"/>
                              <a:cs typeface="+mn-cs"/>
                            </a:rPr>
                          </m:ctrlPr>
                        </m:sSubPr>
                        <m:e>
                          <m:r>
                            <a:rPr lang="en-US" altLang="zh-CN" sz="2600" b="0" i="1">
                              <a:ln>
                                <a:noFill/>
                              </a:ln>
                              <a:solidFill>
                                <a:srgbClr val="0000FF"/>
                              </a:solidFill>
                              <a:effectLst/>
                              <a:latin typeface="Cambria Math" panose="02040503050406030204" pitchFamily="18" charset="0"/>
                              <a:cs typeface="+mn-cs"/>
                            </a:rPr>
                            <m:t>𝒙</m:t>
                          </m:r>
                        </m:e>
                        <m:sub>
                          <m:r>
                            <a:rPr lang="en-US" altLang="zh-CN" sz="2600" b="0" i="1">
                              <a:ln>
                                <a:noFill/>
                              </a:ln>
                              <a:solidFill>
                                <a:srgbClr val="0000FF"/>
                              </a:solidFill>
                              <a:effectLst/>
                              <a:latin typeface="Cambria Math" panose="02040503050406030204" pitchFamily="18" charset="0"/>
                              <a:cs typeface="+mn-cs"/>
                            </a:rPr>
                            <m:t>𝒑</m:t>
                          </m:r>
                        </m:sub>
                      </m:sSub>
                      <m:r>
                        <a:rPr lang="en-US" altLang="zh-CN" sz="2600" b="0" i="1">
                          <a:ln>
                            <a:noFill/>
                          </a:ln>
                          <a:solidFill>
                            <a:srgbClr val="0000FF"/>
                          </a:solidFill>
                          <a:effectLst/>
                          <a:latin typeface="Cambria Math" panose="02040503050406030204" pitchFamily="18" charset="0"/>
                          <a:cs typeface="+mn-cs"/>
                        </a:rPr>
                        <m:t>+</m:t>
                      </m:r>
                      <m:r>
                        <a:rPr lang="zh-CN" altLang="en-US" sz="2600" b="0" i="1">
                          <a:ln>
                            <a:noFill/>
                          </a:ln>
                          <a:solidFill>
                            <a:srgbClr val="0000FF"/>
                          </a:solidFill>
                          <a:effectLst/>
                          <a:latin typeface="Cambria Math" panose="02040503050406030204" pitchFamily="18" charset="0"/>
                          <a:cs typeface="+mn-cs"/>
                        </a:rPr>
                        <m:t>𝜺</m:t>
                      </m:r>
                    </m:oMath>
                  </m:oMathPara>
                </a14:m>
                <a:endParaRPr kumimoji="0" lang="en-US" altLang="zh-CN" sz="28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0" marR="0" lvl="0" indent="0" algn="l" defTabSz="914400" rtl="0" eaLnBrk="1" fontAlgn="auto" latinLnBrk="0" hangingPunct="1">
                  <a:lnSpc>
                    <a:spcPct val="125000"/>
                  </a:lnSpc>
                  <a:spcBef>
                    <a:spcPct val="20000"/>
                  </a:spcBef>
                  <a:spcAft>
                    <a:spcPts val="0"/>
                  </a:spcAft>
                  <a:buClrTx/>
                  <a:buSzTx/>
                  <a:buFont typeface="Wingdings" pitchFamily="2" charset="2"/>
                  <a:buNone/>
                  <a:tabLst/>
                  <a:defRPr/>
                </a:pPr>
                <a:r>
                  <a:rPr kumimoji="0" lang="zh-CN" altLang="en-US" sz="26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回归模型中的参数说明：</a:t>
                </a:r>
                <a:endParaRPr kumimoji="0" lang="en-US" altLang="zh-CN" sz="26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14:m>
                  <m:oMath xmlns:m="http://schemas.openxmlformats.org/officeDocument/2006/math">
                    <m:sSub>
                      <m:sSubPr>
                        <m:ctrlPr>
                          <a:rPr kumimoji="0" lang="en-US" altLang="zh-CN" sz="2600" b="1" i="1" u="none" strike="noStrike" kern="1200" cap="none" spc="0" normalizeH="0" baseline="0" noProof="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zh-CN" altLang="en-US" sz="2600" b="1" i="1" u="none" strike="noStrike" kern="1200" cap="none" spc="0" normalizeH="0" baseline="0" noProof="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600" b="1" i="1" u="none" strike="noStrike" kern="1200" cap="none" spc="0" normalizeH="0" baseline="0" noProof="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t>𝟎</m:t>
                        </m:r>
                      </m:sub>
                    </m:sSub>
                  </m:oMath>
                </a14:m>
                <a:r>
                  <a:rPr kumimoji="0" lang="zh-CN" altLang="en-US" sz="2600" b="1" i="0" u="none" strike="noStrike" kern="1200" cap="none" spc="0" normalizeH="0" baseline="0" noProof="0" dirty="0">
                    <a:ln w="11430"/>
                    <a:solidFill>
                      <a:prstClr val="black">
                        <a:lumMod val="95000"/>
                        <a:lumOff val="5000"/>
                      </a:prstClr>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：回归</a:t>
                </a:r>
                <a:r>
                  <a:rPr kumimoji="0" lang="zh-CN" altLang="en-US" sz="2600" b="1" i="0" u="none" strike="noStrike" kern="1200" cap="none" spc="0" normalizeH="0" baseline="0" noProof="0" dirty="0">
                    <a:ln w="11430"/>
                    <a:solidFill>
                      <a:srgbClr val="FF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常数</a:t>
                </a:r>
                <a:endParaRPr kumimoji="0" lang="en-US" altLang="zh-CN" sz="2600" b="1" i="0" u="none" strike="noStrike" kern="1200" cap="none" spc="0" normalizeH="0" baseline="0" noProof="0" dirty="0">
                  <a:ln w="11430"/>
                  <a:solidFill>
                    <a:srgbClr val="FF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14:m>
                  <m:oMath xmlns:m="http://schemas.openxmlformats.org/officeDocument/2006/math">
                    <m:sSub>
                      <m:sSubPr>
                        <m:ctrlPr>
                          <a:rPr kumimoji="0" lang="en-US" altLang="zh-CN" sz="2600" b="1" i="1" u="none" strike="noStrike" kern="1200" cap="none" spc="0" normalizeH="0" baseline="0" noProof="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zh-CN" altLang="en-US" sz="2600" b="1" i="1" u="none" strike="noStrike" kern="1200" cap="none" spc="0" normalizeH="0" baseline="0" noProof="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600" b="1" i="1" u="none" strike="noStrike" kern="1200" cap="none" spc="0" normalizeH="0" baseline="0" noProof="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t>𝟏</m:t>
                        </m:r>
                      </m:sub>
                    </m:sSub>
                    <m:r>
                      <a:rPr kumimoji="0" lang="en-US" altLang="zh-CN" sz="2600" b="1" i="1" u="none" strike="noStrike" kern="1200" cap="none" spc="0" normalizeH="0" baseline="0" noProof="0" smtClean="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t>,</m:t>
                    </m:r>
                    <m:sSub>
                      <m:sSubPr>
                        <m:ctrlPr>
                          <a:rPr kumimoji="0" lang="en-US" altLang="zh-CN" sz="2600" b="1" i="1" u="none" strike="noStrike" kern="1200" cap="none" spc="0" normalizeH="0" baseline="0" noProof="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zh-CN" altLang="en-US" sz="2600" b="1" i="1" u="none" strike="noStrike" kern="1200" cap="none" spc="0" normalizeH="0" baseline="0" noProof="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600" b="1" i="1" u="none" strike="noStrike" kern="1200" cap="none" spc="0" normalizeH="0" baseline="0" noProof="0" smtClean="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t>𝟐</m:t>
                        </m:r>
                      </m:sub>
                    </m:sSub>
                    <m:r>
                      <a:rPr kumimoji="0" lang="en-US" altLang="zh-CN" sz="2600" b="1" i="1" u="none" strike="noStrike" kern="1200" cap="none" spc="0" normalizeH="0" baseline="0" noProof="0" smtClean="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t>,</m:t>
                    </m:r>
                    <m:r>
                      <a:rPr kumimoji="0" lang="en-US" altLang="zh-CN" sz="2600" b="1" i="1" u="none" strike="noStrike" kern="1200" cap="none" spc="0" normalizeH="0" baseline="0" noProof="0" smtClean="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ea typeface="Cambria Math" panose="02040503050406030204" pitchFamily="18" charset="0"/>
                      </a:rPr>
                      <m:t>⋯,</m:t>
                    </m:r>
                    <m:sSub>
                      <m:sSubPr>
                        <m:ctrlPr>
                          <a:rPr kumimoji="0" lang="en-US" altLang="zh-CN" sz="2600" b="1" i="1" u="none" strike="noStrike" kern="1200" cap="none" spc="0" normalizeH="0" baseline="0" noProof="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ctrlPr>
                      </m:sSubPr>
                      <m:e>
                        <m:r>
                          <a:rPr kumimoji="0" lang="zh-CN" altLang="en-US" sz="2600" b="1" i="1" u="none" strike="noStrike" kern="1200" cap="none" spc="0" normalizeH="0" baseline="0" noProof="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600" b="1" i="1" u="none" strike="noStrike" kern="1200" cap="none" spc="0" normalizeH="0" baseline="0" noProof="0" smtClean="0">
                            <a:ln w="11430"/>
                            <a:solidFill>
                              <a:prstClr val="black">
                                <a:lumMod val="95000"/>
                                <a:lumOff val="5000"/>
                              </a:prstClr>
                            </a:solidFill>
                            <a:effectLst>
                              <a:outerShdw blurRad="76200" dist="50800" dir="5400000" algn="tl" rotWithShape="0">
                                <a:srgbClr val="000000">
                                  <a:alpha val="65000"/>
                                </a:srgbClr>
                              </a:outerShdw>
                            </a:effectLst>
                            <a:uLnTx/>
                            <a:uFillTx/>
                            <a:latin typeface="Cambria Math" panose="02040503050406030204" pitchFamily="18" charset="0"/>
                          </a:rPr>
                          <m:t>𝒑</m:t>
                        </m:r>
                      </m:sub>
                    </m:sSub>
                  </m:oMath>
                </a14:m>
                <a:r>
                  <a:rPr kumimoji="0" lang="zh-CN" altLang="en-US" sz="2600" b="1" i="0" u="none" strike="noStrike" kern="1200" cap="none" spc="0" normalizeH="0" baseline="0" noProof="0" dirty="0">
                    <a:ln w="11430"/>
                    <a:solidFill>
                      <a:prstClr val="black">
                        <a:lumMod val="95000"/>
                        <a:lumOff val="5000"/>
                      </a:prstClr>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：偏回归</a:t>
                </a:r>
                <a:r>
                  <a:rPr kumimoji="0" lang="zh-CN" altLang="en-US" sz="2600" b="1" i="0" u="none" strike="noStrike" kern="1200" cap="none" spc="0" normalizeH="0" baseline="0" noProof="0" dirty="0">
                    <a:ln w="11430"/>
                    <a:solidFill>
                      <a:srgbClr val="FF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系数</a:t>
                </a:r>
                <a:endParaRPr kumimoji="0" lang="en-US" altLang="zh-CN" sz="2600" b="1" i="0" u="none" strike="noStrike" kern="1200" cap="none" spc="0" normalizeH="0" baseline="0" noProof="0" dirty="0">
                  <a:ln w="11430"/>
                  <a:solidFill>
                    <a:srgbClr val="FF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14:m>
                  <m:oMath xmlns:m="http://schemas.openxmlformats.org/officeDocument/2006/math">
                    <m:r>
                      <a:rPr kumimoji="0" lang="zh-CN" altLang="en-US" sz="2600" b="1" i="1" u="none" strike="noStrike" kern="1200" cap="none" spc="0" normalizeH="0" baseline="0" noProof="0" smtClean="0">
                        <a:ln w="11430"/>
                        <a:solidFill>
                          <a:prstClr val="black"/>
                        </a:solidFill>
                        <a:effectLst>
                          <a:outerShdw blurRad="76200" dist="50800" dir="5400000" algn="tl" rotWithShape="0">
                            <a:srgbClr val="000000">
                              <a:alpha val="65000"/>
                            </a:srgbClr>
                          </a:outerShdw>
                        </a:effectLst>
                        <a:uLnTx/>
                        <a:uFillTx/>
                        <a:latin typeface="Cambria Math" panose="02040503050406030204" pitchFamily="18" charset="0"/>
                      </a:rPr>
                      <m:t>𝜺</m:t>
                    </m:r>
                  </m:oMath>
                </a14:m>
                <a:r>
                  <a:rPr kumimoji="0" lang="zh-CN" altLang="en-US" sz="2600" b="1" i="0" u="none" strike="noStrike" kern="1200" cap="none" spc="0" normalizeH="0" baseline="0" noProof="0" dirty="0">
                    <a:ln w="11430"/>
                    <a:solidFill>
                      <a:prstClr val="black"/>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：随机误差</a:t>
                </a:r>
                <a:r>
                  <a:rPr kumimoji="0" lang="zh-CN" altLang="en-US" sz="26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，要求满足</a:t>
                </a:r>
                <a:endParaRPr kumimoji="0" lang="en-US" altLang="zh-CN" sz="26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0" marR="0" lvl="0" indent="0" algn="l" defTabSz="914400" rtl="0" eaLnBrk="1" fontAlgn="auto" latinLnBrk="0" hangingPunct="1">
                  <a:lnSpc>
                    <a:spcPct val="125000"/>
                  </a:lnSpc>
                  <a:spcBef>
                    <a:spcPct val="20000"/>
                  </a:spcBef>
                  <a:spcAft>
                    <a:spcPts val="0"/>
                  </a:spcAft>
                  <a:buClrTx/>
                  <a:buSzTx/>
                  <a:buFont typeface="Wingdings" pitchFamily="2" charset="2"/>
                  <a:buNone/>
                  <a:tabLst/>
                  <a:defRPr/>
                </a:pPr>
                <a14:m>
                  <m:oMathPara xmlns:m="http://schemas.openxmlformats.org/officeDocument/2006/math">
                    <m:oMathParaPr>
                      <m:jc m:val="centerGroup"/>
                    </m:oMathParaPr>
                    <m:oMath xmlns:m="http://schemas.openxmlformats.org/officeDocument/2006/math">
                      <m:d>
                        <m:dPr>
                          <m:begChr m:val="{"/>
                          <m:endChr m:val=""/>
                          <m:ctrlPr>
                            <a:rPr kumimoji="0" lang="en-US" altLang="zh-CN"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dPr>
                        <m:e>
                          <m:m>
                            <m:mPr>
                              <m:mcs>
                                <m:mc>
                                  <m:mcPr>
                                    <m:count m:val="1"/>
                                    <m:mcJc m:val="center"/>
                                  </m:mcPr>
                                </m:mc>
                              </m:mcs>
                              <m:ctrlPr>
                                <a:rPr kumimoji="0" lang="en-US" altLang="zh-CN"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mPr>
                            <m:mr>
                              <m:e>
                                <m:r>
                                  <m:rPr>
                                    <m:brk m:alnAt="7"/>
                                  </m:rPr>
                                  <a:rPr kumimoji="0" lang="en-US" altLang="zh-CN"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𝑬</m:t>
                                </m:r>
                                <m:d>
                                  <m:dPr>
                                    <m:ctrlPr>
                                      <a:rPr kumimoji="0" lang="en-US" altLang="zh-CN"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dPr>
                                  <m:e>
                                    <m:r>
                                      <a:rPr kumimoji="0" lang="zh-CN" altLang="en-US"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𝜺</m:t>
                                    </m:r>
                                  </m:e>
                                </m:d>
                                <m:r>
                                  <m:rPr>
                                    <m:brk m:alnAt="7"/>
                                  </m:rPr>
                                  <a:rPr kumimoji="0" lang="en-US" altLang="zh-CN"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m:t>
                                </m:r>
                                <m:r>
                                  <a:rPr kumimoji="0" lang="en-US" altLang="zh-CN"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𝟎</m:t>
                                </m:r>
                              </m:e>
                            </m:mr>
                            <m:mr>
                              <m:e>
                                <m:r>
                                  <a:rPr kumimoji="0" lang="en-US" altLang="zh-CN"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𝑽𝒂𝒓</m:t>
                                </m:r>
                                <m:d>
                                  <m:dPr>
                                    <m:ctrlPr>
                                      <a:rPr kumimoji="0" lang="en-US" altLang="zh-CN"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dPr>
                                  <m:e>
                                    <m:r>
                                      <a:rPr kumimoji="0" lang="zh-CN" altLang="en-US"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𝜺</m:t>
                                    </m:r>
                                  </m:e>
                                </m:d>
                                <m:r>
                                  <m:rPr>
                                    <m:brk m:alnAt="7"/>
                                  </m:rPr>
                                  <a:rPr kumimoji="0" lang="en-US" altLang="zh-CN"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m:t>
                                </m:r>
                                <m:sSup>
                                  <m:sSupPr>
                                    <m:ctrlPr>
                                      <a:rPr kumimoji="0" lang="en-US" altLang="zh-CN"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ctrlPr>
                                  </m:sSupPr>
                                  <m:e>
                                    <m:r>
                                      <a:rPr kumimoji="0" lang="zh-CN" altLang="en-US"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𝝈</m:t>
                                    </m:r>
                                  </m:e>
                                  <m:sup>
                                    <m:r>
                                      <a:rPr kumimoji="0" lang="en-US" altLang="zh-CN" sz="2600" b="1" i="1" u="none" strike="noStrike" kern="1200" cap="none" spc="0" normalizeH="0" baseline="0" noProof="0">
                                        <a:ln w="11430"/>
                                        <a:solidFill>
                                          <a:srgbClr val="0000FF"/>
                                        </a:solidFill>
                                        <a:effectLst>
                                          <a:outerShdw blurRad="76200" dist="50800" dir="5400000" algn="tl" rotWithShape="0">
                                            <a:srgbClr val="000000">
                                              <a:alpha val="65000"/>
                                            </a:srgbClr>
                                          </a:outerShdw>
                                        </a:effectLst>
                                        <a:uLnTx/>
                                        <a:uFillTx/>
                                        <a:latin typeface="Cambria Math" panose="02040503050406030204" pitchFamily="18" charset="0"/>
                                      </a:rPr>
                                      <m:t>𝟐</m:t>
                                    </m:r>
                                  </m:sup>
                                </m:sSup>
                              </m:e>
                            </m:mr>
                          </m:m>
                        </m:e>
                      </m:d>
                    </m:oMath>
                  </m:oMathPara>
                </a14:m>
                <a:endParaRPr kumimoji="0" lang="en-US" altLang="zh-CN" sz="28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mc:Choice>
        <mc:Fallback xmlns="">
          <p:sp>
            <p:nvSpPr>
              <p:cNvPr id="4" name="内容占位符 4">
                <a:extLst>
                  <a:ext uri="{FF2B5EF4-FFF2-40B4-BE49-F238E27FC236}">
                    <a16:creationId xmlns:a16="http://schemas.microsoft.com/office/drawing/2014/main" id="{3DA59F04-414D-3D0A-B868-4F87728AAC4B}"/>
                  </a:ext>
                </a:extLst>
              </p:cNvPr>
              <p:cNvSpPr txBox="1">
                <a:spLocks noRot="1" noChangeAspect="1" noMove="1" noResize="1" noEditPoints="1" noAdjustHandles="1" noChangeArrowheads="1" noChangeShapeType="1" noTextEdit="1"/>
              </p:cNvSpPr>
              <p:nvPr/>
            </p:nvSpPr>
            <p:spPr>
              <a:xfrm>
                <a:off x="1311965" y="2108624"/>
                <a:ext cx="8229600" cy="4525963"/>
              </a:xfrm>
              <a:prstGeom prst="rect">
                <a:avLst/>
              </a:prstGeom>
              <a:blipFill>
                <a:blip r:embed="rId3"/>
                <a:stretch>
                  <a:fillRect b="-4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852737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38AD0-28DA-A485-70C8-1AE6AE3A262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C11EC5E-126F-87EF-1B37-702ADC37383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01D915C8-58EF-2537-AAF2-8011D3D3710A}"/>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多元线性回归模型的参数估计</a:t>
            </a:r>
          </a:p>
        </p:txBody>
      </p:sp>
      <p:graphicFrame>
        <p:nvGraphicFramePr>
          <p:cNvPr id="5" name="对象 4">
            <a:extLst>
              <a:ext uri="{FF2B5EF4-FFF2-40B4-BE49-F238E27FC236}">
                <a16:creationId xmlns:a16="http://schemas.microsoft.com/office/drawing/2014/main" id="{DCA0C036-8A17-2AC8-8492-BB58895B88FB}"/>
              </a:ext>
            </a:extLst>
          </p:cNvPr>
          <p:cNvGraphicFramePr>
            <a:graphicFrameLocks noChangeAspect="1"/>
          </p:cNvGraphicFramePr>
          <p:nvPr>
            <p:extLst>
              <p:ext uri="{D42A27DB-BD31-4B8C-83A1-F6EECF244321}">
                <p14:modId xmlns:p14="http://schemas.microsoft.com/office/powerpoint/2010/main" val="3268426273"/>
              </p:ext>
            </p:extLst>
          </p:nvPr>
        </p:nvGraphicFramePr>
        <p:xfrm>
          <a:off x="3062665" y="3639573"/>
          <a:ext cx="5883404" cy="2155093"/>
        </p:xfrm>
        <a:graphic>
          <a:graphicData uri="http://schemas.openxmlformats.org/presentationml/2006/ole">
            <mc:AlternateContent xmlns:mc="http://schemas.openxmlformats.org/markup-compatibility/2006">
              <mc:Choice xmlns:v="urn:schemas-microsoft-com:vml" Requires="v">
                <p:oleObj name="Equation" r:id="rId3" imgW="2600474" imgH="952594" progId="Equation.DSMT4">
                  <p:embed/>
                </p:oleObj>
              </mc:Choice>
              <mc:Fallback>
                <p:oleObj name="Equation" r:id="rId3" imgW="2600474" imgH="952594" progId="Equation.DSMT4">
                  <p:embed/>
                  <p:pic>
                    <p:nvPicPr>
                      <p:cNvPr id="0" name=""/>
                      <p:cNvPicPr/>
                      <p:nvPr/>
                    </p:nvPicPr>
                    <p:blipFill>
                      <a:blip r:embed="rId4"/>
                      <a:stretch>
                        <a:fillRect/>
                      </a:stretch>
                    </p:blipFill>
                    <p:spPr>
                      <a:xfrm>
                        <a:off x="3062665" y="3639573"/>
                        <a:ext cx="5883404" cy="2155093"/>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9" name="内容占位符 4">
                <a:extLst>
                  <a:ext uri="{FF2B5EF4-FFF2-40B4-BE49-F238E27FC236}">
                    <a16:creationId xmlns:a16="http://schemas.microsoft.com/office/drawing/2014/main" id="{8BAFAB4C-8051-2C7E-902C-164A57CAAB45}"/>
                  </a:ext>
                </a:extLst>
              </p:cNvPr>
              <p:cNvSpPr txBox="1">
                <a:spLocks/>
              </p:cNvSpPr>
              <p:nvPr/>
            </p:nvSpPr>
            <p:spPr>
              <a:xfrm>
                <a:off x="892682" y="2016098"/>
                <a:ext cx="10244505" cy="1826437"/>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buNone/>
                  <a:defRPr/>
                </a:pPr>
                <a:r>
                  <a:rPr lang="zh-CN" altLang="en-US" dirty="0"/>
                  <a:t>对于总体</a:t>
                </a:r>
                <a14:m>
                  <m:oMath xmlns:m="http://schemas.openxmlformats.org/officeDocument/2006/math">
                    <m:sSub>
                      <m:sSubPr>
                        <m:ctrlPr>
                          <a:rPr lang="en-US" altLang="zh-CN" i="1" dirty="0" smtClean="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ctrlPr>
                      </m:sSubPr>
                      <m:e>
                        <m:r>
                          <a:rPr lang="en-US" altLang="zh-CN"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t>(</m:t>
                        </m:r>
                        <m:r>
                          <a:rPr lang="en-US" altLang="zh-CN"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t>𝑋</m:t>
                        </m:r>
                      </m:e>
                      <m:sub>
                        <m:r>
                          <a:rPr lang="en-US" altLang="zh-CN"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t>𝟏</m:t>
                        </m:r>
                      </m:sub>
                    </m:sSub>
                    <m:r>
                      <a:rPr lang="en-US" altLang="zh-CN"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t>,</m:t>
                    </m:r>
                    <m:sSub>
                      <m:sSubPr>
                        <m:ctrlPr>
                          <a:rPr lang="en-US" altLang="zh-CN" i="1"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ctrlPr>
                      </m:sSubPr>
                      <m:e>
                        <m:r>
                          <a:rPr lang="en-US" altLang="zh-CN"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t>𝑋</m:t>
                        </m:r>
                      </m:e>
                      <m:sub>
                        <m:r>
                          <a:rPr lang="en-US" altLang="zh-CN"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t>𝟐</m:t>
                        </m:r>
                      </m:sub>
                    </m:sSub>
                    <m:r>
                      <a:rPr lang="en-US" altLang="zh-CN"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t>, ⋯,</m:t>
                    </m:r>
                    <m:sSub>
                      <m:sSubPr>
                        <m:ctrlPr>
                          <a:rPr lang="en-US" altLang="zh-CN" i="1"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ctrlPr>
                      </m:sSubPr>
                      <m:e>
                        <m:r>
                          <a:rPr lang="en-US" altLang="zh-CN"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t>𝑋</m:t>
                        </m:r>
                      </m:e>
                      <m:sub>
                        <m:r>
                          <a:rPr lang="en-US" altLang="zh-CN"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t>𝒑</m:t>
                        </m:r>
                      </m:sub>
                    </m:sSub>
                    <m:r>
                      <a:rPr lang="en-US" altLang="zh-CN"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t>;</m:t>
                    </m:r>
                    <m:r>
                      <a:rPr lang="en-US" altLang="zh-CN"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t>𝑌</m:t>
                    </m:r>
                    <m:r>
                      <a:rPr lang="en-US" altLang="zh-CN" dirty="0">
                        <a:ln w="11430">
                          <a:solidFill>
                            <a:schemeClr val="tx1"/>
                          </a:solidFill>
                        </a:ln>
                        <a:effectLst>
                          <a:outerShdw blurRad="50800" dist="38100" dir="2700000" algn="tl" rotWithShape="0">
                            <a:prstClr val="black">
                              <a:alpha val="40000"/>
                            </a:prstClr>
                          </a:outerShdw>
                        </a:effectLst>
                        <a:latin typeface="Cambria Math" panose="02040503050406030204" pitchFamily="18" charset="0"/>
                      </a:rPr>
                      <m:t>)</m:t>
                    </m:r>
                    <m:r>
                      <m:rPr>
                        <m:nor/>
                      </m:rPr>
                      <a:rPr lang="zh-CN" altLang="en-US" dirty="0">
                        <a:ln w="11430">
                          <a:noFill/>
                        </a:ln>
                        <a:effectLst>
                          <a:outerShdw blurRad="50800" dist="38100" dir="2700000" algn="tl" rotWithShape="0">
                            <a:prstClr val="black">
                              <a:alpha val="40000"/>
                            </a:prstClr>
                          </a:outerShdw>
                        </a:effectLst>
                        <a:latin typeface="Euclid" panose="02020503060505020303" pitchFamily="18" charset="0"/>
                      </a:rPr>
                      <m:t>的</m:t>
                    </m:r>
                    <m:r>
                      <a:rPr lang="en-US" altLang="zh-CN">
                        <a:ln w="11430">
                          <a:noFill/>
                        </a:ln>
                        <a:effectLst>
                          <a:outerShdw blurRad="50800" dist="38100" dir="2700000" algn="tl" rotWithShape="0">
                            <a:prstClr val="black">
                              <a:alpha val="40000"/>
                            </a:prstClr>
                          </a:outerShdw>
                        </a:effectLst>
                        <a:latin typeface="Cambria Math" panose="02040503050406030204" pitchFamily="18" charset="0"/>
                      </a:rPr>
                      <m:t>𝑵</m:t>
                    </m:r>
                    <m:r>
                      <m:rPr>
                        <m:nor/>
                      </m:rPr>
                      <a:rPr lang="zh-CN" altLang="en-US" dirty="0">
                        <a:ln w="11430">
                          <a:noFill/>
                        </a:ln>
                        <a:effectLst>
                          <a:outerShdw blurRad="50800" dist="38100" dir="2700000" algn="tl" rotWithShape="0">
                            <a:prstClr val="black">
                              <a:alpha val="40000"/>
                            </a:prstClr>
                          </a:outerShdw>
                        </a:effectLst>
                        <a:latin typeface="Euclid" panose="02020503060505020303" pitchFamily="18" charset="0"/>
                      </a:rPr>
                      <m:t>组观测值</m:t>
                    </m:r>
                    <m:sSub>
                      <m:sSubPr>
                        <m:ctrlPr>
                          <a:rPr lang="en-US" altLang="zh-CN" i="1" dirty="0">
                            <a:ln w="11430">
                              <a:noFill/>
                            </a:ln>
                            <a:effectLst>
                              <a:outerShdw blurRad="50800" dist="38100" dir="2700000" algn="tl" rotWithShape="0">
                                <a:prstClr val="black">
                                  <a:alpha val="40000"/>
                                </a:prstClr>
                              </a:outerShdw>
                            </a:effectLst>
                            <a:latin typeface="Cambria Math" panose="02040503050406030204" pitchFamily="18" charset="0"/>
                          </a:rPr>
                        </m:ctrlPr>
                      </m:sSubPr>
                      <m:e>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m:t>
                        </m:r>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𝒙</m:t>
                        </m:r>
                      </m:e>
                      <m:sub>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𝐢𝟏</m:t>
                        </m:r>
                      </m:sub>
                    </m:sSub>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m:t>
                    </m:r>
                    <m:sSub>
                      <m:sSubPr>
                        <m:ctrlPr>
                          <a:rPr lang="en-US" altLang="zh-CN" i="1" dirty="0">
                            <a:ln w="11430">
                              <a:noFill/>
                            </a:ln>
                            <a:effectLst>
                              <a:outerShdw blurRad="50800" dist="38100" dir="2700000" algn="tl" rotWithShape="0">
                                <a:prstClr val="black">
                                  <a:alpha val="40000"/>
                                </a:prstClr>
                              </a:outerShdw>
                            </a:effectLst>
                            <a:latin typeface="Cambria Math" panose="02040503050406030204" pitchFamily="18" charset="0"/>
                          </a:rPr>
                        </m:ctrlPr>
                      </m:sSubPr>
                      <m:e>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𝒙</m:t>
                        </m:r>
                      </m:e>
                      <m:sub>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𝒊</m:t>
                        </m:r>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𝟐</m:t>
                        </m:r>
                      </m:sub>
                    </m:sSub>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 ⋯,</m:t>
                    </m:r>
                    <m:sSub>
                      <m:sSubPr>
                        <m:ctrlPr>
                          <a:rPr lang="en-US" altLang="zh-CN" i="1" dirty="0">
                            <a:ln w="11430">
                              <a:noFill/>
                            </a:ln>
                            <a:effectLst>
                              <a:outerShdw blurRad="50800" dist="38100" dir="2700000" algn="tl" rotWithShape="0">
                                <a:prstClr val="black">
                                  <a:alpha val="40000"/>
                                </a:prstClr>
                              </a:outerShdw>
                            </a:effectLst>
                            <a:latin typeface="Cambria Math" panose="02040503050406030204" pitchFamily="18" charset="0"/>
                          </a:rPr>
                        </m:ctrlPr>
                      </m:sSubPr>
                      <m:e>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𝒙</m:t>
                        </m:r>
                      </m:e>
                      <m:sub>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𝒊𝒑</m:t>
                        </m:r>
                      </m:sub>
                    </m:sSub>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m:t>
                    </m:r>
                    <m:sSub>
                      <m:sSubPr>
                        <m:ctrlPr>
                          <a:rPr lang="en-US" altLang="zh-CN" i="1" dirty="0">
                            <a:ln w="11430">
                              <a:noFill/>
                            </a:ln>
                            <a:effectLst>
                              <a:outerShdw blurRad="50800" dist="38100" dir="2700000" algn="tl" rotWithShape="0">
                                <a:prstClr val="black">
                                  <a:alpha val="40000"/>
                                </a:prstClr>
                              </a:outerShdw>
                            </a:effectLst>
                            <a:latin typeface="Cambria Math" panose="02040503050406030204" pitchFamily="18" charset="0"/>
                          </a:rPr>
                        </m:ctrlPr>
                      </m:sSubPr>
                      <m:e>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𝒚</m:t>
                        </m:r>
                      </m:e>
                      <m:sub>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𝒊</m:t>
                        </m:r>
                      </m:sub>
                    </m:sSub>
                    <m:r>
                      <a:rPr lang="en-US" altLang="zh-CN" dirty="0">
                        <a:ln w="11430">
                          <a:noFill/>
                        </a:ln>
                        <a:effectLst>
                          <a:outerShdw blurRad="50800" dist="38100" dir="2700000" algn="tl" rotWithShape="0">
                            <a:prstClr val="black">
                              <a:alpha val="40000"/>
                            </a:prstClr>
                          </a:outerShdw>
                        </a:effectLst>
                        <a:latin typeface="Cambria Math" panose="02040503050406030204" pitchFamily="18" charset="0"/>
                      </a:rPr>
                      <m:t>)</m:t>
                    </m:r>
                  </m:oMath>
                </a14:m>
                <a:endParaRPr lang="en-US" altLang="zh-CN" dirty="0">
                  <a:ln w="11430">
                    <a:noFill/>
                  </a:ln>
                  <a:effectLst>
                    <a:outerShdw blurRad="50800" dist="38100" dir="2700000" algn="tl" rotWithShape="0">
                      <a:prstClr val="black">
                        <a:alpha val="40000"/>
                      </a:prstClr>
                    </a:outerShdw>
                  </a:effectLst>
                </a:endParaRPr>
              </a:p>
              <a:p>
                <a:pPr marL="0" indent="0">
                  <a:buNone/>
                  <a:defRPr/>
                </a:pPr>
                <a:r>
                  <a:rPr lang="zh-CN" altLang="en-US" sz="2800" b="1" dirty="0">
                    <a:ln w="11430">
                      <a:noFill/>
                    </a:ln>
                    <a:effectLst>
                      <a:outerShdw blurRad="50800" dist="38100" dir="2700000" algn="tl" rotWithShape="0">
                        <a:prstClr val="black">
                          <a:alpha val="40000"/>
                        </a:prstClr>
                      </a:outerShdw>
                    </a:effectLst>
                    <a:latin typeface="Euclid" panose="02020503060505020303" pitchFamily="18" charset="0"/>
                    <a:ea typeface="微软雅黑" panose="020B0503020204020204" pitchFamily="34" charset="-122"/>
                    <a:cs typeface="Arial" pitchFamily="34" charset="0"/>
                  </a:rPr>
                  <a:t>其中，</a:t>
                </a:r>
                <a14:m>
                  <m:oMath xmlns:m="http://schemas.openxmlformats.org/officeDocument/2006/math">
                    <m:r>
                      <a:rPr lang="en-US" altLang="zh-CN" sz="2800" b="1">
                        <a:ln w="11430">
                          <a:noFill/>
                        </a:ln>
                        <a:effectLst>
                          <a:outerShdw blurRad="50800" dist="38100" dir="2700000" algn="tl" rotWithShape="0">
                            <a:prstClr val="black">
                              <a:alpha val="40000"/>
                            </a:prstClr>
                          </a:outerShdw>
                        </a:effectLst>
                        <a:latin typeface="Cambria Math" panose="02040503050406030204" pitchFamily="18" charset="0"/>
                        <a:ea typeface="微软雅黑" panose="020B0503020204020204" pitchFamily="34" charset="-122"/>
                        <a:cs typeface="Arial" pitchFamily="34" charset="0"/>
                      </a:rPr>
                      <m:t>𝒊</m:t>
                    </m:r>
                    <m:r>
                      <a:rPr lang="en-US" altLang="zh-CN" sz="2800" b="1">
                        <a:ln w="11430">
                          <a:noFill/>
                        </a:ln>
                        <a:effectLst>
                          <a:outerShdw blurRad="50800" dist="38100" dir="2700000" algn="tl" rotWithShape="0">
                            <a:prstClr val="black">
                              <a:alpha val="40000"/>
                            </a:prstClr>
                          </a:outerShdw>
                        </a:effectLst>
                        <a:latin typeface="Cambria Math" panose="02040503050406030204" pitchFamily="18" charset="0"/>
                        <a:ea typeface="微软雅黑" panose="020B0503020204020204" pitchFamily="34" charset="-122"/>
                        <a:cs typeface="Arial" pitchFamily="34" charset="0"/>
                      </a:rPr>
                      <m:t>=</m:t>
                    </m:r>
                    <m:r>
                      <a:rPr lang="en-US" altLang="zh-CN" sz="2800" b="1">
                        <a:ln w="11430">
                          <a:noFill/>
                        </a:ln>
                        <a:effectLst>
                          <a:outerShdw blurRad="50800" dist="38100" dir="2700000" algn="tl" rotWithShape="0">
                            <a:prstClr val="black">
                              <a:alpha val="40000"/>
                            </a:prstClr>
                          </a:outerShdw>
                        </a:effectLst>
                        <a:latin typeface="Cambria Math" panose="02040503050406030204" pitchFamily="18" charset="0"/>
                        <a:ea typeface="微软雅黑" panose="020B0503020204020204" pitchFamily="34" charset="-122"/>
                        <a:cs typeface="Arial" pitchFamily="34" charset="0"/>
                      </a:rPr>
                      <m:t>𝟏</m:t>
                    </m:r>
                    <m:r>
                      <a:rPr lang="en-US" altLang="zh-CN" sz="2800" b="1">
                        <a:ln w="11430">
                          <a:noFill/>
                        </a:ln>
                        <a:effectLst>
                          <a:outerShdw blurRad="50800" dist="38100" dir="2700000" algn="tl" rotWithShape="0">
                            <a:prstClr val="black">
                              <a:alpha val="40000"/>
                            </a:prstClr>
                          </a:outerShdw>
                        </a:effectLst>
                        <a:latin typeface="Cambria Math" panose="02040503050406030204" pitchFamily="18" charset="0"/>
                        <a:ea typeface="微软雅黑" panose="020B0503020204020204" pitchFamily="34" charset="-122"/>
                        <a:cs typeface="Arial" pitchFamily="34" charset="0"/>
                      </a:rPr>
                      <m:t>,</m:t>
                    </m:r>
                    <m:r>
                      <a:rPr lang="en-US" altLang="zh-CN" sz="2800" b="1">
                        <a:ln w="11430">
                          <a:noFill/>
                        </a:ln>
                        <a:effectLst>
                          <a:outerShdw blurRad="50800" dist="38100" dir="2700000" algn="tl" rotWithShape="0">
                            <a:prstClr val="black">
                              <a:alpha val="40000"/>
                            </a:prstClr>
                          </a:outerShdw>
                        </a:effectLst>
                        <a:latin typeface="Cambria Math" panose="02040503050406030204" pitchFamily="18" charset="0"/>
                        <a:ea typeface="微软雅黑" panose="020B0503020204020204" pitchFamily="34" charset="-122"/>
                        <a:cs typeface="Arial" pitchFamily="34" charset="0"/>
                      </a:rPr>
                      <m:t>𝟐</m:t>
                    </m:r>
                    <m:r>
                      <a:rPr lang="en-US" altLang="zh-CN" sz="2800" b="1">
                        <a:ln w="11430">
                          <a:noFill/>
                        </a:ln>
                        <a:effectLst>
                          <a:outerShdw blurRad="50800" dist="38100" dir="2700000" algn="tl" rotWithShape="0">
                            <a:prstClr val="black">
                              <a:alpha val="40000"/>
                            </a:prstClr>
                          </a:outerShdw>
                        </a:effectLst>
                        <a:latin typeface="Cambria Math" panose="02040503050406030204" pitchFamily="18" charset="0"/>
                        <a:ea typeface="微软雅黑" panose="020B0503020204020204" pitchFamily="34" charset="-122"/>
                        <a:cs typeface="Arial" pitchFamily="34" charset="0"/>
                      </a:rPr>
                      <m:t>,⋯</m:t>
                    </m:r>
                    <m:r>
                      <a:rPr lang="en-US" altLang="zh-CN" sz="2800" b="1">
                        <a:ln w="11430">
                          <a:noFill/>
                        </a:ln>
                        <a:effectLst>
                          <a:outerShdw blurRad="50800" dist="38100" dir="2700000" algn="tl" rotWithShape="0">
                            <a:prstClr val="black">
                              <a:alpha val="40000"/>
                            </a:prstClr>
                          </a:outerShdw>
                        </a:effectLst>
                        <a:latin typeface="Cambria Math" panose="02040503050406030204" pitchFamily="18" charset="0"/>
                        <a:ea typeface="微软雅黑" panose="020B0503020204020204" pitchFamily="34" charset="-122"/>
                        <a:cs typeface="Arial" pitchFamily="34" charset="0"/>
                      </a:rPr>
                      <m:t>𝑵</m:t>
                    </m:r>
                    <m:r>
                      <a:rPr lang="zh-CN" altLang="en-US" sz="2800" b="1">
                        <a:ln w="11430">
                          <a:noFill/>
                        </a:ln>
                        <a:effectLst>
                          <a:outerShdw blurRad="50800" dist="38100" dir="2700000" algn="tl" rotWithShape="0">
                            <a:prstClr val="black">
                              <a:alpha val="40000"/>
                            </a:prstClr>
                          </a:outerShdw>
                        </a:effectLst>
                        <a:latin typeface="Cambria Math" panose="02040503050406030204" pitchFamily="18" charset="0"/>
                        <a:ea typeface="微软雅黑" panose="020B0503020204020204" pitchFamily="34" charset="-122"/>
                        <a:cs typeface="Arial" pitchFamily="34" charset="0"/>
                      </a:rPr>
                      <m:t>，</m:t>
                    </m:r>
                    <m:r>
                      <a:rPr lang="en-US" altLang="zh-CN" sz="2800" b="1">
                        <a:ln w="11430">
                          <a:noFill/>
                        </a:ln>
                        <a:effectLst>
                          <a:outerShdw blurRad="50800" dist="38100" dir="2700000" algn="tl" rotWithShape="0">
                            <a:prstClr val="black">
                              <a:alpha val="40000"/>
                            </a:prstClr>
                          </a:outerShdw>
                        </a:effectLst>
                        <a:latin typeface="Cambria Math" panose="02040503050406030204" pitchFamily="18" charset="0"/>
                        <a:ea typeface="微软雅黑" panose="020B0503020204020204" pitchFamily="34" charset="-122"/>
                        <a:cs typeface="Arial" pitchFamily="34" charset="0"/>
                      </a:rPr>
                      <m:t>𝑵</m:t>
                    </m:r>
                    <m:r>
                      <a:rPr lang="en-US" altLang="zh-CN" sz="2800" b="1">
                        <a:ln w="11430">
                          <a:noFill/>
                        </a:ln>
                        <a:effectLst>
                          <a:outerShdw blurRad="50800" dist="38100" dir="2700000" algn="tl" rotWithShape="0">
                            <a:prstClr val="black">
                              <a:alpha val="40000"/>
                            </a:prstClr>
                          </a:outerShdw>
                        </a:effectLst>
                        <a:latin typeface="Cambria Math" panose="02040503050406030204" pitchFamily="18" charset="0"/>
                        <a:ea typeface="微软雅黑" panose="020B0503020204020204" pitchFamily="34" charset="-122"/>
                        <a:cs typeface="Arial" pitchFamily="34" charset="0"/>
                      </a:rPr>
                      <m:t>&gt;</m:t>
                    </m:r>
                    <m:r>
                      <a:rPr lang="en-US" altLang="zh-CN" sz="2800" b="1">
                        <a:ln w="11430">
                          <a:noFill/>
                        </a:ln>
                        <a:effectLst>
                          <a:outerShdw blurRad="50800" dist="38100" dir="2700000" algn="tl" rotWithShape="0">
                            <a:prstClr val="black">
                              <a:alpha val="40000"/>
                            </a:prstClr>
                          </a:outerShdw>
                        </a:effectLst>
                        <a:latin typeface="Cambria Math" panose="02040503050406030204" pitchFamily="18" charset="0"/>
                        <a:ea typeface="微软雅黑" panose="020B0503020204020204" pitchFamily="34" charset="-122"/>
                        <a:cs typeface="Arial" pitchFamily="34" charset="0"/>
                      </a:rPr>
                      <m:t>𝒑</m:t>
                    </m:r>
                  </m:oMath>
                </a14:m>
                <a:r>
                  <a:rPr lang="zh-CN" altLang="en-US" sz="2800" b="1" dirty="0">
                    <a:ln w="11430">
                      <a:noFill/>
                    </a:ln>
                    <a:effectLst>
                      <a:outerShdw blurRad="50800" dist="38100" dir="2700000" algn="tl" rotWithShape="0">
                        <a:prstClr val="black">
                          <a:alpha val="40000"/>
                        </a:prstClr>
                      </a:outerShdw>
                    </a:effectLst>
                    <a:latin typeface="Euclid" panose="02020503060505020303" pitchFamily="18" charset="0"/>
                    <a:ea typeface="微软雅黑" panose="020B0503020204020204" pitchFamily="34" charset="-122"/>
                    <a:cs typeface="Arial" pitchFamily="34" charset="0"/>
                  </a:rPr>
                  <a:t>，满足：</a:t>
                </a:r>
                <a:endParaRPr lang="en-US" altLang="zh-CN" sz="2800" b="1" dirty="0">
                  <a:ln w="11430">
                    <a:noFill/>
                  </a:ln>
                  <a:effectLst>
                    <a:outerShdw blurRad="50800" dist="38100" dir="2700000" algn="tl" rotWithShape="0">
                      <a:prstClr val="black">
                        <a:alpha val="40000"/>
                      </a:prstClr>
                    </a:outerShdw>
                  </a:effectLst>
                  <a:latin typeface="Euclid" panose="02020503060505020303" pitchFamily="18" charset="0"/>
                  <a:ea typeface="微软雅黑" panose="020B0503020204020204" pitchFamily="34" charset="-122"/>
                  <a:cs typeface="Arial" pitchFamily="34" charset="0"/>
                </a:endParaRPr>
              </a:p>
              <a:p>
                <a:pPr marL="0" lvl="0" indent="0">
                  <a:buNone/>
                  <a:defRPr/>
                </a:pPr>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mc:Choice>
        <mc:Fallback xmlns="">
          <p:sp>
            <p:nvSpPr>
              <p:cNvPr id="19" name="内容占位符 4">
                <a:extLst>
                  <a:ext uri="{FF2B5EF4-FFF2-40B4-BE49-F238E27FC236}">
                    <a16:creationId xmlns:a16="http://schemas.microsoft.com/office/drawing/2014/main" id="{8BAFAB4C-8051-2C7E-902C-164A57CAAB45}"/>
                  </a:ext>
                </a:extLst>
              </p:cNvPr>
              <p:cNvSpPr txBox="1">
                <a:spLocks noRot="1" noChangeAspect="1" noMove="1" noResize="1" noEditPoints="1" noAdjustHandles="1" noChangeArrowheads="1" noChangeShapeType="1" noTextEdit="1"/>
              </p:cNvSpPr>
              <p:nvPr/>
            </p:nvSpPr>
            <p:spPr>
              <a:xfrm>
                <a:off x="892682" y="2016098"/>
                <a:ext cx="10244505" cy="1826437"/>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1147442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E6004-B41E-4FA8-C105-6A4F2706639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E4DB56B-79F5-2CC5-03BB-9081FAEA8AD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79845DA9-0244-1DCB-D554-FD69623CE4B9}"/>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多元线性回归模型的参数估计</a:t>
            </a:r>
          </a:p>
        </p:txBody>
      </p:sp>
      <p:sp>
        <p:nvSpPr>
          <p:cNvPr id="19" name="内容占位符 4">
            <a:extLst>
              <a:ext uri="{FF2B5EF4-FFF2-40B4-BE49-F238E27FC236}">
                <a16:creationId xmlns:a16="http://schemas.microsoft.com/office/drawing/2014/main" id="{36684FF7-96C8-EEEA-E8C2-865C18BDB089}"/>
              </a:ext>
            </a:extLst>
          </p:cNvPr>
          <p:cNvSpPr txBox="1">
            <a:spLocks/>
          </p:cNvSpPr>
          <p:nvPr/>
        </p:nvSpPr>
        <p:spPr>
          <a:xfrm>
            <a:off x="892682" y="2016098"/>
            <a:ext cx="10244505" cy="1826437"/>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buNone/>
              <a:defRPr/>
            </a:pP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记：</a:t>
            </a:r>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p:graphicFrame>
        <p:nvGraphicFramePr>
          <p:cNvPr id="4" name="对象 3">
            <a:extLst>
              <a:ext uri="{FF2B5EF4-FFF2-40B4-BE49-F238E27FC236}">
                <a16:creationId xmlns:a16="http://schemas.microsoft.com/office/drawing/2014/main" id="{A14713CE-7265-85BA-79BC-6FB6C26516EC}"/>
              </a:ext>
            </a:extLst>
          </p:cNvPr>
          <p:cNvGraphicFramePr>
            <a:graphicFrameLocks noChangeAspect="1"/>
          </p:cNvGraphicFramePr>
          <p:nvPr>
            <p:extLst>
              <p:ext uri="{D42A27DB-BD31-4B8C-83A1-F6EECF244321}">
                <p14:modId xmlns:p14="http://schemas.microsoft.com/office/powerpoint/2010/main" val="3295530531"/>
              </p:ext>
            </p:extLst>
          </p:nvPr>
        </p:nvGraphicFramePr>
        <p:xfrm>
          <a:off x="2028287" y="2040724"/>
          <a:ext cx="8818968" cy="2227012"/>
        </p:xfrm>
        <a:graphic>
          <a:graphicData uri="http://schemas.openxmlformats.org/presentationml/2006/ole">
            <mc:AlternateContent xmlns:mc="http://schemas.openxmlformats.org/markup-compatibility/2006">
              <mc:Choice xmlns:v="urn:schemas-microsoft-com:vml" Requires="v">
                <p:oleObj name="Equation" r:id="rId3" imgW="3772361" imgH="952594" progId="Equation.DSMT4">
                  <p:embed/>
                </p:oleObj>
              </mc:Choice>
              <mc:Fallback>
                <p:oleObj name="Equation" r:id="rId3" imgW="3772361" imgH="952594" progId="Equation.DSMT4">
                  <p:embed/>
                  <p:pic>
                    <p:nvPicPr>
                      <p:cNvPr id="0" name=""/>
                      <p:cNvPicPr/>
                      <p:nvPr/>
                    </p:nvPicPr>
                    <p:blipFill>
                      <a:blip r:embed="rId4"/>
                      <a:stretch>
                        <a:fillRect/>
                      </a:stretch>
                    </p:blipFill>
                    <p:spPr>
                      <a:xfrm>
                        <a:off x="2028287" y="2040724"/>
                        <a:ext cx="8818968" cy="2227012"/>
                      </a:xfrm>
                      <a:prstGeom prst="rect">
                        <a:avLst/>
                      </a:prstGeom>
                    </p:spPr>
                  </p:pic>
                </p:oleObj>
              </mc:Fallback>
            </mc:AlternateContent>
          </a:graphicData>
        </a:graphic>
      </p:graphicFrame>
      <p:sp>
        <p:nvSpPr>
          <p:cNvPr id="6" name="内容占位符 4">
            <a:extLst>
              <a:ext uri="{FF2B5EF4-FFF2-40B4-BE49-F238E27FC236}">
                <a16:creationId xmlns:a16="http://schemas.microsoft.com/office/drawing/2014/main" id="{9734B05D-4705-EB9D-9A2B-3521F80A90EE}"/>
              </a:ext>
            </a:extLst>
          </p:cNvPr>
          <p:cNvSpPr txBox="1">
            <a:spLocks/>
          </p:cNvSpPr>
          <p:nvPr/>
        </p:nvSpPr>
        <p:spPr>
          <a:xfrm>
            <a:off x="892682" y="4292362"/>
            <a:ext cx="10244505" cy="659781"/>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buNone/>
              <a:defRPr/>
            </a:pPr>
            <a:r>
              <a:rPr lang="zh-CN" altLang="en-US" dirty="0">
                <a:ln w="11430">
                  <a:solidFill>
                    <a:schemeClr val="tx1"/>
                  </a:solidFill>
                </a:ln>
              </a:rPr>
              <a:t>则模型的</a:t>
            </a:r>
            <a:r>
              <a:rPr lang="zh-CN" altLang="en-US" dirty="0"/>
              <a:t>矩阵形式表示为：</a:t>
            </a:r>
            <a:endParaRPr lang="en-US" altLang="zh-CN" dirty="0"/>
          </a:p>
          <a:p>
            <a:pPr marL="0" lvl="0" indent="0">
              <a:buNone/>
              <a:defRPr/>
            </a:pPr>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p:graphicFrame>
        <p:nvGraphicFramePr>
          <p:cNvPr id="7" name="对象 6">
            <a:extLst>
              <a:ext uri="{FF2B5EF4-FFF2-40B4-BE49-F238E27FC236}">
                <a16:creationId xmlns:a16="http://schemas.microsoft.com/office/drawing/2014/main" id="{C64E5BF1-293D-3EA3-AE77-0151287569F3}"/>
              </a:ext>
            </a:extLst>
          </p:cNvPr>
          <p:cNvGraphicFramePr>
            <a:graphicFrameLocks noChangeAspect="1"/>
          </p:cNvGraphicFramePr>
          <p:nvPr>
            <p:extLst>
              <p:ext uri="{D42A27DB-BD31-4B8C-83A1-F6EECF244321}">
                <p14:modId xmlns:p14="http://schemas.microsoft.com/office/powerpoint/2010/main" val="12595090"/>
              </p:ext>
            </p:extLst>
          </p:nvPr>
        </p:nvGraphicFramePr>
        <p:xfrm>
          <a:off x="5309545" y="4442889"/>
          <a:ext cx="1964264" cy="509254"/>
        </p:xfrm>
        <a:graphic>
          <a:graphicData uri="http://schemas.openxmlformats.org/presentationml/2006/ole">
            <mc:AlternateContent xmlns:mc="http://schemas.openxmlformats.org/markup-compatibility/2006">
              <mc:Choice xmlns:v="urn:schemas-microsoft-com:vml" Requires="v">
                <p:oleObj name="Equation" r:id="rId5" imgW="771538" imgH="200167" progId="Equation.DSMT4">
                  <p:embed/>
                </p:oleObj>
              </mc:Choice>
              <mc:Fallback>
                <p:oleObj name="Equation" r:id="rId5" imgW="771538" imgH="200167" progId="Equation.DSMT4">
                  <p:embed/>
                  <p:pic>
                    <p:nvPicPr>
                      <p:cNvPr id="0" name=""/>
                      <p:cNvPicPr/>
                      <p:nvPr/>
                    </p:nvPicPr>
                    <p:blipFill>
                      <a:blip r:embed="rId6"/>
                      <a:stretch>
                        <a:fillRect/>
                      </a:stretch>
                    </p:blipFill>
                    <p:spPr>
                      <a:xfrm>
                        <a:off x="5309545" y="4442889"/>
                        <a:ext cx="1964264" cy="509254"/>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1" name="内容占位符 4">
                <a:extLst>
                  <a:ext uri="{FF2B5EF4-FFF2-40B4-BE49-F238E27FC236}">
                    <a16:creationId xmlns:a16="http://schemas.microsoft.com/office/drawing/2014/main" id="{645B0E53-7BB1-E432-C38F-77DC1D260FF5}"/>
                  </a:ext>
                </a:extLst>
              </p:cNvPr>
              <p:cNvSpPr txBox="1">
                <a:spLocks/>
              </p:cNvSpPr>
              <p:nvPr/>
            </p:nvSpPr>
            <p:spPr>
              <a:xfrm>
                <a:off x="882114" y="5025672"/>
                <a:ext cx="10594120" cy="1015532"/>
              </a:xfrm>
              <a:prstGeom prst="rect">
                <a:avLst/>
              </a:prstGeom>
            </p:spPr>
            <p:txBody>
              <a:bodyPr vert="horz" lIns="91440" tIns="45720" rIns="91440" bIns="45720" rtlCol="0">
                <a:normAutofit fontScale="92500" lnSpcReduction="10000"/>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buNone/>
                  <a:defRPr/>
                </a:pPr>
                <a:r>
                  <a:rPr lang="zh-CN" altLang="en-US" dirty="0"/>
                  <a:t>其中，</a:t>
                </a:r>
                <a:r>
                  <a:rPr lang="en-US" altLang="zh-CN" dirty="0"/>
                  <a:t>Y</a:t>
                </a:r>
                <a:r>
                  <a:rPr lang="zh-CN" altLang="en-US" dirty="0"/>
                  <a:t>称为观测向量；</a:t>
                </a:r>
                <a:r>
                  <a:rPr lang="en-US" altLang="zh-CN" dirty="0"/>
                  <a:t>X</a:t>
                </a:r>
                <a:r>
                  <a:rPr lang="zh-CN" altLang="en-US" dirty="0"/>
                  <a:t>称为设计矩阵；</a:t>
                </a:r>
                <a14:m>
                  <m:oMath xmlns:m="http://schemas.openxmlformats.org/officeDocument/2006/math">
                    <m:r>
                      <a:rPr lang="zh-CN" altLang="en-US" i="1" smtClean="0">
                        <a:latin typeface="Cambria Math" panose="02040503050406030204" pitchFamily="18" charset="0"/>
                      </a:rPr>
                      <m:t>𝜷</m:t>
                    </m:r>
                  </m:oMath>
                </a14:m>
                <a:r>
                  <a:rPr lang="zh-CN" altLang="en-US" dirty="0"/>
                  <a:t>称为待估计向量；</a:t>
                </a:r>
                <a14:m>
                  <m:oMath xmlns:m="http://schemas.openxmlformats.org/officeDocument/2006/math">
                    <m:r>
                      <a:rPr lang="zh-CN" altLang="en-US" i="1" smtClean="0">
                        <a:latin typeface="Cambria Math" panose="02040503050406030204" pitchFamily="18" charset="0"/>
                      </a:rPr>
                      <m:t>𝜺</m:t>
                    </m:r>
                  </m:oMath>
                </a14:m>
                <a:r>
                  <a:rPr lang="zh-CN" altLang="en-US" dirty="0"/>
                  <a:t>是不可观测的</a:t>
                </a:r>
                <a14:m>
                  <m:oMath xmlns:m="http://schemas.openxmlformats.org/officeDocument/2006/math">
                    <m:r>
                      <a:rPr lang="en-US" altLang="zh-CN" b="1" i="1" smtClean="0">
                        <a:latin typeface="Cambria Math" panose="02040503050406030204" pitchFamily="18" charset="0"/>
                      </a:rPr>
                      <m:t>𝒏</m:t>
                    </m:r>
                  </m:oMath>
                </a14:m>
                <a:r>
                  <a:rPr lang="zh-CN" altLang="en-US" dirty="0"/>
                  <a:t>维随机向量，其分量相互独立。</a:t>
                </a:r>
                <a:endParaRPr lang="en-US" altLang="zh-CN" dirty="0"/>
              </a:p>
              <a:p>
                <a:pPr marL="0" lvl="0" indent="0">
                  <a:buNone/>
                  <a:defRPr/>
                </a:pPr>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mc:Choice>
        <mc:Fallback xmlns="">
          <p:sp>
            <p:nvSpPr>
              <p:cNvPr id="21" name="内容占位符 4">
                <a:extLst>
                  <a:ext uri="{FF2B5EF4-FFF2-40B4-BE49-F238E27FC236}">
                    <a16:creationId xmlns:a16="http://schemas.microsoft.com/office/drawing/2014/main" id="{645B0E53-7BB1-E432-C38F-77DC1D260FF5}"/>
                  </a:ext>
                </a:extLst>
              </p:cNvPr>
              <p:cNvSpPr txBox="1">
                <a:spLocks noRot="1" noChangeAspect="1" noMove="1" noResize="1" noEditPoints="1" noAdjustHandles="1" noChangeArrowheads="1" noChangeShapeType="1" noTextEdit="1"/>
              </p:cNvSpPr>
              <p:nvPr/>
            </p:nvSpPr>
            <p:spPr>
              <a:xfrm>
                <a:off x="882114" y="5025672"/>
                <a:ext cx="10594120" cy="1015532"/>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2441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B81E7-C6E0-7355-2EFF-7166E2B625D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E87348DE-6CA6-76B9-7414-6663D679DEAB}"/>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3882B8F0-3AD4-E983-CDDB-49CB138E4946}"/>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多元线性回归模型的参数估计</a:t>
            </a:r>
          </a:p>
        </p:txBody>
      </p:sp>
      <mc:AlternateContent xmlns:mc="http://schemas.openxmlformats.org/markup-compatibility/2006" xmlns:a14="http://schemas.microsoft.com/office/drawing/2010/main">
        <mc:Choice Requires="a14">
          <p:sp>
            <p:nvSpPr>
              <p:cNvPr id="19" name="内容占位符 4">
                <a:extLst>
                  <a:ext uri="{FF2B5EF4-FFF2-40B4-BE49-F238E27FC236}">
                    <a16:creationId xmlns:a16="http://schemas.microsoft.com/office/drawing/2014/main" id="{AD2AF1F2-DE66-709F-B618-B75D7B4E7450}"/>
                  </a:ext>
                </a:extLst>
              </p:cNvPr>
              <p:cNvSpPr txBox="1">
                <a:spLocks/>
              </p:cNvSpPr>
              <p:nvPr/>
            </p:nvSpPr>
            <p:spPr>
              <a:xfrm>
                <a:off x="892682" y="2016098"/>
                <a:ext cx="10850680" cy="1826437"/>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buNone/>
                  <a:defRPr/>
                </a:pP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设</a:t>
                </a:r>
                <a14:m>
                  <m:oMath xmlns:m="http://schemas.openxmlformats.org/officeDocument/2006/math">
                    <m:sSub>
                      <m:sSubPr>
                        <m:ctrlP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ctrlPr>
                      </m:sSubPr>
                      <m:e>
                        <m:acc>
                          <m:accPr>
                            <m:chr m:val="̂"/>
                            <m:ctrlP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ctrlPr>
                          </m:accPr>
                          <m:e>
                            <m:r>
                              <a:rPr kumimoji="0" lang="zh-CN" altLang="en-US"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rPr>
                              <m:t>𝜷</m:t>
                            </m:r>
                          </m:e>
                        </m:acc>
                      </m:e>
                      <m:sub>
                        <m: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t>𝟎</m:t>
                        </m:r>
                      </m:sub>
                    </m:sSub>
                    <m: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zh-CN" altLang="en-US" i="1">
                                <a:latin typeface="Cambria Math" panose="02040503050406030204" pitchFamily="18" charset="0"/>
                              </a:rPr>
                              <m:t>𝜷</m:t>
                            </m:r>
                          </m:e>
                        </m:acc>
                      </m:e>
                      <m:sub>
                        <m:r>
                          <a:rPr lang="en-US" altLang="zh-CN" b="1" i="1" smtClean="0">
                            <a:latin typeface="Cambria Math" panose="02040503050406030204" pitchFamily="18" charset="0"/>
                          </a:rPr>
                          <m:t>𝟏</m:t>
                        </m:r>
                      </m:sub>
                    </m:sSub>
                  </m:oMath>
                </a14:m>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lang="en-US" altLang="zh-CN" dirty="0"/>
                  <a:t> </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zh-CN" altLang="en-US" i="1">
                                <a:latin typeface="Cambria Math" panose="02040503050406030204" pitchFamily="18" charset="0"/>
                              </a:rPr>
                              <m:t>𝜷</m:t>
                            </m:r>
                          </m:e>
                        </m:acc>
                      </m:e>
                      <m:sub>
                        <m:r>
                          <a:rPr lang="en-US" altLang="zh-CN" b="1" i="1" smtClean="0">
                            <a:latin typeface="Cambria Math" panose="02040503050406030204" pitchFamily="18" charset="0"/>
                          </a:rPr>
                          <m:t>𝟐</m:t>
                        </m:r>
                      </m:sub>
                    </m:sSub>
                  </m:oMath>
                </a14:m>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14:m>
                  <m:oMath xmlns:m="http://schemas.openxmlformats.org/officeDocument/2006/math">
                    <m:r>
                      <a:rPr kumimoji="0" lang="en-US" altLang="zh-CN" sz="2800" b="1" i="1" u="none" strike="noStrike" kern="1200" cap="none" spc="0" normalizeH="0" baseline="0" noProof="0" dirty="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zh-CN" altLang="en-US" i="1">
                                <a:latin typeface="Cambria Math" panose="02040503050406030204" pitchFamily="18" charset="0"/>
                              </a:rPr>
                              <m:t>𝜷</m:t>
                            </m:r>
                          </m:e>
                        </m:acc>
                      </m:e>
                      <m:sub>
                        <m:r>
                          <a:rPr lang="en-US" altLang="zh-CN" b="1" i="1" smtClean="0">
                            <a:latin typeface="Cambria Math" panose="02040503050406030204" pitchFamily="18" charset="0"/>
                          </a:rPr>
                          <m:t>𝒑</m:t>
                        </m:r>
                      </m:sub>
                    </m:sSub>
                  </m:oMath>
                </a14:m>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分别为参数</a:t>
                </a:r>
                <a14:m>
                  <m:oMath xmlns:m="http://schemas.openxmlformats.org/officeDocument/2006/math">
                    <m:sSub>
                      <m:sSubPr>
                        <m:ctrlP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ctrlPr>
                      </m:sSubPr>
                      <m:e>
                        <m:r>
                          <a:rPr kumimoji="0" lang="zh-CN" altLang="en-US"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rPr>
                          <m:t>𝜷</m:t>
                        </m:r>
                      </m:e>
                      <m:sub>
                        <m: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t>𝟎</m:t>
                        </m:r>
                      </m:sub>
                    </m:sSub>
                    <m: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𝜷</m:t>
                        </m:r>
                      </m:e>
                      <m:sub>
                        <m:r>
                          <a:rPr lang="en-US" altLang="zh-CN" b="1" i="1" smtClean="0">
                            <a:latin typeface="Cambria Math" panose="02040503050406030204" pitchFamily="18" charset="0"/>
                          </a:rPr>
                          <m:t>𝟏</m:t>
                        </m:r>
                      </m:sub>
                    </m:sSub>
                  </m:oMath>
                </a14:m>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𝜷</m:t>
                        </m:r>
                      </m:e>
                      <m:sub>
                        <m:r>
                          <a:rPr lang="en-US" altLang="zh-CN" b="1" i="1" smtClean="0">
                            <a:latin typeface="Cambria Math" panose="02040503050406030204" pitchFamily="18" charset="0"/>
                          </a:rPr>
                          <m:t>𝟐</m:t>
                        </m:r>
                      </m:sub>
                    </m:sSub>
                  </m:oMath>
                </a14:m>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14:m>
                  <m:oMath xmlns:m="http://schemas.openxmlformats.org/officeDocument/2006/math">
                    <m:r>
                      <a:rPr kumimoji="0" lang="en-US" altLang="zh-CN" sz="2800" b="1" i="1" u="none" strike="noStrike" kern="1200" cap="none" spc="0" normalizeH="0" baseline="0" noProof="0" dirty="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Cambria Math" panose="02040503050406030204" pitchFamily="18" charset="0"/>
                      </a:rPr>
                      <m:t>⋯</m:t>
                    </m:r>
                  </m:oMath>
                </a14:m>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𝜷</m:t>
                        </m:r>
                      </m:e>
                      <m:sub>
                        <m:r>
                          <a:rPr lang="en-US" altLang="zh-CN" b="1" i="1" smtClean="0">
                            <a:latin typeface="Cambria Math" panose="02040503050406030204" pitchFamily="18" charset="0"/>
                          </a:rPr>
                          <m:t>𝒑</m:t>
                        </m:r>
                      </m:sub>
                    </m:sSub>
                  </m:oMath>
                </a14:m>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的最小二乘估计</a:t>
                </a:r>
                <a:r>
                  <a:rPr lang="zh-CN" altLang="en-US" dirty="0"/>
                  <a:t>，</a:t>
                </a:r>
                <a:endParaRPr lang="en-US" altLang="zh-CN" dirty="0"/>
              </a:p>
              <a:p>
                <a:pPr marL="0" lvl="0" indent="0">
                  <a:buNone/>
                  <a:defRPr/>
                </a:pP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则回归方程为：</a:t>
                </a:r>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mc:Choice>
        <mc:Fallback xmlns="">
          <p:sp>
            <p:nvSpPr>
              <p:cNvPr id="19" name="内容占位符 4">
                <a:extLst>
                  <a:ext uri="{FF2B5EF4-FFF2-40B4-BE49-F238E27FC236}">
                    <a16:creationId xmlns:a16="http://schemas.microsoft.com/office/drawing/2014/main" id="{AD2AF1F2-DE66-709F-B618-B75D7B4E7450}"/>
                  </a:ext>
                </a:extLst>
              </p:cNvPr>
              <p:cNvSpPr txBox="1">
                <a:spLocks noRot="1" noChangeAspect="1" noMove="1" noResize="1" noEditPoints="1" noAdjustHandles="1" noChangeArrowheads="1" noChangeShapeType="1" noTextEdit="1"/>
              </p:cNvSpPr>
              <p:nvPr/>
            </p:nvSpPr>
            <p:spPr>
              <a:xfrm>
                <a:off x="892682" y="2016098"/>
                <a:ext cx="10850680" cy="1826437"/>
              </a:xfrm>
              <a:prstGeom prst="rect">
                <a:avLst/>
              </a:prstGeom>
              <a:blipFill>
                <a:blip r:embed="rId3"/>
                <a:stretch>
                  <a:fillRect/>
                </a:stretch>
              </a:blipFill>
            </p:spPr>
            <p:txBody>
              <a:bodyPr/>
              <a:lstStyle/>
              <a:p>
                <a:r>
                  <a:rPr lang="zh-CN" altLang="en-US">
                    <a:noFill/>
                  </a:rPr>
                  <a:t> </a:t>
                </a:r>
              </a:p>
            </p:txBody>
          </p:sp>
        </mc:Fallback>
      </mc:AlternateContent>
      <p:graphicFrame>
        <p:nvGraphicFramePr>
          <p:cNvPr id="5" name="对象 4">
            <a:extLst>
              <a:ext uri="{FF2B5EF4-FFF2-40B4-BE49-F238E27FC236}">
                <a16:creationId xmlns:a16="http://schemas.microsoft.com/office/drawing/2014/main" id="{8C03394E-EE4E-293A-A314-05CEE498D0C0}"/>
              </a:ext>
            </a:extLst>
          </p:cNvPr>
          <p:cNvGraphicFramePr>
            <a:graphicFrameLocks noChangeAspect="1"/>
          </p:cNvGraphicFramePr>
          <p:nvPr>
            <p:extLst>
              <p:ext uri="{D42A27DB-BD31-4B8C-83A1-F6EECF244321}">
                <p14:modId xmlns:p14="http://schemas.microsoft.com/office/powerpoint/2010/main" val="2485002901"/>
              </p:ext>
            </p:extLst>
          </p:nvPr>
        </p:nvGraphicFramePr>
        <p:xfrm>
          <a:off x="3620699" y="3212302"/>
          <a:ext cx="4950602" cy="703762"/>
        </p:xfrm>
        <a:graphic>
          <a:graphicData uri="http://schemas.openxmlformats.org/presentationml/2006/ole">
            <mc:AlternateContent xmlns:mc="http://schemas.openxmlformats.org/markup-compatibility/2006">
              <mc:Choice xmlns:v="urn:schemas-microsoft-com:vml" Requires="v">
                <p:oleObj name="Equation" r:id="rId4" imgW="1943425" imgH="276130" progId="Equation.DSMT4">
                  <p:embed/>
                </p:oleObj>
              </mc:Choice>
              <mc:Fallback>
                <p:oleObj name="Equation" r:id="rId4" imgW="1943425" imgH="276130" progId="Equation.DSMT4">
                  <p:embed/>
                  <p:pic>
                    <p:nvPicPr>
                      <p:cNvPr id="0" name=""/>
                      <p:cNvPicPr/>
                      <p:nvPr/>
                    </p:nvPicPr>
                    <p:blipFill>
                      <a:blip r:embed="rId5"/>
                      <a:stretch>
                        <a:fillRect/>
                      </a:stretch>
                    </p:blipFill>
                    <p:spPr>
                      <a:xfrm>
                        <a:off x="3620699" y="3212302"/>
                        <a:ext cx="4950602" cy="703762"/>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8" name="内容占位符 4">
                <a:extLst>
                  <a:ext uri="{FF2B5EF4-FFF2-40B4-BE49-F238E27FC236}">
                    <a16:creationId xmlns:a16="http://schemas.microsoft.com/office/drawing/2014/main" id="{074DE984-BDF0-8626-B2FD-06941E8C0403}"/>
                  </a:ext>
                </a:extLst>
              </p:cNvPr>
              <p:cNvSpPr txBox="1">
                <a:spLocks/>
              </p:cNvSpPr>
              <p:nvPr/>
            </p:nvSpPr>
            <p:spPr>
              <a:xfrm>
                <a:off x="892682" y="4112453"/>
                <a:ext cx="11299318" cy="203149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buNone/>
                  <a:defRPr/>
                </a:pPr>
                <a14:m>
                  <m:oMath xmlns:m="http://schemas.openxmlformats.org/officeDocument/2006/math">
                    <m:sSub>
                      <m:sSubPr>
                        <m:ctrlP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ctrlPr>
                      </m:sSubPr>
                      <m:e>
                        <m:acc>
                          <m:accPr>
                            <m:chr m:val="̂"/>
                            <m:ctrlP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ctrlPr>
                          </m:accPr>
                          <m:e>
                            <m:r>
                              <a:rPr kumimoji="0" lang="zh-CN" altLang="en-US"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rPr>
                              <m:t>𝜷</m:t>
                            </m:r>
                          </m:e>
                        </m:acc>
                      </m:e>
                      <m:sub>
                        <m: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t>𝟎</m:t>
                        </m:r>
                      </m:sub>
                    </m:sSub>
                    <m: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zh-CN" altLang="en-US" i="1">
                                <a:latin typeface="Cambria Math" panose="02040503050406030204" pitchFamily="18" charset="0"/>
                              </a:rPr>
                              <m:t>𝜷</m:t>
                            </m:r>
                          </m:e>
                        </m:acc>
                      </m:e>
                      <m:sub>
                        <m:r>
                          <a:rPr lang="en-US" altLang="zh-CN" b="1" i="1" smtClean="0">
                            <a:latin typeface="Cambria Math" panose="02040503050406030204" pitchFamily="18" charset="0"/>
                          </a:rPr>
                          <m:t>𝟏</m:t>
                        </m:r>
                      </m:sub>
                    </m:sSub>
                  </m:oMath>
                </a14:m>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lang="en-US" altLang="zh-CN" dirty="0"/>
                  <a:t> </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zh-CN" altLang="en-US" i="1">
                                <a:latin typeface="Cambria Math" panose="02040503050406030204" pitchFamily="18" charset="0"/>
                              </a:rPr>
                              <m:t>𝜷</m:t>
                            </m:r>
                          </m:e>
                        </m:acc>
                      </m:e>
                      <m:sub>
                        <m:r>
                          <a:rPr lang="en-US" altLang="zh-CN" b="1" i="1" smtClean="0">
                            <a:latin typeface="Cambria Math" panose="02040503050406030204" pitchFamily="18" charset="0"/>
                          </a:rPr>
                          <m:t>𝟐</m:t>
                        </m:r>
                      </m:sub>
                    </m:sSub>
                  </m:oMath>
                </a14:m>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14:m>
                  <m:oMath xmlns:m="http://schemas.openxmlformats.org/officeDocument/2006/math">
                    <m:r>
                      <a:rPr kumimoji="0" lang="en-US" altLang="zh-CN" sz="2800" b="1" i="1" u="none" strike="noStrike" kern="1200" cap="none" spc="0" normalizeH="0" baseline="0" noProof="0" dirty="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zh-CN" altLang="en-US" i="1">
                                <a:latin typeface="Cambria Math" panose="02040503050406030204" pitchFamily="18" charset="0"/>
                              </a:rPr>
                              <m:t>𝜷</m:t>
                            </m:r>
                          </m:e>
                        </m:acc>
                      </m:e>
                      <m:sub>
                        <m:r>
                          <a:rPr lang="en-US" altLang="zh-CN" b="1" i="1" smtClean="0">
                            <a:latin typeface="Cambria Math" panose="02040503050406030204" pitchFamily="18" charset="0"/>
                          </a:rPr>
                          <m:t>𝒑</m:t>
                        </m:r>
                      </m:sub>
                    </m:sSub>
                  </m:oMath>
                </a14:m>
                <a:r>
                  <a:rPr lang="zh-CN" altLang="en-US" dirty="0"/>
                  <a:t>应使得全部观察值与回归值的残差平方和达到最小：</a:t>
                </a:r>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mc:Choice>
        <mc:Fallback xmlns="">
          <p:sp>
            <p:nvSpPr>
              <p:cNvPr id="8" name="内容占位符 4">
                <a:extLst>
                  <a:ext uri="{FF2B5EF4-FFF2-40B4-BE49-F238E27FC236}">
                    <a16:creationId xmlns:a16="http://schemas.microsoft.com/office/drawing/2014/main" id="{074DE984-BDF0-8626-B2FD-06941E8C0403}"/>
                  </a:ext>
                </a:extLst>
              </p:cNvPr>
              <p:cNvSpPr txBox="1">
                <a:spLocks noRot="1" noChangeAspect="1" noMove="1" noResize="1" noEditPoints="1" noAdjustHandles="1" noChangeArrowheads="1" noChangeShapeType="1" noTextEdit="1"/>
              </p:cNvSpPr>
              <p:nvPr/>
            </p:nvSpPr>
            <p:spPr>
              <a:xfrm>
                <a:off x="892682" y="4112453"/>
                <a:ext cx="11299318" cy="2031493"/>
              </a:xfrm>
              <a:prstGeom prst="rect">
                <a:avLst/>
              </a:prstGeom>
              <a:blipFill>
                <a:blip r:embed="rId6"/>
                <a:stretch>
                  <a:fillRect/>
                </a:stretch>
              </a:blipFill>
            </p:spPr>
            <p:txBody>
              <a:bodyPr/>
              <a:lstStyle/>
              <a:p>
                <a:r>
                  <a:rPr lang="zh-CN" altLang="en-US">
                    <a:noFill/>
                  </a:rPr>
                  <a:t> </a:t>
                </a:r>
              </a:p>
            </p:txBody>
          </p:sp>
        </mc:Fallback>
      </mc:AlternateContent>
      <p:graphicFrame>
        <p:nvGraphicFramePr>
          <p:cNvPr id="9" name="对象 8">
            <a:extLst>
              <a:ext uri="{FF2B5EF4-FFF2-40B4-BE49-F238E27FC236}">
                <a16:creationId xmlns:a16="http://schemas.microsoft.com/office/drawing/2014/main" id="{C548DDDD-7AA7-6856-0BBC-019333F08078}"/>
              </a:ext>
            </a:extLst>
          </p:cNvPr>
          <p:cNvGraphicFramePr>
            <a:graphicFrameLocks noChangeAspect="1"/>
          </p:cNvGraphicFramePr>
          <p:nvPr>
            <p:extLst>
              <p:ext uri="{D42A27DB-BD31-4B8C-83A1-F6EECF244321}">
                <p14:modId xmlns:p14="http://schemas.microsoft.com/office/powerpoint/2010/main" val="2505653131"/>
              </p:ext>
            </p:extLst>
          </p:nvPr>
        </p:nvGraphicFramePr>
        <p:xfrm>
          <a:off x="2745267" y="4872132"/>
          <a:ext cx="6701466" cy="994411"/>
        </p:xfrm>
        <a:graphic>
          <a:graphicData uri="http://schemas.openxmlformats.org/presentationml/2006/ole">
            <mc:AlternateContent xmlns:mc="http://schemas.openxmlformats.org/markup-compatibility/2006">
              <mc:Choice xmlns:v="urn:schemas-microsoft-com:vml" Requires="v">
                <p:oleObj name="Equation" r:id="rId7" imgW="2952940" imgH="438136" progId="Equation.DSMT4">
                  <p:embed/>
                </p:oleObj>
              </mc:Choice>
              <mc:Fallback>
                <p:oleObj name="Equation" r:id="rId7" imgW="2952940" imgH="438136" progId="Equation.DSMT4">
                  <p:embed/>
                  <p:pic>
                    <p:nvPicPr>
                      <p:cNvPr id="0" name=""/>
                      <p:cNvPicPr/>
                      <p:nvPr/>
                    </p:nvPicPr>
                    <p:blipFill>
                      <a:blip r:embed="rId8"/>
                      <a:stretch>
                        <a:fillRect/>
                      </a:stretch>
                    </p:blipFill>
                    <p:spPr>
                      <a:xfrm>
                        <a:off x="2745267" y="4872132"/>
                        <a:ext cx="6701466" cy="994411"/>
                      </a:xfrm>
                      <a:prstGeom prst="rect">
                        <a:avLst/>
                      </a:prstGeom>
                    </p:spPr>
                  </p:pic>
                </p:oleObj>
              </mc:Fallback>
            </mc:AlternateContent>
          </a:graphicData>
        </a:graphic>
      </p:graphicFrame>
    </p:spTree>
    <p:extLst>
      <p:ext uri="{BB962C8B-B14F-4D97-AF65-F5344CB8AC3E}">
        <p14:creationId xmlns:p14="http://schemas.microsoft.com/office/powerpoint/2010/main" val="98962159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839C0-CC00-7C16-41F0-7008806D4D7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4A6FBBC-8C0E-515E-A2BE-9137DEA516F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87EB431B-72ED-F331-E065-96CE7C145859}"/>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多元线性回归模型的参数估计</a:t>
            </a:r>
          </a:p>
        </p:txBody>
      </p:sp>
      <mc:AlternateContent xmlns:mc="http://schemas.openxmlformats.org/markup-compatibility/2006" xmlns:a14="http://schemas.microsoft.com/office/drawing/2010/main">
        <mc:Choice Requires="a14">
          <p:sp>
            <p:nvSpPr>
              <p:cNvPr id="19" name="内容占位符 4">
                <a:extLst>
                  <a:ext uri="{FF2B5EF4-FFF2-40B4-BE49-F238E27FC236}">
                    <a16:creationId xmlns:a16="http://schemas.microsoft.com/office/drawing/2014/main" id="{08394CAA-2D22-5EA4-C073-F9D8355345A7}"/>
                  </a:ext>
                </a:extLst>
              </p:cNvPr>
              <p:cNvSpPr txBox="1">
                <a:spLocks/>
              </p:cNvSpPr>
              <p:nvPr/>
            </p:nvSpPr>
            <p:spPr>
              <a:xfrm>
                <a:off x="892682" y="2016098"/>
                <a:ext cx="10850680" cy="1826437"/>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buNone/>
                  <a:defRPr/>
                </a:pPr>
                <a:r>
                  <a:rPr lang="zh-CN" altLang="en-US" dirty="0"/>
                  <a:t>令</a:t>
                </a:r>
                <a:r>
                  <a:rPr lang="en-US" altLang="zh-CN" dirty="0"/>
                  <a:t>RSS</a:t>
                </a:r>
                <a:r>
                  <a:rPr lang="zh-CN" altLang="en-US" dirty="0"/>
                  <a:t>关于待估计参数</a:t>
                </a:r>
                <a14:m>
                  <m:oMath xmlns:m="http://schemas.openxmlformats.org/officeDocument/2006/math">
                    <m:sSub>
                      <m:sSubPr>
                        <m:ctrlP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ctrlPr>
                      </m:sSubPr>
                      <m:e>
                        <m:acc>
                          <m:accPr>
                            <m:chr m:val="̂"/>
                            <m:ctrlP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ctrlPr>
                          </m:accPr>
                          <m:e>
                            <m:r>
                              <a:rPr kumimoji="0" lang="zh-CN" altLang="en-US"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rPr>
                              <m:t>𝜷</m:t>
                            </m:r>
                          </m:e>
                        </m:acc>
                      </m:e>
                      <m:sub>
                        <m: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t>𝟎</m:t>
                        </m:r>
                      </m:sub>
                    </m:sSub>
                    <m:r>
                      <a:rPr kumimoji="0" lang="en-US" altLang="zh-CN" sz="2800" b="1" i="1" u="none" strike="noStrike" kern="1200" cap="none" spc="0" normalizeH="0" baseline="0" noProof="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微软雅黑" panose="020B0503020204020204" pitchFamily="34" charset="-122"/>
                        <a:cs typeface="Arial" pitchFamily="34"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zh-CN" altLang="en-US" i="1">
                                <a:latin typeface="Cambria Math" panose="02040503050406030204" pitchFamily="18" charset="0"/>
                              </a:rPr>
                              <m:t>𝜷</m:t>
                            </m:r>
                          </m:e>
                        </m:acc>
                      </m:e>
                      <m:sub>
                        <m:r>
                          <a:rPr lang="en-US" altLang="zh-CN" b="1" i="1" smtClean="0">
                            <a:latin typeface="Cambria Math" panose="02040503050406030204" pitchFamily="18" charset="0"/>
                          </a:rPr>
                          <m:t>𝟏</m:t>
                        </m:r>
                      </m:sub>
                    </m:sSub>
                  </m:oMath>
                </a14:m>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lang="en-US" altLang="zh-CN" dirty="0"/>
                  <a:t> </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zh-CN" altLang="en-US" i="1">
                                <a:latin typeface="Cambria Math" panose="02040503050406030204" pitchFamily="18" charset="0"/>
                              </a:rPr>
                              <m:t>𝜷</m:t>
                            </m:r>
                          </m:e>
                        </m:acc>
                      </m:e>
                      <m:sub>
                        <m:r>
                          <a:rPr lang="en-US" altLang="zh-CN" b="1" i="1" smtClean="0">
                            <a:latin typeface="Cambria Math" panose="02040503050406030204" pitchFamily="18" charset="0"/>
                          </a:rPr>
                          <m:t>𝟐</m:t>
                        </m:r>
                      </m:sub>
                    </m:sSub>
                  </m:oMath>
                </a14:m>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14:m>
                  <m:oMath xmlns:m="http://schemas.openxmlformats.org/officeDocument/2006/math">
                    <m:r>
                      <a:rPr kumimoji="0" lang="en-US" altLang="zh-CN" sz="2800" b="1" i="1" u="none" strike="noStrike" kern="1200" cap="none" spc="0" normalizeH="0" baseline="0" noProof="0" dirty="0" smtClean="0">
                        <a:ln w="11430"/>
                        <a:solidFill>
                          <a:sysClr val="windowText" lastClr="000000"/>
                        </a:solidFill>
                        <a:effectLst>
                          <a:outerShdw blurRad="76200" dist="50800" dir="5400000" algn="tl" rotWithShape="0">
                            <a:srgbClr val="000000">
                              <a:alpha val="65000"/>
                            </a:srgbClr>
                          </a:outerShdw>
                        </a:effectLst>
                        <a:uLnTx/>
                        <a:uFillTx/>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zh-CN" altLang="en-US" i="1">
                                <a:latin typeface="Cambria Math" panose="02040503050406030204" pitchFamily="18" charset="0"/>
                              </a:rPr>
                              <m:t>𝜷</m:t>
                            </m:r>
                          </m:e>
                        </m:acc>
                      </m:e>
                      <m:sub>
                        <m:r>
                          <a:rPr lang="en-US" altLang="zh-CN" b="1" i="1" smtClean="0">
                            <a:latin typeface="Cambria Math" panose="02040503050406030204" pitchFamily="18" charset="0"/>
                          </a:rPr>
                          <m:t>𝒑</m:t>
                        </m:r>
                      </m:sub>
                    </m:sSub>
                    <m:r>
                      <a:rPr lang="zh-CN" altLang="en-US" i="1">
                        <a:latin typeface="Cambria Math" panose="02040503050406030204" pitchFamily="18" charset="0"/>
                      </a:rPr>
                      <m:t>的</m:t>
                    </m:r>
                  </m:oMath>
                </a14:m>
                <a:r>
                  <a:rPr lang="zh-CN" altLang="en-US" dirty="0"/>
                  <a:t>偏导数为</a:t>
                </a:r>
                <a:r>
                  <a:rPr lang="en-US" altLang="zh-CN" dirty="0"/>
                  <a:t>0</a:t>
                </a:r>
                <a:r>
                  <a:rPr lang="zh-CN" altLang="en-US" dirty="0"/>
                  <a:t>：</a:t>
                </a:r>
                <a:endParaRPr lang="en-US" altLang="zh-CN" dirty="0"/>
              </a:p>
            </p:txBody>
          </p:sp>
        </mc:Choice>
        <mc:Fallback xmlns="">
          <p:sp>
            <p:nvSpPr>
              <p:cNvPr id="19" name="内容占位符 4">
                <a:extLst>
                  <a:ext uri="{FF2B5EF4-FFF2-40B4-BE49-F238E27FC236}">
                    <a16:creationId xmlns:a16="http://schemas.microsoft.com/office/drawing/2014/main" id="{08394CAA-2D22-5EA4-C073-F9D8355345A7}"/>
                  </a:ext>
                </a:extLst>
              </p:cNvPr>
              <p:cNvSpPr txBox="1">
                <a:spLocks noRot="1" noChangeAspect="1" noMove="1" noResize="1" noEditPoints="1" noAdjustHandles="1" noChangeArrowheads="1" noChangeShapeType="1" noTextEdit="1"/>
              </p:cNvSpPr>
              <p:nvPr/>
            </p:nvSpPr>
            <p:spPr>
              <a:xfrm>
                <a:off x="892682" y="2016098"/>
                <a:ext cx="10850680" cy="1826437"/>
              </a:xfrm>
              <a:prstGeom prst="rect">
                <a:avLst/>
              </a:prstGeom>
              <a:blipFill>
                <a:blip r:embed="rId3"/>
                <a:stretch>
                  <a:fillRect/>
                </a:stretch>
              </a:blipFill>
            </p:spPr>
            <p:txBody>
              <a:bodyPr/>
              <a:lstStyle/>
              <a:p>
                <a:r>
                  <a:rPr lang="zh-CN" altLang="en-US">
                    <a:noFill/>
                  </a:rPr>
                  <a:t> </a:t>
                </a:r>
              </a:p>
            </p:txBody>
          </p:sp>
        </mc:Fallback>
      </mc:AlternateContent>
      <p:graphicFrame>
        <p:nvGraphicFramePr>
          <p:cNvPr id="4" name="对象 3">
            <a:extLst>
              <a:ext uri="{FF2B5EF4-FFF2-40B4-BE49-F238E27FC236}">
                <a16:creationId xmlns:a16="http://schemas.microsoft.com/office/drawing/2014/main" id="{7383E380-243B-0F14-EED2-EC83440E5110}"/>
              </a:ext>
            </a:extLst>
          </p:cNvPr>
          <p:cNvGraphicFramePr>
            <a:graphicFrameLocks noChangeAspect="1"/>
          </p:cNvGraphicFramePr>
          <p:nvPr>
            <p:extLst>
              <p:ext uri="{D42A27DB-BD31-4B8C-83A1-F6EECF244321}">
                <p14:modId xmlns:p14="http://schemas.microsoft.com/office/powerpoint/2010/main" val="1246434931"/>
              </p:ext>
            </p:extLst>
          </p:nvPr>
        </p:nvGraphicFramePr>
        <p:xfrm>
          <a:off x="2818029" y="3199236"/>
          <a:ext cx="7287661" cy="1826436"/>
        </p:xfrm>
        <a:graphic>
          <a:graphicData uri="http://schemas.openxmlformats.org/presentationml/2006/ole">
            <mc:AlternateContent xmlns:mc="http://schemas.openxmlformats.org/markup-compatibility/2006">
              <mc:Choice xmlns:v="urn:schemas-microsoft-com:vml" Requires="v">
                <p:oleObj name="Equation" r:id="rId4" imgW="3838966" imgH="961955" progId="Equation.DSMT4">
                  <p:embed/>
                </p:oleObj>
              </mc:Choice>
              <mc:Fallback>
                <p:oleObj name="Equation" r:id="rId4" imgW="3838966" imgH="961955" progId="Equation.DSMT4">
                  <p:embed/>
                  <p:pic>
                    <p:nvPicPr>
                      <p:cNvPr id="0" name=""/>
                      <p:cNvPicPr/>
                      <p:nvPr/>
                    </p:nvPicPr>
                    <p:blipFill>
                      <a:blip r:embed="rId5"/>
                      <a:stretch>
                        <a:fillRect/>
                      </a:stretch>
                    </p:blipFill>
                    <p:spPr>
                      <a:xfrm>
                        <a:off x="2818029" y="3199236"/>
                        <a:ext cx="7287661" cy="1826436"/>
                      </a:xfrm>
                      <a:prstGeom prst="rect">
                        <a:avLst/>
                      </a:prstGeom>
                    </p:spPr>
                  </p:pic>
                </p:oleObj>
              </mc:Fallback>
            </mc:AlternateContent>
          </a:graphicData>
        </a:graphic>
      </p:graphicFrame>
    </p:spTree>
    <p:extLst>
      <p:ext uri="{BB962C8B-B14F-4D97-AF65-F5344CB8AC3E}">
        <p14:creationId xmlns:p14="http://schemas.microsoft.com/office/powerpoint/2010/main" val="28170153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B6DA-50C9-308A-69C4-9637D2EE505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905112C-AADC-7B26-C291-9CE779C7E52F}"/>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73185C01-DF74-E189-DF2D-C75386519A71}"/>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多元线性回归模型的参数估计</a:t>
            </a:r>
          </a:p>
        </p:txBody>
      </p:sp>
      <p:sp>
        <p:nvSpPr>
          <p:cNvPr id="19" name="内容占位符 4">
            <a:extLst>
              <a:ext uri="{FF2B5EF4-FFF2-40B4-BE49-F238E27FC236}">
                <a16:creationId xmlns:a16="http://schemas.microsoft.com/office/drawing/2014/main" id="{BB8ECFC2-79AD-0155-DBA2-B93F2F316A52}"/>
              </a:ext>
            </a:extLst>
          </p:cNvPr>
          <p:cNvSpPr txBox="1">
            <a:spLocks/>
          </p:cNvSpPr>
          <p:nvPr/>
        </p:nvSpPr>
        <p:spPr>
          <a:xfrm>
            <a:off x="892682" y="2016098"/>
            <a:ext cx="10850680" cy="1826437"/>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buNone/>
              <a:defRPr/>
            </a:pPr>
            <a:r>
              <a:rPr lang="zh-CN" altLang="en-US" dirty="0"/>
              <a:t>即：</a:t>
            </a:r>
            <a:endParaRPr lang="en-US" altLang="zh-CN" dirty="0"/>
          </a:p>
        </p:txBody>
      </p:sp>
      <p:graphicFrame>
        <p:nvGraphicFramePr>
          <p:cNvPr id="6" name="对象 5">
            <a:extLst>
              <a:ext uri="{FF2B5EF4-FFF2-40B4-BE49-F238E27FC236}">
                <a16:creationId xmlns:a16="http://schemas.microsoft.com/office/drawing/2014/main" id="{BB916991-CCC2-FE7E-DCEA-02E53F80DC46}"/>
              </a:ext>
            </a:extLst>
          </p:cNvPr>
          <p:cNvGraphicFramePr>
            <a:graphicFrameLocks noChangeAspect="1"/>
          </p:cNvGraphicFramePr>
          <p:nvPr>
            <p:extLst>
              <p:ext uri="{D42A27DB-BD31-4B8C-83A1-F6EECF244321}">
                <p14:modId xmlns:p14="http://schemas.microsoft.com/office/powerpoint/2010/main" val="52518021"/>
              </p:ext>
            </p:extLst>
          </p:nvPr>
        </p:nvGraphicFramePr>
        <p:xfrm>
          <a:off x="2172018" y="2665787"/>
          <a:ext cx="7847963" cy="3328827"/>
        </p:xfrm>
        <a:graphic>
          <a:graphicData uri="http://schemas.openxmlformats.org/presentationml/2006/ole">
            <mc:AlternateContent xmlns:mc="http://schemas.openxmlformats.org/markup-compatibility/2006">
              <mc:Choice xmlns:v="urn:schemas-microsoft-com:vml" Requires="v">
                <p:oleObj name="Equation" r:id="rId3" imgW="3705396" imgH="1571816" progId="Equation.DSMT4">
                  <p:embed/>
                </p:oleObj>
              </mc:Choice>
              <mc:Fallback>
                <p:oleObj name="Equation" r:id="rId3" imgW="3705396" imgH="1571816" progId="Equation.DSMT4">
                  <p:embed/>
                  <p:pic>
                    <p:nvPicPr>
                      <p:cNvPr id="6" name="对象 5">
                        <a:extLst>
                          <a:ext uri="{FF2B5EF4-FFF2-40B4-BE49-F238E27FC236}">
                            <a16:creationId xmlns:a16="http://schemas.microsoft.com/office/drawing/2014/main" id="{B2838DC0-7A75-DA48-EEBB-C7F69051AE5D}"/>
                          </a:ext>
                        </a:extLst>
                      </p:cNvPr>
                      <p:cNvPicPr/>
                      <p:nvPr/>
                    </p:nvPicPr>
                    <p:blipFill>
                      <a:blip r:embed="rId4"/>
                      <a:stretch>
                        <a:fillRect/>
                      </a:stretch>
                    </p:blipFill>
                    <p:spPr>
                      <a:xfrm>
                        <a:off x="2172018" y="2665787"/>
                        <a:ext cx="7847963" cy="3328827"/>
                      </a:xfrm>
                      <a:prstGeom prst="rect">
                        <a:avLst/>
                      </a:prstGeom>
                    </p:spPr>
                  </p:pic>
                </p:oleObj>
              </mc:Fallback>
            </mc:AlternateContent>
          </a:graphicData>
        </a:graphic>
      </p:graphicFrame>
    </p:spTree>
    <p:extLst>
      <p:ext uri="{BB962C8B-B14F-4D97-AF65-F5344CB8AC3E}">
        <p14:creationId xmlns:p14="http://schemas.microsoft.com/office/powerpoint/2010/main" val="264213901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2D6D3-2C5D-6ADF-5D67-D05D3FE43AD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90A5787-857A-04CB-96B0-9509A40A670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3E2AE441-DF83-82A8-3C75-E6D1DB1FF901}"/>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多元线性回归模型的参数估计</a:t>
            </a:r>
          </a:p>
        </p:txBody>
      </p:sp>
      <p:sp>
        <p:nvSpPr>
          <p:cNvPr id="19" name="内容占位符 4">
            <a:extLst>
              <a:ext uri="{FF2B5EF4-FFF2-40B4-BE49-F238E27FC236}">
                <a16:creationId xmlns:a16="http://schemas.microsoft.com/office/drawing/2014/main" id="{F7857A08-9CFE-3D0D-4358-0DD53BAF1D06}"/>
              </a:ext>
            </a:extLst>
          </p:cNvPr>
          <p:cNvSpPr txBox="1">
            <a:spLocks/>
          </p:cNvSpPr>
          <p:nvPr/>
        </p:nvSpPr>
        <p:spPr>
          <a:xfrm>
            <a:off x="235135" y="2001025"/>
            <a:ext cx="10850680" cy="1826437"/>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buNone/>
              <a:defRPr/>
            </a:pPr>
            <a:r>
              <a:rPr lang="zh-CN" altLang="en-US" dirty="0"/>
              <a:t>由于：</a:t>
            </a:r>
            <a:endParaRPr lang="en-US" altLang="zh-CN" dirty="0"/>
          </a:p>
        </p:txBody>
      </p:sp>
      <p:graphicFrame>
        <p:nvGraphicFramePr>
          <p:cNvPr id="4" name="对象 3">
            <a:extLst>
              <a:ext uri="{FF2B5EF4-FFF2-40B4-BE49-F238E27FC236}">
                <a16:creationId xmlns:a16="http://schemas.microsoft.com/office/drawing/2014/main" id="{F05AFC72-D7AC-3B7E-7CDA-8A81E98739BB}"/>
              </a:ext>
            </a:extLst>
          </p:cNvPr>
          <p:cNvGraphicFramePr>
            <a:graphicFrameLocks noChangeAspect="1"/>
          </p:cNvGraphicFramePr>
          <p:nvPr>
            <p:extLst>
              <p:ext uri="{D42A27DB-BD31-4B8C-83A1-F6EECF244321}">
                <p14:modId xmlns:p14="http://schemas.microsoft.com/office/powerpoint/2010/main" val="2884585499"/>
              </p:ext>
            </p:extLst>
          </p:nvPr>
        </p:nvGraphicFramePr>
        <p:xfrm>
          <a:off x="1389282" y="1436842"/>
          <a:ext cx="10315701" cy="2934639"/>
        </p:xfrm>
        <a:graphic>
          <a:graphicData uri="http://schemas.openxmlformats.org/presentationml/2006/ole">
            <mc:AlternateContent xmlns:mc="http://schemas.openxmlformats.org/markup-compatibility/2006">
              <mc:Choice xmlns:v="urn:schemas-microsoft-com:vml" Requires="v">
                <p:oleObj name="Equation" r:id="rId3" imgW="5524972" imgH="1571816" progId="Equation.DSMT4">
                  <p:embed/>
                </p:oleObj>
              </mc:Choice>
              <mc:Fallback>
                <p:oleObj name="Equation" r:id="rId3" imgW="5524972" imgH="1571816" progId="Equation.DSMT4">
                  <p:embed/>
                  <p:pic>
                    <p:nvPicPr>
                      <p:cNvPr id="0" name=""/>
                      <p:cNvPicPr/>
                      <p:nvPr/>
                    </p:nvPicPr>
                    <p:blipFill>
                      <a:blip r:embed="rId4"/>
                      <a:stretch>
                        <a:fillRect/>
                      </a:stretch>
                    </p:blipFill>
                    <p:spPr>
                      <a:xfrm>
                        <a:off x="1389282" y="1436842"/>
                        <a:ext cx="10315701" cy="2934639"/>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D9C13809-CFD4-79E6-ECC2-42C7D03851DE}"/>
              </a:ext>
            </a:extLst>
          </p:cNvPr>
          <p:cNvGraphicFramePr>
            <a:graphicFrameLocks noChangeAspect="1"/>
          </p:cNvGraphicFramePr>
          <p:nvPr>
            <p:extLst>
              <p:ext uri="{D42A27DB-BD31-4B8C-83A1-F6EECF244321}">
                <p14:modId xmlns:p14="http://schemas.microsoft.com/office/powerpoint/2010/main" val="1122026273"/>
              </p:ext>
            </p:extLst>
          </p:nvPr>
        </p:nvGraphicFramePr>
        <p:xfrm>
          <a:off x="1389282" y="3970769"/>
          <a:ext cx="5256088" cy="2852811"/>
        </p:xfrm>
        <a:graphic>
          <a:graphicData uri="http://schemas.openxmlformats.org/presentationml/2006/ole">
            <mc:AlternateContent xmlns:mc="http://schemas.openxmlformats.org/markup-compatibility/2006">
              <mc:Choice xmlns:v="urn:schemas-microsoft-com:vml" Requires="v">
                <p:oleObj name="Equation" r:id="rId5" imgW="2895696" imgH="1571816" progId="Equation.DSMT4">
                  <p:embed/>
                </p:oleObj>
              </mc:Choice>
              <mc:Fallback>
                <p:oleObj name="Equation" r:id="rId5" imgW="2895696" imgH="1571816" progId="Equation.DSMT4">
                  <p:embed/>
                  <p:pic>
                    <p:nvPicPr>
                      <p:cNvPr id="0" name=""/>
                      <p:cNvPicPr/>
                      <p:nvPr/>
                    </p:nvPicPr>
                    <p:blipFill>
                      <a:blip r:embed="rId6"/>
                      <a:stretch>
                        <a:fillRect/>
                      </a:stretch>
                    </p:blipFill>
                    <p:spPr>
                      <a:xfrm>
                        <a:off x="1389282" y="3970769"/>
                        <a:ext cx="5256088" cy="2852811"/>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5E2BB22E-01C4-88AF-1C45-DBFDB0B0C93A}"/>
              </a:ext>
            </a:extLst>
          </p:cNvPr>
          <p:cNvGraphicFramePr>
            <a:graphicFrameLocks noChangeAspect="1"/>
          </p:cNvGraphicFramePr>
          <p:nvPr>
            <p:extLst>
              <p:ext uri="{D42A27DB-BD31-4B8C-83A1-F6EECF244321}">
                <p14:modId xmlns:p14="http://schemas.microsoft.com/office/powerpoint/2010/main" val="1287686315"/>
              </p:ext>
            </p:extLst>
          </p:nvPr>
        </p:nvGraphicFramePr>
        <p:xfrm>
          <a:off x="8267494" y="4963574"/>
          <a:ext cx="2441045" cy="610262"/>
        </p:xfrm>
        <a:graphic>
          <a:graphicData uri="http://schemas.openxmlformats.org/presentationml/2006/ole">
            <mc:AlternateContent xmlns:mc="http://schemas.openxmlformats.org/markup-compatibility/2006">
              <mc:Choice xmlns:v="urn:schemas-microsoft-com:vml" Requires="v">
                <p:oleObj name="Equation" r:id="rId7" imgW="952631" imgH="237969" progId="Equation.DSMT4">
                  <p:embed/>
                </p:oleObj>
              </mc:Choice>
              <mc:Fallback>
                <p:oleObj name="Equation" r:id="rId7" imgW="952631" imgH="237969" progId="Equation.DSMT4">
                  <p:embed/>
                  <p:pic>
                    <p:nvPicPr>
                      <p:cNvPr id="0" name=""/>
                      <p:cNvPicPr/>
                      <p:nvPr/>
                    </p:nvPicPr>
                    <p:blipFill>
                      <a:blip r:embed="rId8"/>
                      <a:stretch>
                        <a:fillRect/>
                      </a:stretch>
                    </p:blipFill>
                    <p:spPr>
                      <a:xfrm>
                        <a:off x="8267494" y="4963574"/>
                        <a:ext cx="2441045" cy="610262"/>
                      </a:xfrm>
                      <a:prstGeom prst="rect">
                        <a:avLst/>
                      </a:prstGeom>
                    </p:spPr>
                  </p:pic>
                </p:oleObj>
              </mc:Fallback>
            </mc:AlternateContent>
          </a:graphicData>
        </a:graphic>
      </p:graphicFrame>
      <p:sp>
        <p:nvSpPr>
          <p:cNvPr id="8" name="箭头: 右 7">
            <a:extLst>
              <a:ext uri="{FF2B5EF4-FFF2-40B4-BE49-F238E27FC236}">
                <a16:creationId xmlns:a16="http://schemas.microsoft.com/office/drawing/2014/main" id="{DFE995F9-470C-3FDD-4DF6-928E241E22E4}"/>
              </a:ext>
            </a:extLst>
          </p:cNvPr>
          <p:cNvSpPr/>
          <p:nvPr/>
        </p:nvSpPr>
        <p:spPr>
          <a:xfrm flipV="1">
            <a:off x="6974861" y="4955392"/>
            <a:ext cx="741031" cy="526994"/>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17598148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85F54-A3D5-CC45-EAD3-7B52C453106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4C3E1ED-A2C6-CD3B-73C8-274B490949D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08AF587A-C325-BD74-B9B6-EFB69BD1ABA8}"/>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多元线性回归模型的参数估计</a:t>
            </a:r>
          </a:p>
        </p:txBody>
      </p:sp>
      <p:graphicFrame>
        <p:nvGraphicFramePr>
          <p:cNvPr id="7" name="对象 6">
            <a:extLst>
              <a:ext uri="{FF2B5EF4-FFF2-40B4-BE49-F238E27FC236}">
                <a16:creationId xmlns:a16="http://schemas.microsoft.com/office/drawing/2014/main" id="{7407A906-783A-D502-2B7E-6B2A36D1ED7F}"/>
              </a:ext>
            </a:extLst>
          </p:cNvPr>
          <p:cNvGraphicFramePr>
            <a:graphicFrameLocks noChangeAspect="1"/>
          </p:cNvGraphicFramePr>
          <p:nvPr>
            <p:extLst>
              <p:ext uri="{D42A27DB-BD31-4B8C-83A1-F6EECF244321}">
                <p14:modId xmlns:p14="http://schemas.microsoft.com/office/powerpoint/2010/main" val="3797287659"/>
              </p:ext>
            </p:extLst>
          </p:nvPr>
        </p:nvGraphicFramePr>
        <p:xfrm>
          <a:off x="4533816" y="2040724"/>
          <a:ext cx="2441045" cy="610262"/>
        </p:xfrm>
        <a:graphic>
          <a:graphicData uri="http://schemas.openxmlformats.org/presentationml/2006/ole">
            <mc:AlternateContent xmlns:mc="http://schemas.openxmlformats.org/markup-compatibility/2006">
              <mc:Choice xmlns:v="urn:schemas-microsoft-com:vml" Requires="v">
                <p:oleObj name="Equation" r:id="rId3" imgW="952631" imgH="237969" progId="Equation.DSMT4">
                  <p:embed/>
                </p:oleObj>
              </mc:Choice>
              <mc:Fallback>
                <p:oleObj name="Equation" r:id="rId3" imgW="952631" imgH="237969" progId="Equation.DSMT4">
                  <p:embed/>
                  <p:pic>
                    <p:nvPicPr>
                      <p:cNvPr id="7" name="对象 6">
                        <a:extLst>
                          <a:ext uri="{FF2B5EF4-FFF2-40B4-BE49-F238E27FC236}">
                            <a16:creationId xmlns:a16="http://schemas.microsoft.com/office/drawing/2014/main" id="{5E2BB22E-01C4-88AF-1C45-DBFDB0B0C93A}"/>
                          </a:ext>
                        </a:extLst>
                      </p:cNvPr>
                      <p:cNvPicPr/>
                      <p:nvPr/>
                    </p:nvPicPr>
                    <p:blipFill>
                      <a:blip r:embed="rId4"/>
                      <a:stretch>
                        <a:fillRect/>
                      </a:stretch>
                    </p:blipFill>
                    <p:spPr>
                      <a:xfrm>
                        <a:off x="4533816" y="2040724"/>
                        <a:ext cx="2441045" cy="610262"/>
                      </a:xfrm>
                      <a:prstGeom prst="rect">
                        <a:avLst/>
                      </a:prstGeom>
                    </p:spPr>
                  </p:pic>
                </p:oleObj>
              </mc:Fallback>
            </mc:AlternateContent>
          </a:graphicData>
        </a:graphic>
      </p:graphicFrame>
      <p:sp>
        <p:nvSpPr>
          <p:cNvPr id="8" name="箭头: 右 7">
            <a:extLst>
              <a:ext uri="{FF2B5EF4-FFF2-40B4-BE49-F238E27FC236}">
                <a16:creationId xmlns:a16="http://schemas.microsoft.com/office/drawing/2014/main" id="{9FA24595-90E8-D26C-1C0B-FC3EB93FE322}"/>
              </a:ext>
            </a:extLst>
          </p:cNvPr>
          <p:cNvSpPr/>
          <p:nvPr/>
        </p:nvSpPr>
        <p:spPr>
          <a:xfrm rot="8153987" flipV="1">
            <a:off x="3470522" y="2514366"/>
            <a:ext cx="944382" cy="526994"/>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文本框 9">
            <a:extLst>
              <a:ext uri="{FF2B5EF4-FFF2-40B4-BE49-F238E27FC236}">
                <a16:creationId xmlns:a16="http://schemas.microsoft.com/office/drawing/2014/main" id="{E66F78AE-8904-E98E-73B8-DBD05AED8556}"/>
              </a:ext>
            </a:extLst>
          </p:cNvPr>
          <p:cNvSpPr txBox="1"/>
          <p:nvPr/>
        </p:nvSpPr>
        <p:spPr>
          <a:xfrm>
            <a:off x="487017" y="3203078"/>
            <a:ext cx="3936220" cy="1200329"/>
          </a:xfrm>
          <a:prstGeom prst="rect">
            <a:avLst/>
          </a:prstGeom>
          <a:noFill/>
        </p:spPr>
        <p:txBody>
          <a:bodyPr wrap="square">
            <a:spAutoFit/>
          </a:bodyPr>
          <a:lstStyle/>
          <a:p>
            <a:r>
              <a:rPr lang="zh-CN" altLang="zh-CN" sz="2400" b="1" kern="100" dirty="0">
                <a:effectLst/>
                <a:latin typeface="微软雅黑" panose="020B0503020204020204" pitchFamily="34" charset="-122"/>
                <a:ea typeface="微软雅黑" panose="020B0503020204020204" pitchFamily="34" charset="-122"/>
                <a:cs typeface="Times New Roman" panose="02020603050405020304" pitchFamily="18" charset="0"/>
              </a:rPr>
              <a:t>在满足各个自变量之间不存在严格线性相关性，即无完全多重共线性</a:t>
            </a:r>
            <a:r>
              <a:rPr lang="zh-CN" altLang="en-US" sz="2400" b="1" kern="100" dirty="0">
                <a:effectLst/>
                <a:latin typeface="微软雅黑" panose="020B0503020204020204" pitchFamily="34" charset="-122"/>
                <a:ea typeface="微软雅黑" panose="020B0503020204020204" pitchFamily="34" charset="-122"/>
                <a:cs typeface="Times New Roman" panose="02020603050405020304" pitchFamily="18" charset="0"/>
              </a:rPr>
              <a:t>的条件下</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11" name="对象 10">
            <a:extLst>
              <a:ext uri="{FF2B5EF4-FFF2-40B4-BE49-F238E27FC236}">
                <a16:creationId xmlns:a16="http://schemas.microsoft.com/office/drawing/2014/main" id="{5C9760D1-ECF6-66CA-C97E-B0046CC42266}"/>
              </a:ext>
            </a:extLst>
          </p:cNvPr>
          <p:cNvGraphicFramePr>
            <a:graphicFrameLocks noChangeAspect="1"/>
          </p:cNvGraphicFramePr>
          <p:nvPr>
            <p:extLst>
              <p:ext uri="{D42A27DB-BD31-4B8C-83A1-F6EECF244321}">
                <p14:modId xmlns:p14="http://schemas.microsoft.com/office/powerpoint/2010/main" val="410265141"/>
              </p:ext>
            </p:extLst>
          </p:nvPr>
        </p:nvGraphicFramePr>
        <p:xfrm>
          <a:off x="7940266" y="2260034"/>
          <a:ext cx="3606800" cy="2292350"/>
        </p:xfrm>
        <a:graphic>
          <a:graphicData uri="http://schemas.openxmlformats.org/presentationml/2006/ole">
            <mc:AlternateContent xmlns:mc="http://schemas.openxmlformats.org/markup-compatibility/2006">
              <mc:Choice xmlns:v="urn:schemas-microsoft-com:vml" Requires="v">
                <p:oleObj name="Equation" r:id="rId5" imgW="1638000" imgH="1041120" progId="Equation.DSMT4">
                  <p:embed/>
                </p:oleObj>
              </mc:Choice>
              <mc:Fallback>
                <p:oleObj name="Equation" r:id="rId5" imgW="1638000" imgH="1041120" progId="Equation.DSMT4">
                  <p:embed/>
                  <p:pic>
                    <p:nvPicPr>
                      <p:cNvPr id="0" name=""/>
                      <p:cNvPicPr/>
                      <p:nvPr/>
                    </p:nvPicPr>
                    <p:blipFill>
                      <a:blip r:embed="rId6"/>
                      <a:stretch>
                        <a:fillRect/>
                      </a:stretch>
                    </p:blipFill>
                    <p:spPr>
                      <a:xfrm>
                        <a:off x="7940266" y="2260034"/>
                        <a:ext cx="3606800" cy="229235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69424508-0AF4-DBA0-D645-FD812CBBACA1}"/>
                  </a:ext>
                </a:extLst>
              </p:cNvPr>
              <p:cNvSpPr txBox="1"/>
              <p:nvPr/>
            </p:nvSpPr>
            <p:spPr>
              <a:xfrm>
                <a:off x="3896971" y="5243262"/>
                <a:ext cx="4398058" cy="1215204"/>
              </a:xfrm>
              <a:prstGeom prst="rect">
                <a:avLst/>
              </a:prstGeom>
              <a:noFill/>
            </p:spPr>
            <p:txBody>
              <a:bodyPr wrap="square">
                <a:spAutoFit/>
              </a:bodyPr>
              <a:lstStyle/>
              <a:p>
                <a:r>
                  <a:rPr lang="zh-CN" altLang="en-US" sz="2400" b="1" kern="100" dirty="0">
                    <a:effectLst/>
                    <a:latin typeface="微软雅黑" panose="020B0503020204020204" pitchFamily="34" charset="-122"/>
                    <a:ea typeface="微软雅黑" panose="020B0503020204020204" pitchFamily="34" charset="-122"/>
                    <a:cs typeface="Times New Roman" panose="02020603050405020304" pitchFamily="18" charset="0"/>
                  </a:rPr>
                  <a:t>由</a:t>
                </a:r>
                <a14:m>
                  <m:oMath xmlns:m="http://schemas.openxmlformats.org/officeDocument/2006/math">
                    <m:r>
                      <a:rPr lang="en-US" altLang="zh-CN" sz="2400" b="1" i="1" kern="100" smtClean="0">
                        <a:effectLst/>
                        <a:latin typeface="Cambria Math" panose="02040503050406030204" pitchFamily="18" charset="0"/>
                        <a:ea typeface="微软雅黑" panose="020B0503020204020204" pitchFamily="34" charset="-122"/>
                        <a:cs typeface="Times New Roman" panose="02020603050405020304" pitchFamily="18" charset="0"/>
                      </a:rPr>
                      <m:t>𝑿</m:t>
                    </m:r>
                  </m:oMath>
                </a14:m>
                <a:r>
                  <a:rPr lang="zh-CN" altLang="en-US" sz="2400" b="1" kern="100" dirty="0">
                    <a:effectLst/>
                    <a:latin typeface="微软雅黑" panose="020B0503020204020204" pitchFamily="34" charset="-122"/>
                    <a:ea typeface="微软雅黑" panose="020B0503020204020204" pitchFamily="34" charset="-122"/>
                    <a:cs typeface="Times New Roman" panose="02020603050405020304" pitchFamily="18" charset="0"/>
                  </a:rPr>
                  <a:t>的列满秩性可得</a:t>
                </a:r>
                <a14:m>
                  <m:oMath xmlns:m="http://schemas.openxmlformats.org/officeDocument/2006/math">
                    <m:sSup>
                      <m:sSupPr>
                        <m:ctrlPr>
                          <a:rPr lang="en-US" altLang="zh-CN" sz="2400" b="1" i="1" kern="10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400" b="1" i="1" kern="100" smtClean="0">
                            <a:latin typeface="Cambria Math" panose="02040503050406030204" pitchFamily="18" charset="0"/>
                            <a:ea typeface="微软雅黑" panose="020B0503020204020204" pitchFamily="34" charset="-122"/>
                            <a:cs typeface="Times New Roman" panose="02020603050405020304" pitchFamily="18" charset="0"/>
                          </a:rPr>
                          <m:t>𝑿</m:t>
                        </m:r>
                      </m:e>
                      <m:sup>
                        <m:r>
                          <a:rPr lang="en-US" altLang="zh-CN" sz="2400" b="1" i="1" kern="100" smtClean="0">
                            <a:latin typeface="Cambria Math" panose="02040503050406030204" pitchFamily="18" charset="0"/>
                            <a:ea typeface="微软雅黑" panose="020B0503020204020204" pitchFamily="34" charset="-122"/>
                            <a:cs typeface="Times New Roman" panose="02020603050405020304" pitchFamily="18" charset="0"/>
                          </a:rPr>
                          <m:t>𝑻</m:t>
                        </m:r>
                      </m:sup>
                    </m:sSup>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𝑿</m:t>
                    </m:r>
                  </m:oMath>
                </a14:m>
                <a:r>
                  <a:rPr lang="zh-CN" altLang="en-US" sz="2400" b="1" kern="100" dirty="0">
                    <a:effectLst/>
                    <a:latin typeface="微软雅黑" panose="020B0503020204020204" pitchFamily="34" charset="-122"/>
                    <a:ea typeface="微软雅黑" panose="020B0503020204020204" pitchFamily="34" charset="-122"/>
                    <a:cs typeface="Times New Roman" panose="02020603050405020304" pitchFamily="18" charset="0"/>
                  </a:rPr>
                  <a:t>为满秩对称矩阵，故两边左乘</a:t>
                </a:r>
                <a14:m>
                  <m:oMath xmlns:m="http://schemas.openxmlformats.org/officeDocument/2006/math">
                    <m:sSup>
                      <m:sSupPr>
                        <m:ctrlP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𝑿</m:t>
                        </m:r>
                      </m:e>
                      <m:sup>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𝑻</m:t>
                        </m:r>
                      </m:sup>
                    </m:sSup>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𝑿</m:t>
                    </m:r>
                  </m:oMath>
                </a14:m>
                <a:r>
                  <a:rPr lang="zh-CN" altLang="en-US" sz="2400" b="1" kern="100" dirty="0">
                    <a:effectLst/>
                    <a:latin typeface="微软雅黑" panose="020B0503020204020204" pitchFamily="34" charset="-122"/>
                    <a:ea typeface="微软雅黑" panose="020B0503020204020204" pitchFamily="34" charset="-122"/>
                    <a:cs typeface="Times New Roman" panose="02020603050405020304" pitchFamily="18" charset="0"/>
                  </a:rPr>
                  <a:t>的逆矩阵</a:t>
                </a:r>
                <a14:m>
                  <m:oMath xmlns:m="http://schemas.openxmlformats.org/officeDocument/2006/math">
                    <m:sSup>
                      <m:sSupPr>
                        <m:ctrlP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𝑿</m:t>
                            </m:r>
                          </m:e>
                          <m:sup>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𝑻</m:t>
                            </m:r>
                          </m:sup>
                        </m:sSup>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𝑿</m:t>
                        </m:r>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m:t>
                        </m:r>
                      </m:e>
                      <m:sup>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𝟏</m:t>
                        </m:r>
                      </m:sup>
                    </m:sSup>
                  </m:oMath>
                </a14:m>
                <a:r>
                  <a:rPr lang="zh-CN" altLang="en-US" sz="2400" b="1" kern="100" dirty="0">
                    <a:effectLst/>
                    <a:latin typeface="微软雅黑" panose="020B0503020204020204" pitchFamily="34" charset="-122"/>
                    <a:ea typeface="微软雅黑" panose="020B0503020204020204" pitchFamily="34" charset="-122"/>
                    <a:cs typeface="Times New Roman" panose="02020603050405020304" pitchFamily="18" charset="0"/>
                  </a:rPr>
                  <a:t>便可得</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23" name="文本框 22">
                <a:extLst>
                  <a:ext uri="{FF2B5EF4-FFF2-40B4-BE49-F238E27FC236}">
                    <a16:creationId xmlns:a16="http://schemas.microsoft.com/office/drawing/2014/main" id="{69424508-0AF4-DBA0-D645-FD812CBBACA1}"/>
                  </a:ext>
                </a:extLst>
              </p:cNvPr>
              <p:cNvSpPr txBox="1">
                <a:spLocks noRot="1" noChangeAspect="1" noMove="1" noResize="1" noEditPoints="1" noAdjustHandles="1" noChangeArrowheads="1" noChangeShapeType="1" noTextEdit="1"/>
              </p:cNvSpPr>
              <p:nvPr/>
            </p:nvSpPr>
            <p:spPr>
              <a:xfrm>
                <a:off x="3896971" y="5243262"/>
                <a:ext cx="4398058" cy="1215204"/>
              </a:xfrm>
              <a:prstGeom prst="rect">
                <a:avLst/>
              </a:prstGeom>
              <a:blipFill>
                <a:blip r:embed="rId7"/>
                <a:stretch>
                  <a:fillRect l="-2078" t="-3518" r="-416" b="-11558"/>
                </a:stretch>
              </a:blipFill>
            </p:spPr>
            <p:txBody>
              <a:bodyPr/>
              <a:lstStyle/>
              <a:p>
                <a:r>
                  <a:rPr lang="zh-CN" altLang="en-US">
                    <a:noFill/>
                  </a:rPr>
                  <a:t> </a:t>
                </a:r>
              </a:p>
            </p:txBody>
          </p:sp>
        </mc:Fallback>
      </mc:AlternateContent>
      <p:sp>
        <p:nvSpPr>
          <p:cNvPr id="24" name="箭头: 右 23">
            <a:extLst>
              <a:ext uri="{FF2B5EF4-FFF2-40B4-BE49-F238E27FC236}">
                <a16:creationId xmlns:a16="http://schemas.microsoft.com/office/drawing/2014/main" id="{77A2F475-4353-1484-0D36-8137537633BC}"/>
              </a:ext>
            </a:extLst>
          </p:cNvPr>
          <p:cNvSpPr/>
          <p:nvPr/>
        </p:nvSpPr>
        <p:spPr>
          <a:xfrm rot="2570996" flipV="1">
            <a:off x="2810640" y="4735812"/>
            <a:ext cx="944382" cy="526994"/>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箭头: 右 24">
            <a:extLst>
              <a:ext uri="{FF2B5EF4-FFF2-40B4-BE49-F238E27FC236}">
                <a16:creationId xmlns:a16="http://schemas.microsoft.com/office/drawing/2014/main" id="{0154348A-03FF-5BD4-9249-4D694ACB0B8E}"/>
              </a:ext>
            </a:extLst>
          </p:cNvPr>
          <p:cNvSpPr/>
          <p:nvPr/>
        </p:nvSpPr>
        <p:spPr>
          <a:xfrm rot="18924686" flipV="1">
            <a:off x="7559875" y="4529351"/>
            <a:ext cx="760782" cy="526994"/>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矩形: 圆角 25">
            <a:extLst>
              <a:ext uri="{FF2B5EF4-FFF2-40B4-BE49-F238E27FC236}">
                <a16:creationId xmlns:a16="http://schemas.microsoft.com/office/drawing/2014/main" id="{8B80C2E0-48EF-5F2C-E9B3-FFD2C1D22C86}"/>
              </a:ext>
            </a:extLst>
          </p:cNvPr>
          <p:cNvSpPr/>
          <p:nvPr/>
        </p:nvSpPr>
        <p:spPr>
          <a:xfrm>
            <a:off x="7817905" y="2099814"/>
            <a:ext cx="3936220" cy="2636573"/>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225063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D6B94-9CF1-DFF4-4D00-BA52B71466F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511BDF3-A29F-283D-B43B-AF3028734772}"/>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59E13E30-0CB0-4B6B-F81C-7AEE92B5E568}"/>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多元线性回归模型的统计检验</a:t>
            </a:r>
          </a:p>
        </p:txBody>
      </p:sp>
      <p:graphicFrame>
        <p:nvGraphicFramePr>
          <p:cNvPr id="4" name="对象 3">
            <a:extLst>
              <a:ext uri="{FF2B5EF4-FFF2-40B4-BE49-F238E27FC236}">
                <a16:creationId xmlns:a16="http://schemas.microsoft.com/office/drawing/2014/main" id="{7B94E96B-292C-1C31-B7EC-1A15F119D206}"/>
              </a:ext>
            </a:extLst>
          </p:cNvPr>
          <p:cNvGraphicFramePr>
            <a:graphicFrameLocks noChangeAspect="1"/>
          </p:cNvGraphicFramePr>
          <p:nvPr>
            <p:extLst>
              <p:ext uri="{D42A27DB-BD31-4B8C-83A1-F6EECF244321}">
                <p14:modId xmlns:p14="http://schemas.microsoft.com/office/powerpoint/2010/main" val="412740420"/>
              </p:ext>
            </p:extLst>
          </p:nvPr>
        </p:nvGraphicFramePr>
        <p:xfrm>
          <a:off x="4432589" y="3429000"/>
          <a:ext cx="3593949" cy="925388"/>
        </p:xfrm>
        <a:graphic>
          <a:graphicData uri="http://schemas.openxmlformats.org/presentationml/2006/ole">
            <mc:AlternateContent xmlns:mc="http://schemas.openxmlformats.org/markup-compatibility/2006">
              <mc:Choice xmlns:v="urn:schemas-microsoft-com:vml" Requires="v">
                <p:oleObj name="Equation" r:id="rId3" imgW="1590959" imgH="409695" progId="Equation.DSMT4">
                  <p:embed/>
                </p:oleObj>
              </mc:Choice>
              <mc:Fallback>
                <p:oleObj name="Equation" r:id="rId3" imgW="1590959" imgH="409695" progId="Equation.DSMT4">
                  <p:embed/>
                  <p:pic>
                    <p:nvPicPr>
                      <p:cNvPr id="0" name=""/>
                      <p:cNvPicPr/>
                      <p:nvPr/>
                    </p:nvPicPr>
                    <p:blipFill>
                      <a:blip r:embed="rId4"/>
                      <a:stretch>
                        <a:fillRect/>
                      </a:stretch>
                    </p:blipFill>
                    <p:spPr>
                      <a:xfrm>
                        <a:off x="4432589" y="3429000"/>
                        <a:ext cx="3593949" cy="9253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E00B1155-38B8-73EF-58F5-7EF0F7349000}"/>
              </a:ext>
            </a:extLst>
          </p:cNvPr>
          <p:cNvSpPr txBox="1"/>
          <p:nvPr/>
        </p:nvSpPr>
        <p:spPr>
          <a:xfrm>
            <a:off x="355256" y="4709083"/>
            <a:ext cx="11836744" cy="1454244"/>
          </a:xfrm>
          <a:prstGeom prst="rect">
            <a:avLst/>
          </a:prstGeom>
          <a:noFill/>
        </p:spPr>
        <p:txBody>
          <a:bodyPr wrap="square">
            <a:spAutoFit/>
          </a:bodyPr>
          <a:lstStyle/>
          <a:p>
            <a:pPr lvl="0">
              <a:lnSpc>
                <a:spcPct val="125000"/>
              </a:lnSpc>
              <a:spcBef>
                <a:spcPct val="20000"/>
              </a:spcBef>
              <a:defRPr/>
            </a:pPr>
            <a:r>
              <a:rPr lang="zh-CN" altLang="en-US" sz="2400" b="1" dirty="0">
                <a:ln w="11430">
                  <a:noFill/>
                </a:ln>
                <a:solidFill>
                  <a:srgbClr val="008000"/>
                </a:solidFill>
                <a:latin typeface="Euclid" panose="02020503060505020303" pitchFamily="18" charset="0"/>
                <a:ea typeface="微软雅黑" panose="020B0503020204020204" pitchFamily="34" charset="-122"/>
                <a:cs typeface="Arial" pitchFamily="34" charset="0"/>
              </a:rPr>
              <a:t>调整的判定系数也称复判定系数，取值范围为</a:t>
            </a:r>
            <a:r>
              <a:rPr lang="en-US" altLang="zh-CN" sz="2400" b="1" dirty="0">
                <a:ln w="11430">
                  <a:noFill/>
                </a:ln>
                <a:solidFill>
                  <a:srgbClr val="008000"/>
                </a:solidFill>
                <a:latin typeface="Euclid" panose="02020503060505020303" pitchFamily="18" charset="0"/>
                <a:ea typeface="微软雅黑" panose="020B0503020204020204" pitchFamily="34" charset="-122"/>
                <a:cs typeface="Arial" pitchFamily="34" charset="0"/>
              </a:rPr>
              <a:t>0</a:t>
            </a:r>
            <a:r>
              <a:rPr lang="zh-CN" altLang="en-US" sz="2400" b="1" dirty="0">
                <a:ln w="11430">
                  <a:noFill/>
                </a:ln>
                <a:solidFill>
                  <a:srgbClr val="008000"/>
                </a:solidFill>
                <a:latin typeface="Euclid" panose="02020503060505020303" pitchFamily="18" charset="0"/>
                <a:ea typeface="微软雅黑" panose="020B0503020204020204" pitchFamily="34" charset="-122"/>
                <a:cs typeface="Arial" pitchFamily="34" charset="0"/>
              </a:rPr>
              <a:t>到</a:t>
            </a:r>
            <a:r>
              <a:rPr lang="en-US" altLang="zh-CN" sz="2400" b="1" dirty="0">
                <a:ln w="11430">
                  <a:noFill/>
                </a:ln>
                <a:solidFill>
                  <a:srgbClr val="008000"/>
                </a:solidFill>
                <a:latin typeface="Euclid" panose="02020503060505020303" pitchFamily="18" charset="0"/>
                <a:ea typeface="微软雅黑" panose="020B0503020204020204" pitchFamily="34" charset="-122"/>
                <a:cs typeface="Arial" pitchFamily="34" charset="0"/>
              </a:rPr>
              <a:t>1</a:t>
            </a:r>
            <a:r>
              <a:rPr lang="zh-CN" altLang="en-US" sz="2400" b="1" dirty="0">
                <a:ln w="11430">
                  <a:noFill/>
                </a:ln>
                <a:solidFill>
                  <a:srgbClr val="008000"/>
                </a:solidFill>
                <a:latin typeface="Euclid" panose="02020503060505020303" pitchFamily="18" charset="0"/>
                <a:ea typeface="微软雅黑" panose="020B0503020204020204" pitchFamily="34" charset="-122"/>
                <a:cs typeface="Arial" pitchFamily="34" charset="0"/>
              </a:rPr>
              <a:t>，值越大表示模型的拟合优度越好。其中，</a:t>
            </a:r>
            <a:r>
              <a:rPr lang="en-US" altLang="zh-CN" sz="2400" b="1" dirty="0">
                <a:ln w="11430">
                  <a:noFill/>
                </a:ln>
                <a:solidFill>
                  <a:srgbClr val="008000"/>
                </a:solidFill>
                <a:latin typeface="Euclid" panose="02020503060505020303" pitchFamily="18" charset="0"/>
                <a:ea typeface="微软雅黑" panose="020B0503020204020204" pitchFamily="34" charset="-122"/>
                <a:cs typeface="Arial" pitchFamily="34" charset="0"/>
              </a:rPr>
              <a:t>N</a:t>
            </a:r>
            <a:r>
              <a:rPr lang="zh-CN" altLang="en-US" sz="2400" b="1" dirty="0">
                <a:ln w="11430">
                  <a:noFill/>
                </a:ln>
                <a:solidFill>
                  <a:srgbClr val="008000"/>
                </a:solidFill>
                <a:latin typeface="Euclid" panose="02020503060505020303" pitchFamily="18" charset="0"/>
                <a:ea typeface="微软雅黑" panose="020B0503020204020204" pitchFamily="34" charset="-122"/>
                <a:cs typeface="Arial" pitchFamily="34" charset="0"/>
              </a:rPr>
              <a:t>为样本量，</a:t>
            </a:r>
            <a:r>
              <a:rPr lang="en-US" altLang="zh-CN" sz="2400" b="1" dirty="0">
                <a:ln w="11430">
                  <a:noFill/>
                </a:ln>
                <a:solidFill>
                  <a:srgbClr val="008000"/>
                </a:solidFill>
                <a:latin typeface="Euclid" panose="02020503060505020303" pitchFamily="18" charset="0"/>
                <a:ea typeface="微软雅黑" panose="020B0503020204020204" pitchFamily="34" charset="-122"/>
                <a:cs typeface="Arial" pitchFamily="34" charset="0"/>
              </a:rPr>
              <a:t>p</a:t>
            </a:r>
            <a:r>
              <a:rPr lang="zh-CN" altLang="en-US" sz="2400" b="1" dirty="0">
                <a:ln w="11430">
                  <a:noFill/>
                </a:ln>
                <a:solidFill>
                  <a:srgbClr val="008000"/>
                </a:solidFill>
                <a:latin typeface="Euclid" panose="02020503060505020303" pitchFamily="18" charset="0"/>
                <a:ea typeface="微软雅黑" panose="020B0503020204020204" pitchFamily="34" charset="-122"/>
                <a:cs typeface="Arial" pitchFamily="34" charset="0"/>
              </a:rPr>
              <a:t>为自变量的个数。</a:t>
            </a:r>
            <a:r>
              <a:rPr lang="en-US" altLang="zh-CN" sz="2400" b="1" dirty="0">
                <a:ln w="11430">
                  <a:noFill/>
                </a:ln>
                <a:solidFill>
                  <a:srgbClr val="008000"/>
                </a:solidFill>
                <a:latin typeface="Euclid" panose="02020503060505020303" pitchFamily="18" charset="0"/>
                <a:ea typeface="微软雅黑" panose="020B0503020204020204" pitchFamily="34" charset="-122"/>
                <a:cs typeface="Arial" pitchFamily="34" charset="0"/>
              </a:rPr>
              <a:t>N-p-1</a:t>
            </a:r>
            <a:r>
              <a:rPr lang="zh-CN" altLang="en-US" sz="2400" b="1" dirty="0">
                <a:ln w="11430">
                  <a:noFill/>
                </a:ln>
                <a:solidFill>
                  <a:srgbClr val="008000"/>
                </a:solidFill>
                <a:latin typeface="Euclid" panose="02020503060505020303" pitchFamily="18" charset="0"/>
                <a:ea typeface="微软雅黑" panose="020B0503020204020204" pitchFamily="34" charset="-122"/>
                <a:cs typeface="Arial" pitchFamily="34" charset="0"/>
              </a:rPr>
              <a:t>为残差平方和的自由度，</a:t>
            </a:r>
            <a:r>
              <a:rPr lang="en-US" altLang="zh-CN" sz="2400" b="1" dirty="0">
                <a:ln w="11430">
                  <a:noFill/>
                </a:ln>
                <a:solidFill>
                  <a:srgbClr val="008000"/>
                </a:solidFill>
                <a:latin typeface="Euclid" panose="02020503060505020303" pitchFamily="18" charset="0"/>
                <a:ea typeface="微软雅黑" panose="020B0503020204020204" pitchFamily="34" charset="-122"/>
                <a:cs typeface="Arial" pitchFamily="34" charset="0"/>
              </a:rPr>
              <a:t>N-1</a:t>
            </a:r>
            <a:r>
              <a:rPr lang="zh-CN" altLang="en-US" sz="2400" b="1" dirty="0">
                <a:ln w="11430">
                  <a:noFill/>
                </a:ln>
                <a:solidFill>
                  <a:srgbClr val="008000"/>
                </a:solidFill>
                <a:latin typeface="Euclid" panose="02020503060505020303" pitchFamily="18" charset="0"/>
                <a:ea typeface="微软雅黑" panose="020B0503020204020204" pitchFamily="34" charset="-122"/>
                <a:cs typeface="Arial" pitchFamily="34" charset="0"/>
              </a:rPr>
              <a:t>为总离差平方和的自由度。</a:t>
            </a:r>
            <a:endParaRPr lang="en-US" altLang="zh-CN" sz="2400" b="1" dirty="0">
              <a:ln w="11430">
                <a:noFill/>
              </a:ln>
              <a:solidFill>
                <a:srgbClr val="008000"/>
              </a:solidFill>
              <a:latin typeface="Euclid" panose="02020503060505020303" pitchFamily="18" charset="0"/>
              <a:ea typeface="微软雅黑" panose="020B0503020204020204" pitchFamily="34" charset="-122"/>
              <a:cs typeface="Arial" pitchFamily="34" charset="0"/>
            </a:endParaRPr>
          </a:p>
        </p:txBody>
      </p:sp>
      <p:sp>
        <p:nvSpPr>
          <p:cNvPr id="6" name="内容占位符 4">
            <a:extLst>
              <a:ext uri="{FF2B5EF4-FFF2-40B4-BE49-F238E27FC236}">
                <a16:creationId xmlns:a16="http://schemas.microsoft.com/office/drawing/2014/main" id="{4C9039AC-8438-8CE6-8CEA-DCA6156FDA20}"/>
              </a:ext>
            </a:extLst>
          </p:cNvPr>
          <p:cNvSpPr txBox="1">
            <a:spLocks/>
          </p:cNvSpPr>
          <p:nvPr/>
        </p:nvSpPr>
        <p:spPr>
          <a:xfrm>
            <a:off x="1084466" y="2083925"/>
            <a:ext cx="10850680" cy="1826437"/>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defRPr/>
            </a:pPr>
            <a:r>
              <a:rPr lang="zh-CN" altLang="en-US" dirty="0"/>
              <a:t>拟合优度检验：考虑模型的自由度对</a:t>
            </a:r>
            <a:r>
              <a:rPr lang="en-US" altLang="zh-CN" dirty="0"/>
              <a:t>R</a:t>
            </a:r>
            <a:r>
              <a:rPr lang="zh-CN" altLang="en-US" dirty="0"/>
              <a:t>进行修正，使用调整的判定系数进行检验：</a:t>
            </a:r>
          </a:p>
          <a:p>
            <a:pPr marL="0" lvl="0" indent="0">
              <a:buNone/>
              <a:defRPr/>
            </a:pPr>
            <a:endParaRPr lang="en-US" altLang="zh-CN" dirty="0"/>
          </a:p>
        </p:txBody>
      </p:sp>
    </p:spTree>
    <p:extLst>
      <p:ext uri="{BB962C8B-B14F-4D97-AF65-F5344CB8AC3E}">
        <p14:creationId xmlns:p14="http://schemas.microsoft.com/office/powerpoint/2010/main" val="39975632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1921F-163C-A1D3-7180-E5970C85B663}"/>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64E0990-1FCD-0040-C16A-46BFE4B7EC7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E4D966C4-4AA9-D812-6350-D93479E75BAA}"/>
              </a:ext>
            </a:extLst>
          </p:cNvPr>
          <p:cNvSpPr txBox="1"/>
          <p:nvPr/>
        </p:nvSpPr>
        <p:spPr>
          <a:xfrm>
            <a:off x="476743" y="1379824"/>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多元线性回归模型的统计检验</a:t>
            </a:r>
          </a:p>
        </p:txBody>
      </p:sp>
      <p:graphicFrame>
        <p:nvGraphicFramePr>
          <p:cNvPr id="4" name="对象 3">
            <a:extLst>
              <a:ext uri="{FF2B5EF4-FFF2-40B4-BE49-F238E27FC236}">
                <a16:creationId xmlns:a16="http://schemas.microsoft.com/office/drawing/2014/main" id="{BC79D920-BE3E-55AE-79E1-80636F594EF7}"/>
              </a:ext>
            </a:extLst>
          </p:cNvPr>
          <p:cNvGraphicFramePr>
            <a:graphicFrameLocks noChangeAspect="1"/>
          </p:cNvGraphicFramePr>
          <p:nvPr>
            <p:extLst>
              <p:ext uri="{D42A27DB-BD31-4B8C-83A1-F6EECF244321}">
                <p14:modId xmlns:p14="http://schemas.microsoft.com/office/powerpoint/2010/main" val="4265594249"/>
              </p:ext>
            </p:extLst>
          </p:nvPr>
        </p:nvGraphicFramePr>
        <p:xfrm>
          <a:off x="4083267" y="2503612"/>
          <a:ext cx="3593949" cy="925388"/>
        </p:xfrm>
        <a:graphic>
          <a:graphicData uri="http://schemas.openxmlformats.org/presentationml/2006/ole">
            <mc:AlternateContent xmlns:mc="http://schemas.openxmlformats.org/markup-compatibility/2006">
              <mc:Choice xmlns:v="urn:schemas-microsoft-com:vml" Requires="v">
                <p:oleObj name="Equation" r:id="rId3" imgW="1590959" imgH="409695" progId="Equation.DSMT4">
                  <p:embed/>
                </p:oleObj>
              </mc:Choice>
              <mc:Fallback>
                <p:oleObj name="Equation" r:id="rId3" imgW="1590959" imgH="409695" progId="Equation.DSMT4">
                  <p:embed/>
                  <p:pic>
                    <p:nvPicPr>
                      <p:cNvPr id="4" name="对象 3">
                        <a:extLst>
                          <a:ext uri="{FF2B5EF4-FFF2-40B4-BE49-F238E27FC236}">
                            <a16:creationId xmlns:a16="http://schemas.microsoft.com/office/drawing/2014/main" id="{7B94E96B-292C-1C31-B7EC-1A15F119D206}"/>
                          </a:ext>
                        </a:extLst>
                      </p:cNvPr>
                      <p:cNvPicPr/>
                      <p:nvPr/>
                    </p:nvPicPr>
                    <p:blipFill>
                      <a:blip r:embed="rId4"/>
                      <a:stretch>
                        <a:fillRect/>
                      </a:stretch>
                    </p:blipFill>
                    <p:spPr>
                      <a:xfrm>
                        <a:off x="4083267" y="2503612"/>
                        <a:ext cx="3593949" cy="925388"/>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D580EBDA-A53B-5524-92B5-F8F3380D3206}"/>
              </a:ext>
            </a:extLst>
          </p:cNvPr>
          <p:cNvSpPr txBox="1"/>
          <p:nvPr/>
        </p:nvSpPr>
        <p:spPr>
          <a:xfrm>
            <a:off x="1082210" y="3968013"/>
            <a:ext cx="10455669" cy="1915909"/>
          </a:xfrm>
          <a:prstGeom prst="rect">
            <a:avLst/>
          </a:prstGeom>
          <a:noFill/>
        </p:spPr>
        <p:txBody>
          <a:bodyPr wrap="square">
            <a:spAutoFit/>
          </a:bodyPr>
          <a:lstStyle/>
          <a:p>
            <a:pPr>
              <a:lnSpc>
                <a:spcPct val="125000"/>
              </a:lnSpc>
              <a:spcBef>
                <a:spcPct val="20000"/>
              </a:spcBef>
              <a:defRPr/>
            </a:pPr>
            <a:r>
              <a:rPr lang="zh-CN" altLang="en-US" sz="2400" b="1" dirty="0">
                <a:ln w="11430">
                  <a:noFill/>
                </a:ln>
                <a:solidFill>
                  <a:srgbClr val="008000"/>
                </a:solidFill>
                <a:latin typeface="Euclid" panose="02020503060505020303" pitchFamily="18" charset="0"/>
                <a:ea typeface="微软雅黑" panose="020B0503020204020204" pitchFamily="34" charset="-122"/>
                <a:cs typeface="Arial" pitchFamily="34" charset="0"/>
              </a:rPr>
              <a:t> 在多元线性回归分析中，引起判定系数增加的原因有两个：一个是方程中的解释变量个数增多，另一个是方程中引入了对被解释变量有重要影响的解释变量。在多元线性回归分析中，调整的判定系数比判定系数更能准确的反映回归方程的拟合优度。</a:t>
            </a:r>
          </a:p>
        </p:txBody>
      </p:sp>
    </p:spTree>
    <p:extLst>
      <p:ext uri="{BB962C8B-B14F-4D97-AF65-F5344CB8AC3E}">
        <p14:creationId xmlns:p14="http://schemas.microsoft.com/office/powerpoint/2010/main" val="292308764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CCE0E-9BD4-EB6E-6DE2-FE297DBB6A6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93976DFC-4E3D-A39B-5329-24B018322402}"/>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7B992A11-E4E7-145E-AF23-0EEDE70E57F5}"/>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多元线性回归模型的统计检验</a:t>
            </a:r>
          </a:p>
        </p:txBody>
      </p:sp>
      <p:grpSp>
        <p:nvGrpSpPr>
          <p:cNvPr id="27" name="组合 26">
            <a:extLst>
              <a:ext uri="{FF2B5EF4-FFF2-40B4-BE49-F238E27FC236}">
                <a16:creationId xmlns:a16="http://schemas.microsoft.com/office/drawing/2014/main" id="{B641D494-6F23-4528-194D-958B67A995BE}"/>
              </a:ext>
            </a:extLst>
          </p:cNvPr>
          <p:cNvGrpSpPr/>
          <p:nvPr/>
        </p:nvGrpSpPr>
        <p:grpSpPr>
          <a:xfrm>
            <a:off x="2332813" y="2483581"/>
            <a:ext cx="3907497" cy="594571"/>
            <a:chOff x="5709425" y="1738671"/>
            <a:chExt cx="3907497" cy="594571"/>
          </a:xfrm>
        </p:grpSpPr>
        <p:graphicFrame>
          <p:nvGraphicFramePr>
            <p:cNvPr id="17" name="对象 16">
              <a:extLst>
                <a:ext uri="{FF2B5EF4-FFF2-40B4-BE49-F238E27FC236}">
                  <a16:creationId xmlns:a16="http://schemas.microsoft.com/office/drawing/2014/main" id="{60B3FCBF-3AE6-28DA-7ED3-DC3532AEF436}"/>
                </a:ext>
              </a:extLst>
            </p:cNvPr>
            <p:cNvGraphicFramePr>
              <a:graphicFrameLocks noChangeAspect="1"/>
            </p:cNvGraphicFramePr>
            <p:nvPr>
              <p:extLst>
                <p:ext uri="{D42A27DB-BD31-4B8C-83A1-F6EECF244321}">
                  <p14:modId xmlns:p14="http://schemas.microsoft.com/office/powerpoint/2010/main" val="2593994905"/>
                </p:ext>
              </p:extLst>
            </p:nvPr>
          </p:nvGraphicFramePr>
          <p:xfrm>
            <a:off x="5709425" y="1773244"/>
            <a:ext cx="655998" cy="559998"/>
          </p:xfrm>
          <a:graphic>
            <a:graphicData uri="http://schemas.openxmlformats.org/presentationml/2006/ole">
              <mc:AlternateContent xmlns:mc="http://schemas.openxmlformats.org/markup-compatibility/2006">
                <mc:Choice xmlns:v="urn:schemas-microsoft-com:vml" Requires="v">
                  <p:oleObj name="Equation" r:id="rId3" imgW="266584" imgH="228501" progId="Equation.DSMT4">
                    <p:embed/>
                  </p:oleObj>
                </mc:Choice>
                <mc:Fallback>
                  <p:oleObj name="Equation" r:id="rId3" imgW="266584" imgH="228501"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9425" y="1773244"/>
                          <a:ext cx="655998" cy="559998"/>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5D91738D-A1F6-BC06-977C-2E72559BDAB1}"/>
                </a:ext>
              </a:extLst>
            </p:cNvPr>
            <p:cNvGraphicFramePr>
              <a:graphicFrameLocks noChangeAspect="1"/>
            </p:cNvGraphicFramePr>
            <p:nvPr>
              <p:extLst>
                <p:ext uri="{D42A27DB-BD31-4B8C-83A1-F6EECF244321}">
                  <p14:modId xmlns:p14="http://schemas.microsoft.com/office/powerpoint/2010/main" val="3521632624"/>
                </p:ext>
              </p:extLst>
            </p:nvPr>
          </p:nvGraphicFramePr>
          <p:xfrm>
            <a:off x="6436153" y="1738671"/>
            <a:ext cx="3180769" cy="581102"/>
          </p:xfrm>
          <a:graphic>
            <a:graphicData uri="http://schemas.openxmlformats.org/presentationml/2006/ole">
              <mc:AlternateContent xmlns:mc="http://schemas.openxmlformats.org/markup-compatibility/2006">
                <mc:Choice xmlns:v="urn:schemas-microsoft-com:vml" Requires="v">
                  <p:oleObj name="Equation" r:id="rId5" imgW="1320227" imgH="241195" progId="Equation.DSMT4">
                    <p:embed/>
                  </p:oleObj>
                </mc:Choice>
                <mc:Fallback>
                  <p:oleObj name="Equation" r:id="rId5" imgW="1320227" imgH="241195"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6153" y="1738671"/>
                          <a:ext cx="3180769" cy="581102"/>
                        </a:xfrm>
                        <a:prstGeom prst="rect">
                          <a:avLst/>
                        </a:prstGeom>
                        <a:noFill/>
                      </p:spPr>
                    </p:pic>
                  </p:oleObj>
                </mc:Fallback>
              </mc:AlternateContent>
            </a:graphicData>
          </a:graphic>
        </p:graphicFrame>
      </p:grpSp>
      <p:grpSp>
        <p:nvGrpSpPr>
          <p:cNvPr id="28" name="组合 27">
            <a:extLst>
              <a:ext uri="{FF2B5EF4-FFF2-40B4-BE49-F238E27FC236}">
                <a16:creationId xmlns:a16="http://schemas.microsoft.com/office/drawing/2014/main" id="{9899FD68-7F8D-9913-5C98-9601E2E0A418}"/>
              </a:ext>
            </a:extLst>
          </p:cNvPr>
          <p:cNvGrpSpPr/>
          <p:nvPr/>
        </p:nvGrpSpPr>
        <p:grpSpPr>
          <a:xfrm>
            <a:off x="6613371" y="2476889"/>
            <a:ext cx="1952089" cy="554719"/>
            <a:chOff x="5445303" y="2462715"/>
            <a:chExt cx="1952089" cy="554719"/>
          </a:xfrm>
        </p:grpSpPr>
        <p:graphicFrame>
          <p:nvGraphicFramePr>
            <p:cNvPr id="19" name="对象 18">
              <a:extLst>
                <a:ext uri="{FF2B5EF4-FFF2-40B4-BE49-F238E27FC236}">
                  <a16:creationId xmlns:a16="http://schemas.microsoft.com/office/drawing/2014/main" id="{C0280877-4381-5BAE-AF40-BEFE23DFCC34}"/>
                </a:ext>
              </a:extLst>
            </p:cNvPr>
            <p:cNvGraphicFramePr>
              <a:graphicFrameLocks noChangeAspect="1"/>
            </p:cNvGraphicFramePr>
            <p:nvPr>
              <p:extLst>
                <p:ext uri="{D42A27DB-BD31-4B8C-83A1-F6EECF244321}">
                  <p14:modId xmlns:p14="http://schemas.microsoft.com/office/powerpoint/2010/main" val="2388091028"/>
                </p:ext>
              </p:extLst>
            </p:nvPr>
          </p:nvGraphicFramePr>
          <p:xfrm>
            <a:off x="5445303" y="2470146"/>
            <a:ext cx="603590" cy="528141"/>
          </p:xfrm>
          <a:graphic>
            <a:graphicData uri="http://schemas.openxmlformats.org/presentationml/2006/ole">
              <mc:AlternateContent xmlns:mc="http://schemas.openxmlformats.org/markup-compatibility/2006">
                <mc:Choice xmlns:v="urn:schemas-microsoft-com:vml" Requires="v">
                  <p:oleObj name="Equation" r:id="rId7" imgW="253890" imgH="228501" progId="Equation.DSMT4">
                    <p:embed/>
                  </p:oleObj>
                </mc:Choice>
                <mc:Fallback>
                  <p:oleObj name="Equation" r:id="rId7" imgW="253890" imgH="228501"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5303" y="2470146"/>
                          <a:ext cx="603590" cy="528141"/>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EEF67A45-3C54-BC66-B77B-4A8C6E07A129}"/>
                </a:ext>
              </a:extLst>
            </p:cNvPr>
            <p:cNvGraphicFramePr>
              <a:graphicFrameLocks noChangeAspect="1"/>
            </p:cNvGraphicFramePr>
            <p:nvPr>
              <p:extLst>
                <p:ext uri="{D42A27DB-BD31-4B8C-83A1-F6EECF244321}">
                  <p14:modId xmlns:p14="http://schemas.microsoft.com/office/powerpoint/2010/main" val="462547554"/>
                </p:ext>
              </p:extLst>
            </p:nvPr>
          </p:nvGraphicFramePr>
          <p:xfrm>
            <a:off x="6229563" y="2462715"/>
            <a:ext cx="1167829" cy="554719"/>
          </p:xfrm>
          <a:graphic>
            <a:graphicData uri="http://schemas.openxmlformats.org/presentationml/2006/ole">
              <mc:AlternateContent xmlns:mc="http://schemas.openxmlformats.org/markup-compatibility/2006">
                <mc:Choice xmlns:v="urn:schemas-microsoft-com:vml" Requires="v">
                  <p:oleObj name="Equation" r:id="rId9" imgW="520474" imgH="241195" progId="Equation.DSMT4">
                    <p:embed/>
                  </p:oleObj>
                </mc:Choice>
                <mc:Fallback>
                  <p:oleObj name="Equation" r:id="rId9" imgW="520474" imgH="241195"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29563" y="2462715"/>
                          <a:ext cx="1167829" cy="554719"/>
                        </a:xfrm>
                        <a:prstGeom prst="rect">
                          <a:avLst/>
                        </a:prstGeom>
                        <a:noFill/>
                      </p:spPr>
                    </p:pic>
                  </p:oleObj>
                </mc:Fallback>
              </mc:AlternateContent>
            </a:graphicData>
          </a:graphic>
        </p:graphicFrame>
      </p:grpSp>
      <p:sp>
        <p:nvSpPr>
          <p:cNvPr id="21" name="Rectangle 14">
            <a:extLst>
              <a:ext uri="{FF2B5EF4-FFF2-40B4-BE49-F238E27FC236}">
                <a16:creationId xmlns:a16="http://schemas.microsoft.com/office/drawing/2014/main" id="{ADECF672-B1BB-D873-868E-E9F47622A7F8}"/>
              </a:ext>
            </a:extLst>
          </p:cNvPr>
          <p:cNvSpPr>
            <a:spLocks noChangeArrowheads="1"/>
          </p:cNvSpPr>
          <p:nvPr/>
        </p:nvSpPr>
        <p:spPr bwMode="auto">
          <a:xfrm>
            <a:off x="650699" y="23859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15">
            <a:extLst>
              <a:ext uri="{FF2B5EF4-FFF2-40B4-BE49-F238E27FC236}">
                <a16:creationId xmlns:a16="http://schemas.microsoft.com/office/drawing/2014/main" id="{6E50192C-E8EE-8C0F-C6CE-A03A2E255FB1}"/>
              </a:ext>
            </a:extLst>
          </p:cNvPr>
          <p:cNvSpPr>
            <a:spLocks noChangeArrowheads="1"/>
          </p:cNvSpPr>
          <p:nvPr/>
        </p:nvSpPr>
        <p:spPr bwMode="auto">
          <a:xfrm>
            <a:off x="650699" y="26081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6" name="Rectangle 18">
            <a:extLst>
              <a:ext uri="{FF2B5EF4-FFF2-40B4-BE49-F238E27FC236}">
                <a16:creationId xmlns:a16="http://schemas.microsoft.com/office/drawing/2014/main" id="{7E482BCD-F9CD-6ED2-9E58-C055D530CF1A}"/>
              </a:ext>
            </a:extLst>
          </p:cNvPr>
          <p:cNvSpPr>
            <a:spLocks noChangeArrowheads="1"/>
          </p:cNvSpPr>
          <p:nvPr/>
        </p:nvSpPr>
        <p:spPr bwMode="auto">
          <a:xfrm>
            <a:off x="650699" y="33130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29" name="对象 28">
            <a:extLst>
              <a:ext uri="{FF2B5EF4-FFF2-40B4-BE49-F238E27FC236}">
                <a16:creationId xmlns:a16="http://schemas.microsoft.com/office/drawing/2014/main" id="{A91CA91E-D3C4-2694-495F-81CBC7FD9CE8}"/>
              </a:ext>
            </a:extLst>
          </p:cNvPr>
          <p:cNvGraphicFramePr>
            <a:graphicFrameLocks noChangeAspect="1"/>
          </p:cNvGraphicFramePr>
          <p:nvPr>
            <p:extLst>
              <p:ext uri="{D42A27DB-BD31-4B8C-83A1-F6EECF244321}">
                <p14:modId xmlns:p14="http://schemas.microsoft.com/office/powerpoint/2010/main" val="2873400356"/>
              </p:ext>
            </p:extLst>
          </p:nvPr>
        </p:nvGraphicFramePr>
        <p:xfrm>
          <a:off x="6746699" y="3253857"/>
          <a:ext cx="1952678" cy="867857"/>
        </p:xfrm>
        <a:graphic>
          <a:graphicData uri="http://schemas.openxmlformats.org/presentationml/2006/ole">
            <mc:AlternateContent xmlns:mc="http://schemas.openxmlformats.org/markup-compatibility/2006">
              <mc:Choice xmlns:v="urn:schemas-microsoft-com:vml" Requires="v">
                <p:oleObj name="Equation" r:id="rId11" imgW="857224" imgH="380894" progId="Equation.DSMT4">
                  <p:embed/>
                </p:oleObj>
              </mc:Choice>
              <mc:Fallback>
                <p:oleObj name="Equation" r:id="rId11" imgW="857224" imgH="380894" progId="Equation.DSMT4">
                  <p:embed/>
                  <p:pic>
                    <p:nvPicPr>
                      <p:cNvPr id="0" name=""/>
                      <p:cNvPicPr/>
                      <p:nvPr/>
                    </p:nvPicPr>
                    <p:blipFill>
                      <a:blip r:embed="rId12"/>
                      <a:stretch>
                        <a:fillRect/>
                      </a:stretch>
                    </p:blipFill>
                    <p:spPr>
                      <a:xfrm>
                        <a:off x="6746699" y="3253857"/>
                        <a:ext cx="1952678" cy="867857"/>
                      </a:xfrm>
                      <a:prstGeom prst="rect">
                        <a:avLst/>
                      </a:prstGeom>
                    </p:spPr>
                  </p:pic>
                </p:oleObj>
              </mc:Fallback>
            </mc:AlternateContent>
          </a:graphicData>
        </a:graphic>
      </p:graphicFrame>
      <p:graphicFrame>
        <p:nvGraphicFramePr>
          <p:cNvPr id="30" name="对象 29">
            <a:extLst>
              <a:ext uri="{FF2B5EF4-FFF2-40B4-BE49-F238E27FC236}">
                <a16:creationId xmlns:a16="http://schemas.microsoft.com/office/drawing/2014/main" id="{646C7AA1-30E4-8C16-EAA3-F4786AB43A8B}"/>
              </a:ext>
            </a:extLst>
          </p:cNvPr>
          <p:cNvGraphicFramePr>
            <a:graphicFrameLocks noChangeAspect="1"/>
          </p:cNvGraphicFramePr>
          <p:nvPr>
            <p:extLst>
              <p:ext uri="{D42A27DB-BD31-4B8C-83A1-F6EECF244321}">
                <p14:modId xmlns:p14="http://schemas.microsoft.com/office/powerpoint/2010/main" val="679837657"/>
              </p:ext>
            </p:extLst>
          </p:nvPr>
        </p:nvGraphicFramePr>
        <p:xfrm>
          <a:off x="6336046" y="4200563"/>
          <a:ext cx="2970999" cy="861159"/>
        </p:xfrm>
        <a:graphic>
          <a:graphicData uri="http://schemas.openxmlformats.org/presentationml/2006/ole">
            <mc:AlternateContent xmlns:mc="http://schemas.openxmlformats.org/markup-compatibility/2006">
              <mc:Choice xmlns:v="urn:schemas-microsoft-com:vml" Requires="v">
                <p:oleObj name="Equation" r:id="rId13" imgW="1314458" imgH="380894" progId="Equation.DSMT4">
                  <p:embed/>
                </p:oleObj>
              </mc:Choice>
              <mc:Fallback>
                <p:oleObj name="Equation" r:id="rId13" imgW="1314458" imgH="380894" progId="Equation.DSMT4">
                  <p:embed/>
                  <p:pic>
                    <p:nvPicPr>
                      <p:cNvPr id="0" name=""/>
                      <p:cNvPicPr/>
                      <p:nvPr/>
                    </p:nvPicPr>
                    <p:blipFill>
                      <a:blip r:embed="rId14"/>
                      <a:stretch>
                        <a:fillRect/>
                      </a:stretch>
                    </p:blipFill>
                    <p:spPr>
                      <a:xfrm>
                        <a:off x="6336046" y="4200563"/>
                        <a:ext cx="2970999" cy="861159"/>
                      </a:xfrm>
                      <a:prstGeom prst="rect">
                        <a:avLst/>
                      </a:prstGeom>
                    </p:spPr>
                  </p:pic>
                </p:oleObj>
              </mc:Fallback>
            </mc:AlternateContent>
          </a:graphicData>
        </a:graphic>
      </p:graphicFrame>
      <p:cxnSp>
        <p:nvCxnSpPr>
          <p:cNvPr id="31" name="直接箭头连接符 30">
            <a:extLst>
              <a:ext uri="{FF2B5EF4-FFF2-40B4-BE49-F238E27FC236}">
                <a16:creationId xmlns:a16="http://schemas.microsoft.com/office/drawing/2014/main" id="{5BADB837-8628-30FC-75C1-B97A30031893}"/>
              </a:ext>
            </a:extLst>
          </p:cNvPr>
          <p:cNvCxnSpPr>
            <a:cxnSpLocks/>
          </p:cNvCxnSpPr>
          <p:nvPr/>
        </p:nvCxnSpPr>
        <p:spPr>
          <a:xfrm>
            <a:off x="5855955" y="3135802"/>
            <a:ext cx="0" cy="211429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graphicFrame>
        <p:nvGraphicFramePr>
          <p:cNvPr id="33" name="对象 32">
            <a:extLst>
              <a:ext uri="{FF2B5EF4-FFF2-40B4-BE49-F238E27FC236}">
                <a16:creationId xmlns:a16="http://schemas.microsoft.com/office/drawing/2014/main" id="{8C856BB6-4CBD-5669-CABF-01AE7D1AB884}"/>
              </a:ext>
            </a:extLst>
          </p:cNvPr>
          <p:cNvGraphicFramePr>
            <a:graphicFrameLocks noChangeAspect="1"/>
          </p:cNvGraphicFramePr>
          <p:nvPr>
            <p:extLst>
              <p:ext uri="{D42A27DB-BD31-4B8C-83A1-F6EECF244321}">
                <p14:modId xmlns:p14="http://schemas.microsoft.com/office/powerpoint/2010/main" val="2431775563"/>
              </p:ext>
            </p:extLst>
          </p:nvPr>
        </p:nvGraphicFramePr>
        <p:xfrm>
          <a:off x="2822149" y="5544257"/>
          <a:ext cx="6067611" cy="1027194"/>
        </p:xfrm>
        <a:graphic>
          <a:graphicData uri="http://schemas.openxmlformats.org/presentationml/2006/ole">
            <mc:AlternateContent xmlns:mc="http://schemas.openxmlformats.org/markup-compatibility/2006">
              <mc:Choice xmlns:v="urn:schemas-microsoft-com:vml" Requires="v">
                <p:oleObj name="Equation" r:id="rId15" imgW="2419380" imgH="409695" progId="Equation.DSMT4">
                  <p:embed/>
                </p:oleObj>
              </mc:Choice>
              <mc:Fallback>
                <p:oleObj name="Equation" r:id="rId15" imgW="2419380" imgH="409695" progId="Equation.DSMT4">
                  <p:embed/>
                  <p:pic>
                    <p:nvPicPr>
                      <p:cNvPr id="0" name=""/>
                      <p:cNvPicPr/>
                      <p:nvPr/>
                    </p:nvPicPr>
                    <p:blipFill>
                      <a:blip r:embed="rId16"/>
                      <a:stretch>
                        <a:fillRect/>
                      </a:stretch>
                    </p:blipFill>
                    <p:spPr>
                      <a:xfrm>
                        <a:off x="2822149" y="5544257"/>
                        <a:ext cx="6067611" cy="1027194"/>
                      </a:xfrm>
                      <a:prstGeom prst="rect">
                        <a:avLst/>
                      </a:prstGeom>
                    </p:spPr>
                  </p:pic>
                </p:oleObj>
              </mc:Fallback>
            </mc:AlternateContent>
          </a:graphicData>
        </a:graphic>
      </p:graphicFrame>
      <p:sp>
        <p:nvSpPr>
          <p:cNvPr id="35" name="矩形: 圆角 34">
            <a:extLst>
              <a:ext uri="{FF2B5EF4-FFF2-40B4-BE49-F238E27FC236}">
                <a16:creationId xmlns:a16="http://schemas.microsoft.com/office/drawing/2014/main" id="{E179886E-4892-EB4A-BA35-632B7AC144F0}"/>
              </a:ext>
            </a:extLst>
          </p:cNvPr>
          <p:cNvSpPr/>
          <p:nvPr/>
        </p:nvSpPr>
        <p:spPr>
          <a:xfrm>
            <a:off x="2203985" y="5431569"/>
            <a:ext cx="7165865" cy="1178233"/>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7" name="对象 36">
            <a:extLst>
              <a:ext uri="{FF2B5EF4-FFF2-40B4-BE49-F238E27FC236}">
                <a16:creationId xmlns:a16="http://schemas.microsoft.com/office/drawing/2014/main" id="{44AD9ED0-4694-95AB-7274-9723237F1584}"/>
              </a:ext>
            </a:extLst>
          </p:cNvPr>
          <p:cNvGraphicFramePr>
            <a:graphicFrameLocks noChangeAspect="1"/>
          </p:cNvGraphicFramePr>
          <p:nvPr>
            <p:extLst>
              <p:ext uri="{D42A27DB-BD31-4B8C-83A1-F6EECF244321}">
                <p14:modId xmlns:p14="http://schemas.microsoft.com/office/powerpoint/2010/main" val="4180786962"/>
              </p:ext>
            </p:extLst>
          </p:nvPr>
        </p:nvGraphicFramePr>
        <p:xfrm>
          <a:off x="3318633" y="3787181"/>
          <a:ext cx="2264102" cy="589610"/>
        </p:xfrm>
        <a:graphic>
          <a:graphicData uri="http://schemas.openxmlformats.org/presentationml/2006/ole">
            <mc:AlternateContent xmlns:mc="http://schemas.openxmlformats.org/markup-compatibility/2006">
              <mc:Choice xmlns:v="urn:schemas-microsoft-com:vml" Requires="v">
                <p:oleObj name="Equation" r:id="rId17" imgW="914468" imgH="237969" progId="Equation.DSMT4">
                  <p:embed/>
                </p:oleObj>
              </mc:Choice>
              <mc:Fallback>
                <p:oleObj name="Equation" r:id="rId17" imgW="914468" imgH="237969" progId="Equation.DSMT4">
                  <p:embed/>
                  <p:pic>
                    <p:nvPicPr>
                      <p:cNvPr id="0" name=""/>
                      <p:cNvPicPr/>
                      <p:nvPr/>
                    </p:nvPicPr>
                    <p:blipFill>
                      <a:blip r:embed="rId18"/>
                      <a:stretch>
                        <a:fillRect/>
                      </a:stretch>
                    </p:blipFill>
                    <p:spPr>
                      <a:xfrm>
                        <a:off x="3318633" y="3787181"/>
                        <a:ext cx="2264102" cy="589610"/>
                      </a:xfrm>
                      <a:prstGeom prst="rect">
                        <a:avLst/>
                      </a:prstGeom>
                    </p:spPr>
                  </p:pic>
                </p:oleObj>
              </mc:Fallback>
            </mc:AlternateContent>
          </a:graphicData>
        </a:graphic>
      </p:graphicFrame>
      <p:sp>
        <p:nvSpPr>
          <p:cNvPr id="38" name="内容占位符 4">
            <a:extLst>
              <a:ext uri="{FF2B5EF4-FFF2-40B4-BE49-F238E27FC236}">
                <a16:creationId xmlns:a16="http://schemas.microsoft.com/office/drawing/2014/main" id="{B315BF53-6926-35C9-BA9C-90F079EFA7CC}"/>
              </a:ext>
            </a:extLst>
          </p:cNvPr>
          <p:cNvSpPr txBox="1">
            <a:spLocks/>
          </p:cNvSpPr>
          <p:nvPr/>
        </p:nvSpPr>
        <p:spPr>
          <a:xfrm>
            <a:off x="1188031" y="1814694"/>
            <a:ext cx="10850680" cy="1826437"/>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defRPr/>
            </a:pPr>
            <a:r>
              <a:rPr lang="zh-CN" altLang="en-US" dirty="0"/>
              <a:t>显著性检验：</a:t>
            </a:r>
            <a:r>
              <a:rPr lang="en-US" altLang="zh-CN" dirty="0">
                <a:solidFill>
                  <a:srgbClr val="008000"/>
                </a:solidFill>
              </a:rPr>
              <a:t>F</a:t>
            </a:r>
            <a:r>
              <a:rPr lang="zh-CN" altLang="en-US" dirty="0">
                <a:solidFill>
                  <a:srgbClr val="008000"/>
                </a:solidFill>
              </a:rPr>
              <a:t>检验</a:t>
            </a:r>
            <a:r>
              <a:rPr lang="zh-CN" altLang="en-US" dirty="0"/>
              <a:t>用于检验回归模型的整体显著性</a:t>
            </a:r>
          </a:p>
          <a:p>
            <a:pPr marL="0" lvl="0" indent="0">
              <a:buNone/>
              <a:defRPr/>
            </a:pPr>
            <a:endParaRPr lang="zh-CN" altLang="en-US" dirty="0"/>
          </a:p>
          <a:p>
            <a:pPr marL="0" lvl="0" indent="0">
              <a:buNone/>
              <a:defRPr/>
            </a:pPr>
            <a:endParaRPr lang="en-US" altLang="zh-CN" dirty="0"/>
          </a:p>
        </p:txBody>
      </p:sp>
    </p:spTree>
    <p:extLst>
      <p:ext uri="{BB962C8B-B14F-4D97-AF65-F5344CB8AC3E}">
        <p14:creationId xmlns:p14="http://schemas.microsoft.com/office/powerpoint/2010/main" val="1540522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820A0-EA14-E4E1-8DC7-5603840E740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87737A2-0CBA-6EB9-2108-47DC4A46027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DEC881BD-79E8-576C-3B8C-2E175A1D65D9}"/>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多元线性回归模型的统计检验</a:t>
            </a:r>
          </a:p>
        </p:txBody>
      </p:sp>
      <p:sp>
        <p:nvSpPr>
          <p:cNvPr id="21" name="Rectangle 14">
            <a:extLst>
              <a:ext uri="{FF2B5EF4-FFF2-40B4-BE49-F238E27FC236}">
                <a16:creationId xmlns:a16="http://schemas.microsoft.com/office/drawing/2014/main" id="{C75FC392-686E-E1C9-F494-ED62374B0605}"/>
              </a:ext>
            </a:extLst>
          </p:cNvPr>
          <p:cNvSpPr>
            <a:spLocks noChangeArrowheads="1"/>
          </p:cNvSpPr>
          <p:nvPr/>
        </p:nvSpPr>
        <p:spPr bwMode="auto">
          <a:xfrm>
            <a:off x="650699" y="23859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15">
            <a:extLst>
              <a:ext uri="{FF2B5EF4-FFF2-40B4-BE49-F238E27FC236}">
                <a16:creationId xmlns:a16="http://schemas.microsoft.com/office/drawing/2014/main" id="{E0C02BCB-5C11-7EDD-DACE-89CEF52D34E0}"/>
              </a:ext>
            </a:extLst>
          </p:cNvPr>
          <p:cNvSpPr>
            <a:spLocks noChangeArrowheads="1"/>
          </p:cNvSpPr>
          <p:nvPr/>
        </p:nvSpPr>
        <p:spPr bwMode="auto">
          <a:xfrm>
            <a:off x="650699" y="26081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6" name="Rectangle 18">
            <a:extLst>
              <a:ext uri="{FF2B5EF4-FFF2-40B4-BE49-F238E27FC236}">
                <a16:creationId xmlns:a16="http://schemas.microsoft.com/office/drawing/2014/main" id="{76777C4F-DF42-6E62-7CBC-298A65FCBD9E}"/>
              </a:ext>
            </a:extLst>
          </p:cNvPr>
          <p:cNvSpPr>
            <a:spLocks noChangeArrowheads="1"/>
          </p:cNvSpPr>
          <p:nvPr/>
        </p:nvSpPr>
        <p:spPr bwMode="auto">
          <a:xfrm>
            <a:off x="650699" y="33130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cxnSp>
        <p:nvCxnSpPr>
          <p:cNvPr id="31" name="直接箭头连接符 30">
            <a:extLst>
              <a:ext uri="{FF2B5EF4-FFF2-40B4-BE49-F238E27FC236}">
                <a16:creationId xmlns:a16="http://schemas.microsoft.com/office/drawing/2014/main" id="{95A47040-7739-20D7-A390-4F880FD4580F}"/>
              </a:ext>
            </a:extLst>
          </p:cNvPr>
          <p:cNvCxnSpPr>
            <a:cxnSpLocks/>
          </p:cNvCxnSpPr>
          <p:nvPr/>
        </p:nvCxnSpPr>
        <p:spPr>
          <a:xfrm>
            <a:off x="5855955" y="3977293"/>
            <a:ext cx="0" cy="1272801"/>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35" name="矩形: 圆角 34">
            <a:extLst>
              <a:ext uri="{FF2B5EF4-FFF2-40B4-BE49-F238E27FC236}">
                <a16:creationId xmlns:a16="http://schemas.microsoft.com/office/drawing/2014/main" id="{2E7CA0FC-309F-5C02-5D67-3FB08FA4FECB}"/>
              </a:ext>
            </a:extLst>
          </p:cNvPr>
          <p:cNvSpPr/>
          <p:nvPr/>
        </p:nvSpPr>
        <p:spPr>
          <a:xfrm>
            <a:off x="3323840" y="5431569"/>
            <a:ext cx="4977680" cy="1359708"/>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4C08B600-A695-0F87-F279-F8145B9C6747}"/>
              </a:ext>
            </a:extLst>
          </p:cNvPr>
          <p:cNvGrpSpPr/>
          <p:nvPr/>
        </p:nvGrpSpPr>
        <p:grpSpPr>
          <a:xfrm>
            <a:off x="3323839" y="3162985"/>
            <a:ext cx="1848108" cy="591642"/>
            <a:chOff x="1299579" y="3221635"/>
            <a:chExt cx="1848108" cy="591642"/>
          </a:xfrm>
        </p:grpSpPr>
        <p:graphicFrame>
          <p:nvGraphicFramePr>
            <p:cNvPr id="17" name="对象 16">
              <a:extLst>
                <a:ext uri="{FF2B5EF4-FFF2-40B4-BE49-F238E27FC236}">
                  <a16:creationId xmlns:a16="http://schemas.microsoft.com/office/drawing/2014/main" id="{1C49EF12-44D0-6E67-99EA-7F5C74039AB4}"/>
                </a:ext>
              </a:extLst>
            </p:cNvPr>
            <p:cNvGraphicFramePr>
              <a:graphicFrameLocks noChangeAspect="1"/>
            </p:cNvGraphicFramePr>
            <p:nvPr>
              <p:extLst>
                <p:ext uri="{D42A27DB-BD31-4B8C-83A1-F6EECF244321}">
                  <p14:modId xmlns:p14="http://schemas.microsoft.com/office/powerpoint/2010/main" val="431013057"/>
                </p:ext>
              </p:extLst>
            </p:nvPr>
          </p:nvGraphicFramePr>
          <p:xfrm>
            <a:off x="1299579" y="3227183"/>
            <a:ext cx="655998" cy="559998"/>
          </p:xfrm>
          <a:graphic>
            <a:graphicData uri="http://schemas.openxmlformats.org/presentationml/2006/ole">
              <mc:AlternateContent xmlns:mc="http://schemas.openxmlformats.org/markup-compatibility/2006">
                <mc:Choice xmlns:v="urn:schemas-microsoft-com:vml" Requires="v">
                  <p:oleObj name="Equation" r:id="rId3" imgW="266584" imgH="228501" progId="Equation.DSMT4">
                    <p:embed/>
                  </p:oleObj>
                </mc:Choice>
                <mc:Fallback>
                  <p:oleObj name="Equation" r:id="rId3" imgW="266584" imgH="228501" progId="Equation.DSMT4">
                    <p:embed/>
                    <p:pic>
                      <p:nvPicPr>
                        <p:cNvPr id="17" name="对象 16">
                          <a:extLst>
                            <a:ext uri="{FF2B5EF4-FFF2-40B4-BE49-F238E27FC236}">
                              <a16:creationId xmlns:a16="http://schemas.microsoft.com/office/drawing/2014/main" id="{60B3FCBF-3AE6-28DA-7ED3-DC3532AEF4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9579" y="3227183"/>
                          <a:ext cx="655998" cy="559998"/>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27E47498-6FE2-7CEB-3032-404E43F27AA4}"/>
                </a:ext>
              </a:extLst>
            </p:cNvPr>
            <p:cNvGraphicFramePr>
              <a:graphicFrameLocks noChangeAspect="1"/>
            </p:cNvGraphicFramePr>
            <p:nvPr>
              <p:extLst>
                <p:ext uri="{D42A27DB-BD31-4B8C-83A1-F6EECF244321}">
                  <p14:modId xmlns:p14="http://schemas.microsoft.com/office/powerpoint/2010/main" val="87470775"/>
                </p:ext>
              </p:extLst>
            </p:nvPr>
          </p:nvGraphicFramePr>
          <p:xfrm>
            <a:off x="2059066" y="3221635"/>
            <a:ext cx="1088621" cy="591642"/>
          </p:xfrm>
          <a:graphic>
            <a:graphicData uri="http://schemas.openxmlformats.org/presentationml/2006/ole">
              <mc:AlternateContent xmlns:mc="http://schemas.openxmlformats.org/markup-compatibility/2006">
                <mc:Choice xmlns:v="urn:schemas-microsoft-com:vml" Requires="v">
                  <p:oleObj name="Equation" r:id="rId5" imgW="438153" imgH="237969" progId="Equation.DSMT4">
                    <p:embed/>
                  </p:oleObj>
                </mc:Choice>
                <mc:Fallback>
                  <p:oleObj name="Equation" r:id="rId5" imgW="438153" imgH="237969" progId="Equation.DSMT4">
                    <p:embed/>
                    <p:pic>
                      <p:nvPicPr>
                        <p:cNvPr id="0" name=""/>
                        <p:cNvPicPr/>
                        <p:nvPr/>
                      </p:nvPicPr>
                      <p:blipFill>
                        <a:blip r:embed="rId6"/>
                        <a:stretch>
                          <a:fillRect/>
                        </a:stretch>
                      </p:blipFill>
                      <p:spPr>
                        <a:xfrm>
                          <a:off x="2059066" y="3221635"/>
                          <a:ext cx="1088621" cy="591642"/>
                        </a:xfrm>
                        <a:prstGeom prst="rect">
                          <a:avLst/>
                        </a:prstGeom>
                      </p:spPr>
                    </p:pic>
                  </p:oleObj>
                </mc:Fallback>
              </mc:AlternateContent>
            </a:graphicData>
          </a:graphic>
        </p:graphicFrame>
      </p:grpSp>
      <p:grpSp>
        <p:nvGrpSpPr>
          <p:cNvPr id="7" name="组合 6">
            <a:extLst>
              <a:ext uri="{FF2B5EF4-FFF2-40B4-BE49-F238E27FC236}">
                <a16:creationId xmlns:a16="http://schemas.microsoft.com/office/drawing/2014/main" id="{C177A863-E377-4012-81A7-AD28EB35ACDC}"/>
              </a:ext>
            </a:extLst>
          </p:cNvPr>
          <p:cNvGrpSpPr/>
          <p:nvPr/>
        </p:nvGrpSpPr>
        <p:grpSpPr>
          <a:xfrm>
            <a:off x="5473078" y="3162985"/>
            <a:ext cx="1725936" cy="563392"/>
            <a:chOff x="6613371" y="2484320"/>
            <a:chExt cx="1725936" cy="563392"/>
          </a:xfrm>
        </p:grpSpPr>
        <p:graphicFrame>
          <p:nvGraphicFramePr>
            <p:cNvPr id="19" name="对象 18">
              <a:extLst>
                <a:ext uri="{FF2B5EF4-FFF2-40B4-BE49-F238E27FC236}">
                  <a16:creationId xmlns:a16="http://schemas.microsoft.com/office/drawing/2014/main" id="{A97917E9-7024-6B70-59CE-4C7F3867FA5A}"/>
                </a:ext>
              </a:extLst>
            </p:cNvPr>
            <p:cNvGraphicFramePr>
              <a:graphicFrameLocks noChangeAspect="1"/>
            </p:cNvGraphicFramePr>
            <p:nvPr>
              <p:extLst>
                <p:ext uri="{D42A27DB-BD31-4B8C-83A1-F6EECF244321}">
                  <p14:modId xmlns:p14="http://schemas.microsoft.com/office/powerpoint/2010/main" val="3889653606"/>
                </p:ext>
              </p:extLst>
            </p:nvPr>
          </p:nvGraphicFramePr>
          <p:xfrm>
            <a:off x="6613371" y="2484320"/>
            <a:ext cx="603590" cy="528141"/>
          </p:xfrm>
          <a:graphic>
            <a:graphicData uri="http://schemas.openxmlformats.org/presentationml/2006/ole">
              <mc:AlternateContent xmlns:mc="http://schemas.openxmlformats.org/markup-compatibility/2006">
                <mc:Choice xmlns:v="urn:schemas-microsoft-com:vml" Requires="v">
                  <p:oleObj name="Equation" r:id="rId7" imgW="253890" imgH="228501" progId="Equation.DSMT4">
                    <p:embed/>
                  </p:oleObj>
                </mc:Choice>
                <mc:Fallback>
                  <p:oleObj name="Equation" r:id="rId7" imgW="253890" imgH="228501" progId="Equation.DSMT4">
                    <p:embed/>
                    <p:pic>
                      <p:nvPicPr>
                        <p:cNvPr id="19" name="对象 18">
                          <a:extLst>
                            <a:ext uri="{FF2B5EF4-FFF2-40B4-BE49-F238E27FC236}">
                              <a16:creationId xmlns:a16="http://schemas.microsoft.com/office/drawing/2014/main" id="{C0280877-4381-5BAE-AF40-BEFE23DFCC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13371" y="2484320"/>
                          <a:ext cx="603590" cy="528141"/>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7169C9DC-4DD6-5A14-8E53-5803933B3796}"/>
                </a:ext>
              </a:extLst>
            </p:cNvPr>
            <p:cNvGraphicFramePr>
              <a:graphicFrameLocks noChangeAspect="1"/>
            </p:cNvGraphicFramePr>
            <p:nvPr>
              <p:extLst>
                <p:ext uri="{D42A27DB-BD31-4B8C-83A1-F6EECF244321}">
                  <p14:modId xmlns:p14="http://schemas.microsoft.com/office/powerpoint/2010/main" val="2998885317"/>
                </p:ext>
              </p:extLst>
            </p:nvPr>
          </p:nvGraphicFramePr>
          <p:xfrm>
            <a:off x="7303783" y="2484927"/>
            <a:ext cx="1035524" cy="562785"/>
          </p:xfrm>
          <a:graphic>
            <a:graphicData uri="http://schemas.openxmlformats.org/presentationml/2006/ole">
              <mc:AlternateContent xmlns:mc="http://schemas.openxmlformats.org/markup-compatibility/2006">
                <mc:Choice xmlns:v="urn:schemas-microsoft-com:vml" Requires="v">
                  <p:oleObj name="Equation" r:id="rId9" imgW="438153" imgH="237969" progId="Equation.DSMT4">
                    <p:embed/>
                  </p:oleObj>
                </mc:Choice>
                <mc:Fallback>
                  <p:oleObj name="Equation" r:id="rId9" imgW="438153" imgH="237969" progId="Equation.DSMT4">
                    <p:embed/>
                    <p:pic>
                      <p:nvPicPr>
                        <p:cNvPr id="0" name=""/>
                        <p:cNvPicPr/>
                        <p:nvPr/>
                      </p:nvPicPr>
                      <p:blipFill>
                        <a:blip r:embed="rId10"/>
                        <a:stretch>
                          <a:fillRect/>
                        </a:stretch>
                      </p:blipFill>
                      <p:spPr>
                        <a:xfrm>
                          <a:off x="7303783" y="2484927"/>
                          <a:ext cx="1035524" cy="562785"/>
                        </a:xfrm>
                        <a:prstGeom prst="rect">
                          <a:avLst/>
                        </a:prstGeom>
                      </p:spPr>
                    </p:pic>
                  </p:oleObj>
                </mc:Fallback>
              </mc:AlternateContent>
            </a:graphicData>
          </a:graphic>
        </p:graphicFrame>
      </p:grpSp>
      <p:graphicFrame>
        <p:nvGraphicFramePr>
          <p:cNvPr id="10" name="对象 9">
            <a:extLst>
              <a:ext uri="{FF2B5EF4-FFF2-40B4-BE49-F238E27FC236}">
                <a16:creationId xmlns:a16="http://schemas.microsoft.com/office/drawing/2014/main" id="{2F0207C2-ADFC-1E10-1C24-19E8D12E61B4}"/>
              </a:ext>
            </a:extLst>
          </p:cNvPr>
          <p:cNvGraphicFramePr>
            <a:graphicFrameLocks noChangeAspect="1"/>
          </p:cNvGraphicFramePr>
          <p:nvPr>
            <p:extLst>
              <p:ext uri="{D42A27DB-BD31-4B8C-83A1-F6EECF244321}">
                <p14:modId xmlns:p14="http://schemas.microsoft.com/office/powerpoint/2010/main" val="633650981"/>
              </p:ext>
            </p:extLst>
          </p:nvPr>
        </p:nvGraphicFramePr>
        <p:xfrm>
          <a:off x="1563764" y="4012392"/>
          <a:ext cx="3909314" cy="1272800"/>
        </p:xfrm>
        <a:graphic>
          <a:graphicData uri="http://schemas.openxmlformats.org/presentationml/2006/ole">
            <mc:AlternateContent xmlns:mc="http://schemas.openxmlformats.org/markup-compatibility/2006">
              <mc:Choice xmlns:v="urn:schemas-microsoft-com:vml" Requires="v">
                <p:oleObj name="Equation" r:id="rId11" imgW="1638482" imgH="533539" progId="Equation.DSMT4">
                  <p:embed/>
                </p:oleObj>
              </mc:Choice>
              <mc:Fallback>
                <p:oleObj name="Equation" r:id="rId11" imgW="1638482" imgH="533539" progId="Equation.DSMT4">
                  <p:embed/>
                  <p:pic>
                    <p:nvPicPr>
                      <p:cNvPr id="0" name=""/>
                      <p:cNvPicPr/>
                      <p:nvPr/>
                    </p:nvPicPr>
                    <p:blipFill>
                      <a:blip r:embed="rId12"/>
                      <a:stretch>
                        <a:fillRect/>
                      </a:stretch>
                    </p:blipFill>
                    <p:spPr>
                      <a:xfrm>
                        <a:off x="1563764" y="4012392"/>
                        <a:ext cx="3909314" cy="127280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E723B1F0-3C19-3E47-F68C-1684401F705B}"/>
              </a:ext>
            </a:extLst>
          </p:cNvPr>
          <p:cNvGraphicFramePr>
            <a:graphicFrameLocks noChangeAspect="1"/>
          </p:cNvGraphicFramePr>
          <p:nvPr>
            <p:extLst>
              <p:ext uri="{D42A27DB-BD31-4B8C-83A1-F6EECF244321}">
                <p14:modId xmlns:p14="http://schemas.microsoft.com/office/powerpoint/2010/main" val="3594423796"/>
              </p:ext>
            </p:extLst>
          </p:nvPr>
        </p:nvGraphicFramePr>
        <p:xfrm>
          <a:off x="4027888" y="5501763"/>
          <a:ext cx="3845095" cy="1289514"/>
        </p:xfrm>
        <a:graphic>
          <a:graphicData uri="http://schemas.openxmlformats.org/presentationml/2006/ole">
            <mc:AlternateContent xmlns:mc="http://schemas.openxmlformats.org/markup-compatibility/2006">
              <mc:Choice xmlns:v="urn:schemas-microsoft-com:vml" Requires="v">
                <p:oleObj name="Equation" r:id="rId13" imgW="1562157" imgH="523819" progId="Equation.DSMT4">
                  <p:embed/>
                </p:oleObj>
              </mc:Choice>
              <mc:Fallback>
                <p:oleObj name="Equation" r:id="rId13" imgW="1562157" imgH="523819" progId="Equation.DSMT4">
                  <p:embed/>
                  <p:pic>
                    <p:nvPicPr>
                      <p:cNvPr id="0" name=""/>
                      <p:cNvPicPr/>
                      <p:nvPr/>
                    </p:nvPicPr>
                    <p:blipFill>
                      <a:blip r:embed="rId14"/>
                      <a:stretch>
                        <a:fillRect/>
                      </a:stretch>
                    </p:blipFill>
                    <p:spPr>
                      <a:xfrm>
                        <a:off x="4027888" y="5501763"/>
                        <a:ext cx="3845095" cy="1289514"/>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F32A1621-7C71-0238-D5AA-0A22A646B974}"/>
                  </a:ext>
                </a:extLst>
              </p:cNvPr>
              <p:cNvSpPr txBox="1"/>
              <p:nvPr/>
            </p:nvSpPr>
            <p:spPr>
              <a:xfrm>
                <a:off x="6451442" y="4067259"/>
                <a:ext cx="4400504" cy="860748"/>
              </a:xfrm>
              <a:prstGeom prst="rect">
                <a:avLst/>
              </a:prstGeom>
              <a:noFill/>
            </p:spPr>
            <p:txBody>
              <a:bodyPr wrap="square">
                <a:spAutoFit/>
              </a:bodyPr>
              <a:lstStyle/>
              <a:p>
                <a:r>
                  <a:rPr lang="zh-CN" altLang="en-US" sz="2400" dirty="0"/>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𝑗𝑗</m:t>
                        </m:r>
                      </m:sub>
                    </m:sSub>
                  </m:oMath>
                </a14:m>
                <a:r>
                  <a:rPr lang="zh-CN" altLang="en-US" sz="2400" b="1" dirty="0">
                    <a:latin typeface="微软雅黑" panose="020B0503020204020204" pitchFamily="34" charset="-122"/>
                    <a:ea typeface="微软雅黑" panose="020B0503020204020204" pitchFamily="34" charset="-122"/>
                  </a:rPr>
                  <a:t>为矩阵</a:t>
                </a:r>
                <a14:m>
                  <m:oMath xmlns:m="http://schemas.openxmlformats.org/officeDocument/2006/math">
                    <m:sSup>
                      <m:sSupPr>
                        <m:ctrlP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𝑿</m:t>
                            </m:r>
                          </m:e>
                          <m:sup>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𝑻</m:t>
                            </m:r>
                          </m:sup>
                        </m:sSup>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𝑿</m:t>
                        </m:r>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m:t>
                        </m:r>
                      </m:e>
                      <m:sup>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400" b="1" i="1" kern="100">
                            <a:latin typeface="Cambria Math" panose="02040503050406030204" pitchFamily="18" charset="0"/>
                            <a:ea typeface="微软雅黑" panose="020B0503020204020204" pitchFamily="34" charset="-122"/>
                            <a:cs typeface="Times New Roman" panose="02020603050405020304" pitchFamily="18" charset="0"/>
                          </a:rPr>
                          <m:t>𝟏</m:t>
                        </m:r>
                      </m:sup>
                    </m:sSup>
                  </m:oMath>
                </a14:m>
                <a:r>
                  <a:rPr lang="zh-CN" altLang="en-US" sz="2400" b="1" dirty="0">
                    <a:latin typeface="微软雅黑" panose="020B0503020204020204" pitchFamily="34" charset="-122"/>
                    <a:ea typeface="微软雅黑" panose="020B0503020204020204" pitchFamily="34" charset="-122"/>
                  </a:rPr>
                  <a:t>对角线上的第</a:t>
                </a:r>
                <a:r>
                  <a:rPr lang="en-US" altLang="zh-CN" sz="2400" b="1" dirty="0">
                    <a:latin typeface="微软雅黑" panose="020B0503020204020204" pitchFamily="34" charset="-122"/>
                    <a:ea typeface="微软雅黑" panose="020B0503020204020204" pitchFamily="34" charset="-122"/>
                  </a:rPr>
                  <a:t>j+1</a:t>
                </a:r>
                <a:r>
                  <a:rPr lang="zh-CN" altLang="en-US" sz="2400" b="1" dirty="0">
                    <a:latin typeface="微软雅黑" panose="020B0503020204020204" pitchFamily="34" charset="-122"/>
                    <a:ea typeface="微软雅黑" panose="020B0503020204020204" pitchFamily="34" charset="-122"/>
                  </a:rPr>
                  <a:t>个元素</a:t>
                </a:r>
              </a:p>
            </p:txBody>
          </p:sp>
        </mc:Choice>
        <mc:Fallback xmlns="">
          <p:sp>
            <p:nvSpPr>
              <p:cNvPr id="38" name="文本框 37">
                <a:extLst>
                  <a:ext uri="{FF2B5EF4-FFF2-40B4-BE49-F238E27FC236}">
                    <a16:creationId xmlns:a16="http://schemas.microsoft.com/office/drawing/2014/main" id="{F32A1621-7C71-0238-D5AA-0A22A646B974}"/>
                  </a:ext>
                </a:extLst>
              </p:cNvPr>
              <p:cNvSpPr txBox="1">
                <a:spLocks noRot="1" noChangeAspect="1" noMove="1" noResize="1" noEditPoints="1" noAdjustHandles="1" noChangeArrowheads="1" noChangeShapeType="1" noTextEdit="1"/>
              </p:cNvSpPr>
              <p:nvPr/>
            </p:nvSpPr>
            <p:spPr>
              <a:xfrm>
                <a:off x="6451442" y="4067259"/>
                <a:ext cx="4400504" cy="860748"/>
              </a:xfrm>
              <a:prstGeom prst="rect">
                <a:avLst/>
              </a:prstGeom>
              <a:blipFill>
                <a:blip r:embed="rId15"/>
                <a:stretch>
                  <a:fillRect l="-2078" t="-5674" b="-15603"/>
                </a:stretch>
              </a:blipFill>
            </p:spPr>
            <p:txBody>
              <a:bodyPr/>
              <a:lstStyle/>
              <a:p>
                <a:r>
                  <a:rPr lang="zh-CN" altLang="en-US">
                    <a:noFill/>
                  </a:rPr>
                  <a:t> </a:t>
                </a:r>
              </a:p>
            </p:txBody>
          </p:sp>
        </mc:Fallback>
      </mc:AlternateContent>
      <p:sp>
        <p:nvSpPr>
          <p:cNvPr id="39" name="内容占位符 4">
            <a:extLst>
              <a:ext uri="{FF2B5EF4-FFF2-40B4-BE49-F238E27FC236}">
                <a16:creationId xmlns:a16="http://schemas.microsoft.com/office/drawing/2014/main" id="{79673A2C-3C02-631B-8707-5640B4253DD1}"/>
              </a:ext>
            </a:extLst>
          </p:cNvPr>
          <p:cNvSpPr txBox="1">
            <a:spLocks/>
          </p:cNvSpPr>
          <p:nvPr/>
        </p:nvSpPr>
        <p:spPr>
          <a:xfrm>
            <a:off x="892681" y="1908647"/>
            <a:ext cx="10850680" cy="1826437"/>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defRPr/>
            </a:pPr>
            <a:r>
              <a:rPr lang="zh-CN" altLang="en-US" dirty="0"/>
              <a:t>显著性检验：</a:t>
            </a:r>
            <a:r>
              <a:rPr lang="en-US" altLang="zh-CN" dirty="0">
                <a:solidFill>
                  <a:srgbClr val="008000"/>
                </a:solidFill>
              </a:rPr>
              <a:t>t</a:t>
            </a:r>
            <a:r>
              <a:rPr lang="zh-CN" altLang="en-US" dirty="0">
                <a:solidFill>
                  <a:srgbClr val="008000"/>
                </a:solidFill>
              </a:rPr>
              <a:t>检验</a:t>
            </a:r>
            <a:r>
              <a:rPr lang="zh-CN" altLang="en-US" dirty="0"/>
              <a:t>用于对回归方程中每个自变量的显著性进行逐个检验，对第</a:t>
            </a:r>
            <a:r>
              <a:rPr lang="en-US" altLang="zh-CN" dirty="0"/>
              <a:t>j</a:t>
            </a:r>
            <a:r>
              <a:rPr lang="zh-CN" altLang="en-US" dirty="0"/>
              <a:t>个回归系数进行显著检验的原假设和备择假设分别为：</a:t>
            </a:r>
          </a:p>
          <a:p>
            <a:pPr marL="0" lvl="0" indent="0">
              <a:buNone/>
              <a:defRPr/>
            </a:pPr>
            <a:endParaRPr lang="zh-CN" altLang="en-US" dirty="0"/>
          </a:p>
          <a:p>
            <a:pPr marL="0" lvl="0" indent="0">
              <a:buNone/>
              <a:defRPr/>
            </a:pPr>
            <a:endParaRPr lang="en-US" altLang="zh-CN" dirty="0"/>
          </a:p>
        </p:txBody>
      </p:sp>
    </p:spTree>
    <p:extLst>
      <p:ext uri="{BB962C8B-B14F-4D97-AF65-F5344CB8AC3E}">
        <p14:creationId xmlns:p14="http://schemas.microsoft.com/office/powerpoint/2010/main" val="151283953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2420A-385B-9382-6E05-94EFEA9E4E5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0206D98-62C7-76EA-4472-4B48EEE8FEC1}"/>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B20C801B-1C2C-9117-C023-67156386CD8A}"/>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多元线性回归自变量的选取</a:t>
            </a:r>
          </a:p>
        </p:txBody>
      </p:sp>
      <p:sp>
        <p:nvSpPr>
          <p:cNvPr id="21" name="Rectangle 14">
            <a:extLst>
              <a:ext uri="{FF2B5EF4-FFF2-40B4-BE49-F238E27FC236}">
                <a16:creationId xmlns:a16="http://schemas.microsoft.com/office/drawing/2014/main" id="{612C78BE-7B33-FCED-4B6E-90868D512900}"/>
              </a:ext>
            </a:extLst>
          </p:cNvPr>
          <p:cNvSpPr>
            <a:spLocks noChangeArrowheads="1"/>
          </p:cNvSpPr>
          <p:nvPr/>
        </p:nvSpPr>
        <p:spPr bwMode="auto">
          <a:xfrm>
            <a:off x="650699" y="23859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15">
            <a:extLst>
              <a:ext uri="{FF2B5EF4-FFF2-40B4-BE49-F238E27FC236}">
                <a16:creationId xmlns:a16="http://schemas.microsoft.com/office/drawing/2014/main" id="{7A211830-AEF8-71B4-2598-99DE09F59418}"/>
              </a:ext>
            </a:extLst>
          </p:cNvPr>
          <p:cNvSpPr>
            <a:spLocks noChangeArrowheads="1"/>
          </p:cNvSpPr>
          <p:nvPr/>
        </p:nvSpPr>
        <p:spPr bwMode="auto">
          <a:xfrm>
            <a:off x="650699" y="26081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6" name="Rectangle 18">
            <a:extLst>
              <a:ext uri="{FF2B5EF4-FFF2-40B4-BE49-F238E27FC236}">
                <a16:creationId xmlns:a16="http://schemas.microsoft.com/office/drawing/2014/main" id="{76C466BA-11E5-2E0E-4281-1689C1B3710F}"/>
              </a:ext>
            </a:extLst>
          </p:cNvPr>
          <p:cNvSpPr>
            <a:spLocks noChangeArrowheads="1"/>
          </p:cNvSpPr>
          <p:nvPr/>
        </p:nvSpPr>
        <p:spPr bwMode="auto">
          <a:xfrm>
            <a:off x="650699" y="33130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6" name="内容占位符 4">
            <a:extLst>
              <a:ext uri="{FF2B5EF4-FFF2-40B4-BE49-F238E27FC236}">
                <a16:creationId xmlns:a16="http://schemas.microsoft.com/office/drawing/2014/main" id="{56C4DCA6-167C-7D9C-E11F-70E008AC1E2C}"/>
              </a:ext>
            </a:extLst>
          </p:cNvPr>
          <p:cNvSpPr txBox="1">
            <a:spLocks/>
          </p:cNvSpPr>
          <p:nvPr/>
        </p:nvSpPr>
        <p:spPr>
          <a:xfrm>
            <a:off x="1190631" y="1871922"/>
            <a:ext cx="10850680" cy="1826437"/>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defRPr/>
            </a:pPr>
            <a:r>
              <a:rPr lang="zh-CN" altLang="en-US" dirty="0"/>
              <a:t>为建立更优、更合适的回归模型，常采用</a:t>
            </a:r>
            <a:r>
              <a:rPr lang="zh-CN" altLang="en-US" dirty="0">
                <a:solidFill>
                  <a:srgbClr val="0066FF"/>
                </a:solidFill>
              </a:rPr>
              <a:t>向前选择、向后剔除、逐步回归</a:t>
            </a:r>
            <a:r>
              <a:rPr lang="zh-CN" altLang="en-US" dirty="0"/>
              <a:t>的方法来纳入重要的自变量或剔除不必要的自变量。</a:t>
            </a:r>
          </a:p>
          <a:p>
            <a:pPr marL="0" lvl="0" indent="0">
              <a:buNone/>
              <a:defRPr/>
            </a:pPr>
            <a:endParaRPr lang="en-US" altLang="zh-CN" dirty="0"/>
          </a:p>
        </p:txBody>
      </p:sp>
      <p:sp>
        <p:nvSpPr>
          <p:cNvPr id="18" name="内容占位符 4">
            <a:extLst>
              <a:ext uri="{FF2B5EF4-FFF2-40B4-BE49-F238E27FC236}">
                <a16:creationId xmlns:a16="http://schemas.microsoft.com/office/drawing/2014/main" id="{BAA9E151-F8FB-D6F3-A2D8-9CFC65ECC189}"/>
              </a:ext>
            </a:extLst>
          </p:cNvPr>
          <p:cNvSpPr txBox="1">
            <a:spLocks/>
          </p:cNvSpPr>
          <p:nvPr/>
        </p:nvSpPr>
        <p:spPr>
          <a:xfrm>
            <a:off x="1190631" y="3323746"/>
            <a:ext cx="10850680" cy="3097602"/>
          </a:xfrm>
          <a:prstGeom prst="rect">
            <a:avLst/>
          </a:prstGeom>
        </p:spPr>
        <p:txBody>
          <a:bodyPr vert="horz" lIns="91440" tIns="45720" rIns="91440" bIns="45720" rtlCol="0">
            <a:normAutofit lnSpcReduction="10000"/>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defRPr/>
            </a:pPr>
            <a:r>
              <a:rPr lang="zh-CN" altLang="en-US" dirty="0">
                <a:solidFill>
                  <a:srgbClr val="C00000"/>
                </a:solidFill>
              </a:rPr>
              <a:t>向前选择（ </a:t>
            </a:r>
            <a:r>
              <a:rPr lang="en-US" altLang="zh-CN" dirty="0">
                <a:solidFill>
                  <a:srgbClr val="C00000"/>
                </a:solidFill>
              </a:rPr>
              <a:t>Forward </a:t>
            </a:r>
            <a:r>
              <a:rPr lang="zh-CN" altLang="en-US" dirty="0">
                <a:solidFill>
                  <a:srgbClr val="C00000"/>
                </a:solidFill>
              </a:rPr>
              <a:t>）策略</a:t>
            </a:r>
            <a:r>
              <a:rPr lang="zh-CN" altLang="en-US" dirty="0"/>
              <a:t>：解释变量不断进入回归方程的过程。首先，选择与被解释变量具有最高线性相关系数的变量进入方程，并进行回归方程的各种检验；然后，在剩余的变量中寻找与被解释变量偏相关系数最高且通过检验的变量进入回归方程，并对新建立的回归方程进行各种检验；这个过程一直重复，直到再也没有可进入方程的变量为止。</a:t>
            </a:r>
          </a:p>
          <a:p>
            <a:pPr marL="0" lvl="0" indent="0">
              <a:buNone/>
              <a:defRPr/>
            </a:pPr>
            <a:endParaRPr lang="en-US" altLang="zh-CN" dirty="0"/>
          </a:p>
        </p:txBody>
      </p:sp>
    </p:spTree>
    <p:extLst>
      <p:ext uri="{BB962C8B-B14F-4D97-AF65-F5344CB8AC3E}">
        <p14:creationId xmlns:p14="http://schemas.microsoft.com/office/powerpoint/2010/main" val="429107840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BC39D-7C5A-D5EB-5AE5-E7409F710A9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AEBC6D7-64DA-9590-2C3C-91E82E2BF080}"/>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DFAF1CA2-D67F-7DDD-9ECE-CAB9750EE731}"/>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多元线性回归自变量的选取</a:t>
            </a:r>
          </a:p>
        </p:txBody>
      </p:sp>
      <p:sp>
        <p:nvSpPr>
          <p:cNvPr id="21" name="Rectangle 14">
            <a:extLst>
              <a:ext uri="{FF2B5EF4-FFF2-40B4-BE49-F238E27FC236}">
                <a16:creationId xmlns:a16="http://schemas.microsoft.com/office/drawing/2014/main" id="{93F35AC3-94D7-A970-7F90-974530BF33F4}"/>
              </a:ext>
            </a:extLst>
          </p:cNvPr>
          <p:cNvSpPr>
            <a:spLocks noChangeArrowheads="1"/>
          </p:cNvSpPr>
          <p:nvPr/>
        </p:nvSpPr>
        <p:spPr bwMode="auto">
          <a:xfrm>
            <a:off x="650699" y="23859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15">
            <a:extLst>
              <a:ext uri="{FF2B5EF4-FFF2-40B4-BE49-F238E27FC236}">
                <a16:creationId xmlns:a16="http://schemas.microsoft.com/office/drawing/2014/main" id="{97E8C747-E4D5-F12A-4F45-79D9D220AF88}"/>
              </a:ext>
            </a:extLst>
          </p:cNvPr>
          <p:cNvSpPr>
            <a:spLocks noChangeArrowheads="1"/>
          </p:cNvSpPr>
          <p:nvPr/>
        </p:nvSpPr>
        <p:spPr bwMode="auto">
          <a:xfrm>
            <a:off x="650699" y="26081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6" name="Rectangle 18">
            <a:extLst>
              <a:ext uri="{FF2B5EF4-FFF2-40B4-BE49-F238E27FC236}">
                <a16:creationId xmlns:a16="http://schemas.microsoft.com/office/drawing/2014/main" id="{6FDB2517-5087-A119-572E-FCCBEA2CE206}"/>
              </a:ext>
            </a:extLst>
          </p:cNvPr>
          <p:cNvSpPr>
            <a:spLocks noChangeArrowheads="1"/>
          </p:cNvSpPr>
          <p:nvPr/>
        </p:nvSpPr>
        <p:spPr bwMode="auto">
          <a:xfrm>
            <a:off x="650699" y="33130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 name="内容占位符 4">
            <a:extLst>
              <a:ext uri="{FF2B5EF4-FFF2-40B4-BE49-F238E27FC236}">
                <a16:creationId xmlns:a16="http://schemas.microsoft.com/office/drawing/2014/main" id="{E5821C49-ED2B-615E-56AD-6047527A7960}"/>
              </a:ext>
            </a:extLst>
          </p:cNvPr>
          <p:cNvSpPr txBox="1">
            <a:spLocks/>
          </p:cNvSpPr>
          <p:nvPr/>
        </p:nvSpPr>
        <p:spPr>
          <a:xfrm>
            <a:off x="882406" y="2162764"/>
            <a:ext cx="10470538" cy="444703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defRPr/>
            </a:pPr>
            <a:r>
              <a:rPr lang="zh-CN" altLang="en-US" dirty="0">
                <a:solidFill>
                  <a:srgbClr val="C00000"/>
                </a:solidFill>
              </a:rPr>
              <a:t>向后剔除（ </a:t>
            </a:r>
            <a:r>
              <a:rPr lang="en-US" altLang="zh-CN" dirty="0">
                <a:solidFill>
                  <a:srgbClr val="C00000"/>
                </a:solidFill>
              </a:rPr>
              <a:t>Backward </a:t>
            </a:r>
            <a:r>
              <a:rPr lang="zh-CN" altLang="en-US" dirty="0">
                <a:solidFill>
                  <a:srgbClr val="C00000"/>
                </a:solidFill>
              </a:rPr>
              <a:t>）策略：</a:t>
            </a:r>
            <a:r>
              <a:rPr lang="zh-CN" altLang="en-US" dirty="0"/>
              <a:t>变量不断剔除出回归方程的过程。首先，所有变量全部引入回归方程，并对回归方程进行各种检验；然后，在回归系数显著性检验不显著的一个或多个变量中，剔除</a:t>
            </a:r>
            <a:r>
              <a:rPr lang="en-US" altLang="zh-CN" dirty="0"/>
              <a:t>t</a:t>
            </a:r>
            <a:r>
              <a:rPr lang="zh-CN" altLang="en-US" dirty="0"/>
              <a:t>检验值最小的变量，并重新建立回归方程和进行各种检验；如果新建回归方程中所有变量的回归系数检验都显著，则回归方程建立结束。否则按上述方法再一次剔除最不显著的变量，直到再也没有可剔除的变量为止。</a:t>
            </a:r>
          </a:p>
          <a:p>
            <a:pPr lvl="0">
              <a:defRPr/>
            </a:pPr>
            <a:endParaRPr lang="zh-CN" altLang="en-US" dirty="0"/>
          </a:p>
          <a:p>
            <a:pPr lvl="0">
              <a:defRPr/>
            </a:pPr>
            <a:endParaRPr lang="zh-CN" altLang="en-US" dirty="0"/>
          </a:p>
          <a:p>
            <a:pPr marL="0" lvl="0" indent="0">
              <a:buNone/>
              <a:defRPr/>
            </a:pPr>
            <a:endParaRPr lang="en-US" altLang="zh-CN" dirty="0"/>
          </a:p>
        </p:txBody>
      </p:sp>
    </p:spTree>
    <p:extLst>
      <p:ext uri="{BB962C8B-B14F-4D97-AF65-F5344CB8AC3E}">
        <p14:creationId xmlns:p14="http://schemas.microsoft.com/office/powerpoint/2010/main" val="307999473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693C4-11A6-2244-1A44-0A881375EE6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275F684-BB6B-0AE3-1336-6410376DB2BC}"/>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多元线性回归</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73C18CA2-F8AC-FBD1-6DB3-53D5A360AC8A}"/>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多元线性回归自变量的选取</a:t>
            </a:r>
          </a:p>
        </p:txBody>
      </p:sp>
      <p:sp>
        <p:nvSpPr>
          <p:cNvPr id="21" name="Rectangle 14">
            <a:extLst>
              <a:ext uri="{FF2B5EF4-FFF2-40B4-BE49-F238E27FC236}">
                <a16:creationId xmlns:a16="http://schemas.microsoft.com/office/drawing/2014/main" id="{9F26BA61-2566-0AB7-4F9B-451D4AF6F5F8}"/>
              </a:ext>
            </a:extLst>
          </p:cNvPr>
          <p:cNvSpPr>
            <a:spLocks noChangeArrowheads="1"/>
          </p:cNvSpPr>
          <p:nvPr/>
        </p:nvSpPr>
        <p:spPr bwMode="auto">
          <a:xfrm>
            <a:off x="650699" y="23859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15">
            <a:extLst>
              <a:ext uri="{FF2B5EF4-FFF2-40B4-BE49-F238E27FC236}">
                <a16:creationId xmlns:a16="http://schemas.microsoft.com/office/drawing/2014/main" id="{03960E3C-A680-3132-2354-0E436FDC9B33}"/>
              </a:ext>
            </a:extLst>
          </p:cNvPr>
          <p:cNvSpPr>
            <a:spLocks noChangeArrowheads="1"/>
          </p:cNvSpPr>
          <p:nvPr/>
        </p:nvSpPr>
        <p:spPr bwMode="auto">
          <a:xfrm>
            <a:off x="650699" y="26081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6" name="Rectangle 18">
            <a:extLst>
              <a:ext uri="{FF2B5EF4-FFF2-40B4-BE49-F238E27FC236}">
                <a16:creationId xmlns:a16="http://schemas.microsoft.com/office/drawing/2014/main" id="{C4264F95-4964-D2EE-B8BA-613568BA3E77}"/>
              </a:ext>
            </a:extLst>
          </p:cNvPr>
          <p:cNvSpPr>
            <a:spLocks noChangeArrowheads="1"/>
          </p:cNvSpPr>
          <p:nvPr/>
        </p:nvSpPr>
        <p:spPr bwMode="auto">
          <a:xfrm>
            <a:off x="650699" y="33130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 name="内容占位符 4">
            <a:extLst>
              <a:ext uri="{FF2B5EF4-FFF2-40B4-BE49-F238E27FC236}">
                <a16:creationId xmlns:a16="http://schemas.microsoft.com/office/drawing/2014/main" id="{22342866-14EA-BE55-5E50-B62ADAC602C3}"/>
              </a:ext>
            </a:extLst>
          </p:cNvPr>
          <p:cNvSpPr txBox="1">
            <a:spLocks/>
          </p:cNvSpPr>
          <p:nvPr/>
        </p:nvSpPr>
        <p:spPr>
          <a:xfrm>
            <a:off x="882406" y="2162764"/>
            <a:ext cx="10470538" cy="444703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defRPr/>
            </a:pPr>
            <a:r>
              <a:rPr lang="zh-CN" altLang="en-US" dirty="0">
                <a:solidFill>
                  <a:srgbClr val="C00000"/>
                </a:solidFill>
              </a:rPr>
              <a:t>逐步回归（ </a:t>
            </a:r>
            <a:r>
              <a:rPr lang="en-US" altLang="zh-CN" dirty="0">
                <a:solidFill>
                  <a:srgbClr val="C00000"/>
                </a:solidFill>
              </a:rPr>
              <a:t>Stepwise </a:t>
            </a:r>
            <a:r>
              <a:rPr lang="zh-CN" altLang="en-US" dirty="0">
                <a:solidFill>
                  <a:srgbClr val="C00000"/>
                </a:solidFill>
              </a:rPr>
              <a:t>）策略：</a:t>
            </a:r>
            <a:r>
              <a:rPr lang="zh-CN" altLang="en-US" dirty="0"/>
              <a:t>在向前筛选策略的基础上结合向后筛选策略，在每个变量进入方程后再次判断是否存在应该剔除出方程的变量。因此，逐步筛选策略在引入变量的每一个阶段都提供了再剔除不显著变量的机会。</a:t>
            </a:r>
          </a:p>
          <a:p>
            <a:pPr lvl="0">
              <a:defRPr/>
            </a:pPr>
            <a:endParaRPr lang="zh-CN" altLang="en-US" dirty="0"/>
          </a:p>
          <a:p>
            <a:pPr lvl="0">
              <a:defRPr/>
            </a:pPr>
            <a:endParaRPr lang="zh-CN" altLang="en-US" dirty="0"/>
          </a:p>
          <a:p>
            <a:pPr marL="0" lvl="0" indent="0">
              <a:buNone/>
              <a:defRPr/>
            </a:pPr>
            <a:endParaRPr lang="en-US" altLang="zh-CN" dirty="0"/>
          </a:p>
        </p:txBody>
      </p:sp>
    </p:spTree>
    <p:extLst>
      <p:ext uri="{BB962C8B-B14F-4D97-AF65-F5344CB8AC3E}">
        <p14:creationId xmlns:p14="http://schemas.microsoft.com/office/powerpoint/2010/main" val="15785541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02AB2-F588-C47F-4F82-E4D678454FEC}"/>
            </a:ext>
          </a:extLst>
        </p:cNvPr>
        <p:cNvGrpSpPr/>
        <p:nvPr/>
      </p:nvGrpSpPr>
      <p:grpSpPr>
        <a:xfrm>
          <a:off x="0" y="0"/>
          <a:ext cx="0" cy="0"/>
          <a:chOff x="0" y="0"/>
          <a:chExt cx="0" cy="0"/>
        </a:xfrm>
      </p:grpSpPr>
      <p:sp>
        <p:nvSpPr>
          <p:cNvPr id="23" name="Text Box 7">
            <a:extLst>
              <a:ext uri="{FF2B5EF4-FFF2-40B4-BE49-F238E27FC236}">
                <a16:creationId xmlns:a16="http://schemas.microsoft.com/office/drawing/2014/main" id="{64D77A46-BB03-4607-CF49-64A66537646A}"/>
              </a:ext>
            </a:extLst>
          </p:cNvPr>
          <p:cNvSpPr txBox="1">
            <a:spLocks noChangeArrowheads="1"/>
          </p:cNvSpPr>
          <p:nvPr/>
        </p:nvSpPr>
        <p:spPr bwMode="auto">
          <a:xfrm>
            <a:off x="3489906" y="2381085"/>
            <a:ext cx="62927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zh-CN"/>
            </a:defPPr>
            <a:lvl1pPr algn="ctr">
              <a:buClr>
                <a:srgbClr val="002060"/>
              </a:buClr>
              <a:buSzPct val="105000"/>
              <a:defRPr sz="4400" b="1">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defRPr>
            </a:lvl1pPr>
            <a:lvl2pPr marL="742950" indent="-285750" eaLnBrk="0" hangingPunct="0">
              <a:defRPr sz="2400">
                <a:latin typeface="Arial" panose="020B0604020202020204" pitchFamily="34" charset="0"/>
                <a:ea typeface="宋体" panose="02010600030101010101" pitchFamily="2" charset="-122"/>
              </a:defRPr>
            </a:lvl2pPr>
            <a:lvl3pPr marL="1143000" indent="-228600" eaLnBrk="0" hangingPunct="0">
              <a:defRPr sz="2400">
                <a:latin typeface="Arial" panose="020B0604020202020204" pitchFamily="34" charset="0"/>
                <a:ea typeface="宋体" panose="02010600030101010101" pitchFamily="2" charset="-122"/>
              </a:defRPr>
            </a:lvl3pPr>
            <a:lvl4pPr marL="1600200" indent="-228600" eaLnBrk="0" hangingPunct="0">
              <a:defRPr sz="2400">
                <a:latin typeface="Arial" panose="020B0604020202020204" pitchFamily="34" charset="0"/>
                <a:ea typeface="宋体" panose="02010600030101010101" pitchFamily="2" charset="-122"/>
              </a:defRPr>
            </a:lvl4pPr>
            <a:lvl5pPr marL="2057400" indent="-228600" eaLnBrk="0" hangingPunct="0">
              <a:defRPr sz="2400">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latin typeface="Arial" panose="020B0604020202020204" pitchFamily="34" charset="0"/>
                <a:ea typeface="宋体" panose="02010600030101010101" pitchFamily="2" charset="-122"/>
              </a:defRPr>
            </a:lvl9pPr>
          </a:lstStyle>
          <a:p>
            <a:pPr>
              <a:defRPr/>
            </a:pPr>
            <a:r>
              <a:rPr lang="zh-CN" altLang="en-US" sz="4000" dirty="0">
                <a:solidFill>
                  <a:srgbClr val="0084CF"/>
                </a:solidFill>
              </a:rPr>
              <a:t>一元线性回归</a:t>
            </a:r>
          </a:p>
        </p:txBody>
      </p:sp>
      <p:sp>
        <p:nvSpPr>
          <p:cNvPr id="26" name="矩形 33">
            <a:extLst>
              <a:ext uri="{FF2B5EF4-FFF2-40B4-BE49-F238E27FC236}">
                <a16:creationId xmlns:a16="http://schemas.microsoft.com/office/drawing/2014/main" id="{B467E5C8-8E82-1DD8-2ECE-C60643B3B57C}"/>
              </a:ext>
            </a:extLst>
          </p:cNvPr>
          <p:cNvSpPr/>
          <p:nvPr/>
        </p:nvSpPr>
        <p:spPr>
          <a:xfrm>
            <a:off x="2306212" y="2219655"/>
            <a:ext cx="997725" cy="938442"/>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7" name="矩形 34">
            <a:extLst>
              <a:ext uri="{FF2B5EF4-FFF2-40B4-BE49-F238E27FC236}">
                <a16:creationId xmlns:a16="http://schemas.microsoft.com/office/drawing/2014/main" id="{2FC051A5-8B76-EC79-7A2A-E0028CD6A158}"/>
              </a:ext>
            </a:extLst>
          </p:cNvPr>
          <p:cNvSpPr/>
          <p:nvPr/>
        </p:nvSpPr>
        <p:spPr>
          <a:xfrm>
            <a:off x="2396223" y="2304318"/>
            <a:ext cx="817703" cy="76911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rPr>
              <a:t>01</a:t>
            </a:r>
            <a:endParaRPr lang="zh-CN" altLang="en-US" sz="3600" dirty="0">
              <a:solidFill>
                <a:prstClr val="white"/>
              </a:solidFill>
              <a:latin typeface="Impact" panose="020B0806030902050204" pitchFamily="34" charset="0"/>
              <a:ea typeface="等线" panose="02010600030101010101" pitchFamily="2" charset="-122"/>
            </a:endParaRPr>
          </a:p>
        </p:txBody>
      </p:sp>
      <p:cxnSp>
        <p:nvCxnSpPr>
          <p:cNvPr id="25" name="直接连接符 5">
            <a:extLst>
              <a:ext uri="{FF2B5EF4-FFF2-40B4-BE49-F238E27FC236}">
                <a16:creationId xmlns:a16="http://schemas.microsoft.com/office/drawing/2014/main" id="{17DA85B6-9E55-59CE-3265-155D033DF411}"/>
              </a:ext>
            </a:extLst>
          </p:cNvPr>
          <p:cNvCxnSpPr>
            <a:stCxn id="26" idx="2"/>
          </p:cNvCxnSpPr>
          <p:nvPr/>
        </p:nvCxnSpPr>
        <p:spPr>
          <a:xfrm>
            <a:off x="2805074" y="3158097"/>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nvGrpSpPr>
          <p:cNvPr id="5" name="组合 9">
            <a:extLst>
              <a:ext uri="{FF2B5EF4-FFF2-40B4-BE49-F238E27FC236}">
                <a16:creationId xmlns:a16="http://schemas.microsoft.com/office/drawing/2014/main" id="{9DDBC36D-9187-6868-CE3E-6590B44C82A1}"/>
              </a:ext>
            </a:extLst>
          </p:cNvPr>
          <p:cNvGrpSpPr/>
          <p:nvPr/>
        </p:nvGrpSpPr>
        <p:grpSpPr>
          <a:xfrm>
            <a:off x="2306212" y="3362629"/>
            <a:ext cx="7579576" cy="938442"/>
            <a:chOff x="2734890" y="3810985"/>
            <a:chExt cx="7430257" cy="978068"/>
          </a:xfrm>
        </p:grpSpPr>
        <p:grpSp>
          <p:nvGrpSpPr>
            <p:cNvPr id="17" name="组合 26">
              <a:extLst>
                <a:ext uri="{FF2B5EF4-FFF2-40B4-BE49-F238E27FC236}">
                  <a16:creationId xmlns:a16="http://schemas.microsoft.com/office/drawing/2014/main" id="{003EEE3F-A0C1-EAF7-8528-8CA5988FCECD}"/>
                </a:ext>
              </a:extLst>
            </p:cNvPr>
            <p:cNvGrpSpPr/>
            <p:nvPr/>
          </p:nvGrpSpPr>
          <p:grpSpPr>
            <a:xfrm>
              <a:off x="2734890" y="3810985"/>
              <a:ext cx="7357638" cy="978068"/>
              <a:chOff x="3382706" y="3231661"/>
              <a:chExt cx="7357638" cy="978068"/>
            </a:xfrm>
          </p:grpSpPr>
          <p:sp>
            <p:nvSpPr>
              <p:cNvPr id="19" name="Text Box 7">
                <a:extLst>
                  <a:ext uri="{FF2B5EF4-FFF2-40B4-BE49-F238E27FC236}">
                    <a16:creationId xmlns:a16="http://schemas.microsoft.com/office/drawing/2014/main" id="{6603FB96-5A54-1920-9F8D-E8B86F91C254}"/>
                  </a:ext>
                </a:extLst>
              </p:cNvPr>
              <p:cNvSpPr txBox="1">
                <a:spLocks noChangeArrowheads="1"/>
              </p:cNvSpPr>
              <p:nvPr/>
            </p:nvSpPr>
            <p:spPr bwMode="auto">
              <a:xfrm>
                <a:off x="4543081" y="3399907"/>
                <a:ext cx="6197263"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rPr>
                  <a:t>一元线性回归实践案例</a:t>
                </a:r>
              </a:p>
            </p:txBody>
          </p:sp>
          <p:grpSp>
            <p:nvGrpSpPr>
              <p:cNvPr id="20" name="组合 12">
                <a:extLst>
                  <a:ext uri="{FF2B5EF4-FFF2-40B4-BE49-F238E27FC236}">
                    <a16:creationId xmlns:a16="http://schemas.microsoft.com/office/drawing/2014/main" id="{9893E31C-DC00-A2C3-9DD7-F86F2F674690}"/>
                  </a:ext>
                </a:extLst>
              </p:cNvPr>
              <p:cNvGrpSpPr/>
              <p:nvPr/>
            </p:nvGrpSpPr>
            <p:grpSpPr>
              <a:xfrm>
                <a:off x="3382706" y="3231661"/>
                <a:ext cx="978070" cy="978068"/>
                <a:chOff x="2051720" y="1381964"/>
                <a:chExt cx="1152128" cy="1152128"/>
              </a:xfrm>
            </p:grpSpPr>
            <p:sp>
              <p:nvSpPr>
                <p:cNvPr id="21" name="矩形 29">
                  <a:extLst>
                    <a:ext uri="{FF2B5EF4-FFF2-40B4-BE49-F238E27FC236}">
                      <a16:creationId xmlns:a16="http://schemas.microsoft.com/office/drawing/2014/main" id="{A237B816-0904-6EFA-9558-D25D45D43CE0}"/>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2" name="矩形 30">
                  <a:extLst>
                    <a:ext uri="{FF2B5EF4-FFF2-40B4-BE49-F238E27FC236}">
                      <a16:creationId xmlns:a16="http://schemas.microsoft.com/office/drawing/2014/main" id="{7702CD4D-E7C0-070C-C95E-346257D19074}"/>
                    </a:ext>
                  </a:extLst>
                </p:cNvPr>
                <p:cNvSpPr/>
                <p:nvPr/>
              </p:nvSpPr>
              <p:spPr>
                <a:xfrm>
                  <a:off x="2155661" y="1485905"/>
                  <a:ext cx="944247" cy="94424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02</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grpSp>
        </p:grpSp>
        <p:cxnSp>
          <p:nvCxnSpPr>
            <p:cNvPr id="18" name="直接连接符 43">
              <a:extLst>
                <a:ext uri="{FF2B5EF4-FFF2-40B4-BE49-F238E27FC236}">
                  <a16:creationId xmlns:a16="http://schemas.microsoft.com/office/drawing/2014/main" id="{23C68AE2-FB85-A5AE-7BB2-6B6F88C52481}"/>
                </a:ext>
              </a:extLst>
            </p:cNvPr>
            <p:cNvCxnSpPr>
              <a:stCxn id="21" idx="2"/>
            </p:cNvCxnSpPr>
            <p:nvPr/>
          </p:nvCxnSpPr>
          <p:spPr>
            <a:xfrm>
              <a:off x="3223924" y="4789053"/>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grpSp>
        <p:nvGrpSpPr>
          <p:cNvPr id="7" name="组合 10">
            <a:extLst>
              <a:ext uri="{FF2B5EF4-FFF2-40B4-BE49-F238E27FC236}">
                <a16:creationId xmlns:a16="http://schemas.microsoft.com/office/drawing/2014/main" id="{04A7A585-1AE9-705C-A856-3047B5FAB2EC}"/>
              </a:ext>
            </a:extLst>
          </p:cNvPr>
          <p:cNvGrpSpPr/>
          <p:nvPr/>
        </p:nvGrpSpPr>
        <p:grpSpPr>
          <a:xfrm>
            <a:off x="2306212" y="4505603"/>
            <a:ext cx="7579576" cy="938442"/>
            <a:chOff x="2734890" y="5002222"/>
            <a:chExt cx="7430257" cy="978068"/>
          </a:xfrm>
        </p:grpSpPr>
        <p:grpSp>
          <p:nvGrpSpPr>
            <p:cNvPr id="8" name="组合 35">
              <a:extLst>
                <a:ext uri="{FF2B5EF4-FFF2-40B4-BE49-F238E27FC236}">
                  <a16:creationId xmlns:a16="http://schemas.microsoft.com/office/drawing/2014/main" id="{43AC44A7-DA81-1860-7BA3-D2D5B8901CBE}"/>
                </a:ext>
              </a:extLst>
            </p:cNvPr>
            <p:cNvGrpSpPr/>
            <p:nvPr/>
          </p:nvGrpSpPr>
          <p:grpSpPr>
            <a:xfrm>
              <a:off x="2734890" y="5002222"/>
              <a:ext cx="7329156" cy="978068"/>
              <a:chOff x="3382706" y="3231661"/>
              <a:chExt cx="7329156" cy="978068"/>
            </a:xfrm>
          </p:grpSpPr>
          <p:sp>
            <p:nvSpPr>
              <p:cNvPr id="13" name="Text Box 7">
                <a:extLst>
                  <a:ext uri="{FF2B5EF4-FFF2-40B4-BE49-F238E27FC236}">
                    <a16:creationId xmlns:a16="http://schemas.microsoft.com/office/drawing/2014/main" id="{07FE3D13-8BCB-4D8B-24D1-7420A8DB30E0}"/>
                  </a:ext>
                </a:extLst>
              </p:cNvPr>
              <p:cNvSpPr txBox="1">
                <a:spLocks noChangeArrowheads="1"/>
              </p:cNvSpPr>
              <p:nvPr/>
            </p:nvSpPr>
            <p:spPr bwMode="auto">
              <a:xfrm>
                <a:off x="4543081" y="3399907"/>
                <a:ext cx="6168781"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b="1" dirty="0">
                    <a:solidFill>
                      <a:srgbClr val="0084CF"/>
                    </a:solidFill>
                    <a:latin typeface="微软雅黑" panose="020B0503020204020204" pitchFamily="34" charset="-122"/>
                    <a:ea typeface="微软雅黑" panose="020B0503020204020204" pitchFamily="34" charset="-122"/>
                  </a:rPr>
                  <a:t>多元线性回归</a:t>
                </a:r>
                <a:endPar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endParaRPr>
              </a:p>
            </p:txBody>
          </p:sp>
          <p:grpSp>
            <p:nvGrpSpPr>
              <p:cNvPr id="14" name="组合 12">
                <a:extLst>
                  <a:ext uri="{FF2B5EF4-FFF2-40B4-BE49-F238E27FC236}">
                    <a16:creationId xmlns:a16="http://schemas.microsoft.com/office/drawing/2014/main" id="{757610F3-8A12-9F51-A341-73131D536E05}"/>
                  </a:ext>
                </a:extLst>
              </p:cNvPr>
              <p:cNvGrpSpPr/>
              <p:nvPr/>
            </p:nvGrpSpPr>
            <p:grpSpPr>
              <a:xfrm>
                <a:off x="3382706" y="3231661"/>
                <a:ext cx="978070" cy="978068"/>
                <a:chOff x="2051720" y="1381964"/>
                <a:chExt cx="1152128" cy="1152128"/>
              </a:xfrm>
            </p:grpSpPr>
            <p:sp>
              <p:nvSpPr>
                <p:cNvPr id="15" name="矩形 41">
                  <a:extLst>
                    <a:ext uri="{FF2B5EF4-FFF2-40B4-BE49-F238E27FC236}">
                      <a16:creationId xmlns:a16="http://schemas.microsoft.com/office/drawing/2014/main" id="{1BC13B3D-906D-9A98-9AEB-C08BBD8B2260}"/>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sng"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 name="矩形 42">
                  <a:extLst>
                    <a:ext uri="{FF2B5EF4-FFF2-40B4-BE49-F238E27FC236}">
                      <a16:creationId xmlns:a16="http://schemas.microsoft.com/office/drawing/2014/main" id="{350FEB49-DA09-30FD-9938-21D18EED6033}"/>
                    </a:ext>
                  </a:extLst>
                </p:cNvPr>
                <p:cNvSpPr/>
                <p:nvPr/>
              </p:nvSpPr>
              <p:spPr>
                <a:xfrm>
                  <a:off x="2155661" y="1485905"/>
                  <a:ext cx="944247" cy="94424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03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grpSp>
        </p:grpSp>
        <p:cxnSp>
          <p:nvCxnSpPr>
            <p:cNvPr id="12" name="直接连接符 45">
              <a:extLst>
                <a:ext uri="{FF2B5EF4-FFF2-40B4-BE49-F238E27FC236}">
                  <a16:creationId xmlns:a16="http://schemas.microsoft.com/office/drawing/2014/main" id="{32E02B77-90BC-0374-FA8F-1F20FE03B625}"/>
                </a:ext>
              </a:extLst>
            </p:cNvPr>
            <p:cNvCxnSpPr>
              <a:stCxn id="15" idx="2"/>
            </p:cNvCxnSpPr>
            <p:nvPr/>
          </p:nvCxnSpPr>
          <p:spPr>
            <a:xfrm>
              <a:off x="3223924" y="5980290"/>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sp>
        <p:nvSpPr>
          <p:cNvPr id="9" name="Title 1">
            <a:extLst>
              <a:ext uri="{FF2B5EF4-FFF2-40B4-BE49-F238E27FC236}">
                <a16:creationId xmlns:a16="http://schemas.microsoft.com/office/drawing/2014/main" id="{58139CF1-B5B5-4651-0C53-A065BE5A3A6C}"/>
              </a:ext>
            </a:extLst>
          </p:cNvPr>
          <p:cNvSpPr txBox="1">
            <a:spLocks/>
          </p:cNvSpPr>
          <p:nvPr/>
        </p:nvSpPr>
        <p:spPr>
          <a:xfrm>
            <a:off x="1371600" y="419621"/>
            <a:ext cx="9448800" cy="133989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r>
              <a:rPr lang="zh-CN" altLang="en-US" b="0" dirty="0">
                <a:solidFill>
                  <a:srgbClr val="FD5C0C"/>
                </a:solidFill>
                <a:effectLst/>
                <a:latin typeface="华光综艺_CNKI" panose="02000500000000000000" pitchFamily="2" charset="-122"/>
                <a:ea typeface="华光综艺_CNKI" panose="02000500000000000000" pitchFamily="2" charset="-122"/>
              </a:rPr>
              <a:t>汇报提纲</a:t>
            </a:r>
            <a:endParaRPr lang="en-US" b="0" dirty="0">
              <a:solidFill>
                <a:schemeClr val="bg1"/>
              </a:solidFill>
              <a:effectLst/>
              <a:latin typeface="华光综艺_CNKI" panose="02000500000000000000" pitchFamily="2" charset="-122"/>
              <a:ea typeface="华光综艺_CNKI" panose="02000500000000000000" pitchFamily="2" charset="-122"/>
            </a:endParaRPr>
          </a:p>
        </p:txBody>
      </p:sp>
      <p:pic>
        <p:nvPicPr>
          <p:cNvPr id="3" name="Picture 2" descr="A logo with dots and lines&#10;&#10;Description automatically generated">
            <a:extLst>
              <a:ext uri="{FF2B5EF4-FFF2-40B4-BE49-F238E27FC236}">
                <a16:creationId xmlns:a16="http://schemas.microsoft.com/office/drawing/2014/main" id="{D28BB48E-BFF2-2322-16B5-100B271FEE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p:blipFill>
        <p:spPr>
          <a:xfrm>
            <a:off x="11471423" y="93711"/>
            <a:ext cx="588328" cy="453368"/>
          </a:xfrm>
          <a:prstGeom prst="rect">
            <a:avLst/>
          </a:prstGeom>
        </p:spPr>
      </p:pic>
      <p:sp>
        <p:nvSpPr>
          <p:cNvPr id="34" name="Text Box 7">
            <a:extLst>
              <a:ext uri="{FF2B5EF4-FFF2-40B4-BE49-F238E27FC236}">
                <a16:creationId xmlns:a16="http://schemas.microsoft.com/office/drawing/2014/main" id="{69C59AD8-04CD-0D2C-75E7-FC142B4B7719}"/>
              </a:ext>
            </a:extLst>
          </p:cNvPr>
          <p:cNvSpPr txBox="1">
            <a:spLocks noChangeArrowheads="1"/>
          </p:cNvSpPr>
          <p:nvPr/>
        </p:nvSpPr>
        <p:spPr bwMode="auto">
          <a:xfrm>
            <a:off x="3518961" y="5810006"/>
            <a:ext cx="62927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b="1" dirty="0">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rPr>
              <a:t>多元线性回归实践案例</a:t>
            </a:r>
          </a:p>
        </p:txBody>
      </p:sp>
      <p:sp>
        <p:nvSpPr>
          <p:cNvPr id="36" name="矩形 41">
            <a:extLst>
              <a:ext uri="{FF2B5EF4-FFF2-40B4-BE49-F238E27FC236}">
                <a16:creationId xmlns:a16="http://schemas.microsoft.com/office/drawing/2014/main" id="{4FA2DC93-31AB-B227-AEAF-0AD777AEA002}"/>
              </a:ext>
            </a:extLst>
          </p:cNvPr>
          <p:cNvSpPr/>
          <p:nvPr/>
        </p:nvSpPr>
        <p:spPr>
          <a:xfrm>
            <a:off x="2335267" y="5648576"/>
            <a:ext cx="997725" cy="938442"/>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sng"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8" name="矩形 42">
            <a:extLst>
              <a:ext uri="{FF2B5EF4-FFF2-40B4-BE49-F238E27FC236}">
                <a16:creationId xmlns:a16="http://schemas.microsoft.com/office/drawing/2014/main" id="{0919CD90-C67F-F31C-F1F1-17AA0C66C373}"/>
              </a:ext>
            </a:extLst>
          </p:cNvPr>
          <p:cNvSpPr/>
          <p:nvPr/>
        </p:nvSpPr>
        <p:spPr>
          <a:xfrm>
            <a:off x="2425278" y="5733239"/>
            <a:ext cx="817703" cy="769116"/>
          </a:xfrm>
          <a:prstGeom prst="rect">
            <a:avLst/>
          </a:prstGeom>
          <a:gradFill>
            <a:gsLst>
              <a:gs pos="417">
                <a:srgbClr val="FFC000"/>
              </a:gs>
              <a:gs pos="99000">
                <a:srgbClr val="C00000"/>
              </a:gs>
            </a:gsLst>
            <a:lin ang="2700000" scaled="0"/>
          </a:gradFill>
          <a:ln w="1270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prstClr val="white"/>
                </a:solidFill>
                <a:latin typeface="Impact" panose="020B0806030902050204" pitchFamily="34" charset="0"/>
                <a:ea typeface="等线" panose="02010600030101010101" pitchFamily="2" charset="-122"/>
              </a:rPr>
              <a:t>04</a:t>
            </a:r>
            <a:endParaRPr lang="zh-CN" altLang="en-US" sz="3600" dirty="0">
              <a:solidFill>
                <a:prstClr val="white"/>
              </a:solidFill>
              <a:latin typeface="Impact" panose="020B0806030902050204" pitchFamily="34" charset="0"/>
              <a:ea typeface="等线" panose="02010600030101010101" pitchFamily="2" charset="-122"/>
            </a:endParaRPr>
          </a:p>
        </p:txBody>
      </p:sp>
      <p:cxnSp>
        <p:nvCxnSpPr>
          <p:cNvPr id="33" name="直接连接符 45">
            <a:extLst>
              <a:ext uri="{FF2B5EF4-FFF2-40B4-BE49-F238E27FC236}">
                <a16:creationId xmlns:a16="http://schemas.microsoft.com/office/drawing/2014/main" id="{41A1DEA2-1D74-76BD-8A32-15EFE1D41D94}"/>
              </a:ext>
            </a:extLst>
          </p:cNvPr>
          <p:cNvCxnSpPr>
            <a:stCxn id="36" idx="2"/>
          </p:cNvCxnSpPr>
          <p:nvPr/>
        </p:nvCxnSpPr>
        <p:spPr>
          <a:xfrm>
            <a:off x="2834129" y="6587018"/>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6548108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1BAEA-849A-7BDE-07AA-F55E80062A8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63CCEC61-2399-3D07-0730-79BBC8108E0B}"/>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实践案例：基于多元线性回归的汽车燃油效率预测</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4F2D52BA-B638-5737-8766-F4D32D6FA584}"/>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多元线性回归实践案例：</a:t>
            </a:r>
            <a:r>
              <a:rPr lang="zh-CN" altLang="en-US" dirty="0">
                <a:solidFill>
                  <a:schemeClr val="tx1"/>
                </a:solidFill>
              </a:rPr>
              <a:t>汽车燃油效率数据集</a:t>
            </a:r>
          </a:p>
        </p:txBody>
      </p:sp>
      <p:pic>
        <p:nvPicPr>
          <p:cNvPr id="4" name="图片 3">
            <a:extLst>
              <a:ext uri="{FF2B5EF4-FFF2-40B4-BE49-F238E27FC236}">
                <a16:creationId xmlns:a16="http://schemas.microsoft.com/office/drawing/2014/main" id="{672F2BD3-B74B-2836-01ED-EFD975C7D33D}"/>
              </a:ext>
            </a:extLst>
          </p:cNvPr>
          <p:cNvPicPr>
            <a:picLocks noChangeAspect="1"/>
          </p:cNvPicPr>
          <p:nvPr/>
        </p:nvPicPr>
        <p:blipFill>
          <a:blip r:embed="rId3"/>
          <a:stretch>
            <a:fillRect/>
          </a:stretch>
        </p:blipFill>
        <p:spPr>
          <a:xfrm>
            <a:off x="1276462" y="1900816"/>
            <a:ext cx="9480581" cy="4620440"/>
          </a:xfrm>
          <a:prstGeom prst="rect">
            <a:avLst/>
          </a:prstGeom>
        </p:spPr>
      </p:pic>
    </p:spTree>
    <p:extLst>
      <p:ext uri="{BB962C8B-B14F-4D97-AF65-F5344CB8AC3E}">
        <p14:creationId xmlns:p14="http://schemas.microsoft.com/office/powerpoint/2010/main" val="176771811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24482-99EC-AFB5-E8DC-E1C52CD6779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0FF716C-CC65-8050-826C-ADCD2758B81C}"/>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实践案例：基于多元线性回归的汽车燃油效率预测</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745DA348-D582-2F7E-2BD6-099C35C9706F}"/>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多元线性回归实践案例：</a:t>
            </a:r>
            <a:r>
              <a:rPr lang="zh-CN" altLang="en-US" dirty="0">
                <a:solidFill>
                  <a:schemeClr val="tx1"/>
                </a:solidFill>
              </a:rPr>
              <a:t>相关性分析</a:t>
            </a:r>
          </a:p>
        </p:txBody>
      </p:sp>
      <p:sp>
        <p:nvSpPr>
          <p:cNvPr id="8" name="文本框 7">
            <a:extLst>
              <a:ext uri="{FF2B5EF4-FFF2-40B4-BE49-F238E27FC236}">
                <a16:creationId xmlns:a16="http://schemas.microsoft.com/office/drawing/2014/main" id="{0109A47F-3955-FF49-C5D6-A8045A5651CA}"/>
              </a:ext>
            </a:extLst>
          </p:cNvPr>
          <p:cNvSpPr txBox="1"/>
          <p:nvPr/>
        </p:nvSpPr>
        <p:spPr>
          <a:xfrm>
            <a:off x="6631874" y="3717477"/>
            <a:ext cx="4910901" cy="1815882"/>
          </a:xfrm>
          <a:prstGeom prst="rect">
            <a:avLst/>
          </a:prstGeom>
          <a:noFill/>
        </p:spPr>
        <p:txBody>
          <a:bodyPr wrap="square">
            <a:spAutoFit/>
          </a:bodyPr>
          <a:lstStyle/>
          <a:p>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结果显示，燃油效率与</a:t>
            </a:r>
            <a:r>
              <a:rPr lang="zh-CN" altLang="en-US" sz="28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发动机排量、引擎气缸数、发动机马力、汽车重量</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之间的相关性较强。</a:t>
            </a:r>
          </a:p>
        </p:txBody>
      </p:sp>
      <p:sp>
        <p:nvSpPr>
          <p:cNvPr id="4" name="文本框 3">
            <a:extLst>
              <a:ext uri="{FF2B5EF4-FFF2-40B4-BE49-F238E27FC236}">
                <a16:creationId xmlns:a16="http://schemas.microsoft.com/office/drawing/2014/main" id="{0289692C-6F61-585B-BBCD-C1807F895592}"/>
              </a:ext>
            </a:extLst>
          </p:cNvPr>
          <p:cNvSpPr txBox="1"/>
          <p:nvPr/>
        </p:nvSpPr>
        <p:spPr>
          <a:xfrm>
            <a:off x="373649" y="1936391"/>
            <a:ext cx="11636842" cy="523220"/>
          </a:xfrm>
          <a:prstGeom prst="rect">
            <a:avLst/>
          </a:prstGeom>
          <a:noFill/>
        </p:spPr>
        <p:txBody>
          <a:bodyPr wrap="square">
            <a:spAutoFit/>
          </a:bodyPr>
          <a:lstStyle/>
          <a:p>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使用</a:t>
            </a:r>
            <a:r>
              <a:rPr lang="en-US"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seaborn</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库中的</a:t>
            </a:r>
            <a:r>
              <a:rPr lang="en-US" altLang="zh-CN" sz="28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.heatmap</a:t>
            </a:r>
            <a:r>
              <a:rPr lang="zh-CN" altLang="en-US" sz="28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函数</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绘制热力图展示各变量间的相关程度</a:t>
            </a:r>
            <a:r>
              <a:rPr lang="zh-CN"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a:t>
            </a:r>
            <a:endPar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endParaRPr>
          </a:p>
        </p:txBody>
      </p:sp>
      <p:pic>
        <p:nvPicPr>
          <p:cNvPr id="5" name="图形 3">
            <a:extLst>
              <a:ext uri="{FF2B5EF4-FFF2-40B4-BE49-F238E27FC236}">
                <a16:creationId xmlns:a16="http://schemas.microsoft.com/office/drawing/2014/main" id="{F1BB947F-537F-6474-874D-CAB3EDD0F01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0577" y="2641034"/>
            <a:ext cx="4347775" cy="3968768"/>
          </a:xfrm>
          <a:prstGeom prst="rect">
            <a:avLst/>
          </a:prstGeom>
        </p:spPr>
      </p:pic>
    </p:spTree>
    <p:extLst>
      <p:ext uri="{BB962C8B-B14F-4D97-AF65-F5344CB8AC3E}">
        <p14:creationId xmlns:p14="http://schemas.microsoft.com/office/powerpoint/2010/main" val="921163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1BFE4-EC13-6F05-F591-D9FCF0101AA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E1A42935-0896-F674-AEC2-7FC085FBB380}"/>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实践案例：基于多元线性回归的汽车燃油效率预测</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13D6E735-740E-3775-2202-146EB446AFF5}"/>
              </a:ext>
            </a:extLst>
          </p:cNvPr>
          <p:cNvSpPr txBox="1"/>
          <p:nvPr/>
        </p:nvSpPr>
        <p:spPr>
          <a:xfrm>
            <a:off x="487016" y="1144455"/>
            <a:ext cx="11125863"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多元线性回归实践案例：</a:t>
            </a:r>
            <a:r>
              <a:rPr lang="zh-CN" altLang="en-US" dirty="0">
                <a:solidFill>
                  <a:schemeClr val="tx1"/>
                </a:solidFill>
              </a:rPr>
              <a:t>构建模型</a:t>
            </a:r>
            <a:r>
              <a:rPr lang="en-US" altLang="zh-CN" dirty="0">
                <a:solidFill>
                  <a:schemeClr val="tx1"/>
                </a:solidFill>
              </a:rPr>
              <a:t>—</a:t>
            </a:r>
            <a:r>
              <a:rPr lang="zh-CN" altLang="en-US" dirty="0">
                <a:solidFill>
                  <a:schemeClr val="tx1"/>
                </a:solidFill>
              </a:rPr>
              <a:t>采用向后剔除的方法</a:t>
            </a:r>
          </a:p>
        </p:txBody>
      </p:sp>
      <p:sp>
        <p:nvSpPr>
          <p:cNvPr id="8" name="文本框 7">
            <a:extLst>
              <a:ext uri="{FF2B5EF4-FFF2-40B4-BE49-F238E27FC236}">
                <a16:creationId xmlns:a16="http://schemas.microsoft.com/office/drawing/2014/main" id="{AC5A6E0A-83FF-67EF-1186-844F108DFBCA}"/>
              </a:ext>
            </a:extLst>
          </p:cNvPr>
          <p:cNvSpPr txBox="1"/>
          <p:nvPr/>
        </p:nvSpPr>
        <p:spPr>
          <a:xfrm>
            <a:off x="1921191" y="5376999"/>
            <a:ext cx="8868729" cy="830997"/>
          </a:xfrm>
          <a:prstGeom prst="rect">
            <a:avLst/>
          </a:prstGeom>
          <a:noFill/>
        </p:spPr>
        <p:txBody>
          <a:bodyPr wrap="square">
            <a:spAutoFit/>
          </a:bodyPr>
          <a:lstStyle/>
          <a:p>
            <a:r>
              <a:rPr lang="zh-CN" altLang="en-US" sz="2400" b="1" spc="50" dirty="0">
                <a:ln w="11430">
                  <a:noFill/>
                </a:ln>
                <a:solidFill>
                  <a:srgbClr val="C00000"/>
                </a:solidFill>
                <a:latin typeface="Arial" panose="020B0604020202020204" pitchFamily="34" charset="0"/>
                <a:ea typeface="微软雅黑" panose="020B0503020204020204" pitchFamily="34" charset="-122"/>
                <a:cs typeface="Arial" panose="020B0604020202020204" pitchFamily="34" charset="0"/>
              </a:rPr>
              <a:t>最终模型</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：因变量为</a:t>
            </a:r>
            <a:r>
              <a:rPr lang="zh-CN" altLang="en-US" sz="24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燃油效率</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；自变量为</a:t>
            </a:r>
            <a:r>
              <a:rPr lang="zh-CN" altLang="en-US" sz="24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发动机排量、发动机马力、汽车重量、生产年份和产地</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a:t>
            </a:r>
          </a:p>
        </p:txBody>
      </p:sp>
      <p:sp>
        <p:nvSpPr>
          <p:cNvPr id="4" name="文本框 3">
            <a:extLst>
              <a:ext uri="{FF2B5EF4-FFF2-40B4-BE49-F238E27FC236}">
                <a16:creationId xmlns:a16="http://schemas.microsoft.com/office/drawing/2014/main" id="{590C9464-FC53-A6A4-181D-4DCB36F40C9C}"/>
              </a:ext>
            </a:extLst>
          </p:cNvPr>
          <p:cNvSpPr txBox="1"/>
          <p:nvPr/>
        </p:nvSpPr>
        <p:spPr>
          <a:xfrm>
            <a:off x="666257" y="1922812"/>
            <a:ext cx="11012155" cy="830997"/>
          </a:xfrm>
          <a:prstGeom prst="rect">
            <a:avLst/>
          </a:prstGeom>
          <a:noFill/>
        </p:spPr>
        <p:txBody>
          <a:bodyPr wrap="square">
            <a:spAutoFit/>
          </a:bodyPr>
          <a:lstStyle/>
          <a:p>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选取</a:t>
            </a:r>
            <a:r>
              <a:rPr lang="zh-CN" altLang="en-US" sz="24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燃油效率</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为因变量，其余变量为自变量，建立</a:t>
            </a:r>
            <a:r>
              <a:rPr lang="zh-CN" altLang="en-US" sz="24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全模型</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（包含所有自变量的模型）并输出模型摘要信息</a:t>
            </a:r>
            <a:r>
              <a:rPr lang="zh-CN" altLang="zh-CN" sz="2400" b="1" spc="50" dirty="0">
                <a:ln w="11430">
                  <a:noFill/>
                </a:ln>
                <a:latin typeface="Arial" panose="020B0604020202020204" pitchFamily="34" charset="0"/>
                <a:ea typeface="微软雅黑" panose="020B0503020204020204" pitchFamily="34" charset="-122"/>
                <a:cs typeface="Arial" panose="020B0604020202020204" pitchFamily="34" charset="0"/>
              </a:rPr>
              <a:t>。</a:t>
            </a:r>
            <a:endPar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endParaRPr>
          </a:p>
        </p:txBody>
      </p:sp>
      <p:graphicFrame>
        <p:nvGraphicFramePr>
          <p:cNvPr id="6" name="对象 5">
            <a:extLst>
              <a:ext uri="{FF2B5EF4-FFF2-40B4-BE49-F238E27FC236}">
                <a16:creationId xmlns:a16="http://schemas.microsoft.com/office/drawing/2014/main" id="{67D65E63-63D5-534B-D836-7449E1F2D67C}"/>
              </a:ext>
            </a:extLst>
          </p:cNvPr>
          <p:cNvGraphicFramePr>
            <a:graphicFrameLocks noChangeAspect="1"/>
          </p:cNvGraphicFramePr>
          <p:nvPr>
            <p:extLst>
              <p:ext uri="{D42A27DB-BD31-4B8C-83A1-F6EECF244321}">
                <p14:modId xmlns:p14="http://schemas.microsoft.com/office/powerpoint/2010/main" val="1390477828"/>
              </p:ext>
            </p:extLst>
          </p:nvPr>
        </p:nvGraphicFramePr>
        <p:xfrm>
          <a:off x="4972782" y="3364842"/>
          <a:ext cx="1402128" cy="403352"/>
        </p:xfrm>
        <a:graphic>
          <a:graphicData uri="http://schemas.openxmlformats.org/presentationml/2006/ole">
            <mc:AlternateContent xmlns:mc="http://schemas.openxmlformats.org/markup-compatibility/2006">
              <mc:Choice xmlns:v="urn:schemas-microsoft-com:vml" Requires="v">
                <p:oleObj name="Equation" r:id="rId3" imgW="695212" imgH="200167" progId="Equation.DSMT4">
                  <p:embed/>
                </p:oleObj>
              </mc:Choice>
              <mc:Fallback>
                <p:oleObj name="Equation" r:id="rId3" imgW="695212" imgH="200167" progId="Equation.DSMT4">
                  <p:embed/>
                  <p:pic>
                    <p:nvPicPr>
                      <p:cNvPr id="0" name=""/>
                      <p:cNvPicPr/>
                      <p:nvPr/>
                    </p:nvPicPr>
                    <p:blipFill>
                      <a:blip r:embed="rId4"/>
                      <a:stretch>
                        <a:fillRect/>
                      </a:stretch>
                    </p:blipFill>
                    <p:spPr>
                      <a:xfrm>
                        <a:off x="4972782" y="3364842"/>
                        <a:ext cx="1402128" cy="403352"/>
                      </a:xfrm>
                      <a:prstGeom prst="rect">
                        <a:avLst/>
                      </a:prstGeom>
                    </p:spPr>
                  </p:pic>
                </p:oleObj>
              </mc:Fallback>
            </mc:AlternateContent>
          </a:graphicData>
        </a:graphic>
      </p:graphicFrame>
      <p:cxnSp>
        <p:nvCxnSpPr>
          <p:cNvPr id="7" name="直接箭头连接符 6">
            <a:extLst>
              <a:ext uri="{FF2B5EF4-FFF2-40B4-BE49-F238E27FC236}">
                <a16:creationId xmlns:a16="http://schemas.microsoft.com/office/drawing/2014/main" id="{9AA51764-F13D-D2D3-F77A-F7182FB6BF4D}"/>
              </a:ext>
            </a:extLst>
          </p:cNvPr>
          <p:cNvCxnSpPr>
            <a:cxnSpLocks/>
          </p:cNvCxnSpPr>
          <p:nvPr/>
        </p:nvCxnSpPr>
        <p:spPr>
          <a:xfrm>
            <a:off x="5673846" y="2753809"/>
            <a:ext cx="0" cy="580926"/>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1" name="文本框 10">
            <a:extLst>
              <a:ext uri="{FF2B5EF4-FFF2-40B4-BE49-F238E27FC236}">
                <a16:creationId xmlns:a16="http://schemas.microsoft.com/office/drawing/2014/main" id="{937D234E-F358-3F2C-FB4F-7AE5F905E808}"/>
              </a:ext>
            </a:extLst>
          </p:cNvPr>
          <p:cNvSpPr txBox="1"/>
          <p:nvPr/>
        </p:nvSpPr>
        <p:spPr>
          <a:xfrm>
            <a:off x="806196" y="3754095"/>
            <a:ext cx="10579608" cy="461665"/>
          </a:xfrm>
          <a:prstGeom prst="rect">
            <a:avLst/>
          </a:prstGeom>
          <a:noFill/>
        </p:spPr>
        <p:txBody>
          <a:bodyPr wrap="square">
            <a:spAutoFit/>
          </a:bodyPr>
          <a:lstStyle/>
          <a:p>
            <a:r>
              <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rPr>
              <a:t>F</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检验结果显著，引擎气缸数、发动机马力和汽车加速度的</a:t>
            </a:r>
            <a:r>
              <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rPr>
              <a:t>t</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检验结果不显著</a:t>
            </a:r>
          </a:p>
        </p:txBody>
      </p:sp>
      <p:cxnSp>
        <p:nvCxnSpPr>
          <p:cNvPr id="12" name="直接箭头连接符 11">
            <a:extLst>
              <a:ext uri="{FF2B5EF4-FFF2-40B4-BE49-F238E27FC236}">
                <a16:creationId xmlns:a16="http://schemas.microsoft.com/office/drawing/2014/main" id="{98D83D21-C42A-FCAC-11FA-D37344984DFB}"/>
              </a:ext>
            </a:extLst>
          </p:cNvPr>
          <p:cNvCxnSpPr>
            <a:cxnSpLocks/>
          </p:cNvCxnSpPr>
          <p:nvPr/>
        </p:nvCxnSpPr>
        <p:spPr>
          <a:xfrm>
            <a:off x="5673846" y="4405825"/>
            <a:ext cx="0" cy="778823"/>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5" name="文本框 14">
            <a:extLst>
              <a:ext uri="{FF2B5EF4-FFF2-40B4-BE49-F238E27FC236}">
                <a16:creationId xmlns:a16="http://schemas.microsoft.com/office/drawing/2014/main" id="{80C7220D-AC74-A583-DA0C-662AD0B955A1}"/>
              </a:ext>
            </a:extLst>
          </p:cNvPr>
          <p:cNvSpPr txBox="1"/>
          <p:nvPr/>
        </p:nvSpPr>
        <p:spPr>
          <a:xfrm>
            <a:off x="5900166" y="4529323"/>
            <a:ext cx="6094476" cy="400110"/>
          </a:xfrm>
          <a:prstGeom prst="rect">
            <a:avLst/>
          </a:prstGeom>
          <a:noFill/>
        </p:spPr>
        <p:txBody>
          <a:bodyPr wrap="square">
            <a:spAutoFit/>
          </a:bodyPr>
          <a:lstStyle/>
          <a:p>
            <a:r>
              <a:rPr lang="zh-CN" altLang="zh-CN" sz="2000" b="1" spc="50" dirty="0">
                <a:ln w="11430">
                  <a:noFill/>
                </a:ln>
                <a:latin typeface="Arial" panose="020B0604020202020204" pitchFamily="34" charset="0"/>
                <a:ea typeface="微软雅黑" panose="020B0503020204020204" pitchFamily="34" charset="-122"/>
                <a:cs typeface="Arial" panose="020B0604020202020204" pitchFamily="34" charset="0"/>
              </a:rPr>
              <a:t>逐个剔除加速度和引擎气缸数</a:t>
            </a:r>
            <a:endParaRPr lang="zh-CN" altLang="en-US" sz="2000" b="1" spc="50" dirty="0">
              <a:ln w="11430">
                <a:noFill/>
              </a:ln>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9290786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B7EB6-E4B0-43DE-ADFA-547C0169858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EDD6086D-8DD8-1846-BE15-7D991C4CC369}"/>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实践案例：基于多元线性回归的汽车燃油效率预测</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42B78CCC-AB53-6ED3-6C45-6BB0D962FD98}"/>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多元线性回归实践案例：</a:t>
            </a:r>
            <a:r>
              <a:rPr lang="zh-CN" altLang="en-US" dirty="0">
                <a:solidFill>
                  <a:schemeClr val="tx1"/>
                </a:solidFill>
              </a:rPr>
              <a:t>构建模型代码</a:t>
            </a:r>
          </a:p>
        </p:txBody>
      </p:sp>
      <p:grpSp>
        <p:nvGrpSpPr>
          <p:cNvPr id="4" name="组合 3">
            <a:extLst>
              <a:ext uri="{FF2B5EF4-FFF2-40B4-BE49-F238E27FC236}">
                <a16:creationId xmlns:a16="http://schemas.microsoft.com/office/drawing/2014/main" id="{2C9E6CE0-DE26-267A-8F18-45CA1D8F95A4}"/>
              </a:ext>
            </a:extLst>
          </p:cNvPr>
          <p:cNvGrpSpPr/>
          <p:nvPr/>
        </p:nvGrpSpPr>
        <p:grpSpPr>
          <a:xfrm>
            <a:off x="557059" y="2040724"/>
            <a:ext cx="11077882" cy="4542021"/>
            <a:chOff x="507566" y="2295144"/>
            <a:chExt cx="11077882" cy="4542021"/>
          </a:xfrm>
        </p:grpSpPr>
        <p:sp>
          <p:nvSpPr>
            <p:cNvPr id="17" name="矩形 16">
              <a:extLst>
                <a:ext uri="{FF2B5EF4-FFF2-40B4-BE49-F238E27FC236}">
                  <a16:creationId xmlns:a16="http://schemas.microsoft.com/office/drawing/2014/main" id="{AC1C7350-3476-CFEC-A275-479D489B7F8A}"/>
                </a:ext>
              </a:extLst>
            </p:cNvPr>
            <p:cNvSpPr/>
            <p:nvPr/>
          </p:nvSpPr>
          <p:spPr>
            <a:xfrm>
              <a:off x="507566" y="2295144"/>
              <a:ext cx="11077881" cy="4542021"/>
            </a:xfrm>
            <a:prstGeom prst="rect">
              <a:avLst/>
            </a:prstGeom>
            <a:solidFill>
              <a:schemeClr val="accent1">
                <a:lumMod val="20000"/>
                <a:lumOff val="80000"/>
              </a:schemeClr>
            </a:solidFill>
            <a:ln>
              <a:solidFill>
                <a:srgbClr val="006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5" name="文本框 14">
              <a:extLst>
                <a:ext uri="{FF2B5EF4-FFF2-40B4-BE49-F238E27FC236}">
                  <a16:creationId xmlns:a16="http://schemas.microsoft.com/office/drawing/2014/main" id="{AC9A5EA6-6253-C52C-FD8C-0D9BB2E9105F}"/>
                </a:ext>
              </a:extLst>
            </p:cNvPr>
            <p:cNvSpPr txBox="1"/>
            <p:nvPr/>
          </p:nvSpPr>
          <p:spPr>
            <a:xfrm>
              <a:off x="507566" y="2371953"/>
              <a:ext cx="11077882" cy="4401205"/>
            </a:xfrm>
            <a:prstGeom prst="rect">
              <a:avLst/>
            </a:prstGeom>
            <a:noFill/>
          </p:spPr>
          <p:txBody>
            <a:bodyPr wrap="square">
              <a:spAutoFit/>
            </a:bodyPr>
            <a:lstStyle/>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import pandas as pd</a:t>
              </a:r>
            </a:p>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import seaborn as </a:t>
              </a:r>
              <a:r>
                <a:rPr lang="en-US" altLang="zh-CN" sz="2000" kern="0" dirty="0" err="1">
                  <a:solidFill>
                    <a:srgbClr val="5C5C5C"/>
                  </a:solidFill>
                  <a:latin typeface="Consolas" panose="020B0609020204030204" pitchFamily="49" charset="0"/>
                  <a:ea typeface="宋体" panose="02010600030101010101" pitchFamily="2" charset="-122"/>
                </a:rPr>
                <a:t>sns</a:t>
              </a:r>
              <a:endParaRPr lang="en-US" altLang="zh-CN" sz="2000" kern="0" dirty="0">
                <a:solidFill>
                  <a:srgbClr val="5C5C5C"/>
                </a:solidFill>
                <a:latin typeface="Consolas" panose="020B0609020204030204" pitchFamily="49" charset="0"/>
                <a:ea typeface="宋体" panose="02010600030101010101" pitchFamily="2" charset="-122"/>
              </a:endParaRPr>
            </a:p>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import </a:t>
              </a:r>
              <a:r>
                <a:rPr lang="en-US" altLang="zh-CN" sz="2000" kern="0" dirty="0" err="1">
                  <a:solidFill>
                    <a:srgbClr val="5C5C5C"/>
                  </a:solidFill>
                  <a:latin typeface="Consolas" panose="020B0609020204030204" pitchFamily="49" charset="0"/>
                  <a:ea typeface="宋体" panose="02010600030101010101" pitchFamily="2" charset="-122"/>
                </a:rPr>
                <a:t>statsmodels.api</a:t>
              </a:r>
              <a:r>
                <a:rPr lang="en-US" altLang="zh-CN" sz="2000" kern="0" dirty="0">
                  <a:solidFill>
                    <a:srgbClr val="5C5C5C"/>
                  </a:solidFill>
                  <a:latin typeface="Consolas" panose="020B0609020204030204" pitchFamily="49" charset="0"/>
                  <a:ea typeface="宋体" panose="02010600030101010101" pitchFamily="2" charset="-122"/>
                </a:rPr>
                <a:t> as </a:t>
              </a:r>
              <a:r>
                <a:rPr lang="en-US" altLang="zh-CN" sz="2000" kern="0" dirty="0" err="1">
                  <a:solidFill>
                    <a:srgbClr val="5C5C5C"/>
                  </a:solidFill>
                  <a:latin typeface="Consolas" panose="020B0609020204030204" pitchFamily="49" charset="0"/>
                  <a:ea typeface="宋体" panose="02010600030101010101" pitchFamily="2" charset="-122"/>
                </a:rPr>
                <a:t>sm</a:t>
              </a:r>
              <a:endParaRPr lang="en-US" altLang="zh-CN" sz="2000" kern="0" dirty="0">
                <a:solidFill>
                  <a:srgbClr val="5C5C5C"/>
                </a:solidFill>
                <a:latin typeface="Consolas" panose="020B0609020204030204" pitchFamily="49" charset="0"/>
                <a:ea typeface="宋体" panose="02010600030101010101" pitchFamily="2" charset="-122"/>
              </a:endParaRPr>
            </a:p>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import </a:t>
              </a:r>
              <a:r>
                <a:rPr lang="en-US" altLang="zh-CN" sz="2000" kern="0" dirty="0" err="1">
                  <a:solidFill>
                    <a:srgbClr val="5C5C5C"/>
                  </a:solidFill>
                  <a:latin typeface="Consolas" panose="020B0609020204030204" pitchFamily="49" charset="0"/>
                  <a:ea typeface="宋体" panose="02010600030101010101" pitchFamily="2" charset="-122"/>
                </a:rPr>
                <a:t>matplotlib.pyplot</a:t>
              </a:r>
              <a:r>
                <a:rPr lang="en-US" altLang="zh-CN" sz="2000" kern="0" dirty="0">
                  <a:solidFill>
                    <a:srgbClr val="5C5C5C"/>
                  </a:solidFill>
                  <a:latin typeface="Consolas" panose="020B0609020204030204" pitchFamily="49" charset="0"/>
                  <a:ea typeface="宋体" panose="02010600030101010101" pitchFamily="2" charset="-122"/>
                </a:rPr>
                <a:t> as </a:t>
              </a:r>
              <a:r>
                <a:rPr lang="en-US" altLang="zh-CN" sz="2000" kern="0" dirty="0" err="1">
                  <a:solidFill>
                    <a:srgbClr val="5C5C5C"/>
                  </a:solidFill>
                  <a:latin typeface="Consolas" panose="020B0609020204030204" pitchFamily="49" charset="0"/>
                  <a:ea typeface="宋体" panose="02010600030101010101" pitchFamily="2" charset="-122"/>
                </a:rPr>
                <a:t>plt</a:t>
              </a:r>
              <a:endParaRPr lang="en-US" altLang="zh-CN" sz="2000" kern="0" dirty="0">
                <a:solidFill>
                  <a:srgbClr val="5C5C5C"/>
                </a:solidFill>
                <a:latin typeface="Consolas" panose="020B0609020204030204" pitchFamily="49" charset="0"/>
                <a:ea typeface="宋体" panose="02010600030101010101" pitchFamily="2" charset="-122"/>
              </a:endParaRPr>
            </a:p>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 </a:t>
              </a:r>
              <a:r>
                <a:rPr lang="zh-CN" altLang="en-US" sz="2000" kern="0" dirty="0">
                  <a:solidFill>
                    <a:srgbClr val="5C5C5C"/>
                  </a:solidFill>
                  <a:latin typeface="Consolas" panose="020B0609020204030204" pitchFamily="49" charset="0"/>
                  <a:ea typeface="宋体" panose="02010600030101010101" pitchFamily="2" charset="-122"/>
                </a:rPr>
                <a:t>读取数据集</a:t>
              </a:r>
            </a:p>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data = </a:t>
              </a:r>
              <a:r>
                <a:rPr lang="en-US" altLang="zh-CN" sz="2000" kern="0" dirty="0" err="1">
                  <a:solidFill>
                    <a:srgbClr val="5C5C5C"/>
                  </a:solidFill>
                  <a:latin typeface="Consolas" panose="020B0609020204030204" pitchFamily="49" charset="0"/>
                  <a:ea typeface="宋体" panose="02010600030101010101" pitchFamily="2" charset="-122"/>
                </a:rPr>
                <a:t>pd.read_csv</a:t>
              </a:r>
              <a:r>
                <a:rPr lang="en-US" altLang="zh-CN" sz="2000" kern="0" dirty="0">
                  <a:solidFill>
                    <a:srgbClr val="5C5C5C"/>
                  </a:solidFill>
                  <a:latin typeface="Consolas" panose="020B0609020204030204" pitchFamily="49" charset="0"/>
                  <a:ea typeface="宋体" panose="02010600030101010101" pitchFamily="2" charset="-122"/>
                </a:rPr>
                <a:t>('../data/auto_mpg.csv')  # </a:t>
              </a:r>
              <a:r>
                <a:rPr lang="zh-CN" altLang="en-US" sz="2000" kern="0" dirty="0">
                  <a:solidFill>
                    <a:srgbClr val="5C5C5C"/>
                  </a:solidFill>
                  <a:latin typeface="Consolas" panose="020B0609020204030204" pitchFamily="49" charset="0"/>
                  <a:ea typeface="宋体" panose="02010600030101010101" pitchFamily="2" charset="-122"/>
                </a:rPr>
                <a:t>读取数据集</a:t>
              </a:r>
            </a:p>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data = </a:t>
              </a:r>
              <a:r>
                <a:rPr lang="en-US" altLang="zh-CN" sz="2000" kern="0" dirty="0" err="1">
                  <a:solidFill>
                    <a:srgbClr val="5C5C5C"/>
                  </a:solidFill>
                  <a:latin typeface="Consolas" panose="020B0609020204030204" pitchFamily="49" charset="0"/>
                  <a:ea typeface="宋体" panose="02010600030101010101" pitchFamily="2" charset="-122"/>
                </a:rPr>
                <a:t>data.dropna</a:t>
              </a:r>
              <a:r>
                <a:rPr lang="en-US" altLang="zh-CN" sz="2000" kern="0" dirty="0">
                  <a:solidFill>
                    <a:srgbClr val="5C5C5C"/>
                  </a:solidFill>
                  <a:latin typeface="Consolas" panose="020B0609020204030204" pitchFamily="49" charset="0"/>
                  <a:ea typeface="宋体" panose="02010600030101010101" pitchFamily="2" charset="-122"/>
                </a:rPr>
                <a:t>()  # </a:t>
              </a:r>
              <a:r>
                <a:rPr lang="zh-CN" altLang="en-US" sz="2000" kern="0" dirty="0">
                  <a:solidFill>
                    <a:srgbClr val="5C5C5C"/>
                  </a:solidFill>
                  <a:latin typeface="Consolas" panose="020B0609020204030204" pitchFamily="49" charset="0"/>
                  <a:ea typeface="宋体" panose="02010600030101010101" pitchFamily="2" charset="-122"/>
                </a:rPr>
                <a:t>缺失值处理</a:t>
              </a:r>
            </a:p>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 </a:t>
              </a:r>
              <a:r>
                <a:rPr lang="zh-CN" altLang="en-US" sz="2000" kern="0" dirty="0">
                  <a:solidFill>
                    <a:srgbClr val="5C5C5C"/>
                  </a:solidFill>
                  <a:latin typeface="Consolas" panose="020B0609020204030204" pitchFamily="49" charset="0"/>
                  <a:ea typeface="宋体" panose="02010600030101010101" pitchFamily="2" charset="-122"/>
                </a:rPr>
                <a:t>确定因变量和自变量</a:t>
              </a:r>
            </a:p>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X = data[['displacement', 'horsepower', 'weight', '</a:t>
              </a:r>
              <a:r>
                <a:rPr lang="en-US" altLang="zh-CN" sz="2000" kern="0" dirty="0" err="1">
                  <a:solidFill>
                    <a:srgbClr val="5C5C5C"/>
                  </a:solidFill>
                  <a:latin typeface="Consolas" panose="020B0609020204030204" pitchFamily="49" charset="0"/>
                  <a:ea typeface="宋体" panose="02010600030101010101" pitchFamily="2" charset="-122"/>
                </a:rPr>
                <a:t>model_year</a:t>
              </a:r>
              <a:r>
                <a:rPr lang="en-US" altLang="zh-CN" sz="2000" kern="0" dirty="0">
                  <a:solidFill>
                    <a:srgbClr val="5C5C5C"/>
                  </a:solidFill>
                  <a:latin typeface="Consolas" panose="020B0609020204030204" pitchFamily="49" charset="0"/>
                  <a:ea typeface="宋体" panose="02010600030101010101" pitchFamily="2" charset="-122"/>
                </a:rPr>
                <a:t>', 'origin']]</a:t>
              </a:r>
            </a:p>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y = </a:t>
              </a:r>
              <a:r>
                <a:rPr lang="en-US" altLang="zh-CN" sz="2000" kern="0" dirty="0" err="1">
                  <a:solidFill>
                    <a:srgbClr val="5C5C5C"/>
                  </a:solidFill>
                  <a:latin typeface="Consolas" panose="020B0609020204030204" pitchFamily="49" charset="0"/>
                  <a:ea typeface="宋体" panose="02010600030101010101" pitchFamily="2" charset="-122"/>
                </a:rPr>
                <a:t>data.iloc</a:t>
              </a:r>
              <a:r>
                <a:rPr lang="en-US" altLang="zh-CN" sz="2000" kern="0" dirty="0">
                  <a:solidFill>
                    <a:srgbClr val="5C5C5C"/>
                  </a:solidFill>
                  <a:latin typeface="Consolas" panose="020B0609020204030204" pitchFamily="49" charset="0"/>
                  <a:ea typeface="宋体" panose="02010600030101010101" pitchFamily="2" charset="-122"/>
                </a:rPr>
                <a:t>[:, 7]</a:t>
              </a:r>
            </a:p>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 </a:t>
              </a:r>
              <a:r>
                <a:rPr lang="zh-CN" altLang="en-US" sz="2000" kern="0" dirty="0">
                  <a:solidFill>
                    <a:srgbClr val="5C5C5C"/>
                  </a:solidFill>
                  <a:latin typeface="Consolas" panose="020B0609020204030204" pitchFamily="49" charset="0"/>
                  <a:ea typeface="宋体" panose="02010600030101010101" pitchFamily="2" charset="-122"/>
                </a:rPr>
                <a:t>构建模型</a:t>
              </a:r>
            </a:p>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X = </a:t>
              </a:r>
              <a:r>
                <a:rPr lang="en-US" altLang="zh-CN" sz="2000" kern="0" dirty="0" err="1">
                  <a:solidFill>
                    <a:srgbClr val="5C5C5C"/>
                  </a:solidFill>
                  <a:latin typeface="Consolas" panose="020B0609020204030204" pitchFamily="49" charset="0"/>
                  <a:ea typeface="宋体" panose="02010600030101010101" pitchFamily="2" charset="-122"/>
                </a:rPr>
                <a:t>sm.add_constant</a:t>
              </a:r>
              <a:r>
                <a:rPr lang="en-US" altLang="zh-CN" sz="2000" kern="0" dirty="0">
                  <a:solidFill>
                    <a:srgbClr val="5C5C5C"/>
                  </a:solidFill>
                  <a:latin typeface="Consolas" panose="020B0609020204030204" pitchFamily="49" charset="0"/>
                  <a:ea typeface="宋体" panose="02010600030101010101" pitchFamily="2" charset="-122"/>
                </a:rPr>
                <a:t>(X)  # </a:t>
              </a:r>
              <a:r>
                <a:rPr lang="zh-CN" altLang="en-US" sz="2000" kern="0" dirty="0">
                  <a:solidFill>
                    <a:srgbClr val="5C5C5C"/>
                  </a:solidFill>
                  <a:latin typeface="Consolas" panose="020B0609020204030204" pitchFamily="49" charset="0"/>
                  <a:ea typeface="宋体" panose="02010600030101010101" pitchFamily="2" charset="-122"/>
                </a:rPr>
                <a:t>添加截距项</a:t>
              </a:r>
            </a:p>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model = </a:t>
              </a:r>
              <a:r>
                <a:rPr lang="en-US" altLang="zh-CN" sz="2000" kern="0" dirty="0" err="1">
                  <a:solidFill>
                    <a:srgbClr val="5C5C5C"/>
                  </a:solidFill>
                  <a:latin typeface="Consolas" panose="020B0609020204030204" pitchFamily="49" charset="0"/>
                  <a:ea typeface="宋体" panose="02010600030101010101" pitchFamily="2" charset="-122"/>
                </a:rPr>
                <a:t>sm.OLS</a:t>
              </a:r>
              <a:r>
                <a:rPr lang="en-US" altLang="zh-CN" sz="2000" kern="0" dirty="0">
                  <a:solidFill>
                    <a:srgbClr val="5C5C5C"/>
                  </a:solidFill>
                  <a:latin typeface="Consolas" panose="020B0609020204030204" pitchFamily="49" charset="0"/>
                  <a:ea typeface="宋体" panose="02010600030101010101" pitchFamily="2" charset="-122"/>
                </a:rPr>
                <a:t>(y, X).fit()  # </a:t>
              </a:r>
              <a:r>
                <a:rPr lang="zh-CN" altLang="en-US" sz="2000" kern="0" dirty="0">
                  <a:solidFill>
                    <a:srgbClr val="5C5C5C"/>
                  </a:solidFill>
                  <a:latin typeface="Consolas" panose="020B0609020204030204" pitchFamily="49" charset="0"/>
                  <a:ea typeface="宋体" panose="02010600030101010101" pitchFamily="2" charset="-122"/>
                </a:rPr>
                <a:t>拟合模型</a:t>
              </a:r>
            </a:p>
            <a:p>
              <a:pPr marL="457200" indent="-457200">
                <a:buFont typeface="+mj-lt"/>
                <a:buAutoNum type="arabicPeriod"/>
                <a:tabLst>
                  <a:tab pos="457200" algn="l"/>
                </a:tabLst>
              </a:pPr>
              <a:r>
                <a:rPr lang="en-US" altLang="zh-CN" sz="2000" kern="0" dirty="0">
                  <a:solidFill>
                    <a:srgbClr val="5C5C5C"/>
                  </a:solidFill>
                  <a:latin typeface="Consolas" panose="020B0609020204030204" pitchFamily="49" charset="0"/>
                  <a:ea typeface="宋体" panose="02010600030101010101" pitchFamily="2" charset="-122"/>
                </a:rPr>
                <a:t>print(</a:t>
              </a:r>
              <a:r>
                <a:rPr lang="en-US" altLang="zh-CN" sz="2000" kern="0" dirty="0" err="1">
                  <a:solidFill>
                    <a:srgbClr val="5C5C5C"/>
                  </a:solidFill>
                  <a:latin typeface="Consolas" panose="020B0609020204030204" pitchFamily="49" charset="0"/>
                  <a:ea typeface="宋体" panose="02010600030101010101" pitchFamily="2" charset="-122"/>
                </a:rPr>
                <a:t>model.summary</a:t>
              </a:r>
              <a:r>
                <a:rPr lang="en-US" altLang="zh-CN" sz="2000" kern="0" dirty="0">
                  <a:solidFill>
                    <a:srgbClr val="5C5C5C"/>
                  </a:solidFill>
                  <a:latin typeface="Consolas" panose="020B0609020204030204" pitchFamily="49" charset="0"/>
                  <a:ea typeface="宋体" panose="02010600030101010101" pitchFamily="2" charset="-122"/>
                </a:rPr>
                <a:t>())  # </a:t>
              </a:r>
              <a:r>
                <a:rPr lang="zh-CN" altLang="en-US" sz="2000" kern="0" dirty="0">
                  <a:solidFill>
                    <a:srgbClr val="5C5C5C"/>
                  </a:solidFill>
                  <a:latin typeface="Consolas" panose="020B0609020204030204" pitchFamily="49" charset="0"/>
                  <a:ea typeface="宋体" panose="02010600030101010101" pitchFamily="2" charset="-122"/>
                </a:rPr>
                <a:t>输出模型摘要信息</a:t>
              </a:r>
            </a:p>
          </p:txBody>
        </p:sp>
      </p:grpSp>
    </p:spTree>
    <p:extLst>
      <p:ext uri="{BB962C8B-B14F-4D97-AF65-F5344CB8AC3E}">
        <p14:creationId xmlns:p14="http://schemas.microsoft.com/office/powerpoint/2010/main" val="236532252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95010-618E-462E-1BDC-FB09A8151B5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EFA5B63-4487-5A7E-26AC-952FC1DB2D58}"/>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实践案例：基于多元线性回归的汽车燃油效率预测</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C1E85795-0C22-8D8F-034B-EE16BA12D464}"/>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多元线性回归实践案例：</a:t>
            </a:r>
            <a:r>
              <a:rPr lang="zh-CN" altLang="en-US" dirty="0">
                <a:solidFill>
                  <a:schemeClr val="tx1"/>
                </a:solidFill>
              </a:rPr>
              <a:t>建模结果</a:t>
            </a:r>
          </a:p>
        </p:txBody>
      </p:sp>
      <p:pic>
        <p:nvPicPr>
          <p:cNvPr id="5" name="图片 4">
            <a:extLst>
              <a:ext uri="{FF2B5EF4-FFF2-40B4-BE49-F238E27FC236}">
                <a16:creationId xmlns:a16="http://schemas.microsoft.com/office/drawing/2014/main" id="{90E66DB3-405B-7CFF-0782-23C4F310CB38}"/>
              </a:ext>
            </a:extLst>
          </p:cNvPr>
          <p:cNvPicPr>
            <a:picLocks noChangeAspect="1"/>
          </p:cNvPicPr>
          <p:nvPr/>
        </p:nvPicPr>
        <p:blipFill>
          <a:blip r:embed="rId3"/>
          <a:stretch>
            <a:fillRect/>
          </a:stretch>
        </p:blipFill>
        <p:spPr>
          <a:xfrm>
            <a:off x="2748997" y="1781972"/>
            <a:ext cx="6694004" cy="4429347"/>
          </a:xfrm>
          <a:prstGeom prst="rect">
            <a:avLst/>
          </a:prstGeom>
        </p:spPr>
      </p:pic>
      <p:sp>
        <p:nvSpPr>
          <p:cNvPr id="11" name="矩形: 圆角 10">
            <a:extLst>
              <a:ext uri="{FF2B5EF4-FFF2-40B4-BE49-F238E27FC236}">
                <a16:creationId xmlns:a16="http://schemas.microsoft.com/office/drawing/2014/main" id="{E70282DD-AA6F-D38E-3D1D-A32504972173}"/>
              </a:ext>
            </a:extLst>
          </p:cNvPr>
          <p:cNvSpPr/>
          <p:nvPr/>
        </p:nvSpPr>
        <p:spPr>
          <a:xfrm>
            <a:off x="2434975" y="3678147"/>
            <a:ext cx="7500135" cy="1633592"/>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对象 6">
            <a:extLst>
              <a:ext uri="{FF2B5EF4-FFF2-40B4-BE49-F238E27FC236}">
                <a16:creationId xmlns:a16="http://schemas.microsoft.com/office/drawing/2014/main" id="{7F7C0199-939D-D2A6-04C4-36E32DFB9F31}"/>
              </a:ext>
            </a:extLst>
          </p:cNvPr>
          <p:cNvGraphicFramePr>
            <a:graphicFrameLocks noChangeAspect="1"/>
          </p:cNvGraphicFramePr>
          <p:nvPr>
            <p:extLst>
              <p:ext uri="{D42A27DB-BD31-4B8C-83A1-F6EECF244321}">
                <p14:modId xmlns:p14="http://schemas.microsoft.com/office/powerpoint/2010/main" val="175148304"/>
              </p:ext>
            </p:extLst>
          </p:nvPr>
        </p:nvGraphicFramePr>
        <p:xfrm>
          <a:off x="1572535" y="6235735"/>
          <a:ext cx="9753471" cy="504112"/>
        </p:xfrm>
        <a:graphic>
          <a:graphicData uri="http://schemas.openxmlformats.org/presentationml/2006/ole">
            <mc:AlternateContent xmlns:mc="http://schemas.openxmlformats.org/markup-compatibility/2006">
              <mc:Choice xmlns:v="urn:schemas-microsoft-com:vml" Requires="v">
                <p:oleObj name="Equation" r:id="rId4" imgW="4238956" imgH="219248" progId="Equation.DSMT4">
                  <p:embed/>
                </p:oleObj>
              </mc:Choice>
              <mc:Fallback>
                <p:oleObj name="Equation" r:id="rId4" imgW="4238956" imgH="219248" progId="Equation.DSMT4">
                  <p:embed/>
                  <p:pic>
                    <p:nvPicPr>
                      <p:cNvPr id="0" name=""/>
                      <p:cNvPicPr/>
                      <p:nvPr/>
                    </p:nvPicPr>
                    <p:blipFill>
                      <a:blip r:embed="rId5"/>
                      <a:stretch>
                        <a:fillRect/>
                      </a:stretch>
                    </p:blipFill>
                    <p:spPr>
                      <a:xfrm>
                        <a:off x="1572535" y="6235735"/>
                        <a:ext cx="9753471" cy="504112"/>
                      </a:xfrm>
                      <a:prstGeom prst="rect">
                        <a:avLst/>
                      </a:prstGeom>
                    </p:spPr>
                  </p:pic>
                </p:oleObj>
              </mc:Fallback>
            </mc:AlternateContent>
          </a:graphicData>
        </a:graphic>
      </p:graphicFrame>
    </p:spTree>
    <p:extLst>
      <p:ext uri="{BB962C8B-B14F-4D97-AF65-F5344CB8AC3E}">
        <p14:creationId xmlns:p14="http://schemas.microsoft.com/office/powerpoint/2010/main" val="3122688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CD8BE-2175-94F7-7999-0EA427020FF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53120CE-3AE8-0FD6-CBE9-EC3BDE7BF180}"/>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实践案例：基于多元线性回归的汽车燃油效率预测</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mc:AlternateContent xmlns:mc="http://schemas.openxmlformats.org/markup-compatibility/2006" xmlns:a14="http://schemas.microsoft.com/office/drawing/2010/main">
        <mc:Choice Requires="a14">
          <p:sp>
            <p:nvSpPr>
              <p:cNvPr id="2" name="TextBox 7">
                <a:extLst>
                  <a:ext uri="{FF2B5EF4-FFF2-40B4-BE49-F238E27FC236}">
                    <a16:creationId xmlns:a16="http://schemas.microsoft.com/office/drawing/2014/main" id="{6DD46EAC-20FB-AD33-5B0E-E0CAB6E790E1}"/>
                  </a:ext>
                </a:extLst>
              </p:cNvPr>
              <p:cNvSpPr txBox="1"/>
              <p:nvPr/>
            </p:nvSpPr>
            <p:spPr>
              <a:xfrm>
                <a:off x="487017" y="1144455"/>
                <a:ext cx="9001000" cy="595932"/>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多元线性回归实践案例：</a:t>
                </a:r>
                <a:r>
                  <a:rPr lang="zh-CN" altLang="en-US" dirty="0">
                    <a:solidFill>
                      <a:schemeClr val="tx1"/>
                    </a:solidFill>
                  </a:rPr>
                  <a:t>统计检验</a:t>
                </a:r>
                <a:r>
                  <a:rPr lang="en-US" altLang="zh-CN" dirty="0">
                    <a:solidFill>
                      <a:schemeClr val="tx1"/>
                    </a:solidFill>
                  </a:rPr>
                  <a:t>—</a:t>
                </a:r>
                <a14:m>
                  <m:oMath xmlns:m="http://schemas.openxmlformats.org/officeDocument/2006/math">
                    <m:sSup>
                      <m:sSupPr>
                        <m:ctrlPr>
                          <a:rPr lang="en-US" altLang="zh-CN" sz="3200" b="1" i="1" spc="50" smtClean="0">
                            <a:ln w="11430">
                              <a:noFill/>
                            </a:ln>
                            <a:solidFill>
                              <a:schemeClr val="tx1"/>
                            </a:solidFill>
                            <a:latin typeface="Cambria Math" panose="02040503050406030204" pitchFamily="18" charset="0"/>
                            <a:ea typeface="微软雅黑" panose="020B0503020204020204" pitchFamily="34" charset="-122"/>
                            <a:cs typeface="Arial" panose="020B0604020202020204" pitchFamily="34" charset="0"/>
                          </a:rPr>
                        </m:ctrlPr>
                      </m:sSupPr>
                      <m:e>
                        <m:r>
                          <a:rPr lang="en-US" altLang="zh-CN" sz="3200" b="1" i="1" spc="50" smtClean="0">
                            <a:ln w="11430">
                              <a:noFill/>
                            </a:ln>
                            <a:solidFill>
                              <a:schemeClr val="tx1"/>
                            </a:solidFill>
                            <a:latin typeface="Cambria Math" panose="02040503050406030204" pitchFamily="18" charset="0"/>
                            <a:ea typeface="微软雅黑" panose="020B0503020204020204" pitchFamily="34" charset="-122"/>
                            <a:cs typeface="Arial" panose="020B0604020202020204" pitchFamily="34" charset="0"/>
                          </a:rPr>
                          <m:t>𝑹</m:t>
                        </m:r>
                      </m:e>
                      <m:sup>
                        <m:r>
                          <a:rPr lang="en-US" altLang="zh-CN" sz="3200" b="1" i="1" spc="50" smtClean="0">
                            <a:ln w="11430">
                              <a:noFill/>
                            </a:ln>
                            <a:solidFill>
                              <a:schemeClr val="tx1"/>
                            </a:solidFill>
                            <a:latin typeface="Cambria Math" panose="02040503050406030204" pitchFamily="18" charset="0"/>
                            <a:ea typeface="微软雅黑" panose="020B0503020204020204" pitchFamily="34" charset="-122"/>
                            <a:cs typeface="Arial" panose="020B0604020202020204" pitchFamily="34" charset="0"/>
                          </a:rPr>
                          <m:t>𝟐</m:t>
                        </m:r>
                      </m:sup>
                    </m:sSup>
                  </m:oMath>
                </a14:m>
                <a:endParaRPr lang="zh-CN" altLang="en-US" dirty="0">
                  <a:solidFill>
                    <a:schemeClr val="tx1"/>
                  </a:solidFill>
                </a:endParaRPr>
              </a:p>
            </p:txBody>
          </p:sp>
        </mc:Choice>
        <mc:Fallback xmlns="">
          <p:sp>
            <p:nvSpPr>
              <p:cNvPr id="2" name="TextBox 7">
                <a:extLst>
                  <a:ext uri="{FF2B5EF4-FFF2-40B4-BE49-F238E27FC236}">
                    <a16:creationId xmlns:a16="http://schemas.microsoft.com/office/drawing/2014/main" id="{6DD46EAC-20FB-AD33-5B0E-E0CAB6E790E1}"/>
                  </a:ext>
                </a:extLst>
              </p:cNvPr>
              <p:cNvSpPr txBox="1">
                <a:spLocks noRot="1" noChangeAspect="1" noMove="1" noResize="1" noEditPoints="1" noAdjustHandles="1" noChangeArrowheads="1" noChangeShapeType="1" noTextEdit="1"/>
              </p:cNvSpPr>
              <p:nvPr/>
            </p:nvSpPr>
            <p:spPr>
              <a:xfrm>
                <a:off x="487017" y="1144455"/>
                <a:ext cx="9001000" cy="595932"/>
              </a:xfrm>
              <a:prstGeom prst="rect">
                <a:avLst/>
              </a:prstGeom>
              <a:blipFill>
                <a:blip r:embed="rId3"/>
                <a:stretch>
                  <a:fillRect b="-30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114BEA1-4390-9932-EFFD-6FAE2C6E1C83}"/>
                  </a:ext>
                </a:extLst>
              </p:cNvPr>
              <p:cNvSpPr txBox="1"/>
              <p:nvPr/>
            </p:nvSpPr>
            <p:spPr>
              <a:xfrm>
                <a:off x="8143983" y="3259999"/>
                <a:ext cx="4048017" cy="13947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ctrlPr>
                        </m:sSupPr>
                        <m:e>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𝑹</m:t>
                          </m:r>
                        </m:e>
                        <m:sup>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𝟐</m:t>
                          </m:r>
                        </m:sup>
                      </m:sSup>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𝟎</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𝟖𝟐𝟎</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 </m:t>
                      </m:r>
                    </m:oMath>
                  </m:oMathPara>
                </a14:m>
                <a:endParaRPr lang="en-US" altLang="zh-CN" sz="2800" b="1" spc="50" dirty="0">
                  <a:ln w="11430">
                    <a:noFill/>
                  </a:ln>
                  <a:latin typeface="Arial" panose="020B0604020202020204" pitchFamily="34" charset="0"/>
                  <a:ea typeface="微软雅黑" panose="020B0503020204020204" pitchFamily="34" charset="-122"/>
                  <a:cs typeface="Arial" panose="020B0604020202020204" pitchFamily="34" charset="0"/>
                </a:endParaRPr>
              </a:p>
              <a:p>
                <a:pPr latinLnBrk="1"/>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说明自变量能够解释因变量</a:t>
                </a:r>
                <a:r>
                  <a:rPr lang="en-US"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82%</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的变异程度</a:t>
                </a:r>
              </a:p>
            </p:txBody>
          </p:sp>
        </mc:Choice>
        <mc:Fallback xmlns="">
          <p:sp>
            <p:nvSpPr>
              <p:cNvPr id="7" name="文本框 6">
                <a:extLst>
                  <a:ext uri="{FF2B5EF4-FFF2-40B4-BE49-F238E27FC236}">
                    <a16:creationId xmlns:a16="http://schemas.microsoft.com/office/drawing/2014/main" id="{8114BEA1-4390-9932-EFFD-6FAE2C6E1C83}"/>
                  </a:ext>
                </a:extLst>
              </p:cNvPr>
              <p:cNvSpPr txBox="1">
                <a:spLocks noRot="1" noChangeAspect="1" noMove="1" noResize="1" noEditPoints="1" noAdjustHandles="1" noChangeArrowheads="1" noChangeShapeType="1" noTextEdit="1"/>
              </p:cNvSpPr>
              <p:nvPr/>
            </p:nvSpPr>
            <p:spPr>
              <a:xfrm>
                <a:off x="8143983" y="3259999"/>
                <a:ext cx="4048017" cy="1394741"/>
              </a:xfrm>
              <a:prstGeom prst="rect">
                <a:avLst/>
              </a:prstGeom>
              <a:blipFill>
                <a:blip r:embed="rId4"/>
                <a:stretch>
                  <a:fillRect l="-3163" b="-11354"/>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D36EE2A6-E2F6-E83B-AD4C-64D85CB02670}"/>
              </a:ext>
            </a:extLst>
          </p:cNvPr>
          <p:cNvPicPr>
            <a:picLocks noChangeAspect="1"/>
          </p:cNvPicPr>
          <p:nvPr/>
        </p:nvPicPr>
        <p:blipFill>
          <a:blip r:embed="rId5"/>
          <a:stretch>
            <a:fillRect/>
          </a:stretch>
        </p:blipFill>
        <p:spPr>
          <a:xfrm>
            <a:off x="659590" y="2040724"/>
            <a:ext cx="6694004" cy="4429347"/>
          </a:xfrm>
          <a:prstGeom prst="rect">
            <a:avLst/>
          </a:prstGeom>
        </p:spPr>
      </p:pic>
      <p:sp>
        <p:nvSpPr>
          <p:cNvPr id="6" name="箭头: 圆角右 5">
            <a:extLst>
              <a:ext uri="{FF2B5EF4-FFF2-40B4-BE49-F238E27FC236}">
                <a16:creationId xmlns:a16="http://schemas.microsoft.com/office/drawing/2014/main" id="{17C7B989-9102-284B-2F04-38916D7F1DA0}"/>
              </a:ext>
            </a:extLst>
          </p:cNvPr>
          <p:cNvSpPr/>
          <p:nvPr/>
        </p:nvSpPr>
        <p:spPr>
          <a:xfrm flipV="1">
            <a:off x="5896075" y="3291819"/>
            <a:ext cx="2131036" cy="526994"/>
          </a:xfrm>
          <a:prstGeom prst="bentArrow">
            <a:avLst>
              <a:gd name="adj1" fmla="val 25000"/>
              <a:gd name="adj2" fmla="val 25000"/>
              <a:gd name="adj3" fmla="val 25000"/>
              <a:gd name="adj4" fmla="val 40720"/>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矩形: 圆角 4">
            <a:extLst>
              <a:ext uri="{FF2B5EF4-FFF2-40B4-BE49-F238E27FC236}">
                <a16:creationId xmlns:a16="http://schemas.microsoft.com/office/drawing/2014/main" id="{DB4A41CD-CCD7-9C61-8BE6-9C9F0F269CF8}"/>
              </a:ext>
            </a:extLst>
          </p:cNvPr>
          <p:cNvSpPr/>
          <p:nvPr/>
        </p:nvSpPr>
        <p:spPr>
          <a:xfrm>
            <a:off x="4006592" y="2434974"/>
            <a:ext cx="3514091" cy="678095"/>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669389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18C8C-B061-11B3-902F-BACE727B680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63175E7-6B80-DDAE-849D-BF358468D659}"/>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实践案例：基于多元线性回归的汽车燃油效率预测</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5C56B4FF-1335-9A18-B7F3-6F17807D4BDF}"/>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多元线性回归实践案例：</a:t>
            </a:r>
            <a:r>
              <a:rPr lang="zh-CN" altLang="en-US" dirty="0">
                <a:solidFill>
                  <a:schemeClr val="tx1"/>
                </a:solidFill>
              </a:rPr>
              <a:t>统计检验</a:t>
            </a:r>
            <a:r>
              <a:rPr lang="en-US" altLang="zh-CN" dirty="0">
                <a:solidFill>
                  <a:schemeClr val="tx1"/>
                </a:solidFill>
              </a:rPr>
              <a:t>—F</a:t>
            </a:r>
            <a:r>
              <a:rPr lang="zh-CN" altLang="en-US" dirty="0">
                <a:solidFill>
                  <a:schemeClr val="tx1"/>
                </a:solidFill>
              </a:rPr>
              <a:t>检验</a:t>
            </a:r>
          </a:p>
        </p:txBody>
      </p:sp>
      <p:pic>
        <p:nvPicPr>
          <p:cNvPr id="8" name="图片 7">
            <a:extLst>
              <a:ext uri="{FF2B5EF4-FFF2-40B4-BE49-F238E27FC236}">
                <a16:creationId xmlns:a16="http://schemas.microsoft.com/office/drawing/2014/main" id="{809F32F1-58EE-6A0A-FD5D-4CA8CDD8BD24}"/>
              </a:ext>
            </a:extLst>
          </p:cNvPr>
          <p:cNvPicPr>
            <a:picLocks noChangeAspect="1"/>
          </p:cNvPicPr>
          <p:nvPr/>
        </p:nvPicPr>
        <p:blipFill>
          <a:blip r:embed="rId3"/>
          <a:stretch>
            <a:fillRect/>
          </a:stretch>
        </p:blipFill>
        <p:spPr>
          <a:xfrm>
            <a:off x="659590" y="2040724"/>
            <a:ext cx="6694004" cy="4429347"/>
          </a:xfrm>
          <a:prstGeom prst="rect">
            <a:avLst/>
          </a:prstGeom>
        </p:spPr>
      </p:pic>
      <p:sp>
        <p:nvSpPr>
          <p:cNvPr id="5" name="矩形: 圆角 4">
            <a:extLst>
              <a:ext uri="{FF2B5EF4-FFF2-40B4-BE49-F238E27FC236}">
                <a16:creationId xmlns:a16="http://schemas.microsoft.com/office/drawing/2014/main" id="{7EA7A125-8BBA-1A31-9830-D7C5635C3B37}"/>
              </a:ext>
            </a:extLst>
          </p:cNvPr>
          <p:cNvSpPr/>
          <p:nvPr/>
        </p:nvSpPr>
        <p:spPr>
          <a:xfrm>
            <a:off x="4006592" y="2434974"/>
            <a:ext cx="3514091" cy="678095"/>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圆角右 5">
            <a:extLst>
              <a:ext uri="{FF2B5EF4-FFF2-40B4-BE49-F238E27FC236}">
                <a16:creationId xmlns:a16="http://schemas.microsoft.com/office/drawing/2014/main" id="{7DE828BA-C23B-D216-F2F0-26BB87862A2A}"/>
              </a:ext>
            </a:extLst>
          </p:cNvPr>
          <p:cNvSpPr/>
          <p:nvPr/>
        </p:nvSpPr>
        <p:spPr>
          <a:xfrm flipV="1">
            <a:off x="5763637" y="3370624"/>
            <a:ext cx="2131036" cy="526994"/>
          </a:xfrm>
          <a:prstGeom prst="bentArrow">
            <a:avLst>
              <a:gd name="adj1" fmla="val 25000"/>
              <a:gd name="adj2" fmla="val 25000"/>
              <a:gd name="adj3" fmla="val 25000"/>
              <a:gd name="adj4" fmla="val 40720"/>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A0DCE88-D43C-D94C-9571-8BFAD9505EB4}"/>
                  </a:ext>
                </a:extLst>
              </p:cNvPr>
              <p:cNvSpPr txBox="1"/>
              <p:nvPr/>
            </p:nvSpPr>
            <p:spPr>
              <a:xfrm>
                <a:off x="8010627" y="2920952"/>
                <a:ext cx="4266991" cy="2246769"/>
              </a:xfrm>
              <a:prstGeom prst="rect">
                <a:avLst/>
              </a:prstGeom>
              <a:noFill/>
            </p:spPr>
            <p:txBody>
              <a:bodyPr wrap="square">
                <a:spAutoFit/>
              </a:bodyPr>
              <a:lstStyle/>
              <a:p>
                <a:r>
                  <a:rPr lang="zh-CN" altLang="en-US" sz="2800" b="1" spc="50" dirty="0">
                    <a:ln w="11430">
                      <a:noFill/>
                    </a:ln>
                    <a:ea typeface="微软雅黑" panose="020B0503020204020204" pitchFamily="34" charset="-122"/>
                    <a:cs typeface="Arial" panose="020B0604020202020204" pitchFamily="34" charset="0"/>
                  </a:rPr>
                  <a:t>回归方程</a:t>
                </a:r>
                <a:r>
                  <a:rPr lang="en-US" altLang="zh-CN" sz="2800" b="1" spc="50" dirty="0">
                    <a:ln w="11430">
                      <a:noFill/>
                    </a:ln>
                    <a:ea typeface="微软雅黑" panose="020B0503020204020204" pitchFamily="34" charset="-122"/>
                    <a:cs typeface="Arial" panose="020B0604020202020204" pitchFamily="34" charset="0"/>
                  </a:rPr>
                  <a:t>F</a:t>
                </a:r>
                <a:r>
                  <a:rPr lang="zh-CN" altLang="en-US" sz="2800" b="1" spc="50" dirty="0">
                    <a:ln w="11430">
                      <a:noFill/>
                    </a:ln>
                    <a:ea typeface="微软雅黑" panose="020B0503020204020204" pitchFamily="34" charset="-122"/>
                    <a:cs typeface="Arial" panose="020B0604020202020204" pitchFamily="34" charset="0"/>
                  </a:rPr>
                  <a:t>检验结果为</a:t>
                </a:r>
                <a14:m>
                  <m:oMath xmlns:m="http://schemas.openxmlformats.org/officeDocument/2006/math">
                    <m:r>
                      <a:rPr lang="zh-CN" altLang="en-US"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𝝆</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𝟐</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𝟕𝟑</m:t>
                    </m:r>
                    <m:r>
                      <a:rPr lang="en-US" altLang="zh-CN" sz="2800" b="1" i="1" spc="5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𝒆</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𝟏𝟒𝟏</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&lt;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𝟎</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𝟎𝟓</m:t>
                    </m:r>
                    <m:r>
                      <a:rPr lang="en-US" altLang="zh-CN" sz="2800" b="1" i="1" spc="50" smtClean="0">
                        <a:ln w="11430">
                          <a:noFill/>
                        </a:ln>
                        <a:solidFill>
                          <a:srgbClr val="C00000"/>
                        </a:solidFill>
                        <a:latin typeface="Cambria Math" panose="02040503050406030204" pitchFamily="18" charset="0"/>
                        <a:ea typeface="微软雅黑" panose="020B0503020204020204" pitchFamily="34" charset="-122"/>
                        <a:cs typeface="Arial" panose="020B0604020202020204" pitchFamily="34" charset="0"/>
                      </a:rPr>
                      <m:t> </m:t>
                    </m:r>
                  </m:oMath>
                </a14:m>
                <a:endParaRPr lang="en-US" altLang="zh-CN" sz="2800" b="1" spc="50" dirty="0">
                  <a:ln w="11430">
                    <a:noFill/>
                  </a:ln>
                  <a:latin typeface="Arial" panose="020B0604020202020204" pitchFamily="34" charset="0"/>
                  <a:ea typeface="微软雅黑" panose="020B0503020204020204" pitchFamily="34" charset="-122"/>
                  <a:cs typeface="Arial" panose="020B0604020202020204" pitchFamily="34" charset="0"/>
                </a:endParaRPr>
              </a:p>
              <a:p>
                <a:pPr latinLnBrk="1"/>
                <a:r>
                  <a:rPr lang="zh-CN" altLang="en-US" sz="28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拒绝原假设</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，认为自变量与因变量间存在显著的线性关系。</a:t>
                </a:r>
              </a:p>
            </p:txBody>
          </p:sp>
        </mc:Choice>
        <mc:Fallback xmlns="">
          <p:sp>
            <p:nvSpPr>
              <p:cNvPr id="4" name="文本框 3">
                <a:extLst>
                  <a:ext uri="{FF2B5EF4-FFF2-40B4-BE49-F238E27FC236}">
                    <a16:creationId xmlns:a16="http://schemas.microsoft.com/office/drawing/2014/main" id="{2A0DCE88-D43C-D94C-9571-8BFAD9505EB4}"/>
                  </a:ext>
                </a:extLst>
              </p:cNvPr>
              <p:cNvSpPr txBox="1">
                <a:spLocks noRot="1" noChangeAspect="1" noMove="1" noResize="1" noEditPoints="1" noAdjustHandles="1" noChangeArrowheads="1" noChangeShapeType="1" noTextEdit="1"/>
              </p:cNvSpPr>
              <p:nvPr/>
            </p:nvSpPr>
            <p:spPr>
              <a:xfrm>
                <a:off x="8010627" y="2920952"/>
                <a:ext cx="4266991" cy="2246769"/>
              </a:xfrm>
              <a:prstGeom prst="rect">
                <a:avLst/>
              </a:prstGeom>
              <a:blipFill>
                <a:blip r:embed="rId4"/>
                <a:stretch>
                  <a:fillRect l="-2857" t="-2981" b="-65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582347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0F683-51B5-E497-BD6D-0A8C134EAA9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12A02AD5-9241-791F-9C86-DF3C56075560}"/>
              </a:ext>
            </a:extLst>
          </p:cNvPr>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rPr>
              <a:t> </a:t>
            </a:r>
            <a:r>
              <a:rPr lang="zh-CN" altLang="en-US" sz="3200" dirty="0">
                <a:solidFill>
                  <a:srgbClr val="FFFF00"/>
                </a:solidFill>
                <a:latin typeface="华光综艺_CNKI" panose="02000500000000000000" pitchFamily="2" charset="-122"/>
                <a:ea typeface="华光综艺_CNKI" panose="02000500000000000000" pitchFamily="2" charset="-122"/>
              </a:rPr>
              <a:t>实践案例：基于多元线性回归的汽车燃油效率预测</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378BBD65-6DFD-7365-F2C3-7ACBB3158B9F}"/>
              </a:ext>
            </a:extLst>
          </p:cNvPr>
          <p:cNvSpPr txBox="1"/>
          <p:nvPr/>
        </p:nvSpPr>
        <p:spPr>
          <a:xfrm>
            <a:off x="487017" y="1144455"/>
            <a:ext cx="9001000"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多元线性回归实践案例：</a:t>
            </a:r>
            <a:r>
              <a:rPr lang="zh-CN" altLang="en-US" dirty="0">
                <a:solidFill>
                  <a:schemeClr val="tx1"/>
                </a:solidFill>
              </a:rPr>
              <a:t>统计检验</a:t>
            </a:r>
            <a:r>
              <a:rPr lang="en-US" altLang="zh-CN" dirty="0">
                <a:solidFill>
                  <a:schemeClr val="tx1"/>
                </a:solidFill>
              </a:rPr>
              <a:t>—t</a:t>
            </a:r>
            <a:r>
              <a:rPr lang="zh-CN" altLang="en-US" dirty="0">
                <a:solidFill>
                  <a:schemeClr val="tx1"/>
                </a:solidFill>
              </a:rPr>
              <a:t>检验</a:t>
            </a:r>
          </a:p>
        </p:txBody>
      </p:sp>
      <p:pic>
        <p:nvPicPr>
          <p:cNvPr id="5" name="图片 4">
            <a:extLst>
              <a:ext uri="{FF2B5EF4-FFF2-40B4-BE49-F238E27FC236}">
                <a16:creationId xmlns:a16="http://schemas.microsoft.com/office/drawing/2014/main" id="{7CE9E5F8-2634-C5AD-6FC4-7129FDAB6FFC}"/>
              </a:ext>
            </a:extLst>
          </p:cNvPr>
          <p:cNvPicPr>
            <a:picLocks noChangeAspect="1"/>
          </p:cNvPicPr>
          <p:nvPr/>
        </p:nvPicPr>
        <p:blipFill>
          <a:blip r:embed="rId3"/>
          <a:stretch>
            <a:fillRect/>
          </a:stretch>
        </p:blipFill>
        <p:spPr>
          <a:xfrm>
            <a:off x="659590" y="2040724"/>
            <a:ext cx="6694004" cy="4429347"/>
          </a:xfrm>
          <a:prstGeom prst="rect">
            <a:avLst/>
          </a:prstGeom>
        </p:spPr>
      </p:pic>
      <p:sp>
        <p:nvSpPr>
          <p:cNvPr id="11" name="矩形: 圆角 10">
            <a:extLst>
              <a:ext uri="{FF2B5EF4-FFF2-40B4-BE49-F238E27FC236}">
                <a16:creationId xmlns:a16="http://schemas.microsoft.com/office/drawing/2014/main" id="{10680DC0-F1A4-D12D-585B-99F5782C443E}"/>
              </a:ext>
            </a:extLst>
          </p:cNvPr>
          <p:cNvSpPr/>
          <p:nvPr/>
        </p:nvSpPr>
        <p:spPr>
          <a:xfrm>
            <a:off x="3744372" y="4083973"/>
            <a:ext cx="1670112" cy="1494893"/>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圆角右 5">
            <a:extLst>
              <a:ext uri="{FF2B5EF4-FFF2-40B4-BE49-F238E27FC236}">
                <a16:creationId xmlns:a16="http://schemas.microsoft.com/office/drawing/2014/main" id="{29F5275B-07EA-9AEE-1A38-AF86E2D7D3B1}"/>
              </a:ext>
            </a:extLst>
          </p:cNvPr>
          <p:cNvSpPr/>
          <p:nvPr/>
        </p:nvSpPr>
        <p:spPr>
          <a:xfrm>
            <a:off x="5594845" y="3914451"/>
            <a:ext cx="2465795" cy="339047"/>
          </a:xfrm>
          <a:prstGeom prst="ben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文本框 6">
            <a:extLst>
              <a:ext uri="{FF2B5EF4-FFF2-40B4-BE49-F238E27FC236}">
                <a16:creationId xmlns:a16="http://schemas.microsoft.com/office/drawing/2014/main" id="{4B4F1510-2197-2070-86C3-7012FC61BE97}"/>
              </a:ext>
            </a:extLst>
          </p:cNvPr>
          <p:cNvSpPr txBox="1"/>
          <p:nvPr/>
        </p:nvSpPr>
        <p:spPr>
          <a:xfrm>
            <a:off x="8188712" y="2596797"/>
            <a:ext cx="3869932" cy="3539430"/>
          </a:xfrm>
          <a:prstGeom prst="rect">
            <a:avLst/>
          </a:prstGeom>
          <a:noFill/>
        </p:spPr>
        <p:txBody>
          <a:bodyPr wrap="square">
            <a:spAutoFit/>
          </a:bodyPr>
          <a:lstStyle/>
          <a:p>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回归系数的 </a:t>
            </a:r>
            <a:r>
              <a:rPr lang="en-US"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t </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检验结果</a:t>
            </a:r>
            <a:r>
              <a:rPr lang="en-US"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p</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值分别为</a:t>
            </a:r>
            <a:r>
              <a:rPr lang="en-US" altLang="zh-CN" sz="2800" b="1" spc="50" dirty="0">
                <a:ln w="11430">
                  <a:noFill/>
                </a:ln>
                <a:solidFill>
                  <a:srgbClr val="C00000"/>
                </a:solidFill>
                <a:latin typeface="Arial" panose="020B0604020202020204" pitchFamily="34" charset="0"/>
                <a:ea typeface="微软雅黑" panose="020B0503020204020204" pitchFamily="34" charset="-122"/>
                <a:cs typeface="Arial" panose="020B0604020202020204" pitchFamily="34" charset="0"/>
              </a:rPr>
              <a:t>0.041</a:t>
            </a:r>
            <a:r>
              <a:rPr lang="zh-CN" altLang="en-US" sz="2800" b="1" spc="50" dirty="0">
                <a:ln w="11430">
                  <a:noFill/>
                </a:ln>
                <a:solidFill>
                  <a:srgbClr val="C00000"/>
                </a:solidFill>
                <a:latin typeface="Arial" panose="020B0604020202020204" pitchFamily="34" charset="0"/>
                <a:ea typeface="微软雅黑" panose="020B0503020204020204" pitchFamily="34" charset="-122"/>
                <a:cs typeface="Arial" panose="020B0604020202020204" pitchFamily="34" charset="0"/>
              </a:rPr>
              <a:t>、</a:t>
            </a:r>
            <a:r>
              <a:rPr lang="en-US" altLang="zh-CN" sz="2800" b="1" spc="50" dirty="0">
                <a:ln w="11430">
                  <a:noFill/>
                </a:ln>
                <a:solidFill>
                  <a:srgbClr val="C00000"/>
                </a:solidFill>
                <a:latin typeface="Arial" panose="020B0604020202020204" pitchFamily="34" charset="0"/>
                <a:ea typeface="微软雅黑" panose="020B0503020204020204" pitchFamily="34" charset="-122"/>
                <a:cs typeface="Arial" panose="020B0604020202020204" pitchFamily="34" charset="0"/>
              </a:rPr>
              <a:t>0.043</a:t>
            </a:r>
            <a:r>
              <a:rPr lang="zh-CN" altLang="en-US" sz="2800" b="1" spc="50" dirty="0">
                <a:ln w="11430">
                  <a:noFill/>
                </a:ln>
                <a:solidFill>
                  <a:srgbClr val="C00000"/>
                </a:solidFill>
                <a:latin typeface="Arial" panose="020B0604020202020204" pitchFamily="34" charset="0"/>
                <a:ea typeface="微软雅黑" panose="020B0503020204020204" pitchFamily="34" charset="-122"/>
                <a:cs typeface="Arial" panose="020B0604020202020204" pitchFamily="34" charset="0"/>
              </a:rPr>
              <a:t>、</a:t>
            </a:r>
            <a:r>
              <a:rPr lang="en-US" altLang="zh-CN" sz="2800" b="1" spc="50" dirty="0">
                <a:ln w="11430">
                  <a:noFill/>
                </a:ln>
                <a:solidFill>
                  <a:srgbClr val="C00000"/>
                </a:solidFill>
                <a:latin typeface="Arial" panose="020B0604020202020204" pitchFamily="34" charset="0"/>
                <a:ea typeface="微软雅黑" panose="020B0503020204020204" pitchFamily="34" charset="-122"/>
                <a:cs typeface="Arial" panose="020B0604020202020204" pitchFamily="34" charset="0"/>
              </a:rPr>
              <a:t>0.000</a:t>
            </a:r>
            <a:r>
              <a:rPr lang="zh-CN" altLang="en-US" sz="2800" b="1" spc="50" dirty="0">
                <a:ln w="11430">
                  <a:noFill/>
                </a:ln>
                <a:solidFill>
                  <a:srgbClr val="C00000"/>
                </a:solidFill>
                <a:latin typeface="Arial" panose="020B0604020202020204" pitchFamily="34" charset="0"/>
                <a:ea typeface="微软雅黑" panose="020B0503020204020204" pitchFamily="34" charset="-122"/>
                <a:cs typeface="Arial" panose="020B0604020202020204" pitchFamily="34" charset="0"/>
              </a:rPr>
              <a:t>、</a:t>
            </a:r>
            <a:r>
              <a:rPr lang="en-US" altLang="zh-CN" sz="2800" b="1" spc="50" dirty="0">
                <a:ln w="11430">
                  <a:noFill/>
                </a:ln>
                <a:solidFill>
                  <a:srgbClr val="C00000"/>
                </a:solidFill>
                <a:latin typeface="Arial" panose="020B0604020202020204" pitchFamily="34" charset="0"/>
                <a:ea typeface="微软雅黑" panose="020B0503020204020204" pitchFamily="34" charset="-122"/>
                <a:cs typeface="Arial" panose="020B0604020202020204" pitchFamily="34" charset="0"/>
              </a:rPr>
              <a:t>0.000</a:t>
            </a:r>
            <a:r>
              <a:rPr lang="zh-CN" altLang="en-US" sz="2800" b="1" spc="50" dirty="0">
                <a:ln w="11430">
                  <a:noFill/>
                </a:ln>
                <a:solidFill>
                  <a:srgbClr val="C00000"/>
                </a:solidFill>
                <a:latin typeface="Arial" panose="020B0604020202020204" pitchFamily="34" charset="0"/>
                <a:ea typeface="微软雅黑" panose="020B0503020204020204" pitchFamily="34" charset="-122"/>
                <a:cs typeface="Arial" panose="020B0604020202020204" pitchFamily="34" charset="0"/>
              </a:rPr>
              <a:t>和</a:t>
            </a:r>
            <a:r>
              <a:rPr lang="en-US" altLang="zh-CN" sz="2800" b="1" spc="50" dirty="0">
                <a:ln w="11430">
                  <a:noFill/>
                </a:ln>
                <a:solidFill>
                  <a:srgbClr val="C00000"/>
                </a:solidFill>
                <a:latin typeface="Arial" panose="020B0604020202020204" pitchFamily="34" charset="0"/>
                <a:ea typeface="微软雅黑" panose="020B0503020204020204" pitchFamily="34" charset="-122"/>
                <a:cs typeface="Arial" panose="020B0604020202020204" pitchFamily="34" charset="0"/>
              </a:rPr>
              <a:t>0.000</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，均</a:t>
            </a:r>
            <a:r>
              <a:rPr lang="zh-CN" altLang="en-US" sz="2800" b="1" spc="50" dirty="0">
                <a:ln w="11430">
                  <a:noFill/>
                </a:ln>
                <a:solidFill>
                  <a:srgbClr val="C00000"/>
                </a:solidFill>
                <a:latin typeface="Arial" panose="020B0604020202020204" pitchFamily="34" charset="0"/>
                <a:ea typeface="微软雅黑" panose="020B0503020204020204" pitchFamily="34" charset="-122"/>
                <a:cs typeface="Arial" panose="020B0604020202020204" pitchFamily="34" charset="0"/>
              </a:rPr>
              <a:t>小于设定的显著性水平</a:t>
            </a:r>
            <a:r>
              <a:rPr lang="en-US" altLang="zh-CN" sz="2800" b="1" spc="50" dirty="0">
                <a:ln w="11430">
                  <a:noFill/>
                </a:ln>
                <a:solidFill>
                  <a:srgbClr val="C00000"/>
                </a:solidFill>
                <a:latin typeface="Arial" panose="020B0604020202020204" pitchFamily="34" charset="0"/>
                <a:ea typeface="微软雅黑" panose="020B0503020204020204" pitchFamily="34" charset="-122"/>
                <a:cs typeface="Arial" panose="020B0604020202020204" pitchFamily="34" charset="0"/>
              </a:rPr>
              <a:t>0.05</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a:t>
            </a:r>
            <a:r>
              <a:rPr lang="zh-CN" altLang="en-US" sz="28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拒绝原假设</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，回归系数显著不为</a:t>
            </a:r>
            <a:r>
              <a:rPr lang="en-US" altLang="zh-CN" sz="2800" b="1" spc="50" dirty="0">
                <a:ln w="11430">
                  <a:noFill/>
                </a:ln>
                <a:latin typeface="Arial" panose="020B0604020202020204" pitchFamily="34" charset="0"/>
                <a:ea typeface="微软雅黑" panose="020B0503020204020204" pitchFamily="34" charset="-122"/>
                <a:cs typeface="Arial" panose="020B0604020202020204" pitchFamily="34" charset="0"/>
              </a:rPr>
              <a:t>0</a:t>
            </a:r>
            <a:r>
              <a:rPr lang="zh-CN" altLang="en-US" sz="2800" b="1" spc="50" dirty="0">
                <a:ln w="11430">
                  <a:noFill/>
                </a:ln>
                <a:latin typeface="Arial" panose="020B0604020202020204" pitchFamily="34" charset="0"/>
                <a:ea typeface="微软雅黑" panose="020B0503020204020204" pitchFamily="34" charset="-122"/>
                <a:cs typeface="Arial" panose="020B0604020202020204" pitchFamily="34" charset="0"/>
              </a:rPr>
              <a:t>，即自变量对因变量的影响均显著。</a:t>
            </a:r>
          </a:p>
        </p:txBody>
      </p:sp>
    </p:spTree>
    <p:extLst>
      <p:ext uri="{BB962C8B-B14F-4D97-AF65-F5344CB8AC3E}">
        <p14:creationId xmlns:p14="http://schemas.microsoft.com/office/powerpoint/2010/main" val="129634974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3564</TotalTime>
  <Words>3084</Words>
  <Application>Microsoft Office PowerPoint</Application>
  <PresentationFormat>宽屏</PresentationFormat>
  <Paragraphs>356</Paragraphs>
  <Slides>51</Slides>
  <Notes>51</Notes>
  <HiddenSlides>0</HiddenSlides>
  <MMClips>0</MMClips>
  <ScaleCrop>false</ScaleCrop>
  <HeadingPairs>
    <vt:vector size="8" baseType="variant">
      <vt:variant>
        <vt:lpstr>已用的字体</vt:lpstr>
      </vt:variant>
      <vt:variant>
        <vt:i4>15</vt:i4>
      </vt:variant>
      <vt:variant>
        <vt:lpstr>主题</vt:lpstr>
      </vt:variant>
      <vt:variant>
        <vt:i4>12</vt:i4>
      </vt:variant>
      <vt:variant>
        <vt:lpstr>嵌入 OLE 服务器</vt:lpstr>
      </vt:variant>
      <vt:variant>
        <vt:i4>2</vt:i4>
      </vt:variant>
      <vt:variant>
        <vt:lpstr>幻灯片标题</vt:lpstr>
      </vt:variant>
      <vt:variant>
        <vt:i4>51</vt:i4>
      </vt:variant>
    </vt:vector>
  </HeadingPairs>
  <TitlesOfParts>
    <vt:vector size="80" baseType="lpstr">
      <vt:lpstr>Euclid</vt:lpstr>
      <vt:lpstr>等线</vt:lpstr>
      <vt:lpstr>华光综艺_CNKI</vt:lpstr>
      <vt:lpstr>思源黑体</vt:lpstr>
      <vt:lpstr>思源黑体 CN Bold</vt:lpstr>
      <vt:lpstr>微软雅黑</vt:lpstr>
      <vt:lpstr>Arial</vt:lpstr>
      <vt:lpstr>Arial Rounded MT Bold</vt:lpstr>
      <vt:lpstr>Calibri</vt:lpstr>
      <vt:lpstr>Cambria Math</vt:lpstr>
      <vt:lpstr>Consolas</vt:lpstr>
      <vt:lpstr>Impact</vt:lpstr>
      <vt:lpstr>Segoe UI</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vt:lpstr>
      <vt:lpstr>Photo Editor 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Star Champion</cp:lastModifiedBy>
  <cp:revision>2518</cp:revision>
  <dcterms:created xsi:type="dcterms:W3CDTF">2022-05-23T09:13:00Z</dcterms:created>
  <dcterms:modified xsi:type="dcterms:W3CDTF">2025-04-18T13:16:00Z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