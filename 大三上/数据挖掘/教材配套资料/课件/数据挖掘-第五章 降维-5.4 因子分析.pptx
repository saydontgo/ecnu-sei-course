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2"/>
    <p:sldId id="322" r:id="rId3"/>
    <p:sldId id="372" r:id="rId4"/>
    <p:sldId id="323" r:id="rId5"/>
    <p:sldId id="324" r:id="rId6"/>
    <p:sldId id="373" r:id="rId7"/>
    <p:sldId id="325" r:id="rId8"/>
    <p:sldId id="326" r:id="rId9"/>
    <p:sldId id="327" r:id="rId10"/>
    <p:sldId id="328" r:id="rId11"/>
    <p:sldId id="374" r:id="rId12"/>
    <p:sldId id="330" r:id="rId13"/>
    <p:sldId id="375" r:id="rId14"/>
    <p:sldId id="1550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showGuides="1">
      <p:cViewPr varScale="1">
        <p:scale>
          <a:sx n="83" d="100"/>
          <a:sy n="83" d="100"/>
        </p:scale>
        <p:origin x="614" y="48"/>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3736-BDE8-B700-5152-A208FD162E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D9DC6A-5D83-7C6C-7309-23DB1D5196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B2D361-ED1C-86D7-65DD-8A982F3B45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6182A261-9DDB-EE7F-FF0D-1B200A4F2E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940478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9851-C674-455A-5866-AFC38BB75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979CC1-E266-2F6A-7575-154A848882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3B45CA-0FBA-FEFF-9143-395CB40594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99EB0BB2-05F3-96E0-E915-78197EAD7D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456713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D811-AF5E-C3BC-4E1F-DCC0BD375E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978BD6-ACAE-CA24-65D2-776F3BD59E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CCC404-94D7-2FC7-D6FB-BCFE7D0D98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6874A57C-91A9-AF53-3269-BAD530DFC8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950235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AA4C-9474-A3BA-D625-712C305BE9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90660-AD05-AAAD-75B5-76954C866C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FDCAF9-61BA-E18B-A963-CED0458D8B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C36BA79D-266B-A173-A1B4-E0D012B26C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572379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oleObject" Target="../embeddings/oleObject2.bin"/><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0.bin"/><Relationship Id="rId18" Type="http://schemas.openxmlformats.org/officeDocument/2006/relationships/image" Target="../media/image20.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7.emf"/><Relationship Id="rId17" Type="http://schemas.openxmlformats.org/officeDocument/2006/relationships/oleObject" Target="../embeddings/oleObject12.bin"/><Relationship Id="rId2" Type="http://schemas.openxmlformats.org/officeDocument/2006/relationships/notesSlide" Target="../notesSlides/notesSlide5.xml"/><Relationship Id="rId16"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image" Target="../media/image14.e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16.emf"/><Relationship Id="rId4" Type="http://schemas.openxmlformats.org/officeDocument/2006/relationships/image" Target="../media/image13.emf"/><Relationship Id="rId9" Type="http://schemas.openxmlformats.org/officeDocument/2006/relationships/oleObject" Target="../embeddings/oleObject8.bin"/><Relationship Id="rId14" Type="http://schemas.openxmlformats.org/officeDocument/2006/relationships/image" Target="../media/image18.wmf"/></Relationships>
</file>

<file path=ppt/slides/_rels/slide6.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5.bin"/><Relationship Id="rId7" Type="http://schemas.openxmlformats.org/officeDocument/2006/relationships/oleObject" Target="../embeddings/oleObject14.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oleObject" Target="../embeddings/oleObject13.bin"/><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0.bin"/><Relationship Id="rId18" Type="http://schemas.openxmlformats.org/officeDocument/2006/relationships/image" Target="../media/image30.wmf"/><Relationship Id="rId3" Type="http://schemas.openxmlformats.org/officeDocument/2006/relationships/oleObject" Target="../embeddings/oleObject15.bin"/><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27.wmf"/><Relationship Id="rId17" Type="http://schemas.openxmlformats.org/officeDocument/2006/relationships/oleObject" Target="../embeddings/oleObject22.bin"/><Relationship Id="rId2" Type="http://schemas.openxmlformats.org/officeDocument/2006/relationships/notesSlide" Target="../notesSlides/notesSlide7.xml"/><Relationship Id="rId16" Type="http://schemas.openxmlformats.org/officeDocument/2006/relationships/image" Target="../media/image29.wmf"/><Relationship Id="rId20" Type="http://schemas.openxmlformats.org/officeDocument/2006/relationships/image" Target="../media/image31.wmf"/><Relationship Id="rId1" Type="http://schemas.openxmlformats.org/officeDocument/2006/relationships/slideLayout" Target="../slideLayouts/slideLayout2.xml"/><Relationship Id="rId6" Type="http://schemas.openxmlformats.org/officeDocument/2006/relationships/image" Target="../media/image24.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6.wmf"/><Relationship Id="rId19" Type="http://schemas.openxmlformats.org/officeDocument/2006/relationships/oleObject" Target="../embeddings/oleObject23.bin"/><Relationship Id="rId4" Type="http://schemas.openxmlformats.org/officeDocument/2006/relationships/image" Target="../media/image23.wmf"/><Relationship Id="rId9" Type="http://schemas.openxmlformats.org/officeDocument/2006/relationships/oleObject" Target="../embeddings/oleObject18.bin"/><Relationship Id="rId14" Type="http://schemas.openxmlformats.org/officeDocument/2006/relationships/image" Target="../media/image28.wmf"/><Relationship Id="rId22" Type="http://schemas.openxmlformats.org/officeDocument/2006/relationships/image" Target="../media/image32.wmf"/></Relationships>
</file>

<file path=ppt/slides/_rels/slide8.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26.bin"/><Relationship Id="rId4" Type="http://schemas.openxmlformats.org/officeDocument/2006/relationships/image" Target="../media/image33.wmf"/></Relationships>
</file>

<file path=ppt/slides/_rels/slide9.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3.bin"/><Relationship Id="rId18" Type="http://schemas.openxmlformats.org/officeDocument/2006/relationships/image" Target="../media/image43.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40.wmf"/><Relationship Id="rId17" Type="http://schemas.openxmlformats.org/officeDocument/2006/relationships/oleObject" Target="../embeddings/oleObject35.bin"/><Relationship Id="rId2" Type="http://schemas.openxmlformats.org/officeDocument/2006/relationships/notesSlide" Target="../notesSlides/notesSlide9.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slideLayout" Target="../slideLayouts/slideLayout2.xml"/><Relationship Id="rId6" Type="http://schemas.openxmlformats.org/officeDocument/2006/relationships/image" Target="../media/image37.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39.wmf"/><Relationship Id="rId19" Type="http://schemas.openxmlformats.org/officeDocument/2006/relationships/oleObject" Target="../embeddings/oleObject36.bin"/><Relationship Id="rId4" Type="http://schemas.openxmlformats.org/officeDocument/2006/relationships/image" Target="../media/image36.wmf"/><Relationship Id="rId9" Type="http://schemas.openxmlformats.org/officeDocument/2006/relationships/oleObject" Target="../embeddings/oleObject31.bin"/><Relationship Id="rId14" Type="http://schemas.openxmlformats.org/officeDocument/2006/relationships/image" Target="../media/image41.wmf"/></Relationships>
</file>

<file path=ppt/slides/_rels/slide10.xml.rels><?xml version="1.0" encoding="UTF-8" standalone="yes"?>
<Relationships xmlns="http://schemas.openxmlformats.org/package/2006/relationships"><Relationship Id="rId8" Type="http://schemas.openxmlformats.org/officeDocument/2006/relationships/image" Target="../media/image47.emf"/><Relationship Id="rId13" Type="http://schemas.openxmlformats.org/officeDocument/2006/relationships/oleObject" Target="../embeddings/oleObject42.bin"/><Relationship Id="rId18" Type="http://schemas.openxmlformats.org/officeDocument/2006/relationships/image" Target="../media/image52.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9.wmf"/><Relationship Id="rId17" Type="http://schemas.openxmlformats.org/officeDocument/2006/relationships/oleObject" Target="../embeddings/oleObject44.bin"/><Relationship Id="rId2" Type="http://schemas.openxmlformats.org/officeDocument/2006/relationships/notesSlide" Target="../notesSlides/notesSlide10.xml"/><Relationship Id="rId16" Type="http://schemas.openxmlformats.org/officeDocument/2006/relationships/image" Target="../media/image51.wmf"/><Relationship Id="rId20" Type="http://schemas.openxmlformats.org/officeDocument/2006/relationships/image" Target="../media/image53.wmf"/><Relationship Id="rId1" Type="http://schemas.openxmlformats.org/officeDocument/2006/relationships/slideLayout" Target="../slideLayouts/slideLayout2.xml"/><Relationship Id="rId6" Type="http://schemas.openxmlformats.org/officeDocument/2006/relationships/image" Target="../media/image46.e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48.wmf"/><Relationship Id="rId19" Type="http://schemas.openxmlformats.org/officeDocument/2006/relationships/oleObject" Target="../embeddings/oleObject45.bin"/><Relationship Id="rId4" Type="http://schemas.openxmlformats.org/officeDocument/2006/relationships/image" Target="../media/image45.emf"/><Relationship Id="rId9" Type="http://schemas.openxmlformats.org/officeDocument/2006/relationships/oleObject" Target="../embeddings/oleObject40.bin"/><Relationship Id="rId14" Type="http://schemas.openxmlformats.org/officeDocument/2006/relationships/image" Target="../media/image50.wmf"/></Relationships>
</file>

<file path=ppt/slides/_rels/slide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826D7-750E-F404-CED1-19D0F8753C5B}"/>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5.4</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因子分析</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因子分析基本概念</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9" name="文本框 18"/>
          <p:cNvSpPr txBox="1"/>
          <p:nvPr/>
        </p:nvSpPr>
        <p:spPr>
          <a:xfrm>
            <a:off x="622796" y="1658229"/>
            <a:ext cx="10763141" cy="3247877"/>
          </a:xfrm>
          <a:prstGeom prst="rect">
            <a:avLst/>
          </a:prstGeom>
          <a:noFill/>
        </p:spPr>
        <p:txBody>
          <a:bodyPr wrap="square">
            <a:spAutoFit/>
          </a:bodyPr>
          <a:lstStyle/>
          <a:p>
            <a:pPr>
              <a:lnSpc>
                <a:spcPct val="150000"/>
              </a:lnSpc>
            </a:pPr>
            <a:r>
              <a:rPr lang="en-US"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    </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因子分析</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a:t>
            </a:r>
            <a:r>
              <a:rPr lang="en-US" altLang="zh-CN" sz="2800" kern="100" dirty="0">
                <a:effectLst/>
                <a:latin typeface="微软雅黑" panose="020B0503020204020204" charset="-122"/>
                <a:ea typeface="微软雅黑" panose="020B0503020204020204" charset="-122"/>
              </a:rPr>
              <a:t>Factor Analysis</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a:t>
            </a:r>
            <a:r>
              <a:rPr lang="en-US" altLang="zh-CN" sz="2800" b="1" kern="100" dirty="0">
                <a:solidFill>
                  <a:schemeClr val="accent1">
                    <a:lumMod val="75000"/>
                  </a:schemeClr>
                </a:solidFill>
                <a:effectLst/>
                <a:latin typeface="微软雅黑" panose="020B0503020204020204" charset="-122"/>
                <a:ea typeface="微软雅黑" panose="020B0503020204020204" charset="-122"/>
              </a:rPr>
              <a:t>FA</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）是用</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较少几个因子</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表示原始数据的大部分信息的一种线性降维方法。</a:t>
            </a:r>
            <a:endParaRPr lang="en-US" altLang="zh-CN" sz="2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pPr>
            <a:r>
              <a:rPr lang="en-US" altLang="zh-CN" sz="2800" kern="100" dirty="0">
                <a:effectLst/>
                <a:latin typeface="微软雅黑" panose="020B0503020204020204" charset="-122"/>
                <a:ea typeface="微软雅黑" panose="020B0503020204020204" charset="-122"/>
              </a:rPr>
              <a:t>    FA</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算法的基本思想是把每个研究变量</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分解</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为</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两部分因素</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，一部分是由所有变量</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共同具有</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少数几个</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公共因子</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组成的，另一部分是每个变量</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独自</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具有的因素，即</a:t>
            </a:r>
            <a:r>
              <a:rPr lang="zh-CN" altLang="zh-CN" sz="2800" b="1" kern="100" dirty="0">
                <a:solidFill>
                  <a:schemeClr val="accent1">
                    <a:lumMod val="75000"/>
                  </a:schemeClr>
                </a:solidFill>
                <a:effectLst/>
                <a:latin typeface="微软雅黑" panose="020B0503020204020204" charset="-122"/>
                <a:ea typeface="微软雅黑" panose="020B0503020204020204" charset="-122"/>
                <a:cs typeface="Times New Roman" panose="02020603050405020304" pitchFamily="18" charset="0"/>
              </a:rPr>
              <a:t>特殊因子</a:t>
            </a:r>
            <a:r>
              <a:rPr lang="zh-CN" altLang="zh-CN" sz="2800" kern="100" dirty="0">
                <a:effectLst/>
                <a:latin typeface="微软雅黑" panose="020B0503020204020204" charset="-122"/>
                <a:ea typeface="微软雅黑" panose="020B0503020204020204" charset="-122"/>
                <a:cs typeface="Times New Roman" panose="02020603050405020304" pitchFamily="18" charset="0"/>
              </a:rPr>
              <a:t>。</a:t>
            </a:r>
            <a:endParaRPr lang="zh-CN" altLang="en-US" sz="28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CD6F-1C0D-F25C-62FB-6B5A316BDAE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64A6EFE-5B6D-D676-44B6-A93BFF8A422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因子分析基本概念</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pSp>
        <p:nvGrpSpPr>
          <p:cNvPr id="5" name="组合 4">
            <a:extLst>
              <a:ext uri="{FF2B5EF4-FFF2-40B4-BE49-F238E27FC236}">
                <a16:creationId xmlns:a16="http://schemas.microsoft.com/office/drawing/2014/main" id="{7D3D513D-EF5A-C519-E0D9-C15EC261C46C}"/>
              </a:ext>
            </a:extLst>
          </p:cNvPr>
          <p:cNvGrpSpPr/>
          <p:nvPr/>
        </p:nvGrpSpPr>
        <p:grpSpPr>
          <a:xfrm>
            <a:off x="5407677" y="1827537"/>
            <a:ext cx="6697431" cy="4037591"/>
            <a:chOff x="340043" y="3429000"/>
            <a:chExt cx="6417944" cy="3365468"/>
          </a:xfrm>
        </p:grpSpPr>
        <p:pic>
          <p:nvPicPr>
            <p:cNvPr id="4" name="图片 3">
              <a:extLst>
                <a:ext uri="{FF2B5EF4-FFF2-40B4-BE49-F238E27FC236}">
                  <a16:creationId xmlns:a16="http://schemas.microsoft.com/office/drawing/2014/main" id="{50660C5E-60E4-F385-C704-7D0C23A5C3AB}"/>
                </a:ext>
              </a:extLst>
            </p:cNvPr>
            <p:cNvPicPr>
              <a:picLocks noChangeAspect="1"/>
            </p:cNvPicPr>
            <p:nvPr/>
          </p:nvPicPr>
          <p:blipFill>
            <a:blip r:embed="rId3"/>
            <a:stretch>
              <a:fillRect/>
            </a:stretch>
          </p:blipFill>
          <p:spPr>
            <a:xfrm>
              <a:off x="340043" y="3429000"/>
              <a:ext cx="6018953" cy="2982913"/>
            </a:xfrm>
            <a:prstGeom prst="rect">
              <a:avLst/>
            </a:prstGeom>
            <a:noFill/>
            <a:ln>
              <a:noFill/>
            </a:ln>
          </p:spPr>
        </p:pic>
        <p:sp>
          <p:nvSpPr>
            <p:cNvPr id="13" name="文本框 12">
              <a:extLst>
                <a:ext uri="{FF2B5EF4-FFF2-40B4-BE49-F238E27FC236}">
                  <a16:creationId xmlns:a16="http://schemas.microsoft.com/office/drawing/2014/main" id="{6A550B9F-5692-AB50-9A3F-691E33CFD947}"/>
                </a:ext>
              </a:extLst>
            </p:cNvPr>
            <p:cNvSpPr txBox="1"/>
            <p:nvPr/>
          </p:nvSpPr>
          <p:spPr>
            <a:xfrm>
              <a:off x="660083" y="6425136"/>
              <a:ext cx="6097904" cy="369332"/>
            </a:xfrm>
            <a:prstGeom prst="rect">
              <a:avLst/>
            </a:prstGeom>
            <a:noFill/>
          </p:spPr>
          <p:txBody>
            <a:bodyPr wrap="square">
              <a:spAutoFit/>
            </a:bodyPr>
            <a:lstStyle/>
            <a:p>
              <a:r>
                <a:rPr lang="zh-CN" altLang="zh-CN" sz="1800" kern="100" dirty="0">
                  <a:effectLst/>
                  <a:latin typeface="微软雅黑" panose="020B0503020204020204" charset="-122"/>
                  <a:ea typeface="微软雅黑" panose="020B0503020204020204" charset="-122"/>
                  <a:cs typeface="Times New Roman" panose="02020603050405020304" pitchFamily="18" charset="0"/>
                </a:rPr>
                <a:t>主成分分析算法示意图</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en-US" kern="100" dirty="0">
                  <a:latin typeface="微软雅黑" panose="020B0503020204020204" charset="-122"/>
                  <a:ea typeface="微软雅黑" panose="020B0503020204020204" charset="-122"/>
                  <a:cs typeface="Times New Roman" panose="02020603050405020304" pitchFamily="18" charset="0"/>
                </a:rPr>
                <a:t>因子分析算法示意图</a:t>
              </a:r>
              <a:endParaRPr lang="zh-CN" altLang="en-US" dirty="0">
                <a:latin typeface="微软雅黑" panose="020B0503020204020204" charset="-122"/>
                <a:ea typeface="微软雅黑" panose="020B0503020204020204" charset="-122"/>
              </a:endParaRPr>
            </a:p>
          </p:txBody>
        </p:sp>
      </p:grpSp>
      <p:sp>
        <p:nvSpPr>
          <p:cNvPr id="130" name="文本框 129">
            <a:extLst>
              <a:ext uri="{FF2B5EF4-FFF2-40B4-BE49-F238E27FC236}">
                <a16:creationId xmlns:a16="http://schemas.microsoft.com/office/drawing/2014/main" id="{9D620297-7A51-B21B-466D-E483C61C934C}"/>
              </a:ext>
            </a:extLst>
          </p:cNvPr>
          <p:cNvSpPr txBox="1"/>
          <p:nvPr/>
        </p:nvSpPr>
        <p:spPr>
          <a:xfrm>
            <a:off x="261213" y="1827537"/>
            <a:ext cx="4837015" cy="3828420"/>
          </a:xfrm>
          <a:prstGeom prst="rect">
            <a:avLst/>
          </a:prstGeom>
          <a:noFill/>
        </p:spPr>
        <p:txBody>
          <a:bodyPr wrap="square">
            <a:spAutoFit/>
          </a:bodyPr>
          <a:lstStyle/>
          <a:p>
            <a:pPr defTabSz="642620" eaLnBrk="0" fontAlgn="base" hangingPunct="0">
              <a:lnSpc>
                <a:spcPct val="150000"/>
              </a:lnSpc>
              <a:spcBef>
                <a:spcPct val="0"/>
              </a:spcBef>
              <a:spcAft>
                <a:spcPts val="1200"/>
              </a:spcAft>
            </a:pPr>
            <a:r>
              <a:rPr lang="zh-CN" altLang="en-US" sz="2000" dirty="0">
                <a:solidFill>
                  <a:prstClr val="black"/>
                </a:solidFill>
                <a:latin typeface="微软雅黑" panose="020B0503020204020204" charset="-122"/>
                <a:ea typeface="微软雅黑" panose="020B0503020204020204" charset="-122"/>
              </a:rPr>
              <a:t>因子分析是主成分分析的</a:t>
            </a:r>
            <a:r>
              <a:rPr lang="zh-CN" altLang="en-US" sz="2000" dirty="0">
                <a:solidFill>
                  <a:schemeClr val="accent1">
                    <a:lumMod val="75000"/>
                  </a:schemeClr>
                </a:solidFill>
                <a:latin typeface="微软雅黑" panose="020B0503020204020204" charset="-122"/>
                <a:ea typeface="微软雅黑" panose="020B0503020204020204" charset="-122"/>
              </a:rPr>
              <a:t>推广</a:t>
            </a:r>
            <a:r>
              <a:rPr lang="zh-CN" altLang="en-US" sz="2000" dirty="0">
                <a:solidFill>
                  <a:prstClr val="black"/>
                </a:solidFill>
                <a:latin typeface="微软雅黑" panose="020B0503020204020204" charset="-122"/>
                <a:ea typeface="微软雅黑" panose="020B0503020204020204" charset="-122"/>
              </a:rPr>
              <a:t>，相对于主成分分析，因子分析更侧重于描述</a:t>
            </a:r>
            <a:r>
              <a:rPr lang="zh-CN" altLang="en-US" sz="2000" b="1" dirty="0">
                <a:solidFill>
                  <a:srgbClr val="0000FF"/>
                </a:solidFill>
                <a:latin typeface="微软雅黑" panose="020B0503020204020204" charset="-122"/>
                <a:ea typeface="微软雅黑" panose="020B0503020204020204" charset="-122"/>
              </a:rPr>
              <a:t>原始变量之间存在的相关关系</a:t>
            </a:r>
            <a:r>
              <a:rPr lang="zh-CN" altLang="en-US" sz="2000" b="1" dirty="0">
                <a:solidFill>
                  <a:prstClr val="black"/>
                </a:solidFill>
                <a:latin typeface="微软雅黑" panose="020B0503020204020204" charset="-122"/>
                <a:ea typeface="微软雅黑" panose="020B0503020204020204" charset="-122"/>
              </a:rPr>
              <a:t>。</a:t>
            </a:r>
            <a:endParaRPr lang="en-US" altLang="zh-CN" sz="2000" b="1" dirty="0">
              <a:solidFill>
                <a:prstClr val="black"/>
              </a:solidFill>
              <a:latin typeface="微软雅黑" panose="020B0503020204020204" charset="-122"/>
              <a:ea typeface="微软雅黑" panose="020B0503020204020204" charset="-122"/>
            </a:endParaRPr>
          </a:p>
          <a:p>
            <a:pPr defTabSz="642620" eaLnBrk="0" fontAlgn="base" hangingPunct="0">
              <a:lnSpc>
                <a:spcPct val="150000"/>
              </a:lnSpc>
              <a:spcBef>
                <a:spcPct val="0"/>
              </a:spcBef>
              <a:spcAft>
                <a:spcPct val="0"/>
              </a:spcAft>
            </a:pPr>
            <a:r>
              <a:rPr lang="zh-CN" altLang="zh-CN" sz="2000" kern="100" dirty="0">
                <a:effectLst/>
                <a:latin typeface="微软雅黑" panose="020B0503020204020204" charset="-122"/>
                <a:ea typeface="微软雅黑" panose="020B0503020204020204" charset="-122"/>
                <a:cs typeface="Times New Roman" panose="02020603050405020304" pitchFamily="18" charset="0"/>
              </a:rPr>
              <a:t>主成分分析采用线性变换将一组统计变量变换为新的互不相关的综合变量，而因子分析采用公共因子和特殊因子对变量进行解释。</a:t>
            </a:r>
            <a:endParaRPr lang="zh-CN" altLang="en-US" sz="2000" dirty="0">
              <a:latin typeface="微软雅黑" panose="020B0503020204020204" charset="-122"/>
              <a:ea typeface="微软雅黑" panose="020B0503020204020204" charset="-122"/>
            </a:endParaRPr>
          </a:p>
          <a:p>
            <a:pPr defTabSz="642620" eaLnBrk="0" fontAlgn="base" hangingPunct="0">
              <a:lnSpc>
                <a:spcPct val="150000"/>
              </a:lnSpc>
              <a:spcBef>
                <a:spcPct val="0"/>
              </a:spcBef>
              <a:spcAft>
                <a:spcPct val="0"/>
              </a:spcAft>
            </a:pPr>
            <a:endParaRPr lang="zh-CN" altLang="en-US" sz="1800" b="1" dirty="0">
              <a:solidFill>
                <a:prstClr val="black"/>
              </a:solidFill>
              <a:latin typeface="黑体" panose="02010609060101010101" charset="-122"/>
              <a:ea typeface="黑体" panose="02010609060101010101" charset="-122"/>
            </a:endParaRPr>
          </a:p>
        </p:txBody>
      </p:sp>
    </p:spTree>
    <p:extLst>
      <p:ext uri="{BB962C8B-B14F-4D97-AF65-F5344CB8AC3E}">
        <p14:creationId xmlns:p14="http://schemas.microsoft.com/office/powerpoint/2010/main" val="13838852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因子分析基本概念</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945968197"/>
              </p:ext>
            </p:extLst>
          </p:nvPr>
        </p:nvGraphicFramePr>
        <p:xfrm>
          <a:off x="679450" y="2332801"/>
          <a:ext cx="4630737" cy="2271713"/>
        </p:xfrm>
        <a:graphic>
          <a:graphicData uri="http://schemas.openxmlformats.org/presentationml/2006/ole">
            <mc:AlternateContent xmlns:mc="http://schemas.openxmlformats.org/markup-compatibility/2006">
              <mc:Choice xmlns:v="urn:schemas-microsoft-com:vml" Requires="v">
                <p:oleObj name="Equation" r:id="rId3" imgW="4631690" imgH="2273935" progId="Equation.DSMT4">
                  <p:embed/>
                </p:oleObj>
              </mc:Choice>
              <mc:Fallback>
                <p:oleObj name="Equation" r:id="rId3" imgW="4631690" imgH="2273935" progId="Equation.DSMT4">
                  <p:embed/>
                  <p:pic>
                    <p:nvPicPr>
                      <p:cNvPr id="0" name="图片 8"/>
                      <p:cNvPicPr/>
                      <p:nvPr/>
                    </p:nvPicPr>
                    <p:blipFill>
                      <a:blip r:embed="rId4"/>
                      <a:stretch>
                        <a:fillRect/>
                      </a:stretch>
                    </p:blipFill>
                    <p:spPr>
                      <a:xfrm>
                        <a:off x="679450" y="2332801"/>
                        <a:ext cx="4630737" cy="2271713"/>
                      </a:xfrm>
                      <a:prstGeom prst="rect">
                        <a:avLst/>
                      </a:prstGeom>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340068284"/>
              </p:ext>
            </p:extLst>
          </p:nvPr>
        </p:nvGraphicFramePr>
        <p:xfrm>
          <a:off x="6096000" y="2332801"/>
          <a:ext cx="5565775" cy="2030413"/>
        </p:xfrm>
        <a:graphic>
          <a:graphicData uri="http://schemas.openxmlformats.org/presentationml/2006/ole">
            <mc:AlternateContent xmlns:mc="http://schemas.openxmlformats.org/markup-compatibility/2006">
              <mc:Choice xmlns:v="urn:schemas-microsoft-com:vml" Requires="v">
                <p:oleObj name="Equation" r:id="rId5" imgW="5567045" imgH="2031365" progId="Equation.DSMT4">
                  <p:embed/>
                </p:oleObj>
              </mc:Choice>
              <mc:Fallback>
                <p:oleObj name="Equation" r:id="rId5" imgW="5567045" imgH="2031365" progId="Equation.DSMT4">
                  <p:embed/>
                  <p:pic>
                    <p:nvPicPr>
                      <p:cNvPr id="0" name="图片 3"/>
                      <p:cNvPicPr/>
                      <p:nvPr/>
                    </p:nvPicPr>
                    <p:blipFill>
                      <a:blip r:embed="rId6"/>
                      <a:stretch>
                        <a:fillRect/>
                      </a:stretch>
                    </p:blipFill>
                    <p:spPr>
                      <a:xfrm>
                        <a:off x="6096000" y="2332801"/>
                        <a:ext cx="5565775" cy="2030413"/>
                      </a:xfrm>
                      <a:prstGeom prst="rect">
                        <a:avLst/>
                      </a:prstGeom>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1834170231"/>
              </p:ext>
            </p:extLst>
          </p:nvPr>
        </p:nvGraphicFramePr>
        <p:xfrm>
          <a:off x="2107276" y="1644344"/>
          <a:ext cx="1838800" cy="544830"/>
        </p:xfrm>
        <a:graphic>
          <a:graphicData uri="http://schemas.openxmlformats.org/presentationml/2006/ole">
            <mc:AlternateContent xmlns:mc="http://schemas.openxmlformats.org/markup-compatibility/2006">
              <mc:Choice xmlns:v="urn:schemas-microsoft-com:vml" Requires="v">
                <p:oleObj name="Equation" r:id="rId7" imgW="1158240" imgH="344170" progId="Equation.DSMT4">
                  <p:embed/>
                </p:oleObj>
              </mc:Choice>
              <mc:Fallback>
                <p:oleObj name="Equation" r:id="rId7" imgW="1158240" imgH="344170" progId="Equation.DSMT4">
                  <p:embed/>
                  <p:pic>
                    <p:nvPicPr>
                      <p:cNvPr id="0" name="图片 5"/>
                      <p:cNvPicPr/>
                      <p:nvPr/>
                    </p:nvPicPr>
                    <p:blipFill>
                      <a:blip r:embed="rId8"/>
                      <a:stretch>
                        <a:fillRect/>
                      </a:stretch>
                    </p:blipFill>
                    <p:spPr>
                      <a:xfrm>
                        <a:off x="2107276" y="1644344"/>
                        <a:ext cx="1838800" cy="544830"/>
                      </a:xfrm>
                      <a:prstGeom prst="rect">
                        <a:avLst/>
                      </a:prstGeom>
                    </p:spPr>
                  </p:pic>
                </p:oleObj>
              </mc:Fallback>
            </mc:AlternateContent>
          </a:graphicData>
        </a:graphic>
      </p:graphicFrame>
      <p:sp>
        <p:nvSpPr>
          <p:cNvPr id="50" name="TextBox 17"/>
          <p:cNvSpPr txBox="1"/>
          <p:nvPr/>
        </p:nvSpPr>
        <p:spPr>
          <a:xfrm>
            <a:off x="1893455" y="4791522"/>
            <a:ext cx="2052621" cy="523220"/>
          </a:xfrm>
          <a:prstGeom prst="rect">
            <a:avLst/>
          </a:prstGeom>
          <a:noFill/>
        </p:spPr>
        <p:txBody>
          <a:bodyPr wrap="square">
            <a:spAutoFit/>
          </a:bodyPr>
          <a:lstStyle/>
          <a:p>
            <a:pPr defTabSz="914400" eaLnBrk="0" fontAlgn="base" hangingPunct="0">
              <a:spcBef>
                <a:spcPct val="0"/>
              </a:spcBef>
              <a:spcAft>
                <a:spcPct val="0"/>
              </a:spcAft>
            </a:pPr>
            <a:r>
              <a:rPr lang="zh-CN" altLang="en-US" sz="2800" b="1" dirty="0">
                <a:solidFill>
                  <a:srgbClr val="000000"/>
                </a:solidFill>
                <a:latin typeface="黑体" panose="02010609060101010101" charset="-122"/>
                <a:ea typeface="黑体" panose="02010609060101010101" charset="-122"/>
              </a:rPr>
              <a:t>主成分分析</a:t>
            </a:r>
            <a:endParaRPr lang="en-US" sz="2800" dirty="0">
              <a:solidFill>
                <a:prstClr val="black"/>
              </a:solidFill>
              <a:latin typeface="Arial" panose="020B0604020202020204" pitchFamily="34" charset="0"/>
              <a:ea typeface="宋体" panose="02010600030101010101" pitchFamily="2" charset="-122"/>
            </a:endParaRPr>
          </a:p>
        </p:txBody>
      </p:sp>
      <p:sp>
        <p:nvSpPr>
          <p:cNvPr id="51" name="TextBox 18"/>
          <p:cNvSpPr txBox="1"/>
          <p:nvPr/>
        </p:nvSpPr>
        <p:spPr>
          <a:xfrm>
            <a:off x="8040057" y="4791522"/>
            <a:ext cx="1995483" cy="523220"/>
          </a:xfrm>
          <a:prstGeom prst="rect">
            <a:avLst/>
          </a:prstGeom>
          <a:noFill/>
        </p:spPr>
        <p:txBody>
          <a:bodyPr wrap="square">
            <a:spAutoFit/>
          </a:bodyPr>
          <a:lstStyle/>
          <a:p>
            <a:pPr defTabSz="914400" eaLnBrk="0" fontAlgn="base" hangingPunct="0">
              <a:spcBef>
                <a:spcPct val="0"/>
              </a:spcBef>
              <a:spcAft>
                <a:spcPct val="0"/>
              </a:spcAft>
            </a:pPr>
            <a:r>
              <a:rPr lang="zh-CN" altLang="en-US" sz="2800" b="1" dirty="0">
                <a:solidFill>
                  <a:srgbClr val="000000"/>
                </a:solidFill>
                <a:latin typeface="黑体" panose="02010609060101010101" charset="-122"/>
                <a:ea typeface="黑体" panose="02010609060101010101" charset="-122"/>
              </a:rPr>
              <a:t>因子分析</a:t>
            </a:r>
            <a:endParaRPr lang="en-US" sz="2800" dirty="0">
              <a:solidFill>
                <a:prstClr val="black"/>
              </a:solidFill>
              <a:latin typeface="Arial" panose="020B0604020202020204" pitchFamily="34" charset="0"/>
              <a:ea typeface="宋体" panose="02010600030101010101" pitchFamily="2" charset="-122"/>
            </a:endParaRPr>
          </a:p>
        </p:txBody>
      </p:sp>
      <p:graphicFrame>
        <p:nvGraphicFramePr>
          <p:cNvPr id="52" name="对象 51"/>
          <p:cNvGraphicFramePr>
            <a:graphicFrameLocks noChangeAspect="1"/>
          </p:cNvGraphicFramePr>
          <p:nvPr>
            <p:extLst>
              <p:ext uri="{D42A27DB-BD31-4B8C-83A1-F6EECF244321}">
                <p14:modId xmlns:p14="http://schemas.microsoft.com/office/powerpoint/2010/main" val="3937225066"/>
              </p:ext>
            </p:extLst>
          </p:nvPr>
        </p:nvGraphicFramePr>
        <p:xfrm>
          <a:off x="7323967" y="1622043"/>
          <a:ext cx="2760757" cy="517642"/>
        </p:xfrm>
        <a:graphic>
          <a:graphicData uri="http://schemas.openxmlformats.org/presentationml/2006/ole">
            <mc:AlternateContent xmlns:mc="http://schemas.openxmlformats.org/markup-compatibility/2006">
              <mc:Choice xmlns:v="urn:schemas-microsoft-com:vml" Requires="v">
                <p:oleObj name="Equation" r:id="rId9" imgW="1830070" imgH="344170" progId="Equation.DSMT4">
                  <p:embed/>
                </p:oleObj>
              </mc:Choice>
              <mc:Fallback>
                <p:oleObj name="Equation" r:id="rId9" imgW="1830070" imgH="344170" progId="Equation.DSMT4">
                  <p:embed/>
                  <p:pic>
                    <p:nvPicPr>
                      <p:cNvPr id="0" name="图片 7"/>
                      <p:cNvPicPr/>
                      <p:nvPr/>
                    </p:nvPicPr>
                    <p:blipFill>
                      <a:blip r:embed="rId10"/>
                      <a:stretch>
                        <a:fillRect/>
                      </a:stretch>
                    </p:blipFill>
                    <p:spPr>
                      <a:xfrm>
                        <a:off x="7323967" y="1622043"/>
                        <a:ext cx="2760757" cy="517642"/>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52" name="对象 51"/>
          <p:cNvGraphicFramePr>
            <a:graphicFrameLocks noChangeAspect="1"/>
          </p:cNvGraphicFramePr>
          <p:nvPr>
            <p:extLst>
              <p:ext uri="{D42A27DB-BD31-4B8C-83A1-F6EECF244321}">
                <p14:modId xmlns:p14="http://schemas.microsoft.com/office/powerpoint/2010/main" val="3130224309"/>
              </p:ext>
            </p:extLst>
          </p:nvPr>
        </p:nvGraphicFramePr>
        <p:xfrm>
          <a:off x="4496486" y="2140174"/>
          <a:ext cx="2760757" cy="517642"/>
        </p:xfrm>
        <a:graphic>
          <a:graphicData uri="http://schemas.openxmlformats.org/presentationml/2006/ole">
            <mc:AlternateContent xmlns:mc="http://schemas.openxmlformats.org/markup-compatibility/2006">
              <mc:Choice xmlns:v="urn:schemas-microsoft-com:vml" Requires="v">
                <p:oleObj name="Equation" r:id="rId3" imgW="1830070" imgH="344170" progId="Equation.DSMT4">
                  <p:embed/>
                </p:oleObj>
              </mc:Choice>
              <mc:Fallback>
                <p:oleObj name="Equation" r:id="rId3" imgW="1830070" imgH="344170" progId="Equation.DSMT4">
                  <p:embed/>
                  <p:pic>
                    <p:nvPicPr>
                      <p:cNvPr id="0" name="对象 51"/>
                      <p:cNvPicPr/>
                      <p:nvPr/>
                    </p:nvPicPr>
                    <p:blipFill>
                      <a:blip r:embed="rId4"/>
                      <a:stretch>
                        <a:fillRect/>
                      </a:stretch>
                    </p:blipFill>
                    <p:spPr>
                      <a:xfrm>
                        <a:off x="4496486" y="2140174"/>
                        <a:ext cx="2760757" cy="517642"/>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62C6E826-D2A5-14F5-105A-ABAC48CAF836}"/>
              </a:ext>
            </a:extLst>
          </p:cNvPr>
          <p:cNvGrpSpPr/>
          <p:nvPr/>
        </p:nvGrpSpPr>
        <p:grpSpPr>
          <a:xfrm>
            <a:off x="460842" y="3675646"/>
            <a:ext cx="11270315" cy="1765803"/>
            <a:chOff x="369209" y="2386211"/>
            <a:chExt cx="11270315" cy="1765803"/>
          </a:xfrm>
        </p:grpSpPr>
        <p:grpSp>
          <p:nvGrpSpPr>
            <p:cNvPr id="14" name="组合 13"/>
            <p:cNvGrpSpPr/>
            <p:nvPr/>
          </p:nvGrpSpPr>
          <p:grpSpPr>
            <a:xfrm>
              <a:off x="369209" y="2386211"/>
              <a:ext cx="11270315" cy="1176795"/>
              <a:chOff x="166154" y="2485076"/>
              <a:chExt cx="11270315" cy="1176795"/>
            </a:xfrm>
          </p:grpSpPr>
          <p:sp>
            <p:nvSpPr>
              <p:cNvPr id="4" name="矩形 3"/>
              <p:cNvSpPr/>
              <p:nvPr/>
            </p:nvSpPr>
            <p:spPr>
              <a:xfrm>
                <a:off x="166154" y="2485076"/>
                <a:ext cx="11270315" cy="1131079"/>
              </a:xfrm>
              <a:prstGeom prst="rect">
                <a:avLst/>
              </a:prstGeom>
            </p:spPr>
            <p:txBody>
              <a:bodyPr wrap="square">
                <a:spAutoFit/>
              </a:bodyPr>
              <a:lstStyle/>
              <a:p>
                <a:pPr algn="just" defTabSz="642620" eaLnBrk="0" fontAlgn="base" hangingPunct="0">
                  <a:lnSpc>
                    <a:spcPct val="150000"/>
                  </a:lnSpc>
                  <a:spcBef>
                    <a:spcPct val="0"/>
                  </a:spcBef>
                  <a:spcAft>
                    <a:spcPct val="0"/>
                  </a:spcAft>
                  <a:defRPr/>
                </a:pPr>
                <a:r>
                  <a:rPr lang="zh-CN" altLang="en-US" sz="2400" dirty="0">
                    <a:solidFill>
                      <a:prstClr val="black"/>
                    </a:solidFill>
                    <a:latin typeface="微软雅黑" panose="020B0503020204020204" charset="-122"/>
                    <a:ea typeface="微软雅黑" panose="020B0503020204020204" charset="-122"/>
                  </a:rPr>
                  <a:t>记随机向量                                ，且有                 ，协方差阵为   。再引入</a:t>
                </a:r>
                <a:r>
                  <a:rPr lang="en-US" altLang="zh-CN" sz="2400" i="1" dirty="0">
                    <a:solidFill>
                      <a:prstClr val="black"/>
                    </a:solidFill>
                    <a:latin typeface="微软雅黑" panose="020B0503020204020204" charset="-122"/>
                    <a:ea typeface="微软雅黑" panose="020B0503020204020204" charset="-122"/>
                  </a:rPr>
                  <a:t>m </a:t>
                </a:r>
                <a:r>
                  <a:rPr lang="zh-CN" altLang="en-US" sz="2400" dirty="0">
                    <a:solidFill>
                      <a:prstClr val="black"/>
                    </a:solidFill>
                    <a:latin typeface="微软雅黑" panose="020B0503020204020204" charset="-122"/>
                    <a:ea typeface="微软雅黑" panose="020B0503020204020204" charset="-122"/>
                  </a:rPr>
                  <a:t>个随机变量            </a:t>
                </a:r>
                <a:r>
                  <a:rPr lang="zh-CN" altLang="en-US" sz="2400" dirty="0">
                    <a:solidFill>
                      <a:prstClr val="black"/>
                    </a:solidFill>
                    <a:latin typeface="黑体" panose="02010609060101010101" charset="-122"/>
                    <a:ea typeface="黑体" panose="02010609060101010101" charset="-122"/>
                  </a:rPr>
                  <a:t>     ，记为</a:t>
                </a:r>
                <a:r>
                  <a:rPr lang="zh-CN" altLang="en-US" sz="2400" dirty="0">
                    <a:solidFill>
                      <a:schemeClr val="accent1">
                        <a:lumMod val="75000"/>
                      </a:schemeClr>
                    </a:solidFill>
                    <a:latin typeface="黑体" panose="02010609060101010101" charset="-122"/>
                    <a:ea typeface="黑体" panose="02010609060101010101" charset="-122"/>
                  </a:rPr>
                  <a:t>公共因子</a:t>
                </a:r>
                <a:r>
                  <a:rPr lang="zh-CN" altLang="en-US" sz="2400" b="1" dirty="0">
                    <a:solidFill>
                      <a:prstClr val="black"/>
                    </a:solidFill>
                    <a:latin typeface="黑体" panose="02010609060101010101" charset="-122"/>
                    <a:ea typeface="黑体" panose="02010609060101010101" charset="-122"/>
                  </a:rPr>
                  <a:t>；</a:t>
                </a:r>
                <a:r>
                  <a:rPr lang="zh-CN" altLang="en-US" sz="2400" dirty="0">
                    <a:solidFill>
                      <a:prstClr val="black"/>
                    </a:solidFill>
                    <a:latin typeface="微软雅黑" panose="020B0503020204020204" charset="-122"/>
                    <a:ea typeface="微软雅黑" panose="020B0503020204020204" charset="-122"/>
                  </a:rPr>
                  <a:t>每个变量都有其</a:t>
                </a:r>
                <a:r>
                  <a:rPr lang="zh-CN" altLang="en-US" sz="2400" dirty="0">
                    <a:solidFill>
                      <a:schemeClr val="accent1">
                        <a:lumMod val="75000"/>
                      </a:schemeClr>
                    </a:solidFill>
                    <a:latin typeface="微软雅黑" panose="020B0503020204020204" charset="-122"/>
                    <a:ea typeface="微软雅黑" panose="020B0503020204020204" charset="-122"/>
                  </a:rPr>
                  <a:t>特殊因子</a:t>
                </a:r>
                <a:endParaRPr lang="en-US" altLang="zh-CN" sz="2400" dirty="0">
                  <a:solidFill>
                    <a:schemeClr val="accent1">
                      <a:lumMod val="75000"/>
                    </a:schemeClr>
                  </a:solidFill>
                  <a:latin typeface="微软雅黑" panose="020B0503020204020204" charset="-122"/>
                  <a:ea typeface="微软雅黑" panose="020B0503020204020204" charset="-122"/>
                </a:endParaRPr>
              </a:p>
            </p:txBody>
          </p:sp>
          <p:graphicFrame>
            <p:nvGraphicFramePr>
              <p:cNvPr id="6" name="对象 5"/>
              <p:cNvGraphicFramePr>
                <a:graphicFrameLocks noChangeAspect="1"/>
              </p:cNvGraphicFramePr>
              <p:nvPr/>
            </p:nvGraphicFramePr>
            <p:xfrm>
              <a:off x="1822450" y="2560586"/>
              <a:ext cx="3175000" cy="558800"/>
            </p:xfrm>
            <a:graphic>
              <a:graphicData uri="http://schemas.openxmlformats.org/presentationml/2006/ole">
                <mc:AlternateContent xmlns:mc="http://schemas.openxmlformats.org/markup-compatibility/2006">
                  <mc:Choice xmlns:v="urn:schemas-microsoft-com:vml" Requires="v">
                    <p:oleObj name="Equation" r:id="rId5" imgW="3176270" imgH="560705" progId="Equation.DSMT4">
                      <p:embed/>
                    </p:oleObj>
                  </mc:Choice>
                  <mc:Fallback>
                    <p:oleObj name="Equation" r:id="rId5" imgW="3176270" imgH="560705" progId="Equation.DSMT4">
                      <p:embed/>
                      <p:pic>
                        <p:nvPicPr>
                          <p:cNvPr id="0" name="图片 4"/>
                          <p:cNvPicPr/>
                          <p:nvPr/>
                        </p:nvPicPr>
                        <p:blipFill>
                          <a:blip r:embed="rId6"/>
                          <a:stretch>
                            <a:fillRect/>
                          </a:stretch>
                        </p:blipFill>
                        <p:spPr>
                          <a:xfrm>
                            <a:off x="1822450" y="2560586"/>
                            <a:ext cx="3175000" cy="5588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801311" y="2657792"/>
              <a:ext cx="1371600" cy="431800"/>
            </p:xfrm>
            <a:graphic>
              <a:graphicData uri="http://schemas.openxmlformats.org/presentationml/2006/ole">
                <mc:AlternateContent xmlns:mc="http://schemas.openxmlformats.org/markup-compatibility/2006">
                  <mc:Choice xmlns:v="urn:schemas-microsoft-com:vml" Requires="v">
                    <p:oleObj name="Equation" r:id="rId7" imgW="32918400" imgH="10363200" progId="Equation.DSMT4">
                      <p:embed/>
                    </p:oleObj>
                  </mc:Choice>
                  <mc:Fallback>
                    <p:oleObj name="Equation" r:id="rId7" imgW="32918400" imgH="10363200" progId="Equation.DSMT4">
                      <p:embed/>
                      <p:pic>
                        <p:nvPicPr>
                          <p:cNvPr id="0" name="图片 9"/>
                          <p:cNvPicPr/>
                          <p:nvPr/>
                        </p:nvPicPr>
                        <p:blipFill>
                          <a:blip r:embed="rId8"/>
                          <a:stretch>
                            <a:fillRect/>
                          </a:stretch>
                        </p:blipFill>
                        <p:spPr>
                          <a:xfrm>
                            <a:off x="5801311" y="2657792"/>
                            <a:ext cx="1371600" cy="4318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9152877" y="2657792"/>
              <a:ext cx="377604" cy="377604"/>
            </p:xfrm>
            <a:graphic>
              <a:graphicData uri="http://schemas.openxmlformats.org/presentationml/2006/ole">
                <mc:AlternateContent xmlns:mc="http://schemas.openxmlformats.org/markup-compatibility/2006">
                  <mc:Choice xmlns:v="urn:schemas-microsoft-com:vml" Requires="v">
                    <p:oleObj name="Equation" r:id="rId9" imgW="172085" imgH="172085" progId="Equation.DSMT4">
                      <p:embed/>
                    </p:oleObj>
                  </mc:Choice>
                  <mc:Fallback>
                    <p:oleObj name="Equation" r:id="rId9" imgW="172085" imgH="172085" progId="Equation.DSMT4">
                      <p:embed/>
                      <p:pic>
                        <p:nvPicPr>
                          <p:cNvPr id="0" name="图片 11"/>
                          <p:cNvPicPr/>
                          <p:nvPr/>
                        </p:nvPicPr>
                        <p:blipFill>
                          <a:blip r:embed="rId10"/>
                          <a:stretch>
                            <a:fillRect/>
                          </a:stretch>
                        </p:blipFill>
                        <p:spPr>
                          <a:xfrm>
                            <a:off x="9152877" y="2657792"/>
                            <a:ext cx="377604" cy="377604"/>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543025" y="3128464"/>
              <a:ext cx="1866925" cy="533407"/>
            </p:xfrm>
            <a:graphic>
              <a:graphicData uri="http://schemas.openxmlformats.org/presentationml/2006/ole">
                <mc:AlternateContent xmlns:mc="http://schemas.openxmlformats.org/markup-compatibility/2006">
                  <mc:Choice xmlns:v="urn:schemas-microsoft-com:vml" Requires="v">
                    <p:oleObj name="Equation" r:id="rId11" imgW="801370" imgH="229870" progId="Equation.DSMT4">
                      <p:embed/>
                    </p:oleObj>
                  </mc:Choice>
                  <mc:Fallback>
                    <p:oleObj name="Equation" r:id="rId11" imgW="801370" imgH="229870" progId="Equation.DSMT4">
                      <p:embed/>
                      <p:pic>
                        <p:nvPicPr>
                          <p:cNvPr id="0" name="图片 14"/>
                          <p:cNvPicPr/>
                          <p:nvPr/>
                        </p:nvPicPr>
                        <p:blipFill>
                          <a:blip r:embed="rId12"/>
                          <a:stretch>
                            <a:fillRect/>
                          </a:stretch>
                        </p:blipFill>
                        <p:spPr>
                          <a:xfrm>
                            <a:off x="1543025" y="3128464"/>
                            <a:ext cx="1866925" cy="533407"/>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9134475" y="3128963"/>
              <a:ext cx="2058988" cy="457200"/>
            </p:xfrm>
            <a:graphic>
              <a:graphicData uri="http://schemas.openxmlformats.org/presentationml/2006/ole">
                <mc:AlternateContent xmlns:mc="http://schemas.openxmlformats.org/markup-compatibility/2006">
                  <mc:Choice xmlns:v="urn:schemas-microsoft-com:vml" Requires="v">
                    <p:oleObj name="Equation" r:id="rId13" imgW="24688800" imgH="5486400" progId="Equation.DSMT4">
                      <p:embed/>
                    </p:oleObj>
                  </mc:Choice>
                  <mc:Fallback>
                    <p:oleObj name="Equation" r:id="rId13" imgW="24688800" imgH="5486400" progId="Equation.DSMT4">
                      <p:embed/>
                      <p:pic>
                        <p:nvPicPr>
                          <p:cNvPr id="0" name="图片 16"/>
                          <p:cNvPicPr/>
                          <p:nvPr/>
                        </p:nvPicPr>
                        <p:blipFill>
                          <a:blip r:embed="rId14"/>
                          <a:stretch>
                            <a:fillRect/>
                          </a:stretch>
                        </p:blipFill>
                        <p:spPr>
                          <a:xfrm>
                            <a:off x="9134475" y="3128963"/>
                            <a:ext cx="2058988" cy="457200"/>
                          </a:xfrm>
                          <a:prstGeom prst="rect">
                            <a:avLst/>
                          </a:prstGeom>
                        </p:spPr>
                      </p:pic>
                    </p:oleObj>
                  </mc:Fallback>
                </mc:AlternateContent>
              </a:graphicData>
            </a:graphic>
          </p:graphicFrame>
        </p:grpSp>
        <p:grpSp>
          <p:nvGrpSpPr>
            <p:cNvPr id="23" name="组合 22"/>
            <p:cNvGrpSpPr/>
            <p:nvPr/>
          </p:nvGrpSpPr>
          <p:grpSpPr>
            <a:xfrm>
              <a:off x="369209" y="3409130"/>
              <a:ext cx="10280866" cy="742884"/>
              <a:chOff x="166154" y="2395293"/>
              <a:chExt cx="10280866" cy="742884"/>
            </a:xfrm>
          </p:grpSpPr>
          <p:sp>
            <p:nvSpPr>
              <p:cNvPr id="24" name="TextBox 30"/>
              <p:cNvSpPr txBox="1"/>
              <p:nvPr/>
            </p:nvSpPr>
            <p:spPr>
              <a:xfrm>
                <a:off x="166154" y="2431333"/>
                <a:ext cx="10280866" cy="581057"/>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zh-CN" altLang="en-US" sz="2400" dirty="0">
                    <a:solidFill>
                      <a:prstClr val="black"/>
                    </a:solidFill>
                    <a:latin typeface="微软雅黑" panose="020B0503020204020204" charset="-122"/>
                    <a:ea typeface="微软雅黑" panose="020B0503020204020204" charset="-122"/>
                  </a:rPr>
                  <a:t>将 </a:t>
                </a:r>
                <a:r>
                  <a:rPr lang="en-US" altLang="zh-CN" sz="2400" i="1" dirty="0">
                    <a:solidFill>
                      <a:prstClr val="black"/>
                    </a:solidFill>
                    <a:latin typeface="微软雅黑" panose="020B0503020204020204" charset="-122"/>
                    <a:ea typeface="微软雅黑" panose="020B0503020204020204" charset="-122"/>
                  </a:rPr>
                  <a:t>p </a:t>
                </a:r>
                <a:r>
                  <a:rPr lang="zh-CN" altLang="en-US" sz="2400" dirty="0">
                    <a:solidFill>
                      <a:prstClr val="black"/>
                    </a:solidFill>
                    <a:latin typeface="微软雅黑" panose="020B0503020204020204" charset="-122"/>
                    <a:ea typeface="微软雅黑" panose="020B0503020204020204" charset="-122"/>
                  </a:rPr>
                  <a:t>个随机变量              用 </a:t>
                </a:r>
                <a:r>
                  <a:rPr lang="en-US" altLang="zh-CN" sz="2400" i="1" dirty="0">
                    <a:solidFill>
                      <a:srgbClr val="0000FF"/>
                    </a:solidFill>
                    <a:latin typeface="微软雅黑" panose="020B0503020204020204" charset="-122"/>
                    <a:ea typeface="微软雅黑" panose="020B0503020204020204" charset="-122"/>
                  </a:rPr>
                  <a:t>p </a:t>
                </a:r>
                <a:r>
                  <a:rPr lang="en-US" altLang="zh-CN" sz="2400" dirty="0">
                    <a:solidFill>
                      <a:srgbClr val="0000FF"/>
                    </a:solidFill>
                    <a:latin typeface="微软雅黑" panose="020B0503020204020204" charset="-122"/>
                    <a:ea typeface="微软雅黑" panose="020B0503020204020204" charset="-122"/>
                  </a:rPr>
                  <a:t>+ </a:t>
                </a:r>
                <a:r>
                  <a:rPr lang="en-US" altLang="zh-CN" sz="2400" i="1" dirty="0">
                    <a:solidFill>
                      <a:srgbClr val="0000FF"/>
                    </a:solidFill>
                    <a:latin typeface="微软雅黑" panose="020B0503020204020204" charset="-122"/>
                    <a:ea typeface="微软雅黑" panose="020B0503020204020204" charset="-122"/>
                  </a:rPr>
                  <a:t>m </a:t>
                </a:r>
                <a:r>
                  <a:rPr lang="zh-CN" altLang="en-US" sz="2400" dirty="0">
                    <a:solidFill>
                      <a:prstClr val="black"/>
                    </a:solidFill>
                    <a:latin typeface="微软雅黑" panose="020B0503020204020204" charset="-122"/>
                    <a:ea typeface="微软雅黑" panose="020B0503020204020204" charset="-122"/>
                  </a:rPr>
                  <a:t>个不可观测的随机变量 </a:t>
                </a:r>
                <a:r>
                  <a:rPr lang="en-US" altLang="zh-CN" sz="2400" b="1" i="1" dirty="0">
                    <a:solidFill>
                      <a:prstClr val="black"/>
                    </a:solidFill>
                    <a:latin typeface="Times New Roman" panose="02020603050405020304" pitchFamily="18" charset="0"/>
                    <a:ea typeface="微软雅黑" panose="020B0503020204020204" charset="-122"/>
                    <a:cs typeface="Times New Roman" panose="02020603050405020304" pitchFamily="18" charset="0"/>
                  </a:rPr>
                  <a:t>f</a:t>
                </a:r>
                <a:r>
                  <a:rPr lang="en-US" altLang="zh-CN" sz="2400" i="1" dirty="0">
                    <a:solidFill>
                      <a:prstClr val="black"/>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a:solidFill>
                      <a:prstClr val="black"/>
                    </a:solidFill>
                    <a:latin typeface="微软雅黑" panose="020B0503020204020204" charset="-122"/>
                    <a:ea typeface="微软雅黑" panose="020B0503020204020204" charset="-122"/>
                  </a:rPr>
                  <a:t>和     表示。</a:t>
                </a:r>
              </a:p>
            </p:txBody>
          </p:sp>
          <p:graphicFrame>
            <p:nvGraphicFramePr>
              <p:cNvPr id="25" name="对象 24"/>
              <p:cNvGraphicFramePr>
                <a:graphicFrameLocks noChangeAspect="1"/>
              </p:cNvGraphicFramePr>
              <p:nvPr/>
            </p:nvGraphicFramePr>
            <p:xfrm>
              <a:off x="2457450" y="2626063"/>
              <a:ext cx="1231900" cy="419100"/>
            </p:xfrm>
            <a:graphic>
              <a:graphicData uri="http://schemas.openxmlformats.org/presentationml/2006/ole">
                <mc:AlternateContent xmlns:mc="http://schemas.openxmlformats.org/markup-compatibility/2006">
                  <mc:Choice xmlns:v="urn:schemas-microsoft-com:vml" Requires="v">
                    <p:oleObj name="Equation" r:id="rId15" imgW="1233170" imgH="420370" progId="Equation.DSMT4">
                      <p:embed/>
                    </p:oleObj>
                  </mc:Choice>
                  <mc:Fallback>
                    <p:oleObj name="Equation" r:id="rId15" imgW="1233170" imgH="420370" progId="Equation.DSMT4">
                      <p:embed/>
                      <p:pic>
                        <p:nvPicPr>
                          <p:cNvPr id="0" name="对象 16"/>
                          <p:cNvPicPr/>
                          <p:nvPr/>
                        </p:nvPicPr>
                        <p:blipFill>
                          <a:blip r:embed="rId16"/>
                          <a:stretch>
                            <a:fillRect/>
                          </a:stretch>
                        </p:blipFill>
                        <p:spPr>
                          <a:xfrm>
                            <a:off x="2457450" y="2626063"/>
                            <a:ext cx="1231900" cy="4191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8744626" y="2395293"/>
              <a:ext cx="453985" cy="742884"/>
            </p:xfrm>
            <a:graphic>
              <a:graphicData uri="http://schemas.openxmlformats.org/presentationml/2006/ole">
                <mc:AlternateContent xmlns:mc="http://schemas.openxmlformats.org/markup-compatibility/2006">
                  <mc:Choice xmlns:v="urn:schemas-microsoft-com:vml" Requires="v">
                    <p:oleObj name="Equation" r:id="rId17" imgW="3352800" imgH="5486400" progId="Equation.DSMT4">
                      <p:embed/>
                    </p:oleObj>
                  </mc:Choice>
                  <mc:Fallback>
                    <p:oleObj name="Equation" r:id="rId17" imgW="3352800" imgH="5486400" progId="Equation.DSMT4">
                      <p:embed/>
                      <p:pic>
                        <p:nvPicPr>
                          <p:cNvPr id="0" name="对象 18"/>
                          <p:cNvPicPr/>
                          <p:nvPr/>
                        </p:nvPicPr>
                        <p:blipFill>
                          <a:blip r:embed="rId18"/>
                          <a:stretch>
                            <a:fillRect/>
                          </a:stretch>
                        </p:blipFill>
                        <p:spPr>
                          <a:xfrm>
                            <a:off x="8744626" y="2395293"/>
                            <a:ext cx="453985" cy="742884"/>
                          </a:xfrm>
                          <a:prstGeom prst="rect">
                            <a:avLst/>
                          </a:prstGeom>
                        </p:spPr>
                      </p:pic>
                    </p:oleObj>
                  </mc:Fallback>
                </mc:AlternateContent>
              </a:graphicData>
            </a:graphic>
          </p:graphicFrame>
        </p:gr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9B2D-07B2-0FB5-81E5-3331E09861F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F5E8FDE-F90B-6219-87AE-D88D062C8C9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52" name="对象 51">
            <a:extLst>
              <a:ext uri="{FF2B5EF4-FFF2-40B4-BE49-F238E27FC236}">
                <a16:creationId xmlns:a16="http://schemas.microsoft.com/office/drawing/2014/main" id="{8E83FFF1-E685-F1BA-9116-6C069034D580}"/>
              </a:ext>
            </a:extLst>
          </p:cNvPr>
          <p:cNvGraphicFramePr>
            <a:graphicFrameLocks noChangeAspect="1"/>
          </p:cNvGraphicFramePr>
          <p:nvPr/>
        </p:nvGraphicFramePr>
        <p:xfrm>
          <a:off x="4857682" y="1660784"/>
          <a:ext cx="2760757" cy="517642"/>
        </p:xfrm>
        <a:graphic>
          <a:graphicData uri="http://schemas.openxmlformats.org/presentationml/2006/ole">
            <mc:AlternateContent xmlns:mc="http://schemas.openxmlformats.org/markup-compatibility/2006">
              <mc:Choice xmlns:v="urn:schemas-microsoft-com:vml" Requires="v">
                <p:oleObj name="Equation" r:id="rId3" imgW="1830070" imgH="344170" progId="Equation.DSMT4">
                  <p:embed/>
                </p:oleObj>
              </mc:Choice>
              <mc:Fallback>
                <p:oleObj name="Equation" r:id="rId3" imgW="1830070" imgH="344170" progId="Equation.DSMT4">
                  <p:embed/>
                  <p:pic>
                    <p:nvPicPr>
                      <p:cNvPr id="52" name="对象 51"/>
                      <p:cNvPicPr/>
                      <p:nvPr/>
                    </p:nvPicPr>
                    <p:blipFill>
                      <a:blip r:embed="rId4"/>
                      <a:stretch>
                        <a:fillRect/>
                      </a:stretch>
                    </p:blipFill>
                    <p:spPr>
                      <a:xfrm>
                        <a:off x="4857682" y="1660784"/>
                        <a:ext cx="2760757" cy="51764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01DB3810-DD40-800D-AECB-B3F06831D053}"/>
              </a:ext>
            </a:extLst>
          </p:cNvPr>
          <p:cNvGraphicFramePr>
            <a:graphicFrameLocks noChangeAspect="1"/>
          </p:cNvGraphicFramePr>
          <p:nvPr>
            <p:extLst>
              <p:ext uri="{D42A27DB-BD31-4B8C-83A1-F6EECF244321}">
                <p14:modId xmlns:p14="http://schemas.microsoft.com/office/powerpoint/2010/main" val="2681020813"/>
              </p:ext>
            </p:extLst>
          </p:nvPr>
        </p:nvGraphicFramePr>
        <p:xfrm>
          <a:off x="332186" y="2892433"/>
          <a:ext cx="6065012" cy="2300522"/>
        </p:xfrm>
        <a:graphic>
          <a:graphicData uri="http://schemas.openxmlformats.org/presentationml/2006/ole">
            <mc:AlternateContent xmlns:mc="http://schemas.openxmlformats.org/markup-compatibility/2006">
              <mc:Choice xmlns:v="urn:schemas-microsoft-com:vml" Requires="v">
                <p:oleObj name="Equation" r:id="rId5" imgW="2487295" imgH="944880" progId="Equation.DSMT4">
                  <p:embed/>
                </p:oleObj>
              </mc:Choice>
              <mc:Fallback>
                <p:oleObj name="Equation" r:id="rId5" imgW="2487295" imgH="944880" progId="Equation.DSMT4">
                  <p:embed/>
                  <p:pic>
                    <p:nvPicPr>
                      <p:cNvPr id="18" name="对象 17"/>
                      <p:cNvPicPr/>
                      <p:nvPr/>
                    </p:nvPicPr>
                    <p:blipFill>
                      <a:blip r:embed="rId6"/>
                      <a:stretch>
                        <a:fillRect/>
                      </a:stretch>
                    </p:blipFill>
                    <p:spPr>
                      <a:xfrm>
                        <a:off x="332186" y="2892433"/>
                        <a:ext cx="6065012" cy="230052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DCA113BA-E629-68DB-3E6D-865940DF90D6}"/>
              </a:ext>
            </a:extLst>
          </p:cNvPr>
          <p:cNvGraphicFramePr>
            <a:graphicFrameLocks noChangeAspect="1"/>
          </p:cNvGraphicFramePr>
          <p:nvPr>
            <p:extLst>
              <p:ext uri="{D42A27DB-BD31-4B8C-83A1-F6EECF244321}">
                <p14:modId xmlns:p14="http://schemas.microsoft.com/office/powerpoint/2010/main" val="3193359892"/>
              </p:ext>
            </p:extLst>
          </p:nvPr>
        </p:nvGraphicFramePr>
        <p:xfrm>
          <a:off x="7721385" y="3311642"/>
          <a:ext cx="3824084" cy="1973721"/>
        </p:xfrm>
        <a:graphic>
          <a:graphicData uri="http://schemas.openxmlformats.org/presentationml/2006/ole">
            <mc:AlternateContent xmlns:mc="http://schemas.openxmlformats.org/markup-compatibility/2006">
              <mc:Choice xmlns:v="urn:schemas-microsoft-com:vml" Requires="v">
                <p:oleObj name="Equation" r:id="rId7" imgW="3544570" imgH="1830070" progId="Equation.DSMT4">
                  <p:embed/>
                </p:oleObj>
              </mc:Choice>
              <mc:Fallback>
                <p:oleObj name="Equation" r:id="rId7" imgW="3544570" imgH="1830070" progId="Equation.DSMT4">
                  <p:embed/>
                  <p:pic>
                    <p:nvPicPr>
                      <p:cNvPr id="20" name="对象 19"/>
                      <p:cNvPicPr/>
                      <p:nvPr/>
                    </p:nvPicPr>
                    <p:blipFill>
                      <a:blip r:embed="rId8"/>
                      <a:stretch>
                        <a:fillRect/>
                      </a:stretch>
                    </p:blipFill>
                    <p:spPr>
                      <a:xfrm>
                        <a:off x="7721385" y="3311642"/>
                        <a:ext cx="3824084" cy="1973721"/>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F375F9AE-26BE-E5B8-BF45-754138A3BEE2}"/>
              </a:ext>
            </a:extLst>
          </p:cNvPr>
          <p:cNvSpPr txBox="1"/>
          <p:nvPr/>
        </p:nvSpPr>
        <p:spPr>
          <a:xfrm>
            <a:off x="7618439" y="2627417"/>
            <a:ext cx="3927030" cy="461665"/>
          </a:xfrm>
          <a:prstGeom prst="rect">
            <a:avLst/>
          </a:prstGeom>
          <a:noFill/>
        </p:spPr>
        <p:txBody>
          <a:bodyPr wrap="square">
            <a:spAutoFit/>
          </a:bodyPr>
          <a:lstStyle/>
          <a:p>
            <a:r>
              <a:rPr lang="zh-CN" altLang="en-US" sz="2400" b="1" dirty="0">
                <a:solidFill>
                  <a:schemeClr val="accent1">
                    <a:lumMod val="75000"/>
                  </a:schemeClr>
                </a:solidFill>
                <a:latin typeface="黑体" panose="02010609060101010101" charset="-122"/>
                <a:ea typeface="黑体" panose="02010609060101010101" charset="-122"/>
              </a:rPr>
              <a:t>其中，因子载荷矩阵</a:t>
            </a:r>
            <a:r>
              <a:rPr lang="en-US" altLang="zh-CN" sz="2400" b="1" dirty="0">
                <a:solidFill>
                  <a:schemeClr val="accent1">
                    <a:lumMod val="75000"/>
                  </a:schemeClr>
                </a:solidFill>
                <a:latin typeface="黑体" panose="02010609060101010101" charset="-122"/>
                <a:ea typeface="黑体" panose="02010609060101010101" charset="-122"/>
              </a:rPr>
              <a:t>A</a:t>
            </a:r>
            <a:r>
              <a:rPr lang="zh-CN" altLang="en-US" sz="2400" b="1" dirty="0">
                <a:solidFill>
                  <a:schemeClr val="accent1">
                    <a:lumMod val="75000"/>
                  </a:schemeClr>
                </a:solidFill>
                <a:latin typeface="黑体" panose="02010609060101010101" charset="-122"/>
                <a:ea typeface="黑体" panose="02010609060101010101" charset="-122"/>
              </a:rPr>
              <a:t>为：</a:t>
            </a:r>
            <a:endParaRPr lang="zh-CN" altLang="en-US" sz="2400" dirty="0">
              <a:solidFill>
                <a:schemeClr val="accent1">
                  <a:lumMod val="75000"/>
                </a:schemeClr>
              </a:solidFill>
            </a:endParaRPr>
          </a:p>
        </p:txBody>
      </p:sp>
    </p:spTree>
    <p:extLst>
      <p:ext uri="{BB962C8B-B14F-4D97-AF65-F5344CB8AC3E}">
        <p14:creationId xmlns:p14="http://schemas.microsoft.com/office/powerpoint/2010/main" val="18415230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pSp>
        <p:nvGrpSpPr>
          <p:cNvPr id="24" name="组合 23"/>
          <p:cNvGrpSpPr/>
          <p:nvPr/>
        </p:nvGrpSpPr>
        <p:grpSpPr>
          <a:xfrm>
            <a:off x="709096" y="1538397"/>
            <a:ext cx="9829233" cy="4112907"/>
            <a:chOff x="121067" y="1639494"/>
            <a:chExt cx="8915429" cy="4112907"/>
          </a:xfrm>
        </p:grpSpPr>
        <p:grpSp>
          <p:nvGrpSpPr>
            <p:cNvPr id="25" name="组合 24"/>
            <p:cNvGrpSpPr/>
            <p:nvPr/>
          </p:nvGrpSpPr>
          <p:grpSpPr>
            <a:xfrm>
              <a:off x="632524" y="1639494"/>
              <a:ext cx="4371524" cy="461665"/>
              <a:chOff x="56460" y="1567485"/>
              <a:chExt cx="4371524" cy="461664"/>
            </a:xfrm>
          </p:grpSpPr>
          <p:sp>
            <p:nvSpPr>
              <p:cNvPr id="42" name="TextBox 5"/>
              <p:cNvSpPr txBox="1"/>
              <p:nvPr/>
            </p:nvSpPr>
            <p:spPr>
              <a:xfrm>
                <a:off x="56460" y="1567485"/>
                <a:ext cx="2969083" cy="461664"/>
              </a:xfrm>
              <a:prstGeom prst="rect">
                <a:avLst/>
              </a:prstGeom>
              <a:noFill/>
            </p:spPr>
            <p:txBody>
              <a:bodyPr wrap="none" rtlCol="0">
                <a:spAutoFit/>
              </a:bodyPr>
              <a:lstStyle/>
              <a:p>
                <a:pPr defTabSz="642620" eaLnBrk="0" fontAlgn="base" hangingPunct="0">
                  <a:spcBef>
                    <a:spcPct val="0"/>
                  </a:spcBef>
                  <a:spcAft>
                    <a:spcPct val="0"/>
                  </a:spcAft>
                </a:pPr>
                <a:r>
                  <a:rPr lang="zh-CN" altLang="en-US" sz="2400" dirty="0">
                    <a:solidFill>
                      <a:prstClr val="black"/>
                    </a:solidFill>
                    <a:latin typeface="微软雅黑" panose="020B0503020204020204" charset="-122"/>
                    <a:ea typeface="微软雅黑" panose="020B0503020204020204" charset="-122"/>
                  </a:rPr>
                  <a:t>针对公共因子模型：</a:t>
                </a:r>
              </a:p>
            </p:txBody>
          </p:sp>
          <p:graphicFrame>
            <p:nvGraphicFramePr>
              <p:cNvPr id="43" name="对象 42"/>
              <p:cNvGraphicFramePr>
                <a:graphicFrameLocks noChangeAspect="1"/>
              </p:cNvGraphicFramePr>
              <p:nvPr/>
            </p:nvGraphicFramePr>
            <p:xfrm>
              <a:off x="2599184" y="1645940"/>
              <a:ext cx="1828800" cy="342900"/>
            </p:xfrm>
            <a:graphic>
              <a:graphicData uri="http://schemas.openxmlformats.org/presentationml/2006/ole">
                <mc:AlternateContent xmlns:mc="http://schemas.openxmlformats.org/markup-compatibility/2006">
                  <mc:Choice xmlns:v="urn:schemas-microsoft-com:vml" Requires="v">
                    <p:oleObj name="Equation" r:id="rId3" imgW="43891200" imgH="8229600" progId="Equation.DSMT4">
                      <p:embed/>
                    </p:oleObj>
                  </mc:Choice>
                  <mc:Fallback>
                    <p:oleObj name="Equation" r:id="rId3" imgW="43891200" imgH="8229600" progId="Equation.DSMT4">
                      <p:embed/>
                      <p:pic>
                        <p:nvPicPr>
                          <p:cNvPr id="0" name="对象 6"/>
                          <p:cNvPicPr/>
                          <p:nvPr/>
                        </p:nvPicPr>
                        <p:blipFill>
                          <a:blip r:embed="rId4"/>
                          <a:stretch>
                            <a:fillRect/>
                          </a:stretch>
                        </p:blipFill>
                        <p:spPr>
                          <a:xfrm>
                            <a:off x="2599184" y="1645940"/>
                            <a:ext cx="1828800" cy="342900"/>
                          </a:xfrm>
                          <a:prstGeom prst="rect">
                            <a:avLst/>
                          </a:prstGeom>
                        </p:spPr>
                      </p:pic>
                    </p:oleObj>
                  </mc:Fallback>
                </mc:AlternateContent>
              </a:graphicData>
            </a:graphic>
          </p:graphicFrame>
        </p:grpSp>
        <p:grpSp>
          <p:nvGrpSpPr>
            <p:cNvPr id="26" name="组合 25"/>
            <p:cNvGrpSpPr/>
            <p:nvPr/>
          </p:nvGrpSpPr>
          <p:grpSpPr>
            <a:xfrm>
              <a:off x="179512" y="2204862"/>
              <a:ext cx="8856984" cy="1135054"/>
              <a:chOff x="179512" y="2204864"/>
              <a:chExt cx="8856984" cy="1135054"/>
            </a:xfrm>
          </p:grpSpPr>
          <p:sp>
            <p:nvSpPr>
              <p:cNvPr id="38" name="TextBox 2"/>
              <p:cNvSpPr txBox="1"/>
              <p:nvPr/>
            </p:nvSpPr>
            <p:spPr>
              <a:xfrm>
                <a:off x="179512" y="2204864"/>
                <a:ext cx="8856984" cy="1135054"/>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en-US" altLang="zh-CN" sz="2400" dirty="0">
                    <a:solidFill>
                      <a:prstClr val="black"/>
                    </a:solidFill>
                    <a:latin typeface="微软雅黑" panose="020B0503020204020204" charset="-122"/>
                    <a:ea typeface="微软雅黑" panose="020B0503020204020204" charset="-122"/>
                  </a:rPr>
                  <a:t>1.</a:t>
                </a:r>
                <a:r>
                  <a:rPr lang="zh-CN" altLang="en-US" sz="2400" dirty="0">
                    <a:solidFill>
                      <a:prstClr val="black"/>
                    </a:solidFill>
                    <a:latin typeface="微软雅黑" panose="020B0503020204020204" charset="-122"/>
                    <a:ea typeface="微软雅黑" panose="020B0503020204020204" charset="-122"/>
                  </a:rPr>
                  <a:t>若               ，                ，即  的期望为</a:t>
                </a:r>
                <a:r>
                  <a:rPr lang="en-US" altLang="zh-CN" sz="2400" dirty="0">
                    <a:solidFill>
                      <a:prstClr val="black"/>
                    </a:solidFill>
                    <a:latin typeface="微软雅黑" panose="020B0503020204020204" charset="-122"/>
                    <a:ea typeface="微软雅黑" panose="020B0503020204020204" charset="-122"/>
                  </a:rPr>
                  <a:t>0</a:t>
                </a:r>
                <a:r>
                  <a:rPr lang="zh-CN" altLang="en-US" sz="2400" dirty="0">
                    <a:solidFill>
                      <a:prstClr val="black"/>
                    </a:solidFill>
                    <a:latin typeface="微软雅黑" panose="020B0503020204020204" charset="-122"/>
                    <a:ea typeface="微软雅黑" panose="020B0503020204020204" charset="-122"/>
                  </a:rPr>
                  <a:t>，各分量方差为</a:t>
                </a:r>
                <a:r>
                  <a:rPr lang="en-US" altLang="zh-CN" sz="2400" dirty="0">
                    <a:solidFill>
                      <a:prstClr val="black"/>
                    </a:solidFill>
                    <a:latin typeface="微软雅黑" panose="020B0503020204020204" charset="-122"/>
                    <a:ea typeface="微软雅黑" panose="020B0503020204020204" charset="-122"/>
                  </a:rPr>
                  <a:t>1</a:t>
                </a:r>
                <a:r>
                  <a:rPr lang="zh-CN" altLang="en-US" sz="2400" dirty="0">
                    <a:solidFill>
                      <a:prstClr val="black"/>
                    </a:solidFill>
                    <a:latin typeface="微软雅黑" panose="020B0503020204020204" charset="-122"/>
                    <a:ea typeface="微软雅黑" panose="020B0503020204020204" charset="-122"/>
                  </a:rPr>
                  <a:t>，且互不相关；</a:t>
                </a:r>
              </a:p>
            </p:txBody>
          </p:sp>
          <p:graphicFrame>
            <p:nvGraphicFramePr>
              <p:cNvPr id="39" name="对象 38"/>
              <p:cNvGraphicFramePr>
                <a:graphicFrameLocks noChangeAspect="1"/>
              </p:cNvGraphicFramePr>
              <p:nvPr/>
            </p:nvGraphicFramePr>
            <p:xfrm>
              <a:off x="899592" y="2373228"/>
              <a:ext cx="1155700" cy="431800"/>
            </p:xfrm>
            <a:graphic>
              <a:graphicData uri="http://schemas.openxmlformats.org/presentationml/2006/ole">
                <mc:AlternateContent xmlns:mc="http://schemas.openxmlformats.org/markup-compatibility/2006">
                  <mc:Choice xmlns:v="urn:schemas-microsoft-com:vml" Requires="v">
                    <p:oleObj name="Equation" r:id="rId5" imgW="27736800" imgH="10363200" progId="Equation.DSMT4">
                      <p:embed/>
                    </p:oleObj>
                  </mc:Choice>
                  <mc:Fallback>
                    <p:oleObj name="Equation" r:id="rId5" imgW="27736800" imgH="10363200" progId="Equation.DSMT4">
                      <p:embed/>
                      <p:pic>
                        <p:nvPicPr>
                          <p:cNvPr id="0" name="对象 3"/>
                          <p:cNvPicPr/>
                          <p:nvPr/>
                        </p:nvPicPr>
                        <p:blipFill>
                          <a:blip r:embed="rId6"/>
                          <a:stretch>
                            <a:fillRect/>
                          </a:stretch>
                        </p:blipFill>
                        <p:spPr>
                          <a:xfrm>
                            <a:off x="899592" y="2373228"/>
                            <a:ext cx="1155700" cy="431800"/>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2242901483"/>
                  </p:ext>
                </p:extLst>
              </p:nvPr>
            </p:nvGraphicFramePr>
            <p:xfrm>
              <a:off x="2146905" y="2397212"/>
              <a:ext cx="1485900" cy="431800"/>
            </p:xfrm>
            <a:graphic>
              <a:graphicData uri="http://schemas.openxmlformats.org/presentationml/2006/ole">
                <mc:AlternateContent xmlns:mc="http://schemas.openxmlformats.org/markup-compatibility/2006">
                  <mc:Choice xmlns:v="urn:schemas-microsoft-com:vml" Requires="v">
                    <p:oleObj name="Equation" r:id="rId7" imgW="35661600" imgH="10363200" progId="Equation.DSMT4">
                      <p:embed/>
                    </p:oleObj>
                  </mc:Choice>
                  <mc:Fallback>
                    <p:oleObj name="Equation" r:id="rId7" imgW="35661600" imgH="10363200" progId="Equation.DSMT4">
                      <p:embed/>
                      <p:pic>
                        <p:nvPicPr>
                          <p:cNvPr id="0" name="对象 8"/>
                          <p:cNvPicPr/>
                          <p:nvPr/>
                        </p:nvPicPr>
                        <p:blipFill>
                          <a:blip r:embed="rId8"/>
                          <a:stretch>
                            <a:fillRect/>
                          </a:stretch>
                        </p:blipFill>
                        <p:spPr>
                          <a:xfrm>
                            <a:off x="2146905" y="2397212"/>
                            <a:ext cx="1485900" cy="431800"/>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2019733841"/>
                  </p:ext>
                </p:extLst>
              </p:nvPr>
            </p:nvGraphicFramePr>
            <p:xfrm>
              <a:off x="4128931" y="2438973"/>
              <a:ext cx="181262" cy="266700"/>
            </p:xfrm>
            <a:graphic>
              <a:graphicData uri="http://schemas.openxmlformats.org/presentationml/2006/ole">
                <mc:AlternateContent xmlns:mc="http://schemas.openxmlformats.org/markup-compatibility/2006">
                  <mc:Choice xmlns:v="urn:schemas-microsoft-com:vml" Requires="v">
                    <p:oleObj name="Equation" r:id="rId9" imgW="5486400" imgH="6400800" progId="Equation.DSMT4">
                      <p:embed/>
                    </p:oleObj>
                  </mc:Choice>
                  <mc:Fallback>
                    <p:oleObj name="Equation" r:id="rId9" imgW="5486400" imgH="6400800" progId="Equation.DSMT4">
                      <p:embed/>
                      <p:pic>
                        <p:nvPicPr>
                          <p:cNvPr id="0" name="对象 9"/>
                          <p:cNvPicPr/>
                          <p:nvPr/>
                        </p:nvPicPr>
                        <p:blipFill>
                          <a:blip r:embed="rId10"/>
                          <a:stretch>
                            <a:fillRect/>
                          </a:stretch>
                        </p:blipFill>
                        <p:spPr>
                          <a:xfrm>
                            <a:off x="4128931" y="2438973"/>
                            <a:ext cx="181262" cy="266700"/>
                          </a:xfrm>
                          <a:prstGeom prst="rect">
                            <a:avLst/>
                          </a:prstGeom>
                        </p:spPr>
                      </p:pic>
                    </p:oleObj>
                  </mc:Fallback>
                </mc:AlternateContent>
              </a:graphicData>
            </a:graphic>
          </p:graphicFrame>
        </p:grpSp>
        <p:sp>
          <p:nvSpPr>
            <p:cNvPr id="27" name="TextBox 12"/>
            <p:cNvSpPr txBox="1"/>
            <p:nvPr/>
          </p:nvSpPr>
          <p:spPr>
            <a:xfrm>
              <a:off x="121067" y="5171344"/>
              <a:ext cx="8856984" cy="581057"/>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zh-CN" altLang="en-US" sz="2400" dirty="0">
                  <a:solidFill>
                    <a:prstClr val="black"/>
                  </a:solidFill>
                  <a:latin typeface="微软雅黑" panose="020B0503020204020204" charset="-122"/>
                  <a:ea typeface="微软雅黑" panose="020B0503020204020204" charset="-122"/>
                </a:rPr>
                <a:t>则称该模型为</a:t>
              </a:r>
              <a:r>
                <a:rPr lang="zh-CN" altLang="en-US" sz="2400" b="1" dirty="0">
                  <a:solidFill>
                    <a:schemeClr val="accent1">
                      <a:lumMod val="75000"/>
                    </a:schemeClr>
                  </a:solidFill>
                  <a:latin typeface="微软雅黑" panose="020B0503020204020204" charset="-122"/>
                  <a:ea typeface="微软雅黑" panose="020B0503020204020204" charset="-122"/>
                </a:rPr>
                <a:t>正交因子模型</a:t>
              </a:r>
              <a:r>
                <a:rPr lang="zh-CN" altLang="en-US" sz="2400" dirty="0">
                  <a:solidFill>
                    <a:prstClr val="black"/>
                  </a:solidFill>
                  <a:latin typeface="微软雅黑" panose="020B0503020204020204" charset="-122"/>
                  <a:ea typeface="微软雅黑" panose="020B0503020204020204" charset="-122"/>
                </a:rPr>
                <a:t>。</a:t>
              </a:r>
            </a:p>
          </p:txBody>
        </p:sp>
        <p:grpSp>
          <p:nvGrpSpPr>
            <p:cNvPr id="28" name="组合 27"/>
            <p:cNvGrpSpPr/>
            <p:nvPr/>
          </p:nvGrpSpPr>
          <p:grpSpPr>
            <a:xfrm>
              <a:off x="179512" y="3356993"/>
              <a:ext cx="8568952" cy="1135054"/>
              <a:chOff x="179512" y="2204864"/>
              <a:chExt cx="8568952" cy="1135054"/>
            </a:xfrm>
          </p:grpSpPr>
          <p:sp>
            <p:nvSpPr>
              <p:cNvPr id="34" name="TextBox 14"/>
              <p:cNvSpPr txBox="1"/>
              <p:nvPr/>
            </p:nvSpPr>
            <p:spPr>
              <a:xfrm>
                <a:off x="179512" y="2204864"/>
                <a:ext cx="8568952" cy="1135054"/>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en-US" altLang="zh-CN" sz="2400" dirty="0">
                    <a:solidFill>
                      <a:prstClr val="black"/>
                    </a:solidFill>
                    <a:latin typeface="微软雅黑" panose="020B0503020204020204" charset="-122"/>
                    <a:ea typeface="微软雅黑" panose="020B0503020204020204" charset="-122"/>
                  </a:rPr>
                  <a:t>2.</a:t>
                </a:r>
                <a:r>
                  <a:rPr lang="zh-CN" altLang="en-US" sz="2400" dirty="0">
                    <a:solidFill>
                      <a:prstClr val="black"/>
                    </a:solidFill>
                    <a:latin typeface="微软雅黑" panose="020B0503020204020204" charset="-122"/>
                    <a:ea typeface="微软雅黑" panose="020B0503020204020204" charset="-122"/>
                  </a:rPr>
                  <a:t>若             ，                                              ，即  的期望为</a:t>
                </a:r>
                <a:r>
                  <a:rPr lang="en-US" altLang="zh-CN" sz="2400" dirty="0">
                    <a:solidFill>
                      <a:prstClr val="black"/>
                    </a:solidFill>
                    <a:latin typeface="微软雅黑" panose="020B0503020204020204" charset="-122"/>
                    <a:ea typeface="微软雅黑" panose="020B0503020204020204" charset="-122"/>
                  </a:rPr>
                  <a:t>0</a:t>
                </a:r>
                <a:r>
                  <a:rPr lang="zh-CN" altLang="en-US" sz="2400" dirty="0">
                    <a:solidFill>
                      <a:prstClr val="black"/>
                    </a:solidFill>
                    <a:latin typeface="微软雅黑" panose="020B0503020204020204" charset="-122"/>
                    <a:ea typeface="微软雅黑" panose="020B0503020204020204" charset="-122"/>
                  </a:rPr>
                  <a:t>，各分量互不相关；</a:t>
                </a:r>
              </a:p>
            </p:txBody>
          </p:sp>
          <p:graphicFrame>
            <p:nvGraphicFramePr>
              <p:cNvPr id="35" name="对象 34"/>
              <p:cNvGraphicFramePr>
                <a:graphicFrameLocks noChangeAspect="1"/>
              </p:cNvGraphicFramePr>
              <p:nvPr>
                <p:extLst>
                  <p:ext uri="{D42A27DB-BD31-4B8C-83A1-F6EECF244321}">
                    <p14:modId xmlns:p14="http://schemas.microsoft.com/office/powerpoint/2010/main" val="446341006"/>
                  </p:ext>
                </p:extLst>
              </p:nvPr>
            </p:nvGraphicFramePr>
            <p:xfrm>
              <a:off x="787877" y="2400808"/>
              <a:ext cx="1092200" cy="431800"/>
            </p:xfrm>
            <a:graphic>
              <a:graphicData uri="http://schemas.openxmlformats.org/presentationml/2006/ole">
                <mc:AlternateContent xmlns:mc="http://schemas.openxmlformats.org/markup-compatibility/2006">
                  <mc:Choice xmlns:v="urn:schemas-microsoft-com:vml" Requires="v">
                    <p:oleObj name="Equation" r:id="rId11" imgW="26212800" imgH="10363200" progId="Equation.DSMT4">
                      <p:embed/>
                    </p:oleObj>
                  </mc:Choice>
                  <mc:Fallback>
                    <p:oleObj name="Equation" r:id="rId11" imgW="26212800" imgH="10363200" progId="Equation.DSMT4">
                      <p:embed/>
                      <p:pic>
                        <p:nvPicPr>
                          <p:cNvPr id="0" name="对象 15"/>
                          <p:cNvPicPr/>
                          <p:nvPr/>
                        </p:nvPicPr>
                        <p:blipFill>
                          <a:blip r:embed="rId12"/>
                          <a:stretch>
                            <a:fillRect/>
                          </a:stretch>
                        </p:blipFill>
                        <p:spPr>
                          <a:xfrm>
                            <a:off x="787877" y="2400808"/>
                            <a:ext cx="1092200" cy="431800"/>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1514051138"/>
                  </p:ext>
                </p:extLst>
              </p:nvPr>
            </p:nvGraphicFramePr>
            <p:xfrm>
              <a:off x="2023492" y="2341501"/>
              <a:ext cx="3733800" cy="508000"/>
            </p:xfrm>
            <a:graphic>
              <a:graphicData uri="http://schemas.openxmlformats.org/presentationml/2006/ole">
                <mc:AlternateContent xmlns:mc="http://schemas.openxmlformats.org/markup-compatibility/2006">
                  <mc:Choice xmlns:v="urn:schemas-microsoft-com:vml" Requires="v">
                    <p:oleObj name="Equation" r:id="rId13" imgW="89611200" imgH="12192000" progId="Equation.DSMT4">
                      <p:embed/>
                    </p:oleObj>
                  </mc:Choice>
                  <mc:Fallback>
                    <p:oleObj name="Equation" r:id="rId13" imgW="89611200" imgH="12192000" progId="Equation.DSMT4">
                      <p:embed/>
                      <p:pic>
                        <p:nvPicPr>
                          <p:cNvPr id="0" name="对象 16"/>
                          <p:cNvPicPr/>
                          <p:nvPr/>
                        </p:nvPicPr>
                        <p:blipFill>
                          <a:blip r:embed="rId14"/>
                          <a:stretch>
                            <a:fillRect/>
                          </a:stretch>
                        </p:blipFill>
                        <p:spPr>
                          <a:xfrm>
                            <a:off x="2023492" y="2341501"/>
                            <a:ext cx="3733800" cy="508000"/>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724363201"/>
                  </p:ext>
                </p:extLst>
              </p:nvPr>
            </p:nvGraphicFramePr>
            <p:xfrm>
              <a:off x="6421032" y="2451123"/>
              <a:ext cx="165100" cy="203200"/>
            </p:xfrm>
            <a:graphic>
              <a:graphicData uri="http://schemas.openxmlformats.org/presentationml/2006/ole">
                <mc:AlternateContent xmlns:mc="http://schemas.openxmlformats.org/markup-compatibility/2006">
                  <mc:Choice xmlns:v="urn:schemas-microsoft-com:vml" Requires="v">
                    <p:oleObj name="Equation" r:id="rId15" imgW="3962400" imgH="4876800" progId="Equation.DSMT4">
                      <p:embed/>
                    </p:oleObj>
                  </mc:Choice>
                  <mc:Fallback>
                    <p:oleObj name="Equation" r:id="rId15" imgW="3962400" imgH="4876800" progId="Equation.DSMT4">
                      <p:embed/>
                      <p:pic>
                        <p:nvPicPr>
                          <p:cNvPr id="0" name="对象 17"/>
                          <p:cNvPicPr/>
                          <p:nvPr/>
                        </p:nvPicPr>
                        <p:blipFill>
                          <a:blip r:embed="rId16"/>
                          <a:stretch>
                            <a:fillRect/>
                          </a:stretch>
                        </p:blipFill>
                        <p:spPr>
                          <a:xfrm>
                            <a:off x="6421032" y="2451123"/>
                            <a:ext cx="165100" cy="203200"/>
                          </a:xfrm>
                          <a:prstGeom prst="rect">
                            <a:avLst/>
                          </a:prstGeom>
                        </p:spPr>
                      </p:pic>
                    </p:oleObj>
                  </mc:Fallback>
                </mc:AlternateContent>
              </a:graphicData>
            </a:graphic>
          </p:graphicFrame>
        </p:grpSp>
        <p:grpSp>
          <p:nvGrpSpPr>
            <p:cNvPr id="29" name="组合 28"/>
            <p:cNvGrpSpPr/>
            <p:nvPr/>
          </p:nvGrpSpPr>
          <p:grpSpPr>
            <a:xfrm>
              <a:off x="179512" y="4555838"/>
              <a:ext cx="7237312" cy="581057"/>
              <a:chOff x="287016" y="4555840"/>
              <a:chExt cx="7237312" cy="581057"/>
            </a:xfrm>
          </p:grpSpPr>
          <p:sp>
            <p:nvSpPr>
              <p:cNvPr id="30" name="TextBox 7"/>
              <p:cNvSpPr txBox="1"/>
              <p:nvPr/>
            </p:nvSpPr>
            <p:spPr>
              <a:xfrm>
                <a:off x="287016" y="4555840"/>
                <a:ext cx="7237312" cy="581057"/>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en-US" altLang="zh-CN" sz="2400" dirty="0">
                    <a:solidFill>
                      <a:prstClr val="black"/>
                    </a:solidFill>
                    <a:latin typeface="微软雅黑" panose="020B0503020204020204" charset="-122"/>
                    <a:ea typeface="微软雅黑" panose="020B0503020204020204" charset="-122"/>
                  </a:rPr>
                  <a:t>3.                      </a:t>
                </a:r>
                <a:r>
                  <a:rPr lang="zh-CN" altLang="en-US" sz="2400" dirty="0">
                    <a:solidFill>
                      <a:prstClr val="black"/>
                    </a:solidFill>
                    <a:latin typeface="微软雅黑" panose="020B0503020204020204" charset="-122"/>
                    <a:ea typeface="微软雅黑" panose="020B0503020204020204" charset="-122"/>
                  </a:rPr>
                  <a:t>，即    和  互不相关；</a:t>
                </a:r>
              </a:p>
            </p:txBody>
          </p:sp>
          <p:graphicFrame>
            <p:nvGraphicFramePr>
              <p:cNvPr id="31" name="对象 30"/>
              <p:cNvGraphicFramePr>
                <a:graphicFrameLocks noChangeAspect="1"/>
              </p:cNvGraphicFramePr>
              <p:nvPr/>
            </p:nvGraphicFramePr>
            <p:xfrm>
              <a:off x="698848" y="4705097"/>
              <a:ext cx="1676400" cy="431800"/>
            </p:xfrm>
            <a:graphic>
              <a:graphicData uri="http://schemas.openxmlformats.org/presentationml/2006/ole">
                <mc:AlternateContent xmlns:mc="http://schemas.openxmlformats.org/markup-compatibility/2006">
                  <mc:Choice xmlns:v="urn:schemas-microsoft-com:vml" Requires="v">
                    <p:oleObj name="Equation" r:id="rId17" imgW="40233600" imgH="10363200" progId="Equation.DSMT4">
                      <p:embed/>
                    </p:oleObj>
                  </mc:Choice>
                  <mc:Fallback>
                    <p:oleObj name="Equation" r:id="rId17" imgW="40233600" imgH="10363200" progId="Equation.DSMT4">
                      <p:embed/>
                      <p:pic>
                        <p:nvPicPr>
                          <p:cNvPr id="0" name="对象 18"/>
                          <p:cNvPicPr/>
                          <p:nvPr/>
                        </p:nvPicPr>
                        <p:blipFill>
                          <a:blip r:embed="rId18"/>
                          <a:stretch>
                            <a:fillRect/>
                          </a:stretch>
                        </p:blipFill>
                        <p:spPr>
                          <a:xfrm>
                            <a:off x="698848" y="4705097"/>
                            <a:ext cx="1676400" cy="431800"/>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3432854900"/>
                  </p:ext>
                </p:extLst>
              </p:nvPr>
            </p:nvGraphicFramePr>
            <p:xfrm>
              <a:off x="3018282" y="4775491"/>
              <a:ext cx="228600" cy="266700"/>
            </p:xfrm>
            <a:graphic>
              <a:graphicData uri="http://schemas.openxmlformats.org/presentationml/2006/ole">
                <mc:AlternateContent xmlns:mc="http://schemas.openxmlformats.org/markup-compatibility/2006">
                  <mc:Choice xmlns:v="urn:schemas-microsoft-com:vml" Requires="v">
                    <p:oleObj name="Equation" r:id="rId19" imgW="5486400" imgH="6400800" progId="Equation.DSMT4">
                      <p:embed/>
                    </p:oleObj>
                  </mc:Choice>
                  <mc:Fallback>
                    <p:oleObj name="Equation" r:id="rId19" imgW="5486400" imgH="6400800" progId="Equation.DSMT4">
                      <p:embed/>
                      <p:pic>
                        <p:nvPicPr>
                          <p:cNvPr id="0" name="对象 11"/>
                          <p:cNvPicPr/>
                          <p:nvPr/>
                        </p:nvPicPr>
                        <p:blipFill>
                          <a:blip r:embed="rId20"/>
                          <a:stretch>
                            <a:fillRect/>
                          </a:stretch>
                        </p:blipFill>
                        <p:spPr>
                          <a:xfrm>
                            <a:off x="3018282" y="4775491"/>
                            <a:ext cx="228600" cy="266700"/>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32678781"/>
                  </p:ext>
                </p:extLst>
              </p:nvPr>
            </p:nvGraphicFramePr>
            <p:xfrm>
              <a:off x="3521557" y="4810114"/>
              <a:ext cx="165100" cy="203200"/>
            </p:xfrm>
            <a:graphic>
              <a:graphicData uri="http://schemas.openxmlformats.org/presentationml/2006/ole">
                <mc:AlternateContent xmlns:mc="http://schemas.openxmlformats.org/markup-compatibility/2006">
                  <mc:Choice xmlns:v="urn:schemas-microsoft-com:vml" Requires="v">
                    <p:oleObj name="Equation" r:id="rId21" imgW="3962400" imgH="4876800" progId="Equation.DSMT4">
                      <p:embed/>
                    </p:oleObj>
                  </mc:Choice>
                  <mc:Fallback>
                    <p:oleObj name="Equation" r:id="rId21" imgW="3962400" imgH="4876800" progId="Equation.DSMT4">
                      <p:embed/>
                      <p:pic>
                        <p:nvPicPr>
                          <p:cNvPr id="0" name="对象 20"/>
                          <p:cNvPicPr/>
                          <p:nvPr/>
                        </p:nvPicPr>
                        <p:blipFill>
                          <a:blip r:embed="rId22"/>
                          <a:stretch>
                            <a:fillRect/>
                          </a:stretch>
                        </p:blipFill>
                        <p:spPr>
                          <a:xfrm>
                            <a:off x="3521557" y="4810114"/>
                            <a:ext cx="165100" cy="203200"/>
                          </a:xfrm>
                          <a:prstGeom prst="rect">
                            <a:avLst/>
                          </a:prstGeom>
                        </p:spPr>
                      </p:pic>
                    </p:oleObj>
                  </mc:Fallback>
                </mc:AlternateContent>
              </a:graphicData>
            </a:graphic>
          </p:graphicFrame>
        </p:gr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因子分析公式推导</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4" name="文本框 3"/>
          <p:cNvSpPr txBox="1"/>
          <p:nvPr/>
        </p:nvSpPr>
        <p:spPr>
          <a:xfrm>
            <a:off x="708229" y="1131942"/>
            <a:ext cx="8126349" cy="461665"/>
          </a:xfrm>
          <a:prstGeom prst="rect">
            <a:avLst/>
          </a:prstGeom>
          <a:noFill/>
        </p:spPr>
        <p:txBody>
          <a:bodyPr wrap="square">
            <a:spAutoFit/>
          </a:bodyPr>
          <a:lstStyle/>
          <a:p>
            <a:r>
              <a:rPr lang="zh-CN" altLang="en-US" sz="2400"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结构分解定理</a:t>
            </a:r>
            <a:r>
              <a:rPr lang="zh-CN" altLang="en-US" sz="2000" kern="100" dirty="0">
                <a:solidFill>
                  <a:srgbClr val="000000"/>
                </a:solidFill>
                <a:effectLst/>
                <a:latin typeface="微软雅黑" panose="020B0503020204020204" charset="-122"/>
                <a:ea typeface="微软雅黑" panose="020B0503020204020204" charset="-122"/>
                <a:cs typeface="Times New Roman" panose="02020603050405020304" pitchFamily="18" charset="0"/>
              </a:rPr>
              <a:t>：</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基于正交因子模型，</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分解数据矩阵</a:t>
            </a:r>
            <a:r>
              <a:rPr lang="en-US" altLang="zh-CN" sz="2000" b="1" i="1" kern="100" dirty="0">
                <a:effectLst/>
                <a:latin typeface="微软雅黑" panose="020B0503020204020204" charset="-122"/>
                <a:ea typeface="微软雅黑" panose="020B0503020204020204" charset="-122"/>
                <a:cs typeface="Times New Roman" panose="02020603050405020304" pitchFamily="18" charset="0"/>
              </a:rPr>
              <a:t>X </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的</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的协方差矩阵</a:t>
            </a:r>
            <a:r>
              <a:rPr lang="zh-CN" altLang="en-US" sz="2000" kern="100" dirty="0">
                <a:effectLst/>
                <a:latin typeface="微软雅黑" panose="020B0503020204020204" charset="-122"/>
                <a:ea typeface="微软雅黑" panose="020B0503020204020204" charset="-122"/>
                <a:cs typeface="Times New Roman" panose="02020603050405020304" pitchFamily="18" charset="0"/>
              </a:rPr>
              <a:t>。</a:t>
            </a:r>
            <a:endParaRPr lang="zh-CN" altLang="en-US" sz="2000" dirty="0">
              <a:latin typeface="微软雅黑" panose="020B0503020204020204" charset="-122"/>
              <a:ea typeface="微软雅黑" panose="020B0503020204020204" charset="-122"/>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010219691"/>
              </p:ext>
            </p:extLst>
          </p:nvPr>
        </p:nvGraphicFramePr>
        <p:xfrm>
          <a:off x="2260900" y="2306570"/>
          <a:ext cx="7246628" cy="2005471"/>
        </p:xfrm>
        <a:graphic>
          <a:graphicData uri="http://schemas.openxmlformats.org/presentationml/2006/ole">
            <mc:AlternateContent xmlns:mc="http://schemas.openxmlformats.org/markup-compatibility/2006">
              <mc:Choice xmlns:v="urn:schemas-microsoft-com:vml" Requires="v">
                <p:oleObj name="Equation" r:id="rId3" imgW="85953600" imgH="23774400" progId="Equation.DSMT4">
                  <p:embed/>
                </p:oleObj>
              </mc:Choice>
              <mc:Fallback>
                <p:oleObj name="Equation" r:id="rId3" imgW="85953600" imgH="23774400" progId="Equation.DSMT4">
                  <p:embed/>
                  <p:pic>
                    <p:nvPicPr>
                      <p:cNvPr id="0" name="图片 8"/>
                      <p:cNvPicPr/>
                      <p:nvPr/>
                    </p:nvPicPr>
                    <p:blipFill>
                      <a:blip r:embed="rId4"/>
                      <a:stretch>
                        <a:fillRect/>
                      </a:stretch>
                    </p:blipFill>
                    <p:spPr>
                      <a:xfrm>
                        <a:off x="2260900" y="2306570"/>
                        <a:ext cx="7246628" cy="2005471"/>
                      </a:xfrm>
                      <a:prstGeom prst="rect">
                        <a:avLst/>
                      </a:prstGeom>
                    </p:spPr>
                  </p:pic>
                </p:oleObj>
              </mc:Fallback>
            </mc:AlternateContent>
          </a:graphicData>
        </a:graphic>
      </p:graphicFrame>
      <p:sp>
        <p:nvSpPr>
          <p:cNvPr id="15" name="文本框 14"/>
          <p:cNvSpPr txBox="1"/>
          <p:nvPr/>
        </p:nvSpPr>
        <p:spPr>
          <a:xfrm>
            <a:off x="797448" y="4558548"/>
            <a:ext cx="6096000" cy="581057"/>
          </a:xfrm>
          <a:prstGeom prst="rect">
            <a:avLst/>
          </a:prstGeom>
          <a:noFill/>
        </p:spPr>
        <p:txBody>
          <a:bodyPr wrap="square">
            <a:spAutoFit/>
          </a:bodyPr>
          <a:lstStyle/>
          <a:p>
            <a:pPr defTabSz="642620" eaLnBrk="0" fontAlgn="base" hangingPunct="0">
              <a:lnSpc>
                <a:spcPct val="150000"/>
              </a:lnSpc>
              <a:spcBef>
                <a:spcPct val="0"/>
              </a:spcBef>
              <a:spcAft>
                <a:spcPct val="0"/>
              </a:spcAft>
            </a:pPr>
            <a:r>
              <a:rPr lang="zh-CN" altLang="en-US" sz="2400" dirty="0">
                <a:solidFill>
                  <a:prstClr val="black"/>
                </a:solidFill>
                <a:latin typeface="微软雅黑" panose="020B0503020204020204" charset="-122"/>
                <a:ea typeface="微软雅黑" panose="020B0503020204020204" charset="-122"/>
              </a:rPr>
              <a:t>将矩阵形式展开：</a:t>
            </a:r>
          </a:p>
        </p:txBody>
      </p:sp>
      <p:graphicFrame>
        <p:nvGraphicFramePr>
          <p:cNvPr id="16" name="对象 15"/>
          <p:cNvGraphicFramePr>
            <a:graphicFrameLocks noChangeAspect="1"/>
          </p:cNvGraphicFramePr>
          <p:nvPr>
            <p:extLst>
              <p:ext uri="{D42A27DB-BD31-4B8C-83A1-F6EECF244321}">
                <p14:modId xmlns:p14="http://schemas.microsoft.com/office/powerpoint/2010/main" val="3322443603"/>
              </p:ext>
            </p:extLst>
          </p:nvPr>
        </p:nvGraphicFramePr>
        <p:xfrm>
          <a:off x="3312157" y="4681754"/>
          <a:ext cx="4747648" cy="1899059"/>
        </p:xfrm>
        <a:graphic>
          <a:graphicData uri="http://schemas.openxmlformats.org/presentationml/2006/ole">
            <mc:AlternateContent xmlns:mc="http://schemas.openxmlformats.org/markup-compatibility/2006">
              <mc:Choice xmlns:v="urn:schemas-microsoft-com:vml" Requires="v">
                <p:oleObj name="Equation" r:id="rId5" imgW="97536000" imgH="39014400" progId="Equation.DSMT4">
                  <p:embed/>
                </p:oleObj>
              </mc:Choice>
              <mc:Fallback>
                <p:oleObj name="Equation" r:id="rId5" imgW="97536000" imgH="39014400" progId="Equation.DSMT4">
                  <p:embed/>
                  <p:pic>
                    <p:nvPicPr>
                      <p:cNvPr id="0" name="图片 4"/>
                      <p:cNvPicPr/>
                      <p:nvPr/>
                    </p:nvPicPr>
                    <p:blipFill>
                      <a:blip r:embed="rId6"/>
                      <a:stretch>
                        <a:fillRect/>
                      </a:stretch>
                    </p:blipFill>
                    <p:spPr>
                      <a:xfrm>
                        <a:off x="3312157" y="4681754"/>
                        <a:ext cx="4747648" cy="1899059"/>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16408369"/>
              </p:ext>
            </p:extLst>
          </p:nvPr>
        </p:nvGraphicFramePr>
        <p:xfrm>
          <a:off x="3150531" y="1841216"/>
          <a:ext cx="1854200" cy="431800"/>
        </p:xfrm>
        <a:graphic>
          <a:graphicData uri="http://schemas.openxmlformats.org/presentationml/2006/ole">
            <mc:AlternateContent xmlns:mc="http://schemas.openxmlformats.org/markup-compatibility/2006">
              <mc:Choice xmlns:v="urn:schemas-microsoft-com:vml" Requires="v">
                <p:oleObj name="Equation" r:id="rId7" imgW="1856105" imgH="433070" progId="Equation.DSMT4">
                  <p:embed/>
                </p:oleObj>
              </mc:Choice>
              <mc:Fallback>
                <p:oleObj name="Equation" r:id="rId7" imgW="1856105" imgH="433070" progId="Equation.DSMT4">
                  <p:embed/>
                  <p:pic>
                    <p:nvPicPr>
                      <p:cNvPr id="0" name="图片 5"/>
                      <p:cNvPicPr/>
                      <p:nvPr/>
                    </p:nvPicPr>
                    <p:blipFill>
                      <a:blip r:embed="rId8"/>
                      <a:stretch>
                        <a:fillRect/>
                      </a:stretch>
                    </p:blipFill>
                    <p:spPr>
                      <a:xfrm>
                        <a:off x="3150531" y="1841216"/>
                        <a:ext cx="1854200" cy="4318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因子模型的性质</a:t>
            </a:r>
          </a:p>
        </p:txBody>
      </p:sp>
      <p:grpSp>
        <p:nvGrpSpPr>
          <p:cNvPr id="35" name="组合 34"/>
          <p:cNvGrpSpPr/>
          <p:nvPr/>
        </p:nvGrpSpPr>
        <p:grpSpPr>
          <a:xfrm>
            <a:off x="1856296" y="1306311"/>
            <a:ext cx="8296141" cy="4834655"/>
            <a:chOff x="2272472" y="1881850"/>
            <a:chExt cx="8296141" cy="4834655"/>
          </a:xfrm>
        </p:grpSpPr>
        <p:grpSp>
          <p:nvGrpSpPr>
            <p:cNvPr id="5" name="组合 4"/>
            <p:cNvGrpSpPr/>
            <p:nvPr/>
          </p:nvGrpSpPr>
          <p:grpSpPr>
            <a:xfrm>
              <a:off x="2272472" y="1881850"/>
              <a:ext cx="7841021" cy="1543868"/>
              <a:chOff x="179512" y="4335490"/>
              <a:chExt cx="7841021" cy="1543868"/>
            </a:xfrm>
          </p:grpSpPr>
          <p:sp>
            <p:nvSpPr>
              <p:cNvPr id="6" name="TextBox 13"/>
              <p:cNvSpPr txBox="1"/>
              <p:nvPr/>
            </p:nvSpPr>
            <p:spPr>
              <a:xfrm>
                <a:off x="410757" y="5417693"/>
                <a:ext cx="7609776" cy="461665"/>
              </a:xfrm>
              <a:prstGeom prst="rect">
                <a:avLst/>
              </a:prstGeom>
              <a:noFill/>
            </p:spPr>
            <p:txBody>
              <a:bodyPr wrap="none" rtlCol="0">
                <a:spAutoFit/>
              </a:bodyPr>
              <a:lstStyle/>
              <a:p>
                <a:pPr defTabSz="642620" eaLnBrk="0" fontAlgn="base" hangingPunct="0">
                  <a:spcBef>
                    <a:spcPct val="0"/>
                  </a:spcBef>
                  <a:spcAft>
                    <a:spcPct val="0"/>
                  </a:spcAft>
                </a:pPr>
                <a:r>
                  <a:rPr lang="zh-CN" altLang="en-US" sz="2400" dirty="0">
                    <a:latin typeface="微软雅黑" panose="020B0503020204020204" charset="-122"/>
                    <a:ea typeface="微软雅黑" panose="020B0503020204020204" charset="-122"/>
                  </a:rPr>
                  <a:t>共同度越大，说明该变量能被公共因子解释的程度越高</a:t>
                </a:r>
              </a:p>
            </p:txBody>
          </p:sp>
          <p:grpSp>
            <p:nvGrpSpPr>
              <p:cNvPr id="8" name="组合 7"/>
              <p:cNvGrpSpPr/>
              <p:nvPr/>
            </p:nvGrpSpPr>
            <p:grpSpPr>
              <a:xfrm>
                <a:off x="179512" y="4335490"/>
                <a:ext cx="4968552" cy="461666"/>
                <a:chOff x="251520" y="4191471"/>
                <a:chExt cx="4968552" cy="461665"/>
              </a:xfrm>
            </p:grpSpPr>
            <p:sp>
              <p:nvSpPr>
                <p:cNvPr id="14" name="TextBox 11"/>
                <p:cNvSpPr txBox="1"/>
                <p:nvPr/>
              </p:nvSpPr>
              <p:spPr>
                <a:xfrm>
                  <a:off x="251520" y="4191471"/>
                  <a:ext cx="2925801" cy="461664"/>
                </a:xfrm>
                <a:prstGeom prst="rect">
                  <a:avLst/>
                </a:prstGeom>
                <a:noFill/>
              </p:spPr>
              <p:txBody>
                <a:bodyPr wrap="none" rtlCol="0">
                  <a:spAutoFit/>
                </a:bodyPr>
                <a:lstStyle/>
                <a:p>
                  <a:pPr defTabSz="642620" eaLnBrk="0" fontAlgn="base" hangingPunct="0">
                    <a:spcBef>
                      <a:spcPct val="0"/>
                    </a:spcBef>
                    <a:spcAft>
                      <a:spcPct val="0"/>
                    </a:spcAft>
                  </a:pPr>
                  <a:r>
                    <a:rPr lang="en-US" altLang="zh-CN" sz="2400" dirty="0">
                      <a:latin typeface="黑体" panose="02010609060101010101" charset="-122"/>
                      <a:ea typeface="黑体" panose="02010609060101010101" charset="-122"/>
                    </a:rPr>
                    <a:t>1.</a:t>
                  </a:r>
                  <a:r>
                    <a:rPr lang="zh-CN" altLang="en-US" sz="2400" dirty="0">
                      <a:latin typeface="微软雅黑" panose="020B0503020204020204" charset="-122"/>
                      <a:ea typeface="微软雅黑" panose="020B0503020204020204" charset="-122"/>
                    </a:rPr>
                    <a:t>变量 </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的</a:t>
                  </a:r>
                  <a:r>
                    <a:rPr lang="zh-CN" altLang="en-US" sz="2400" dirty="0">
                      <a:solidFill>
                        <a:schemeClr val="accent1">
                          <a:lumMod val="75000"/>
                        </a:schemeClr>
                      </a:solidFill>
                      <a:latin typeface="微软雅黑" panose="020B0503020204020204" charset="-122"/>
                      <a:ea typeface="微软雅黑" panose="020B0503020204020204" charset="-122"/>
                    </a:rPr>
                    <a:t>共同度</a:t>
                  </a:r>
                  <a:r>
                    <a:rPr lang="zh-CN" altLang="en-US" sz="2400" b="1" dirty="0">
                      <a:latin typeface="黑体" panose="02010609060101010101" charset="-122"/>
                      <a:ea typeface="黑体" panose="02010609060101010101" charset="-122"/>
                    </a:rPr>
                    <a:t>：</a:t>
                  </a:r>
                </a:p>
              </p:txBody>
            </p:sp>
            <p:graphicFrame>
              <p:nvGraphicFramePr>
                <p:cNvPr id="20" name="对象 19"/>
                <p:cNvGraphicFramePr>
                  <a:graphicFrameLocks noChangeAspect="1"/>
                </p:cNvGraphicFramePr>
                <p:nvPr/>
              </p:nvGraphicFramePr>
              <p:xfrm>
                <a:off x="1206044" y="4257252"/>
                <a:ext cx="342900" cy="381000"/>
              </p:xfrm>
              <a:graphic>
                <a:graphicData uri="http://schemas.openxmlformats.org/presentationml/2006/ole">
                  <mc:AlternateContent xmlns:mc="http://schemas.openxmlformats.org/markup-compatibility/2006">
                    <mc:Choice xmlns:v="urn:schemas-microsoft-com:vml" Requires="v">
                      <p:oleObj name="Equation" r:id="rId3" imgW="8229600" imgH="9144000" progId="Equation.DSMT4">
                        <p:embed/>
                      </p:oleObj>
                    </mc:Choice>
                    <mc:Fallback>
                      <p:oleObj name="Equation" r:id="rId3" imgW="8229600" imgH="9144000" progId="Equation.DSMT4">
                        <p:embed/>
                        <p:pic>
                          <p:nvPicPr>
                            <p:cNvPr id="0" name="对象 2"/>
                            <p:cNvPicPr/>
                            <p:nvPr/>
                          </p:nvPicPr>
                          <p:blipFill>
                            <a:blip r:embed="rId4"/>
                            <a:stretch>
                              <a:fillRect/>
                            </a:stretch>
                          </p:blipFill>
                          <p:spPr>
                            <a:xfrm>
                              <a:off x="1206044" y="4257252"/>
                              <a:ext cx="342900" cy="3810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149972" y="4234036"/>
                <a:ext cx="2070100" cy="419100"/>
              </p:xfrm>
              <a:graphic>
                <a:graphicData uri="http://schemas.openxmlformats.org/presentationml/2006/ole">
                  <mc:AlternateContent xmlns:mc="http://schemas.openxmlformats.org/markup-compatibility/2006">
                    <mc:Choice xmlns:v="urn:schemas-microsoft-com:vml" Requires="v">
                      <p:oleObj name="Equation" r:id="rId5" imgW="49682400" imgH="10058400" progId="Equation.DSMT4">
                        <p:embed/>
                      </p:oleObj>
                    </mc:Choice>
                    <mc:Fallback>
                      <p:oleObj name="Equation" r:id="rId5" imgW="49682400" imgH="10058400" progId="Equation.DSMT4">
                        <p:embed/>
                        <p:pic>
                          <p:nvPicPr>
                            <p:cNvPr id="0" name="对象 3"/>
                            <p:cNvPicPr/>
                            <p:nvPr/>
                          </p:nvPicPr>
                          <p:blipFill>
                            <a:blip r:embed="rId6"/>
                            <a:stretch>
                              <a:fillRect/>
                            </a:stretch>
                          </p:blipFill>
                          <p:spPr>
                            <a:xfrm>
                              <a:off x="3149972" y="4234036"/>
                              <a:ext cx="2070100" cy="419100"/>
                            </a:xfrm>
                            <a:prstGeom prst="rect">
                              <a:avLst/>
                            </a:prstGeom>
                          </p:spPr>
                        </p:pic>
                      </p:oleObj>
                    </mc:Fallback>
                  </mc:AlternateContent>
                </a:graphicData>
              </a:graphic>
            </p:graphicFrame>
          </p:grpSp>
          <p:grpSp>
            <p:nvGrpSpPr>
              <p:cNvPr id="11" name="组合 10"/>
              <p:cNvGrpSpPr/>
              <p:nvPr/>
            </p:nvGrpSpPr>
            <p:grpSpPr>
              <a:xfrm>
                <a:off x="467545" y="4866329"/>
                <a:ext cx="7475123" cy="461665"/>
                <a:chOff x="539552" y="4866332"/>
                <a:chExt cx="7475123" cy="461665"/>
              </a:xfrm>
            </p:grpSpPr>
            <p:sp>
              <p:nvSpPr>
                <p:cNvPr id="12" name="TextBox 14"/>
                <p:cNvSpPr txBox="1"/>
                <p:nvPr/>
              </p:nvSpPr>
              <p:spPr>
                <a:xfrm>
                  <a:off x="539552" y="4866332"/>
                  <a:ext cx="7475123" cy="461665"/>
                </a:xfrm>
                <a:prstGeom prst="rect">
                  <a:avLst/>
                </a:prstGeom>
                <a:noFill/>
              </p:spPr>
              <p:txBody>
                <a:bodyPr wrap="none" rtlCol="0">
                  <a:spAutoFit/>
                </a:bodyPr>
                <a:lstStyle/>
                <a:p>
                  <a:pPr defTabSz="642620" eaLnBrk="0" fontAlgn="base" hangingPunct="0">
                    <a:spcBef>
                      <a:spcPct val="0"/>
                    </a:spcBef>
                    <a:spcAft>
                      <a:spcPct val="0"/>
                    </a:spcAft>
                  </a:pPr>
                  <a:r>
                    <a:rPr lang="zh-CN" altLang="en-US" sz="2400" dirty="0">
                      <a:latin typeface="微软雅黑" panose="020B0503020204020204" charset="-122"/>
                      <a:ea typeface="微软雅黑" panose="020B0503020204020204" charset="-122"/>
                    </a:rPr>
                    <a:t>表示全部</a:t>
                  </a:r>
                  <a:r>
                    <a:rPr lang="en-US" altLang="zh-CN" sz="2400" dirty="0">
                      <a:latin typeface="微软雅黑" panose="020B0503020204020204" charset="-122"/>
                      <a:ea typeface="微软雅黑" panose="020B0503020204020204" charset="-122"/>
                    </a:rPr>
                    <a:t>m</a:t>
                  </a:r>
                  <a:r>
                    <a:rPr lang="zh-CN" altLang="en-US" sz="2400" dirty="0">
                      <a:latin typeface="微软雅黑" panose="020B0503020204020204" charset="-122"/>
                      <a:ea typeface="微软雅黑" panose="020B0503020204020204" charset="-122"/>
                    </a:rPr>
                    <a:t>个公共因子对变量   的方差             的贡献</a:t>
                  </a:r>
                </a:p>
              </p:txBody>
            </p:sp>
            <p:graphicFrame>
              <p:nvGraphicFramePr>
                <p:cNvPr id="13" name="对象 12"/>
                <p:cNvGraphicFramePr>
                  <a:graphicFrameLocks noChangeAspect="1"/>
                </p:cNvGraphicFramePr>
                <p:nvPr/>
              </p:nvGraphicFramePr>
              <p:xfrm>
                <a:off x="4515212" y="4918187"/>
                <a:ext cx="342900" cy="381000"/>
              </p:xfrm>
              <a:graphic>
                <a:graphicData uri="http://schemas.openxmlformats.org/presentationml/2006/ole">
                  <mc:AlternateContent xmlns:mc="http://schemas.openxmlformats.org/markup-compatibility/2006">
                    <mc:Choice xmlns:v="urn:schemas-microsoft-com:vml" Requires="v">
                      <p:oleObj name="Equation" r:id="rId7" imgW="8229600" imgH="9144000" progId="Equation.DSMT4">
                        <p:embed/>
                      </p:oleObj>
                    </mc:Choice>
                    <mc:Fallback>
                      <p:oleObj name="Equation" r:id="rId7" imgW="8229600" imgH="9144000" progId="Equation.DSMT4">
                        <p:embed/>
                        <p:pic>
                          <p:nvPicPr>
                            <p:cNvPr id="0" name="对象 18"/>
                            <p:cNvPicPr/>
                            <p:nvPr/>
                          </p:nvPicPr>
                          <p:blipFill>
                            <a:blip r:embed="rId8"/>
                            <a:stretch>
                              <a:fillRect/>
                            </a:stretch>
                          </p:blipFill>
                          <p:spPr>
                            <a:xfrm>
                              <a:off x="4515212" y="4918187"/>
                              <a:ext cx="342900" cy="3810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807164" y="4881264"/>
                <a:ext cx="1079500" cy="431800"/>
              </p:xfrm>
              <a:graphic>
                <a:graphicData uri="http://schemas.openxmlformats.org/presentationml/2006/ole">
                  <mc:AlternateContent xmlns:mc="http://schemas.openxmlformats.org/markup-compatibility/2006">
                    <mc:Choice xmlns:v="urn:schemas-microsoft-com:vml" Requires="v">
                      <p:oleObj name="Equation" r:id="rId9" imgW="25908000" imgH="10363200" progId="Equation.DSMT4">
                        <p:embed/>
                      </p:oleObj>
                    </mc:Choice>
                    <mc:Fallback>
                      <p:oleObj name="Equation" r:id="rId9" imgW="25908000" imgH="10363200" progId="Equation.DSMT4">
                        <p:embed/>
                        <p:pic>
                          <p:nvPicPr>
                            <p:cNvPr id="0" name="对象 20"/>
                            <p:cNvPicPr/>
                            <p:nvPr/>
                          </p:nvPicPr>
                          <p:blipFill>
                            <a:blip r:embed="rId10"/>
                            <a:stretch>
                              <a:fillRect/>
                            </a:stretch>
                          </p:blipFill>
                          <p:spPr>
                            <a:xfrm>
                              <a:off x="5807164" y="4881264"/>
                              <a:ext cx="1079500" cy="431800"/>
                            </a:xfrm>
                            <a:prstGeom prst="rect">
                              <a:avLst/>
                            </a:prstGeom>
                          </p:spPr>
                        </p:pic>
                      </p:oleObj>
                    </mc:Fallback>
                  </mc:AlternateContent>
                </a:graphicData>
              </a:graphic>
            </p:graphicFrame>
          </p:grpSp>
        </p:grpSp>
        <p:grpSp>
          <p:nvGrpSpPr>
            <p:cNvPr id="29" name="组合 28"/>
            <p:cNvGrpSpPr/>
            <p:nvPr/>
          </p:nvGrpSpPr>
          <p:grpSpPr>
            <a:xfrm>
              <a:off x="2333432" y="3548735"/>
              <a:ext cx="8235181" cy="1467466"/>
              <a:chOff x="2343592" y="3786844"/>
              <a:chExt cx="8235181" cy="1467466"/>
            </a:xfrm>
          </p:grpSpPr>
          <p:grpSp>
            <p:nvGrpSpPr>
              <p:cNvPr id="22" name="组合 21"/>
              <p:cNvGrpSpPr/>
              <p:nvPr/>
            </p:nvGrpSpPr>
            <p:grpSpPr>
              <a:xfrm>
                <a:off x="2343592" y="3786844"/>
                <a:ext cx="3315702" cy="461665"/>
                <a:chOff x="251520" y="4191471"/>
                <a:chExt cx="3315702" cy="461664"/>
              </a:xfrm>
            </p:grpSpPr>
            <p:sp>
              <p:nvSpPr>
                <p:cNvPr id="23" name="TextBox 11"/>
                <p:cNvSpPr txBox="1"/>
                <p:nvPr/>
              </p:nvSpPr>
              <p:spPr>
                <a:xfrm>
                  <a:off x="251520" y="4191471"/>
                  <a:ext cx="3267241" cy="461664"/>
                </a:xfrm>
                <a:prstGeom prst="rect">
                  <a:avLst/>
                </a:prstGeom>
                <a:noFill/>
              </p:spPr>
              <p:txBody>
                <a:bodyPr wrap="none" rtlCol="0">
                  <a:spAutoFit/>
                </a:bodyPr>
                <a:lstStyle/>
                <a:p>
                  <a:pPr defTabSz="642620" eaLnBrk="0" fontAlgn="base" hangingPunct="0">
                    <a:spcBef>
                      <a:spcPct val="0"/>
                    </a:spcBef>
                    <a:spcAft>
                      <a:spcPct val="0"/>
                    </a:spcAft>
                  </a:pPr>
                  <a:r>
                    <a:rPr lang="en-US" altLang="zh-CN" sz="2400" dirty="0">
                      <a:latin typeface="微软雅黑" panose="020B0503020204020204" charset="-122"/>
                      <a:ea typeface="微软雅黑" panose="020B0503020204020204" charset="-122"/>
                    </a:rPr>
                    <a:t>2.</a:t>
                  </a:r>
                  <a:r>
                    <a:rPr lang="zh-CN" altLang="en-US" sz="2400" dirty="0">
                      <a:latin typeface="微软雅黑" panose="020B0503020204020204" charset="-122"/>
                      <a:ea typeface="微软雅黑" panose="020B0503020204020204" charset="-122"/>
                    </a:rPr>
                    <a:t>变量 </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的</a:t>
                  </a:r>
                  <a:r>
                    <a:rPr lang="zh-CN" altLang="en-US" sz="2400" dirty="0">
                      <a:solidFill>
                        <a:schemeClr val="accent1">
                          <a:lumMod val="75000"/>
                        </a:schemeClr>
                      </a:solidFill>
                      <a:latin typeface="微软雅黑" panose="020B0503020204020204" charset="-122"/>
                      <a:ea typeface="微软雅黑" panose="020B0503020204020204" charset="-122"/>
                    </a:rPr>
                    <a:t>特殊方差</a:t>
                  </a:r>
                  <a:r>
                    <a:rPr lang="zh-CN" altLang="en-US" sz="2400" dirty="0">
                      <a:latin typeface="微软雅黑" panose="020B0503020204020204" charset="-122"/>
                      <a:ea typeface="微软雅黑" panose="020B0503020204020204" charset="-122"/>
                    </a:rPr>
                    <a:t>：</a:t>
                  </a:r>
                </a:p>
              </p:txBody>
            </p:sp>
            <p:graphicFrame>
              <p:nvGraphicFramePr>
                <p:cNvPr id="24" name="对象 23"/>
                <p:cNvGraphicFramePr>
                  <a:graphicFrameLocks noChangeAspect="1"/>
                </p:cNvGraphicFramePr>
                <p:nvPr/>
              </p:nvGraphicFramePr>
              <p:xfrm>
                <a:off x="1179755" y="4246687"/>
                <a:ext cx="342900" cy="381000"/>
              </p:xfrm>
              <a:graphic>
                <a:graphicData uri="http://schemas.openxmlformats.org/presentationml/2006/ole">
                  <mc:AlternateContent xmlns:mc="http://schemas.openxmlformats.org/markup-compatibility/2006">
                    <mc:Choice xmlns:v="urn:schemas-microsoft-com:vml" Requires="v">
                      <p:oleObj name="Equation" r:id="rId11" imgW="8229600" imgH="9144000" progId="Equation.DSMT4">
                        <p:embed/>
                      </p:oleObj>
                    </mc:Choice>
                    <mc:Fallback>
                      <p:oleObj name="Equation" r:id="rId11" imgW="8229600" imgH="9144000" progId="Equation.DSMT4">
                        <p:embed/>
                        <p:pic>
                          <p:nvPicPr>
                            <p:cNvPr id="0" name="对象 2"/>
                            <p:cNvPicPr/>
                            <p:nvPr/>
                          </p:nvPicPr>
                          <p:blipFill>
                            <a:blip r:embed="rId12"/>
                            <a:stretch>
                              <a:fillRect/>
                            </a:stretch>
                          </p:blipFill>
                          <p:spPr>
                            <a:xfrm>
                              <a:off x="1179755" y="4246687"/>
                              <a:ext cx="342900" cy="38100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3275122" y="4224691"/>
                <a:ext cx="292100" cy="381000"/>
              </p:xfrm>
              <a:graphic>
                <a:graphicData uri="http://schemas.openxmlformats.org/presentationml/2006/ole">
                  <mc:AlternateContent xmlns:mc="http://schemas.openxmlformats.org/markup-compatibility/2006">
                    <mc:Choice xmlns:v="urn:schemas-microsoft-com:vml" Requires="v">
                      <p:oleObj name="Equation" r:id="rId13" imgW="7010400" imgH="9144000" progId="Equation.DSMT4">
                        <p:embed/>
                      </p:oleObj>
                    </mc:Choice>
                    <mc:Fallback>
                      <p:oleObj name="Equation" r:id="rId13" imgW="7010400" imgH="9144000" progId="Equation.DSMT4">
                        <p:embed/>
                        <p:pic>
                          <p:nvPicPr>
                            <p:cNvPr id="0" name="对象 3"/>
                            <p:cNvPicPr/>
                            <p:nvPr/>
                          </p:nvPicPr>
                          <p:blipFill>
                            <a:blip r:embed="rId14"/>
                            <a:stretch>
                              <a:fillRect/>
                            </a:stretch>
                          </p:blipFill>
                          <p:spPr>
                            <a:xfrm>
                              <a:off x="3275122" y="4224691"/>
                              <a:ext cx="292100" cy="381000"/>
                            </a:xfrm>
                            <a:prstGeom prst="rect">
                              <a:avLst/>
                            </a:prstGeom>
                          </p:spPr>
                        </p:pic>
                      </p:oleObj>
                    </mc:Fallback>
                  </mc:AlternateContent>
                </a:graphicData>
              </a:graphic>
            </p:graphicFrame>
          </p:grpSp>
          <p:grpSp>
            <p:nvGrpSpPr>
              <p:cNvPr id="26" name="组合 25"/>
              <p:cNvGrpSpPr/>
              <p:nvPr/>
            </p:nvGrpSpPr>
            <p:grpSpPr>
              <a:xfrm>
                <a:off x="2513877" y="4119256"/>
                <a:ext cx="8064896" cy="1135054"/>
                <a:chOff x="457365" y="4739907"/>
                <a:chExt cx="8064896" cy="1135054"/>
              </a:xfrm>
            </p:grpSpPr>
            <p:sp>
              <p:nvSpPr>
                <p:cNvPr id="27" name="TextBox 14"/>
                <p:cNvSpPr txBox="1"/>
                <p:nvPr/>
              </p:nvSpPr>
              <p:spPr>
                <a:xfrm>
                  <a:off x="457365" y="4739907"/>
                  <a:ext cx="8064896" cy="1135054"/>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zh-CN" altLang="en-US" sz="2400" dirty="0">
                      <a:latin typeface="微软雅黑" panose="020B0503020204020204" charset="-122"/>
                      <a:ea typeface="微软雅黑" panose="020B0503020204020204" charset="-122"/>
                    </a:rPr>
                    <a:t>由于                         ，可知变量共同度与其特殊方差具有互补性，共同度越大，特殊方差就越小。</a:t>
                  </a:r>
                </a:p>
              </p:txBody>
            </p:sp>
            <p:graphicFrame>
              <p:nvGraphicFramePr>
                <p:cNvPr id="28" name="对象 27"/>
                <p:cNvGraphicFramePr>
                  <a:graphicFrameLocks noChangeAspect="1"/>
                </p:cNvGraphicFramePr>
                <p:nvPr/>
              </p:nvGraphicFramePr>
              <p:xfrm>
                <a:off x="1215315" y="4898658"/>
                <a:ext cx="2197100" cy="444500"/>
              </p:xfrm>
              <a:graphic>
                <a:graphicData uri="http://schemas.openxmlformats.org/presentationml/2006/ole">
                  <mc:AlternateContent xmlns:mc="http://schemas.openxmlformats.org/markup-compatibility/2006">
                    <mc:Choice xmlns:v="urn:schemas-microsoft-com:vml" Requires="v">
                      <p:oleObj name="Equation" r:id="rId15" imgW="52730400" imgH="10668000" progId="Equation.DSMT4">
                        <p:embed/>
                      </p:oleObj>
                    </mc:Choice>
                    <mc:Fallback>
                      <p:oleObj name="Equation" r:id="rId15" imgW="52730400" imgH="10668000" progId="Equation.DSMT4">
                        <p:embed/>
                        <p:pic>
                          <p:nvPicPr>
                            <p:cNvPr id="0" name="对象 20"/>
                            <p:cNvPicPr/>
                            <p:nvPr/>
                          </p:nvPicPr>
                          <p:blipFill>
                            <a:blip r:embed="rId16"/>
                            <a:stretch>
                              <a:fillRect/>
                            </a:stretch>
                          </p:blipFill>
                          <p:spPr>
                            <a:xfrm>
                              <a:off x="1215315" y="4898658"/>
                              <a:ext cx="2197100" cy="444500"/>
                            </a:xfrm>
                            <a:prstGeom prst="rect">
                              <a:avLst/>
                            </a:prstGeom>
                          </p:spPr>
                        </p:pic>
                      </p:oleObj>
                    </mc:Fallback>
                  </mc:AlternateContent>
                </a:graphicData>
              </a:graphic>
            </p:graphicFrame>
          </p:grpSp>
        </p:grpSp>
        <p:grpSp>
          <p:nvGrpSpPr>
            <p:cNvPr id="31" name="组合 30"/>
            <p:cNvGrpSpPr/>
            <p:nvPr/>
          </p:nvGrpSpPr>
          <p:grpSpPr>
            <a:xfrm>
              <a:off x="2363484" y="5125906"/>
              <a:ext cx="3854083" cy="520700"/>
              <a:chOff x="251520" y="4178159"/>
              <a:chExt cx="3854083" cy="520700"/>
            </a:xfrm>
          </p:grpSpPr>
          <p:sp>
            <p:nvSpPr>
              <p:cNvPr id="32" name="TextBox 11"/>
              <p:cNvSpPr txBox="1"/>
              <p:nvPr/>
            </p:nvSpPr>
            <p:spPr>
              <a:xfrm>
                <a:off x="251520" y="4191471"/>
                <a:ext cx="2560316" cy="461665"/>
              </a:xfrm>
              <a:prstGeom prst="rect">
                <a:avLst/>
              </a:prstGeom>
              <a:noFill/>
            </p:spPr>
            <p:txBody>
              <a:bodyPr wrap="none" rtlCol="0">
                <a:spAutoFit/>
              </a:bodyPr>
              <a:lstStyle/>
              <a:p>
                <a:pPr defTabSz="642620" eaLnBrk="0" fontAlgn="base" hangingPunct="0">
                  <a:spcBef>
                    <a:spcPct val="0"/>
                  </a:spcBef>
                  <a:spcAft>
                    <a:spcPct val="0"/>
                  </a:spcAft>
                </a:pPr>
                <a:r>
                  <a:rPr lang="en-US" altLang="zh-CN" sz="2400" dirty="0">
                    <a:latin typeface="微软雅黑" panose="020B0503020204020204" charset="-122"/>
                    <a:ea typeface="微软雅黑" panose="020B0503020204020204" charset="-122"/>
                  </a:rPr>
                  <a:t>3.</a:t>
                </a:r>
                <a:r>
                  <a:rPr lang="zh-CN" altLang="en-US" sz="2400" dirty="0">
                    <a:latin typeface="微软雅黑" panose="020B0503020204020204" charset="-122"/>
                    <a:ea typeface="微软雅黑" panose="020B0503020204020204" charset="-122"/>
                  </a:rPr>
                  <a:t>因子 </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的</a:t>
                </a:r>
                <a:r>
                  <a:rPr lang="zh-CN" altLang="en-US" sz="2400" dirty="0">
                    <a:solidFill>
                      <a:schemeClr val="accent1">
                        <a:lumMod val="75000"/>
                      </a:schemeClr>
                    </a:solidFill>
                    <a:latin typeface="微软雅黑" panose="020B0503020204020204" charset="-122"/>
                    <a:ea typeface="微软雅黑" panose="020B0503020204020204" charset="-122"/>
                  </a:rPr>
                  <a:t>贡献</a:t>
                </a:r>
                <a:r>
                  <a:rPr lang="zh-CN" altLang="en-US" sz="2400" dirty="0">
                    <a:latin typeface="微软雅黑" panose="020B0503020204020204" charset="-122"/>
                    <a:ea typeface="微软雅黑" panose="020B0503020204020204" charset="-122"/>
                  </a:rPr>
                  <a:t>：</a:t>
                </a:r>
              </a:p>
            </p:txBody>
          </p:sp>
          <p:graphicFrame>
            <p:nvGraphicFramePr>
              <p:cNvPr id="33" name="对象 32"/>
              <p:cNvGraphicFramePr>
                <a:graphicFrameLocks noChangeAspect="1"/>
              </p:cNvGraphicFramePr>
              <p:nvPr/>
            </p:nvGraphicFramePr>
            <p:xfrm>
              <a:off x="1191687" y="4246369"/>
              <a:ext cx="304800" cy="419100"/>
            </p:xfrm>
            <a:graphic>
              <a:graphicData uri="http://schemas.openxmlformats.org/presentationml/2006/ole">
                <mc:AlternateContent xmlns:mc="http://schemas.openxmlformats.org/markup-compatibility/2006">
                  <mc:Choice xmlns:v="urn:schemas-microsoft-com:vml" Requires="v">
                    <p:oleObj name="Equation" r:id="rId17" imgW="7315200" imgH="10058400" progId="Equation.DSMT4">
                      <p:embed/>
                    </p:oleObj>
                  </mc:Choice>
                  <mc:Fallback>
                    <p:oleObj name="Equation" r:id="rId17" imgW="7315200" imgH="10058400" progId="Equation.DSMT4">
                      <p:embed/>
                      <p:pic>
                        <p:nvPicPr>
                          <p:cNvPr id="0" name="对象 2"/>
                          <p:cNvPicPr/>
                          <p:nvPr/>
                        </p:nvPicPr>
                        <p:blipFill>
                          <a:blip r:embed="rId18"/>
                          <a:stretch>
                            <a:fillRect/>
                          </a:stretch>
                        </p:blipFill>
                        <p:spPr>
                          <a:xfrm>
                            <a:off x="1191687" y="4246369"/>
                            <a:ext cx="304800" cy="41910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2594303" y="4178159"/>
              <a:ext cx="1511300" cy="520700"/>
            </p:xfrm>
            <a:graphic>
              <a:graphicData uri="http://schemas.openxmlformats.org/presentationml/2006/ole">
                <mc:AlternateContent xmlns:mc="http://schemas.openxmlformats.org/markup-compatibility/2006">
                  <mc:Choice xmlns:v="urn:schemas-microsoft-com:vml" Requires="v">
                    <p:oleObj name="Equation" r:id="rId19" imgW="36271200" imgH="12496800" progId="Equation.DSMT4">
                      <p:embed/>
                    </p:oleObj>
                  </mc:Choice>
                  <mc:Fallback>
                    <p:oleObj name="Equation" r:id="rId19" imgW="36271200" imgH="12496800" progId="Equation.DSMT4">
                      <p:embed/>
                      <p:pic>
                        <p:nvPicPr>
                          <p:cNvPr id="0" name="对象 3"/>
                          <p:cNvPicPr/>
                          <p:nvPr/>
                        </p:nvPicPr>
                        <p:blipFill>
                          <a:blip r:embed="rId20"/>
                          <a:stretch>
                            <a:fillRect/>
                          </a:stretch>
                        </p:blipFill>
                        <p:spPr>
                          <a:xfrm>
                            <a:off x="2594303" y="4178159"/>
                            <a:ext cx="1511300" cy="520700"/>
                          </a:xfrm>
                          <a:prstGeom prst="rect">
                            <a:avLst/>
                          </a:prstGeom>
                        </p:spPr>
                      </p:pic>
                    </p:oleObj>
                  </mc:Fallback>
                </mc:AlternateContent>
              </a:graphicData>
            </a:graphic>
          </p:graphicFrame>
        </p:grpSp>
        <p:sp>
          <p:nvSpPr>
            <p:cNvPr id="38" name="TextBox 13"/>
            <p:cNvSpPr txBox="1"/>
            <p:nvPr/>
          </p:nvSpPr>
          <p:spPr>
            <a:xfrm>
              <a:off x="2333432" y="5581451"/>
              <a:ext cx="8208912" cy="1135054"/>
            </a:xfrm>
            <a:prstGeom prst="rect">
              <a:avLst/>
            </a:prstGeom>
            <a:noFill/>
          </p:spPr>
          <p:txBody>
            <a:bodyPr wrap="square" rtlCol="0">
              <a:spAutoFit/>
            </a:bodyPr>
            <a:lstStyle/>
            <a:p>
              <a:pPr defTabSz="642620" eaLnBrk="0" fontAlgn="base" hangingPunct="0">
                <a:lnSpc>
                  <a:spcPct val="150000"/>
                </a:lnSpc>
                <a:spcBef>
                  <a:spcPct val="0"/>
                </a:spcBef>
                <a:spcAft>
                  <a:spcPct val="0"/>
                </a:spcAft>
              </a:pPr>
              <a:r>
                <a:rPr lang="zh-CN" altLang="en-US" sz="2400" dirty="0">
                  <a:latin typeface="微软雅黑" panose="020B0503020204020204" charset="-122"/>
                  <a:ea typeface="微软雅黑" panose="020B0503020204020204" charset="-122"/>
                </a:rPr>
                <a:t>因子贡献越大说明该公共因子对于解释原始变量的作用就越大，可用于衡量其重要程度</a:t>
              </a: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1863667" y="3602596"/>
            <a:ext cx="4675981" cy="660400"/>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模型求解：因子载荷矩阵</a:t>
            </a:r>
          </a:p>
        </p:txBody>
      </p:sp>
      <p:sp>
        <p:nvSpPr>
          <p:cNvPr id="5" name="TextBox 5"/>
          <p:cNvSpPr txBox="1"/>
          <p:nvPr/>
        </p:nvSpPr>
        <p:spPr>
          <a:xfrm>
            <a:off x="918656" y="1621569"/>
            <a:ext cx="9383782" cy="1131791"/>
          </a:xfrm>
          <a:prstGeom prst="rect">
            <a:avLst/>
          </a:prstGeom>
          <a:noFill/>
        </p:spPr>
        <p:txBody>
          <a:bodyPr wrap="square" rtlCol="0">
            <a:spAutoFit/>
          </a:bodyPr>
          <a:lstStyle/>
          <a:p>
            <a:pPr defTabSz="914400" eaLnBrk="0" fontAlgn="base" hangingPunct="0">
              <a:lnSpc>
                <a:spcPct val="150000"/>
              </a:lnSpc>
              <a:spcBef>
                <a:spcPct val="0"/>
              </a:spcBef>
              <a:spcAft>
                <a:spcPct val="0"/>
              </a:spcAft>
              <a:defRPr/>
            </a:pPr>
            <a:r>
              <a:rPr lang="zh-CN" altLang="en-US" sz="2400" dirty="0">
                <a:solidFill>
                  <a:prstClr val="black"/>
                </a:solidFill>
                <a:latin typeface="微软雅黑" panose="020B0503020204020204" charset="-122"/>
                <a:ea typeface="微软雅黑" panose="020B0503020204020204" charset="-122"/>
              </a:rPr>
              <a:t>对于正交因子模型                    ，根据随机向量 </a:t>
            </a:r>
            <a:r>
              <a:rPr lang="en-US" altLang="zh-CN" sz="2400" b="1" i="1" dirty="0">
                <a:solidFill>
                  <a:prstClr val="black"/>
                </a:solidFill>
                <a:latin typeface="Times New Roman" panose="02020603050405020304" pitchFamily="18" charset="0"/>
                <a:ea typeface="微软雅黑" panose="020B0503020204020204" charset="-122"/>
                <a:cs typeface="Times New Roman" panose="02020603050405020304" pitchFamily="18" charset="0"/>
              </a:rPr>
              <a:t>X </a:t>
            </a:r>
            <a:r>
              <a:rPr lang="zh-CN" altLang="en-US" sz="2400" dirty="0">
                <a:solidFill>
                  <a:prstClr val="black"/>
                </a:solidFill>
                <a:latin typeface="微软雅黑" panose="020B0503020204020204" charset="-122"/>
                <a:ea typeface="微软雅黑" panose="020B0503020204020204" charset="-122"/>
              </a:rPr>
              <a:t>的协方差矩阵的结构分解定理                  ，若引入一个正交矩阵</a:t>
            </a:r>
            <a:r>
              <a:rPr lang="en-US" altLang="zh-CN" sz="2400" b="1" i="1" dirty="0">
                <a:solidFill>
                  <a:prstClr val="black"/>
                </a:solidFill>
                <a:latin typeface="Times New Roman" panose="02020603050405020304" pitchFamily="18" charset="0"/>
                <a:ea typeface="微软雅黑" panose="020B0503020204020204" charset="-122"/>
                <a:cs typeface="Times New Roman" panose="02020603050405020304" pitchFamily="18" charset="0"/>
              </a:rPr>
              <a:t>T</a:t>
            </a:r>
            <a:r>
              <a:rPr lang="zh-CN" altLang="en-US" sz="2400" dirty="0">
                <a:solidFill>
                  <a:prstClr val="black"/>
                </a:solidFill>
                <a:latin typeface="微软雅黑" panose="020B0503020204020204" charset="-122"/>
                <a:ea typeface="微软雅黑" panose="020B0503020204020204" charset="-122"/>
              </a:rPr>
              <a:t>，即</a:t>
            </a:r>
          </a:p>
        </p:txBody>
      </p:sp>
      <p:graphicFrame>
        <p:nvGraphicFramePr>
          <p:cNvPr id="6" name="对象 5"/>
          <p:cNvGraphicFramePr>
            <a:graphicFrameLocks noChangeAspect="1"/>
          </p:cNvGraphicFramePr>
          <p:nvPr>
            <p:extLst>
              <p:ext uri="{D42A27DB-BD31-4B8C-83A1-F6EECF244321}">
                <p14:modId xmlns:p14="http://schemas.microsoft.com/office/powerpoint/2010/main" val="704884069"/>
              </p:ext>
            </p:extLst>
          </p:nvPr>
        </p:nvGraphicFramePr>
        <p:xfrm>
          <a:off x="3496889" y="1844564"/>
          <a:ext cx="1828800" cy="342900"/>
        </p:xfrm>
        <a:graphic>
          <a:graphicData uri="http://schemas.openxmlformats.org/presentationml/2006/ole">
            <mc:AlternateContent xmlns:mc="http://schemas.openxmlformats.org/markup-compatibility/2006">
              <mc:Choice xmlns:v="urn:schemas-microsoft-com:vml" Requires="v">
                <p:oleObj name="Equation" r:id="rId3" imgW="1830070" imgH="344170" progId="Equation.DSMT4">
                  <p:embed/>
                </p:oleObj>
              </mc:Choice>
              <mc:Fallback>
                <p:oleObj name="Equation" r:id="rId3" imgW="1830070" imgH="344170" progId="Equation.DSMT4">
                  <p:embed/>
                  <p:pic>
                    <p:nvPicPr>
                      <p:cNvPr id="0" name="图片 8"/>
                      <p:cNvPicPr/>
                      <p:nvPr/>
                    </p:nvPicPr>
                    <p:blipFill>
                      <a:blip r:embed="rId4"/>
                      <a:stretch>
                        <a:fillRect/>
                      </a:stretch>
                    </p:blipFill>
                    <p:spPr>
                      <a:xfrm>
                        <a:off x="3496889" y="1844564"/>
                        <a:ext cx="1828800" cy="3429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75155594"/>
              </p:ext>
            </p:extLst>
          </p:nvPr>
        </p:nvGraphicFramePr>
        <p:xfrm>
          <a:off x="2524069" y="2315901"/>
          <a:ext cx="1651000" cy="406400"/>
        </p:xfrm>
        <a:graphic>
          <a:graphicData uri="http://schemas.openxmlformats.org/presentationml/2006/ole">
            <mc:AlternateContent xmlns:mc="http://schemas.openxmlformats.org/markup-compatibility/2006">
              <mc:Choice xmlns:v="urn:schemas-microsoft-com:vml" Requires="v">
                <p:oleObj name="Equation" r:id="rId5" imgW="1652270" imgH="408305" progId="Equation.DSMT4">
                  <p:embed/>
                </p:oleObj>
              </mc:Choice>
              <mc:Fallback>
                <p:oleObj name="Equation" r:id="rId5" imgW="1652270" imgH="408305" progId="Equation.DSMT4">
                  <p:embed/>
                  <p:pic>
                    <p:nvPicPr>
                      <p:cNvPr id="0" name="图片 9"/>
                      <p:cNvPicPr/>
                      <p:nvPr/>
                    </p:nvPicPr>
                    <p:blipFill>
                      <a:blip r:embed="rId6"/>
                      <a:stretch>
                        <a:fillRect/>
                      </a:stretch>
                    </p:blipFill>
                    <p:spPr>
                      <a:xfrm>
                        <a:off x="2524069" y="2315901"/>
                        <a:ext cx="1651000" cy="4064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760726794"/>
              </p:ext>
            </p:extLst>
          </p:nvPr>
        </p:nvGraphicFramePr>
        <p:xfrm>
          <a:off x="8067619" y="2311234"/>
          <a:ext cx="1943100" cy="330200"/>
        </p:xfrm>
        <a:graphic>
          <a:graphicData uri="http://schemas.openxmlformats.org/presentationml/2006/ole">
            <mc:AlternateContent xmlns:mc="http://schemas.openxmlformats.org/markup-compatibility/2006">
              <mc:Choice xmlns:v="urn:schemas-microsoft-com:vml" Requires="v">
                <p:oleObj name="Equation" r:id="rId7" imgW="1944370" imgH="332105" progId="Equation.DSMT4">
                  <p:embed/>
                </p:oleObj>
              </mc:Choice>
              <mc:Fallback>
                <p:oleObj name="Equation" r:id="rId7" imgW="1944370" imgH="332105" progId="Equation.DSMT4">
                  <p:embed/>
                  <p:pic>
                    <p:nvPicPr>
                      <p:cNvPr id="0" name="图片 11"/>
                      <p:cNvPicPr/>
                      <p:nvPr/>
                    </p:nvPicPr>
                    <p:blipFill>
                      <a:blip r:embed="rId8"/>
                      <a:stretch>
                        <a:fillRect/>
                      </a:stretch>
                    </p:blipFill>
                    <p:spPr>
                      <a:xfrm>
                        <a:off x="8067619" y="2311234"/>
                        <a:ext cx="1943100" cy="330200"/>
                      </a:xfrm>
                      <a:prstGeom prst="rect">
                        <a:avLst/>
                      </a:prstGeom>
                    </p:spPr>
                  </p:pic>
                </p:oleObj>
              </mc:Fallback>
            </mc:AlternateContent>
          </a:graphicData>
        </a:graphic>
      </p:graphicFrame>
      <p:grpSp>
        <p:nvGrpSpPr>
          <p:cNvPr id="13" name="组合 12"/>
          <p:cNvGrpSpPr/>
          <p:nvPr/>
        </p:nvGrpSpPr>
        <p:grpSpPr>
          <a:xfrm>
            <a:off x="673267" y="2850738"/>
            <a:ext cx="7416823" cy="2667448"/>
            <a:chOff x="179513" y="3238624"/>
            <a:chExt cx="7416823" cy="2667448"/>
          </a:xfrm>
        </p:grpSpPr>
        <p:sp>
          <p:nvSpPr>
            <p:cNvPr id="14" name="TextBox 2"/>
            <p:cNvSpPr txBox="1"/>
            <p:nvPr/>
          </p:nvSpPr>
          <p:spPr>
            <a:xfrm>
              <a:off x="179513" y="5325015"/>
              <a:ext cx="184731" cy="581057"/>
            </a:xfrm>
            <a:prstGeom prst="rect">
              <a:avLst/>
            </a:prstGeom>
            <a:noFill/>
          </p:spPr>
          <p:txBody>
            <a:bodyPr wrap="none" rtlCol="0">
              <a:spAutoFit/>
            </a:bodyPr>
            <a:lstStyle/>
            <a:p>
              <a:pPr defTabSz="914400" eaLnBrk="0" fontAlgn="base" hangingPunct="0">
                <a:lnSpc>
                  <a:spcPct val="150000"/>
                </a:lnSpc>
                <a:spcBef>
                  <a:spcPct val="0"/>
                </a:spcBef>
                <a:spcAft>
                  <a:spcPct val="0"/>
                </a:spcAft>
                <a:defRPr/>
              </a:pPr>
              <a:endParaRPr lang="zh-CN" altLang="en-US" sz="2400" dirty="0">
                <a:solidFill>
                  <a:srgbClr val="0000FF"/>
                </a:solidFill>
                <a:latin typeface="微软雅黑" panose="020B0503020204020204" charset="-122"/>
                <a:ea typeface="微软雅黑" panose="020B0503020204020204" charset="-122"/>
              </a:endParaRPr>
            </a:p>
          </p:txBody>
        </p:sp>
        <p:grpSp>
          <p:nvGrpSpPr>
            <p:cNvPr id="15" name="组合 14"/>
            <p:cNvGrpSpPr/>
            <p:nvPr/>
          </p:nvGrpSpPr>
          <p:grpSpPr>
            <a:xfrm>
              <a:off x="467545" y="3238624"/>
              <a:ext cx="6544988" cy="643508"/>
              <a:chOff x="187252" y="3212976"/>
              <a:chExt cx="6544988" cy="643508"/>
            </a:xfrm>
          </p:grpSpPr>
          <p:sp>
            <p:nvSpPr>
              <p:cNvPr id="28" name="TextBox 7"/>
              <p:cNvSpPr txBox="1"/>
              <p:nvPr/>
            </p:nvSpPr>
            <p:spPr>
              <a:xfrm>
                <a:off x="187252" y="3212976"/>
                <a:ext cx="6544988" cy="581057"/>
              </a:xfrm>
              <a:prstGeom prst="rect">
                <a:avLst/>
              </a:prstGeom>
              <a:noFill/>
            </p:spPr>
            <p:txBody>
              <a:bodyPr wrap="square" rtlCol="0">
                <a:spAutoFit/>
              </a:bodyPr>
              <a:lstStyle/>
              <a:p>
                <a:pPr defTabSz="914400" eaLnBrk="0" fontAlgn="base" hangingPunct="0">
                  <a:lnSpc>
                    <a:spcPct val="150000"/>
                  </a:lnSpc>
                  <a:spcBef>
                    <a:spcPct val="0"/>
                  </a:spcBef>
                  <a:spcAft>
                    <a:spcPct val="0"/>
                  </a:spcAft>
                  <a:defRPr/>
                </a:pPr>
                <a:r>
                  <a:rPr lang="zh-CN" altLang="en-US" sz="2400" dirty="0">
                    <a:solidFill>
                      <a:prstClr val="black"/>
                    </a:solidFill>
                    <a:latin typeface="微软雅黑" panose="020B0503020204020204" charset="-122"/>
                    <a:ea typeface="微软雅黑" panose="020B0503020204020204" charset="-122"/>
                  </a:rPr>
                  <a:t>则有：</a:t>
                </a:r>
              </a:p>
            </p:txBody>
          </p:sp>
          <p:graphicFrame>
            <p:nvGraphicFramePr>
              <p:cNvPr id="29" name="对象 28"/>
              <p:cNvGraphicFramePr>
                <a:graphicFrameLocks noChangeAspect="1"/>
              </p:cNvGraphicFramePr>
              <p:nvPr/>
            </p:nvGraphicFramePr>
            <p:xfrm>
              <a:off x="1184241" y="3284984"/>
              <a:ext cx="4356100" cy="571500"/>
            </p:xfrm>
            <a:graphic>
              <a:graphicData uri="http://schemas.openxmlformats.org/presentationml/2006/ole">
                <mc:AlternateContent xmlns:mc="http://schemas.openxmlformats.org/markup-compatibility/2006">
                  <mc:Choice xmlns:v="urn:schemas-microsoft-com:vml" Requires="v">
                    <p:oleObj name="Equation" r:id="rId9" imgW="104546400" imgH="13716000" progId="Equation.DSMT4">
                      <p:embed/>
                    </p:oleObj>
                  </mc:Choice>
                  <mc:Fallback>
                    <p:oleObj name="Equation" r:id="rId9" imgW="104546400" imgH="13716000" progId="Equation.DSMT4">
                      <p:embed/>
                      <p:pic>
                        <p:nvPicPr>
                          <p:cNvPr id="0" name="对象 11"/>
                          <p:cNvPicPr/>
                          <p:nvPr/>
                        </p:nvPicPr>
                        <p:blipFill>
                          <a:blip r:embed="rId10"/>
                          <a:stretch>
                            <a:fillRect/>
                          </a:stretch>
                        </p:blipFill>
                        <p:spPr>
                          <a:xfrm>
                            <a:off x="1184241" y="3284984"/>
                            <a:ext cx="4356100" cy="571500"/>
                          </a:xfrm>
                          <a:prstGeom prst="rect">
                            <a:avLst/>
                          </a:prstGeom>
                        </p:spPr>
                      </p:pic>
                    </p:oleObj>
                  </mc:Fallback>
                </mc:AlternateContent>
              </a:graphicData>
            </a:graphic>
          </p:graphicFrame>
        </p:grpSp>
        <p:grpSp>
          <p:nvGrpSpPr>
            <p:cNvPr id="17" name="组合 16"/>
            <p:cNvGrpSpPr/>
            <p:nvPr/>
          </p:nvGrpSpPr>
          <p:grpSpPr>
            <a:xfrm>
              <a:off x="467544" y="4030714"/>
              <a:ext cx="4680520" cy="478408"/>
              <a:chOff x="179512" y="4005064"/>
              <a:chExt cx="4680520" cy="478408"/>
            </a:xfrm>
          </p:grpSpPr>
          <p:sp>
            <p:nvSpPr>
              <p:cNvPr id="26" name="TextBox 13"/>
              <p:cNvSpPr txBox="1"/>
              <p:nvPr/>
            </p:nvSpPr>
            <p:spPr>
              <a:xfrm>
                <a:off x="179512" y="4005064"/>
                <a:ext cx="1112805" cy="461665"/>
              </a:xfrm>
              <a:prstGeom prst="rect">
                <a:avLst/>
              </a:prstGeom>
              <a:noFill/>
            </p:spPr>
            <p:txBody>
              <a:bodyPr wrap="none" rtlCol="0">
                <a:spAutoFit/>
              </a:bodyPr>
              <a:lstStyle/>
              <a:p>
                <a:pPr defTabSz="914400" eaLnBrk="0" fontAlgn="base" hangingPunct="0">
                  <a:spcBef>
                    <a:spcPct val="0"/>
                  </a:spcBef>
                  <a:spcAft>
                    <a:spcPct val="0"/>
                  </a:spcAft>
                  <a:defRPr/>
                </a:pPr>
                <a:r>
                  <a:rPr lang="zh-CN" altLang="en-US" sz="2400" dirty="0">
                    <a:ln w="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此时：</a:t>
                </a:r>
              </a:p>
            </p:txBody>
          </p:sp>
          <p:graphicFrame>
            <p:nvGraphicFramePr>
              <p:cNvPr id="27" name="对象 26"/>
              <p:cNvGraphicFramePr>
                <a:graphicFrameLocks noChangeAspect="1"/>
              </p:cNvGraphicFramePr>
              <p:nvPr/>
            </p:nvGraphicFramePr>
            <p:xfrm>
              <a:off x="1151632" y="4077072"/>
              <a:ext cx="3708400" cy="406400"/>
            </p:xfrm>
            <a:graphic>
              <a:graphicData uri="http://schemas.openxmlformats.org/presentationml/2006/ole">
                <mc:AlternateContent xmlns:mc="http://schemas.openxmlformats.org/markup-compatibility/2006">
                  <mc:Choice xmlns:v="urn:schemas-microsoft-com:vml" Requires="v">
                    <p:oleObj name="Equation" r:id="rId11" imgW="89001600" imgH="9753600" progId="Equation.DSMT4">
                      <p:embed/>
                    </p:oleObj>
                  </mc:Choice>
                  <mc:Fallback>
                    <p:oleObj name="Equation" r:id="rId11" imgW="89001600" imgH="9753600" progId="Equation.DSMT4">
                      <p:embed/>
                      <p:pic>
                        <p:nvPicPr>
                          <p:cNvPr id="0" name="对象 15"/>
                          <p:cNvPicPr/>
                          <p:nvPr/>
                        </p:nvPicPr>
                        <p:blipFill>
                          <a:blip r:embed="rId12"/>
                          <a:stretch>
                            <a:fillRect/>
                          </a:stretch>
                        </p:blipFill>
                        <p:spPr>
                          <a:xfrm>
                            <a:off x="1151632" y="4077072"/>
                            <a:ext cx="3708400" cy="406400"/>
                          </a:xfrm>
                          <a:prstGeom prst="rect">
                            <a:avLst/>
                          </a:prstGeom>
                        </p:spPr>
                      </p:pic>
                    </p:oleObj>
                  </mc:Fallback>
                </mc:AlternateContent>
              </a:graphicData>
            </a:graphic>
          </p:graphicFrame>
        </p:grpSp>
        <p:grpSp>
          <p:nvGrpSpPr>
            <p:cNvPr id="20" name="组合 19"/>
            <p:cNvGrpSpPr/>
            <p:nvPr/>
          </p:nvGrpSpPr>
          <p:grpSpPr>
            <a:xfrm>
              <a:off x="467544" y="4721203"/>
              <a:ext cx="7128792" cy="508025"/>
              <a:chOff x="539552" y="4721200"/>
              <a:chExt cx="7128792" cy="508025"/>
            </a:xfrm>
          </p:grpSpPr>
          <p:sp>
            <p:nvSpPr>
              <p:cNvPr id="21" name="TextBox 17"/>
              <p:cNvSpPr txBox="1"/>
              <p:nvPr/>
            </p:nvSpPr>
            <p:spPr>
              <a:xfrm>
                <a:off x="539552" y="4725144"/>
                <a:ext cx="5628464" cy="461665"/>
              </a:xfrm>
              <a:prstGeom prst="rect">
                <a:avLst/>
              </a:prstGeom>
              <a:noFill/>
            </p:spPr>
            <p:txBody>
              <a:bodyPr wrap="none" rtlCol="0">
                <a:spAutoFit/>
              </a:bodyPr>
              <a:lstStyle/>
              <a:p>
                <a:pPr defTabSz="914400" eaLnBrk="0" fontAlgn="base" hangingPunct="0">
                  <a:spcBef>
                    <a:spcPct val="0"/>
                  </a:spcBef>
                  <a:spcAft>
                    <a:spcPct val="0"/>
                  </a:spcAft>
                  <a:defRPr/>
                </a:pPr>
                <a:r>
                  <a:rPr lang="zh-CN" altLang="en-US" sz="2400" dirty="0">
                    <a:solidFill>
                      <a:prstClr val="black"/>
                    </a:solidFill>
                    <a:latin typeface="微软雅黑" panose="020B0503020204020204" charset="-122"/>
                    <a:ea typeface="微软雅黑" panose="020B0503020204020204" charset="-122"/>
                  </a:rPr>
                  <a:t>而    同样满足               ，                 ，</a:t>
                </a:r>
              </a:p>
            </p:txBody>
          </p:sp>
          <p:graphicFrame>
            <p:nvGraphicFramePr>
              <p:cNvPr id="22" name="对象 21"/>
              <p:cNvGraphicFramePr>
                <a:graphicFrameLocks noChangeAspect="1"/>
              </p:cNvGraphicFramePr>
              <p:nvPr/>
            </p:nvGraphicFramePr>
            <p:xfrm>
              <a:off x="934800" y="4790876"/>
              <a:ext cx="317500" cy="330200"/>
            </p:xfrm>
            <a:graphic>
              <a:graphicData uri="http://schemas.openxmlformats.org/presentationml/2006/ole">
                <mc:AlternateContent xmlns:mc="http://schemas.openxmlformats.org/markup-compatibility/2006">
                  <mc:Choice xmlns:v="urn:schemas-microsoft-com:vml" Requires="v">
                    <p:oleObj name="Equation" r:id="rId13" imgW="7620000" imgH="7924800" progId="Equation.DSMT4">
                      <p:embed/>
                    </p:oleObj>
                  </mc:Choice>
                  <mc:Fallback>
                    <p:oleObj name="Equation" r:id="rId13" imgW="7620000" imgH="7924800" progId="Equation.DSMT4">
                      <p:embed/>
                      <p:pic>
                        <p:nvPicPr>
                          <p:cNvPr id="0" name="对象 16"/>
                          <p:cNvPicPr/>
                          <p:nvPr/>
                        </p:nvPicPr>
                        <p:blipFill>
                          <a:blip r:embed="rId14"/>
                          <a:stretch>
                            <a:fillRect/>
                          </a:stretch>
                        </p:blipFill>
                        <p:spPr>
                          <a:xfrm>
                            <a:off x="934800" y="4790876"/>
                            <a:ext cx="317500" cy="33020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2497212" y="4721200"/>
              <a:ext cx="1282700" cy="508000"/>
            </p:xfrm>
            <a:graphic>
              <a:graphicData uri="http://schemas.openxmlformats.org/presentationml/2006/ole">
                <mc:AlternateContent xmlns:mc="http://schemas.openxmlformats.org/markup-compatibility/2006">
                  <mc:Choice xmlns:v="urn:schemas-microsoft-com:vml" Requires="v">
                    <p:oleObj name="Equation" r:id="rId15" imgW="30784800" imgH="12192000" progId="Equation.DSMT4">
                      <p:embed/>
                    </p:oleObj>
                  </mc:Choice>
                  <mc:Fallback>
                    <p:oleObj name="Equation" r:id="rId15" imgW="30784800" imgH="12192000" progId="Equation.DSMT4">
                      <p:embed/>
                      <p:pic>
                        <p:nvPicPr>
                          <p:cNvPr id="0" name="对象 20"/>
                          <p:cNvPicPr/>
                          <p:nvPr/>
                        </p:nvPicPr>
                        <p:blipFill>
                          <a:blip r:embed="rId16"/>
                          <a:stretch>
                            <a:fillRect/>
                          </a:stretch>
                        </p:blipFill>
                        <p:spPr>
                          <a:xfrm>
                            <a:off x="2497212" y="4721200"/>
                            <a:ext cx="1282700" cy="50800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4051920" y="4721200"/>
              <a:ext cx="1600200" cy="508000"/>
            </p:xfrm>
            <a:graphic>
              <a:graphicData uri="http://schemas.openxmlformats.org/presentationml/2006/ole">
                <mc:AlternateContent xmlns:mc="http://schemas.openxmlformats.org/markup-compatibility/2006">
                  <mc:Choice xmlns:v="urn:schemas-microsoft-com:vml" Requires="v">
                    <p:oleObj name="Equation" r:id="rId17" imgW="38404800" imgH="12192000" progId="Equation.DSMT4">
                      <p:embed/>
                    </p:oleObj>
                  </mc:Choice>
                  <mc:Fallback>
                    <p:oleObj name="Equation" r:id="rId17" imgW="38404800" imgH="12192000" progId="Equation.DSMT4">
                      <p:embed/>
                      <p:pic>
                        <p:nvPicPr>
                          <p:cNvPr id="0" name="对象 18"/>
                          <p:cNvPicPr>
                            <a:picLocks noChangeAspect="1" noChangeArrowheads="1"/>
                          </p:cNvPicPr>
                          <p:nvPr/>
                        </p:nvPicPr>
                        <p:blipFill>
                          <a:blip r:embed="rId18"/>
                          <a:srcRect/>
                          <a:stretch>
                            <a:fillRect/>
                          </a:stretch>
                        </p:blipFill>
                        <p:spPr bwMode="auto">
                          <a:xfrm>
                            <a:off x="4051920" y="4721200"/>
                            <a:ext cx="16002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5877644" y="4721225"/>
              <a:ext cx="1790700" cy="508000"/>
            </p:xfrm>
            <a:graphic>
              <a:graphicData uri="http://schemas.openxmlformats.org/presentationml/2006/ole">
                <mc:AlternateContent xmlns:mc="http://schemas.openxmlformats.org/markup-compatibility/2006">
                  <mc:Choice xmlns:v="urn:schemas-microsoft-com:vml" Requires="v">
                    <p:oleObj name="Equation" r:id="rId19" imgW="42976800" imgH="12192000" progId="Equation.DSMT4">
                      <p:embed/>
                    </p:oleObj>
                  </mc:Choice>
                  <mc:Fallback>
                    <p:oleObj name="Equation" r:id="rId19" imgW="42976800" imgH="12192000" progId="Equation.DSMT4">
                      <p:embed/>
                      <p:pic>
                        <p:nvPicPr>
                          <p:cNvPr id="0" name="对象 21"/>
                          <p:cNvPicPr>
                            <a:picLocks noChangeAspect="1" noChangeArrowheads="1"/>
                          </p:cNvPicPr>
                          <p:nvPr/>
                        </p:nvPicPr>
                        <p:blipFill>
                          <a:blip r:embed="rId20"/>
                          <a:srcRect/>
                          <a:stretch>
                            <a:fillRect/>
                          </a:stretch>
                        </p:blipFill>
                        <p:spPr bwMode="auto">
                          <a:xfrm>
                            <a:off x="5877644" y="4721225"/>
                            <a:ext cx="17907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34" name="TextBox 8"/>
          <p:cNvSpPr txBox="1"/>
          <p:nvPr/>
        </p:nvSpPr>
        <p:spPr>
          <a:xfrm>
            <a:off x="1032510" y="5142699"/>
            <a:ext cx="10190480" cy="1200329"/>
          </a:xfrm>
          <a:prstGeom prst="rect">
            <a:avLst/>
          </a:prstGeom>
          <a:noFill/>
        </p:spPr>
        <p:txBody>
          <a:bodyPr wrap="square" rtlCol="0">
            <a:spAutoFit/>
          </a:bodyPr>
          <a:lstStyle/>
          <a:p>
            <a:pPr defTabSz="914400" eaLnBrk="0" fontAlgn="base" hangingPunct="0">
              <a:spcBef>
                <a:spcPct val="0"/>
              </a:spcBef>
              <a:spcAft>
                <a:spcPct val="0"/>
              </a:spcAft>
              <a:defRPr/>
            </a:pPr>
            <a:r>
              <a:rPr lang="zh-CN" altLang="en-US" sz="2400" dirty="0">
                <a:solidFill>
                  <a:prstClr val="black"/>
                </a:solidFill>
                <a:latin typeface="微软雅黑" panose="020B0503020204020204" charset="-122"/>
                <a:ea typeface="微软雅黑" panose="020B0503020204020204" charset="-122"/>
              </a:rPr>
              <a:t>经过旋转后得到的载荷矩阵能够对公共因子做出更好的解释，使一个变量尽可能由一个公共因子说明；且不同的公共因子应能说明不同的变量。</a:t>
            </a:r>
          </a:p>
          <a:p>
            <a:pPr defTabSz="914400" eaLnBrk="0" fontAlgn="base" hangingPunct="0">
              <a:spcBef>
                <a:spcPct val="0"/>
              </a:spcBef>
              <a:spcAft>
                <a:spcPct val="0"/>
              </a:spcAft>
              <a:defRPr/>
            </a:pPr>
            <a:endParaRPr lang="zh-CN" altLang="en-US" sz="2400" dirty="0">
              <a:solidFill>
                <a:prstClr val="black"/>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6F8C-CF0C-37C9-747D-032F84B6178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E6B30AA-104D-9FB8-EDC6-99332168A5B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实践案例：基于因子分析的人格特征潜在因子挖掘</a:t>
            </a:r>
          </a:p>
        </p:txBody>
      </p:sp>
      <p:sp>
        <p:nvSpPr>
          <p:cNvPr id="8" name="文本框 7">
            <a:extLst>
              <a:ext uri="{FF2B5EF4-FFF2-40B4-BE49-F238E27FC236}">
                <a16:creationId xmlns:a16="http://schemas.microsoft.com/office/drawing/2014/main" id="{A2F76557-C7E9-0F15-99EC-1186600991D2}"/>
              </a:ext>
            </a:extLst>
          </p:cNvPr>
          <p:cNvSpPr txBox="1"/>
          <p:nvPr/>
        </p:nvSpPr>
        <p:spPr>
          <a:xfrm>
            <a:off x="272604" y="864215"/>
            <a:ext cx="11568414" cy="961289"/>
          </a:xfrm>
          <a:prstGeom prst="rect">
            <a:avLst/>
          </a:prstGeom>
          <a:noFill/>
        </p:spPr>
        <p:txBody>
          <a:bodyPr wrap="square">
            <a:spAutoFit/>
          </a:bodyPr>
          <a:lstStyle/>
          <a:p>
            <a:pPr>
              <a:lnSpc>
                <a:spcPct val="150000"/>
              </a:lnSpc>
            </a:pPr>
            <a:r>
              <a:rPr lang="en-US" altLang="zh-CN" sz="2000" kern="100" dirty="0">
                <a:latin typeface="微软雅黑" panose="020B0503020204020204" charset="-122"/>
                <a:ea typeface="微软雅黑" panose="020B0503020204020204" charset="-122"/>
                <a:cs typeface="Times New Roman" panose="02020603050405020304" pitchFamily="18" charset="0"/>
              </a:rPr>
              <a:t>    </a:t>
            </a:r>
            <a:r>
              <a:rPr lang="zh-CN" altLang="zh-CN" sz="2000" kern="100" dirty="0">
                <a:latin typeface="微软雅黑" panose="020B0503020204020204" charset="-122"/>
                <a:ea typeface="微软雅黑" panose="020B0503020204020204" charset="-122"/>
                <a:cs typeface="Times New Roman" panose="02020603050405020304" pitchFamily="18" charset="0"/>
              </a:rPr>
              <a:t>选取的数据集是从国际人格测验项目库中提取的</a:t>
            </a:r>
            <a:r>
              <a:rPr lang="en-US" altLang="zh-CN" sz="2000" kern="100" dirty="0">
                <a:latin typeface="微软雅黑" panose="020B0503020204020204" charset="-122"/>
                <a:ea typeface="微软雅黑" panose="020B0503020204020204" charset="-122"/>
                <a:cs typeface="Times New Roman" panose="02020603050405020304" pitchFamily="18" charset="0"/>
              </a:rPr>
              <a:t>2800</a:t>
            </a:r>
            <a:r>
              <a:rPr lang="zh-CN" altLang="zh-CN" sz="2000" kern="100" dirty="0">
                <a:latin typeface="微软雅黑" panose="020B0503020204020204" charset="-122"/>
                <a:ea typeface="微软雅黑" panose="020B0503020204020204" charset="-122"/>
                <a:cs typeface="Times New Roman" panose="02020603050405020304" pitchFamily="18" charset="0"/>
              </a:rPr>
              <a:t>个受试者的人格测试报告。该数据集共有</a:t>
            </a:r>
            <a:r>
              <a:rPr lang="en-US" altLang="zh-CN" sz="2000" kern="100" dirty="0">
                <a:latin typeface="微软雅黑" panose="020B0503020204020204" charset="-122"/>
                <a:ea typeface="微软雅黑" panose="020B0503020204020204" charset="-122"/>
                <a:cs typeface="Times New Roman" panose="02020603050405020304" pitchFamily="18" charset="0"/>
              </a:rPr>
              <a:t>28</a:t>
            </a:r>
            <a:r>
              <a:rPr lang="zh-CN" altLang="zh-CN" sz="2000" kern="100" dirty="0">
                <a:latin typeface="微软雅黑" panose="020B0503020204020204" charset="-122"/>
                <a:ea typeface="微软雅黑" panose="020B0503020204020204" charset="-122"/>
                <a:cs typeface="Times New Roman" panose="02020603050405020304" pitchFamily="18" charset="0"/>
              </a:rPr>
              <a:t>个特征，其中包含三个人口统计变量，分别为性别、教育和年龄；此外</a:t>
            </a:r>
            <a:r>
              <a:rPr lang="en-US" altLang="zh-CN" sz="2000" kern="100" dirty="0">
                <a:latin typeface="微软雅黑" panose="020B0503020204020204" charset="-122"/>
                <a:ea typeface="微软雅黑" panose="020B0503020204020204" charset="-122"/>
                <a:cs typeface="Times New Roman" panose="02020603050405020304" pitchFamily="18" charset="0"/>
              </a:rPr>
              <a:t>25</a:t>
            </a:r>
            <a:r>
              <a:rPr lang="zh-CN" altLang="zh-CN" sz="2000" kern="100" dirty="0">
                <a:latin typeface="微软雅黑" panose="020B0503020204020204" charset="-122"/>
                <a:ea typeface="微软雅黑" panose="020B0503020204020204" charset="-122"/>
                <a:cs typeface="Times New Roman" panose="02020603050405020304" pitchFamily="18" charset="0"/>
              </a:rPr>
              <a:t>个指标由五类特征组成</a:t>
            </a:r>
            <a:r>
              <a:rPr lang="zh-CN" altLang="en-US" sz="2000" kern="100" dirty="0">
                <a:latin typeface="微软雅黑" panose="020B0503020204020204" charset="-122"/>
                <a:ea typeface="微软雅黑" panose="020B0503020204020204" charset="-122"/>
                <a:cs typeface="Times New Roman" panose="02020603050405020304" pitchFamily="18" charset="0"/>
              </a:rPr>
              <a:t>。</a:t>
            </a:r>
          </a:p>
        </p:txBody>
      </p:sp>
      <p:graphicFrame>
        <p:nvGraphicFramePr>
          <p:cNvPr id="10" name="表格 9">
            <a:extLst>
              <a:ext uri="{FF2B5EF4-FFF2-40B4-BE49-F238E27FC236}">
                <a16:creationId xmlns:a16="http://schemas.microsoft.com/office/drawing/2014/main" id="{BB36F03C-5B19-F0ED-AE28-F0A0DD57EBDC}"/>
              </a:ext>
            </a:extLst>
          </p:cNvPr>
          <p:cNvGraphicFramePr>
            <a:graphicFrameLocks noGrp="1"/>
          </p:cNvGraphicFramePr>
          <p:nvPr>
            <p:extLst>
              <p:ext uri="{D42A27DB-BD31-4B8C-83A1-F6EECF244321}">
                <p14:modId xmlns:p14="http://schemas.microsoft.com/office/powerpoint/2010/main" val="4166856284"/>
              </p:ext>
            </p:extLst>
          </p:nvPr>
        </p:nvGraphicFramePr>
        <p:xfrm>
          <a:off x="1782354" y="1888975"/>
          <a:ext cx="8276045" cy="1970024"/>
        </p:xfrm>
        <a:graphic>
          <a:graphicData uri="http://schemas.openxmlformats.org/drawingml/2006/table">
            <a:tbl>
              <a:tblPr firstRow="1" firstCol="1" bandRow="1">
                <a:tableStyleId>{5C22544A-7EE6-4342-B048-85BDC9FD1C3A}</a:tableStyleId>
              </a:tblPr>
              <a:tblGrid>
                <a:gridCol w="801554">
                  <a:extLst>
                    <a:ext uri="{9D8B030D-6E8A-4147-A177-3AD203B41FA5}">
                      <a16:colId xmlns:a16="http://schemas.microsoft.com/office/drawing/2014/main" val="20000"/>
                    </a:ext>
                  </a:extLst>
                </a:gridCol>
                <a:gridCol w="613766">
                  <a:extLst>
                    <a:ext uri="{9D8B030D-6E8A-4147-A177-3AD203B41FA5}">
                      <a16:colId xmlns:a16="http://schemas.microsoft.com/office/drawing/2014/main" val="20001"/>
                    </a:ext>
                  </a:extLst>
                </a:gridCol>
                <a:gridCol w="712615">
                  <a:extLst>
                    <a:ext uri="{9D8B030D-6E8A-4147-A177-3AD203B41FA5}">
                      <a16:colId xmlns:a16="http://schemas.microsoft.com/office/drawing/2014/main" val="20002"/>
                    </a:ext>
                  </a:extLst>
                </a:gridCol>
                <a:gridCol w="713720">
                  <a:extLst>
                    <a:ext uri="{9D8B030D-6E8A-4147-A177-3AD203B41FA5}">
                      <a16:colId xmlns:a16="http://schemas.microsoft.com/office/drawing/2014/main" val="20003"/>
                    </a:ext>
                  </a:extLst>
                </a:gridCol>
                <a:gridCol w="514668">
                  <a:extLst>
                    <a:ext uri="{9D8B030D-6E8A-4147-A177-3AD203B41FA5}">
                      <a16:colId xmlns:a16="http://schemas.microsoft.com/office/drawing/2014/main" val="20004"/>
                    </a:ext>
                  </a:extLst>
                </a:gridCol>
                <a:gridCol w="755780">
                  <a:extLst>
                    <a:ext uri="{9D8B030D-6E8A-4147-A177-3AD203B41FA5}">
                      <a16:colId xmlns:a16="http://schemas.microsoft.com/office/drawing/2014/main" val="20005"/>
                    </a:ext>
                  </a:extLst>
                </a:gridCol>
                <a:gridCol w="617941">
                  <a:extLst>
                    <a:ext uri="{9D8B030D-6E8A-4147-A177-3AD203B41FA5}">
                      <a16:colId xmlns:a16="http://schemas.microsoft.com/office/drawing/2014/main" val="20006"/>
                    </a:ext>
                  </a:extLst>
                </a:gridCol>
                <a:gridCol w="629467">
                  <a:extLst>
                    <a:ext uri="{9D8B030D-6E8A-4147-A177-3AD203B41FA5}">
                      <a16:colId xmlns:a16="http://schemas.microsoft.com/office/drawing/2014/main" val="20007"/>
                    </a:ext>
                  </a:extLst>
                </a:gridCol>
                <a:gridCol w="979171">
                  <a:extLst>
                    <a:ext uri="{9D8B030D-6E8A-4147-A177-3AD203B41FA5}">
                      <a16:colId xmlns:a16="http://schemas.microsoft.com/office/drawing/2014/main" val="20008"/>
                    </a:ext>
                  </a:extLst>
                </a:gridCol>
                <a:gridCol w="1276513">
                  <a:extLst>
                    <a:ext uri="{9D8B030D-6E8A-4147-A177-3AD203B41FA5}">
                      <a16:colId xmlns:a16="http://schemas.microsoft.com/office/drawing/2014/main" val="20009"/>
                    </a:ext>
                  </a:extLst>
                </a:gridCol>
                <a:gridCol w="660850">
                  <a:extLst>
                    <a:ext uri="{9D8B030D-6E8A-4147-A177-3AD203B41FA5}">
                      <a16:colId xmlns:a16="http://schemas.microsoft.com/office/drawing/2014/main" val="20010"/>
                    </a:ext>
                  </a:extLst>
                </a:gridCol>
              </a:tblGrid>
              <a:tr h="242028">
                <a:tc>
                  <a:txBody>
                    <a:bodyPr/>
                    <a:lstStyle/>
                    <a:p>
                      <a:pPr indent="127000" algn="l">
                        <a:lnSpc>
                          <a:spcPct val="125000"/>
                        </a:lnSpc>
                        <a:tabLst>
                          <a:tab pos="304800" algn="l"/>
                        </a:tabLst>
                      </a:pPr>
                      <a:r>
                        <a:rPr lang="en-US" sz="1600" kern="0">
                          <a:effectLst/>
                        </a:rPr>
                        <a:t> </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A</a:t>
                      </a:r>
                      <a:r>
                        <a:rPr lang="en-US" sz="1600" kern="100" baseline="-2500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A</a:t>
                      </a:r>
                      <a:r>
                        <a:rPr lang="en-US" sz="1600" kern="100" baseline="-2500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A</a:t>
                      </a:r>
                      <a:r>
                        <a:rPr lang="en-US" sz="1600" kern="100" baseline="-2500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dirty="0">
                          <a:effectLst/>
                        </a:rPr>
                        <a:t>O</a:t>
                      </a:r>
                      <a:r>
                        <a:rPr lang="en-US" sz="1600" kern="100" baseline="-25000" dirty="0">
                          <a:effectLst/>
                        </a:rPr>
                        <a:t>3</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O</a:t>
                      </a:r>
                      <a:r>
                        <a:rPr lang="en-US" sz="1600" kern="100" baseline="-2500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O</a:t>
                      </a:r>
                      <a:r>
                        <a:rPr lang="en-US" sz="1600" kern="100" baseline="-2500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dirty="0">
                          <a:effectLst/>
                        </a:rPr>
                        <a:t>gender</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dirty="0">
                          <a:effectLst/>
                        </a:rPr>
                        <a:t>education</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100">
                          <a:effectLst/>
                        </a:rPr>
                        <a:t>age</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indent="127000" algn="l">
                        <a:lnSpc>
                          <a:spcPct val="125000"/>
                        </a:lnSpc>
                        <a:tabLst>
                          <a:tab pos="304800" algn="l"/>
                        </a:tabLst>
                      </a:pPr>
                      <a:r>
                        <a:rPr lang="en-US" sz="1600" kern="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3</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4</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 </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18745">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2</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 </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18</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17</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18745">
                <a:tc>
                  <a:txBody>
                    <a:bodyPr/>
                    <a:lstStyle/>
                    <a:p>
                      <a:pPr indent="127000" algn="l">
                        <a:lnSpc>
                          <a:spcPct val="125000"/>
                        </a:lnSpc>
                        <a:tabLst>
                          <a:tab pos="304800" algn="l"/>
                        </a:tabLst>
                      </a:pPr>
                      <a:r>
                        <a:rPr lang="en-US" sz="1600" kern="0">
                          <a:effectLst/>
                        </a:rPr>
                        <a:t>2799</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1</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118745">
                <a:tc>
                  <a:txBody>
                    <a:bodyPr/>
                    <a:lstStyle/>
                    <a:p>
                      <a:pPr indent="127000" algn="l">
                        <a:lnSpc>
                          <a:spcPct val="125000"/>
                        </a:lnSpc>
                        <a:tabLst>
                          <a:tab pos="304800" algn="l"/>
                        </a:tabLst>
                      </a:pPr>
                      <a:r>
                        <a:rPr lang="en-US" sz="1600" kern="0">
                          <a:effectLst/>
                        </a:rPr>
                        <a:t>2800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2</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a:effectLst/>
                        </a:rPr>
                        <a:t>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25000"/>
                        </a:lnSpc>
                        <a:tabLst>
                          <a:tab pos="304800" algn="l"/>
                        </a:tabLst>
                      </a:pPr>
                      <a:r>
                        <a:rPr lang="en-US" sz="1600" kern="0" dirty="0">
                          <a:effectLst/>
                        </a:rPr>
                        <a:t>50</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
        <p:nvSpPr>
          <p:cNvPr id="14" name="文本框 13"/>
          <p:cNvSpPr txBox="1"/>
          <p:nvPr/>
        </p:nvSpPr>
        <p:spPr>
          <a:xfrm>
            <a:off x="272604" y="3922470"/>
            <a:ext cx="11462871" cy="961289"/>
          </a:xfrm>
          <a:prstGeom prst="rect">
            <a:avLst/>
          </a:prstGeom>
          <a:noFill/>
        </p:spPr>
        <p:txBody>
          <a:bodyPr wrap="square">
            <a:spAutoFit/>
          </a:bodyPr>
          <a:lstStyle/>
          <a:p>
            <a:pPr indent="304800" algn="just">
              <a:lnSpc>
                <a:spcPct val="150000"/>
              </a:lnSpc>
            </a:pPr>
            <a:r>
              <a:rPr lang="zh-CN" altLang="zh-CN" sz="2000" b="1" kern="100" dirty="0">
                <a:solidFill>
                  <a:schemeClr val="accent1"/>
                </a:solidFill>
                <a:effectLst/>
                <a:latin typeface="微软雅黑" panose="020B0503020204020204" charset="-122"/>
                <a:ea typeface="微软雅黑" panose="020B0503020204020204" charset="-122"/>
                <a:cs typeface="Times New Roman" panose="02020603050405020304" pitchFamily="18" charset="0"/>
              </a:rPr>
              <a:t>模型构建。</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通过调用</a:t>
            </a:r>
            <a:r>
              <a:rPr lang="en-US" altLang="zh-CN" sz="2000" kern="100" dirty="0" err="1">
                <a:effectLst/>
                <a:latin typeface="微软雅黑" panose="020B0503020204020204" charset="-122"/>
                <a:ea typeface="微软雅黑" panose="020B0503020204020204" charset="-122"/>
                <a:cs typeface="Times New Roman" panose="02020603050405020304" pitchFamily="18" charset="0"/>
              </a:rPr>
              <a:t>factor_analyzer</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库的</a:t>
            </a:r>
            <a:r>
              <a:rPr lang="en-US" altLang="zh-CN" sz="2000" kern="100" dirty="0" err="1">
                <a:effectLst/>
                <a:latin typeface="微软雅黑" panose="020B0503020204020204" charset="-122"/>
                <a:ea typeface="微软雅黑" panose="020B0503020204020204" charset="-122"/>
                <a:cs typeface="Times New Roman" panose="02020603050405020304" pitchFamily="18" charset="0"/>
              </a:rPr>
              <a:t>FactorAnalyzer</a:t>
            </a:r>
            <a:r>
              <a:rPr lang="zh-CN" altLang="zh-CN" sz="2000" kern="100" dirty="0">
                <a:effectLst/>
                <a:latin typeface="微软雅黑" panose="020B0503020204020204" charset="-122"/>
                <a:ea typeface="微软雅黑" panose="020B0503020204020204" charset="-122"/>
                <a:cs typeface="Times New Roman" panose="02020603050405020304" pitchFamily="18" charset="0"/>
              </a:rPr>
              <a:t>类实现，包含了例如计算方差、求解因子载荷矩阵、提取主成分、计算因子得分等基本功能。</a:t>
            </a:r>
          </a:p>
        </p:txBody>
      </p:sp>
      <p:sp>
        <p:nvSpPr>
          <p:cNvPr id="17" name="文本框 16"/>
          <p:cNvSpPr txBox="1"/>
          <p:nvPr/>
        </p:nvSpPr>
        <p:spPr>
          <a:xfrm>
            <a:off x="209021" y="5868389"/>
            <a:ext cx="11590036" cy="961289"/>
          </a:xfrm>
          <a:prstGeom prst="rect">
            <a:avLst/>
          </a:prstGeom>
          <a:noFill/>
        </p:spPr>
        <p:txBody>
          <a:bodyPr wrap="square">
            <a:spAutoFit/>
          </a:bodyPr>
          <a:lstStyle/>
          <a:p>
            <a:pPr>
              <a:lnSpc>
                <a:spcPct val="150000"/>
              </a:lnSpc>
            </a:pPr>
            <a:r>
              <a:rPr lang="en-US" altLang="zh-CN" sz="2000" b="1" kern="100" dirty="0">
                <a:solidFill>
                  <a:schemeClr val="accent1"/>
                </a:solidFill>
                <a:latin typeface="微软雅黑" panose="020B0503020204020204" charset="-122"/>
                <a:ea typeface="微软雅黑" panose="020B0503020204020204" charset="-122"/>
                <a:cs typeface="Times New Roman" panose="02020603050405020304" pitchFamily="18" charset="0"/>
              </a:rPr>
              <a:t>     </a:t>
            </a:r>
            <a:r>
              <a:rPr lang="zh-CN" altLang="zh-CN" sz="2000" b="1" kern="100" dirty="0">
                <a:solidFill>
                  <a:schemeClr val="accent1"/>
                </a:solidFill>
                <a:latin typeface="微软雅黑" panose="020B0503020204020204" charset="-122"/>
                <a:ea typeface="微软雅黑" panose="020B0503020204020204" charset="-122"/>
                <a:cs typeface="Times New Roman" panose="02020603050405020304" pitchFamily="18" charset="0"/>
              </a:rPr>
              <a:t>参数调整</a:t>
            </a:r>
            <a:r>
              <a:rPr lang="zh-CN" altLang="zh-CN" sz="2000" kern="100" dirty="0">
                <a:latin typeface="微软雅黑" panose="020B0503020204020204" charset="-122"/>
                <a:ea typeface="微软雅黑" panose="020B0503020204020204" charset="-122"/>
                <a:cs typeface="Times New Roman" panose="02020603050405020304" pitchFamily="18" charset="0"/>
              </a:rPr>
              <a:t>。函数</a:t>
            </a:r>
            <a:r>
              <a:rPr lang="en-US" altLang="zh-CN" sz="2000" kern="100" dirty="0" err="1">
                <a:latin typeface="微软雅黑" panose="020B0503020204020204" charset="-122"/>
                <a:ea typeface="微软雅黑" panose="020B0503020204020204" charset="-122"/>
                <a:cs typeface="Times New Roman" panose="02020603050405020304" pitchFamily="18" charset="0"/>
              </a:rPr>
              <a:t>FactorAnalyzer</a:t>
            </a:r>
            <a:r>
              <a:rPr lang="zh-CN" altLang="zh-CN" sz="2000" kern="100" dirty="0">
                <a:latin typeface="微软雅黑" panose="020B0503020204020204" charset="-122"/>
                <a:ea typeface="微软雅黑" panose="020B0503020204020204" charset="-122"/>
                <a:cs typeface="Times New Roman" panose="02020603050405020304" pitchFamily="18" charset="0"/>
              </a:rPr>
              <a:t>中的</a:t>
            </a:r>
            <a:r>
              <a:rPr lang="zh-CN" altLang="en-US" sz="2000" kern="100" dirty="0">
                <a:latin typeface="微软雅黑" panose="020B0503020204020204" charset="-122"/>
                <a:ea typeface="微软雅黑" panose="020B0503020204020204" charset="-122"/>
                <a:cs typeface="Times New Roman" panose="02020603050405020304" pitchFamily="18" charset="0"/>
              </a:rPr>
              <a:t>重要</a:t>
            </a:r>
            <a:r>
              <a:rPr lang="zh-CN" altLang="zh-CN" sz="2000" kern="100" dirty="0">
                <a:latin typeface="微软雅黑" panose="020B0503020204020204" charset="-122"/>
                <a:ea typeface="微软雅黑" panose="020B0503020204020204" charset="-122"/>
                <a:cs typeface="Times New Roman" panose="02020603050405020304" pitchFamily="18" charset="0"/>
              </a:rPr>
              <a:t>参数“</a:t>
            </a:r>
            <a:r>
              <a:rPr lang="en-US" altLang="zh-CN" sz="2000" kern="100" dirty="0" err="1">
                <a:latin typeface="微软雅黑" panose="020B0503020204020204" charset="-122"/>
                <a:ea typeface="微软雅黑" panose="020B0503020204020204" charset="-122"/>
                <a:cs typeface="Times New Roman" panose="02020603050405020304" pitchFamily="18" charset="0"/>
              </a:rPr>
              <a:t>n_factors</a:t>
            </a:r>
            <a:r>
              <a:rPr lang="zh-CN" altLang="zh-CN" sz="2000" kern="100" dirty="0">
                <a:latin typeface="微软雅黑" panose="020B0503020204020204" charset="-122"/>
                <a:ea typeface="微软雅黑" panose="020B0503020204020204" charset="-122"/>
                <a:cs typeface="Times New Roman" panose="02020603050405020304" pitchFamily="18" charset="0"/>
              </a:rPr>
              <a:t>”为要选择的因子数量；参数“</a:t>
            </a:r>
            <a:r>
              <a:rPr lang="en-US" altLang="zh-CN" sz="2000" kern="100" dirty="0">
                <a:latin typeface="微软雅黑" panose="020B0503020204020204" charset="-122"/>
                <a:ea typeface="微软雅黑" panose="020B0503020204020204" charset="-122"/>
                <a:cs typeface="Times New Roman" panose="02020603050405020304" pitchFamily="18" charset="0"/>
              </a:rPr>
              <a:t>rotation</a:t>
            </a:r>
            <a:r>
              <a:rPr lang="zh-CN" altLang="zh-CN" sz="2000" kern="100" dirty="0">
                <a:latin typeface="微软雅黑" panose="020B0503020204020204" charset="-122"/>
                <a:ea typeface="微软雅黑" panose="020B0503020204020204" charset="-122"/>
                <a:cs typeface="Times New Roman" panose="02020603050405020304" pitchFamily="18" charset="0"/>
              </a:rPr>
              <a:t>”为拟合因子分析模型后要使用的旋转方法</a:t>
            </a:r>
            <a:endParaRPr lang="zh-CN" altLang="en-US" sz="2000" kern="100" dirty="0">
              <a:latin typeface="微软雅黑" panose="020B0503020204020204" charset="-122"/>
              <a:ea typeface="微软雅黑" panose="020B0503020204020204" charset="-122"/>
              <a:cs typeface="Times New Roman" panose="02020603050405020304" pitchFamily="18" charset="0"/>
            </a:endParaRPr>
          </a:p>
        </p:txBody>
      </p:sp>
      <p:pic>
        <p:nvPicPr>
          <p:cNvPr id="18" name="图片 17"/>
          <p:cNvPicPr>
            <a:picLocks noChangeAspect="1"/>
          </p:cNvPicPr>
          <p:nvPr/>
        </p:nvPicPr>
        <p:blipFill>
          <a:blip r:embed="rId3"/>
          <a:stretch>
            <a:fillRect/>
          </a:stretch>
        </p:blipFill>
        <p:spPr>
          <a:xfrm>
            <a:off x="605771" y="4949138"/>
            <a:ext cx="8415487" cy="795267"/>
          </a:xfrm>
          <a:prstGeom prst="rect">
            <a:avLst/>
          </a:prstGeom>
        </p:spPr>
      </p:pic>
    </p:spTree>
    <p:extLst>
      <p:ext uri="{BB962C8B-B14F-4D97-AF65-F5344CB8AC3E}">
        <p14:creationId xmlns:p14="http://schemas.microsoft.com/office/powerpoint/2010/main" val="16367100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实践案例：基于因子分析的人格特征潜在因子挖掘</a:t>
            </a:r>
          </a:p>
        </p:txBody>
      </p:sp>
      <p:sp>
        <p:nvSpPr>
          <p:cNvPr id="2" name="矩形: 圆角 12"/>
          <p:cNvSpPr/>
          <p:nvPr/>
        </p:nvSpPr>
        <p:spPr>
          <a:xfrm>
            <a:off x="166155" y="976588"/>
            <a:ext cx="2828664" cy="544830"/>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charset="-122"/>
                <a:sym typeface="Times New Roman" panose="02020603050405020304" pitchFamily="18" charset="0"/>
              </a:rPr>
              <a:t> 因子分析</a:t>
            </a: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2.3</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166154"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lang="zh-CN" altLang="en-US" sz="2665" b="1" dirty="0">
                <a:solidFill>
                  <a:srgbClr val="FD5C0C"/>
                </a:solidFill>
                <a:effectLst>
                  <a:reflection blurRad="6350" stA="60000" endA="900" endPos="58000" dir="5400000" sy="-100000" algn="bl" rotWithShape="0"/>
                </a:effectLst>
                <a:latin typeface="Times New Roman" panose="02020603050405020304" pitchFamily="18" charset="0"/>
                <a:ea typeface="微软雅黑" panose="020B0503020204020204" charset="-122"/>
                <a:sym typeface="Times New Roman" panose="02020603050405020304" pitchFamily="18" charset="0"/>
              </a:rPr>
              <a:t>实践案例</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2390292" y="1754412"/>
            <a:ext cx="4539175" cy="4276034"/>
          </a:xfrm>
          <a:prstGeom prst="rect">
            <a:avLst/>
          </a:prstGeom>
        </p:spPr>
      </p:pic>
      <p:pic>
        <p:nvPicPr>
          <p:cNvPr id="15" name="图片 14" descr="pca"/>
          <p:cNvPicPr>
            <a:picLocks noChangeAspect="1"/>
          </p:cNvPicPr>
          <p:nvPr/>
        </p:nvPicPr>
        <p:blipFill>
          <a:blip r:embed="rId4"/>
          <a:stretch>
            <a:fillRect/>
          </a:stretch>
        </p:blipFill>
        <p:spPr>
          <a:xfrm>
            <a:off x="7611269" y="1611416"/>
            <a:ext cx="3632156" cy="2724415"/>
          </a:xfrm>
          <a:prstGeom prst="rect">
            <a:avLst/>
          </a:prstGeom>
        </p:spPr>
      </p:pic>
      <p:sp>
        <p:nvSpPr>
          <p:cNvPr id="4" name="箭头: 下弧形 3">
            <a:extLst>
              <a:ext uri="{FF2B5EF4-FFF2-40B4-BE49-F238E27FC236}">
                <a16:creationId xmlns:a16="http://schemas.microsoft.com/office/drawing/2014/main" id="{257B73B1-CFAE-ADEF-731C-9FD0BBCE1D21}"/>
              </a:ext>
            </a:extLst>
          </p:cNvPr>
          <p:cNvSpPr/>
          <p:nvPr/>
        </p:nvSpPr>
        <p:spPr>
          <a:xfrm rot="20188772">
            <a:off x="6897362" y="4712276"/>
            <a:ext cx="1798522" cy="926511"/>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文本框 4">
            <a:extLst>
              <a:ext uri="{FF2B5EF4-FFF2-40B4-BE49-F238E27FC236}">
                <a16:creationId xmlns:a16="http://schemas.microsoft.com/office/drawing/2014/main" id="{BA3BDC1A-8717-67E4-935E-77B1502ECE98}"/>
              </a:ext>
            </a:extLst>
          </p:cNvPr>
          <p:cNvSpPr txBox="1"/>
          <p:nvPr/>
        </p:nvSpPr>
        <p:spPr>
          <a:xfrm>
            <a:off x="8411268" y="5395566"/>
            <a:ext cx="2319306" cy="369332"/>
          </a:xfrm>
          <a:prstGeom prst="rect">
            <a:avLst/>
          </a:prstGeom>
          <a:noFill/>
        </p:spPr>
        <p:txBody>
          <a:bodyPr wrap="square" rtlCol="0">
            <a:spAutoFit/>
          </a:bodyPr>
          <a:lstStyle/>
          <a:p>
            <a:r>
              <a:rPr lang="zh-CN" altLang="en-US" dirty="0"/>
              <a:t>碎石图确定因子个数</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87E34-081E-F053-0BAF-A98617BB8A3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7AEEDC3-72B1-1D91-C36B-D68AA82C01D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实践案例：基于因子分析的人格特征潜在因子挖掘</a:t>
            </a:r>
          </a:p>
        </p:txBody>
      </p:sp>
      <p:pic>
        <p:nvPicPr>
          <p:cNvPr id="16" name="图片 15">
            <a:extLst>
              <a:ext uri="{FF2B5EF4-FFF2-40B4-BE49-F238E27FC236}">
                <a16:creationId xmlns:a16="http://schemas.microsoft.com/office/drawing/2014/main" id="{1CA0F5C5-21FA-B18B-2F13-1DE9ACBD774E}"/>
              </a:ext>
            </a:extLst>
          </p:cNvPr>
          <p:cNvPicPr>
            <a:picLocks noChangeAspect="1"/>
          </p:cNvPicPr>
          <p:nvPr/>
        </p:nvPicPr>
        <p:blipFill>
          <a:blip r:embed="rId3"/>
          <a:stretch>
            <a:fillRect/>
          </a:stretch>
        </p:blipFill>
        <p:spPr>
          <a:xfrm>
            <a:off x="270508" y="1237673"/>
            <a:ext cx="6496031" cy="2622885"/>
          </a:xfrm>
          <a:prstGeom prst="rect">
            <a:avLst/>
          </a:prstGeom>
        </p:spPr>
      </p:pic>
      <p:pic>
        <p:nvPicPr>
          <p:cNvPr id="17" name="图片 16">
            <a:extLst>
              <a:ext uri="{FF2B5EF4-FFF2-40B4-BE49-F238E27FC236}">
                <a16:creationId xmlns:a16="http://schemas.microsoft.com/office/drawing/2014/main" id="{123DFE06-5B77-7B46-67F2-A53AB30503C7}"/>
              </a:ext>
            </a:extLst>
          </p:cNvPr>
          <p:cNvPicPr>
            <a:picLocks noChangeAspect="1"/>
          </p:cNvPicPr>
          <p:nvPr/>
        </p:nvPicPr>
        <p:blipFill>
          <a:blip r:embed="rId4"/>
          <a:stretch>
            <a:fillRect/>
          </a:stretch>
        </p:blipFill>
        <p:spPr>
          <a:xfrm>
            <a:off x="6687127" y="1982036"/>
            <a:ext cx="5574191" cy="2033323"/>
          </a:xfrm>
          <a:prstGeom prst="rect">
            <a:avLst/>
          </a:prstGeom>
        </p:spPr>
      </p:pic>
      <p:sp>
        <p:nvSpPr>
          <p:cNvPr id="32" name="文本框 31">
            <a:extLst>
              <a:ext uri="{FF2B5EF4-FFF2-40B4-BE49-F238E27FC236}">
                <a16:creationId xmlns:a16="http://schemas.microsoft.com/office/drawing/2014/main" id="{F59FF1BB-11D4-4FBD-6F92-EDCA5ABF6ABB}"/>
              </a:ext>
            </a:extLst>
          </p:cNvPr>
          <p:cNvSpPr txBox="1"/>
          <p:nvPr/>
        </p:nvSpPr>
        <p:spPr>
          <a:xfrm>
            <a:off x="743494" y="4875964"/>
            <a:ext cx="10017888" cy="1200329"/>
          </a:xfrm>
          <a:prstGeom prst="rect">
            <a:avLst/>
          </a:prstGeom>
          <a:noFill/>
        </p:spPr>
        <p:txBody>
          <a:bodyPr wrap="square">
            <a:spAutoFit/>
          </a:bodyPr>
          <a:lstStyle/>
          <a:p>
            <a:r>
              <a:rPr lang="en-US" altLang="zh-CN" sz="2400" kern="100" dirty="0">
                <a:effectLst/>
                <a:latin typeface="微软雅黑" panose="020B0503020204020204" charset="-122"/>
                <a:ea typeface="微软雅黑" panose="020B0503020204020204" charset="-122"/>
              </a:rPr>
              <a:t>    6</a:t>
            </a:r>
            <a:r>
              <a:rPr lang="zh-CN" altLang="zh-CN" sz="2400" kern="100" dirty="0">
                <a:effectLst/>
                <a:latin typeface="微软雅黑" panose="020B0503020204020204" charset="-122"/>
                <a:ea typeface="微软雅黑" panose="020B0503020204020204" charset="-122"/>
                <a:cs typeface="Times New Roman" panose="02020603050405020304" pitchFamily="18" charset="0"/>
              </a:rPr>
              <a:t>个因子可以解释</a:t>
            </a:r>
            <a:r>
              <a:rPr lang="en-US" altLang="zh-CN" sz="2400" kern="100" dirty="0">
                <a:effectLst/>
                <a:latin typeface="微软雅黑" panose="020B0503020204020204" charset="-122"/>
                <a:ea typeface="微软雅黑" panose="020B0503020204020204" charset="-122"/>
              </a:rPr>
              <a:t>45%</a:t>
            </a:r>
            <a:r>
              <a:rPr lang="zh-CN" altLang="zh-CN" sz="2400" kern="100" dirty="0">
                <a:effectLst/>
                <a:latin typeface="微软雅黑" panose="020B0503020204020204" charset="-122"/>
                <a:ea typeface="微软雅黑" panose="020B0503020204020204" charset="-122"/>
                <a:cs typeface="Times New Roman" panose="02020603050405020304" pitchFamily="18" charset="0"/>
              </a:rPr>
              <a:t>的方差。通过因子分析，得到了</a:t>
            </a:r>
            <a:r>
              <a:rPr lang="en-US" altLang="zh-CN" sz="2400" kern="100" dirty="0">
                <a:effectLst/>
                <a:latin typeface="微软雅黑" panose="020B0503020204020204" charset="-122"/>
                <a:ea typeface="微软雅黑" panose="020B0503020204020204" charset="-122"/>
              </a:rPr>
              <a:t>6</a:t>
            </a:r>
            <a:r>
              <a:rPr lang="zh-CN" altLang="zh-CN" sz="2400" kern="100" dirty="0">
                <a:effectLst/>
                <a:latin typeface="微软雅黑" panose="020B0503020204020204" charset="-122"/>
                <a:ea typeface="微软雅黑" panose="020B0503020204020204" charset="-122"/>
                <a:cs typeface="Times New Roman" panose="02020603050405020304" pitchFamily="18" charset="0"/>
              </a:rPr>
              <a:t>个新的特征变量来描述原始数据集，将原始数据转成</a:t>
            </a:r>
            <a:r>
              <a:rPr lang="en-US" altLang="zh-CN" sz="2400" kern="100" dirty="0">
                <a:effectLst/>
                <a:latin typeface="微软雅黑" panose="020B0503020204020204" charset="-122"/>
                <a:ea typeface="微软雅黑" panose="020B0503020204020204" charset="-122"/>
              </a:rPr>
              <a:t>6</a:t>
            </a:r>
            <a:r>
              <a:rPr lang="zh-CN" altLang="zh-CN" sz="2400" kern="100" dirty="0">
                <a:effectLst/>
                <a:latin typeface="微软雅黑" panose="020B0503020204020204" charset="-122"/>
                <a:ea typeface="微软雅黑" panose="020B0503020204020204" charset="-122"/>
                <a:cs typeface="Times New Roman" panose="02020603050405020304" pitchFamily="18" charset="0"/>
              </a:rPr>
              <a:t>个新的特征。在保留了原始数据主要信息的情况下，实现了数据的降维。</a:t>
            </a:r>
            <a:endParaRPr lang="zh-CN" altLang="en-US" sz="2400"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8210988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1710</TotalTime>
  <Words>766</Words>
  <Application>Microsoft Office PowerPoint</Application>
  <PresentationFormat>宽屏</PresentationFormat>
  <Paragraphs>143</Paragraphs>
  <Slides>14</Slides>
  <Notes>14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4" baseType="lpstr">
      <vt:lpstr>等线</vt:lpstr>
      <vt:lpstr>黑体</vt:lpstr>
      <vt:lpstr>华光综艺_CNKI</vt:lpstr>
      <vt:lpstr>微软雅黑</vt:lpstr>
      <vt:lpstr>Arial</vt:lpstr>
      <vt:lpstr>Calibri</vt:lpstr>
      <vt:lpstr>Impact</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187</cp:revision>
  <dcterms:created xsi:type="dcterms:W3CDTF">2019-06-19T02:08:00Z</dcterms:created>
  <dcterms:modified xsi:type="dcterms:W3CDTF">2025-04-18T14:52:01Z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