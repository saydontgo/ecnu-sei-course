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38"/>
  </p:notesMasterIdLst>
  <p:handoutMasterIdLst>
    <p:handoutMasterId r:id="rId39"/>
  </p:handoutMasterIdLst>
  <p:sldIdLst>
    <p:sldId id="15638" r:id="rId13"/>
    <p:sldId id="15667" r:id="rId14"/>
    <p:sldId id="15729" r:id="rId15"/>
    <p:sldId id="15730" r:id="rId16"/>
    <p:sldId id="15710" r:id="rId17"/>
    <p:sldId id="15711" r:id="rId18"/>
    <p:sldId id="15712" r:id="rId19"/>
    <p:sldId id="15713" r:id="rId20"/>
    <p:sldId id="15728" r:id="rId21"/>
    <p:sldId id="15733" r:id="rId22"/>
    <p:sldId id="15714" r:id="rId23"/>
    <p:sldId id="15715" r:id="rId24"/>
    <p:sldId id="15731" r:id="rId25"/>
    <p:sldId id="15716" r:id="rId26"/>
    <p:sldId id="15734" r:id="rId27"/>
    <p:sldId id="15735" r:id="rId28"/>
    <p:sldId id="15736" r:id="rId29"/>
    <p:sldId id="15717" r:id="rId30"/>
    <p:sldId id="15744" r:id="rId31"/>
    <p:sldId id="15746" r:id="rId32"/>
    <p:sldId id="15747" r:id="rId33"/>
    <p:sldId id="15748" r:id="rId34"/>
    <p:sldId id="15749" r:id="rId35"/>
    <p:sldId id="15750" r:id="rId36"/>
    <p:sldId id="15502" r:id="rId37"/>
  </p:sldIdLst>
  <p:sldSz cx="12192000" cy="6858000"/>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52" userDrawn="1">
          <p15:clr>
            <a:srgbClr val="A4A3A4"/>
          </p15:clr>
        </p15:guide>
        <p15:guide id="5" orient="horz" pos="247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p:cViewPr varScale="1">
        <p:scale>
          <a:sx n="40" d="100"/>
          <a:sy n="40" d="100"/>
        </p:scale>
        <p:origin x="44" y="328"/>
      </p:cViewPr>
      <p:guideLst>
        <p:guide pos="2252"/>
        <p:guide orient="horz" pos="24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tags" Target="tags/tag1.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400467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84E87-B8FD-38CB-DCE3-B84365DF1D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84FCEC-23DD-5422-8685-60B0181ECE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461F178-49DD-986E-5FEE-E216579CF5E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1F4D08B-71FE-63AF-AF71-F11453FF99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980156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4BBCE-3DB7-F7BC-F84B-AC7C63B135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3A24B9-9036-3878-D779-E5434E35A6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429328-4859-483E-CEB3-DC6A9C45225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0B55593-61AF-5FD6-5DD9-5C1084EE23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20027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DF0E2-C1E0-5E0B-77C1-6A2A541997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AA4230-A86F-A1F5-EF04-E4FD2EDEB3A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EB92E49-7B35-44B1-E617-7B75B928717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0A884CE-0416-F9E4-9830-EDDDD98CC2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81639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0F58B-247A-AA34-FD66-02BADE8B9E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10FB1C-3685-0FB1-28F4-F64902774C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399E74-0CC2-7648-0A18-39433CFDCEB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ACF8DF4-563B-4089-D9F1-C0B2EAB608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46963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05EDA-8E4B-BA6E-A13E-F6F832F46B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7A1DCF5-09E2-F706-D23F-ACE50F07A06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B95F0E-C104-2C78-4F0F-BE1FF45DCBA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877447B-9454-3DD7-11BE-A3E2F41EEC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252073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C6380-5114-F5A3-4E23-B2AA7D1C7A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DF7181-7437-E910-1840-A8C37EC3B2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A5231F7-6F48-812A-B08D-5D475052708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FAA588A-EC69-20EA-2FF0-494A0861BD3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08202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85754-5D02-927B-E5A9-AE812FCA60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826539-5731-7DE2-2F8B-467768F7617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1892D6-AAE9-DAFA-34C1-99A13016955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A1E7AC0-89F4-39CB-FF20-805DCE0492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73474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EC374-E530-E7C2-9829-3057B52F4E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0187B6-8AB5-ABB3-662C-DBD91A7091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AC0359-8C7E-7998-5D3C-527844659A8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88922AD-5E2D-A5A6-2C4D-FAF38576B4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94120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19F4B-8860-EC25-DAA1-D8746D360AF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D9822C-87FB-2337-C25D-1B0638901C0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996B9B-DABC-DA50-D88D-32DC5FCB348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0156BD7-BD1F-DE79-FEC6-3D537A4274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48832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45D7B-8B30-4021-76F9-479EF4EDAA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11FB30-A7D8-FF87-9848-79EA2DC9BA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377B3E-2076-DC1C-B087-F91263EE2B1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2802269-12C1-5F78-7624-1CF300A0E3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68028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ECDDB-3724-A0F5-CCEC-28298F5661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F1F6A1-7562-302C-4080-35E3316657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A17576-6E8A-1BFE-D4D9-2B6877235AE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1228818-E924-2A17-6B68-055BF1AFB6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953291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8F0E6-E997-F54B-AE42-26CE68C95B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C036CA-DB34-C600-F253-1121CDB2AD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1B0358B-21FE-8EE2-FABD-2AAF7FE4C6A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13EB98C-69E4-92B9-8136-199E1F52505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873807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13AFC-C40B-96E5-B0BC-1DAC762F0C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BB263A-4D53-9CDD-0B7B-230D879CD4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391724-AD02-112C-5B52-EE68693756D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A07FCBF-2135-CA10-8DC1-029AC9EA81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891447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1F284-6B4D-2A9C-E519-87C83DF39B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941A8F-FF7E-727C-6AF8-BCFE333582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D0AB15-DBE6-D15A-2D80-6CBE7FC9ED2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6CFF410-2C48-41C1-9499-2F8EC846EB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305947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CA5A2-5F9A-93C3-50C0-1BA50A6CCC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F60624-25B4-B001-0175-4B8A687C0E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7C4595-16BD-7412-FE00-59EF1CAF021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3EE886A-38B4-0A69-E8AE-770C2692F8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71392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5E327-20EC-0B41-F109-FE392C05EB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A0F8421-A77B-0680-3FC4-C71A97AA9C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D656DD4-C0F3-7301-5D4E-A5AC6410CDA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C811271-33F9-8033-50FC-F25A0E5E4E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556371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F91D5-7979-6347-2733-B777F918AC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AC64DE-35F8-1E35-6FE0-45B466B1D3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B7D6ED9-F58D-F5AA-697A-42622B4D033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D199A6E-9821-0A47-9FA0-5AC8112088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852621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70B3B-ED6E-7AE3-576D-92C0CA8681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2A8814-376D-340C-029A-E1A05AFA9B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0F43D3-1D46-6C8A-DD2E-BF87E90B0F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2F397B8-A6CC-C8D7-96DF-BB832116E5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11791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FE347-935B-3F99-8C97-3CE3FEDE64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8DBCED-972B-0DAA-41CA-1050D9414D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3AF25C-A1C1-68D6-59EB-BCD7A786B2E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024E509-A0F0-BFFD-700C-7C77D4F6F6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417247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35725-A6FB-8178-35C5-19BFB3C638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0D32ED-A3BC-F159-BE7E-D0CF5222FB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B97A36-B4E0-D18D-C7D2-F7D6444BF55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E2A133B-C067-F57F-DFBB-7BD0ED72E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598293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1A7A2-46F9-F892-1507-C7CAF468EF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D42D54-8A49-159E-358A-45A7E970B8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72BD0D-CF42-F20A-FC4D-1E994B3CC0D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D1AA86F-63AB-6A39-DDA9-FD33C34E7FE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770787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E85BC-4EC9-AF3D-4DBF-E556319BD7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ACC3C3A-B397-B56E-DC93-16C1728AC3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4E186B-27CC-2944-A7F4-2DCED7E3BDD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180760D-296F-0A23-0A2F-CA0EEFBF82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60915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E052E-4116-6482-5F75-CD09628CA6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2AE462-8BF5-4009-47D6-E5DFDB4CE5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944008-8D86-A773-8585-0E55FC5B629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BB06782-5E03-4BF2-5F95-6C253F8FEF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507668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4/15/2025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4/15/2025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5.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0.wmf"/><Relationship Id="rId5" Type="http://schemas.openxmlformats.org/officeDocument/2006/relationships/oleObject" Target="../embeddings/oleObject4.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oleObject" Target="../embeddings/oleObject8.bin"/><Relationship Id="rId4" Type="http://schemas.openxmlformats.org/officeDocument/2006/relationships/image" Target="../media/image33.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39.emf"/><Relationship Id="rId13" Type="http://schemas.openxmlformats.org/officeDocument/2006/relationships/oleObject" Target="../embeddings/oleObject15.bin"/><Relationship Id="rId18" Type="http://schemas.openxmlformats.org/officeDocument/2006/relationships/image" Target="../media/image44.wmf"/><Relationship Id="rId3" Type="http://schemas.openxmlformats.org/officeDocument/2006/relationships/oleObject" Target="../embeddings/oleObject10.bin"/><Relationship Id="rId21" Type="http://schemas.openxmlformats.org/officeDocument/2006/relationships/oleObject" Target="../embeddings/oleObject19.bin"/><Relationship Id="rId7" Type="http://schemas.openxmlformats.org/officeDocument/2006/relationships/oleObject" Target="../embeddings/oleObject12.bin"/><Relationship Id="rId12" Type="http://schemas.openxmlformats.org/officeDocument/2006/relationships/image" Target="../media/image41.emf"/><Relationship Id="rId17" Type="http://schemas.openxmlformats.org/officeDocument/2006/relationships/oleObject" Target="../embeddings/oleObject17.bin"/><Relationship Id="rId2" Type="http://schemas.openxmlformats.org/officeDocument/2006/relationships/notesSlide" Target="../notesSlides/notesSlide9.xml"/><Relationship Id="rId16" Type="http://schemas.openxmlformats.org/officeDocument/2006/relationships/image" Target="../media/image43.emf"/><Relationship Id="rId20" Type="http://schemas.openxmlformats.org/officeDocument/2006/relationships/image" Target="../media/image45.wmf"/><Relationship Id="rId1" Type="http://schemas.openxmlformats.org/officeDocument/2006/relationships/slideLayout" Target="../slideLayouts/slideLayout2.xml"/><Relationship Id="rId6" Type="http://schemas.openxmlformats.org/officeDocument/2006/relationships/image" Target="../media/image38.emf"/><Relationship Id="rId11" Type="http://schemas.openxmlformats.org/officeDocument/2006/relationships/oleObject" Target="../embeddings/oleObject14.bin"/><Relationship Id="rId5" Type="http://schemas.openxmlformats.org/officeDocument/2006/relationships/oleObject" Target="../embeddings/oleObject11.bin"/><Relationship Id="rId15" Type="http://schemas.openxmlformats.org/officeDocument/2006/relationships/oleObject" Target="../embeddings/oleObject16.bin"/><Relationship Id="rId10" Type="http://schemas.openxmlformats.org/officeDocument/2006/relationships/image" Target="../media/image40.emf"/><Relationship Id="rId19" Type="http://schemas.openxmlformats.org/officeDocument/2006/relationships/oleObject" Target="../embeddings/oleObject18.bin"/><Relationship Id="rId4" Type="http://schemas.openxmlformats.org/officeDocument/2006/relationships/image" Target="../media/image37.wmf"/><Relationship Id="rId9" Type="http://schemas.openxmlformats.org/officeDocument/2006/relationships/oleObject" Target="../embeddings/oleObject13.bin"/><Relationship Id="rId14" Type="http://schemas.openxmlformats.org/officeDocument/2006/relationships/image" Target="../media/image42.emf"/><Relationship Id="rId22" Type="http://schemas.openxmlformats.org/officeDocument/2006/relationships/image" Target="../media/image46.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51.w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8.wmf"/><Relationship Id="rId11" Type="http://schemas.openxmlformats.org/officeDocument/2006/relationships/oleObject" Target="../embeddings/oleObject24.bin"/><Relationship Id="rId5" Type="http://schemas.openxmlformats.org/officeDocument/2006/relationships/oleObject" Target="../embeddings/oleObject21.bin"/><Relationship Id="rId10" Type="http://schemas.openxmlformats.org/officeDocument/2006/relationships/image" Target="../media/image50.wmf"/><Relationship Id="rId4" Type="http://schemas.openxmlformats.org/officeDocument/2006/relationships/image" Target="../media/image47.wmf"/><Relationship Id="rId9" Type="http://schemas.openxmlformats.org/officeDocument/2006/relationships/oleObject" Target="../embeddings/oleObject23.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4.wmf"/><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oleObject" Target="../embeddings/oleObject26.bin"/><Relationship Id="rId5" Type="http://schemas.openxmlformats.org/officeDocument/2006/relationships/image" Target="../media/image53.wmf"/><Relationship Id="rId4" Type="http://schemas.openxmlformats.org/officeDocument/2006/relationships/oleObject" Target="../embeddings/oleObject25.bin"/></Relationships>
</file>

<file path=ppt/slides/_rels/slide18.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59.wm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6.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58.wmf"/><Relationship Id="rId4" Type="http://schemas.openxmlformats.org/officeDocument/2006/relationships/image" Target="../media/image55.wmf"/><Relationship Id="rId9" Type="http://schemas.openxmlformats.org/officeDocument/2006/relationships/oleObject" Target="../embeddings/oleObject30.bin"/></Relationships>
</file>

<file path=ppt/slides/_rels/slide19.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36F3A-3185-518D-8ECC-E5FFBF5DE4EB}"/>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7.4</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决策树</a:t>
            </a:r>
            <a:endParaRPr lang="en-US" altLang="zh-CN" b="0" dirty="0">
              <a:ea typeface="华光综艺_CNKI" panose="02000500000000000000" pitchFamily="2" charset="-122"/>
            </a:endParaRPr>
          </a:p>
        </p:txBody>
      </p:sp>
    </p:spTree>
    <p:extLst>
      <p:ext uri="{BB962C8B-B14F-4D97-AF65-F5344CB8AC3E}">
        <p14:creationId xmlns:p14="http://schemas.microsoft.com/office/powerpoint/2010/main" val="38309531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E93EB-611B-FDA3-F84F-1DE8A2AF157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40FFC90-4DA4-E6F7-34D0-57F9ED9D35C1}"/>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决策树基本原理</a:t>
            </a:r>
          </a:p>
        </p:txBody>
      </p:sp>
      <p:sp>
        <p:nvSpPr>
          <p:cNvPr id="15" name="Rectangle 3">
            <a:extLst>
              <a:ext uri="{FF2B5EF4-FFF2-40B4-BE49-F238E27FC236}">
                <a16:creationId xmlns:a16="http://schemas.microsoft.com/office/drawing/2014/main" id="{8AFC86CF-35C8-290A-B313-5F723E4A32E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文本框 10">
            <a:extLst>
              <a:ext uri="{FF2B5EF4-FFF2-40B4-BE49-F238E27FC236}">
                <a16:creationId xmlns:a16="http://schemas.microsoft.com/office/drawing/2014/main" id="{C5D896FE-FDCB-563C-A386-25F10E337507}"/>
              </a:ext>
            </a:extLst>
          </p:cNvPr>
          <p:cNvSpPr txBox="1"/>
          <p:nvPr/>
        </p:nvSpPr>
        <p:spPr>
          <a:xfrm>
            <a:off x="266403" y="1457497"/>
            <a:ext cx="5829597" cy="3046988"/>
          </a:xfrm>
          <a:prstGeom prst="rect">
            <a:avLst/>
          </a:prstGeom>
          <a:noFill/>
        </p:spPr>
        <p:txBody>
          <a:bodyPr wrap="square">
            <a:spAutoFit/>
          </a:bodyPr>
          <a:lstStyle>
            <a:defPPr>
              <a:defRPr lang="zh-CN"/>
            </a:defPPr>
            <a:lvl1pPr>
              <a:defRPr sz="2400">
                <a:latin typeface="微软雅黑" panose="020B0503020204020204" pitchFamily="34" charset="-122"/>
                <a:ea typeface="微软雅黑" panose="020B0503020204020204" pitchFamily="34" charset="-122"/>
              </a:defRPr>
            </a:lvl1pPr>
          </a:lstStyle>
          <a:p>
            <a:r>
              <a:rPr lang="zh-CN" altLang="en-US" dirty="0"/>
              <a:t>从结构上，决策树由一个根结点、若干</a:t>
            </a:r>
            <a:r>
              <a:rPr lang="zh-CN" altLang="en-US" dirty="0">
                <a:solidFill>
                  <a:srgbClr val="FF0000"/>
                </a:solidFill>
              </a:rPr>
              <a:t>内部结点</a:t>
            </a:r>
            <a:r>
              <a:rPr lang="zh-CN" altLang="en-US" dirty="0"/>
              <a:t>、若干</a:t>
            </a:r>
            <a:r>
              <a:rPr lang="zh-CN" altLang="en-US" dirty="0">
                <a:solidFill>
                  <a:srgbClr val="FF0000"/>
                </a:solidFill>
              </a:rPr>
              <a:t>叶结点</a:t>
            </a:r>
            <a:r>
              <a:rPr lang="zh-CN" altLang="en-US" dirty="0"/>
              <a:t>和若干</a:t>
            </a:r>
            <a:r>
              <a:rPr lang="zh-CN" altLang="en-US" dirty="0">
                <a:solidFill>
                  <a:srgbClr val="FF0000"/>
                </a:solidFill>
              </a:rPr>
              <a:t>有向边</a:t>
            </a:r>
            <a:r>
              <a:rPr lang="zh-CN" altLang="en-US" dirty="0"/>
              <a:t>构成。根结点是树的起始结点，它代表整个数据集</a:t>
            </a:r>
            <a:r>
              <a:rPr lang="en-US" altLang="zh-CN" i="1" dirty="0"/>
              <a:t>D</a:t>
            </a:r>
            <a:r>
              <a:rPr lang="zh-CN" altLang="en-US" dirty="0"/>
              <a:t>；内部结点是树中除了根结点和叶结点之外的结点，它们表示特征</a:t>
            </a:r>
            <a:r>
              <a:rPr lang="en-US" altLang="zh-CN" i="1" dirty="0"/>
              <a:t>A</a:t>
            </a:r>
            <a:r>
              <a:rPr lang="zh-CN" altLang="en-US" dirty="0"/>
              <a:t>为某特定值时的数据子集</a:t>
            </a:r>
            <a:r>
              <a:rPr lang="en-US" altLang="zh-CN" i="1" dirty="0"/>
              <a:t>D</a:t>
            </a:r>
            <a:r>
              <a:rPr lang="en-US" altLang="zh-CN" i="1" baseline="-25000" dirty="0"/>
              <a:t>i </a:t>
            </a:r>
            <a:r>
              <a:rPr lang="zh-CN" altLang="en-US" dirty="0"/>
              <a:t>；叶结点是决策树最末端的结点，其对应的数据子集用于判定最终的分类结果。</a:t>
            </a:r>
          </a:p>
        </p:txBody>
      </p:sp>
      <p:pic>
        <p:nvPicPr>
          <p:cNvPr id="12" name="图形 1">
            <a:extLst>
              <a:ext uri="{FF2B5EF4-FFF2-40B4-BE49-F238E27FC236}">
                <a16:creationId xmlns:a16="http://schemas.microsoft.com/office/drawing/2014/main" id="{3C535093-65FC-7AB1-8A57-4F6FD3F0C5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64015" y="1136406"/>
            <a:ext cx="4600271" cy="3864622"/>
          </a:xfrm>
          <a:prstGeom prst="rect">
            <a:avLst/>
          </a:prstGeom>
        </p:spPr>
      </p:pic>
      <p:sp>
        <p:nvSpPr>
          <p:cNvPr id="13" name="文本框 12">
            <a:extLst>
              <a:ext uri="{FF2B5EF4-FFF2-40B4-BE49-F238E27FC236}">
                <a16:creationId xmlns:a16="http://schemas.microsoft.com/office/drawing/2014/main" id="{7A7F1045-DAA4-E684-1F56-1911C918656C}"/>
              </a:ext>
            </a:extLst>
          </p:cNvPr>
          <p:cNvSpPr txBox="1"/>
          <p:nvPr/>
        </p:nvSpPr>
        <p:spPr>
          <a:xfrm>
            <a:off x="266403" y="5376789"/>
            <a:ext cx="11426734" cy="1200329"/>
          </a:xfrm>
          <a:prstGeom prst="rect">
            <a:avLst/>
          </a:prstGeom>
          <a:noFill/>
        </p:spPr>
        <p:txBody>
          <a:bodyPr wrap="square">
            <a:spAutoFit/>
          </a:bodyPr>
          <a:lstStyle>
            <a:defPPr>
              <a:defRPr lang="zh-CN"/>
            </a:defPPr>
            <a:lvl1pPr>
              <a:defRPr sz="2400">
                <a:latin typeface="微软雅黑" panose="020B0503020204020204" pitchFamily="34" charset="-122"/>
                <a:ea typeface="微软雅黑" panose="020B0503020204020204" pitchFamily="34" charset="-122"/>
              </a:defRPr>
            </a:lvl1pPr>
          </a:lstStyle>
          <a:p>
            <a:r>
              <a:rPr lang="zh-CN" altLang="en-US" dirty="0"/>
              <a:t>通过一系列特征选择和判定，决策树逐步分割数据集形成树形结构。在建立完成的决策树中，待预测样本从根结点开始，经过内部结点判断特征，最终到达叶结点得出分类结果。构建决策树的关键步骤包括</a:t>
            </a:r>
            <a:r>
              <a:rPr lang="zh-CN" altLang="en-US" b="1" dirty="0">
                <a:solidFill>
                  <a:srgbClr val="FF0000"/>
                </a:solidFill>
              </a:rPr>
              <a:t>特征选择、决策树生成和剪枝</a:t>
            </a:r>
            <a:r>
              <a:rPr lang="zh-CN" altLang="en-US" dirty="0"/>
              <a:t>。</a:t>
            </a:r>
          </a:p>
        </p:txBody>
      </p:sp>
    </p:spTree>
    <p:extLst>
      <p:ext uri="{BB962C8B-B14F-4D97-AF65-F5344CB8AC3E}">
        <p14:creationId xmlns:p14="http://schemas.microsoft.com/office/powerpoint/2010/main" val="900231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86B61-774E-B6FC-D2B9-CE71900E53E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6521F2A-D1DA-3B04-920B-3912878B128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决策树基本原理</a:t>
            </a:r>
          </a:p>
        </p:txBody>
      </p:sp>
      <p:sp>
        <p:nvSpPr>
          <p:cNvPr id="15" name="Rectangle 3">
            <a:extLst>
              <a:ext uri="{FF2B5EF4-FFF2-40B4-BE49-F238E27FC236}">
                <a16:creationId xmlns:a16="http://schemas.microsoft.com/office/drawing/2014/main" id="{8ECE344F-098B-B846-5CCA-EFE0CC56889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文本框 5">
            <a:extLst>
              <a:ext uri="{FF2B5EF4-FFF2-40B4-BE49-F238E27FC236}">
                <a16:creationId xmlns:a16="http://schemas.microsoft.com/office/drawing/2014/main" id="{314C06B5-2A71-0F63-E585-24F644EA0CFE}"/>
              </a:ext>
            </a:extLst>
          </p:cNvPr>
          <p:cNvSpPr txBox="1"/>
          <p:nvPr/>
        </p:nvSpPr>
        <p:spPr>
          <a:xfrm>
            <a:off x="2511035" y="1353082"/>
            <a:ext cx="9484329" cy="1569660"/>
          </a:xfrm>
          <a:prstGeom prst="rect">
            <a:avLst/>
          </a:prstGeom>
          <a:noFill/>
        </p:spPr>
        <p:txBody>
          <a:bodyPr wrap="square">
            <a:spAutoFit/>
          </a:bodyPr>
          <a:lstStyle>
            <a:defPPr>
              <a:defRPr lang="zh-CN"/>
            </a:defPPr>
            <a:lvl1pPr>
              <a:defRPr sz="2400">
                <a:latin typeface="微软雅黑" panose="020B0503020204020204" pitchFamily="34" charset="-122"/>
                <a:ea typeface="微软雅黑" panose="020B0503020204020204" pitchFamily="34" charset="-122"/>
              </a:defRPr>
            </a:lvl1pPr>
          </a:lstStyle>
          <a:p>
            <a:r>
              <a:rPr lang="zh-CN" altLang="zh-CN" dirty="0"/>
              <a:t>在决策树中，通过特征的选择和分裂，可以将数据集分割为不同的子集，</a:t>
            </a:r>
            <a:r>
              <a:rPr lang="zh-CN" altLang="zh-CN" dirty="0">
                <a:solidFill>
                  <a:srgbClr val="FF0000"/>
                </a:solidFill>
              </a:rPr>
              <a:t>使得子集的纯度提高</a:t>
            </a:r>
            <a:r>
              <a:rPr lang="zh-CN" altLang="zh-CN" dirty="0"/>
              <a:t>（即不确定性降低）。由于数据集包含多个特征，通常选择使子数据集纯度最高的特征为最优特征，并据其把数据分割成不同子集。</a:t>
            </a:r>
          </a:p>
        </p:txBody>
      </p:sp>
      <p:sp>
        <p:nvSpPr>
          <p:cNvPr id="8" name="矩形: 圆角 55">
            <a:extLst>
              <a:ext uri="{FF2B5EF4-FFF2-40B4-BE49-F238E27FC236}">
                <a16:creationId xmlns:a16="http://schemas.microsoft.com/office/drawing/2014/main" id="{8331E46C-137A-9C32-E915-6AA301ABB6EA}"/>
              </a:ext>
            </a:extLst>
          </p:cNvPr>
          <p:cNvSpPr/>
          <p:nvPr/>
        </p:nvSpPr>
        <p:spPr>
          <a:xfrm>
            <a:off x="166155" y="1660988"/>
            <a:ext cx="1941122" cy="835213"/>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特征选择</a:t>
            </a:r>
          </a:p>
        </p:txBody>
      </p:sp>
      <p:sp>
        <p:nvSpPr>
          <p:cNvPr id="9" name="矩形: 圆角 55">
            <a:extLst>
              <a:ext uri="{FF2B5EF4-FFF2-40B4-BE49-F238E27FC236}">
                <a16:creationId xmlns:a16="http://schemas.microsoft.com/office/drawing/2014/main" id="{CFDB7C24-A215-CAC0-036D-EF3BEAE50526}"/>
              </a:ext>
            </a:extLst>
          </p:cNvPr>
          <p:cNvSpPr/>
          <p:nvPr/>
        </p:nvSpPr>
        <p:spPr>
          <a:xfrm>
            <a:off x="166155" y="4190828"/>
            <a:ext cx="1941122" cy="835213"/>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决策树</a:t>
            </a:r>
            <a:endParaRPr kumimoji="0" lang="en-US" altLang="zh-CN"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endParaRP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生成</a:t>
            </a:r>
          </a:p>
        </p:txBody>
      </p:sp>
      <p:sp>
        <p:nvSpPr>
          <p:cNvPr id="17" name="文本框 16">
            <a:extLst>
              <a:ext uri="{FF2B5EF4-FFF2-40B4-BE49-F238E27FC236}">
                <a16:creationId xmlns:a16="http://schemas.microsoft.com/office/drawing/2014/main" id="{C1B057B2-6043-C4CD-5991-BC52B80A3121}"/>
              </a:ext>
            </a:extLst>
          </p:cNvPr>
          <p:cNvSpPr txBox="1"/>
          <p:nvPr/>
        </p:nvSpPr>
        <p:spPr>
          <a:xfrm>
            <a:off x="2511036" y="3266784"/>
            <a:ext cx="9552940" cy="3046988"/>
          </a:xfrm>
          <a:prstGeom prst="rect">
            <a:avLst/>
          </a:prstGeom>
          <a:noFill/>
        </p:spPr>
        <p:txBody>
          <a:bodyPr wrap="square">
            <a:spAutoFit/>
          </a:bodyPr>
          <a:lstStyle>
            <a:defPPr>
              <a:defRPr lang="zh-CN"/>
            </a:defPPr>
            <a:lvl1pPr>
              <a:defRPr sz="2400">
                <a:latin typeface="微软雅黑" panose="020B0503020204020204" pitchFamily="34" charset="-122"/>
                <a:ea typeface="微软雅黑" panose="020B0503020204020204" pitchFamily="34" charset="-122"/>
              </a:defRPr>
            </a:lvl1pPr>
          </a:lstStyle>
          <a:p>
            <a:r>
              <a:rPr lang="zh-CN" altLang="zh-CN" dirty="0"/>
              <a:t>决策树的生成是一个</a:t>
            </a:r>
            <a:r>
              <a:rPr lang="zh-CN" altLang="zh-CN" dirty="0">
                <a:solidFill>
                  <a:srgbClr val="FF0000"/>
                </a:solidFill>
              </a:rPr>
              <a:t>递归地选择最优特征</a:t>
            </a:r>
            <a:r>
              <a:rPr lang="zh-CN" altLang="zh-CN" dirty="0"/>
              <a:t>，并根据该特征对训练数据进行分割，使得各子数据集纯度最高的过程。初始阶段，根据所有训练数据构建根结点。然后，选择最优特征将训练数据集分割成子集。如果子集中的样本能够基本正确分类（纯度高于指定阈值），则构建叶结点，并将子集分到相应的叶结点中；否则，选择新的最优特征，继续分割并构建相应的结点。这一过程将递归进行，直至达到终止条件之一。终止条件通常包括：（</a:t>
            </a:r>
            <a:r>
              <a:rPr lang="en-US" altLang="zh-CN" dirty="0"/>
              <a:t>1</a:t>
            </a:r>
            <a:r>
              <a:rPr lang="zh-CN" altLang="zh-CN" dirty="0"/>
              <a:t>）所有训练数据子集基本被正确分类；（</a:t>
            </a:r>
            <a:r>
              <a:rPr lang="en-US" altLang="zh-CN" dirty="0"/>
              <a:t>2</a:t>
            </a:r>
            <a:r>
              <a:rPr lang="zh-CN" altLang="zh-CN" dirty="0"/>
              <a:t>）决策树的高度到达指定阈值；（</a:t>
            </a:r>
            <a:r>
              <a:rPr lang="en-US" altLang="zh-CN" dirty="0"/>
              <a:t>3</a:t>
            </a:r>
            <a:r>
              <a:rPr lang="zh-CN" altLang="zh-CN" dirty="0"/>
              <a:t>）没有适合的特征继续划分。</a:t>
            </a:r>
          </a:p>
        </p:txBody>
      </p:sp>
    </p:spTree>
    <p:extLst>
      <p:ext uri="{BB962C8B-B14F-4D97-AF65-F5344CB8AC3E}">
        <p14:creationId xmlns:p14="http://schemas.microsoft.com/office/powerpoint/2010/main" val="127976398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AD7A6-434A-528A-99DB-7B004F79B55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DF66E9A-EB3F-4948-792E-8E2FB0D7A24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决策树基本原理</a:t>
            </a:r>
          </a:p>
        </p:txBody>
      </p:sp>
      <p:sp>
        <p:nvSpPr>
          <p:cNvPr id="15" name="Rectangle 3">
            <a:extLst>
              <a:ext uri="{FF2B5EF4-FFF2-40B4-BE49-F238E27FC236}">
                <a16:creationId xmlns:a16="http://schemas.microsoft.com/office/drawing/2014/main" id="{95D57475-72FD-B25C-8CF7-82E24C9343E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4DE99D60-7892-2BF0-DBB9-A79B2087FB24}"/>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15956876-44BD-7479-194B-89B59EBE7C0E}"/>
              </a:ext>
            </a:extLst>
          </p:cNvPr>
          <p:cNvSpPr txBox="1"/>
          <p:nvPr/>
        </p:nvSpPr>
        <p:spPr>
          <a:xfrm>
            <a:off x="539857" y="3380491"/>
            <a:ext cx="11144727" cy="830997"/>
          </a:xfrm>
          <a:prstGeom prst="rect">
            <a:avLst/>
          </a:prstGeom>
          <a:noFill/>
        </p:spPr>
        <p:txBody>
          <a:bodyPr wrap="square">
            <a:spAutoFit/>
          </a:bodyPr>
          <a:lstStyle>
            <a:defPPr>
              <a:defRPr lang="zh-CN"/>
            </a:defPPr>
            <a:lvl1pPr>
              <a:defRPr sz="2400">
                <a:latin typeface="微软雅黑" panose="020B0503020204020204" pitchFamily="34" charset="-122"/>
                <a:ea typeface="微软雅黑" panose="020B0503020204020204" pitchFamily="34" charset="-122"/>
              </a:defRPr>
            </a:lvl1pPr>
          </a:lstStyle>
          <a:p>
            <a:r>
              <a:rPr lang="zh-CN" altLang="en-US" dirty="0"/>
              <a:t>决策树在训练过程中容易过拟合，剪枝（</a:t>
            </a:r>
            <a:r>
              <a:rPr lang="en-US" altLang="zh-CN" dirty="0"/>
              <a:t>Pruning</a:t>
            </a:r>
            <a:r>
              <a:rPr lang="zh-CN" altLang="en-US" dirty="0"/>
              <a:t>）是一种用于减少模型复杂度的技术，具体可分为预剪枝和后剪枝两种类型。</a:t>
            </a:r>
            <a:endParaRPr lang="zh-CN" altLang="zh-CN" dirty="0"/>
          </a:p>
        </p:txBody>
      </p:sp>
      <p:sp>
        <p:nvSpPr>
          <p:cNvPr id="8" name="矩形: 圆角 55">
            <a:extLst>
              <a:ext uri="{FF2B5EF4-FFF2-40B4-BE49-F238E27FC236}">
                <a16:creationId xmlns:a16="http://schemas.microsoft.com/office/drawing/2014/main" id="{09E54030-BF79-18E7-2385-4085644B0A49}"/>
              </a:ext>
            </a:extLst>
          </p:cNvPr>
          <p:cNvSpPr/>
          <p:nvPr/>
        </p:nvSpPr>
        <p:spPr>
          <a:xfrm>
            <a:off x="539857" y="2177697"/>
            <a:ext cx="1941122" cy="835213"/>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剪枝</a:t>
            </a:r>
          </a:p>
        </p:txBody>
      </p:sp>
      <p:pic>
        <p:nvPicPr>
          <p:cNvPr id="4" name="图形 1">
            <a:extLst>
              <a:ext uri="{FF2B5EF4-FFF2-40B4-BE49-F238E27FC236}">
                <a16:creationId xmlns:a16="http://schemas.microsoft.com/office/drawing/2014/main" id="{3F7908C8-4D4B-478F-FE26-CAF7FC488E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1563" y="923971"/>
            <a:ext cx="8073021" cy="2300012"/>
          </a:xfrm>
          <a:prstGeom prst="rect">
            <a:avLst/>
          </a:prstGeom>
        </p:spPr>
      </p:pic>
      <p:sp>
        <p:nvSpPr>
          <p:cNvPr id="11" name="文本框 10">
            <a:extLst>
              <a:ext uri="{FF2B5EF4-FFF2-40B4-BE49-F238E27FC236}">
                <a16:creationId xmlns:a16="http://schemas.microsoft.com/office/drawing/2014/main" id="{FD8C7CD3-F764-57FC-6C03-E0996B922994}"/>
              </a:ext>
            </a:extLst>
          </p:cNvPr>
          <p:cNvSpPr txBox="1"/>
          <p:nvPr/>
        </p:nvSpPr>
        <p:spPr>
          <a:xfrm>
            <a:off x="11347" y="4367996"/>
            <a:ext cx="12192000" cy="2353658"/>
          </a:xfrm>
          <a:prstGeom prst="rect">
            <a:avLst/>
          </a:prstGeom>
          <a:noFill/>
        </p:spPr>
        <p:txBody>
          <a:bodyPr wrap="square">
            <a:spAutoFit/>
          </a:bodyPr>
          <a:lstStyle/>
          <a:p>
            <a:pPr indent="306070" algn="l">
              <a:lnSpc>
                <a:spcPct val="125000"/>
              </a:lnSpc>
            </a:pPr>
            <a:r>
              <a:rPr lang="zh-CN" altLang="zh-CN" sz="2400" b="1" kern="100" dirty="0">
                <a:effectLst/>
                <a:latin typeface="Times New Roman" panose="02020603050405020304" pitchFamily="18" charset="0"/>
                <a:ea typeface="楷体" panose="02010609060101010101" pitchFamily="49" charset="-122"/>
                <a:cs typeface="Times New Roman" panose="02020603050405020304" pitchFamily="18" charset="0"/>
              </a:rPr>
              <a:t>预剪枝（</a:t>
            </a:r>
            <a:r>
              <a:rPr lang="en-US" altLang="zh-CN" sz="2400" b="1" kern="100" dirty="0">
                <a:effectLst/>
                <a:latin typeface="Times New Roman" panose="02020603050405020304" pitchFamily="18" charset="0"/>
                <a:ea typeface="楷体" panose="02010609060101010101" pitchFamily="49" charset="-122"/>
                <a:cs typeface="Times New Roman" panose="02020603050405020304" pitchFamily="18" charset="0"/>
              </a:rPr>
              <a:t>Pre-pruning</a:t>
            </a:r>
            <a:r>
              <a:rPr lang="zh-CN" altLang="zh-CN" sz="2400" b="1"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是在构建决策树的过程中，</a:t>
            </a:r>
            <a:r>
              <a:rPr lang="zh-CN"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在每个结点处判断是否停止分裂，以避免过拟合。通过设置条件，如限制最小样本数或最大深度，阻止决策树过度划分。</a:t>
            </a:r>
            <a:endPar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306070" algn="l">
              <a:lnSpc>
                <a:spcPct val="125000"/>
              </a:lnSpc>
            </a:pPr>
            <a:r>
              <a:rPr lang="zh-CN" altLang="zh-CN" sz="2400" b="1" kern="100" dirty="0">
                <a:effectLst/>
                <a:latin typeface="Times New Roman" panose="02020603050405020304" pitchFamily="18" charset="0"/>
                <a:ea typeface="楷体" panose="02010609060101010101" pitchFamily="49" charset="-122"/>
                <a:cs typeface="Times New Roman" panose="02020603050405020304" pitchFamily="18" charset="0"/>
              </a:rPr>
              <a:t>后剪枝（</a:t>
            </a:r>
            <a:r>
              <a:rPr lang="en-US" altLang="zh-CN" sz="2400" b="1" kern="100" dirty="0">
                <a:effectLst/>
                <a:latin typeface="Times New Roman" panose="02020603050405020304" pitchFamily="18" charset="0"/>
                <a:ea typeface="楷体" panose="02010609060101010101" pitchFamily="49" charset="-122"/>
                <a:cs typeface="Times New Roman" panose="02020603050405020304" pitchFamily="18" charset="0"/>
              </a:rPr>
              <a:t>Post-pruning</a:t>
            </a:r>
            <a:r>
              <a:rPr lang="zh-CN" altLang="zh-CN" sz="2400" b="1"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是在树已经构建完成后</a:t>
            </a:r>
            <a:r>
              <a:rPr lang="zh-CN"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，通过去除一些结点或分支来实现剪枝。通常从叶结点开始逐步向根结点的方向剪枝，剪枝时使用测试集评估剪枝后的决策树性能，若表现良好则保留剪枝后的决策树，否则保留原始决策树。</a:t>
            </a:r>
            <a:endPar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149690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D6275-564F-63BB-69F7-F0321DA6F7F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426CFC9-1315-3CF8-199D-95AADB14D278}"/>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ID3</a:t>
            </a:r>
            <a:r>
              <a:rPr lang="zh-CN" altLang="en-US" sz="3200" dirty="0">
                <a:solidFill>
                  <a:srgbClr val="FFFF00"/>
                </a:solidFill>
                <a:latin typeface="华光综艺_CNKI" panose="02000500000000000000" pitchFamily="2" charset="-122"/>
                <a:ea typeface="华光综艺_CNKI" panose="02000500000000000000" pitchFamily="2" charset="-122"/>
              </a:rPr>
              <a:t>决策树</a:t>
            </a:r>
          </a:p>
        </p:txBody>
      </p:sp>
      <p:sp>
        <p:nvSpPr>
          <p:cNvPr id="15" name="Rectangle 3">
            <a:extLst>
              <a:ext uri="{FF2B5EF4-FFF2-40B4-BE49-F238E27FC236}">
                <a16:creationId xmlns:a16="http://schemas.microsoft.com/office/drawing/2014/main" id="{2ED8F3B3-229E-C98E-BFCA-88F16DBE0B2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文本框 8">
            <a:extLst>
              <a:ext uri="{FF2B5EF4-FFF2-40B4-BE49-F238E27FC236}">
                <a16:creationId xmlns:a16="http://schemas.microsoft.com/office/drawing/2014/main" id="{5CA810DE-FB52-5346-D6BA-04C7D99C2826}"/>
              </a:ext>
            </a:extLst>
          </p:cNvPr>
          <p:cNvSpPr txBox="1"/>
          <p:nvPr/>
        </p:nvSpPr>
        <p:spPr>
          <a:xfrm>
            <a:off x="166155" y="1488048"/>
            <a:ext cx="11799422" cy="1200329"/>
          </a:xfrm>
          <a:prstGeom prst="rect">
            <a:avLst/>
          </a:prstGeom>
          <a:noFill/>
        </p:spPr>
        <p:txBody>
          <a:bodyPr wrap="square">
            <a:spAutoFit/>
          </a:bodyPr>
          <a:lstStyle>
            <a:defPPr>
              <a:defRPr lang="zh-CN"/>
            </a:defPPr>
            <a:lvl1pPr>
              <a:defRPr sz="2400">
                <a:latin typeface="微软雅黑" panose="020B0503020204020204" pitchFamily="34" charset="-122"/>
                <a:ea typeface="微软雅黑" panose="020B0503020204020204" pitchFamily="34" charset="-122"/>
              </a:defRPr>
            </a:lvl1pPr>
          </a:lstStyle>
          <a:p>
            <a:r>
              <a:rPr lang="en-US" altLang="zh-CN" dirty="0"/>
              <a:t>ID3</a:t>
            </a:r>
            <a:r>
              <a:rPr lang="zh-CN" altLang="zh-CN" dirty="0"/>
              <a:t>的核心思想是通过信息增益对特征进行选择。在</a:t>
            </a:r>
            <a:r>
              <a:rPr lang="en-US" altLang="zh-CN" dirty="0"/>
              <a:t>ID3</a:t>
            </a:r>
            <a:r>
              <a:rPr lang="zh-CN" altLang="zh-CN" dirty="0"/>
              <a:t>决策树的生成过程中会计算每个特征的信息增益，选择给数据集带来的信息增益最大的特征作为决策树当前划分的结点。需要注意的是，</a:t>
            </a:r>
            <a:r>
              <a:rPr lang="en-US" altLang="zh-CN" dirty="0"/>
              <a:t>ID3</a:t>
            </a:r>
            <a:r>
              <a:rPr lang="zh-CN" altLang="zh-CN" dirty="0"/>
              <a:t>决策树不存在剪枝操作。</a:t>
            </a:r>
          </a:p>
        </p:txBody>
      </p:sp>
      <p:graphicFrame>
        <p:nvGraphicFramePr>
          <p:cNvPr id="11" name="对象 10">
            <a:extLst>
              <a:ext uri="{FF2B5EF4-FFF2-40B4-BE49-F238E27FC236}">
                <a16:creationId xmlns:a16="http://schemas.microsoft.com/office/drawing/2014/main" id="{87720DA7-D920-502D-652D-18E42D66C784}"/>
              </a:ext>
            </a:extLst>
          </p:cNvPr>
          <p:cNvGraphicFramePr>
            <a:graphicFrameLocks noChangeAspect="1"/>
          </p:cNvGraphicFramePr>
          <p:nvPr>
            <p:extLst>
              <p:ext uri="{D42A27DB-BD31-4B8C-83A1-F6EECF244321}">
                <p14:modId xmlns:p14="http://schemas.microsoft.com/office/powerpoint/2010/main" val="460885875"/>
              </p:ext>
            </p:extLst>
          </p:nvPr>
        </p:nvGraphicFramePr>
        <p:xfrm>
          <a:off x="5148922" y="3534952"/>
          <a:ext cx="384491" cy="471311"/>
        </p:xfrm>
        <a:graphic>
          <a:graphicData uri="http://schemas.openxmlformats.org/presentationml/2006/ole">
            <mc:AlternateContent xmlns:mc="http://schemas.openxmlformats.org/markup-compatibility/2006">
              <mc:Choice xmlns:v="urn:schemas-microsoft-com:vml" Requires="v">
                <p:oleObj name="Equation" r:id="rId3" imgW="190500" imgH="228600" progId="Equation.DSMT4">
                  <p:embed/>
                </p:oleObj>
              </mc:Choice>
              <mc:Fallback>
                <p:oleObj name="Equation" r:id="rId3" imgW="190500" imgH="2286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922" y="3534952"/>
                        <a:ext cx="384491" cy="471311"/>
                      </a:xfrm>
                      <a:prstGeom prst="rect">
                        <a:avLst/>
                      </a:prstGeom>
                      <a:noFill/>
                    </p:spPr>
                  </p:pic>
                </p:oleObj>
              </mc:Fallback>
            </mc:AlternateContent>
          </a:graphicData>
        </a:graphic>
      </p:graphicFrame>
      <p:graphicFrame>
        <p:nvGraphicFramePr>
          <p:cNvPr id="12" name="对象 11">
            <a:extLst>
              <a:ext uri="{FF2B5EF4-FFF2-40B4-BE49-F238E27FC236}">
                <a16:creationId xmlns:a16="http://schemas.microsoft.com/office/drawing/2014/main" id="{2C579986-661F-998B-1552-7CED541A954C}"/>
              </a:ext>
            </a:extLst>
          </p:cNvPr>
          <p:cNvGraphicFramePr>
            <a:graphicFrameLocks noChangeAspect="1"/>
          </p:cNvGraphicFramePr>
          <p:nvPr>
            <p:extLst>
              <p:ext uri="{D42A27DB-BD31-4B8C-83A1-F6EECF244321}">
                <p14:modId xmlns:p14="http://schemas.microsoft.com/office/powerpoint/2010/main" val="2846747710"/>
              </p:ext>
            </p:extLst>
          </p:nvPr>
        </p:nvGraphicFramePr>
        <p:xfrm>
          <a:off x="3471239" y="4270111"/>
          <a:ext cx="4298066" cy="1066557"/>
        </p:xfrm>
        <a:graphic>
          <a:graphicData uri="http://schemas.openxmlformats.org/presentationml/2006/ole">
            <mc:AlternateContent xmlns:mc="http://schemas.openxmlformats.org/markup-compatibility/2006">
              <mc:Choice xmlns:v="urn:schemas-microsoft-com:vml" Requires="v">
                <p:oleObj name="Equation" r:id="rId5" imgW="1701800" imgH="431800" progId="Equation.DSMT4">
                  <p:embed/>
                </p:oleObj>
              </mc:Choice>
              <mc:Fallback>
                <p:oleObj name="Equation" r:id="rId5" imgW="1701800" imgH="4318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1239" y="4270111"/>
                        <a:ext cx="4298066" cy="1066557"/>
                      </a:xfrm>
                      <a:prstGeom prst="rect">
                        <a:avLst/>
                      </a:prstGeom>
                      <a:noFill/>
                    </p:spPr>
                  </p:pic>
                </p:oleObj>
              </mc:Fallback>
            </mc:AlternateContent>
          </a:graphicData>
        </a:graphic>
      </p:graphicFrame>
      <p:graphicFrame>
        <p:nvGraphicFramePr>
          <p:cNvPr id="13" name="对象 12">
            <a:extLst>
              <a:ext uri="{FF2B5EF4-FFF2-40B4-BE49-F238E27FC236}">
                <a16:creationId xmlns:a16="http://schemas.microsoft.com/office/drawing/2014/main" id="{985B8361-E9A5-DB67-5C49-FB0FB969AE07}"/>
              </a:ext>
            </a:extLst>
          </p:cNvPr>
          <p:cNvGraphicFramePr>
            <a:graphicFrameLocks noChangeAspect="1"/>
          </p:cNvGraphicFramePr>
          <p:nvPr>
            <p:extLst>
              <p:ext uri="{D42A27DB-BD31-4B8C-83A1-F6EECF244321}">
                <p14:modId xmlns:p14="http://schemas.microsoft.com/office/powerpoint/2010/main" val="2296529266"/>
              </p:ext>
            </p:extLst>
          </p:nvPr>
        </p:nvGraphicFramePr>
        <p:xfrm>
          <a:off x="1548709" y="5651643"/>
          <a:ext cx="508520" cy="384491"/>
        </p:xfrm>
        <a:graphic>
          <a:graphicData uri="http://schemas.openxmlformats.org/presentationml/2006/ole">
            <mc:AlternateContent xmlns:mc="http://schemas.openxmlformats.org/markup-compatibility/2006">
              <mc:Choice xmlns:v="urn:schemas-microsoft-com:vml" Requires="v">
                <p:oleObj name="Equation" r:id="rId7" imgW="266469" imgH="203024" progId="Equation.DSMT4">
                  <p:embed/>
                </p:oleObj>
              </mc:Choice>
              <mc:Fallback>
                <p:oleObj name="Equation" r:id="rId7" imgW="266469" imgH="203024"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8709" y="5651643"/>
                        <a:ext cx="508520" cy="384491"/>
                      </a:xfrm>
                      <a:prstGeom prst="rect">
                        <a:avLst/>
                      </a:prstGeom>
                      <a:noFill/>
                    </p:spPr>
                  </p:pic>
                </p:oleObj>
              </mc:Fallback>
            </mc:AlternateContent>
          </a:graphicData>
        </a:graphic>
      </p:graphicFrame>
      <p:graphicFrame>
        <p:nvGraphicFramePr>
          <p:cNvPr id="14" name="对象 13">
            <a:extLst>
              <a:ext uri="{FF2B5EF4-FFF2-40B4-BE49-F238E27FC236}">
                <a16:creationId xmlns:a16="http://schemas.microsoft.com/office/drawing/2014/main" id="{1FE56026-B5D7-522F-3CE3-D2C58DAC91D0}"/>
              </a:ext>
            </a:extLst>
          </p:cNvPr>
          <p:cNvGraphicFramePr>
            <a:graphicFrameLocks noChangeAspect="1"/>
          </p:cNvGraphicFramePr>
          <p:nvPr>
            <p:extLst>
              <p:ext uri="{D42A27DB-BD31-4B8C-83A1-F6EECF244321}">
                <p14:modId xmlns:p14="http://schemas.microsoft.com/office/powerpoint/2010/main" val="3986118618"/>
              </p:ext>
            </p:extLst>
          </p:nvPr>
        </p:nvGraphicFramePr>
        <p:xfrm>
          <a:off x="5419474" y="5564823"/>
          <a:ext cx="582937" cy="471311"/>
        </p:xfrm>
        <a:graphic>
          <a:graphicData uri="http://schemas.openxmlformats.org/presentationml/2006/ole">
            <mc:AlternateContent xmlns:mc="http://schemas.openxmlformats.org/markup-compatibility/2006">
              <mc:Choice xmlns:v="urn:schemas-microsoft-com:vml" Requires="v">
                <p:oleObj name="Equation" r:id="rId9" imgW="304668" imgH="228501" progId="Equation.DSMT4">
                  <p:embed/>
                </p:oleObj>
              </mc:Choice>
              <mc:Fallback>
                <p:oleObj name="Equation" r:id="rId9" imgW="304668" imgH="228501" progId="Equation.DSMT4">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19474" y="5564823"/>
                        <a:ext cx="582937" cy="471311"/>
                      </a:xfrm>
                      <a:prstGeom prst="rect">
                        <a:avLst/>
                      </a:prstGeom>
                      <a:noFill/>
                    </p:spPr>
                  </p:pic>
                </p:oleObj>
              </mc:Fallback>
            </mc:AlternateContent>
          </a:graphicData>
        </a:graphic>
      </p:graphicFrame>
      <p:sp>
        <p:nvSpPr>
          <p:cNvPr id="17" name="Rectangle 5">
            <a:extLst>
              <a:ext uri="{FF2B5EF4-FFF2-40B4-BE49-F238E27FC236}">
                <a16:creationId xmlns:a16="http://schemas.microsoft.com/office/drawing/2014/main" id="{93B45B58-69F1-8603-3C95-96C5B3B064E8}"/>
              </a:ext>
            </a:extLst>
          </p:cNvPr>
          <p:cNvSpPr>
            <a:spLocks noChangeArrowheads="1"/>
          </p:cNvSpPr>
          <p:nvPr/>
        </p:nvSpPr>
        <p:spPr bwMode="auto">
          <a:xfrm>
            <a:off x="166155" y="3157194"/>
            <a:ext cx="1160145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06388"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信息熵</a:t>
            </a:r>
            <a:r>
              <a:rPr kumimoji="0" lang="zh-CN" altLang="zh-CN" sz="24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Information </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entropy</a:t>
            </a:r>
            <a:r>
              <a:rPr kumimoji="0" lang="zh-CN" altLang="en-US" sz="24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是用于衡量一个随机变量的不确定性的度量。假设训练数据集</a:t>
            </a:r>
            <a:r>
              <a:rPr kumimoji="0" lang="en-US" altLang="zh-CN" sz="2400" b="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中有</a:t>
            </a:r>
            <a:r>
              <a:rPr kumimoji="0" lang="en-US" altLang="zh-CN" sz="2400" b="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K</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类不同的样本，</a:t>
            </a:r>
            <a:endParaRPr kumimoji="0" lang="zh-CN"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8" name="Rectangle 6">
            <a:extLst>
              <a:ext uri="{FF2B5EF4-FFF2-40B4-BE49-F238E27FC236}">
                <a16:creationId xmlns:a16="http://schemas.microsoft.com/office/drawing/2014/main" id="{A3605C89-BD7D-F0B5-23C2-67C4DC935D46}"/>
              </a:ext>
            </a:extLst>
          </p:cNvPr>
          <p:cNvSpPr>
            <a:spLocks noChangeArrowheads="1"/>
          </p:cNvSpPr>
          <p:nvPr/>
        </p:nvSpPr>
        <p:spPr bwMode="auto">
          <a:xfrm>
            <a:off x="5148922" y="3513835"/>
            <a:ext cx="61032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3048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306388" algn="ctr"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bmk="MTBlankEqn">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是类别为</a:t>
            </a:r>
            <a:r>
              <a:rPr kumimoji="0" lang="en-US" altLang="zh-CN" sz="2400" b="0" i="1" u="none" strike="noStrike" cap="none" normalizeH="0" baseline="0" dirty="0" bmk="MTBlankEqn">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的数据子集，则</a:t>
            </a:r>
            <a:r>
              <a:rPr kumimoji="0" lang="en-US" altLang="zh-CN" sz="2400" b="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的信息熵为：</a:t>
            </a:r>
            <a:endParaRPr kumimoji="0" lang="zh-CN"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30480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0" name="Rectangle 8">
            <a:extLst>
              <a:ext uri="{FF2B5EF4-FFF2-40B4-BE49-F238E27FC236}">
                <a16:creationId xmlns:a16="http://schemas.microsoft.com/office/drawing/2014/main" id="{8DD79B05-A8DA-5C43-6FEB-3271D95576EE}"/>
              </a:ext>
            </a:extLst>
          </p:cNvPr>
          <p:cNvSpPr>
            <a:spLocks noChangeArrowheads="1"/>
          </p:cNvSpPr>
          <p:nvPr/>
        </p:nvSpPr>
        <p:spPr bwMode="auto">
          <a:xfrm>
            <a:off x="2020196" y="5574469"/>
            <a:ext cx="34740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表示数据集</a:t>
            </a:r>
            <a:r>
              <a:rPr kumimoji="0" lang="en-US" altLang="zh-CN" sz="2400" b="0" i="1" u="none" strike="noStrike" cap="none" normalizeH="0" baseline="0" dirty="0">
                <a:ln>
                  <a:noFill/>
                </a:ln>
                <a:solidFill>
                  <a:schemeClr val="tx1"/>
                </a:solidFill>
                <a:effectLst/>
                <a:ea typeface="楷体" panose="02010609060101010101" pitchFamily="49"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的样本数，</a:t>
            </a:r>
            <a:endParaRPr kumimoji="0" lang="zh-CN" altLang="en-US" sz="3600" b="0" i="0" u="none" strike="noStrike" cap="none" normalizeH="0" baseline="0" dirty="0">
              <a:ln>
                <a:noFill/>
              </a:ln>
              <a:solidFill>
                <a:schemeClr val="tx1"/>
              </a:solidFill>
              <a:effectLst/>
              <a:latin typeface="Arial" panose="020B0604020202020204" pitchFamily="34" charset="0"/>
            </a:endParaRPr>
          </a:p>
        </p:txBody>
      </p:sp>
      <p:sp>
        <p:nvSpPr>
          <p:cNvPr id="21" name="Rectangle 9">
            <a:extLst>
              <a:ext uri="{FF2B5EF4-FFF2-40B4-BE49-F238E27FC236}">
                <a16:creationId xmlns:a16="http://schemas.microsoft.com/office/drawing/2014/main" id="{6A1A97E7-CC7E-0C27-E66C-41713478483B}"/>
              </a:ext>
            </a:extLst>
          </p:cNvPr>
          <p:cNvSpPr>
            <a:spLocks noChangeArrowheads="1"/>
          </p:cNvSpPr>
          <p:nvPr/>
        </p:nvSpPr>
        <p:spPr bwMode="auto">
          <a:xfrm>
            <a:off x="6002411" y="5574469"/>
            <a:ext cx="49455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表示类别为</a:t>
            </a:r>
            <a:r>
              <a:rPr kumimoji="0" lang="en-US" altLang="zh-CN" sz="2400" b="0" i="1"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k</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的数据子集的样本数。</a:t>
            </a:r>
            <a:endParaRPr kumimoji="0" lang="zh-CN" altLang="en-US" sz="3600" b="0" i="0" u="none" strike="noStrike" cap="none" normalizeH="0" baseline="0" dirty="0">
              <a:ln>
                <a:noFill/>
              </a:ln>
              <a:solidFill>
                <a:schemeClr val="tx1"/>
              </a:solidFill>
              <a:effectLst/>
              <a:latin typeface="Arial" panose="020B0604020202020204" pitchFamily="34" charset="0"/>
            </a:endParaRPr>
          </a:p>
        </p:txBody>
      </p:sp>
      <p:sp>
        <p:nvSpPr>
          <p:cNvPr id="25" name="Rectangle 7">
            <a:extLst>
              <a:ext uri="{FF2B5EF4-FFF2-40B4-BE49-F238E27FC236}">
                <a16:creationId xmlns:a16="http://schemas.microsoft.com/office/drawing/2014/main" id="{E3F23283-E9A7-3078-2775-ED7137180159}"/>
              </a:ext>
            </a:extLst>
          </p:cNvPr>
          <p:cNvSpPr>
            <a:spLocks noChangeArrowheads="1"/>
          </p:cNvSpPr>
          <p:nvPr/>
        </p:nvSpPr>
        <p:spPr bwMode="auto">
          <a:xfrm>
            <a:off x="122008" y="5205137"/>
            <a:ext cx="28520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1pPr>
            <a:lvl2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2pPr>
            <a:lvl3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3pPr>
            <a:lvl4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4pPr>
            <a:lvl5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5pPr>
            <a:lvl6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6pPr>
            <a:lvl7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7pPr>
            <a:lvl8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8pPr>
            <a:lvl9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9pPr>
          </a:lstStyle>
          <a:p>
            <a:pPr marL="0" marR="0" lvl="0" indent="304800" algn="l" defTabSz="914400" rtl="0" eaLnBrk="0" fontAlgn="base" latinLnBrk="0" hangingPunct="0">
              <a:lnSpc>
                <a:spcPct val="100000"/>
              </a:lnSpc>
              <a:spcBef>
                <a:spcPct val="0"/>
              </a:spcBef>
              <a:spcAft>
                <a:spcPct val="0"/>
              </a:spcAft>
              <a:buClrTx/>
              <a:buSzTx/>
              <a:buFontTx/>
              <a:buNone/>
              <a:tabLst>
                <a:tab pos="2641600" algn="ctr"/>
                <a:tab pos="5270500" algn="r"/>
              </a:tabLst>
            </a:pPr>
            <a:r>
              <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050" b="0" i="0" u="none" strike="noStrike" cap="none" normalizeH="0" baseline="0" dirty="0">
              <a:ln>
                <a:noFill/>
              </a:ln>
              <a:solidFill>
                <a:schemeClr val="tx1"/>
              </a:solidFill>
              <a:effectLst/>
              <a:latin typeface="Arial" panose="020B0604020202020204" pitchFamily="34" charset="0"/>
            </a:endParaRPr>
          </a:p>
          <a:p>
            <a:pPr marL="0" marR="0" lvl="0" indent="304800" algn="l" defTabSz="914400" rtl="0" eaLnBrk="0" fontAlgn="base" latinLnBrk="0" hangingPunct="0">
              <a:lnSpc>
                <a:spcPct val="100000"/>
              </a:lnSpc>
              <a:spcBef>
                <a:spcPct val="0"/>
              </a:spcBef>
              <a:spcAft>
                <a:spcPct val="0"/>
              </a:spcAft>
              <a:buClrTx/>
              <a:buSzTx/>
              <a:buFontTx/>
              <a:buNone/>
              <a:tabLst>
                <a:tab pos="2641600" algn="ctr"/>
                <a:tab pos="5270500" algn="r"/>
              </a:tabLst>
            </a:pP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其中，</a:t>
            </a:r>
            <a:endParaRPr kumimoji="0" lang="zh-CN"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5190300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E9E1B-FA11-CE46-2454-5381C7671B2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44E06C8-458C-0C3E-F5A3-C69BE8DDE85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ID3</a:t>
            </a:r>
            <a:r>
              <a:rPr lang="zh-CN" altLang="en-US" sz="3200" dirty="0">
                <a:solidFill>
                  <a:srgbClr val="FFFF00"/>
                </a:solidFill>
                <a:latin typeface="华光综艺_CNKI" panose="02000500000000000000" pitchFamily="2" charset="-122"/>
                <a:ea typeface="华光综艺_CNKI" panose="02000500000000000000" pitchFamily="2" charset="-122"/>
              </a:rPr>
              <a:t>决策树</a:t>
            </a:r>
          </a:p>
        </p:txBody>
      </p:sp>
      <p:sp>
        <p:nvSpPr>
          <p:cNvPr id="15" name="Rectangle 3">
            <a:extLst>
              <a:ext uri="{FF2B5EF4-FFF2-40B4-BE49-F238E27FC236}">
                <a16:creationId xmlns:a16="http://schemas.microsoft.com/office/drawing/2014/main" id="{AFE2D8BB-510F-80C1-F67B-6EABE881F9F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对象 4">
            <a:extLst>
              <a:ext uri="{FF2B5EF4-FFF2-40B4-BE49-F238E27FC236}">
                <a16:creationId xmlns:a16="http://schemas.microsoft.com/office/drawing/2014/main" id="{9B9D07EE-BA20-7DA7-9115-82AC836DF292}"/>
              </a:ext>
            </a:extLst>
          </p:cNvPr>
          <p:cNvGraphicFramePr>
            <a:graphicFrameLocks noChangeAspect="1"/>
          </p:cNvGraphicFramePr>
          <p:nvPr>
            <p:extLst>
              <p:ext uri="{D42A27DB-BD31-4B8C-83A1-F6EECF244321}">
                <p14:modId xmlns:p14="http://schemas.microsoft.com/office/powerpoint/2010/main" val="2895319318"/>
              </p:ext>
            </p:extLst>
          </p:nvPr>
        </p:nvGraphicFramePr>
        <p:xfrm>
          <a:off x="2584269" y="2631097"/>
          <a:ext cx="6303698" cy="830996"/>
        </p:xfrm>
        <a:graphic>
          <a:graphicData uri="http://schemas.openxmlformats.org/presentationml/2006/ole">
            <mc:AlternateContent xmlns:mc="http://schemas.openxmlformats.org/markup-compatibility/2006">
              <mc:Choice xmlns:v="urn:schemas-microsoft-com:vml" Requires="v">
                <p:oleObj name="Equation" r:id="rId3" imgW="3390900" imgH="444500" progId="Equation.DSMT4">
                  <p:embed/>
                </p:oleObj>
              </mc:Choice>
              <mc:Fallback>
                <p:oleObj name="Equation" r:id="rId3" imgW="3390900" imgH="4445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4269" y="2631097"/>
                        <a:ext cx="6303698" cy="830996"/>
                      </a:xfrm>
                      <a:prstGeom prst="rect">
                        <a:avLst/>
                      </a:prstGeom>
                      <a:noFill/>
                    </p:spPr>
                  </p:pic>
                </p:oleObj>
              </mc:Fallback>
            </mc:AlternateContent>
          </a:graphicData>
        </a:graphic>
      </p:graphicFrame>
      <p:sp>
        <p:nvSpPr>
          <p:cNvPr id="8" name="Rectangle 4">
            <a:extLst>
              <a:ext uri="{FF2B5EF4-FFF2-40B4-BE49-F238E27FC236}">
                <a16:creationId xmlns:a16="http://schemas.microsoft.com/office/drawing/2014/main" id="{37CEAC01-7E56-259C-550E-82A53F5A8D3B}"/>
              </a:ext>
            </a:extLst>
          </p:cNvPr>
          <p:cNvSpPr>
            <a:spLocks noChangeArrowheads="1"/>
          </p:cNvSpPr>
          <p:nvPr/>
        </p:nvSpPr>
        <p:spPr bwMode="auto">
          <a:xfrm>
            <a:off x="195874" y="1281904"/>
            <a:ext cx="1156864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06388"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条件熵</a:t>
            </a:r>
            <a:r>
              <a:rPr kumimoji="0" lang="zh-CN"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Conditional entropy</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是在给定另一个随机变量的条件下，一个随机变量的不确定性。假设决策树中的某个结点有一个特征</a:t>
            </a:r>
            <a:r>
              <a:rPr kumimoji="0" lang="en-US" altLang="zh-CN" sz="2400" b="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a:t>
            </a:r>
            <a:r>
              <a:rPr kumimoji="0" lang="zh-CN" altLang="zh-CN"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，该特征有</a:t>
            </a:r>
            <a:r>
              <a:rPr kumimoji="0" lang="en-US" altLang="zh-CN" sz="2400" b="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个不同的取值，根据特征</a:t>
            </a:r>
            <a:r>
              <a:rPr kumimoji="0" lang="en-US" altLang="zh-CN" sz="2400" b="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的不同取值将数据集划分为</a:t>
            </a:r>
            <a:r>
              <a:rPr kumimoji="0" lang="en-US" altLang="zh-CN" sz="2400" b="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个子集。则在给定征</a:t>
            </a:r>
            <a:r>
              <a:rPr kumimoji="0" lang="en-US" altLang="zh-CN" sz="2400" b="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条件下</a:t>
            </a:r>
            <a:r>
              <a:rPr kumimoji="0" lang="en-US" altLang="zh-CN" sz="2400" b="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的条件熵为：</a:t>
            </a:r>
            <a:endParaRPr kumimoji="0" lang="zh-CN"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306388" defTabSz="914400" rtl="0" eaLnBrk="0" fontAlgn="base" latinLnBrk="0" hangingPunct="0">
              <a:lnSpc>
                <a:spcPct val="100000"/>
              </a:lnSpc>
              <a:spcBef>
                <a:spcPct val="0"/>
              </a:spcBef>
              <a:spcAft>
                <a:spcPct val="0"/>
              </a:spcAft>
              <a:buClrTx/>
              <a:buSzTx/>
              <a:buFontTx/>
              <a:buNone/>
              <a:tabLst/>
            </a:pPr>
            <a:endParaRPr kumimoji="0" lang="zh-CN"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pSp>
        <p:nvGrpSpPr>
          <p:cNvPr id="18" name="组合 17">
            <a:extLst>
              <a:ext uri="{FF2B5EF4-FFF2-40B4-BE49-F238E27FC236}">
                <a16:creationId xmlns:a16="http://schemas.microsoft.com/office/drawing/2014/main" id="{C5F87572-2046-E5B6-CEB3-DFA787002C58}"/>
              </a:ext>
            </a:extLst>
          </p:cNvPr>
          <p:cNvGrpSpPr/>
          <p:nvPr/>
        </p:nvGrpSpPr>
        <p:grpSpPr>
          <a:xfrm>
            <a:off x="558175" y="3624579"/>
            <a:ext cx="6375092" cy="461666"/>
            <a:chOff x="558175" y="3713525"/>
            <a:chExt cx="6375092" cy="461666"/>
          </a:xfrm>
        </p:grpSpPr>
        <p:graphicFrame>
          <p:nvGraphicFramePr>
            <p:cNvPr id="6" name="对象 5">
              <a:extLst>
                <a:ext uri="{FF2B5EF4-FFF2-40B4-BE49-F238E27FC236}">
                  <a16:creationId xmlns:a16="http://schemas.microsoft.com/office/drawing/2014/main" id="{02C7E382-8548-C07C-D775-3B0164E8F63B}"/>
                </a:ext>
              </a:extLst>
            </p:cNvPr>
            <p:cNvGraphicFramePr>
              <a:graphicFrameLocks noChangeAspect="1"/>
            </p:cNvGraphicFramePr>
            <p:nvPr>
              <p:extLst>
                <p:ext uri="{D42A27DB-BD31-4B8C-83A1-F6EECF244321}">
                  <p14:modId xmlns:p14="http://schemas.microsoft.com/office/powerpoint/2010/main" val="444871810"/>
                </p:ext>
              </p:extLst>
            </p:nvPr>
          </p:nvGraphicFramePr>
          <p:xfrm>
            <a:off x="558175" y="3713526"/>
            <a:ext cx="461665" cy="461665"/>
          </p:xfrm>
          <a:graphic>
            <a:graphicData uri="http://schemas.openxmlformats.org/presentationml/2006/ole">
              <mc:AlternateContent xmlns:mc="http://schemas.openxmlformats.org/markup-compatibility/2006">
                <mc:Choice xmlns:v="urn:schemas-microsoft-com:vml" Requires="v">
                  <p:oleObj name="Equation" r:id="rId5" imgW="228600" imgH="228600" progId="Equation.DSMT4">
                    <p:embed/>
                  </p:oleObj>
                </mc:Choice>
                <mc:Fallback>
                  <p:oleObj name="Equation" r:id="rId5" imgW="228600" imgH="228600"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175" y="3713526"/>
                          <a:ext cx="461665" cy="461665"/>
                        </a:xfrm>
                        <a:prstGeom prst="rect">
                          <a:avLst/>
                        </a:prstGeom>
                        <a:noFill/>
                      </p:spPr>
                    </p:pic>
                  </p:oleObj>
                </mc:Fallback>
              </mc:AlternateContent>
            </a:graphicData>
          </a:graphic>
        </p:graphicFrame>
        <p:sp>
          <p:nvSpPr>
            <p:cNvPr id="11" name="Rectangle 7">
              <a:extLst>
                <a:ext uri="{FF2B5EF4-FFF2-40B4-BE49-F238E27FC236}">
                  <a16:creationId xmlns:a16="http://schemas.microsoft.com/office/drawing/2014/main" id="{7B1E4DBA-52D7-9425-57D1-BC126CFD0303}"/>
                </a:ext>
              </a:extLst>
            </p:cNvPr>
            <p:cNvSpPr>
              <a:spLocks noChangeArrowheads="1"/>
            </p:cNvSpPr>
            <p:nvPr/>
          </p:nvSpPr>
          <p:spPr bwMode="auto">
            <a:xfrm>
              <a:off x="995423" y="3713525"/>
              <a:ext cx="59378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表示第</a:t>
              </a:r>
              <a:r>
                <a:rPr kumimoji="0" lang="en-US" altLang="zh-CN" sz="2400" b="0" i="1" u="none" strike="noStrike" cap="none" normalizeH="0" baseline="0" dirty="0" err="1">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i</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个数据子集中类别为</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的样本集合。</a:t>
              </a:r>
              <a:endParaRPr kumimoji="0" lang="zh-CN"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pSp>
      <p:sp>
        <p:nvSpPr>
          <p:cNvPr id="13" name="Rectangle 9">
            <a:extLst>
              <a:ext uri="{FF2B5EF4-FFF2-40B4-BE49-F238E27FC236}">
                <a16:creationId xmlns:a16="http://schemas.microsoft.com/office/drawing/2014/main" id="{760374D3-4CE7-148F-8C5F-E38AB383989E}"/>
              </a:ext>
            </a:extLst>
          </p:cNvPr>
          <p:cNvSpPr>
            <a:spLocks noChangeArrowheads="1"/>
          </p:cNvSpPr>
          <p:nvPr/>
        </p:nvSpPr>
        <p:spPr bwMode="auto">
          <a:xfrm>
            <a:off x="248197" y="4653957"/>
            <a:ext cx="1156864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048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306388"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信息增益</a:t>
            </a:r>
            <a:r>
              <a:rPr kumimoji="0" lang="zh-CN" altLang="zh-CN" sz="24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Information gain</a:t>
            </a:r>
            <a:r>
              <a:rPr kumimoji="0" lang="zh-CN" altLang="en-US" sz="24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是用于衡量一个特征对数据集划分后，信息复杂度（不确定性）的减少程度的指标。对于一个数据集</a:t>
            </a:r>
            <a:r>
              <a:rPr kumimoji="0" lang="en-US" altLang="zh-CN" sz="2400" b="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和特征</a:t>
            </a:r>
            <a:r>
              <a:rPr kumimoji="0" lang="en-US" altLang="zh-CN" sz="2400" b="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，其信息增益为：</a:t>
            </a:r>
          </a:p>
          <a:p>
            <a:pPr marL="0" marR="0" lvl="0" indent="304800"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14" name="对象 13">
            <a:extLst>
              <a:ext uri="{FF2B5EF4-FFF2-40B4-BE49-F238E27FC236}">
                <a16:creationId xmlns:a16="http://schemas.microsoft.com/office/drawing/2014/main" id="{7DA049F8-3680-38B0-D047-79680AB761DD}"/>
              </a:ext>
            </a:extLst>
          </p:cNvPr>
          <p:cNvGraphicFramePr>
            <a:graphicFrameLocks noChangeAspect="1"/>
          </p:cNvGraphicFramePr>
          <p:nvPr>
            <p:extLst>
              <p:ext uri="{D42A27DB-BD31-4B8C-83A1-F6EECF244321}">
                <p14:modId xmlns:p14="http://schemas.microsoft.com/office/powerpoint/2010/main" val="2082199143"/>
              </p:ext>
            </p:extLst>
          </p:nvPr>
        </p:nvGraphicFramePr>
        <p:xfrm>
          <a:off x="3412945" y="5757271"/>
          <a:ext cx="4411708" cy="441171"/>
        </p:xfrm>
        <a:graphic>
          <a:graphicData uri="http://schemas.openxmlformats.org/presentationml/2006/ole">
            <mc:AlternateContent xmlns:mc="http://schemas.openxmlformats.org/markup-compatibility/2006">
              <mc:Choice xmlns:v="urn:schemas-microsoft-com:vml" Requires="v">
                <p:oleObj name="Equation" r:id="rId7" imgW="1955800" imgH="203200" progId="Equation.DSMT4">
                  <p:embed/>
                </p:oleObj>
              </mc:Choice>
              <mc:Fallback>
                <p:oleObj name="Equation" r:id="rId7" imgW="1955800" imgH="2032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2945" y="5757271"/>
                        <a:ext cx="4411708" cy="441171"/>
                      </a:xfrm>
                      <a:prstGeom prst="rect">
                        <a:avLst/>
                      </a:prstGeom>
                      <a:noFill/>
                    </p:spPr>
                  </p:pic>
                </p:oleObj>
              </mc:Fallback>
            </mc:AlternateContent>
          </a:graphicData>
        </a:graphic>
      </p:graphicFrame>
    </p:spTree>
    <p:extLst>
      <p:ext uri="{BB962C8B-B14F-4D97-AF65-F5344CB8AC3E}">
        <p14:creationId xmlns:p14="http://schemas.microsoft.com/office/powerpoint/2010/main" val="333673403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FC65D-62A8-F0A3-C0B4-F89D3516DFF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C14D23A-7AFB-48AD-9E92-CDDA0078521A}"/>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ID3</a:t>
            </a:r>
            <a:r>
              <a:rPr lang="zh-CN" altLang="en-US" sz="3200" dirty="0">
                <a:solidFill>
                  <a:srgbClr val="FFFF00"/>
                </a:solidFill>
                <a:latin typeface="华光综艺_CNKI" panose="02000500000000000000" pitchFamily="2" charset="-122"/>
                <a:ea typeface="华光综艺_CNKI" panose="02000500000000000000" pitchFamily="2" charset="-122"/>
              </a:rPr>
              <a:t>决策树</a:t>
            </a:r>
          </a:p>
        </p:txBody>
      </p:sp>
      <p:sp>
        <p:nvSpPr>
          <p:cNvPr id="15" name="Rectangle 3">
            <a:extLst>
              <a:ext uri="{FF2B5EF4-FFF2-40B4-BE49-F238E27FC236}">
                <a16:creationId xmlns:a16="http://schemas.microsoft.com/office/drawing/2014/main" id="{A6480A10-6FCF-18DF-ACE4-9AF78B12C15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FCCAB284-E26A-09B5-17CE-9133EA3FC8F2}"/>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5D887B89-BFE0-B98C-5C39-2F4F42D366C4}"/>
              </a:ext>
            </a:extLst>
          </p:cNvPr>
          <p:cNvSpPr txBox="1"/>
          <p:nvPr/>
        </p:nvSpPr>
        <p:spPr>
          <a:xfrm>
            <a:off x="341618" y="2047299"/>
            <a:ext cx="11325497" cy="3046988"/>
          </a:xfrm>
          <a:prstGeom prst="rect">
            <a:avLst/>
          </a:prstGeom>
          <a:noFill/>
        </p:spPr>
        <p:txBody>
          <a:bodyPr wrap="square">
            <a:spAutoFit/>
          </a:bodyPr>
          <a:lstStyle>
            <a:defPPr>
              <a:defRPr lang="zh-CN"/>
            </a:defPPr>
            <a:lvl1pPr>
              <a:defRPr sz="2400">
                <a:latin typeface="微软雅黑" panose="020B0503020204020204" pitchFamily="34" charset="-122"/>
                <a:ea typeface="微软雅黑" panose="020B0503020204020204" pitchFamily="34" charset="-122"/>
              </a:defRPr>
            </a:lvl1pPr>
          </a:lstStyle>
          <a:p>
            <a:r>
              <a:rPr lang="zh-CN" altLang="zh-CN" sz="3200" dirty="0"/>
              <a:t>在决策树中，某特征的</a:t>
            </a:r>
            <a:r>
              <a:rPr lang="zh-CN" altLang="zh-CN" sz="3200" dirty="0">
                <a:solidFill>
                  <a:srgbClr val="FF0000"/>
                </a:solidFill>
              </a:rPr>
              <a:t>信息增益越大</a:t>
            </a:r>
            <a:r>
              <a:rPr lang="zh-CN" altLang="zh-CN" sz="3200" dirty="0"/>
              <a:t>，说明根据该特征对数据进行划分后的数据子集</a:t>
            </a:r>
            <a:r>
              <a:rPr lang="zh-CN" altLang="zh-CN" sz="3200" dirty="0">
                <a:solidFill>
                  <a:srgbClr val="FF0000"/>
                </a:solidFill>
              </a:rPr>
              <a:t>纯度越高</a:t>
            </a:r>
            <a:r>
              <a:rPr lang="zh-CN" altLang="zh-CN" sz="3200" dirty="0"/>
              <a:t>，该特征越适合作为决策树中的分裂结点。</a:t>
            </a:r>
            <a:endParaRPr lang="en-US" altLang="zh-CN" sz="3200" dirty="0"/>
          </a:p>
          <a:p>
            <a:endParaRPr lang="en-US" altLang="zh-CN" sz="3200" dirty="0"/>
          </a:p>
          <a:p>
            <a:endParaRPr lang="en-US" altLang="zh-CN" sz="3200" dirty="0"/>
          </a:p>
          <a:p>
            <a:r>
              <a:rPr lang="zh-CN" altLang="zh-CN" sz="3200" dirty="0">
                <a:solidFill>
                  <a:srgbClr val="FF0000"/>
                </a:solidFill>
              </a:rPr>
              <a:t>因此，</a:t>
            </a:r>
            <a:r>
              <a:rPr lang="zh-CN" altLang="en-US" sz="3200" dirty="0">
                <a:solidFill>
                  <a:srgbClr val="FF0000"/>
                </a:solidFill>
              </a:rPr>
              <a:t>在</a:t>
            </a:r>
            <a:r>
              <a:rPr lang="en-US" altLang="zh-CN" sz="3200" dirty="0">
                <a:solidFill>
                  <a:srgbClr val="FF0000"/>
                </a:solidFill>
              </a:rPr>
              <a:t>ID3</a:t>
            </a:r>
            <a:r>
              <a:rPr lang="zh-CN" altLang="en-US" sz="3200" dirty="0">
                <a:solidFill>
                  <a:srgbClr val="FF0000"/>
                </a:solidFill>
              </a:rPr>
              <a:t>决策树中，</a:t>
            </a:r>
            <a:r>
              <a:rPr lang="zh-CN" altLang="zh-CN" sz="3200" dirty="0">
                <a:solidFill>
                  <a:srgbClr val="FF0000"/>
                </a:solidFill>
              </a:rPr>
              <a:t>信息增益最大的特征为最佳划分特征。</a:t>
            </a:r>
          </a:p>
        </p:txBody>
      </p:sp>
    </p:spTree>
    <p:extLst>
      <p:ext uri="{BB962C8B-B14F-4D97-AF65-F5344CB8AC3E}">
        <p14:creationId xmlns:p14="http://schemas.microsoft.com/office/powerpoint/2010/main" val="2106929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D6936-BB06-0D47-19C0-07DC6E661A21}"/>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4918A30-2D7A-D88B-CA68-74374C1CB66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ID3</a:t>
            </a:r>
            <a:r>
              <a:rPr lang="zh-CN" altLang="en-US" sz="3200" dirty="0">
                <a:solidFill>
                  <a:srgbClr val="FFFF00"/>
                </a:solidFill>
                <a:latin typeface="华光综艺_CNKI" panose="02000500000000000000" pitchFamily="2" charset="-122"/>
                <a:ea typeface="华光综艺_CNKI" panose="02000500000000000000" pitchFamily="2" charset="-122"/>
              </a:rPr>
              <a:t>决策树计算练习</a:t>
            </a:r>
          </a:p>
        </p:txBody>
      </p:sp>
      <p:sp>
        <p:nvSpPr>
          <p:cNvPr id="15" name="Rectangle 3">
            <a:extLst>
              <a:ext uri="{FF2B5EF4-FFF2-40B4-BE49-F238E27FC236}">
                <a16:creationId xmlns:a16="http://schemas.microsoft.com/office/drawing/2014/main" id="{7ACF0560-5D7D-ED5A-02DD-5C3DDBA3737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文本框 5">
            <a:extLst>
              <a:ext uri="{FF2B5EF4-FFF2-40B4-BE49-F238E27FC236}">
                <a16:creationId xmlns:a16="http://schemas.microsoft.com/office/drawing/2014/main" id="{88AAD7B5-8582-DA20-F746-AEE49562BD21}"/>
              </a:ext>
            </a:extLst>
          </p:cNvPr>
          <p:cNvSpPr txBox="1"/>
          <p:nvPr/>
        </p:nvSpPr>
        <p:spPr>
          <a:xfrm>
            <a:off x="369025" y="1069295"/>
            <a:ext cx="11478986" cy="1015663"/>
          </a:xfrm>
          <a:prstGeom prst="rect">
            <a:avLst/>
          </a:prstGeom>
          <a:noFill/>
        </p:spPr>
        <p:txBody>
          <a:bodyPr wrap="square">
            <a:spAutoFit/>
          </a:bodyPr>
          <a:lstStyle/>
          <a:p>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下表</a:t>
            </a:r>
            <a:r>
              <a:rPr lang="zh-CN" altLang="zh-CN" sz="2000" kern="100" dirty="0">
                <a:latin typeface="Times New Roman" panose="02020603050405020304" pitchFamily="18" charset="0"/>
                <a:ea typeface="楷体" panose="02010609060101010101" pitchFamily="49" charset="-122"/>
                <a:cs typeface="Times New Roman" panose="02020603050405020304" pitchFamily="18" charset="0"/>
              </a:rPr>
              <a:t>展示了某银行产品认购的部分信息，用于记录客户信息及其是否认购银行的产品。产品认购记录的具体字段包括：是否有房贷（简写为房贷）、与业务员在一周内是否有过联系（联系）、是否就业（就业）、是否认购（认购）。根据该数据计算各特征对数据集</a:t>
            </a:r>
            <a:r>
              <a:rPr lang="en-US" altLang="zh-CN" sz="2000" kern="100" dirty="0">
                <a:latin typeface="Times New Roman" panose="02020603050405020304" pitchFamily="18" charset="0"/>
                <a:ea typeface="楷体" panose="02010609060101010101" pitchFamily="49" charset="-122"/>
                <a:cs typeface="Times New Roman" panose="02020603050405020304" pitchFamily="18" charset="0"/>
              </a:rPr>
              <a:t>D</a:t>
            </a:r>
            <a:r>
              <a:rPr lang="zh-CN" altLang="zh-CN" sz="2000" kern="100" dirty="0">
                <a:latin typeface="Times New Roman" panose="02020603050405020304" pitchFamily="18" charset="0"/>
                <a:ea typeface="楷体" panose="02010609060101010101" pitchFamily="49" charset="-122"/>
                <a:cs typeface="Times New Roman" panose="02020603050405020304" pitchFamily="18" charset="0"/>
              </a:rPr>
              <a:t>的信息增益。</a:t>
            </a:r>
            <a:endParaRPr lang="zh-CN" altLang="en-US" sz="2000" kern="1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4" name="图片 3">
            <a:extLst>
              <a:ext uri="{FF2B5EF4-FFF2-40B4-BE49-F238E27FC236}">
                <a16:creationId xmlns:a16="http://schemas.microsoft.com/office/drawing/2014/main" id="{9D4B75EA-E2B3-C118-FD5A-804DFC25AECD}"/>
              </a:ext>
            </a:extLst>
          </p:cNvPr>
          <p:cNvPicPr>
            <a:picLocks noChangeAspect="1"/>
          </p:cNvPicPr>
          <p:nvPr/>
        </p:nvPicPr>
        <p:blipFill>
          <a:blip r:embed="rId3"/>
          <a:stretch>
            <a:fillRect/>
          </a:stretch>
        </p:blipFill>
        <p:spPr>
          <a:xfrm>
            <a:off x="1286452" y="2221146"/>
            <a:ext cx="9435830" cy="4634293"/>
          </a:xfrm>
          <a:prstGeom prst="rect">
            <a:avLst/>
          </a:prstGeom>
        </p:spPr>
      </p:pic>
    </p:spTree>
    <p:extLst>
      <p:ext uri="{BB962C8B-B14F-4D97-AF65-F5344CB8AC3E}">
        <p14:creationId xmlns:p14="http://schemas.microsoft.com/office/powerpoint/2010/main" val="32003657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5708C-074B-CD3F-629D-14E0EA310E93}"/>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A16646F-8096-6349-392D-D7CA79A5EE0D}"/>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ID3</a:t>
            </a:r>
            <a:r>
              <a:rPr lang="zh-CN" altLang="en-US" sz="3200" dirty="0">
                <a:solidFill>
                  <a:srgbClr val="FFFF00"/>
                </a:solidFill>
                <a:latin typeface="华光综艺_CNKI" panose="02000500000000000000" pitchFamily="2" charset="-122"/>
                <a:ea typeface="华光综艺_CNKI" panose="02000500000000000000" pitchFamily="2" charset="-122"/>
              </a:rPr>
              <a:t>决策树计算练习</a:t>
            </a:r>
          </a:p>
        </p:txBody>
      </p:sp>
      <p:sp>
        <p:nvSpPr>
          <p:cNvPr id="15" name="Rectangle 3">
            <a:extLst>
              <a:ext uri="{FF2B5EF4-FFF2-40B4-BE49-F238E27FC236}">
                <a16:creationId xmlns:a16="http://schemas.microsoft.com/office/drawing/2014/main" id="{A5D6FF85-DF18-7E60-A58F-5A81B0CFE32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文本框 5">
            <a:extLst>
              <a:ext uri="{FF2B5EF4-FFF2-40B4-BE49-F238E27FC236}">
                <a16:creationId xmlns:a16="http://schemas.microsoft.com/office/drawing/2014/main" id="{1F5E9149-0C36-B327-3AFA-5888883D54BC}"/>
              </a:ext>
            </a:extLst>
          </p:cNvPr>
          <p:cNvSpPr txBox="1"/>
          <p:nvPr/>
        </p:nvSpPr>
        <p:spPr>
          <a:xfrm>
            <a:off x="353257" y="1062231"/>
            <a:ext cx="11478986" cy="400110"/>
          </a:xfrm>
          <a:prstGeom prst="rect">
            <a:avLst/>
          </a:prstGeom>
          <a:noFill/>
        </p:spPr>
        <p:txBody>
          <a:bodyPr wrap="square">
            <a:spAutoFit/>
          </a:bodyPr>
          <a:lstStyle/>
          <a:p>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计算总的信息熵。</a:t>
            </a:r>
          </a:p>
        </p:txBody>
      </p:sp>
      <p:graphicFrame>
        <p:nvGraphicFramePr>
          <p:cNvPr id="9" name="对象 8">
            <a:extLst>
              <a:ext uri="{FF2B5EF4-FFF2-40B4-BE49-F238E27FC236}">
                <a16:creationId xmlns:a16="http://schemas.microsoft.com/office/drawing/2014/main" id="{41956DCA-6C9A-F2CC-52A7-35DBE709984D}"/>
              </a:ext>
            </a:extLst>
          </p:cNvPr>
          <p:cNvGraphicFramePr>
            <a:graphicFrameLocks noChangeAspect="1"/>
          </p:cNvGraphicFramePr>
          <p:nvPr>
            <p:extLst>
              <p:ext uri="{D42A27DB-BD31-4B8C-83A1-F6EECF244321}">
                <p14:modId xmlns:p14="http://schemas.microsoft.com/office/powerpoint/2010/main" val="2527696982"/>
              </p:ext>
            </p:extLst>
          </p:nvPr>
        </p:nvGraphicFramePr>
        <p:xfrm>
          <a:off x="2597410" y="976228"/>
          <a:ext cx="4229963" cy="644218"/>
        </p:xfrm>
        <a:graphic>
          <a:graphicData uri="http://schemas.openxmlformats.org/presentationml/2006/ole">
            <mc:AlternateContent xmlns:mc="http://schemas.openxmlformats.org/markup-compatibility/2006">
              <mc:Choice xmlns:v="urn:schemas-microsoft-com:vml" Requires="v">
                <p:oleObj name="Equation" r:id="rId3" imgW="2209800" imgH="355600" progId="Equation.DSMT4">
                  <p:embed/>
                </p:oleObj>
              </mc:Choice>
              <mc:Fallback>
                <p:oleObj name="Equation" r:id="rId3" imgW="2209800" imgH="355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7410" y="976228"/>
                        <a:ext cx="4229963" cy="644218"/>
                      </a:xfrm>
                      <a:prstGeom prst="rect">
                        <a:avLst/>
                      </a:prstGeom>
                      <a:noFill/>
                    </p:spPr>
                  </p:pic>
                </p:oleObj>
              </mc:Fallback>
            </mc:AlternateContent>
          </a:graphicData>
        </a:graphic>
      </p:graphicFrame>
      <p:sp>
        <p:nvSpPr>
          <p:cNvPr id="10" name="Rectangle 3">
            <a:extLst>
              <a:ext uri="{FF2B5EF4-FFF2-40B4-BE49-F238E27FC236}">
                <a16:creationId xmlns:a16="http://schemas.microsoft.com/office/drawing/2014/main" id="{E2A9B6D1-01B0-8DD6-1AAD-5AA81D907B17}"/>
              </a:ext>
            </a:extLst>
          </p:cNvPr>
          <p:cNvSpPr>
            <a:spLocks noChangeArrowheads="1"/>
          </p:cNvSpPr>
          <p:nvPr/>
        </p:nvSpPr>
        <p:spPr bwMode="auto">
          <a:xfrm>
            <a:off x="369025" y="1640371"/>
            <a:ext cx="3005951" cy="400110"/>
          </a:xfrm>
          <a:prstGeom prst="rect">
            <a:avLst/>
          </a:prstGeom>
          <a:noFill/>
        </p:spPr>
        <p:txBody>
          <a:bodyPr wrap="square">
            <a:spAutoFit/>
          </a:bodyPr>
          <a:lstStyle/>
          <a:p>
            <a:r>
              <a:rPr lang="zh-CN" altLang="zh-CN" sz="2000" kern="100" dirty="0">
                <a:latin typeface="Times New Roman" panose="02020603050405020304" pitchFamily="18" charset="0"/>
                <a:ea typeface="楷体" panose="02010609060101010101" pitchFamily="49" charset="-122"/>
                <a:cs typeface="Times New Roman" panose="02020603050405020304" pitchFamily="18" charset="0"/>
              </a:rPr>
              <a:t>计算各个特征的条件熵。</a:t>
            </a:r>
          </a:p>
        </p:txBody>
      </p:sp>
      <p:graphicFrame>
        <p:nvGraphicFramePr>
          <p:cNvPr id="11" name="对象 10">
            <a:extLst>
              <a:ext uri="{FF2B5EF4-FFF2-40B4-BE49-F238E27FC236}">
                <a16:creationId xmlns:a16="http://schemas.microsoft.com/office/drawing/2014/main" id="{100FF217-ACC8-9B56-EE07-C638EE6A42A9}"/>
              </a:ext>
            </a:extLst>
          </p:cNvPr>
          <p:cNvGraphicFramePr>
            <a:graphicFrameLocks noChangeAspect="1"/>
          </p:cNvGraphicFramePr>
          <p:nvPr>
            <p:extLst>
              <p:ext uri="{D42A27DB-BD31-4B8C-83A1-F6EECF244321}">
                <p14:modId xmlns:p14="http://schemas.microsoft.com/office/powerpoint/2010/main" val="2463666264"/>
              </p:ext>
            </p:extLst>
          </p:nvPr>
        </p:nvGraphicFramePr>
        <p:xfrm>
          <a:off x="2613177" y="1967543"/>
          <a:ext cx="6015687" cy="644218"/>
        </p:xfrm>
        <a:graphic>
          <a:graphicData uri="http://schemas.openxmlformats.org/presentationml/2006/ole">
            <mc:AlternateContent xmlns:mc="http://schemas.openxmlformats.org/markup-compatibility/2006">
              <mc:Choice xmlns:v="urn:schemas-microsoft-com:vml" Requires="v">
                <p:oleObj name="Equation" r:id="rId5" imgW="3201921" imgH="343627" progId="Equation.DSMT4">
                  <p:embed/>
                </p:oleObj>
              </mc:Choice>
              <mc:Fallback>
                <p:oleObj name="Equation" r:id="rId5" imgW="3201921" imgH="343627" progId="Equation.DSMT4">
                  <p:embed/>
                  <p:pic>
                    <p:nvPicPr>
                      <p:cNvPr id="0" name=""/>
                      <p:cNvPicPr/>
                      <p:nvPr/>
                    </p:nvPicPr>
                    <p:blipFill>
                      <a:blip r:embed="rId6"/>
                      <a:stretch>
                        <a:fillRect/>
                      </a:stretch>
                    </p:blipFill>
                    <p:spPr>
                      <a:xfrm>
                        <a:off x="2613177" y="1967543"/>
                        <a:ext cx="6015687" cy="644218"/>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78A06DEB-3B63-4510-3A0B-BF83675DFFDE}"/>
              </a:ext>
            </a:extLst>
          </p:cNvPr>
          <p:cNvGraphicFramePr>
            <a:graphicFrameLocks noChangeAspect="1"/>
          </p:cNvGraphicFramePr>
          <p:nvPr>
            <p:extLst>
              <p:ext uri="{D42A27DB-BD31-4B8C-83A1-F6EECF244321}">
                <p14:modId xmlns:p14="http://schemas.microsoft.com/office/powerpoint/2010/main" val="2900582175"/>
              </p:ext>
            </p:extLst>
          </p:nvPr>
        </p:nvGraphicFramePr>
        <p:xfrm>
          <a:off x="2613177" y="2499364"/>
          <a:ext cx="6373586" cy="644218"/>
        </p:xfrm>
        <a:graphic>
          <a:graphicData uri="http://schemas.openxmlformats.org/presentationml/2006/ole">
            <mc:AlternateContent xmlns:mc="http://schemas.openxmlformats.org/markup-compatibility/2006">
              <mc:Choice xmlns:v="urn:schemas-microsoft-com:vml" Requires="v">
                <p:oleObj name="Equation" r:id="rId7" imgW="3392255" imgH="343627" progId="Equation.DSMT4">
                  <p:embed/>
                </p:oleObj>
              </mc:Choice>
              <mc:Fallback>
                <p:oleObj name="Equation" r:id="rId7" imgW="3392255" imgH="343627" progId="Equation.DSMT4">
                  <p:embed/>
                  <p:pic>
                    <p:nvPicPr>
                      <p:cNvPr id="0" name=""/>
                      <p:cNvPicPr/>
                      <p:nvPr/>
                    </p:nvPicPr>
                    <p:blipFill>
                      <a:blip r:embed="rId8"/>
                      <a:stretch>
                        <a:fillRect/>
                      </a:stretch>
                    </p:blipFill>
                    <p:spPr>
                      <a:xfrm>
                        <a:off x="2613177" y="2499364"/>
                        <a:ext cx="6373586" cy="644218"/>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69BF7A0E-079F-21CF-AA1A-B0BE70BC8F37}"/>
              </a:ext>
            </a:extLst>
          </p:cNvPr>
          <p:cNvGraphicFramePr>
            <a:graphicFrameLocks noChangeAspect="1"/>
          </p:cNvGraphicFramePr>
          <p:nvPr>
            <p:extLst>
              <p:ext uri="{D42A27DB-BD31-4B8C-83A1-F6EECF244321}">
                <p14:modId xmlns:p14="http://schemas.microsoft.com/office/powerpoint/2010/main" val="2197781173"/>
              </p:ext>
            </p:extLst>
          </p:nvPr>
        </p:nvGraphicFramePr>
        <p:xfrm>
          <a:off x="2613177" y="3031185"/>
          <a:ext cx="6373586" cy="644218"/>
        </p:xfrm>
        <a:graphic>
          <a:graphicData uri="http://schemas.openxmlformats.org/presentationml/2006/ole">
            <mc:AlternateContent xmlns:mc="http://schemas.openxmlformats.org/markup-compatibility/2006">
              <mc:Choice xmlns:v="urn:schemas-microsoft-com:vml" Requires="v">
                <p:oleObj name="Equation" r:id="rId9" imgW="3392255" imgH="343627" progId="Equation.DSMT4">
                  <p:embed/>
                </p:oleObj>
              </mc:Choice>
              <mc:Fallback>
                <p:oleObj name="Equation" r:id="rId9" imgW="3392255" imgH="343627" progId="Equation.DSMT4">
                  <p:embed/>
                  <p:pic>
                    <p:nvPicPr>
                      <p:cNvPr id="0" name=""/>
                      <p:cNvPicPr/>
                      <p:nvPr/>
                    </p:nvPicPr>
                    <p:blipFill>
                      <a:blip r:embed="rId10"/>
                      <a:stretch>
                        <a:fillRect/>
                      </a:stretch>
                    </p:blipFill>
                    <p:spPr>
                      <a:xfrm>
                        <a:off x="2613177" y="3031185"/>
                        <a:ext cx="6373586" cy="644218"/>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8A664A6C-C942-CDE1-B813-A2D3212A633C}"/>
              </a:ext>
            </a:extLst>
          </p:cNvPr>
          <p:cNvGraphicFramePr>
            <a:graphicFrameLocks noChangeAspect="1"/>
          </p:cNvGraphicFramePr>
          <p:nvPr>
            <p:extLst>
              <p:ext uri="{D42A27DB-BD31-4B8C-83A1-F6EECF244321}">
                <p14:modId xmlns:p14="http://schemas.microsoft.com/office/powerpoint/2010/main" val="1164350606"/>
              </p:ext>
            </p:extLst>
          </p:nvPr>
        </p:nvGraphicFramePr>
        <p:xfrm>
          <a:off x="2613177" y="3563006"/>
          <a:ext cx="5356556" cy="644218"/>
        </p:xfrm>
        <a:graphic>
          <a:graphicData uri="http://schemas.openxmlformats.org/presentationml/2006/ole">
            <mc:AlternateContent xmlns:mc="http://schemas.openxmlformats.org/markup-compatibility/2006">
              <mc:Choice xmlns:v="urn:schemas-microsoft-com:vml" Requires="v">
                <p:oleObj name="Equation" r:id="rId11" imgW="2850701" imgH="343627" progId="Equation.DSMT4">
                  <p:embed/>
                </p:oleObj>
              </mc:Choice>
              <mc:Fallback>
                <p:oleObj name="Equation" r:id="rId11" imgW="2850701" imgH="343627" progId="Equation.DSMT4">
                  <p:embed/>
                  <p:pic>
                    <p:nvPicPr>
                      <p:cNvPr id="0" name=""/>
                      <p:cNvPicPr/>
                      <p:nvPr/>
                    </p:nvPicPr>
                    <p:blipFill>
                      <a:blip r:embed="rId12"/>
                      <a:stretch>
                        <a:fillRect/>
                      </a:stretch>
                    </p:blipFill>
                    <p:spPr>
                      <a:xfrm>
                        <a:off x="2613177" y="3563006"/>
                        <a:ext cx="5356556" cy="644218"/>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95B2DD95-AC3E-EAE6-F815-80BC381128FF}"/>
              </a:ext>
            </a:extLst>
          </p:cNvPr>
          <p:cNvGraphicFramePr>
            <a:graphicFrameLocks noChangeAspect="1"/>
          </p:cNvGraphicFramePr>
          <p:nvPr>
            <p:extLst>
              <p:ext uri="{D42A27DB-BD31-4B8C-83A1-F6EECF244321}">
                <p14:modId xmlns:p14="http://schemas.microsoft.com/office/powerpoint/2010/main" val="1091158009"/>
              </p:ext>
            </p:extLst>
          </p:nvPr>
        </p:nvGraphicFramePr>
        <p:xfrm>
          <a:off x="2613177" y="4094827"/>
          <a:ext cx="5926214" cy="644218"/>
        </p:xfrm>
        <a:graphic>
          <a:graphicData uri="http://schemas.openxmlformats.org/presentationml/2006/ole">
            <mc:AlternateContent xmlns:mc="http://schemas.openxmlformats.org/markup-compatibility/2006">
              <mc:Choice xmlns:v="urn:schemas-microsoft-com:vml" Requires="v">
                <p:oleObj name="Equation" r:id="rId13" imgW="3154517" imgH="343627" progId="Equation.DSMT4">
                  <p:embed/>
                </p:oleObj>
              </mc:Choice>
              <mc:Fallback>
                <p:oleObj name="Equation" r:id="rId13" imgW="3154517" imgH="343627" progId="Equation.DSMT4">
                  <p:embed/>
                  <p:pic>
                    <p:nvPicPr>
                      <p:cNvPr id="0" name=""/>
                      <p:cNvPicPr/>
                      <p:nvPr/>
                    </p:nvPicPr>
                    <p:blipFill>
                      <a:blip r:embed="rId14"/>
                      <a:stretch>
                        <a:fillRect/>
                      </a:stretch>
                    </p:blipFill>
                    <p:spPr>
                      <a:xfrm>
                        <a:off x="2613177" y="4094827"/>
                        <a:ext cx="5926214" cy="644218"/>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AA70114E-3393-0608-B218-54047FFBEF37}"/>
              </a:ext>
            </a:extLst>
          </p:cNvPr>
          <p:cNvGraphicFramePr>
            <a:graphicFrameLocks noChangeAspect="1"/>
          </p:cNvGraphicFramePr>
          <p:nvPr>
            <p:extLst>
              <p:ext uri="{D42A27DB-BD31-4B8C-83A1-F6EECF244321}">
                <p14:modId xmlns:p14="http://schemas.microsoft.com/office/powerpoint/2010/main" val="2235921669"/>
              </p:ext>
            </p:extLst>
          </p:nvPr>
        </p:nvGraphicFramePr>
        <p:xfrm>
          <a:off x="2613177" y="4626649"/>
          <a:ext cx="6710887" cy="686016"/>
        </p:xfrm>
        <a:graphic>
          <a:graphicData uri="http://schemas.openxmlformats.org/presentationml/2006/ole">
            <mc:AlternateContent xmlns:mc="http://schemas.openxmlformats.org/markup-compatibility/2006">
              <mc:Choice xmlns:v="urn:schemas-microsoft-com:vml" Requires="v">
                <p:oleObj name="Equation" r:id="rId15" imgW="3354188" imgH="343627" progId="Equation.DSMT4">
                  <p:embed/>
                </p:oleObj>
              </mc:Choice>
              <mc:Fallback>
                <p:oleObj name="Equation" r:id="rId15" imgW="3354188" imgH="343627" progId="Equation.DSMT4">
                  <p:embed/>
                  <p:pic>
                    <p:nvPicPr>
                      <p:cNvPr id="0" name=""/>
                      <p:cNvPicPr/>
                      <p:nvPr/>
                    </p:nvPicPr>
                    <p:blipFill>
                      <a:blip r:embed="rId16"/>
                      <a:stretch>
                        <a:fillRect/>
                      </a:stretch>
                    </p:blipFill>
                    <p:spPr>
                      <a:xfrm>
                        <a:off x="2613177" y="4626649"/>
                        <a:ext cx="6710887" cy="686016"/>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E1B1B651-F36D-232A-D4B9-BDBB4688EEED}"/>
              </a:ext>
            </a:extLst>
          </p:cNvPr>
          <p:cNvGraphicFramePr>
            <a:graphicFrameLocks noChangeAspect="1"/>
          </p:cNvGraphicFramePr>
          <p:nvPr>
            <p:extLst>
              <p:ext uri="{D42A27DB-BD31-4B8C-83A1-F6EECF244321}">
                <p14:modId xmlns:p14="http://schemas.microsoft.com/office/powerpoint/2010/main" val="4265393020"/>
              </p:ext>
            </p:extLst>
          </p:nvPr>
        </p:nvGraphicFramePr>
        <p:xfrm>
          <a:off x="1967695" y="5692607"/>
          <a:ext cx="6973903" cy="352677"/>
        </p:xfrm>
        <a:graphic>
          <a:graphicData uri="http://schemas.openxmlformats.org/presentationml/2006/ole">
            <mc:AlternateContent xmlns:mc="http://schemas.openxmlformats.org/markup-compatibility/2006">
              <mc:Choice xmlns:v="urn:schemas-microsoft-com:vml" Requires="v">
                <p:oleObj name="Equation" r:id="rId17" imgW="3886200" imgH="203200" progId="Equation.DSMT4">
                  <p:embed/>
                </p:oleObj>
              </mc:Choice>
              <mc:Fallback>
                <p:oleObj name="Equation" r:id="rId17" imgW="3886200" imgH="203200" progId="Equation.DSMT4">
                  <p:embed/>
                  <p:pic>
                    <p:nvPicPr>
                      <p:cNvPr id="0" name="Object 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67695" y="5692607"/>
                        <a:ext cx="6973903" cy="352677"/>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C96C24A8-2A66-D867-5B01-4493CD51E9BA}"/>
              </a:ext>
            </a:extLst>
          </p:cNvPr>
          <p:cNvGraphicFramePr>
            <a:graphicFrameLocks noChangeAspect="1"/>
          </p:cNvGraphicFramePr>
          <p:nvPr>
            <p:extLst>
              <p:ext uri="{D42A27DB-BD31-4B8C-83A1-F6EECF244321}">
                <p14:modId xmlns:p14="http://schemas.microsoft.com/office/powerpoint/2010/main" val="2210188001"/>
              </p:ext>
            </p:extLst>
          </p:nvPr>
        </p:nvGraphicFramePr>
        <p:xfrm>
          <a:off x="1967695" y="6118057"/>
          <a:ext cx="7861284" cy="352677"/>
        </p:xfrm>
        <a:graphic>
          <a:graphicData uri="http://schemas.openxmlformats.org/presentationml/2006/ole">
            <mc:AlternateContent xmlns:mc="http://schemas.openxmlformats.org/markup-compatibility/2006">
              <mc:Choice xmlns:v="urn:schemas-microsoft-com:vml" Requires="v">
                <p:oleObj name="Equation" r:id="rId19" imgW="4381500" imgH="203200" progId="Equation.DSMT4">
                  <p:embed/>
                </p:oleObj>
              </mc:Choice>
              <mc:Fallback>
                <p:oleObj name="Equation" r:id="rId19" imgW="4381500" imgH="203200" progId="Equation.DSMT4">
                  <p:embed/>
                  <p:pic>
                    <p:nvPicPr>
                      <p:cNvPr id="0" name="Object 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67695" y="6118057"/>
                        <a:ext cx="7861284" cy="352677"/>
                      </a:xfrm>
                      <a:prstGeom prst="rect">
                        <a:avLst/>
                      </a:prstGeom>
                      <a:noFill/>
                    </p:spPr>
                  </p:pic>
                </p:oleObj>
              </mc:Fallback>
            </mc:AlternateContent>
          </a:graphicData>
        </a:graphic>
      </p:graphicFrame>
      <p:graphicFrame>
        <p:nvGraphicFramePr>
          <p:cNvPr id="22" name="对象 21">
            <a:extLst>
              <a:ext uri="{FF2B5EF4-FFF2-40B4-BE49-F238E27FC236}">
                <a16:creationId xmlns:a16="http://schemas.microsoft.com/office/drawing/2014/main" id="{9A26E155-866C-F7FB-5E22-FC2CEC4EE026}"/>
              </a:ext>
            </a:extLst>
          </p:cNvPr>
          <p:cNvGraphicFramePr>
            <a:graphicFrameLocks noChangeAspect="1"/>
          </p:cNvGraphicFramePr>
          <p:nvPr>
            <p:extLst>
              <p:ext uri="{D42A27DB-BD31-4B8C-83A1-F6EECF244321}">
                <p14:modId xmlns:p14="http://schemas.microsoft.com/office/powerpoint/2010/main" val="2273285312"/>
              </p:ext>
            </p:extLst>
          </p:nvPr>
        </p:nvGraphicFramePr>
        <p:xfrm>
          <a:off x="1967695" y="6543507"/>
          <a:ext cx="6518836" cy="352677"/>
        </p:xfrm>
        <a:graphic>
          <a:graphicData uri="http://schemas.openxmlformats.org/presentationml/2006/ole">
            <mc:AlternateContent xmlns:mc="http://schemas.openxmlformats.org/markup-compatibility/2006">
              <mc:Choice xmlns:v="urn:schemas-microsoft-com:vml" Requires="v">
                <p:oleObj name="Equation" r:id="rId21" imgW="3632200" imgH="203200" progId="Equation.DSMT4">
                  <p:embed/>
                </p:oleObj>
              </mc:Choice>
              <mc:Fallback>
                <p:oleObj name="Equation" r:id="rId21" imgW="3632200" imgH="203200" progId="Equation.DSMT4">
                  <p:embed/>
                  <p:pic>
                    <p:nvPicPr>
                      <p:cNvPr id="0" name="Object 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67695" y="6543507"/>
                        <a:ext cx="6518836" cy="352677"/>
                      </a:xfrm>
                      <a:prstGeom prst="rect">
                        <a:avLst/>
                      </a:prstGeom>
                      <a:noFill/>
                    </p:spPr>
                  </p:pic>
                </p:oleObj>
              </mc:Fallback>
            </mc:AlternateContent>
          </a:graphicData>
        </a:graphic>
      </p:graphicFrame>
      <p:sp>
        <p:nvSpPr>
          <p:cNvPr id="25" name="Rectangle 9">
            <a:extLst>
              <a:ext uri="{FF2B5EF4-FFF2-40B4-BE49-F238E27FC236}">
                <a16:creationId xmlns:a16="http://schemas.microsoft.com/office/drawing/2014/main" id="{CFBD37FA-27E3-E698-A2ED-E5E01855397E}"/>
              </a:ext>
            </a:extLst>
          </p:cNvPr>
          <p:cNvSpPr>
            <a:spLocks noChangeArrowheads="1"/>
          </p:cNvSpPr>
          <p:nvPr/>
        </p:nvSpPr>
        <p:spPr bwMode="auto">
          <a:xfrm>
            <a:off x="729205" y="101858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3">
            <a:extLst>
              <a:ext uri="{FF2B5EF4-FFF2-40B4-BE49-F238E27FC236}">
                <a16:creationId xmlns:a16="http://schemas.microsoft.com/office/drawing/2014/main" id="{A648A154-A55D-B288-14D8-E3024B116FB4}"/>
              </a:ext>
            </a:extLst>
          </p:cNvPr>
          <p:cNvSpPr>
            <a:spLocks noChangeArrowheads="1"/>
          </p:cNvSpPr>
          <p:nvPr/>
        </p:nvSpPr>
        <p:spPr bwMode="auto">
          <a:xfrm>
            <a:off x="320025" y="5206111"/>
            <a:ext cx="3005951" cy="400110"/>
          </a:xfrm>
          <a:prstGeom prst="rect">
            <a:avLst/>
          </a:prstGeom>
          <a:noFill/>
        </p:spPr>
        <p:txBody>
          <a:bodyPr wrap="square">
            <a:spAutoFit/>
          </a:bodyPr>
          <a:lstStyle/>
          <a:p>
            <a:r>
              <a:rPr lang="zh-CN" altLang="zh-CN" sz="2000" kern="100" dirty="0">
                <a:latin typeface="Times New Roman" panose="02020603050405020304" pitchFamily="18" charset="0"/>
                <a:ea typeface="楷体" panose="02010609060101010101" pitchFamily="49" charset="-122"/>
                <a:cs typeface="Times New Roman" panose="02020603050405020304" pitchFamily="18" charset="0"/>
              </a:rPr>
              <a:t>计算各个特征的</a:t>
            </a: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信息增益</a:t>
            </a:r>
            <a:r>
              <a:rPr lang="zh-CN" altLang="zh-CN" sz="2000" kern="100" dirty="0">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12019735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ABB58-53D7-D175-A616-B882C93F31B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1227CC39-1809-59C2-B572-C0417F6A0B93}"/>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C4.5</a:t>
            </a:r>
            <a:r>
              <a:rPr lang="zh-CN" altLang="en-US" sz="3200" dirty="0">
                <a:solidFill>
                  <a:srgbClr val="FFFF00"/>
                </a:solidFill>
                <a:latin typeface="华光综艺_CNKI" panose="02000500000000000000" pitchFamily="2" charset="-122"/>
                <a:ea typeface="华光综艺_CNKI" panose="02000500000000000000" pitchFamily="2" charset="-122"/>
              </a:rPr>
              <a:t>决策树</a:t>
            </a:r>
          </a:p>
        </p:txBody>
      </p:sp>
      <p:sp>
        <p:nvSpPr>
          <p:cNvPr id="15" name="Rectangle 3">
            <a:extLst>
              <a:ext uri="{FF2B5EF4-FFF2-40B4-BE49-F238E27FC236}">
                <a16:creationId xmlns:a16="http://schemas.microsoft.com/office/drawing/2014/main" id="{6804B26C-EB75-F90C-DFA0-BBED52E7898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文本框 5">
            <a:extLst>
              <a:ext uri="{FF2B5EF4-FFF2-40B4-BE49-F238E27FC236}">
                <a16:creationId xmlns:a16="http://schemas.microsoft.com/office/drawing/2014/main" id="{7B648947-6528-C0AC-92FC-35F6440BD552}"/>
              </a:ext>
            </a:extLst>
          </p:cNvPr>
          <p:cNvSpPr txBox="1"/>
          <p:nvPr/>
        </p:nvSpPr>
        <p:spPr>
          <a:xfrm>
            <a:off x="933926" y="1513674"/>
            <a:ext cx="10324147" cy="4524315"/>
          </a:xfrm>
          <a:prstGeom prst="rect">
            <a:avLst/>
          </a:prstGeom>
          <a:noFill/>
        </p:spPr>
        <p:txBody>
          <a:bodyPr wrap="square">
            <a:spAutoFit/>
          </a:bodyPr>
          <a:lstStyle/>
          <a:p>
            <a:r>
              <a:rPr lang="en-US" altLang="en-US" sz="3200" dirty="0">
                <a:latin typeface="微软雅黑" panose="020B0503020204020204" pitchFamily="34" charset="-122"/>
                <a:ea typeface="微软雅黑" panose="020B0503020204020204" pitchFamily="34" charset="-122"/>
              </a:rPr>
              <a:t>C4.5</a:t>
            </a:r>
            <a:r>
              <a:rPr lang="zh-CN" altLang="en-US" sz="3200" dirty="0">
                <a:latin typeface="微软雅黑" panose="020B0503020204020204" pitchFamily="34" charset="-122"/>
                <a:ea typeface="微软雅黑" panose="020B0503020204020204" pitchFamily="34" charset="-122"/>
              </a:rPr>
              <a:t>算法是从</a:t>
            </a:r>
            <a:r>
              <a:rPr lang="en-US" altLang="en-US" sz="3200" dirty="0">
                <a:latin typeface="微软雅黑" panose="020B0503020204020204" pitchFamily="34" charset="-122"/>
                <a:ea typeface="微软雅黑" panose="020B0503020204020204" pitchFamily="34" charset="-122"/>
              </a:rPr>
              <a:t>ID3</a:t>
            </a:r>
            <a:r>
              <a:rPr lang="zh-CN" altLang="en-US" sz="3200" dirty="0">
                <a:latin typeface="微软雅黑" panose="020B0503020204020204" pitchFamily="34" charset="-122"/>
                <a:ea typeface="微软雅黑" panose="020B0503020204020204" pitchFamily="34" charset="-122"/>
              </a:rPr>
              <a:t>算法演变而来，除了拥有</a:t>
            </a:r>
            <a:r>
              <a:rPr lang="en-US" altLang="en-US" sz="3200" dirty="0">
                <a:latin typeface="微软雅黑" panose="020B0503020204020204" pitchFamily="34" charset="-122"/>
                <a:ea typeface="微软雅黑" panose="020B0503020204020204" pitchFamily="34" charset="-122"/>
              </a:rPr>
              <a:t>ID3</a:t>
            </a:r>
            <a:r>
              <a:rPr lang="zh-CN" altLang="en-US" sz="3200" dirty="0">
                <a:latin typeface="微软雅黑" panose="020B0503020204020204" pitchFamily="34" charset="-122"/>
                <a:ea typeface="微软雅黑" panose="020B0503020204020204" pitchFamily="34" charset="-122"/>
              </a:rPr>
              <a:t>算法的功能外，</a:t>
            </a:r>
            <a:r>
              <a:rPr lang="en-US" altLang="en-US" sz="3200" dirty="0">
                <a:latin typeface="微软雅黑" panose="020B0503020204020204" pitchFamily="34" charset="-122"/>
                <a:ea typeface="微软雅黑" panose="020B0503020204020204" pitchFamily="34" charset="-122"/>
              </a:rPr>
              <a:t>C4.5</a:t>
            </a:r>
            <a:r>
              <a:rPr lang="zh-CN" altLang="en-US" sz="3200" dirty="0">
                <a:latin typeface="微软雅黑" panose="020B0503020204020204" pitchFamily="34" charset="-122"/>
                <a:ea typeface="微软雅黑" panose="020B0503020204020204" pitchFamily="34" charset="-122"/>
              </a:rPr>
              <a:t>算法引入了新的方法和增加了新的功能：</a:t>
            </a:r>
            <a:endParaRPr lang="en-US" altLang="zh-CN" sz="3200" dirty="0">
              <a:latin typeface="微软雅黑" panose="020B0503020204020204" pitchFamily="34" charset="-122"/>
              <a:ea typeface="微软雅黑" panose="020B0503020204020204" pitchFamily="34" charset="-122"/>
            </a:endParaRPr>
          </a:p>
          <a:p>
            <a:endParaRPr lang="zh-CN" altLang="en-US" sz="3200" dirty="0">
              <a:latin typeface="微软雅黑" panose="020B0503020204020204" pitchFamily="34" charset="-122"/>
              <a:ea typeface="微软雅黑" panose="020B0503020204020204" pitchFamily="34" charset="-122"/>
            </a:endParaRPr>
          </a:p>
          <a:p>
            <a:pPr marL="914400" lvl="1" indent="-457200">
              <a:buFont typeface="Arial" panose="020B0604020202020204" pitchFamily="34" charset="0"/>
              <a:buChar char="•"/>
            </a:pPr>
            <a:r>
              <a:rPr lang="zh-CN" altLang="en-US" sz="3200" dirty="0">
                <a:latin typeface="华文新魏" panose="02010800040101010101" pitchFamily="2" charset="-122"/>
                <a:ea typeface="华文新魏" panose="02010800040101010101" pitchFamily="2" charset="-122"/>
              </a:rPr>
              <a:t>用信息增益</a:t>
            </a:r>
            <a:r>
              <a:rPr lang="zh-CN" altLang="en-US" sz="3200" dirty="0">
                <a:solidFill>
                  <a:srgbClr val="FF0000"/>
                </a:solidFill>
                <a:latin typeface="华文新魏" panose="02010800040101010101" pitchFamily="2" charset="-122"/>
                <a:ea typeface="华文新魏" panose="02010800040101010101" pitchFamily="2" charset="-122"/>
              </a:rPr>
              <a:t>比例</a:t>
            </a:r>
            <a:r>
              <a:rPr lang="zh-CN" altLang="en-US" sz="3200" dirty="0">
                <a:latin typeface="华文新魏" panose="02010800040101010101" pitchFamily="2" charset="-122"/>
                <a:ea typeface="华文新魏" panose="02010800040101010101" pitchFamily="2" charset="-122"/>
              </a:rPr>
              <a:t>的概念；</a:t>
            </a:r>
          </a:p>
          <a:p>
            <a:pPr marL="914400" lvl="1" indent="-457200">
              <a:buFont typeface="Arial" panose="020B0604020202020204" pitchFamily="34" charset="0"/>
              <a:buChar char="•"/>
            </a:pPr>
            <a:r>
              <a:rPr lang="zh-CN" altLang="en-US" sz="3200" dirty="0">
                <a:latin typeface="华文新魏" panose="02010800040101010101" pitchFamily="2" charset="-122"/>
                <a:ea typeface="华文新魏" panose="02010800040101010101" pitchFamily="2" charset="-122"/>
              </a:rPr>
              <a:t>合并具有</a:t>
            </a:r>
            <a:r>
              <a:rPr lang="zh-CN" altLang="en-US" sz="3200" dirty="0">
                <a:solidFill>
                  <a:srgbClr val="FF0000"/>
                </a:solidFill>
                <a:latin typeface="华文新魏" panose="02010800040101010101" pitchFamily="2" charset="-122"/>
                <a:ea typeface="华文新魏" panose="02010800040101010101" pitchFamily="2" charset="-122"/>
              </a:rPr>
              <a:t>连续属性</a:t>
            </a:r>
            <a:r>
              <a:rPr lang="zh-CN" altLang="en-US" sz="3200" dirty="0">
                <a:latin typeface="华文新魏" panose="02010800040101010101" pitchFamily="2" charset="-122"/>
                <a:ea typeface="华文新魏" panose="02010800040101010101" pitchFamily="2" charset="-122"/>
              </a:rPr>
              <a:t>的值；</a:t>
            </a:r>
          </a:p>
          <a:p>
            <a:pPr marL="914400" lvl="1" indent="-457200">
              <a:buFont typeface="Arial" panose="020B0604020202020204" pitchFamily="34" charset="0"/>
              <a:buChar char="•"/>
            </a:pPr>
            <a:r>
              <a:rPr lang="zh-CN" altLang="en-US" sz="3200" dirty="0">
                <a:latin typeface="华文新魏" panose="02010800040101010101" pitchFamily="2" charset="-122"/>
                <a:ea typeface="华文新魏" panose="02010800040101010101" pitchFamily="2" charset="-122"/>
              </a:rPr>
              <a:t>可以处理具有缺少属性值的训练样本；</a:t>
            </a:r>
          </a:p>
          <a:p>
            <a:pPr marL="914400" lvl="1" indent="-457200">
              <a:buFont typeface="Arial" panose="020B0604020202020204" pitchFamily="34" charset="0"/>
              <a:buChar char="•"/>
            </a:pPr>
            <a:r>
              <a:rPr lang="zh-CN" altLang="en-US" sz="3200" dirty="0">
                <a:latin typeface="华文新魏" panose="02010800040101010101" pitchFamily="2" charset="-122"/>
                <a:ea typeface="华文新魏" panose="02010800040101010101" pitchFamily="2" charset="-122"/>
              </a:rPr>
              <a:t>通过使用不同的修剪技术以避免树的过度拟合；</a:t>
            </a:r>
          </a:p>
          <a:p>
            <a:pPr marL="914400" lvl="1" indent="-457200">
              <a:buFont typeface="Arial" panose="020B0604020202020204" pitchFamily="34" charset="0"/>
              <a:buChar char="•"/>
            </a:pPr>
            <a:r>
              <a:rPr lang="en-US" altLang="en-US" sz="3200" dirty="0">
                <a:latin typeface="华文新魏" panose="02010800040101010101" pitchFamily="2" charset="-122"/>
                <a:ea typeface="华文新魏" panose="02010800040101010101" pitchFamily="2" charset="-122"/>
              </a:rPr>
              <a:t>K</a:t>
            </a:r>
            <a:r>
              <a:rPr lang="zh-CN" altLang="en-US" sz="3200" dirty="0">
                <a:latin typeface="华文新魏" panose="02010800040101010101" pitchFamily="2" charset="-122"/>
                <a:ea typeface="华文新魏" panose="02010800040101010101" pitchFamily="2" charset="-122"/>
              </a:rPr>
              <a:t>交叉验证；</a:t>
            </a:r>
          </a:p>
          <a:p>
            <a:pPr marL="914400" lvl="1" indent="-457200">
              <a:buFont typeface="Arial" panose="020B0604020202020204" pitchFamily="34" charset="0"/>
              <a:buChar char="•"/>
            </a:pPr>
            <a:r>
              <a:rPr lang="zh-CN" altLang="en-US" sz="3200" dirty="0">
                <a:latin typeface="华文新魏" panose="02010800040101010101" pitchFamily="2" charset="-122"/>
                <a:ea typeface="华文新魏" panose="02010800040101010101" pitchFamily="2" charset="-122"/>
              </a:rPr>
              <a:t>规则的产生方式等。</a:t>
            </a:r>
          </a:p>
        </p:txBody>
      </p:sp>
    </p:spTree>
    <p:extLst>
      <p:ext uri="{BB962C8B-B14F-4D97-AF65-F5344CB8AC3E}">
        <p14:creationId xmlns:p14="http://schemas.microsoft.com/office/powerpoint/2010/main" val="38423716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3F423-EB1A-0D8B-B00B-59990990C10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9919E2A5-47DD-C251-B3C4-2DE39E353C4D}"/>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C4.5</a:t>
            </a:r>
            <a:r>
              <a:rPr lang="zh-CN" altLang="en-US" sz="3200" dirty="0">
                <a:solidFill>
                  <a:srgbClr val="FFFF00"/>
                </a:solidFill>
                <a:latin typeface="华光综艺_CNKI" panose="02000500000000000000" pitchFamily="2" charset="-122"/>
                <a:ea typeface="华光综艺_CNKI" panose="02000500000000000000" pitchFamily="2" charset="-122"/>
              </a:rPr>
              <a:t>决策树</a:t>
            </a:r>
          </a:p>
        </p:txBody>
      </p:sp>
      <p:sp>
        <p:nvSpPr>
          <p:cNvPr id="15" name="Rectangle 3">
            <a:extLst>
              <a:ext uri="{FF2B5EF4-FFF2-40B4-BE49-F238E27FC236}">
                <a16:creationId xmlns:a16="http://schemas.microsoft.com/office/drawing/2014/main" id="{5227B536-B56B-836A-6855-D1AA936B703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文本框 4">
            <a:extLst>
              <a:ext uri="{FF2B5EF4-FFF2-40B4-BE49-F238E27FC236}">
                <a16:creationId xmlns:a16="http://schemas.microsoft.com/office/drawing/2014/main" id="{8AE00807-EBD8-3692-E620-43EA2CA9E1F3}"/>
              </a:ext>
            </a:extLst>
          </p:cNvPr>
          <p:cNvSpPr txBox="1"/>
          <p:nvPr/>
        </p:nvSpPr>
        <p:spPr>
          <a:xfrm>
            <a:off x="995423" y="1803467"/>
            <a:ext cx="10017888" cy="3970318"/>
          </a:xfrm>
          <a:prstGeom prst="rect">
            <a:avLst/>
          </a:prstGeom>
          <a:noFill/>
        </p:spPr>
        <p:txBody>
          <a:bodyPr wrap="square">
            <a:spAutoFit/>
          </a:bodyPr>
          <a:lstStyle>
            <a:defPPr>
              <a:defRPr lang="zh-CN"/>
            </a:defPPr>
            <a:lvl1pPr>
              <a:defRPr sz="2400">
                <a:latin typeface="微软雅黑" panose="020B0503020204020204" pitchFamily="34" charset="-122"/>
                <a:ea typeface="微软雅黑" panose="020B0503020204020204" pitchFamily="34" charset="-122"/>
              </a:defRPr>
            </a:lvl1pPr>
          </a:lstStyle>
          <a:p>
            <a:r>
              <a:rPr lang="zh-CN" altLang="en-US" sz="2800" dirty="0"/>
              <a:t>信息增益存在一个</a:t>
            </a:r>
            <a:r>
              <a:rPr lang="zh-CN" altLang="en-US" sz="2800" dirty="0">
                <a:solidFill>
                  <a:srgbClr val="FF0000"/>
                </a:solidFill>
              </a:rPr>
              <a:t>内生性的偏置</a:t>
            </a:r>
            <a:r>
              <a:rPr lang="zh-CN" altLang="en-US" sz="2800" dirty="0"/>
              <a:t>，</a:t>
            </a:r>
            <a:r>
              <a:rPr lang="zh-CN" altLang="en-US" sz="2800" dirty="0">
                <a:solidFill>
                  <a:srgbClr val="FF0000"/>
                </a:solidFill>
              </a:rPr>
              <a:t>它更倾向于选择具有较多取值的特征作为划分依据</a:t>
            </a:r>
            <a:r>
              <a:rPr lang="zh-CN" altLang="en-US" sz="2800" dirty="0"/>
              <a:t>。</a:t>
            </a:r>
            <a:endParaRPr lang="en-US" altLang="zh-CN" sz="2800" dirty="0"/>
          </a:p>
          <a:p>
            <a:endParaRPr lang="en-US" altLang="zh-CN" sz="2800" dirty="0"/>
          </a:p>
          <a:p>
            <a:r>
              <a:rPr lang="zh-CN" altLang="en-US" sz="2800" dirty="0"/>
              <a:t>例如，某数据集的特征“</a:t>
            </a:r>
            <a:r>
              <a:rPr lang="en-US" altLang="zh-CN" sz="2800" dirty="0"/>
              <a:t>ID”</a:t>
            </a:r>
            <a:r>
              <a:rPr lang="zh-CN" altLang="en-US" sz="2800" dirty="0"/>
              <a:t>是样本的唯一标识符，那么该特征将有大量不同取值，等于样本的数量。以“</a:t>
            </a:r>
            <a:r>
              <a:rPr lang="en-US" altLang="zh-CN" sz="2800" dirty="0"/>
              <a:t>ID”</a:t>
            </a:r>
            <a:r>
              <a:rPr lang="zh-CN" altLang="en-US" sz="2800" dirty="0"/>
              <a:t>为划分的样本都是纯的，即每个分支中的样本都属于同一类别。这会导致决策树在构建过程中过分依赖于“</a:t>
            </a:r>
            <a:r>
              <a:rPr lang="en-US" altLang="zh-CN" sz="2800" dirty="0"/>
              <a:t>ID”</a:t>
            </a:r>
            <a:r>
              <a:rPr lang="zh-CN" altLang="en-US" sz="2800" dirty="0"/>
              <a:t>特征，而忽略了其他潜在的有用特征，这可能导致模型在未来的预测任务中</a:t>
            </a:r>
            <a:r>
              <a:rPr lang="zh-CN" altLang="en-US" sz="2800" dirty="0">
                <a:solidFill>
                  <a:srgbClr val="FF0000"/>
                </a:solidFill>
              </a:rPr>
              <a:t>过拟合</a:t>
            </a:r>
            <a:r>
              <a:rPr lang="zh-CN" altLang="en-US" sz="2800" dirty="0"/>
              <a:t>，使模型泛化性能下降。</a:t>
            </a:r>
          </a:p>
        </p:txBody>
      </p:sp>
    </p:spTree>
    <p:extLst>
      <p:ext uri="{BB962C8B-B14F-4D97-AF65-F5344CB8AC3E}">
        <p14:creationId xmlns:p14="http://schemas.microsoft.com/office/powerpoint/2010/main" val="406046941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4D975-1322-3CEF-4253-D706C4C8E8B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4FEEFFB-3C6F-547A-4687-CC9CDB194F0B}"/>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C4.5</a:t>
            </a:r>
            <a:r>
              <a:rPr lang="zh-CN" altLang="en-US" sz="3200" dirty="0">
                <a:solidFill>
                  <a:srgbClr val="FFFF00"/>
                </a:solidFill>
                <a:latin typeface="华光综艺_CNKI" panose="02000500000000000000" pitchFamily="2" charset="-122"/>
                <a:ea typeface="华光综艺_CNKI" panose="02000500000000000000" pitchFamily="2" charset="-122"/>
              </a:rPr>
              <a:t>决策树</a:t>
            </a:r>
          </a:p>
        </p:txBody>
      </p:sp>
      <p:sp>
        <p:nvSpPr>
          <p:cNvPr id="15" name="Rectangle 3">
            <a:extLst>
              <a:ext uri="{FF2B5EF4-FFF2-40B4-BE49-F238E27FC236}">
                <a16:creationId xmlns:a16="http://schemas.microsoft.com/office/drawing/2014/main" id="{FC3094BE-834D-CCF2-1242-55C6DDCEF8C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对象 4">
            <a:extLst>
              <a:ext uri="{FF2B5EF4-FFF2-40B4-BE49-F238E27FC236}">
                <a16:creationId xmlns:a16="http://schemas.microsoft.com/office/drawing/2014/main" id="{FE086DFA-6B14-3009-5551-EEBEAFA2631F}"/>
              </a:ext>
            </a:extLst>
          </p:cNvPr>
          <p:cNvGraphicFramePr>
            <a:graphicFrameLocks noChangeAspect="1"/>
          </p:cNvGraphicFramePr>
          <p:nvPr>
            <p:extLst>
              <p:ext uri="{D42A27DB-BD31-4B8C-83A1-F6EECF244321}">
                <p14:modId xmlns:p14="http://schemas.microsoft.com/office/powerpoint/2010/main" val="65241875"/>
              </p:ext>
            </p:extLst>
          </p:nvPr>
        </p:nvGraphicFramePr>
        <p:xfrm>
          <a:off x="9072154" y="1539468"/>
          <a:ext cx="1822064" cy="340265"/>
        </p:xfrm>
        <a:graphic>
          <a:graphicData uri="http://schemas.openxmlformats.org/presentationml/2006/ole">
            <mc:AlternateContent xmlns:mc="http://schemas.openxmlformats.org/markup-compatibility/2006">
              <mc:Choice xmlns:v="urn:schemas-microsoft-com:vml" Requires="v">
                <p:oleObj name="Equation" r:id="rId3" imgW="1066337" imgH="203112" progId="Equation.DSMT4">
                  <p:embed/>
                </p:oleObj>
              </mc:Choice>
              <mc:Fallback>
                <p:oleObj name="Equation" r:id="rId3" imgW="1066337" imgH="203112"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72154" y="1539468"/>
                        <a:ext cx="1822064" cy="340265"/>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3F2CC617-D406-D44B-48AD-B57399757EB5}"/>
              </a:ext>
            </a:extLst>
          </p:cNvPr>
          <p:cNvGraphicFramePr>
            <a:graphicFrameLocks noChangeAspect="1"/>
          </p:cNvGraphicFramePr>
          <p:nvPr>
            <p:extLst>
              <p:ext uri="{D42A27DB-BD31-4B8C-83A1-F6EECF244321}">
                <p14:modId xmlns:p14="http://schemas.microsoft.com/office/powerpoint/2010/main" val="443268691"/>
              </p:ext>
            </p:extLst>
          </p:nvPr>
        </p:nvGraphicFramePr>
        <p:xfrm>
          <a:off x="2025692" y="2077279"/>
          <a:ext cx="1339107" cy="340265"/>
        </p:xfrm>
        <a:graphic>
          <a:graphicData uri="http://schemas.openxmlformats.org/presentationml/2006/ole">
            <mc:AlternateContent xmlns:mc="http://schemas.openxmlformats.org/markup-compatibility/2006">
              <mc:Choice xmlns:v="urn:schemas-microsoft-com:vml" Requires="v">
                <p:oleObj name="Equation" r:id="rId5" imgW="761669" imgH="203112" progId="Equation.DSMT4">
                  <p:embed/>
                </p:oleObj>
              </mc:Choice>
              <mc:Fallback>
                <p:oleObj name="Equation" r:id="rId5" imgW="761669" imgH="203112"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5692" y="2077279"/>
                        <a:ext cx="1339107" cy="340265"/>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592B805E-CA2B-707A-C3C2-E38E9EF196B9}"/>
              </a:ext>
            </a:extLst>
          </p:cNvPr>
          <p:cNvGraphicFramePr>
            <a:graphicFrameLocks noChangeAspect="1"/>
          </p:cNvGraphicFramePr>
          <p:nvPr>
            <p:extLst>
              <p:ext uri="{D42A27DB-BD31-4B8C-83A1-F6EECF244321}">
                <p14:modId xmlns:p14="http://schemas.microsoft.com/office/powerpoint/2010/main" val="1542839600"/>
              </p:ext>
            </p:extLst>
          </p:nvPr>
        </p:nvGraphicFramePr>
        <p:xfrm>
          <a:off x="5868723" y="2049327"/>
          <a:ext cx="812245" cy="417099"/>
        </p:xfrm>
        <a:graphic>
          <a:graphicData uri="http://schemas.openxmlformats.org/presentationml/2006/ole">
            <mc:AlternateContent xmlns:mc="http://schemas.openxmlformats.org/markup-compatibility/2006">
              <mc:Choice xmlns:v="urn:schemas-microsoft-com:vml" Requires="v">
                <p:oleObj name="Equation" r:id="rId7" imgW="469900" imgH="228600" progId="Equation.DSMT4">
                  <p:embed/>
                </p:oleObj>
              </mc:Choice>
              <mc:Fallback>
                <p:oleObj name="Equation" r:id="rId7" imgW="469900" imgH="2286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8723" y="2049327"/>
                        <a:ext cx="812245" cy="417099"/>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C2280659-B258-3430-6C80-7C99CACCDD1F}"/>
              </a:ext>
            </a:extLst>
          </p:cNvPr>
          <p:cNvGraphicFramePr>
            <a:graphicFrameLocks noChangeAspect="1"/>
          </p:cNvGraphicFramePr>
          <p:nvPr>
            <p:extLst>
              <p:ext uri="{D42A27DB-BD31-4B8C-83A1-F6EECF244321}">
                <p14:modId xmlns:p14="http://schemas.microsoft.com/office/powerpoint/2010/main" val="4183145856"/>
              </p:ext>
            </p:extLst>
          </p:nvPr>
        </p:nvGraphicFramePr>
        <p:xfrm>
          <a:off x="3231531" y="2986898"/>
          <a:ext cx="5274383" cy="1175818"/>
        </p:xfrm>
        <a:graphic>
          <a:graphicData uri="http://schemas.openxmlformats.org/presentationml/2006/ole">
            <mc:AlternateContent xmlns:mc="http://schemas.openxmlformats.org/markup-compatibility/2006">
              <mc:Choice xmlns:v="urn:schemas-microsoft-com:vml" Requires="v">
                <p:oleObj name="Equation" r:id="rId9" imgW="1981200" imgH="431800" progId="Equation.DSMT4">
                  <p:embed/>
                </p:oleObj>
              </mc:Choice>
              <mc:Fallback>
                <p:oleObj name="Equation" r:id="rId9" imgW="1981200" imgH="431800" progId="Equation.DSMT4">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31531" y="2986898"/>
                        <a:ext cx="5274383" cy="1175818"/>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AB2532D1-FD08-22D8-92A0-00A70AC7AF2A}"/>
              </a:ext>
            </a:extLst>
          </p:cNvPr>
          <p:cNvGraphicFramePr>
            <a:graphicFrameLocks noChangeAspect="1"/>
          </p:cNvGraphicFramePr>
          <p:nvPr>
            <p:extLst>
              <p:ext uri="{D42A27DB-BD31-4B8C-83A1-F6EECF244321}">
                <p14:modId xmlns:p14="http://schemas.microsoft.com/office/powerpoint/2010/main" val="4137892701"/>
              </p:ext>
            </p:extLst>
          </p:nvPr>
        </p:nvGraphicFramePr>
        <p:xfrm>
          <a:off x="1683876" y="4200390"/>
          <a:ext cx="3095310" cy="790292"/>
        </p:xfrm>
        <a:graphic>
          <a:graphicData uri="http://schemas.openxmlformats.org/presentationml/2006/ole">
            <mc:AlternateContent xmlns:mc="http://schemas.openxmlformats.org/markup-compatibility/2006">
              <mc:Choice xmlns:v="urn:schemas-microsoft-com:vml" Requires="v">
                <p:oleObj name="Equation" r:id="rId11" imgW="1790700" imgH="457200" progId="Equation.DSMT4">
                  <p:embed/>
                </p:oleObj>
              </mc:Choice>
              <mc:Fallback>
                <p:oleObj name="Equation" r:id="rId11" imgW="1790700" imgH="457200" progId="Equation.DSMT4">
                  <p:embed/>
                  <p:pic>
                    <p:nvPicPr>
                      <p:cNvPr id="0" name="Object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83876" y="4200390"/>
                        <a:ext cx="3095310" cy="790292"/>
                      </a:xfrm>
                      <a:prstGeom prst="rect">
                        <a:avLst/>
                      </a:prstGeom>
                      <a:noFill/>
                    </p:spPr>
                  </p:pic>
                </p:oleObj>
              </mc:Fallback>
            </mc:AlternateContent>
          </a:graphicData>
        </a:graphic>
      </p:graphicFrame>
      <p:sp>
        <p:nvSpPr>
          <p:cNvPr id="11" name="Rectangle 6">
            <a:extLst>
              <a:ext uri="{FF2B5EF4-FFF2-40B4-BE49-F238E27FC236}">
                <a16:creationId xmlns:a16="http://schemas.microsoft.com/office/drawing/2014/main" id="{849EA1AD-86DB-DDEC-596E-10D2178006F4}"/>
              </a:ext>
            </a:extLst>
          </p:cNvPr>
          <p:cNvSpPr>
            <a:spLocks noChangeArrowheads="1"/>
          </p:cNvSpPr>
          <p:nvPr/>
        </p:nvSpPr>
        <p:spPr bwMode="auto">
          <a:xfrm>
            <a:off x="625384" y="1433668"/>
            <a:ext cx="107869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信息增益率</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Gain ratio</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特征</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对训练数据集</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的信息增益比                        为</a:t>
            </a:r>
          </a:p>
        </p:txBody>
      </p:sp>
      <p:sp>
        <p:nvSpPr>
          <p:cNvPr id="13" name="Rectangle 8">
            <a:extLst>
              <a:ext uri="{FF2B5EF4-FFF2-40B4-BE49-F238E27FC236}">
                <a16:creationId xmlns:a16="http://schemas.microsoft.com/office/drawing/2014/main" id="{266219A6-BBB5-3154-1F48-BDAD1826A60C}"/>
              </a:ext>
            </a:extLst>
          </p:cNvPr>
          <p:cNvSpPr>
            <a:spLocks noChangeArrowheads="1"/>
          </p:cNvSpPr>
          <p:nvPr/>
        </p:nvSpPr>
        <p:spPr bwMode="auto">
          <a:xfrm>
            <a:off x="2924410" y="2010992"/>
            <a:ext cx="30944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6388" algn="l" defTabSz="914400" rtl="0" eaLnBrk="0" fontAlgn="base" latinLnBrk="0" hangingPunct="0">
              <a:lnSpc>
                <a:spcPct val="100000"/>
              </a:lnSpc>
              <a:spcBef>
                <a:spcPct val="0"/>
              </a:spcBef>
              <a:spcAft>
                <a:spcPct val="0"/>
              </a:spcAft>
              <a:buClrTx/>
              <a:buSzTx/>
              <a:buFontTx/>
              <a:buNone/>
              <a:tabLst/>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与</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关于特征</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的熵</a:t>
            </a:r>
          </a:p>
        </p:txBody>
      </p:sp>
      <p:sp>
        <p:nvSpPr>
          <p:cNvPr id="14" name="Rectangle 9">
            <a:extLst>
              <a:ext uri="{FF2B5EF4-FFF2-40B4-BE49-F238E27FC236}">
                <a16:creationId xmlns:a16="http://schemas.microsoft.com/office/drawing/2014/main" id="{3C29BC5E-25E8-E949-7ED3-A5BF7A168578}"/>
              </a:ext>
            </a:extLst>
          </p:cNvPr>
          <p:cNvSpPr>
            <a:spLocks noChangeArrowheads="1"/>
          </p:cNvSpPr>
          <p:nvPr/>
        </p:nvSpPr>
        <p:spPr bwMode="auto">
          <a:xfrm>
            <a:off x="6620712" y="2025617"/>
            <a:ext cx="264687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之比，其计算为：</a:t>
            </a:r>
          </a:p>
          <a:p>
            <a:pPr eaLnBrk="0" fontAlgn="base" hangingPunct="0">
              <a:spcBef>
                <a:spcPct val="0"/>
              </a:spcBef>
              <a:spcAft>
                <a:spcPct val="0"/>
              </a:spcAft>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	</a:t>
            </a:r>
          </a:p>
        </p:txBody>
      </p:sp>
      <p:sp>
        <p:nvSpPr>
          <p:cNvPr id="17" name="Rectangle 10">
            <a:extLst>
              <a:ext uri="{FF2B5EF4-FFF2-40B4-BE49-F238E27FC236}">
                <a16:creationId xmlns:a16="http://schemas.microsoft.com/office/drawing/2014/main" id="{24E6D988-7B79-A655-5BF5-9C7BBB925086}"/>
              </a:ext>
            </a:extLst>
          </p:cNvPr>
          <p:cNvSpPr>
            <a:spLocks noChangeArrowheads="1"/>
          </p:cNvSpPr>
          <p:nvPr/>
        </p:nvSpPr>
        <p:spPr bwMode="auto">
          <a:xfrm>
            <a:off x="444500" y="3972502"/>
            <a:ext cx="141769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indent="306388" eaLnBrk="0" fontAlgn="base" hangingPunct="0">
              <a:spcBef>
                <a:spcPct val="0"/>
              </a:spcBef>
              <a:spcAft>
                <a:spcPct val="0"/>
              </a:spcAft>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p>
          <a:p>
            <a:pPr indent="306388" eaLnBrk="0" fontAlgn="base" hangingPunct="0">
              <a:spcBef>
                <a:spcPct val="0"/>
              </a:spcBef>
              <a:spcAft>
                <a:spcPct val="0"/>
              </a:spcAft>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其中，</a:t>
            </a:r>
          </a:p>
        </p:txBody>
      </p:sp>
      <p:sp>
        <p:nvSpPr>
          <p:cNvPr id="18" name="Rectangle 11">
            <a:extLst>
              <a:ext uri="{FF2B5EF4-FFF2-40B4-BE49-F238E27FC236}">
                <a16:creationId xmlns:a16="http://schemas.microsoft.com/office/drawing/2014/main" id="{D73153DA-EA3F-85F5-378F-F6A60BD2168F}"/>
              </a:ext>
            </a:extLst>
          </p:cNvPr>
          <p:cNvSpPr>
            <a:spLocks noChangeArrowheads="1"/>
          </p:cNvSpPr>
          <p:nvPr/>
        </p:nvSpPr>
        <p:spPr bwMode="auto">
          <a:xfrm>
            <a:off x="4471628" y="4410590"/>
            <a:ext cx="39488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indent="306388" eaLnBrk="0" fontAlgn="base" hangingPunct="0">
              <a:spcBef>
                <a:spcPct val="0"/>
              </a:spcBef>
              <a:spcAft>
                <a:spcPct val="0"/>
              </a:spcAft>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为特征</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取值的个数。</a:t>
            </a:r>
          </a:p>
        </p:txBody>
      </p:sp>
      <p:sp>
        <p:nvSpPr>
          <p:cNvPr id="24" name="Rectangle 16">
            <a:extLst>
              <a:ext uri="{FF2B5EF4-FFF2-40B4-BE49-F238E27FC236}">
                <a16:creationId xmlns:a16="http://schemas.microsoft.com/office/drawing/2014/main" id="{95109348-F42C-73CC-2E43-A7F32235FDE4}"/>
              </a:ext>
            </a:extLst>
          </p:cNvPr>
          <p:cNvSpPr>
            <a:spLocks noChangeArrowheads="1"/>
          </p:cNvSpPr>
          <p:nvPr/>
        </p:nvSpPr>
        <p:spPr bwMode="auto">
          <a:xfrm>
            <a:off x="320826" y="1976878"/>
            <a:ext cx="31104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6388" algn="l" defTabSz="914400" rtl="0" eaLnBrk="0" fontAlgn="base" latinLnBrk="0" hangingPunct="0">
              <a:lnSpc>
                <a:spcPct val="100000"/>
              </a:lnSpc>
              <a:spcBef>
                <a:spcPct val="0"/>
              </a:spcBef>
              <a:spcAft>
                <a:spcPct val="0"/>
              </a:spcAft>
              <a:buClrTx/>
              <a:buSzTx/>
              <a:buFontTx/>
              <a:buNone/>
              <a:tabLst/>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信息增益</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6" name="Rectangle 17">
            <a:extLst>
              <a:ext uri="{FF2B5EF4-FFF2-40B4-BE49-F238E27FC236}">
                <a16:creationId xmlns:a16="http://schemas.microsoft.com/office/drawing/2014/main" id="{A45D7C38-ABA2-B69B-9CD2-0719634CF160}"/>
              </a:ext>
            </a:extLst>
          </p:cNvPr>
          <p:cNvSpPr>
            <a:spLocks noChangeArrowheads="1"/>
          </p:cNvSpPr>
          <p:nvPr/>
        </p:nvSpPr>
        <p:spPr bwMode="auto">
          <a:xfrm>
            <a:off x="670095" y="5496614"/>
            <a:ext cx="10343216" cy="461665"/>
          </a:xfrm>
          <a:prstGeom prst="rect">
            <a:avLst/>
          </a:prstGeom>
          <a:noFill/>
        </p:spPr>
        <p:txBody>
          <a:bodyPr wrap="square">
            <a:spAutoFit/>
          </a:bodyPr>
          <a:lstStyle/>
          <a:p>
            <a:r>
              <a:rPr lang="zh-CN" altLang="zh-CN" sz="2400" dirty="0">
                <a:latin typeface="微软雅黑" panose="020B0503020204020204" pitchFamily="34" charset="-122"/>
                <a:ea typeface="微软雅黑" panose="020B0503020204020204" pitchFamily="34" charset="-122"/>
              </a:rPr>
              <a:t>对信息增益进行了修正，对特征不同取值过多的情况起到惩罚作用</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09428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3F58B-818E-6E7C-245D-3500137F67D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D396AE1D-0747-433C-E31E-C2A1EC99B164}"/>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C4.5</a:t>
            </a:r>
            <a:r>
              <a:rPr lang="zh-CN" altLang="en-US" sz="3200" dirty="0">
                <a:solidFill>
                  <a:srgbClr val="FFFF00"/>
                </a:solidFill>
                <a:latin typeface="华光综艺_CNKI" panose="02000500000000000000" pitchFamily="2" charset="-122"/>
                <a:ea typeface="华光综艺_CNKI" panose="02000500000000000000" pitchFamily="2" charset="-122"/>
              </a:rPr>
              <a:t>处理连续值的属性</a:t>
            </a:r>
          </a:p>
        </p:txBody>
      </p:sp>
      <p:sp>
        <p:nvSpPr>
          <p:cNvPr id="15" name="Rectangle 3">
            <a:extLst>
              <a:ext uri="{FF2B5EF4-FFF2-40B4-BE49-F238E27FC236}">
                <a16:creationId xmlns:a16="http://schemas.microsoft.com/office/drawing/2014/main" id="{B03F7E3A-0ECB-1C06-D2FF-B4001E4E90F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3">
            <a:extLst>
              <a:ext uri="{FF2B5EF4-FFF2-40B4-BE49-F238E27FC236}">
                <a16:creationId xmlns:a16="http://schemas.microsoft.com/office/drawing/2014/main" id="{971738BE-30F0-1380-B4A6-8BE6D60C75A5}"/>
              </a:ext>
            </a:extLst>
          </p:cNvPr>
          <p:cNvSpPr txBox="1">
            <a:spLocks noChangeArrowheads="1"/>
          </p:cNvSpPr>
          <p:nvPr/>
        </p:nvSpPr>
        <p:spPr>
          <a:xfrm>
            <a:off x="344805" y="1250607"/>
            <a:ext cx="11502390" cy="3389313"/>
          </a:xfrm>
          <a:prstGeom prst="rect">
            <a:avLst/>
          </a:prstGeo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对于连续属性值，</a:t>
            </a:r>
            <a:r>
              <a:rPr lang="en-US" altLang="en-US" dirty="0"/>
              <a:t>C4.5</a:t>
            </a:r>
            <a:r>
              <a:rPr lang="zh-CN" altLang="en-US" dirty="0"/>
              <a:t>其处理过程如下：</a:t>
            </a:r>
          </a:p>
          <a:p>
            <a:pPr lvl="1"/>
            <a:r>
              <a:rPr lang="zh-CN" altLang="en-US" dirty="0">
                <a:ea typeface="华文新魏" panose="02010800040101010101" pitchFamily="2" charset="-122"/>
              </a:rPr>
              <a:t>根据属性的值，对数据集排序；</a:t>
            </a:r>
          </a:p>
          <a:p>
            <a:pPr lvl="1"/>
            <a:r>
              <a:rPr lang="zh-CN" altLang="en-US" dirty="0">
                <a:ea typeface="华文新魏" panose="02010800040101010101" pitchFamily="2" charset="-122"/>
              </a:rPr>
              <a:t>用不同的阈值将数据集动态的进行划分；</a:t>
            </a:r>
          </a:p>
          <a:p>
            <a:pPr lvl="1"/>
            <a:r>
              <a:rPr lang="zh-CN" altLang="en-US" dirty="0">
                <a:ea typeface="华文新魏" panose="02010800040101010101" pitchFamily="2" charset="-122"/>
              </a:rPr>
              <a:t>取两个实际值中的中点作为一个阈值；</a:t>
            </a:r>
          </a:p>
          <a:p>
            <a:pPr lvl="1"/>
            <a:r>
              <a:rPr lang="zh-CN" altLang="en-US" dirty="0">
                <a:ea typeface="华文新魏" panose="02010800040101010101" pitchFamily="2" charset="-122"/>
              </a:rPr>
              <a:t>取两个划分，所有样本都在这两个划分中；</a:t>
            </a:r>
          </a:p>
          <a:p>
            <a:pPr lvl="1"/>
            <a:r>
              <a:rPr lang="zh-CN" altLang="en-US" dirty="0">
                <a:ea typeface="华文新魏" panose="02010800040101010101" pitchFamily="2" charset="-122"/>
              </a:rPr>
              <a:t>得到所有可能的阈值、增益及增益比；</a:t>
            </a:r>
          </a:p>
          <a:p>
            <a:pPr lvl="1"/>
            <a:r>
              <a:rPr lang="zh-CN" altLang="en-US" dirty="0">
                <a:ea typeface="华文新魏" panose="02010800040101010101" pitchFamily="2" charset="-122"/>
              </a:rPr>
              <a:t>在每一个属性会变为取两个取值，即小于阈值或大于等于阈值。</a:t>
            </a:r>
          </a:p>
          <a:p>
            <a:endParaRPr lang="zh-CN" altLang="en-US" sz="1600" dirty="0">
              <a:latin typeface="楷体_GB2312" pitchFamily="1" charset="-122"/>
              <a:ea typeface="楷体_GB2312" pitchFamily="1" charset="-122"/>
            </a:endParaRPr>
          </a:p>
          <a:p>
            <a:pPr>
              <a:lnSpc>
                <a:spcPts val="3500"/>
              </a:lnSpc>
            </a:pPr>
            <a:r>
              <a:rPr lang="zh-CN" altLang="en-US" sz="2400" dirty="0">
                <a:latin typeface="楷体_GB2312" pitchFamily="1" charset="-122"/>
                <a:ea typeface="楷体_GB2312" pitchFamily="1" charset="-122"/>
              </a:rPr>
              <a:t>简单地说，针对属性有连续数值的情况，则在训练集中可以按升序方式排列。如果属性</a:t>
            </a:r>
            <a:r>
              <a:rPr lang="en-US" altLang="en-US" sz="2400" dirty="0">
                <a:latin typeface="楷体_GB2312" pitchFamily="1" charset="-122"/>
                <a:ea typeface="楷体_GB2312" pitchFamily="1" charset="-122"/>
              </a:rPr>
              <a:t>A</a:t>
            </a:r>
            <a:r>
              <a:rPr lang="zh-CN" altLang="en-US" sz="2400" dirty="0">
                <a:latin typeface="楷体_GB2312" pitchFamily="1" charset="-122"/>
                <a:ea typeface="楷体_GB2312" pitchFamily="1" charset="-122"/>
              </a:rPr>
              <a:t>共有</a:t>
            </a:r>
            <a:r>
              <a:rPr lang="en-US" altLang="en-US" sz="2400" dirty="0">
                <a:latin typeface="楷体_GB2312" pitchFamily="1" charset="-122"/>
                <a:ea typeface="楷体_GB2312" pitchFamily="1" charset="-122"/>
              </a:rPr>
              <a:t>n</a:t>
            </a:r>
            <a:r>
              <a:rPr lang="zh-CN" altLang="en-US" sz="2400" dirty="0">
                <a:latin typeface="楷体_GB2312" pitchFamily="1" charset="-122"/>
                <a:ea typeface="楷体_GB2312" pitchFamily="1" charset="-122"/>
              </a:rPr>
              <a:t>种取值，则对每个取值</a:t>
            </a:r>
            <a:r>
              <a:rPr lang="en-US" altLang="en-US" sz="2400" i="1" dirty="0" err="1">
                <a:latin typeface="楷体_GB2312" pitchFamily="1" charset="-122"/>
                <a:ea typeface="楷体_GB2312" pitchFamily="1" charset="-122"/>
              </a:rPr>
              <a:t>v</a:t>
            </a:r>
            <a:r>
              <a:rPr lang="en-US" altLang="en-US" sz="2400" i="1" baseline="-25000" dirty="0" err="1">
                <a:latin typeface="楷体_GB2312" pitchFamily="1" charset="-122"/>
                <a:ea typeface="楷体_GB2312" pitchFamily="1" charset="-122"/>
              </a:rPr>
              <a:t>j</a:t>
            </a:r>
            <a:r>
              <a:rPr lang="zh-CN" altLang="en-US" sz="2400" dirty="0">
                <a:latin typeface="楷体_GB2312" pitchFamily="1" charset="-122"/>
                <a:ea typeface="楷体_GB2312" pitchFamily="1" charset="-122"/>
              </a:rPr>
              <a:t>（</a:t>
            </a:r>
            <a:r>
              <a:rPr lang="en-US" altLang="en-US" sz="2400" i="1" dirty="0">
                <a:latin typeface="楷体_GB2312" pitchFamily="1" charset="-122"/>
                <a:ea typeface="楷体_GB2312" pitchFamily="1" charset="-122"/>
              </a:rPr>
              <a:t>j</a:t>
            </a:r>
            <a:r>
              <a:rPr lang="en-US" altLang="en-US" sz="2400" dirty="0">
                <a:latin typeface="楷体_GB2312" pitchFamily="1" charset="-122"/>
                <a:ea typeface="楷体_GB2312" pitchFamily="1" charset="-122"/>
              </a:rPr>
              <a:t>=1</a:t>
            </a:r>
            <a:r>
              <a:rPr lang="zh-CN" altLang="en-US" sz="2400" dirty="0">
                <a:latin typeface="楷体_GB2312" pitchFamily="1" charset="-122"/>
                <a:ea typeface="楷体_GB2312" pitchFamily="1" charset="-122"/>
              </a:rPr>
              <a:t>，</a:t>
            </a:r>
            <a:r>
              <a:rPr lang="en-US" altLang="en-US" sz="2400" dirty="0">
                <a:latin typeface="楷体_GB2312" pitchFamily="1" charset="-122"/>
                <a:ea typeface="楷体_GB2312" pitchFamily="1" charset="-122"/>
              </a:rPr>
              <a:t>2</a:t>
            </a:r>
            <a:r>
              <a:rPr lang="zh-CN" altLang="en-US" sz="2400" dirty="0">
                <a:latin typeface="楷体_GB2312" pitchFamily="1" charset="-122"/>
                <a:ea typeface="楷体_GB2312" pitchFamily="1" charset="-122"/>
              </a:rPr>
              <a:t>，┄，</a:t>
            </a:r>
            <a:r>
              <a:rPr lang="en-US" altLang="en-US" sz="2400" i="1" dirty="0">
                <a:latin typeface="楷体_GB2312" pitchFamily="1" charset="-122"/>
                <a:ea typeface="楷体_GB2312" pitchFamily="1" charset="-122"/>
              </a:rPr>
              <a:t>n</a:t>
            </a:r>
            <a:r>
              <a:rPr lang="zh-CN" altLang="en-US" sz="2400" dirty="0">
                <a:latin typeface="楷体_GB2312" pitchFamily="1" charset="-122"/>
                <a:ea typeface="楷体_GB2312" pitchFamily="1" charset="-122"/>
              </a:rPr>
              <a:t>），将所有的记录进行划分：一部分小于</a:t>
            </a:r>
            <a:r>
              <a:rPr lang="en-US" altLang="en-US" sz="2400" i="1" dirty="0" err="1">
                <a:latin typeface="楷体_GB2312" pitchFamily="1" charset="-122"/>
                <a:ea typeface="楷体_GB2312" pitchFamily="1" charset="-122"/>
              </a:rPr>
              <a:t>v</a:t>
            </a:r>
            <a:r>
              <a:rPr lang="en-US" altLang="en-US" sz="2400" i="1" baseline="-25000" dirty="0" err="1">
                <a:latin typeface="楷体_GB2312" pitchFamily="1" charset="-122"/>
                <a:ea typeface="楷体_GB2312" pitchFamily="1" charset="-122"/>
              </a:rPr>
              <a:t>j</a:t>
            </a:r>
            <a:r>
              <a:rPr lang="zh-CN" altLang="en-US" sz="2400" dirty="0">
                <a:latin typeface="楷体_GB2312" pitchFamily="1" charset="-122"/>
                <a:ea typeface="楷体_GB2312" pitchFamily="1" charset="-122"/>
              </a:rPr>
              <a:t>；另一部分则大于或等于</a:t>
            </a:r>
            <a:r>
              <a:rPr lang="en-US" altLang="en-US" sz="2400" i="1" dirty="0" err="1">
                <a:latin typeface="楷体_GB2312" pitchFamily="1" charset="-122"/>
                <a:ea typeface="楷体_GB2312" pitchFamily="1" charset="-122"/>
              </a:rPr>
              <a:t>v</a:t>
            </a:r>
            <a:r>
              <a:rPr lang="en-US" altLang="en-US" sz="2400" i="1" baseline="-25000" dirty="0" err="1">
                <a:latin typeface="楷体_GB2312" pitchFamily="1" charset="-122"/>
                <a:ea typeface="楷体_GB2312" pitchFamily="1" charset="-122"/>
              </a:rPr>
              <a:t>j</a:t>
            </a:r>
            <a:r>
              <a:rPr lang="zh-CN" altLang="en-US" sz="2400" dirty="0">
                <a:latin typeface="楷体_GB2312" pitchFamily="1" charset="-122"/>
                <a:ea typeface="楷体_GB2312" pitchFamily="1" charset="-122"/>
              </a:rPr>
              <a:t> 。针对每个</a:t>
            </a:r>
            <a:r>
              <a:rPr lang="en-US" altLang="en-US" sz="2400" i="1" dirty="0" err="1">
                <a:latin typeface="楷体_GB2312" pitchFamily="1" charset="-122"/>
                <a:ea typeface="楷体_GB2312" pitchFamily="1" charset="-122"/>
              </a:rPr>
              <a:t>v</a:t>
            </a:r>
            <a:r>
              <a:rPr lang="en-US" altLang="en-US" sz="2400" i="1" baseline="-25000" dirty="0" err="1">
                <a:latin typeface="楷体_GB2312" pitchFamily="1" charset="-122"/>
                <a:ea typeface="楷体_GB2312" pitchFamily="1" charset="-122"/>
              </a:rPr>
              <a:t>j</a:t>
            </a:r>
            <a:r>
              <a:rPr lang="zh-CN" altLang="en-US" sz="2400" dirty="0">
                <a:latin typeface="楷体_GB2312" pitchFamily="1" charset="-122"/>
                <a:ea typeface="楷体_GB2312" pitchFamily="1" charset="-122"/>
              </a:rPr>
              <a:t>计算划分对应的增益比率，选择增益最大的划分来对属性</a:t>
            </a:r>
            <a:r>
              <a:rPr lang="en-US" altLang="en-US" sz="2400" dirty="0">
                <a:latin typeface="楷体_GB2312" pitchFamily="1" charset="-122"/>
                <a:ea typeface="楷体_GB2312" pitchFamily="1" charset="-122"/>
              </a:rPr>
              <a:t>A</a:t>
            </a:r>
            <a:r>
              <a:rPr lang="zh-CN" altLang="en-US" sz="2400" dirty="0">
                <a:latin typeface="楷体_GB2312" pitchFamily="1" charset="-122"/>
                <a:ea typeface="楷体_GB2312" pitchFamily="1" charset="-122"/>
              </a:rPr>
              <a:t>进行离散化 。 </a:t>
            </a:r>
          </a:p>
        </p:txBody>
      </p:sp>
    </p:spTree>
    <p:extLst>
      <p:ext uri="{BB962C8B-B14F-4D97-AF65-F5344CB8AC3E}">
        <p14:creationId xmlns:p14="http://schemas.microsoft.com/office/powerpoint/2010/main" val="37945346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CEADD-D660-F3D6-3849-F34D0E49414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DA18CC4-179B-35C7-7C5B-27C74489E7D4}"/>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C4.5</a:t>
            </a:r>
            <a:r>
              <a:rPr lang="zh-CN" altLang="en-US" sz="3200" dirty="0">
                <a:solidFill>
                  <a:srgbClr val="FFFF00"/>
                </a:solidFill>
                <a:latin typeface="华光综艺_CNKI" panose="02000500000000000000" pitchFamily="2" charset="-122"/>
                <a:ea typeface="华光综艺_CNKI" panose="02000500000000000000" pitchFamily="2" charset="-122"/>
              </a:rPr>
              <a:t>处理连续值的属性</a:t>
            </a:r>
          </a:p>
        </p:txBody>
      </p:sp>
      <p:sp>
        <p:nvSpPr>
          <p:cNvPr id="15" name="Rectangle 3">
            <a:extLst>
              <a:ext uri="{FF2B5EF4-FFF2-40B4-BE49-F238E27FC236}">
                <a16:creationId xmlns:a16="http://schemas.microsoft.com/office/drawing/2014/main" id="{B87B4EA1-E59D-5AD9-1808-EA6210B5CBB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3">
            <a:extLst>
              <a:ext uri="{FF2B5EF4-FFF2-40B4-BE49-F238E27FC236}">
                <a16:creationId xmlns:a16="http://schemas.microsoft.com/office/drawing/2014/main" id="{8E340DBA-77AE-9FBB-0EBA-4F34C748ED33}"/>
              </a:ext>
            </a:extLst>
          </p:cNvPr>
          <p:cNvSpPr txBox="1">
            <a:spLocks noChangeArrowheads="1"/>
          </p:cNvSpPr>
          <p:nvPr/>
        </p:nvSpPr>
        <p:spPr>
          <a:xfrm>
            <a:off x="3739773" y="1090948"/>
            <a:ext cx="8228489" cy="5256213"/>
          </a:xfr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例题：</a:t>
            </a:r>
            <a:endParaRPr lang="en-US" altLang="zh-CN"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使用C4.5算法将连续的属性(收入)转化为离散的类。</a:t>
            </a:r>
          </a:p>
          <a:p>
            <a:pPr>
              <a:lnSpc>
                <a:spcPct val="150000"/>
              </a:lnSpc>
            </a:pPr>
            <a:r>
              <a:rPr lang="zh-CN" altLang="en-US" sz="2400" dirty="0">
                <a:latin typeface="微软雅黑" panose="020B0503020204020204" pitchFamily="34" charset="-122"/>
                <a:ea typeface="微软雅黑" panose="020B0503020204020204" pitchFamily="34" charset="-122"/>
              </a:rPr>
              <a:t>根据属性的值，对数据集排序；</a:t>
            </a:r>
          </a:p>
          <a:p>
            <a:pPr>
              <a:lnSpc>
                <a:spcPct val="150000"/>
              </a:lnSpc>
            </a:pPr>
            <a:r>
              <a:rPr lang="zh-CN" altLang="en-US" sz="2400" dirty="0">
                <a:latin typeface="微软雅黑" panose="020B0503020204020204" pitchFamily="34" charset="-122"/>
                <a:ea typeface="微软雅黑" panose="020B0503020204020204" pitchFamily="34" charset="-122"/>
              </a:rPr>
              <a:t>取两个实际值中的中点作为一个阈值；</a:t>
            </a:r>
          </a:p>
          <a:p>
            <a:pPr>
              <a:lnSpc>
                <a:spcPct val="150000"/>
              </a:lnSpc>
            </a:pPr>
            <a:r>
              <a:rPr lang="zh-CN" altLang="en-US" sz="2400" dirty="0">
                <a:latin typeface="微软雅黑" panose="020B0503020204020204" pitchFamily="34" charset="-122"/>
                <a:ea typeface="微软雅黑" panose="020B0503020204020204" pitchFamily="34" charset="-122"/>
              </a:rPr>
              <a:t>取两个划分，所有样本都在这两个划分中；</a:t>
            </a:r>
          </a:p>
          <a:p>
            <a:pPr>
              <a:lnSpc>
                <a:spcPct val="150000"/>
              </a:lnSpc>
            </a:pPr>
            <a:r>
              <a:rPr lang="zh-CN" altLang="en-US" sz="2400" dirty="0">
                <a:latin typeface="微软雅黑" panose="020B0503020204020204" pitchFamily="34" charset="-122"/>
                <a:ea typeface="微软雅黑" panose="020B0503020204020204" pitchFamily="34" charset="-122"/>
              </a:rPr>
              <a:t>得到所有可能的阈值、增益及增益比；</a:t>
            </a:r>
          </a:p>
          <a:p>
            <a:pPr>
              <a:lnSpc>
                <a:spcPct val="150000"/>
              </a:lnSpc>
            </a:pPr>
            <a:r>
              <a:rPr lang="zh-CN" altLang="en-US" sz="2400" dirty="0">
                <a:latin typeface="微软雅黑" panose="020B0503020204020204" pitchFamily="34" charset="-122"/>
                <a:ea typeface="微软雅黑" panose="020B0503020204020204" pitchFamily="34" charset="-122"/>
              </a:rPr>
              <a:t>在每一个属性会变为取两个取值，即小于阈值或大于等于阈值。</a:t>
            </a:r>
          </a:p>
        </p:txBody>
      </p:sp>
      <p:graphicFrame>
        <p:nvGraphicFramePr>
          <p:cNvPr id="6" name="Group 4">
            <a:extLst>
              <a:ext uri="{FF2B5EF4-FFF2-40B4-BE49-F238E27FC236}">
                <a16:creationId xmlns:a16="http://schemas.microsoft.com/office/drawing/2014/main" id="{6F1FE1CE-7E27-C38A-F08A-5875E124D362}"/>
              </a:ext>
            </a:extLst>
          </p:cNvPr>
          <p:cNvGraphicFramePr>
            <a:graphicFrameLocks/>
          </p:cNvGraphicFramePr>
          <p:nvPr>
            <p:extLst>
              <p:ext uri="{D42A27DB-BD31-4B8C-83A1-F6EECF244321}">
                <p14:modId xmlns:p14="http://schemas.microsoft.com/office/powerpoint/2010/main" val="2436758883"/>
              </p:ext>
            </p:extLst>
          </p:nvPr>
        </p:nvGraphicFramePr>
        <p:xfrm>
          <a:off x="400050" y="1539137"/>
          <a:ext cx="2880360" cy="3883026"/>
        </p:xfrm>
        <a:graphic>
          <a:graphicData uri="http://schemas.openxmlformats.org/drawingml/2006/table">
            <a:tbl>
              <a:tblPr/>
              <a:tblGrid>
                <a:gridCol w="1330306">
                  <a:extLst>
                    <a:ext uri="{9D8B030D-6E8A-4147-A177-3AD203B41FA5}">
                      <a16:colId xmlns:a16="http://schemas.microsoft.com/office/drawing/2014/main" val="1328780992"/>
                    </a:ext>
                  </a:extLst>
                </a:gridCol>
                <a:gridCol w="1550054">
                  <a:extLst>
                    <a:ext uri="{9D8B030D-6E8A-4147-A177-3AD203B41FA5}">
                      <a16:colId xmlns:a16="http://schemas.microsoft.com/office/drawing/2014/main" val="3203355023"/>
                    </a:ext>
                  </a:extLst>
                </a:gridCol>
              </a:tblGrid>
              <a:tr h="701675">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effectLst/>
                          <a:latin typeface="Calibri" panose="020F0502020204030204" pitchFamily="34" charset="0"/>
                          <a:ea typeface="楷体_GB2312" pitchFamily="1" charset="-122"/>
                        </a:rPr>
                        <a:t>收入</a:t>
                      </a:r>
                    </a:p>
                  </a:txBody>
                  <a:tcPr horzOverflow="overflow">
                    <a:lnL cap="flat">
                      <a:noFill/>
                    </a:lnL>
                    <a:lnR cap="flat">
                      <a:noFill/>
                    </a:lnR>
                    <a:lnT w="12700" cap="flat" cmpd="sng" algn="ctr">
                      <a:solidFill>
                        <a:srgbClr val="8064A2"/>
                      </a:solidFill>
                      <a:prstDash val="solid"/>
                      <a:round/>
                      <a:headEnd type="none" w="med" len="med"/>
                      <a:tailEnd type="none" w="med" len="med"/>
                    </a:lnT>
                    <a:lnB cap="flat">
                      <a:noFill/>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Calibri" panose="020F0502020204030204" pitchFamily="34" charset="0"/>
                          <a:ea typeface="楷体_GB2312" pitchFamily="1" charset="-122"/>
                        </a:rPr>
                        <a:t>是否买电脑</a:t>
                      </a:r>
                    </a:p>
                  </a:txBody>
                  <a:tcPr horzOverflow="overflow">
                    <a:lnL cap="flat">
                      <a:noFill/>
                    </a:lnL>
                    <a:lnR cap="flat">
                      <a:noFill/>
                    </a:lnR>
                    <a:lnT w="12700" cap="flat" cmpd="sng" algn="ctr">
                      <a:solidFill>
                        <a:srgbClr val="8064A2"/>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2268106859"/>
                  </a:ext>
                </a:extLst>
              </a:tr>
              <a:tr h="40005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dirty="0">
                          <a:ln>
                            <a:noFill/>
                          </a:ln>
                          <a:effectLst/>
                          <a:latin typeface="Calibri" panose="020F0502020204030204" pitchFamily="34" charset="0"/>
                          <a:ea typeface="楷体_GB2312" pitchFamily="1" charset="-122"/>
                        </a:rPr>
                        <a:t>2500</a:t>
                      </a:r>
                    </a:p>
                  </a:txBody>
                  <a:tcPr horzOverflow="overflow">
                    <a:lnL cap="flat">
                      <a:noFill/>
                    </a:lnL>
                    <a:lnR cap="flat">
                      <a:noFill/>
                    </a:lnR>
                    <a:lnT cap="flat">
                      <a:noFill/>
                    </a:lnT>
                    <a:lnB w="3175" cap="flat" cmpd="sng" algn="ctr">
                      <a:solidFill>
                        <a:schemeClr val="tx1"/>
                      </a:solidFill>
                      <a:prstDash val="solid"/>
                      <a:round/>
                      <a:headEnd type="none" w="med" len="med"/>
                      <a:tailEnd type="none" w="med" len="med"/>
                    </a:lnB>
                    <a:lnTlToBr>
                      <a:noFill/>
                    </a:lnTlToBr>
                    <a:lnBlToTr>
                      <a:noFill/>
                    </a:lnBlToTr>
                    <a:solidFill>
                      <a:srgbClr val="8064A2">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solidFill>
                            <a:schemeClr val="hlink"/>
                          </a:solidFill>
                          <a:effectLst/>
                          <a:latin typeface="Calibri" panose="020F0502020204030204" pitchFamily="34" charset="0"/>
                          <a:ea typeface="楷体_GB2312" pitchFamily="1" charset="-122"/>
                        </a:rPr>
                        <a:t>否</a:t>
                      </a:r>
                    </a:p>
                  </a:txBody>
                  <a:tcPr horzOverflow="overflow">
                    <a:lnL cap="flat">
                      <a:noFill/>
                    </a:lnL>
                    <a:lnR cap="flat">
                      <a:noFill/>
                    </a:lnR>
                    <a:lnT cap="flat">
                      <a:noFill/>
                    </a:lnT>
                    <a:lnB w="3175" cap="flat" cmpd="sng" algn="ctr">
                      <a:solidFill>
                        <a:schemeClr val="tx1"/>
                      </a:solidFill>
                      <a:prstDash val="solid"/>
                      <a:round/>
                      <a:headEnd type="none" w="med" len="med"/>
                      <a:tailEnd type="none" w="med" len="med"/>
                    </a:lnB>
                    <a:lnTlToBr>
                      <a:noFill/>
                    </a:lnTlToBr>
                    <a:lnBlToTr>
                      <a:noFill/>
                    </a:lnBlToTr>
                    <a:solidFill>
                      <a:srgbClr val="8064A2">
                        <a:alpha val="20000"/>
                      </a:srgbClr>
                    </a:solidFill>
                  </a:tcPr>
                </a:tc>
                <a:extLst>
                  <a:ext uri="{0D108BD9-81ED-4DB2-BD59-A6C34878D82A}">
                    <a16:rowId xmlns:a16="http://schemas.microsoft.com/office/drawing/2014/main" val="1570668563"/>
                  </a:ext>
                </a:extLst>
              </a:tr>
              <a:tr h="39846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3000</a:t>
                      </a:r>
                    </a:p>
                  </a:txBody>
                  <a:tcPr horzOverflow="overflow">
                    <a:lnL cap="flat">
                      <a:noFill/>
                    </a:lnL>
                    <a:lnR cap="flat">
                      <a:noFill/>
                    </a:lnR>
                    <a:lnT w="3175"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rgbClr val="8064A2">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solidFill>
                            <a:schemeClr val="hlink"/>
                          </a:solidFill>
                          <a:effectLst/>
                          <a:latin typeface="Calibri" panose="020F0502020204030204" pitchFamily="34" charset="0"/>
                          <a:ea typeface="楷体_GB2312" pitchFamily="1" charset="-122"/>
                        </a:rPr>
                        <a:t>否</a:t>
                      </a:r>
                    </a:p>
                  </a:txBody>
                  <a:tcPr horzOverflow="overflow">
                    <a:lnL cap="flat">
                      <a:noFill/>
                    </a:lnL>
                    <a:lnR cap="flat">
                      <a:noFill/>
                    </a:lnR>
                    <a:lnT w="3175"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rgbClr val="8064A2">
                        <a:alpha val="20000"/>
                      </a:srgbClr>
                    </a:solidFill>
                  </a:tcPr>
                </a:tc>
                <a:extLst>
                  <a:ext uri="{0D108BD9-81ED-4DB2-BD59-A6C34878D82A}">
                    <a16:rowId xmlns:a16="http://schemas.microsoft.com/office/drawing/2014/main" val="2325764970"/>
                  </a:ext>
                </a:extLst>
              </a:tr>
              <a:tr h="396875">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3200</a:t>
                      </a:r>
                    </a:p>
                  </a:txBody>
                  <a:tcPr horzOverflow="overflow">
                    <a:lnL cap="flat">
                      <a:noFill/>
                    </a:lnL>
                    <a:lnR cap="flat">
                      <a:noFill/>
                    </a:lnR>
                    <a:lnT w="38100" cap="flat" cmpd="sng" algn="ctr">
                      <a:solidFill>
                        <a:schemeClr val="hlink"/>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solidFill>
                            <a:schemeClr val="hlink"/>
                          </a:solidFill>
                          <a:effectLst/>
                          <a:latin typeface="Calibri" panose="020F0502020204030204" pitchFamily="34" charset="0"/>
                          <a:ea typeface="楷体_GB2312" pitchFamily="1" charset="-122"/>
                        </a:rPr>
                        <a:t>否</a:t>
                      </a:r>
                    </a:p>
                  </a:txBody>
                  <a:tcPr horzOverflow="overflow">
                    <a:lnL cap="flat">
                      <a:noFill/>
                    </a:lnL>
                    <a:lnR cap="flat">
                      <a:noFill/>
                    </a:lnR>
                    <a:lnT w="38100" cap="flat" cmpd="sng" algn="ctr">
                      <a:solidFill>
                        <a:schemeClr val="hlink"/>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50882092"/>
                  </a:ext>
                </a:extLst>
              </a:tr>
              <a:tr h="39846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4050</a:t>
                      </a:r>
                    </a:p>
                  </a:txBody>
                  <a:tcPr horzOverflow="overflow">
                    <a:lnL cap="flat">
                      <a:noFill/>
                    </a:lnL>
                    <a:lnR cap="flat">
                      <a:noFill/>
                    </a:lnR>
                    <a:lnT w="12700" cap="flat" cmpd="sng" algn="ctr">
                      <a:solidFill>
                        <a:srgbClr val="8064A2"/>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8064A2">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solidFill>
                            <a:schemeClr val="hlink"/>
                          </a:solidFill>
                          <a:effectLst/>
                          <a:latin typeface="Calibri" panose="020F0502020204030204" pitchFamily="34" charset="0"/>
                          <a:ea typeface="楷体_GB2312" pitchFamily="1" charset="-122"/>
                        </a:rPr>
                        <a:t>否</a:t>
                      </a:r>
                    </a:p>
                  </a:txBody>
                  <a:tcPr horzOverflow="overflow">
                    <a:lnL cap="flat">
                      <a:noFill/>
                    </a:lnL>
                    <a:lnR cap="flat">
                      <a:noFill/>
                    </a:lnR>
                    <a:lnT w="12700" cap="flat" cmpd="sng" algn="ctr">
                      <a:solidFill>
                        <a:srgbClr val="8064A2"/>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8064A2">
                        <a:alpha val="20000"/>
                      </a:srgbClr>
                    </a:solidFill>
                  </a:tcPr>
                </a:tc>
                <a:extLst>
                  <a:ext uri="{0D108BD9-81ED-4DB2-BD59-A6C34878D82A}">
                    <a16:rowId xmlns:a16="http://schemas.microsoft.com/office/drawing/2014/main" val="58056396"/>
                  </a:ext>
                </a:extLst>
              </a:tr>
              <a:tr h="396875">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4865</a:t>
                      </a:r>
                    </a:p>
                  </a:txBody>
                  <a:tcPr horzOverflow="overflow">
                    <a:lnL cap="flat">
                      <a:noFill/>
                    </a:lnL>
                    <a:lnR cap="flat">
                      <a:noFill/>
                    </a:lnR>
                    <a:lnT w="381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Calibri" panose="020F0502020204030204" pitchFamily="34" charset="0"/>
                          <a:ea typeface="楷体_GB2312" pitchFamily="1" charset="-122"/>
                        </a:rPr>
                        <a:t>是</a:t>
                      </a:r>
                    </a:p>
                  </a:txBody>
                  <a:tcPr horzOverflow="overflow">
                    <a:lnL cap="flat">
                      <a:noFill/>
                    </a:lnL>
                    <a:lnR cap="flat">
                      <a:noFill/>
                    </a:lnR>
                    <a:lnT w="381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36229486"/>
                  </a:ext>
                </a:extLst>
              </a:tr>
              <a:tr h="396875">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6770</a:t>
                      </a:r>
                    </a:p>
                  </a:txBody>
                  <a:tcPr horzOverflow="overflow">
                    <a:lnL cap="flat">
                      <a:noFill/>
                    </a:lnL>
                    <a:lnR cap="flat">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solidFill>
                      <a:srgbClr val="8064A2">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Calibri" panose="020F0502020204030204" pitchFamily="34" charset="0"/>
                          <a:ea typeface="楷体_GB2312" pitchFamily="1" charset="-122"/>
                        </a:rPr>
                        <a:t>是</a:t>
                      </a:r>
                    </a:p>
                  </a:txBody>
                  <a:tcPr horzOverflow="overflow">
                    <a:lnL cap="flat">
                      <a:noFill/>
                    </a:lnL>
                    <a:lnR cap="flat">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solidFill>
                      <a:srgbClr val="8064A2">
                        <a:alpha val="20000"/>
                      </a:srgbClr>
                    </a:solidFill>
                  </a:tcPr>
                </a:tc>
                <a:extLst>
                  <a:ext uri="{0D108BD9-81ED-4DB2-BD59-A6C34878D82A}">
                    <a16:rowId xmlns:a16="http://schemas.microsoft.com/office/drawing/2014/main" val="351243851"/>
                  </a:ext>
                </a:extLst>
              </a:tr>
              <a:tr h="396875">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9800</a:t>
                      </a:r>
                    </a:p>
                  </a:txBody>
                  <a:tcPr horzOverflow="overflow">
                    <a:lnL cap="flat">
                      <a:noFill/>
                    </a:lnL>
                    <a:lnR cap="flat">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Calibri" panose="020F0502020204030204" pitchFamily="34" charset="0"/>
                          <a:ea typeface="楷体_GB2312" pitchFamily="1" charset="-122"/>
                        </a:rPr>
                        <a:t>是</a:t>
                      </a:r>
                    </a:p>
                  </a:txBody>
                  <a:tcPr horzOverflow="overflow">
                    <a:lnL cap="flat">
                      <a:noFill/>
                    </a:lnL>
                    <a:lnR cap="flat">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47292944"/>
                  </a:ext>
                </a:extLst>
              </a:tr>
              <a:tr h="396875">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12000</a:t>
                      </a:r>
                    </a:p>
                  </a:txBody>
                  <a:tcPr horzOverflow="overflow">
                    <a:lnL cap="flat">
                      <a:noFill/>
                    </a:lnL>
                    <a:lnR cap="flat">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solidFill>
                      <a:srgbClr val="8064A2">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Calibri" panose="020F0502020204030204" pitchFamily="34" charset="0"/>
                          <a:ea typeface="楷体_GB2312" pitchFamily="1" charset="-122"/>
                        </a:rPr>
                        <a:t>是</a:t>
                      </a:r>
                    </a:p>
                  </a:txBody>
                  <a:tcPr horzOverflow="overflow">
                    <a:lnL cap="flat">
                      <a:noFill/>
                    </a:lnL>
                    <a:lnR cap="flat">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solidFill>
                      <a:srgbClr val="8064A2">
                        <a:alpha val="20000"/>
                      </a:srgbClr>
                    </a:solidFill>
                  </a:tcPr>
                </a:tc>
                <a:extLst>
                  <a:ext uri="{0D108BD9-81ED-4DB2-BD59-A6C34878D82A}">
                    <a16:rowId xmlns:a16="http://schemas.microsoft.com/office/drawing/2014/main" val="3508317145"/>
                  </a:ext>
                </a:extLst>
              </a:tr>
            </a:tbl>
          </a:graphicData>
        </a:graphic>
      </p:graphicFrame>
    </p:spTree>
    <p:extLst>
      <p:ext uri="{BB962C8B-B14F-4D97-AF65-F5344CB8AC3E}">
        <p14:creationId xmlns:p14="http://schemas.microsoft.com/office/powerpoint/2010/main" val="34969346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BA17A-F578-8A8F-61AF-93ECFE518EC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ABC06AA-E4CA-8824-896C-1AE0BB51847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C4.5</a:t>
            </a:r>
            <a:r>
              <a:rPr lang="zh-CN" altLang="en-US" sz="3200" dirty="0">
                <a:solidFill>
                  <a:srgbClr val="FFFF00"/>
                </a:solidFill>
                <a:latin typeface="华光综艺_CNKI" panose="02000500000000000000" pitchFamily="2" charset="-122"/>
                <a:ea typeface="华光综艺_CNKI" panose="02000500000000000000" pitchFamily="2" charset="-122"/>
              </a:rPr>
              <a:t>处理连续值的属性</a:t>
            </a:r>
          </a:p>
        </p:txBody>
      </p:sp>
      <p:sp>
        <p:nvSpPr>
          <p:cNvPr id="15" name="Rectangle 3">
            <a:extLst>
              <a:ext uri="{FF2B5EF4-FFF2-40B4-BE49-F238E27FC236}">
                <a16:creationId xmlns:a16="http://schemas.microsoft.com/office/drawing/2014/main" id="{B1D80C87-C72E-E794-6DCC-01DB261DBAC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3">
            <a:extLst>
              <a:ext uri="{FF2B5EF4-FFF2-40B4-BE49-F238E27FC236}">
                <a16:creationId xmlns:a16="http://schemas.microsoft.com/office/drawing/2014/main" id="{B074B513-B6EA-2721-E2E7-80DF8A941BDA}"/>
              </a:ext>
            </a:extLst>
          </p:cNvPr>
          <p:cNvSpPr txBox="1">
            <a:spLocks noChangeArrowheads="1"/>
          </p:cNvSpPr>
          <p:nvPr/>
        </p:nvSpPr>
        <p:spPr>
          <a:xfrm>
            <a:off x="4032250" y="1146727"/>
            <a:ext cx="7969250" cy="4724400"/>
          </a:xfr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例题：使用C4.5算法将连续的属性(收入)转化为离散的类。</a:t>
            </a:r>
          </a:p>
          <a:p>
            <a:r>
              <a:rPr lang="zh-CN" altLang="en-US" sz="2400" dirty="0">
                <a:latin typeface="微软雅黑" panose="020B0503020204020204" pitchFamily="34" charset="-122"/>
                <a:ea typeface="微软雅黑" panose="020B0503020204020204" pitchFamily="34" charset="-122"/>
              </a:rPr>
              <a:t>选择增益最大的划分来对属性A进行离散化 。</a:t>
            </a:r>
          </a:p>
          <a:p>
            <a:r>
              <a:rPr lang="zh-CN" altLang="en-US" sz="2400" dirty="0">
                <a:latin typeface="微软雅黑" panose="020B0503020204020204" pitchFamily="34" charset="-122"/>
                <a:ea typeface="微软雅黑" panose="020B0503020204020204" pitchFamily="34" charset="-122"/>
              </a:rPr>
              <a:t>GainRatio(划分：2750)=0.2</a:t>
            </a:r>
          </a:p>
          <a:p>
            <a:r>
              <a:rPr lang="zh-CN" altLang="en-US" sz="2400" dirty="0">
                <a:solidFill>
                  <a:schemeClr val="accent2"/>
                </a:solidFill>
                <a:latin typeface="微软雅黑" panose="020B0503020204020204" pitchFamily="34" charset="-122"/>
                <a:ea typeface="微软雅黑" panose="020B0503020204020204" pitchFamily="34" charset="-122"/>
              </a:rPr>
              <a:t>GainRatio(划分：3100)=0.39</a:t>
            </a:r>
          </a:p>
          <a:p>
            <a:r>
              <a:rPr lang="zh-CN" altLang="en-US" sz="2400" dirty="0">
                <a:latin typeface="微软雅黑" panose="020B0503020204020204" pitchFamily="34" charset="-122"/>
                <a:ea typeface="微软雅黑" panose="020B0503020204020204" pitchFamily="34" charset="-122"/>
              </a:rPr>
              <a:t>GainRatio(划分：3625)=0.53</a:t>
            </a:r>
          </a:p>
          <a:p>
            <a:r>
              <a:rPr lang="zh-CN" altLang="en-US" sz="2400" dirty="0">
                <a:solidFill>
                  <a:schemeClr val="hlink"/>
                </a:solidFill>
                <a:latin typeface="微软雅黑" panose="020B0503020204020204" pitchFamily="34" charset="-122"/>
                <a:ea typeface="微软雅黑" panose="020B0503020204020204" pitchFamily="34" charset="-122"/>
              </a:rPr>
              <a:t>GainRatio(划分：4458)=1</a:t>
            </a:r>
          </a:p>
          <a:p>
            <a:r>
              <a:rPr lang="zh-CN" altLang="en-US" sz="2400" dirty="0">
                <a:latin typeface="微软雅黑" panose="020B0503020204020204" pitchFamily="34" charset="-122"/>
                <a:ea typeface="微软雅黑" panose="020B0503020204020204" pitchFamily="34" charset="-122"/>
              </a:rPr>
              <a:t>GainRatio(划分：？)=0.53</a:t>
            </a:r>
          </a:p>
          <a:p>
            <a:r>
              <a:rPr lang="zh-CN" altLang="en-US" sz="2400" dirty="0">
                <a:latin typeface="微软雅黑" panose="020B0503020204020204" pitchFamily="34" charset="-122"/>
                <a:ea typeface="微软雅黑" panose="020B0503020204020204" pitchFamily="34" charset="-122"/>
              </a:rPr>
              <a:t>GainRatio(划分：8285)=0.39</a:t>
            </a:r>
          </a:p>
          <a:p>
            <a:r>
              <a:rPr lang="zh-CN" altLang="en-US" sz="2400" dirty="0">
                <a:latin typeface="微软雅黑" panose="020B0503020204020204" pitchFamily="34" charset="-122"/>
                <a:ea typeface="微软雅黑" panose="020B0503020204020204" pitchFamily="34" charset="-122"/>
              </a:rPr>
              <a:t>GainRatio(划分：10900)=0.2</a:t>
            </a:r>
          </a:p>
          <a:p>
            <a:r>
              <a:rPr lang="zh-CN" altLang="en-US" sz="2400" dirty="0">
                <a:latin typeface="微软雅黑" panose="020B0503020204020204" pitchFamily="34" charset="-122"/>
                <a:ea typeface="微软雅黑" panose="020B0503020204020204" pitchFamily="34" charset="-122"/>
              </a:rPr>
              <a:t>收入小于4458合并为收入低</a:t>
            </a:r>
          </a:p>
          <a:p>
            <a:r>
              <a:rPr lang="zh-CN" altLang="en-US" sz="2400" dirty="0">
                <a:latin typeface="微软雅黑" panose="020B0503020204020204" pitchFamily="34" charset="-122"/>
                <a:ea typeface="微软雅黑" panose="020B0503020204020204" pitchFamily="34" charset="-122"/>
              </a:rPr>
              <a:t>收入大于等于4458合并为收入高</a:t>
            </a:r>
          </a:p>
        </p:txBody>
      </p:sp>
      <p:graphicFrame>
        <p:nvGraphicFramePr>
          <p:cNvPr id="5" name="Group 4">
            <a:extLst>
              <a:ext uri="{FF2B5EF4-FFF2-40B4-BE49-F238E27FC236}">
                <a16:creationId xmlns:a16="http://schemas.microsoft.com/office/drawing/2014/main" id="{894057F1-B15E-3282-9955-3DCBF87A4A02}"/>
              </a:ext>
            </a:extLst>
          </p:cNvPr>
          <p:cNvGraphicFramePr>
            <a:graphicFrameLocks/>
          </p:cNvGraphicFramePr>
          <p:nvPr>
            <p:extLst>
              <p:ext uri="{D42A27DB-BD31-4B8C-83A1-F6EECF244321}">
                <p14:modId xmlns:p14="http://schemas.microsoft.com/office/powerpoint/2010/main" val="1955316982"/>
              </p:ext>
            </p:extLst>
          </p:nvPr>
        </p:nvGraphicFramePr>
        <p:xfrm>
          <a:off x="400050" y="1539137"/>
          <a:ext cx="2880360" cy="3883026"/>
        </p:xfrm>
        <a:graphic>
          <a:graphicData uri="http://schemas.openxmlformats.org/drawingml/2006/table">
            <a:tbl>
              <a:tblPr/>
              <a:tblGrid>
                <a:gridCol w="1330306">
                  <a:extLst>
                    <a:ext uri="{9D8B030D-6E8A-4147-A177-3AD203B41FA5}">
                      <a16:colId xmlns:a16="http://schemas.microsoft.com/office/drawing/2014/main" val="1328780992"/>
                    </a:ext>
                  </a:extLst>
                </a:gridCol>
                <a:gridCol w="1550054">
                  <a:extLst>
                    <a:ext uri="{9D8B030D-6E8A-4147-A177-3AD203B41FA5}">
                      <a16:colId xmlns:a16="http://schemas.microsoft.com/office/drawing/2014/main" val="3203355023"/>
                    </a:ext>
                  </a:extLst>
                </a:gridCol>
              </a:tblGrid>
              <a:tr h="701675">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effectLst/>
                          <a:latin typeface="Calibri" panose="020F0502020204030204" pitchFamily="34" charset="0"/>
                          <a:ea typeface="楷体_GB2312" pitchFamily="1" charset="-122"/>
                        </a:rPr>
                        <a:t>收入</a:t>
                      </a:r>
                    </a:p>
                  </a:txBody>
                  <a:tcPr horzOverflow="overflow">
                    <a:lnL cap="flat">
                      <a:noFill/>
                    </a:lnL>
                    <a:lnR cap="flat">
                      <a:noFill/>
                    </a:lnR>
                    <a:lnT w="12700" cap="flat" cmpd="sng" algn="ctr">
                      <a:solidFill>
                        <a:srgbClr val="8064A2"/>
                      </a:solidFill>
                      <a:prstDash val="solid"/>
                      <a:round/>
                      <a:headEnd type="none" w="med" len="med"/>
                      <a:tailEnd type="none" w="med" len="med"/>
                    </a:lnT>
                    <a:lnB cap="flat">
                      <a:noFill/>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Calibri" panose="020F0502020204030204" pitchFamily="34" charset="0"/>
                          <a:ea typeface="楷体_GB2312" pitchFamily="1" charset="-122"/>
                        </a:rPr>
                        <a:t>是否买电脑</a:t>
                      </a:r>
                    </a:p>
                  </a:txBody>
                  <a:tcPr horzOverflow="overflow">
                    <a:lnL cap="flat">
                      <a:noFill/>
                    </a:lnL>
                    <a:lnR cap="flat">
                      <a:noFill/>
                    </a:lnR>
                    <a:lnT w="12700" cap="flat" cmpd="sng" algn="ctr">
                      <a:solidFill>
                        <a:srgbClr val="8064A2"/>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2268106859"/>
                  </a:ext>
                </a:extLst>
              </a:tr>
              <a:tr h="40005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dirty="0">
                          <a:ln>
                            <a:noFill/>
                          </a:ln>
                          <a:effectLst/>
                          <a:latin typeface="Calibri" panose="020F0502020204030204" pitchFamily="34" charset="0"/>
                          <a:ea typeface="楷体_GB2312" pitchFamily="1" charset="-122"/>
                        </a:rPr>
                        <a:t>2500</a:t>
                      </a:r>
                    </a:p>
                  </a:txBody>
                  <a:tcPr horzOverflow="overflow">
                    <a:lnL cap="flat">
                      <a:noFill/>
                    </a:lnL>
                    <a:lnR cap="flat">
                      <a:noFill/>
                    </a:lnR>
                    <a:lnT cap="flat">
                      <a:noFill/>
                    </a:lnT>
                    <a:lnB w="3175" cap="flat" cmpd="sng" algn="ctr">
                      <a:solidFill>
                        <a:schemeClr val="tx1"/>
                      </a:solidFill>
                      <a:prstDash val="solid"/>
                      <a:round/>
                      <a:headEnd type="none" w="med" len="med"/>
                      <a:tailEnd type="none" w="med" len="med"/>
                    </a:lnB>
                    <a:lnTlToBr>
                      <a:noFill/>
                    </a:lnTlToBr>
                    <a:lnBlToTr>
                      <a:noFill/>
                    </a:lnBlToTr>
                    <a:solidFill>
                      <a:srgbClr val="8064A2">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solidFill>
                            <a:schemeClr val="hlink"/>
                          </a:solidFill>
                          <a:effectLst/>
                          <a:latin typeface="Calibri" panose="020F0502020204030204" pitchFamily="34" charset="0"/>
                          <a:ea typeface="楷体_GB2312" pitchFamily="1" charset="-122"/>
                        </a:rPr>
                        <a:t>否</a:t>
                      </a:r>
                    </a:p>
                  </a:txBody>
                  <a:tcPr horzOverflow="overflow">
                    <a:lnL cap="flat">
                      <a:noFill/>
                    </a:lnL>
                    <a:lnR cap="flat">
                      <a:noFill/>
                    </a:lnR>
                    <a:lnT cap="flat">
                      <a:noFill/>
                    </a:lnT>
                    <a:lnB w="3175" cap="flat" cmpd="sng" algn="ctr">
                      <a:solidFill>
                        <a:schemeClr val="tx1"/>
                      </a:solidFill>
                      <a:prstDash val="solid"/>
                      <a:round/>
                      <a:headEnd type="none" w="med" len="med"/>
                      <a:tailEnd type="none" w="med" len="med"/>
                    </a:lnB>
                    <a:lnTlToBr>
                      <a:noFill/>
                    </a:lnTlToBr>
                    <a:lnBlToTr>
                      <a:noFill/>
                    </a:lnBlToTr>
                    <a:solidFill>
                      <a:srgbClr val="8064A2">
                        <a:alpha val="20000"/>
                      </a:srgbClr>
                    </a:solidFill>
                  </a:tcPr>
                </a:tc>
                <a:extLst>
                  <a:ext uri="{0D108BD9-81ED-4DB2-BD59-A6C34878D82A}">
                    <a16:rowId xmlns:a16="http://schemas.microsoft.com/office/drawing/2014/main" val="1570668563"/>
                  </a:ext>
                </a:extLst>
              </a:tr>
              <a:tr h="39846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3000</a:t>
                      </a:r>
                    </a:p>
                  </a:txBody>
                  <a:tcPr horzOverflow="overflow">
                    <a:lnL cap="flat">
                      <a:noFill/>
                    </a:lnL>
                    <a:lnR cap="flat">
                      <a:noFill/>
                    </a:lnR>
                    <a:lnT w="3175"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rgbClr val="8064A2">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solidFill>
                            <a:schemeClr val="hlink"/>
                          </a:solidFill>
                          <a:effectLst/>
                          <a:latin typeface="Calibri" panose="020F0502020204030204" pitchFamily="34" charset="0"/>
                          <a:ea typeface="楷体_GB2312" pitchFamily="1" charset="-122"/>
                        </a:rPr>
                        <a:t>否</a:t>
                      </a:r>
                    </a:p>
                  </a:txBody>
                  <a:tcPr horzOverflow="overflow">
                    <a:lnL cap="flat">
                      <a:noFill/>
                    </a:lnL>
                    <a:lnR cap="flat">
                      <a:noFill/>
                    </a:lnR>
                    <a:lnT w="3175"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rgbClr val="8064A2">
                        <a:alpha val="20000"/>
                      </a:srgbClr>
                    </a:solidFill>
                  </a:tcPr>
                </a:tc>
                <a:extLst>
                  <a:ext uri="{0D108BD9-81ED-4DB2-BD59-A6C34878D82A}">
                    <a16:rowId xmlns:a16="http://schemas.microsoft.com/office/drawing/2014/main" val="2325764970"/>
                  </a:ext>
                </a:extLst>
              </a:tr>
              <a:tr h="396875">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3200</a:t>
                      </a:r>
                    </a:p>
                  </a:txBody>
                  <a:tcPr horzOverflow="overflow">
                    <a:lnL cap="flat">
                      <a:noFill/>
                    </a:lnL>
                    <a:lnR cap="flat">
                      <a:noFill/>
                    </a:lnR>
                    <a:lnT w="38100" cap="flat" cmpd="sng" algn="ctr">
                      <a:solidFill>
                        <a:schemeClr val="hlink"/>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solidFill>
                            <a:schemeClr val="hlink"/>
                          </a:solidFill>
                          <a:effectLst/>
                          <a:latin typeface="Calibri" panose="020F0502020204030204" pitchFamily="34" charset="0"/>
                          <a:ea typeface="楷体_GB2312" pitchFamily="1" charset="-122"/>
                        </a:rPr>
                        <a:t>否</a:t>
                      </a:r>
                    </a:p>
                  </a:txBody>
                  <a:tcPr horzOverflow="overflow">
                    <a:lnL cap="flat">
                      <a:noFill/>
                    </a:lnL>
                    <a:lnR cap="flat">
                      <a:noFill/>
                    </a:lnR>
                    <a:lnT w="38100" cap="flat" cmpd="sng" algn="ctr">
                      <a:solidFill>
                        <a:schemeClr val="hlink"/>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50882092"/>
                  </a:ext>
                </a:extLst>
              </a:tr>
              <a:tr h="39846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4050</a:t>
                      </a:r>
                    </a:p>
                  </a:txBody>
                  <a:tcPr horzOverflow="overflow">
                    <a:lnL cap="flat">
                      <a:noFill/>
                    </a:lnL>
                    <a:lnR cap="flat">
                      <a:noFill/>
                    </a:lnR>
                    <a:lnT w="12700" cap="flat" cmpd="sng" algn="ctr">
                      <a:solidFill>
                        <a:srgbClr val="8064A2"/>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8064A2">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solidFill>
                            <a:schemeClr val="hlink"/>
                          </a:solidFill>
                          <a:effectLst/>
                          <a:latin typeface="Calibri" panose="020F0502020204030204" pitchFamily="34" charset="0"/>
                          <a:ea typeface="楷体_GB2312" pitchFamily="1" charset="-122"/>
                        </a:rPr>
                        <a:t>否</a:t>
                      </a:r>
                    </a:p>
                  </a:txBody>
                  <a:tcPr horzOverflow="overflow">
                    <a:lnL cap="flat">
                      <a:noFill/>
                    </a:lnL>
                    <a:lnR cap="flat">
                      <a:noFill/>
                    </a:lnR>
                    <a:lnT w="12700" cap="flat" cmpd="sng" algn="ctr">
                      <a:solidFill>
                        <a:srgbClr val="8064A2"/>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8064A2">
                        <a:alpha val="20000"/>
                      </a:srgbClr>
                    </a:solidFill>
                  </a:tcPr>
                </a:tc>
                <a:extLst>
                  <a:ext uri="{0D108BD9-81ED-4DB2-BD59-A6C34878D82A}">
                    <a16:rowId xmlns:a16="http://schemas.microsoft.com/office/drawing/2014/main" val="58056396"/>
                  </a:ext>
                </a:extLst>
              </a:tr>
              <a:tr h="396875">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4865</a:t>
                      </a:r>
                    </a:p>
                  </a:txBody>
                  <a:tcPr horzOverflow="overflow">
                    <a:lnL cap="flat">
                      <a:noFill/>
                    </a:lnL>
                    <a:lnR cap="flat">
                      <a:noFill/>
                    </a:lnR>
                    <a:lnT w="381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Calibri" panose="020F0502020204030204" pitchFamily="34" charset="0"/>
                          <a:ea typeface="楷体_GB2312" pitchFamily="1" charset="-122"/>
                        </a:rPr>
                        <a:t>是</a:t>
                      </a:r>
                    </a:p>
                  </a:txBody>
                  <a:tcPr horzOverflow="overflow">
                    <a:lnL cap="flat">
                      <a:noFill/>
                    </a:lnL>
                    <a:lnR cap="flat">
                      <a:noFill/>
                    </a:lnR>
                    <a:lnT w="381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36229486"/>
                  </a:ext>
                </a:extLst>
              </a:tr>
              <a:tr h="396875">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6770</a:t>
                      </a:r>
                    </a:p>
                  </a:txBody>
                  <a:tcPr horzOverflow="overflow">
                    <a:lnL cap="flat">
                      <a:noFill/>
                    </a:lnL>
                    <a:lnR cap="flat">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solidFill>
                      <a:srgbClr val="8064A2">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Calibri" panose="020F0502020204030204" pitchFamily="34" charset="0"/>
                          <a:ea typeface="楷体_GB2312" pitchFamily="1" charset="-122"/>
                        </a:rPr>
                        <a:t>是</a:t>
                      </a:r>
                    </a:p>
                  </a:txBody>
                  <a:tcPr horzOverflow="overflow">
                    <a:lnL cap="flat">
                      <a:noFill/>
                    </a:lnL>
                    <a:lnR cap="flat">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solidFill>
                      <a:srgbClr val="8064A2">
                        <a:alpha val="20000"/>
                      </a:srgbClr>
                    </a:solidFill>
                  </a:tcPr>
                </a:tc>
                <a:extLst>
                  <a:ext uri="{0D108BD9-81ED-4DB2-BD59-A6C34878D82A}">
                    <a16:rowId xmlns:a16="http://schemas.microsoft.com/office/drawing/2014/main" val="351243851"/>
                  </a:ext>
                </a:extLst>
              </a:tr>
              <a:tr h="396875">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9800</a:t>
                      </a:r>
                    </a:p>
                  </a:txBody>
                  <a:tcPr horzOverflow="overflow">
                    <a:lnL cap="flat">
                      <a:noFill/>
                    </a:lnL>
                    <a:lnR cap="flat">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Calibri" panose="020F0502020204030204" pitchFamily="34" charset="0"/>
                          <a:ea typeface="楷体_GB2312" pitchFamily="1" charset="-122"/>
                        </a:rPr>
                        <a:t>是</a:t>
                      </a:r>
                    </a:p>
                  </a:txBody>
                  <a:tcPr horzOverflow="overflow">
                    <a:lnL cap="flat">
                      <a:noFill/>
                    </a:lnL>
                    <a:lnR cap="flat">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47292944"/>
                  </a:ext>
                </a:extLst>
              </a:tr>
              <a:tr h="396875">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12000</a:t>
                      </a:r>
                    </a:p>
                  </a:txBody>
                  <a:tcPr horzOverflow="overflow">
                    <a:lnL cap="flat">
                      <a:noFill/>
                    </a:lnL>
                    <a:lnR cap="flat">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solidFill>
                      <a:srgbClr val="8064A2">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Calibri" panose="020F0502020204030204" pitchFamily="34" charset="0"/>
                          <a:ea typeface="楷体_GB2312" pitchFamily="1" charset="-122"/>
                        </a:rPr>
                        <a:t>是</a:t>
                      </a:r>
                    </a:p>
                  </a:txBody>
                  <a:tcPr horzOverflow="overflow">
                    <a:lnL cap="flat">
                      <a:noFill/>
                    </a:lnL>
                    <a:lnR cap="flat">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a:noFill/>
                    </a:lnTlToBr>
                    <a:lnBlToTr>
                      <a:noFill/>
                    </a:lnBlToTr>
                    <a:solidFill>
                      <a:srgbClr val="8064A2">
                        <a:alpha val="20000"/>
                      </a:srgbClr>
                    </a:solidFill>
                  </a:tcPr>
                </a:tc>
                <a:extLst>
                  <a:ext uri="{0D108BD9-81ED-4DB2-BD59-A6C34878D82A}">
                    <a16:rowId xmlns:a16="http://schemas.microsoft.com/office/drawing/2014/main" val="3508317145"/>
                  </a:ext>
                </a:extLst>
              </a:tr>
            </a:tbl>
          </a:graphicData>
        </a:graphic>
      </p:graphicFrame>
    </p:spTree>
    <p:extLst>
      <p:ext uri="{BB962C8B-B14F-4D97-AF65-F5344CB8AC3E}">
        <p14:creationId xmlns:p14="http://schemas.microsoft.com/office/powerpoint/2010/main" val="2753866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A0F7D-EFF0-777E-3C5D-552461B78FAD}"/>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1AE1D0E-E213-D65B-F396-E969B2753DDA}"/>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C4.5</a:t>
            </a:r>
            <a:r>
              <a:rPr lang="zh-CN" altLang="en-US" sz="3200" dirty="0">
                <a:solidFill>
                  <a:srgbClr val="FFFF00"/>
                </a:solidFill>
                <a:latin typeface="华光综艺_CNKI" panose="02000500000000000000" pitchFamily="2" charset="-122"/>
                <a:ea typeface="华光综艺_CNKI" panose="02000500000000000000" pitchFamily="2" charset="-122"/>
              </a:rPr>
              <a:t>的其他处理 </a:t>
            </a:r>
          </a:p>
        </p:txBody>
      </p:sp>
      <p:sp>
        <p:nvSpPr>
          <p:cNvPr id="15" name="Rectangle 3">
            <a:extLst>
              <a:ext uri="{FF2B5EF4-FFF2-40B4-BE49-F238E27FC236}">
                <a16:creationId xmlns:a16="http://schemas.microsoft.com/office/drawing/2014/main" id="{28C25CF0-0625-7BA3-A2AA-DCE04C8A540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3">
            <a:extLst>
              <a:ext uri="{FF2B5EF4-FFF2-40B4-BE49-F238E27FC236}">
                <a16:creationId xmlns:a16="http://schemas.microsoft.com/office/drawing/2014/main" id="{F1F9DD0B-B7AA-6473-2AA0-6F4688BDF95B}"/>
              </a:ext>
            </a:extLst>
          </p:cNvPr>
          <p:cNvSpPr txBox="1">
            <a:spLocks noChangeArrowheads="1"/>
          </p:cNvSpPr>
          <p:nvPr/>
        </p:nvSpPr>
        <p:spPr>
          <a:xfrm>
            <a:off x="653921" y="1473760"/>
            <a:ext cx="10359390" cy="3389313"/>
          </a:xfrm>
          <a:prstGeom prst="rect">
            <a:avLst/>
          </a:prstGeo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3200" dirty="0">
                <a:latin typeface="微软雅黑" panose="020B0503020204020204" pitchFamily="34" charset="-122"/>
                <a:ea typeface="微软雅黑" panose="020B0503020204020204" pitchFamily="34" charset="-122"/>
              </a:rPr>
              <a:t>C4.5</a:t>
            </a:r>
            <a:r>
              <a:rPr lang="zh-CN" altLang="en-US" sz="3200" dirty="0">
                <a:latin typeface="微软雅黑" panose="020B0503020204020204" pitchFamily="34" charset="-122"/>
                <a:ea typeface="微软雅黑" panose="020B0503020204020204" pitchFamily="34" charset="-122"/>
              </a:rPr>
              <a:t>处理的样本中可以含有未知属性值，其处理方法是用最常用的值替代或者是将最常用的值分在同一类中。</a:t>
            </a:r>
          </a:p>
          <a:p>
            <a:pPr lvl="1"/>
            <a:r>
              <a:rPr lang="zh-CN" altLang="en-US" sz="2800" dirty="0">
                <a:ea typeface="华文新魏" panose="02010800040101010101" pitchFamily="2" charset="-122"/>
              </a:rPr>
              <a:t>具体采用概率的方法，依据属性已知的值，对属性和每一个值赋予一个概率，取得这些概率，取得这些概率依赖于该属性已知的值。</a:t>
            </a:r>
            <a:endParaRPr lang="en-US" altLang="zh-CN" sz="2800" dirty="0">
              <a:ea typeface="华文新魏" panose="02010800040101010101" pitchFamily="2" charset="-122"/>
            </a:endParaRPr>
          </a:p>
          <a:p>
            <a:pPr lvl="1"/>
            <a:endParaRPr lang="zh-CN" altLang="en-US" dirty="0">
              <a:ea typeface="华文新魏" panose="02010800040101010101" pitchFamily="2" charset="-122"/>
            </a:endParaRPr>
          </a:p>
          <a:p>
            <a:r>
              <a:rPr lang="zh-CN" altLang="en-US" sz="3200" b="1" dirty="0">
                <a:latin typeface="微软雅黑" panose="020B0503020204020204" pitchFamily="34" charset="-122"/>
                <a:ea typeface="微软雅黑" panose="020B0503020204020204" pitchFamily="34" charset="-122"/>
              </a:rPr>
              <a:t>规则的产生：</a:t>
            </a:r>
            <a:r>
              <a:rPr lang="zh-CN" altLang="en-US" sz="3200" dirty="0">
                <a:latin typeface="微软雅黑" panose="020B0503020204020204" pitchFamily="34" charset="-122"/>
                <a:ea typeface="微软雅黑" panose="020B0503020204020204" pitchFamily="34" charset="-122"/>
              </a:rPr>
              <a:t>一旦树被建立，就可以把树转换成</a:t>
            </a:r>
            <a:r>
              <a:rPr lang="en-US" altLang="en-US" sz="3200" dirty="0">
                <a:latin typeface="微软雅黑" panose="020B0503020204020204" pitchFamily="34" charset="-122"/>
                <a:ea typeface="微软雅黑" panose="020B0503020204020204" pitchFamily="34" charset="-122"/>
              </a:rPr>
              <a:t>if-then</a:t>
            </a:r>
            <a:r>
              <a:rPr lang="zh-CN" altLang="en-US" sz="3200" dirty="0">
                <a:latin typeface="微软雅黑" panose="020B0503020204020204" pitchFamily="34" charset="-122"/>
                <a:ea typeface="微软雅黑" panose="020B0503020204020204" pitchFamily="34" charset="-122"/>
              </a:rPr>
              <a:t>规则。</a:t>
            </a:r>
          </a:p>
          <a:p>
            <a:pPr lvl="1"/>
            <a:r>
              <a:rPr lang="zh-CN" altLang="en-US" sz="2800" dirty="0">
                <a:ea typeface="华文新魏" panose="02010800040101010101" pitchFamily="2" charset="-122"/>
              </a:rPr>
              <a:t>规则存储于一个二维数组中，每一行代表树中的一个规则，即从根到叶之间的一个路径。表中的每列存放着树中的结点。</a:t>
            </a:r>
            <a:r>
              <a:rPr lang="zh-CN" altLang="en-US" sz="2800" dirty="0"/>
              <a:t> </a:t>
            </a:r>
          </a:p>
        </p:txBody>
      </p:sp>
    </p:spTree>
    <p:extLst>
      <p:ext uri="{BB962C8B-B14F-4D97-AF65-F5344CB8AC3E}">
        <p14:creationId xmlns:p14="http://schemas.microsoft.com/office/powerpoint/2010/main" val="17713120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0E738-B887-483B-D448-E2A0C350AE2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505969A-5FD5-00D4-0A2A-7EDBF1D63FAC}"/>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决策树计算练习</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A9141848-639C-3B2A-E33B-71204BBF901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 name="图片 8">
            <a:extLst>
              <a:ext uri="{FF2B5EF4-FFF2-40B4-BE49-F238E27FC236}">
                <a16:creationId xmlns:a16="http://schemas.microsoft.com/office/drawing/2014/main" id="{FB701C33-DC18-5EF9-C37B-60114B123E43}"/>
              </a:ext>
            </a:extLst>
          </p:cNvPr>
          <p:cNvPicPr>
            <a:picLocks noChangeAspect="1"/>
          </p:cNvPicPr>
          <p:nvPr/>
        </p:nvPicPr>
        <p:blipFill>
          <a:blip r:embed="rId3"/>
          <a:stretch>
            <a:fillRect/>
          </a:stretch>
        </p:blipFill>
        <p:spPr>
          <a:xfrm>
            <a:off x="166155" y="1266210"/>
            <a:ext cx="3752505" cy="5028682"/>
          </a:xfrm>
          <a:prstGeom prst="rect">
            <a:avLst/>
          </a:prstGeom>
        </p:spPr>
      </p:pic>
      <p:graphicFrame>
        <p:nvGraphicFramePr>
          <p:cNvPr id="10" name="对象 9">
            <a:extLst>
              <a:ext uri="{FF2B5EF4-FFF2-40B4-BE49-F238E27FC236}">
                <a16:creationId xmlns:a16="http://schemas.microsoft.com/office/drawing/2014/main" id="{7E959CAB-BB9B-AEAC-9080-98049BB1D9C1}"/>
              </a:ext>
            </a:extLst>
          </p:cNvPr>
          <p:cNvGraphicFramePr>
            <a:graphicFrameLocks noChangeAspect="1"/>
          </p:cNvGraphicFramePr>
          <p:nvPr>
            <p:extLst>
              <p:ext uri="{D42A27DB-BD31-4B8C-83A1-F6EECF244321}">
                <p14:modId xmlns:p14="http://schemas.microsoft.com/office/powerpoint/2010/main" val="3858227483"/>
              </p:ext>
            </p:extLst>
          </p:nvPr>
        </p:nvGraphicFramePr>
        <p:xfrm>
          <a:off x="4322445" y="4235839"/>
          <a:ext cx="3733164" cy="1866582"/>
        </p:xfrm>
        <a:graphic>
          <a:graphicData uri="http://schemas.openxmlformats.org/presentationml/2006/ole">
            <mc:AlternateContent xmlns:mc="http://schemas.openxmlformats.org/markup-compatibility/2006">
              <mc:Choice xmlns:v="urn:schemas-microsoft-com:vml" Requires="v">
                <p:oleObj name="Equation" r:id="rId4" imgW="1854000" imgH="927000" progId="Equation.DSMT4">
                  <p:embed/>
                </p:oleObj>
              </mc:Choice>
              <mc:Fallback>
                <p:oleObj name="Equation" r:id="rId4" imgW="1854000" imgH="927000" progId="Equation.DSMT4">
                  <p:embed/>
                  <p:pic>
                    <p:nvPicPr>
                      <p:cNvPr id="0" name=""/>
                      <p:cNvPicPr/>
                      <p:nvPr/>
                    </p:nvPicPr>
                    <p:blipFill>
                      <a:blip r:embed="rId5"/>
                      <a:stretch>
                        <a:fillRect/>
                      </a:stretch>
                    </p:blipFill>
                    <p:spPr>
                      <a:xfrm>
                        <a:off x="4322445" y="4235839"/>
                        <a:ext cx="3733164" cy="186658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BDAB0BF5-A6BE-6A19-71C6-BC92964BB109}"/>
              </a:ext>
            </a:extLst>
          </p:cNvPr>
          <p:cNvGraphicFramePr>
            <a:graphicFrameLocks noChangeAspect="1"/>
          </p:cNvGraphicFramePr>
          <p:nvPr>
            <p:extLst>
              <p:ext uri="{D42A27DB-BD31-4B8C-83A1-F6EECF244321}">
                <p14:modId xmlns:p14="http://schemas.microsoft.com/office/powerpoint/2010/main" val="3816846238"/>
              </p:ext>
            </p:extLst>
          </p:nvPr>
        </p:nvGraphicFramePr>
        <p:xfrm>
          <a:off x="4350217" y="6010535"/>
          <a:ext cx="5290185" cy="680167"/>
        </p:xfrm>
        <a:graphic>
          <a:graphicData uri="http://schemas.openxmlformats.org/presentationml/2006/ole">
            <mc:AlternateContent xmlns:mc="http://schemas.openxmlformats.org/markup-compatibility/2006">
              <mc:Choice xmlns:v="urn:schemas-microsoft-com:vml" Requires="v">
                <p:oleObj name="Equation" r:id="rId6" imgW="2666880" imgH="342720" progId="Equation.DSMT4">
                  <p:embed/>
                </p:oleObj>
              </mc:Choice>
              <mc:Fallback>
                <p:oleObj name="Equation" r:id="rId6" imgW="2666880" imgH="342720" progId="Equation.DSMT4">
                  <p:embed/>
                  <p:pic>
                    <p:nvPicPr>
                      <p:cNvPr id="0" name=""/>
                      <p:cNvPicPr/>
                      <p:nvPr/>
                    </p:nvPicPr>
                    <p:blipFill>
                      <a:blip r:embed="rId7"/>
                      <a:stretch>
                        <a:fillRect/>
                      </a:stretch>
                    </p:blipFill>
                    <p:spPr>
                      <a:xfrm>
                        <a:off x="4350217" y="6010535"/>
                        <a:ext cx="5290185" cy="680167"/>
                      </a:xfrm>
                      <a:prstGeom prst="rect">
                        <a:avLst/>
                      </a:prstGeom>
                    </p:spPr>
                  </p:pic>
                </p:oleObj>
              </mc:Fallback>
            </mc:AlternateContent>
          </a:graphicData>
        </a:graphic>
      </p:graphicFrame>
      <p:sp>
        <p:nvSpPr>
          <p:cNvPr id="12" name="Text Box 18">
            <a:extLst>
              <a:ext uri="{FF2B5EF4-FFF2-40B4-BE49-F238E27FC236}">
                <a16:creationId xmlns:a16="http://schemas.microsoft.com/office/drawing/2014/main" id="{74A712F9-8840-8F7A-B91B-994012455B5B}"/>
              </a:ext>
            </a:extLst>
          </p:cNvPr>
          <p:cNvSpPr txBox="1">
            <a:spLocks noChangeArrowheads="1"/>
          </p:cNvSpPr>
          <p:nvPr/>
        </p:nvSpPr>
        <p:spPr bwMode="auto">
          <a:xfrm>
            <a:off x="4184062" y="1032999"/>
            <a:ext cx="7841783" cy="2862322"/>
          </a:xfrm>
          <a:prstGeom prst="rect">
            <a:avLst/>
          </a:prstGeom>
          <a:noFill/>
          <a:ln>
            <a:noFill/>
          </a:ln>
          <a:effectLst/>
        </p:spPr>
        <p:txBody>
          <a:bodyPr wrap="square">
            <a:spAutoFit/>
          </a:bodyPr>
          <a:lstStyle/>
          <a:p>
            <a:pPr algn="just"/>
            <a:r>
              <a:rPr lang="en-US" altLang="zh-CN" sz="2000" dirty="0">
                <a:latin typeface="楷体_GB2312" pitchFamily="1" charset="-122"/>
                <a:ea typeface="楷体_GB2312" pitchFamily="1" charset="-122"/>
              </a:rPr>
              <a:t>1. </a:t>
            </a:r>
            <a:r>
              <a:rPr lang="zh-CN" altLang="en-US" sz="2000" dirty="0">
                <a:latin typeface="楷体_GB2312" pitchFamily="1" charset="-122"/>
                <a:ea typeface="楷体_GB2312" pitchFamily="1" charset="-122"/>
              </a:rPr>
              <a:t>首先对</a:t>
            </a:r>
            <a:r>
              <a:rPr lang="zh-CN" altLang="en-US" sz="2000" b="1" i="1" dirty="0">
                <a:solidFill>
                  <a:srgbClr val="3333FF"/>
                </a:solidFill>
                <a:latin typeface="楷体_GB2312" pitchFamily="1" charset="-122"/>
                <a:ea typeface="楷体_GB2312" pitchFamily="1" charset="-122"/>
              </a:rPr>
              <a:t>湿度</a:t>
            </a:r>
            <a:r>
              <a:rPr lang="zh-CN" altLang="en-US" sz="2000" dirty="0">
                <a:latin typeface="楷体_GB2312" pitchFamily="1" charset="-122"/>
                <a:ea typeface="楷体_GB2312" pitchFamily="1" charset="-122"/>
              </a:rPr>
              <a:t>进行属性离散化，针对上面的训练集合，通过检测每个划分而确定最好的划分在</a:t>
            </a:r>
            <a:r>
              <a:rPr lang="en-US" altLang="en-US" sz="2000" dirty="0">
                <a:latin typeface="楷体_GB2312" pitchFamily="1" charset="-122"/>
                <a:ea typeface="楷体_GB2312" pitchFamily="1" charset="-122"/>
              </a:rPr>
              <a:t>75</a:t>
            </a:r>
            <a:r>
              <a:rPr lang="zh-CN" altLang="en-US" sz="2000" dirty="0">
                <a:latin typeface="楷体_GB2312" pitchFamily="1" charset="-122"/>
                <a:ea typeface="楷体_GB2312" pitchFamily="1" charset="-122"/>
              </a:rPr>
              <a:t>处，则这个属性的范围就变为</a:t>
            </a:r>
            <a:r>
              <a:rPr lang="en-US" altLang="en-US" sz="2000" dirty="0">
                <a:latin typeface="楷体_GB2312" pitchFamily="1" charset="-122"/>
                <a:ea typeface="楷体_GB2312" pitchFamily="1" charset="-122"/>
              </a:rPr>
              <a:t>{</a:t>
            </a:r>
            <a:r>
              <a:rPr lang="zh-CN" altLang="en-US" sz="2000" dirty="0">
                <a:latin typeface="楷体_GB2312" pitchFamily="1" charset="-122"/>
                <a:ea typeface="楷体_GB2312" pitchFamily="1" charset="-122"/>
              </a:rPr>
              <a:t>（</a:t>
            </a:r>
            <a:r>
              <a:rPr lang="en-US" altLang="en-US" sz="2000" dirty="0">
                <a:latin typeface="楷体_GB2312" pitchFamily="1" charset="-122"/>
                <a:ea typeface="楷体_GB2312" pitchFamily="1" charset="-122"/>
              </a:rPr>
              <a:t>&lt;=75 </a:t>
            </a:r>
            <a:r>
              <a:rPr lang="zh-CN" altLang="en-US" sz="2000" dirty="0">
                <a:latin typeface="楷体_GB2312" pitchFamily="1" charset="-122"/>
                <a:ea typeface="楷体_GB2312" pitchFamily="1" charset="-122"/>
              </a:rPr>
              <a:t>，</a:t>
            </a:r>
            <a:r>
              <a:rPr lang="en-US" altLang="en-US" sz="2000" dirty="0">
                <a:latin typeface="楷体_GB2312" pitchFamily="1" charset="-122"/>
                <a:ea typeface="楷体_GB2312" pitchFamily="1" charset="-122"/>
              </a:rPr>
              <a:t>&gt;75</a:t>
            </a:r>
            <a:r>
              <a:rPr lang="zh-CN" altLang="en-US" sz="2000" dirty="0">
                <a:latin typeface="楷体_GB2312" pitchFamily="1" charset="-122"/>
                <a:ea typeface="楷体_GB2312" pitchFamily="1" charset="-122"/>
              </a:rPr>
              <a:t>）</a:t>
            </a:r>
            <a:r>
              <a:rPr lang="en-US" altLang="en-US" sz="2000" dirty="0">
                <a:latin typeface="楷体_GB2312" pitchFamily="1" charset="-122"/>
                <a:ea typeface="楷体_GB2312" pitchFamily="1" charset="-122"/>
              </a:rPr>
              <a:t>}</a:t>
            </a:r>
            <a:r>
              <a:rPr lang="zh-CN" altLang="en-US" sz="2000" dirty="0">
                <a:latin typeface="楷体_GB2312" pitchFamily="1" charset="-122"/>
                <a:ea typeface="楷体_GB2312" pitchFamily="1" charset="-122"/>
              </a:rPr>
              <a:t>。</a:t>
            </a:r>
          </a:p>
          <a:p>
            <a:pPr algn="just"/>
            <a:r>
              <a:rPr lang="en-US" altLang="zh-CN" sz="2000" dirty="0">
                <a:latin typeface="楷体_GB2312" pitchFamily="1" charset="-122"/>
                <a:ea typeface="楷体_GB2312" pitchFamily="1" charset="-122"/>
              </a:rPr>
              <a:t>2. </a:t>
            </a:r>
            <a:r>
              <a:rPr lang="zh-CN" altLang="en-US" sz="2000" dirty="0">
                <a:latin typeface="楷体_GB2312" pitchFamily="1" charset="-122"/>
                <a:ea typeface="楷体_GB2312" pitchFamily="1" charset="-122"/>
              </a:rPr>
              <a:t>计算目标属性</a:t>
            </a:r>
            <a:r>
              <a:rPr lang="zh-CN" altLang="en-US" sz="2000" b="1" i="1" dirty="0">
                <a:solidFill>
                  <a:srgbClr val="3333FF"/>
                </a:solidFill>
                <a:latin typeface="楷体_GB2312" pitchFamily="1" charset="-122"/>
                <a:ea typeface="楷体_GB2312" pitchFamily="1" charset="-122"/>
              </a:rPr>
              <a:t>打网球</a:t>
            </a:r>
            <a:r>
              <a:rPr lang="zh-CN" altLang="en-US" sz="2000" dirty="0">
                <a:latin typeface="楷体_GB2312" pitchFamily="1" charset="-122"/>
                <a:ea typeface="楷体_GB2312" pitchFamily="1" charset="-122"/>
              </a:rPr>
              <a:t>分类的期望信息：</a:t>
            </a:r>
          </a:p>
          <a:p>
            <a:pPr algn="just"/>
            <a:r>
              <a:rPr lang="en-US" altLang="zh-CN" sz="2000" dirty="0">
                <a:latin typeface="楷体_GB2312" pitchFamily="1" charset="-122"/>
                <a:ea typeface="楷体_GB2312" pitchFamily="1" charset="-122"/>
              </a:rPr>
              <a:t>3. </a:t>
            </a:r>
            <a:r>
              <a:rPr lang="zh-CN" altLang="en-US" sz="2000" dirty="0">
                <a:latin typeface="楷体_GB2312" pitchFamily="1" charset="-122"/>
                <a:ea typeface="楷体_GB2312" pitchFamily="1" charset="-122"/>
              </a:rPr>
              <a:t>计算每个属性的</a:t>
            </a:r>
            <a:r>
              <a:rPr lang="en-US" altLang="en-US" sz="2000" dirty="0" err="1">
                <a:latin typeface="楷体_GB2312" pitchFamily="1" charset="-122"/>
                <a:ea typeface="楷体_GB2312" pitchFamily="1" charset="-122"/>
              </a:rPr>
              <a:t>GainRatio</a:t>
            </a:r>
            <a:r>
              <a:rPr lang="zh-CN" altLang="en-US" sz="2000" dirty="0">
                <a:latin typeface="楷体_GB2312" pitchFamily="1" charset="-122"/>
                <a:ea typeface="楷体_GB2312" pitchFamily="1" charset="-122"/>
              </a:rPr>
              <a:t>：</a:t>
            </a:r>
            <a:endParaRPr lang="en-US" altLang="zh-CN" sz="2000" dirty="0">
              <a:latin typeface="楷体_GB2312" pitchFamily="1" charset="-122"/>
              <a:ea typeface="楷体_GB2312" pitchFamily="1" charset="-122"/>
            </a:endParaRPr>
          </a:p>
          <a:p>
            <a:pPr algn="just"/>
            <a:r>
              <a:rPr lang="en-US" altLang="zh-CN" sz="2000" dirty="0">
                <a:latin typeface="楷体_GB2312" pitchFamily="1" charset="-122"/>
                <a:ea typeface="楷体_GB2312" pitchFamily="1" charset="-122"/>
              </a:rPr>
              <a:t>4. </a:t>
            </a:r>
            <a:r>
              <a:rPr lang="zh-CN" altLang="en-US" sz="2000" dirty="0">
                <a:latin typeface="楷体_GB2312" pitchFamily="1" charset="-122"/>
                <a:ea typeface="楷体_GB2312" pitchFamily="1" charset="-122"/>
              </a:rPr>
              <a:t>选取最大的</a:t>
            </a:r>
            <a:r>
              <a:rPr lang="en-US" altLang="zh-CN" sz="2000" dirty="0" err="1">
                <a:latin typeface="楷体_GB2312" pitchFamily="1" charset="-122"/>
                <a:ea typeface="楷体_GB2312" pitchFamily="1" charset="-122"/>
              </a:rPr>
              <a:t>GainRatio</a:t>
            </a:r>
            <a:r>
              <a:rPr lang="zh-CN" altLang="en-US" sz="2000" dirty="0">
                <a:latin typeface="楷体_GB2312" pitchFamily="1" charset="-122"/>
                <a:ea typeface="楷体_GB2312" pitchFamily="1" charset="-122"/>
              </a:rPr>
              <a:t>，根据天气的取值，得到三个分枝。</a:t>
            </a:r>
          </a:p>
          <a:p>
            <a:pPr algn="just"/>
            <a:r>
              <a:rPr lang="en-US" altLang="zh-CN" sz="2000" dirty="0">
                <a:latin typeface="楷体_GB2312" pitchFamily="1" charset="-122"/>
                <a:ea typeface="楷体_GB2312" pitchFamily="1" charset="-122"/>
              </a:rPr>
              <a:t>5. </a:t>
            </a:r>
            <a:r>
              <a:rPr lang="zh-CN" altLang="en-US" sz="2000" dirty="0">
                <a:latin typeface="楷体_GB2312" pitchFamily="1" charset="-122"/>
                <a:ea typeface="楷体_GB2312" pitchFamily="1" charset="-122"/>
              </a:rPr>
              <a:t>再扩展各分枝节点，得到最终的决策树。</a:t>
            </a:r>
          </a:p>
          <a:p>
            <a:pPr algn="just"/>
            <a:endParaRPr lang="zh-CN" altLang="en-US" sz="2000" dirty="0">
              <a:latin typeface="楷体_GB2312" pitchFamily="1" charset="-122"/>
              <a:ea typeface="楷体_GB2312" pitchFamily="1" charset="-122"/>
            </a:endParaRPr>
          </a:p>
          <a:p>
            <a:pPr algn="just"/>
            <a:r>
              <a:rPr lang="zh-CN" altLang="en-US" sz="2000" dirty="0">
                <a:latin typeface="楷体_GB2312" pitchFamily="1" charset="-122"/>
                <a:ea typeface="楷体_GB2312" pitchFamily="1" charset="-122"/>
              </a:rPr>
              <a:t>问题：就天气</a:t>
            </a:r>
            <a:r>
              <a:rPr lang="en-US" altLang="zh-CN" sz="2000" dirty="0">
                <a:latin typeface="楷体_GB2312" pitchFamily="1" charset="-122"/>
                <a:ea typeface="楷体_GB2312" pitchFamily="1" charset="-122"/>
              </a:rPr>
              <a:t>=Sunny</a:t>
            </a:r>
            <a:r>
              <a:rPr lang="zh-CN" altLang="en-US" sz="2000" dirty="0">
                <a:latin typeface="楷体_GB2312" pitchFamily="1" charset="-122"/>
                <a:ea typeface="楷体_GB2312" pitchFamily="1" charset="-122"/>
              </a:rPr>
              <a:t>这一分支，请用</a:t>
            </a:r>
            <a:r>
              <a:rPr lang="en-US" altLang="zh-CN" sz="2000" dirty="0">
                <a:latin typeface="楷体_GB2312" pitchFamily="1" charset="-122"/>
                <a:ea typeface="楷体_GB2312" pitchFamily="1" charset="-122"/>
              </a:rPr>
              <a:t>C4.5</a:t>
            </a:r>
            <a:r>
              <a:rPr lang="zh-CN" altLang="en-US" sz="2000" dirty="0">
                <a:latin typeface="楷体_GB2312" pitchFamily="1" charset="-122"/>
                <a:ea typeface="楷体_GB2312" pitchFamily="1" charset="-122"/>
              </a:rPr>
              <a:t>算法构造决策树。</a:t>
            </a:r>
          </a:p>
        </p:txBody>
      </p:sp>
    </p:spTree>
    <p:extLst>
      <p:ext uri="{BB962C8B-B14F-4D97-AF65-F5344CB8AC3E}">
        <p14:creationId xmlns:p14="http://schemas.microsoft.com/office/powerpoint/2010/main" val="2136667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EBD32-592D-139B-A46D-531D9C8A938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778B524-DE39-1E14-E622-22721397AEF7}"/>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CART</a:t>
            </a:r>
            <a:r>
              <a:rPr lang="zh-CN" altLang="en-US" sz="3200" dirty="0">
                <a:solidFill>
                  <a:srgbClr val="FFFF00"/>
                </a:solidFill>
                <a:latin typeface="华光综艺_CNKI" panose="02000500000000000000" pitchFamily="2" charset="-122"/>
                <a:ea typeface="华光综艺_CNKI" panose="02000500000000000000" pitchFamily="2" charset="-122"/>
              </a:rPr>
              <a:t>决策树</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94A041DA-E3AD-BD3D-FFEB-8795FC58F05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56A92AAB-8BB4-8828-67B1-DD3228853A1F}"/>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F0264BA7-513E-01D8-3A52-3B670B9F49F2}"/>
              </a:ext>
            </a:extLst>
          </p:cNvPr>
          <p:cNvSpPr txBox="1"/>
          <p:nvPr/>
        </p:nvSpPr>
        <p:spPr>
          <a:xfrm>
            <a:off x="269342" y="1045301"/>
            <a:ext cx="11781286" cy="1569660"/>
          </a:xfrm>
          <a:prstGeom prst="rect">
            <a:avLst/>
          </a:prstGeom>
          <a:noFill/>
        </p:spPr>
        <p:txBody>
          <a:bodyPr wrap="square">
            <a:spAutoFit/>
          </a:bodyPr>
          <a:lstStyle>
            <a:defPPr>
              <a:defRPr lang="zh-CN"/>
            </a:defPPr>
            <a:lvl1pPr>
              <a:defRPr sz="2400">
                <a:latin typeface="微软雅黑" panose="020B0503020204020204" pitchFamily="34" charset="-122"/>
                <a:ea typeface="微软雅黑" panose="020B0503020204020204" pitchFamily="34" charset="-122"/>
              </a:defRPr>
            </a:lvl1pPr>
          </a:lstStyle>
          <a:p>
            <a:r>
              <a:rPr lang="en-US" altLang="zh-CN" dirty="0"/>
              <a:t>CART</a:t>
            </a:r>
            <a:r>
              <a:rPr lang="zh-CN" altLang="zh-CN" dirty="0"/>
              <a:t>（</a:t>
            </a:r>
            <a:r>
              <a:rPr lang="en-US" altLang="zh-CN" dirty="0"/>
              <a:t>Classification and Regression Trees</a:t>
            </a:r>
            <a:r>
              <a:rPr lang="zh-CN" altLang="zh-CN" dirty="0"/>
              <a:t>）决策树又称分类回归树，它既可用于分类，又可用于回归。</a:t>
            </a:r>
            <a:r>
              <a:rPr lang="zh-CN" altLang="en-US" dirty="0"/>
              <a:t>这里主要</a:t>
            </a:r>
            <a:r>
              <a:rPr lang="zh-CN" altLang="zh-CN" dirty="0"/>
              <a:t>介绍分类树的</a:t>
            </a:r>
            <a:r>
              <a:rPr lang="en-US" altLang="zh-CN" dirty="0"/>
              <a:t>CART</a:t>
            </a:r>
            <a:r>
              <a:rPr lang="zh-CN" altLang="en-US" dirty="0"/>
              <a:t>。</a:t>
            </a:r>
            <a:r>
              <a:rPr lang="zh-CN" altLang="zh-CN" dirty="0"/>
              <a:t>在分类任务中，</a:t>
            </a:r>
            <a:r>
              <a:rPr lang="en-US" altLang="zh-CN" dirty="0"/>
              <a:t>CART</a:t>
            </a:r>
            <a:r>
              <a:rPr lang="zh-CN" altLang="zh-CN" dirty="0"/>
              <a:t>决策树使用</a:t>
            </a:r>
            <a:r>
              <a:rPr lang="zh-CN" altLang="zh-CN" dirty="0">
                <a:solidFill>
                  <a:srgbClr val="FF0000"/>
                </a:solidFill>
              </a:rPr>
              <a:t>基尼系数</a:t>
            </a:r>
            <a:r>
              <a:rPr lang="zh-CN" altLang="zh-CN" dirty="0"/>
              <a:t>衡量数据集的纯度。</a:t>
            </a:r>
          </a:p>
          <a:p>
            <a:endParaRPr lang="zh-CN" altLang="en-US" dirty="0"/>
          </a:p>
        </p:txBody>
      </p:sp>
      <p:graphicFrame>
        <p:nvGraphicFramePr>
          <p:cNvPr id="23" name="对象 22">
            <a:extLst>
              <a:ext uri="{FF2B5EF4-FFF2-40B4-BE49-F238E27FC236}">
                <a16:creationId xmlns:a16="http://schemas.microsoft.com/office/drawing/2014/main" id="{922C7A5B-C755-BCD1-A93C-5D84F5EA64D7}"/>
              </a:ext>
            </a:extLst>
          </p:cNvPr>
          <p:cNvGraphicFramePr>
            <a:graphicFrameLocks noChangeAspect="1"/>
          </p:cNvGraphicFramePr>
          <p:nvPr>
            <p:extLst>
              <p:ext uri="{D42A27DB-BD31-4B8C-83A1-F6EECF244321}">
                <p14:modId xmlns:p14="http://schemas.microsoft.com/office/powerpoint/2010/main" val="918422760"/>
              </p:ext>
            </p:extLst>
          </p:nvPr>
        </p:nvGraphicFramePr>
        <p:xfrm>
          <a:off x="10174147" y="2750969"/>
          <a:ext cx="343992" cy="421667"/>
        </p:xfrm>
        <a:graphic>
          <a:graphicData uri="http://schemas.openxmlformats.org/presentationml/2006/ole">
            <mc:AlternateContent xmlns:mc="http://schemas.openxmlformats.org/markup-compatibility/2006">
              <mc:Choice xmlns:v="urn:schemas-microsoft-com:vml" Requires="v">
                <p:oleObj name="Equation" r:id="rId3" imgW="190500" imgH="228600" progId="Equation.DSMT4">
                  <p:embed/>
                </p:oleObj>
              </mc:Choice>
              <mc:Fallback>
                <p:oleObj name="Equation" r:id="rId3" imgW="190500" imgH="228600" progId="Equation.DSMT4">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74147" y="2750969"/>
                        <a:ext cx="343992" cy="421667"/>
                      </a:xfrm>
                      <a:prstGeom prst="rect">
                        <a:avLst/>
                      </a:prstGeom>
                      <a:noFill/>
                    </p:spPr>
                  </p:pic>
                </p:oleObj>
              </mc:Fallback>
            </mc:AlternateContent>
          </a:graphicData>
        </a:graphic>
      </p:graphicFrame>
      <p:graphicFrame>
        <p:nvGraphicFramePr>
          <p:cNvPr id="24" name="对象 23">
            <a:extLst>
              <a:ext uri="{FF2B5EF4-FFF2-40B4-BE49-F238E27FC236}">
                <a16:creationId xmlns:a16="http://schemas.microsoft.com/office/drawing/2014/main" id="{D02CA7A5-F5D9-6245-4821-61486F403F8B}"/>
              </a:ext>
            </a:extLst>
          </p:cNvPr>
          <p:cNvGraphicFramePr>
            <a:graphicFrameLocks noChangeAspect="1"/>
          </p:cNvGraphicFramePr>
          <p:nvPr>
            <p:extLst>
              <p:ext uri="{D42A27DB-BD31-4B8C-83A1-F6EECF244321}">
                <p14:modId xmlns:p14="http://schemas.microsoft.com/office/powerpoint/2010/main" val="3731484467"/>
              </p:ext>
            </p:extLst>
          </p:nvPr>
        </p:nvGraphicFramePr>
        <p:xfrm>
          <a:off x="3118157" y="3710917"/>
          <a:ext cx="5463333" cy="1044900"/>
        </p:xfrm>
        <a:graphic>
          <a:graphicData uri="http://schemas.openxmlformats.org/presentationml/2006/ole">
            <mc:AlternateContent xmlns:mc="http://schemas.openxmlformats.org/markup-compatibility/2006">
              <mc:Choice xmlns:v="urn:schemas-microsoft-com:vml" Requires="v">
                <p:oleObj name="Equation" r:id="rId5" imgW="2336800" imgH="431800" progId="Equation.DSMT4">
                  <p:embed/>
                </p:oleObj>
              </mc:Choice>
              <mc:Fallback>
                <p:oleObj name="Equation" r:id="rId5" imgW="2336800" imgH="431800"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18157" y="3710917"/>
                        <a:ext cx="5463333" cy="1044900"/>
                      </a:xfrm>
                      <a:prstGeom prst="rect">
                        <a:avLst/>
                      </a:prstGeom>
                      <a:noFill/>
                    </p:spPr>
                  </p:pic>
                </p:oleObj>
              </mc:Fallback>
            </mc:AlternateContent>
          </a:graphicData>
        </a:graphic>
      </p:graphicFrame>
      <p:graphicFrame>
        <p:nvGraphicFramePr>
          <p:cNvPr id="25" name="对象 24">
            <a:extLst>
              <a:ext uri="{FF2B5EF4-FFF2-40B4-BE49-F238E27FC236}">
                <a16:creationId xmlns:a16="http://schemas.microsoft.com/office/drawing/2014/main" id="{5AE90083-5FFA-E8E2-6EB0-BB56309C0C7B}"/>
              </a:ext>
            </a:extLst>
          </p:cNvPr>
          <p:cNvGraphicFramePr>
            <a:graphicFrameLocks noChangeAspect="1"/>
          </p:cNvGraphicFramePr>
          <p:nvPr>
            <p:extLst>
              <p:ext uri="{D42A27DB-BD31-4B8C-83A1-F6EECF244321}">
                <p14:modId xmlns:p14="http://schemas.microsoft.com/office/powerpoint/2010/main" val="666247050"/>
              </p:ext>
            </p:extLst>
          </p:nvPr>
        </p:nvGraphicFramePr>
        <p:xfrm>
          <a:off x="7022156" y="5098440"/>
          <a:ext cx="343992" cy="421667"/>
        </p:xfrm>
        <a:graphic>
          <a:graphicData uri="http://schemas.openxmlformats.org/presentationml/2006/ole">
            <mc:AlternateContent xmlns:mc="http://schemas.openxmlformats.org/markup-compatibility/2006">
              <mc:Choice xmlns:v="urn:schemas-microsoft-com:vml" Requires="v">
                <p:oleObj name="Equation" r:id="rId7" imgW="190500" imgH="228600" progId="Equation.DSMT4">
                  <p:embed/>
                </p:oleObj>
              </mc:Choice>
              <mc:Fallback>
                <p:oleObj name="Equation" r:id="rId7" imgW="190500" imgH="228600"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2156" y="5098440"/>
                        <a:ext cx="343992" cy="421667"/>
                      </a:xfrm>
                      <a:prstGeom prst="rect">
                        <a:avLst/>
                      </a:prstGeom>
                      <a:noFill/>
                    </p:spPr>
                  </p:pic>
                </p:oleObj>
              </mc:Fallback>
            </mc:AlternateContent>
          </a:graphicData>
        </a:graphic>
      </p:graphicFrame>
      <p:graphicFrame>
        <p:nvGraphicFramePr>
          <p:cNvPr id="26" name="对象 25">
            <a:extLst>
              <a:ext uri="{FF2B5EF4-FFF2-40B4-BE49-F238E27FC236}">
                <a16:creationId xmlns:a16="http://schemas.microsoft.com/office/drawing/2014/main" id="{18F6AA3F-37E6-1959-24C9-4404CE5B36F7}"/>
              </a:ext>
            </a:extLst>
          </p:cNvPr>
          <p:cNvGraphicFramePr>
            <a:graphicFrameLocks noChangeAspect="1"/>
          </p:cNvGraphicFramePr>
          <p:nvPr>
            <p:extLst>
              <p:ext uri="{D42A27DB-BD31-4B8C-83A1-F6EECF244321}">
                <p14:modId xmlns:p14="http://schemas.microsoft.com/office/powerpoint/2010/main" val="3033852469"/>
              </p:ext>
            </p:extLst>
          </p:nvPr>
        </p:nvGraphicFramePr>
        <p:xfrm>
          <a:off x="6383600" y="5087369"/>
          <a:ext cx="343992" cy="421667"/>
        </p:xfrm>
        <a:graphic>
          <a:graphicData uri="http://schemas.openxmlformats.org/presentationml/2006/ole">
            <mc:AlternateContent xmlns:mc="http://schemas.openxmlformats.org/markup-compatibility/2006">
              <mc:Choice xmlns:v="urn:schemas-microsoft-com:vml" Requires="v">
                <p:oleObj name="Equation" r:id="rId9" imgW="203112" imgH="228501" progId="Equation.DSMT4">
                  <p:embed/>
                </p:oleObj>
              </mc:Choice>
              <mc:Fallback>
                <p:oleObj name="Equation" r:id="rId9" imgW="203112" imgH="228501" progId="Equation.DSMT4">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83600" y="5087369"/>
                        <a:ext cx="343992" cy="421667"/>
                      </a:xfrm>
                      <a:prstGeom prst="rect">
                        <a:avLst/>
                      </a:prstGeom>
                      <a:noFill/>
                    </p:spPr>
                  </p:pic>
                </p:oleObj>
              </mc:Fallback>
            </mc:AlternateContent>
          </a:graphicData>
        </a:graphic>
      </p:graphicFrame>
      <p:graphicFrame>
        <p:nvGraphicFramePr>
          <p:cNvPr id="27" name="对象 26">
            <a:extLst>
              <a:ext uri="{FF2B5EF4-FFF2-40B4-BE49-F238E27FC236}">
                <a16:creationId xmlns:a16="http://schemas.microsoft.com/office/drawing/2014/main" id="{676B1A12-F039-88B4-133B-DCD5035B2CC2}"/>
              </a:ext>
            </a:extLst>
          </p:cNvPr>
          <p:cNvGraphicFramePr>
            <a:graphicFrameLocks noChangeAspect="1"/>
          </p:cNvGraphicFramePr>
          <p:nvPr>
            <p:extLst>
              <p:ext uri="{D42A27DB-BD31-4B8C-83A1-F6EECF244321}">
                <p14:modId xmlns:p14="http://schemas.microsoft.com/office/powerpoint/2010/main" val="1714290583"/>
              </p:ext>
            </p:extLst>
          </p:nvPr>
        </p:nvGraphicFramePr>
        <p:xfrm>
          <a:off x="3118157" y="5929932"/>
          <a:ext cx="5358070" cy="830997"/>
        </p:xfrm>
        <a:graphic>
          <a:graphicData uri="http://schemas.openxmlformats.org/presentationml/2006/ole">
            <mc:AlternateContent xmlns:mc="http://schemas.openxmlformats.org/markup-compatibility/2006">
              <mc:Choice xmlns:v="urn:schemas-microsoft-com:vml" Requires="v">
                <p:oleObj name="Equation" r:id="rId11" imgW="2743200" imgH="419100" progId="Equation.DSMT4">
                  <p:embed/>
                </p:oleObj>
              </mc:Choice>
              <mc:Fallback>
                <p:oleObj name="Equation" r:id="rId11" imgW="2743200" imgH="41910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18157" y="5929932"/>
                        <a:ext cx="5358070" cy="830997"/>
                      </a:xfrm>
                      <a:prstGeom prst="rect">
                        <a:avLst/>
                      </a:prstGeom>
                      <a:noFill/>
                    </p:spPr>
                  </p:pic>
                </p:oleObj>
              </mc:Fallback>
            </mc:AlternateContent>
          </a:graphicData>
        </a:graphic>
      </p:graphicFrame>
      <p:sp>
        <p:nvSpPr>
          <p:cNvPr id="28" name="Rectangle 17">
            <a:extLst>
              <a:ext uri="{FF2B5EF4-FFF2-40B4-BE49-F238E27FC236}">
                <a16:creationId xmlns:a16="http://schemas.microsoft.com/office/drawing/2014/main" id="{D03658AF-D585-8618-BD41-ABFA33637F65}"/>
              </a:ext>
            </a:extLst>
          </p:cNvPr>
          <p:cNvSpPr>
            <a:spLocks noChangeArrowheads="1"/>
          </p:cNvSpPr>
          <p:nvPr/>
        </p:nvSpPr>
        <p:spPr bwMode="auto">
          <a:xfrm>
            <a:off x="-11571" y="2409545"/>
            <a:ext cx="120023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6388"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基尼系数（</a:t>
            </a:r>
            <a:r>
              <a:rPr kumimoji="0" lang="en-US" altLang="zh-CN" sz="24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Gini index</a:t>
            </a:r>
            <a:r>
              <a:rPr kumimoji="0" lang="zh-CN" altLang="en-US" sz="24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是用于度量一个数据集中随机选取两个不同样本时，这两个</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0" marR="0" lvl="0" indent="306388"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样本在类别上不一致的概率。假设数据集</a:t>
            </a:r>
            <a:r>
              <a:rPr kumimoji="0" lang="en-US" altLang="zh-CN" sz="2400" b="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中的样本具有</a:t>
            </a:r>
            <a:r>
              <a:rPr kumimoji="0" lang="en-US" altLang="zh-CN" sz="2400" b="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K</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个不同的类别，    </a:t>
            </a:r>
            <a:r>
              <a:rPr kumimoji="0" lang="zh-CN" altLang="zh-CN"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是样本数</a:t>
            </a:r>
            <a:endParaRPr kumimoji="0" lang="zh-CN"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9" name="Rectangle 18">
            <a:extLst>
              <a:ext uri="{FF2B5EF4-FFF2-40B4-BE49-F238E27FC236}">
                <a16:creationId xmlns:a16="http://schemas.microsoft.com/office/drawing/2014/main" id="{67627C50-5283-56A3-AAE9-E6D97EC46DFA}"/>
              </a:ext>
            </a:extLst>
          </p:cNvPr>
          <p:cNvSpPr>
            <a:spLocks noChangeArrowheads="1"/>
          </p:cNvSpPr>
          <p:nvPr/>
        </p:nvSpPr>
        <p:spPr bwMode="auto">
          <a:xfrm>
            <a:off x="-77203" y="3151233"/>
            <a:ext cx="524727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306388"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306388" algn="ctr"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据第</a:t>
            </a:r>
            <a:r>
              <a:rPr kumimoji="0" lang="en-US" altLang="zh-CN" sz="2400" b="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k</a:t>
            </a:r>
            <a:r>
              <a:rPr kumimoji="0" lang="zh-CN" altLang="en-US" sz="24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类的概率，则其基尼系数为：</a:t>
            </a:r>
            <a:endParaRPr kumimoji="0" lang="zh-CN"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306388"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0" name="Rectangle 19">
            <a:extLst>
              <a:ext uri="{FF2B5EF4-FFF2-40B4-BE49-F238E27FC236}">
                <a16:creationId xmlns:a16="http://schemas.microsoft.com/office/drawing/2014/main" id="{01F0D9D4-9E39-C5A7-7BCE-97416614C44A}"/>
              </a:ext>
            </a:extLst>
          </p:cNvPr>
          <p:cNvSpPr>
            <a:spLocks noChangeArrowheads="1"/>
          </p:cNvSpPr>
          <p:nvPr/>
        </p:nvSpPr>
        <p:spPr bwMode="auto">
          <a:xfrm>
            <a:off x="12700" y="4671871"/>
            <a:ext cx="663386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306388"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1pPr>
            <a:lvl2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2pPr>
            <a:lvl3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3pPr>
            <a:lvl4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4pPr>
            <a:lvl5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5pPr>
            <a:lvl6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6pPr>
            <a:lvl7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7pPr>
            <a:lvl8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8pPr>
            <a:lvl9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9pPr>
          </a:lstStyle>
          <a:p>
            <a:pPr marL="0" marR="0" lvl="0" indent="306388" algn="l" defTabSz="914400" rtl="0" eaLnBrk="0" fontAlgn="base" latinLnBrk="0" hangingPunct="0">
              <a:lnSpc>
                <a:spcPct val="100000"/>
              </a:lnSpc>
              <a:spcBef>
                <a:spcPct val="0"/>
              </a:spcBef>
              <a:spcAft>
                <a:spcPct val="0"/>
              </a:spcAft>
              <a:buClrTx/>
              <a:buSzTx/>
              <a:buFontTx/>
              <a:buNone/>
              <a:tabLst>
                <a:tab pos="2641600" algn="ctr"/>
                <a:tab pos="5270500" algn="r"/>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306388" algn="l" defTabSz="914400" rtl="0" eaLnBrk="0" fontAlgn="base" latinLnBrk="0" hangingPunct="0">
              <a:lnSpc>
                <a:spcPct val="100000"/>
              </a:lnSpc>
              <a:spcBef>
                <a:spcPct val="0"/>
              </a:spcBef>
              <a:spcAft>
                <a:spcPct val="0"/>
              </a:spcAft>
              <a:buClrTx/>
              <a:buSzTx/>
              <a:buFontTx/>
              <a:buNone/>
              <a:tabLst>
                <a:tab pos="2641600" algn="ctr"/>
                <a:tab pos="5270500" algn="r"/>
              </a:tabLst>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如果</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根据特征</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是否取某一可能值</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被分割为</a:t>
            </a:r>
          </a:p>
        </p:txBody>
      </p:sp>
      <p:sp>
        <p:nvSpPr>
          <p:cNvPr id="31" name="Rectangle 20">
            <a:extLst>
              <a:ext uri="{FF2B5EF4-FFF2-40B4-BE49-F238E27FC236}">
                <a16:creationId xmlns:a16="http://schemas.microsoft.com/office/drawing/2014/main" id="{4110C630-359D-DAB0-9191-3C67BF90019A}"/>
              </a:ext>
            </a:extLst>
          </p:cNvPr>
          <p:cNvSpPr>
            <a:spLocks noChangeArrowheads="1"/>
          </p:cNvSpPr>
          <p:nvPr/>
        </p:nvSpPr>
        <p:spPr bwMode="auto">
          <a:xfrm>
            <a:off x="6358821" y="5041203"/>
            <a:ext cx="14017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06388" algn="l" defTabSz="914400" rtl="0" eaLnBrk="0" fontAlgn="base" latinLnBrk="0" hangingPunct="0">
              <a:lnSpc>
                <a:spcPct val="100000"/>
              </a:lnSpc>
              <a:spcBef>
                <a:spcPct val="0"/>
              </a:spcBef>
              <a:spcAft>
                <a:spcPct val="0"/>
              </a:spcAft>
              <a:buClrTx/>
              <a:buSzTx/>
              <a:buFontTx/>
              <a:buNone/>
              <a:tabLst/>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和</a:t>
            </a:r>
          </a:p>
        </p:txBody>
      </p:sp>
      <p:sp>
        <p:nvSpPr>
          <p:cNvPr id="32" name="Rectangle 21">
            <a:extLst>
              <a:ext uri="{FF2B5EF4-FFF2-40B4-BE49-F238E27FC236}">
                <a16:creationId xmlns:a16="http://schemas.microsoft.com/office/drawing/2014/main" id="{9F65FF80-CFA7-DE12-C906-BD7DC88AA3B3}"/>
              </a:ext>
            </a:extLst>
          </p:cNvPr>
          <p:cNvSpPr>
            <a:spLocks noChangeArrowheads="1"/>
          </p:cNvSpPr>
          <p:nvPr/>
        </p:nvSpPr>
        <p:spPr bwMode="auto">
          <a:xfrm>
            <a:off x="7059686" y="4995359"/>
            <a:ext cx="46830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306388"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306388" algn="ctr" defTabSz="914400" rtl="0" eaLnBrk="0" fontAlgn="base" latinLnBrk="0" hangingPunct="0">
              <a:lnSpc>
                <a:spcPct val="100000"/>
              </a:lnSpc>
              <a:spcBef>
                <a:spcPct val="0"/>
              </a:spcBef>
              <a:spcAft>
                <a:spcPct val="0"/>
              </a:spcAft>
              <a:buClrTx/>
              <a:buSzTx/>
              <a:buFontTx/>
              <a:buNone/>
              <a:tabLst/>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两部分，则在特征</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的条件下，</a:t>
            </a:r>
            <a:endParaRPr kumimoji="0" lang="zh-CN"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BA1F1818-7EB3-B91F-D4F8-025A6FD009C0}"/>
              </a:ext>
            </a:extLst>
          </p:cNvPr>
          <p:cNvSpPr txBox="1"/>
          <p:nvPr/>
        </p:nvSpPr>
        <p:spPr>
          <a:xfrm>
            <a:off x="-1134589" y="5457024"/>
            <a:ext cx="6134582" cy="830997"/>
          </a:xfrm>
          <a:prstGeom prst="rect">
            <a:avLst/>
          </a:prstGeom>
          <a:noFill/>
        </p:spPr>
        <p:txBody>
          <a:bodyPr wrap="square">
            <a:spAutoFit/>
          </a:bodyPr>
          <a:lstStyle/>
          <a:p>
            <a:pPr marL="0" marR="0" lvl="0" indent="306388" algn="ctr" defTabSz="914400" rtl="0" eaLnBrk="0" fontAlgn="base" latinLnBrk="0" hangingPunct="0">
              <a:lnSpc>
                <a:spcPct val="100000"/>
              </a:lnSpc>
              <a:spcBef>
                <a:spcPct val="0"/>
              </a:spcBef>
              <a:spcAft>
                <a:spcPct val="0"/>
              </a:spcAft>
              <a:buClrTx/>
              <a:buSzTx/>
              <a:buFontTx/>
              <a:buNone/>
              <a:tabLst/>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数据集</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的基尼系数为：</a:t>
            </a:r>
          </a:p>
          <a:p>
            <a:pPr marL="0" marR="0" lvl="0" indent="306388"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034975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B6550-DC2B-3B05-6EEE-013F9173D5D1}"/>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53F45CCD-6219-75E3-3943-9E2C99D00DAF}"/>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CART</a:t>
            </a:r>
            <a:r>
              <a:rPr lang="zh-CN" altLang="en-US" sz="3200" dirty="0">
                <a:solidFill>
                  <a:srgbClr val="FFFF00"/>
                </a:solidFill>
                <a:latin typeface="华光综艺_CNKI" panose="02000500000000000000" pitchFamily="2" charset="-122"/>
                <a:ea typeface="华光综艺_CNKI" panose="02000500000000000000" pitchFamily="2" charset="-122"/>
              </a:rPr>
              <a:t>决策树的生成</a:t>
            </a:r>
            <a:endPar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4E4FA851-1737-C258-966C-206A54A5D2B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9DD0CD5E-6C8B-F242-4BD4-1CFE75E7E220}"/>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Rectangle 22">
            <a:extLst>
              <a:ext uri="{FF2B5EF4-FFF2-40B4-BE49-F238E27FC236}">
                <a16:creationId xmlns:a16="http://schemas.microsoft.com/office/drawing/2014/main" id="{4A5ED3A7-F4F6-B6FF-45EB-CA970D0A0659}"/>
              </a:ext>
            </a:extLst>
          </p:cNvPr>
          <p:cNvSpPr>
            <a:spLocks noChangeArrowheads="1"/>
          </p:cNvSpPr>
          <p:nvPr/>
        </p:nvSpPr>
        <p:spPr bwMode="auto">
          <a:xfrm>
            <a:off x="4669968" y="5546398"/>
            <a:ext cx="28520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1pPr>
            <a:lvl2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2pPr>
            <a:lvl3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3pPr>
            <a:lvl4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4pPr>
            <a:lvl5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5pPr>
            <a:lvl6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6pPr>
            <a:lvl7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7pPr>
            <a:lvl8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8pPr>
            <a:lvl9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9pPr>
          </a:lstStyle>
          <a:p>
            <a:pPr marL="0" marR="0" lvl="0" indent="306388" algn="ctr" defTabSz="914400" rtl="0" eaLnBrk="0" fontAlgn="base" latinLnBrk="0" hangingPunct="0">
              <a:lnSpc>
                <a:spcPct val="100000"/>
              </a:lnSpc>
              <a:spcBef>
                <a:spcPct val="0"/>
              </a:spcBef>
              <a:spcAft>
                <a:spcPct val="0"/>
              </a:spcAft>
              <a:buClrTx/>
              <a:buSzTx/>
              <a:buFontTx/>
              <a:buNone/>
              <a:tabLst>
                <a:tab pos="2641600" algn="ctr"/>
                <a:tab pos="5270500" algn="r"/>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pic>
        <p:nvPicPr>
          <p:cNvPr id="36" name="图片 35">
            <a:extLst>
              <a:ext uri="{FF2B5EF4-FFF2-40B4-BE49-F238E27FC236}">
                <a16:creationId xmlns:a16="http://schemas.microsoft.com/office/drawing/2014/main" id="{C48F0DC9-A949-1A59-E001-A7F1EB04D7BE}"/>
              </a:ext>
            </a:extLst>
          </p:cNvPr>
          <p:cNvPicPr>
            <a:picLocks noChangeAspect="1"/>
          </p:cNvPicPr>
          <p:nvPr/>
        </p:nvPicPr>
        <p:blipFill>
          <a:blip r:embed="rId3"/>
          <a:stretch>
            <a:fillRect/>
          </a:stretch>
        </p:blipFill>
        <p:spPr>
          <a:xfrm>
            <a:off x="995423" y="1582124"/>
            <a:ext cx="9563672" cy="4703401"/>
          </a:xfrm>
          <a:prstGeom prst="rect">
            <a:avLst/>
          </a:prstGeom>
        </p:spPr>
      </p:pic>
    </p:spTree>
    <p:extLst>
      <p:ext uri="{BB962C8B-B14F-4D97-AF65-F5344CB8AC3E}">
        <p14:creationId xmlns:p14="http://schemas.microsoft.com/office/powerpoint/2010/main" val="388526101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91B8E-0904-D00F-6820-B010E0495E0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79F3A2A-0A38-14F7-007C-2BDFC6ADB25E}"/>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实践案例：基于决策树的旅游业客户流失预测</a:t>
            </a:r>
          </a:p>
        </p:txBody>
      </p:sp>
      <p:sp>
        <p:nvSpPr>
          <p:cNvPr id="15" name="Rectangle 3">
            <a:extLst>
              <a:ext uri="{FF2B5EF4-FFF2-40B4-BE49-F238E27FC236}">
                <a16:creationId xmlns:a16="http://schemas.microsoft.com/office/drawing/2014/main" id="{282C5D81-C0E6-742F-30AF-8D5F4C928E4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B16A7B98-54F3-1E8A-D0B9-203E6B88A7D9}"/>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975BEDED-273D-2104-890D-503B82249E24}"/>
              </a:ext>
            </a:extLst>
          </p:cNvPr>
          <p:cNvSpPr>
            <a:spLocks noChangeArrowheads="1"/>
          </p:cNvSpPr>
          <p:nvPr/>
        </p:nvSpPr>
        <p:spPr bwMode="auto">
          <a:xfrm>
            <a:off x="94652" y="1115561"/>
            <a:ext cx="12025845" cy="1323439"/>
          </a:xfrm>
          <a:prstGeom prst="rect">
            <a:avLst/>
          </a:prstGeom>
          <a:noFill/>
        </p:spPr>
        <p:txBody>
          <a:bodyPr wrap="square">
            <a:spAutoFit/>
          </a:bodyPr>
          <a:lstStyle/>
          <a:p>
            <a:r>
              <a:rPr lang="zh-CN" altLang="zh-CN" sz="2000" dirty="0">
                <a:latin typeface="微软雅黑" panose="020B0503020204020204" pitchFamily="34" charset="-122"/>
                <a:ea typeface="微软雅黑" panose="020B0503020204020204" pitchFamily="34" charset="-122"/>
              </a:rPr>
              <a:t>本节利用</a:t>
            </a:r>
            <a:r>
              <a:rPr lang="en-US" altLang="zh-CN" sz="2000" dirty="0">
                <a:latin typeface="微软雅黑" panose="020B0503020204020204" pitchFamily="34" charset="-122"/>
                <a:ea typeface="微软雅黑" panose="020B0503020204020204" pitchFamily="34" charset="-122"/>
              </a:rPr>
              <a:t>ID3</a:t>
            </a:r>
            <a:r>
              <a:rPr lang="zh-CN" altLang="en-US" sz="2000" dirty="0">
                <a:latin typeface="微软雅黑" panose="020B0503020204020204" pitchFamily="34" charset="-122"/>
                <a:ea typeface="微软雅黑" panose="020B0503020204020204" pitchFamily="34" charset="-122"/>
              </a:rPr>
              <a:t>决策树算法对旅游业客户流失进行预测，数据集来源于一家旅游公司提供的</a:t>
            </a:r>
            <a:r>
              <a:rPr lang="en-US" altLang="zh-CN" sz="2000" dirty="0">
                <a:latin typeface="微软雅黑" panose="020B0503020204020204" pitchFamily="34" charset="-122"/>
                <a:ea typeface="微软雅黑" panose="020B0503020204020204" pitchFamily="34" charset="-122"/>
              </a:rPr>
              <a:t>954</a:t>
            </a:r>
            <a:r>
              <a:rPr lang="zh-CN" altLang="en-US" sz="2000" dirty="0">
                <a:latin typeface="微软雅黑" panose="020B0503020204020204" pitchFamily="34" charset="-122"/>
                <a:ea typeface="微软雅黑" panose="020B0503020204020204" pitchFamily="34" charset="-122"/>
              </a:rPr>
              <a:t>名客户信息，具体字段包括：用户年龄、飞机乘坐情况（客户是否经常乘坐飞机）、年收入等级、服务次数（客户近几年来选择服务的次数）、社交媒体同步情况（用户的公司账户是否与他们的社交媒体同步）、预订住宿情况（客户是否使用公司服务预订住宿）、流失情况（如果客户流失，则为</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；如果客户未流失，则为</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a:t>
            </a:r>
          </a:p>
        </p:txBody>
      </p:sp>
      <p:pic>
        <p:nvPicPr>
          <p:cNvPr id="4" name="图片 3">
            <a:extLst>
              <a:ext uri="{FF2B5EF4-FFF2-40B4-BE49-F238E27FC236}">
                <a16:creationId xmlns:a16="http://schemas.microsoft.com/office/drawing/2014/main" id="{B6E56E39-753D-1E6B-68AE-1A82EFC537C9}"/>
              </a:ext>
            </a:extLst>
          </p:cNvPr>
          <p:cNvPicPr>
            <a:picLocks noChangeAspect="1"/>
          </p:cNvPicPr>
          <p:nvPr/>
        </p:nvPicPr>
        <p:blipFill>
          <a:blip r:embed="rId3"/>
          <a:stretch>
            <a:fillRect/>
          </a:stretch>
        </p:blipFill>
        <p:spPr>
          <a:xfrm>
            <a:off x="12700" y="2590524"/>
            <a:ext cx="12192000" cy="3878369"/>
          </a:xfrm>
          <a:prstGeom prst="rect">
            <a:avLst/>
          </a:prstGeom>
        </p:spPr>
      </p:pic>
    </p:spTree>
    <p:extLst>
      <p:ext uri="{BB962C8B-B14F-4D97-AF65-F5344CB8AC3E}">
        <p14:creationId xmlns:p14="http://schemas.microsoft.com/office/powerpoint/2010/main" val="30169596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ACAD3-ED67-B4D2-752F-4E61B05EAA2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FAEC159-268C-2799-5BB0-5780AAFF0E5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实践案例：基于决策树的旅游业客户流失预测</a:t>
            </a:r>
          </a:p>
        </p:txBody>
      </p:sp>
      <p:sp>
        <p:nvSpPr>
          <p:cNvPr id="15" name="Rectangle 3">
            <a:extLst>
              <a:ext uri="{FF2B5EF4-FFF2-40B4-BE49-F238E27FC236}">
                <a16:creationId xmlns:a16="http://schemas.microsoft.com/office/drawing/2014/main" id="{CE93F468-26B3-B3E6-F010-9558D5812C1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文本框 8">
            <a:extLst>
              <a:ext uri="{FF2B5EF4-FFF2-40B4-BE49-F238E27FC236}">
                <a16:creationId xmlns:a16="http://schemas.microsoft.com/office/drawing/2014/main" id="{21EA332A-9E53-3AE6-7F68-3B42090E94AD}"/>
              </a:ext>
            </a:extLst>
          </p:cNvPr>
          <p:cNvSpPr txBox="1"/>
          <p:nvPr/>
        </p:nvSpPr>
        <p:spPr>
          <a:xfrm>
            <a:off x="166155" y="1309539"/>
            <a:ext cx="3653491" cy="4770537"/>
          </a:xfrm>
          <a:prstGeom prst="rect">
            <a:avLst/>
          </a:prstGeom>
          <a:noFill/>
        </p:spPr>
        <p:txBody>
          <a:bodyPr wrap="square">
            <a:spAutoFit/>
          </a:bodyPr>
          <a:lstStyle>
            <a:defPPr>
              <a:defRPr lang="zh-CN"/>
            </a:defPPr>
            <a:lvl1pPr>
              <a:defRPr sz="2400" b="1">
                <a:solidFill>
                  <a:srgbClr val="FF0000"/>
                </a:solidFill>
                <a:latin typeface="微软雅黑" panose="020B0503020204020204" pitchFamily="34" charset="-122"/>
                <a:ea typeface="微软雅黑" panose="020B0503020204020204" pitchFamily="34" charset="-122"/>
              </a:defRPr>
            </a:lvl1pPr>
          </a:lstStyle>
          <a:p>
            <a:r>
              <a:rPr lang="zh-CN" altLang="zh-CN" dirty="0"/>
              <a:t>数据预处理。</a:t>
            </a:r>
            <a:endParaRPr lang="en-US" altLang="zh-CN" dirty="0"/>
          </a:p>
          <a:p>
            <a:r>
              <a:rPr lang="zh-CN" altLang="zh-CN" sz="2000" b="0" dirty="0">
                <a:solidFill>
                  <a:schemeClr val="tx1"/>
                </a:solidFill>
              </a:rPr>
              <a:t>对于离散特征，使用</a:t>
            </a:r>
            <a:r>
              <a:rPr lang="en-US" altLang="zh-CN" sz="2000" b="0" dirty="0">
                <a:solidFill>
                  <a:schemeClr val="tx1"/>
                </a:solidFill>
              </a:rPr>
              <a:t>pandas</a:t>
            </a:r>
            <a:r>
              <a:rPr lang="zh-CN" altLang="zh-CN" sz="2000" b="0" dirty="0">
                <a:solidFill>
                  <a:schemeClr val="tx1"/>
                </a:solidFill>
              </a:rPr>
              <a:t>中</a:t>
            </a:r>
            <a:r>
              <a:rPr lang="en-US" altLang="zh-CN" sz="2000" b="0" dirty="0">
                <a:solidFill>
                  <a:schemeClr val="tx1"/>
                </a:solidFill>
              </a:rPr>
              <a:t>Series</a:t>
            </a:r>
            <a:r>
              <a:rPr lang="zh-CN" altLang="zh-CN" sz="2000" b="0" dirty="0">
                <a:solidFill>
                  <a:schemeClr val="tx1"/>
                </a:solidFill>
              </a:rPr>
              <a:t>对象内置的</a:t>
            </a:r>
            <a:r>
              <a:rPr lang="en-US" altLang="zh-CN" sz="2000" b="0" dirty="0" err="1">
                <a:solidFill>
                  <a:schemeClr val="tx1"/>
                </a:solidFill>
              </a:rPr>
              <a:t>value_counts</a:t>
            </a:r>
            <a:r>
              <a:rPr lang="zh-CN" altLang="zh-CN" sz="2000" b="0" dirty="0">
                <a:solidFill>
                  <a:schemeClr val="tx1"/>
                </a:solidFill>
              </a:rPr>
              <a:t>函数方法可查看某特征不同特征取值的样本数，结果显示特征“飞机乘坐情况”共有三种取值，分别是“</a:t>
            </a:r>
            <a:r>
              <a:rPr lang="en-US" altLang="zh-CN" sz="2000" b="0" dirty="0">
                <a:solidFill>
                  <a:schemeClr val="tx1"/>
                </a:solidFill>
              </a:rPr>
              <a:t>No</a:t>
            </a:r>
            <a:r>
              <a:rPr lang="zh-CN" altLang="zh-CN" sz="2000" b="0" dirty="0">
                <a:solidFill>
                  <a:schemeClr val="tx1"/>
                </a:solidFill>
              </a:rPr>
              <a:t>”，“</a:t>
            </a:r>
            <a:r>
              <a:rPr lang="en-US" altLang="zh-CN" sz="2000" b="0" dirty="0">
                <a:solidFill>
                  <a:schemeClr val="tx1"/>
                </a:solidFill>
              </a:rPr>
              <a:t>Yes</a:t>
            </a:r>
            <a:r>
              <a:rPr lang="zh-CN" altLang="zh-CN" sz="2000" b="0" dirty="0">
                <a:solidFill>
                  <a:schemeClr val="tx1"/>
                </a:solidFill>
              </a:rPr>
              <a:t>”，“</a:t>
            </a:r>
            <a:r>
              <a:rPr lang="en-US" altLang="zh-CN" sz="2000" b="0" dirty="0">
                <a:solidFill>
                  <a:schemeClr val="tx1"/>
                </a:solidFill>
              </a:rPr>
              <a:t>No Record</a:t>
            </a:r>
            <a:r>
              <a:rPr lang="zh-CN" altLang="zh-CN" sz="2000" b="0" dirty="0">
                <a:solidFill>
                  <a:schemeClr val="tx1"/>
                </a:solidFill>
              </a:rPr>
              <a:t>”，对应的样本数分别为</a:t>
            </a:r>
            <a:r>
              <a:rPr lang="en-US" altLang="zh-CN" sz="2000" b="0" dirty="0">
                <a:solidFill>
                  <a:schemeClr val="tx1"/>
                </a:solidFill>
              </a:rPr>
              <a:t>608</a:t>
            </a:r>
            <a:r>
              <a:rPr lang="zh-CN" altLang="zh-CN" sz="2000" b="0" dirty="0">
                <a:solidFill>
                  <a:schemeClr val="tx1"/>
                </a:solidFill>
              </a:rPr>
              <a:t>、</a:t>
            </a:r>
            <a:r>
              <a:rPr lang="en-US" altLang="zh-CN" sz="2000" b="0" dirty="0">
                <a:solidFill>
                  <a:schemeClr val="tx1"/>
                </a:solidFill>
              </a:rPr>
              <a:t>286</a:t>
            </a:r>
            <a:r>
              <a:rPr lang="zh-CN" altLang="zh-CN" sz="2000" b="0" dirty="0">
                <a:solidFill>
                  <a:schemeClr val="tx1"/>
                </a:solidFill>
              </a:rPr>
              <a:t>、</a:t>
            </a:r>
            <a:r>
              <a:rPr lang="en-US" altLang="zh-CN" sz="2000" b="0" dirty="0">
                <a:solidFill>
                  <a:schemeClr val="tx1"/>
                </a:solidFill>
              </a:rPr>
              <a:t>60</a:t>
            </a:r>
            <a:r>
              <a:rPr lang="zh-CN" altLang="zh-CN" sz="2000" b="0" dirty="0">
                <a:solidFill>
                  <a:schemeClr val="tx1"/>
                </a:solidFill>
              </a:rPr>
              <a:t>。显然，“</a:t>
            </a:r>
            <a:r>
              <a:rPr lang="en-US" altLang="zh-CN" sz="2000" b="0" dirty="0">
                <a:solidFill>
                  <a:schemeClr val="tx1"/>
                </a:solidFill>
              </a:rPr>
              <a:t>No Record</a:t>
            </a:r>
            <a:r>
              <a:rPr lang="zh-CN" altLang="zh-CN" sz="2000" b="0" dirty="0">
                <a:solidFill>
                  <a:schemeClr val="tx1"/>
                </a:solidFill>
              </a:rPr>
              <a:t>”表示该特征的数据缺失，由于取值为“</a:t>
            </a:r>
            <a:r>
              <a:rPr lang="en-US" altLang="zh-CN" sz="2000" b="0" dirty="0">
                <a:solidFill>
                  <a:schemeClr val="tx1"/>
                </a:solidFill>
              </a:rPr>
              <a:t>NO</a:t>
            </a:r>
            <a:r>
              <a:rPr lang="zh-CN" altLang="zh-CN" sz="2000" b="0" dirty="0">
                <a:solidFill>
                  <a:schemeClr val="tx1"/>
                </a:solidFill>
              </a:rPr>
              <a:t>”的样本明显比取值为“</a:t>
            </a:r>
            <a:r>
              <a:rPr lang="en-US" altLang="zh-CN" sz="2000" b="0" dirty="0">
                <a:solidFill>
                  <a:schemeClr val="tx1"/>
                </a:solidFill>
              </a:rPr>
              <a:t>Yes</a:t>
            </a:r>
            <a:r>
              <a:rPr lang="zh-CN" altLang="zh-CN" sz="2000" b="0" dirty="0">
                <a:solidFill>
                  <a:schemeClr val="tx1"/>
                </a:solidFill>
              </a:rPr>
              <a:t>”的样本多，本例使用众数填充法对该特征的缺失值进行填充。</a:t>
            </a:r>
          </a:p>
        </p:txBody>
      </p:sp>
      <p:pic>
        <p:nvPicPr>
          <p:cNvPr id="11" name="图片 10">
            <a:extLst>
              <a:ext uri="{FF2B5EF4-FFF2-40B4-BE49-F238E27FC236}">
                <a16:creationId xmlns:a16="http://schemas.microsoft.com/office/drawing/2014/main" id="{252E0F31-2A53-1D96-1ED2-B962F6BB6599}"/>
              </a:ext>
            </a:extLst>
          </p:cNvPr>
          <p:cNvPicPr>
            <a:picLocks noChangeAspect="1"/>
          </p:cNvPicPr>
          <p:nvPr/>
        </p:nvPicPr>
        <p:blipFill>
          <a:blip r:embed="rId3"/>
          <a:stretch>
            <a:fillRect/>
          </a:stretch>
        </p:blipFill>
        <p:spPr>
          <a:xfrm>
            <a:off x="3956062" y="2220889"/>
            <a:ext cx="8069783" cy="2947835"/>
          </a:xfrm>
          <a:prstGeom prst="rect">
            <a:avLst/>
          </a:prstGeom>
        </p:spPr>
      </p:pic>
    </p:spTree>
    <p:extLst>
      <p:ext uri="{BB962C8B-B14F-4D97-AF65-F5344CB8AC3E}">
        <p14:creationId xmlns:p14="http://schemas.microsoft.com/office/powerpoint/2010/main" val="34224812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6AA4D-E061-9570-E8AD-9B8071AB4013}"/>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6D97DE9-CE18-50DB-EA8F-32B96CD1B765}"/>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实践案例：基于决策树的旅游业客户流失预测</a:t>
            </a:r>
          </a:p>
        </p:txBody>
      </p:sp>
      <p:sp>
        <p:nvSpPr>
          <p:cNvPr id="15" name="Rectangle 3">
            <a:extLst>
              <a:ext uri="{FF2B5EF4-FFF2-40B4-BE49-F238E27FC236}">
                <a16:creationId xmlns:a16="http://schemas.microsoft.com/office/drawing/2014/main" id="{B09BC781-C1CC-1522-6F42-065A2EC80F8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文本框 10">
            <a:extLst>
              <a:ext uri="{FF2B5EF4-FFF2-40B4-BE49-F238E27FC236}">
                <a16:creationId xmlns:a16="http://schemas.microsoft.com/office/drawing/2014/main" id="{6512E75F-8ECC-4875-ABCC-BEC27424C9CC}"/>
              </a:ext>
            </a:extLst>
          </p:cNvPr>
          <p:cNvSpPr txBox="1"/>
          <p:nvPr/>
        </p:nvSpPr>
        <p:spPr>
          <a:xfrm>
            <a:off x="175883" y="1406814"/>
            <a:ext cx="11420103" cy="1692771"/>
          </a:xfrm>
          <a:prstGeom prst="rect">
            <a:avLst/>
          </a:prstGeom>
          <a:noFill/>
        </p:spPr>
        <p:txBody>
          <a:bodyPr wrap="square">
            <a:spAutoFit/>
          </a:bodyPr>
          <a:lstStyle>
            <a:defPPr>
              <a:defRPr lang="zh-CN"/>
            </a:defPPr>
            <a:lvl1pPr>
              <a:defRPr sz="2400" b="1">
                <a:solidFill>
                  <a:srgbClr val="FF0000"/>
                </a:solidFill>
                <a:latin typeface="微软雅黑" panose="020B0503020204020204" pitchFamily="34" charset="-122"/>
                <a:ea typeface="微软雅黑" panose="020B0503020204020204" pitchFamily="34" charset="-122"/>
              </a:defRPr>
            </a:lvl1pPr>
          </a:lstStyle>
          <a:p>
            <a:r>
              <a:rPr lang="zh-CN" altLang="zh-CN" dirty="0"/>
              <a:t>数据预处理。</a:t>
            </a:r>
            <a:endParaRPr lang="en-US" altLang="zh-CN" dirty="0"/>
          </a:p>
          <a:p>
            <a:r>
              <a:rPr lang="zh-CN" altLang="en-US" sz="2000" b="0" dirty="0">
                <a:solidFill>
                  <a:schemeClr val="tx1"/>
                </a:solidFill>
              </a:rPr>
              <a:t>该数据集存在多个离散特征，在构建模型前需要对离散特征编码。“飞机乘坐情况”、“社交媒体同步情况”、“预定住宿情况”均为二元特征，适合用</a:t>
            </a:r>
            <a:r>
              <a:rPr lang="en-US" altLang="zh-CN" sz="2000" b="0" dirty="0">
                <a:solidFill>
                  <a:schemeClr val="tx1"/>
                </a:solidFill>
              </a:rPr>
              <a:t>01</a:t>
            </a:r>
            <a:r>
              <a:rPr lang="zh-CN" altLang="en-US" sz="2000" b="0" dirty="0">
                <a:solidFill>
                  <a:schemeClr val="tx1"/>
                </a:solidFill>
              </a:rPr>
              <a:t>编码，在本例中将“</a:t>
            </a:r>
            <a:r>
              <a:rPr lang="en-US" altLang="zh-CN" sz="2000" b="0" dirty="0">
                <a:solidFill>
                  <a:schemeClr val="tx1"/>
                </a:solidFill>
              </a:rPr>
              <a:t>YES”</a:t>
            </a:r>
            <a:r>
              <a:rPr lang="zh-CN" altLang="en-US" sz="2000" b="0" dirty="0">
                <a:solidFill>
                  <a:schemeClr val="tx1"/>
                </a:solidFill>
              </a:rPr>
              <a:t>编码为</a:t>
            </a:r>
            <a:r>
              <a:rPr lang="en-US" altLang="zh-CN" sz="2000" b="0" dirty="0">
                <a:solidFill>
                  <a:schemeClr val="tx1"/>
                </a:solidFill>
              </a:rPr>
              <a:t>1</a:t>
            </a:r>
            <a:r>
              <a:rPr lang="zh-CN" altLang="en-US" sz="2000" b="0" dirty="0">
                <a:solidFill>
                  <a:schemeClr val="tx1"/>
                </a:solidFill>
              </a:rPr>
              <a:t>，将“</a:t>
            </a:r>
            <a:r>
              <a:rPr lang="en-US" altLang="zh-CN" sz="2000" b="0" dirty="0">
                <a:solidFill>
                  <a:schemeClr val="tx1"/>
                </a:solidFill>
              </a:rPr>
              <a:t>NO”</a:t>
            </a:r>
            <a:r>
              <a:rPr lang="zh-CN" altLang="en-US" sz="2000" b="0" dirty="0">
                <a:solidFill>
                  <a:schemeClr val="tx1"/>
                </a:solidFill>
              </a:rPr>
              <a:t>编码为</a:t>
            </a:r>
            <a:r>
              <a:rPr lang="en-US" altLang="zh-CN" sz="2000" b="0" dirty="0">
                <a:solidFill>
                  <a:schemeClr val="tx1"/>
                </a:solidFill>
              </a:rPr>
              <a:t>0</a:t>
            </a:r>
            <a:r>
              <a:rPr lang="zh-CN" altLang="en-US" sz="2000" b="0" dirty="0">
                <a:solidFill>
                  <a:schemeClr val="tx1"/>
                </a:solidFill>
              </a:rPr>
              <a:t>。“年收入等级”有三种不同取值：“</a:t>
            </a:r>
            <a:r>
              <a:rPr lang="en-US" altLang="zh-CN" sz="2000" b="0" dirty="0">
                <a:solidFill>
                  <a:schemeClr val="tx1"/>
                </a:solidFill>
              </a:rPr>
              <a:t>Low Income”</a:t>
            </a:r>
            <a:r>
              <a:rPr lang="zh-CN" altLang="en-US" sz="2000" b="0" dirty="0">
                <a:solidFill>
                  <a:schemeClr val="tx1"/>
                </a:solidFill>
              </a:rPr>
              <a:t>、“</a:t>
            </a:r>
            <a:r>
              <a:rPr lang="en-US" altLang="zh-CN" sz="2000" b="0" dirty="0">
                <a:solidFill>
                  <a:schemeClr val="tx1"/>
                </a:solidFill>
              </a:rPr>
              <a:t>Middle Income”</a:t>
            </a:r>
            <a:r>
              <a:rPr lang="zh-CN" altLang="en-US" sz="2000" b="0" dirty="0">
                <a:solidFill>
                  <a:schemeClr val="tx1"/>
                </a:solidFill>
              </a:rPr>
              <a:t>、“</a:t>
            </a:r>
            <a:r>
              <a:rPr lang="en-US" altLang="zh-CN" sz="2000" b="0" dirty="0">
                <a:solidFill>
                  <a:schemeClr val="tx1"/>
                </a:solidFill>
              </a:rPr>
              <a:t>High Income”</a:t>
            </a:r>
            <a:r>
              <a:rPr lang="zh-CN" altLang="en-US" sz="2000" b="0" dirty="0">
                <a:solidFill>
                  <a:schemeClr val="tx1"/>
                </a:solidFill>
              </a:rPr>
              <a:t>，存在序数关系，本例分别编码为</a:t>
            </a:r>
            <a:r>
              <a:rPr lang="en-US" altLang="zh-CN" sz="2000" b="0" dirty="0">
                <a:solidFill>
                  <a:schemeClr val="tx1"/>
                </a:solidFill>
              </a:rPr>
              <a:t>1</a:t>
            </a:r>
            <a:r>
              <a:rPr lang="zh-CN" altLang="en-US" sz="2000" b="0" dirty="0">
                <a:solidFill>
                  <a:schemeClr val="tx1"/>
                </a:solidFill>
              </a:rPr>
              <a:t>、</a:t>
            </a:r>
            <a:r>
              <a:rPr lang="en-US" altLang="zh-CN" sz="2000" b="0" dirty="0">
                <a:solidFill>
                  <a:schemeClr val="tx1"/>
                </a:solidFill>
              </a:rPr>
              <a:t>2</a:t>
            </a:r>
            <a:r>
              <a:rPr lang="zh-CN" altLang="en-US" sz="2000" b="0" dirty="0">
                <a:solidFill>
                  <a:schemeClr val="tx1"/>
                </a:solidFill>
              </a:rPr>
              <a:t>、</a:t>
            </a:r>
            <a:r>
              <a:rPr lang="en-US" altLang="zh-CN" sz="2000" b="0" dirty="0">
                <a:solidFill>
                  <a:schemeClr val="tx1"/>
                </a:solidFill>
              </a:rPr>
              <a:t>3</a:t>
            </a:r>
            <a:r>
              <a:rPr lang="zh-CN" altLang="en-US" sz="2000" b="0" dirty="0">
                <a:solidFill>
                  <a:schemeClr val="tx1"/>
                </a:solidFill>
              </a:rPr>
              <a:t>。</a:t>
            </a:r>
            <a:endParaRPr lang="zh-CN" altLang="zh-CN" sz="2000" b="0" dirty="0">
              <a:solidFill>
                <a:schemeClr val="tx1"/>
              </a:solidFill>
            </a:endParaRPr>
          </a:p>
        </p:txBody>
      </p:sp>
      <p:pic>
        <p:nvPicPr>
          <p:cNvPr id="13" name="图片 12">
            <a:extLst>
              <a:ext uri="{FF2B5EF4-FFF2-40B4-BE49-F238E27FC236}">
                <a16:creationId xmlns:a16="http://schemas.microsoft.com/office/drawing/2014/main" id="{5BB7F5A4-769C-913C-4A7C-ADDFE2803380}"/>
              </a:ext>
            </a:extLst>
          </p:cNvPr>
          <p:cNvPicPr>
            <a:picLocks noChangeAspect="1"/>
          </p:cNvPicPr>
          <p:nvPr/>
        </p:nvPicPr>
        <p:blipFill>
          <a:blip r:embed="rId3"/>
          <a:stretch>
            <a:fillRect/>
          </a:stretch>
        </p:blipFill>
        <p:spPr>
          <a:xfrm>
            <a:off x="1117999" y="3510352"/>
            <a:ext cx="9535870" cy="1876697"/>
          </a:xfrm>
          <a:prstGeom prst="rect">
            <a:avLst/>
          </a:prstGeom>
        </p:spPr>
      </p:pic>
    </p:spTree>
    <p:extLst>
      <p:ext uri="{BB962C8B-B14F-4D97-AF65-F5344CB8AC3E}">
        <p14:creationId xmlns:p14="http://schemas.microsoft.com/office/powerpoint/2010/main" val="19909533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1A1A9-35D8-200D-17F4-79491E6C57C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6263AE8-77FF-26B8-0A84-08C378552F64}"/>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实践案例：基于决策树的旅游业客户流失预测</a:t>
            </a:r>
          </a:p>
        </p:txBody>
      </p:sp>
      <p:sp>
        <p:nvSpPr>
          <p:cNvPr id="15" name="Rectangle 3">
            <a:extLst>
              <a:ext uri="{FF2B5EF4-FFF2-40B4-BE49-F238E27FC236}">
                <a16:creationId xmlns:a16="http://schemas.microsoft.com/office/drawing/2014/main" id="{9744C5C9-8E3F-ADD2-D1D8-2F178616BF6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文本框 7">
            <a:extLst>
              <a:ext uri="{FF2B5EF4-FFF2-40B4-BE49-F238E27FC236}">
                <a16:creationId xmlns:a16="http://schemas.microsoft.com/office/drawing/2014/main" id="{796D140C-0C07-A58C-BCBB-E89BEC7F17C5}"/>
              </a:ext>
            </a:extLst>
          </p:cNvPr>
          <p:cNvSpPr txBox="1"/>
          <p:nvPr/>
        </p:nvSpPr>
        <p:spPr>
          <a:xfrm>
            <a:off x="166156" y="1280355"/>
            <a:ext cx="4973004" cy="5078313"/>
          </a:xfrm>
          <a:prstGeom prst="rect">
            <a:avLst/>
          </a:prstGeom>
          <a:noFill/>
        </p:spPr>
        <p:txBody>
          <a:bodyPr wrap="square">
            <a:spAutoFit/>
          </a:bodyPr>
          <a:lstStyle>
            <a:defPPr>
              <a:defRPr lang="zh-CN"/>
            </a:defPPr>
            <a:lvl1pPr>
              <a:defRPr sz="2400" b="1">
                <a:solidFill>
                  <a:srgbClr val="FF0000"/>
                </a:solidFill>
                <a:latin typeface="微软雅黑" panose="020B0503020204020204" pitchFamily="34" charset="-122"/>
                <a:ea typeface="微软雅黑" panose="020B0503020204020204" pitchFamily="34" charset="-122"/>
              </a:defRPr>
            </a:lvl1pPr>
          </a:lstStyle>
          <a:p>
            <a:r>
              <a:rPr lang="zh-CN" altLang="en-US" dirty="0"/>
              <a:t>模型训练。</a:t>
            </a:r>
            <a:endParaRPr lang="en-US" altLang="zh-CN" dirty="0"/>
          </a:p>
          <a:p>
            <a:r>
              <a:rPr lang="zh-CN" altLang="en-US" sz="2000" b="0" dirty="0">
                <a:solidFill>
                  <a:schemeClr val="tx1"/>
                </a:solidFill>
              </a:rPr>
              <a:t>使用</a:t>
            </a:r>
            <a:r>
              <a:rPr lang="en-US" altLang="zh-CN" sz="2000" b="0" dirty="0">
                <a:solidFill>
                  <a:schemeClr val="tx1"/>
                </a:solidFill>
              </a:rPr>
              <a:t>scikit-learn</a:t>
            </a:r>
            <a:r>
              <a:rPr lang="zh-CN" altLang="en-US" sz="2000" b="0" dirty="0">
                <a:solidFill>
                  <a:schemeClr val="tx1"/>
                </a:solidFill>
              </a:rPr>
              <a:t>中</a:t>
            </a:r>
            <a:r>
              <a:rPr lang="en-US" altLang="zh-CN" sz="2000" b="0" dirty="0">
                <a:solidFill>
                  <a:schemeClr val="tx1"/>
                </a:solidFill>
              </a:rPr>
              <a:t>tree</a:t>
            </a:r>
            <a:r>
              <a:rPr lang="zh-CN" altLang="en-US" sz="2000" b="0" dirty="0">
                <a:solidFill>
                  <a:schemeClr val="tx1"/>
                </a:solidFill>
              </a:rPr>
              <a:t>模块的</a:t>
            </a:r>
            <a:r>
              <a:rPr lang="en-US" altLang="zh-CN" sz="2000" b="0" dirty="0" err="1">
                <a:solidFill>
                  <a:schemeClr val="tx1"/>
                </a:solidFill>
              </a:rPr>
              <a:t>DecisionTreeClassifier</a:t>
            </a:r>
            <a:r>
              <a:rPr lang="zh-CN" altLang="en-US" sz="2000" b="0" dirty="0">
                <a:solidFill>
                  <a:schemeClr val="tx1"/>
                </a:solidFill>
              </a:rPr>
              <a:t>类构建</a:t>
            </a:r>
            <a:r>
              <a:rPr lang="en-US" altLang="zh-CN" sz="2000" b="0" dirty="0">
                <a:solidFill>
                  <a:schemeClr val="tx1"/>
                </a:solidFill>
              </a:rPr>
              <a:t>CART</a:t>
            </a:r>
            <a:r>
              <a:rPr lang="zh-CN" altLang="en-US" sz="2000" b="0" dirty="0">
                <a:solidFill>
                  <a:schemeClr val="tx1"/>
                </a:solidFill>
              </a:rPr>
              <a:t>决策树模型。参数“</a:t>
            </a:r>
            <a:r>
              <a:rPr lang="en-US" altLang="zh-CN" sz="2000" b="0" dirty="0">
                <a:solidFill>
                  <a:schemeClr val="tx1"/>
                </a:solidFill>
              </a:rPr>
              <a:t>criterion”</a:t>
            </a:r>
            <a:r>
              <a:rPr lang="zh-CN" altLang="en-US" sz="2000" b="0" dirty="0">
                <a:solidFill>
                  <a:schemeClr val="tx1"/>
                </a:solidFill>
              </a:rPr>
              <a:t>表示评价信息增益的标准，取值包括“</a:t>
            </a:r>
            <a:r>
              <a:rPr lang="en-US" altLang="zh-CN" sz="2000" b="0" dirty="0" err="1">
                <a:solidFill>
                  <a:schemeClr val="tx1"/>
                </a:solidFill>
              </a:rPr>
              <a:t>gini</a:t>
            </a:r>
            <a:r>
              <a:rPr lang="en-US" altLang="zh-CN" sz="2000" b="0" dirty="0">
                <a:solidFill>
                  <a:schemeClr val="tx1"/>
                </a:solidFill>
              </a:rPr>
              <a:t>”</a:t>
            </a:r>
            <a:r>
              <a:rPr lang="zh-CN" altLang="en-US" sz="2000" b="0" dirty="0">
                <a:solidFill>
                  <a:schemeClr val="tx1"/>
                </a:solidFill>
              </a:rPr>
              <a:t>、“</a:t>
            </a:r>
            <a:r>
              <a:rPr lang="en-US" altLang="zh-CN" sz="2000" b="0" dirty="0">
                <a:solidFill>
                  <a:schemeClr val="tx1"/>
                </a:solidFill>
              </a:rPr>
              <a:t>entropy”</a:t>
            </a:r>
            <a:r>
              <a:rPr lang="zh-CN" altLang="en-US" sz="2000" b="0" dirty="0">
                <a:solidFill>
                  <a:schemeClr val="tx1"/>
                </a:solidFill>
              </a:rPr>
              <a:t>，默认值为“</a:t>
            </a:r>
            <a:r>
              <a:rPr lang="en-US" altLang="zh-CN" sz="2000" b="0" dirty="0" err="1">
                <a:solidFill>
                  <a:schemeClr val="tx1"/>
                </a:solidFill>
              </a:rPr>
              <a:t>gini</a:t>
            </a:r>
            <a:r>
              <a:rPr lang="en-US" altLang="zh-CN" sz="2000" b="0" dirty="0">
                <a:solidFill>
                  <a:schemeClr val="tx1"/>
                </a:solidFill>
              </a:rPr>
              <a:t>”</a:t>
            </a:r>
            <a:r>
              <a:rPr lang="zh-CN" altLang="en-US" sz="2000" b="0" dirty="0">
                <a:solidFill>
                  <a:schemeClr val="tx1"/>
                </a:solidFill>
              </a:rPr>
              <a:t>。参数“</a:t>
            </a:r>
            <a:r>
              <a:rPr lang="en-US" altLang="zh-CN" sz="2000" b="0" dirty="0" err="1">
                <a:solidFill>
                  <a:schemeClr val="tx1"/>
                </a:solidFill>
              </a:rPr>
              <a:t>max_depth</a:t>
            </a:r>
            <a:r>
              <a:rPr lang="en-US" altLang="zh-CN" sz="2000" b="0" dirty="0">
                <a:solidFill>
                  <a:schemeClr val="tx1"/>
                </a:solidFill>
              </a:rPr>
              <a:t>”</a:t>
            </a:r>
            <a:r>
              <a:rPr lang="zh-CN" altLang="en-US" sz="2000" b="0" dirty="0">
                <a:solidFill>
                  <a:schemeClr val="tx1"/>
                </a:solidFill>
              </a:rPr>
              <a:t>表示树的最大深度，默认不限制（“</a:t>
            </a:r>
            <a:r>
              <a:rPr lang="en-US" altLang="zh-CN" sz="2000" b="0" dirty="0">
                <a:solidFill>
                  <a:schemeClr val="tx1"/>
                </a:solidFill>
              </a:rPr>
              <a:t>None”</a:t>
            </a:r>
            <a:r>
              <a:rPr lang="zh-CN" altLang="en-US" sz="2000" b="0" dirty="0">
                <a:solidFill>
                  <a:schemeClr val="tx1"/>
                </a:solidFill>
              </a:rPr>
              <a:t>）。参数“</a:t>
            </a:r>
            <a:r>
              <a:rPr lang="en-US" altLang="zh-CN" sz="2000" b="0" dirty="0" err="1">
                <a:solidFill>
                  <a:schemeClr val="tx1"/>
                </a:solidFill>
              </a:rPr>
              <a:t>min_samples_split</a:t>
            </a:r>
            <a:r>
              <a:rPr lang="en-US" altLang="zh-CN" sz="2000" b="0" dirty="0">
                <a:solidFill>
                  <a:schemeClr val="tx1"/>
                </a:solidFill>
              </a:rPr>
              <a:t>”</a:t>
            </a:r>
            <a:r>
              <a:rPr lang="zh-CN" altLang="en-US" sz="2000" b="0" dirty="0">
                <a:solidFill>
                  <a:schemeClr val="tx1"/>
                </a:solidFill>
              </a:rPr>
              <a:t>表示划分结点所需要的最小样本数，如果小于这个数就不再分裂，默认为</a:t>
            </a:r>
            <a:r>
              <a:rPr lang="en-US" altLang="zh-CN" sz="2000" b="0" dirty="0">
                <a:solidFill>
                  <a:schemeClr val="tx1"/>
                </a:solidFill>
              </a:rPr>
              <a:t>2</a:t>
            </a:r>
            <a:r>
              <a:rPr lang="zh-CN" altLang="en-US" sz="2000" b="0" dirty="0">
                <a:solidFill>
                  <a:schemeClr val="tx1"/>
                </a:solidFill>
              </a:rPr>
              <a:t>。参数“</a:t>
            </a:r>
            <a:r>
              <a:rPr lang="en-US" altLang="zh-CN" sz="2000" b="0" dirty="0" err="1">
                <a:solidFill>
                  <a:schemeClr val="tx1"/>
                </a:solidFill>
              </a:rPr>
              <a:t>min_samples_leaf</a:t>
            </a:r>
            <a:r>
              <a:rPr lang="en-US" altLang="zh-CN" sz="2000" b="0" dirty="0">
                <a:solidFill>
                  <a:schemeClr val="tx1"/>
                </a:solidFill>
              </a:rPr>
              <a:t>”</a:t>
            </a:r>
            <a:r>
              <a:rPr lang="zh-CN" altLang="en-US" sz="2000" b="0" dirty="0">
                <a:solidFill>
                  <a:schemeClr val="tx1"/>
                </a:solidFill>
              </a:rPr>
              <a:t>表示叶结点需要的最小样本数，默认为</a:t>
            </a:r>
            <a:r>
              <a:rPr lang="en-US" altLang="zh-CN" sz="2000" b="0" dirty="0">
                <a:solidFill>
                  <a:schemeClr val="tx1"/>
                </a:solidFill>
              </a:rPr>
              <a:t>1</a:t>
            </a:r>
            <a:r>
              <a:rPr lang="zh-CN" altLang="en-US" sz="2000" b="0" dirty="0">
                <a:solidFill>
                  <a:schemeClr val="tx1"/>
                </a:solidFill>
              </a:rPr>
              <a:t>。参数“</a:t>
            </a:r>
            <a:r>
              <a:rPr lang="en-US" altLang="zh-CN" sz="2000" b="0" dirty="0" err="1">
                <a:solidFill>
                  <a:schemeClr val="tx1"/>
                </a:solidFill>
              </a:rPr>
              <a:t>min_impurity_decrease</a:t>
            </a:r>
            <a:r>
              <a:rPr lang="en-US" altLang="zh-CN" sz="2000" b="0" dirty="0">
                <a:solidFill>
                  <a:schemeClr val="tx1"/>
                </a:solidFill>
              </a:rPr>
              <a:t>”</a:t>
            </a:r>
            <a:r>
              <a:rPr lang="zh-CN" altLang="en-US" sz="2000" b="0" dirty="0">
                <a:solidFill>
                  <a:schemeClr val="tx1"/>
                </a:solidFill>
              </a:rPr>
              <a:t>表示结点分裂的最小不纯度阈值，只有当结点的不纯度大于此阈值时才会继续分裂。</a:t>
            </a:r>
            <a:endParaRPr lang="zh-CN" altLang="zh-CN" sz="2000" b="0" dirty="0">
              <a:solidFill>
                <a:schemeClr val="tx1"/>
              </a:solidFill>
            </a:endParaRPr>
          </a:p>
        </p:txBody>
      </p:sp>
      <p:pic>
        <p:nvPicPr>
          <p:cNvPr id="10" name="图片 9">
            <a:extLst>
              <a:ext uri="{FF2B5EF4-FFF2-40B4-BE49-F238E27FC236}">
                <a16:creationId xmlns:a16="http://schemas.microsoft.com/office/drawing/2014/main" id="{D7273702-0581-0211-7521-F18B4AA6D428}"/>
              </a:ext>
            </a:extLst>
          </p:cNvPr>
          <p:cNvPicPr>
            <a:picLocks noChangeAspect="1"/>
          </p:cNvPicPr>
          <p:nvPr/>
        </p:nvPicPr>
        <p:blipFill>
          <a:blip r:embed="rId3"/>
          <a:stretch>
            <a:fillRect/>
          </a:stretch>
        </p:blipFill>
        <p:spPr>
          <a:xfrm>
            <a:off x="5139160" y="1236647"/>
            <a:ext cx="6643868" cy="5038313"/>
          </a:xfrm>
          <a:prstGeom prst="rect">
            <a:avLst/>
          </a:prstGeom>
        </p:spPr>
      </p:pic>
    </p:spTree>
    <p:extLst>
      <p:ext uri="{BB962C8B-B14F-4D97-AF65-F5344CB8AC3E}">
        <p14:creationId xmlns:p14="http://schemas.microsoft.com/office/powerpoint/2010/main" val="30321020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A8934-3F8A-8397-E895-CA46384FF039}"/>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E59ABBE-C683-33C6-7326-03375BF104C3}"/>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实践案例：基于决策树的旅游业客户流失预测</a:t>
            </a:r>
          </a:p>
        </p:txBody>
      </p:sp>
      <p:sp>
        <p:nvSpPr>
          <p:cNvPr id="2" name="矩形: 圆角 12">
            <a:extLst>
              <a:ext uri="{FF2B5EF4-FFF2-40B4-BE49-F238E27FC236}">
                <a16:creationId xmlns:a16="http://schemas.microsoft.com/office/drawing/2014/main" id="{D591291E-5244-C740-EAE5-6E1C03ACF7B7}"/>
              </a:ext>
            </a:extLst>
          </p:cNvPr>
          <p:cNvSpPr/>
          <p:nvPr/>
        </p:nvSpPr>
        <p:spPr>
          <a:xfrm>
            <a:off x="166155" y="976588"/>
            <a:ext cx="7940797"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a:spcBef>
                <a:spcPct val="30000"/>
              </a:spcBef>
              <a:defRPr/>
            </a:pPr>
            <a:r>
              <a:rPr kumimoji="0" lang="zh-CN" altLang="en-US" sz="2600" b="1" i="0" u="none" strike="noStrike" kern="1200" cap="none" spc="0" normalizeH="0" baseline="0" noProof="0" dirty="0">
                <a:ln>
                  <a:noFill/>
                </a:ln>
                <a:solidFill>
                  <a:srgbClr val="5B9BD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实践案例：基于决策树的旅游业客户流失预测</a:t>
            </a:r>
          </a:p>
        </p:txBody>
      </p:sp>
      <p:sp>
        <p:nvSpPr>
          <p:cNvPr id="7" name="箭头: 五边形 11">
            <a:extLst>
              <a:ext uri="{FF2B5EF4-FFF2-40B4-BE49-F238E27FC236}">
                <a16:creationId xmlns:a16="http://schemas.microsoft.com/office/drawing/2014/main" id="{DE2FC5D3-18A8-8F96-69E7-B7D5C6126E26}"/>
              </a:ext>
            </a:extLst>
          </p:cNvPr>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sym typeface="Times New Roman" panose="02020603050405020304" pitchFamily="18" charset="0"/>
              </a:rPr>
              <a:t>4.5</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sym typeface="Times New Roman" panose="02020603050405020304" pitchFamily="18" charset="0"/>
            </a:endParaRPr>
          </a:p>
        </p:txBody>
      </p:sp>
      <p:sp>
        <p:nvSpPr>
          <p:cNvPr id="15" name="Rectangle 3">
            <a:extLst>
              <a:ext uri="{FF2B5EF4-FFF2-40B4-BE49-F238E27FC236}">
                <a16:creationId xmlns:a16="http://schemas.microsoft.com/office/drawing/2014/main" id="{5B3A1688-B8CE-1B16-CF42-D037824A32D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8BCD8269-482B-761B-493D-0D56C5D39156}"/>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146" name="Picture 2">
            <a:extLst>
              <a:ext uri="{FF2B5EF4-FFF2-40B4-BE49-F238E27FC236}">
                <a16:creationId xmlns:a16="http://schemas.microsoft.com/office/drawing/2014/main" id="{EDCF30CD-28DA-7132-CE78-52DF86F925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 y="930287"/>
            <a:ext cx="12192000" cy="613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91047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5090</TotalTime>
  <Words>2590</Words>
  <Application>Microsoft Office PowerPoint</Application>
  <PresentationFormat>宽屏</PresentationFormat>
  <Paragraphs>204</Paragraphs>
  <Slides>25</Slides>
  <Notes>25</Notes>
  <HiddenSlides>0</HiddenSlides>
  <MMClips>0</MMClips>
  <ScaleCrop>false</ScaleCrop>
  <HeadingPairs>
    <vt:vector size="8" baseType="variant">
      <vt:variant>
        <vt:lpstr>已用的字体</vt:lpstr>
      </vt:variant>
      <vt:variant>
        <vt:i4>14</vt:i4>
      </vt:variant>
      <vt:variant>
        <vt:lpstr>主题</vt:lpstr>
      </vt:variant>
      <vt:variant>
        <vt:i4>12</vt:i4>
      </vt:variant>
      <vt:variant>
        <vt:lpstr>嵌入 OLE 服务器</vt:lpstr>
      </vt:variant>
      <vt:variant>
        <vt:i4>2</vt:i4>
      </vt:variant>
      <vt:variant>
        <vt:lpstr>幻灯片标题</vt:lpstr>
      </vt:variant>
      <vt:variant>
        <vt:i4>25</vt:i4>
      </vt:variant>
    </vt:vector>
  </HeadingPairs>
  <TitlesOfParts>
    <vt:vector size="53" baseType="lpstr">
      <vt:lpstr>等线</vt:lpstr>
      <vt:lpstr>华光综艺_CNKI</vt:lpstr>
      <vt:lpstr>华文新魏</vt:lpstr>
      <vt:lpstr>楷体</vt:lpstr>
      <vt:lpstr>楷体_GB2312</vt:lpstr>
      <vt:lpstr>思源黑体</vt:lpstr>
      <vt:lpstr>思源黑体 CN Bold</vt:lpstr>
      <vt:lpstr>宋体</vt:lpstr>
      <vt:lpstr>微软雅黑</vt:lpstr>
      <vt:lpstr>Arial</vt:lpstr>
      <vt:lpstr>Calibri</vt:lpstr>
      <vt:lpstr>Impact</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Equation</vt:lpstr>
      <vt:lpstr>Photo Editor 照片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Mengning Wang</cp:lastModifiedBy>
  <cp:revision>2904</cp:revision>
  <dcterms:created xsi:type="dcterms:W3CDTF">2022-05-23T09:13:00Z</dcterms:created>
  <dcterms:modified xsi:type="dcterms:W3CDTF">2025-04-15T12:50:12Z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