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15638" r:id="rId2"/>
    <p:sldId id="15734" r:id="rId3"/>
    <p:sldId id="15696" r:id="rId4"/>
    <p:sldId id="15697" r:id="rId5"/>
    <p:sldId id="15698" r:id="rId6"/>
    <p:sldId id="15699" r:id="rId7"/>
    <p:sldId id="15700" r:id="rId8"/>
    <p:sldId id="15701" r:id="rId9"/>
    <p:sldId id="15702" r:id="rId10"/>
    <p:sldId id="15703" r:id="rId11"/>
    <p:sldId id="15704" r:id="rId12"/>
    <p:sldId id="15502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7" autoAdjust="0"/>
    <p:restoredTop sz="76549" autoAdjust="0"/>
  </p:normalViewPr>
  <p:slideViewPr>
    <p:cSldViewPr snapToGrid="0" showGuides="1">
      <p:cViewPr varScale="1">
        <p:scale>
          <a:sx n="91" d="100"/>
          <a:sy n="91" d="100"/>
        </p:scale>
        <p:origin x="163" y="77"/>
      </p:cViewPr>
      <p:guideLst>
        <p:guide orient="horz" pos="2134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2025/4/18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6F833C-0931-4030-8352-AFD9186768B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67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D0ADB-AD3D-6C9D-2399-07E12768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8ACBB2-3434-B15F-B63E-95A6FB566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328494C-4F25-BF9A-80D6-2A95E26E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8FC581-8F6E-4846-510E-FD7B9FFE4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522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7D5AA-3237-5837-654E-D91E77D0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0CED40-E108-7A83-FC20-FD632D1BCA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252956D-689E-F9E9-A58B-1AE73F3A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057059-84DA-9BA8-0340-F605D0EEC3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3975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35C00-FDDA-049F-DE89-3366B23F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7E0B10-8880-8102-5EEE-DDE53C713F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387ADD-D4BE-BA62-CD3E-D45365ABA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3048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展示了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算法在迭代过程中质心（黑色叉号）的变化过程：</a:t>
            </a:r>
          </a:p>
          <a:p>
            <a:pPr indent="3048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次迭代：随机选取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个初始质心。此时所有数据点未被分配，因此为同一种颜色。</a:t>
            </a:r>
          </a:p>
          <a:p>
            <a:pPr indent="3048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次迭代：根据第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次迭代的质心，分别将数据分配到它们最近的质心，形成初始簇分配结果，然后重新计算每个簇的质心。</a:t>
            </a:r>
          </a:p>
          <a:p>
            <a:pPr indent="3048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重复第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次迭代步骤，直至第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次迭代：此时质心位置趋于稳定，数据的分配不会发生变化，得到最终的簇分配和质心位置。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5817A9-923C-0836-EDFC-7B798DE82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000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CA833-E1DA-D789-645A-98DB6901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19EC5C4-4EB0-F773-2831-C7BB947BD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43AB468-DA5D-ED28-6DB3-AA3A1CD1A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3CE43E-3B92-A637-BFA0-CB8A0B93BC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29426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23D97-190C-C35D-BAFD-2341B80C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573367-23B7-AFE4-CF42-4815DAB82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ECC484E-765B-D291-D1B0-4F83CE206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7123FC-C845-CB7C-B786-CA61653E9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1057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FFE0F-E932-33E5-AE46-E7D6B20FA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1A1257-26AA-DC40-D106-D30395B8C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1696F9C-9D24-B6FE-28C8-57D5AF93B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4EE2AD-4C91-FF73-B49D-2038699CD7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4425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168F-42FA-BC34-B397-E1D4DD7D4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F80F7B-70CB-AAD9-9D86-23B1BE2EC6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AE37967-2E35-4410-599A-C8C970BA51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333377-2186-EFB4-9017-9F70A9205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4551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1EB7E-CD89-F077-2424-DDFA23F54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9C0112-EDE8-E7E4-2682-A82241422D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9121AF-4B5D-1CF0-90A4-593636EEA1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C964653-59FB-5680-A8FE-ED10731341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86408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58E6F-F874-BC52-032C-7B3A6B82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0EF58A-8B99-86DB-3890-25D7D792B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A864F1-4D32-9B0B-1984-16AF918E2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代码结果展示了“肘部法则”的结果和</a:t>
            </a:r>
            <a:r>
              <a:rPr lang="en-US" altLang="zh-CN" sz="1800" dirty="0"/>
              <a:t>K-means</a:t>
            </a:r>
            <a:r>
              <a:rPr lang="zh-CN" altLang="en-US" sz="1800" dirty="0"/>
              <a:t>聚类算法的结果。如图所示，当簇数量为</a:t>
            </a:r>
            <a:r>
              <a:rPr lang="en-US" altLang="zh-CN" sz="1800" dirty="0"/>
              <a:t>5</a:t>
            </a:r>
            <a:r>
              <a:rPr lang="zh-CN" altLang="en-US" sz="1800" dirty="0"/>
              <a:t>时，簇内距离平方和的下降速率开始变缓，因此确定最佳聚类值为</a:t>
            </a:r>
            <a:r>
              <a:rPr lang="en-US" altLang="zh-CN" sz="1800" dirty="0"/>
              <a:t>5</a:t>
            </a:r>
            <a:r>
              <a:rPr lang="zh-CN" altLang="en-US" sz="1800" dirty="0"/>
              <a:t>。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4745550-C325-0D53-9364-C752867AA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8216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75372-6288-41D2-98FF-2F58092CC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49D231-B5B7-F58E-5838-D70A501B1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C1B87A-D434-5973-F121-FA2EC96D9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800" dirty="0"/>
              <a:t>如图所示，算法将消费者划分为“低年收入</a:t>
            </a:r>
            <a:r>
              <a:rPr lang="en-US" altLang="zh-CN" sz="1800" dirty="0"/>
              <a:t>-</a:t>
            </a:r>
            <a:r>
              <a:rPr lang="zh-CN" altLang="en-US" sz="1800" dirty="0"/>
              <a:t>低消费评分”（簇类</a:t>
            </a:r>
            <a:r>
              <a:rPr lang="en-US" altLang="zh-CN" sz="1800" dirty="0"/>
              <a:t>3</a:t>
            </a:r>
            <a:r>
              <a:rPr lang="zh-CN" altLang="en-US" sz="1800" dirty="0"/>
              <a:t>）、“低年收入</a:t>
            </a:r>
            <a:r>
              <a:rPr lang="en-US" altLang="zh-CN" sz="1800" dirty="0"/>
              <a:t>-</a:t>
            </a:r>
            <a:r>
              <a:rPr lang="zh-CN" altLang="en-US" sz="1800" dirty="0"/>
              <a:t>高消费评分”（簇类</a:t>
            </a:r>
            <a:r>
              <a:rPr lang="en-US" altLang="zh-CN" sz="1800" dirty="0"/>
              <a:t>4</a:t>
            </a:r>
            <a:r>
              <a:rPr lang="zh-CN" altLang="en-US" sz="1800" dirty="0"/>
              <a:t>）、“高年收入</a:t>
            </a:r>
            <a:r>
              <a:rPr lang="en-US" altLang="zh-CN" sz="1800" dirty="0"/>
              <a:t>-</a:t>
            </a:r>
            <a:r>
              <a:rPr lang="zh-CN" altLang="en-US" sz="1800" dirty="0"/>
              <a:t>低消费评分”（簇类</a:t>
            </a:r>
            <a:r>
              <a:rPr lang="en-US" altLang="zh-CN" sz="1800" dirty="0"/>
              <a:t>2</a:t>
            </a:r>
            <a:r>
              <a:rPr lang="zh-CN" altLang="en-US" sz="1800" dirty="0"/>
              <a:t>）、“高年收入</a:t>
            </a:r>
            <a:r>
              <a:rPr lang="en-US" altLang="zh-CN" sz="1800" dirty="0"/>
              <a:t>-</a:t>
            </a:r>
            <a:r>
              <a:rPr lang="zh-CN" altLang="en-US" sz="1800" dirty="0"/>
              <a:t>高消费评分”（簇类</a:t>
            </a:r>
            <a:r>
              <a:rPr lang="en-US" altLang="zh-CN" sz="1800" dirty="0"/>
              <a:t>1</a:t>
            </a:r>
            <a:r>
              <a:rPr lang="zh-CN" altLang="en-US" sz="1800" dirty="0"/>
              <a:t>）、“中年收入</a:t>
            </a:r>
            <a:r>
              <a:rPr lang="en-US" altLang="zh-CN" sz="1800" dirty="0"/>
              <a:t>-</a:t>
            </a:r>
            <a:r>
              <a:rPr lang="zh-CN" altLang="en-US" sz="1800" dirty="0"/>
              <a:t>中消费评分”（簇类</a:t>
            </a:r>
            <a:r>
              <a:rPr lang="en-US" altLang="zh-CN" sz="1800" dirty="0"/>
              <a:t>0</a:t>
            </a:r>
            <a:r>
              <a:rPr lang="zh-CN" altLang="en-US" sz="1800" dirty="0"/>
              <a:t>）</a:t>
            </a:r>
            <a:r>
              <a:rPr lang="en-US" altLang="zh-CN" sz="1800" dirty="0"/>
              <a:t>5</a:t>
            </a:r>
            <a:r>
              <a:rPr lang="zh-CN" altLang="en-US" sz="1800" dirty="0"/>
              <a:t>个类别，可以发现各个簇之间的距离较大，簇内数据分布紧密，边界清晰，最终得到聚类效果较好。</a:t>
            </a:r>
            <a:endParaRPr lang="en-US" altLang="zh-CN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6B3C4DC-74D9-8034-AE09-84983DC3F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37249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F833C-0931-4030-8352-AFD9186768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2409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要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 bwMode="auto">
          <a:xfrm>
            <a:off x="0" y="1771650"/>
            <a:ext cx="12192000" cy="1261491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20000"/>
                  <a:lumOff val="8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algn="ctr">
              <a:spcBef>
                <a:spcPct val="50000"/>
              </a:spcBef>
            </a:pP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0" y="2394901"/>
            <a:ext cx="12192000" cy="3796496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928495"/>
            <a:endParaRPr lang="zh-CN" altLang="en-US" sz="1400" dirty="0"/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0" y="2291460"/>
            <a:ext cx="12192000" cy="4004169"/>
            <a:chOff x="1960583" y="2188019"/>
            <a:chExt cx="9297266" cy="4004169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rot="10800000" flipH="1">
              <a:off x="1960583" y="6087956"/>
              <a:ext cx="9297266" cy="104232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 rotWithShape="1">
            <a:blip r:embed="rId2">
              <a:grayscl/>
            </a:blip>
            <a:srcRect b="72279"/>
            <a:stretch>
              <a:fillRect/>
            </a:stretch>
          </p:blipFill>
          <p:spPr>
            <a:xfrm flipH="1">
              <a:off x="1960583" y="2188019"/>
              <a:ext cx="9297266" cy="104232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55"/>
          <a:stretch>
            <a:fillRect/>
          </a:stretch>
        </p:blipFill>
        <p:spPr>
          <a:xfrm>
            <a:off x="916640" y="227763"/>
            <a:ext cx="11161059" cy="603504"/>
          </a:xfrm>
          <a:prstGeom prst="rect">
            <a:avLst/>
          </a:prstGeom>
        </p:spPr>
      </p:pic>
      <p:pic>
        <p:nvPicPr>
          <p:cNvPr id="3" name="Picture 2" descr="A logo with dots and lines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8" r="8389" b="36069"/>
          <a:stretch>
            <a:fillRect/>
          </a:stretch>
        </p:blipFill>
        <p:spPr>
          <a:xfrm>
            <a:off x="11249224" y="166730"/>
            <a:ext cx="828475" cy="72557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/>
          <a:srcRect l="453"/>
          <a:stretch>
            <a:fillRect/>
          </a:stretch>
        </p:blipFill>
        <p:spPr>
          <a:xfrm>
            <a:off x="0" y="0"/>
            <a:ext cx="12192000" cy="1014998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5982657" y="0"/>
            <a:ext cx="202179" cy="10149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第一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二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二、主要工作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第三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2877689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三、总结展望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978805" y="232958"/>
            <a:ext cx="1531166" cy="584763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pPr lvl="0"/>
            <a:r>
              <a:rPr lang="zh-CN" altLang="en-US" sz="3200" b="1" spc="300" dirty="0">
                <a:solidFill>
                  <a:srgbClr val="FFFF00"/>
                </a:solidFill>
                <a:effectLst>
                  <a:outerShdw blurRad="38100" dist="762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结束语</a:t>
            </a:r>
          </a:p>
        </p:txBody>
      </p:sp>
      <p:sp>
        <p:nvSpPr>
          <p:cNvPr id="2" name="矩形 26"/>
          <p:cNvSpPr/>
          <p:nvPr userDrawn="1"/>
        </p:nvSpPr>
        <p:spPr>
          <a:xfrm>
            <a:off x="11281576" y="231052"/>
            <a:ext cx="800197" cy="584763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91429" tIns="45714" rIns="91429" bIns="45714">
            <a:spAutoFit/>
          </a:bodyPr>
          <a:lstStyle/>
          <a:p>
            <a:pPr algn="dist"/>
            <a:r>
              <a:rPr lang="zh-CN" altLang="en-US" sz="1600" b="0" dirty="0">
                <a:solidFill>
                  <a:srgbClr val="FD5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光综艺_CNKI" panose="02000500000000000000" pitchFamily="2" charset="-122"/>
                <a:ea typeface="华光综艺_CNKI" panose="02000500000000000000" pitchFamily="2" charset="-122"/>
              </a:rPr>
              <a:t>大数据</a:t>
            </a:r>
            <a:endParaRPr lang="en-US" altLang="zh-CN" sz="1600" b="0" dirty="0">
              <a:solidFill>
                <a:srgbClr val="FD5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  <a:p>
            <a:pPr algn="dist"/>
            <a:r>
              <a:rPr lang="zh-CN" altLang="en-US" sz="1600" b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D5C0C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可</a:t>
            </a:r>
            <a:r>
              <a:rPr lang="zh-CN" altLang="en-US" sz="1600" b="0" dirty="0">
                <a:solidFill>
                  <a:srgbClr val="00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视</a:t>
            </a:r>
            <a:r>
              <a:rPr lang="zh-CN" altLang="en-US" sz="1600" b="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CCFF"/>
                </a:highlight>
                <a:latin typeface="华光综艺_CNKI" panose="02000500000000000000" pitchFamily="2" charset="-122"/>
                <a:ea typeface="华光综艺_CNKI" panose="02000500000000000000" pitchFamily="2" charset="-122"/>
              </a:rPr>
              <a:t>化</a:t>
            </a:r>
            <a:endParaRPr lang="en-US" sz="1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纯背景带校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D:\works\工作\周琴\56-2019-大数据与复杂网络\模板设计\内页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77" y="0"/>
            <a:ext cx="12192000" cy="686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15 June, 2011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prstClr val="black">
                    <a:tint val="75000"/>
                  </a:prstClr>
                </a:solidFill>
              </a:rPr>
              <a:t>IHCAR</a:t>
            </a:r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446203-2B80-4CBC-A257-89A48550B42A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GB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375374" y="1"/>
            <a:ext cx="140967" cy="962147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5" name="矩形 4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 rot="10800000">
            <a:off x="11735683" y="6617464"/>
            <a:ext cx="140967" cy="240536"/>
            <a:chOff x="281524" y="0"/>
            <a:chExt cx="105725" cy="721610"/>
          </a:xfrm>
          <a:solidFill>
            <a:srgbClr val="1A7BAE"/>
          </a:solidFill>
        </p:grpSpPr>
        <p:sp>
          <p:nvSpPr>
            <p:cNvPr id="10" name="矩形 9"/>
            <p:cNvSpPr/>
            <p:nvPr/>
          </p:nvSpPr>
          <p:spPr>
            <a:xfrm>
              <a:off x="281524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41530" y="0"/>
              <a:ext cx="45719" cy="72161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1561465"/>
              <a:endParaRPr lang="zh-CN" altLang="en-US" sz="3065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11803774" y="6581013"/>
            <a:ext cx="372196" cy="276987"/>
          </a:xfrm>
          <a:prstGeom prst="rect">
            <a:avLst/>
          </a:prstGeom>
        </p:spPr>
        <p:txBody>
          <a:bodyPr wrap="none" lIns="91429" tIns="45714" rIns="91429" bIns="45714">
            <a:spAutoFit/>
          </a:bodyPr>
          <a:lstStyle/>
          <a:p>
            <a:fld id="{5E083074-D3FF-49A6-8E12-2ECAA15AAAA1}" type="slidenum">
              <a:rPr lang="zh-CN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‹#›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3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7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13" Type="http://schemas.openxmlformats.org/officeDocument/2006/relationships/oleObject" Target="../embeddings/oleObject17.bin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2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24.wmf"/><Relationship Id="rId4" Type="http://schemas.openxmlformats.org/officeDocument/2006/relationships/image" Target="../media/image11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6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F8D0B-5064-2AF9-7424-3F1097559ACE}"/>
              </a:ext>
            </a:extLst>
          </p:cNvPr>
          <p:cNvSpPr txBox="1">
            <a:spLocks/>
          </p:cNvSpPr>
          <p:nvPr/>
        </p:nvSpPr>
        <p:spPr>
          <a:xfrm>
            <a:off x="408972" y="1926317"/>
            <a:ext cx="11374056" cy="2183408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>
              <a:lnSpc>
                <a:spcPct val="200000"/>
              </a:lnSpc>
              <a:spcAft>
                <a:spcPts val="1200"/>
              </a:spcAft>
            </a:pP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第</a:t>
            </a:r>
            <a:r>
              <a:rPr lang="en-US" altLang="zh-CN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8.3</a:t>
            </a:r>
            <a:r>
              <a:rPr lang="zh-CN" altLang="en-US" sz="5400" b="0" dirty="0">
                <a:solidFill>
                  <a:schemeClr val="bg1"/>
                </a:solidFill>
                <a:ea typeface="华光综艺_CNKI" panose="02000500000000000000" pitchFamily="2" charset="-122"/>
              </a:rPr>
              <a:t>节</a:t>
            </a:r>
            <a:endParaRPr lang="en-US" altLang="zh-CN" sz="5400" b="0" dirty="0">
              <a:solidFill>
                <a:schemeClr val="bg1"/>
              </a:solidFill>
              <a:ea typeface="华光综艺_CNKI" panose="02000500000000000000" pitchFamily="2" charset="-122"/>
            </a:endParaRPr>
          </a:p>
          <a:p>
            <a:r>
              <a:rPr lang="en-US" altLang="zh-CN" b="0" dirty="0">
                <a:ea typeface="华光综艺_CNKI" panose="02000500000000000000" pitchFamily="2" charset="-122"/>
              </a:rPr>
              <a:t>K-means</a:t>
            </a:r>
            <a:r>
              <a:rPr lang="zh-CN" altLang="en-US" b="0" dirty="0">
                <a:ea typeface="华光综艺_CNKI" panose="02000500000000000000" pitchFamily="2" charset="-122"/>
              </a:rPr>
              <a:t>聚类</a:t>
            </a:r>
          </a:p>
        </p:txBody>
      </p:sp>
    </p:spTree>
    <p:extLst>
      <p:ext uri="{BB962C8B-B14F-4D97-AF65-F5344CB8AC3E}">
        <p14:creationId xmlns:p14="http://schemas.microsoft.com/office/powerpoint/2010/main" val="383095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94478-037D-88E9-3074-68A2D1573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58C0F136-5521-C7C3-A998-D4F173407E15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50C8DFAB-1C94-A5EF-232E-5E3D3AE9F566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284FBD47-9707-9E85-2C07-1A96FA0B171C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AC62A18-BF74-B5CB-C16E-1EEB4C82C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1431391-4FC7-9D1A-F7DA-9F806DF152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66C57ABC-D07B-2D34-8F71-A13818F7C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879F071-3DDF-1F76-7D84-97873B33E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25778058-7E52-5050-DB74-9A511DC19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3CD23DF-6295-295C-79FD-E39C90A27A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BA31A4A3-EE43-EFE9-D96E-2AC3260DA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82A01BB7-EEEA-7182-2641-1D31D2513CB0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基本原理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EC04A30-35A1-5BC3-9C9C-695E2B205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FD65769-7A0B-2E18-4198-2918BC989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3B73E25E-55F4-0F02-49F2-CE3890F13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635BED1A-EAFA-DD40-0F82-9F8454198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E8BEF0C1-91AD-A848-67F3-72FA4534E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08CC47B-8C13-687B-7BC5-627DAB4CC394}"/>
              </a:ext>
            </a:extLst>
          </p:cNvPr>
          <p:cNvSpPr txBox="1">
            <a:spLocks noChangeArrowheads="1"/>
          </p:cNvSpPr>
          <p:nvPr/>
        </p:nvSpPr>
        <p:spPr>
          <a:xfrm>
            <a:off x="2509270" y="1665044"/>
            <a:ext cx="9200950" cy="12747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  <a:effectLst/>
              </a:rPr>
              <a:t>一种基于</a:t>
            </a:r>
            <a:r>
              <a:rPr lang="zh-CN" altLang="en-US" sz="2400" dirty="0">
                <a:solidFill>
                  <a:srgbClr val="FF0000"/>
                </a:solidFill>
                <a:effectLst/>
              </a:rPr>
              <a:t>划分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的聚类算法，算法的目标是将数据集分割成预先设定的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k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个簇，使得每个样本划被分到距离最近的簇中，从而达到</a:t>
            </a:r>
            <a:r>
              <a:rPr lang="zh-CN" altLang="en-US" sz="2400" dirty="0">
                <a:solidFill>
                  <a:srgbClr val="FF0000"/>
                </a:solidFill>
                <a:effectLst/>
              </a:rPr>
              <a:t>簇内样本之间相似度最大化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的目的。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1715B3-6E25-0240-4285-C8CBE1ADD6C1}"/>
              </a:ext>
            </a:extLst>
          </p:cNvPr>
          <p:cNvSpPr/>
          <p:nvPr/>
        </p:nvSpPr>
        <p:spPr>
          <a:xfrm>
            <a:off x="166154" y="3083467"/>
            <a:ext cx="11441577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给定数据集                                     ，其中每个数据点包含   维特征。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K-means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聚类算法是将   个观测值划分到    个集合中             ，目标函数的公式如下：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CCEADFB-586C-D97B-BC07-5C7AFC646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26FBF303-1E6F-7841-9513-F0F8354E15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59870" y="3128748"/>
          <a:ext cx="3335338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27120" imgH="596880" progId="Equation.DSMT4">
                  <p:embed/>
                </p:oleObj>
              </mc:Choice>
              <mc:Fallback>
                <p:oleObj name="Equation" r:id="rId3" imgW="3327120" imgH="59688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26FBF303-1E6F-7841-9513-F0F8354E15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870" y="3128748"/>
                        <a:ext cx="3335338" cy="611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4">
            <a:extLst>
              <a:ext uri="{FF2B5EF4-FFF2-40B4-BE49-F238E27FC236}">
                <a16:creationId xmlns:a16="http://schemas.microsoft.com/office/drawing/2014/main" id="{20434422-1DE1-E71E-F496-62F7E87F3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B18538D3-97AF-9BBD-031E-7DB8C8C0DB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4823" y="3267868"/>
          <a:ext cx="246063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400" imgH="342720" progId="Equation.DSMT4">
                  <p:embed/>
                </p:oleObj>
              </mc:Choice>
              <mc:Fallback>
                <p:oleObj name="Equation" r:id="rId5" imgW="26640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B18538D3-97AF-9BBD-031E-7DB8C8C0DB2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23" y="3267868"/>
                        <a:ext cx="246063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6">
            <a:extLst>
              <a:ext uri="{FF2B5EF4-FFF2-40B4-BE49-F238E27FC236}">
                <a16:creationId xmlns:a16="http://schemas.microsoft.com/office/drawing/2014/main" id="{96A35443-36CC-FA58-077F-36BD55054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D5AF546-6F83-40F5-0E96-775CE8C9E8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0851" y="3883562"/>
          <a:ext cx="231775" cy="222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8600" imgH="241200" progId="Equation.DSMT4">
                  <p:embed/>
                </p:oleObj>
              </mc:Choice>
              <mc:Fallback>
                <p:oleObj name="Equation" r:id="rId7" imgW="228600" imgH="241200" progId="Equation.DSMT4">
                  <p:embed/>
                  <p:pic>
                    <p:nvPicPr>
                      <p:cNvPr id="28" name="对象 27">
                        <a:extLst>
                          <a:ext uri="{FF2B5EF4-FFF2-40B4-BE49-F238E27FC236}">
                            <a16:creationId xmlns:a16="http://schemas.microsoft.com/office/drawing/2014/main" id="{5D5AF546-6F83-40F5-0E96-775CE8C9E80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851" y="3883562"/>
                        <a:ext cx="231775" cy="2222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8">
            <a:extLst>
              <a:ext uri="{FF2B5EF4-FFF2-40B4-BE49-F238E27FC236}">
                <a16:creationId xmlns:a16="http://schemas.microsoft.com/office/drawing/2014/main" id="{0304478B-EFF5-D275-441F-6CA480CF2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18D3018B-7879-3E22-8166-FCC59E1900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1598" y="3785217"/>
          <a:ext cx="261938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200" imgH="342720" progId="Equation.DSMT4">
                  <p:embed/>
                </p:oleObj>
              </mc:Choice>
              <mc:Fallback>
                <p:oleObj name="Equation" r:id="rId9" imgW="241200" imgH="34272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18D3018B-7879-3E22-8166-FCC59E1900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1598" y="3785217"/>
                        <a:ext cx="261938" cy="376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0">
            <a:extLst>
              <a:ext uri="{FF2B5EF4-FFF2-40B4-BE49-F238E27FC236}">
                <a16:creationId xmlns:a16="http://schemas.microsoft.com/office/drawing/2014/main" id="{0FD2F574-CE8E-1561-1F79-64ADABCD8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3" name="对象 32">
            <a:extLst>
              <a:ext uri="{FF2B5EF4-FFF2-40B4-BE49-F238E27FC236}">
                <a16:creationId xmlns:a16="http://schemas.microsoft.com/office/drawing/2014/main" id="{900C5A84-8550-EFB1-B76D-14DBE374BA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5066" y="3771924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66680" imgH="419040" progId="Equation.DSMT4">
                  <p:embed/>
                </p:oleObj>
              </mc:Choice>
              <mc:Fallback>
                <p:oleObj name="Equation" r:id="rId11" imgW="1066680" imgH="419040" progId="Equation.DSMT4">
                  <p:embed/>
                  <p:pic>
                    <p:nvPicPr>
                      <p:cNvPr id="33" name="对象 32">
                        <a:extLst>
                          <a:ext uri="{FF2B5EF4-FFF2-40B4-BE49-F238E27FC236}">
                            <a16:creationId xmlns:a16="http://schemas.microsoft.com/office/drawing/2014/main" id="{900C5A84-8550-EFB1-B76D-14DBE374BA5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5066" y="3771924"/>
                        <a:ext cx="10668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Rectangle 12">
            <a:extLst>
              <a:ext uri="{FF2B5EF4-FFF2-40B4-BE49-F238E27FC236}">
                <a16:creationId xmlns:a16="http://schemas.microsoft.com/office/drawing/2014/main" id="{550EC297-BA3E-5A31-C4C3-573260760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E3B0F6DD-5099-B9A6-3202-D1D77D646B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1450" y="4412235"/>
          <a:ext cx="4229100" cy="835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228920" imgH="838080" progId="Equation.DSMT4">
                  <p:embed/>
                </p:oleObj>
              </mc:Choice>
              <mc:Fallback>
                <p:oleObj name="Equation" r:id="rId13" imgW="4228920" imgH="83808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E3B0F6DD-5099-B9A6-3202-D1D77D646B4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1450" y="4412235"/>
                        <a:ext cx="4229100" cy="835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5A3A007C-F624-0D45-C83F-DE993C3B8FF3}"/>
              </a:ext>
            </a:extLst>
          </p:cNvPr>
          <p:cNvSpPr/>
          <p:nvPr/>
        </p:nvSpPr>
        <p:spPr>
          <a:xfrm>
            <a:off x="561231" y="5268141"/>
            <a:ext cx="584174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其中</a:t>
            </a: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 为簇     的质心。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305BACD6-EAA5-85C7-E471-C961ADD69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375ACBA-A711-2C1C-7375-3BE376A050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93825" y="5395172"/>
          <a:ext cx="355600" cy="45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68280" imgH="444240" progId="Equation.DSMT4">
                  <p:embed/>
                </p:oleObj>
              </mc:Choice>
              <mc:Fallback>
                <p:oleObj name="Equation" r:id="rId15" imgW="368280" imgH="44424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0375ACBA-A711-2C1C-7375-3BE376A050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3825" y="5395172"/>
                        <a:ext cx="355600" cy="454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Rectangle 16">
            <a:extLst>
              <a:ext uri="{FF2B5EF4-FFF2-40B4-BE49-F238E27FC236}">
                <a16:creationId xmlns:a16="http://schemas.microsoft.com/office/drawing/2014/main" id="{D964125C-DBBC-F3A3-277B-A4A77DA52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0" name="对象 39">
            <a:extLst>
              <a:ext uri="{FF2B5EF4-FFF2-40B4-BE49-F238E27FC236}">
                <a16:creationId xmlns:a16="http://schemas.microsoft.com/office/drawing/2014/main" id="{C500C2C4-7E92-7087-FDA9-1445811975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5606" y="5405803"/>
          <a:ext cx="322263" cy="4540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720" imgH="444240" progId="Equation.DSMT4">
                  <p:embed/>
                </p:oleObj>
              </mc:Choice>
              <mc:Fallback>
                <p:oleObj name="Equation" r:id="rId17" imgW="342720" imgH="444240" progId="Equation.DSMT4">
                  <p:embed/>
                  <p:pic>
                    <p:nvPicPr>
                      <p:cNvPr id="40" name="对象 39">
                        <a:extLst>
                          <a:ext uri="{FF2B5EF4-FFF2-40B4-BE49-F238E27FC236}">
                            <a16:creationId xmlns:a16="http://schemas.microsoft.com/office/drawing/2014/main" id="{C500C2C4-7E92-7087-FDA9-1445811975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606" y="5405803"/>
                        <a:ext cx="322263" cy="4540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1553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97AB7-A21B-1343-0280-82BE3E80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FD62234-E212-33DE-11C2-24BBC8DC2D3A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22E2E2BC-C124-BF9C-1076-82EC020209D7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BBCA86E5-33B6-7967-298D-3861F585BE6B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722B0FA-71D7-4FF2-8B32-70A188226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6B9AC7DD-3B59-10C9-8DF2-804A9086B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87428571-DE34-6CDC-DE35-3F507FB25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367A7F2-CD08-E27F-E441-546A72791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12DF61C5-DB78-62BB-9F81-9F18AD9AA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68F040DB-3A06-D393-F00B-3439C99D2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3872EA21-809D-F653-D0D4-5EB966986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0A4FEE94-3806-C52E-989A-3AE3D7E8C180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求解步骤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0AAA22E-5E07-A642-4B4D-0925F4CC5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2F8B168-6DB8-AEDC-2D8B-482733B7E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FCC2E5D-EF5A-F8E8-C1A8-6E29CF25D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490A0B70-19B4-FD54-9950-965BF7F37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1F6C532E-4B19-C601-60C0-5286C6D2F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82A96E-0074-9A67-8AD0-F3838472D478}"/>
              </a:ext>
            </a:extLst>
          </p:cNvPr>
          <p:cNvSpPr/>
          <p:nvPr/>
        </p:nvSpPr>
        <p:spPr>
          <a:xfrm>
            <a:off x="2415606" y="1610739"/>
            <a:ext cx="9192125" cy="1135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K-means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的目标函数可以通过基于迭代的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Lloyd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进行求解，求解过程共分为两个步骤：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67BD9889-782D-BC2A-B256-15D50A991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C3F492D8-5ABF-1220-EEBE-B2840484C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F2FE5580-49FF-F219-84A3-AD883BD94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AA219660-FD34-55F9-857D-040DF854C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207EAA5A-8C79-C7B8-3F77-34CF3AEBD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73E95A64-B526-74E5-D034-A4E7318A4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4902F157-96D7-D11E-AF84-1420B538AF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D9F1F73E-C279-88C6-E2E3-AD9FC7ED3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07D25E8-3790-57F6-56B9-1F73EB9DDCA7}"/>
              </a:ext>
            </a:extLst>
          </p:cNvPr>
          <p:cNvSpPr txBox="1">
            <a:spLocks noChangeArrowheads="1"/>
          </p:cNvSpPr>
          <p:nvPr/>
        </p:nvSpPr>
        <p:spPr>
          <a:xfrm>
            <a:off x="2657474" y="2942380"/>
            <a:ext cx="8562976" cy="1737666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分配步骤</a:t>
            </a:r>
            <a:r>
              <a:rPr lang="en-US" altLang="zh-CN" sz="2200" dirty="0">
                <a:solidFill>
                  <a:srgbClr val="00CCFF"/>
                </a:solidFill>
                <a:effectLst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对于数据集中的每一个点     ，计算它与每个质心               的距离，并将其划分到最近的质心所代表的簇中。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97F3B34-8F41-5CD8-0C96-04E57F7DE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D1B1A172-429C-DF44-49BE-0357CAA5E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37679" y="3668339"/>
          <a:ext cx="3905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0880" imgH="431640" progId="Equation.DSMT4">
                  <p:embed/>
                </p:oleObj>
              </mc:Choice>
              <mc:Fallback>
                <p:oleObj name="Equation" r:id="rId3" imgW="380880" imgH="43164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D1B1A172-429C-DF44-49BE-0357CAA5E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7679" y="3668339"/>
                        <a:ext cx="390525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4">
            <a:extLst>
              <a:ext uri="{FF2B5EF4-FFF2-40B4-BE49-F238E27FC236}">
                <a16:creationId xmlns:a16="http://schemas.microsoft.com/office/drawing/2014/main" id="{CDFBD2B0-6E31-32FA-662B-C52494CC3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58D1E69-2057-9614-B63E-14550B774C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34226" y="3619500"/>
          <a:ext cx="1123951" cy="44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431640" progId="Equation.DSMT4">
                  <p:embed/>
                </p:oleObj>
              </mc:Choice>
              <mc:Fallback>
                <p:oleObj name="Equation" r:id="rId5" imgW="1117440" imgH="43164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58D1E69-2057-9614-B63E-14550B774C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34226" y="3619500"/>
                        <a:ext cx="1123951" cy="441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2">
            <a:extLst>
              <a:ext uri="{FF2B5EF4-FFF2-40B4-BE49-F238E27FC236}">
                <a16:creationId xmlns:a16="http://schemas.microsoft.com/office/drawing/2014/main" id="{AC47BE1C-CA1A-0E10-B479-0C8EACA9C195}"/>
              </a:ext>
            </a:extLst>
          </p:cNvPr>
          <p:cNvSpPr txBox="1">
            <a:spLocks noChangeArrowheads="1"/>
          </p:cNvSpPr>
          <p:nvPr/>
        </p:nvSpPr>
        <p:spPr>
          <a:xfrm>
            <a:off x="2657474" y="4804454"/>
            <a:ext cx="8562976" cy="1737666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更新步骤</a:t>
            </a:r>
            <a:r>
              <a:rPr lang="en-US" altLang="zh-CN" sz="2200" dirty="0">
                <a:solidFill>
                  <a:srgbClr val="00CCFF"/>
                </a:solidFill>
                <a:effectLst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重新计算每一个簇的质心，通过计算该簇所有点的均值作为新的质心</a:t>
            </a:r>
            <a:r>
              <a:rPr lang="en-US" altLang="zh-CN" sz="2200" dirty="0">
                <a:solidFill>
                  <a:schemeClr val="tx1"/>
                </a:solidFill>
                <a:effectLst/>
              </a:rPr>
              <a:t>              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421FD57F-C5A5-9582-8F2B-68D41C7036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2551" y="5995924"/>
          <a:ext cx="1123951" cy="441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431640" progId="Equation.DSMT4">
                  <p:embed/>
                </p:oleObj>
              </mc:Choice>
              <mc:Fallback>
                <p:oleObj name="Equation" r:id="rId5" imgW="1117440" imgH="43164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421FD57F-C5A5-9582-8F2B-68D41C7036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551" y="5995924"/>
                        <a:ext cx="1123951" cy="441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343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 animBg="1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6C73E-EA11-6774-3E62-CE90DA253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1185A97-2524-F6C5-7C0D-50B92BDF3113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783C77E0-B2E8-8F9B-4A3E-8D2211F8D453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ACFC9B4D-967F-E9D3-63F2-67B02E10A2F1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F7F6D69-CDFE-C5EA-08BF-83A35578FA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F18848F-4ABF-4161-E8D3-FE13473BF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7207D29C-26E7-0EFE-F6B3-8ACE44A3D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8B71357E-5988-6E82-C669-609FED82E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9FD7145-5768-C468-AD63-A17616A92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767CE99D-B7F6-E28E-5F76-439D74D72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9D23EAF2-45E1-ECD4-2087-6F2127DFE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B186A1A3-6E06-BE3B-E0B7-5550A496AFB7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示例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2904872-F707-4A68-4F13-794147234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68524E9-6379-47DC-E777-5D982F343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EAC0CE7-8357-4876-9D95-39CBB4DBA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F2F3822E-02D0-2FFA-24B8-56658B812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19C2DB2B-7103-17BC-547E-F857EBB28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D1111239-3A7C-9D3C-CCCF-B27325CA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25D42A38-B97C-05E8-65B6-DD844469B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811B5A8-1358-73CE-F2F8-A703B718D7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239D9341-CAE9-B56A-47C1-9FD72A1D2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61C3CA45-6BF0-C0C1-C18F-32D1BB4AE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5B9BE398-C1B7-8481-4B79-15A69F6B48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B7637F2E-E9F3-1998-9A63-0CE6CDD7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4F188A4D-FFCC-F60B-F8D9-7D8173912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F5ED5A85-36BB-5061-D5ED-B48DD8496D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AD438140-5862-75F2-C5EA-40ED665732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形 30">
            <a:extLst>
              <a:ext uri="{FF2B5EF4-FFF2-40B4-BE49-F238E27FC236}">
                <a16:creationId xmlns:a16="http://schemas.microsoft.com/office/drawing/2014/main" id="{344F7E4B-5B15-916B-49D1-EA6945C20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22253" y="1665045"/>
            <a:ext cx="7147494" cy="510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601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7DA80-D3A0-6E2E-70B7-57A3A618F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E5DD3B60-8C36-43BC-A730-933FE4FA90F6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C237CECD-4A5B-0666-5323-29712B0CD742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592AE070-F1EE-D810-4926-E84F0AA13280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E28834E-874B-0511-E115-53757938A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2542CC5-673B-B255-DB00-25A2D7A1B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53E7B5C3-BEE2-7E58-E3EA-774D64784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FBFF3FA3-7C21-3C53-0F4C-F826B6FB5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631F3A8B-B0B7-5EB9-4006-1EA30201C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FEF9276F-C0F2-BCB5-1CDC-18141E1FB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37FA2108-07BC-A9C9-12EB-63D6A33E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A9086976-7297-12B0-F496-E34F5D522732}"/>
              </a:ext>
            </a:extLst>
          </p:cNvPr>
          <p:cNvSpPr/>
          <p:nvPr/>
        </p:nvSpPr>
        <p:spPr>
          <a:xfrm>
            <a:off x="166154" y="1665045"/>
            <a:ext cx="2105098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具体步骤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42F5AB6-EAF1-D2D3-AD7B-06FAA3BF4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E0C4136-836F-5E13-EB92-7DBEC37BF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C7F9C01A-F3BE-0DCB-5CAF-E1F2766024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20C3C5DE-1420-37C0-6DED-0FD8D88DF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0DF2FB78-195E-252E-4AF5-044F9685F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2DF2901-D391-6089-2D4A-7710C3481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6B0E6572-75C5-67B7-7841-59D8A611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E1BCE8A7-7C43-8617-4826-4B41B219A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71DCEB72-A0CB-6737-336F-1873AEE63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55EF3BCC-6BAC-C03C-266F-46426508B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0D4164EE-2965-DED0-494B-EA84856A8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CED5102C-00C2-FDCC-A94D-C77FA81E1E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363A0A94-6819-3BBF-FA71-AB578A562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8D8D1B6-E57D-A0DB-F15F-255D86017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EFE5539D-13CE-538B-CC74-056CD604A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C60138-54B4-BAE5-EC53-510835D54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26" y="2976752"/>
            <a:ext cx="10250948" cy="269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671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2BB31-219E-7E56-D38D-CF54CD5DF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D1B26B7-3ADC-F835-1A1A-269A2BC42298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8AF91F4E-80A8-ECD9-A94D-8D0465A44C80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786017F7-29DC-F453-2898-6B914DC94407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AF57B43-FAF7-F54F-26A9-F2DF5299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9473C4C0-9D63-0317-1636-2007EDFAB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08A92F5-6B23-14FC-8053-6F752E99C4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B8F16E0D-DB2A-76EA-24BE-93FDD758A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71D96455-4EE6-B181-5D70-03B995890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D088883A-8BFE-3A25-034C-52D95453E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9FE38575-7874-D6A8-CC02-BBCDDB4DE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F6507FD7-0E8E-AF50-1E9A-7FB2E45E66C6}"/>
              </a:ext>
            </a:extLst>
          </p:cNvPr>
          <p:cNvSpPr/>
          <p:nvPr/>
        </p:nvSpPr>
        <p:spPr>
          <a:xfrm>
            <a:off x="166154" y="1665045"/>
            <a:ext cx="2424646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质心的初始化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D5B0770-AE69-C054-CF0B-3065BC83C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1B65FEF-375F-8220-4AA7-88F998F82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07ED4E0D-33D7-7A74-B745-D521D04F97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6F0288C6-236B-0506-BBD4-FC0A43DC1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11B11651-290D-E243-0FE6-86D2FDEA2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FF36CBA9-E576-9F9E-0A42-27EE16F0F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66FC88AA-5FA2-2AA0-F23A-C6D5E1888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B71C6EF4-5610-725C-8E07-D9331EAEF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A6645949-9B3E-A3A3-0F4D-FDE1C35F6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10CE9EF2-664A-783D-3656-BA31821035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DA7EEC8A-03C7-EB2A-EA5B-CB6A80AB3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2464C100-7CDE-299A-AAFF-BDE8DAAE5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DCB0526D-E92B-85FB-DD37-310269342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4FAE0342-EFCB-6706-D199-B34DDD8B1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3B2B4128-7B39-E3E0-57DA-7DE8AD87A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CFA4E8-4E75-6195-B4AE-77C83410A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724" y="4243957"/>
            <a:ext cx="8823726" cy="2877356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FEC52EE1-6A5F-AF94-FF4E-117422965F06}"/>
              </a:ext>
            </a:extLst>
          </p:cNvPr>
          <p:cNvSpPr txBox="1">
            <a:spLocks noChangeArrowheads="1"/>
          </p:cNvSpPr>
          <p:nvPr/>
        </p:nvSpPr>
        <p:spPr>
          <a:xfrm>
            <a:off x="2752724" y="1669626"/>
            <a:ext cx="8562976" cy="2426123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随机选择：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从数据集中随机选择   个点作为初始质心，然后进行聚类迭代步骤。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rgbClr val="00CCFF"/>
                </a:solidFill>
                <a:effectLst/>
              </a:rPr>
              <a:t>随机分区：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首先为每个观测值随机分配一个簇，然后计算每个簇的均值作为随机分配的质心。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  <a:p>
            <a:pPr marL="342900" indent="-342900">
              <a:buFont typeface="Wingdings" panose="05000000000000000000" pitchFamily="2" charset="2"/>
              <a:buChar char="p"/>
            </a:pPr>
            <a:r>
              <a:rPr lang="en-US" altLang="zh-CN" sz="2200" dirty="0">
                <a:solidFill>
                  <a:srgbClr val="00CCFF"/>
                </a:solidFill>
                <a:effectLst/>
              </a:rPr>
              <a:t>K-means++</a:t>
            </a:r>
            <a:r>
              <a:rPr lang="zh-CN" altLang="en-US" sz="2200" dirty="0">
                <a:solidFill>
                  <a:srgbClr val="00CCFF"/>
                </a:solidFill>
                <a:effectLst/>
              </a:rPr>
              <a:t>：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该方法的目的是改善</a:t>
            </a:r>
            <a:r>
              <a:rPr lang="en-US" altLang="zh-CN" sz="2200" dirty="0">
                <a:solidFill>
                  <a:schemeClr val="tx1"/>
                </a:solidFill>
                <a:effectLst/>
              </a:rPr>
              <a:t>K-means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的收敛速度和结果质量，从而降低算法收敛到局部最小值的概率。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F6B6B8D-BDE1-E1FF-6932-BFA5F1264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EEED2F37-EED0-7DF2-5F93-5672420F5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19937" y="1824149"/>
          <a:ext cx="244475" cy="349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342720" progId="Equation.DSMT4">
                  <p:embed/>
                </p:oleObj>
              </mc:Choice>
              <mc:Fallback>
                <p:oleObj name="Equation" r:id="rId4" imgW="241200" imgH="34272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EEED2F37-EED0-7DF2-5F93-5672420F5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9937" y="1824149"/>
                        <a:ext cx="244475" cy="3492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矩形 26">
            <a:extLst>
              <a:ext uri="{FF2B5EF4-FFF2-40B4-BE49-F238E27FC236}">
                <a16:creationId xmlns:a16="http://schemas.microsoft.com/office/drawing/2014/main" id="{C9B1D570-5A56-F83D-3000-CBA6B37052CE}"/>
              </a:ext>
            </a:extLst>
          </p:cNvPr>
          <p:cNvSpPr/>
          <p:nvPr/>
        </p:nvSpPr>
        <p:spPr>
          <a:xfrm>
            <a:off x="2752724" y="3162300"/>
            <a:ext cx="2381251" cy="457200"/>
          </a:xfrm>
          <a:prstGeom prst="rect">
            <a:avLst/>
          </a:prstGeom>
          <a:noFill/>
          <a:ln w="571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7CA037D-A895-1F5D-6093-CED67EB4C52E}"/>
              </a:ext>
            </a:extLst>
          </p:cNvPr>
          <p:cNvSpPr/>
          <p:nvPr/>
        </p:nvSpPr>
        <p:spPr>
          <a:xfrm>
            <a:off x="561231" y="3038443"/>
            <a:ext cx="2029569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最常用的方法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星形: 五角 29">
            <a:extLst>
              <a:ext uri="{FF2B5EF4-FFF2-40B4-BE49-F238E27FC236}">
                <a16:creationId xmlns:a16="http://schemas.microsoft.com/office/drawing/2014/main" id="{7BC31A8C-3DFB-913F-2DCC-EE26054340AF}"/>
              </a:ext>
            </a:extLst>
          </p:cNvPr>
          <p:cNvSpPr/>
          <p:nvPr/>
        </p:nvSpPr>
        <p:spPr>
          <a:xfrm>
            <a:off x="2416107" y="2886043"/>
            <a:ext cx="322836" cy="304799"/>
          </a:xfrm>
          <a:prstGeom prst="star5">
            <a:avLst/>
          </a:prstGeom>
          <a:solidFill>
            <a:srgbClr val="FF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011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4509D-725B-683C-2FB7-0E26A3254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DB20176-8ECE-32D7-73F7-7CBC299437AE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88C7A5A9-1DF0-48FA-BC11-C7F87B29659D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9A16BA70-22EB-3881-5A1A-6A12F4EA3A4A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E97CECB-726C-4293-56BB-99AE498D5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DB554D2-8C58-FE86-975C-4374F09E91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8FF6C403-9451-D941-230C-D7AA660F8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3B8FEC0-16CB-D5A2-4985-7714ABAE6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E8C62CE-6D21-7C5D-AFD9-17233BB5D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E99DECC0-B13E-6D45-C5FD-0CF251CFA0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A71A6FD8-EB00-BF68-AE8D-A4DF861D1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CEB6129A-BB0A-1FEF-B460-8664A29D9218}"/>
              </a:ext>
            </a:extLst>
          </p:cNvPr>
          <p:cNvSpPr/>
          <p:nvPr/>
        </p:nvSpPr>
        <p:spPr>
          <a:xfrm>
            <a:off x="166153" y="1665045"/>
            <a:ext cx="2834221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noProof="0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算法应用与评价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C7ED1D1-344F-173B-ACA4-6C2EF99150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C12CF12-4FCA-2EE0-B0E1-4A64FA3EE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EF484E57-5ECD-8867-B3F3-1E7E2ACF5F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1448BE78-1C17-148C-65A1-AFE960003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C308BA03-DCAC-27EC-688B-96822DB90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595E1A2-089E-0F59-CA7A-561402B68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363985CC-BFA0-CB74-715E-53E62FECE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5AF10C35-E46E-F3CE-29D0-653E1F739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BC777403-B9D4-4DDC-1904-36FC94E5FC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34728BEB-6979-D46C-957E-39A313585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2B945A9E-094B-147B-04B3-BA2A62577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1A713E20-FC90-89FE-9EA3-FD4CC3176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1D2B6F9B-596C-DD52-F607-664E42BEA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3125E21-D11C-3626-564F-BB70D2A7B6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E63BAB7A-D99B-DFE9-273E-57AF3FE7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9CBD5809-C093-B84C-4FE2-942B78CEA291}"/>
              </a:ext>
            </a:extLst>
          </p:cNvPr>
          <p:cNvSpPr txBox="1">
            <a:spLocks noChangeArrowheads="1"/>
          </p:cNvSpPr>
          <p:nvPr/>
        </p:nvSpPr>
        <p:spPr>
          <a:xfrm>
            <a:off x="3177606" y="4044972"/>
            <a:ext cx="8562976" cy="2426123"/>
          </a:xfrm>
          <a:prstGeom prst="rect">
            <a:avLst/>
          </a:prstGeom>
          <a:ln w="28575">
            <a:solidFill>
              <a:schemeClr val="tx1"/>
            </a:solidFill>
            <a:prstDash val="sysDash"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由于该算法的简单性、易于实现和高效率，在实际场景中应用广泛，适用于</a:t>
            </a:r>
            <a:r>
              <a:rPr lang="zh-CN" altLang="en-US" sz="2200" dirty="0">
                <a:solidFill>
                  <a:srgbClr val="FF0000"/>
                </a:solidFill>
                <a:effectLst/>
              </a:rPr>
              <a:t>簇大小相近且分布均匀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的数据集。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200" dirty="0">
                <a:solidFill>
                  <a:schemeClr val="tx1"/>
                </a:solidFill>
                <a:effectLst/>
              </a:rPr>
              <a:t>同时，</a:t>
            </a:r>
            <a:r>
              <a:rPr lang="en-US" altLang="zh-CN" sz="2200" dirty="0">
                <a:solidFill>
                  <a:schemeClr val="tx1"/>
                </a:solidFill>
                <a:effectLst/>
              </a:rPr>
              <a:t>K-means</a:t>
            </a:r>
            <a:r>
              <a:rPr lang="zh-CN" altLang="en-US" sz="2200" dirty="0">
                <a:solidFill>
                  <a:schemeClr val="tx1"/>
                </a:solidFill>
                <a:effectLst/>
              </a:rPr>
              <a:t>算法对噪声数据和异常数据比较敏感，噪声数据会影响最终簇的分布结果。</a:t>
            </a:r>
            <a:endParaRPr lang="en-US" altLang="zh-CN" sz="2200" dirty="0">
              <a:solidFill>
                <a:schemeClr val="tx1"/>
              </a:solidFill>
              <a:effectLst/>
            </a:endParaRP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5856BB78-E32C-8499-B4CA-B84F00782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C59DC7-0FF5-A215-0C68-77BB2240D7BA}"/>
              </a:ext>
            </a:extLst>
          </p:cNvPr>
          <p:cNvSpPr/>
          <p:nvPr/>
        </p:nvSpPr>
        <p:spPr>
          <a:xfrm>
            <a:off x="3177606" y="1521418"/>
            <a:ext cx="8433369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时间复杂度：</a:t>
            </a:r>
            <a:endParaRPr lang="en-US" altLang="zh-CN" sz="24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空间复杂度：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zh-CN" altLang="en-US" sz="24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    是迭代次数， 是样本观测值的个数， 是簇数量， 是样本特征维度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7A3FB5BD-AB6E-CFFF-F442-DACB14C82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C7EE732B-41A3-E37B-3BFB-992AD73B85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9764" y="2887662"/>
          <a:ext cx="231775" cy="2222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241200" progId="Equation.DSMT4">
                  <p:embed/>
                </p:oleObj>
              </mc:Choice>
              <mc:Fallback>
                <p:oleObj name="Equation" r:id="rId3" imgW="228600" imgH="2412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C7EE732B-41A3-E37B-3BFB-992AD73B85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764" y="2887662"/>
                        <a:ext cx="231775" cy="2222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4">
            <a:extLst>
              <a:ext uri="{FF2B5EF4-FFF2-40B4-BE49-F238E27FC236}">
                <a16:creationId xmlns:a16="http://schemas.microsoft.com/office/drawing/2014/main" id="{5BD3CB2B-E191-98E7-2934-750402935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>
            <a:extLst>
              <a:ext uri="{FF2B5EF4-FFF2-40B4-BE49-F238E27FC236}">
                <a16:creationId xmlns:a16="http://schemas.microsoft.com/office/drawing/2014/main" id="{0CEA8CEB-6F95-471E-FC24-5F07A937B0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15296" y="2801938"/>
          <a:ext cx="520701" cy="30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71320" imgH="304560" progId="Equation.DSMT4">
                  <p:embed/>
                </p:oleObj>
              </mc:Choice>
              <mc:Fallback>
                <p:oleObj name="Equation" r:id="rId5" imgW="571320" imgH="304560" progId="Equation.DSMT4">
                  <p:embed/>
                  <p:pic>
                    <p:nvPicPr>
                      <p:cNvPr id="38" name="对象 37">
                        <a:extLst>
                          <a:ext uri="{FF2B5EF4-FFF2-40B4-BE49-F238E27FC236}">
                            <a16:creationId xmlns:a16="http://schemas.microsoft.com/office/drawing/2014/main" id="{0CEA8CEB-6F95-471E-FC24-5F07A937B0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5296" y="2801938"/>
                        <a:ext cx="520701" cy="3079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6">
            <a:extLst>
              <a:ext uri="{FF2B5EF4-FFF2-40B4-BE49-F238E27FC236}">
                <a16:creationId xmlns:a16="http://schemas.microsoft.com/office/drawing/2014/main" id="{BB5ECF85-F37E-1A53-4C87-0E0D6684A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0D5CD69A-8638-AF53-EB85-8AB98A24F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393829" y="2801938"/>
          <a:ext cx="2619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200" imgH="342720" progId="Equation.DSMT4">
                  <p:embed/>
                </p:oleObj>
              </mc:Choice>
              <mc:Fallback>
                <p:oleObj name="Equation" r:id="rId7" imgW="241200" imgH="34272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0D5CD69A-8638-AF53-EB85-8AB98A24F45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3829" y="2801938"/>
                        <a:ext cx="261938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Rectangle 8">
            <a:extLst>
              <a:ext uri="{FF2B5EF4-FFF2-40B4-BE49-F238E27FC236}">
                <a16:creationId xmlns:a16="http://schemas.microsoft.com/office/drawing/2014/main" id="{0B8A9450-DCF4-CF28-1637-AA1BF1D2D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0CFFD56B-A13B-C6D0-0A45-B654279F92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66851" y="2794793"/>
          <a:ext cx="263526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400" imgH="342720" progId="Equation.DSMT4">
                  <p:embed/>
                </p:oleObj>
              </mc:Choice>
              <mc:Fallback>
                <p:oleObj name="Equation" r:id="rId9" imgW="266400" imgH="342720" progId="Equation.DSMT4">
                  <p:embed/>
                  <p:pic>
                    <p:nvPicPr>
                      <p:cNvPr id="43" name="对象 42">
                        <a:extLst>
                          <a:ext uri="{FF2B5EF4-FFF2-40B4-BE49-F238E27FC236}">
                            <a16:creationId xmlns:a16="http://schemas.microsoft.com/office/drawing/2014/main" id="{0CFFD56B-A13B-C6D0-0A45-B654279F928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66851" y="2794793"/>
                        <a:ext cx="263526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10">
            <a:extLst>
              <a:ext uri="{FF2B5EF4-FFF2-40B4-BE49-F238E27FC236}">
                <a16:creationId xmlns:a16="http://schemas.microsoft.com/office/drawing/2014/main" id="{4AC07A70-9ACE-5D68-3F05-CC1A3A41E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13963387-A7E7-BCAB-0D93-5750A498C2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5483" y="1665977"/>
          <a:ext cx="37576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797280" imgH="520560" progId="Equation.DSMT4">
                  <p:embed/>
                </p:oleObj>
              </mc:Choice>
              <mc:Fallback>
                <p:oleObj name="Equation" r:id="rId11" imgW="3797280" imgH="52056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13963387-A7E7-BCAB-0D93-5750A498C2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483" y="1665977"/>
                        <a:ext cx="3757613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12">
            <a:extLst>
              <a:ext uri="{FF2B5EF4-FFF2-40B4-BE49-F238E27FC236}">
                <a16:creationId xmlns:a16="http://schemas.microsoft.com/office/drawing/2014/main" id="{605B6ED7-207C-0496-5C7A-ADADD91D7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9AEA8EE1-47C5-F632-FE98-6C75D1991C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15483" y="2213713"/>
          <a:ext cx="2435226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450880" imgH="520560" progId="Equation.DSMT4">
                  <p:embed/>
                </p:oleObj>
              </mc:Choice>
              <mc:Fallback>
                <p:oleObj name="Equation" r:id="rId13" imgW="2450880" imgH="52056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9AEA8EE1-47C5-F632-FE98-6C75D1991C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483" y="2213713"/>
                        <a:ext cx="2435226" cy="498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98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2AB2A-11B6-E47D-E873-7E0764DA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0AAF4723-85F6-F77B-A053-E2551601FABC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EFF8626D-02AF-156E-1CF7-D144C28FE101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BC2D139F-96A1-9CFF-67DE-85E6D4CCF8AF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0596D7B-D688-4BE1-1E92-69447C34C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DBDF8551-D6A4-E88D-5851-4F5E247A7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B5A68D8E-D90F-8BA5-3928-E01BFC3B3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657D914D-FEAF-3A98-C864-FC7A736C7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535FBB6D-5084-5FF6-ADC5-9636021D2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CE586A93-25F4-30CD-93BC-60322C6BB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8FBABF20-AC3E-E375-0EDB-6F002039D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7F814F55-ECBB-B12E-3BF9-FC4A57C1C2C6}"/>
              </a:ext>
            </a:extLst>
          </p:cNvPr>
          <p:cNvSpPr/>
          <p:nvPr/>
        </p:nvSpPr>
        <p:spPr>
          <a:xfrm>
            <a:off x="166154" y="1665045"/>
            <a:ext cx="21293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0E96C19-42DF-36F9-1EBA-554BED884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90116B4-81AF-7F6A-09C4-D1E2C942E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C2303FB8-8AA2-CCB9-0B2F-7F3FA664B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210C210A-2C80-53C2-0DD8-D0A37F662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7C41074D-2156-233C-A443-99738FFD1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1839FDD6-6F64-58E7-B416-612D3F3911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B41D93DD-7AA3-4913-2656-A075F19D4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FD6A052-8ED4-1394-72D0-AF7FAE47B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81AB1CEC-E79A-A1A9-72BC-C6627EEBD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5F130014-CFC7-78C6-4940-F7137159F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788A7661-5510-0456-78FE-5DA3C3A7C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E3F9DB67-15A2-410D-0295-50210670B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D3CF8498-8F4F-AA36-6CD4-116F0DF99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CBDED506-0FD3-562D-C9A6-71DE18F13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3D0016C6-69DF-D833-47C5-1942CC58C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C461E23E-213B-9178-819C-024A4E3D6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E6197B84-B080-28AD-F79C-C4FEA3F3A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0AD294E5-6741-7E03-5F85-E402B4E38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722FFD9B-A10D-29EB-34D8-3FBF04030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60B629E6-13AE-4397-632F-32010C3D4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16CEA900-EEA2-8F01-9FC3-335922304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7F43C720-A8AC-425D-8FFA-62ACC1082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04E40A-30AF-2C8A-399E-DC90C7D45712}"/>
              </a:ext>
            </a:extLst>
          </p:cNvPr>
          <p:cNvSpPr txBox="1">
            <a:spLocks noChangeArrowheads="1"/>
          </p:cNvSpPr>
          <p:nvPr/>
        </p:nvSpPr>
        <p:spPr>
          <a:xfrm>
            <a:off x="2208400" y="1783585"/>
            <a:ext cx="4416019" cy="39732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pPr algn="ctr"/>
            <a:r>
              <a:rPr lang="zh-CN" altLang="en-US" sz="2400" dirty="0">
                <a:solidFill>
                  <a:srgbClr val="00CCFF"/>
                </a:solidFill>
                <a:effectLst/>
              </a:rPr>
              <a:t>基于</a:t>
            </a:r>
            <a:r>
              <a:rPr lang="en-US" altLang="zh-CN" sz="2400" dirty="0">
                <a:solidFill>
                  <a:srgbClr val="00CCFF"/>
                </a:solidFill>
                <a:effectLst/>
              </a:rPr>
              <a:t>K-means</a:t>
            </a:r>
            <a:r>
              <a:rPr lang="zh-CN" altLang="en-US" sz="2400" dirty="0">
                <a:solidFill>
                  <a:srgbClr val="00CCFF"/>
                </a:solidFill>
                <a:effectLst/>
              </a:rPr>
              <a:t>消费者画像构建</a:t>
            </a: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2CF3E5E-572B-A2BE-95CA-7798BAC9E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614" y="3429000"/>
            <a:ext cx="9710771" cy="2714633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20797033-D68E-6974-9528-009A2ADB162E}"/>
              </a:ext>
            </a:extLst>
          </p:cNvPr>
          <p:cNvSpPr/>
          <p:nvPr/>
        </p:nvSpPr>
        <p:spPr>
          <a:xfrm>
            <a:off x="5027030" y="2443080"/>
            <a:ext cx="2137937" cy="4996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消费者信息数据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7A71112-B636-7238-03FB-260A069B730F}"/>
              </a:ext>
            </a:extLst>
          </p:cNvPr>
          <p:cNvSpPr/>
          <p:nvPr/>
        </p:nvSpPr>
        <p:spPr>
          <a:xfrm>
            <a:off x="1087430" y="2942704"/>
            <a:ext cx="1489469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用户编号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5DAE609-22A8-2598-A007-05DB8F257A35}"/>
              </a:ext>
            </a:extLst>
          </p:cNvPr>
          <p:cNvSpPr/>
          <p:nvPr/>
        </p:nvSpPr>
        <p:spPr>
          <a:xfrm>
            <a:off x="2839165" y="2942704"/>
            <a:ext cx="74473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性别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FDD36D2-E07A-E4FA-621C-57CC7818A57A}"/>
              </a:ext>
            </a:extLst>
          </p:cNvPr>
          <p:cNvSpPr/>
          <p:nvPr/>
        </p:nvSpPr>
        <p:spPr>
          <a:xfrm>
            <a:off x="3933097" y="2942704"/>
            <a:ext cx="744735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年龄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50E04C06-6E9F-3EDD-AA34-441A84CF6EF1}"/>
              </a:ext>
            </a:extLst>
          </p:cNvPr>
          <p:cNvSpPr/>
          <p:nvPr/>
        </p:nvSpPr>
        <p:spPr>
          <a:xfrm>
            <a:off x="4761772" y="2942704"/>
            <a:ext cx="110562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年收入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4951A46-0D37-1D0F-2615-69D1D751E866}"/>
              </a:ext>
            </a:extLst>
          </p:cNvPr>
          <p:cNvSpPr/>
          <p:nvPr/>
        </p:nvSpPr>
        <p:spPr>
          <a:xfrm>
            <a:off x="7430225" y="2942704"/>
            <a:ext cx="1105628" cy="4589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消费得分</a:t>
            </a:r>
            <a:endParaRPr kumimoji="0" lang="en-US" altLang="zh-CN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055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5BC62-0FBB-2007-64D4-D58E80ECF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F0973C04-4213-1C37-57CA-76E8387F6F44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12ED8FAF-1A34-7199-D532-F474EEBD9E08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5E2161EA-EC6F-288D-D6E1-363588838808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7D65D14-E819-D9CB-ECAF-8B5E37149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11804053-9791-07BA-BAAC-A18D4EF33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3DFB4D75-6C0A-4384-F6E4-BE8188C19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10476DB-5125-88AD-C3E5-DFDFD8DAE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96E29FA-3AD6-E8D8-BD29-FA0BDC7D7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914E402F-7D1D-CDAA-FD86-028B2AB10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196076D8-ABAC-0699-4DBE-6C18C96D0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C30D6018-A9FC-FD39-94D6-26885758F29F}"/>
              </a:ext>
            </a:extLst>
          </p:cNvPr>
          <p:cNvSpPr/>
          <p:nvPr/>
        </p:nvSpPr>
        <p:spPr>
          <a:xfrm>
            <a:off x="166154" y="1665045"/>
            <a:ext cx="21293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8807712-6D6B-B151-DC99-A76D8BBD3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2D36446-24EF-2B57-9967-4797CADF0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9073A6EF-B66C-32A1-E84D-086DE18665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CCBCBDAB-4D2F-57D9-0D55-7B15E1D2F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66F84A9E-9670-9F78-6096-5F7E16C5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444118DA-07AA-DCDD-F1BF-4817114D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D7B5EA09-50B9-C6CB-2301-EFDBBD774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19DF874-FB83-95D6-680C-3752B18D6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3EF0DD42-27C3-3C11-58C0-8AE4E68B7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15BB2B04-4F07-1D26-F6CB-A45CCCEE98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C174D3F8-2688-159A-7118-A2D5BD811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9641D00E-1452-3021-5363-75A8B444E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B2001CCC-9EA1-2968-4B12-D28F73EC9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29B99F56-589A-E954-9692-9D411D924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921C6C74-9F71-5258-6917-8D6043FF0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EA93D17-86CB-B3D0-C27B-0767B2FDD9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87DE7E64-36FC-FFB5-9BC0-9915B852F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A675190D-D7C9-7AEB-C501-9540D5857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8ED7A033-DD46-06E8-6EC7-C928A6F1D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EF8B5202-1444-8BEE-6365-1A60BE8DF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E6DA9E70-573D-1C76-F6EE-618E47206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A5A0AE13-AFEC-3858-DE4B-B28E57F4C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E84725A4-F1FD-3061-30FB-ADB065D4D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11" y="2409316"/>
            <a:ext cx="11161777" cy="939512"/>
          </a:xfrm>
          <a:prstGeom prst="rect">
            <a:avLst/>
          </a:prstGeom>
        </p:spPr>
      </p:pic>
      <p:sp>
        <p:nvSpPr>
          <p:cNvPr id="28" name="Rectangle 2">
            <a:extLst>
              <a:ext uri="{FF2B5EF4-FFF2-40B4-BE49-F238E27FC236}">
                <a16:creationId xmlns:a16="http://schemas.microsoft.com/office/drawing/2014/main" id="{33A2A2BF-D203-2A06-C99C-8F84A3A174A9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4" y="1665045"/>
            <a:ext cx="1569726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CCFF"/>
                </a:solidFill>
                <a:effectLst/>
              </a:rPr>
              <a:t>模型构建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97A1F6E-F967-3D55-52F8-88E7A4645AFC}"/>
              </a:ext>
            </a:extLst>
          </p:cNvPr>
          <p:cNvSpPr/>
          <p:nvPr/>
        </p:nvSpPr>
        <p:spPr>
          <a:xfrm>
            <a:off x="333912" y="3367878"/>
            <a:ext cx="11524174" cy="3519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主要参数：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n_cluster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：指定的簇数量，同时也是随机初始化质心个数；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：质心初始化方法，有“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K-means++”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random”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两种方法，默认为“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K-Means++”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n_init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：使用不同初始化质心的算法运行次数，有“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auto”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和自定义两种方式，默认为“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auto”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max_iter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：算法单次运行最大的迭代次数；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defTabSz="914400" rtl="0" eaLnBrk="0" fontAlgn="base" latinLnBrk="0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algorithm”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：执行 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K-means 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算法的方式，有“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lloyd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和“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elkan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两种方式，默认为“</a:t>
            </a:r>
            <a:r>
              <a:rPr kumimoji="0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llyod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0249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984E9-2FBC-0465-6674-0135B5541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2E8AC46E-DF07-6A8B-DBF1-2A6601E4BD19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E331EA8A-A76B-65F6-C33B-280EE14C0C62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83C59896-4F86-49AD-405C-3E3AF06A7EF6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3E42994-3BC4-33D5-B3C3-441CA9EF9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CB265404-AACC-2425-47B2-A6651F8E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A42A9C4C-00ED-D6BB-0BC8-07358537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9344B457-72D0-775E-79ED-29A39F71A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FCE0F825-CF1D-C5F3-4344-0D198F289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7B0FF0F0-3AD3-B4DB-AD4A-E1726D307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3624C400-B463-C115-4AA9-E0B8FBBDA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F9A6F938-002C-F5B0-7704-7D9112F84E4E}"/>
              </a:ext>
            </a:extLst>
          </p:cNvPr>
          <p:cNvSpPr/>
          <p:nvPr/>
        </p:nvSpPr>
        <p:spPr>
          <a:xfrm>
            <a:off x="166154" y="1665045"/>
            <a:ext cx="21293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E3123C7E-F6A4-D2DF-48F0-BAE9AF3B0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EAA8B45-C5EF-D9B4-1A95-30AEF53D6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8D573879-1EC6-4750-96A5-4C3852AE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D263C92E-59CA-C52A-FC95-D911788CA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30A5168C-8E3B-6831-FBCC-002DEC32F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FC16698-423E-C22E-5D4E-C7EB18299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A64EABE8-EC47-CB9F-51AA-EBFAA1A8D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C369E54A-095B-A4A8-BEEA-3A54C18E6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28DB3E8A-230D-0F1D-1885-55A3761A0C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D5E826F2-9DE9-3939-0508-3EB773242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DEDD9922-55F0-189E-A49C-ADD777F09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E329B936-5354-0E35-5968-2447A017F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9569976E-306C-51E3-8227-17F5B1AB1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322E5D98-EBFF-5248-B2E0-6E2B9E197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32A47F41-28B6-2AA0-E204-A77481398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76010E9A-CE8E-D1A7-5221-33EA39B11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B65A58B9-69DB-37A1-DDCD-5EF4D569B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E8A47F1D-D3CA-8CAC-D49F-0DDBD6D1A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C4C5A182-E325-ACE6-3B32-0FBDBE0D9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73BABD92-3AD5-75D8-B080-750B168D2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66280223-51FD-C949-706E-7F1288B08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520303E6-6235-6E5F-7272-1A70153E29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79BC43A5-C475-98F7-6E42-30D8CFD6062A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3" y="1665045"/>
            <a:ext cx="2417451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zh-CN" altLang="en-US" sz="2400" dirty="0">
                <a:solidFill>
                  <a:srgbClr val="00CCFF"/>
                </a:solidFill>
                <a:effectLst/>
              </a:rPr>
              <a:t>绘制肘部法则图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8FF877F-FFDE-6700-8778-5209AC16D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633" y="2640842"/>
            <a:ext cx="4658892" cy="3835409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8FB5E94-0A83-0449-3E15-AE5194D7681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0729"/>
          <a:stretch/>
        </p:blipFill>
        <p:spPr>
          <a:xfrm>
            <a:off x="375704" y="2640842"/>
            <a:ext cx="6036829" cy="383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233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AAAE-D561-DC4E-CDA6-D62E7690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6">
            <a:extLst>
              <a:ext uri="{FF2B5EF4-FFF2-40B4-BE49-F238E27FC236}">
                <a16:creationId xmlns:a16="http://schemas.microsoft.com/office/drawing/2014/main" id="{AD2D6BC6-07F5-DC01-5F37-4A697068354B}"/>
              </a:ext>
            </a:extLst>
          </p:cNvPr>
          <p:cNvSpPr/>
          <p:nvPr/>
        </p:nvSpPr>
        <p:spPr>
          <a:xfrm>
            <a:off x="995423" y="248198"/>
            <a:ext cx="10017888" cy="584763"/>
          </a:xfrm>
          <a:prstGeom prst="rect">
            <a:avLst/>
          </a:prstGeom>
          <a:noFill/>
        </p:spPr>
        <p:txBody>
          <a:bodyPr wrap="square" lIns="91429" tIns="45714" rIns="91429" bIns="45714">
            <a:spAutoFit/>
          </a:bodyPr>
          <a:lstStyle/>
          <a:p>
            <a:r>
              <a:rPr lang="zh-CN" altLang="en-US" sz="3200" dirty="0">
                <a:solidFill>
                  <a:srgbClr val="FFFF00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二、主要聚类算法</a:t>
            </a:r>
            <a:endParaRPr lang="en-US" sz="3200" b="0" dirty="0">
              <a:solidFill>
                <a:srgbClr val="FFFF00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  <p:sp>
        <p:nvSpPr>
          <p:cNvPr id="2" name="矩形: 圆角 12">
            <a:extLst>
              <a:ext uri="{FF2B5EF4-FFF2-40B4-BE49-F238E27FC236}">
                <a16:creationId xmlns:a16="http://schemas.microsoft.com/office/drawing/2014/main" id="{1B1AD333-EDBE-DF72-9128-AB7BBB4E055C}"/>
              </a:ext>
            </a:extLst>
          </p:cNvPr>
          <p:cNvSpPr/>
          <p:nvPr/>
        </p:nvSpPr>
        <p:spPr>
          <a:xfrm>
            <a:off x="166155" y="976588"/>
            <a:ext cx="3332020" cy="54483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152000" rIns="108000" rtlCol="0" anchor="ctr">
            <a:spAutoFit/>
          </a:bodyPr>
          <a:lstStyle/>
          <a:p>
            <a:pPr defTabSz="1460500" eaLnBrk="1" hangingPunct="1">
              <a:spcBef>
                <a:spcPct val="30000"/>
              </a:spcBef>
            </a:pP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 </a:t>
            </a:r>
            <a:r>
              <a:rPr lang="en-US" altLang="zh-CN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K-means</a:t>
            </a:r>
            <a:r>
              <a:rPr lang="zh-CN" alt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ea typeface="微软雅黑" panose="020B0503020204020204" charset="-122"/>
                <a:sym typeface="Times New Roman" panose="02020603050405020304" pitchFamily="18" charset="0"/>
              </a:rPr>
              <a:t>聚类</a:t>
            </a:r>
          </a:p>
        </p:txBody>
      </p:sp>
      <p:sp>
        <p:nvSpPr>
          <p:cNvPr id="7" name="箭头: 五边形 11">
            <a:extLst>
              <a:ext uri="{FF2B5EF4-FFF2-40B4-BE49-F238E27FC236}">
                <a16:creationId xmlns:a16="http://schemas.microsoft.com/office/drawing/2014/main" id="{D4184CDE-E023-7165-80D1-01C19CD743AC}"/>
              </a:ext>
            </a:extLst>
          </p:cNvPr>
          <p:cNvSpPr/>
          <p:nvPr/>
        </p:nvSpPr>
        <p:spPr>
          <a:xfrm>
            <a:off x="166154" y="976589"/>
            <a:ext cx="1152105" cy="544830"/>
          </a:xfrm>
          <a:prstGeom prst="homePlate">
            <a:avLst/>
          </a:prstGeom>
          <a:gradFill>
            <a:gsLst>
              <a:gs pos="417">
                <a:srgbClr val="00B0F0"/>
              </a:gs>
              <a:gs pos="100000">
                <a:srgbClr val="0070C0"/>
              </a:gs>
            </a:gsLst>
            <a:lin ang="2700000" scaled="0"/>
          </a:gradFill>
          <a:ln w="12700">
            <a:solidFill>
              <a:srgbClr val="06C5B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3600" dirty="0">
                <a:solidFill>
                  <a:prstClr val="white"/>
                </a:solidFill>
                <a:latin typeface="Impact" panose="020B0806030902050204" pitchFamily="34" charset="0"/>
                <a:ea typeface="等线" panose="02010600030101010101" pitchFamily="2" charset="-122"/>
                <a:sym typeface="Times New Roman" panose="02020603050405020304" pitchFamily="18" charset="0"/>
              </a:rPr>
              <a:t>2.2</a:t>
            </a:r>
            <a:endParaRPr lang="zh-CN" altLang="en-US" sz="3600" dirty="0">
              <a:solidFill>
                <a:prstClr val="white"/>
              </a:solidFill>
              <a:latin typeface="Impact" panose="020B0806030902050204" pitchFamily="34" charset="0"/>
              <a:ea typeface="等线" panose="02010600030101010101" pitchFamily="2" charset="-122"/>
              <a:sym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C5769C-260E-59F8-DD6F-3F0B08699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94A6C30-17E1-0238-9B97-FD0784F62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10B809BD-7FDA-C681-452F-1B273111B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7B06C09C-BC35-3532-E167-F9958B6B08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D48DEA3E-9747-D52A-A4AD-1366E0721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0" name="Rectangle 6">
            <a:extLst>
              <a:ext uri="{FF2B5EF4-FFF2-40B4-BE49-F238E27FC236}">
                <a16:creationId xmlns:a16="http://schemas.microsoft.com/office/drawing/2014/main" id="{3DFA9D9D-FED4-AE5D-C0C6-A6F9CE3D4D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231" y="2785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2" name="Rectangle 8">
            <a:extLst>
              <a:ext uri="{FF2B5EF4-FFF2-40B4-BE49-F238E27FC236}">
                <a16:creationId xmlns:a16="http://schemas.microsoft.com/office/drawing/2014/main" id="{B3B1E6FB-DC98-1B6F-937C-154D46D8B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3" name="矩形: 圆角 55">
            <a:extLst>
              <a:ext uri="{FF2B5EF4-FFF2-40B4-BE49-F238E27FC236}">
                <a16:creationId xmlns:a16="http://schemas.microsoft.com/office/drawing/2014/main" id="{9451E8E7-B815-382B-F5C9-42E6C4CF2BAF}"/>
              </a:ext>
            </a:extLst>
          </p:cNvPr>
          <p:cNvSpPr/>
          <p:nvPr/>
        </p:nvSpPr>
        <p:spPr>
          <a:xfrm>
            <a:off x="166154" y="1665045"/>
            <a:ext cx="2129372" cy="634408"/>
          </a:xfrm>
          <a:prstGeom prst="roundRect">
            <a:avLst>
              <a:gd name="adj" fmla="val 50000"/>
            </a:avLst>
          </a:prstGeom>
          <a:noFill/>
          <a:ln w="28575">
            <a:gradFill>
              <a:gsLst>
                <a:gs pos="0">
                  <a:schemeClr val="bg2">
                    <a:lumMod val="59000"/>
                    <a:lumOff val="41000"/>
                  </a:schemeClr>
                </a:gs>
                <a:gs pos="100000">
                  <a:srgbClr val="0066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667" b="1" dirty="0">
                <a:solidFill>
                  <a:srgbClr val="FD5C0C"/>
                </a:solidFill>
                <a:effectLst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微软雅黑"/>
                <a:sym typeface="Times New Roman" panose="02020603050405020304" pitchFamily="18" charset="0"/>
              </a:rPr>
              <a:t>实践案例</a:t>
            </a:r>
            <a:endParaRPr kumimoji="0" lang="zh-CN" altLang="en-US" sz="2667" b="1" i="0" u="none" strike="noStrike" kern="1200" cap="none" spc="0" normalizeH="0" baseline="0" noProof="0" dirty="0">
              <a:ln>
                <a:noFill/>
              </a:ln>
              <a:solidFill>
                <a:srgbClr val="FD5C0C"/>
              </a:solidFill>
              <a:effectLst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微软雅黑"/>
              <a:cs typeface="+mn-cs"/>
              <a:sym typeface="Times New Roman" panose="02020603050405020304" pitchFamily="18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AC09119-6622-A755-4D6C-09F351D70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01F6EC5-6C5D-30B7-F2F7-A23B706B0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F38753BE-A758-0642-13B4-7AAD97189C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A23E11F5-1F59-445E-1F60-D9999E4FB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6" name="Rectangle 8">
            <a:extLst>
              <a:ext uri="{FF2B5EF4-FFF2-40B4-BE49-F238E27FC236}">
                <a16:creationId xmlns:a16="http://schemas.microsoft.com/office/drawing/2014/main" id="{3D91FC0E-D949-82ED-4D3C-93ED598EB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D2D020F-9E1C-80F0-3AC1-3CB940297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4">
            <a:extLst>
              <a:ext uri="{FF2B5EF4-FFF2-40B4-BE49-F238E27FC236}">
                <a16:creationId xmlns:a16="http://schemas.microsoft.com/office/drawing/2014/main" id="{D4EAB9EC-05B7-E851-0EB3-62196274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7C36BF0A-7B83-ADB7-BB7A-15193E38E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76DA8471-2461-C52B-D2FA-4F9A4B72A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2" name="Rectangle 10">
            <a:extLst>
              <a:ext uri="{FF2B5EF4-FFF2-40B4-BE49-F238E27FC236}">
                <a16:creationId xmlns:a16="http://schemas.microsoft.com/office/drawing/2014/main" id="{1581AAD8-DC7B-63D0-FC0B-5A4AD0A09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4" name="Rectangle 12">
            <a:extLst>
              <a:ext uri="{FF2B5EF4-FFF2-40B4-BE49-F238E27FC236}">
                <a16:creationId xmlns:a16="http://schemas.microsoft.com/office/drawing/2014/main" id="{280B3162-C1EA-8D2D-F6F6-F16AF330B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7" name="Rectangle 14">
            <a:extLst>
              <a:ext uri="{FF2B5EF4-FFF2-40B4-BE49-F238E27FC236}">
                <a16:creationId xmlns:a16="http://schemas.microsoft.com/office/drawing/2014/main" id="{8BC43176-72DF-3CB1-B16B-FC2992884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9" name="Rectangle 16">
            <a:extLst>
              <a:ext uri="{FF2B5EF4-FFF2-40B4-BE49-F238E27FC236}">
                <a16:creationId xmlns:a16="http://schemas.microsoft.com/office/drawing/2014/main" id="{8305CC47-2ADA-DE63-EA10-60C18B2A6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6CA25F62-4CC4-2923-06E0-A873C92D5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96C1B377-A31B-F02F-B0B0-B551924D3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688977D-F04F-E8F5-0415-E60A71D4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3" name="Rectangle 2">
            <a:extLst>
              <a:ext uri="{FF2B5EF4-FFF2-40B4-BE49-F238E27FC236}">
                <a16:creationId xmlns:a16="http://schemas.microsoft.com/office/drawing/2014/main" id="{6336D09F-5055-BBA1-1C86-B9B9564CE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CA7804EC-9CC8-E7BD-8B46-8CF139C28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0" name="Rectangle 6">
            <a:extLst>
              <a:ext uri="{FF2B5EF4-FFF2-40B4-BE49-F238E27FC236}">
                <a16:creationId xmlns:a16="http://schemas.microsoft.com/office/drawing/2014/main" id="{DE38A121-881A-27F7-6018-AC78F0002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2" name="Rectangle 8">
            <a:extLst>
              <a:ext uri="{FF2B5EF4-FFF2-40B4-BE49-F238E27FC236}">
                <a16:creationId xmlns:a16="http://schemas.microsoft.com/office/drawing/2014/main" id="{D5201AFC-F64B-3487-BE5C-02DEA0FCD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D65DF799-74F2-1FEE-241A-CD10B292C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AFE1A62D-90CF-5849-0E58-44A13D1F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8" name="Rectangle 2">
            <a:extLst>
              <a:ext uri="{FF2B5EF4-FFF2-40B4-BE49-F238E27FC236}">
                <a16:creationId xmlns:a16="http://schemas.microsoft.com/office/drawing/2014/main" id="{0045E35D-0545-EF0B-C709-CCC5F45360F5}"/>
              </a:ext>
            </a:extLst>
          </p:cNvPr>
          <p:cNvSpPr txBox="1">
            <a:spLocks noChangeArrowheads="1"/>
          </p:cNvSpPr>
          <p:nvPr/>
        </p:nvSpPr>
        <p:spPr>
          <a:xfrm>
            <a:off x="2506973" y="1665045"/>
            <a:ext cx="2417451" cy="634408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Verdana" pitchFamily="34" charset="0"/>
                <a:ea typeface="华文细黑" pitchFamily="2" charset="-122"/>
              </a:defRPr>
            </a:lvl9pPr>
          </a:lstStyle>
          <a:p>
            <a:r>
              <a:rPr lang="en-US" altLang="zh-CN" sz="2400" dirty="0">
                <a:solidFill>
                  <a:srgbClr val="00CCFF"/>
                </a:solidFill>
                <a:effectLst/>
              </a:rPr>
              <a:t>K-means</a:t>
            </a:r>
            <a:r>
              <a:rPr lang="zh-CN" altLang="en-US" sz="2400" dirty="0">
                <a:solidFill>
                  <a:srgbClr val="00CCFF"/>
                </a:solidFill>
                <a:effectLst/>
              </a:rPr>
              <a:t>聚类</a:t>
            </a:r>
            <a:endParaRPr lang="en-US" altLang="zh-CN" sz="2400" dirty="0">
              <a:solidFill>
                <a:srgbClr val="00CCFF"/>
              </a:solidFill>
              <a:effectLst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A1348F2-EECA-E106-DFCE-4C879ABB3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937" y="2604631"/>
            <a:ext cx="4890712" cy="3907832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2B1A108-1702-CCDD-1BEA-63241EFD04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142"/>
          <a:stretch/>
        </p:blipFill>
        <p:spPr>
          <a:xfrm>
            <a:off x="289979" y="2604631"/>
            <a:ext cx="5996083" cy="390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1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1035ED6-ED79-6653-E473-3F5FCA3CC077}"/>
              </a:ext>
            </a:extLst>
          </p:cNvPr>
          <p:cNvSpPr txBox="1">
            <a:spLocks/>
          </p:cNvSpPr>
          <p:nvPr/>
        </p:nvSpPr>
        <p:spPr>
          <a:xfrm>
            <a:off x="2974694" y="2267379"/>
            <a:ext cx="7326776" cy="1352550"/>
          </a:xfrm>
          <a:prstGeom prst="rect">
            <a:avLst/>
          </a:prstGeom>
          <a:noFill/>
        </p:spPr>
        <p:txBody>
          <a:bodyPr anchor="ctr"/>
          <a:lstStyle>
            <a:defPPr>
              <a:defRPr lang="zh-CN"/>
            </a:defPPr>
            <a:lvl1pPr algn="ctr" eaLnBrk="0" fontAlgn="base" hangingPunct="0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defRPr sz="6600" b="1" spc="300">
                <a:solidFill>
                  <a:srgbClr val="FFFF00"/>
                </a:solidFill>
                <a:effectLst>
                  <a:outerShdw blurRad="38100" dist="1270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5pPr>
            <a:lvl6pPr marL="3429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6pPr>
            <a:lvl7pPr marL="6858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7pPr>
            <a:lvl8pPr marL="10287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8pPr>
            <a:lvl9pPr marL="137160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Tw Cen MT" panose="020B0602020104020603" pitchFamily="34" charset="0"/>
                <a:ea typeface="华文仿宋" panose="02010600040101010101" pitchFamily="2" charset="-122"/>
              </a:defRPr>
            </a:lvl9pPr>
          </a:lstStyle>
          <a:p>
            <a:pPr algn="dist"/>
            <a:r>
              <a:rPr lang="zh-CN" altLang="en-US" b="0" dirty="0">
                <a:solidFill>
                  <a:schemeClr val="bg1"/>
                </a:solidFill>
                <a:latin typeface="华光综艺_CNKI" panose="02000500000000000000" pitchFamily="2" charset="-122"/>
                <a:ea typeface="华光综艺_CNKI" panose="02000500000000000000" pitchFamily="2" charset="-122"/>
              </a:rPr>
              <a:t>恳请批评指正！</a:t>
            </a:r>
            <a:endParaRPr lang="en-US" b="0" dirty="0">
              <a:solidFill>
                <a:schemeClr val="bg1"/>
              </a:solidFill>
              <a:latin typeface="华光综艺_CNKI" panose="02000500000000000000" pitchFamily="2" charset="-122"/>
              <a:ea typeface="华光综艺_CNKI" panose="02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35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等线 Light"/>
        <a:ea typeface="等线 Light"/>
        <a:cs typeface=""/>
      </a:majorFont>
      <a:minorFont>
        <a:latin typeface="等线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810</TotalTime>
  <Words>832</Words>
  <Application>Microsoft Office PowerPoint</Application>
  <PresentationFormat>宽屏</PresentationFormat>
  <Paragraphs>94</Paragraphs>
  <Slides>12</Slides>
  <Notes>12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等线</vt:lpstr>
      <vt:lpstr>华光综艺_CNKI</vt:lpstr>
      <vt:lpstr>微软雅黑</vt:lpstr>
      <vt:lpstr>Arial</vt:lpstr>
      <vt:lpstr>Calibri</vt:lpstr>
      <vt:lpstr>Impact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Black</dc:creator>
  <cp:lastModifiedBy>Star Champion</cp:lastModifiedBy>
  <cp:revision>198</cp:revision>
  <dcterms:created xsi:type="dcterms:W3CDTF">2019-06-19T02:08:00Z</dcterms:created>
  <dcterms:modified xsi:type="dcterms:W3CDTF">2025-04-18T13:01:23Z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290520E9665F40D5BBE3CCA2763F3BF4_11</vt:lpwstr>
  </property>
</Properties>
</file>