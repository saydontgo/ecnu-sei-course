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3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4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5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6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7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8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9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10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theme/theme11.xml" ContentType="application/vnd.openxmlformats-officedocument.theme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8">
  <p:sldMasterIdLst>
    <p:sldMasterId id="2147483648" r:id="rId1"/>
    <p:sldMasterId id="2147484409" r:id="rId2"/>
    <p:sldMasterId id="2147484466" r:id="rId3"/>
    <p:sldMasterId id="2147484493" r:id="rId4"/>
    <p:sldMasterId id="2147484519" r:id="rId5"/>
    <p:sldMasterId id="2147484635" r:id="rId6"/>
    <p:sldMasterId id="2147484651" r:id="rId7"/>
    <p:sldMasterId id="2147484950" r:id="rId8"/>
    <p:sldMasterId id="2147484968" r:id="rId9"/>
    <p:sldMasterId id="2147484995" r:id="rId10"/>
    <p:sldMasterId id="2147485044" r:id="rId11"/>
    <p:sldMasterId id="2147485105" r:id="rId12"/>
  </p:sldMasterIdLst>
  <p:notesMasterIdLst>
    <p:notesMasterId r:id="rId21"/>
  </p:notesMasterIdLst>
  <p:handoutMasterIdLst>
    <p:handoutMasterId r:id="rId22"/>
  </p:handoutMasterIdLst>
  <p:sldIdLst>
    <p:sldId id="15637" r:id="rId13"/>
    <p:sldId id="15778" r:id="rId14"/>
    <p:sldId id="15779" r:id="rId15"/>
    <p:sldId id="15774" r:id="rId16"/>
    <p:sldId id="15775" r:id="rId17"/>
    <p:sldId id="15780" r:id="rId18"/>
    <p:sldId id="15777" r:id="rId19"/>
    <p:sldId id="15502" r:id="rId20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一节" id="{B76A38E9-E72E-4BCB-B362-B21FAC086E6B}">
          <p14:sldIdLst>
            <p14:sldId id="15637"/>
            <p14:sldId id="15778"/>
            <p14:sldId id="15779"/>
            <p14:sldId id="15774"/>
            <p14:sldId id="15775"/>
            <p14:sldId id="15780"/>
            <p14:sldId id="15777"/>
            <p14:sldId id="15502"/>
          </p14:sldIdLst>
        </p14:section>
      </p14:sectionLst>
    </p:ext>
    <p:ext uri="{EFAFB233-063F-42B5-8137-9DF3F51BA10A}">
      <p15:sldGuideLst xmlns:p15="http://schemas.microsoft.com/office/powerpoint/2012/main">
        <p15:guide id="4" pos="2280" userDrawn="1">
          <p15:clr>
            <a:srgbClr val="A4A3A4"/>
          </p15:clr>
        </p15:guide>
        <p15:guide id="5" orient="horz" pos="29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45AD"/>
    <a:srgbClr val="000080"/>
    <a:srgbClr val="FBE4D5"/>
    <a:srgbClr val="008ED7"/>
    <a:srgbClr val="D13400"/>
    <a:srgbClr val="0444AE"/>
    <a:srgbClr val="0347AF"/>
    <a:srgbClr val="0146AE"/>
    <a:srgbClr val="FFFF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63" autoAdjust="0"/>
    <p:restoredTop sz="86966" autoAdjust="0"/>
  </p:normalViewPr>
  <p:slideViewPr>
    <p:cSldViewPr snapToGrid="0">
      <p:cViewPr varScale="1">
        <p:scale>
          <a:sx n="93" d="100"/>
          <a:sy n="93" d="100"/>
        </p:scale>
        <p:origin x="184" y="80"/>
      </p:cViewPr>
      <p:guideLst>
        <p:guide pos="2280"/>
        <p:guide orient="horz"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42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tags" Target="tags/tag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82E4-1D3E-4E21-8E57-F0A36E8AFBBC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971F6-C60D-4682-BD97-627ABF355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80EC0-271A-47A3-B94A-5AACB63D0D64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F833C-0931-4030-8352-AFD9186768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056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91DA3-D977-9C5D-62A2-BDFEE801D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A7D843-6A98-0DE6-F5F8-3E6ABA7B8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9BFDF2-6D81-8DF6-6EF4-E0B540353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u="sng" dirty="0"/>
              <a:t>图片来源：人人都是产品经理</a:t>
            </a:r>
            <a:r>
              <a:rPr lang="en-US" altLang="zh-CN" sz="1800" u="sng" dirty="0"/>
              <a:t>https://www.woshipm.com/it/5106916.html</a:t>
            </a: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3A00F7-55F6-6BF1-2899-B928FF32E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5193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670A5-D120-8609-26A5-42D635FF3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92BBC2-5176-1469-FEC3-0C1D30F44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5F4F56-21E5-3782-9180-315007091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DFBAD3-E457-10EF-0D48-5CBAE9340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3447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59D22-3C79-C0E9-18ED-8B27F376D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D6908E-201B-7AAD-672F-49FCE95A7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941CBC-C288-7B7C-21B6-5E49A1874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u="sng" dirty="0"/>
              <a:t>https://www.thefastmode.com/strategy-paper/868-strategy-paper-mobile-operators-and-digital-services-how-big-data-perfects-the-equation</a:t>
            </a: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DCED3E-0AFF-3C5E-7BB8-F4CAD4DBE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0921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8C905-4B67-A3AB-4DB4-D3EE5C91B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FE72FA-B9C2-344B-E67B-30985B992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FACC10-C6A3-4FE0-F69F-206D4424F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9B1B0D-E0FB-3BEE-A4B9-86B8412FE1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7355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26899-DA2F-0667-6400-672DA8F7E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D7C71B-C3BB-C542-D085-6FB7EF544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A024C3-E942-809F-3439-7B570E47C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CC3179-CF0E-C031-4B98-32F5C05DB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0862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9EFD5-CDFA-8C59-20DE-9431E992B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01A4EE-6090-8B37-FE30-78AD04294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54545A-5F6C-F827-1499-30202CDFC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23D301-3BD9-9170-92A2-012A3CCC58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7797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Relationship Id="rId4" Type="http://schemas.microsoft.com/office/2007/relationships/hdphoto" Target="../media/hdphoto1.wdp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Relationship Id="rId4" Type="http://schemas.microsoft.com/office/2007/relationships/hdphoto" Target="../media/hdphoto1.wdp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9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1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2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2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508FBC-A264-6F1A-7977-DAFCBAF387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/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>
            <a:extLst>
              <a:ext uri="{FF2B5EF4-FFF2-40B4-BE49-F238E27FC236}">
                <a16:creationId xmlns:a16="http://schemas.microsoft.com/office/drawing/2014/main" id="{5467157C-6AAC-7C52-2017-1FE36A3D10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/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1D0F9-5031-B629-E802-6AEAF0F1C6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53"/>
          <a:stretch/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F803D8-0039-D24A-E8C1-26F5161CAA45}"/>
              </a:ext>
            </a:extLst>
          </p:cNvPr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9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48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二、主要工作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09687F67-AA25-9614-8E73-69B387358195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三、总结展望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237FF217-6AE0-9A66-FE88-108698555006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结束语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E96EBE77-5145-3DED-C2A2-D3DD459293CF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5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701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23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4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61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352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581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507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8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184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40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1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8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21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25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3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45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4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80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26843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33461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4333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58808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20748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83863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336977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0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376049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8020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49577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65707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80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2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986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66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4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24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122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160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728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922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37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2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4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761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78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3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96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6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9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342809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67902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0298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7605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4321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355559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95084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09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45308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5475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1332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5755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11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4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86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0" y="137411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研究成果与主要创新</a:t>
            </a:r>
            <a:endParaRPr lang="zh-CN" altLang="en-US" sz="3600" b="1" spc="300" dirty="0">
              <a:solidFill>
                <a:schemeClr val="accent4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7"/>
          <p:cNvSpPr/>
          <p:nvPr userDrawn="1"/>
        </p:nvSpPr>
        <p:spPr>
          <a:xfrm>
            <a:off x="0" y="6713999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90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87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08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228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425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359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440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64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57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5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11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7" y="12441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85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9311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96581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49991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59847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46097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94409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79241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11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7547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285782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99905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265406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77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6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0" y="87766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05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1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66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717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235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27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4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63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4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93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5" y="12441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5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73168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9733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9897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94650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85636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20887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91587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1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51207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3766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83503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0862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69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4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9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黄生俊   副教授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2509937" y="3182187"/>
            <a:ext cx="717212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统计调查</a:t>
            </a:r>
          </a:p>
        </p:txBody>
      </p:sp>
    </p:spTree>
    <p:extLst>
      <p:ext uri="{BB962C8B-B14F-4D97-AF65-F5344CB8AC3E}">
        <p14:creationId xmlns:p14="http://schemas.microsoft.com/office/powerpoint/2010/main" val="82377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91030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0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2749563" y="2348880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3791744" y="2380494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统计调查概述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2749563" y="3388677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3791744" y="3420291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统计调查的实施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1" name="椭圆 10"/>
          <p:cNvSpPr/>
          <p:nvPr userDrawn="1"/>
        </p:nvSpPr>
        <p:spPr>
          <a:xfrm>
            <a:off x="2735627" y="4437112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3777808" y="4468726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10177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37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5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统计调查概述</a:t>
            </a:r>
          </a:p>
        </p:txBody>
      </p:sp>
    </p:spTree>
    <p:extLst>
      <p:ext uri="{BB962C8B-B14F-4D97-AF65-F5344CB8AC3E}">
        <p14:creationId xmlns:p14="http://schemas.microsoft.com/office/powerpoint/2010/main" val="16418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一、统计调查概述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9595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3838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296812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51066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三、调查问卷</a:t>
            </a:r>
          </a:p>
        </p:txBody>
      </p:sp>
    </p:spTree>
    <p:extLst>
      <p:ext uri="{BB962C8B-B14F-4D97-AF65-F5344CB8AC3E}">
        <p14:creationId xmlns:p14="http://schemas.microsoft.com/office/powerpoint/2010/main" val="31577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111825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257450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08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8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刘亚杰   研究员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1902991" y="3182187"/>
            <a:ext cx="838601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 抽样与估计</a:t>
            </a:r>
            <a:r>
              <a:rPr kumimoji="0" lang="en-US" altLang="zh-CN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1</a:t>
            </a:r>
            <a:endParaRPr kumimoji="0" lang="zh-CN" altLang="en-US" sz="4400" b="1" i="0" u="none" strike="noStrike" kern="1200" cap="none" spc="30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51526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3387976" y="2204864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4430158" y="223125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抽样的基本概念</a:t>
            </a:r>
          </a:p>
        </p:txBody>
      </p:sp>
      <p:sp>
        <p:nvSpPr>
          <p:cNvPr id="21" name="椭圆 20"/>
          <p:cNvSpPr/>
          <p:nvPr userDrawn="1"/>
        </p:nvSpPr>
        <p:spPr>
          <a:xfrm>
            <a:off x="3387976" y="3902552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22" name="矩形 21"/>
          <p:cNvSpPr/>
          <p:nvPr userDrawn="1"/>
        </p:nvSpPr>
        <p:spPr>
          <a:xfrm>
            <a:off x="4430157" y="39315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分层抽样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3387976" y="3053708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4430158" y="308140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简单随机抽样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3" name="椭圆 12"/>
          <p:cNvSpPr/>
          <p:nvPr userDrawn="1"/>
        </p:nvSpPr>
        <p:spPr>
          <a:xfrm>
            <a:off x="3387976" y="4751396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4430157" y="478170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整群抽样</a:t>
            </a:r>
          </a:p>
        </p:txBody>
      </p:sp>
      <p:sp>
        <p:nvSpPr>
          <p:cNvPr id="15" name="椭圆 14"/>
          <p:cNvSpPr/>
          <p:nvPr userDrawn="1"/>
        </p:nvSpPr>
        <p:spPr>
          <a:xfrm>
            <a:off x="3387976" y="5600241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4430157" y="56318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378132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2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88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272000" y="2852936"/>
            <a:ext cx="9648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432000" rIns="432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49553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72300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504000" rIns="504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52455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96433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分层抽样</a:t>
            </a:r>
          </a:p>
        </p:txBody>
      </p:sp>
    </p:spTree>
    <p:extLst>
      <p:ext uri="{BB962C8B-B14F-4D97-AF65-F5344CB8AC3E}">
        <p14:creationId xmlns:p14="http://schemas.microsoft.com/office/powerpoint/2010/main" val="337986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三、分层抽样</a:t>
            </a:r>
          </a:p>
        </p:txBody>
      </p:sp>
    </p:spTree>
    <p:extLst>
      <p:ext uri="{BB962C8B-B14F-4D97-AF65-F5344CB8AC3E}">
        <p14:creationId xmlns:p14="http://schemas.microsoft.com/office/powerpoint/2010/main" val="252784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第四部分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整群抽样</a:t>
            </a:r>
          </a:p>
        </p:txBody>
      </p:sp>
    </p:spTree>
    <p:extLst>
      <p:ext uri="{BB962C8B-B14F-4D97-AF65-F5344CB8AC3E}">
        <p14:creationId xmlns:p14="http://schemas.microsoft.com/office/powerpoint/2010/main" val="336202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四、整群抽样</a:t>
            </a:r>
          </a:p>
        </p:txBody>
      </p:sp>
    </p:spTree>
    <p:extLst>
      <p:ext uri="{BB962C8B-B14F-4D97-AF65-F5344CB8AC3E}">
        <p14:creationId xmlns:p14="http://schemas.microsoft.com/office/powerpoint/2010/main" val="215020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第五部分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40394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五、系统抽样</a:t>
            </a:r>
          </a:p>
        </p:txBody>
      </p:sp>
    </p:spTree>
    <p:extLst>
      <p:ext uri="{BB962C8B-B14F-4D97-AF65-F5344CB8AC3E}">
        <p14:creationId xmlns:p14="http://schemas.microsoft.com/office/powerpoint/2010/main" val="408787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384779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166547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25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6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41"/>
            <a:ext cx="10362961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5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07336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6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0613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5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3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2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4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6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60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12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64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16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13240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5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5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54008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9" y="1535113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9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3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558282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80104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96582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49"/>
            <a:ext cx="4010547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4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10558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1"/>
            <a:ext cx="7316152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21" indent="0">
              <a:buNone/>
              <a:defRPr sz="3733"/>
            </a:lvl2pPr>
            <a:lvl3pPr marL="1219042" indent="0">
              <a:buNone/>
              <a:defRPr sz="3200"/>
            </a:lvl3pPr>
            <a:lvl4pPr marL="1828561" indent="0">
              <a:buNone/>
              <a:defRPr sz="2667"/>
            </a:lvl4pPr>
            <a:lvl5pPr marL="2438080" indent="0">
              <a:buNone/>
              <a:defRPr sz="2667"/>
            </a:lvl5pPr>
            <a:lvl6pPr marL="3047601" indent="0">
              <a:buNone/>
              <a:defRPr sz="2667"/>
            </a:lvl6pPr>
            <a:lvl7pPr marL="3657122" indent="0">
              <a:buNone/>
              <a:defRPr sz="2667"/>
            </a:lvl7pPr>
            <a:lvl8pPr marL="4266641" indent="0">
              <a:buNone/>
              <a:defRPr sz="2667"/>
            </a:lvl8pPr>
            <a:lvl9pPr marL="4876162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7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231279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06571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4" y="274644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4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76562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74451897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2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718346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24130156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796071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496657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749256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6"/>
            <a:ext cx="2844800" cy="365125"/>
          </a:xfrm>
          <a:prstGeom prst="rect">
            <a:avLst/>
          </a:prstGeom>
        </p:spPr>
        <p:txBody>
          <a:bodyPr vert="horz" lIns="121916" tIns="60959" rIns="121916" bIns="60959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24555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072092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7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3" y="87768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73426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57316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6113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05506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5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17570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476336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0252322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81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134679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37126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57512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0194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886211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5659433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18018538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7860425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22311615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8847085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79513701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649633970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4" y="124412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6777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27927788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261996783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86159043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23713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48556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648145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37"/>
            <a:ext cx="10362961" cy="14700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4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53599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8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908976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8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5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0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0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1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52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02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52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0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40644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6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6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81048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8" y="1535115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8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5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55854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40021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48167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52"/>
            <a:ext cx="4010547" cy="116204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2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5"/>
            </a:lvl1pPr>
            <a:lvl2pPr>
              <a:defRPr sz="3732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71569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4"/>
            <a:ext cx="7316152" cy="566737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5"/>
            </a:lvl1pPr>
            <a:lvl2pPr marL="609503" indent="0">
              <a:buNone/>
              <a:defRPr sz="3732"/>
            </a:lvl2pPr>
            <a:lvl3pPr marL="1219008" indent="0">
              <a:buNone/>
              <a:defRPr sz="3200"/>
            </a:lvl3pPr>
            <a:lvl4pPr marL="1828512" indent="0">
              <a:buNone/>
              <a:defRPr sz="2667"/>
            </a:lvl4pPr>
            <a:lvl5pPr marL="2438016" indent="0">
              <a:buNone/>
              <a:defRPr sz="2667"/>
            </a:lvl5pPr>
            <a:lvl6pPr marL="3047521" indent="0">
              <a:buNone/>
              <a:defRPr sz="2667"/>
            </a:lvl6pPr>
            <a:lvl7pPr marL="3657025" indent="0">
              <a:buNone/>
              <a:defRPr sz="2667"/>
            </a:lvl7pPr>
            <a:lvl8pPr marL="4266529" indent="0">
              <a:buNone/>
              <a:defRPr sz="2667"/>
            </a:lvl8pPr>
            <a:lvl9pPr marL="4876034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6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5151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767217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2" y="274646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6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454049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75348321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0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000548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718987335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0065691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22570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9259243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8"/>
            <a:ext cx="2844800" cy="365125"/>
          </a:xfrm>
          <a:prstGeom prst="rect">
            <a:avLst/>
          </a:prstGeom>
        </p:spPr>
        <p:txBody>
          <a:bodyPr vert="horz" lIns="121912" tIns="60956" rIns="121912" bIns="60956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22716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763641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7" y="202986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09434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117324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00382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106546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617827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28835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046193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9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921409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922690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522471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015495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2156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473182540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08801688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708961625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86787202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50110946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86792521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990947103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3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654656536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713739972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0938042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923270866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32078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80919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50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09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100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384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64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（一）个人简历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5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19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59" y="124411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25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0" y="124411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1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253351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6326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6138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9648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727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2928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46263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1999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99249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139804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71637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8621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12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image" Target="../media/image9.gif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image" Target="../media/image8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image" Target="../media/image13.gif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80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9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Relationship Id="rId27" Type="http://schemas.openxmlformats.org/officeDocument/2006/relationships/image" Target="../media/image8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26" Type="http://schemas.openxmlformats.org/officeDocument/2006/relationships/theme" Target="../theme/theme5.xml"/><Relationship Id="rId3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2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6.xml"/><Relationship Id="rId27" Type="http://schemas.openxmlformats.org/officeDocument/2006/relationships/image" Target="../media/image8.jp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111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2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/><Relationship Id="rId13" Type="http://schemas.openxmlformats.org/officeDocument/2006/relationships/slideLayout" Target="../slideLayouts/slideLayout137.xml"/><Relationship Id="rId18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27.xml"/><Relationship Id="rId21" Type="http://schemas.openxmlformats.org/officeDocument/2006/relationships/theme" Target="../theme/theme7.xml"/><Relationship Id="rId7" Type="http://schemas.openxmlformats.org/officeDocument/2006/relationships/slideLayout" Target="../slideLayouts/slideLayout131.xml"/><Relationship Id="rId12" Type="http://schemas.openxmlformats.org/officeDocument/2006/relationships/slideLayout" Target="../slideLayouts/slideLayout136.xml"/><Relationship Id="rId17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26.xml"/><Relationship Id="rId16" Type="http://schemas.openxmlformats.org/officeDocument/2006/relationships/slideLayout" Target="../slideLayouts/slideLayout140.xml"/><Relationship Id="rId20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29.xml"/><Relationship Id="rId15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34.xml"/><Relationship Id="rId19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14" Type="http://schemas.openxmlformats.org/officeDocument/2006/relationships/slideLayout" Target="../slideLayouts/slideLayout138.xml"/><Relationship Id="rId22" Type="http://schemas.openxmlformats.org/officeDocument/2006/relationships/image" Target="../media/image15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7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46.xml"/><Relationship Id="rId16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9.xml"/><Relationship Id="rId13" Type="http://schemas.openxmlformats.org/officeDocument/2006/relationships/slideLayout" Target="../slideLayouts/slideLayout174.xml"/><Relationship Id="rId18" Type="http://schemas.openxmlformats.org/officeDocument/2006/relationships/slideLayout" Target="../slideLayouts/slideLayout179.xml"/><Relationship Id="rId26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64.xml"/><Relationship Id="rId21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73.xml"/><Relationship Id="rId17" Type="http://schemas.openxmlformats.org/officeDocument/2006/relationships/slideLayout" Target="../slideLayouts/slideLayout178.xml"/><Relationship Id="rId25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63.xml"/><Relationship Id="rId16" Type="http://schemas.openxmlformats.org/officeDocument/2006/relationships/slideLayout" Target="../slideLayouts/slideLayout177.xml"/><Relationship Id="rId20" Type="http://schemas.openxmlformats.org/officeDocument/2006/relationships/slideLayout" Target="../slideLayouts/slideLayout181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72.xml"/><Relationship Id="rId24" Type="http://schemas.openxmlformats.org/officeDocument/2006/relationships/slideLayout" Target="../slideLayouts/slideLayout185.xml"/><Relationship Id="rId5" Type="http://schemas.openxmlformats.org/officeDocument/2006/relationships/slideLayout" Target="../slideLayouts/slideLayout166.xml"/><Relationship Id="rId15" Type="http://schemas.openxmlformats.org/officeDocument/2006/relationships/slideLayout" Target="../slideLayouts/slideLayout176.xml"/><Relationship Id="rId23" Type="http://schemas.openxmlformats.org/officeDocument/2006/relationships/slideLayout" Target="../slideLayouts/slideLayout184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171.xml"/><Relationship Id="rId19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Relationship Id="rId14" Type="http://schemas.openxmlformats.org/officeDocument/2006/relationships/slideLayout" Target="../slideLayouts/slideLayout175.xml"/><Relationship Id="rId22" Type="http://schemas.openxmlformats.org/officeDocument/2006/relationships/slideLayout" Target="../slideLayouts/slideLayout183.xml"/><Relationship Id="rId27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slideLayout" Target="../slideLayouts/slideLayout200.xml"/><Relationship Id="rId18" Type="http://schemas.openxmlformats.org/officeDocument/2006/relationships/theme" Target="../theme/theme10.xml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slideLayout" Target="../slideLayouts/slideLayout199.xml"/><Relationship Id="rId17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89.xml"/><Relationship Id="rId16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slideLayout" Target="../slideLayouts/slideLayout201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2.xml"/><Relationship Id="rId13" Type="http://schemas.openxmlformats.org/officeDocument/2006/relationships/slideLayout" Target="../slideLayouts/slideLayout217.xml"/><Relationship Id="rId18" Type="http://schemas.openxmlformats.org/officeDocument/2006/relationships/slideLayout" Target="../slideLayouts/slideLayout222.xml"/><Relationship Id="rId26" Type="http://schemas.openxmlformats.org/officeDocument/2006/relationships/theme" Target="../theme/theme11.xml"/><Relationship Id="rId3" Type="http://schemas.openxmlformats.org/officeDocument/2006/relationships/slideLayout" Target="../slideLayouts/slideLayout207.xml"/><Relationship Id="rId21" Type="http://schemas.openxmlformats.org/officeDocument/2006/relationships/slideLayout" Target="../slideLayouts/slideLayout225.xml"/><Relationship Id="rId7" Type="http://schemas.openxmlformats.org/officeDocument/2006/relationships/slideLayout" Target="../slideLayouts/slideLayout211.xml"/><Relationship Id="rId12" Type="http://schemas.openxmlformats.org/officeDocument/2006/relationships/slideLayout" Target="../slideLayouts/slideLayout216.xml"/><Relationship Id="rId17" Type="http://schemas.openxmlformats.org/officeDocument/2006/relationships/slideLayout" Target="../slideLayouts/slideLayout221.xml"/><Relationship Id="rId25" Type="http://schemas.openxmlformats.org/officeDocument/2006/relationships/slideLayout" Target="../slideLayouts/slideLayout229.xml"/><Relationship Id="rId2" Type="http://schemas.openxmlformats.org/officeDocument/2006/relationships/slideLayout" Target="../slideLayouts/slideLayout206.xml"/><Relationship Id="rId16" Type="http://schemas.openxmlformats.org/officeDocument/2006/relationships/slideLayout" Target="../slideLayouts/slideLayout220.xml"/><Relationship Id="rId2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5.xml"/><Relationship Id="rId24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09.xml"/><Relationship Id="rId15" Type="http://schemas.openxmlformats.org/officeDocument/2006/relationships/slideLayout" Target="../slideLayouts/slideLayout219.xml"/><Relationship Id="rId23" Type="http://schemas.openxmlformats.org/officeDocument/2006/relationships/slideLayout" Target="../slideLayouts/slideLayout22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Relationship Id="rId14" Type="http://schemas.openxmlformats.org/officeDocument/2006/relationships/slideLayout" Target="../slideLayouts/slideLayout218.xml"/><Relationship Id="rId22" Type="http://schemas.openxmlformats.org/officeDocument/2006/relationships/slideLayout" Target="../slideLayouts/slideLayout226.xml"/><Relationship Id="rId27" Type="http://schemas.openxmlformats.org/officeDocument/2006/relationships/image" Target="../media/image8.jp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7.xml"/><Relationship Id="rId13" Type="http://schemas.openxmlformats.org/officeDocument/2006/relationships/slideLayout" Target="../slideLayouts/slideLayout242.xml"/><Relationship Id="rId18" Type="http://schemas.openxmlformats.org/officeDocument/2006/relationships/slideLayout" Target="../slideLayouts/slideLayout247.xml"/><Relationship Id="rId3" Type="http://schemas.openxmlformats.org/officeDocument/2006/relationships/slideLayout" Target="../slideLayouts/slideLayout232.xml"/><Relationship Id="rId21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36.xml"/><Relationship Id="rId12" Type="http://schemas.openxmlformats.org/officeDocument/2006/relationships/slideLayout" Target="../slideLayouts/slideLayout241.xml"/><Relationship Id="rId17" Type="http://schemas.openxmlformats.org/officeDocument/2006/relationships/slideLayout" Target="../slideLayouts/slideLayout246.xml"/><Relationship Id="rId25" Type="http://schemas.openxmlformats.org/officeDocument/2006/relationships/image" Target="../media/image14.png"/><Relationship Id="rId2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45.xml"/><Relationship Id="rId20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235.xml"/><Relationship Id="rId11" Type="http://schemas.openxmlformats.org/officeDocument/2006/relationships/slideLayout" Target="../slideLayouts/slideLayout240.xml"/><Relationship Id="rId24" Type="http://schemas.openxmlformats.org/officeDocument/2006/relationships/image" Target="../media/image8.jpg"/><Relationship Id="rId5" Type="http://schemas.openxmlformats.org/officeDocument/2006/relationships/slideLayout" Target="../slideLayouts/slideLayout234.xml"/><Relationship Id="rId15" Type="http://schemas.openxmlformats.org/officeDocument/2006/relationships/slideLayout" Target="../slideLayouts/slideLayout244.xml"/><Relationship Id="rId23" Type="http://schemas.openxmlformats.org/officeDocument/2006/relationships/theme" Target="../theme/theme12.xml"/><Relationship Id="rId10" Type="http://schemas.openxmlformats.org/officeDocument/2006/relationships/slideLayout" Target="../slideLayouts/slideLayout239.xml"/><Relationship Id="rId19" Type="http://schemas.openxmlformats.org/officeDocument/2006/relationships/slideLayout" Target="../slideLayouts/slideLayout248.xml"/><Relationship Id="rId4" Type="http://schemas.openxmlformats.org/officeDocument/2006/relationships/slideLayout" Target="../slideLayouts/slideLayout233.xml"/><Relationship Id="rId9" Type="http://schemas.openxmlformats.org/officeDocument/2006/relationships/slideLayout" Target="../slideLayouts/slideLayout238.xml"/><Relationship Id="rId14" Type="http://schemas.openxmlformats.org/officeDocument/2006/relationships/slideLayout" Target="../slideLayouts/slideLayout243.xml"/><Relationship Id="rId22" Type="http://schemas.openxmlformats.org/officeDocument/2006/relationships/slideLayout" Target="../slideLayouts/slideLayout2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4634" r:id="rId3"/>
    <p:sldLayoutId id="2147484633" r:id="rId4"/>
    <p:sldLayoutId id="2147483651" r:id="rId5"/>
    <p:sldLayoutId id="2147483652" r:id="rId6"/>
    <p:sldLayoutId id="2147483653" r:id="rId7"/>
    <p:sldLayoutId id="2147483654" r:id="rId8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>
            <a:extLst>
              <a:ext uri="{FF2B5EF4-FFF2-40B4-BE49-F238E27FC236}">
                <a16:creationId xmlns:a16="http://schemas.microsoft.com/office/drawing/2014/main" id="{BF0A28E6-27C8-F660-D593-EFD6DA2267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C2F7084D-7EAE-2DD4-8488-B494D6C147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09" t="23955" r="40919" b="37048"/>
          <a:stretch/>
        </p:blipFill>
        <p:spPr>
          <a:xfrm>
            <a:off x="152401" y="50489"/>
            <a:ext cx="461681" cy="51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0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0" r:id="rId1"/>
    <p:sldLayoutId id="2147484411" r:id="rId2"/>
    <p:sldLayoutId id="2147484412" r:id="rId3"/>
    <p:sldLayoutId id="2147484413" r:id="rId4"/>
    <p:sldLayoutId id="2147484414" r:id="rId5"/>
    <p:sldLayoutId id="2147484415" r:id="rId6"/>
    <p:sldLayoutId id="2147484416" r:id="rId7"/>
    <p:sldLayoutId id="2147484417" r:id="rId8"/>
    <p:sldLayoutId id="2147484418" r:id="rId9"/>
    <p:sldLayoutId id="2147484419" r:id="rId10"/>
    <p:sldLayoutId id="2147484420" r:id="rId11"/>
    <p:sldLayoutId id="2147484421" r:id="rId12"/>
    <p:sldLayoutId id="2147484422" r:id="rId13"/>
    <p:sldLayoutId id="2147484423" r:id="rId14"/>
    <p:sldLayoutId id="2147484424" r:id="rId15"/>
    <p:sldLayoutId id="2147484425" r:id="rId16"/>
    <p:sldLayoutId id="2147484426" r:id="rId17"/>
    <p:sldLayoutId id="2147484427" r:id="rId18"/>
    <p:sldLayoutId id="2147484428" r:id="rId19"/>
    <p:sldLayoutId id="2147484429" r:id="rId20"/>
    <p:sldLayoutId id="2147484430" r:id="rId21"/>
    <p:sldLayoutId id="2147484431" r:id="rId22"/>
    <p:sldLayoutId id="2147484432" r:id="rId23"/>
    <p:sldLayoutId id="2147484433" r:id="rId24"/>
    <p:sldLayoutId id="2147484435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2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4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6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8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6" indent="-241066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310" indent="-20200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55" indent="-160712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78" indent="-161828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400" indent="-160712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22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245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66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87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21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4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6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87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1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53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95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7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B61907-CE38-43EF-ABC9-71DF18B992B9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35" y="0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8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74" r:id="rId8"/>
    <p:sldLayoutId id="2147484475" r:id="rId9"/>
    <p:sldLayoutId id="2147484476" r:id="rId10"/>
    <p:sldLayoutId id="2147484477" r:id="rId11"/>
    <p:sldLayoutId id="2147484478" r:id="rId12"/>
    <p:sldLayoutId id="2147484479" r:id="rId13"/>
    <p:sldLayoutId id="2147484480" r:id="rId14"/>
    <p:sldLayoutId id="2147484481" r:id="rId15"/>
    <p:sldLayoutId id="2147484482" r:id="rId16"/>
    <p:sldLayoutId id="2147484483" r:id="rId17"/>
    <p:sldLayoutId id="2147484484" r:id="rId18"/>
    <p:sldLayoutId id="2147484485" r:id="rId19"/>
    <p:sldLayoutId id="2147484486" r:id="rId20"/>
    <p:sldLayoutId id="2147484487" r:id="rId21"/>
    <p:sldLayoutId id="2147484488" r:id="rId22"/>
    <p:sldLayoutId id="2147484489" r:id="rId23"/>
    <p:sldLayoutId id="2147484490" r:id="rId24"/>
    <p:sldLayoutId id="2147484491" r:id="rId25"/>
    <p:sldLayoutId id="2147484492" r:id="rId26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1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2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4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5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1" indent="-24106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98" indent="-20200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35" indent="-16070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51" indent="-16182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64" indent="-16070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7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93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06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1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1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29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4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55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7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84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98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1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6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5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115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4" r:id="rId1"/>
    <p:sldLayoutId id="2147484495" r:id="rId2"/>
    <p:sldLayoutId id="2147484496" r:id="rId3"/>
    <p:sldLayoutId id="2147484497" r:id="rId4"/>
    <p:sldLayoutId id="2147484498" r:id="rId5"/>
    <p:sldLayoutId id="2147484499" r:id="rId6"/>
    <p:sldLayoutId id="2147484500" r:id="rId7"/>
    <p:sldLayoutId id="2147484501" r:id="rId8"/>
    <p:sldLayoutId id="2147484502" r:id="rId9"/>
    <p:sldLayoutId id="2147484503" r:id="rId10"/>
    <p:sldLayoutId id="2147484504" r:id="rId11"/>
    <p:sldLayoutId id="2147484505" r:id="rId12"/>
    <p:sldLayoutId id="2147484506" r:id="rId13"/>
    <p:sldLayoutId id="2147484507" r:id="rId14"/>
    <p:sldLayoutId id="2147484508" r:id="rId15"/>
    <p:sldLayoutId id="2147484509" r:id="rId16"/>
    <p:sldLayoutId id="2147484510" r:id="rId17"/>
    <p:sldLayoutId id="2147484511" r:id="rId18"/>
    <p:sldLayoutId id="2147484512" r:id="rId19"/>
    <p:sldLayoutId id="2147484513" r:id="rId20"/>
    <p:sldLayoutId id="2147484514" r:id="rId21"/>
    <p:sldLayoutId id="2147484515" r:id="rId22"/>
    <p:sldLayoutId id="2147484516" r:id="rId23"/>
    <p:sldLayoutId id="2147484517" r:id="rId24"/>
    <p:sldLayoutId id="2147484518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8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7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6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5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1" indent="-24104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55" indent="-20198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71" indent="-16069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60" indent="-16181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47" indent="-16069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34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22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09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98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8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77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65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51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42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2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16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04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2" y="9963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8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8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130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0" r:id="rId1"/>
    <p:sldLayoutId id="2147484521" r:id="rId2"/>
    <p:sldLayoutId id="2147484522" r:id="rId3"/>
    <p:sldLayoutId id="2147484523" r:id="rId4"/>
    <p:sldLayoutId id="2147484524" r:id="rId5"/>
    <p:sldLayoutId id="2147484525" r:id="rId6"/>
    <p:sldLayoutId id="2147484526" r:id="rId7"/>
    <p:sldLayoutId id="2147484527" r:id="rId8"/>
    <p:sldLayoutId id="2147484528" r:id="rId9"/>
    <p:sldLayoutId id="2147484529" r:id="rId10"/>
    <p:sldLayoutId id="2147484530" r:id="rId11"/>
    <p:sldLayoutId id="2147484531" r:id="rId12"/>
    <p:sldLayoutId id="2147484532" r:id="rId13"/>
    <p:sldLayoutId id="2147484533" r:id="rId14"/>
    <p:sldLayoutId id="2147484534" r:id="rId15"/>
    <p:sldLayoutId id="2147484535" r:id="rId16"/>
    <p:sldLayoutId id="2147484536" r:id="rId17"/>
    <p:sldLayoutId id="2147484537" r:id="rId18"/>
    <p:sldLayoutId id="2147484538" r:id="rId19"/>
    <p:sldLayoutId id="2147484539" r:id="rId20"/>
    <p:sldLayoutId id="2147484540" r:id="rId21"/>
    <p:sldLayoutId id="2147484541" r:id="rId22"/>
    <p:sldLayoutId id="2147484542" r:id="rId23"/>
    <p:sldLayoutId id="2147484543" r:id="rId24"/>
    <p:sldLayoutId id="2147484544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9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8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8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7" indent="-241047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68" indent="-201989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90" indent="-16069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88" indent="-16181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82" indent="-16069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7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75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866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9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9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89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8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8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7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7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68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C65BA3-EF8F-408F-A22D-18BBE8C1E8E8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42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  <p:sldLayoutId id="2147484638" r:id="rId3"/>
    <p:sldLayoutId id="2147484639" r:id="rId4"/>
    <p:sldLayoutId id="2147484640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  <p:sldLayoutId id="2147484647" r:id="rId12"/>
    <p:sldLayoutId id="2147484648" r:id="rId13"/>
    <p:sldLayoutId id="2147484649" r:id="rId14"/>
    <p:sldLayoutId id="2147484650" r:id="rId1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03FF89-D6BC-427F-AEEF-1C1BC669514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14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53" r:id="rId2"/>
    <p:sldLayoutId id="2147484654" r:id="rId3"/>
    <p:sldLayoutId id="2147484655" r:id="rId4"/>
    <p:sldLayoutId id="2147484656" r:id="rId5"/>
    <p:sldLayoutId id="2147484657" r:id="rId6"/>
    <p:sldLayoutId id="2147484658" r:id="rId7"/>
    <p:sldLayoutId id="2147484659" r:id="rId8"/>
    <p:sldLayoutId id="2147484660" r:id="rId9"/>
    <p:sldLayoutId id="2147484661" r:id="rId10"/>
    <p:sldLayoutId id="2147484662" r:id="rId11"/>
    <p:sldLayoutId id="2147484663" r:id="rId12"/>
    <p:sldLayoutId id="2147484664" r:id="rId13"/>
    <p:sldLayoutId id="2147484665" r:id="rId14"/>
    <p:sldLayoutId id="2147484666" r:id="rId15"/>
    <p:sldLayoutId id="2147484667" r:id="rId16"/>
    <p:sldLayoutId id="2147484668" r:id="rId17"/>
    <p:sldLayoutId id="2147484669" r:id="rId18"/>
    <p:sldLayoutId id="2147484670" r:id="rId19"/>
    <p:sldLayoutId id="2147484671" r:id="rId20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3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9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1" r:id="rId1"/>
    <p:sldLayoutId id="2147484952" r:id="rId2"/>
    <p:sldLayoutId id="2147484953" r:id="rId3"/>
    <p:sldLayoutId id="2147484954" r:id="rId4"/>
    <p:sldLayoutId id="2147484955" r:id="rId5"/>
    <p:sldLayoutId id="2147484956" r:id="rId6"/>
    <p:sldLayoutId id="2147484957" r:id="rId7"/>
    <p:sldLayoutId id="2147484958" r:id="rId8"/>
    <p:sldLayoutId id="2147484959" r:id="rId9"/>
    <p:sldLayoutId id="2147484960" r:id="rId10"/>
    <p:sldLayoutId id="2147484961" r:id="rId11"/>
    <p:sldLayoutId id="2147484962" r:id="rId12"/>
    <p:sldLayoutId id="2147484963" r:id="rId13"/>
    <p:sldLayoutId id="2147484964" r:id="rId14"/>
    <p:sldLayoutId id="2147484965" r:id="rId15"/>
    <p:sldLayoutId id="2147484966" r:id="rId16"/>
    <p:sldLayoutId id="2147484967" r:id="rId17"/>
  </p:sldLayoutIdLst>
  <p:txStyles>
    <p:titleStyle>
      <a:lvl1pPr algn="ctr" defTabSz="1219042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41" indent="-457141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470" indent="-38095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320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9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36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88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4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92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2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4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6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8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0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12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64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04824" y="9968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883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9" r:id="rId1"/>
    <p:sldLayoutId id="2147484970" r:id="rId2"/>
    <p:sldLayoutId id="2147484971" r:id="rId3"/>
    <p:sldLayoutId id="2147484972" r:id="rId4"/>
    <p:sldLayoutId id="2147484973" r:id="rId5"/>
    <p:sldLayoutId id="2147484974" r:id="rId6"/>
    <p:sldLayoutId id="2147484975" r:id="rId7"/>
    <p:sldLayoutId id="2147484976" r:id="rId8"/>
    <p:sldLayoutId id="2147484977" r:id="rId9"/>
    <p:sldLayoutId id="2147484978" r:id="rId10"/>
    <p:sldLayoutId id="2147484979" r:id="rId11"/>
    <p:sldLayoutId id="2147484980" r:id="rId12"/>
    <p:sldLayoutId id="2147484981" r:id="rId13"/>
    <p:sldLayoutId id="2147484982" r:id="rId14"/>
    <p:sldLayoutId id="2147484983" r:id="rId15"/>
    <p:sldLayoutId id="2147484984" r:id="rId16"/>
    <p:sldLayoutId id="2147484985" r:id="rId17"/>
    <p:sldLayoutId id="2147484986" r:id="rId18"/>
    <p:sldLayoutId id="2147484987" r:id="rId19"/>
    <p:sldLayoutId id="2147484988" r:id="rId20"/>
    <p:sldLayoutId id="2147484989" r:id="rId21"/>
    <p:sldLayoutId id="2147484990" r:id="rId22"/>
    <p:sldLayoutId id="2147484991" r:id="rId23"/>
    <p:sldLayoutId id="2147484992" r:id="rId24"/>
    <p:sldLayoutId id="2147484993" r:id="rId25"/>
    <p:sldLayoutId id="2147484994" r:id="rId2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2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652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397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0995" indent="-240995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55" indent="-20194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16" indent="-160664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644" indent="-16178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5969" indent="-160664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294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621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09946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272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25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52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79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0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633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956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28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608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33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1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3332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15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96" r:id="rId1"/>
    <p:sldLayoutId id="2147484997" r:id="rId2"/>
    <p:sldLayoutId id="2147484998" r:id="rId3"/>
    <p:sldLayoutId id="2147484999" r:id="rId4"/>
    <p:sldLayoutId id="2147485000" r:id="rId5"/>
    <p:sldLayoutId id="2147485001" r:id="rId6"/>
    <p:sldLayoutId id="2147485002" r:id="rId7"/>
    <p:sldLayoutId id="2147485003" r:id="rId8"/>
    <p:sldLayoutId id="2147485004" r:id="rId9"/>
    <p:sldLayoutId id="2147485005" r:id="rId10"/>
    <p:sldLayoutId id="2147485006" r:id="rId11"/>
    <p:sldLayoutId id="2147485007" r:id="rId12"/>
    <p:sldLayoutId id="2147485008" r:id="rId13"/>
    <p:sldLayoutId id="2147485009" r:id="rId14"/>
    <p:sldLayoutId id="2147485010" r:id="rId15"/>
    <p:sldLayoutId id="2147485011" r:id="rId16"/>
    <p:sldLayoutId id="2147485012" r:id="rId17"/>
  </p:sldLayoutIdLst>
  <p:txStyles>
    <p:titleStyle>
      <a:lvl1pPr algn="ctr" defTabSz="1219008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7" indent="-457127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445" indent="-380940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761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264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769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27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777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28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785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03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08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12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16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521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025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29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034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6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077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5" r:id="rId1"/>
    <p:sldLayoutId id="2147485046" r:id="rId2"/>
    <p:sldLayoutId id="2147485047" r:id="rId3"/>
    <p:sldLayoutId id="2147485048" r:id="rId4"/>
    <p:sldLayoutId id="2147485049" r:id="rId5"/>
    <p:sldLayoutId id="2147485050" r:id="rId6"/>
    <p:sldLayoutId id="2147485051" r:id="rId7"/>
    <p:sldLayoutId id="2147485052" r:id="rId8"/>
    <p:sldLayoutId id="2147485053" r:id="rId9"/>
    <p:sldLayoutId id="2147485054" r:id="rId10"/>
    <p:sldLayoutId id="2147485055" r:id="rId11"/>
    <p:sldLayoutId id="2147485056" r:id="rId12"/>
    <p:sldLayoutId id="2147485057" r:id="rId13"/>
    <p:sldLayoutId id="2147485058" r:id="rId14"/>
    <p:sldLayoutId id="2147485059" r:id="rId15"/>
    <p:sldLayoutId id="2147485060" r:id="rId16"/>
    <p:sldLayoutId id="2147485061" r:id="rId17"/>
    <p:sldLayoutId id="2147485062" r:id="rId18"/>
    <p:sldLayoutId id="2147485063" r:id="rId19"/>
    <p:sldLayoutId id="2147485064" r:id="rId20"/>
    <p:sldLayoutId id="2147485065" r:id="rId21"/>
    <p:sldLayoutId id="2147485066" r:id="rId22"/>
    <p:sldLayoutId id="2147485067" r:id="rId23"/>
    <p:sldLayoutId id="2147485068" r:id="rId24"/>
    <p:sldLayoutId id="2147485069" r:id="rId2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0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13" indent="-241013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91" indent="-20196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73" indent="-160676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725" indent="-16179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073" indent="-160676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422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773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121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469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0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0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749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0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44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794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0"/>
            <a:ext cx="12192000" cy="587029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4820" y="9961"/>
            <a:ext cx="793019" cy="58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4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6" r:id="rId1"/>
    <p:sldLayoutId id="2147485107" r:id="rId2"/>
    <p:sldLayoutId id="2147485108" r:id="rId3"/>
    <p:sldLayoutId id="2147485109" r:id="rId4"/>
    <p:sldLayoutId id="2147485110" r:id="rId5"/>
    <p:sldLayoutId id="2147485111" r:id="rId6"/>
    <p:sldLayoutId id="2147485112" r:id="rId7"/>
    <p:sldLayoutId id="2147485113" r:id="rId8"/>
    <p:sldLayoutId id="2147485114" r:id="rId9"/>
    <p:sldLayoutId id="2147485115" r:id="rId10"/>
    <p:sldLayoutId id="2147485116" r:id="rId11"/>
    <p:sldLayoutId id="2147485117" r:id="rId12"/>
    <p:sldLayoutId id="2147485118" r:id="rId13"/>
    <p:sldLayoutId id="2147485119" r:id="rId14"/>
    <p:sldLayoutId id="2147485120" r:id="rId15"/>
    <p:sldLayoutId id="2147485121" r:id="rId16"/>
    <p:sldLayoutId id="2147485122" r:id="rId17"/>
    <p:sldLayoutId id="2147485123" r:id="rId18"/>
    <p:sldLayoutId id="2147485124" r:id="rId19"/>
    <p:sldLayoutId id="2147485125" r:id="rId20"/>
    <p:sldLayoutId id="2147485126" r:id="rId21"/>
    <p:sldLayoutId id="2147485127" r:id="rId22"/>
  </p:sldLayoutIdLst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0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50" indent="-24105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76" indent="-20199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03" indent="-160701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05" indent="-161817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05" indent="-160701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06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08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5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9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0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03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8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209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B447E-148E-C5AE-EEA1-A6565EC897CA}"/>
              </a:ext>
            </a:extLst>
          </p:cNvPr>
          <p:cNvSpPr txBox="1">
            <a:spLocks/>
          </p:cNvSpPr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1.1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zh-CN" altLang="en-US" b="0" dirty="0">
                <a:ea typeface="华光综艺_CNKI" panose="02000500000000000000" pitchFamily="2" charset="-122"/>
              </a:rPr>
              <a:t>大数据时代</a:t>
            </a:r>
            <a:endParaRPr lang="en-US" altLang="zh-CN" b="0" dirty="0"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9871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B6390-52B9-ED87-927D-C70EAA6B8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6">
            <a:extLst>
              <a:ext uri="{FF2B5EF4-FFF2-40B4-BE49-F238E27FC236}">
                <a16:creationId xmlns:a16="http://schemas.microsoft.com/office/drawing/2014/main" id="{62CACD36-583B-CE2A-2594-5997B8332DBA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b="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大数据时代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BA03B83-C548-A82B-4A04-911862AB6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877" y="1115173"/>
            <a:ext cx="11049489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随着互联网、大数据、云计算等技术和应用的飞速发展，数字信息已经渗透到社会生活的方方面面，其影响还将进一步深化。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78C313E-1A24-5AC0-ADC4-684295699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781" y="2250227"/>
            <a:ext cx="6380175" cy="426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575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2A7CE-E205-E2C0-2816-704975F5D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042AE5E-0586-BF34-CB96-2A81540B2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586" y="1163296"/>
            <a:ext cx="9846331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据国际数据公司（</a:t>
            </a:r>
            <a:r>
              <a:rPr lang="en-US" altLang="zh-CN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IDC</a:t>
            </a: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）发布的报告，全球数据产量将由</a:t>
            </a:r>
            <a:r>
              <a:rPr lang="en-US" altLang="zh-CN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2018</a:t>
            </a: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年的</a:t>
            </a:r>
            <a:r>
              <a:rPr lang="en-US" altLang="zh-CN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33ZB</a:t>
            </a: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增长至</a:t>
            </a:r>
            <a:r>
              <a:rPr lang="en-US" altLang="zh-CN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2025</a:t>
            </a: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年的</a:t>
            </a:r>
            <a:r>
              <a:rPr lang="en-US" altLang="zh-CN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175ZB</a:t>
            </a: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，复合年均增长率达</a:t>
            </a:r>
            <a:r>
              <a:rPr lang="en-US" altLang="zh-CN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61%</a:t>
            </a: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。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14E7FBE-FB2B-5E2A-9073-D94D6146D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789" y="2484307"/>
            <a:ext cx="8332727" cy="4005150"/>
          </a:xfrm>
          <a:prstGeom prst="rect">
            <a:avLst/>
          </a:prstGeom>
        </p:spPr>
      </p:pic>
      <p:sp>
        <p:nvSpPr>
          <p:cNvPr id="7" name="矩形 26">
            <a:extLst>
              <a:ext uri="{FF2B5EF4-FFF2-40B4-BE49-F238E27FC236}">
                <a16:creationId xmlns:a16="http://schemas.microsoft.com/office/drawing/2014/main" id="{20C27375-6493-9FEB-2520-7B3583146693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数据规模增长显著</a:t>
            </a:r>
          </a:p>
        </p:txBody>
      </p:sp>
    </p:spTree>
    <p:extLst>
      <p:ext uri="{BB962C8B-B14F-4D97-AF65-F5344CB8AC3E}">
        <p14:creationId xmlns:p14="http://schemas.microsoft.com/office/powerpoint/2010/main" val="2029633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E3786-4FD1-F51D-2ED2-5E0FA8DFA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6">
            <a:extLst>
              <a:ext uri="{FF2B5EF4-FFF2-40B4-BE49-F238E27FC236}">
                <a16:creationId xmlns:a16="http://schemas.microsoft.com/office/drawing/2014/main" id="{75056184-AE43-C6C5-B7A3-B8EC8094AB1B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数据规模增长显著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812C2B-6446-E230-9889-D5C72E05D948}"/>
              </a:ext>
            </a:extLst>
          </p:cNvPr>
          <p:cNvSpPr txBox="1"/>
          <p:nvPr/>
        </p:nvSpPr>
        <p:spPr>
          <a:xfrm>
            <a:off x="121347" y="1380550"/>
            <a:ext cx="5974653" cy="331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228600">
              <a:lnSpc>
                <a:spcPct val="13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互联网行业在数据量上的增长显著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685800" lvl="1" indent="-228600">
              <a:lnSpc>
                <a:spcPct val="13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全球每天有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亿次在线搜索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 indent="-228600">
              <a:lnSpc>
                <a:spcPct val="13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微博用户每日发博量超过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万，平均每秒生成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785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条微博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 indent="-228600">
              <a:lnSpc>
                <a:spcPct val="13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每天有超过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亿用户活跃在抖音上，日均视频搜索次数超过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 indent="-228600">
              <a:lnSpc>
                <a:spcPct val="13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在移动支付领域，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年全球个人支付的交易规模为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4.08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万亿笔平均每秒可产生近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万笔交易数据。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87FEEC3-4DA3-C46A-5B5C-B96E43B95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585" y="1615311"/>
            <a:ext cx="6031068" cy="3424201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FF37AD35-FBDE-D860-2826-1DF04A385056}"/>
              </a:ext>
            </a:extLst>
          </p:cNvPr>
          <p:cNvSpPr txBox="1"/>
          <p:nvPr/>
        </p:nvSpPr>
        <p:spPr>
          <a:xfrm>
            <a:off x="298820" y="4884462"/>
            <a:ext cx="11411093" cy="1321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228600">
              <a:lnSpc>
                <a:spcPct val="13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科学研究数据也已达到极大规模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685800" lvl="1" indent="-228600">
              <a:lnSpc>
                <a:spcPct val="13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“中国天眼”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FAST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每秒采集的数据量可达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38GB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，每天接收到的观测数据量达到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40TB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，每年新增数据量达到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10PB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7572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5A96D-E809-044B-4D90-E7392843A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7F2938B-36C0-66C7-513B-FCADD269DFEC}"/>
              </a:ext>
            </a:extLst>
          </p:cNvPr>
          <p:cNvSpPr txBox="1"/>
          <p:nvPr/>
        </p:nvSpPr>
        <p:spPr>
          <a:xfrm>
            <a:off x="558040" y="1098459"/>
            <a:ext cx="10455271" cy="1725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按照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汉字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=2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字节（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）的方式换算，一本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万字的图书含有的数据量大概为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160KB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年我国出版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110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亿册的图书，数据量约为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1.76PB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年我国数据产量为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6.6ZB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，相当于同年图书出版数据量的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百万倍。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如果使用厚度为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毫米、内存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700MB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VCD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光盘储存我国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年的数据产量，需要约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万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千亿张光盘，这些光盘的总厚度为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千多万公里，相当于地球到月球距离的近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30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倍。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264D4D-6E5C-F6BE-12EA-C76433BC0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670" y="2942677"/>
            <a:ext cx="4002292" cy="36671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467EDD6-C2BE-4293-2DCB-BA5467292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823" y="2942677"/>
            <a:ext cx="4657725" cy="3667125"/>
          </a:xfrm>
          <a:prstGeom prst="rect">
            <a:avLst/>
          </a:prstGeom>
        </p:spPr>
      </p:pic>
      <p:sp>
        <p:nvSpPr>
          <p:cNvPr id="7" name="矩形 26">
            <a:extLst>
              <a:ext uri="{FF2B5EF4-FFF2-40B4-BE49-F238E27FC236}">
                <a16:creationId xmlns:a16="http://schemas.microsoft.com/office/drawing/2014/main" id="{5E22ACC5-84DC-6517-7DF7-A97935EA09DC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数据规模增长显著</a:t>
            </a:r>
          </a:p>
        </p:txBody>
      </p:sp>
    </p:spTree>
    <p:extLst>
      <p:ext uri="{BB962C8B-B14F-4D97-AF65-F5344CB8AC3E}">
        <p14:creationId xmlns:p14="http://schemas.microsoft.com/office/powerpoint/2010/main" val="1875337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979C0-270B-9250-2B46-2DDFD99A4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6">
            <a:extLst>
              <a:ext uri="{FF2B5EF4-FFF2-40B4-BE49-F238E27FC236}">
                <a16:creationId xmlns:a16="http://schemas.microsoft.com/office/drawing/2014/main" id="{4129FDEB-7DDD-1FE6-8CC7-F0701095B81D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大数据重要性日益提升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115FF8-9870-7316-6E39-9D6350C13BDA}"/>
              </a:ext>
            </a:extLst>
          </p:cNvPr>
          <p:cNvSpPr txBox="1"/>
          <p:nvPr/>
        </p:nvSpPr>
        <p:spPr>
          <a:xfrm>
            <a:off x="653971" y="1396257"/>
            <a:ext cx="10359340" cy="46136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p"/>
              <a:defRPr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dirty="0"/>
              <a:t>美国在</a:t>
            </a:r>
            <a:r>
              <a:rPr lang="en-US" altLang="zh-CN" dirty="0"/>
              <a:t>2012</a:t>
            </a:r>
            <a:r>
              <a:rPr lang="zh-CN" altLang="en-US" dirty="0"/>
              <a:t>年正式对外发布了</a:t>
            </a:r>
            <a:r>
              <a:rPr lang="en-US" altLang="zh-CN" dirty="0"/>
              <a:t>《</a:t>
            </a:r>
            <a:r>
              <a:rPr lang="zh-CN" altLang="en-US" b="1" dirty="0"/>
              <a:t>大数据研究与发展计划</a:t>
            </a:r>
            <a:r>
              <a:rPr lang="en-US" altLang="zh-CN" dirty="0"/>
              <a:t>》</a:t>
            </a:r>
            <a:r>
              <a:rPr lang="zh-CN" altLang="en-US" dirty="0"/>
              <a:t>，成立“大数据高级指导小组”。通过对海量数据分析萃取信息，提升对社会经济发展的预测能力。美国国家科学基金会、国家卫生研究院、国防部、能源部、国防部高级研究局、地质勘探局</a:t>
            </a:r>
            <a:r>
              <a:rPr lang="en-US" altLang="zh-CN" dirty="0"/>
              <a:t>6</a:t>
            </a:r>
            <a:r>
              <a:rPr lang="zh-CN" altLang="en-US" dirty="0"/>
              <a:t>个联邦部门和机构宣布投资</a:t>
            </a:r>
            <a:r>
              <a:rPr lang="en-US" altLang="zh-CN" dirty="0"/>
              <a:t>2</a:t>
            </a:r>
            <a:r>
              <a:rPr lang="zh-CN" altLang="en-US" dirty="0"/>
              <a:t>亿美元，共同提高收集、储存、保留、管理、分析和共享海量数据所需核心技术的先进性，并形成合力</a:t>
            </a:r>
            <a:r>
              <a:rPr lang="en-US" altLang="zh-CN" dirty="0"/>
              <a:t>;</a:t>
            </a:r>
            <a:r>
              <a:rPr lang="zh-CN" altLang="en-US" dirty="0"/>
              <a:t>加强对信息技术研发投入以推动超级计算和互联网的发展，</a:t>
            </a:r>
            <a:r>
              <a:rPr lang="zh-CN" altLang="en-US" b="1" dirty="0"/>
              <a:t>率先将大数据从商业概念上升至国家战略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dirty="0"/>
              <a:t>英国也尤其重视大数据对经济增长的拉动作用，发布了</a:t>
            </a:r>
            <a:r>
              <a:rPr lang="en-US" altLang="zh-CN" dirty="0"/>
              <a:t>《</a:t>
            </a:r>
            <a:r>
              <a:rPr lang="zh-CN" altLang="en-US" b="1" dirty="0"/>
              <a:t>数字战略</a:t>
            </a:r>
            <a:r>
              <a:rPr lang="en-US" altLang="zh-CN" b="1" dirty="0"/>
              <a:t>2017</a:t>
            </a:r>
            <a:r>
              <a:rPr lang="en-US" altLang="zh-CN" dirty="0"/>
              <a:t>》</a:t>
            </a:r>
            <a:r>
              <a:rPr lang="zh-CN" altLang="en-US" dirty="0"/>
              <a:t>和</a:t>
            </a:r>
            <a:r>
              <a:rPr lang="en-US" altLang="zh-CN" dirty="0"/>
              <a:t>《</a:t>
            </a:r>
            <a:r>
              <a:rPr lang="zh-CN" altLang="en-US" b="1" dirty="0"/>
              <a:t>产业战略：建设适应未来的英国</a:t>
            </a:r>
            <a:r>
              <a:rPr lang="en-US" altLang="zh-CN" dirty="0"/>
              <a:t>》</a:t>
            </a:r>
            <a:r>
              <a:rPr lang="zh-CN" altLang="en-US" dirty="0"/>
              <a:t>等政策，希望到</a:t>
            </a:r>
            <a:r>
              <a:rPr lang="en-US" altLang="zh-CN" dirty="0"/>
              <a:t>2025</a:t>
            </a:r>
            <a:r>
              <a:rPr lang="zh-CN" altLang="en-US" dirty="0"/>
              <a:t>年数字经济对本国经济总量的贡献值可达</a:t>
            </a:r>
            <a:r>
              <a:rPr lang="en-US" altLang="zh-CN" dirty="0"/>
              <a:t>2000</a:t>
            </a:r>
            <a:r>
              <a:rPr lang="zh-CN" altLang="en-US" dirty="0"/>
              <a:t>亿英镑。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欧盟及其成员国已制定大数据发展战略，主要包括：</a:t>
            </a:r>
            <a:r>
              <a:rPr lang="zh-CN" altLang="en-US" b="1" dirty="0"/>
              <a:t>数据价值链战略计划</a:t>
            </a:r>
            <a:r>
              <a:rPr lang="zh-CN" altLang="en-US" dirty="0"/>
              <a:t>、资助“大数据”和“开放数据”领域的研究和创新活动、实施开放数据政策、促进公共资助科研实验成果和数据的使用及再利用等。欧盟力推数据价值链战略计划，</a:t>
            </a:r>
            <a:r>
              <a:rPr lang="zh-CN" altLang="en-US" b="1" dirty="0"/>
              <a:t>用大数据改造传统治理模式</a:t>
            </a:r>
            <a:r>
              <a:rPr lang="zh-CN" altLang="en-US" dirty="0"/>
              <a:t>，试图大幅降低公共部门成本，并促进经济和就业增长。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50371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918E9-B062-C410-9681-8F461ED95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6">
            <a:extLst>
              <a:ext uri="{FF2B5EF4-FFF2-40B4-BE49-F238E27FC236}">
                <a16:creationId xmlns:a16="http://schemas.microsoft.com/office/drawing/2014/main" id="{48129053-4AB5-6959-12AD-A682A4FDE1FF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大数据重要性日益提升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5155FC-5996-F0BD-6D7B-37A3AAD0B705}"/>
              </a:ext>
            </a:extLst>
          </p:cNvPr>
          <p:cNvSpPr txBox="1"/>
          <p:nvPr/>
        </p:nvSpPr>
        <p:spPr>
          <a:xfrm>
            <a:off x="729860" y="1481304"/>
            <a:ext cx="10359340" cy="378270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p"/>
              <a:defRPr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dirty="0"/>
              <a:t>国务院</a:t>
            </a:r>
            <a:r>
              <a:rPr lang="en-US" altLang="zh-CN" dirty="0"/>
              <a:t>2015</a:t>
            </a:r>
            <a:r>
              <a:rPr lang="zh-CN" altLang="en-US" dirty="0"/>
              <a:t>年印发</a:t>
            </a:r>
            <a:r>
              <a:rPr lang="en-US" altLang="zh-CN" dirty="0"/>
              <a:t>《</a:t>
            </a:r>
            <a:r>
              <a:rPr lang="zh-CN" altLang="en-US" dirty="0"/>
              <a:t>促进大数据发展行动纲要</a:t>
            </a:r>
            <a:r>
              <a:rPr lang="en-US" altLang="zh-CN" dirty="0"/>
              <a:t>》</a:t>
            </a:r>
            <a:r>
              <a:rPr lang="zh-CN" altLang="en-US" dirty="0"/>
              <a:t>，系统部署大数据发展工作，明确提出将全面推进我国大数据发展和应用，加快建设数据强国。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我国工信部在</a:t>
            </a:r>
            <a:r>
              <a:rPr lang="en-US" altLang="zh-CN" dirty="0"/>
              <a:t>《</a:t>
            </a:r>
            <a:r>
              <a:rPr lang="zh-CN" altLang="en-US" b="1" dirty="0"/>
              <a:t>十四五”大数据产业发展规划</a:t>
            </a:r>
            <a:r>
              <a:rPr lang="en-US" altLang="zh-CN" dirty="0"/>
              <a:t>》</a:t>
            </a:r>
            <a:r>
              <a:rPr lang="zh-CN" altLang="en-US" dirty="0"/>
              <a:t>中指出“数据是新时代重要的生产要素，是国家基础性战略资源”。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我国大数据产业规模在“十三五”时期年均复合增长率超过</a:t>
            </a:r>
            <a:r>
              <a:rPr lang="en-US" altLang="zh-CN" dirty="0"/>
              <a:t>30%</a:t>
            </a:r>
            <a:r>
              <a:rPr lang="zh-CN" altLang="en-US" dirty="0"/>
              <a:t>，</a:t>
            </a:r>
            <a:r>
              <a:rPr lang="en-US" altLang="zh-CN" dirty="0"/>
              <a:t>2020</a:t>
            </a:r>
            <a:r>
              <a:rPr lang="zh-CN" altLang="en-US" dirty="0"/>
              <a:t>年超过</a:t>
            </a:r>
            <a:r>
              <a:rPr lang="en-US" altLang="zh-CN" dirty="0"/>
              <a:t>1</a:t>
            </a:r>
            <a:r>
              <a:rPr lang="zh-CN" altLang="en-US" dirty="0"/>
              <a:t>万亿元，预计到</a:t>
            </a:r>
            <a:r>
              <a:rPr lang="en-US" altLang="zh-CN" dirty="0"/>
              <a:t>2025</a:t>
            </a:r>
            <a:r>
              <a:rPr lang="zh-CN" altLang="en-US" dirty="0"/>
              <a:t>年，大数据产业测算规模将突破</a:t>
            </a:r>
            <a:r>
              <a:rPr lang="en-US" altLang="zh-CN" dirty="0"/>
              <a:t>3</a:t>
            </a:r>
            <a:r>
              <a:rPr lang="zh-CN" altLang="en-US" dirty="0"/>
              <a:t>万亿元，年均复合增长率保持在</a:t>
            </a:r>
            <a:r>
              <a:rPr lang="en-US" altLang="zh-CN" dirty="0"/>
              <a:t>25%</a:t>
            </a:r>
            <a:r>
              <a:rPr lang="zh-CN" altLang="en-US" dirty="0"/>
              <a:t>左右。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2023</a:t>
            </a:r>
            <a:r>
              <a:rPr lang="zh-CN" altLang="en-US" dirty="0"/>
              <a:t>年，中共中央、国务院印发了</a:t>
            </a:r>
            <a:r>
              <a:rPr lang="en-US" altLang="zh-CN" dirty="0"/>
              <a:t>《</a:t>
            </a:r>
            <a:r>
              <a:rPr lang="zh-CN" altLang="en-US" dirty="0"/>
              <a:t>数字中国建设整体布局规划</a:t>
            </a:r>
            <a:r>
              <a:rPr lang="en-US" altLang="zh-CN" dirty="0"/>
              <a:t>》</a:t>
            </a:r>
            <a:r>
              <a:rPr lang="zh-CN" altLang="en-US" dirty="0"/>
              <a:t>，指出“建设数字中国是数字时代推进中国式现代化的重要引擎，是构筑国家竞争新优势的有力支撑。加快数字中国建设，对全面建设社会主义现代化国家、全面推进中华民族伟大复兴具有重要意义和深远影响”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F6310DF-7B57-B167-1B12-725461EE2F04}"/>
              </a:ext>
            </a:extLst>
          </p:cNvPr>
          <p:cNvSpPr txBox="1"/>
          <p:nvPr/>
        </p:nvSpPr>
        <p:spPr>
          <a:xfrm>
            <a:off x="3637584" y="5677021"/>
            <a:ext cx="4392636" cy="67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algn="l" defTabSz="914400" rtl="0" eaLnBrk="1" fontAlgn="auto" latinLnBrk="0" hangingPunct="1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Tx/>
              <a:buSzPct val="80000"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5A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大数据时代已然到来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245AD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008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57fef28-e1f3-418f-8f7b-57f60670b37e"/>
  <p:tag name="COMMONDATA" val="eyJoZGlkIjoiNGZlODdkOGY2N2FkZjEzZjVmYjI5NGY1MTQ2NGRhNj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7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muant0k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9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8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9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6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3E28D3-CC25-4935-9535-3CA44F295BD0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6448</TotalTime>
  <Words>806</Words>
  <Application>Microsoft Office PowerPoint</Application>
  <PresentationFormat>宽屏</PresentationFormat>
  <Paragraphs>40</Paragraphs>
  <Slides>8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31" baseType="lpstr">
      <vt:lpstr>等线</vt:lpstr>
      <vt:lpstr>华光综艺_CNKI</vt:lpstr>
      <vt:lpstr>思源黑体</vt:lpstr>
      <vt:lpstr>思源黑体 CN Bold</vt:lpstr>
      <vt:lpstr>微软雅黑</vt:lpstr>
      <vt:lpstr>Arial</vt:lpstr>
      <vt:lpstr>Calibri</vt:lpstr>
      <vt:lpstr>Times New Roman</vt:lpstr>
      <vt:lpstr>Wingdings</vt:lpstr>
      <vt:lpstr>Office 主题​​</vt:lpstr>
      <vt:lpstr>10_自定义设计方案</vt:lpstr>
      <vt:lpstr>17_自定义设计方案</vt:lpstr>
      <vt:lpstr>21_自定义设计方案</vt:lpstr>
      <vt:lpstr>11_自定义设计方案</vt:lpstr>
      <vt:lpstr>2_默认设计模板</vt:lpstr>
      <vt:lpstr>1_默认设计模板</vt:lpstr>
      <vt:lpstr>7_自定义设计方案</vt:lpstr>
      <vt:lpstr>18_自定义设计方案</vt:lpstr>
      <vt:lpstr>12_自定义设计方案</vt:lpstr>
      <vt:lpstr>19_自定义设计方案</vt:lpstr>
      <vt:lpstr>16_自定义设计方案</vt:lpstr>
      <vt:lpstr>Photo Editor 照片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大数据分析-模版-吕欣.pptx</dc:title>
  <dc:creator>吕欣</dc:creator>
  <cp:lastModifiedBy>qing zhang</cp:lastModifiedBy>
  <cp:revision>2476</cp:revision>
  <dcterms:created xsi:type="dcterms:W3CDTF">2022-05-23T09:13:00Z</dcterms:created>
  <dcterms:modified xsi:type="dcterms:W3CDTF">2025-04-17T12:57:08Z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03DF3E81453D43789918EC1D3CAC176D_12</vt:lpwstr>
  </property>
  <property fmtid="{D5CDD505-2E9C-101B-9397-08002B2CF9AE}" pid="3" name="KSOProductBuildVer">
    <vt:lpwstr>2052-11.1.0.14309</vt:lpwstr>
  </property>
</Properties>
</file>