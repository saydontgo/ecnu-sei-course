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7" r:id="rId2"/>
    <p:sldId id="303" r:id="rId3"/>
    <p:sldId id="304" r:id="rId4"/>
    <p:sldId id="362" r:id="rId5"/>
    <p:sldId id="363" r:id="rId6"/>
    <p:sldId id="305" r:id="rId7"/>
    <p:sldId id="364" r:id="rId8"/>
    <p:sldId id="1550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showGuides="1">
      <p:cViewPr varScale="1">
        <p:scale>
          <a:sx n="83" d="100"/>
          <a:sy n="83" d="100"/>
        </p:scale>
        <p:origin x="614" y="48"/>
      </p:cViewPr>
      <p:guideLst>
        <p:guide orient="horz" pos="2134"/>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3E17-9704-53E1-45D1-94E8EB4394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1222A8-32AE-9001-C85D-E2B9D25C56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4AEB43-EE26-E9B8-9F69-03D25724FC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1F1B9A-A131-22C5-B2FD-4C490AF1F3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867368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22DE-E632-0497-C37B-DB3BCB23F3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BA35A0-138A-3DE3-8158-EEA106D845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7FCD9B-EDEA-7EC7-A611-CA26A23B0D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208A13-171B-BACA-BB43-E885650646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7469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887AF-EC9B-B2AF-637D-F532D6A990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2F4369-12A8-1585-2AAE-A0004BDAFD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00996E-BDC5-576D-1994-9F115E3352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35A661B-3F75-028B-BA67-5F2206E79E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304905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5.emf"/><Relationship Id="rId3" Type="http://schemas.openxmlformats.org/officeDocument/2006/relationships/image" Target="../media/image9.png"/><Relationship Id="rId7" Type="http://schemas.openxmlformats.org/officeDocument/2006/relationships/image" Target="../media/image12.wmf"/><Relationship Id="rId12"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oleObject" Target="../embeddings/oleObject2.bin"/><Relationship Id="rId11" Type="http://schemas.openxmlformats.org/officeDocument/2006/relationships/image" Target="../media/image14.emf"/><Relationship Id="rId5" Type="http://schemas.openxmlformats.org/officeDocument/2006/relationships/image" Target="../media/image11.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3.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FA03-6D76-18C3-D97C-8275797C9F39}"/>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5.1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降维的基本概念</a:t>
            </a:r>
            <a:endParaRPr lang="en-US" altLang="zh-CN" b="0" dirty="0">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with dots and lines&#10;&#10;Description automatically generated"/>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471423" y="93711"/>
            <a:ext cx="588328" cy="453368"/>
          </a:xfrm>
          <a:prstGeom prst="rect">
            <a:avLst/>
          </a:prstGeom>
        </p:spPr>
      </p:pic>
      <p:sp>
        <p:nvSpPr>
          <p:cNvPr id="10" name="文本框 9"/>
          <p:cNvSpPr txBox="1"/>
          <p:nvPr/>
        </p:nvSpPr>
        <p:spPr>
          <a:xfrm>
            <a:off x="261619" y="1527691"/>
            <a:ext cx="11668761" cy="6767365"/>
          </a:xfrm>
          <a:prstGeom prst="rect">
            <a:avLst/>
          </a:prstGeom>
          <a:noFill/>
        </p:spPr>
        <p:txBody>
          <a:bodyPr wrap="square" rtlCol="0">
            <a:spAutoFit/>
          </a:bodyPr>
          <a:lstStyle/>
          <a:p>
            <a:pPr>
              <a:lnSpc>
                <a:spcPct val="150000"/>
              </a:lnSpc>
            </a:pPr>
            <a:r>
              <a:rPr lang="en-US" altLang="zh-CN" sz="2400" dirty="0">
                <a:latin typeface="微软雅黑" panose="020B0503020204020204" charset="-122"/>
                <a:ea typeface="微软雅黑" panose="020B0503020204020204" charset="-122"/>
                <a:cs typeface="Times New Roman" panose="02020603050405020304" pitchFamily="18" charset="0"/>
              </a:rPr>
              <a:t>      </a:t>
            </a:r>
            <a:r>
              <a:rPr lang="zh-CN" altLang="zh-CN" sz="2400" dirty="0">
                <a:effectLst/>
                <a:latin typeface="微软雅黑" panose="020B0503020204020204" charset="-122"/>
                <a:ea typeface="微软雅黑" panose="020B0503020204020204" charset="-122"/>
                <a:cs typeface="Times New Roman" panose="02020603050405020304" pitchFamily="18" charset="0"/>
              </a:rPr>
              <a:t>最早是由</a:t>
            </a:r>
            <a:r>
              <a:rPr lang="en-US" altLang="zh-CN" sz="2400" dirty="0">
                <a:effectLst/>
                <a:latin typeface="微软雅黑" panose="020B0503020204020204" charset="-122"/>
                <a:ea typeface="微软雅黑" panose="020B0503020204020204" charset="-122"/>
              </a:rPr>
              <a:t>Richard E. Bellman</a:t>
            </a:r>
            <a:r>
              <a:rPr lang="zh-CN" altLang="zh-CN" sz="2400" dirty="0">
                <a:effectLst/>
                <a:latin typeface="微软雅黑" panose="020B0503020204020204" charset="-122"/>
                <a:ea typeface="微软雅黑" panose="020B0503020204020204" charset="-122"/>
                <a:cs typeface="Times New Roman" panose="02020603050405020304" pitchFamily="18" charset="0"/>
              </a:rPr>
              <a:t>在考虑优化问题时提出来的</a:t>
            </a:r>
            <a:r>
              <a:rPr lang="zh-CN" altLang="en-US" sz="2400" dirty="0">
                <a:latin typeface="微软雅黑" panose="020B0503020204020204" charset="-122"/>
                <a:ea typeface="微软雅黑" panose="020B0503020204020204" charset="-122"/>
                <a:cs typeface="Times New Roman" panose="02020603050405020304" pitchFamily="18" charset="0"/>
              </a:rPr>
              <a:t>。</a:t>
            </a:r>
            <a:r>
              <a:rPr lang="zh-CN" altLang="zh-CN" sz="2400" dirty="0">
                <a:effectLst/>
                <a:latin typeface="微软雅黑" panose="020B0503020204020204" charset="-122"/>
                <a:ea typeface="微软雅黑" panose="020B0503020204020204" charset="-122"/>
                <a:cs typeface="Times New Roman" panose="02020603050405020304" pitchFamily="18" charset="0"/>
              </a:rPr>
              <a:t>指</a:t>
            </a:r>
            <a:r>
              <a:rPr lang="zh-CN" altLang="en-US" sz="2400" dirty="0">
                <a:effectLst/>
                <a:latin typeface="微软雅黑" panose="020B0503020204020204" charset="-122"/>
                <a:ea typeface="微软雅黑" panose="020B0503020204020204" charset="-122"/>
                <a:cs typeface="Times New Roman" panose="02020603050405020304" pitchFamily="18" charset="0"/>
              </a:rPr>
              <a:t>随着</a:t>
            </a:r>
            <a:r>
              <a:rPr lang="zh-CN" altLang="zh-CN" sz="2400" dirty="0">
                <a:effectLst/>
                <a:latin typeface="微软雅黑" panose="020B0503020204020204" charset="-122"/>
                <a:ea typeface="微软雅黑" panose="020B0503020204020204" charset="-122"/>
                <a:cs typeface="Times New Roman" panose="02020603050405020304" pitchFamily="18" charset="0"/>
              </a:rPr>
              <a:t>维数</a:t>
            </a:r>
            <a:r>
              <a:rPr lang="zh-CN" altLang="en-US" sz="2400" dirty="0">
                <a:effectLst/>
                <a:latin typeface="微软雅黑" panose="020B0503020204020204" charset="-122"/>
                <a:ea typeface="微软雅黑" panose="020B0503020204020204" charset="-122"/>
                <a:cs typeface="Times New Roman" panose="02020603050405020304" pitchFamily="18" charset="0"/>
              </a:rPr>
              <a:t>的</a:t>
            </a:r>
            <a:r>
              <a:rPr lang="zh-CN" altLang="zh-CN" sz="2400" dirty="0">
                <a:effectLst/>
                <a:latin typeface="微软雅黑" panose="020B0503020204020204" charset="-122"/>
                <a:ea typeface="微软雅黑" panose="020B0503020204020204" charset="-122"/>
                <a:cs typeface="Times New Roman" panose="02020603050405020304" pitchFamily="18" charset="0"/>
              </a:rPr>
              <a:t>增加，</a:t>
            </a:r>
            <a:r>
              <a:rPr lang="zh-CN" altLang="en-US" sz="24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特征空间的体积</a:t>
            </a:r>
            <a:r>
              <a:rPr lang="zh-CN" altLang="zh-CN" sz="2400" dirty="0">
                <a:effectLst/>
                <a:latin typeface="微软雅黑" panose="020B0503020204020204" charset="-122"/>
                <a:ea typeface="微软雅黑" panose="020B0503020204020204" charset="-122"/>
                <a:cs typeface="Times New Roman" panose="02020603050405020304" pitchFamily="18" charset="0"/>
              </a:rPr>
              <a:t>会呈</a:t>
            </a:r>
            <a:r>
              <a:rPr lang="zh-CN" altLang="zh-CN" sz="2800" b="1"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指数</a:t>
            </a:r>
            <a:r>
              <a:rPr lang="zh-CN" altLang="zh-CN" sz="2400" dirty="0">
                <a:effectLst/>
                <a:latin typeface="微软雅黑" panose="020B0503020204020204" charset="-122"/>
                <a:ea typeface="微软雅黑" panose="020B0503020204020204" charset="-122"/>
                <a:cs typeface="Times New Roman" panose="02020603050405020304" pitchFamily="18" charset="0"/>
              </a:rPr>
              <a:t>增长</a:t>
            </a:r>
            <a:r>
              <a:rPr lang="zh-CN" altLang="en-US" sz="2400" dirty="0">
                <a:effectLst/>
                <a:latin typeface="微软雅黑" panose="020B0503020204020204" charset="-122"/>
                <a:ea typeface="微软雅黑" panose="020B0503020204020204" charset="-122"/>
                <a:cs typeface="Times New Roman" panose="02020603050405020304" pitchFamily="18" charset="0"/>
              </a:rPr>
              <a:t>，从而导致各方面的</a:t>
            </a:r>
            <a:r>
              <a:rPr lang="zh-CN" altLang="en-US" sz="24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成本指数增加</a:t>
            </a:r>
            <a:r>
              <a:rPr lang="zh-CN" altLang="en-US" sz="2400" dirty="0">
                <a:effectLst/>
                <a:latin typeface="微软雅黑" panose="020B0503020204020204" charset="-122"/>
                <a:ea typeface="微软雅黑" panose="020B0503020204020204" charset="-122"/>
                <a:cs typeface="Times New Roman" panose="02020603050405020304" pitchFamily="18" charset="0"/>
              </a:rPr>
              <a:t>。</a:t>
            </a:r>
            <a:endParaRPr lang="en-US" altLang="zh-CN" sz="2400" dirty="0">
              <a:effectLst/>
              <a:latin typeface="微软雅黑" panose="020B0503020204020204" charset="-122"/>
              <a:ea typeface="微软雅黑" panose="020B0503020204020204" charset="-122"/>
              <a:cs typeface="Times New Roman" panose="02020603050405020304" pitchFamily="18" charset="0"/>
            </a:endParaRPr>
          </a:p>
          <a:p>
            <a:pPr marL="1080135" indent="-360045">
              <a:lnSpc>
                <a:spcPct val="150000"/>
              </a:lnSpc>
              <a:buFont typeface="Wingdings" panose="05000000000000000000" pitchFamily="2" charset="2"/>
              <a:buChar char="Ø"/>
            </a:pPr>
            <a:r>
              <a:rPr lang="zh-CN" altLang="en-US" sz="2400" dirty="0">
                <a:latin typeface="微软雅黑" panose="020B0503020204020204" charset="-122"/>
                <a:ea typeface="微软雅黑" panose="020B0503020204020204" charset="-122"/>
                <a:cs typeface="Times New Roman" panose="02020603050405020304" pitchFamily="18" charset="0"/>
              </a:rPr>
              <a:t>样本数量</a:t>
            </a: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1080135" indent="-360045">
              <a:lnSpc>
                <a:spcPct val="150000"/>
              </a:lnSpc>
              <a:buFont typeface="Wingdings" panose="05000000000000000000" pitchFamily="2" charset="2"/>
              <a:buChar char="Ø"/>
            </a:pPr>
            <a:r>
              <a:rPr lang="zh-CN" altLang="en-US" sz="2400" dirty="0">
                <a:latin typeface="微软雅黑" panose="020B0503020204020204" charset="-122"/>
                <a:ea typeface="微软雅黑" panose="020B0503020204020204" charset="-122"/>
                <a:cs typeface="Times New Roman" panose="02020603050405020304" pitchFamily="18" charset="0"/>
              </a:rPr>
              <a:t>存储空间</a:t>
            </a: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1080135" indent="-360045">
              <a:lnSpc>
                <a:spcPct val="150000"/>
              </a:lnSpc>
              <a:buFont typeface="Wingdings" panose="05000000000000000000" pitchFamily="2" charset="2"/>
              <a:buChar char="Ø"/>
            </a:pPr>
            <a:r>
              <a:rPr lang="zh-CN" altLang="en-US" sz="2400" dirty="0">
                <a:latin typeface="微软雅黑" panose="020B0503020204020204" charset="-122"/>
                <a:ea typeface="微软雅黑" panose="020B0503020204020204" charset="-122"/>
                <a:cs typeface="Times New Roman" panose="02020603050405020304" pitchFamily="18" charset="0"/>
              </a:rPr>
              <a:t>索引数量</a:t>
            </a: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1080135" indent="-360045">
              <a:lnSpc>
                <a:spcPct val="150000"/>
              </a:lnSpc>
              <a:buFont typeface="Wingdings" panose="05000000000000000000" pitchFamily="2" charset="2"/>
              <a:buChar char="Ø"/>
            </a:pPr>
            <a:r>
              <a:rPr lang="zh-CN" altLang="en-US" sz="2400" dirty="0">
                <a:latin typeface="微软雅黑" panose="020B0503020204020204" charset="-122"/>
                <a:ea typeface="微软雅黑" panose="020B0503020204020204" charset="-122"/>
                <a:cs typeface="Times New Roman" panose="02020603050405020304" pitchFamily="18" charset="0"/>
              </a:rPr>
              <a:t>计算量</a:t>
            </a: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1080135" indent="-360045">
              <a:lnSpc>
                <a:spcPct val="150000"/>
              </a:lnSpc>
              <a:buFont typeface="Wingdings" panose="05000000000000000000" pitchFamily="2" charset="2"/>
              <a:buChar char="Ø"/>
            </a:pPr>
            <a:r>
              <a:rPr lang="en-US" altLang="zh-CN" sz="2400" dirty="0">
                <a:latin typeface="微软雅黑" panose="020B0503020204020204" charset="-122"/>
                <a:ea typeface="微软雅黑" panose="020B0503020204020204" charset="-122"/>
                <a:cs typeface="Times New Roman" panose="02020603050405020304" pitchFamily="18" charset="0"/>
              </a:rPr>
              <a:t>……</a:t>
            </a:r>
          </a:p>
          <a:p>
            <a:pPr>
              <a:lnSpc>
                <a:spcPct val="150000"/>
              </a:lnSpc>
            </a:pPr>
            <a:r>
              <a:rPr lang="en-US" altLang="zh-CN" sz="2400" dirty="0">
                <a:latin typeface="微软雅黑" panose="020B0503020204020204" charset="-122"/>
                <a:ea typeface="微软雅黑" panose="020B0503020204020204" charset="-122"/>
                <a:cs typeface="Times New Roman" panose="02020603050405020304" pitchFamily="18" charset="0"/>
              </a:rPr>
              <a:t>    </a:t>
            </a:r>
            <a:r>
              <a:rPr lang="zh-CN" altLang="zh-CN" sz="2400" dirty="0">
                <a:latin typeface="微软雅黑" panose="020B0503020204020204" charset="-122"/>
                <a:ea typeface="微软雅黑" panose="020B0503020204020204" charset="-122"/>
                <a:cs typeface="Times New Roman" panose="02020603050405020304" pitchFamily="18" charset="0"/>
              </a:rPr>
              <a:t>随着维数的增加，计算数据集的相似性、估计模型参数等过程变得更加</a:t>
            </a:r>
            <a:r>
              <a:rPr lang="zh-CN" altLang="zh-CN" sz="24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困难和耗时</a:t>
            </a:r>
            <a:r>
              <a:rPr lang="zh-CN" altLang="zh-CN" sz="2400" dirty="0">
                <a:latin typeface="微软雅黑" panose="020B0503020204020204" charset="-122"/>
                <a:ea typeface="微软雅黑" panose="020B0503020204020204" charset="-122"/>
                <a:cs typeface="Times New Roman" panose="02020603050405020304" pitchFamily="18" charset="0"/>
              </a:rPr>
              <a:t>。</a:t>
            </a: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342900" indent="-342900">
              <a:lnSpc>
                <a:spcPct val="150000"/>
              </a:lnSpc>
              <a:buFont typeface="Arial" panose="020B0604020202020204" pitchFamily="34" charset="0"/>
              <a:buChar char="•"/>
            </a:pP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342900" indent="-342900">
              <a:lnSpc>
                <a:spcPct val="150000"/>
              </a:lnSpc>
              <a:buFont typeface="Arial" panose="020B0604020202020204" pitchFamily="34" charset="0"/>
              <a:buChar char="•"/>
            </a:pP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342900" indent="-342900">
              <a:lnSpc>
                <a:spcPct val="150000"/>
              </a:lnSpc>
              <a:buFont typeface="Arial" panose="020B0604020202020204" pitchFamily="34" charset="0"/>
              <a:buChar char="•"/>
            </a:pPr>
            <a:endParaRPr lang="en-US" altLang="zh-CN" sz="2400" dirty="0">
              <a:latin typeface="微软雅黑" panose="020B0503020204020204" charset="-122"/>
              <a:ea typeface="微软雅黑" panose="020B0503020204020204" charset="-122"/>
              <a:cs typeface="Times New Roman" panose="02020603050405020304" pitchFamily="18" charset="0"/>
            </a:endParaRPr>
          </a:p>
          <a:p>
            <a:pPr marL="342900" indent="-342900">
              <a:lnSpc>
                <a:spcPct val="150000"/>
              </a:lnSpc>
              <a:buFont typeface="Arial" panose="020B0604020202020204" pitchFamily="34" charset="0"/>
              <a:buChar char="•"/>
            </a:pPr>
            <a:endParaRPr lang="zh-CN" altLang="en-US" sz="2400" dirty="0">
              <a:latin typeface="微软雅黑" panose="020B0503020204020204" charset="-122"/>
              <a:ea typeface="微软雅黑" panose="020B0503020204020204" charset="-122"/>
            </a:endParaRPr>
          </a:p>
        </p:txBody>
      </p:sp>
      <p:sp>
        <p:nvSpPr>
          <p:cNvPr id="27" name="文本框 26"/>
          <p:cNvSpPr txBox="1"/>
          <p:nvPr/>
        </p:nvSpPr>
        <p:spPr>
          <a:xfrm>
            <a:off x="3314699" y="547079"/>
            <a:ext cx="9220201" cy="646331"/>
          </a:xfrm>
          <a:prstGeom prst="rect">
            <a:avLst/>
          </a:prstGeom>
          <a:noFill/>
        </p:spPr>
        <p:txBody>
          <a:bodyPr wrap="square" rtlCol="0">
            <a:spAutoFit/>
          </a:bodyPr>
          <a:lstStyle/>
          <a:p>
            <a:r>
              <a:rPr lang="en-US" altLang="zh-CN" sz="3600" dirty="0">
                <a:latin typeface="微软雅黑" panose="020B0503020204020204" charset="-122"/>
                <a:ea typeface="微软雅黑" panose="020B0503020204020204" charset="-122"/>
              </a:rPr>
              <a:t>--Curse of Dimensionality</a:t>
            </a:r>
            <a:endParaRPr lang="zh-CN" altLang="en-US" sz="3600" dirty="0">
              <a:latin typeface="微软雅黑" panose="020B0503020204020204" charset="-122"/>
              <a:ea typeface="微软雅黑" panose="020B0503020204020204" charset="-122"/>
            </a:endParaRPr>
          </a:p>
        </p:txBody>
      </p:sp>
      <p:sp>
        <p:nvSpPr>
          <p:cNvPr id="28" name="矩形 27"/>
          <p:cNvSpPr/>
          <p:nvPr/>
        </p:nvSpPr>
        <p:spPr>
          <a:xfrm>
            <a:off x="197088" y="320395"/>
            <a:ext cx="3365024" cy="923330"/>
          </a:xfrm>
          <a:prstGeom prst="rect">
            <a:avLst/>
          </a:prstGeom>
          <a:noFill/>
        </p:spPr>
        <p:txBody>
          <a:bodyPr wrap="none" lIns="91440" tIns="45720" rIns="91440" bIns="4572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rPr>
              <a:t>维数灾难  </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with dots and lines&#10;&#10;Description automatically generated"/>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471423" y="93711"/>
            <a:ext cx="588328" cy="453368"/>
          </a:xfrm>
          <a:prstGeom prst="rect">
            <a:avLst/>
          </a:prstGeom>
        </p:spPr>
      </p:pic>
      <p:sp>
        <p:nvSpPr>
          <p:cNvPr id="10" name="文本框 9"/>
          <p:cNvSpPr txBox="1"/>
          <p:nvPr/>
        </p:nvSpPr>
        <p:spPr>
          <a:xfrm>
            <a:off x="132249" y="320395"/>
            <a:ext cx="5201751" cy="923330"/>
          </a:xfrm>
          <a:prstGeom prst="rect">
            <a:avLst/>
          </a:prstGeom>
          <a:noFill/>
        </p:spPr>
        <p:txBody>
          <a:bodyPr wrap="square" rtlCol="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rPr>
              <a:t>维数灾难的表现</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2" name="椭圆 31"/>
          <p:cNvSpPr/>
          <p:nvPr/>
        </p:nvSpPr>
        <p:spPr>
          <a:xfrm>
            <a:off x="846737" y="2705407"/>
            <a:ext cx="2952750" cy="97155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lumMod val="75000"/>
                  </a:schemeClr>
                </a:solidFill>
              </a:rPr>
              <a:t>样本分布稀疏</a:t>
            </a:r>
          </a:p>
        </p:txBody>
      </p:sp>
      <p:sp>
        <p:nvSpPr>
          <p:cNvPr id="35" name="文本框 34"/>
          <p:cNvSpPr txBox="1"/>
          <p:nvPr/>
        </p:nvSpPr>
        <p:spPr>
          <a:xfrm>
            <a:off x="4538315" y="1537910"/>
            <a:ext cx="5732031" cy="4278094"/>
          </a:xfrm>
          <a:prstGeom prst="rect">
            <a:avLst/>
          </a:prstGeom>
          <a:noFill/>
        </p:spPr>
        <p:txBody>
          <a:bodyPr wrap="square" rtlCol="0">
            <a:spAutoFit/>
          </a:bodyPr>
          <a:lstStyle/>
          <a:p>
            <a:pPr algn="l">
              <a:spcAft>
                <a:spcPts val="1200"/>
              </a:spcAft>
              <a:buFont typeface="Arial" panose="020B0604020202020204" pitchFamily="34" charset="0"/>
              <a:buChar char="•"/>
            </a:pPr>
            <a:r>
              <a:rPr lang="zh-CN" altLang="en-US" sz="2800" b="1" i="0" dirty="0">
                <a:solidFill>
                  <a:srgbClr val="24292F"/>
                </a:solidFill>
                <a:effectLst/>
                <a:latin typeface="微软雅黑" panose="020B0503020204020204" charset="-122"/>
                <a:ea typeface="微软雅黑" panose="020B0503020204020204" charset="-122"/>
              </a:rPr>
              <a:t>  空间采样密度不足</a:t>
            </a:r>
            <a:r>
              <a:rPr lang="zh-CN" altLang="en-US" sz="2800" b="0" i="0" dirty="0">
                <a:solidFill>
                  <a:srgbClr val="24292F"/>
                </a:solidFill>
                <a:effectLst/>
                <a:latin typeface="微软雅黑" panose="020B0503020204020204" charset="-122"/>
                <a:ea typeface="微软雅黑" panose="020B0503020204020204" charset="-122"/>
              </a:rPr>
              <a:t>：样本分布极为稀疏，导致无法精确估计数据的分布特性。</a:t>
            </a:r>
            <a:endParaRPr lang="en-US" altLang="zh-CN" sz="2800" b="0" i="0" dirty="0">
              <a:solidFill>
                <a:srgbClr val="24292F"/>
              </a:solidFill>
              <a:effectLst/>
              <a:latin typeface="微软雅黑" panose="020B0503020204020204" charset="-122"/>
              <a:ea typeface="微软雅黑" panose="020B0503020204020204" charset="-122"/>
            </a:endParaRPr>
          </a:p>
          <a:p>
            <a:pPr algn="l">
              <a:spcAft>
                <a:spcPts val="1200"/>
              </a:spcAft>
              <a:buFont typeface="Arial" panose="020B0604020202020204" pitchFamily="34" charset="0"/>
              <a:buChar char="•"/>
            </a:pPr>
            <a:endParaRPr lang="zh-CN" altLang="en-US" sz="2800" b="0" i="0" dirty="0">
              <a:solidFill>
                <a:srgbClr val="24292F"/>
              </a:solidFill>
              <a:effectLst/>
              <a:latin typeface="微软雅黑" panose="020B0503020204020204" charset="-122"/>
              <a:ea typeface="微软雅黑" panose="020B0503020204020204" charset="-122"/>
            </a:endParaRPr>
          </a:p>
          <a:p>
            <a:pPr algn="l">
              <a:spcAft>
                <a:spcPts val="1200"/>
              </a:spcAft>
              <a:buFont typeface="Arial" panose="020B0604020202020204" pitchFamily="34" charset="0"/>
              <a:buChar char="•"/>
            </a:pPr>
            <a:r>
              <a:rPr lang="zh-CN" altLang="en-US" sz="2800" b="1" i="0" dirty="0">
                <a:solidFill>
                  <a:srgbClr val="24292F"/>
                </a:solidFill>
                <a:effectLst/>
                <a:latin typeface="微软雅黑" panose="020B0503020204020204" charset="-122"/>
                <a:ea typeface="微软雅黑" panose="020B0503020204020204" charset="-122"/>
              </a:rPr>
              <a:t>  误差增加</a:t>
            </a:r>
            <a:r>
              <a:rPr lang="zh-CN" altLang="en-US" sz="2800" b="0" i="0" dirty="0">
                <a:solidFill>
                  <a:srgbClr val="24292F"/>
                </a:solidFill>
                <a:effectLst/>
                <a:latin typeface="微软雅黑" panose="020B0503020204020204" charset="-122"/>
                <a:ea typeface="微软雅黑" panose="020B0503020204020204" charset="-122"/>
              </a:rPr>
              <a:t>：随着维度的增大，每个样本点相对于整个数据集的代表性降低，样本间的误差和变异性可能增大。</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8E8D-3EE5-11F0-EEFA-3A5440ED4569}"/>
            </a:ext>
          </a:extLst>
        </p:cNvPr>
        <p:cNvGrpSpPr/>
        <p:nvPr/>
      </p:nvGrpSpPr>
      <p:grpSpPr>
        <a:xfrm>
          <a:off x="0" y="0"/>
          <a:ext cx="0" cy="0"/>
          <a:chOff x="0" y="0"/>
          <a:chExt cx="0" cy="0"/>
        </a:xfrm>
      </p:grpSpPr>
      <p:pic>
        <p:nvPicPr>
          <p:cNvPr id="3" name="Picture 2" descr="A logo with dots and lines&#10;&#10;Description automatically generated">
            <a:extLst>
              <a:ext uri="{FF2B5EF4-FFF2-40B4-BE49-F238E27FC236}">
                <a16:creationId xmlns:a16="http://schemas.microsoft.com/office/drawing/2014/main" id="{17DD53F0-C364-6A1F-A8C0-3166CC830B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471423" y="93711"/>
            <a:ext cx="588328" cy="453368"/>
          </a:xfrm>
          <a:prstGeom prst="rect">
            <a:avLst/>
          </a:prstGeom>
        </p:spPr>
      </p:pic>
      <p:sp>
        <p:nvSpPr>
          <p:cNvPr id="10" name="文本框 9">
            <a:extLst>
              <a:ext uri="{FF2B5EF4-FFF2-40B4-BE49-F238E27FC236}">
                <a16:creationId xmlns:a16="http://schemas.microsoft.com/office/drawing/2014/main" id="{967AD670-3766-0A92-DF34-FB5932F88CBD}"/>
              </a:ext>
            </a:extLst>
          </p:cNvPr>
          <p:cNvSpPr txBox="1"/>
          <p:nvPr/>
        </p:nvSpPr>
        <p:spPr>
          <a:xfrm>
            <a:off x="202098" y="320395"/>
            <a:ext cx="5201751" cy="923330"/>
          </a:xfrm>
          <a:prstGeom prst="rect">
            <a:avLst/>
          </a:prstGeom>
          <a:noFill/>
        </p:spPr>
        <p:txBody>
          <a:bodyPr wrap="square" rtlCol="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rPr>
              <a:t>维数灾难的表现</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8" name="椭圆 37">
            <a:extLst>
              <a:ext uri="{FF2B5EF4-FFF2-40B4-BE49-F238E27FC236}">
                <a16:creationId xmlns:a16="http://schemas.microsoft.com/office/drawing/2014/main" id="{5A76714A-72F0-F38F-F610-4D6B00AA3A33}"/>
              </a:ext>
            </a:extLst>
          </p:cNvPr>
          <p:cNvSpPr/>
          <p:nvPr/>
        </p:nvSpPr>
        <p:spPr>
          <a:xfrm>
            <a:off x="940518" y="2841625"/>
            <a:ext cx="2952750" cy="97155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lumMod val="75000"/>
                  </a:schemeClr>
                </a:solidFill>
              </a:rPr>
              <a:t>距离度量失效</a:t>
            </a:r>
          </a:p>
        </p:txBody>
      </p:sp>
      <p:sp>
        <p:nvSpPr>
          <p:cNvPr id="40" name="文本框 39">
            <a:extLst>
              <a:ext uri="{FF2B5EF4-FFF2-40B4-BE49-F238E27FC236}">
                <a16:creationId xmlns:a16="http://schemas.microsoft.com/office/drawing/2014/main" id="{F0F572BB-97B7-88A8-1CFE-998C102B0B66}"/>
              </a:ext>
            </a:extLst>
          </p:cNvPr>
          <p:cNvSpPr txBox="1"/>
          <p:nvPr/>
        </p:nvSpPr>
        <p:spPr>
          <a:xfrm>
            <a:off x="4814771" y="1575673"/>
            <a:ext cx="5340519" cy="4278094"/>
          </a:xfrm>
          <a:prstGeom prst="rect">
            <a:avLst/>
          </a:prstGeom>
          <a:noFill/>
        </p:spPr>
        <p:txBody>
          <a:bodyPr wrap="square">
            <a:spAutoFit/>
          </a:bodyPr>
          <a:lstStyle/>
          <a:p>
            <a:pPr indent="-285750">
              <a:spcAft>
                <a:spcPts val="1200"/>
              </a:spcAft>
              <a:buFont typeface="Arial" panose="020B0604020202020204" pitchFamily="34" charset="0"/>
              <a:buChar char="•"/>
            </a:pPr>
            <a:r>
              <a:rPr lang="zh-CN" altLang="en-US" sz="2800" b="1" dirty="0">
                <a:solidFill>
                  <a:srgbClr val="24292F"/>
                </a:solidFill>
                <a:latin typeface="微软雅黑" panose="020B0503020204020204" charset="-122"/>
                <a:ea typeface="微软雅黑" panose="020B0503020204020204" charset="-122"/>
              </a:rPr>
              <a:t>距离相似性下降：</a:t>
            </a:r>
            <a:r>
              <a:rPr lang="zh-CN" altLang="en-US" sz="2800" dirty="0">
                <a:solidFill>
                  <a:srgbClr val="24292F"/>
                </a:solidFill>
                <a:latin typeface="微软雅黑" panose="020B0503020204020204" charset="-122"/>
                <a:ea typeface="微软雅黑" panose="020B0503020204020204" charset="-122"/>
              </a:rPr>
              <a:t>传统的距离度量（例如欧几里得距离）不再能有效区分点与点之间的相似度。</a:t>
            </a:r>
            <a:endParaRPr lang="en-US" altLang="zh-CN" sz="2800" dirty="0">
              <a:solidFill>
                <a:srgbClr val="24292F"/>
              </a:solidFill>
              <a:latin typeface="微软雅黑" panose="020B0503020204020204" charset="-122"/>
              <a:ea typeface="微软雅黑" panose="020B0503020204020204" charset="-122"/>
            </a:endParaRPr>
          </a:p>
          <a:p>
            <a:pPr indent="-285750">
              <a:spcAft>
                <a:spcPts val="1200"/>
              </a:spcAft>
              <a:buFont typeface="Arial" panose="020B0604020202020204" pitchFamily="34" charset="0"/>
              <a:buChar char="•"/>
            </a:pPr>
            <a:endParaRPr lang="zh-CN" altLang="en-US" sz="2800" dirty="0">
              <a:solidFill>
                <a:srgbClr val="24292F"/>
              </a:solidFill>
              <a:latin typeface="微软雅黑" panose="020B0503020204020204" charset="-122"/>
              <a:ea typeface="微软雅黑" panose="020B0503020204020204" charset="-122"/>
            </a:endParaRPr>
          </a:p>
          <a:p>
            <a:pPr indent="-285750">
              <a:spcAft>
                <a:spcPts val="1200"/>
              </a:spcAft>
              <a:buFont typeface="Arial" panose="020B0604020202020204" pitchFamily="34" charset="0"/>
              <a:buChar char="•"/>
            </a:pPr>
            <a:r>
              <a:rPr lang="zh-CN" altLang="en-US" sz="2800" b="1" dirty="0">
                <a:solidFill>
                  <a:srgbClr val="24292F"/>
                </a:solidFill>
                <a:latin typeface="微软雅黑" panose="020B0503020204020204" charset="-122"/>
                <a:ea typeface="微软雅黑" panose="020B0503020204020204" charset="-122"/>
              </a:rPr>
              <a:t>距离惩罚：</a:t>
            </a:r>
            <a:r>
              <a:rPr lang="zh-CN" altLang="en-US" sz="2800" dirty="0">
                <a:solidFill>
                  <a:srgbClr val="24292F"/>
                </a:solidFill>
                <a:latin typeface="微软雅黑" panose="020B0503020204020204" charset="-122"/>
                <a:ea typeface="微软雅黑" panose="020B0503020204020204" charset="-122"/>
              </a:rPr>
              <a:t>高维空间中的数据往往是“被压缩”的，即多个维度中的数据可能表现出某种平衡的情况，导致部分维度的信息失效。</a:t>
            </a:r>
          </a:p>
        </p:txBody>
      </p:sp>
    </p:spTree>
    <p:extLst>
      <p:ext uri="{BB962C8B-B14F-4D97-AF65-F5344CB8AC3E}">
        <p14:creationId xmlns:p14="http://schemas.microsoft.com/office/powerpoint/2010/main" val="32522508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4B091-EEB3-1C06-EA9F-0358235164AA}"/>
            </a:ext>
          </a:extLst>
        </p:cNvPr>
        <p:cNvGrpSpPr/>
        <p:nvPr/>
      </p:nvGrpSpPr>
      <p:grpSpPr>
        <a:xfrm>
          <a:off x="0" y="0"/>
          <a:ext cx="0" cy="0"/>
          <a:chOff x="0" y="0"/>
          <a:chExt cx="0" cy="0"/>
        </a:xfrm>
      </p:grpSpPr>
      <p:pic>
        <p:nvPicPr>
          <p:cNvPr id="3" name="Picture 2" descr="A logo with dots and lines&#10;&#10;Description automatically generated">
            <a:extLst>
              <a:ext uri="{FF2B5EF4-FFF2-40B4-BE49-F238E27FC236}">
                <a16:creationId xmlns:a16="http://schemas.microsoft.com/office/drawing/2014/main" id="{84959649-73D4-54E0-66FB-831405C45D8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471423" y="93711"/>
            <a:ext cx="588328" cy="453368"/>
          </a:xfrm>
          <a:prstGeom prst="rect">
            <a:avLst/>
          </a:prstGeom>
        </p:spPr>
      </p:pic>
      <p:sp>
        <p:nvSpPr>
          <p:cNvPr id="10" name="文本框 9">
            <a:extLst>
              <a:ext uri="{FF2B5EF4-FFF2-40B4-BE49-F238E27FC236}">
                <a16:creationId xmlns:a16="http://schemas.microsoft.com/office/drawing/2014/main" id="{FED9184A-11FB-05C4-B25F-FC7BFEB08B92}"/>
              </a:ext>
            </a:extLst>
          </p:cNvPr>
          <p:cNvSpPr txBox="1"/>
          <p:nvPr/>
        </p:nvSpPr>
        <p:spPr>
          <a:xfrm>
            <a:off x="202098" y="320395"/>
            <a:ext cx="5201751" cy="923330"/>
          </a:xfrm>
          <a:prstGeom prst="rect">
            <a:avLst/>
          </a:prstGeom>
          <a:noFill/>
        </p:spPr>
        <p:txBody>
          <a:bodyPr wrap="square" rtlCol="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rPr>
              <a:t>维数灾难的表现</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41" name="椭圆 40">
            <a:extLst>
              <a:ext uri="{FF2B5EF4-FFF2-40B4-BE49-F238E27FC236}">
                <a16:creationId xmlns:a16="http://schemas.microsoft.com/office/drawing/2014/main" id="{3C075581-B526-7D05-498E-FBA26F79E726}"/>
              </a:ext>
            </a:extLst>
          </p:cNvPr>
          <p:cNvSpPr/>
          <p:nvPr/>
        </p:nvSpPr>
        <p:spPr>
          <a:xfrm>
            <a:off x="899878" y="3064299"/>
            <a:ext cx="2952750" cy="97155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lumMod val="75000"/>
                  </a:schemeClr>
                </a:solidFill>
              </a:rPr>
              <a:t>噪声影响突出</a:t>
            </a:r>
          </a:p>
        </p:txBody>
      </p:sp>
      <p:sp>
        <p:nvSpPr>
          <p:cNvPr id="42" name="文本框 41">
            <a:extLst>
              <a:ext uri="{FF2B5EF4-FFF2-40B4-BE49-F238E27FC236}">
                <a16:creationId xmlns:a16="http://schemas.microsoft.com/office/drawing/2014/main" id="{D18C288F-7475-330B-C50C-9E671FA9F044}"/>
              </a:ext>
            </a:extLst>
          </p:cNvPr>
          <p:cNvSpPr txBox="1"/>
          <p:nvPr/>
        </p:nvSpPr>
        <p:spPr>
          <a:xfrm>
            <a:off x="4653000" y="1877025"/>
            <a:ext cx="5538624" cy="3847207"/>
          </a:xfrm>
          <a:prstGeom prst="rect">
            <a:avLst/>
          </a:prstGeom>
          <a:noFill/>
        </p:spPr>
        <p:txBody>
          <a:bodyPr wrap="square">
            <a:spAutoFit/>
          </a:bodyPr>
          <a:lstStyle/>
          <a:p>
            <a:pPr indent="-285750">
              <a:spcAft>
                <a:spcPts val="1200"/>
              </a:spcAft>
              <a:buFont typeface="Arial" panose="020B0604020202020204" pitchFamily="34" charset="0"/>
              <a:buChar char="•"/>
            </a:pPr>
            <a:r>
              <a:rPr lang="zh-CN" altLang="en-US" sz="2800" b="1" dirty="0">
                <a:solidFill>
                  <a:srgbClr val="24292F"/>
                </a:solidFill>
                <a:latin typeface="微软雅黑" panose="020B0503020204020204" charset="-122"/>
                <a:ea typeface="微软雅黑" panose="020B0503020204020204" charset="-122"/>
              </a:rPr>
              <a:t>冗余特征：</a:t>
            </a:r>
            <a:r>
              <a:rPr lang="zh-CN" altLang="en-US" sz="2800" b="0" i="0" dirty="0">
                <a:solidFill>
                  <a:srgbClr val="24292F"/>
                </a:solidFill>
                <a:effectLst/>
                <a:latin typeface="微软雅黑" panose="020B0503020204020204" charset="-122"/>
                <a:ea typeface="微软雅黑" panose="020B0503020204020204" charset="-122"/>
              </a:rPr>
              <a:t>噪声特征不仅不会提供有用的信息，还可能导致计算资源的浪费。</a:t>
            </a:r>
            <a:endParaRPr lang="en-US" altLang="zh-CN" sz="2800" b="0" i="0" dirty="0">
              <a:solidFill>
                <a:srgbClr val="24292F"/>
              </a:solidFill>
              <a:effectLst/>
              <a:latin typeface="微软雅黑" panose="020B0503020204020204" charset="-122"/>
              <a:ea typeface="微软雅黑" panose="020B0503020204020204" charset="-122"/>
            </a:endParaRPr>
          </a:p>
          <a:p>
            <a:pPr indent="-285750">
              <a:spcAft>
                <a:spcPts val="1200"/>
              </a:spcAft>
              <a:buFont typeface="Arial" panose="020B0604020202020204" pitchFamily="34" charset="0"/>
              <a:buChar char="•"/>
            </a:pPr>
            <a:endParaRPr lang="en-US" altLang="zh-CN" sz="2800" b="0" i="0" dirty="0">
              <a:solidFill>
                <a:srgbClr val="24292F"/>
              </a:solidFill>
              <a:effectLst/>
              <a:latin typeface="微软雅黑" panose="020B0503020204020204" charset="-122"/>
              <a:ea typeface="微软雅黑" panose="020B0503020204020204" charset="-122"/>
            </a:endParaRPr>
          </a:p>
          <a:p>
            <a:pPr indent="-285750">
              <a:spcAft>
                <a:spcPts val="1200"/>
              </a:spcAft>
              <a:buFont typeface="Arial" panose="020B0604020202020204" pitchFamily="34" charset="0"/>
              <a:buChar char="•"/>
            </a:pPr>
            <a:r>
              <a:rPr lang="zh-CN" altLang="en-US" sz="2800" b="1" dirty="0">
                <a:solidFill>
                  <a:srgbClr val="24292F"/>
                </a:solidFill>
                <a:latin typeface="微软雅黑" panose="020B0503020204020204" charset="-122"/>
                <a:ea typeface="微软雅黑" panose="020B0503020204020204" charset="-122"/>
              </a:rPr>
              <a:t>模型过拟合：</a:t>
            </a:r>
            <a:r>
              <a:rPr lang="zh-CN" altLang="en-US" sz="2800" dirty="0">
                <a:solidFill>
                  <a:srgbClr val="24292F"/>
                </a:solidFill>
                <a:latin typeface="微软雅黑" panose="020B0503020204020204" charset="-122"/>
                <a:ea typeface="微软雅黑" panose="020B0503020204020204" charset="-122"/>
              </a:rPr>
              <a:t>噪声往往被模型当作数据的一部分进行拟合，导致模型的泛化能力下降，最终出现过拟合现象。</a:t>
            </a:r>
          </a:p>
        </p:txBody>
      </p:sp>
    </p:spTree>
    <p:extLst>
      <p:ext uri="{BB962C8B-B14F-4D97-AF65-F5344CB8AC3E}">
        <p14:creationId xmlns:p14="http://schemas.microsoft.com/office/powerpoint/2010/main" val="15809626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84293" y="93711"/>
            <a:ext cx="4375150" cy="1244079"/>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charset="-122"/>
                <a:ea typeface="微软雅黑" panose="020B050302020402020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rPr>
              <a:t>数据降维</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3" name="Picture 2" descr="A logo with dots and lines&#10;&#10;Description automatically generated"/>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471423" y="93711"/>
            <a:ext cx="588328" cy="453368"/>
          </a:xfrm>
          <a:prstGeom prst="rect">
            <a:avLst/>
          </a:prstGeom>
        </p:spPr>
      </p:pic>
      <p:sp>
        <p:nvSpPr>
          <p:cNvPr id="28" name="文本框 27"/>
          <p:cNvSpPr txBox="1"/>
          <p:nvPr/>
        </p:nvSpPr>
        <p:spPr>
          <a:xfrm>
            <a:off x="3944783" y="385269"/>
            <a:ext cx="6437468" cy="646331"/>
          </a:xfrm>
          <a:prstGeom prst="rect">
            <a:avLst/>
          </a:prstGeom>
          <a:noFill/>
        </p:spPr>
        <p:txBody>
          <a:bodyPr wrap="square" rtlCol="0">
            <a:spAutoFit/>
          </a:bodyPr>
          <a:lstStyle/>
          <a:p>
            <a:r>
              <a:rPr lang="en-US" altLang="zh-CN" sz="3600" dirty="0">
                <a:latin typeface="微软雅黑" panose="020B0503020204020204" charset="-122"/>
                <a:ea typeface="微软雅黑" panose="020B0503020204020204" charset="-122"/>
              </a:rPr>
              <a:t>--Dimensionality Reduction</a:t>
            </a:r>
            <a:endParaRPr lang="zh-CN" altLang="en-US" sz="3600" dirty="0">
              <a:latin typeface="微软雅黑" panose="020B0503020204020204" charset="-122"/>
              <a:ea typeface="微软雅黑" panose="020B0503020204020204" charset="-122"/>
            </a:endParaRPr>
          </a:p>
        </p:txBody>
      </p:sp>
      <p:sp>
        <p:nvSpPr>
          <p:cNvPr id="32" name="文本框 31"/>
          <p:cNvSpPr txBox="1"/>
          <p:nvPr/>
        </p:nvSpPr>
        <p:spPr>
          <a:xfrm>
            <a:off x="496094" y="1982307"/>
            <a:ext cx="4633912" cy="3894208"/>
          </a:xfrm>
          <a:prstGeom prst="rect">
            <a:avLst/>
          </a:prstGeom>
          <a:noFill/>
        </p:spPr>
        <p:txBody>
          <a:bodyPr wrap="square">
            <a:spAutoFit/>
          </a:bodyPr>
          <a:lstStyle/>
          <a:p>
            <a:pPr>
              <a:lnSpc>
                <a:spcPct val="150000"/>
              </a:lnSpc>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数据降维技术通过将高维数据</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映射</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到更</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低维</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的空间，在降低数据集的复杂性的同时尽可能</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保留数据的主要结构和信息</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2800" kern="100" dirty="0">
                <a:latin typeface="微软雅黑" panose="020B0503020204020204" charset="-122"/>
                <a:ea typeface="微软雅黑" panose="020B0503020204020204" charset="-122"/>
                <a:cs typeface="Times New Roman" panose="02020603050405020304" pitchFamily="18" charset="0"/>
              </a:rPr>
              <a:t>能够</a:t>
            </a:r>
            <a:r>
              <a:rPr lang="zh-CN" altLang="en-US" sz="2800" b="1"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克服</a:t>
            </a:r>
            <a:r>
              <a:rPr lang="zh-CN" altLang="en-US" sz="2800" kern="100" dirty="0">
                <a:latin typeface="微软雅黑" panose="020B0503020204020204" charset="-122"/>
                <a:ea typeface="微软雅黑" panose="020B0503020204020204" charset="-122"/>
                <a:cs typeface="Times New Roman" panose="02020603050405020304" pitchFamily="18" charset="0"/>
              </a:rPr>
              <a:t>维数灾难问题</a:t>
            </a:r>
            <a:r>
              <a:rPr lang="zh-CN" altLang="en-US" sz="2800" kern="100" dirty="0">
                <a:effectLst/>
                <a:latin typeface="微软雅黑" panose="020B0503020204020204" charset="-122"/>
                <a:ea typeface="微软雅黑" panose="020B0503020204020204" charset="-122"/>
                <a:cs typeface="Times New Roman" panose="02020603050405020304" pitchFamily="18" charset="0"/>
              </a:rPr>
              <a:t>。</a:t>
            </a:r>
            <a:endParaRPr lang="zh-CN" altLang="en-US" sz="2800" dirty="0">
              <a:latin typeface="微软雅黑" panose="020B0503020204020204" charset="-122"/>
              <a:ea typeface="微软雅黑" panose="020B0503020204020204" charset="-122"/>
            </a:endParaRPr>
          </a:p>
        </p:txBody>
      </p:sp>
      <p:pic>
        <p:nvPicPr>
          <p:cNvPr id="33" name="图片 32"/>
          <p:cNvPicPr>
            <a:picLocks noChangeAspect="1"/>
          </p:cNvPicPr>
          <p:nvPr/>
        </p:nvPicPr>
        <p:blipFill>
          <a:blip r:embed="rId4"/>
          <a:stretch>
            <a:fillRect/>
          </a:stretch>
        </p:blipFill>
        <p:spPr>
          <a:xfrm>
            <a:off x="7578708" y="2475494"/>
            <a:ext cx="2139983" cy="680456"/>
          </a:xfrm>
          <a:prstGeom prst="rect">
            <a:avLst/>
          </a:prstGeom>
        </p:spPr>
      </p:pic>
      <p:sp>
        <p:nvSpPr>
          <p:cNvPr id="34" name="矩形: 圆角 33"/>
          <p:cNvSpPr/>
          <p:nvPr/>
        </p:nvSpPr>
        <p:spPr>
          <a:xfrm>
            <a:off x="323850" y="1778000"/>
            <a:ext cx="5086350" cy="4521200"/>
          </a:xfrm>
          <a:prstGeom prst="roundRect">
            <a:avLst/>
          </a:prstGeom>
          <a:noFill/>
          <a:ln w="38100">
            <a:solidFill>
              <a:schemeClr val="accent5">
                <a:lumMod val="40000"/>
                <a:lumOff val="6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5706302" y="1857670"/>
            <a:ext cx="4451350" cy="830997"/>
          </a:xfrm>
          <a:prstGeom prst="rect">
            <a:avLst/>
          </a:prstGeom>
          <a:noFill/>
        </p:spPr>
        <p:txBody>
          <a:bodyPr wrap="square">
            <a:spAutoFit/>
          </a:bodyPr>
          <a:lstStyle/>
          <a:p>
            <a:r>
              <a:rPr lang="zh-CN" altLang="en-US" sz="1800" kern="100" dirty="0">
                <a:effectLst/>
                <a:ea typeface="楷体" panose="02010609060101010101" charset="-122"/>
                <a:cs typeface="Times New Roman" panose="02020603050405020304" pitchFamily="18" charset="0"/>
              </a:rPr>
              <a:t>    </a:t>
            </a:r>
            <a:r>
              <a:rPr lang="zh-CN" altLang="en-US" sz="2400" kern="100" dirty="0">
                <a:effectLst/>
                <a:ea typeface="楷体" panose="02010609060101010101" charset="-122"/>
                <a:cs typeface="Times New Roman" panose="02020603050405020304" pitchFamily="18" charset="0"/>
              </a:rPr>
              <a:t>数据</a:t>
            </a:r>
            <a:r>
              <a:rPr lang="zh-CN" altLang="zh-CN" sz="2400" kern="100" dirty="0">
                <a:effectLst/>
                <a:ea typeface="楷体" panose="02010609060101010101" charset="-122"/>
                <a:cs typeface="Times New Roman" panose="02020603050405020304" pitchFamily="18" charset="0"/>
              </a:rPr>
              <a:t>降维映射函数</a:t>
            </a:r>
            <a:r>
              <a:rPr lang="en-US" altLang="zh-CN" sz="2400" kern="100" dirty="0">
                <a:effectLst/>
                <a:ea typeface="楷体" panose="02010609060101010101" charset="-122"/>
                <a:cs typeface="Times New Roman" panose="02020603050405020304" pitchFamily="18" charset="0"/>
              </a:rPr>
              <a:t> </a:t>
            </a:r>
            <a:r>
              <a:rPr lang="en-US" altLang="zh-CN" sz="2400" i="1" kern="100" dirty="0">
                <a:latin typeface="Times New Roman" panose="02020603050405020304" pitchFamily="18" charset="0"/>
                <a:ea typeface="楷体" panose="02010609060101010101" charset="-122"/>
                <a:cs typeface="Times New Roman" panose="02020603050405020304" pitchFamily="18" charset="0"/>
              </a:rPr>
              <a:t>f </a:t>
            </a:r>
            <a:r>
              <a:rPr lang="zh-CN" altLang="zh-CN" sz="2400" kern="100" dirty="0">
                <a:effectLst/>
                <a:ea typeface="楷体" panose="02010609060101010101" charset="-122"/>
                <a:cs typeface="Times New Roman" panose="02020603050405020304" pitchFamily="18" charset="0"/>
              </a:rPr>
              <a:t>定义为：</a:t>
            </a:r>
            <a:endParaRPr lang="en-US" altLang="zh-CN" sz="2400" kern="100" dirty="0">
              <a:effectLst/>
              <a:ea typeface="楷体" panose="02010609060101010101" charset="-122"/>
              <a:cs typeface="Times New Roman" panose="02020603050405020304" pitchFamily="18" charset="0"/>
            </a:endParaRPr>
          </a:p>
          <a:p>
            <a:endParaRPr lang="zh-CN" altLang="en-US" sz="2400" dirty="0"/>
          </a:p>
        </p:txBody>
      </p:sp>
      <p:sp>
        <p:nvSpPr>
          <p:cNvPr id="64" name="文本框 63"/>
          <p:cNvSpPr txBox="1"/>
          <p:nvPr/>
        </p:nvSpPr>
        <p:spPr>
          <a:xfrm>
            <a:off x="5981700" y="3429001"/>
            <a:ext cx="5994400" cy="2722668"/>
          </a:xfrm>
          <a:prstGeom prst="rect">
            <a:avLst/>
          </a:prstGeom>
          <a:noFill/>
        </p:spPr>
        <p:txBody>
          <a:bodyPr wrap="square" rtlCol="0">
            <a:spAutoFit/>
          </a:bodyPr>
          <a:lstStyle/>
          <a:p>
            <a:pPr>
              <a:lnSpc>
                <a:spcPct val="150000"/>
              </a:lnSpc>
            </a:pPr>
            <a:r>
              <a:rPr lang="zh-CN" altLang="zh-CN" sz="1800" kern="100" dirty="0">
                <a:effectLst/>
                <a:latin typeface="Times New Roman" panose="02020603050405020304" pitchFamily="18" charset="0"/>
                <a:ea typeface="楷体" panose="02010609060101010101" charset="-122"/>
                <a:cs typeface="Times New Roman" panose="02020603050405020304" pitchFamily="18" charset="0"/>
              </a:rPr>
              <a:t>其中，</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D</a:t>
            </a:r>
            <a:r>
              <a:rPr lang="en-US" altLang="zh-CN" sz="1200" i="1" kern="100" dirty="0">
                <a:effectLst/>
                <a:latin typeface="Times New Roman" panose="02020603050405020304" pitchFamily="18" charset="0"/>
                <a:ea typeface="楷体" panose="02010609060101010101" charset="-122"/>
                <a:cs typeface="Times New Roman" panose="02020603050405020304" pitchFamily="18" charset="0"/>
              </a:rPr>
              <a:t>x </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为原</a:t>
            </a:r>
            <a:r>
              <a:rPr lang="zh-CN" altLang="zh-CN" sz="1800" kern="100" dirty="0">
                <a:effectLst/>
                <a:latin typeface="Times New Roman" panose="02020603050405020304" pitchFamily="18" charset="0"/>
                <a:ea typeface="楷体" panose="02010609060101010101" charset="-122"/>
                <a:cs typeface="Times New Roman" panose="02020603050405020304" pitchFamily="18" charset="0"/>
              </a:rPr>
              <a:t>始高维（</a:t>
            </a:r>
            <a:r>
              <a:rPr lang="en-US" altLang="zh-CN" sz="1800" i="1" kern="100" dirty="0">
                <a:effectLst/>
                <a:latin typeface="Times New Roman" panose="02020603050405020304" pitchFamily="18" charset="0"/>
                <a:ea typeface="楷体" panose="02010609060101010101" charset="-122"/>
              </a:rPr>
              <a:t>p</a:t>
            </a:r>
            <a:r>
              <a:rPr lang="zh-CN" altLang="zh-CN" sz="1800" kern="100" dirty="0">
                <a:effectLst/>
                <a:latin typeface="Times New Roman" panose="02020603050405020304" pitchFamily="18" charset="0"/>
                <a:ea typeface="楷体" panose="02010609060101010101" charset="-122"/>
                <a:cs typeface="Times New Roman" panose="02020603050405020304" pitchFamily="18" charset="0"/>
              </a:rPr>
              <a:t>维</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a:t>
            </a:r>
            <a:r>
              <a:rPr lang="zh-CN" altLang="zh-CN" sz="1800" kern="100" dirty="0">
                <a:effectLst/>
                <a:latin typeface="Times New Roman" panose="02020603050405020304" pitchFamily="18" charset="0"/>
                <a:ea typeface="楷体" panose="02010609060101010101" charset="-122"/>
                <a:cs typeface="Times New Roman" panose="02020603050405020304" pitchFamily="18" charset="0"/>
              </a:rPr>
              <a:t>空间</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的</a:t>
            </a:r>
            <a:r>
              <a:rPr lang="zh-CN" altLang="zh-CN" sz="1800" kern="100" dirty="0">
                <a:effectLst/>
                <a:latin typeface="Times New Roman" panose="02020603050405020304" pitchFamily="18" charset="0"/>
                <a:ea typeface="楷体" panose="02010609060101010101" charset="-122"/>
                <a:cs typeface="Times New Roman" panose="02020603050405020304" pitchFamily="18" charset="0"/>
              </a:rPr>
              <a:t>一个数据集，</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 D</a:t>
            </a:r>
            <a:r>
              <a:rPr lang="en-US" altLang="zh-CN" sz="1200" i="1" kern="100" dirty="0">
                <a:latin typeface="Times New Roman" panose="02020603050405020304" pitchFamily="18" charset="0"/>
                <a:ea typeface="楷体" panose="02010609060101010101" charset="-122"/>
                <a:cs typeface="Times New Roman" panose="02020603050405020304" pitchFamily="18" charset="0"/>
              </a:rPr>
              <a:t>y</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为</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d</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维（</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d</a:t>
            </a:r>
            <a:r>
              <a:rPr lang="en-US" altLang="zh-CN" sz="1800" kern="100" dirty="0">
                <a:effectLst/>
                <a:latin typeface="Times New Roman" panose="02020603050405020304" pitchFamily="18" charset="0"/>
                <a:ea typeface="楷体" panose="02010609060101010101" charset="-122"/>
                <a:cs typeface="Times New Roman" panose="02020603050405020304" pitchFamily="18" charset="0"/>
              </a:rPr>
              <a:t>&lt;&lt;</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p</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）空间中的数据集，且称</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D</a:t>
            </a:r>
            <a:r>
              <a:rPr lang="en-US" altLang="zh-CN" sz="1200" i="1" kern="100" dirty="0">
                <a:latin typeface="Times New Roman" panose="02020603050405020304" pitchFamily="18" charset="0"/>
                <a:ea typeface="楷体" panose="02010609060101010101" charset="-122"/>
                <a:cs typeface="Times New Roman" panose="02020603050405020304" pitchFamily="18" charset="0"/>
              </a:rPr>
              <a:t>y</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为</a:t>
            </a:r>
            <a:r>
              <a:rPr lang="en-US" altLang="zh-CN" sz="1800" i="1" kern="100" dirty="0">
                <a:effectLst/>
                <a:latin typeface="Times New Roman" panose="02020603050405020304" pitchFamily="18" charset="0"/>
                <a:ea typeface="楷体" panose="02010609060101010101" charset="-122"/>
                <a:cs typeface="Times New Roman" panose="02020603050405020304" pitchFamily="18" charset="0"/>
              </a:rPr>
              <a:t>D</a:t>
            </a:r>
            <a:r>
              <a:rPr lang="en-US" altLang="zh-CN" sz="1200" i="1" kern="100" dirty="0">
                <a:effectLst/>
                <a:latin typeface="Times New Roman" panose="02020603050405020304" pitchFamily="18" charset="0"/>
                <a:ea typeface="楷体" panose="02010609060101010101" charset="-122"/>
                <a:cs typeface="Times New Roman" panose="02020603050405020304" pitchFamily="18" charset="0"/>
              </a:rPr>
              <a:t>x</a:t>
            </a:r>
            <a:r>
              <a:rPr lang="zh-CN" altLang="en-US" sz="1800" kern="100" dirty="0">
                <a:effectLst/>
                <a:latin typeface="Times New Roman" panose="02020603050405020304" pitchFamily="18" charset="0"/>
                <a:ea typeface="楷体" panose="02010609060101010101" charset="-122"/>
                <a:cs typeface="Times New Roman" panose="02020603050405020304" pitchFamily="18" charset="0"/>
              </a:rPr>
              <a:t>的低维表示。</a:t>
            </a:r>
            <a:endParaRPr lang="en-US" altLang="zh-CN" sz="1800" kern="100" dirty="0">
              <a:effectLst/>
              <a:latin typeface="Times New Roman" panose="02020603050405020304" pitchFamily="18" charset="0"/>
              <a:ea typeface="楷体" panose="02010609060101010101" charset="-122"/>
              <a:cs typeface="Times New Roman" panose="02020603050405020304" pitchFamily="18" charset="0"/>
            </a:endParaRPr>
          </a:p>
          <a:p>
            <a:pPr>
              <a:lnSpc>
                <a:spcPct val="150000"/>
              </a:lnSpc>
              <a:spcBef>
                <a:spcPts val="1400"/>
              </a:spcBef>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例如，</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在人脸识别任务中，可以通过仅保留少量能够反映人脸样本集内部信息和结构关系的特征向量，从而在减少数据量的同时保留原始图像的关键信息。</a:t>
            </a:r>
          </a:p>
          <a:p>
            <a:pPr>
              <a:lnSpc>
                <a:spcPct val="150000"/>
              </a:lnSpc>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234B9-793B-36D9-6677-224626B526B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7D8BA15-7382-428E-1567-7917DA84F98E}"/>
              </a:ext>
            </a:extLst>
          </p:cNvPr>
          <p:cNvSpPr txBox="1"/>
          <p:nvPr/>
        </p:nvSpPr>
        <p:spPr>
          <a:xfrm>
            <a:off x="-84293" y="93711"/>
            <a:ext cx="4375150" cy="1244079"/>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charset="-122"/>
                <a:ea typeface="微软雅黑" panose="020B050302020402020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rPr>
              <a:t>数据降维</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3" name="Picture 2" descr="A logo with dots and lines&#10;&#10;Description automatically generated">
            <a:extLst>
              <a:ext uri="{FF2B5EF4-FFF2-40B4-BE49-F238E27FC236}">
                <a16:creationId xmlns:a16="http://schemas.microsoft.com/office/drawing/2014/main" id="{911189AD-15AE-EEB0-AC24-9F94C493A4D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471423" y="93711"/>
            <a:ext cx="588328" cy="453368"/>
          </a:xfrm>
          <a:prstGeom prst="rect">
            <a:avLst/>
          </a:prstGeom>
        </p:spPr>
      </p:pic>
      <p:sp>
        <p:nvSpPr>
          <p:cNvPr id="28" name="文本框 27">
            <a:extLst>
              <a:ext uri="{FF2B5EF4-FFF2-40B4-BE49-F238E27FC236}">
                <a16:creationId xmlns:a16="http://schemas.microsoft.com/office/drawing/2014/main" id="{D034CED8-B5FA-D8A7-3A79-47AF004D84E8}"/>
              </a:ext>
            </a:extLst>
          </p:cNvPr>
          <p:cNvSpPr txBox="1"/>
          <p:nvPr/>
        </p:nvSpPr>
        <p:spPr>
          <a:xfrm>
            <a:off x="3944783" y="385269"/>
            <a:ext cx="6437468" cy="646331"/>
          </a:xfrm>
          <a:prstGeom prst="rect">
            <a:avLst/>
          </a:prstGeom>
          <a:noFill/>
        </p:spPr>
        <p:txBody>
          <a:bodyPr wrap="square" rtlCol="0">
            <a:spAutoFit/>
          </a:bodyPr>
          <a:lstStyle/>
          <a:p>
            <a:r>
              <a:rPr lang="en-US" altLang="zh-CN" sz="3600" dirty="0">
                <a:latin typeface="微软雅黑" panose="020B0503020204020204" charset="-122"/>
                <a:ea typeface="微软雅黑" panose="020B0503020204020204" charset="-122"/>
              </a:rPr>
              <a:t>--Dimensionality Reduction</a:t>
            </a:r>
            <a:endParaRPr lang="zh-CN" altLang="en-US" sz="3600" dirty="0">
              <a:latin typeface="微软雅黑" panose="020B0503020204020204" charset="-122"/>
              <a:ea typeface="微软雅黑" panose="020B0503020204020204" charset="-122"/>
            </a:endParaRPr>
          </a:p>
        </p:txBody>
      </p:sp>
      <p:sp>
        <p:nvSpPr>
          <p:cNvPr id="39" name="文本框 38">
            <a:extLst>
              <a:ext uri="{FF2B5EF4-FFF2-40B4-BE49-F238E27FC236}">
                <a16:creationId xmlns:a16="http://schemas.microsoft.com/office/drawing/2014/main" id="{520FB52F-4638-7519-C40F-789A300A36A4}"/>
              </a:ext>
            </a:extLst>
          </p:cNvPr>
          <p:cNvSpPr txBox="1"/>
          <p:nvPr/>
        </p:nvSpPr>
        <p:spPr>
          <a:xfrm>
            <a:off x="341015" y="1585167"/>
            <a:ext cx="5327054" cy="830997"/>
          </a:xfrm>
          <a:prstGeom prst="rect">
            <a:avLst/>
          </a:prstGeom>
          <a:noFill/>
        </p:spPr>
        <p:txBody>
          <a:bodyPr wrap="square">
            <a:spAutoFit/>
          </a:bodyPr>
          <a:lstStyle/>
          <a:p>
            <a:r>
              <a:rPr lang="zh-CN" altLang="en-US" sz="1800" kern="100" dirty="0">
                <a:effectLst/>
                <a:ea typeface="楷体" panose="02010609060101010101" charset="-122"/>
                <a:cs typeface="Times New Roman" panose="02020603050405020304" pitchFamily="18" charset="0"/>
              </a:rPr>
              <a:t>           </a:t>
            </a:r>
            <a:r>
              <a:rPr lang="zh-CN" altLang="en-US" sz="2400" kern="100" dirty="0">
                <a:effectLst/>
                <a:ea typeface="楷体" panose="02010609060101010101" charset="-122"/>
                <a:cs typeface="Times New Roman" panose="02020603050405020304" pitchFamily="18" charset="0"/>
              </a:rPr>
              <a:t>数据</a:t>
            </a:r>
            <a:r>
              <a:rPr lang="zh-CN" altLang="zh-CN" sz="2400" kern="100" dirty="0">
                <a:effectLst/>
                <a:ea typeface="楷体" panose="02010609060101010101" charset="-122"/>
                <a:cs typeface="Times New Roman" panose="02020603050405020304" pitchFamily="18" charset="0"/>
              </a:rPr>
              <a:t>降维映射函数</a:t>
            </a:r>
            <a:r>
              <a:rPr lang="en-US" altLang="zh-CN" sz="2400" kern="100" dirty="0">
                <a:effectLst/>
                <a:ea typeface="楷体" panose="02010609060101010101" charset="-122"/>
                <a:cs typeface="Times New Roman" panose="02020603050405020304" pitchFamily="18" charset="0"/>
              </a:rPr>
              <a:t> </a:t>
            </a:r>
            <a:r>
              <a:rPr lang="en-US" altLang="zh-CN" sz="2400" i="1" kern="100" dirty="0">
                <a:latin typeface="Times New Roman" panose="02020603050405020304" pitchFamily="18" charset="0"/>
                <a:ea typeface="楷体" panose="02010609060101010101" charset="-122"/>
                <a:cs typeface="Times New Roman" panose="02020603050405020304" pitchFamily="18" charset="0"/>
              </a:rPr>
              <a:t>f </a:t>
            </a:r>
            <a:r>
              <a:rPr lang="zh-CN" altLang="zh-CN" sz="2400" kern="100" dirty="0">
                <a:effectLst/>
                <a:ea typeface="楷体" panose="02010609060101010101" charset="-122"/>
                <a:cs typeface="Times New Roman" panose="02020603050405020304" pitchFamily="18" charset="0"/>
              </a:rPr>
              <a:t>定义为：</a:t>
            </a:r>
            <a:endParaRPr lang="en-US" altLang="zh-CN" sz="2400" kern="100" dirty="0">
              <a:effectLst/>
              <a:ea typeface="楷体" panose="02010609060101010101" charset="-122"/>
              <a:cs typeface="Times New Roman" panose="02020603050405020304" pitchFamily="18" charset="0"/>
            </a:endParaRPr>
          </a:p>
          <a:p>
            <a:endParaRPr lang="zh-CN" altLang="en-US" sz="2400" dirty="0"/>
          </a:p>
        </p:txBody>
      </p:sp>
      <p:sp>
        <p:nvSpPr>
          <p:cNvPr id="64" name="文本框 63">
            <a:extLst>
              <a:ext uri="{FF2B5EF4-FFF2-40B4-BE49-F238E27FC236}">
                <a16:creationId xmlns:a16="http://schemas.microsoft.com/office/drawing/2014/main" id="{FAE26DC7-E1BB-F202-25D6-CC4503BAF1C8}"/>
              </a:ext>
            </a:extLst>
          </p:cNvPr>
          <p:cNvSpPr txBox="1"/>
          <p:nvPr/>
        </p:nvSpPr>
        <p:spPr>
          <a:xfrm>
            <a:off x="628523" y="3145200"/>
            <a:ext cx="9078650" cy="1388970"/>
          </a:xfrm>
          <a:prstGeom prst="rect">
            <a:avLst/>
          </a:prstGeom>
          <a:noFill/>
        </p:spPr>
        <p:txBody>
          <a:bodyPr wrap="square" rtlCol="0">
            <a:spAutoFit/>
          </a:bodyPr>
          <a:lstStyle/>
          <a:p>
            <a:pPr>
              <a:lnSpc>
                <a:spcPct val="150000"/>
              </a:lnSpc>
            </a:pPr>
            <a:r>
              <a:rPr lang="zh-CN" altLang="zh-CN" sz="2000" kern="100" dirty="0">
                <a:effectLst/>
                <a:latin typeface="Times New Roman" panose="02020603050405020304" pitchFamily="18" charset="0"/>
                <a:ea typeface="楷体" panose="02010609060101010101" charset="-122"/>
                <a:cs typeface="Times New Roman" panose="02020603050405020304" pitchFamily="18" charset="0"/>
              </a:rPr>
              <a:t>其中，</a:t>
            </a:r>
            <a:r>
              <a:rPr lang="en-US" altLang="zh-CN" sz="2000" i="1" kern="100" dirty="0">
                <a:effectLst/>
                <a:latin typeface="Times New Roman" panose="02020603050405020304" pitchFamily="18" charset="0"/>
                <a:ea typeface="楷体" panose="02010609060101010101" charset="-122"/>
                <a:cs typeface="Times New Roman" panose="02020603050405020304" pitchFamily="18" charset="0"/>
              </a:rPr>
              <a:t>   </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为原</a:t>
            </a:r>
            <a:r>
              <a:rPr lang="zh-CN" altLang="zh-CN" sz="2000" kern="100" dirty="0">
                <a:effectLst/>
                <a:latin typeface="Times New Roman" panose="02020603050405020304" pitchFamily="18" charset="0"/>
                <a:ea typeface="楷体" panose="02010609060101010101" charset="-122"/>
                <a:cs typeface="Times New Roman" panose="02020603050405020304" pitchFamily="18" charset="0"/>
              </a:rPr>
              <a:t>始高维（</a:t>
            </a:r>
            <a:r>
              <a:rPr lang="en-US" altLang="zh-CN" sz="2000" i="1" kern="100" dirty="0">
                <a:effectLst/>
                <a:latin typeface="Times New Roman" panose="02020603050405020304" pitchFamily="18" charset="0"/>
                <a:ea typeface="楷体" panose="02010609060101010101" charset="-122"/>
              </a:rPr>
              <a:t>p</a:t>
            </a:r>
            <a:r>
              <a:rPr lang="zh-CN" altLang="zh-CN" sz="2000" kern="100" dirty="0">
                <a:effectLst/>
                <a:latin typeface="Times New Roman" panose="02020603050405020304" pitchFamily="18" charset="0"/>
                <a:ea typeface="楷体" panose="02010609060101010101" charset="-122"/>
                <a:cs typeface="Times New Roman" panose="02020603050405020304" pitchFamily="18" charset="0"/>
              </a:rPr>
              <a:t>维</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a:t>
            </a:r>
            <a:r>
              <a:rPr lang="zh-CN" altLang="zh-CN" sz="2000" kern="100" dirty="0">
                <a:effectLst/>
                <a:latin typeface="Times New Roman" panose="02020603050405020304" pitchFamily="18" charset="0"/>
                <a:ea typeface="楷体" panose="02010609060101010101" charset="-122"/>
                <a:cs typeface="Times New Roman" panose="02020603050405020304" pitchFamily="18" charset="0"/>
              </a:rPr>
              <a:t>空间</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的</a:t>
            </a:r>
            <a:r>
              <a:rPr lang="zh-CN" altLang="zh-CN" sz="2000" kern="100" dirty="0">
                <a:effectLst/>
                <a:latin typeface="Times New Roman" panose="02020603050405020304" pitchFamily="18" charset="0"/>
                <a:ea typeface="楷体" panose="02010609060101010101" charset="-122"/>
                <a:cs typeface="Times New Roman" panose="02020603050405020304" pitchFamily="18" charset="0"/>
              </a:rPr>
              <a:t>一个数据集，</a:t>
            </a:r>
            <a:r>
              <a:rPr lang="en-US" altLang="zh-CN" sz="2000" i="1" kern="100" dirty="0">
                <a:effectLst/>
                <a:latin typeface="Times New Roman" panose="02020603050405020304" pitchFamily="18" charset="0"/>
                <a:ea typeface="楷体" panose="02010609060101010101" charset="-122"/>
                <a:cs typeface="Times New Roman" panose="02020603050405020304" pitchFamily="18" charset="0"/>
              </a:rPr>
              <a:t>   </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为</a:t>
            </a:r>
            <a:r>
              <a:rPr lang="en-US" altLang="zh-CN" sz="2000" i="1" kern="100" dirty="0">
                <a:effectLst/>
                <a:latin typeface="Times New Roman" panose="02020603050405020304" pitchFamily="18" charset="0"/>
                <a:ea typeface="楷体" panose="02010609060101010101" charset="-122"/>
                <a:cs typeface="Times New Roman" panose="02020603050405020304" pitchFamily="18" charset="0"/>
              </a:rPr>
              <a:t>d</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维（</a:t>
            </a:r>
            <a:r>
              <a:rPr lang="en-US" altLang="zh-CN" sz="2000" i="1" kern="100" dirty="0">
                <a:effectLst/>
                <a:latin typeface="Times New Roman" panose="02020603050405020304" pitchFamily="18" charset="0"/>
                <a:ea typeface="楷体" panose="02010609060101010101" charset="-122"/>
                <a:cs typeface="Times New Roman" panose="02020603050405020304" pitchFamily="18" charset="0"/>
              </a:rPr>
              <a:t>d</a:t>
            </a:r>
            <a:r>
              <a:rPr lang="en-US" altLang="zh-CN" sz="2000" kern="100" dirty="0">
                <a:effectLst/>
                <a:latin typeface="Times New Roman" panose="02020603050405020304" pitchFamily="18" charset="0"/>
                <a:ea typeface="楷体" panose="02010609060101010101" charset="-122"/>
                <a:cs typeface="Times New Roman" panose="02020603050405020304" pitchFamily="18" charset="0"/>
              </a:rPr>
              <a:t>&lt;&lt;</a:t>
            </a:r>
            <a:r>
              <a:rPr lang="en-US" altLang="zh-CN" sz="2000" i="1" kern="100" dirty="0">
                <a:effectLst/>
                <a:latin typeface="Times New Roman" panose="02020603050405020304" pitchFamily="18" charset="0"/>
                <a:ea typeface="楷体" panose="02010609060101010101" charset="-122"/>
                <a:cs typeface="Times New Roman" panose="02020603050405020304" pitchFamily="18" charset="0"/>
              </a:rPr>
              <a:t>p</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）空间中的数据集，称    为</a:t>
            </a:r>
            <a:r>
              <a:rPr lang="en-US" altLang="zh-CN" sz="2000" i="1" kern="100" dirty="0">
                <a:latin typeface="Times New Roman" panose="02020603050405020304" pitchFamily="18" charset="0"/>
                <a:ea typeface="楷体" panose="02010609060101010101" charset="-122"/>
                <a:cs typeface="Times New Roman" panose="02020603050405020304" pitchFamily="18" charset="0"/>
              </a:rPr>
              <a:t>    </a:t>
            </a:r>
            <a:r>
              <a:rPr lang="zh-CN" altLang="en-US" sz="2000" kern="100" dirty="0">
                <a:effectLst/>
                <a:latin typeface="Times New Roman" panose="02020603050405020304" pitchFamily="18" charset="0"/>
                <a:ea typeface="楷体" panose="02010609060101010101" charset="-122"/>
                <a:cs typeface="Times New Roman" panose="02020603050405020304" pitchFamily="18" charset="0"/>
              </a:rPr>
              <a:t>的低维表示。</a:t>
            </a:r>
            <a:endParaRPr lang="en-US" altLang="zh-CN" sz="2000" kern="100" dirty="0">
              <a:effectLst/>
              <a:latin typeface="Times New Roman" panose="02020603050405020304" pitchFamily="18" charset="0"/>
              <a:ea typeface="楷体" panose="02010609060101010101" charset="-122"/>
              <a:cs typeface="Times New Roman" panose="02020603050405020304" pitchFamily="18" charset="0"/>
            </a:endParaRPr>
          </a:p>
          <a:p>
            <a:pPr>
              <a:lnSpc>
                <a:spcPct val="150000"/>
              </a:lnSpc>
            </a:pPr>
            <a:endParaRPr lang="zh-CN" altLang="en-US" dirty="0"/>
          </a:p>
        </p:txBody>
      </p:sp>
      <p:graphicFrame>
        <p:nvGraphicFramePr>
          <p:cNvPr id="2" name="对象 1">
            <a:extLst>
              <a:ext uri="{FF2B5EF4-FFF2-40B4-BE49-F238E27FC236}">
                <a16:creationId xmlns:a16="http://schemas.microsoft.com/office/drawing/2014/main" id="{5E97F7DC-5F7C-3F4A-752D-D58E689E2D44}"/>
              </a:ext>
            </a:extLst>
          </p:cNvPr>
          <p:cNvGraphicFramePr>
            <a:graphicFrameLocks noChangeAspect="1"/>
          </p:cNvGraphicFramePr>
          <p:nvPr>
            <p:extLst>
              <p:ext uri="{D42A27DB-BD31-4B8C-83A1-F6EECF244321}">
                <p14:modId xmlns:p14="http://schemas.microsoft.com/office/powerpoint/2010/main" val="2896531190"/>
              </p:ext>
            </p:extLst>
          </p:nvPr>
        </p:nvGraphicFramePr>
        <p:xfrm>
          <a:off x="3857436" y="2140502"/>
          <a:ext cx="2924123" cy="829229"/>
        </p:xfrm>
        <a:graphic>
          <a:graphicData uri="http://schemas.openxmlformats.org/presentationml/2006/ole">
            <mc:AlternateContent xmlns:mc="http://schemas.openxmlformats.org/markup-compatibility/2006">
              <mc:Choice xmlns:v="urn:schemas-microsoft-com:vml" Requires="v">
                <p:oleObj name="Equation" r:id="rId4" imgW="850680" imgH="241200" progId="Equation.DSMT4">
                  <p:embed/>
                </p:oleObj>
              </mc:Choice>
              <mc:Fallback>
                <p:oleObj name="Equation" r:id="rId4" imgW="850680" imgH="241200" progId="Equation.DSMT4">
                  <p:embed/>
                  <p:pic>
                    <p:nvPicPr>
                      <p:cNvPr id="0" name=""/>
                      <p:cNvPicPr/>
                      <p:nvPr/>
                    </p:nvPicPr>
                    <p:blipFill>
                      <a:blip r:embed="rId5"/>
                      <a:stretch>
                        <a:fillRect/>
                      </a:stretch>
                    </p:blipFill>
                    <p:spPr>
                      <a:xfrm>
                        <a:off x="3857436" y="2140502"/>
                        <a:ext cx="2924123" cy="829229"/>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65C123EA-CC4F-7416-D69C-4049245491FC}"/>
              </a:ext>
            </a:extLst>
          </p:cNvPr>
          <p:cNvSpPr txBox="1"/>
          <p:nvPr/>
        </p:nvSpPr>
        <p:spPr>
          <a:xfrm>
            <a:off x="628523" y="4483166"/>
            <a:ext cx="9820341" cy="1200329"/>
          </a:xfrm>
          <a:prstGeom prst="rect">
            <a:avLst/>
          </a:prstGeom>
          <a:noFill/>
        </p:spPr>
        <p:txBody>
          <a:bodyPr wrap="square">
            <a:spAutoFit/>
          </a:bodyPr>
          <a:lstStyle/>
          <a:p>
            <a:r>
              <a:rPr lang="en-US" altLang="zh-CN" sz="24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en-US" sz="2400" kern="100" dirty="0">
                <a:effectLst/>
                <a:latin typeface="楷体" panose="02010609060101010101" pitchFamily="49" charset="-122"/>
                <a:ea typeface="楷体" panose="02010609060101010101" pitchFamily="49" charset="-122"/>
                <a:cs typeface="Times New Roman" panose="02020603050405020304" pitchFamily="18" charset="0"/>
              </a:rPr>
              <a:t>例如，</a:t>
            </a:r>
            <a:r>
              <a:rPr lang="zh-CN" altLang="zh-CN" sz="2400" kern="100" dirty="0">
                <a:effectLst/>
                <a:latin typeface="楷体" panose="02010609060101010101" pitchFamily="49" charset="-122"/>
                <a:ea typeface="楷体" panose="02010609060101010101" pitchFamily="49" charset="-122"/>
                <a:cs typeface="Times New Roman" panose="02020603050405020304" pitchFamily="18" charset="0"/>
              </a:rPr>
              <a:t>在人脸识别任务中，可以通过仅保留少量能够反映人脸样本集内部信息和结构关系的特征向量，从而在减少数据量的同时保留原始图像的关键信息。</a:t>
            </a:r>
            <a:endParaRPr lang="zh-CN" altLang="en-US" sz="2400" dirty="0">
              <a:latin typeface="楷体" panose="02010609060101010101" pitchFamily="49" charset="-122"/>
              <a:ea typeface="楷体" panose="02010609060101010101" pitchFamily="49" charset="-122"/>
            </a:endParaRPr>
          </a:p>
        </p:txBody>
      </p:sp>
      <p:graphicFrame>
        <p:nvGraphicFramePr>
          <p:cNvPr id="6" name="对象 5">
            <a:extLst>
              <a:ext uri="{FF2B5EF4-FFF2-40B4-BE49-F238E27FC236}">
                <a16:creationId xmlns:a16="http://schemas.microsoft.com/office/drawing/2014/main" id="{2B98EB51-F718-A14E-7ED1-B662FD5931CE}"/>
              </a:ext>
            </a:extLst>
          </p:cNvPr>
          <p:cNvGraphicFramePr>
            <a:graphicFrameLocks noChangeAspect="1"/>
          </p:cNvGraphicFramePr>
          <p:nvPr>
            <p:extLst>
              <p:ext uri="{D42A27DB-BD31-4B8C-83A1-F6EECF244321}">
                <p14:modId xmlns:p14="http://schemas.microsoft.com/office/powerpoint/2010/main" val="3790261090"/>
              </p:ext>
            </p:extLst>
          </p:nvPr>
        </p:nvGraphicFramePr>
        <p:xfrm>
          <a:off x="1416880" y="3270779"/>
          <a:ext cx="321085" cy="361221"/>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0" name=""/>
                      <p:cNvPicPr/>
                      <p:nvPr/>
                    </p:nvPicPr>
                    <p:blipFill>
                      <a:blip r:embed="rId7"/>
                      <a:stretch>
                        <a:fillRect/>
                      </a:stretch>
                    </p:blipFill>
                    <p:spPr>
                      <a:xfrm>
                        <a:off x="1416880" y="3270779"/>
                        <a:ext cx="321085" cy="36122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E8310DA8-41DB-5BFE-D7D1-EE3A3E0770D2}"/>
              </a:ext>
            </a:extLst>
          </p:cNvPr>
          <p:cNvGraphicFramePr>
            <a:graphicFrameLocks noChangeAspect="1"/>
          </p:cNvGraphicFramePr>
          <p:nvPr>
            <p:extLst>
              <p:ext uri="{D42A27DB-BD31-4B8C-83A1-F6EECF244321}">
                <p14:modId xmlns:p14="http://schemas.microsoft.com/office/powerpoint/2010/main" val="935381817"/>
              </p:ext>
            </p:extLst>
          </p:nvPr>
        </p:nvGraphicFramePr>
        <p:xfrm>
          <a:off x="1469268" y="3721863"/>
          <a:ext cx="323198" cy="361221"/>
        </p:xfrm>
        <a:graphic>
          <a:graphicData uri="http://schemas.openxmlformats.org/presentationml/2006/ole">
            <mc:AlternateContent xmlns:mc="http://schemas.openxmlformats.org/markup-compatibility/2006">
              <mc:Choice xmlns:v="urn:schemas-microsoft-com:vml" Requires="v">
                <p:oleObj name="Equation" r:id="rId8" imgW="215640" imgH="241200" progId="Equation.DSMT4">
                  <p:embed/>
                </p:oleObj>
              </mc:Choice>
              <mc:Fallback>
                <p:oleObj name="Equation" r:id="rId8" imgW="215640" imgH="241200" progId="Equation.DSMT4">
                  <p:embed/>
                  <p:pic>
                    <p:nvPicPr>
                      <p:cNvPr id="0" name=""/>
                      <p:cNvPicPr/>
                      <p:nvPr/>
                    </p:nvPicPr>
                    <p:blipFill>
                      <a:blip r:embed="rId9"/>
                      <a:stretch>
                        <a:fillRect/>
                      </a:stretch>
                    </p:blipFill>
                    <p:spPr>
                      <a:xfrm>
                        <a:off x="1469268" y="3721863"/>
                        <a:ext cx="323198" cy="36122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49367DF-3EC1-65F7-C3EE-AE7EA0FF229E}"/>
              </a:ext>
            </a:extLst>
          </p:cNvPr>
          <p:cNvGraphicFramePr>
            <a:graphicFrameLocks noChangeAspect="1"/>
          </p:cNvGraphicFramePr>
          <p:nvPr>
            <p:extLst>
              <p:ext uri="{D42A27DB-BD31-4B8C-83A1-F6EECF244321}">
                <p14:modId xmlns:p14="http://schemas.microsoft.com/office/powerpoint/2010/main" val="4091122043"/>
              </p:ext>
            </p:extLst>
          </p:nvPr>
        </p:nvGraphicFramePr>
        <p:xfrm>
          <a:off x="5934075" y="3246438"/>
          <a:ext cx="323850" cy="361950"/>
        </p:xfrm>
        <a:graphic>
          <a:graphicData uri="http://schemas.openxmlformats.org/presentationml/2006/ole">
            <mc:AlternateContent xmlns:mc="http://schemas.openxmlformats.org/markup-compatibility/2006">
              <mc:Choice xmlns:v="urn:schemas-microsoft-com:vml" Requires="v">
                <p:oleObj name="Equation" r:id="rId10" imgW="323304" imgH="361453" progId="Equation.DSMT4">
                  <p:embed/>
                </p:oleObj>
              </mc:Choice>
              <mc:Fallback>
                <p:oleObj name="Equation" r:id="rId10" imgW="323304" imgH="361453" progId="Equation.DSMT4">
                  <p:embed/>
                  <p:pic>
                    <p:nvPicPr>
                      <p:cNvPr id="0" name=""/>
                      <p:cNvPicPr/>
                      <p:nvPr/>
                    </p:nvPicPr>
                    <p:blipFill>
                      <a:blip r:embed="rId11"/>
                      <a:stretch>
                        <a:fillRect/>
                      </a:stretch>
                    </p:blipFill>
                    <p:spPr>
                      <a:xfrm>
                        <a:off x="5934075" y="3246438"/>
                        <a:ext cx="323850" cy="36195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BF45F6B0-6885-E27F-A586-D3028FDDD37B}"/>
              </a:ext>
            </a:extLst>
          </p:cNvPr>
          <p:cNvGraphicFramePr>
            <a:graphicFrameLocks noChangeAspect="1"/>
          </p:cNvGraphicFramePr>
          <p:nvPr>
            <p:extLst>
              <p:ext uri="{D42A27DB-BD31-4B8C-83A1-F6EECF244321}">
                <p14:modId xmlns:p14="http://schemas.microsoft.com/office/powerpoint/2010/main" val="3506223210"/>
              </p:ext>
            </p:extLst>
          </p:nvPr>
        </p:nvGraphicFramePr>
        <p:xfrm>
          <a:off x="1942944" y="3721134"/>
          <a:ext cx="320675" cy="361950"/>
        </p:xfrm>
        <a:graphic>
          <a:graphicData uri="http://schemas.openxmlformats.org/presentationml/2006/ole">
            <mc:AlternateContent xmlns:mc="http://schemas.openxmlformats.org/markup-compatibility/2006">
              <mc:Choice xmlns:v="urn:schemas-microsoft-com:vml" Requires="v">
                <p:oleObj name="Equation" r:id="rId12" imgW="320064" imgH="361453" progId="Equation.DSMT4">
                  <p:embed/>
                </p:oleObj>
              </mc:Choice>
              <mc:Fallback>
                <p:oleObj name="Equation" r:id="rId12" imgW="320064" imgH="361453" progId="Equation.DSMT4">
                  <p:embed/>
                  <p:pic>
                    <p:nvPicPr>
                      <p:cNvPr id="0" name=""/>
                      <p:cNvPicPr/>
                      <p:nvPr/>
                    </p:nvPicPr>
                    <p:blipFill>
                      <a:blip r:embed="rId13"/>
                      <a:stretch>
                        <a:fillRect/>
                      </a:stretch>
                    </p:blipFill>
                    <p:spPr>
                      <a:xfrm>
                        <a:off x="1942944" y="3721134"/>
                        <a:ext cx="320675" cy="361950"/>
                      </a:xfrm>
                      <a:prstGeom prst="rect">
                        <a:avLst/>
                      </a:prstGeom>
                    </p:spPr>
                  </p:pic>
                </p:oleObj>
              </mc:Fallback>
            </mc:AlternateContent>
          </a:graphicData>
        </a:graphic>
      </p:graphicFrame>
    </p:spTree>
    <p:extLst>
      <p:ext uri="{BB962C8B-B14F-4D97-AF65-F5344CB8AC3E}">
        <p14:creationId xmlns:p14="http://schemas.microsoft.com/office/powerpoint/2010/main" val="30866767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1689</TotalTime>
  <Words>511</Words>
  <Application>Microsoft Office PowerPoint</Application>
  <PresentationFormat>宽屏</PresentationFormat>
  <Paragraphs>48</Paragraphs>
  <Slides>8</Slides>
  <Notes>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8</vt:i4>
      </vt:variant>
    </vt:vector>
  </HeadingPairs>
  <TitlesOfParts>
    <vt:vector size="18" baseType="lpstr">
      <vt:lpstr>等线</vt:lpstr>
      <vt:lpstr>华光综艺_CNKI</vt:lpstr>
      <vt:lpstr>楷体</vt:lpstr>
      <vt:lpstr>微软雅黑</vt:lpstr>
      <vt:lpstr>Arial</vt:lpstr>
      <vt:lpstr>Calibri</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wy h</dc:creator>
  <cp:lastModifiedBy>Mengning Wang</cp:lastModifiedBy>
  <cp:revision>185</cp:revision>
  <dcterms:created xsi:type="dcterms:W3CDTF">2019-06-19T02:08:00Z</dcterms:created>
  <dcterms:modified xsi:type="dcterms:W3CDTF">2025-04-18T14:29:20Z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