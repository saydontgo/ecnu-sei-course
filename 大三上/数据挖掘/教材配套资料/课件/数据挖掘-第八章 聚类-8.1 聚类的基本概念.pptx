
<file path=[Content_Types].xml><?xml version="1.0" encoding="utf-8"?>
<Types xmlns="http://schemas.openxmlformats.org/package/2006/content-types">
  <Default Extension="bin" ContentType="image/unknown"/>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notesSlides/notesSlide8.xml" ContentType="application/vnd.openxmlformats-officedocument.presentationml.notesSlide+xml"/>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embeddings/oleObject15.bin" ContentType="application/vnd.openxmlformats-officedocument.oleObject"/>
  <Override PartName="/ppt/embeddings/oleObject16.bin" ContentType="application/vnd.openxmlformats-officedocument.oleObject"/>
  <Override PartName="/ppt/notesSlides/notesSlide15.xml" ContentType="application/vnd.openxmlformats-officedocument.presentationml.notesSlide+xml"/>
  <Override PartName="/ppt/embeddings/oleObject17.bin" ContentType="application/vnd.openxmlformats-officedocument.oleObject"/>
  <Override PartName="/ppt/embeddings/oleObject18.bin" ContentType="application/vnd.openxmlformats-officedocument.oleObject"/>
  <Override PartName="/ppt/notesSlides/notesSlide16.xml" ContentType="application/vnd.openxmlformats-officedocument.presentationml.notesSlide+xml"/>
  <Override PartName="/ppt/embeddings/oleObject19.bin" ContentType="application/vnd.openxmlformats-officedocument.oleObject"/>
  <Override PartName="/ppt/embeddings/oleObject20.bin" ContentType="application/vnd.openxmlformats-officedocument.oleObject"/>
  <Override PartName="/ppt/notesSlides/notesSlide17.xml" ContentType="application/vnd.openxmlformats-officedocument.presentationml.notesSlide+xml"/>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notesSlides/notesSlide18.xml" ContentType="application/vnd.openxmlformats-officedocument.presentationml.notesSlide+xml"/>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embeddings/oleObject38.bin" ContentType="application/vnd.openxmlformats-officedocument.oleObject"/>
  <Override PartName="/ppt/embeddings/oleObject39.bin" ContentType="application/vnd.openxmlformats-officedocument.oleObject"/>
  <Override PartName="/ppt/embeddings/oleObject40.bin" ContentType="application/vnd.openxmlformats-officedocument.oleObject"/>
  <Override PartName="/ppt/notesSlides/notesSlide24.xml" ContentType="application/vnd.openxmlformats-officedocument.presentationml.notesSlide+xml"/>
  <Override PartName="/ppt/embeddings/oleObject41.bin" ContentType="application/vnd.openxmlformats-officedocument.oleObject"/>
  <Override PartName="/ppt/embeddings/oleObject42.bin" ContentType="application/vnd.openxmlformats-officedocument.oleObject"/>
  <Override PartName="/ppt/embeddings/oleObject43.bin" ContentType="application/vnd.openxmlformats-officedocument.oleObject"/>
  <Override PartName="/ppt/embeddings/oleObject44.bin" ContentType="application/vnd.openxmlformats-officedocument.oleObject"/>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15638" r:id="rId2"/>
    <p:sldId id="15514" r:id="rId3"/>
    <p:sldId id="15663" r:id="rId4"/>
    <p:sldId id="15662" r:id="rId5"/>
    <p:sldId id="15661" r:id="rId6"/>
    <p:sldId id="15665" r:id="rId7"/>
    <p:sldId id="15664" r:id="rId8"/>
    <p:sldId id="15666" r:id="rId9"/>
    <p:sldId id="15735" r:id="rId10"/>
    <p:sldId id="15667" r:id="rId11"/>
    <p:sldId id="15669" r:id="rId12"/>
    <p:sldId id="15668" r:id="rId13"/>
    <p:sldId id="15672" r:id="rId14"/>
    <p:sldId id="15673" r:id="rId15"/>
    <p:sldId id="15674" r:id="rId16"/>
    <p:sldId id="15675" r:id="rId17"/>
    <p:sldId id="15676" r:id="rId18"/>
    <p:sldId id="15677" r:id="rId19"/>
    <p:sldId id="15678" r:id="rId20"/>
    <p:sldId id="15679" r:id="rId21"/>
    <p:sldId id="15680" r:id="rId22"/>
    <p:sldId id="15681" r:id="rId23"/>
    <p:sldId id="15682" r:id="rId24"/>
    <p:sldId id="15683" r:id="rId25"/>
    <p:sldId id="15684" r:id="rId26"/>
    <p:sldId id="15502"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4" userDrawn="1">
          <p15:clr>
            <a:srgbClr val="A4A3A4"/>
          </p15:clr>
        </p15:guide>
        <p15:guide id="2" pos="387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7" autoAdjust="0"/>
    <p:restoredTop sz="76549" autoAdjust="0"/>
  </p:normalViewPr>
  <p:slideViewPr>
    <p:cSldViewPr snapToGrid="0" showGuides="1">
      <p:cViewPr varScale="1">
        <p:scale>
          <a:sx n="91" d="100"/>
          <a:sy n="91" d="100"/>
        </p:scale>
        <p:origin x="163" y="77"/>
      </p:cViewPr>
      <p:guideLst>
        <p:guide orient="horz" pos="2134"/>
        <p:guide pos="387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extLst>
      <p:ext uri="{BB962C8B-B14F-4D97-AF65-F5344CB8AC3E}">
        <p14:creationId xmlns:p14="http://schemas.microsoft.com/office/powerpoint/2010/main" val="4004672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u="sng" dirty="0"/>
              <a:t>聚类算法在实际中应用非常广泛。在市场营销中，聚类可以将消费者细分为具有相似购买习惯、兴趣和行为的组别，协助企业更好地挖掘目标受众，制定营销策略，从而提升广告效果，并更有效地满足不同群体的消费需求。</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28983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1F4-DF6C-B43F-E6E6-27E858C319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27C9F2-21C5-0C34-C8CC-F59A041C26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618550A-4961-C4EC-89B8-5BBFAD8F38B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u="sng" dirty="0"/>
              <a:t>聚类算法在实际中应用非常广泛。在市场营销中，聚类可以将消费者细分为具有相似购买习惯、兴趣和行为的组别，协助企业更好地挖掘目标受众，制定营销策略，从而提升广告效果，并更有效地满足不同群体的消费需求。</a:t>
            </a:r>
          </a:p>
        </p:txBody>
      </p:sp>
      <p:sp>
        <p:nvSpPr>
          <p:cNvPr id="4" name="灯片编号占位符 3">
            <a:extLst>
              <a:ext uri="{FF2B5EF4-FFF2-40B4-BE49-F238E27FC236}">
                <a16:creationId xmlns:a16="http://schemas.microsoft.com/office/drawing/2014/main" id="{69728108-6B88-EF80-C4BE-434B58B904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70144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A41FB-99CD-B1E4-2AE2-B95B712F59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5D070A-B78B-6E1D-4F07-B46B383048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C19CE70-78D2-D0B3-FA1D-0AFE7750DE6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u="sng" dirty="0"/>
              <a:t>聚类算法在实际中应用非常广泛。在市场营销中，聚类可以将消费者细分为具有相似购买习惯、兴趣和行为的组别，协助企业更好地挖掘目标受众，制定营销策略，从而提升广告效果，并更有效地满足不同群体的消费需求。</a:t>
            </a:r>
          </a:p>
        </p:txBody>
      </p:sp>
      <p:sp>
        <p:nvSpPr>
          <p:cNvPr id="4" name="灯片编号占位符 3">
            <a:extLst>
              <a:ext uri="{FF2B5EF4-FFF2-40B4-BE49-F238E27FC236}">
                <a16:creationId xmlns:a16="http://schemas.microsoft.com/office/drawing/2014/main" id="{C07E5267-0846-2BAA-1B7C-C67C17ADF4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710709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C1B04-7F3E-1AA8-5D14-C16A4788FC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23FA67C-0BFD-DE07-97BE-1B1C5E1421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C9C099B-B02B-0894-1ECD-FFD806F31F1E}"/>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800" dirty="0"/>
              <a:t>Moody</a:t>
            </a:r>
            <a:r>
              <a:rPr lang="zh-CN" altLang="en-US" sz="1800" dirty="0"/>
              <a:t>对这个网络的其他节点属性进行分析，也得到相似的结论。比如按照学生的肤色进行着色的话，白种人和黑种人之间就只存在很少连边，而他们内部则联系非常紧密，这就形成了按照肤色的同质性非常强的社交网络。这里我们还能发现，着红色的节点，也就是其他肤色的人群混合性较强，在与他人建立好友联系时，没有特别明显的倾向性。</a:t>
            </a:r>
            <a:endParaRPr lang="en-US" altLang="zh-CN" sz="1800" dirty="0"/>
          </a:p>
        </p:txBody>
      </p:sp>
      <p:sp>
        <p:nvSpPr>
          <p:cNvPr id="4" name="灯片编号占位符 3">
            <a:extLst>
              <a:ext uri="{FF2B5EF4-FFF2-40B4-BE49-F238E27FC236}">
                <a16:creationId xmlns:a16="http://schemas.microsoft.com/office/drawing/2014/main" id="{85CE4F5F-BF34-095D-15BE-12706DCB3E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971031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78204-53FD-AE53-AE9B-EB96E869A5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45E25D-14A1-F916-1914-AEEECCF078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C857399-0D42-3F72-03B3-36CF8D741E70}"/>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BCE20DEA-585B-E9E6-F825-3ABFD8EAC9F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783869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83D1E-E4A2-6498-B901-71AAA4C23A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CF74D0-2AD6-91E2-EE02-C3F42FE9BD0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D5E895-AD61-1C86-DB8D-8391F03B4E2A}"/>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800" dirty="0"/>
              <a:t>Moody</a:t>
            </a:r>
            <a:r>
              <a:rPr lang="zh-CN" altLang="en-US" sz="1800" dirty="0"/>
              <a:t>对这个网络的其他节点属性进行分析，也得到相似的结论。比如按照学生的肤色进行着色的话，白种人和黑种人之间就只存在很少连边，而他们内部则联系非常紧密，这就形成了按照肤色的同质性非常强的社交网络。这里我们还能发现，着红色的节点，也就是其他肤色的人群混合性较强，在与他人建立好友联系时，没有特别明显的倾向性。</a:t>
            </a:r>
            <a:endParaRPr lang="en-US" altLang="zh-CN" sz="1800" dirty="0"/>
          </a:p>
        </p:txBody>
      </p:sp>
      <p:sp>
        <p:nvSpPr>
          <p:cNvPr id="4" name="灯片编号占位符 3">
            <a:extLst>
              <a:ext uri="{FF2B5EF4-FFF2-40B4-BE49-F238E27FC236}">
                <a16:creationId xmlns:a16="http://schemas.microsoft.com/office/drawing/2014/main" id="{C2EECDA6-1497-80D3-B8A9-5983995BBE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04772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B6591-4350-667E-0F4D-EE62CB4B44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B8CF39-2FE2-031C-0499-1CFE906FBF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B314FF-3F73-A63E-FE94-33E0CCF358F7}"/>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585F8082-A477-6B99-C739-09414BE319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95575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35BB4-66CF-E315-8469-625CE3ADA5C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7B8773-B10C-0A67-4188-22F12088CF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5EC14D-9392-2596-521D-D2E32C87D72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D13BE07-47FE-681A-9363-6F1A06919BD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102971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D6201-925D-8BD0-E566-50A4374262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C3F40F-9C66-3FEB-9F09-ACC7CD3D93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0A7AF6-A8EB-D07F-EC94-025015BBB919}"/>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800" dirty="0"/>
              <a:t>聚类算法依据其内在机制可划分为六大类：基于划分的聚类、基于层次的聚类、基于密度的聚类、基于网格的聚类、基于模型的聚类以及基于图的聚类算法。进一步地，根据聚类结果是否允许簇间存在重叠，聚类算法又可分为软聚类与硬聚类两种类别。</a:t>
            </a:r>
            <a:endParaRPr lang="en-US" altLang="zh-CN" sz="1800" dirty="0"/>
          </a:p>
        </p:txBody>
      </p:sp>
      <p:sp>
        <p:nvSpPr>
          <p:cNvPr id="4" name="灯片编号占位符 3">
            <a:extLst>
              <a:ext uri="{FF2B5EF4-FFF2-40B4-BE49-F238E27FC236}">
                <a16:creationId xmlns:a16="http://schemas.microsoft.com/office/drawing/2014/main" id="{2AD1BD87-A512-391E-940B-237BBD8F00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56298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1A6EF-0BF6-FB20-1C92-8D3590AF34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3D562AC-CB5B-44E2-9346-A47EEED988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3049CCF-45BB-F153-2E8B-0EDC7CAF1107}"/>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22FA5BD1-0A31-E4D7-3147-27B1B3CB18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088073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5356B-F15C-6866-7E38-F9866FEF0A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FAFD47-4E71-1F61-E089-C70B1DF05EE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847564-159C-A6AD-66DC-163448A8B398}"/>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800" dirty="0"/>
              <a:t>图中展示了层次聚类、</a:t>
            </a:r>
            <a:r>
              <a:rPr lang="en-US" altLang="zh-CN" sz="1800" dirty="0"/>
              <a:t>K-means</a:t>
            </a:r>
            <a:r>
              <a:rPr lang="zh-CN" altLang="en-US" sz="1800" dirty="0"/>
              <a:t>聚类、高斯混合聚类、</a:t>
            </a:r>
            <a:r>
              <a:rPr lang="en-US" altLang="zh-CN" sz="1800" dirty="0"/>
              <a:t>DBSCAN</a:t>
            </a:r>
            <a:r>
              <a:rPr lang="zh-CN" altLang="en-US" sz="1800" dirty="0"/>
              <a:t>聚类、</a:t>
            </a:r>
            <a:r>
              <a:rPr lang="en-US" altLang="zh-CN" sz="1800" dirty="0"/>
              <a:t>OPTICS</a:t>
            </a:r>
            <a:r>
              <a:rPr lang="zh-CN" altLang="en-US" sz="1800" dirty="0"/>
              <a:t>聚类和谱聚类在不同数据集上的聚类结果，图片右下角标注了算法的运行时间，可以观察到不同聚类算法在各类数据集上的聚类结果和运行时间有很大差异，后续将对这些聚类算法的原理进行详细介绍。</a:t>
            </a:r>
            <a:endParaRPr lang="en-US" altLang="zh-CN" sz="1800" dirty="0"/>
          </a:p>
        </p:txBody>
      </p:sp>
      <p:sp>
        <p:nvSpPr>
          <p:cNvPr id="4" name="灯片编号占位符 3">
            <a:extLst>
              <a:ext uri="{FF2B5EF4-FFF2-40B4-BE49-F238E27FC236}">
                <a16:creationId xmlns:a16="http://schemas.microsoft.com/office/drawing/2014/main" id="{D2160BE1-721F-B47B-79DD-518418359F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65350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077A7-DDA6-9473-F970-5A01FEBA64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13A132-CF74-6378-1D0A-ED12971559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630AEC-13EF-F01A-18A0-3E210CD82CBC}"/>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800" dirty="0"/>
              <a:t>一个效果好的聚类算法，其聚类结果需满足“内部聚合，外部分离”的要求，即能够将相似数据划分为同一个簇，相异样本划分到不同的簇。当数据集具有真实的类别标签时，可以通过比较聚类结果与类别标签进行聚类算法的性能评价，常用的评价指标包括列联矩阵、成对混淆矩阵、兰德系数等，此类指标统称为外部指标。</a:t>
            </a:r>
            <a:endParaRPr lang="en-US" altLang="zh-CN" sz="1800" dirty="0"/>
          </a:p>
        </p:txBody>
      </p:sp>
      <p:sp>
        <p:nvSpPr>
          <p:cNvPr id="4" name="灯片编号占位符 3">
            <a:extLst>
              <a:ext uri="{FF2B5EF4-FFF2-40B4-BE49-F238E27FC236}">
                <a16:creationId xmlns:a16="http://schemas.microsoft.com/office/drawing/2014/main" id="{209B230C-4A81-5233-1760-1D61177233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160568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E100-E38E-4B3A-59B0-3222BBD191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7B4147-ACD7-2EF7-875C-CC221DB3E2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34D5528-51A8-87B0-EF74-8D6ED242ED5F}"/>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237F67F6-9DA2-0159-3B90-2EFF76A5D1E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36653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AB20C-4294-7BAE-F4A4-ABA1E18A28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E7619E-97F6-CB23-0074-3B2C72460E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E26E8AC-847B-B305-181F-D51DE03ED0A3}"/>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D1F9220F-9B03-32FB-352C-CD7F818D40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267635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1CFDB-8E23-462A-E27E-58839BF7797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445741-4484-A0AA-B77D-E0523C64B48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C1241D1-6049-1521-84B0-1DB83D033CA6}"/>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800" dirty="0"/>
              <a:t>内部指标不依赖外部标签，仅通过簇内相似度和簇间相异度的计算对聚类结果进行度量，从而达到评估聚类算法的目的。</a:t>
            </a:r>
            <a:endParaRPr lang="en-US" altLang="zh-CN" sz="1800" dirty="0"/>
          </a:p>
        </p:txBody>
      </p:sp>
      <p:sp>
        <p:nvSpPr>
          <p:cNvPr id="4" name="灯片编号占位符 3">
            <a:extLst>
              <a:ext uri="{FF2B5EF4-FFF2-40B4-BE49-F238E27FC236}">
                <a16:creationId xmlns:a16="http://schemas.microsoft.com/office/drawing/2014/main" id="{0485EAA4-8668-E693-A271-3CD2D918B9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003161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F2E83-62FD-D619-BB5C-F71E33AA96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4F86B8-101A-19EA-B436-4D9F06471A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4A5EB62-52E1-4175-752F-19E21F4782B4}"/>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782ADA05-6C6D-2555-558F-BC9BA89940E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538920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5D4D6-6A9F-B577-E957-384C9E6D7D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BC9B41-FAE9-6E7D-D6E3-0C6F005E596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1AF796-D848-8466-1893-38E4E4E15D26}"/>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7C288D8D-599C-17A4-CE4E-75F2F4248E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39414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5C450-607E-BE55-5EA8-1701652BA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91567B3-A728-94CA-3B89-B30CC01B78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9036BD-7059-D7E0-EAD6-B9DEFFE07A58}"/>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09B0EFC2-9477-0E26-E19D-698EBFC3B4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090598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47574-81CD-68F1-DE0A-3AB14879CC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B538E1-7C21-5B5D-ED53-97E7B6A440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ECB6078-7C82-BE62-7869-5E4B9A442C1B}"/>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7FBC7E8F-57AD-E9F6-904C-CAECE89451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037719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E941C-F77A-7503-2E9B-EE13F7FB56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1AA682-1CFA-F6AF-F2F0-C03F0396FFB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0F3692-1AB6-AFFB-DEAD-CBEAAA417532}"/>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2CE5F5BD-E924-B4AC-04C6-08CC392BD7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046082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C39D6-82C2-B0A7-CA62-F0923F58293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33179A-1485-46BD-67F9-5EA752DB2F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81F57B-D8F4-CA1A-DD7C-DC2979FA0D8E}"/>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F8309969-8B2F-C54A-1F0E-0929A63DE5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572315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1D8D8-EDA2-42D1-B100-A1F4D58222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0BE8E2-6E88-D40F-2FB3-76A1D879C2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FA7CF1-6010-61E9-B4D8-E69CB40B92B2}"/>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p>
        </p:txBody>
      </p:sp>
      <p:sp>
        <p:nvSpPr>
          <p:cNvPr id="4" name="灯片编号占位符 3">
            <a:extLst>
              <a:ext uri="{FF2B5EF4-FFF2-40B4-BE49-F238E27FC236}">
                <a16:creationId xmlns:a16="http://schemas.microsoft.com/office/drawing/2014/main" id="{3D195D6F-F02B-3C72-4E45-D076730A20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588291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839F2-B500-D84B-75A8-8A06571EE0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B977DA-0578-7FF9-9D9E-1B8E895B265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3B98A9-4FC6-2F0F-D6EC-70DE93939C01}"/>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800" dirty="0"/>
              <a:t>如图所示，当簇数量为</a:t>
            </a:r>
            <a:r>
              <a:rPr lang="en-US" altLang="zh-CN" sz="1800" dirty="0"/>
              <a:t>4</a:t>
            </a:r>
            <a:r>
              <a:rPr lang="zh-CN" altLang="en-US" sz="1800" dirty="0"/>
              <a:t>时（图中红色标记点），簇内距离平方和的下降速率显著变缓，因此将数据集划分为</a:t>
            </a:r>
            <a:r>
              <a:rPr lang="en-US" altLang="zh-CN" sz="1800" dirty="0"/>
              <a:t>4</a:t>
            </a:r>
            <a:r>
              <a:rPr lang="zh-CN" altLang="en-US" sz="1800" dirty="0"/>
              <a:t>个簇是较为合理的。</a:t>
            </a:r>
            <a:endParaRPr lang="en-US" altLang="zh-CN" sz="1800" dirty="0"/>
          </a:p>
        </p:txBody>
      </p:sp>
      <p:sp>
        <p:nvSpPr>
          <p:cNvPr id="4" name="灯片编号占位符 3">
            <a:extLst>
              <a:ext uri="{FF2B5EF4-FFF2-40B4-BE49-F238E27FC236}">
                <a16:creationId xmlns:a16="http://schemas.microsoft.com/office/drawing/2014/main" id="{9736E35F-E109-A687-939C-C68B689AFE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707688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A621A-A3F7-FA32-778C-AAE9E04281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AFB10E-8F8F-CCAD-37FA-03F474EFC6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AE991A3-53B7-B9B2-5C16-A541A3F25E93}"/>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800" dirty="0"/>
              <a:t>如图所示，当簇数量为</a:t>
            </a:r>
            <a:r>
              <a:rPr lang="en-US" altLang="zh-CN" sz="1800" dirty="0"/>
              <a:t>4</a:t>
            </a:r>
            <a:r>
              <a:rPr lang="zh-CN" altLang="en-US" sz="1800" dirty="0"/>
              <a:t>时（图中红色标记点），轮廓系数达到最大值，这也与肘部法则得到的结果是一致的。</a:t>
            </a:r>
            <a:endParaRPr lang="en-US" altLang="zh-CN" sz="1800" dirty="0"/>
          </a:p>
        </p:txBody>
      </p:sp>
      <p:sp>
        <p:nvSpPr>
          <p:cNvPr id="4" name="灯片编号占位符 3">
            <a:extLst>
              <a:ext uri="{FF2B5EF4-FFF2-40B4-BE49-F238E27FC236}">
                <a16:creationId xmlns:a16="http://schemas.microsoft.com/office/drawing/2014/main" id="{76FA46B0-1498-01F5-0EB5-6556CF3466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852904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charset="-122"/>
              <a:ea typeface="微软雅黑" panose="020B050302020402020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l="8455"/>
          <a:stretch>
            <a:fillRect/>
          </a:stretch>
        </p:blipFill>
        <p:spPr>
          <a:xfrm>
            <a:off x="916640" y="227763"/>
            <a:ext cx="11161059" cy="603504"/>
          </a:xfrm>
          <a:prstGeom prst="rect">
            <a:avLst/>
          </a:prstGeom>
        </p:spPr>
      </p:pic>
      <p:pic>
        <p:nvPicPr>
          <p:cNvPr id="3" name="Picture 2" descr="A logo with dots and lines&#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12192000" cy="1014998"/>
          </a:xfrm>
          <a:prstGeom prst="rect">
            <a:avLst/>
          </a:prstGeom>
        </p:spPr>
      </p:pic>
      <p:sp>
        <p:nvSpPr>
          <p:cNvPr id="2" name="Rectangle 1"/>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二、主要工作</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三、总结展望</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结束语</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7" name="Picture 4" descr="D:\works\工作\周琴\56-2019-大数据与复杂网络\模板设计\内页.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77" y="0"/>
            <a:ext cx="12192000" cy="68600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15 June, 2011</a:t>
            </a:r>
            <a:endParaRPr lang="en-GB" dirty="0">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IHCAR</a:t>
            </a:r>
            <a:endParaRPr lang="en-GB"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25446203-2B80-4CBC-A257-89A48550B42A}" type="slidenum">
              <a:rPr lang="en-GB" smtClean="0">
                <a:solidFill>
                  <a:prstClr val="black">
                    <a:tint val="75000"/>
                  </a:prstClr>
                </a:solidFill>
              </a:rPr>
              <a:t>‹#›</a:t>
            </a:fld>
            <a:endParaRPr lang="en-GB" dirty="0">
              <a:solidFill>
                <a:prstClr val="black">
                  <a:tint val="75000"/>
                </a:prst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grpSp>
        <p:nvGrpSpPr>
          <p:cNvPr id="2" name="组合 1"/>
          <p:cNvGrpSpPr/>
          <p:nvPr userDrawn="1"/>
        </p:nvGrpSpPr>
        <p:grpSpPr>
          <a:xfrm>
            <a:off x="375374" y="1"/>
            <a:ext cx="140967" cy="962147"/>
            <a:chOff x="281524" y="0"/>
            <a:chExt cx="105725" cy="721610"/>
          </a:xfrm>
          <a:solidFill>
            <a:srgbClr val="1A7BAE"/>
          </a:solidFill>
        </p:grpSpPr>
        <p:sp>
          <p:nvSpPr>
            <p:cNvPr id="5" name="矩形 4"/>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sp>
          <p:nvSpPr>
            <p:cNvPr id="6" name="矩形 5"/>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grpSp>
      <p:grpSp>
        <p:nvGrpSpPr>
          <p:cNvPr id="7" name="组合 6"/>
          <p:cNvGrpSpPr/>
          <p:nvPr userDrawn="1"/>
        </p:nvGrpSpPr>
        <p:grpSpPr>
          <a:xfrm rot="10800000">
            <a:off x="11735683" y="6617464"/>
            <a:ext cx="140967" cy="240536"/>
            <a:chOff x="281524" y="0"/>
            <a:chExt cx="105725" cy="721610"/>
          </a:xfrm>
          <a:solidFill>
            <a:srgbClr val="1A7BAE"/>
          </a:solidFill>
        </p:grpSpPr>
        <p:sp>
          <p:nvSpPr>
            <p:cNvPr id="10" name="矩形 9"/>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sp>
          <p:nvSpPr>
            <p:cNvPr id="11" name="矩形 10"/>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bin"/></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23.w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22.wmf"/><Relationship Id="rId4" Type="http://schemas.openxmlformats.org/officeDocument/2006/relationships/image" Target="../media/image19.wmf"/><Relationship Id="rId9"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8" Type="http://schemas.openxmlformats.org/officeDocument/2006/relationships/image" Target="../media/image26.wmf"/><Relationship Id="rId13" Type="http://schemas.openxmlformats.org/officeDocument/2006/relationships/oleObject" Target="../embeddings/oleObject11.bin"/><Relationship Id="rId18" Type="http://schemas.openxmlformats.org/officeDocument/2006/relationships/image" Target="../media/image31.wmf"/><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28.wmf"/><Relationship Id="rId17" Type="http://schemas.openxmlformats.org/officeDocument/2006/relationships/oleObject" Target="../embeddings/oleObject13.bin"/><Relationship Id="rId2" Type="http://schemas.openxmlformats.org/officeDocument/2006/relationships/notesSlide" Target="../notesSlides/notesSlide8.xml"/><Relationship Id="rId16" Type="http://schemas.openxmlformats.org/officeDocument/2006/relationships/image" Target="../media/image30.wmf"/><Relationship Id="rId20" Type="http://schemas.openxmlformats.org/officeDocument/2006/relationships/image" Target="../media/image32.wmf"/><Relationship Id="rId1" Type="http://schemas.openxmlformats.org/officeDocument/2006/relationships/slideLayout" Target="../slideLayouts/slideLayout2.xml"/><Relationship Id="rId6" Type="http://schemas.openxmlformats.org/officeDocument/2006/relationships/image" Target="../media/image25.wmf"/><Relationship Id="rId11" Type="http://schemas.openxmlformats.org/officeDocument/2006/relationships/oleObject" Target="../embeddings/oleObject10.bin"/><Relationship Id="rId5" Type="http://schemas.openxmlformats.org/officeDocument/2006/relationships/oleObject" Target="../embeddings/oleObject7.bin"/><Relationship Id="rId15" Type="http://schemas.openxmlformats.org/officeDocument/2006/relationships/oleObject" Target="../embeddings/oleObject12.bin"/><Relationship Id="rId10" Type="http://schemas.openxmlformats.org/officeDocument/2006/relationships/image" Target="../media/image27.wmf"/><Relationship Id="rId19" Type="http://schemas.openxmlformats.org/officeDocument/2006/relationships/oleObject" Target="../embeddings/oleObject14.bin"/><Relationship Id="rId4" Type="http://schemas.openxmlformats.org/officeDocument/2006/relationships/image" Target="../media/image24.wmf"/><Relationship Id="rId9" Type="http://schemas.openxmlformats.org/officeDocument/2006/relationships/oleObject" Target="../embeddings/oleObject9.bin"/><Relationship Id="rId14" Type="http://schemas.openxmlformats.org/officeDocument/2006/relationships/image" Target="../media/image29.wmf"/></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7.sv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0.wmf"/><Relationship Id="rId5" Type="http://schemas.openxmlformats.org/officeDocument/2006/relationships/oleObject" Target="../embeddings/oleObject16.bin"/><Relationship Id="rId4" Type="http://schemas.openxmlformats.org/officeDocument/2006/relationships/image" Target="../media/image39.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oleObject" Target="../embeddings/oleObject18.bin"/><Relationship Id="rId4" Type="http://schemas.openxmlformats.org/officeDocument/2006/relationships/image" Target="../media/image41.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4.wmf"/><Relationship Id="rId5" Type="http://schemas.openxmlformats.org/officeDocument/2006/relationships/oleObject" Target="../embeddings/oleObject20.bin"/><Relationship Id="rId4" Type="http://schemas.openxmlformats.org/officeDocument/2006/relationships/image" Target="../media/image43.wmf"/></Relationships>
</file>

<file path=ppt/slides/_rels/slide17.xml.rels><?xml version="1.0" encoding="UTF-8" standalone="yes"?>
<Relationships xmlns="http://schemas.openxmlformats.org/package/2006/relationships"><Relationship Id="rId8" Type="http://schemas.openxmlformats.org/officeDocument/2006/relationships/image" Target="../media/image47.wmf"/><Relationship Id="rId13" Type="http://schemas.openxmlformats.org/officeDocument/2006/relationships/oleObject" Target="../embeddings/oleObject26.bin"/><Relationship Id="rId18" Type="http://schemas.openxmlformats.org/officeDocument/2006/relationships/image" Target="../media/image52.wmf"/><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49.wmf"/><Relationship Id="rId17" Type="http://schemas.openxmlformats.org/officeDocument/2006/relationships/oleObject" Target="../embeddings/oleObject28.bin"/><Relationship Id="rId2" Type="http://schemas.openxmlformats.org/officeDocument/2006/relationships/notesSlide" Target="../notesSlides/notesSlide17.xml"/><Relationship Id="rId16" Type="http://schemas.openxmlformats.org/officeDocument/2006/relationships/image" Target="../media/image51.wmf"/><Relationship Id="rId20" Type="http://schemas.openxmlformats.org/officeDocument/2006/relationships/image" Target="../media/image53.wmf"/><Relationship Id="rId1" Type="http://schemas.openxmlformats.org/officeDocument/2006/relationships/slideLayout" Target="../slideLayouts/slideLayout2.xml"/><Relationship Id="rId6" Type="http://schemas.openxmlformats.org/officeDocument/2006/relationships/image" Target="../media/image46.wmf"/><Relationship Id="rId11" Type="http://schemas.openxmlformats.org/officeDocument/2006/relationships/oleObject" Target="../embeddings/oleObject25.bin"/><Relationship Id="rId5" Type="http://schemas.openxmlformats.org/officeDocument/2006/relationships/oleObject" Target="../embeddings/oleObject22.bin"/><Relationship Id="rId15" Type="http://schemas.openxmlformats.org/officeDocument/2006/relationships/oleObject" Target="../embeddings/oleObject27.bin"/><Relationship Id="rId10" Type="http://schemas.openxmlformats.org/officeDocument/2006/relationships/image" Target="../media/image48.wmf"/><Relationship Id="rId19" Type="http://schemas.openxmlformats.org/officeDocument/2006/relationships/oleObject" Target="../embeddings/oleObject29.bin"/><Relationship Id="rId4" Type="http://schemas.openxmlformats.org/officeDocument/2006/relationships/image" Target="../media/image45.wmf"/><Relationship Id="rId9" Type="http://schemas.openxmlformats.org/officeDocument/2006/relationships/oleObject" Target="../embeddings/oleObject24.bin"/><Relationship Id="rId14" Type="http://schemas.openxmlformats.org/officeDocument/2006/relationships/image" Target="../media/image50.wmf"/></Relationships>
</file>

<file path=ppt/slides/_rels/slide18.xml.rels><?xml version="1.0" encoding="UTF-8" standalone="yes"?>
<Relationships xmlns="http://schemas.openxmlformats.org/package/2006/relationships"><Relationship Id="rId8" Type="http://schemas.openxmlformats.org/officeDocument/2006/relationships/image" Target="../media/image55.wmf"/><Relationship Id="rId13" Type="http://schemas.openxmlformats.org/officeDocument/2006/relationships/oleObject" Target="../embeddings/oleObject34.bin"/><Relationship Id="rId18" Type="http://schemas.openxmlformats.org/officeDocument/2006/relationships/image" Target="../media/image60.wmf"/><Relationship Id="rId3" Type="http://schemas.openxmlformats.org/officeDocument/2006/relationships/oleObject" Target="../embeddings/oleObject29.bin"/><Relationship Id="rId7" Type="http://schemas.openxmlformats.org/officeDocument/2006/relationships/oleObject" Target="../embeddings/oleObject31.bin"/><Relationship Id="rId12" Type="http://schemas.openxmlformats.org/officeDocument/2006/relationships/image" Target="../media/image57.wmf"/><Relationship Id="rId17" Type="http://schemas.openxmlformats.org/officeDocument/2006/relationships/oleObject" Target="../embeddings/oleObject36.bin"/><Relationship Id="rId2" Type="http://schemas.openxmlformats.org/officeDocument/2006/relationships/notesSlide" Target="../notesSlides/notesSlide18.xml"/><Relationship Id="rId16" Type="http://schemas.openxmlformats.org/officeDocument/2006/relationships/image" Target="../media/image59.wmf"/><Relationship Id="rId20" Type="http://schemas.openxmlformats.org/officeDocument/2006/relationships/image" Target="../media/image61.wmf"/><Relationship Id="rId1" Type="http://schemas.openxmlformats.org/officeDocument/2006/relationships/slideLayout" Target="../slideLayouts/slideLayout2.xml"/><Relationship Id="rId6" Type="http://schemas.openxmlformats.org/officeDocument/2006/relationships/image" Target="../media/image54.wmf"/><Relationship Id="rId11" Type="http://schemas.openxmlformats.org/officeDocument/2006/relationships/oleObject" Target="../embeddings/oleObject33.bin"/><Relationship Id="rId5" Type="http://schemas.openxmlformats.org/officeDocument/2006/relationships/oleObject" Target="../embeddings/oleObject30.bin"/><Relationship Id="rId15" Type="http://schemas.openxmlformats.org/officeDocument/2006/relationships/oleObject" Target="../embeddings/oleObject35.bin"/><Relationship Id="rId10" Type="http://schemas.openxmlformats.org/officeDocument/2006/relationships/image" Target="../media/image56.wmf"/><Relationship Id="rId19" Type="http://schemas.openxmlformats.org/officeDocument/2006/relationships/oleObject" Target="../embeddings/oleObject37.bin"/><Relationship Id="rId4" Type="http://schemas.openxmlformats.org/officeDocument/2006/relationships/image" Target="../media/image53.wmf"/><Relationship Id="rId9" Type="http://schemas.openxmlformats.org/officeDocument/2006/relationships/oleObject" Target="../embeddings/oleObject32.bin"/><Relationship Id="rId14" Type="http://schemas.openxmlformats.org/officeDocument/2006/relationships/image" Target="../media/image58.wmf"/></Relationships>
</file>

<file path=ppt/slides/_rels/slide19.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64.svg"/><Relationship Id="rId4" Type="http://schemas.openxmlformats.org/officeDocument/2006/relationships/image" Target="../media/image63.png"/></Relationships>
</file>

<file path=ppt/slides/_rels/slide20.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6.emf"/></Relationships>
</file>

<file path=ppt/slides/_rels/slide21.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8.emf"/></Relationships>
</file>

<file path=ppt/slides/_rels/slide2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71.wmf"/><Relationship Id="rId5" Type="http://schemas.openxmlformats.org/officeDocument/2006/relationships/oleObject" Target="../embeddings/oleObject39.bin"/><Relationship Id="rId4" Type="http://schemas.openxmlformats.org/officeDocument/2006/relationships/image" Target="../media/image70.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image" Target="../media/image73.emf"/><Relationship Id="rId7" Type="http://schemas.openxmlformats.org/officeDocument/2006/relationships/image" Target="../media/image75.wmf"/><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oleObject" Target="../embeddings/oleObject42.bin"/><Relationship Id="rId11" Type="http://schemas.openxmlformats.org/officeDocument/2006/relationships/image" Target="../media/image76.wmf"/><Relationship Id="rId5" Type="http://schemas.openxmlformats.org/officeDocument/2006/relationships/image" Target="../media/image74.wmf"/><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60.wmf"/></Relationships>
</file>

<file path=ppt/slides/_rels/slide25.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F8D0B-5064-2AF9-7424-3F1097559ACE}"/>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8.1</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聚类的基本概念</a:t>
            </a:r>
          </a:p>
        </p:txBody>
      </p:sp>
    </p:spTree>
    <p:extLst>
      <p:ext uri="{BB962C8B-B14F-4D97-AF65-F5344CB8AC3E}">
        <p14:creationId xmlns:p14="http://schemas.microsoft.com/office/powerpoint/2010/main" val="38309531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a:extLst>
              <a:ext uri="{FF2B5EF4-FFF2-40B4-BE49-F238E27FC236}">
                <a16:creationId xmlns:a16="http://schemas.microsoft.com/office/drawing/2014/main" id="{6B38C06D-19C3-6A22-3002-80727C8B799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A50F8020-56C5-F29C-AEEC-18E15E852570}"/>
              </a:ext>
            </a:extLst>
          </p:cNvPr>
          <p:cNvSpPr/>
          <p:nvPr/>
        </p:nvSpPr>
        <p:spPr>
          <a:xfrm>
            <a:off x="166155" y="976588"/>
            <a:ext cx="4118614"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为什么需要聚类？</a:t>
            </a:r>
          </a:p>
        </p:txBody>
      </p:sp>
      <p:sp>
        <p:nvSpPr>
          <p:cNvPr id="7" name="箭头: 五边形 11">
            <a:extLst>
              <a:ext uri="{FF2B5EF4-FFF2-40B4-BE49-F238E27FC236}">
                <a16:creationId xmlns:a16="http://schemas.microsoft.com/office/drawing/2014/main" id="{A5E757CE-76B2-19ED-36C1-2E1B8B51116E}"/>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1.1</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151" name="矩形: 圆角 55">
            <a:extLst>
              <a:ext uri="{FF2B5EF4-FFF2-40B4-BE49-F238E27FC236}">
                <a16:creationId xmlns:a16="http://schemas.microsoft.com/office/drawing/2014/main" id="{B255021A-6CD7-B531-6635-CD81093D31BA}"/>
              </a:ext>
            </a:extLst>
          </p:cNvPr>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市场营销</a:t>
            </a:r>
          </a:p>
        </p:txBody>
      </p:sp>
      <p:sp>
        <p:nvSpPr>
          <p:cNvPr id="156" name="Rectangle 2">
            <a:extLst>
              <a:ext uri="{FF2B5EF4-FFF2-40B4-BE49-F238E27FC236}">
                <a16:creationId xmlns:a16="http://schemas.microsoft.com/office/drawing/2014/main" id="{21A01AC5-97AF-2B3C-3CB2-D474E7E31017}"/>
              </a:ext>
            </a:extLst>
          </p:cNvPr>
          <p:cNvSpPr txBox="1">
            <a:spLocks noChangeArrowheads="1"/>
          </p:cNvSpPr>
          <p:nvPr/>
        </p:nvSpPr>
        <p:spPr>
          <a:xfrm>
            <a:off x="3500670" y="3743548"/>
            <a:ext cx="2029569" cy="39732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zh-CN" altLang="en-US" sz="1800" dirty="0">
                <a:solidFill>
                  <a:srgbClr val="00CCFF"/>
                </a:solidFill>
                <a:effectLst/>
              </a:rPr>
              <a:t>每月购物频率分布</a:t>
            </a:r>
          </a:p>
        </p:txBody>
      </p:sp>
      <p:pic>
        <p:nvPicPr>
          <p:cNvPr id="18" name="Picture 2">
            <a:extLst>
              <a:ext uri="{FF2B5EF4-FFF2-40B4-BE49-F238E27FC236}">
                <a16:creationId xmlns:a16="http://schemas.microsoft.com/office/drawing/2014/main" id="{B3B409AF-3596-4140-31A2-162D958DEF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6824" y="4145039"/>
            <a:ext cx="2717260" cy="2184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3">
            <a:extLst>
              <a:ext uri="{FF2B5EF4-FFF2-40B4-BE49-F238E27FC236}">
                <a16:creationId xmlns:a16="http://schemas.microsoft.com/office/drawing/2014/main" id="{82A371F5-4D47-E180-A72E-FA7C8AD6ECD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421"/>
          <a:stretch/>
        </p:blipFill>
        <p:spPr bwMode="auto">
          <a:xfrm>
            <a:off x="7788687" y="4142772"/>
            <a:ext cx="2736462" cy="2188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右箭头 3">
            <a:extLst>
              <a:ext uri="{FF2B5EF4-FFF2-40B4-BE49-F238E27FC236}">
                <a16:creationId xmlns:a16="http://schemas.microsoft.com/office/drawing/2014/main" id="{05E61E4B-0A94-FD9D-4811-567846C8E8C2}"/>
              </a:ext>
            </a:extLst>
          </p:cNvPr>
          <p:cNvSpPr/>
          <p:nvPr/>
        </p:nvSpPr>
        <p:spPr bwMode="auto">
          <a:xfrm>
            <a:off x="6435073" y="4982965"/>
            <a:ext cx="792625" cy="508441"/>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1300163" rtl="0" eaLnBrk="1" fontAlgn="base" latinLnBrk="0" hangingPunct="1">
              <a:lnSpc>
                <a:spcPct val="100000"/>
              </a:lnSpc>
              <a:spcBef>
                <a:spcPct val="0"/>
              </a:spcBef>
              <a:spcAft>
                <a:spcPct val="0"/>
              </a:spcAft>
              <a:buClrTx/>
              <a:buSzTx/>
              <a:buFontTx/>
              <a:buNone/>
              <a:tabLst/>
              <a:defRPr/>
            </a:pPr>
            <a:endParaRPr kumimoji="0" lang="zh-CN" altLang="en-US" sz="2600" b="0" i="0" u="none" strike="noStrike" kern="1200" cap="none" spc="0" normalizeH="0" baseline="0" noProof="0">
              <a:ln>
                <a:noFill/>
              </a:ln>
              <a:solidFill>
                <a:prstClr val="black"/>
              </a:solidFill>
              <a:effectLst/>
              <a:uLnTx/>
              <a:uFillTx/>
              <a:latin typeface="Arial" charset="0"/>
              <a:ea typeface="宋体" pitchFamily="2" charset="-122"/>
              <a:cs typeface="+mn-cs"/>
            </a:endParaRPr>
          </a:p>
        </p:txBody>
      </p:sp>
      <p:pic>
        <p:nvPicPr>
          <p:cNvPr id="27" name="Picture 12">
            <a:extLst>
              <a:ext uri="{FF2B5EF4-FFF2-40B4-BE49-F238E27FC236}">
                <a16:creationId xmlns:a16="http://schemas.microsoft.com/office/drawing/2014/main" id="{A0D95546-603E-59D3-9134-1CD5ADD4C792}"/>
              </a:ext>
            </a:extLst>
          </p:cNvPr>
          <p:cNvPicPr>
            <a:picLocks noChangeAspect="1"/>
          </p:cNvPicPr>
          <p:nvPr/>
        </p:nvPicPr>
        <p:blipFill rotWithShape="1">
          <a:blip r:embed="rId5">
            <a:extLst>
              <a:ext uri="{28A0092B-C50C-407E-A947-70E740481C1C}">
                <a14:useLocalDpi xmlns:a14="http://schemas.microsoft.com/office/drawing/2010/main" val="0"/>
              </a:ext>
            </a:extLst>
          </a:blip>
          <a:srcRect l="5850" t="4594" r="16812" b="7931"/>
          <a:stretch/>
        </p:blipFill>
        <p:spPr>
          <a:xfrm>
            <a:off x="7794390" y="1682591"/>
            <a:ext cx="2725056" cy="2013353"/>
          </a:xfrm>
          <a:prstGeom prst="rect">
            <a:avLst/>
          </a:prstGeom>
        </p:spPr>
      </p:pic>
      <p:grpSp>
        <p:nvGrpSpPr>
          <p:cNvPr id="28" name="Group 17">
            <a:extLst>
              <a:ext uri="{FF2B5EF4-FFF2-40B4-BE49-F238E27FC236}">
                <a16:creationId xmlns:a16="http://schemas.microsoft.com/office/drawing/2014/main" id="{70F0C4AC-5AE9-9368-0252-9B8AD015F353}"/>
              </a:ext>
            </a:extLst>
          </p:cNvPr>
          <p:cNvGrpSpPr/>
          <p:nvPr/>
        </p:nvGrpSpPr>
        <p:grpSpPr>
          <a:xfrm>
            <a:off x="3165977" y="1658301"/>
            <a:ext cx="2698955" cy="2061932"/>
            <a:chOff x="950112" y="963936"/>
            <a:chExt cx="3253463" cy="2359128"/>
          </a:xfrm>
        </p:grpSpPr>
        <p:pic>
          <p:nvPicPr>
            <p:cNvPr id="29" name="Picture 15">
              <a:extLst>
                <a:ext uri="{FF2B5EF4-FFF2-40B4-BE49-F238E27FC236}">
                  <a16:creationId xmlns:a16="http://schemas.microsoft.com/office/drawing/2014/main" id="{4F4F9706-FC40-CE62-22E5-B43692FC30D2}"/>
                </a:ext>
              </a:extLst>
            </p:cNvPr>
            <p:cNvPicPr>
              <a:picLocks noChangeAspect="1"/>
            </p:cNvPicPr>
            <p:nvPr/>
          </p:nvPicPr>
          <p:blipFill rotWithShape="1">
            <a:blip r:embed="rId6">
              <a:extLst>
                <a:ext uri="{28A0092B-C50C-407E-A947-70E740481C1C}">
                  <a14:useLocalDpi xmlns:a14="http://schemas.microsoft.com/office/drawing/2010/main" val="0"/>
                </a:ext>
              </a:extLst>
            </a:blip>
            <a:srcRect l="6617" t="4690" b="9998"/>
            <a:stretch/>
          </p:blipFill>
          <p:spPr>
            <a:xfrm>
              <a:off x="950112" y="963936"/>
              <a:ext cx="3253463" cy="2359128"/>
            </a:xfrm>
            <a:prstGeom prst="rect">
              <a:avLst/>
            </a:prstGeom>
          </p:spPr>
        </p:pic>
        <p:pic>
          <p:nvPicPr>
            <p:cNvPr id="30" name="Picture 16">
              <a:extLst>
                <a:ext uri="{FF2B5EF4-FFF2-40B4-BE49-F238E27FC236}">
                  <a16:creationId xmlns:a16="http://schemas.microsoft.com/office/drawing/2014/main" id="{8D78F84A-4A43-73EE-9C8C-FD8130917F9F}"/>
                </a:ext>
              </a:extLst>
            </p:cNvPr>
            <p:cNvPicPr>
              <a:picLocks noChangeAspect="1"/>
            </p:cNvPicPr>
            <p:nvPr/>
          </p:nvPicPr>
          <p:blipFill>
            <a:blip r:embed="rId7"/>
            <a:stretch>
              <a:fillRect/>
            </a:stretch>
          </p:blipFill>
          <p:spPr>
            <a:xfrm>
              <a:off x="1187624" y="1052736"/>
              <a:ext cx="1057275" cy="600075"/>
            </a:xfrm>
            <a:prstGeom prst="rect">
              <a:avLst/>
            </a:prstGeom>
          </p:spPr>
        </p:pic>
      </p:grpSp>
      <p:sp>
        <p:nvSpPr>
          <p:cNvPr id="31" name="Rectangle 2">
            <a:extLst>
              <a:ext uri="{FF2B5EF4-FFF2-40B4-BE49-F238E27FC236}">
                <a16:creationId xmlns:a16="http://schemas.microsoft.com/office/drawing/2014/main" id="{055005DC-4602-7DFC-8AFE-2F1C93993F4A}"/>
              </a:ext>
            </a:extLst>
          </p:cNvPr>
          <p:cNvSpPr txBox="1">
            <a:spLocks noChangeArrowheads="1"/>
          </p:cNvSpPr>
          <p:nvPr/>
        </p:nvSpPr>
        <p:spPr>
          <a:xfrm>
            <a:off x="8142134" y="3737490"/>
            <a:ext cx="2029569" cy="39732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zh-CN" altLang="en-US" sz="1800" dirty="0">
                <a:solidFill>
                  <a:srgbClr val="00CCFF"/>
                </a:solidFill>
                <a:effectLst/>
              </a:rPr>
              <a:t>购物金额分布</a:t>
            </a:r>
          </a:p>
        </p:txBody>
      </p:sp>
      <p:sp>
        <p:nvSpPr>
          <p:cNvPr id="32" name="Rectangle 2">
            <a:extLst>
              <a:ext uri="{FF2B5EF4-FFF2-40B4-BE49-F238E27FC236}">
                <a16:creationId xmlns:a16="http://schemas.microsoft.com/office/drawing/2014/main" id="{6036EAFA-ADA7-16AF-A55D-ABD3E5D691FC}"/>
              </a:ext>
            </a:extLst>
          </p:cNvPr>
          <p:cNvSpPr txBox="1">
            <a:spLocks noChangeArrowheads="1"/>
          </p:cNvSpPr>
          <p:nvPr/>
        </p:nvSpPr>
        <p:spPr>
          <a:xfrm>
            <a:off x="2595835" y="4836876"/>
            <a:ext cx="410319" cy="808942"/>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r>
              <a:rPr lang="zh-CN" altLang="en-US" sz="1800" dirty="0">
                <a:solidFill>
                  <a:srgbClr val="00CCFF"/>
                </a:solidFill>
                <a:effectLst/>
              </a:rPr>
              <a:t>购</a:t>
            </a:r>
            <a:endParaRPr lang="en-US" altLang="zh-CN" sz="1800" dirty="0">
              <a:solidFill>
                <a:srgbClr val="00CCFF"/>
              </a:solidFill>
              <a:effectLst/>
            </a:endParaRPr>
          </a:p>
          <a:p>
            <a:r>
              <a:rPr lang="zh-CN" altLang="en-US" sz="1800" dirty="0">
                <a:solidFill>
                  <a:srgbClr val="00CCFF"/>
                </a:solidFill>
                <a:effectLst/>
              </a:rPr>
              <a:t>物</a:t>
            </a:r>
            <a:endParaRPr lang="en-US" altLang="zh-CN" sz="1800" dirty="0">
              <a:solidFill>
                <a:srgbClr val="00CCFF"/>
              </a:solidFill>
              <a:effectLst/>
            </a:endParaRPr>
          </a:p>
          <a:p>
            <a:r>
              <a:rPr lang="zh-CN" altLang="en-US" sz="1800" dirty="0">
                <a:solidFill>
                  <a:srgbClr val="00CCFF"/>
                </a:solidFill>
                <a:effectLst/>
              </a:rPr>
              <a:t>金</a:t>
            </a:r>
            <a:endParaRPr lang="en-US" altLang="zh-CN" sz="1800" dirty="0">
              <a:solidFill>
                <a:srgbClr val="00CCFF"/>
              </a:solidFill>
              <a:effectLst/>
            </a:endParaRPr>
          </a:p>
          <a:p>
            <a:r>
              <a:rPr lang="zh-CN" altLang="en-US" sz="1800" dirty="0">
                <a:solidFill>
                  <a:srgbClr val="00CCFF"/>
                </a:solidFill>
                <a:effectLst/>
              </a:rPr>
              <a:t>额</a:t>
            </a:r>
          </a:p>
        </p:txBody>
      </p:sp>
      <p:sp>
        <p:nvSpPr>
          <p:cNvPr id="33" name="Rectangle 2">
            <a:extLst>
              <a:ext uri="{FF2B5EF4-FFF2-40B4-BE49-F238E27FC236}">
                <a16:creationId xmlns:a16="http://schemas.microsoft.com/office/drawing/2014/main" id="{96BADD7B-55B0-F1EA-9278-10720A670E45}"/>
              </a:ext>
            </a:extLst>
          </p:cNvPr>
          <p:cNvSpPr txBox="1">
            <a:spLocks noChangeArrowheads="1"/>
          </p:cNvSpPr>
          <p:nvPr/>
        </p:nvSpPr>
        <p:spPr>
          <a:xfrm>
            <a:off x="3500670" y="6355743"/>
            <a:ext cx="2029569" cy="39732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zh-CN" altLang="en-US" sz="1800" dirty="0">
                <a:solidFill>
                  <a:srgbClr val="00CCFF"/>
                </a:solidFill>
                <a:effectLst/>
              </a:rPr>
              <a:t>每月购物频率</a:t>
            </a:r>
          </a:p>
        </p:txBody>
      </p:sp>
      <p:sp>
        <p:nvSpPr>
          <p:cNvPr id="34" name="Rectangle 2">
            <a:extLst>
              <a:ext uri="{FF2B5EF4-FFF2-40B4-BE49-F238E27FC236}">
                <a16:creationId xmlns:a16="http://schemas.microsoft.com/office/drawing/2014/main" id="{5D4028C9-8614-8D3A-E16A-18DA57289F5C}"/>
              </a:ext>
            </a:extLst>
          </p:cNvPr>
          <p:cNvSpPr txBox="1">
            <a:spLocks noChangeArrowheads="1"/>
          </p:cNvSpPr>
          <p:nvPr/>
        </p:nvSpPr>
        <p:spPr>
          <a:xfrm>
            <a:off x="8142134" y="6355743"/>
            <a:ext cx="2029569" cy="39732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zh-CN" altLang="en-US" sz="1800" dirty="0">
                <a:solidFill>
                  <a:srgbClr val="00CCFF"/>
                </a:solidFill>
                <a:effectLst/>
              </a:rPr>
              <a:t>聚类结果</a:t>
            </a:r>
          </a:p>
        </p:txBody>
      </p:sp>
    </p:spTree>
    <p:extLst>
      <p:ext uri="{BB962C8B-B14F-4D97-AF65-F5344CB8AC3E}">
        <p14:creationId xmlns:p14="http://schemas.microsoft.com/office/powerpoint/2010/main" val="37663455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6"/>
                                        </p:tgtEl>
                                        <p:attrNameLst>
                                          <p:attrName>style.visibility</p:attrName>
                                        </p:attrNameLst>
                                      </p:cBhvr>
                                      <p:to>
                                        <p:strVal val="visible"/>
                                      </p:to>
                                    </p:set>
                                    <p:animEffect transition="in" filter="fade">
                                      <p:cBhvr>
                                        <p:cTn id="10" dur="500"/>
                                        <p:tgtEl>
                                          <p:spTgt spid="15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left)">
                                      <p:cBhvr>
                                        <p:cTn id="18" dur="500"/>
                                        <p:tgtEl>
                                          <p:spTgt spid="20"/>
                                        </p:tgtEl>
                                      </p:cBhvr>
                                    </p:animEffect>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500"/>
                                        <p:tgtEl>
                                          <p:spTgt spid="3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00"/>
                                        <p:tgtEl>
                                          <p:spTgt spid="3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500"/>
                                        <p:tgtEl>
                                          <p:spTgt spid="3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156" grpId="0"/>
      <p:bldP spid="20" grpId="0" animBg="1"/>
      <p:bldP spid="31" grpId="0"/>
      <p:bldP spid="32" grpId="0"/>
      <p:bldP spid="33" grpId="0"/>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B7ADB-BBE2-1A09-347B-28154016457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EA0FC93E-D799-A60A-A51E-CE4468C71C91}"/>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AEF9C5ED-FF6F-414D-5C17-006B85ACBB12}"/>
              </a:ext>
            </a:extLst>
          </p:cNvPr>
          <p:cNvSpPr/>
          <p:nvPr/>
        </p:nvSpPr>
        <p:spPr>
          <a:xfrm>
            <a:off x="166155" y="976588"/>
            <a:ext cx="4118614"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为什么需要聚类？</a:t>
            </a:r>
          </a:p>
        </p:txBody>
      </p:sp>
      <p:sp>
        <p:nvSpPr>
          <p:cNvPr id="7" name="箭头: 五边形 11">
            <a:extLst>
              <a:ext uri="{FF2B5EF4-FFF2-40B4-BE49-F238E27FC236}">
                <a16:creationId xmlns:a16="http://schemas.microsoft.com/office/drawing/2014/main" id="{DC665BF3-6A61-4DD6-FE56-AF8129BD9029}"/>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1.1</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151" name="矩形: 圆角 55">
            <a:extLst>
              <a:ext uri="{FF2B5EF4-FFF2-40B4-BE49-F238E27FC236}">
                <a16:creationId xmlns:a16="http://schemas.microsoft.com/office/drawing/2014/main" id="{58A3D7CD-72CB-0ABC-C995-E9F02B31082E}"/>
              </a:ext>
            </a:extLst>
          </p:cNvPr>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市场营销</a:t>
            </a:r>
          </a:p>
        </p:txBody>
      </p:sp>
      <p:pic>
        <p:nvPicPr>
          <p:cNvPr id="5" name="Picture 3">
            <a:extLst>
              <a:ext uri="{FF2B5EF4-FFF2-40B4-BE49-F238E27FC236}">
                <a16:creationId xmlns:a16="http://schemas.microsoft.com/office/drawing/2014/main" id="{DC2F73DE-63BF-40A1-8A51-C2A1E792BB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159" y="2719753"/>
            <a:ext cx="4772000" cy="3594774"/>
          </a:xfrm>
          <a:prstGeom prst="rect">
            <a:avLst/>
          </a:prstGeom>
          <a:ln>
            <a:noFill/>
          </a:ln>
          <a:effectLst>
            <a:softEdge rad="112500"/>
          </a:effectLst>
        </p:spPr>
      </p:pic>
      <p:pic>
        <p:nvPicPr>
          <p:cNvPr id="6" name="Picture 4">
            <a:extLst>
              <a:ext uri="{FF2B5EF4-FFF2-40B4-BE49-F238E27FC236}">
                <a16:creationId xmlns:a16="http://schemas.microsoft.com/office/drawing/2014/main" id="{D7033B62-AEC5-7C95-13DD-F407A902A9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09842" y="2719753"/>
            <a:ext cx="4772000" cy="3594774"/>
          </a:xfrm>
          <a:prstGeom prst="rect">
            <a:avLst/>
          </a:prstGeom>
          <a:ln>
            <a:noFill/>
          </a:ln>
          <a:effectLst>
            <a:softEdge rad="112500"/>
          </a:effectLst>
        </p:spPr>
      </p:pic>
    </p:spTree>
    <p:extLst>
      <p:ext uri="{BB962C8B-B14F-4D97-AF65-F5344CB8AC3E}">
        <p14:creationId xmlns:p14="http://schemas.microsoft.com/office/powerpoint/2010/main" val="3621988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455E6-43B6-86C6-8195-C0C88F0F2CF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FABB859-CC98-3FC6-9779-029FBD086F7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EE72C860-2A41-F185-C39F-7B910799F4F6}"/>
              </a:ext>
            </a:extLst>
          </p:cNvPr>
          <p:cNvSpPr/>
          <p:nvPr/>
        </p:nvSpPr>
        <p:spPr>
          <a:xfrm>
            <a:off x="166155" y="976588"/>
            <a:ext cx="4118614"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为什么需要聚类？</a:t>
            </a:r>
          </a:p>
        </p:txBody>
      </p:sp>
      <p:sp>
        <p:nvSpPr>
          <p:cNvPr id="7" name="箭头: 五边形 11">
            <a:extLst>
              <a:ext uri="{FF2B5EF4-FFF2-40B4-BE49-F238E27FC236}">
                <a16:creationId xmlns:a16="http://schemas.microsoft.com/office/drawing/2014/main" id="{AD3BCBE8-5595-0B19-2F6A-2209D9737208}"/>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1.1</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151" name="矩形: 圆角 55">
            <a:extLst>
              <a:ext uri="{FF2B5EF4-FFF2-40B4-BE49-F238E27FC236}">
                <a16:creationId xmlns:a16="http://schemas.microsoft.com/office/drawing/2014/main" id="{DD77197B-DA9E-DB0D-DD61-22E342287656}"/>
              </a:ext>
            </a:extLst>
          </p:cNvPr>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市场营销</a:t>
            </a:r>
          </a:p>
        </p:txBody>
      </p:sp>
      <p:pic>
        <p:nvPicPr>
          <p:cNvPr id="4" name="Picture 5">
            <a:extLst>
              <a:ext uri="{FF2B5EF4-FFF2-40B4-BE49-F238E27FC236}">
                <a16:creationId xmlns:a16="http://schemas.microsoft.com/office/drawing/2014/main" id="{40672F0E-0724-3DDA-FA30-CC5B6A7DA359}"/>
              </a:ext>
            </a:extLst>
          </p:cNvPr>
          <p:cNvPicPr>
            <a:picLocks noChangeAspect="1"/>
          </p:cNvPicPr>
          <p:nvPr/>
        </p:nvPicPr>
        <p:blipFill>
          <a:blip r:embed="rId3"/>
          <a:stretch>
            <a:fillRect/>
          </a:stretch>
        </p:blipFill>
        <p:spPr>
          <a:xfrm>
            <a:off x="2866961" y="1665045"/>
            <a:ext cx="6458077" cy="4822031"/>
          </a:xfrm>
          <a:prstGeom prst="rect">
            <a:avLst/>
          </a:prstGeom>
        </p:spPr>
      </p:pic>
    </p:spTree>
    <p:extLst>
      <p:ext uri="{BB962C8B-B14F-4D97-AF65-F5344CB8AC3E}">
        <p14:creationId xmlns:p14="http://schemas.microsoft.com/office/powerpoint/2010/main" val="14710910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2A0E9-C32B-F4B3-66DC-D467659713B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9875BBE3-FF37-1EA2-407C-64BDB3F66CA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F19DEB43-35C1-45B0-E4B3-8354B39BEC48}"/>
              </a:ext>
            </a:extLst>
          </p:cNvPr>
          <p:cNvSpPr/>
          <p:nvPr/>
        </p:nvSpPr>
        <p:spPr>
          <a:xfrm>
            <a:off x="166155" y="976588"/>
            <a:ext cx="4118614"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为什么需要聚类？</a:t>
            </a:r>
          </a:p>
        </p:txBody>
      </p:sp>
      <p:sp>
        <p:nvSpPr>
          <p:cNvPr id="7" name="箭头: 五边形 11">
            <a:extLst>
              <a:ext uri="{FF2B5EF4-FFF2-40B4-BE49-F238E27FC236}">
                <a16:creationId xmlns:a16="http://schemas.microsoft.com/office/drawing/2014/main" id="{D7586348-034D-7756-14CC-C6EECCA30E86}"/>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1.1</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151" name="矩形: 圆角 55">
            <a:extLst>
              <a:ext uri="{FF2B5EF4-FFF2-40B4-BE49-F238E27FC236}">
                <a16:creationId xmlns:a16="http://schemas.microsoft.com/office/drawing/2014/main" id="{4344A17D-4D05-EDF2-EC3E-3E06802146B3}"/>
              </a:ext>
            </a:extLst>
          </p:cNvPr>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社交网络</a:t>
            </a:r>
          </a:p>
        </p:txBody>
      </p:sp>
      <p:pic>
        <p:nvPicPr>
          <p:cNvPr id="4" name="Picture 2">
            <a:extLst>
              <a:ext uri="{FF2B5EF4-FFF2-40B4-BE49-F238E27FC236}">
                <a16:creationId xmlns:a16="http://schemas.microsoft.com/office/drawing/2014/main" id="{AF38E606-EDE5-0C81-C024-A18E037F45FC}"/>
              </a:ext>
            </a:extLst>
          </p:cNvPr>
          <p:cNvPicPr>
            <a:picLocks noChangeAspect="1"/>
          </p:cNvPicPr>
          <p:nvPr/>
        </p:nvPicPr>
        <p:blipFill>
          <a:blip r:embed="rId3"/>
          <a:stretch>
            <a:fillRect/>
          </a:stretch>
        </p:blipFill>
        <p:spPr>
          <a:xfrm>
            <a:off x="3094162" y="1665045"/>
            <a:ext cx="8278688" cy="506775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14532871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1A30A-7835-E7E4-B0E4-C1F03C3BC155}"/>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FA21F699-3B59-8503-03A9-2A6FA8A33D56}"/>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AA67019E-098E-3C0C-0F66-E72DE166BC78}"/>
              </a:ext>
            </a:extLst>
          </p:cNvPr>
          <p:cNvSpPr/>
          <p:nvPr/>
        </p:nvSpPr>
        <p:spPr>
          <a:xfrm>
            <a:off x="166155" y="976588"/>
            <a:ext cx="4118614"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为什么需要聚类？</a:t>
            </a:r>
          </a:p>
        </p:txBody>
      </p:sp>
      <p:sp>
        <p:nvSpPr>
          <p:cNvPr id="7" name="箭头: 五边形 11">
            <a:extLst>
              <a:ext uri="{FF2B5EF4-FFF2-40B4-BE49-F238E27FC236}">
                <a16:creationId xmlns:a16="http://schemas.microsoft.com/office/drawing/2014/main" id="{4FF29F57-412B-7F9B-9E26-E8EF74FFF172}"/>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1.1</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151" name="矩形: 圆角 55">
            <a:extLst>
              <a:ext uri="{FF2B5EF4-FFF2-40B4-BE49-F238E27FC236}">
                <a16:creationId xmlns:a16="http://schemas.microsoft.com/office/drawing/2014/main" id="{AA1CD054-7AB9-C47F-B932-43B090DC1EDA}"/>
              </a:ext>
            </a:extLst>
          </p:cNvPr>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通信网络</a:t>
            </a:r>
          </a:p>
        </p:txBody>
      </p:sp>
      <p:pic>
        <p:nvPicPr>
          <p:cNvPr id="5" name="图片 2">
            <a:extLst>
              <a:ext uri="{FF2B5EF4-FFF2-40B4-BE49-F238E27FC236}">
                <a16:creationId xmlns:a16="http://schemas.microsoft.com/office/drawing/2014/main" id="{457E6A09-2780-9F78-812F-6E3E750A209C}"/>
              </a:ext>
            </a:extLst>
          </p:cNvPr>
          <p:cNvPicPr/>
          <p:nvPr/>
        </p:nvPicPr>
        <p:blipFill rotWithShape="1">
          <a:blip r:embed="rId3" cstate="print">
            <a:extLst>
              <a:ext uri="{28A0092B-C50C-407E-A947-70E740481C1C}">
                <a14:useLocalDpi xmlns:a14="http://schemas.microsoft.com/office/drawing/2010/main" val="0"/>
              </a:ext>
            </a:extLst>
          </a:blip>
          <a:srcRect l="6937" t="4475" b="39562"/>
          <a:stretch/>
        </p:blipFill>
        <p:spPr bwMode="auto">
          <a:xfrm>
            <a:off x="2546978" y="1665045"/>
            <a:ext cx="6914777" cy="5088180"/>
          </a:xfrm>
          <a:prstGeom prst="rect">
            <a:avLst/>
          </a:prstGeom>
          <a:noFill/>
          <a:ln>
            <a:noFill/>
          </a:ln>
        </p:spPr>
      </p:pic>
    </p:spTree>
    <p:extLst>
      <p:ext uri="{BB962C8B-B14F-4D97-AF65-F5344CB8AC3E}">
        <p14:creationId xmlns:p14="http://schemas.microsoft.com/office/powerpoint/2010/main" val="8214610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34637-0715-04A4-C9A0-F7C0174655C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8BB674A-AC02-7241-BF9C-A5EFAC1BB99D}"/>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826673CF-AE48-5D3B-B18E-D0B2CD193E25}"/>
              </a:ext>
            </a:extLst>
          </p:cNvPr>
          <p:cNvSpPr/>
          <p:nvPr/>
        </p:nvSpPr>
        <p:spPr>
          <a:xfrm>
            <a:off x="166155" y="976588"/>
            <a:ext cx="3725316"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聚类的基本原理</a:t>
            </a:r>
          </a:p>
        </p:txBody>
      </p:sp>
      <p:sp>
        <p:nvSpPr>
          <p:cNvPr id="7" name="箭头: 五边形 11">
            <a:extLst>
              <a:ext uri="{FF2B5EF4-FFF2-40B4-BE49-F238E27FC236}">
                <a16:creationId xmlns:a16="http://schemas.microsoft.com/office/drawing/2014/main" id="{F5E1CE63-2D14-A237-19F9-76F88AAB5980}"/>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151" name="矩形: 圆角 55">
            <a:extLst>
              <a:ext uri="{FF2B5EF4-FFF2-40B4-BE49-F238E27FC236}">
                <a16:creationId xmlns:a16="http://schemas.microsoft.com/office/drawing/2014/main" id="{3767311D-65C6-3795-5FCE-62E3F7BD65A6}"/>
              </a:ext>
            </a:extLst>
          </p:cNvPr>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聚类</a:t>
            </a:r>
          </a:p>
        </p:txBody>
      </p:sp>
      <p:sp>
        <p:nvSpPr>
          <p:cNvPr id="6" name="矩形 5">
            <a:extLst>
              <a:ext uri="{FF2B5EF4-FFF2-40B4-BE49-F238E27FC236}">
                <a16:creationId xmlns:a16="http://schemas.microsoft.com/office/drawing/2014/main" id="{8948A4DA-C4F0-6304-05B6-FA1DEC75AD50}"/>
              </a:ext>
            </a:extLst>
          </p:cNvPr>
          <p:cNvSpPr/>
          <p:nvPr/>
        </p:nvSpPr>
        <p:spPr>
          <a:xfrm>
            <a:off x="2222053" y="1521418"/>
            <a:ext cx="9160321" cy="1689052"/>
          </a:xfrm>
          <a:prstGeom prst="rect">
            <a:avLst/>
          </a:prstGeom>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聚类（</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rPr>
              <a:t>Clustering</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）：是基于特定的</a:t>
            </a: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距离或相似性度量</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，将数据集划分为   个子集合    ，使得相似样本被划分为同一个子集合，而相异样本被划归到不同的子集合的过程。该过程满足下式：</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4" name="Rectangle 7">
            <a:extLst>
              <a:ext uri="{FF2B5EF4-FFF2-40B4-BE49-F238E27FC236}">
                <a16:creationId xmlns:a16="http://schemas.microsoft.com/office/drawing/2014/main" id="{85735E75-0B95-6ED9-406B-82112E662453}"/>
              </a:ext>
            </a:extLst>
          </p:cNvPr>
          <p:cNvSpPr>
            <a:spLocks noChangeArrowheads="1"/>
          </p:cNvSpPr>
          <p:nvPr/>
        </p:nvSpPr>
        <p:spPr bwMode="auto">
          <a:xfrm>
            <a:off x="4057649" y="2165880"/>
            <a:ext cx="2980255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5" name="对象 14">
            <a:extLst>
              <a:ext uri="{FF2B5EF4-FFF2-40B4-BE49-F238E27FC236}">
                <a16:creationId xmlns:a16="http://schemas.microsoft.com/office/drawing/2014/main" id="{D86C6C99-D5D0-E964-2120-9E30BAEC0E8A}"/>
              </a:ext>
            </a:extLst>
          </p:cNvPr>
          <p:cNvGraphicFramePr>
            <a:graphicFrameLocks noChangeAspect="1"/>
          </p:cNvGraphicFramePr>
          <p:nvPr/>
        </p:nvGraphicFramePr>
        <p:xfrm>
          <a:off x="3881945" y="2188739"/>
          <a:ext cx="350045" cy="466725"/>
        </p:xfrm>
        <a:graphic>
          <a:graphicData uri="http://schemas.openxmlformats.org/presentationml/2006/ole">
            <mc:AlternateContent xmlns:mc="http://schemas.openxmlformats.org/markup-compatibility/2006">
              <mc:Choice xmlns:v="urn:schemas-microsoft-com:vml" Requires="v">
                <p:oleObj name="Equation" r:id="rId3" imgW="126725" imgH="177415" progId="Equation.DSMT4">
                  <p:embed/>
                </p:oleObj>
              </mc:Choice>
              <mc:Fallback>
                <p:oleObj name="Equation" r:id="rId3" imgW="126725" imgH="177415" progId="Equation.DSMT4">
                  <p:embed/>
                  <p:pic>
                    <p:nvPicPr>
                      <p:cNvPr id="15" name="对象 14">
                        <a:extLst>
                          <a:ext uri="{FF2B5EF4-FFF2-40B4-BE49-F238E27FC236}">
                            <a16:creationId xmlns:a16="http://schemas.microsoft.com/office/drawing/2014/main" id="{D86C6C99-D5D0-E964-2120-9E30BAEC0E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1945" y="2188739"/>
                        <a:ext cx="350045" cy="466725"/>
                      </a:xfrm>
                      <a:prstGeom prst="rect">
                        <a:avLst/>
                      </a:prstGeom>
                      <a:noFill/>
                    </p:spPr>
                  </p:pic>
                </p:oleObj>
              </mc:Fallback>
            </mc:AlternateContent>
          </a:graphicData>
        </a:graphic>
      </p:graphicFrame>
      <p:sp>
        <p:nvSpPr>
          <p:cNvPr id="16" name="Rectangle 9">
            <a:extLst>
              <a:ext uri="{FF2B5EF4-FFF2-40B4-BE49-F238E27FC236}">
                <a16:creationId xmlns:a16="http://schemas.microsoft.com/office/drawing/2014/main" id="{5AB2F491-9D36-5111-CA01-8D60B324F78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a:extLst>
              <a:ext uri="{FF2B5EF4-FFF2-40B4-BE49-F238E27FC236}">
                <a16:creationId xmlns:a16="http://schemas.microsoft.com/office/drawing/2014/main" id="{6432F05E-CE8B-E8D7-0A2F-59B2C4F5AC54}"/>
              </a:ext>
            </a:extLst>
          </p:cNvPr>
          <p:cNvGraphicFramePr>
            <a:graphicFrameLocks noChangeAspect="1"/>
          </p:cNvGraphicFramePr>
          <p:nvPr/>
        </p:nvGraphicFramePr>
        <p:xfrm>
          <a:off x="5350379" y="2188739"/>
          <a:ext cx="455169" cy="543982"/>
        </p:xfrm>
        <a:graphic>
          <a:graphicData uri="http://schemas.openxmlformats.org/presentationml/2006/ole">
            <mc:AlternateContent xmlns:mc="http://schemas.openxmlformats.org/markup-compatibility/2006">
              <mc:Choice xmlns:v="urn:schemas-microsoft-com:vml" Requires="v">
                <p:oleObj name="Equation" r:id="rId5" imgW="190500" imgH="228600" progId="Equation.DSMT4">
                  <p:embed/>
                </p:oleObj>
              </mc:Choice>
              <mc:Fallback>
                <p:oleObj name="Equation" r:id="rId5" imgW="190500" imgH="228600" progId="Equation.DSMT4">
                  <p:embed/>
                  <p:pic>
                    <p:nvPicPr>
                      <p:cNvPr id="17" name="对象 16">
                        <a:extLst>
                          <a:ext uri="{FF2B5EF4-FFF2-40B4-BE49-F238E27FC236}">
                            <a16:creationId xmlns:a16="http://schemas.microsoft.com/office/drawing/2014/main" id="{6432F05E-CE8B-E8D7-0A2F-59B2C4F5AC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50379" y="2188739"/>
                        <a:ext cx="455169" cy="543982"/>
                      </a:xfrm>
                      <a:prstGeom prst="rect">
                        <a:avLst/>
                      </a:prstGeom>
                      <a:noFill/>
                    </p:spPr>
                  </p:pic>
                </p:oleObj>
              </mc:Fallback>
            </mc:AlternateContent>
          </a:graphicData>
        </a:graphic>
      </p:graphicFrame>
      <p:graphicFrame>
        <p:nvGraphicFramePr>
          <p:cNvPr id="19" name="对象 18">
            <a:extLst>
              <a:ext uri="{FF2B5EF4-FFF2-40B4-BE49-F238E27FC236}">
                <a16:creationId xmlns:a16="http://schemas.microsoft.com/office/drawing/2014/main" id="{7F51496C-10E7-EE8F-F04E-227D1F86ED36}"/>
              </a:ext>
            </a:extLst>
          </p:cNvPr>
          <p:cNvGraphicFramePr>
            <a:graphicFrameLocks noChangeAspect="1"/>
          </p:cNvGraphicFramePr>
          <p:nvPr/>
        </p:nvGraphicFramePr>
        <p:xfrm>
          <a:off x="3741455" y="3322785"/>
          <a:ext cx="6121515" cy="2147900"/>
        </p:xfrm>
        <a:graphic>
          <a:graphicData uri="http://schemas.openxmlformats.org/presentationml/2006/ole">
            <mc:AlternateContent xmlns:mc="http://schemas.openxmlformats.org/markup-compatibility/2006">
              <mc:Choice xmlns:v="urn:schemas-microsoft-com:vml" Requires="v">
                <p:oleObj name="Equation" r:id="rId7" imgW="2184400" imgH="762000" progId="Equation.DSMT4">
                  <p:embed/>
                </p:oleObj>
              </mc:Choice>
              <mc:Fallback>
                <p:oleObj name="Equation" r:id="rId7" imgW="2184400" imgH="762000" progId="Equation.DSMT4">
                  <p:embed/>
                  <p:pic>
                    <p:nvPicPr>
                      <p:cNvPr id="19" name="对象 18">
                        <a:extLst>
                          <a:ext uri="{FF2B5EF4-FFF2-40B4-BE49-F238E27FC236}">
                            <a16:creationId xmlns:a16="http://schemas.microsoft.com/office/drawing/2014/main" id="{7F51496C-10E7-EE8F-F04E-227D1F86ED3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1455" y="3322785"/>
                        <a:ext cx="6121515" cy="2147900"/>
                      </a:xfrm>
                      <a:prstGeom prst="rect">
                        <a:avLst/>
                      </a:prstGeom>
                      <a:noFill/>
                    </p:spPr>
                  </p:pic>
                </p:oleObj>
              </mc:Fallback>
            </mc:AlternateContent>
          </a:graphicData>
        </a:graphic>
      </p:graphicFrame>
      <p:sp>
        <p:nvSpPr>
          <p:cNvPr id="20" name="矩形 19">
            <a:extLst>
              <a:ext uri="{FF2B5EF4-FFF2-40B4-BE49-F238E27FC236}">
                <a16:creationId xmlns:a16="http://schemas.microsoft.com/office/drawing/2014/main" id="{AA22E8E8-72EF-DDE8-9DC8-1B78C1E7438E}"/>
              </a:ext>
            </a:extLst>
          </p:cNvPr>
          <p:cNvSpPr/>
          <p:nvPr/>
        </p:nvSpPr>
        <p:spPr>
          <a:xfrm>
            <a:off x="2592170" y="5670710"/>
            <a:ext cx="9160321" cy="581057"/>
          </a:xfrm>
          <a:prstGeom prst="rect">
            <a:avLst/>
          </a:prstGeom>
        </p:spPr>
        <p:txBody>
          <a:bodyPr wrap="square">
            <a:spAutoFit/>
          </a:bodyPr>
          <a:lstStyle/>
          <a:p>
            <a:pPr marR="0" lvl="0" algn="l" defTabSz="914400" rtl="0" eaLnBrk="0" fontAlgn="base" latinLnBrk="0" hangingPunct="0">
              <a:lnSpc>
                <a:spcPct val="150000"/>
              </a:lnSpc>
              <a:spcBef>
                <a:spcPct val="0"/>
              </a:spcBef>
              <a:spcAft>
                <a:spcPct val="0"/>
              </a:spcAft>
              <a:buClrTx/>
              <a:buSzTx/>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其中，   表示第   个子集合，又称为簇（</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Cluster</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1" name="Rectangle 13">
            <a:extLst>
              <a:ext uri="{FF2B5EF4-FFF2-40B4-BE49-F238E27FC236}">
                <a16:creationId xmlns:a16="http://schemas.microsoft.com/office/drawing/2014/main" id="{927424E2-5623-14AD-D75A-030D9C4A254F}"/>
              </a:ext>
            </a:extLst>
          </p:cNvPr>
          <p:cNvSpPr>
            <a:spLocks noChangeArrowheads="1"/>
          </p:cNvSpPr>
          <p:nvPr/>
        </p:nvSpPr>
        <p:spPr bwMode="auto">
          <a:xfrm>
            <a:off x="1146808" y="4114799"/>
            <a:ext cx="3088647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22" name="对象 21">
            <a:extLst>
              <a:ext uri="{FF2B5EF4-FFF2-40B4-BE49-F238E27FC236}">
                <a16:creationId xmlns:a16="http://schemas.microsoft.com/office/drawing/2014/main" id="{B9E05B32-2466-9059-EDE0-C7EFF9AF6D32}"/>
              </a:ext>
            </a:extLst>
          </p:cNvPr>
          <p:cNvGraphicFramePr>
            <a:graphicFrameLocks noChangeAspect="1"/>
          </p:cNvGraphicFramePr>
          <p:nvPr/>
        </p:nvGraphicFramePr>
        <p:xfrm>
          <a:off x="3447604" y="5768124"/>
          <a:ext cx="434341" cy="591188"/>
        </p:xfrm>
        <a:graphic>
          <a:graphicData uri="http://schemas.openxmlformats.org/presentationml/2006/ole">
            <mc:AlternateContent xmlns:mc="http://schemas.openxmlformats.org/markup-compatibility/2006">
              <mc:Choice xmlns:v="urn:schemas-microsoft-com:vml" Requires="v">
                <p:oleObj name="Equation" r:id="rId9" imgW="177646" imgH="228402" progId="Equation.DSMT4">
                  <p:embed/>
                </p:oleObj>
              </mc:Choice>
              <mc:Fallback>
                <p:oleObj name="Equation" r:id="rId9" imgW="177646" imgH="228402" progId="Equation.DSMT4">
                  <p:embed/>
                  <p:pic>
                    <p:nvPicPr>
                      <p:cNvPr id="22" name="对象 21">
                        <a:extLst>
                          <a:ext uri="{FF2B5EF4-FFF2-40B4-BE49-F238E27FC236}">
                            <a16:creationId xmlns:a16="http://schemas.microsoft.com/office/drawing/2014/main" id="{B9E05B32-2466-9059-EDE0-C7EFF9AF6D3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47604" y="5768124"/>
                        <a:ext cx="434341" cy="591188"/>
                      </a:xfrm>
                      <a:prstGeom prst="rect">
                        <a:avLst/>
                      </a:prstGeom>
                      <a:noFill/>
                    </p:spPr>
                  </p:pic>
                </p:oleObj>
              </mc:Fallback>
            </mc:AlternateContent>
          </a:graphicData>
        </a:graphic>
      </p:graphicFrame>
      <p:sp>
        <p:nvSpPr>
          <p:cNvPr id="23" name="Rectangle 15">
            <a:extLst>
              <a:ext uri="{FF2B5EF4-FFF2-40B4-BE49-F238E27FC236}">
                <a16:creationId xmlns:a16="http://schemas.microsoft.com/office/drawing/2014/main" id="{EC19A110-B242-0C12-2DE2-1454F70355A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4" name="对象 23">
            <a:extLst>
              <a:ext uri="{FF2B5EF4-FFF2-40B4-BE49-F238E27FC236}">
                <a16:creationId xmlns:a16="http://schemas.microsoft.com/office/drawing/2014/main" id="{2359BCC7-6152-9ABF-854D-78731AD64D17}"/>
              </a:ext>
            </a:extLst>
          </p:cNvPr>
          <p:cNvGraphicFramePr>
            <a:graphicFrameLocks noChangeAspect="1"/>
          </p:cNvGraphicFramePr>
          <p:nvPr/>
        </p:nvGraphicFramePr>
        <p:xfrm>
          <a:off x="4819650" y="5781484"/>
          <a:ext cx="266700" cy="491288"/>
        </p:xfrm>
        <a:graphic>
          <a:graphicData uri="http://schemas.openxmlformats.org/presentationml/2006/ole">
            <mc:AlternateContent xmlns:mc="http://schemas.openxmlformats.org/markup-compatibility/2006">
              <mc:Choice xmlns:v="urn:schemas-microsoft-com:vml" Requires="v">
                <p:oleObj name="Equation" r:id="rId11" imgW="88707" imgH="164742" progId="Equation.DSMT4">
                  <p:embed/>
                </p:oleObj>
              </mc:Choice>
              <mc:Fallback>
                <p:oleObj name="Equation" r:id="rId11" imgW="88707" imgH="164742" progId="Equation.DSMT4">
                  <p:embed/>
                  <p:pic>
                    <p:nvPicPr>
                      <p:cNvPr id="24" name="对象 23">
                        <a:extLst>
                          <a:ext uri="{FF2B5EF4-FFF2-40B4-BE49-F238E27FC236}">
                            <a16:creationId xmlns:a16="http://schemas.microsoft.com/office/drawing/2014/main" id="{2359BCC7-6152-9ABF-854D-78731AD64D1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19650" y="5781484"/>
                        <a:ext cx="266700" cy="491288"/>
                      </a:xfrm>
                      <a:prstGeom prst="rect">
                        <a:avLst/>
                      </a:prstGeom>
                      <a:noFill/>
                    </p:spPr>
                  </p:pic>
                </p:oleObj>
              </mc:Fallback>
            </mc:AlternateContent>
          </a:graphicData>
        </a:graphic>
      </p:graphicFrame>
    </p:spTree>
    <p:extLst>
      <p:ext uri="{BB962C8B-B14F-4D97-AF65-F5344CB8AC3E}">
        <p14:creationId xmlns:p14="http://schemas.microsoft.com/office/powerpoint/2010/main" val="403281040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8BE95-C270-92C7-914B-CB814F85006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E8DFEDA7-7E37-3F74-DF05-537DBD57543E}"/>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710269FA-226C-5749-D967-804152C38179}"/>
              </a:ext>
            </a:extLst>
          </p:cNvPr>
          <p:cNvSpPr/>
          <p:nvPr/>
        </p:nvSpPr>
        <p:spPr>
          <a:xfrm>
            <a:off x="166155" y="976588"/>
            <a:ext cx="3725316"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聚类的基本原理</a:t>
            </a:r>
          </a:p>
        </p:txBody>
      </p:sp>
      <p:sp>
        <p:nvSpPr>
          <p:cNvPr id="7" name="箭头: 五边形 11">
            <a:extLst>
              <a:ext uri="{FF2B5EF4-FFF2-40B4-BE49-F238E27FC236}">
                <a16:creationId xmlns:a16="http://schemas.microsoft.com/office/drawing/2014/main" id="{62595471-ABD6-7CAA-C5E4-426BA7AED6E8}"/>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151" name="矩形: 圆角 55">
            <a:extLst>
              <a:ext uri="{FF2B5EF4-FFF2-40B4-BE49-F238E27FC236}">
                <a16:creationId xmlns:a16="http://schemas.microsoft.com/office/drawing/2014/main" id="{69962187-8949-64E1-307C-82EDAB2E8450}"/>
              </a:ext>
            </a:extLst>
          </p:cNvPr>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簇</a:t>
            </a:r>
          </a:p>
        </p:txBody>
      </p:sp>
      <p:sp>
        <p:nvSpPr>
          <p:cNvPr id="14" name="Rectangle 7">
            <a:extLst>
              <a:ext uri="{FF2B5EF4-FFF2-40B4-BE49-F238E27FC236}">
                <a16:creationId xmlns:a16="http://schemas.microsoft.com/office/drawing/2014/main" id="{BB0B80EE-FD10-6605-1E5E-69FC626C0899}"/>
              </a:ext>
            </a:extLst>
          </p:cNvPr>
          <p:cNvSpPr>
            <a:spLocks noChangeArrowheads="1"/>
          </p:cNvSpPr>
          <p:nvPr/>
        </p:nvSpPr>
        <p:spPr bwMode="auto">
          <a:xfrm>
            <a:off x="4057649" y="2165880"/>
            <a:ext cx="2980255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6" name="Rectangle 9">
            <a:extLst>
              <a:ext uri="{FF2B5EF4-FFF2-40B4-BE49-F238E27FC236}">
                <a16:creationId xmlns:a16="http://schemas.microsoft.com/office/drawing/2014/main" id="{5F457643-4D4C-F952-9337-29130246BBB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矩形 19">
            <a:extLst>
              <a:ext uri="{FF2B5EF4-FFF2-40B4-BE49-F238E27FC236}">
                <a16:creationId xmlns:a16="http://schemas.microsoft.com/office/drawing/2014/main" id="{7003F34C-567D-D150-6460-45FEB55EC436}"/>
              </a:ext>
            </a:extLst>
          </p:cNvPr>
          <p:cNvSpPr/>
          <p:nvPr/>
        </p:nvSpPr>
        <p:spPr>
          <a:xfrm>
            <a:off x="2325470" y="2056464"/>
            <a:ext cx="23409709" cy="1135054"/>
          </a:xfrm>
          <a:prstGeom prst="rect">
            <a:avLst/>
          </a:prstGeom>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    为    的子集，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簇之间不存在交集，                             。</a:t>
            </a:r>
          </a:p>
        </p:txBody>
      </p:sp>
      <p:sp>
        <p:nvSpPr>
          <p:cNvPr id="23" name="Rectangle 15">
            <a:extLst>
              <a:ext uri="{FF2B5EF4-FFF2-40B4-BE49-F238E27FC236}">
                <a16:creationId xmlns:a16="http://schemas.microsoft.com/office/drawing/2014/main" id="{AB29F8B9-7827-B926-1FC5-DD346A5EE17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2">
            <a:extLst>
              <a:ext uri="{FF2B5EF4-FFF2-40B4-BE49-F238E27FC236}">
                <a16:creationId xmlns:a16="http://schemas.microsoft.com/office/drawing/2014/main" id="{505C457A-0179-F083-7CF5-FF475B3559C1}"/>
              </a:ext>
            </a:extLst>
          </p:cNvPr>
          <p:cNvSpPr txBox="1">
            <a:spLocks noChangeArrowheads="1"/>
          </p:cNvSpPr>
          <p:nvPr/>
        </p:nvSpPr>
        <p:spPr>
          <a:xfrm>
            <a:off x="2164426" y="1661007"/>
            <a:ext cx="2029569" cy="39732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zh-CN" altLang="en-US" sz="2400" dirty="0">
                <a:solidFill>
                  <a:srgbClr val="00CCFF"/>
                </a:solidFill>
                <a:effectLst/>
              </a:rPr>
              <a:t>两个性质：</a:t>
            </a:r>
          </a:p>
        </p:txBody>
      </p:sp>
      <p:sp>
        <p:nvSpPr>
          <p:cNvPr id="5" name="Rectangle 2">
            <a:extLst>
              <a:ext uri="{FF2B5EF4-FFF2-40B4-BE49-F238E27FC236}">
                <a16:creationId xmlns:a16="http://schemas.microsoft.com/office/drawing/2014/main" id="{F82686C2-2DB5-5A9B-C1FA-307A3FB65E02}"/>
              </a:ext>
            </a:extLst>
          </p:cNvPr>
          <p:cNvSpPr>
            <a:spLocks noChangeArrowheads="1"/>
          </p:cNvSpPr>
          <p:nvPr/>
        </p:nvSpPr>
        <p:spPr bwMode="auto">
          <a:xfrm>
            <a:off x="-1" y="-1"/>
            <a:ext cx="3115733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8" name="对象 7">
            <a:extLst>
              <a:ext uri="{FF2B5EF4-FFF2-40B4-BE49-F238E27FC236}">
                <a16:creationId xmlns:a16="http://schemas.microsoft.com/office/drawing/2014/main" id="{343FCB5A-DD03-7995-647D-5C97D915491A}"/>
              </a:ext>
            </a:extLst>
          </p:cNvPr>
          <p:cNvGraphicFramePr>
            <a:graphicFrameLocks noChangeAspect="1"/>
          </p:cNvGraphicFramePr>
          <p:nvPr/>
        </p:nvGraphicFramePr>
        <p:xfrm>
          <a:off x="2657475" y="2139789"/>
          <a:ext cx="438150" cy="596372"/>
        </p:xfrm>
        <a:graphic>
          <a:graphicData uri="http://schemas.openxmlformats.org/presentationml/2006/ole">
            <mc:AlternateContent xmlns:mc="http://schemas.openxmlformats.org/markup-compatibility/2006">
              <mc:Choice xmlns:v="urn:schemas-microsoft-com:vml" Requires="v">
                <p:oleObj name="Equation" r:id="rId3" imgW="177646" imgH="228402" progId="Equation.DSMT4">
                  <p:embed/>
                </p:oleObj>
              </mc:Choice>
              <mc:Fallback>
                <p:oleObj name="Equation" r:id="rId3" imgW="177646" imgH="228402" progId="Equation.DSMT4">
                  <p:embed/>
                  <p:pic>
                    <p:nvPicPr>
                      <p:cNvPr id="8" name="对象 7">
                        <a:extLst>
                          <a:ext uri="{FF2B5EF4-FFF2-40B4-BE49-F238E27FC236}">
                            <a16:creationId xmlns:a16="http://schemas.microsoft.com/office/drawing/2014/main" id="{343FCB5A-DD03-7995-647D-5C97D91549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7475" y="2139789"/>
                        <a:ext cx="438150" cy="596372"/>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AD80B70B-06ED-2F84-3834-6A2937FC548C}"/>
              </a:ext>
            </a:extLst>
          </p:cNvPr>
          <p:cNvGraphicFramePr>
            <a:graphicFrameLocks noChangeAspect="1"/>
          </p:cNvGraphicFramePr>
          <p:nvPr/>
        </p:nvGraphicFramePr>
        <p:xfrm>
          <a:off x="3427630" y="2156166"/>
          <a:ext cx="374650" cy="465137"/>
        </p:xfrm>
        <a:graphic>
          <a:graphicData uri="http://schemas.openxmlformats.org/presentationml/2006/ole">
            <mc:AlternateContent xmlns:mc="http://schemas.openxmlformats.org/markup-compatibility/2006">
              <mc:Choice xmlns:v="urn:schemas-microsoft-com:vml" Requires="v">
                <p:oleObj name="Equation" r:id="rId5" imgW="152280" imgH="177480" progId="Equation.DSMT4">
                  <p:embed/>
                </p:oleObj>
              </mc:Choice>
              <mc:Fallback>
                <p:oleObj name="Equation" r:id="rId5" imgW="152280" imgH="177480" progId="Equation.DSMT4">
                  <p:embed/>
                  <p:pic>
                    <p:nvPicPr>
                      <p:cNvPr id="9" name="对象 8">
                        <a:extLst>
                          <a:ext uri="{FF2B5EF4-FFF2-40B4-BE49-F238E27FC236}">
                            <a16:creationId xmlns:a16="http://schemas.microsoft.com/office/drawing/2014/main" id="{AD80B70B-06ED-2F84-3834-6A2937FC548C}"/>
                          </a:ext>
                        </a:extLst>
                      </p:cNvPr>
                      <p:cNvPicPr>
                        <a:picLocks noChangeAspect="1" noChangeArrowheads="1"/>
                      </p:cNvPicPr>
                      <p:nvPr/>
                    </p:nvPicPr>
                    <p:blipFill>
                      <a:blip r:embed="rId6"/>
                      <a:srcRect/>
                      <a:stretch>
                        <a:fillRect/>
                      </a:stretch>
                    </p:blipFill>
                    <p:spPr bwMode="auto">
                      <a:xfrm>
                        <a:off x="3427630" y="2156166"/>
                        <a:ext cx="374650" cy="465137"/>
                      </a:xfrm>
                      <a:prstGeom prst="rect">
                        <a:avLst/>
                      </a:prstGeom>
                      <a:noFill/>
                    </p:spPr>
                  </p:pic>
                </p:oleObj>
              </mc:Fallback>
            </mc:AlternateContent>
          </a:graphicData>
        </a:graphic>
      </p:graphicFrame>
      <p:sp>
        <p:nvSpPr>
          <p:cNvPr id="10" name="Rectangle 4">
            <a:extLst>
              <a:ext uri="{FF2B5EF4-FFF2-40B4-BE49-F238E27FC236}">
                <a16:creationId xmlns:a16="http://schemas.microsoft.com/office/drawing/2014/main" id="{892D87F0-099B-C209-E3D6-ECF7B9158F0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a:extLst>
              <a:ext uri="{FF2B5EF4-FFF2-40B4-BE49-F238E27FC236}">
                <a16:creationId xmlns:a16="http://schemas.microsoft.com/office/drawing/2014/main" id="{1CB52A5D-BDDA-C3F9-04D0-CC568F9E80C8}"/>
              </a:ext>
            </a:extLst>
          </p:cNvPr>
          <p:cNvGraphicFramePr>
            <a:graphicFrameLocks noChangeAspect="1"/>
          </p:cNvGraphicFramePr>
          <p:nvPr/>
        </p:nvGraphicFramePr>
        <p:xfrm>
          <a:off x="4819650" y="2139789"/>
          <a:ext cx="3223828" cy="570281"/>
        </p:xfrm>
        <a:graphic>
          <a:graphicData uri="http://schemas.openxmlformats.org/presentationml/2006/ole">
            <mc:AlternateContent xmlns:mc="http://schemas.openxmlformats.org/markup-compatibility/2006">
              <mc:Choice xmlns:v="urn:schemas-microsoft-com:vml" Requires="v">
                <p:oleObj name="Equation" r:id="rId7" imgW="1320800" imgH="228600" progId="Equation.DSMT4">
                  <p:embed/>
                </p:oleObj>
              </mc:Choice>
              <mc:Fallback>
                <p:oleObj name="Equation" r:id="rId7" imgW="1320800" imgH="228600" progId="Equation.DSMT4">
                  <p:embed/>
                  <p:pic>
                    <p:nvPicPr>
                      <p:cNvPr id="11" name="对象 10">
                        <a:extLst>
                          <a:ext uri="{FF2B5EF4-FFF2-40B4-BE49-F238E27FC236}">
                            <a16:creationId xmlns:a16="http://schemas.microsoft.com/office/drawing/2014/main" id="{1CB52A5D-BDDA-C3F9-04D0-CC568F9E80C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19650" y="2139789"/>
                        <a:ext cx="3223828" cy="570281"/>
                      </a:xfrm>
                      <a:prstGeom prst="rect">
                        <a:avLst/>
                      </a:prstGeom>
                      <a:noFill/>
                    </p:spPr>
                  </p:pic>
                </p:oleObj>
              </mc:Fallback>
            </mc:AlternateContent>
          </a:graphicData>
        </a:graphic>
      </p:graphicFrame>
      <p:sp>
        <p:nvSpPr>
          <p:cNvPr id="12" name="Rectangle 6">
            <a:extLst>
              <a:ext uri="{FF2B5EF4-FFF2-40B4-BE49-F238E27FC236}">
                <a16:creationId xmlns:a16="http://schemas.microsoft.com/office/drawing/2014/main" id="{156BAAE5-C25A-2C21-40F8-574F2A8D416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a:extLst>
              <a:ext uri="{FF2B5EF4-FFF2-40B4-BE49-F238E27FC236}">
                <a16:creationId xmlns:a16="http://schemas.microsoft.com/office/drawing/2014/main" id="{BEEC7AD9-0267-89FB-AC90-FD377AE2C399}"/>
              </a:ext>
            </a:extLst>
          </p:cNvPr>
          <p:cNvGraphicFramePr>
            <a:graphicFrameLocks noChangeAspect="1"/>
          </p:cNvGraphicFramePr>
          <p:nvPr/>
        </p:nvGraphicFramePr>
        <p:xfrm>
          <a:off x="5365753" y="2655201"/>
          <a:ext cx="2806609" cy="619642"/>
        </p:xfrm>
        <a:graphic>
          <a:graphicData uri="http://schemas.openxmlformats.org/presentationml/2006/ole">
            <mc:AlternateContent xmlns:mc="http://schemas.openxmlformats.org/markup-compatibility/2006">
              <mc:Choice xmlns:v="urn:schemas-microsoft-com:vml" Requires="v">
                <p:oleObj name="Equation" r:id="rId9" imgW="1104900" imgH="241300" progId="Equation.DSMT4">
                  <p:embed/>
                </p:oleObj>
              </mc:Choice>
              <mc:Fallback>
                <p:oleObj name="Equation" r:id="rId9" imgW="1104900" imgH="241300" progId="Equation.DSMT4">
                  <p:embed/>
                  <p:pic>
                    <p:nvPicPr>
                      <p:cNvPr id="13" name="对象 12">
                        <a:extLst>
                          <a:ext uri="{FF2B5EF4-FFF2-40B4-BE49-F238E27FC236}">
                            <a16:creationId xmlns:a16="http://schemas.microsoft.com/office/drawing/2014/main" id="{BEEC7AD9-0267-89FB-AC90-FD377AE2C39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65753" y="2655201"/>
                        <a:ext cx="2806609" cy="619642"/>
                      </a:xfrm>
                      <a:prstGeom prst="rect">
                        <a:avLst/>
                      </a:prstGeom>
                      <a:noFill/>
                    </p:spPr>
                  </p:pic>
                </p:oleObj>
              </mc:Fallback>
            </mc:AlternateContent>
          </a:graphicData>
        </a:graphic>
      </p:graphicFrame>
      <p:sp>
        <p:nvSpPr>
          <p:cNvPr id="18" name="Rectangle 2">
            <a:extLst>
              <a:ext uri="{FF2B5EF4-FFF2-40B4-BE49-F238E27FC236}">
                <a16:creationId xmlns:a16="http://schemas.microsoft.com/office/drawing/2014/main" id="{12215F47-C1EE-8802-0EB0-784B7EAFA6FA}"/>
              </a:ext>
            </a:extLst>
          </p:cNvPr>
          <p:cNvSpPr txBox="1">
            <a:spLocks noChangeArrowheads="1"/>
          </p:cNvSpPr>
          <p:nvPr/>
        </p:nvSpPr>
        <p:spPr>
          <a:xfrm>
            <a:off x="542926" y="3285618"/>
            <a:ext cx="2350425" cy="39732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zh-CN" altLang="en-US" sz="2400" dirty="0">
                <a:solidFill>
                  <a:srgbClr val="00CCFF"/>
                </a:solidFill>
                <a:effectLst/>
              </a:rPr>
              <a:t>两个描述指标：</a:t>
            </a:r>
          </a:p>
        </p:txBody>
      </p:sp>
      <p:sp>
        <p:nvSpPr>
          <p:cNvPr id="25" name="矩形 24">
            <a:extLst>
              <a:ext uri="{FF2B5EF4-FFF2-40B4-BE49-F238E27FC236}">
                <a16:creationId xmlns:a16="http://schemas.microsoft.com/office/drawing/2014/main" id="{3A7DEF79-2498-E0E1-A067-51ACAE2D4A38}"/>
              </a:ext>
            </a:extLst>
          </p:cNvPr>
          <p:cNvSpPr/>
          <p:nvPr/>
        </p:nvSpPr>
        <p:spPr>
          <a:xfrm>
            <a:off x="542926" y="3725400"/>
            <a:ext cx="11382374" cy="1938992"/>
          </a:xfrm>
          <a:prstGeom prst="rect">
            <a:avLst/>
          </a:prstGeom>
        </p:spPr>
        <p:txBody>
          <a:bodyPr wrap="square">
            <a:spAutoFit/>
          </a:bodyPr>
          <a:lstStyle/>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质心    ：质心为簇内样本的平均值，簇     有   个数据，则质心计算公式如下：</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R="0" lvl="0" algn="l" defTabSz="914400" rtl="0" eaLnBrk="0" fontAlgn="base" latinLnBrk="0" hangingPunct="0">
              <a:spcBef>
                <a:spcPct val="0"/>
              </a:spcBef>
              <a:spcAft>
                <a:spcPct val="0"/>
              </a:spcAft>
              <a:buClrTx/>
              <a:buSzTx/>
              <a:tabLst/>
              <a:defRPr/>
            </a:pP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R="0" lvl="0" algn="l" defTabSz="914400" rtl="0" eaLnBrk="0" fontAlgn="base" latinLnBrk="0" hangingPunct="0">
              <a:spcBef>
                <a:spcPct val="0"/>
              </a:spcBef>
              <a:spcAft>
                <a:spcPct val="0"/>
              </a:spcAft>
              <a:buClrTx/>
              <a:buSzTx/>
              <a:tabLst/>
              <a:defRPr/>
            </a:pP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R="0" lvl="0" algn="l" defTabSz="914400" rtl="0" eaLnBrk="0" fontAlgn="base" latinLnBrk="0" hangingPunct="0">
              <a:spcBef>
                <a:spcPct val="0"/>
              </a:spcBef>
              <a:spcAft>
                <a:spcPct val="0"/>
              </a:spcAft>
              <a:buClrTx/>
              <a:buSzTx/>
              <a:tabLst/>
              <a:defRPr/>
            </a:pPr>
            <a:endPar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半径   ：半径为簇内所有样本到质心距离的均方差的平方根，计算公式如下：</a:t>
            </a:r>
          </a:p>
        </p:txBody>
      </p:sp>
      <p:graphicFrame>
        <p:nvGraphicFramePr>
          <p:cNvPr id="26" name="对象 25">
            <a:extLst>
              <a:ext uri="{FF2B5EF4-FFF2-40B4-BE49-F238E27FC236}">
                <a16:creationId xmlns:a16="http://schemas.microsoft.com/office/drawing/2014/main" id="{D2C0FE35-E76F-9C7E-13F9-2D8C10581E08}"/>
              </a:ext>
            </a:extLst>
          </p:cNvPr>
          <p:cNvGraphicFramePr>
            <a:graphicFrameLocks noChangeAspect="1"/>
          </p:cNvGraphicFramePr>
          <p:nvPr/>
        </p:nvGraphicFramePr>
        <p:xfrm>
          <a:off x="6234113" y="3694384"/>
          <a:ext cx="438150" cy="596372"/>
        </p:xfrm>
        <a:graphic>
          <a:graphicData uri="http://schemas.openxmlformats.org/presentationml/2006/ole">
            <mc:AlternateContent xmlns:mc="http://schemas.openxmlformats.org/markup-compatibility/2006">
              <mc:Choice xmlns:v="urn:schemas-microsoft-com:vml" Requires="v">
                <p:oleObj name="Equation" r:id="rId3" imgW="177646" imgH="228402" progId="Equation.DSMT4">
                  <p:embed/>
                </p:oleObj>
              </mc:Choice>
              <mc:Fallback>
                <p:oleObj name="Equation" r:id="rId3" imgW="177646" imgH="228402" progId="Equation.DSMT4">
                  <p:embed/>
                  <p:pic>
                    <p:nvPicPr>
                      <p:cNvPr id="26" name="对象 25">
                        <a:extLst>
                          <a:ext uri="{FF2B5EF4-FFF2-40B4-BE49-F238E27FC236}">
                            <a16:creationId xmlns:a16="http://schemas.microsoft.com/office/drawing/2014/main" id="{D2C0FE35-E76F-9C7E-13F9-2D8C10581E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4113" y="3694384"/>
                        <a:ext cx="438150" cy="596372"/>
                      </a:xfrm>
                      <a:prstGeom prst="rect">
                        <a:avLst/>
                      </a:prstGeom>
                      <a:noFill/>
                    </p:spPr>
                  </p:pic>
                </p:oleObj>
              </mc:Fallback>
            </mc:AlternateContent>
          </a:graphicData>
        </a:graphic>
      </p:graphicFrame>
      <p:sp>
        <p:nvSpPr>
          <p:cNvPr id="27" name="Rectangle 8">
            <a:extLst>
              <a:ext uri="{FF2B5EF4-FFF2-40B4-BE49-F238E27FC236}">
                <a16:creationId xmlns:a16="http://schemas.microsoft.com/office/drawing/2014/main" id="{3F014B28-FA24-60C2-38E3-50F3CB94BE6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8" name="对象 27">
            <a:extLst>
              <a:ext uri="{FF2B5EF4-FFF2-40B4-BE49-F238E27FC236}">
                <a16:creationId xmlns:a16="http://schemas.microsoft.com/office/drawing/2014/main" id="{FB9BBC74-F677-6D95-6C40-EDDF92E5C628}"/>
              </a:ext>
            </a:extLst>
          </p:cNvPr>
          <p:cNvGraphicFramePr>
            <a:graphicFrameLocks noChangeAspect="1"/>
          </p:cNvGraphicFramePr>
          <p:nvPr/>
        </p:nvGraphicFramePr>
        <p:xfrm>
          <a:off x="6930452" y="3606593"/>
          <a:ext cx="440579" cy="674638"/>
        </p:xfrm>
        <a:graphic>
          <a:graphicData uri="http://schemas.openxmlformats.org/presentationml/2006/ole">
            <mc:AlternateContent xmlns:mc="http://schemas.openxmlformats.org/markup-compatibility/2006">
              <mc:Choice xmlns:v="urn:schemas-microsoft-com:vml" Requires="v">
                <p:oleObj name="Equation" r:id="rId11" imgW="152334" imgH="228501" progId="Equation.DSMT4">
                  <p:embed/>
                </p:oleObj>
              </mc:Choice>
              <mc:Fallback>
                <p:oleObj name="Equation" r:id="rId11" imgW="152334" imgH="228501" progId="Equation.DSMT4">
                  <p:embed/>
                  <p:pic>
                    <p:nvPicPr>
                      <p:cNvPr id="28" name="对象 27">
                        <a:extLst>
                          <a:ext uri="{FF2B5EF4-FFF2-40B4-BE49-F238E27FC236}">
                            <a16:creationId xmlns:a16="http://schemas.microsoft.com/office/drawing/2014/main" id="{FB9BBC74-F677-6D95-6C40-EDDF92E5C62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30452" y="3606593"/>
                        <a:ext cx="440579" cy="674638"/>
                      </a:xfrm>
                      <a:prstGeom prst="rect">
                        <a:avLst/>
                      </a:prstGeom>
                      <a:noFill/>
                    </p:spPr>
                  </p:pic>
                </p:oleObj>
              </mc:Fallback>
            </mc:AlternateContent>
          </a:graphicData>
        </a:graphic>
      </p:graphicFrame>
      <p:sp>
        <p:nvSpPr>
          <p:cNvPr id="29" name="Rectangle 10">
            <a:extLst>
              <a:ext uri="{FF2B5EF4-FFF2-40B4-BE49-F238E27FC236}">
                <a16:creationId xmlns:a16="http://schemas.microsoft.com/office/drawing/2014/main" id="{5C20463F-048C-288B-EE44-F6498E09D56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0" name="对象 29">
            <a:extLst>
              <a:ext uri="{FF2B5EF4-FFF2-40B4-BE49-F238E27FC236}">
                <a16:creationId xmlns:a16="http://schemas.microsoft.com/office/drawing/2014/main" id="{C15C787C-174D-F4FE-C380-0689DF3CE72B}"/>
              </a:ext>
            </a:extLst>
          </p:cNvPr>
          <p:cNvGraphicFramePr>
            <a:graphicFrameLocks noChangeAspect="1"/>
          </p:cNvGraphicFramePr>
          <p:nvPr/>
        </p:nvGraphicFramePr>
        <p:xfrm>
          <a:off x="4800317" y="4158116"/>
          <a:ext cx="2591366" cy="1052744"/>
        </p:xfrm>
        <a:graphic>
          <a:graphicData uri="http://schemas.openxmlformats.org/presentationml/2006/ole">
            <mc:AlternateContent xmlns:mc="http://schemas.openxmlformats.org/markup-compatibility/2006">
              <mc:Choice xmlns:v="urn:schemas-microsoft-com:vml" Requires="v">
                <p:oleObj name="Equation" r:id="rId13" imgW="1066800" imgH="431800" progId="Equation.DSMT4">
                  <p:embed/>
                </p:oleObj>
              </mc:Choice>
              <mc:Fallback>
                <p:oleObj name="Equation" r:id="rId13" imgW="1066800" imgH="431800" progId="Equation.DSMT4">
                  <p:embed/>
                  <p:pic>
                    <p:nvPicPr>
                      <p:cNvPr id="30" name="对象 29">
                        <a:extLst>
                          <a:ext uri="{FF2B5EF4-FFF2-40B4-BE49-F238E27FC236}">
                            <a16:creationId xmlns:a16="http://schemas.microsoft.com/office/drawing/2014/main" id="{C15C787C-174D-F4FE-C380-0689DF3CE72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00317" y="4158116"/>
                        <a:ext cx="2591366" cy="1052744"/>
                      </a:xfrm>
                      <a:prstGeom prst="rect">
                        <a:avLst/>
                      </a:prstGeom>
                      <a:noFill/>
                    </p:spPr>
                  </p:pic>
                </p:oleObj>
              </mc:Fallback>
            </mc:AlternateContent>
          </a:graphicData>
        </a:graphic>
      </p:graphicFrame>
      <p:sp>
        <p:nvSpPr>
          <p:cNvPr id="31" name="Rectangle 12">
            <a:extLst>
              <a:ext uri="{FF2B5EF4-FFF2-40B4-BE49-F238E27FC236}">
                <a16:creationId xmlns:a16="http://schemas.microsoft.com/office/drawing/2014/main" id="{8A5152DC-6CDA-96A7-0179-53195B78655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2" name="对象 31">
            <a:extLst>
              <a:ext uri="{FF2B5EF4-FFF2-40B4-BE49-F238E27FC236}">
                <a16:creationId xmlns:a16="http://schemas.microsoft.com/office/drawing/2014/main" id="{71C2F723-4263-2969-2546-AAD07519F181}"/>
              </a:ext>
            </a:extLst>
          </p:cNvPr>
          <p:cNvGraphicFramePr>
            <a:graphicFrameLocks noChangeAspect="1"/>
          </p:cNvGraphicFramePr>
          <p:nvPr/>
        </p:nvGraphicFramePr>
        <p:xfrm>
          <a:off x="1552218" y="3777046"/>
          <a:ext cx="492021" cy="407674"/>
        </p:xfrm>
        <a:graphic>
          <a:graphicData uri="http://schemas.openxmlformats.org/presentationml/2006/ole">
            <mc:AlternateContent xmlns:mc="http://schemas.openxmlformats.org/markup-compatibility/2006">
              <mc:Choice xmlns:v="urn:schemas-microsoft-com:vml" Requires="v">
                <p:oleObj name="Equation" r:id="rId15" imgW="164957" imgH="139579" progId="Equation.DSMT4">
                  <p:embed/>
                </p:oleObj>
              </mc:Choice>
              <mc:Fallback>
                <p:oleObj name="Equation" r:id="rId15" imgW="164957" imgH="139579" progId="Equation.DSMT4">
                  <p:embed/>
                  <p:pic>
                    <p:nvPicPr>
                      <p:cNvPr id="32" name="对象 31">
                        <a:extLst>
                          <a:ext uri="{FF2B5EF4-FFF2-40B4-BE49-F238E27FC236}">
                            <a16:creationId xmlns:a16="http://schemas.microsoft.com/office/drawing/2014/main" id="{71C2F723-4263-2969-2546-AAD07519F18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52218" y="3777046"/>
                        <a:ext cx="492021" cy="407674"/>
                      </a:xfrm>
                      <a:prstGeom prst="rect">
                        <a:avLst/>
                      </a:prstGeom>
                      <a:noFill/>
                    </p:spPr>
                  </p:pic>
                </p:oleObj>
              </mc:Fallback>
            </mc:AlternateContent>
          </a:graphicData>
        </a:graphic>
      </p:graphicFrame>
      <p:sp>
        <p:nvSpPr>
          <p:cNvPr id="33" name="Rectangle 14">
            <a:extLst>
              <a:ext uri="{FF2B5EF4-FFF2-40B4-BE49-F238E27FC236}">
                <a16:creationId xmlns:a16="http://schemas.microsoft.com/office/drawing/2014/main" id="{6301B9EA-5F2C-B66F-2F6E-48E8B1BCC92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4" name="对象 33">
            <a:extLst>
              <a:ext uri="{FF2B5EF4-FFF2-40B4-BE49-F238E27FC236}">
                <a16:creationId xmlns:a16="http://schemas.microsoft.com/office/drawing/2014/main" id="{BE195753-A6C8-93B7-01C2-B48190AD78C5}"/>
              </a:ext>
            </a:extLst>
          </p:cNvPr>
          <p:cNvGraphicFramePr>
            <a:graphicFrameLocks noChangeAspect="1"/>
          </p:cNvGraphicFramePr>
          <p:nvPr/>
        </p:nvGraphicFramePr>
        <p:xfrm>
          <a:off x="1552218" y="5210860"/>
          <a:ext cx="365499" cy="407673"/>
        </p:xfrm>
        <a:graphic>
          <a:graphicData uri="http://schemas.openxmlformats.org/presentationml/2006/ole">
            <mc:AlternateContent xmlns:mc="http://schemas.openxmlformats.org/markup-compatibility/2006">
              <mc:Choice xmlns:v="urn:schemas-microsoft-com:vml" Requires="v">
                <p:oleObj name="Equation" r:id="rId17" imgW="114102" imgH="126780" progId="Equation.DSMT4">
                  <p:embed/>
                </p:oleObj>
              </mc:Choice>
              <mc:Fallback>
                <p:oleObj name="Equation" r:id="rId17" imgW="114102" imgH="126780" progId="Equation.DSMT4">
                  <p:embed/>
                  <p:pic>
                    <p:nvPicPr>
                      <p:cNvPr id="34" name="对象 33">
                        <a:extLst>
                          <a:ext uri="{FF2B5EF4-FFF2-40B4-BE49-F238E27FC236}">
                            <a16:creationId xmlns:a16="http://schemas.microsoft.com/office/drawing/2014/main" id="{BE195753-A6C8-93B7-01C2-B48190AD78C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52218" y="5210860"/>
                        <a:ext cx="365499" cy="407673"/>
                      </a:xfrm>
                      <a:prstGeom prst="rect">
                        <a:avLst/>
                      </a:prstGeom>
                      <a:noFill/>
                    </p:spPr>
                  </p:pic>
                </p:oleObj>
              </mc:Fallback>
            </mc:AlternateContent>
          </a:graphicData>
        </a:graphic>
      </p:graphicFrame>
      <p:sp>
        <p:nvSpPr>
          <p:cNvPr id="35" name="Rectangle 16">
            <a:extLst>
              <a:ext uri="{FF2B5EF4-FFF2-40B4-BE49-F238E27FC236}">
                <a16:creationId xmlns:a16="http://schemas.microsoft.com/office/drawing/2014/main" id="{F8270EE2-FC75-03C9-B9DD-FF1E1B74866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6" name="对象 35">
            <a:extLst>
              <a:ext uri="{FF2B5EF4-FFF2-40B4-BE49-F238E27FC236}">
                <a16:creationId xmlns:a16="http://schemas.microsoft.com/office/drawing/2014/main" id="{21C65A82-DAC4-947E-95DE-2DCF5FB8FC0F}"/>
              </a:ext>
            </a:extLst>
          </p:cNvPr>
          <p:cNvGraphicFramePr>
            <a:graphicFrameLocks noChangeAspect="1"/>
          </p:cNvGraphicFramePr>
          <p:nvPr/>
        </p:nvGraphicFramePr>
        <p:xfrm>
          <a:off x="4695255" y="5706846"/>
          <a:ext cx="2618223" cy="1049024"/>
        </p:xfrm>
        <a:graphic>
          <a:graphicData uri="http://schemas.openxmlformats.org/presentationml/2006/ole">
            <mc:AlternateContent xmlns:mc="http://schemas.openxmlformats.org/markup-compatibility/2006">
              <mc:Choice xmlns:v="urn:schemas-microsoft-com:vml" Requires="v">
                <p:oleObj name="Equation" r:id="rId19" imgW="1435100" imgH="571500" progId="Equation.DSMT4">
                  <p:embed/>
                </p:oleObj>
              </mc:Choice>
              <mc:Fallback>
                <p:oleObj name="Equation" r:id="rId19" imgW="1435100" imgH="571500" progId="Equation.DSMT4">
                  <p:embed/>
                  <p:pic>
                    <p:nvPicPr>
                      <p:cNvPr id="36" name="对象 35">
                        <a:extLst>
                          <a:ext uri="{FF2B5EF4-FFF2-40B4-BE49-F238E27FC236}">
                            <a16:creationId xmlns:a16="http://schemas.microsoft.com/office/drawing/2014/main" id="{21C65A82-DAC4-947E-95DE-2DCF5FB8FC0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695255" y="5706846"/>
                        <a:ext cx="2618223" cy="1049024"/>
                      </a:xfrm>
                      <a:prstGeom prst="rect">
                        <a:avLst/>
                      </a:prstGeom>
                      <a:noFill/>
                    </p:spPr>
                  </p:pic>
                </p:oleObj>
              </mc:Fallback>
            </mc:AlternateContent>
          </a:graphicData>
        </a:graphic>
      </p:graphicFrame>
    </p:spTree>
    <p:extLst>
      <p:ext uri="{BB962C8B-B14F-4D97-AF65-F5344CB8AC3E}">
        <p14:creationId xmlns:p14="http://schemas.microsoft.com/office/powerpoint/2010/main" val="24576668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4"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D262C-B5E7-3261-8BA6-D38E22A351FC}"/>
            </a:ext>
          </a:extLst>
        </p:cNvPr>
        <p:cNvGrpSpPr/>
        <p:nvPr/>
      </p:nvGrpSpPr>
      <p:grpSpPr>
        <a:xfrm>
          <a:off x="0" y="0"/>
          <a:ext cx="0" cy="0"/>
          <a:chOff x="0" y="0"/>
          <a:chExt cx="0" cy="0"/>
        </a:xfrm>
      </p:grpSpPr>
      <p:grpSp>
        <p:nvGrpSpPr>
          <p:cNvPr id="4" name="组合 8">
            <a:extLst>
              <a:ext uri="{FF2B5EF4-FFF2-40B4-BE49-F238E27FC236}">
                <a16:creationId xmlns:a16="http://schemas.microsoft.com/office/drawing/2014/main" id="{C1244A01-A0C0-5958-D68A-AC4619A8DC8E}"/>
              </a:ext>
            </a:extLst>
          </p:cNvPr>
          <p:cNvGrpSpPr/>
          <p:nvPr/>
        </p:nvGrpSpPr>
        <p:grpSpPr>
          <a:xfrm>
            <a:off x="2215901" y="2008820"/>
            <a:ext cx="7579576" cy="938442"/>
            <a:chOff x="2734890" y="2619748"/>
            <a:chExt cx="7430257" cy="978068"/>
          </a:xfrm>
        </p:grpSpPr>
        <p:sp>
          <p:nvSpPr>
            <p:cNvPr id="23" name="Text Box 7">
              <a:extLst>
                <a:ext uri="{FF2B5EF4-FFF2-40B4-BE49-F238E27FC236}">
                  <a16:creationId xmlns:a16="http://schemas.microsoft.com/office/drawing/2014/main" id="{89AD323E-67E6-D831-A89A-A7F0B7E8B69B}"/>
                </a:ext>
              </a:extLst>
            </p:cNvPr>
            <p:cNvSpPr txBox="1">
              <a:spLocks noChangeArrowheads="1"/>
            </p:cNvSpPr>
            <p:nvPr/>
          </p:nvSpPr>
          <p:spPr bwMode="auto">
            <a:xfrm>
              <a:off x="3895265" y="2787994"/>
              <a:ext cx="6168781" cy="64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zh-CN"/>
              </a:defPPr>
              <a:lvl1pPr algn="ctr">
                <a:buClr>
                  <a:srgbClr val="002060"/>
                </a:buClr>
                <a:buSzPct val="105000"/>
                <a:defRPr sz="4400" b="1">
                  <a:gradFill>
                    <a:gsLst>
                      <a:gs pos="417">
                        <a:srgbClr val="FFC000"/>
                      </a:gs>
                      <a:gs pos="77000">
                        <a:srgbClr val="C00000"/>
                      </a:gs>
                    </a:gsLst>
                    <a:lin ang="5400000" scaled="0"/>
                  </a:gradFill>
                  <a:latin typeface="微软雅黑" panose="020B0503020204020204" pitchFamily="34" charset="-122"/>
                  <a:ea typeface="微软雅黑" panose="020B0503020204020204" pitchFamily="34" charset="-122"/>
                </a:defRPr>
              </a:lvl1pPr>
              <a:lvl2pPr marL="742950" indent="-285750" eaLnBrk="0" hangingPunct="0">
                <a:defRPr sz="2400">
                  <a:latin typeface="Arial" panose="020B0604020202020204" pitchFamily="34" charset="0"/>
                  <a:ea typeface="宋体" panose="02010600030101010101" pitchFamily="2" charset="-122"/>
                </a:defRPr>
              </a:lvl2pPr>
              <a:lvl3pPr marL="1143000" indent="-228600" eaLnBrk="0" hangingPunct="0">
                <a:defRPr sz="2400">
                  <a:latin typeface="Arial" panose="020B0604020202020204" pitchFamily="34" charset="0"/>
                  <a:ea typeface="宋体" panose="02010600030101010101" pitchFamily="2" charset="-122"/>
                </a:defRPr>
              </a:lvl3pPr>
              <a:lvl4pPr marL="1600200" indent="-228600" eaLnBrk="0" hangingPunct="0">
                <a:defRPr sz="2400">
                  <a:latin typeface="Arial" panose="020B0604020202020204" pitchFamily="34" charset="0"/>
                  <a:ea typeface="宋体" panose="02010600030101010101" pitchFamily="2" charset="-122"/>
                </a:defRPr>
              </a:lvl4pPr>
              <a:lvl5pPr marL="2057400" indent="-228600" eaLnBrk="0" hangingPunct="0">
                <a:defRPr sz="2400">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latin typeface="Arial" panose="020B0604020202020204" pitchFamily="34" charset="0"/>
                  <a:ea typeface="宋体" panose="02010600030101010101" pitchFamily="2" charset="-122"/>
                </a:defRPr>
              </a:lvl9pPr>
            </a:lstStyle>
            <a:p>
              <a:pPr>
                <a:defRPr/>
              </a:pPr>
              <a:r>
                <a:rPr lang="zh-CN" altLang="en-US" sz="4000" dirty="0">
                  <a:solidFill>
                    <a:srgbClr val="0084CF"/>
                  </a:solidFill>
                </a:rPr>
                <a:t>聚类的基本概念</a:t>
              </a:r>
            </a:p>
          </p:txBody>
        </p:sp>
        <p:grpSp>
          <p:nvGrpSpPr>
            <p:cNvPr id="24" name="组合 12">
              <a:extLst>
                <a:ext uri="{FF2B5EF4-FFF2-40B4-BE49-F238E27FC236}">
                  <a16:creationId xmlns:a16="http://schemas.microsoft.com/office/drawing/2014/main" id="{68120B0B-FEBF-162C-B07A-6ABFD4271ECF}"/>
                </a:ext>
              </a:extLst>
            </p:cNvPr>
            <p:cNvGrpSpPr/>
            <p:nvPr/>
          </p:nvGrpSpPr>
          <p:grpSpPr>
            <a:xfrm>
              <a:off x="2734890" y="2619748"/>
              <a:ext cx="978070" cy="978068"/>
              <a:chOff x="2051720" y="1381964"/>
              <a:chExt cx="1152128" cy="1152128"/>
            </a:xfrm>
          </p:grpSpPr>
          <p:sp>
            <p:nvSpPr>
              <p:cNvPr id="26" name="矩形 33">
                <a:extLst>
                  <a:ext uri="{FF2B5EF4-FFF2-40B4-BE49-F238E27FC236}">
                    <a16:creationId xmlns:a16="http://schemas.microsoft.com/office/drawing/2014/main" id="{569AC178-E220-FEDB-824F-8DFCA2A9A6A8}"/>
                  </a:ext>
                </a:extLst>
              </p:cNvPr>
              <p:cNvSpPr/>
              <p:nvPr/>
            </p:nvSpPr>
            <p:spPr>
              <a:xfrm>
                <a:off x="2051720" y="1381964"/>
                <a:ext cx="1152128" cy="1152128"/>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7" name="矩形 34">
                <a:extLst>
                  <a:ext uri="{FF2B5EF4-FFF2-40B4-BE49-F238E27FC236}">
                    <a16:creationId xmlns:a16="http://schemas.microsoft.com/office/drawing/2014/main" id="{2B3A7D75-C526-A03D-09B5-8694822C3699}"/>
                  </a:ext>
                </a:extLst>
              </p:cNvPr>
              <p:cNvSpPr/>
              <p:nvPr/>
            </p:nvSpPr>
            <p:spPr>
              <a:xfrm>
                <a:off x="2155661" y="1485905"/>
                <a:ext cx="944247" cy="94424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rPr>
                  <a:t>01</a:t>
                </a:r>
                <a:endParaRPr lang="zh-CN" altLang="en-US" sz="3600" dirty="0">
                  <a:solidFill>
                    <a:prstClr val="white"/>
                  </a:solidFill>
                  <a:latin typeface="Impact" panose="020B0806030902050204" pitchFamily="34" charset="0"/>
                  <a:ea typeface="等线" panose="02010600030101010101" pitchFamily="2" charset="-122"/>
                </a:endParaRPr>
              </a:p>
            </p:txBody>
          </p:sp>
        </p:grpSp>
        <p:cxnSp>
          <p:nvCxnSpPr>
            <p:cNvPr id="25" name="直接连接符 5">
              <a:extLst>
                <a:ext uri="{FF2B5EF4-FFF2-40B4-BE49-F238E27FC236}">
                  <a16:creationId xmlns:a16="http://schemas.microsoft.com/office/drawing/2014/main" id="{E6A0B4D9-A47C-603B-6185-01E86EA15146}"/>
                </a:ext>
              </a:extLst>
            </p:cNvPr>
            <p:cNvCxnSpPr>
              <a:stCxn id="26" idx="2"/>
            </p:cNvCxnSpPr>
            <p:nvPr/>
          </p:nvCxnSpPr>
          <p:spPr>
            <a:xfrm>
              <a:off x="3223924" y="3597816"/>
              <a:ext cx="6941223"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grpSp>
        <p:nvGrpSpPr>
          <p:cNvPr id="5" name="组合 9">
            <a:extLst>
              <a:ext uri="{FF2B5EF4-FFF2-40B4-BE49-F238E27FC236}">
                <a16:creationId xmlns:a16="http://schemas.microsoft.com/office/drawing/2014/main" id="{82F2E74E-E623-1EB2-C3EB-E4D6968C8122}"/>
              </a:ext>
            </a:extLst>
          </p:cNvPr>
          <p:cNvGrpSpPr/>
          <p:nvPr/>
        </p:nvGrpSpPr>
        <p:grpSpPr>
          <a:xfrm>
            <a:off x="2215901" y="3151794"/>
            <a:ext cx="7579576" cy="938442"/>
            <a:chOff x="2734890" y="3810985"/>
            <a:chExt cx="7430257" cy="978068"/>
          </a:xfrm>
        </p:grpSpPr>
        <p:grpSp>
          <p:nvGrpSpPr>
            <p:cNvPr id="17" name="组合 26">
              <a:extLst>
                <a:ext uri="{FF2B5EF4-FFF2-40B4-BE49-F238E27FC236}">
                  <a16:creationId xmlns:a16="http://schemas.microsoft.com/office/drawing/2014/main" id="{3B97A125-35E3-931B-5B8F-52FCAB410B5E}"/>
                </a:ext>
              </a:extLst>
            </p:cNvPr>
            <p:cNvGrpSpPr/>
            <p:nvPr/>
          </p:nvGrpSpPr>
          <p:grpSpPr>
            <a:xfrm>
              <a:off x="2734890" y="3810985"/>
              <a:ext cx="7329156" cy="978068"/>
              <a:chOff x="3382706" y="3231661"/>
              <a:chExt cx="7329156" cy="978068"/>
            </a:xfrm>
          </p:grpSpPr>
          <p:sp>
            <p:nvSpPr>
              <p:cNvPr id="19" name="Text Box 7">
                <a:extLst>
                  <a:ext uri="{FF2B5EF4-FFF2-40B4-BE49-F238E27FC236}">
                    <a16:creationId xmlns:a16="http://schemas.microsoft.com/office/drawing/2014/main" id="{CBAFA0E7-0D7D-C602-DCCA-F084D4AE8272}"/>
                  </a:ext>
                </a:extLst>
              </p:cNvPr>
              <p:cNvSpPr txBox="1">
                <a:spLocks noChangeArrowheads="1"/>
              </p:cNvSpPr>
              <p:nvPr/>
            </p:nvSpPr>
            <p:spPr bwMode="auto">
              <a:xfrm>
                <a:off x="4543081" y="3400031"/>
                <a:ext cx="6168781" cy="641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lang="zh-CN" altLang="en-US" sz="4000" b="1" dirty="0">
                    <a:gradFill>
                      <a:gsLst>
                        <a:gs pos="417">
                          <a:srgbClr val="FFC000"/>
                        </a:gs>
                        <a:gs pos="77000">
                          <a:srgbClr val="C00000"/>
                        </a:gs>
                      </a:gsLst>
                      <a:lin ang="5400000" scaled="0"/>
                    </a:gradFill>
                    <a:latin typeface="微软雅黑" panose="020B0503020204020204" pitchFamily="34" charset="-122"/>
                    <a:ea typeface="微软雅黑" panose="020B0503020204020204" pitchFamily="34" charset="-122"/>
                  </a:rPr>
                  <a:t>主要聚类算法</a:t>
                </a:r>
              </a:p>
            </p:txBody>
          </p:sp>
          <p:grpSp>
            <p:nvGrpSpPr>
              <p:cNvPr id="20" name="组合 12">
                <a:extLst>
                  <a:ext uri="{FF2B5EF4-FFF2-40B4-BE49-F238E27FC236}">
                    <a16:creationId xmlns:a16="http://schemas.microsoft.com/office/drawing/2014/main" id="{65B3485E-1B84-92BF-425D-DDF9A5214014}"/>
                  </a:ext>
                </a:extLst>
              </p:cNvPr>
              <p:cNvGrpSpPr/>
              <p:nvPr/>
            </p:nvGrpSpPr>
            <p:grpSpPr>
              <a:xfrm>
                <a:off x="3382706" y="3231661"/>
                <a:ext cx="978070" cy="978068"/>
                <a:chOff x="2051720" y="1381964"/>
                <a:chExt cx="1152128" cy="1152128"/>
              </a:xfrm>
            </p:grpSpPr>
            <p:sp>
              <p:nvSpPr>
                <p:cNvPr id="21" name="矩形 29">
                  <a:extLst>
                    <a:ext uri="{FF2B5EF4-FFF2-40B4-BE49-F238E27FC236}">
                      <a16:creationId xmlns:a16="http://schemas.microsoft.com/office/drawing/2014/main" id="{967F6B1D-B339-11C8-4F53-CEB33FE1D023}"/>
                    </a:ext>
                  </a:extLst>
                </p:cNvPr>
                <p:cNvSpPr/>
                <p:nvPr/>
              </p:nvSpPr>
              <p:spPr>
                <a:xfrm>
                  <a:off x="2051720" y="1381964"/>
                  <a:ext cx="1152128" cy="1152128"/>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2" name="矩形 30">
                  <a:extLst>
                    <a:ext uri="{FF2B5EF4-FFF2-40B4-BE49-F238E27FC236}">
                      <a16:creationId xmlns:a16="http://schemas.microsoft.com/office/drawing/2014/main" id="{A090029B-9188-221F-EF22-36CF399C6567}"/>
                    </a:ext>
                  </a:extLst>
                </p:cNvPr>
                <p:cNvSpPr/>
                <p:nvPr/>
              </p:nvSpPr>
              <p:spPr>
                <a:xfrm>
                  <a:off x="2155661" y="1485905"/>
                  <a:ext cx="944247" cy="944246"/>
                </a:xfrm>
                <a:prstGeom prst="rect">
                  <a:avLst/>
                </a:prstGeom>
                <a:gradFill>
                  <a:gsLst>
                    <a:gs pos="417">
                      <a:srgbClr val="FFC000"/>
                    </a:gs>
                    <a:gs pos="99000">
                      <a:srgbClr val="C00000"/>
                    </a:gs>
                  </a:gsLst>
                  <a:lin ang="2700000" scaled="0"/>
                </a:gradFill>
                <a:ln w="1270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prstClr val="white"/>
                      </a:solidFill>
                      <a:latin typeface="Impact" panose="020B0806030902050204" pitchFamily="34" charset="0"/>
                      <a:ea typeface="等线" panose="02010600030101010101" pitchFamily="2" charset="-122"/>
                    </a:rPr>
                    <a:t>02</a:t>
                  </a:r>
                  <a:endParaRPr lang="zh-CN" altLang="en-US" sz="3600" dirty="0">
                    <a:solidFill>
                      <a:prstClr val="white"/>
                    </a:solidFill>
                    <a:latin typeface="Impact" panose="020B0806030902050204" pitchFamily="34" charset="0"/>
                    <a:ea typeface="等线" panose="02010600030101010101" pitchFamily="2" charset="-122"/>
                  </a:endParaRPr>
                </a:p>
              </p:txBody>
            </p:sp>
          </p:grpSp>
        </p:grpSp>
        <p:cxnSp>
          <p:nvCxnSpPr>
            <p:cNvPr id="18" name="直接连接符 43">
              <a:extLst>
                <a:ext uri="{FF2B5EF4-FFF2-40B4-BE49-F238E27FC236}">
                  <a16:creationId xmlns:a16="http://schemas.microsoft.com/office/drawing/2014/main" id="{8C37F1A5-F8B5-7340-64A6-DC252DC279B2}"/>
                </a:ext>
              </a:extLst>
            </p:cNvPr>
            <p:cNvCxnSpPr>
              <a:stCxn id="21" idx="2"/>
            </p:cNvCxnSpPr>
            <p:nvPr/>
          </p:nvCxnSpPr>
          <p:spPr>
            <a:xfrm>
              <a:off x="3223924" y="4789053"/>
              <a:ext cx="6941223"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grpSp>
        <p:nvGrpSpPr>
          <p:cNvPr id="7" name="组合 10">
            <a:extLst>
              <a:ext uri="{FF2B5EF4-FFF2-40B4-BE49-F238E27FC236}">
                <a16:creationId xmlns:a16="http://schemas.microsoft.com/office/drawing/2014/main" id="{D9EAB178-9032-F524-E79A-11A3A96C09FE}"/>
              </a:ext>
            </a:extLst>
          </p:cNvPr>
          <p:cNvGrpSpPr/>
          <p:nvPr/>
        </p:nvGrpSpPr>
        <p:grpSpPr>
          <a:xfrm>
            <a:off x="2215901" y="4294768"/>
            <a:ext cx="7579576" cy="938442"/>
            <a:chOff x="2734890" y="5002222"/>
            <a:chExt cx="7430257" cy="978068"/>
          </a:xfrm>
        </p:grpSpPr>
        <p:grpSp>
          <p:nvGrpSpPr>
            <p:cNvPr id="8" name="组合 35">
              <a:extLst>
                <a:ext uri="{FF2B5EF4-FFF2-40B4-BE49-F238E27FC236}">
                  <a16:creationId xmlns:a16="http://schemas.microsoft.com/office/drawing/2014/main" id="{1C2706D6-E185-141E-2FAD-7B8CD06AD8AF}"/>
                </a:ext>
              </a:extLst>
            </p:cNvPr>
            <p:cNvGrpSpPr/>
            <p:nvPr/>
          </p:nvGrpSpPr>
          <p:grpSpPr>
            <a:xfrm>
              <a:off x="2734890" y="5002222"/>
              <a:ext cx="7329156" cy="978068"/>
              <a:chOff x="3382706" y="3231661"/>
              <a:chExt cx="7329156" cy="978068"/>
            </a:xfrm>
          </p:grpSpPr>
          <p:sp>
            <p:nvSpPr>
              <p:cNvPr id="13" name="Text Box 7">
                <a:extLst>
                  <a:ext uri="{FF2B5EF4-FFF2-40B4-BE49-F238E27FC236}">
                    <a16:creationId xmlns:a16="http://schemas.microsoft.com/office/drawing/2014/main" id="{50D43AEC-73E9-C1E0-D27B-43A25D246D0A}"/>
                  </a:ext>
                </a:extLst>
              </p:cNvPr>
              <p:cNvSpPr txBox="1">
                <a:spLocks noChangeArrowheads="1"/>
              </p:cNvSpPr>
              <p:nvPr/>
            </p:nvSpPr>
            <p:spPr bwMode="auto">
              <a:xfrm>
                <a:off x="4543081" y="3399907"/>
                <a:ext cx="6168781" cy="64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kumimoji="0" lang="zh-CN" altLang="en-US"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rPr>
                  <a:t>层次聚类</a:t>
                </a:r>
              </a:p>
            </p:txBody>
          </p:sp>
          <p:grpSp>
            <p:nvGrpSpPr>
              <p:cNvPr id="14" name="组合 12">
                <a:extLst>
                  <a:ext uri="{FF2B5EF4-FFF2-40B4-BE49-F238E27FC236}">
                    <a16:creationId xmlns:a16="http://schemas.microsoft.com/office/drawing/2014/main" id="{5EAD6241-C36E-3996-C942-4D1D9430C7E9}"/>
                  </a:ext>
                </a:extLst>
              </p:cNvPr>
              <p:cNvGrpSpPr/>
              <p:nvPr/>
            </p:nvGrpSpPr>
            <p:grpSpPr>
              <a:xfrm>
                <a:off x="3382706" y="3231661"/>
                <a:ext cx="978070" cy="978068"/>
                <a:chOff x="2051720" y="1381964"/>
                <a:chExt cx="1152128" cy="1152128"/>
              </a:xfrm>
            </p:grpSpPr>
            <p:sp>
              <p:nvSpPr>
                <p:cNvPr id="15" name="矩形 41">
                  <a:extLst>
                    <a:ext uri="{FF2B5EF4-FFF2-40B4-BE49-F238E27FC236}">
                      <a16:creationId xmlns:a16="http://schemas.microsoft.com/office/drawing/2014/main" id="{7A69D423-B77B-E127-2621-24BEA48AF2C7}"/>
                    </a:ext>
                  </a:extLst>
                </p:cNvPr>
                <p:cNvSpPr/>
                <p:nvPr/>
              </p:nvSpPr>
              <p:spPr>
                <a:xfrm>
                  <a:off x="2051720" y="1381964"/>
                  <a:ext cx="1152128" cy="1152128"/>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sng"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6" name="矩形 42">
                  <a:extLst>
                    <a:ext uri="{FF2B5EF4-FFF2-40B4-BE49-F238E27FC236}">
                      <a16:creationId xmlns:a16="http://schemas.microsoft.com/office/drawing/2014/main" id="{840E8C1A-8874-8397-8E13-8DD9707BD30B}"/>
                    </a:ext>
                  </a:extLst>
                </p:cNvPr>
                <p:cNvSpPr/>
                <p:nvPr/>
              </p:nvSpPr>
              <p:spPr>
                <a:xfrm>
                  <a:off x="2155661" y="1485905"/>
                  <a:ext cx="944247" cy="94424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rPr>
                    <a:t>03</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endParaRPr>
                </a:p>
              </p:txBody>
            </p:sp>
          </p:grpSp>
        </p:grpSp>
        <p:cxnSp>
          <p:nvCxnSpPr>
            <p:cNvPr id="12" name="直接连接符 45">
              <a:extLst>
                <a:ext uri="{FF2B5EF4-FFF2-40B4-BE49-F238E27FC236}">
                  <a16:creationId xmlns:a16="http://schemas.microsoft.com/office/drawing/2014/main" id="{CBCB52C7-0BAB-7E70-4EFD-00F6694BB0F2}"/>
                </a:ext>
              </a:extLst>
            </p:cNvPr>
            <p:cNvCxnSpPr>
              <a:stCxn id="15" idx="2"/>
            </p:cNvCxnSpPr>
            <p:nvPr/>
          </p:nvCxnSpPr>
          <p:spPr>
            <a:xfrm>
              <a:off x="3223924" y="5980290"/>
              <a:ext cx="6941223"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sp>
        <p:nvSpPr>
          <p:cNvPr id="9" name="Title 1">
            <a:extLst>
              <a:ext uri="{FF2B5EF4-FFF2-40B4-BE49-F238E27FC236}">
                <a16:creationId xmlns:a16="http://schemas.microsoft.com/office/drawing/2014/main" id="{C0252B54-5B61-AC55-D13A-70ED638BD2EF}"/>
              </a:ext>
            </a:extLst>
          </p:cNvPr>
          <p:cNvSpPr txBox="1">
            <a:spLocks/>
          </p:cNvSpPr>
          <p:nvPr/>
        </p:nvSpPr>
        <p:spPr>
          <a:xfrm>
            <a:off x="1371600" y="419621"/>
            <a:ext cx="9448800" cy="133989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r>
              <a:rPr lang="zh-CN" altLang="en-US" b="0" dirty="0">
                <a:solidFill>
                  <a:srgbClr val="FD5C0C"/>
                </a:solidFill>
                <a:effectLst/>
                <a:latin typeface="华光综艺_CNKI" panose="02000500000000000000" pitchFamily="2" charset="-122"/>
                <a:ea typeface="华光综艺_CNKI" panose="02000500000000000000" pitchFamily="2" charset="-122"/>
              </a:rPr>
              <a:t>汇报提纲</a:t>
            </a:r>
            <a:endParaRPr lang="en-US" b="0" dirty="0">
              <a:solidFill>
                <a:schemeClr val="bg1"/>
              </a:solidFill>
              <a:effectLst/>
              <a:latin typeface="华光综艺_CNKI" panose="02000500000000000000" pitchFamily="2" charset="-122"/>
              <a:ea typeface="华光综艺_CNKI" panose="02000500000000000000" pitchFamily="2" charset="-122"/>
            </a:endParaRPr>
          </a:p>
        </p:txBody>
      </p:sp>
      <p:pic>
        <p:nvPicPr>
          <p:cNvPr id="3" name="Picture 2" descr="A logo with dots and lines&#10;&#10;Description automatically generated">
            <a:extLst>
              <a:ext uri="{FF2B5EF4-FFF2-40B4-BE49-F238E27FC236}">
                <a16:creationId xmlns:a16="http://schemas.microsoft.com/office/drawing/2014/main" id="{C6991238-DB7C-289A-FC4C-18F839C3C6A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808" r="8389" b="36069"/>
          <a:stretch/>
        </p:blipFill>
        <p:spPr>
          <a:xfrm>
            <a:off x="11471423" y="93711"/>
            <a:ext cx="588328" cy="453368"/>
          </a:xfrm>
          <a:prstGeom prst="rect">
            <a:avLst/>
          </a:prstGeom>
        </p:spPr>
      </p:pic>
      <p:grpSp>
        <p:nvGrpSpPr>
          <p:cNvPr id="11" name="组合 10">
            <a:extLst>
              <a:ext uri="{FF2B5EF4-FFF2-40B4-BE49-F238E27FC236}">
                <a16:creationId xmlns:a16="http://schemas.microsoft.com/office/drawing/2014/main" id="{8299A698-2D52-CD0B-85C6-268D1DE25153}"/>
              </a:ext>
            </a:extLst>
          </p:cNvPr>
          <p:cNvGrpSpPr/>
          <p:nvPr/>
        </p:nvGrpSpPr>
        <p:grpSpPr>
          <a:xfrm>
            <a:off x="2215901" y="5394669"/>
            <a:ext cx="7579576" cy="938442"/>
            <a:chOff x="2734890" y="5002222"/>
            <a:chExt cx="7430257" cy="978068"/>
          </a:xfrm>
        </p:grpSpPr>
        <p:grpSp>
          <p:nvGrpSpPr>
            <p:cNvPr id="27" name="组合 35">
              <a:extLst>
                <a:ext uri="{FF2B5EF4-FFF2-40B4-BE49-F238E27FC236}">
                  <a16:creationId xmlns:a16="http://schemas.microsoft.com/office/drawing/2014/main" id="{EDA5ABA8-5211-C00D-6AE8-96628DE2815B}"/>
                </a:ext>
              </a:extLst>
            </p:cNvPr>
            <p:cNvGrpSpPr/>
            <p:nvPr/>
          </p:nvGrpSpPr>
          <p:grpSpPr>
            <a:xfrm>
              <a:off x="2734890" y="5002222"/>
              <a:ext cx="7329156" cy="978068"/>
              <a:chOff x="3382706" y="3231661"/>
              <a:chExt cx="7329156" cy="978068"/>
            </a:xfrm>
          </p:grpSpPr>
          <p:sp>
            <p:nvSpPr>
              <p:cNvPr id="29" name="Text Box 7">
                <a:extLst>
                  <a:ext uri="{FF2B5EF4-FFF2-40B4-BE49-F238E27FC236}">
                    <a16:creationId xmlns:a16="http://schemas.microsoft.com/office/drawing/2014/main" id="{336B383F-CC1C-1658-7D38-2DA9FAF56A3F}"/>
                  </a:ext>
                </a:extLst>
              </p:cNvPr>
              <p:cNvSpPr txBox="1">
                <a:spLocks noChangeArrowheads="1"/>
              </p:cNvSpPr>
              <p:nvPr/>
            </p:nvSpPr>
            <p:spPr bwMode="auto">
              <a:xfrm>
                <a:off x="4543081" y="3399907"/>
                <a:ext cx="6168781" cy="64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kumimoji="0" lang="en-US" altLang="zh-CN"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rPr>
                  <a:t>K-means</a:t>
                </a:r>
                <a:r>
                  <a:rPr kumimoji="0" lang="zh-CN" altLang="en-US"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rPr>
                  <a:t>聚类</a:t>
                </a:r>
              </a:p>
            </p:txBody>
          </p:sp>
          <p:grpSp>
            <p:nvGrpSpPr>
              <p:cNvPr id="30" name="组合 12">
                <a:extLst>
                  <a:ext uri="{FF2B5EF4-FFF2-40B4-BE49-F238E27FC236}">
                    <a16:creationId xmlns:a16="http://schemas.microsoft.com/office/drawing/2014/main" id="{F3BC1E04-FF48-0639-B2FA-2DAB989AA0DA}"/>
                  </a:ext>
                </a:extLst>
              </p:cNvPr>
              <p:cNvGrpSpPr/>
              <p:nvPr/>
            </p:nvGrpSpPr>
            <p:grpSpPr>
              <a:xfrm>
                <a:off x="3382706" y="3231661"/>
                <a:ext cx="978070" cy="978068"/>
                <a:chOff x="2051720" y="1381964"/>
                <a:chExt cx="1152128" cy="1152128"/>
              </a:xfrm>
            </p:grpSpPr>
            <p:sp>
              <p:nvSpPr>
                <p:cNvPr id="31" name="矩形 41">
                  <a:extLst>
                    <a:ext uri="{FF2B5EF4-FFF2-40B4-BE49-F238E27FC236}">
                      <a16:creationId xmlns:a16="http://schemas.microsoft.com/office/drawing/2014/main" id="{9443BE39-24E5-7A12-68F6-DE2D38B828C3}"/>
                    </a:ext>
                  </a:extLst>
                </p:cNvPr>
                <p:cNvSpPr/>
                <p:nvPr/>
              </p:nvSpPr>
              <p:spPr>
                <a:xfrm>
                  <a:off x="2051720" y="1381964"/>
                  <a:ext cx="1152128" cy="1152128"/>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sng"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2" name="矩形 42">
                  <a:extLst>
                    <a:ext uri="{FF2B5EF4-FFF2-40B4-BE49-F238E27FC236}">
                      <a16:creationId xmlns:a16="http://schemas.microsoft.com/office/drawing/2014/main" id="{74CD2EE1-2E48-CFB5-59F1-5EC75268A615}"/>
                    </a:ext>
                  </a:extLst>
                </p:cNvPr>
                <p:cNvSpPr/>
                <p:nvPr/>
              </p:nvSpPr>
              <p:spPr>
                <a:xfrm>
                  <a:off x="2155661" y="1485905"/>
                  <a:ext cx="944247" cy="94424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rPr>
                    <a:t>04</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endParaRPr>
                </a:p>
              </p:txBody>
            </p:sp>
          </p:grpSp>
        </p:grpSp>
        <p:cxnSp>
          <p:nvCxnSpPr>
            <p:cNvPr id="28" name="直接连接符 45">
              <a:extLst>
                <a:ext uri="{FF2B5EF4-FFF2-40B4-BE49-F238E27FC236}">
                  <a16:creationId xmlns:a16="http://schemas.microsoft.com/office/drawing/2014/main" id="{834B1047-8078-25A4-DAF9-1DD43FEC9E87}"/>
                </a:ext>
              </a:extLst>
            </p:cNvPr>
            <p:cNvCxnSpPr>
              <a:stCxn id="31" idx="2"/>
            </p:cNvCxnSpPr>
            <p:nvPr/>
          </p:nvCxnSpPr>
          <p:spPr>
            <a:xfrm>
              <a:off x="3223924" y="5980290"/>
              <a:ext cx="6941223"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13475349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1C9A-05FA-BD9B-48C9-EDF8895746FE}"/>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5439D12-9331-8CCE-9DAE-89DEFA5643DB}"/>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7F03BC61-5A54-5815-0009-734B7D2018EB}"/>
              </a:ext>
            </a:extLst>
          </p:cNvPr>
          <p:cNvSpPr/>
          <p:nvPr/>
        </p:nvSpPr>
        <p:spPr>
          <a:xfrm>
            <a:off x="166155" y="976588"/>
            <a:ext cx="3725316"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聚类算法的分类</a:t>
            </a:r>
          </a:p>
        </p:txBody>
      </p:sp>
      <p:sp>
        <p:nvSpPr>
          <p:cNvPr id="7" name="箭头: 五边形 11">
            <a:extLst>
              <a:ext uri="{FF2B5EF4-FFF2-40B4-BE49-F238E27FC236}">
                <a16:creationId xmlns:a16="http://schemas.microsoft.com/office/drawing/2014/main" id="{A77782CF-40DC-6CD9-EB0D-45B04C93B7F1}"/>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1.3</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pic>
        <p:nvPicPr>
          <p:cNvPr id="10" name="图片 9">
            <a:extLst>
              <a:ext uri="{FF2B5EF4-FFF2-40B4-BE49-F238E27FC236}">
                <a16:creationId xmlns:a16="http://schemas.microsoft.com/office/drawing/2014/main" id="{270F933C-7946-789A-A2AE-F28B4E6C9A81}"/>
              </a:ext>
            </a:extLst>
          </p:cNvPr>
          <p:cNvPicPr>
            <a:picLocks noChangeAspect="1"/>
          </p:cNvPicPr>
          <p:nvPr/>
        </p:nvPicPr>
        <p:blipFill>
          <a:blip r:embed="rId3"/>
          <a:stretch>
            <a:fillRect/>
          </a:stretch>
        </p:blipFill>
        <p:spPr>
          <a:xfrm>
            <a:off x="1944585" y="1635486"/>
            <a:ext cx="8302830" cy="5222514"/>
          </a:xfrm>
          <a:prstGeom prst="rect">
            <a:avLst/>
          </a:prstGeom>
        </p:spPr>
      </p:pic>
    </p:spTree>
    <p:extLst>
      <p:ext uri="{BB962C8B-B14F-4D97-AF65-F5344CB8AC3E}">
        <p14:creationId xmlns:p14="http://schemas.microsoft.com/office/powerpoint/2010/main" val="26078841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0B83B-334D-1614-1E4F-E9B7246C2F35}"/>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F56E5BDB-3EF3-BEDA-28F5-31254733CAA5}"/>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8F2E47EF-20F6-5AA2-F9FA-6ECBA1200243}"/>
              </a:ext>
            </a:extLst>
          </p:cNvPr>
          <p:cNvSpPr/>
          <p:nvPr/>
        </p:nvSpPr>
        <p:spPr>
          <a:xfrm>
            <a:off x="166155" y="976588"/>
            <a:ext cx="3725316"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聚类算法的分类</a:t>
            </a:r>
          </a:p>
        </p:txBody>
      </p:sp>
      <p:sp>
        <p:nvSpPr>
          <p:cNvPr id="7" name="箭头: 五边形 11">
            <a:extLst>
              <a:ext uri="{FF2B5EF4-FFF2-40B4-BE49-F238E27FC236}">
                <a16:creationId xmlns:a16="http://schemas.microsoft.com/office/drawing/2014/main" id="{77FDCFD2-69A2-67EA-27F1-8E18460FF784}"/>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1.3</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pic>
        <p:nvPicPr>
          <p:cNvPr id="5" name="图片 4">
            <a:extLst>
              <a:ext uri="{FF2B5EF4-FFF2-40B4-BE49-F238E27FC236}">
                <a16:creationId xmlns:a16="http://schemas.microsoft.com/office/drawing/2014/main" id="{0095CBBC-1574-68BD-0BF4-ED7D17D4B34C}"/>
              </a:ext>
            </a:extLst>
          </p:cNvPr>
          <p:cNvPicPr>
            <a:picLocks noChangeAspect="1"/>
          </p:cNvPicPr>
          <p:nvPr/>
        </p:nvPicPr>
        <p:blipFill>
          <a:blip r:embed="rId3"/>
          <a:stretch>
            <a:fillRect/>
          </a:stretch>
        </p:blipFill>
        <p:spPr>
          <a:xfrm>
            <a:off x="2473139" y="1583897"/>
            <a:ext cx="7054320" cy="5274103"/>
          </a:xfrm>
          <a:prstGeom prst="rect">
            <a:avLst/>
          </a:prstGeom>
        </p:spPr>
      </p:pic>
    </p:spTree>
    <p:extLst>
      <p:ext uri="{BB962C8B-B14F-4D97-AF65-F5344CB8AC3E}">
        <p14:creationId xmlns:p14="http://schemas.microsoft.com/office/powerpoint/2010/main" val="26759148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A192E-640A-9980-AA94-B7C8ABE72989}"/>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E14F384B-E01B-187A-1D14-49E8429C4A0C}"/>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33987848-95F4-F015-DA4B-AE45460EEB57}"/>
              </a:ext>
            </a:extLst>
          </p:cNvPr>
          <p:cNvSpPr/>
          <p:nvPr/>
        </p:nvSpPr>
        <p:spPr>
          <a:xfrm>
            <a:off x="166155" y="976588"/>
            <a:ext cx="3725316"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聚类算法的分类</a:t>
            </a:r>
          </a:p>
        </p:txBody>
      </p:sp>
      <p:sp>
        <p:nvSpPr>
          <p:cNvPr id="7" name="箭头: 五边形 11">
            <a:extLst>
              <a:ext uri="{FF2B5EF4-FFF2-40B4-BE49-F238E27FC236}">
                <a16:creationId xmlns:a16="http://schemas.microsoft.com/office/drawing/2014/main" id="{69D49B76-A90B-2E70-B139-A8686C02E9E6}"/>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1.3</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pic>
        <p:nvPicPr>
          <p:cNvPr id="5" name="图形 4">
            <a:extLst>
              <a:ext uri="{FF2B5EF4-FFF2-40B4-BE49-F238E27FC236}">
                <a16:creationId xmlns:a16="http://schemas.microsoft.com/office/drawing/2014/main" id="{01FB5E57-B45F-E4AB-E087-00CA7F7668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3966" y="1572218"/>
            <a:ext cx="7324068" cy="5231477"/>
          </a:xfrm>
          <a:prstGeom prst="rect">
            <a:avLst/>
          </a:prstGeom>
        </p:spPr>
      </p:pic>
    </p:spTree>
    <p:extLst>
      <p:ext uri="{BB962C8B-B14F-4D97-AF65-F5344CB8AC3E}">
        <p14:creationId xmlns:p14="http://schemas.microsoft.com/office/powerpoint/2010/main" val="2774030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9CAE6-1D05-718E-19BA-BBBF383DC502}"/>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59905D16-7FD9-FF2B-103A-C0ED57AA0762}"/>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CD551546-4687-BBED-1F68-F40DB9EBC554}"/>
              </a:ext>
            </a:extLst>
          </p:cNvPr>
          <p:cNvSpPr/>
          <p:nvPr/>
        </p:nvSpPr>
        <p:spPr>
          <a:xfrm>
            <a:off x="166155" y="976588"/>
            <a:ext cx="4061965"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聚类算法评价指标</a:t>
            </a:r>
          </a:p>
        </p:txBody>
      </p:sp>
      <p:sp>
        <p:nvSpPr>
          <p:cNvPr id="7" name="箭头: 五边形 11">
            <a:extLst>
              <a:ext uri="{FF2B5EF4-FFF2-40B4-BE49-F238E27FC236}">
                <a16:creationId xmlns:a16="http://schemas.microsoft.com/office/drawing/2014/main" id="{73B1E172-467F-03EB-ADE1-144DC27E5C84}"/>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1.4</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4" name="矩形: 圆角 55">
            <a:extLst>
              <a:ext uri="{FF2B5EF4-FFF2-40B4-BE49-F238E27FC236}">
                <a16:creationId xmlns:a16="http://schemas.microsoft.com/office/drawing/2014/main" id="{2A368157-3DED-17C2-CA6D-5A4E3BA9EEFB}"/>
              </a:ext>
            </a:extLst>
          </p:cNvPr>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外部指标</a:t>
            </a:r>
          </a:p>
        </p:txBody>
      </p:sp>
      <p:sp>
        <p:nvSpPr>
          <p:cNvPr id="6" name="矩形 5">
            <a:extLst>
              <a:ext uri="{FF2B5EF4-FFF2-40B4-BE49-F238E27FC236}">
                <a16:creationId xmlns:a16="http://schemas.microsoft.com/office/drawing/2014/main" id="{FF7A5698-B440-646D-3B20-3A5705E0CB45}"/>
              </a:ext>
            </a:extLst>
          </p:cNvPr>
          <p:cNvSpPr/>
          <p:nvPr/>
        </p:nvSpPr>
        <p:spPr>
          <a:xfrm>
            <a:off x="2222053" y="1521418"/>
            <a:ext cx="9160321" cy="1689052"/>
          </a:xfrm>
          <a:prstGeom prst="rect">
            <a:avLst/>
          </a:prstGeom>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）列联矩阵（</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Contingency matrix</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）：是一个二维矩阵，行代表真实类别标签，列代表聚类结果的簇标签，矩阵中的每个值为对应的</a:t>
            </a: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统计频数</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CCA793F1-30FE-ADDE-097D-601B386ED662}"/>
              </a:ext>
            </a:extLst>
          </p:cNvPr>
          <p:cNvPicPr>
            <a:picLocks noChangeAspect="1"/>
          </p:cNvPicPr>
          <p:nvPr/>
        </p:nvPicPr>
        <p:blipFill>
          <a:blip r:embed="rId3"/>
          <a:stretch>
            <a:fillRect/>
          </a:stretch>
        </p:blipFill>
        <p:spPr>
          <a:xfrm>
            <a:off x="2541639" y="3210470"/>
            <a:ext cx="9271819" cy="3601765"/>
          </a:xfrm>
          <a:prstGeom prst="rect">
            <a:avLst/>
          </a:prstGeom>
        </p:spPr>
      </p:pic>
    </p:spTree>
    <p:extLst>
      <p:ext uri="{BB962C8B-B14F-4D97-AF65-F5344CB8AC3E}">
        <p14:creationId xmlns:p14="http://schemas.microsoft.com/office/powerpoint/2010/main" val="3853600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1DC87-C809-11BF-79C2-67E265D0DF4D}"/>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05F1B43-5557-283E-C430-BF7ADDD6828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37DDC60E-9D3B-03BA-DB79-7847EB21D629}"/>
              </a:ext>
            </a:extLst>
          </p:cNvPr>
          <p:cNvSpPr/>
          <p:nvPr/>
        </p:nvSpPr>
        <p:spPr>
          <a:xfrm>
            <a:off x="166155" y="976588"/>
            <a:ext cx="4061965"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聚类算法评价指标</a:t>
            </a:r>
          </a:p>
        </p:txBody>
      </p:sp>
      <p:sp>
        <p:nvSpPr>
          <p:cNvPr id="7" name="箭头: 五边形 11">
            <a:extLst>
              <a:ext uri="{FF2B5EF4-FFF2-40B4-BE49-F238E27FC236}">
                <a16:creationId xmlns:a16="http://schemas.microsoft.com/office/drawing/2014/main" id="{923036A4-5CF0-EC56-6738-1F0C0BC7849A}"/>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1.4</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4" name="矩形: 圆角 55">
            <a:extLst>
              <a:ext uri="{FF2B5EF4-FFF2-40B4-BE49-F238E27FC236}">
                <a16:creationId xmlns:a16="http://schemas.microsoft.com/office/drawing/2014/main" id="{DC4FB3B9-5C8A-C483-429A-71461482A1C4}"/>
              </a:ext>
            </a:extLst>
          </p:cNvPr>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外部指标</a:t>
            </a:r>
          </a:p>
        </p:txBody>
      </p:sp>
      <p:sp>
        <p:nvSpPr>
          <p:cNvPr id="6" name="矩形 5">
            <a:extLst>
              <a:ext uri="{FF2B5EF4-FFF2-40B4-BE49-F238E27FC236}">
                <a16:creationId xmlns:a16="http://schemas.microsoft.com/office/drawing/2014/main" id="{7D3A996F-B671-28C3-DB2C-F13183444204}"/>
              </a:ext>
            </a:extLst>
          </p:cNvPr>
          <p:cNvSpPr/>
          <p:nvPr/>
        </p:nvSpPr>
        <p:spPr>
          <a:xfrm>
            <a:off x="2222053" y="1521418"/>
            <a:ext cx="9160321" cy="1689052"/>
          </a:xfrm>
          <a:prstGeom prst="rect">
            <a:avLst/>
          </a:prstGeom>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）成对混淆矩阵（</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Pair confusion matrix</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）：将数据进行</a:t>
            </a: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成对组合</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，分别统计存在正确聚类与错误聚类的数量，用于评估聚类算法性能。</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 name="Rectangle 2">
            <a:extLst>
              <a:ext uri="{FF2B5EF4-FFF2-40B4-BE49-F238E27FC236}">
                <a16:creationId xmlns:a16="http://schemas.microsoft.com/office/drawing/2014/main" id="{9C6A4D39-AF75-DBE8-C128-04B14E3D54A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a:extLst>
              <a:ext uri="{FF2B5EF4-FFF2-40B4-BE49-F238E27FC236}">
                <a16:creationId xmlns:a16="http://schemas.microsoft.com/office/drawing/2014/main" id="{ED95349C-1142-266A-1577-1901CA7CC816}"/>
              </a:ext>
            </a:extLst>
          </p:cNvPr>
          <p:cNvGraphicFramePr>
            <a:graphicFrameLocks noChangeAspect="1"/>
          </p:cNvGraphicFramePr>
          <p:nvPr/>
        </p:nvGraphicFramePr>
        <p:xfrm>
          <a:off x="5022384" y="3210470"/>
          <a:ext cx="2147232" cy="1312956"/>
        </p:xfrm>
        <a:graphic>
          <a:graphicData uri="http://schemas.openxmlformats.org/presentationml/2006/ole">
            <mc:AlternateContent xmlns:mc="http://schemas.openxmlformats.org/markup-compatibility/2006">
              <mc:Choice xmlns:v="urn:schemas-microsoft-com:vml" Requires="v">
                <p:oleObj name="Equation" r:id="rId3" imgW="736600" imgH="457200" progId="Equation.DSMT4">
                  <p:embed/>
                </p:oleObj>
              </mc:Choice>
              <mc:Fallback>
                <p:oleObj name="Equation" r:id="rId3" imgW="736600" imgH="457200" progId="Equation.DSMT4">
                  <p:embed/>
                  <p:pic>
                    <p:nvPicPr>
                      <p:cNvPr id="8" name="对象 7">
                        <a:extLst>
                          <a:ext uri="{FF2B5EF4-FFF2-40B4-BE49-F238E27FC236}">
                            <a16:creationId xmlns:a16="http://schemas.microsoft.com/office/drawing/2014/main" id="{ED95349C-1142-266A-1577-1901CA7CC8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2384" y="3210470"/>
                        <a:ext cx="2147232" cy="1312956"/>
                      </a:xfrm>
                      <a:prstGeom prst="rect">
                        <a:avLst/>
                      </a:prstGeom>
                      <a:noFill/>
                    </p:spPr>
                  </p:pic>
                </p:oleObj>
              </mc:Fallback>
            </mc:AlternateContent>
          </a:graphicData>
        </a:graphic>
      </p:graphicFrame>
      <p:sp>
        <p:nvSpPr>
          <p:cNvPr id="10" name="矩形 9">
            <a:extLst>
              <a:ext uri="{FF2B5EF4-FFF2-40B4-BE49-F238E27FC236}">
                <a16:creationId xmlns:a16="http://schemas.microsoft.com/office/drawing/2014/main" id="{DE2636D4-6C61-27D1-A58A-5D3ACF4875F0}"/>
              </a:ext>
            </a:extLst>
          </p:cNvPr>
          <p:cNvSpPr/>
          <p:nvPr/>
        </p:nvSpPr>
        <p:spPr>
          <a:xfrm>
            <a:off x="8134518" y="2910774"/>
            <a:ext cx="3362633" cy="1689052"/>
          </a:xfrm>
          <a:prstGeom prst="rect">
            <a:avLst/>
          </a:prstGeom>
        </p:spPr>
        <p:txBody>
          <a:bodyPr wrap="square">
            <a:spAutoFit/>
          </a:bodyPr>
          <a:lstStyle/>
          <a:p>
            <a:pPr marR="0" lvl="0" algn="l" defTabSz="914400" rtl="0" eaLnBrk="0" fontAlgn="base" latinLnBrk="0" hangingPunct="0">
              <a:lnSpc>
                <a:spcPct val="150000"/>
              </a:lnSpc>
              <a:spcBef>
                <a:spcPct val="0"/>
              </a:spcBef>
              <a:spcAft>
                <a:spcPct val="0"/>
              </a:spcAft>
              <a:buClrTx/>
              <a:buSzTx/>
              <a:tabLst/>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TN</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和</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TP</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值越大，</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R="0" lvl="0" algn="l" defTabSz="914400" rtl="0" eaLnBrk="0" fontAlgn="base" latinLnBrk="0" hangingPunct="0">
              <a:lnSpc>
                <a:spcPct val="150000"/>
              </a:lnSpc>
              <a:spcBef>
                <a:spcPct val="0"/>
              </a:spcBef>
              <a:spcAft>
                <a:spcPct val="0"/>
              </a:spcAft>
              <a:buClrTx/>
              <a:buSzTx/>
              <a:tabLst/>
              <a:defRPr/>
            </a:pP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FN</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和</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FP</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值越接近于</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0</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R="0" lvl="0" algn="l" defTabSz="914400" rtl="0" eaLnBrk="0" fontAlgn="base" latinLnBrk="0" hangingPunct="0">
              <a:lnSpc>
                <a:spcPct val="150000"/>
              </a:lnSpc>
              <a:spcBef>
                <a:spcPct val="0"/>
              </a:spcBef>
              <a:spcAft>
                <a:spcPct val="0"/>
              </a:spcAft>
              <a:buClrTx/>
              <a:buSzTx/>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表明聚类结果越好。</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2" name="Rectangle 4">
            <a:extLst>
              <a:ext uri="{FF2B5EF4-FFF2-40B4-BE49-F238E27FC236}">
                <a16:creationId xmlns:a16="http://schemas.microsoft.com/office/drawing/2014/main" id="{AE9A5C74-0124-FD27-3363-68D2DDE2793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a:extLst>
              <a:ext uri="{FF2B5EF4-FFF2-40B4-BE49-F238E27FC236}">
                <a16:creationId xmlns:a16="http://schemas.microsoft.com/office/drawing/2014/main" id="{A8565722-A16D-3BAC-8E73-B683042E2D01}"/>
              </a:ext>
            </a:extLst>
          </p:cNvPr>
          <p:cNvGraphicFramePr>
            <a:graphicFrameLocks noChangeAspect="1"/>
          </p:cNvGraphicFramePr>
          <p:nvPr/>
        </p:nvGraphicFramePr>
        <p:xfrm>
          <a:off x="3814917" y="4906117"/>
          <a:ext cx="4917359" cy="1083065"/>
        </p:xfrm>
        <a:graphic>
          <a:graphicData uri="http://schemas.openxmlformats.org/presentationml/2006/ole">
            <mc:AlternateContent xmlns:mc="http://schemas.openxmlformats.org/markup-compatibility/2006">
              <mc:Choice xmlns:v="urn:schemas-microsoft-com:vml" Requires="v">
                <p:oleObj name="Equation" r:id="rId5" imgW="1879600" imgH="419100" progId="Equation.DSMT4">
                  <p:embed/>
                </p:oleObj>
              </mc:Choice>
              <mc:Fallback>
                <p:oleObj name="Equation" r:id="rId5" imgW="1879600" imgH="419100" progId="Equation.DSMT4">
                  <p:embed/>
                  <p:pic>
                    <p:nvPicPr>
                      <p:cNvPr id="13" name="对象 12">
                        <a:extLst>
                          <a:ext uri="{FF2B5EF4-FFF2-40B4-BE49-F238E27FC236}">
                            <a16:creationId xmlns:a16="http://schemas.microsoft.com/office/drawing/2014/main" id="{A8565722-A16D-3BAC-8E73-B683042E2D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4917" y="4906117"/>
                        <a:ext cx="4917359" cy="1083065"/>
                      </a:xfrm>
                      <a:prstGeom prst="rect">
                        <a:avLst/>
                      </a:prstGeom>
                      <a:noFill/>
                    </p:spPr>
                  </p:pic>
                </p:oleObj>
              </mc:Fallback>
            </mc:AlternateContent>
          </a:graphicData>
        </a:graphic>
      </p:graphicFrame>
      <p:sp>
        <p:nvSpPr>
          <p:cNvPr id="14" name="矩形 13">
            <a:extLst>
              <a:ext uri="{FF2B5EF4-FFF2-40B4-BE49-F238E27FC236}">
                <a16:creationId xmlns:a16="http://schemas.microsoft.com/office/drawing/2014/main" id="{760039DB-962D-9A75-CBA3-D874588A24C8}"/>
              </a:ext>
            </a:extLst>
          </p:cNvPr>
          <p:cNvSpPr/>
          <p:nvPr/>
        </p:nvSpPr>
        <p:spPr>
          <a:xfrm>
            <a:off x="2670829" y="5142808"/>
            <a:ext cx="1144088" cy="581057"/>
          </a:xfrm>
          <a:prstGeom prst="rect">
            <a:avLst/>
          </a:prstGeom>
        </p:spPr>
        <p:txBody>
          <a:bodyPr wrap="square">
            <a:spAutoFit/>
          </a:bodyPr>
          <a:lstStyle/>
          <a:p>
            <a:pPr marR="0" lvl="0" algn="l" defTabSz="914400" rtl="0" eaLnBrk="0" fontAlgn="base" latinLnBrk="0" hangingPunct="0">
              <a:lnSpc>
                <a:spcPct val="150000"/>
              </a:lnSpc>
              <a:spcBef>
                <a:spcPct val="0"/>
              </a:spcBef>
              <a:spcAft>
                <a:spcPct val="0"/>
              </a:spcAft>
              <a:buClrTx/>
              <a:buSzTx/>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其中，</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910269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02787-094E-B2A0-797F-0435C70A601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094C9A3-3940-A5E9-DB45-8AD092270A53}"/>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26F204CB-EFA7-F0A0-31B8-7032E38A33CB}"/>
              </a:ext>
            </a:extLst>
          </p:cNvPr>
          <p:cNvSpPr/>
          <p:nvPr/>
        </p:nvSpPr>
        <p:spPr>
          <a:xfrm>
            <a:off x="166155" y="976588"/>
            <a:ext cx="4061965"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聚类算法评价指标</a:t>
            </a:r>
          </a:p>
        </p:txBody>
      </p:sp>
      <p:sp>
        <p:nvSpPr>
          <p:cNvPr id="7" name="箭头: 五边形 11">
            <a:extLst>
              <a:ext uri="{FF2B5EF4-FFF2-40B4-BE49-F238E27FC236}">
                <a16:creationId xmlns:a16="http://schemas.microsoft.com/office/drawing/2014/main" id="{33591D57-FCBB-1E9C-FFEB-0A95B1466379}"/>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1.4</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4" name="矩形: 圆角 55">
            <a:extLst>
              <a:ext uri="{FF2B5EF4-FFF2-40B4-BE49-F238E27FC236}">
                <a16:creationId xmlns:a16="http://schemas.microsoft.com/office/drawing/2014/main" id="{B4EC81D5-B722-2960-60C2-1974F5499CB9}"/>
              </a:ext>
            </a:extLst>
          </p:cNvPr>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外部指标</a:t>
            </a:r>
          </a:p>
        </p:txBody>
      </p:sp>
      <p:sp>
        <p:nvSpPr>
          <p:cNvPr id="6" name="矩形 5">
            <a:extLst>
              <a:ext uri="{FF2B5EF4-FFF2-40B4-BE49-F238E27FC236}">
                <a16:creationId xmlns:a16="http://schemas.microsoft.com/office/drawing/2014/main" id="{D1ECD36A-0E1D-84A8-F5DC-1E343189FAE8}"/>
              </a:ext>
            </a:extLst>
          </p:cNvPr>
          <p:cNvSpPr/>
          <p:nvPr/>
        </p:nvSpPr>
        <p:spPr>
          <a:xfrm>
            <a:off x="2222053" y="1521418"/>
            <a:ext cx="9566824" cy="1135054"/>
          </a:xfrm>
          <a:prstGeom prst="rect">
            <a:avLst/>
          </a:prstGeom>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3</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Fowlkes-Mallows</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指数：通过计算</a:t>
            </a: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正确聚类的样本对比例</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来度量聚类结果的指标，取值范围是</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[0,1]</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表示最佳的聚类效果。</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 name="Rectangle 2">
            <a:extLst>
              <a:ext uri="{FF2B5EF4-FFF2-40B4-BE49-F238E27FC236}">
                <a16:creationId xmlns:a16="http://schemas.microsoft.com/office/drawing/2014/main" id="{44422823-93F9-639B-204F-401F868E681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4">
            <a:extLst>
              <a:ext uri="{FF2B5EF4-FFF2-40B4-BE49-F238E27FC236}">
                <a16:creationId xmlns:a16="http://schemas.microsoft.com/office/drawing/2014/main" id="{D6F44350-FD45-67A5-C7BC-60415B11EF9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
            <a:extLst>
              <a:ext uri="{FF2B5EF4-FFF2-40B4-BE49-F238E27FC236}">
                <a16:creationId xmlns:a16="http://schemas.microsoft.com/office/drawing/2014/main" id="{B75ACF19-A817-ACF3-B868-EBB707B4E2C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a:extLst>
              <a:ext uri="{FF2B5EF4-FFF2-40B4-BE49-F238E27FC236}">
                <a16:creationId xmlns:a16="http://schemas.microsoft.com/office/drawing/2014/main" id="{055B8C8F-38D5-65D4-9890-619E080A037C}"/>
              </a:ext>
            </a:extLst>
          </p:cNvPr>
          <p:cNvGraphicFramePr>
            <a:graphicFrameLocks noChangeAspect="1"/>
          </p:cNvGraphicFramePr>
          <p:nvPr/>
        </p:nvGraphicFramePr>
        <p:xfrm>
          <a:off x="3801689" y="2656472"/>
          <a:ext cx="4405354" cy="1135054"/>
        </p:xfrm>
        <a:graphic>
          <a:graphicData uri="http://schemas.openxmlformats.org/presentationml/2006/ole">
            <mc:AlternateContent xmlns:mc="http://schemas.openxmlformats.org/markup-compatibility/2006">
              <mc:Choice xmlns:v="urn:schemas-microsoft-com:vml" Requires="v">
                <p:oleObj name="Equation" r:id="rId3" imgW="1866900" imgH="482600" progId="Equation.DSMT4">
                  <p:embed/>
                </p:oleObj>
              </mc:Choice>
              <mc:Fallback>
                <p:oleObj name="Equation" r:id="rId3" imgW="1866900" imgH="482600" progId="Equation.DSMT4">
                  <p:embed/>
                  <p:pic>
                    <p:nvPicPr>
                      <p:cNvPr id="11" name="对象 10">
                        <a:extLst>
                          <a:ext uri="{FF2B5EF4-FFF2-40B4-BE49-F238E27FC236}">
                            <a16:creationId xmlns:a16="http://schemas.microsoft.com/office/drawing/2014/main" id="{055B8C8F-38D5-65D4-9890-619E080A03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1689" y="2656472"/>
                        <a:ext cx="4405354" cy="1135054"/>
                      </a:xfrm>
                      <a:prstGeom prst="rect">
                        <a:avLst/>
                      </a:prstGeom>
                      <a:noFill/>
                    </p:spPr>
                  </p:pic>
                </p:oleObj>
              </mc:Fallback>
            </mc:AlternateContent>
          </a:graphicData>
        </a:graphic>
      </p:graphicFrame>
      <p:sp>
        <p:nvSpPr>
          <p:cNvPr id="15" name="矩形 14">
            <a:extLst>
              <a:ext uri="{FF2B5EF4-FFF2-40B4-BE49-F238E27FC236}">
                <a16:creationId xmlns:a16="http://schemas.microsoft.com/office/drawing/2014/main" id="{3A8C4A17-D893-0192-9851-68885CED8010}"/>
              </a:ext>
            </a:extLst>
          </p:cNvPr>
          <p:cNvSpPr/>
          <p:nvPr/>
        </p:nvSpPr>
        <p:spPr>
          <a:xfrm>
            <a:off x="193005" y="3714022"/>
            <a:ext cx="11822014" cy="1689052"/>
          </a:xfrm>
          <a:prstGeom prst="rect">
            <a:avLst/>
          </a:prstGeom>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4</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）兰德系数（</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Rand Index</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RI</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）：通过计算</a:t>
            </a: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属于同一类别的样本对比例</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进行聚类结果度量的指标，主要用于比较聚类结果与已知的真实分类（或另一个聚类结果）之间的相似度。该系数的取值范围是</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[0,1] </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表示最理想的聚类效果。</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6" name="Rectangle 4">
            <a:extLst>
              <a:ext uri="{FF2B5EF4-FFF2-40B4-BE49-F238E27FC236}">
                <a16:creationId xmlns:a16="http://schemas.microsoft.com/office/drawing/2014/main" id="{751521F5-B10A-2C3B-A7D8-00D4B8371FD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a:extLst>
              <a:ext uri="{FF2B5EF4-FFF2-40B4-BE49-F238E27FC236}">
                <a16:creationId xmlns:a16="http://schemas.microsoft.com/office/drawing/2014/main" id="{42A5218B-D23E-50B5-AF61-59CFFD870C5E}"/>
              </a:ext>
            </a:extLst>
          </p:cNvPr>
          <p:cNvGraphicFramePr>
            <a:graphicFrameLocks noChangeAspect="1"/>
          </p:cNvGraphicFramePr>
          <p:nvPr/>
        </p:nvGraphicFramePr>
        <p:xfrm>
          <a:off x="3006843" y="5535562"/>
          <a:ext cx="6178314" cy="1173999"/>
        </p:xfrm>
        <a:graphic>
          <a:graphicData uri="http://schemas.openxmlformats.org/presentationml/2006/ole">
            <mc:AlternateContent xmlns:mc="http://schemas.openxmlformats.org/markup-compatibility/2006">
              <mc:Choice xmlns:v="urn:schemas-microsoft-com:vml" Requires="v">
                <p:oleObj name="Equation" r:id="rId5" imgW="2476500" imgH="469900" progId="Equation.DSMT4">
                  <p:embed/>
                </p:oleObj>
              </mc:Choice>
              <mc:Fallback>
                <p:oleObj name="Equation" r:id="rId5" imgW="2476500" imgH="469900" progId="Equation.DSMT4">
                  <p:embed/>
                  <p:pic>
                    <p:nvPicPr>
                      <p:cNvPr id="17" name="对象 16">
                        <a:extLst>
                          <a:ext uri="{FF2B5EF4-FFF2-40B4-BE49-F238E27FC236}">
                            <a16:creationId xmlns:a16="http://schemas.microsoft.com/office/drawing/2014/main" id="{42A5218B-D23E-50B5-AF61-59CFFD870C5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6843" y="5535562"/>
                        <a:ext cx="6178314" cy="1173999"/>
                      </a:xfrm>
                      <a:prstGeom prst="rect">
                        <a:avLst/>
                      </a:prstGeom>
                      <a:noFill/>
                    </p:spPr>
                  </p:pic>
                </p:oleObj>
              </mc:Fallback>
            </mc:AlternateContent>
          </a:graphicData>
        </a:graphic>
      </p:graphicFrame>
    </p:spTree>
    <p:extLst>
      <p:ext uri="{BB962C8B-B14F-4D97-AF65-F5344CB8AC3E}">
        <p14:creationId xmlns:p14="http://schemas.microsoft.com/office/powerpoint/2010/main" val="21443425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B571C-C966-CBEC-E4DE-AE0A942A27C9}"/>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E637D58-0640-926B-CADC-B360D5186EBD}"/>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3F2CAA91-90B9-272E-2334-C5D7F0FE721C}"/>
              </a:ext>
            </a:extLst>
          </p:cNvPr>
          <p:cNvSpPr/>
          <p:nvPr/>
        </p:nvSpPr>
        <p:spPr>
          <a:xfrm>
            <a:off x="166155" y="976588"/>
            <a:ext cx="4061965"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聚类算法评价指标</a:t>
            </a:r>
          </a:p>
        </p:txBody>
      </p:sp>
      <p:sp>
        <p:nvSpPr>
          <p:cNvPr id="7" name="箭头: 五边形 11">
            <a:extLst>
              <a:ext uri="{FF2B5EF4-FFF2-40B4-BE49-F238E27FC236}">
                <a16:creationId xmlns:a16="http://schemas.microsoft.com/office/drawing/2014/main" id="{523A1696-6D3F-7005-093E-58ECCEF00F21}"/>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1.4</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4" name="矩形: 圆角 55">
            <a:extLst>
              <a:ext uri="{FF2B5EF4-FFF2-40B4-BE49-F238E27FC236}">
                <a16:creationId xmlns:a16="http://schemas.microsoft.com/office/drawing/2014/main" id="{C5169961-ABFE-48DA-E49B-CCB8239DFD68}"/>
              </a:ext>
            </a:extLst>
          </p:cNvPr>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lang="zh-CN" altLang="en-US" sz="2667"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内</a:t>
            </a: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部指标</a:t>
            </a:r>
          </a:p>
        </p:txBody>
      </p:sp>
      <p:sp>
        <p:nvSpPr>
          <p:cNvPr id="6" name="矩形 5">
            <a:extLst>
              <a:ext uri="{FF2B5EF4-FFF2-40B4-BE49-F238E27FC236}">
                <a16:creationId xmlns:a16="http://schemas.microsoft.com/office/drawing/2014/main" id="{C3F2111D-D93D-D2AD-EE07-0ABA233CE1EA}"/>
              </a:ext>
            </a:extLst>
          </p:cNvPr>
          <p:cNvSpPr/>
          <p:nvPr/>
        </p:nvSpPr>
        <p:spPr>
          <a:xfrm>
            <a:off x="166154" y="2520818"/>
            <a:ext cx="11337588" cy="1135054"/>
          </a:xfrm>
          <a:prstGeom prst="rect">
            <a:avLst/>
          </a:prstGeom>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）轮廓系数（</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Silhouette Coefficient</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SC</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）：通过计算数据的</a:t>
            </a: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簇内平均距离和簇间平均距离</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进行聚类效果评估的指标。</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 name="Rectangle 2">
            <a:extLst>
              <a:ext uri="{FF2B5EF4-FFF2-40B4-BE49-F238E27FC236}">
                <a16:creationId xmlns:a16="http://schemas.microsoft.com/office/drawing/2014/main" id="{EA160E7A-70D0-03FB-7714-50ECA8277711}"/>
              </a:ext>
            </a:extLst>
          </p:cNvPr>
          <p:cNvSpPr txBox="1">
            <a:spLocks noChangeArrowheads="1"/>
          </p:cNvSpPr>
          <p:nvPr/>
        </p:nvSpPr>
        <p:spPr>
          <a:xfrm>
            <a:off x="2197137" y="1587154"/>
            <a:ext cx="9089502" cy="933664"/>
          </a:xfrm>
          <a:prstGeom prst="rect">
            <a:avLst/>
          </a:prstGeom>
          <a:ln>
            <a:solidFill>
              <a:schemeClr val="tx1"/>
            </a:solidFill>
          </a:ln>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r>
              <a:rPr lang="zh-CN" altLang="en-US" sz="2400" dirty="0">
                <a:solidFill>
                  <a:schemeClr val="tx1"/>
                </a:solidFill>
                <a:effectLst/>
              </a:rPr>
              <a:t>不依赖外部标签，仅通过</a:t>
            </a:r>
            <a:r>
              <a:rPr lang="zh-CN" altLang="en-US" sz="2400" dirty="0">
                <a:solidFill>
                  <a:srgbClr val="FF0000"/>
                </a:solidFill>
                <a:effectLst/>
              </a:rPr>
              <a:t>簇内相似度和簇间相异度</a:t>
            </a:r>
            <a:r>
              <a:rPr lang="zh-CN" altLang="en-US" sz="2400" dirty="0">
                <a:solidFill>
                  <a:schemeClr val="tx1"/>
                </a:solidFill>
                <a:effectLst/>
              </a:rPr>
              <a:t>的计算对聚类结果进行度量。</a:t>
            </a:r>
          </a:p>
        </p:txBody>
      </p:sp>
      <p:sp>
        <p:nvSpPr>
          <p:cNvPr id="8" name="矩形 7">
            <a:extLst>
              <a:ext uri="{FF2B5EF4-FFF2-40B4-BE49-F238E27FC236}">
                <a16:creationId xmlns:a16="http://schemas.microsoft.com/office/drawing/2014/main" id="{B79AA666-5521-FAC1-5761-C8B33341A409}"/>
              </a:ext>
            </a:extLst>
          </p:cNvPr>
          <p:cNvSpPr/>
          <p:nvPr/>
        </p:nvSpPr>
        <p:spPr>
          <a:xfrm>
            <a:off x="564670" y="3655872"/>
            <a:ext cx="4400619" cy="581057"/>
          </a:xfrm>
          <a:prstGeom prst="rect">
            <a:avLst/>
          </a:prstGeom>
        </p:spPr>
        <p:txBody>
          <a:bodyPr wrap="square">
            <a:spAutoFit/>
          </a:bodyPr>
          <a:lstStyle/>
          <a:p>
            <a:pPr marR="0" lvl="0" algn="l" defTabSz="914400" rtl="0" eaLnBrk="0" fontAlgn="base" latinLnBrk="0" hangingPunct="0">
              <a:lnSpc>
                <a:spcPct val="150000"/>
              </a:lnSpc>
              <a:spcBef>
                <a:spcPct val="0"/>
              </a:spcBef>
              <a:spcAft>
                <a:spcPct val="0"/>
              </a:spcAft>
              <a:buClrTx/>
              <a:buSzTx/>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样本  的轮廓系数的计算如下：</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 name="Rectangle 2">
            <a:extLst>
              <a:ext uri="{FF2B5EF4-FFF2-40B4-BE49-F238E27FC236}">
                <a16:creationId xmlns:a16="http://schemas.microsoft.com/office/drawing/2014/main" id="{FD973E3E-9334-6D54-2E97-8572ED95497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a:extLst>
              <a:ext uri="{FF2B5EF4-FFF2-40B4-BE49-F238E27FC236}">
                <a16:creationId xmlns:a16="http://schemas.microsoft.com/office/drawing/2014/main" id="{FBCDA9FB-4073-16C8-B7BA-5A653495CF64}"/>
              </a:ext>
            </a:extLst>
          </p:cNvPr>
          <p:cNvGraphicFramePr>
            <a:graphicFrameLocks noChangeAspect="1"/>
          </p:cNvGraphicFramePr>
          <p:nvPr/>
        </p:nvGraphicFramePr>
        <p:xfrm>
          <a:off x="1205355" y="3784645"/>
          <a:ext cx="329286" cy="452284"/>
        </p:xfrm>
        <a:graphic>
          <a:graphicData uri="http://schemas.openxmlformats.org/presentationml/2006/ole">
            <mc:AlternateContent xmlns:mc="http://schemas.openxmlformats.org/markup-compatibility/2006">
              <mc:Choice xmlns:v="urn:schemas-microsoft-com:vml" Requires="v">
                <p:oleObj name="Equation" r:id="rId3" imgW="88560" imgH="164880" progId="Equation.DSMT4">
                  <p:embed/>
                </p:oleObj>
              </mc:Choice>
              <mc:Fallback>
                <p:oleObj name="Equation" r:id="rId3" imgW="88560" imgH="164880" progId="Equation.DSMT4">
                  <p:embed/>
                  <p:pic>
                    <p:nvPicPr>
                      <p:cNvPr id="11" name="对象 10">
                        <a:extLst>
                          <a:ext uri="{FF2B5EF4-FFF2-40B4-BE49-F238E27FC236}">
                            <a16:creationId xmlns:a16="http://schemas.microsoft.com/office/drawing/2014/main" id="{FBCDA9FB-4073-16C8-B7BA-5A653495CF64}"/>
                          </a:ext>
                        </a:extLst>
                      </p:cNvPr>
                      <p:cNvPicPr>
                        <a:picLocks noChangeAspect="1" noChangeArrowheads="1"/>
                      </p:cNvPicPr>
                      <p:nvPr/>
                    </p:nvPicPr>
                    <p:blipFill>
                      <a:blip r:embed="rId4"/>
                      <a:srcRect/>
                      <a:stretch>
                        <a:fillRect/>
                      </a:stretch>
                    </p:blipFill>
                    <p:spPr bwMode="auto">
                      <a:xfrm>
                        <a:off x="1205355" y="3784645"/>
                        <a:ext cx="329286" cy="452284"/>
                      </a:xfrm>
                      <a:prstGeom prst="rect">
                        <a:avLst/>
                      </a:prstGeom>
                      <a:noFill/>
                    </p:spPr>
                  </p:pic>
                </p:oleObj>
              </mc:Fallback>
            </mc:AlternateContent>
          </a:graphicData>
        </a:graphic>
      </p:graphicFrame>
      <p:sp>
        <p:nvSpPr>
          <p:cNvPr id="12" name="Rectangle 4">
            <a:extLst>
              <a:ext uri="{FF2B5EF4-FFF2-40B4-BE49-F238E27FC236}">
                <a16:creationId xmlns:a16="http://schemas.microsoft.com/office/drawing/2014/main" id="{838AF627-8672-5546-B4D3-D9B849A018E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a:extLst>
              <a:ext uri="{FF2B5EF4-FFF2-40B4-BE49-F238E27FC236}">
                <a16:creationId xmlns:a16="http://schemas.microsoft.com/office/drawing/2014/main" id="{543E88FA-5454-E4EE-AD7B-8D3E0D572B16}"/>
              </a:ext>
            </a:extLst>
          </p:cNvPr>
          <p:cNvGraphicFramePr>
            <a:graphicFrameLocks noChangeAspect="1"/>
          </p:cNvGraphicFramePr>
          <p:nvPr/>
        </p:nvGraphicFramePr>
        <p:xfrm>
          <a:off x="4884758" y="4349995"/>
          <a:ext cx="2422484" cy="944358"/>
        </p:xfrm>
        <a:graphic>
          <a:graphicData uri="http://schemas.openxmlformats.org/presentationml/2006/ole">
            <mc:AlternateContent xmlns:mc="http://schemas.openxmlformats.org/markup-compatibility/2006">
              <mc:Choice xmlns:v="urn:schemas-microsoft-com:vml" Requires="v">
                <p:oleObj name="Equation" r:id="rId5" imgW="1129810" imgH="444307" progId="Equation.DSMT4">
                  <p:embed/>
                </p:oleObj>
              </mc:Choice>
              <mc:Fallback>
                <p:oleObj name="Equation" r:id="rId5" imgW="1129810" imgH="444307" progId="Equation.DSMT4">
                  <p:embed/>
                  <p:pic>
                    <p:nvPicPr>
                      <p:cNvPr id="13" name="对象 12">
                        <a:extLst>
                          <a:ext uri="{FF2B5EF4-FFF2-40B4-BE49-F238E27FC236}">
                            <a16:creationId xmlns:a16="http://schemas.microsoft.com/office/drawing/2014/main" id="{543E88FA-5454-E4EE-AD7B-8D3E0D572B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84758" y="4349995"/>
                        <a:ext cx="2422484" cy="944358"/>
                      </a:xfrm>
                      <a:prstGeom prst="rect">
                        <a:avLst/>
                      </a:prstGeom>
                      <a:noFill/>
                    </p:spPr>
                  </p:pic>
                </p:oleObj>
              </mc:Fallback>
            </mc:AlternateContent>
          </a:graphicData>
        </a:graphic>
      </p:graphicFrame>
      <p:sp>
        <p:nvSpPr>
          <p:cNvPr id="14" name="Rectangle 2">
            <a:extLst>
              <a:ext uri="{FF2B5EF4-FFF2-40B4-BE49-F238E27FC236}">
                <a16:creationId xmlns:a16="http://schemas.microsoft.com/office/drawing/2014/main" id="{80F15571-EA39-0A0A-BBA3-A4AFFB1EE706}"/>
              </a:ext>
            </a:extLst>
          </p:cNvPr>
          <p:cNvSpPr txBox="1">
            <a:spLocks noChangeArrowheads="1"/>
          </p:cNvSpPr>
          <p:nvPr/>
        </p:nvSpPr>
        <p:spPr>
          <a:xfrm>
            <a:off x="6674262" y="3802323"/>
            <a:ext cx="1485899" cy="39732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zh-CN" altLang="en-US" sz="2400" dirty="0">
                <a:solidFill>
                  <a:srgbClr val="00CCFF"/>
                </a:solidFill>
                <a:effectLst/>
              </a:rPr>
              <a:t>内聚度</a:t>
            </a:r>
          </a:p>
        </p:txBody>
      </p:sp>
      <p:sp>
        <p:nvSpPr>
          <p:cNvPr id="15" name="Rectangle 2">
            <a:extLst>
              <a:ext uri="{FF2B5EF4-FFF2-40B4-BE49-F238E27FC236}">
                <a16:creationId xmlns:a16="http://schemas.microsoft.com/office/drawing/2014/main" id="{7D4FB4C0-6FAD-2EDD-5A8B-81B01F4A2D32}"/>
              </a:ext>
            </a:extLst>
          </p:cNvPr>
          <p:cNvSpPr txBox="1">
            <a:spLocks noChangeArrowheads="1"/>
          </p:cNvSpPr>
          <p:nvPr/>
        </p:nvSpPr>
        <p:spPr>
          <a:xfrm>
            <a:off x="5076826" y="3801825"/>
            <a:ext cx="1485899" cy="39732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zh-CN" altLang="en-US" sz="2400" dirty="0">
                <a:solidFill>
                  <a:srgbClr val="00CCFF"/>
                </a:solidFill>
                <a:effectLst/>
              </a:rPr>
              <a:t>分离度</a:t>
            </a:r>
          </a:p>
        </p:txBody>
      </p:sp>
      <p:cxnSp>
        <p:nvCxnSpPr>
          <p:cNvPr id="17" name="直接箭头连接符 16">
            <a:extLst>
              <a:ext uri="{FF2B5EF4-FFF2-40B4-BE49-F238E27FC236}">
                <a16:creationId xmlns:a16="http://schemas.microsoft.com/office/drawing/2014/main" id="{D89D1F1A-F7B8-88B7-35BD-8AEF1B9DF231}"/>
              </a:ext>
            </a:extLst>
          </p:cNvPr>
          <p:cNvCxnSpPr>
            <a:cxnSpLocks/>
          </p:cNvCxnSpPr>
          <p:nvPr/>
        </p:nvCxnSpPr>
        <p:spPr>
          <a:xfrm flipV="1">
            <a:off x="6741888" y="4199153"/>
            <a:ext cx="289130" cy="182347"/>
          </a:xfrm>
          <a:prstGeom prst="straightConnector1">
            <a:avLst/>
          </a:prstGeom>
          <a:ln w="28575">
            <a:solidFill>
              <a:srgbClr val="00CCFF"/>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0CB9C2A4-3B7A-177C-5E41-AD7741526436}"/>
              </a:ext>
            </a:extLst>
          </p:cNvPr>
          <p:cNvCxnSpPr>
            <a:cxnSpLocks/>
            <a:stCxn id="13" idx="0"/>
            <a:endCxn id="15" idx="2"/>
          </p:cNvCxnSpPr>
          <p:nvPr/>
        </p:nvCxnSpPr>
        <p:spPr>
          <a:xfrm flipH="1" flipV="1">
            <a:off x="5819776" y="4199153"/>
            <a:ext cx="276224" cy="150842"/>
          </a:xfrm>
          <a:prstGeom prst="straightConnector1">
            <a:avLst/>
          </a:prstGeom>
          <a:ln w="28575">
            <a:solidFill>
              <a:srgbClr val="00CCFF"/>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1AEE6340-E975-4F77-D311-4FD31D94A4BF}"/>
              </a:ext>
            </a:extLst>
          </p:cNvPr>
          <p:cNvSpPr/>
          <p:nvPr/>
        </p:nvSpPr>
        <p:spPr>
          <a:xfrm>
            <a:off x="564670" y="5192955"/>
            <a:ext cx="10322405" cy="1135054"/>
          </a:xfrm>
          <a:prstGeom prst="rect">
            <a:avLst/>
          </a:prstGeom>
        </p:spPr>
        <p:txBody>
          <a:bodyPr wrap="square">
            <a:spAutoFit/>
          </a:bodyPr>
          <a:lstStyle/>
          <a:p>
            <a:pPr marR="0" lvl="0" algn="l" defTabSz="914400" rtl="0" eaLnBrk="0" fontAlgn="base" latinLnBrk="0" hangingPunct="0">
              <a:lnSpc>
                <a:spcPct val="150000"/>
              </a:lnSpc>
              <a:spcBef>
                <a:spcPct val="0"/>
              </a:spcBef>
              <a:spcAft>
                <a:spcPct val="0"/>
              </a:spcAft>
              <a:buClrTx/>
              <a:buSzTx/>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所有样本轮廓系数的平均值可以作为数据集的轮廓系数，轮廓系数的取值范围是</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[-1,1]</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，值越高表示聚类效果越好。</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449960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4"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16E00-D556-50E0-0F99-C331BF25F919}"/>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4D5DB7B-A6D8-79BF-2EA0-69E9C19FAC3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2A7351E2-FE81-586A-5DC6-DC26FC344C28}"/>
              </a:ext>
            </a:extLst>
          </p:cNvPr>
          <p:cNvSpPr/>
          <p:nvPr/>
        </p:nvSpPr>
        <p:spPr>
          <a:xfrm>
            <a:off x="166155" y="976588"/>
            <a:ext cx="4061965"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聚类算法评价指标</a:t>
            </a:r>
          </a:p>
        </p:txBody>
      </p:sp>
      <p:sp>
        <p:nvSpPr>
          <p:cNvPr id="7" name="箭头: 五边形 11">
            <a:extLst>
              <a:ext uri="{FF2B5EF4-FFF2-40B4-BE49-F238E27FC236}">
                <a16:creationId xmlns:a16="http://schemas.microsoft.com/office/drawing/2014/main" id="{04D273F0-53F8-43E7-95A4-706C283DE4F3}"/>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1.4</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4" name="矩形: 圆角 55">
            <a:extLst>
              <a:ext uri="{FF2B5EF4-FFF2-40B4-BE49-F238E27FC236}">
                <a16:creationId xmlns:a16="http://schemas.microsoft.com/office/drawing/2014/main" id="{19F4389F-95D0-AB12-E2C5-DB87FF6ABFDD}"/>
              </a:ext>
            </a:extLst>
          </p:cNvPr>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lang="zh-CN" altLang="en-US" sz="2667"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内</a:t>
            </a: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部指标</a:t>
            </a:r>
          </a:p>
        </p:txBody>
      </p:sp>
      <p:sp>
        <p:nvSpPr>
          <p:cNvPr id="6" name="矩形 5">
            <a:extLst>
              <a:ext uri="{FF2B5EF4-FFF2-40B4-BE49-F238E27FC236}">
                <a16:creationId xmlns:a16="http://schemas.microsoft.com/office/drawing/2014/main" id="{7A652BAE-8ED6-D6FE-002E-5AEDA7A9E30D}"/>
              </a:ext>
            </a:extLst>
          </p:cNvPr>
          <p:cNvSpPr/>
          <p:nvPr/>
        </p:nvSpPr>
        <p:spPr>
          <a:xfrm>
            <a:off x="2255459" y="1634484"/>
            <a:ext cx="9261987" cy="1689052"/>
          </a:xfrm>
          <a:prstGeom prst="rect">
            <a:avLst/>
          </a:prstGeom>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rPr>
              <a:t>Calinski-Harabasz</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指数：通过计算</a:t>
            </a: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簇内的方差和簇间的方差</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进行聚类效果评估的指标，指数值越高表示簇间距离大、簇内距离小，聚类效果越好。</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 name="Rectangle 2">
            <a:extLst>
              <a:ext uri="{FF2B5EF4-FFF2-40B4-BE49-F238E27FC236}">
                <a16:creationId xmlns:a16="http://schemas.microsoft.com/office/drawing/2014/main" id="{3E756DBA-BCD7-5B61-3CBB-82FF390A01E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4">
            <a:extLst>
              <a:ext uri="{FF2B5EF4-FFF2-40B4-BE49-F238E27FC236}">
                <a16:creationId xmlns:a16="http://schemas.microsoft.com/office/drawing/2014/main" id="{3BF33A8A-C431-2AC0-78D5-B841A61C659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a:extLst>
              <a:ext uri="{FF2B5EF4-FFF2-40B4-BE49-F238E27FC236}">
                <a16:creationId xmlns:a16="http://schemas.microsoft.com/office/drawing/2014/main" id="{CF0D0F9A-659D-6B9D-D6A0-001DFE6A74AE}"/>
              </a:ext>
            </a:extLst>
          </p:cNvPr>
          <p:cNvSpPr txBox="1">
            <a:spLocks noChangeArrowheads="1"/>
          </p:cNvSpPr>
          <p:nvPr/>
        </p:nvSpPr>
        <p:spPr>
          <a:xfrm>
            <a:off x="107272" y="4120892"/>
            <a:ext cx="2058883" cy="39732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zh-CN" altLang="en-US" sz="2400" dirty="0">
                <a:solidFill>
                  <a:srgbClr val="00CCFF"/>
                </a:solidFill>
                <a:effectLst/>
              </a:rPr>
              <a:t>簇内散度矩阵</a:t>
            </a:r>
          </a:p>
        </p:txBody>
      </p:sp>
      <p:sp>
        <p:nvSpPr>
          <p:cNvPr id="15" name="Rectangle 2">
            <a:extLst>
              <a:ext uri="{FF2B5EF4-FFF2-40B4-BE49-F238E27FC236}">
                <a16:creationId xmlns:a16="http://schemas.microsoft.com/office/drawing/2014/main" id="{E04AE8B9-0A1E-4805-FFD2-81A1A4BF68E9}"/>
              </a:ext>
            </a:extLst>
          </p:cNvPr>
          <p:cNvSpPr txBox="1">
            <a:spLocks noChangeArrowheads="1"/>
          </p:cNvSpPr>
          <p:nvPr/>
        </p:nvSpPr>
        <p:spPr>
          <a:xfrm>
            <a:off x="76293" y="2917476"/>
            <a:ext cx="2058883" cy="39732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zh-CN" altLang="en-US" sz="2400" dirty="0">
                <a:solidFill>
                  <a:srgbClr val="00CCFF"/>
                </a:solidFill>
                <a:effectLst/>
              </a:rPr>
              <a:t>簇间散度矩阵</a:t>
            </a:r>
          </a:p>
        </p:txBody>
      </p:sp>
      <p:cxnSp>
        <p:nvCxnSpPr>
          <p:cNvPr id="17" name="直接箭头连接符 16">
            <a:extLst>
              <a:ext uri="{FF2B5EF4-FFF2-40B4-BE49-F238E27FC236}">
                <a16:creationId xmlns:a16="http://schemas.microsoft.com/office/drawing/2014/main" id="{7214F346-A18A-644D-C2EC-10C8D956F38F}"/>
              </a:ext>
            </a:extLst>
          </p:cNvPr>
          <p:cNvCxnSpPr>
            <a:cxnSpLocks/>
            <a:endCxn id="21" idx="3"/>
          </p:cNvCxnSpPr>
          <p:nvPr/>
        </p:nvCxnSpPr>
        <p:spPr>
          <a:xfrm flipH="1">
            <a:off x="4299868" y="4593210"/>
            <a:ext cx="1510997" cy="262377"/>
          </a:xfrm>
          <a:prstGeom prst="straightConnector1">
            <a:avLst/>
          </a:prstGeom>
          <a:ln w="28575">
            <a:solidFill>
              <a:srgbClr val="00CCFF"/>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0CFAF7E9-68B2-F2E5-897F-E7DFE97A0628}"/>
              </a:ext>
            </a:extLst>
          </p:cNvPr>
          <p:cNvCxnSpPr>
            <a:cxnSpLocks/>
          </p:cNvCxnSpPr>
          <p:nvPr/>
        </p:nvCxnSpPr>
        <p:spPr>
          <a:xfrm flipH="1" flipV="1">
            <a:off x="4248502" y="3631076"/>
            <a:ext cx="1562363" cy="302503"/>
          </a:xfrm>
          <a:prstGeom prst="straightConnector1">
            <a:avLst/>
          </a:prstGeom>
          <a:ln w="28575">
            <a:solidFill>
              <a:srgbClr val="00CCFF"/>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0595A8BF-4BC3-EFFB-8920-1C1462D43097}"/>
              </a:ext>
            </a:extLst>
          </p:cNvPr>
          <p:cNvSpPr/>
          <p:nvPr/>
        </p:nvSpPr>
        <p:spPr>
          <a:xfrm>
            <a:off x="843164" y="5298418"/>
            <a:ext cx="10322405" cy="1135054"/>
          </a:xfrm>
          <a:prstGeom prst="rect">
            <a:avLst/>
          </a:prstGeom>
        </p:spPr>
        <p:txBody>
          <a:bodyPr wrap="square">
            <a:spAutoFit/>
          </a:bodyPr>
          <a:lstStyle/>
          <a:p>
            <a:pPr marR="0" lvl="0" algn="l" defTabSz="914400" rtl="0" eaLnBrk="0" fontAlgn="base" latinLnBrk="0" hangingPunct="0">
              <a:lnSpc>
                <a:spcPct val="150000"/>
              </a:lnSpc>
              <a:spcBef>
                <a:spcPct val="0"/>
              </a:spcBef>
              <a:spcAft>
                <a:spcPct val="0"/>
              </a:spcAft>
              <a:buClrTx/>
              <a:buSzTx/>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其中，  为样本，   为簇的样本集合，   为簇的质心，  为数据集的质心，  为簇的样本数量，  为聚类数。</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 name="Rectangle 2">
            <a:extLst>
              <a:ext uri="{FF2B5EF4-FFF2-40B4-BE49-F238E27FC236}">
                <a16:creationId xmlns:a16="http://schemas.microsoft.com/office/drawing/2014/main" id="{94552061-0869-09BA-9FE1-72BCD16EE14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a:extLst>
              <a:ext uri="{FF2B5EF4-FFF2-40B4-BE49-F238E27FC236}">
                <a16:creationId xmlns:a16="http://schemas.microsoft.com/office/drawing/2014/main" id="{2C0F9F37-50C1-61EE-3143-F9A22D5B0DC1}"/>
              </a:ext>
            </a:extLst>
          </p:cNvPr>
          <p:cNvGraphicFramePr>
            <a:graphicFrameLocks noChangeAspect="1"/>
          </p:cNvGraphicFramePr>
          <p:nvPr/>
        </p:nvGraphicFramePr>
        <p:xfrm>
          <a:off x="4403645" y="3675805"/>
          <a:ext cx="3202870" cy="1135053"/>
        </p:xfrm>
        <a:graphic>
          <a:graphicData uri="http://schemas.openxmlformats.org/presentationml/2006/ole">
            <mc:AlternateContent xmlns:mc="http://schemas.openxmlformats.org/markup-compatibility/2006">
              <mc:Choice xmlns:v="urn:schemas-microsoft-com:vml" Requires="v">
                <p:oleObj name="Equation" r:id="rId3" imgW="1371600" imgH="469900" progId="Equation.DSMT4">
                  <p:embed/>
                </p:oleObj>
              </mc:Choice>
              <mc:Fallback>
                <p:oleObj name="Equation" r:id="rId3" imgW="1371600" imgH="469900" progId="Equation.DSMT4">
                  <p:embed/>
                  <p:pic>
                    <p:nvPicPr>
                      <p:cNvPr id="16" name="对象 15">
                        <a:extLst>
                          <a:ext uri="{FF2B5EF4-FFF2-40B4-BE49-F238E27FC236}">
                            <a16:creationId xmlns:a16="http://schemas.microsoft.com/office/drawing/2014/main" id="{2C0F9F37-50C1-61EE-3143-F9A22D5B0D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3645" y="3675805"/>
                        <a:ext cx="3202870" cy="1135053"/>
                      </a:xfrm>
                      <a:prstGeom prst="rect">
                        <a:avLst/>
                      </a:prstGeom>
                      <a:noFill/>
                    </p:spPr>
                  </p:pic>
                </p:oleObj>
              </mc:Fallback>
            </mc:AlternateContent>
          </a:graphicData>
        </a:graphic>
      </p:graphicFrame>
      <p:sp>
        <p:nvSpPr>
          <p:cNvPr id="20" name="Rectangle 4">
            <a:extLst>
              <a:ext uri="{FF2B5EF4-FFF2-40B4-BE49-F238E27FC236}">
                <a16:creationId xmlns:a16="http://schemas.microsoft.com/office/drawing/2014/main" id="{D53A3796-73BB-13A4-89FD-1B0B0192968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 name="对象 20">
            <a:extLst>
              <a:ext uri="{FF2B5EF4-FFF2-40B4-BE49-F238E27FC236}">
                <a16:creationId xmlns:a16="http://schemas.microsoft.com/office/drawing/2014/main" id="{B88E3E5F-D95E-59DC-C028-BBE806088468}"/>
              </a:ext>
            </a:extLst>
          </p:cNvPr>
          <p:cNvGraphicFramePr>
            <a:graphicFrameLocks noChangeAspect="1"/>
          </p:cNvGraphicFramePr>
          <p:nvPr/>
        </p:nvGraphicFramePr>
        <p:xfrm>
          <a:off x="107272" y="4538384"/>
          <a:ext cx="4192596" cy="634407"/>
        </p:xfrm>
        <a:graphic>
          <a:graphicData uri="http://schemas.openxmlformats.org/presentationml/2006/ole">
            <mc:AlternateContent xmlns:mc="http://schemas.openxmlformats.org/markup-compatibility/2006">
              <mc:Choice xmlns:v="urn:schemas-microsoft-com:vml" Requires="v">
                <p:oleObj name="Equation" r:id="rId5" imgW="2184400" imgH="330200" progId="Equation.DSMT4">
                  <p:embed/>
                </p:oleObj>
              </mc:Choice>
              <mc:Fallback>
                <p:oleObj name="Equation" r:id="rId5" imgW="2184400" imgH="330200" progId="Equation.DSMT4">
                  <p:embed/>
                  <p:pic>
                    <p:nvPicPr>
                      <p:cNvPr id="21" name="对象 20">
                        <a:extLst>
                          <a:ext uri="{FF2B5EF4-FFF2-40B4-BE49-F238E27FC236}">
                            <a16:creationId xmlns:a16="http://schemas.microsoft.com/office/drawing/2014/main" id="{B88E3E5F-D95E-59DC-C028-BBE8060884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272" y="4538384"/>
                        <a:ext cx="4192596" cy="634407"/>
                      </a:xfrm>
                      <a:prstGeom prst="rect">
                        <a:avLst/>
                      </a:prstGeom>
                      <a:noFill/>
                    </p:spPr>
                  </p:pic>
                </p:oleObj>
              </mc:Fallback>
            </mc:AlternateContent>
          </a:graphicData>
        </a:graphic>
      </p:graphicFrame>
      <p:sp>
        <p:nvSpPr>
          <p:cNvPr id="24" name="Rectangle 6">
            <a:extLst>
              <a:ext uri="{FF2B5EF4-FFF2-40B4-BE49-F238E27FC236}">
                <a16:creationId xmlns:a16="http://schemas.microsoft.com/office/drawing/2014/main" id="{84F2CA00-21B3-7E15-911F-57F4BEAF1C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5" name="对象 24">
            <a:extLst>
              <a:ext uri="{FF2B5EF4-FFF2-40B4-BE49-F238E27FC236}">
                <a16:creationId xmlns:a16="http://schemas.microsoft.com/office/drawing/2014/main" id="{ED490BE6-3B37-9CAB-E161-6A366420A68B}"/>
              </a:ext>
            </a:extLst>
          </p:cNvPr>
          <p:cNvGraphicFramePr>
            <a:graphicFrameLocks noChangeAspect="1"/>
          </p:cNvGraphicFramePr>
          <p:nvPr/>
        </p:nvGraphicFramePr>
        <p:xfrm>
          <a:off x="76293" y="3399363"/>
          <a:ext cx="4061966" cy="668916"/>
        </p:xfrm>
        <a:graphic>
          <a:graphicData uri="http://schemas.openxmlformats.org/presentationml/2006/ole">
            <mc:AlternateContent xmlns:mc="http://schemas.openxmlformats.org/markup-compatibility/2006">
              <mc:Choice xmlns:v="urn:schemas-microsoft-com:vml" Requires="v">
                <p:oleObj name="Equation" r:id="rId7" imgW="1993035" imgH="317362" progId="Equation.DSMT4">
                  <p:embed/>
                </p:oleObj>
              </mc:Choice>
              <mc:Fallback>
                <p:oleObj name="Equation" r:id="rId7" imgW="1993035" imgH="317362" progId="Equation.DSMT4">
                  <p:embed/>
                  <p:pic>
                    <p:nvPicPr>
                      <p:cNvPr id="25" name="对象 24">
                        <a:extLst>
                          <a:ext uri="{FF2B5EF4-FFF2-40B4-BE49-F238E27FC236}">
                            <a16:creationId xmlns:a16="http://schemas.microsoft.com/office/drawing/2014/main" id="{ED490BE6-3B37-9CAB-E161-6A366420A68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93" y="3399363"/>
                        <a:ext cx="4061966" cy="668916"/>
                      </a:xfrm>
                      <a:prstGeom prst="rect">
                        <a:avLst/>
                      </a:prstGeom>
                      <a:noFill/>
                    </p:spPr>
                  </p:pic>
                </p:oleObj>
              </mc:Fallback>
            </mc:AlternateContent>
          </a:graphicData>
        </a:graphic>
      </p:graphicFrame>
      <p:sp>
        <p:nvSpPr>
          <p:cNvPr id="41" name="Rectangle 8">
            <a:extLst>
              <a:ext uri="{FF2B5EF4-FFF2-40B4-BE49-F238E27FC236}">
                <a16:creationId xmlns:a16="http://schemas.microsoft.com/office/drawing/2014/main" id="{E6870BA5-B43F-AB8A-12BF-6743F21BF5E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2" name="对象 41">
            <a:extLst>
              <a:ext uri="{FF2B5EF4-FFF2-40B4-BE49-F238E27FC236}">
                <a16:creationId xmlns:a16="http://schemas.microsoft.com/office/drawing/2014/main" id="{75E7C5DA-B45A-9F43-8C18-BCDF828BF641}"/>
              </a:ext>
            </a:extLst>
          </p:cNvPr>
          <p:cNvGraphicFramePr>
            <a:graphicFrameLocks noChangeAspect="1"/>
          </p:cNvGraphicFramePr>
          <p:nvPr/>
        </p:nvGraphicFramePr>
        <p:xfrm>
          <a:off x="1719016" y="5519857"/>
          <a:ext cx="295275" cy="280988"/>
        </p:xfrm>
        <a:graphic>
          <a:graphicData uri="http://schemas.openxmlformats.org/presentationml/2006/ole">
            <mc:AlternateContent xmlns:mc="http://schemas.openxmlformats.org/markup-compatibility/2006">
              <mc:Choice xmlns:v="urn:schemas-microsoft-com:vml" Requires="v">
                <p:oleObj name="Equation" r:id="rId9" imgW="291960" imgH="304560" progId="Equation.DSMT4">
                  <p:embed/>
                </p:oleObj>
              </mc:Choice>
              <mc:Fallback>
                <p:oleObj name="Equation" r:id="rId9" imgW="291960" imgH="304560" progId="Equation.DSMT4">
                  <p:embed/>
                  <p:pic>
                    <p:nvPicPr>
                      <p:cNvPr id="42" name="对象 41">
                        <a:extLst>
                          <a:ext uri="{FF2B5EF4-FFF2-40B4-BE49-F238E27FC236}">
                            <a16:creationId xmlns:a16="http://schemas.microsoft.com/office/drawing/2014/main" id="{75E7C5DA-B45A-9F43-8C18-BCDF828BF641}"/>
                          </a:ext>
                        </a:extLst>
                      </p:cNvPr>
                      <p:cNvPicPr>
                        <a:picLocks noChangeAspect="1" noChangeArrowheads="1"/>
                      </p:cNvPicPr>
                      <p:nvPr/>
                    </p:nvPicPr>
                    <p:blipFill>
                      <a:blip r:embed="rId10"/>
                      <a:srcRect/>
                      <a:stretch>
                        <a:fillRect/>
                      </a:stretch>
                    </p:blipFill>
                    <p:spPr bwMode="auto">
                      <a:xfrm>
                        <a:off x="1719016" y="5519857"/>
                        <a:ext cx="295275" cy="280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Rectangle 10">
            <a:extLst>
              <a:ext uri="{FF2B5EF4-FFF2-40B4-BE49-F238E27FC236}">
                <a16:creationId xmlns:a16="http://schemas.microsoft.com/office/drawing/2014/main" id="{5B97A2F6-C813-41C7-E967-BF1D0AE45D1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4" name="对象 43">
            <a:extLst>
              <a:ext uri="{FF2B5EF4-FFF2-40B4-BE49-F238E27FC236}">
                <a16:creationId xmlns:a16="http://schemas.microsoft.com/office/drawing/2014/main" id="{855FD204-6CC5-958C-1827-BD0D0B74B13F}"/>
              </a:ext>
            </a:extLst>
          </p:cNvPr>
          <p:cNvGraphicFramePr>
            <a:graphicFrameLocks noChangeAspect="1"/>
          </p:cNvGraphicFramePr>
          <p:nvPr/>
        </p:nvGraphicFramePr>
        <p:xfrm>
          <a:off x="3083539" y="5447749"/>
          <a:ext cx="415925" cy="498475"/>
        </p:xfrm>
        <a:graphic>
          <a:graphicData uri="http://schemas.openxmlformats.org/presentationml/2006/ole">
            <mc:AlternateContent xmlns:mc="http://schemas.openxmlformats.org/markup-compatibility/2006">
              <mc:Choice xmlns:v="urn:schemas-microsoft-com:vml" Requires="v">
                <p:oleObj name="Equation" r:id="rId11" imgW="406080" imgH="495000" progId="Equation.DSMT4">
                  <p:embed/>
                </p:oleObj>
              </mc:Choice>
              <mc:Fallback>
                <p:oleObj name="Equation" r:id="rId11" imgW="406080" imgH="495000" progId="Equation.DSMT4">
                  <p:embed/>
                  <p:pic>
                    <p:nvPicPr>
                      <p:cNvPr id="44" name="对象 43">
                        <a:extLst>
                          <a:ext uri="{FF2B5EF4-FFF2-40B4-BE49-F238E27FC236}">
                            <a16:creationId xmlns:a16="http://schemas.microsoft.com/office/drawing/2014/main" id="{855FD204-6CC5-958C-1827-BD0D0B74B13F}"/>
                          </a:ext>
                        </a:extLst>
                      </p:cNvPr>
                      <p:cNvPicPr>
                        <a:picLocks noChangeAspect="1" noChangeArrowheads="1"/>
                      </p:cNvPicPr>
                      <p:nvPr/>
                    </p:nvPicPr>
                    <p:blipFill>
                      <a:blip r:embed="rId12"/>
                      <a:srcRect/>
                      <a:stretch>
                        <a:fillRect/>
                      </a:stretch>
                    </p:blipFill>
                    <p:spPr bwMode="auto">
                      <a:xfrm>
                        <a:off x="3083539" y="5447749"/>
                        <a:ext cx="415925"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Rectangle 12">
            <a:extLst>
              <a:ext uri="{FF2B5EF4-FFF2-40B4-BE49-F238E27FC236}">
                <a16:creationId xmlns:a16="http://schemas.microsoft.com/office/drawing/2014/main" id="{33F346DC-1FAE-A710-7240-29249CD2B39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6" name="对象 45">
            <a:extLst>
              <a:ext uri="{FF2B5EF4-FFF2-40B4-BE49-F238E27FC236}">
                <a16:creationId xmlns:a16="http://schemas.microsoft.com/office/drawing/2014/main" id="{0459EFC7-FC69-45EA-27AE-2A42BEF847C8}"/>
              </a:ext>
            </a:extLst>
          </p:cNvPr>
          <p:cNvGraphicFramePr>
            <a:graphicFrameLocks noChangeAspect="1"/>
          </p:cNvGraphicFramePr>
          <p:nvPr/>
        </p:nvGraphicFramePr>
        <p:xfrm>
          <a:off x="5783703" y="5409986"/>
          <a:ext cx="441326" cy="498475"/>
        </p:xfrm>
        <a:graphic>
          <a:graphicData uri="http://schemas.openxmlformats.org/presentationml/2006/ole">
            <mc:AlternateContent xmlns:mc="http://schemas.openxmlformats.org/markup-compatibility/2006">
              <mc:Choice xmlns:v="urn:schemas-microsoft-com:vml" Requires="v">
                <p:oleObj name="Equation" r:id="rId13" imgW="419040" imgH="495000" progId="Equation.DSMT4">
                  <p:embed/>
                </p:oleObj>
              </mc:Choice>
              <mc:Fallback>
                <p:oleObj name="Equation" r:id="rId13" imgW="419040" imgH="495000" progId="Equation.DSMT4">
                  <p:embed/>
                  <p:pic>
                    <p:nvPicPr>
                      <p:cNvPr id="46" name="对象 45">
                        <a:extLst>
                          <a:ext uri="{FF2B5EF4-FFF2-40B4-BE49-F238E27FC236}">
                            <a16:creationId xmlns:a16="http://schemas.microsoft.com/office/drawing/2014/main" id="{0459EFC7-FC69-45EA-27AE-2A42BEF847C8}"/>
                          </a:ext>
                        </a:extLst>
                      </p:cNvPr>
                      <p:cNvPicPr>
                        <a:picLocks noChangeAspect="1" noChangeArrowheads="1"/>
                      </p:cNvPicPr>
                      <p:nvPr/>
                    </p:nvPicPr>
                    <p:blipFill>
                      <a:blip r:embed="rId14"/>
                      <a:srcRect/>
                      <a:stretch>
                        <a:fillRect/>
                      </a:stretch>
                    </p:blipFill>
                    <p:spPr bwMode="auto">
                      <a:xfrm>
                        <a:off x="5783703" y="5409986"/>
                        <a:ext cx="441326"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 name="Rectangle 14">
            <a:extLst>
              <a:ext uri="{FF2B5EF4-FFF2-40B4-BE49-F238E27FC236}">
                <a16:creationId xmlns:a16="http://schemas.microsoft.com/office/drawing/2014/main" id="{0565A851-3A43-D4E5-7F54-C8A9CE5A39B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8" name="对象 47">
            <a:extLst>
              <a:ext uri="{FF2B5EF4-FFF2-40B4-BE49-F238E27FC236}">
                <a16:creationId xmlns:a16="http://schemas.microsoft.com/office/drawing/2014/main" id="{3E894B64-4501-A565-943A-36AE838D24ED}"/>
              </a:ext>
            </a:extLst>
          </p:cNvPr>
          <p:cNvGraphicFramePr>
            <a:graphicFrameLocks noChangeAspect="1"/>
          </p:cNvGraphicFramePr>
          <p:nvPr/>
        </p:nvGraphicFramePr>
        <p:xfrm>
          <a:off x="7932686" y="5548098"/>
          <a:ext cx="331788" cy="222250"/>
        </p:xfrm>
        <a:graphic>
          <a:graphicData uri="http://schemas.openxmlformats.org/presentationml/2006/ole">
            <mc:AlternateContent xmlns:mc="http://schemas.openxmlformats.org/markup-compatibility/2006">
              <mc:Choice xmlns:v="urn:schemas-microsoft-com:vml" Requires="v">
                <p:oleObj name="Equation" r:id="rId15" imgW="317160" imgH="241200" progId="Equation.DSMT4">
                  <p:embed/>
                </p:oleObj>
              </mc:Choice>
              <mc:Fallback>
                <p:oleObj name="Equation" r:id="rId15" imgW="317160" imgH="241200" progId="Equation.DSMT4">
                  <p:embed/>
                  <p:pic>
                    <p:nvPicPr>
                      <p:cNvPr id="48" name="对象 47">
                        <a:extLst>
                          <a:ext uri="{FF2B5EF4-FFF2-40B4-BE49-F238E27FC236}">
                            <a16:creationId xmlns:a16="http://schemas.microsoft.com/office/drawing/2014/main" id="{3E894B64-4501-A565-943A-36AE838D24ED}"/>
                          </a:ext>
                        </a:extLst>
                      </p:cNvPr>
                      <p:cNvPicPr>
                        <a:picLocks noChangeAspect="1" noChangeArrowheads="1"/>
                      </p:cNvPicPr>
                      <p:nvPr/>
                    </p:nvPicPr>
                    <p:blipFill>
                      <a:blip r:embed="rId16"/>
                      <a:srcRect/>
                      <a:stretch>
                        <a:fillRect/>
                      </a:stretch>
                    </p:blipFill>
                    <p:spPr bwMode="auto">
                      <a:xfrm>
                        <a:off x="7932686" y="5548098"/>
                        <a:ext cx="331788" cy="222250"/>
                      </a:xfrm>
                      <a:prstGeom prst="rect">
                        <a:avLst/>
                      </a:prstGeom>
                      <a:noFill/>
                    </p:spPr>
                  </p:pic>
                </p:oleObj>
              </mc:Fallback>
            </mc:AlternateContent>
          </a:graphicData>
        </a:graphic>
      </p:graphicFrame>
      <p:sp>
        <p:nvSpPr>
          <p:cNvPr id="49" name="Rectangle 16">
            <a:extLst>
              <a:ext uri="{FF2B5EF4-FFF2-40B4-BE49-F238E27FC236}">
                <a16:creationId xmlns:a16="http://schemas.microsoft.com/office/drawing/2014/main" id="{AFA780F1-AB6E-50D5-0898-E2A04C7F87E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0" name="对象 49">
            <a:extLst>
              <a:ext uri="{FF2B5EF4-FFF2-40B4-BE49-F238E27FC236}">
                <a16:creationId xmlns:a16="http://schemas.microsoft.com/office/drawing/2014/main" id="{6A936C64-E545-E0E2-305E-20627322E8A5}"/>
              </a:ext>
            </a:extLst>
          </p:cNvPr>
          <p:cNvGraphicFramePr>
            <a:graphicFrameLocks noChangeAspect="1"/>
          </p:cNvGraphicFramePr>
          <p:nvPr/>
        </p:nvGraphicFramePr>
        <p:xfrm>
          <a:off x="10583477" y="5379117"/>
          <a:ext cx="355600" cy="498475"/>
        </p:xfrm>
        <a:graphic>
          <a:graphicData uri="http://schemas.openxmlformats.org/presentationml/2006/ole">
            <mc:AlternateContent xmlns:mc="http://schemas.openxmlformats.org/markup-compatibility/2006">
              <mc:Choice xmlns:v="urn:schemas-microsoft-com:vml" Requires="v">
                <p:oleObj name="Equation" r:id="rId17" imgW="342720" imgH="495000" progId="Equation.DSMT4">
                  <p:embed/>
                </p:oleObj>
              </mc:Choice>
              <mc:Fallback>
                <p:oleObj name="Equation" r:id="rId17" imgW="342720" imgH="495000" progId="Equation.DSMT4">
                  <p:embed/>
                  <p:pic>
                    <p:nvPicPr>
                      <p:cNvPr id="50" name="对象 49">
                        <a:extLst>
                          <a:ext uri="{FF2B5EF4-FFF2-40B4-BE49-F238E27FC236}">
                            <a16:creationId xmlns:a16="http://schemas.microsoft.com/office/drawing/2014/main" id="{6A936C64-E545-E0E2-305E-20627322E8A5}"/>
                          </a:ext>
                        </a:extLst>
                      </p:cNvPr>
                      <p:cNvPicPr>
                        <a:picLocks noChangeAspect="1" noChangeArrowheads="1"/>
                      </p:cNvPicPr>
                      <p:nvPr/>
                    </p:nvPicPr>
                    <p:blipFill>
                      <a:blip r:embed="rId18"/>
                      <a:srcRect/>
                      <a:stretch>
                        <a:fillRect/>
                      </a:stretch>
                    </p:blipFill>
                    <p:spPr bwMode="auto">
                      <a:xfrm>
                        <a:off x="10583477" y="5379117"/>
                        <a:ext cx="355600"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 name="Rectangle 18">
            <a:extLst>
              <a:ext uri="{FF2B5EF4-FFF2-40B4-BE49-F238E27FC236}">
                <a16:creationId xmlns:a16="http://schemas.microsoft.com/office/drawing/2014/main" id="{B1F40D5C-D41B-7199-E60A-896F481CC16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2" name="对象 51">
            <a:extLst>
              <a:ext uri="{FF2B5EF4-FFF2-40B4-BE49-F238E27FC236}">
                <a16:creationId xmlns:a16="http://schemas.microsoft.com/office/drawing/2014/main" id="{2F774777-BB56-532C-1FC2-23A33C0FE309}"/>
              </a:ext>
            </a:extLst>
          </p:cNvPr>
          <p:cNvGraphicFramePr>
            <a:graphicFrameLocks noChangeAspect="1"/>
          </p:cNvGraphicFramePr>
          <p:nvPr/>
        </p:nvGraphicFramePr>
        <p:xfrm>
          <a:off x="3291501" y="6000935"/>
          <a:ext cx="244475" cy="377825"/>
        </p:xfrm>
        <a:graphic>
          <a:graphicData uri="http://schemas.openxmlformats.org/presentationml/2006/ole">
            <mc:AlternateContent xmlns:mc="http://schemas.openxmlformats.org/markup-compatibility/2006">
              <mc:Choice xmlns:v="urn:schemas-microsoft-com:vml" Requires="v">
                <p:oleObj name="Equation" r:id="rId19" imgW="241200" imgH="342720" progId="Equation.DSMT4">
                  <p:embed/>
                </p:oleObj>
              </mc:Choice>
              <mc:Fallback>
                <p:oleObj name="Equation" r:id="rId19" imgW="241200" imgH="342720" progId="Equation.DSMT4">
                  <p:embed/>
                  <p:pic>
                    <p:nvPicPr>
                      <p:cNvPr id="52" name="对象 51">
                        <a:extLst>
                          <a:ext uri="{FF2B5EF4-FFF2-40B4-BE49-F238E27FC236}">
                            <a16:creationId xmlns:a16="http://schemas.microsoft.com/office/drawing/2014/main" id="{2F774777-BB56-532C-1FC2-23A33C0FE309}"/>
                          </a:ext>
                        </a:extLst>
                      </p:cNvPr>
                      <p:cNvPicPr>
                        <a:picLocks noChangeAspect="1" noChangeArrowheads="1"/>
                      </p:cNvPicPr>
                      <p:nvPr/>
                    </p:nvPicPr>
                    <p:blipFill>
                      <a:blip r:embed="rId20"/>
                      <a:srcRect/>
                      <a:stretch>
                        <a:fillRect/>
                      </a:stretch>
                    </p:blipFill>
                    <p:spPr bwMode="auto">
                      <a:xfrm>
                        <a:off x="3291501" y="6000935"/>
                        <a:ext cx="244475" cy="377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35730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0BF99-45DE-25B1-BAC7-AE47472B8BED}"/>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18EE72BC-9C06-BDAB-BB6B-5C97AEA92630}"/>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5D58B56D-1FAF-A534-29A6-200AE3CF1983}"/>
              </a:ext>
            </a:extLst>
          </p:cNvPr>
          <p:cNvSpPr/>
          <p:nvPr/>
        </p:nvSpPr>
        <p:spPr>
          <a:xfrm>
            <a:off x="166155" y="976588"/>
            <a:ext cx="4061965"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聚类算法评价指标</a:t>
            </a:r>
          </a:p>
        </p:txBody>
      </p:sp>
      <p:sp>
        <p:nvSpPr>
          <p:cNvPr id="7" name="箭头: 五边形 11">
            <a:extLst>
              <a:ext uri="{FF2B5EF4-FFF2-40B4-BE49-F238E27FC236}">
                <a16:creationId xmlns:a16="http://schemas.microsoft.com/office/drawing/2014/main" id="{5E10E39D-E2F4-E85B-5044-D94764F7858B}"/>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1.4</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4" name="矩形: 圆角 55">
            <a:extLst>
              <a:ext uri="{FF2B5EF4-FFF2-40B4-BE49-F238E27FC236}">
                <a16:creationId xmlns:a16="http://schemas.microsoft.com/office/drawing/2014/main" id="{DD3A02E3-ED00-BB98-61F9-238E118436C5}"/>
              </a:ext>
            </a:extLst>
          </p:cNvPr>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lang="zh-CN" altLang="en-US" sz="2667"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内</a:t>
            </a: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部指标</a:t>
            </a:r>
          </a:p>
        </p:txBody>
      </p:sp>
      <p:sp>
        <p:nvSpPr>
          <p:cNvPr id="6" name="矩形 5">
            <a:extLst>
              <a:ext uri="{FF2B5EF4-FFF2-40B4-BE49-F238E27FC236}">
                <a16:creationId xmlns:a16="http://schemas.microsoft.com/office/drawing/2014/main" id="{770FA820-3B96-A612-C60A-4970E2A3DE9A}"/>
              </a:ext>
            </a:extLst>
          </p:cNvPr>
          <p:cNvSpPr/>
          <p:nvPr/>
        </p:nvSpPr>
        <p:spPr>
          <a:xfrm>
            <a:off x="2255459" y="1634484"/>
            <a:ext cx="9261987" cy="1689052"/>
          </a:xfrm>
          <a:prstGeom prst="rect">
            <a:avLst/>
          </a:prstGeom>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3</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Davies-Bouldin</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指数：通过计算</a:t>
            </a: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簇内样本到质心平均距离和最近簇质心之间的距离</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进行聚类结果评估的指标</a:t>
            </a:r>
            <a:r>
              <a:rPr lang="zh-CN" altLang="en-US" sz="2400" b="1" dirty="0">
                <a:solidFill>
                  <a:prstClr val="black"/>
                </a:solidFill>
                <a:latin typeface="微软雅黑" panose="020B0503020204020204" pitchFamily="34" charset="-122"/>
                <a:ea typeface="微软雅黑" panose="020B0503020204020204" pitchFamily="34" charset="-122"/>
              </a:rPr>
              <a:t>。数值越高，聚类效果越好。</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 name="Rectangle 2">
            <a:extLst>
              <a:ext uri="{FF2B5EF4-FFF2-40B4-BE49-F238E27FC236}">
                <a16:creationId xmlns:a16="http://schemas.microsoft.com/office/drawing/2014/main" id="{13AA3FE9-D83A-C537-BA8D-EE11916DE9E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4">
            <a:extLst>
              <a:ext uri="{FF2B5EF4-FFF2-40B4-BE49-F238E27FC236}">
                <a16:creationId xmlns:a16="http://schemas.microsoft.com/office/drawing/2014/main" id="{43B260D9-DF4C-926F-BDA2-82279F35681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8" name="直接箭头连接符 17">
            <a:extLst>
              <a:ext uri="{FF2B5EF4-FFF2-40B4-BE49-F238E27FC236}">
                <a16:creationId xmlns:a16="http://schemas.microsoft.com/office/drawing/2014/main" id="{669D15C0-51BA-026D-623F-3C531F4BBA49}"/>
              </a:ext>
            </a:extLst>
          </p:cNvPr>
          <p:cNvCxnSpPr>
            <a:cxnSpLocks/>
            <a:stCxn id="8" idx="3"/>
          </p:cNvCxnSpPr>
          <p:nvPr/>
        </p:nvCxnSpPr>
        <p:spPr>
          <a:xfrm>
            <a:off x="6356965" y="3971848"/>
            <a:ext cx="692323" cy="0"/>
          </a:xfrm>
          <a:prstGeom prst="straightConnector1">
            <a:avLst/>
          </a:prstGeom>
          <a:ln w="28575">
            <a:solidFill>
              <a:srgbClr val="00CCFF"/>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81E43005-61A0-98F2-F560-578FD61E3CD8}"/>
              </a:ext>
            </a:extLst>
          </p:cNvPr>
          <p:cNvSpPr/>
          <p:nvPr/>
        </p:nvSpPr>
        <p:spPr>
          <a:xfrm>
            <a:off x="934797" y="4886248"/>
            <a:ext cx="10322405" cy="1135054"/>
          </a:xfrm>
          <a:prstGeom prst="rect">
            <a:avLst/>
          </a:prstGeom>
        </p:spPr>
        <p:txBody>
          <a:bodyPr wrap="square">
            <a:spAutoFit/>
          </a:bodyPr>
          <a:lstStyle/>
          <a:p>
            <a:pPr marR="0" lvl="0" algn="l" defTabSz="914400" rtl="0" eaLnBrk="0" fontAlgn="base" latinLnBrk="0" hangingPunct="0">
              <a:lnSpc>
                <a:spcPct val="150000"/>
              </a:lnSpc>
              <a:spcBef>
                <a:spcPct val="0"/>
              </a:spcBef>
              <a:spcAft>
                <a:spcPct val="0"/>
              </a:spcAft>
              <a:buClrTx/>
              <a:buSzTx/>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其中，  为簇的数量，  为簇之间的相似度， 为簇    中所有数据到质心距离的平均值，  为簇    和     质心的距离。</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 name="Rectangle 2">
            <a:extLst>
              <a:ext uri="{FF2B5EF4-FFF2-40B4-BE49-F238E27FC236}">
                <a16:creationId xmlns:a16="http://schemas.microsoft.com/office/drawing/2014/main" id="{36128CF2-FA60-C637-ADEF-E0838BA473E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Rectangle 4">
            <a:extLst>
              <a:ext uri="{FF2B5EF4-FFF2-40B4-BE49-F238E27FC236}">
                <a16:creationId xmlns:a16="http://schemas.microsoft.com/office/drawing/2014/main" id="{E01D5700-A554-B920-DA9A-BB82771FEC1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Rectangle 6">
            <a:extLst>
              <a:ext uri="{FF2B5EF4-FFF2-40B4-BE49-F238E27FC236}">
                <a16:creationId xmlns:a16="http://schemas.microsoft.com/office/drawing/2014/main" id="{161ACFD3-9AD9-3557-830D-6C031946D85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1" name="Rectangle 8">
            <a:extLst>
              <a:ext uri="{FF2B5EF4-FFF2-40B4-BE49-F238E27FC236}">
                <a16:creationId xmlns:a16="http://schemas.microsoft.com/office/drawing/2014/main" id="{234D0982-C264-6DB8-7AD8-54A168E6BB2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3" name="Rectangle 10">
            <a:extLst>
              <a:ext uri="{FF2B5EF4-FFF2-40B4-BE49-F238E27FC236}">
                <a16:creationId xmlns:a16="http://schemas.microsoft.com/office/drawing/2014/main" id="{DFF23A29-2ACF-70FD-977D-BA157FC4A81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5" name="Rectangle 12">
            <a:extLst>
              <a:ext uri="{FF2B5EF4-FFF2-40B4-BE49-F238E27FC236}">
                <a16:creationId xmlns:a16="http://schemas.microsoft.com/office/drawing/2014/main" id="{7625CC49-1058-8EB1-9546-F298AE0FA6F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7" name="Rectangle 14">
            <a:extLst>
              <a:ext uri="{FF2B5EF4-FFF2-40B4-BE49-F238E27FC236}">
                <a16:creationId xmlns:a16="http://schemas.microsoft.com/office/drawing/2014/main" id="{40EFD6C4-1B83-B223-D5A4-B803FBF7C8B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9" name="Rectangle 16">
            <a:extLst>
              <a:ext uri="{FF2B5EF4-FFF2-40B4-BE49-F238E27FC236}">
                <a16:creationId xmlns:a16="http://schemas.microsoft.com/office/drawing/2014/main" id="{B8FC75FB-7F6A-4DF5-381A-944834812DA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1" name="Rectangle 18">
            <a:extLst>
              <a:ext uri="{FF2B5EF4-FFF2-40B4-BE49-F238E27FC236}">
                <a16:creationId xmlns:a16="http://schemas.microsoft.com/office/drawing/2014/main" id="{B6AB484C-045C-CCCF-33EB-2D489DA5A55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2" name="对象 51">
            <a:extLst>
              <a:ext uri="{FF2B5EF4-FFF2-40B4-BE49-F238E27FC236}">
                <a16:creationId xmlns:a16="http://schemas.microsoft.com/office/drawing/2014/main" id="{DE09FF47-482B-9F80-EDCD-C63777154EE4}"/>
              </a:ext>
            </a:extLst>
          </p:cNvPr>
          <p:cNvGraphicFramePr>
            <a:graphicFrameLocks noChangeAspect="1"/>
          </p:cNvGraphicFramePr>
          <p:nvPr/>
        </p:nvGraphicFramePr>
        <p:xfrm>
          <a:off x="1843446" y="5018376"/>
          <a:ext cx="244475" cy="377825"/>
        </p:xfrm>
        <a:graphic>
          <a:graphicData uri="http://schemas.openxmlformats.org/presentationml/2006/ole">
            <mc:AlternateContent xmlns:mc="http://schemas.openxmlformats.org/markup-compatibility/2006">
              <mc:Choice xmlns:v="urn:schemas-microsoft-com:vml" Requires="v">
                <p:oleObj name="Equation" r:id="rId3" imgW="241200" imgH="342720" progId="Equation.DSMT4">
                  <p:embed/>
                </p:oleObj>
              </mc:Choice>
              <mc:Fallback>
                <p:oleObj name="Equation" r:id="rId3" imgW="241200" imgH="342720" progId="Equation.DSMT4">
                  <p:embed/>
                  <p:pic>
                    <p:nvPicPr>
                      <p:cNvPr id="52" name="对象 51">
                        <a:extLst>
                          <a:ext uri="{FF2B5EF4-FFF2-40B4-BE49-F238E27FC236}">
                            <a16:creationId xmlns:a16="http://schemas.microsoft.com/office/drawing/2014/main" id="{DE09FF47-482B-9F80-EDCD-C63777154EE4}"/>
                          </a:ext>
                        </a:extLst>
                      </p:cNvPr>
                      <p:cNvPicPr>
                        <a:picLocks noChangeAspect="1" noChangeArrowheads="1"/>
                      </p:cNvPicPr>
                      <p:nvPr/>
                    </p:nvPicPr>
                    <p:blipFill>
                      <a:blip r:embed="rId4"/>
                      <a:srcRect/>
                      <a:stretch>
                        <a:fillRect/>
                      </a:stretch>
                    </p:blipFill>
                    <p:spPr bwMode="auto">
                      <a:xfrm>
                        <a:off x="1843446" y="5018376"/>
                        <a:ext cx="244475" cy="377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2">
            <a:extLst>
              <a:ext uri="{FF2B5EF4-FFF2-40B4-BE49-F238E27FC236}">
                <a16:creationId xmlns:a16="http://schemas.microsoft.com/office/drawing/2014/main" id="{58426A96-7C44-73AB-B87D-AEA7FC3331A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a:extLst>
              <a:ext uri="{FF2B5EF4-FFF2-40B4-BE49-F238E27FC236}">
                <a16:creationId xmlns:a16="http://schemas.microsoft.com/office/drawing/2014/main" id="{FE0DD92B-A970-11E5-5BF3-25F47F91A0A3}"/>
              </a:ext>
            </a:extLst>
          </p:cNvPr>
          <p:cNvGraphicFramePr>
            <a:graphicFrameLocks noChangeAspect="1"/>
          </p:cNvGraphicFramePr>
          <p:nvPr/>
        </p:nvGraphicFramePr>
        <p:xfrm>
          <a:off x="3083539" y="3514648"/>
          <a:ext cx="3273426" cy="914400"/>
        </p:xfrm>
        <a:graphic>
          <a:graphicData uri="http://schemas.openxmlformats.org/presentationml/2006/ole">
            <mc:AlternateContent xmlns:mc="http://schemas.openxmlformats.org/markup-compatibility/2006">
              <mc:Choice xmlns:v="urn:schemas-microsoft-com:vml" Requires="v">
                <p:oleObj name="Equation" r:id="rId5" imgW="3276360" imgH="888840" progId="Equation.DSMT4">
                  <p:embed/>
                </p:oleObj>
              </mc:Choice>
              <mc:Fallback>
                <p:oleObj name="Equation" r:id="rId5" imgW="3276360" imgH="888840" progId="Equation.DSMT4">
                  <p:embed/>
                  <p:pic>
                    <p:nvPicPr>
                      <p:cNvPr id="8" name="对象 7">
                        <a:extLst>
                          <a:ext uri="{FF2B5EF4-FFF2-40B4-BE49-F238E27FC236}">
                            <a16:creationId xmlns:a16="http://schemas.microsoft.com/office/drawing/2014/main" id="{FE0DD92B-A970-11E5-5BF3-25F47F91A0A3}"/>
                          </a:ext>
                        </a:extLst>
                      </p:cNvPr>
                      <p:cNvPicPr>
                        <a:picLocks noChangeAspect="1" noChangeArrowheads="1"/>
                      </p:cNvPicPr>
                      <p:nvPr/>
                    </p:nvPicPr>
                    <p:blipFill>
                      <a:blip r:embed="rId6"/>
                      <a:srcRect/>
                      <a:stretch>
                        <a:fillRect/>
                      </a:stretch>
                    </p:blipFill>
                    <p:spPr bwMode="auto">
                      <a:xfrm>
                        <a:off x="3083539" y="3514648"/>
                        <a:ext cx="3273426"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4">
            <a:extLst>
              <a:ext uri="{FF2B5EF4-FFF2-40B4-BE49-F238E27FC236}">
                <a16:creationId xmlns:a16="http://schemas.microsoft.com/office/drawing/2014/main" id="{9E969636-E8AE-A395-D48F-CFE9C12FAF3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2" name="对象 21">
            <a:extLst>
              <a:ext uri="{FF2B5EF4-FFF2-40B4-BE49-F238E27FC236}">
                <a16:creationId xmlns:a16="http://schemas.microsoft.com/office/drawing/2014/main" id="{3A5490FD-0D5E-31F1-D7B9-BD9D3BEE3AD1}"/>
              </a:ext>
            </a:extLst>
          </p:cNvPr>
          <p:cNvGraphicFramePr>
            <a:graphicFrameLocks noChangeAspect="1"/>
          </p:cNvGraphicFramePr>
          <p:nvPr/>
        </p:nvGraphicFramePr>
        <p:xfrm>
          <a:off x="7101629" y="3514648"/>
          <a:ext cx="1662113" cy="1104900"/>
        </p:xfrm>
        <a:graphic>
          <a:graphicData uri="http://schemas.openxmlformats.org/presentationml/2006/ole">
            <mc:AlternateContent xmlns:mc="http://schemas.openxmlformats.org/markup-compatibility/2006">
              <mc:Choice xmlns:v="urn:schemas-microsoft-com:vml" Requires="v">
                <p:oleObj name="Equation" r:id="rId7" imgW="1688760" imgH="1079280" progId="Equation.DSMT4">
                  <p:embed/>
                </p:oleObj>
              </mc:Choice>
              <mc:Fallback>
                <p:oleObj name="Equation" r:id="rId7" imgW="1688760" imgH="1079280" progId="Equation.DSMT4">
                  <p:embed/>
                  <p:pic>
                    <p:nvPicPr>
                      <p:cNvPr id="22" name="对象 21">
                        <a:extLst>
                          <a:ext uri="{FF2B5EF4-FFF2-40B4-BE49-F238E27FC236}">
                            <a16:creationId xmlns:a16="http://schemas.microsoft.com/office/drawing/2014/main" id="{3A5490FD-0D5E-31F1-D7B9-BD9D3BEE3AD1}"/>
                          </a:ext>
                        </a:extLst>
                      </p:cNvPr>
                      <p:cNvPicPr>
                        <a:picLocks noChangeAspect="1" noChangeArrowheads="1"/>
                      </p:cNvPicPr>
                      <p:nvPr/>
                    </p:nvPicPr>
                    <p:blipFill>
                      <a:blip r:embed="rId8"/>
                      <a:srcRect/>
                      <a:stretch>
                        <a:fillRect/>
                      </a:stretch>
                    </p:blipFill>
                    <p:spPr bwMode="auto">
                      <a:xfrm>
                        <a:off x="7101629" y="3514648"/>
                        <a:ext cx="1662113"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6">
            <a:extLst>
              <a:ext uri="{FF2B5EF4-FFF2-40B4-BE49-F238E27FC236}">
                <a16:creationId xmlns:a16="http://schemas.microsoft.com/office/drawing/2014/main" id="{9127B094-599F-131C-0F48-41357FC3DB3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6" name="对象 25">
            <a:extLst>
              <a:ext uri="{FF2B5EF4-FFF2-40B4-BE49-F238E27FC236}">
                <a16:creationId xmlns:a16="http://schemas.microsoft.com/office/drawing/2014/main" id="{D29B0957-23AE-062F-80E1-AEFF3B22E3B2}"/>
              </a:ext>
            </a:extLst>
          </p:cNvPr>
          <p:cNvGraphicFramePr>
            <a:graphicFrameLocks noChangeAspect="1"/>
          </p:cNvGraphicFramePr>
          <p:nvPr/>
        </p:nvGraphicFramePr>
        <p:xfrm>
          <a:off x="3760317" y="5018376"/>
          <a:ext cx="415926" cy="498475"/>
        </p:xfrm>
        <a:graphic>
          <a:graphicData uri="http://schemas.openxmlformats.org/presentationml/2006/ole">
            <mc:AlternateContent xmlns:mc="http://schemas.openxmlformats.org/markup-compatibility/2006">
              <mc:Choice xmlns:v="urn:schemas-microsoft-com:vml" Requires="v">
                <p:oleObj name="Equation" r:id="rId9" imgW="406080" imgH="495000" progId="Equation.DSMT4">
                  <p:embed/>
                </p:oleObj>
              </mc:Choice>
              <mc:Fallback>
                <p:oleObj name="Equation" r:id="rId9" imgW="406080" imgH="495000" progId="Equation.DSMT4">
                  <p:embed/>
                  <p:pic>
                    <p:nvPicPr>
                      <p:cNvPr id="26" name="对象 25">
                        <a:extLst>
                          <a:ext uri="{FF2B5EF4-FFF2-40B4-BE49-F238E27FC236}">
                            <a16:creationId xmlns:a16="http://schemas.microsoft.com/office/drawing/2014/main" id="{D29B0957-23AE-062F-80E1-AEFF3B22E3B2}"/>
                          </a:ext>
                        </a:extLst>
                      </p:cNvPr>
                      <p:cNvPicPr>
                        <a:picLocks noChangeAspect="1" noChangeArrowheads="1"/>
                      </p:cNvPicPr>
                      <p:nvPr/>
                    </p:nvPicPr>
                    <p:blipFill>
                      <a:blip r:embed="rId10"/>
                      <a:srcRect/>
                      <a:stretch>
                        <a:fillRect/>
                      </a:stretch>
                    </p:blipFill>
                    <p:spPr bwMode="auto">
                      <a:xfrm>
                        <a:off x="3760317" y="5018376"/>
                        <a:ext cx="415926"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angle 8">
            <a:extLst>
              <a:ext uri="{FF2B5EF4-FFF2-40B4-BE49-F238E27FC236}">
                <a16:creationId xmlns:a16="http://schemas.microsoft.com/office/drawing/2014/main" id="{1C24BFFF-B390-107D-6C97-769975AFD19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9" name="对象 28">
            <a:extLst>
              <a:ext uri="{FF2B5EF4-FFF2-40B4-BE49-F238E27FC236}">
                <a16:creationId xmlns:a16="http://schemas.microsoft.com/office/drawing/2014/main" id="{72B74481-A1CC-59CE-E423-C0A00DBF9CC6}"/>
              </a:ext>
            </a:extLst>
          </p:cNvPr>
          <p:cNvGraphicFramePr>
            <a:graphicFrameLocks noChangeAspect="1"/>
          </p:cNvGraphicFramePr>
          <p:nvPr/>
        </p:nvGraphicFramePr>
        <p:xfrm>
          <a:off x="6669712" y="4980275"/>
          <a:ext cx="233363" cy="454026"/>
        </p:xfrm>
        <a:graphic>
          <a:graphicData uri="http://schemas.openxmlformats.org/presentationml/2006/ole">
            <mc:AlternateContent xmlns:mc="http://schemas.openxmlformats.org/markup-compatibility/2006">
              <mc:Choice xmlns:v="urn:schemas-microsoft-com:vml" Requires="v">
                <p:oleObj name="Equation" r:id="rId11" imgW="215640" imgH="444240" progId="Equation.DSMT4">
                  <p:embed/>
                </p:oleObj>
              </mc:Choice>
              <mc:Fallback>
                <p:oleObj name="Equation" r:id="rId11" imgW="215640" imgH="444240" progId="Equation.DSMT4">
                  <p:embed/>
                  <p:pic>
                    <p:nvPicPr>
                      <p:cNvPr id="29" name="对象 28">
                        <a:extLst>
                          <a:ext uri="{FF2B5EF4-FFF2-40B4-BE49-F238E27FC236}">
                            <a16:creationId xmlns:a16="http://schemas.microsoft.com/office/drawing/2014/main" id="{72B74481-A1CC-59CE-E423-C0A00DBF9CC6}"/>
                          </a:ext>
                        </a:extLst>
                      </p:cNvPr>
                      <p:cNvPicPr>
                        <a:picLocks noChangeAspect="1" noChangeArrowheads="1"/>
                      </p:cNvPicPr>
                      <p:nvPr/>
                    </p:nvPicPr>
                    <p:blipFill>
                      <a:blip r:embed="rId12"/>
                      <a:srcRect/>
                      <a:stretch>
                        <a:fillRect/>
                      </a:stretch>
                    </p:blipFill>
                    <p:spPr bwMode="auto">
                      <a:xfrm>
                        <a:off x="6669712" y="4980275"/>
                        <a:ext cx="233363" cy="4540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Rectangle 10">
            <a:extLst>
              <a:ext uri="{FF2B5EF4-FFF2-40B4-BE49-F238E27FC236}">
                <a16:creationId xmlns:a16="http://schemas.microsoft.com/office/drawing/2014/main" id="{60C8C804-3D48-7D18-B0BA-6B4F22BAD5F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1" name="对象 30">
            <a:extLst>
              <a:ext uri="{FF2B5EF4-FFF2-40B4-BE49-F238E27FC236}">
                <a16:creationId xmlns:a16="http://schemas.microsoft.com/office/drawing/2014/main" id="{8352836E-B069-869C-4871-33A26EFF07EC}"/>
              </a:ext>
            </a:extLst>
          </p:cNvPr>
          <p:cNvGraphicFramePr>
            <a:graphicFrameLocks noChangeAspect="1"/>
          </p:cNvGraphicFramePr>
          <p:nvPr/>
        </p:nvGraphicFramePr>
        <p:xfrm>
          <a:off x="7551622" y="5040600"/>
          <a:ext cx="330200" cy="454026"/>
        </p:xfrm>
        <a:graphic>
          <a:graphicData uri="http://schemas.openxmlformats.org/presentationml/2006/ole">
            <mc:AlternateContent xmlns:mc="http://schemas.openxmlformats.org/markup-compatibility/2006">
              <mc:Choice xmlns:v="urn:schemas-microsoft-com:vml" Requires="v">
                <p:oleObj name="Equation" r:id="rId13" imgW="342720" imgH="444240" progId="Equation.DSMT4">
                  <p:embed/>
                </p:oleObj>
              </mc:Choice>
              <mc:Fallback>
                <p:oleObj name="Equation" r:id="rId13" imgW="342720" imgH="444240" progId="Equation.DSMT4">
                  <p:embed/>
                  <p:pic>
                    <p:nvPicPr>
                      <p:cNvPr id="31" name="对象 30">
                        <a:extLst>
                          <a:ext uri="{FF2B5EF4-FFF2-40B4-BE49-F238E27FC236}">
                            <a16:creationId xmlns:a16="http://schemas.microsoft.com/office/drawing/2014/main" id="{8352836E-B069-869C-4871-33A26EFF07EC}"/>
                          </a:ext>
                        </a:extLst>
                      </p:cNvPr>
                      <p:cNvPicPr>
                        <a:picLocks noChangeAspect="1" noChangeArrowheads="1"/>
                      </p:cNvPicPr>
                      <p:nvPr/>
                    </p:nvPicPr>
                    <p:blipFill>
                      <a:blip r:embed="rId14"/>
                      <a:srcRect/>
                      <a:stretch>
                        <a:fillRect/>
                      </a:stretch>
                    </p:blipFill>
                    <p:spPr bwMode="auto">
                      <a:xfrm>
                        <a:off x="7551622" y="5040600"/>
                        <a:ext cx="330200" cy="4540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Rectangle 12">
            <a:extLst>
              <a:ext uri="{FF2B5EF4-FFF2-40B4-BE49-F238E27FC236}">
                <a16:creationId xmlns:a16="http://schemas.microsoft.com/office/drawing/2014/main" id="{DA7FC4D8-7639-AAAC-5BF1-5D0B12F2C1D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3" name="对象 32">
            <a:extLst>
              <a:ext uri="{FF2B5EF4-FFF2-40B4-BE49-F238E27FC236}">
                <a16:creationId xmlns:a16="http://schemas.microsoft.com/office/drawing/2014/main" id="{3400645E-5B31-3882-E84A-196ECC4658BB}"/>
              </a:ext>
            </a:extLst>
          </p:cNvPr>
          <p:cNvGraphicFramePr>
            <a:graphicFrameLocks noChangeAspect="1"/>
          </p:cNvGraphicFramePr>
          <p:nvPr/>
        </p:nvGraphicFramePr>
        <p:xfrm>
          <a:off x="2389728" y="5516851"/>
          <a:ext cx="366713" cy="498475"/>
        </p:xfrm>
        <a:graphic>
          <a:graphicData uri="http://schemas.openxmlformats.org/presentationml/2006/ole">
            <mc:AlternateContent xmlns:mc="http://schemas.openxmlformats.org/markup-compatibility/2006">
              <mc:Choice xmlns:v="urn:schemas-microsoft-com:vml" Requires="v">
                <p:oleObj name="Equation" r:id="rId15" imgW="380880" imgH="495000" progId="Equation.DSMT4">
                  <p:embed/>
                </p:oleObj>
              </mc:Choice>
              <mc:Fallback>
                <p:oleObj name="Equation" r:id="rId15" imgW="380880" imgH="495000" progId="Equation.DSMT4">
                  <p:embed/>
                  <p:pic>
                    <p:nvPicPr>
                      <p:cNvPr id="33" name="对象 32">
                        <a:extLst>
                          <a:ext uri="{FF2B5EF4-FFF2-40B4-BE49-F238E27FC236}">
                            <a16:creationId xmlns:a16="http://schemas.microsoft.com/office/drawing/2014/main" id="{3400645E-5B31-3882-E84A-196ECC4658BB}"/>
                          </a:ext>
                        </a:extLst>
                      </p:cNvPr>
                      <p:cNvPicPr>
                        <a:picLocks noChangeAspect="1" noChangeArrowheads="1"/>
                      </p:cNvPicPr>
                      <p:nvPr/>
                    </p:nvPicPr>
                    <p:blipFill>
                      <a:blip r:embed="rId16"/>
                      <a:srcRect/>
                      <a:stretch>
                        <a:fillRect/>
                      </a:stretch>
                    </p:blipFill>
                    <p:spPr bwMode="auto">
                      <a:xfrm>
                        <a:off x="2389728" y="5516851"/>
                        <a:ext cx="366713"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Rectangle 14">
            <a:extLst>
              <a:ext uri="{FF2B5EF4-FFF2-40B4-BE49-F238E27FC236}">
                <a16:creationId xmlns:a16="http://schemas.microsoft.com/office/drawing/2014/main" id="{2E0CF872-1EED-8462-6E30-FE099C74227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5" name="对象 34">
            <a:extLst>
              <a:ext uri="{FF2B5EF4-FFF2-40B4-BE49-F238E27FC236}">
                <a16:creationId xmlns:a16="http://schemas.microsoft.com/office/drawing/2014/main" id="{D37E0174-2C5F-7737-3E8A-E8B2467143F1}"/>
              </a:ext>
            </a:extLst>
          </p:cNvPr>
          <p:cNvGraphicFramePr>
            <a:graphicFrameLocks noChangeAspect="1"/>
          </p:cNvGraphicFramePr>
          <p:nvPr/>
        </p:nvGraphicFramePr>
        <p:xfrm>
          <a:off x="3343961" y="5561300"/>
          <a:ext cx="330200" cy="454026"/>
        </p:xfrm>
        <a:graphic>
          <a:graphicData uri="http://schemas.openxmlformats.org/presentationml/2006/ole">
            <mc:AlternateContent xmlns:mc="http://schemas.openxmlformats.org/markup-compatibility/2006">
              <mc:Choice xmlns:v="urn:schemas-microsoft-com:vml" Requires="v">
                <p:oleObj name="Equation" r:id="rId17" imgW="342720" imgH="444240" progId="Equation.DSMT4">
                  <p:embed/>
                </p:oleObj>
              </mc:Choice>
              <mc:Fallback>
                <p:oleObj name="Equation" r:id="rId17" imgW="342720" imgH="444240" progId="Equation.DSMT4">
                  <p:embed/>
                  <p:pic>
                    <p:nvPicPr>
                      <p:cNvPr id="35" name="对象 34">
                        <a:extLst>
                          <a:ext uri="{FF2B5EF4-FFF2-40B4-BE49-F238E27FC236}">
                            <a16:creationId xmlns:a16="http://schemas.microsoft.com/office/drawing/2014/main" id="{D37E0174-2C5F-7737-3E8A-E8B2467143F1}"/>
                          </a:ext>
                        </a:extLst>
                      </p:cNvPr>
                      <p:cNvPicPr>
                        <a:picLocks noChangeAspect="1" noChangeArrowheads="1"/>
                      </p:cNvPicPr>
                      <p:nvPr/>
                    </p:nvPicPr>
                    <p:blipFill>
                      <a:blip r:embed="rId18"/>
                      <a:srcRect/>
                      <a:stretch>
                        <a:fillRect/>
                      </a:stretch>
                    </p:blipFill>
                    <p:spPr bwMode="auto">
                      <a:xfrm>
                        <a:off x="3343961" y="5561300"/>
                        <a:ext cx="330200" cy="4540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Rectangle 16">
            <a:extLst>
              <a:ext uri="{FF2B5EF4-FFF2-40B4-BE49-F238E27FC236}">
                <a16:creationId xmlns:a16="http://schemas.microsoft.com/office/drawing/2014/main" id="{CB72707B-83D2-5145-B3F6-75EF42DB8DB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7" name="对象 36">
            <a:extLst>
              <a:ext uri="{FF2B5EF4-FFF2-40B4-BE49-F238E27FC236}">
                <a16:creationId xmlns:a16="http://schemas.microsoft.com/office/drawing/2014/main" id="{1D17B02C-BF37-9AA2-8B68-4DAE0D00F4ED}"/>
              </a:ext>
            </a:extLst>
          </p:cNvPr>
          <p:cNvGraphicFramePr>
            <a:graphicFrameLocks noChangeAspect="1"/>
          </p:cNvGraphicFramePr>
          <p:nvPr/>
        </p:nvGraphicFramePr>
        <p:xfrm>
          <a:off x="4038737" y="5561300"/>
          <a:ext cx="403226" cy="498475"/>
        </p:xfrm>
        <a:graphic>
          <a:graphicData uri="http://schemas.openxmlformats.org/presentationml/2006/ole">
            <mc:AlternateContent xmlns:mc="http://schemas.openxmlformats.org/markup-compatibility/2006">
              <mc:Choice xmlns:v="urn:schemas-microsoft-com:vml" Requires="v">
                <p:oleObj name="Equation" r:id="rId19" imgW="393480" imgH="495000" progId="Equation.DSMT4">
                  <p:embed/>
                </p:oleObj>
              </mc:Choice>
              <mc:Fallback>
                <p:oleObj name="Equation" r:id="rId19" imgW="393480" imgH="495000" progId="Equation.DSMT4">
                  <p:embed/>
                  <p:pic>
                    <p:nvPicPr>
                      <p:cNvPr id="37" name="对象 36">
                        <a:extLst>
                          <a:ext uri="{FF2B5EF4-FFF2-40B4-BE49-F238E27FC236}">
                            <a16:creationId xmlns:a16="http://schemas.microsoft.com/office/drawing/2014/main" id="{1D17B02C-BF37-9AA2-8B68-4DAE0D00F4ED}"/>
                          </a:ext>
                        </a:extLst>
                      </p:cNvPr>
                      <p:cNvPicPr>
                        <a:picLocks noChangeAspect="1" noChangeArrowheads="1"/>
                      </p:cNvPicPr>
                      <p:nvPr/>
                    </p:nvPicPr>
                    <p:blipFill>
                      <a:blip r:embed="rId20"/>
                      <a:srcRect/>
                      <a:stretch>
                        <a:fillRect/>
                      </a:stretch>
                    </p:blipFill>
                    <p:spPr bwMode="auto">
                      <a:xfrm>
                        <a:off x="4038737" y="5561300"/>
                        <a:ext cx="403226"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8940547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39DAD-DF17-3C51-623F-90F06785BA8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A5BE305-212E-2C43-15D8-7CC6F3E05380}"/>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4FA4BC30-0DCD-50A7-A661-BC02C1573C6F}"/>
              </a:ext>
            </a:extLst>
          </p:cNvPr>
          <p:cNvSpPr/>
          <p:nvPr/>
        </p:nvSpPr>
        <p:spPr>
          <a:xfrm>
            <a:off x="166155" y="976588"/>
            <a:ext cx="4061965"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聚类算法评价指标</a:t>
            </a:r>
          </a:p>
        </p:txBody>
      </p:sp>
      <p:sp>
        <p:nvSpPr>
          <p:cNvPr id="7" name="箭头: 五边形 11">
            <a:extLst>
              <a:ext uri="{FF2B5EF4-FFF2-40B4-BE49-F238E27FC236}">
                <a16:creationId xmlns:a16="http://schemas.microsoft.com/office/drawing/2014/main" id="{F97BDC06-9697-2B47-5A72-50AC62DEE9D8}"/>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1.4</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4" name="矩形: 圆角 55">
            <a:extLst>
              <a:ext uri="{FF2B5EF4-FFF2-40B4-BE49-F238E27FC236}">
                <a16:creationId xmlns:a16="http://schemas.microsoft.com/office/drawing/2014/main" id="{6A43DD0D-F148-4A71-A149-432E835CB30C}"/>
              </a:ext>
            </a:extLst>
          </p:cNvPr>
          <p:cNvSpPr/>
          <p:nvPr/>
        </p:nvSpPr>
        <p:spPr>
          <a:xfrm>
            <a:off x="166153" y="1665045"/>
            <a:ext cx="2144427"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altLang="zh-CN" sz="2667"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Python</a:t>
            </a:r>
            <a:r>
              <a:rPr lang="zh-CN" altLang="en-US" sz="2667"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示例</a:t>
            </a:r>
            <a:endPar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endParaRPr>
          </a:p>
        </p:txBody>
      </p:sp>
      <p:sp>
        <p:nvSpPr>
          <p:cNvPr id="10" name="Rectangle 2">
            <a:extLst>
              <a:ext uri="{FF2B5EF4-FFF2-40B4-BE49-F238E27FC236}">
                <a16:creationId xmlns:a16="http://schemas.microsoft.com/office/drawing/2014/main" id="{5BEE8D0A-FF1E-38D1-2827-72B7F343093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4">
            <a:extLst>
              <a:ext uri="{FF2B5EF4-FFF2-40B4-BE49-F238E27FC236}">
                <a16:creationId xmlns:a16="http://schemas.microsoft.com/office/drawing/2014/main" id="{70AE2746-EA72-2429-C546-B884A3B2959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
            <a:extLst>
              <a:ext uri="{FF2B5EF4-FFF2-40B4-BE49-F238E27FC236}">
                <a16:creationId xmlns:a16="http://schemas.microsoft.com/office/drawing/2014/main" id="{DEA6B517-4C70-0DFD-6206-6ECCA0244E0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Rectangle 4">
            <a:extLst>
              <a:ext uri="{FF2B5EF4-FFF2-40B4-BE49-F238E27FC236}">
                <a16:creationId xmlns:a16="http://schemas.microsoft.com/office/drawing/2014/main" id="{0CB881DC-9537-B49D-3F4F-F8234159075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Rectangle 6">
            <a:extLst>
              <a:ext uri="{FF2B5EF4-FFF2-40B4-BE49-F238E27FC236}">
                <a16:creationId xmlns:a16="http://schemas.microsoft.com/office/drawing/2014/main" id="{ADFEFFFA-210D-7924-9CE6-879E7E1914E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1" name="Rectangle 8">
            <a:extLst>
              <a:ext uri="{FF2B5EF4-FFF2-40B4-BE49-F238E27FC236}">
                <a16:creationId xmlns:a16="http://schemas.microsoft.com/office/drawing/2014/main" id="{D588980C-2E34-C9D1-6B95-4CCBB1090F3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3" name="Rectangle 10">
            <a:extLst>
              <a:ext uri="{FF2B5EF4-FFF2-40B4-BE49-F238E27FC236}">
                <a16:creationId xmlns:a16="http://schemas.microsoft.com/office/drawing/2014/main" id="{3DBE210C-FD32-4AFE-B8F5-0843729B00E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5" name="Rectangle 12">
            <a:extLst>
              <a:ext uri="{FF2B5EF4-FFF2-40B4-BE49-F238E27FC236}">
                <a16:creationId xmlns:a16="http://schemas.microsoft.com/office/drawing/2014/main" id="{81943263-276A-B6B1-24D3-E130D70AD10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7" name="Rectangle 14">
            <a:extLst>
              <a:ext uri="{FF2B5EF4-FFF2-40B4-BE49-F238E27FC236}">
                <a16:creationId xmlns:a16="http://schemas.microsoft.com/office/drawing/2014/main" id="{3EBF2BBE-558A-C665-0A5C-81E5E094CF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9" name="Rectangle 16">
            <a:extLst>
              <a:ext uri="{FF2B5EF4-FFF2-40B4-BE49-F238E27FC236}">
                <a16:creationId xmlns:a16="http://schemas.microsoft.com/office/drawing/2014/main" id="{7D8523EB-B948-3582-9F41-8BCF4BAFDDC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1" name="Rectangle 18">
            <a:extLst>
              <a:ext uri="{FF2B5EF4-FFF2-40B4-BE49-F238E27FC236}">
                <a16:creationId xmlns:a16="http://schemas.microsoft.com/office/drawing/2014/main" id="{389C68E8-0B49-A91A-C1BC-E18AF96BAA4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2">
            <a:extLst>
              <a:ext uri="{FF2B5EF4-FFF2-40B4-BE49-F238E27FC236}">
                <a16:creationId xmlns:a16="http://schemas.microsoft.com/office/drawing/2014/main" id="{38EF121E-B03C-886F-AD04-C4DC13189B9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Rectangle 4">
            <a:extLst>
              <a:ext uri="{FF2B5EF4-FFF2-40B4-BE49-F238E27FC236}">
                <a16:creationId xmlns:a16="http://schemas.microsoft.com/office/drawing/2014/main" id="{F72FB074-9570-737D-71B5-021A27D8DE8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6">
            <a:extLst>
              <a:ext uri="{FF2B5EF4-FFF2-40B4-BE49-F238E27FC236}">
                <a16:creationId xmlns:a16="http://schemas.microsoft.com/office/drawing/2014/main" id="{382DC1D9-2AD7-87C4-FEC9-476DA2DDD12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Rectangle 8">
            <a:extLst>
              <a:ext uri="{FF2B5EF4-FFF2-40B4-BE49-F238E27FC236}">
                <a16:creationId xmlns:a16="http://schemas.microsoft.com/office/drawing/2014/main" id="{AE61442D-7720-59FE-7339-1D6F9391798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0" name="Rectangle 10">
            <a:extLst>
              <a:ext uri="{FF2B5EF4-FFF2-40B4-BE49-F238E27FC236}">
                <a16:creationId xmlns:a16="http://schemas.microsoft.com/office/drawing/2014/main" id="{14BF9FD1-9EE9-6EB1-3579-45ECBFD4406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2" name="Rectangle 12">
            <a:extLst>
              <a:ext uri="{FF2B5EF4-FFF2-40B4-BE49-F238E27FC236}">
                <a16:creationId xmlns:a16="http://schemas.microsoft.com/office/drawing/2014/main" id="{615FB2A8-4113-6499-5759-10C1E94946C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4" name="Rectangle 14">
            <a:extLst>
              <a:ext uri="{FF2B5EF4-FFF2-40B4-BE49-F238E27FC236}">
                <a16:creationId xmlns:a16="http://schemas.microsoft.com/office/drawing/2014/main" id="{139925BE-277D-8025-3C5D-D17644CCB12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6" name="Rectangle 16">
            <a:extLst>
              <a:ext uri="{FF2B5EF4-FFF2-40B4-BE49-F238E27FC236}">
                <a16:creationId xmlns:a16="http://schemas.microsoft.com/office/drawing/2014/main" id="{F007B653-1317-9679-F953-2913BDFC9D4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5" name="图片 14">
            <a:extLst>
              <a:ext uri="{FF2B5EF4-FFF2-40B4-BE49-F238E27FC236}">
                <a16:creationId xmlns:a16="http://schemas.microsoft.com/office/drawing/2014/main" id="{F0E50D4A-735B-3592-B1DC-22DE1A100969}"/>
              </a:ext>
            </a:extLst>
          </p:cNvPr>
          <p:cNvPicPr>
            <a:picLocks noChangeAspect="1"/>
          </p:cNvPicPr>
          <p:nvPr/>
        </p:nvPicPr>
        <p:blipFill>
          <a:blip r:embed="rId3"/>
          <a:stretch>
            <a:fillRect/>
          </a:stretch>
        </p:blipFill>
        <p:spPr>
          <a:xfrm>
            <a:off x="166153" y="2582302"/>
            <a:ext cx="7230464" cy="3641517"/>
          </a:xfrm>
          <a:prstGeom prst="rect">
            <a:avLst/>
          </a:prstGeom>
        </p:spPr>
      </p:pic>
      <p:pic>
        <p:nvPicPr>
          <p:cNvPr id="16" name="图形 1182613014">
            <a:extLst>
              <a:ext uri="{FF2B5EF4-FFF2-40B4-BE49-F238E27FC236}">
                <a16:creationId xmlns:a16="http://schemas.microsoft.com/office/drawing/2014/main" id="{EF564E54-EF37-F9D0-7CA8-18293CABDC66}"/>
              </a:ext>
            </a:extLst>
          </p:cNvPr>
          <p:cNvPicPr>
            <a:picLocks noChangeAspect="1"/>
          </p:cNvPicPr>
          <p:nvPr/>
        </p:nvPicPr>
        <p:blipFill>
          <a:blip r:embed="rId4">
            <a:extLst>
              <a:ext uri="{96DAC541-7B7A-43D3-8B79-37D633B846F1}">
                <asvg:svgBlip xmlns:asvg="http://schemas.microsoft.com/office/drawing/2016/SVG/main" r:embed="rId5"/>
              </a:ext>
            </a:extLst>
          </a:blip>
          <a:srcRect l="7561" t="8862" r="8645" b="3302"/>
          <a:stretch>
            <a:fillRect/>
          </a:stretch>
        </p:blipFill>
        <p:spPr>
          <a:xfrm>
            <a:off x="7795668" y="2860236"/>
            <a:ext cx="3936379" cy="3098113"/>
          </a:xfrm>
          <a:prstGeom prst="rect">
            <a:avLst/>
          </a:prstGeom>
        </p:spPr>
      </p:pic>
    </p:spTree>
    <p:extLst>
      <p:ext uri="{BB962C8B-B14F-4D97-AF65-F5344CB8AC3E}">
        <p14:creationId xmlns:p14="http://schemas.microsoft.com/office/powerpoint/2010/main" val="11821870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59936-4B66-0BD2-BAFB-5C1E9E84369D}"/>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AE11835-9334-D6C5-8D9C-04859B38F193}"/>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1B438AB8-E247-EBB2-8309-D3D95AF3E997}"/>
              </a:ext>
            </a:extLst>
          </p:cNvPr>
          <p:cNvSpPr/>
          <p:nvPr/>
        </p:nvSpPr>
        <p:spPr>
          <a:xfrm>
            <a:off x="166155" y="976588"/>
            <a:ext cx="4061965"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聚类算法评价指标</a:t>
            </a:r>
          </a:p>
        </p:txBody>
      </p:sp>
      <p:sp>
        <p:nvSpPr>
          <p:cNvPr id="7" name="箭头: 五边形 11">
            <a:extLst>
              <a:ext uri="{FF2B5EF4-FFF2-40B4-BE49-F238E27FC236}">
                <a16:creationId xmlns:a16="http://schemas.microsoft.com/office/drawing/2014/main" id="{2238572D-DAD4-E411-1442-CFB93444316E}"/>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1.4</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4" name="矩形: 圆角 55">
            <a:extLst>
              <a:ext uri="{FF2B5EF4-FFF2-40B4-BE49-F238E27FC236}">
                <a16:creationId xmlns:a16="http://schemas.microsoft.com/office/drawing/2014/main" id="{35D52C7A-2D11-4E0B-C524-1B4E798DC836}"/>
              </a:ext>
            </a:extLst>
          </p:cNvPr>
          <p:cNvSpPr/>
          <p:nvPr/>
        </p:nvSpPr>
        <p:spPr>
          <a:xfrm>
            <a:off x="166153" y="1665045"/>
            <a:ext cx="2144427"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altLang="zh-CN" sz="2667"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Python</a:t>
            </a:r>
            <a:r>
              <a:rPr lang="zh-CN" altLang="en-US" sz="2667"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示例</a:t>
            </a:r>
            <a:endPar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endParaRPr>
          </a:p>
        </p:txBody>
      </p:sp>
      <p:sp>
        <p:nvSpPr>
          <p:cNvPr id="10" name="Rectangle 2">
            <a:extLst>
              <a:ext uri="{FF2B5EF4-FFF2-40B4-BE49-F238E27FC236}">
                <a16:creationId xmlns:a16="http://schemas.microsoft.com/office/drawing/2014/main" id="{F3E7F62B-D14C-A813-0FCB-2D97DC43B62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4">
            <a:extLst>
              <a:ext uri="{FF2B5EF4-FFF2-40B4-BE49-F238E27FC236}">
                <a16:creationId xmlns:a16="http://schemas.microsoft.com/office/drawing/2014/main" id="{F03B1971-5DD4-D2F5-FF3D-1308EF7B907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
            <a:extLst>
              <a:ext uri="{FF2B5EF4-FFF2-40B4-BE49-F238E27FC236}">
                <a16:creationId xmlns:a16="http://schemas.microsoft.com/office/drawing/2014/main" id="{28E17E28-3D1B-1C61-6A14-42A9BF22DD1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Rectangle 4">
            <a:extLst>
              <a:ext uri="{FF2B5EF4-FFF2-40B4-BE49-F238E27FC236}">
                <a16:creationId xmlns:a16="http://schemas.microsoft.com/office/drawing/2014/main" id="{0A2CCA6C-DFEC-BEFA-DEC7-90850842B9E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Rectangle 6">
            <a:extLst>
              <a:ext uri="{FF2B5EF4-FFF2-40B4-BE49-F238E27FC236}">
                <a16:creationId xmlns:a16="http://schemas.microsoft.com/office/drawing/2014/main" id="{618E8269-8D8D-2834-862A-57BAE928E7D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1" name="Rectangle 8">
            <a:extLst>
              <a:ext uri="{FF2B5EF4-FFF2-40B4-BE49-F238E27FC236}">
                <a16:creationId xmlns:a16="http://schemas.microsoft.com/office/drawing/2014/main" id="{90D5AC9F-27C4-D365-27B6-B9AD1D79985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3" name="Rectangle 10">
            <a:extLst>
              <a:ext uri="{FF2B5EF4-FFF2-40B4-BE49-F238E27FC236}">
                <a16:creationId xmlns:a16="http://schemas.microsoft.com/office/drawing/2014/main" id="{F5768B3D-E5CB-6BEC-D17B-621F099BBB2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5" name="Rectangle 12">
            <a:extLst>
              <a:ext uri="{FF2B5EF4-FFF2-40B4-BE49-F238E27FC236}">
                <a16:creationId xmlns:a16="http://schemas.microsoft.com/office/drawing/2014/main" id="{342B21F8-1D73-C239-8490-F54F8DF6567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7" name="Rectangle 14">
            <a:extLst>
              <a:ext uri="{FF2B5EF4-FFF2-40B4-BE49-F238E27FC236}">
                <a16:creationId xmlns:a16="http://schemas.microsoft.com/office/drawing/2014/main" id="{AFC5A15D-8346-CFA6-DECD-4B096C26D66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9" name="Rectangle 16">
            <a:extLst>
              <a:ext uri="{FF2B5EF4-FFF2-40B4-BE49-F238E27FC236}">
                <a16:creationId xmlns:a16="http://schemas.microsoft.com/office/drawing/2014/main" id="{89375C3E-EA2B-830D-1BF0-7C52B9AF357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1" name="Rectangle 18">
            <a:extLst>
              <a:ext uri="{FF2B5EF4-FFF2-40B4-BE49-F238E27FC236}">
                <a16:creationId xmlns:a16="http://schemas.microsoft.com/office/drawing/2014/main" id="{511252D4-CB60-BE0D-6B1D-B556F761813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2">
            <a:extLst>
              <a:ext uri="{FF2B5EF4-FFF2-40B4-BE49-F238E27FC236}">
                <a16:creationId xmlns:a16="http://schemas.microsoft.com/office/drawing/2014/main" id="{5BA68D0D-4011-7F07-5789-2B16863864D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Rectangle 4">
            <a:extLst>
              <a:ext uri="{FF2B5EF4-FFF2-40B4-BE49-F238E27FC236}">
                <a16:creationId xmlns:a16="http://schemas.microsoft.com/office/drawing/2014/main" id="{E93DEEFC-FEFA-7BA4-FD16-B6C43E4D5E6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6">
            <a:extLst>
              <a:ext uri="{FF2B5EF4-FFF2-40B4-BE49-F238E27FC236}">
                <a16:creationId xmlns:a16="http://schemas.microsoft.com/office/drawing/2014/main" id="{C3392E4C-296E-C8BF-05B7-9419A11B35D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Rectangle 8">
            <a:extLst>
              <a:ext uri="{FF2B5EF4-FFF2-40B4-BE49-F238E27FC236}">
                <a16:creationId xmlns:a16="http://schemas.microsoft.com/office/drawing/2014/main" id="{14018EAC-BF33-098A-5658-DFF1D587CE0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0" name="Rectangle 10">
            <a:extLst>
              <a:ext uri="{FF2B5EF4-FFF2-40B4-BE49-F238E27FC236}">
                <a16:creationId xmlns:a16="http://schemas.microsoft.com/office/drawing/2014/main" id="{1E5E07FD-4A44-BFE9-7530-8995194E2B2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2" name="Rectangle 12">
            <a:extLst>
              <a:ext uri="{FF2B5EF4-FFF2-40B4-BE49-F238E27FC236}">
                <a16:creationId xmlns:a16="http://schemas.microsoft.com/office/drawing/2014/main" id="{5AC4A685-F950-085C-E398-BD1067E6B9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4" name="Rectangle 14">
            <a:extLst>
              <a:ext uri="{FF2B5EF4-FFF2-40B4-BE49-F238E27FC236}">
                <a16:creationId xmlns:a16="http://schemas.microsoft.com/office/drawing/2014/main" id="{3262245D-FF73-A967-C35D-376415ED663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6" name="Rectangle 16">
            <a:extLst>
              <a:ext uri="{FF2B5EF4-FFF2-40B4-BE49-F238E27FC236}">
                <a16:creationId xmlns:a16="http://schemas.microsoft.com/office/drawing/2014/main" id="{5572E4DB-DB87-E2DA-83E5-42A066F5099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 name="图片 7">
            <a:extLst>
              <a:ext uri="{FF2B5EF4-FFF2-40B4-BE49-F238E27FC236}">
                <a16:creationId xmlns:a16="http://schemas.microsoft.com/office/drawing/2014/main" id="{DD60E05B-04A9-C48A-96AF-9D09529D1935}"/>
              </a:ext>
            </a:extLst>
          </p:cNvPr>
          <p:cNvPicPr>
            <a:picLocks noChangeAspect="1"/>
          </p:cNvPicPr>
          <p:nvPr/>
        </p:nvPicPr>
        <p:blipFill>
          <a:blip r:embed="rId3"/>
          <a:stretch>
            <a:fillRect/>
          </a:stretch>
        </p:blipFill>
        <p:spPr>
          <a:xfrm>
            <a:off x="166153" y="2498003"/>
            <a:ext cx="6793353" cy="3991285"/>
          </a:xfrm>
          <a:prstGeom prst="rect">
            <a:avLst/>
          </a:prstGeom>
        </p:spPr>
      </p:pic>
      <p:pic>
        <p:nvPicPr>
          <p:cNvPr id="13" name="图片 12">
            <a:extLst>
              <a:ext uri="{FF2B5EF4-FFF2-40B4-BE49-F238E27FC236}">
                <a16:creationId xmlns:a16="http://schemas.microsoft.com/office/drawing/2014/main" id="{2B2BC666-BB23-0A29-A71B-98177EDCE7AB}"/>
              </a:ext>
            </a:extLst>
          </p:cNvPr>
          <p:cNvPicPr>
            <a:picLocks noChangeAspect="1"/>
          </p:cNvPicPr>
          <p:nvPr/>
        </p:nvPicPr>
        <p:blipFill>
          <a:blip r:embed="rId4"/>
          <a:srcRect r="60307"/>
          <a:stretch/>
        </p:blipFill>
        <p:spPr>
          <a:xfrm>
            <a:off x="7963882" y="1665044"/>
            <a:ext cx="3365391" cy="4742769"/>
          </a:xfrm>
          <a:prstGeom prst="rect">
            <a:avLst/>
          </a:prstGeom>
        </p:spPr>
      </p:pic>
    </p:spTree>
    <p:extLst>
      <p:ext uri="{BB962C8B-B14F-4D97-AF65-F5344CB8AC3E}">
        <p14:creationId xmlns:p14="http://schemas.microsoft.com/office/powerpoint/2010/main" val="21959651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B6DFE-E27A-D9D5-26C3-0971BD515E4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5D3A0EBF-DDE5-6D3C-05B6-77E4A1068926}"/>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DEFFFF2B-EDB0-FF75-1824-7552203C0F10}"/>
              </a:ext>
            </a:extLst>
          </p:cNvPr>
          <p:cNvSpPr/>
          <p:nvPr/>
        </p:nvSpPr>
        <p:spPr>
          <a:xfrm>
            <a:off x="166155" y="976588"/>
            <a:ext cx="4061965"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聚类算法评价指标</a:t>
            </a:r>
          </a:p>
        </p:txBody>
      </p:sp>
      <p:sp>
        <p:nvSpPr>
          <p:cNvPr id="7" name="箭头: 五边形 11">
            <a:extLst>
              <a:ext uri="{FF2B5EF4-FFF2-40B4-BE49-F238E27FC236}">
                <a16:creationId xmlns:a16="http://schemas.microsoft.com/office/drawing/2014/main" id="{5408975F-E018-813D-2EF3-1BDB5592B8A9}"/>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1.4</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4" name="矩形: 圆角 55">
            <a:extLst>
              <a:ext uri="{FF2B5EF4-FFF2-40B4-BE49-F238E27FC236}">
                <a16:creationId xmlns:a16="http://schemas.microsoft.com/office/drawing/2014/main" id="{7669DA7E-73F9-30F7-D383-05BC92EDE7B9}"/>
              </a:ext>
            </a:extLst>
          </p:cNvPr>
          <p:cNvSpPr/>
          <p:nvPr/>
        </p:nvSpPr>
        <p:spPr>
          <a:xfrm>
            <a:off x="166153" y="1665045"/>
            <a:ext cx="2144427"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altLang="zh-CN" sz="2667"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Python</a:t>
            </a:r>
            <a:r>
              <a:rPr lang="zh-CN" altLang="en-US" sz="2667"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示例</a:t>
            </a:r>
            <a:endPar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endParaRPr>
          </a:p>
        </p:txBody>
      </p:sp>
      <p:sp>
        <p:nvSpPr>
          <p:cNvPr id="10" name="Rectangle 2">
            <a:extLst>
              <a:ext uri="{FF2B5EF4-FFF2-40B4-BE49-F238E27FC236}">
                <a16:creationId xmlns:a16="http://schemas.microsoft.com/office/drawing/2014/main" id="{0FD0B011-7E1C-EF44-F3B5-919CEF02732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4">
            <a:extLst>
              <a:ext uri="{FF2B5EF4-FFF2-40B4-BE49-F238E27FC236}">
                <a16:creationId xmlns:a16="http://schemas.microsoft.com/office/drawing/2014/main" id="{C8342262-1CE5-CB88-D8E7-3E40B698E78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
            <a:extLst>
              <a:ext uri="{FF2B5EF4-FFF2-40B4-BE49-F238E27FC236}">
                <a16:creationId xmlns:a16="http://schemas.microsoft.com/office/drawing/2014/main" id="{8DD163F6-35A1-7E15-0DCE-586DA4E94B6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Rectangle 4">
            <a:extLst>
              <a:ext uri="{FF2B5EF4-FFF2-40B4-BE49-F238E27FC236}">
                <a16:creationId xmlns:a16="http://schemas.microsoft.com/office/drawing/2014/main" id="{1A6E60BC-A9CE-AB03-8357-B62CA41CBC3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Rectangle 6">
            <a:extLst>
              <a:ext uri="{FF2B5EF4-FFF2-40B4-BE49-F238E27FC236}">
                <a16:creationId xmlns:a16="http://schemas.microsoft.com/office/drawing/2014/main" id="{E2CEAFFD-0E23-5CAD-6D75-B8DDE5B7E84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1" name="Rectangle 8">
            <a:extLst>
              <a:ext uri="{FF2B5EF4-FFF2-40B4-BE49-F238E27FC236}">
                <a16:creationId xmlns:a16="http://schemas.microsoft.com/office/drawing/2014/main" id="{BEE5EC50-BB5C-C3FA-C2FE-DE72544ABD1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3" name="Rectangle 10">
            <a:extLst>
              <a:ext uri="{FF2B5EF4-FFF2-40B4-BE49-F238E27FC236}">
                <a16:creationId xmlns:a16="http://schemas.microsoft.com/office/drawing/2014/main" id="{9DDF7DD1-6263-9CE1-06E7-99A0EA18CD1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5" name="Rectangle 12">
            <a:extLst>
              <a:ext uri="{FF2B5EF4-FFF2-40B4-BE49-F238E27FC236}">
                <a16:creationId xmlns:a16="http://schemas.microsoft.com/office/drawing/2014/main" id="{98372255-EC65-529E-3D3B-5FB27A70B3D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7" name="Rectangle 14">
            <a:extLst>
              <a:ext uri="{FF2B5EF4-FFF2-40B4-BE49-F238E27FC236}">
                <a16:creationId xmlns:a16="http://schemas.microsoft.com/office/drawing/2014/main" id="{FA79BAE7-D600-FD1D-1C4E-E307C901C90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9" name="Rectangle 16">
            <a:extLst>
              <a:ext uri="{FF2B5EF4-FFF2-40B4-BE49-F238E27FC236}">
                <a16:creationId xmlns:a16="http://schemas.microsoft.com/office/drawing/2014/main" id="{79B1B972-C25A-BDAA-6985-0BA8C13A437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1" name="Rectangle 18">
            <a:extLst>
              <a:ext uri="{FF2B5EF4-FFF2-40B4-BE49-F238E27FC236}">
                <a16:creationId xmlns:a16="http://schemas.microsoft.com/office/drawing/2014/main" id="{1E2486F0-97DC-028D-C048-87ABEA262C3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2">
            <a:extLst>
              <a:ext uri="{FF2B5EF4-FFF2-40B4-BE49-F238E27FC236}">
                <a16:creationId xmlns:a16="http://schemas.microsoft.com/office/drawing/2014/main" id="{1DD8D896-F624-4594-1CA0-2983A685FD7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Rectangle 4">
            <a:extLst>
              <a:ext uri="{FF2B5EF4-FFF2-40B4-BE49-F238E27FC236}">
                <a16:creationId xmlns:a16="http://schemas.microsoft.com/office/drawing/2014/main" id="{54648D84-B86F-2F2F-D056-3674BFB5338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6">
            <a:extLst>
              <a:ext uri="{FF2B5EF4-FFF2-40B4-BE49-F238E27FC236}">
                <a16:creationId xmlns:a16="http://schemas.microsoft.com/office/drawing/2014/main" id="{E7045631-F441-0C56-FE35-9305385568E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Rectangle 8">
            <a:extLst>
              <a:ext uri="{FF2B5EF4-FFF2-40B4-BE49-F238E27FC236}">
                <a16:creationId xmlns:a16="http://schemas.microsoft.com/office/drawing/2014/main" id="{7C03C6F7-39BF-2889-5477-5746C6497D0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0" name="Rectangle 10">
            <a:extLst>
              <a:ext uri="{FF2B5EF4-FFF2-40B4-BE49-F238E27FC236}">
                <a16:creationId xmlns:a16="http://schemas.microsoft.com/office/drawing/2014/main" id="{2D52C546-4EF9-2C6C-791D-48EE865231C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2" name="Rectangle 12">
            <a:extLst>
              <a:ext uri="{FF2B5EF4-FFF2-40B4-BE49-F238E27FC236}">
                <a16:creationId xmlns:a16="http://schemas.microsoft.com/office/drawing/2014/main" id="{612582E6-F4BB-6CCB-970A-B607E1BBF68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4" name="Rectangle 14">
            <a:extLst>
              <a:ext uri="{FF2B5EF4-FFF2-40B4-BE49-F238E27FC236}">
                <a16:creationId xmlns:a16="http://schemas.microsoft.com/office/drawing/2014/main" id="{9C64F652-5E54-8685-B7C2-8457FBE6737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6" name="Rectangle 16">
            <a:extLst>
              <a:ext uri="{FF2B5EF4-FFF2-40B4-BE49-F238E27FC236}">
                <a16:creationId xmlns:a16="http://schemas.microsoft.com/office/drawing/2014/main" id="{EBBD4A6B-E15A-D7C4-F9CB-82F7E091EA9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1" name="图片 10">
            <a:extLst>
              <a:ext uri="{FF2B5EF4-FFF2-40B4-BE49-F238E27FC236}">
                <a16:creationId xmlns:a16="http://schemas.microsoft.com/office/drawing/2014/main" id="{8423F78C-7770-921A-65E1-CDE5804460B6}"/>
              </a:ext>
            </a:extLst>
          </p:cNvPr>
          <p:cNvPicPr>
            <a:picLocks noChangeAspect="1"/>
          </p:cNvPicPr>
          <p:nvPr/>
        </p:nvPicPr>
        <p:blipFill>
          <a:blip r:embed="rId3"/>
          <a:stretch>
            <a:fillRect/>
          </a:stretch>
        </p:blipFill>
        <p:spPr>
          <a:xfrm>
            <a:off x="945639" y="2443079"/>
            <a:ext cx="10300721" cy="2019241"/>
          </a:xfrm>
          <a:prstGeom prst="rect">
            <a:avLst/>
          </a:prstGeom>
        </p:spPr>
      </p:pic>
      <p:pic>
        <p:nvPicPr>
          <p:cNvPr id="15" name="图片 14">
            <a:extLst>
              <a:ext uri="{FF2B5EF4-FFF2-40B4-BE49-F238E27FC236}">
                <a16:creationId xmlns:a16="http://schemas.microsoft.com/office/drawing/2014/main" id="{585D271B-0B5C-D858-731F-F416F8A84F34}"/>
              </a:ext>
            </a:extLst>
          </p:cNvPr>
          <p:cNvPicPr>
            <a:picLocks noChangeAspect="1"/>
          </p:cNvPicPr>
          <p:nvPr/>
        </p:nvPicPr>
        <p:blipFill>
          <a:blip r:embed="rId4"/>
          <a:srcRect r="56514"/>
          <a:stretch/>
        </p:blipFill>
        <p:spPr>
          <a:xfrm>
            <a:off x="3590546" y="4807765"/>
            <a:ext cx="4827641" cy="1152431"/>
          </a:xfrm>
          <a:prstGeom prst="rect">
            <a:avLst/>
          </a:prstGeom>
        </p:spPr>
      </p:pic>
    </p:spTree>
    <p:extLst>
      <p:ext uri="{BB962C8B-B14F-4D97-AF65-F5344CB8AC3E}">
        <p14:creationId xmlns:p14="http://schemas.microsoft.com/office/powerpoint/2010/main" val="208088814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3302C-CA3C-F375-7DD2-81412B072ED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7DA3EA16-9C4D-5D6C-55AE-AAEE7A1B3E0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1B6EEB7B-65EB-25B0-B5BC-3FBFA4502A45}"/>
              </a:ext>
            </a:extLst>
          </p:cNvPr>
          <p:cNvSpPr/>
          <p:nvPr/>
        </p:nvSpPr>
        <p:spPr>
          <a:xfrm>
            <a:off x="166155" y="976588"/>
            <a:ext cx="3521384"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簇数量的确定</a:t>
            </a:r>
          </a:p>
        </p:txBody>
      </p:sp>
      <p:sp>
        <p:nvSpPr>
          <p:cNvPr id="7" name="箭头: 五边形 11">
            <a:extLst>
              <a:ext uri="{FF2B5EF4-FFF2-40B4-BE49-F238E27FC236}">
                <a16:creationId xmlns:a16="http://schemas.microsoft.com/office/drawing/2014/main" id="{BD142701-AC8C-7580-02A0-2FB77D630431}"/>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1.5</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10" name="Rectangle 2">
            <a:extLst>
              <a:ext uri="{FF2B5EF4-FFF2-40B4-BE49-F238E27FC236}">
                <a16:creationId xmlns:a16="http://schemas.microsoft.com/office/drawing/2014/main" id="{9EC78324-12A4-9AD0-EF0E-742C34A11BE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4">
            <a:extLst>
              <a:ext uri="{FF2B5EF4-FFF2-40B4-BE49-F238E27FC236}">
                <a16:creationId xmlns:a16="http://schemas.microsoft.com/office/drawing/2014/main" id="{CC67ADDF-1D5D-0A7E-490D-60C1BBAD227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
            <a:extLst>
              <a:ext uri="{FF2B5EF4-FFF2-40B4-BE49-F238E27FC236}">
                <a16:creationId xmlns:a16="http://schemas.microsoft.com/office/drawing/2014/main" id="{AB5EEBB3-8CA9-0722-E046-12170228ACD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Rectangle 4">
            <a:extLst>
              <a:ext uri="{FF2B5EF4-FFF2-40B4-BE49-F238E27FC236}">
                <a16:creationId xmlns:a16="http://schemas.microsoft.com/office/drawing/2014/main" id="{BE536551-72DC-9031-F01F-B776F7FEC29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Rectangle 6">
            <a:extLst>
              <a:ext uri="{FF2B5EF4-FFF2-40B4-BE49-F238E27FC236}">
                <a16:creationId xmlns:a16="http://schemas.microsoft.com/office/drawing/2014/main" id="{0279C3FA-7075-791B-3562-17E84D1456B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1" name="Rectangle 8">
            <a:extLst>
              <a:ext uri="{FF2B5EF4-FFF2-40B4-BE49-F238E27FC236}">
                <a16:creationId xmlns:a16="http://schemas.microsoft.com/office/drawing/2014/main" id="{9B8E868C-9509-8F59-0795-4ACC60E4701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3" name="Rectangle 10">
            <a:extLst>
              <a:ext uri="{FF2B5EF4-FFF2-40B4-BE49-F238E27FC236}">
                <a16:creationId xmlns:a16="http://schemas.microsoft.com/office/drawing/2014/main" id="{011B9D8B-E6A1-72F9-0FCC-324C466BD2D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5" name="Rectangle 12">
            <a:extLst>
              <a:ext uri="{FF2B5EF4-FFF2-40B4-BE49-F238E27FC236}">
                <a16:creationId xmlns:a16="http://schemas.microsoft.com/office/drawing/2014/main" id="{E7B34E8E-2822-B677-6B9D-44CDBD77DA6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7" name="Rectangle 14">
            <a:extLst>
              <a:ext uri="{FF2B5EF4-FFF2-40B4-BE49-F238E27FC236}">
                <a16:creationId xmlns:a16="http://schemas.microsoft.com/office/drawing/2014/main" id="{3D37BFA5-1660-F9C8-FC36-4658371FBEC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9" name="Rectangle 16">
            <a:extLst>
              <a:ext uri="{FF2B5EF4-FFF2-40B4-BE49-F238E27FC236}">
                <a16:creationId xmlns:a16="http://schemas.microsoft.com/office/drawing/2014/main" id="{D43850D7-AEA7-7810-49C7-986F04D243D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1" name="Rectangle 18">
            <a:extLst>
              <a:ext uri="{FF2B5EF4-FFF2-40B4-BE49-F238E27FC236}">
                <a16:creationId xmlns:a16="http://schemas.microsoft.com/office/drawing/2014/main" id="{F4756CC2-CF1C-06FA-C700-E38DACBAF0E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2">
            <a:extLst>
              <a:ext uri="{FF2B5EF4-FFF2-40B4-BE49-F238E27FC236}">
                <a16:creationId xmlns:a16="http://schemas.microsoft.com/office/drawing/2014/main" id="{3429ED3F-8B63-3B70-776D-741400D6067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Rectangle 4">
            <a:extLst>
              <a:ext uri="{FF2B5EF4-FFF2-40B4-BE49-F238E27FC236}">
                <a16:creationId xmlns:a16="http://schemas.microsoft.com/office/drawing/2014/main" id="{914A6208-8CC8-1A99-B042-C899576F0D7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6">
            <a:extLst>
              <a:ext uri="{FF2B5EF4-FFF2-40B4-BE49-F238E27FC236}">
                <a16:creationId xmlns:a16="http://schemas.microsoft.com/office/drawing/2014/main" id="{BA72122E-0AD3-7B61-E607-882006AB145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Rectangle 8">
            <a:extLst>
              <a:ext uri="{FF2B5EF4-FFF2-40B4-BE49-F238E27FC236}">
                <a16:creationId xmlns:a16="http://schemas.microsoft.com/office/drawing/2014/main" id="{92F1B907-DD46-A197-5E12-4DD6E9D5CA9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0" name="Rectangle 10">
            <a:extLst>
              <a:ext uri="{FF2B5EF4-FFF2-40B4-BE49-F238E27FC236}">
                <a16:creationId xmlns:a16="http://schemas.microsoft.com/office/drawing/2014/main" id="{F06714B0-D0CB-AAA5-62E5-AE38B1440D4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2" name="Rectangle 12">
            <a:extLst>
              <a:ext uri="{FF2B5EF4-FFF2-40B4-BE49-F238E27FC236}">
                <a16:creationId xmlns:a16="http://schemas.microsoft.com/office/drawing/2014/main" id="{ABD37A9B-97AC-545E-4FA0-3A66E4A7413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4" name="Rectangle 14">
            <a:extLst>
              <a:ext uri="{FF2B5EF4-FFF2-40B4-BE49-F238E27FC236}">
                <a16:creationId xmlns:a16="http://schemas.microsoft.com/office/drawing/2014/main" id="{9D45BC58-578A-6910-FDDC-BB4CD01AB1C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6" name="Rectangle 16">
            <a:extLst>
              <a:ext uri="{FF2B5EF4-FFF2-40B4-BE49-F238E27FC236}">
                <a16:creationId xmlns:a16="http://schemas.microsoft.com/office/drawing/2014/main" id="{C4340731-8C60-F59D-CF21-8E48B13CAB0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 name="图片 5">
            <a:extLst>
              <a:ext uri="{FF2B5EF4-FFF2-40B4-BE49-F238E27FC236}">
                <a16:creationId xmlns:a16="http://schemas.microsoft.com/office/drawing/2014/main" id="{8D49F63E-5C43-682D-0FF4-032C895079B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1436234" y="2104105"/>
            <a:ext cx="9319531" cy="3687096"/>
          </a:xfrm>
          <a:prstGeom prst="rect">
            <a:avLst/>
          </a:prstGeom>
          <a:noFill/>
        </p:spPr>
      </p:pic>
      <p:sp>
        <p:nvSpPr>
          <p:cNvPr id="8" name="Rectangle 2">
            <a:extLst>
              <a:ext uri="{FF2B5EF4-FFF2-40B4-BE49-F238E27FC236}">
                <a16:creationId xmlns:a16="http://schemas.microsoft.com/office/drawing/2014/main" id="{428F1AF6-5101-C814-C378-9785AB47C185}"/>
              </a:ext>
            </a:extLst>
          </p:cNvPr>
          <p:cNvSpPr txBox="1">
            <a:spLocks noChangeArrowheads="1"/>
          </p:cNvSpPr>
          <p:nvPr/>
        </p:nvSpPr>
        <p:spPr>
          <a:xfrm>
            <a:off x="4475720" y="5976560"/>
            <a:ext cx="3240558" cy="39732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pPr algn="ctr"/>
            <a:r>
              <a:rPr lang="zh-CN" altLang="en-US" sz="2400" dirty="0">
                <a:solidFill>
                  <a:srgbClr val="00CCFF"/>
                </a:solidFill>
                <a:effectLst/>
              </a:rPr>
              <a:t>不同簇数量的聚类结果</a:t>
            </a:r>
          </a:p>
        </p:txBody>
      </p:sp>
    </p:spTree>
    <p:extLst>
      <p:ext uri="{BB962C8B-B14F-4D97-AF65-F5344CB8AC3E}">
        <p14:creationId xmlns:p14="http://schemas.microsoft.com/office/powerpoint/2010/main" val="39756806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0D5E0-51E4-941F-0C79-3041A0B558E2}"/>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86830BB-FBC4-AC43-A120-62193ADF398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236CE526-F453-7437-23DC-64F95BDE72B0}"/>
              </a:ext>
            </a:extLst>
          </p:cNvPr>
          <p:cNvSpPr/>
          <p:nvPr/>
        </p:nvSpPr>
        <p:spPr>
          <a:xfrm>
            <a:off x="166155" y="976588"/>
            <a:ext cx="3521384"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簇数量的确定</a:t>
            </a:r>
          </a:p>
        </p:txBody>
      </p:sp>
      <p:sp>
        <p:nvSpPr>
          <p:cNvPr id="7" name="箭头: 五边形 11">
            <a:extLst>
              <a:ext uri="{FF2B5EF4-FFF2-40B4-BE49-F238E27FC236}">
                <a16:creationId xmlns:a16="http://schemas.microsoft.com/office/drawing/2014/main" id="{7E9F880C-4B8A-E06F-0F52-2C84F8893E40}"/>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1.5</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6" name="矩形 5">
            <a:extLst>
              <a:ext uri="{FF2B5EF4-FFF2-40B4-BE49-F238E27FC236}">
                <a16:creationId xmlns:a16="http://schemas.microsoft.com/office/drawing/2014/main" id="{036E0F51-3F70-0D15-81C6-8A1972D75967}"/>
              </a:ext>
            </a:extLst>
          </p:cNvPr>
          <p:cNvSpPr/>
          <p:nvPr/>
        </p:nvSpPr>
        <p:spPr>
          <a:xfrm>
            <a:off x="1318259" y="3330966"/>
            <a:ext cx="9160321" cy="1135054"/>
          </a:xfrm>
          <a:prstGeom prst="rect">
            <a:avLst/>
          </a:prstGeom>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1</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）经验取值法：是一种快速的取值方法，给定   个数据，簇数量可以近似为：</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 name="Rectangle 2">
            <a:extLst>
              <a:ext uri="{FF2B5EF4-FFF2-40B4-BE49-F238E27FC236}">
                <a16:creationId xmlns:a16="http://schemas.microsoft.com/office/drawing/2014/main" id="{42F8A0B9-451F-2667-CF71-55A16590428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a:extLst>
              <a:ext uri="{FF2B5EF4-FFF2-40B4-BE49-F238E27FC236}">
                <a16:creationId xmlns:a16="http://schemas.microsoft.com/office/drawing/2014/main" id="{32C4BE57-8821-4095-FD91-20802D815A03}"/>
              </a:ext>
            </a:extLst>
          </p:cNvPr>
          <p:cNvGraphicFramePr>
            <a:graphicFrameLocks noChangeAspect="1"/>
          </p:cNvGraphicFramePr>
          <p:nvPr/>
        </p:nvGraphicFramePr>
        <p:xfrm>
          <a:off x="8366387" y="3569546"/>
          <a:ext cx="231775" cy="222251"/>
        </p:xfrm>
        <a:graphic>
          <a:graphicData uri="http://schemas.openxmlformats.org/presentationml/2006/ole">
            <mc:AlternateContent xmlns:mc="http://schemas.openxmlformats.org/markup-compatibility/2006">
              <mc:Choice xmlns:v="urn:schemas-microsoft-com:vml" Requires="v">
                <p:oleObj name="Equation" r:id="rId3" imgW="228600" imgH="241200" progId="Equation.DSMT4">
                  <p:embed/>
                </p:oleObj>
              </mc:Choice>
              <mc:Fallback>
                <p:oleObj name="Equation" r:id="rId3" imgW="228600" imgH="241200" progId="Equation.DSMT4">
                  <p:embed/>
                  <p:pic>
                    <p:nvPicPr>
                      <p:cNvPr id="8" name="对象 7">
                        <a:extLst>
                          <a:ext uri="{FF2B5EF4-FFF2-40B4-BE49-F238E27FC236}">
                            <a16:creationId xmlns:a16="http://schemas.microsoft.com/office/drawing/2014/main" id="{32C4BE57-8821-4095-FD91-20802D815A03}"/>
                          </a:ext>
                        </a:extLst>
                      </p:cNvPr>
                      <p:cNvPicPr>
                        <a:picLocks noChangeAspect="1" noChangeArrowheads="1"/>
                      </p:cNvPicPr>
                      <p:nvPr/>
                    </p:nvPicPr>
                    <p:blipFill>
                      <a:blip r:embed="rId4"/>
                      <a:srcRect/>
                      <a:stretch>
                        <a:fillRect/>
                      </a:stretch>
                    </p:blipFill>
                    <p:spPr bwMode="auto">
                      <a:xfrm>
                        <a:off x="8366387" y="3569546"/>
                        <a:ext cx="231775" cy="2222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4">
            <a:extLst>
              <a:ext uri="{FF2B5EF4-FFF2-40B4-BE49-F238E27FC236}">
                <a16:creationId xmlns:a16="http://schemas.microsoft.com/office/drawing/2014/main" id="{2C4AE48D-5ECE-E3F9-D49D-021A97EAAE4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a:extLst>
              <a:ext uri="{FF2B5EF4-FFF2-40B4-BE49-F238E27FC236}">
                <a16:creationId xmlns:a16="http://schemas.microsoft.com/office/drawing/2014/main" id="{6165FFB2-07F5-AFD0-13C8-250D94BD3F61}"/>
              </a:ext>
            </a:extLst>
          </p:cNvPr>
          <p:cNvGraphicFramePr>
            <a:graphicFrameLocks noChangeAspect="1"/>
          </p:cNvGraphicFramePr>
          <p:nvPr/>
        </p:nvGraphicFramePr>
        <p:xfrm>
          <a:off x="4383023" y="4651254"/>
          <a:ext cx="1435100" cy="544513"/>
        </p:xfrm>
        <a:graphic>
          <a:graphicData uri="http://schemas.openxmlformats.org/presentationml/2006/ole">
            <mc:AlternateContent xmlns:mc="http://schemas.openxmlformats.org/markup-compatibility/2006">
              <mc:Choice xmlns:v="urn:schemas-microsoft-com:vml" Requires="v">
                <p:oleObj name="Equation" r:id="rId5" imgW="1434960" imgH="558720" progId="Equation.DSMT4">
                  <p:embed/>
                </p:oleObj>
              </mc:Choice>
              <mc:Fallback>
                <p:oleObj name="Equation" r:id="rId5" imgW="1434960" imgH="558720" progId="Equation.DSMT4">
                  <p:embed/>
                  <p:pic>
                    <p:nvPicPr>
                      <p:cNvPr id="11" name="对象 10">
                        <a:extLst>
                          <a:ext uri="{FF2B5EF4-FFF2-40B4-BE49-F238E27FC236}">
                            <a16:creationId xmlns:a16="http://schemas.microsoft.com/office/drawing/2014/main" id="{6165FFB2-07F5-AFD0-13C8-250D94BD3F61}"/>
                          </a:ext>
                        </a:extLst>
                      </p:cNvPr>
                      <p:cNvPicPr>
                        <a:picLocks noChangeAspect="1" noChangeArrowheads="1"/>
                      </p:cNvPicPr>
                      <p:nvPr/>
                    </p:nvPicPr>
                    <p:blipFill>
                      <a:blip r:embed="rId6"/>
                      <a:srcRect/>
                      <a:stretch>
                        <a:fillRect/>
                      </a:stretch>
                    </p:blipFill>
                    <p:spPr bwMode="auto">
                      <a:xfrm>
                        <a:off x="4383023" y="4651254"/>
                        <a:ext cx="1435100" cy="544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矩形 11">
            <a:extLst>
              <a:ext uri="{FF2B5EF4-FFF2-40B4-BE49-F238E27FC236}">
                <a16:creationId xmlns:a16="http://schemas.microsoft.com/office/drawing/2014/main" id="{52B42ED4-FBC3-4B0C-AD80-294EC19D4DD9}"/>
              </a:ext>
            </a:extLst>
          </p:cNvPr>
          <p:cNvSpPr/>
          <p:nvPr/>
        </p:nvSpPr>
        <p:spPr>
          <a:xfrm>
            <a:off x="1656824" y="5238548"/>
            <a:ext cx="10322405" cy="581057"/>
          </a:xfrm>
          <a:prstGeom prst="rect">
            <a:avLst/>
          </a:prstGeom>
        </p:spPr>
        <p:txBody>
          <a:bodyPr wrap="square">
            <a:spAutoFit/>
          </a:bodyPr>
          <a:lstStyle/>
          <a:p>
            <a:pPr marR="0" lvl="0" algn="l" defTabSz="914400" rtl="0" eaLnBrk="0" fontAlgn="base" latinLnBrk="0" hangingPunct="0">
              <a:lnSpc>
                <a:spcPct val="150000"/>
              </a:lnSpc>
              <a:spcBef>
                <a:spcPct val="0"/>
              </a:spcBef>
              <a:spcAft>
                <a:spcPct val="0"/>
              </a:spcAft>
              <a:buClrTx/>
              <a:buSzTx/>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在簇分布较均匀的情况下，该方法使得每个簇包含约        个样本。</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3" name="Rectangle 6">
            <a:extLst>
              <a:ext uri="{FF2B5EF4-FFF2-40B4-BE49-F238E27FC236}">
                <a16:creationId xmlns:a16="http://schemas.microsoft.com/office/drawing/2014/main" id="{F3EEAEC1-63FC-84FF-FD80-2E436BD2C14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a:extLst>
              <a:ext uri="{FF2B5EF4-FFF2-40B4-BE49-F238E27FC236}">
                <a16:creationId xmlns:a16="http://schemas.microsoft.com/office/drawing/2014/main" id="{64A53B0B-FAE5-C82D-1072-000723076626}"/>
              </a:ext>
            </a:extLst>
          </p:cNvPr>
          <p:cNvGraphicFramePr>
            <a:graphicFrameLocks noChangeAspect="1"/>
          </p:cNvGraphicFramePr>
          <p:nvPr/>
        </p:nvGraphicFramePr>
        <p:xfrm>
          <a:off x="8727588" y="5333281"/>
          <a:ext cx="736600" cy="479426"/>
        </p:xfrm>
        <a:graphic>
          <a:graphicData uri="http://schemas.openxmlformats.org/presentationml/2006/ole">
            <mc:AlternateContent xmlns:mc="http://schemas.openxmlformats.org/markup-compatibility/2006">
              <mc:Choice xmlns:v="urn:schemas-microsoft-com:vml" Requires="v">
                <p:oleObj name="Equation" r:id="rId7" imgW="711000" imgH="469800" progId="Equation.DSMT4">
                  <p:embed/>
                </p:oleObj>
              </mc:Choice>
              <mc:Fallback>
                <p:oleObj name="Equation" r:id="rId7" imgW="711000" imgH="469800" progId="Equation.DSMT4">
                  <p:embed/>
                  <p:pic>
                    <p:nvPicPr>
                      <p:cNvPr id="14" name="对象 13">
                        <a:extLst>
                          <a:ext uri="{FF2B5EF4-FFF2-40B4-BE49-F238E27FC236}">
                            <a16:creationId xmlns:a16="http://schemas.microsoft.com/office/drawing/2014/main" id="{64A53B0B-FAE5-C82D-1072-000723076626}"/>
                          </a:ext>
                        </a:extLst>
                      </p:cNvPr>
                      <p:cNvPicPr>
                        <a:picLocks noChangeAspect="1" noChangeArrowheads="1"/>
                      </p:cNvPicPr>
                      <p:nvPr/>
                    </p:nvPicPr>
                    <p:blipFill>
                      <a:blip r:embed="rId8"/>
                      <a:srcRect/>
                      <a:stretch>
                        <a:fillRect/>
                      </a:stretch>
                    </p:blipFill>
                    <p:spPr bwMode="auto">
                      <a:xfrm>
                        <a:off x="8727588" y="5333281"/>
                        <a:ext cx="736600" cy="4794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2">
            <a:extLst>
              <a:ext uri="{FF2B5EF4-FFF2-40B4-BE49-F238E27FC236}">
                <a16:creationId xmlns:a16="http://schemas.microsoft.com/office/drawing/2014/main" id="{7890D317-8FD0-3B05-CAC7-EF513FE442D2}"/>
              </a:ext>
            </a:extLst>
          </p:cNvPr>
          <p:cNvSpPr txBox="1">
            <a:spLocks noChangeArrowheads="1"/>
          </p:cNvSpPr>
          <p:nvPr/>
        </p:nvSpPr>
        <p:spPr>
          <a:xfrm>
            <a:off x="798456" y="1809549"/>
            <a:ext cx="10595087" cy="933664"/>
          </a:xfrm>
          <a:prstGeom prst="rect">
            <a:avLst/>
          </a:prstGeom>
          <a:ln>
            <a:solidFill>
              <a:schemeClr val="tx1"/>
            </a:solidFill>
          </a:ln>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r>
              <a:rPr lang="zh-CN" altLang="en-US" sz="2400" dirty="0">
                <a:solidFill>
                  <a:schemeClr val="tx1"/>
                </a:solidFill>
                <a:effectLst/>
              </a:rPr>
              <a:t>许多聚类算法需要指定拟划分的簇数量作为参数。因此，选择合适的簇数量可以确保获得有意义的聚类结构，反映数据内在的分布。</a:t>
            </a:r>
          </a:p>
        </p:txBody>
      </p:sp>
    </p:spTree>
    <p:extLst>
      <p:ext uri="{BB962C8B-B14F-4D97-AF65-F5344CB8AC3E}">
        <p14:creationId xmlns:p14="http://schemas.microsoft.com/office/powerpoint/2010/main" val="334456680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A6D3D-B8A2-8385-CD22-2A348C7CD09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7697DF62-9761-E19F-B024-DD64C4EA961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7871BE8D-18B5-3E3B-32A2-21F725F17546}"/>
              </a:ext>
            </a:extLst>
          </p:cNvPr>
          <p:cNvSpPr/>
          <p:nvPr/>
        </p:nvSpPr>
        <p:spPr>
          <a:xfrm>
            <a:off x="166155" y="976588"/>
            <a:ext cx="3521384"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簇数量的确定</a:t>
            </a:r>
          </a:p>
        </p:txBody>
      </p:sp>
      <p:sp>
        <p:nvSpPr>
          <p:cNvPr id="7" name="箭头: 五边形 11">
            <a:extLst>
              <a:ext uri="{FF2B5EF4-FFF2-40B4-BE49-F238E27FC236}">
                <a16:creationId xmlns:a16="http://schemas.microsoft.com/office/drawing/2014/main" id="{F966B194-2299-BADE-4AE7-3B156EABC62A}"/>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1.5</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6" name="矩形 5">
            <a:extLst>
              <a:ext uri="{FF2B5EF4-FFF2-40B4-BE49-F238E27FC236}">
                <a16:creationId xmlns:a16="http://schemas.microsoft.com/office/drawing/2014/main" id="{329EC3C5-D802-931D-48D6-3471FD431EF7}"/>
              </a:ext>
            </a:extLst>
          </p:cNvPr>
          <p:cNvSpPr/>
          <p:nvPr/>
        </p:nvSpPr>
        <p:spPr>
          <a:xfrm>
            <a:off x="303867" y="1662233"/>
            <a:ext cx="11445681" cy="1135054"/>
          </a:xfrm>
          <a:prstGeom prst="rect">
            <a:avLst/>
          </a:prstGeom>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2</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）肘部法则（</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Elbow Method</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）：通过寻找</a:t>
            </a: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簇内距离平方和</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Within-cluster Sum of Square Error</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SSE</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）下降率显著变化的点确定最佳聚类数。</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 name="Rectangle 2">
            <a:extLst>
              <a:ext uri="{FF2B5EF4-FFF2-40B4-BE49-F238E27FC236}">
                <a16:creationId xmlns:a16="http://schemas.microsoft.com/office/drawing/2014/main" id="{53C4AE35-ABFE-F762-C96B-32400391E20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a:extLst>
              <a:ext uri="{FF2B5EF4-FFF2-40B4-BE49-F238E27FC236}">
                <a16:creationId xmlns:a16="http://schemas.microsoft.com/office/drawing/2014/main" id="{CD17BDB5-F982-25B9-C503-1B6E268A288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6">
            <a:extLst>
              <a:ext uri="{FF2B5EF4-FFF2-40B4-BE49-F238E27FC236}">
                <a16:creationId xmlns:a16="http://schemas.microsoft.com/office/drawing/2014/main" id="{72EF274F-106B-23B0-8A59-F61D855FE91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4" name="图片 3">
            <a:extLst>
              <a:ext uri="{FF2B5EF4-FFF2-40B4-BE49-F238E27FC236}">
                <a16:creationId xmlns:a16="http://schemas.microsoft.com/office/drawing/2014/main" id="{8432A704-FADD-B42F-D4E4-7FF733832E4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69" t="6087" r="51941" b="9847"/>
          <a:stretch/>
        </p:blipFill>
        <p:spPr bwMode="auto">
          <a:xfrm>
            <a:off x="6754759" y="2879572"/>
            <a:ext cx="4345860" cy="3730230"/>
          </a:xfrm>
          <a:prstGeom prst="rect">
            <a:avLst/>
          </a:prstGeom>
          <a:noFill/>
          <a:ln>
            <a:noFill/>
          </a:ln>
          <a:extLst>
            <a:ext uri="{53640926-AAD7-44D8-BBD7-CCE9431645EC}">
              <a14:shadowObscured xmlns:a14="http://schemas.microsoft.com/office/drawing/2010/main"/>
            </a:ext>
          </a:extLst>
        </p:spPr>
      </p:pic>
      <p:sp>
        <p:nvSpPr>
          <p:cNvPr id="9" name="Rectangle 2">
            <a:extLst>
              <a:ext uri="{FF2B5EF4-FFF2-40B4-BE49-F238E27FC236}">
                <a16:creationId xmlns:a16="http://schemas.microsoft.com/office/drawing/2014/main" id="{765CE9F9-7152-7AF8-7391-8DBD2D9349D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a:extLst>
              <a:ext uri="{FF2B5EF4-FFF2-40B4-BE49-F238E27FC236}">
                <a16:creationId xmlns:a16="http://schemas.microsoft.com/office/drawing/2014/main" id="{9033FE9D-3F24-0ABF-7BEB-6907594DF291}"/>
              </a:ext>
            </a:extLst>
          </p:cNvPr>
          <p:cNvGraphicFramePr>
            <a:graphicFrameLocks noChangeAspect="1"/>
          </p:cNvGraphicFramePr>
          <p:nvPr/>
        </p:nvGraphicFramePr>
        <p:xfrm>
          <a:off x="836864" y="3815998"/>
          <a:ext cx="4140200" cy="698500"/>
        </p:xfrm>
        <a:graphic>
          <a:graphicData uri="http://schemas.openxmlformats.org/presentationml/2006/ole">
            <mc:AlternateContent xmlns:mc="http://schemas.openxmlformats.org/markup-compatibility/2006">
              <mc:Choice xmlns:v="urn:schemas-microsoft-com:vml" Requires="v">
                <p:oleObj name="Equation" r:id="rId4" imgW="4140000" imgH="698400" progId="Equation.DSMT4">
                  <p:embed/>
                </p:oleObj>
              </mc:Choice>
              <mc:Fallback>
                <p:oleObj name="Equation" r:id="rId4" imgW="4140000" imgH="698400" progId="Equation.DSMT4">
                  <p:embed/>
                  <p:pic>
                    <p:nvPicPr>
                      <p:cNvPr id="15" name="对象 14">
                        <a:extLst>
                          <a:ext uri="{FF2B5EF4-FFF2-40B4-BE49-F238E27FC236}">
                            <a16:creationId xmlns:a16="http://schemas.microsoft.com/office/drawing/2014/main" id="{9033FE9D-3F24-0ABF-7BEB-6907594DF291}"/>
                          </a:ext>
                        </a:extLst>
                      </p:cNvPr>
                      <p:cNvPicPr>
                        <a:picLocks noChangeAspect="1" noChangeArrowheads="1"/>
                      </p:cNvPicPr>
                      <p:nvPr/>
                    </p:nvPicPr>
                    <p:blipFill>
                      <a:blip r:embed="rId5"/>
                      <a:srcRect/>
                      <a:stretch>
                        <a:fillRect/>
                      </a:stretch>
                    </p:blipFill>
                    <p:spPr bwMode="auto">
                      <a:xfrm>
                        <a:off x="836864" y="3815998"/>
                        <a:ext cx="4140200" cy="698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矩形 16">
            <a:extLst>
              <a:ext uri="{FF2B5EF4-FFF2-40B4-BE49-F238E27FC236}">
                <a16:creationId xmlns:a16="http://schemas.microsoft.com/office/drawing/2014/main" id="{D434C511-3D95-55F6-0843-84D319B33E09}"/>
              </a:ext>
            </a:extLst>
          </p:cNvPr>
          <p:cNvSpPr/>
          <p:nvPr/>
        </p:nvSpPr>
        <p:spPr>
          <a:xfrm>
            <a:off x="742206" y="4614710"/>
            <a:ext cx="5841741" cy="581057"/>
          </a:xfrm>
          <a:prstGeom prst="rect">
            <a:avLst/>
          </a:prstGeom>
        </p:spPr>
        <p:txBody>
          <a:bodyPr wrap="square">
            <a:spAutoFit/>
          </a:bodyPr>
          <a:lstStyle/>
          <a:p>
            <a:pPr marR="0" lvl="0" algn="l" defTabSz="914400" rtl="0" eaLnBrk="0" fontAlgn="base" latinLnBrk="0" hangingPunct="0">
              <a:lnSpc>
                <a:spcPct val="150000"/>
              </a:lnSpc>
              <a:spcBef>
                <a:spcPct val="0"/>
              </a:spcBef>
              <a:spcAft>
                <a:spcPct val="0"/>
              </a:spcAft>
              <a:buClrTx/>
              <a:buSzTx/>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其中， 为簇    的数据，  为簇     的质心。</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8" name="Rectangle 4">
            <a:extLst>
              <a:ext uri="{FF2B5EF4-FFF2-40B4-BE49-F238E27FC236}">
                <a16:creationId xmlns:a16="http://schemas.microsoft.com/office/drawing/2014/main" id="{5A282E1D-10AA-F4F9-AD20-49611F85143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 name="对象 18">
            <a:extLst>
              <a:ext uri="{FF2B5EF4-FFF2-40B4-BE49-F238E27FC236}">
                <a16:creationId xmlns:a16="http://schemas.microsoft.com/office/drawing/2014/main" id="{2CF7B894-48CB-D99D-D6C6-B51BA9A3BC0F}"/>
              </a:ext>
            </a:extLst>
          </p:cNvPr>
          <p:cNvGraphicFramePr>
            <a:graphicFrameLocks noChangeAspect="1"/>
          </p:cNvGraphicFramePr>
          <p:nvPr/>
        </p:nvGraphicFramePr>
        <p:xfrm>
          <a:off x="1585321" y="4905238"/>
          <a:ext cx="231775" cy="222250"/>
        </p:xfrm>
        <a:graphic>
          <a:graphicData uri="http://schemas.openxmlformats.org/presentationml/2006/ole">
            <mc:AlternateContent xmlns:mc="http://schemas.openxmlformats.org/markup-compatibility/2006">
              <mc:Choice xmlns:v="urn:schemas-microsoft-com:vml" Requires="v">
                <p:oleObj name="Equation" r:id="rId6" imgW="228600" imgH="241200" progId="Equation.DSMT4">
                  <p:embed/>
                </p:oleObj>
              </mc:Choice>
              <mc:Fallback>
                <p:oleObj name="Equation" r:id="rId6" imgW="228600" imgH="241200" progId="Equation.DSMT4">
                  <p:embed/>
                  <p:pic>
                    <p:nvPicPr>
                      <p:cNvPr id="19" name="对象 18">
                        <a:extLst>
                          <a:ext uri="{FF2B5EF4-FFF2-40B4-BE49-F238E27FC236}">
                            <a16:creationId xmlns:a16="http://schemas.microsoft.com/office/drawing/2014/main" id="{2CF7B894-48CB-D99D-D6C6-B51BA9A3BC0F}"/>
                          </a:ext>
                        </a:extLst>
                      </p:cNvPr>
                      <p:cNvPicPr>
                        <a:picLocks noChangeAspect="1" noChangeArrowheads="1"/>
                      </p:cNvPicPr>
                      <p:nvPr/>
                    </p:nvPicPr>
                    <p:blipFill>
                      <a:blip r:embed="rId7"/>
                      <a:srcRect/>
                      <a:stretch>
                        <a:fillRect/>
                      </a:stretch>
                    </p:blipFill>
                    <p:spPr bwMode="auto">
                      <a:xfrm>
                        <a:off x="1585321" y="4905238"/>
                        <a:ext cx="231775" cy="222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Rectangle 6">
            <a:extLst>
              <a:ext uri="{FF2B5EF4-FFF2-40B4-BE49-F238E27FC236}">
                <a16:creationId xmlns:a16="http://schemas.microsoft.com/office/drawing/2014/main" id="{A6F51A18-38CB-5770-DB97-F3ADF0064928}"/>
              </a:ext>
            </a:extLst>
          </p:cNvPr>
          <p:cNvSpPr>
            <a:spLocks noChangeArrowheads="1"/>
          </p:cNvSpPr>
          <p:nvPr/>
        </p:nvSpPr>
        <p:spPr bwMode="auto">
          <a:xfrm>
            <a:off x="561231" y="2785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 name="对象 20">
            <a:extLst>
              <a:ext uri="{FF2B5EF4-FFF2-40B4-BE49-F238E27FC236}">
                <a16:creationId xmlns:a16="http://schemas.microsoft.com/office/drawing/2014/main" id="{62DA9A28-7BAB-3291-21AF-4C637124C6EB}"/>
              </a:ext>
            </a:extLst>
          </p:cNvPr>
          <p:cNvGraphicFramePr>
            <a:graphicFrameLocks noChangeAspect="1"/>
          </p:cNvGraphicFramePr>
          <p:nvPr/>
        </p:nvGraphicFramePr>
        <p:xfrm>
          <a:off x="4877487" y="4789350"/>
          <a:ext cx="349250" cy="454025"/>
        </p:xfrm>
        <a:graphic>
          <a:graphicData uri="http://schemas.openxmlformats.org/presentationml/2006/ole">
            <mc:AlternateContent xmlns:mc="http://schemas.openxmlformats.org/markup-compatibility/2006">
              <mc:Choice xmlns:v="urn:schemas-microsoft-com:vml" Requires="v">
                <p:oleObj name="Equation" r:id="rId8" imgW="342720" imgH="444240" progId="Equation.DSMT4">
                  <p:embed/>
                </p:oleObj>
              </mc:Choice>
              <mc:Fallback>
                <p:oleObj name="Equation" r:id="rId8" imgW="342720" imgH="444240" progId="Equation.DSMT4">
                  <p:embed/>
                  <p:pic>
                    <p:nvPicPr>
                      <p:cNvPr id="21" name="对象 20">
                        <a:extLst>
                          <a:ext uri="{FF2B5EF4-FFF2-40B4-BE49-F238E27FC236}">
                            <a16:creationId xmlns:a16="http://schemas.microsoft.com/office/drawing/2014/main" id="{62DA9A28-7BAB-3291-21AF-4C637124C6EB}"/>
                          </a:ext>
                        </a:extLst>
                      </p:cNvPr>
                      <p:cNvPicPr>
                        <a:picLocks noChangeAspect="1" noChangeArrowheads="1"/>
                      </p:cNvPicPr>
                      <p:nvPr/>
                    </p:nvPicPr>
                    <p:blipFill>
                      <a:blip r:embed="rId9"/>
                      <a:srcRect/>
                      <a:stretch>
                        <a:fillRect/>
                      </a:stretch>
                    </p:blipFill>
                    <p:spPr bwMode="auto">
                      <a:xfrm>
                        <a:off x="4877487" y="4789350"/>
                        <a:ext cx="349250"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Rectangle 8">
            <a:extLst>
              <a:ext uri="{FF2B5EF4-FFF2-40B4-BE49-F238E27FC236}">
                <a16:creationId xmlns:a16="http://schemas.microsoft.com/office/drawing/2014/main" id="{504FCDEE-7668-2086-E712-5D47B24EAEC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 name="对象 22">
            <a:extLst>
              <a:ext uri="{FF2B5EF4-FFF2-40B4-BE49-F238E27FC236}">
                <a16:creationId xmlns:a16="http://schemas.microsoft.com/office/drawing/2014/main" id="{FBF96571-F482-C667-52DF-322013952793}"/>
              </a:ext>
            </a:extLst>
          </p:cNvPr>
          <p:cNvGraphicFramePr>
            <a:graphicFrameLocks noChangeAspect="1"/>
          </p:cNvGraphicFramePr>
          <p:nvPr/>
        </p:nvGraphicFramePr>
        <p:xfrm>
          <a:off x="3836446" y="4728248"/>
          <a:ext cx="344488" cy="454025"/>
        </p:xfrm>
        <a:graphic>
          <a:graphicData uri="http://schemas.openxmlformats.org/presentationml/2006/ole">
            <mc:AlternateContent xmlns:mc="http://schemas.openxmlformats.org/markup-compatibility/2006">
              <mc:Choice xmlns:v="urn:schemas-microsoft-com:vml" Requires="v">
                <p:oleObj name="Equation" r:id="rId10" imgW="368280" imgH="444240" progId="Equation.DSMT4">
                  <p:embed/>
                </p:oleObj>
              </mc:Choice>
              <mc:Fallback>
                <p:oleObj name="Equation" r:id="rId10" imgW="368280" imgH="444240" progId="Equation.DSMT4">
                  <p:embed/>
                  <p:pic>
                    <p:nvPicPr>
                      <p:cNvPr id="23" name="对象 22">
                        <a:extLst>
                          <a:ext uri="{FF2B5EF4-FFF2-40B4-BE49-F238E27FC236}">
                            <a16:creationId xmlns:a16="http://schemas.microsoft.com/office/drawing/2014/main" id="{FBF96571-F482-C667-52DF-322013952793}"/>
                          </a:ext>
                        </a:extLst>
                      </p:cNvPr>
                      <p:cNvPicPr>
                        <a:picLocks noChangeAspect="1" noChangeArrowheads="1"/>
                      </p:cNvPicPr>
                      <p:nvPr/>
                    </p:nvPicPr>
                    <p:blipFill>
                      <a:blip r:embed="rId11"/>
                      <a:srcRect/>
                      <a:stretch>
                        <a:fillRect/>
                      </a:stretch>
                    </p:blipFill>
                    <p:spPr bwMode="auto">
                      <a:xfrm>
                        <a:off x="3836446" y="4728248"/>
                        <a:ext cx="344488"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a:extLst>
              <a:ext uri="{FF2B5EF4-FFF2-40B4-BE49-F238E27FC236}">
                <a16:creationId xmlns:a16="http://schemas.microsoft.com/office/drawing/2014/main" id="{9BD7A153-C21C-FA9D-C087-38B03F8F750E}"/>
              </a:ext>
            </a:extLst>
          </p:cNvPr>
          <p:cNvGraphicFramePr>
            <a:graphicFrameLocks noChangeAspect="1"/>
          </p:cNvGraphicFramePr>
          <p:nvPr/>
        </p:nvGraphicFramePr>
        <p:xfrm>
          <a:off x="2442826" y="4789349"/>
          <a:ext cx="349250" cy="454025"/>
        </p:xfrm>
        <a:graphic>
          <a:graphicData uri="http://schemas.openxmlformats.org/presentationml/2006/ole">
            <mc:AlternateContent xmlns:mc="http://schemas.openxmlformats.org/markup-compatibility/2006">
              <mc:Choice xmlns:v="urn:schemas-microsoft-com:vml" Requires="v">
                <p:oleObj name="Equation" r:id="rId8" imgW="342720" imgH="444240" progId="Equation.DSMT4">
                  <p:embed/>
                </p:oleObj>
              </mc:Choice>
              <mc:Fallback>
                <p:oleObj name="Equation" r:id="rId8" imgW="342720" imgH="444240" progId="Equation.DSMT4">
                  <p:embed/>
                  <p:pic>
                    <p:nvPicPr>
                      <p:cNvPr id="24" name="对象 23">
                        <a:extLst>
                          <a:ext uri="{FF2B5EF4-FFF2-40B4-BE49-F238E27FC236}">
                            <a16:creationId xmlns:a16="http://schemas.microsoft.com/office/drawing/2014/main" id="{9BD7A153-C21C-FA9D-C087-38B03F8F750E}"/>
                          </a:ext>
                        </a:extLst>
                      </p:cNvPr>
                      <p:cNvPicPr>
                        <a:picLocks noChangeAspect="1" noChangeArrowheads="1"/>
                      </p:cNvPicPr>
                      <p:nvPr/>
                    </p:nvPicPr>
                    <p:blipFill>
                      <a:blip r:embed="rId9"/>
                      <a:srcRect/>
                      <a:stretch>
                        <a:fillRect/>
                      </a:stretch>
                    </p:blipFill>
                    <p:spPr bwMode="auto">
                      <a:xfrm>
                        <a:off x="2442826" y="4789349"/>
                        <a:ext cx="349250"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384870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B0C28-DADA-C44A-B69F-CB8B200092B6}"/>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66DF8CD7-4199-AA39-68C9-FD92568C0CF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一、聚类的基本概念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a:extLst>
              <a:ext uri="{FF2B5EF4-FFF2-40B4-BE49-F238E27FC236}">
                <a16:creationId xmlns:a16="http://schemas.microsoft.com/office/drawing/2014/main" id="{12916C28-DA6C-4423-DF19-C35B509E58EC}"/>
              </a:ext>
            </a:extLst>
          </p:cNvPr>
          <p:cNvSpPr/>
          <p:nvPr/>
        </p:nvSpPr>
        <p:spPr>
          <a:xfrm>
            <a:off x="166155" y="976588"/>
            <a:ext cx="3521384"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簇数量的确定</a:t>
            </a:r>
          </a:p>
        </p:txBody>
      </p:sp>
      <p:sp>
        <p:nvSpPr>
          <p:cNvPr id="7" name="箭头: 五边形 11">
            <a:extLst>
              <a:ext uri="{FF2B5EF4-FFF2-40B4-BE49-F238E27FC236}">
                <a16:creationId xmlns:a16="http://schemas.microsoft.com/office/drawing/2014/main" id="{131C6081-C79D-46B2-BDC0-B4AF76D11C86}"/>
              </a:ext>
            </a:extLst>
          </p:cNvPr>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sym typeface="Times New Roman" panose="02020603050405020304" pitchFamily="18" charset="0"/>
              </a:rPr>
              <a:t>1.5</a:t>
            </a:r>
            <a:endParaRPr lang="zh-CN" altLang="en-US" sz="36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6" name="矩形 5">
            <a:extLst>
              <a:ext uri="{FF2B5EF4-FFF2-40B4-BE49-F238E27FC236}">
                <a16:creationId xmlns:a16="http://schemas.microsoft.com/office/drawing/2014/main" id="{2DD30CCB-1036-A572-A584-AAB7971824D8}"/>
              </a:ext>
            </a:extLst>
          </p:cNvPr>
          <p:cNvSpPr/>
          <p:nvPr/>
        </p:nvSpPr>
        <p:spPr>
          <a:xfrm>
            <a:off x="303867" y="1662233"/>
            <a:ext cx="11445681" cy="1135054"/>
          </a:xfrm>
          <a:prstGeom prst="rect">
            <a:avLst/>
          </a:prstGeom>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3</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）内部指标：通过选择不同的簇值多次运行聚类算法，使内部指标达到最优值时的簇值为最佳聚类值。</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 name="Rectangle 2">
            <a:extLst>
              <a:ext uri="{FF2B5EF4-FFF2-40B4-BE49-F238E27FC236}">
                <a16:creationId xmlns:a16="http://schemas.microsoft.com/office/drawing/2014/main" id="{43F48712-BB39-227E-80B5-AFAF9D1DD75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a:extLst>
              <a:ext uri="{FF2B5EF4-FFF2-40B4-BE49-F238E27FC236}">
                <a16:creationId xmlns:a16="http://schemas.microsoft.com/office/drawing/2014/main" id="{5187650C-03D8-377B-4877-1D314FA7C91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6">
            <a:extLst>
              <a:ext uri="{FF2B5EF4-FFF2-40B4-BE49-F238E27FC236}">
                <a16:creationId xmlns:a16="http://schemas.microsoft.com/office/drawing/2014/main" id="{EB2CD855-EBBF-85B2-27FF-75BB7D5CF6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
            <a:extLst>
              <a:ext uri="{FF2B5EF4-FFF2-40B4-BE49-F238E27FC236}">
                <a16:creationId xmlns:a16="http://schemas.microsoft.com/office/drawing/2014/main" id="{8A9ACD45-8A6D-41CF-11D4-442C4497D66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4">
            <a:extLst>
              <a:ext uri="{FF2B5EF4-FFF2-40B4-BE49-F238E27FC236}">
                <a16:creationId xmlns:a16="http://schemas.microsoft.com/office/drawing/2014/main" id="{71C05B2B-E464-EF8F-5A33-2745B3F0496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0" name="Rectangle 6">
            <a:extLst>
              <a:ext uri="{FF2B5EF4-FFF2-40B4-BE49-F238E27FC236}">
                <a16:creationId xmlns:a16="http://schemas.microsoft.com/office/drawing/2014/main" id="{A45E225E-CD6A-0F80-4E60-A526D750D5DC}"/>
              </a:ext>
            </a:extLst>
          </p:cNvPr>
          <p:cNvSpPr>
            <a:spLocks noChangeArrowheads="1"/>
          </p:cNvSpPr>
          <p:nvPr/>
        </p:nvSpPr>
        <p:spPr bwMode="auto">
          <a:xfrm>
            <a:off x="561231" y="2785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2" name="Rectangle 8">
            <a:extLst>
              <a:ext uri="{FF2B5EF4-FFF2-40B4-BE49-F238E27FC236}">
                <a16:creationId xmlns:a16="http://schemas.microsoft.com/office/drawing/2014/main" id="{A955971B-7CFB-C6B9-2A94-08ACF500172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 name="图片 7">
            <a:extLst>
              <a:ext uri="{FF2B5EF4-FFF2-40B4-BE49-F238E27FC236}">
                <a16:creationId xmlns:a16="http://schemas.microsoft.com/office/drawing/2014/main" id="{B9D9C44D-EE24-1E03-E0DF-7D38046FE9B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7949" t="6087" r="4141" b="10457"/>
          <a:stretch/>
        </p:blipFill>
        <p:spPr bwMode="auto">
          <a:xfrm>
            <a:off x="3964395" y="2938101"/>
            <a:ext cx="4079944" cy="337349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3384191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ont">
      <a:majorFont>
        <a:latin typeface="等线 Light"/>
        <a:ea typeface="等线 Light"/>
        <a:cs typeface=""/>
      </a:majorFont>
      <a:minorFont>
        <a:latin typeface="等线"/>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809</TotalTime>
  <Words>1835</Words>
  <Application>Microsoft Office PowerPoint</Application>
  <PresentationFormat>宽屏</PresentationFormat>
  <Paragraphs>180</Paragraphs>
  <Slides>26</Slides>
  <Notes>26</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26</vt:i4>
      </vt:variant>
    </vt:vector>
  </HeadingPairs>
  <TitlesOfParts>
    <vt:vector size="35" baseType="lpstr">
      <vt:lpstr>等线</vt:lpstr>
      <vt:lpstr>华光综艺_CNKI</vt:lpstr>
      <vt:lpstr>微软雅黑</vt:lpstr>
      <vt:lpstr>Arial</vt:lpstr>
      <vt:lpstr>Calibri</vt:lpstr>
      <vt:lpstr>Impact</vt:lpstr>
      <vt:lpstr>Times New Roman</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Black</dc:creator>
  <cp:lastModifiedBy>Star Champion</cp:lastModifiedBy>
  <cp:revision>198</cp:revision>
  <dcterms:created xsi:type="dcterms:W3CDTF">2019-06-19T02:08:00Z</dcterms:created>
  <dcterms:modified xsi:type="dcterms:W3CDTF">2025-04-18T12:59:30Z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290520E9665F40D5BBE3CCA2763F3BF4_11</vt:lpwstr>
  </property>
</Properties>
</file>