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6">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29"/>
  </p:notesMasterIdLst>
  <p:handoutMasterIdLst>
    <p:handoutMasterId r:id="rId30"/>
  </p:handoutMasterIdLst>
  <p:sldIdLst>
    <p:sldId id="15638" r:id="rId13"/>
    <p:sldId id="15731" r:id="rId14"/>
    <p:sldId id="15761" r:id="rId15"/>
    <p:sldId id="15762" r:id="rId16"/>
    <p:sldId id="15776" r:id="rId17"/>
    <p:sldId id="15764" r:id="rId18"/>
    <p:sldId id="15775" r:id="rId19"/>
    <p:sldId id="15765" r:id="rId20"/>
    <p:sldId id="15777" r:id="rId21"/>
    <p:sldId id="15766" r:id="rId22"/>
    <p:sldId id="15726" r:id="rId23"/>
    <p:sldId id="15727" r:id="rId24"/>
    <p:sldId id="15732" r:id="rId25"/>
    <p:sldId id="15767" r:id="rId26"/>
    <p:sldId id="15768" r:id="rId27"/>
    <p:sldId id="15502" r:id="rId28"/>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一节" id="{B76A38E9-E72E-4BCB-B362-B21FAC086E6B}">
          <p14:sldIdLst>
            <p14:sldId id="15638"/>
            <p14:sldId id="15731"/>
            <p14:sldId id="15761"/>
            <p14:sldId id="15762"/>
            <p14:sldId id="15776"/>
            <p14:sldId id="15764"/>
            <p14:sldId id="15775"/>
            <p14:sldId id="15765"/>
            <p14:sldId id="15777"/>
            <p14:sldId id="15766"/>
            <p14:sldId id="15726"/>
            <p14:sldId id="15727"/>
            <p14:sldId id="15732"/>
            <p14:sldId id="15767"/>
            <p14:sldId id="15768"/>
          </p14:sldIdLst>
        </p14:section>
        <p14:section name="第三节" id="{D73DEBA0-8DA1-425E-BF8D-3499E83F0652}">
          <p14:sldIdLst>
            <p14:sldId id="15502"/>
          </p14:sldIdLst>
        </p14:section>
      </p14:sectionLst>
    </p:ext>
    <p:ext uri="{EFAFB233-063F-42B5-8137-9DF3F51BA10A}">
      <p15:sldGuideLst xmlns:p15="http://schemas.microsoft.com/office/powerpoint/2012/main">
        <p15:guide id="4" pos="2280" userDrawn="1">
          <p15:clr>
            <a:srgbClr val="A4A3A4"/>
          </p15:clr>
        </p15:guide>
        <p15:guide id="5" orient="horz" pos="29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8BD5"/>
    <a:srgbClr val="E77500"/>
    <a:srgbClr val="0066FF"/>
    <a:srgbClr val="033BA7"/>
    <a:srgbClr val="FFFFFF"/>
    <a:srgbClr val="FD5C0C"/>
    <a:srgbClr val="7EA4EE"/>
    <a:srgbClr val="00FF00"/>
    <a:srgbClr val="F6F9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28" autoAdjust="0"/>
    <p:restoredTop sz="78121" autoAdjust="0"/>
  </p:normalViewPr>
  <p:slideViewPr>
    <p:cSldViewPr snapToGrid="0">
      <p:cViewPr varScale="1">
        <p:scale>
          <a:sx n="84" d="100"/>
          <a:sy n="84" d="100"/>
        </p:scale>
        <p:origin x="106" y="283"/>
      </p:cViewPr>
      <p:guideLst>
        <p:guide pos="2280"/>
        <p:guide orient="horz" pos="2904"/>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slide" Target="slides/slide9.xml"/><Relationship Id="rId34"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10" Type="http://schemas.openxmlformats.org/officeDocument/2006/relationships/slideMaster" Target="slideMasters/slideMaster10.xml"/><Relationship Id="rId19" Type="http://schemas.openxmlformats.org/officeDocument/2006/relationships/slide" Target="slides/slide7.xml"/><Relationship Id="rId31"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Master" Target="slideMasters/slideMaster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F1B6B-9920-9BB6-BCEE-5DEF16D324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83426A-32A2-2FF8-A5A6-D269E6DF0F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9FB3DD-7BDB-1BD1-72BE-10D81D4A15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76F629C1-A0A6-FE40-6985-E951C7224E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51708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9AEC3-A62F-E48E-D51E-8C514F8180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034AA8-9C2A-92F4-D970-74E42523F9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9B0D034-54FF-CE35-5E79-05751C70C8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结果显示，该回归系数估计值与参数真值差异很大。</a:t>
            </a:r>
            <a:endParaRPr lang="zh-CN" altLang="en-US" sz="1800" u="sng" dirty="0"/>
          </a:p>
        </p:txBody>
      </p:sp>
      <p:sp>
        <p:nvSpPr>
          <p:cNvPr id="4" name="灯片编号占位符 3">
            <a:extLst>
              <a:ext uri="{FF2B5EF4-FFF2-40B4-BE49-F238E27FC236}">
                <a16:creationId xmlns:a16="http://schemas.microsoft.com/office/drawing/2014/main" id="{2B677CC1-CA32-C5A2-AB01-543D49F3E2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42675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5A5D2-362D-00BC-1733-6CF047DEEE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73D8D6-093F-F978-6F2F-0168C10888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872697-700F-FA63-528B-62C183C2C11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因此，需要进行多重共线性的诊断并采取措施以消除多重共线性的影响。</a:t>
            </a:r>
            <a:endParaRPr lang="zh-CN" altLang="en-US" sz="1800" u="sng" dirty="0"/>
          </a:p>
        </p:txBody>
      </p:sp>
      <p:sp>
        <p:nvSpPr>
          <p:cNvPr id="4" name="灯片编号占位符 3">
            <a:extLst>
              <a:ext uri="{FF2B5EF4-FFF2-40B4-BE49-F238E27FC236}">
                <a16:creationId xmlns:a16="http://schemas.microsoft.com/office/drawing/2014/main" id="{020A92C1-1B7A-4DD0-26E7-7FC6E64DB6A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83163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9BC7C-3EDD-FA0E-4249-EB558BF6F9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335753-DC46-473E-D1FC-F2B5DADE260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2E4643-40DD-54D5-86A1-A18045BBA9D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09FCB40-8156-3084-7A99-2F14F25FB8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8505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CFF01-25EB-016C-C6EC-682CA7E195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53A05A-FE7E-CCDA-DC2D-9EA6828F0DD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1CC99EF2-A379-2AAF-AB6F-6A309A12B5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u="sng" dirty="0"/>
                  <a:t>另一种表述：</a:t>
                </a:r>
                <a:r>
                  <a:rPr lang="zh-CN" altLang="en-US" sz="2800" b="1" dirty="0">
                    <a:ea typeface="仿宋_GB2312" pitchFamily="49" charset="-122"/>
                    <a:cs typeface="Times New Roman" pitchFamily="18" charset="0"/>
                  </a:rPr>
                  <a:t>判定系数</a:t>
                </a:r>
                <a14:m>
                  <m:oMath xmlns:m="http://schemas.openxmlformats.org/officeDocument/2006/math">
                    <m:sSubSup>
                      <m:sSubSupPr>
                        <m:ctrlPr>
                          <a:rPr lang="en-US" altLang="zh-CN" sz="2800" b="1" i="1" smtClean="0">
                            <a:latin typeface="Cambria Math" panose="02040503050406030204" pitchFamily="18" charset="0"/>
                            <a:ea typeface="仿宋_GB2312" pitchFamily="49" charset="-122"/>
                            <a:cs typeface="Times New Roman" pitchFamily="18" charset="0"/>
                          </a:rPr>
                        </m:ctrlPr>
                      </m:sSubSupPr>
                      <m:e>
                        <m:r>
                          <a:rPr lang="en-US" altLang="zh-CN" sz="2800" b="1" i="1">
                            <a:latin typeface="Cambria Math" panose="02040503050406030204" pitchFamily="18" charset="0"/>
                            <a:ea typeface="仿宋_GB2312" pitchFamily="49" charset="-122"/>
                            <a:cs typeface="Times New Roman" pitchFamily="18" charset="0"/>
                          </a:rPr>
                          <m:t>𝑹</m:t>
                        </m:r>
                      </m:e>
                      <m:sub>
                        <m:r>
                          <a:rPr lang="en-US" altLang="zh-CN" sz="2800" b="1" i="1">
                            <a:latin typeface="Cambria Math" panose="02040503050406030204" pitchFamily="18" charset="0"/>
                            <a:ea typeface="仿宋_GB2312" pitchFamily="49" charset="-122"/>
                            <a:cs typeface="Times New Roman" pitchFamily="18" charset="0"/>
                          </a:rPr>
                          <m:t>𝒊</m:t>
                        </m:r>
                      </m:sub>
                      <m:sup>
                        <m:r>
                          <a:rPr lang="en-US" altLang="zh-CN" sz="2800" b="1" i="1">
                            <a:latin typeface="Cambria Math" panose="02040503050406030204" pitchFamily="18" charset="0"/>
                            <a:ea typeface="仿宋_GB2312" pitchFamily="49" charset="-122"/>
                            <a:cs typeface="Times New Roman" pitchFamily="18" charset="0"/>
                          </a:rPr>
                          <m:t>𝟐</m:t>
                        </m:r>
                      </m:sup>
                    </m:sSubSup>
                  </m:oMath>
                </a14:m>
                <a:r>
                  <a:rPr lang="zh-CN" altLang="en-US" sz="2800" b="1" dirty="0">
                    <a:latin typeface="Times New Roman" pitchFamily="18" charset="0"/>
                    <a:ea typeface="仿宋_GB2312" pitchFamily="49" charset="-122"/>
                    <a:cs typeface="Times New Roman" pitchFamily="18" charset="0"/>
                  </a:rPr>
                  <a:t>是第</a:t>
                </a:r>
                <a:r>
                  <a:rPr lang="en-US" altLang="zh-CN" sz="2800" b="1" dirty="0">
                    <a:latin typeface="Times New Roman" pitchFamily="18" charset="0"/>
                    <a:ea typeface="仿宋_GB2312" pitchFamily="49" charset="-122"/>
                    <a:cs typeface="Times New Roman" pitchFamily="18" charset="0"/>
                  </a:rPr>
                  <a:t>i</a:t>
                </a:r>
                <a:r>
                  <a:rPr lang="zh-CN" altLang="en-US" sz="2800" b="1" dirty="0">
                    <a:latin typeface="Times New Roman" pitchFamily="18" charset="0"/>
                    <a:ea typeface="仿宋_GB2312" pitchFamily="49" charset="-122"/>
                    <a:cs typeface="Times New Roman" pitchFamily="18" charset="0"/>
                  </a:rPr>
                  <a:t>个解释变量与方程中其他解释变量间的复相关系数的平方，表示解释变量之间的线性相关程度。</a:t>
                </a:r>
                <a:endParaRPr lang="en-US" altLang="zh-CN" sz="2800" b="1" dirty="0">
                  <a:latin typeface="Times New Roman" pitchFamily="18" charset="0"/>
                  <a:ea typeface="仿宋_GB2312" pitchFamily="49" charset="-122"/>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u="sng"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若存在较强的多重共线性，则</a:t>
                </a:r>
                <a14:m>
                  <m:oMath xmlns:m="http://schemas.openxmlformats.org/officeDocument/2006/math">
                    <m:sSubSup>
                      <m:sSubSupPr>
                        <m:ctrlPr>
                          <a:rPr lang="en-US" altLang="zh-CN" sz="1800" b="1" i="1" smtClean="0">
                            <a:latin typeface="Cambria Math" panose="02040503050406030204" pitchFamily="18" charset="0"/>
                            <a:ea typeface="仿宋_GB2312" pitchFamily="49" charset="-122"/>
                            <a:cs typeface="Times New Roman" pitchFamily="18" charset="0"/>
                          </a:rPr>
                        </m:ctrlPr>
                      </m:sSubSupPr>
                      <m:e>
                        <m:r>
                          <a:rPr lang="en-US" altLang="zh-CN" sz="1800" b="1" i="1">
                            <a:latin typeface="Cambria Math" panose="02040503050406030204" pitchFamily="18" charset="0"/>
                            <a:ea typeface="仿宋_GB2312" pitchFamily="49" charset="-122"/>
                            <a:cs typeface="Times New Roman" pitchFamily="18" charset="0"/>
                          </a:rPr>
                          <m:t>𝑹</m:t>
                        </m:r>
                      </m:e>
                      <m:sub>
                        <m:r>
                          <a:rPr lang="en-US" altLang="zh-CN" sz="1800" b="1" i="1">
                            <a:latin typeface="Cambria Math" panose="02040503050406030204" pitchFamily="18" charset="0"/>
                            <a:ea typeface="仿宋_GB2312" pitchFamily="49" charset="-122"/>
                            <a:cs typeface="Times New Roman" pitchFamily="18" charset="0"/>
                          </a:rPr>
                          <m:t>𝒊</m:t>
                        </m:r>
                      </m:sub>
                      <m:sup>
                        <m:r>
                          <a:rPr lang="en-US" altLang="zh-CN" sz="1800" b="1" i="1">
                            <a:latin typeface="Cambria Math" panose="02040503050406030204" pitchFamily="18" charset="0"/>
                            <a:ea typeface="仿宋_GB2312" pitchFamily="49" charset="-122"/>
                            <a:cs typeface="Times New Roman" pitchFamily="18" charset="0"/>
                          </a:rPr>
                          <m:t>𝟐</m:t>
                        </m:r>
                      </m:sup>
                    </m:sSubSup>
                  </m:oMath>
                </a14:m>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较大且接近于</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，从而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值较大。因此，对于给定的显著性水平</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，若</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大于临界值</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，则可以判断存在多重共线性。</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mc:Choice>
        <mc:Fallback xmlns="">
          <p:sp>
            <p:nvSpPr>
              <p:cNvPr id="3" name="备注占位符 2">
                <a:extLst>
                  <a:ext uri="{FF2B5EF4-FFF2-40B4-BE49-F238E27FC236}">
                    <a16:creationId xmlns:a16="http://schemas.microsoft.com/office/drawing/2014/main" id="{1CC99EF2-A379-2AAF-AB6F-6A309A12B5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u="sng" dirty="0"/>
                  <a:t>另一种表述：</a:t>
                </a:r>
                <a:r>
                  <a:rPr lang="zh-CN" altLang="en-US" sz="2800" b="1" dirty="0">
                    <a:ea typeface="仿宋_GB2312" pitchFamily="49" charset="-122"/>
                    <a:cs typeface="Times New Roman" pitchFamily="18" charset="0"/>
                  </a:rPr>
                  <a:t>判定系数</a:t>
                </a:r>
                <a:r>
                  <a:rPr lang="en-US" altLang="zh-CN" sz="2800" b="1" i="0">
                    <a:latin typeface="Cambria Math" panose="02040503050406030204" pitchFamily="18" charset="0"/>
                    <a:ea typeface="仿宋_GB2312" pitchFamily="49" charset="-122"/>
                    <a:cs typeface="Times New Roman" pitchFamily="18" charset="0"/>
                  </a:rPr>
                  <a:t>𝑹_𝒊^𝟐</a:t>
                </a:r>
                <a:r>
                  <a:rPr lang="zh-CN" altLang="en-US" sz="2800" b="1" dirty="0">
                    <a:latin typeface="Times New Roman" pitchFamily="18" charset="0"/>
                    <a:ea typeface="仿宋_GB2312" pitchFamily="49" charset="-122"/>
                    <a:cs typeface="Times New Roman" pitchFamily="18" charset="0"/>
                  </a:rPr>
                  <a:t>是第</a:t>
                </a:r>
                <a:r>
                  <a:rPr lang="en-US" altLang="zh-CN" sz="2800" b="1" dirty="0">
                    <a:latin typeface="Times New Roman" pitchFamily="18" charset="0"/>
                    <a:ea typeface="仿宋_GB2312" pitchFamily="49" charset="-122"/>
                    <a:cs typeface="Times New Roman" pitchFamily="18" charset="0"/>
                  </a:rPr>
                  <a:t>i</a:t>
                </a:r>
                <a:r>
                  <a:rPr lang="zh-CN" altLang="en-US" sz="2800" b="1" dirty="0">
                    <a:latin typeface="Times New Roman" pitchFamily="18" charset="0"/>
                    <a:ea typeface="仿宋_GB2312" pitchFamily="49" charset="-122"/>
                    <a:cs typeface="Times New Roman" pitchFamily="18" charset="0"/>
                  </a:rPr>
                  <a:t>个解释变量与方程中其他解释变量间的复相关系数的平方，表示解释变量之间的线性相关程度。</a:t>
                </a:r>
                <a:endParaRPr lang="en-US" altLang="zh-CN" sz="2800" b="1" dirty="0">
                  <a:latin typeface="Times New Roman" pitchFamily="18" charset="0"/>
                  <a:ea typeface="仿宋_GB2312" pitchFamily="49" charset="-122"/>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u="sng"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若存在较强的多重共线性，则</a:t>
                </a:r>
                <a:r>
                  <a:rPr lang="en-US" altLang="zh-CN" sz="1800" b="1" i="0">
                    <a:latin typeface="Cambria Math" panose="02040503050406030204" pitchFamily="18" charset="0"/>
                    <a:ea typeface="仿宋_GB2312" pitchFamily="49" charset="-122"/>
                    <a:cs typeface="Times New Roman" pitchFamily="18" charset="0"/>
                  </a:rPr>
                  <a:t>𝑹_𝒊^𝟐</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较大且接近于</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，从而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值较大。因此，对于给定的显著性水平</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，若</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F</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大于临界值</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，则可以判断存在多重共线性。</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mc:Fallback>
      </mc:AlternateContent>
      <p:sp>
        <p:nvSpPr>
          <p:cNvPr id="4" name="灯片编号占位符 3">
            <a:extLst>
              <a:ext uri="{FF2B5EF4-FFF2-40B4-BE49-F238E27FC236}">
                <a16:creationId xmlns:a16="http://schemas.microsoft.com/office/drawing/2014/main" id="{81F3C73E-FE89-0B0C-3381-EE6A29C49D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72793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0C66A-95A4-2353-2990-ED6F9CD3B5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4826DA-3F1C-5AEC-172D-CBAD3EEF00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D78E37F-2979-AA5C-EA83-B285F3CBE15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AD428ADE-F797-D599-BD6C-657189BDA3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22847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38E43-2B1A-712D-C4E6-1CB3C705AD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E7B1E4-AC9E-31CC-79B2-0F45DC1EB1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70A68D-5756-052C-C5B8-B997376A212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AE57ABAE-96D5-F0E4-04E1-CD8B3987DF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18639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AFB0B-B097-6420-C424-EBE835DAB1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3F938A-3B95-0A31-D92A-19A6ADFFA0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36C8E0-98D2-A390-9886-D377CA27FA3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CB27D5F-7E1D-E429-E5C1-673DCE86F6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5948085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268C4-B044-7950-440B-87781F511F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4D86D9-9BC0-83B7-22DE-B800268963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E219D0E-EF54-0817-27E8-45A6B2CE07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159297E4-5213-272E-BB5F-292153BD90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38253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08C97-BEE5-0715-DBFA-C446463D0E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25CBCA-B563-4EFE-278C-F682859E18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C64F84-F442-4F0B-85AF-5B94AF099D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A1D4D189-D9C2-974C-BAA9-5588A293BB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92903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DBFEB-5340-1866-20BD-E3C30A414C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0D24DB-F471-1703-D332-85563B36A2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DF02BA-0EE1-780E-25B6-96CDF109C69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1B7FEE6D-A8BF-09AD-D319-9E62F41908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959691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538A1-2C74-F324-5D89-6B580FFF97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B0BB16-C629-63CF-C7F3-5B45A42CC7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FF7AA24-09E0-2DF9-C1C4-F5A9EFE3836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6CB803A0-9CD7-C677-B4AD-688AF1D8C9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972422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E4431-6BDE-3E9C-BABE-ECF4E1009E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CB58D8-55FE-8977-28AB-A753873617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B27A4E5-2B17-55B5-312C-6824D8C4F1C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566FFE57-DA08-9447-1736-BBEDB7C0E8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24530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E7E20-D6E1-DC8F-E3A6-E9E7214F58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442A6F3-274E-4391-E87C-791752D910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AA92E1-4608-3A08-7599-851028C14D0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A50199BC-C3D1-1573-1985-65D5158DFA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10421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image" Target="../media/image128.png"/><Relationship Id="rId7" Type="http://schemas.openxmlformats.org/officeDocument/2006/relationships/oleObject" Target="../embeddings/oleObject3.bin"/><Relationship Id="rId12" Type="http://schemas.openxmlformats.org/officeDocument/2006/relationships/image" Target="../media/image27.em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5.emf"/><Relationship Id="rId11" Type="http://schemas.openxmlformats.org/officeDocument/2006/relationships/oleObject" Target="../embeddings/oleObject4.bin"/><Relationship Id="rId5" Type="http://schemas.openxmlformats.org/officeDocument/2006/relationships/oleObject" Target="../embeddings/oleObject3.bin"/><Relationship Id="rId10" Type="http://schemas.openxmlformats.org/officeDocument/2006/relationships/image" Target="../media/image27.emf"/><Relationship Id="rId4" Type="http://schemas.openxmlformats.org/officeDocument/2006/relationships/image" Target="../media/image129.png"/><Relationship Id="rId9"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132.png"/><Relationship Id="rId7" Type="http://schemas.openxmlformats.org/officeDocument/2006/relationships/image" Target="../media/image29.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oleObject" Target="../embeddings/oleObject6.bin"/><Relationship Id="rId11" Type="http://schemas.openxmlformats.org/officeDocument/2006/relationships/image" Target="../media/image31.emf"/><Relationship Id="rId5" Type="http://schemas.openxmlformats.org/officeDocument/2006/relationships/image" Target="../media/image28.e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30.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1.png"/><Relationship Id="rId7" Type="http://schemas.openxmlformats.org/officeDocument/2006/relationships/image" Target="../media/image33.e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image" Target="../media/image33.emf"/><Relationship Id="rId4" Type="http://schemas.openxmlformats.org/officeDocument/2006/relationships/oleObject" Target="../embeddings/oleObject9.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5.emf"/><Relationship Id="rId5" Type="http://schemas.openxmlformats.org/officeDocument/2006/relationships/oleObject" Target="../embeddings/oleObject11.bin"/><Relationship Id="rId4" Type="http://schemas.openxmlformats.org/officeDocument/2006/relationships/image" Target="../media/image34.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6.wmf"/></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3" Type="http://schemas.openxmlformats.org/officeDocument/2006/relationships/image" Target="../media/image39.emf"/><Relationship Id="rId18" Type="http://schemas.openxmlformats.org/officeDocument/2006/relationships/oleObject" Target="../embeddings/oleObject16.bin"/><Relationship Id="rId26" Type="http://schemas.openxmlformats.org/officeDocument/2006/relationships/oleObject" Target="../embeddings/oleObject18.bin"/><Relationship Id="rId39" Type="http://schemas.openxmlformats.org/officeDocument/2006/relationships/image" Target="../media/image46.emf"/><Relationship Id="rId21" Type="http://schemas.openxmlformats.org/officeDocument/2006/relationships/image" Target="../media/image41.emf"/><Relationship Id="rId34" Type="http://schemas.openxmlformats.org/officeDocument/2006/relationships/oleObject" Target="../embeddings/oleObject20.bin"/><Relationship Id="rId7" Type="http://schemas.openxmlformats.org/officeDocument/2006/relationships/image" Target="../media/image37.emf"/><Relationship Id="rId2" Type="http://schemas.openxmlformats.org/officeDocument/2006/relationships/notesSlide" Target="../notesSlides/notesSlide14.xml"/><Relationship Id="rId16" Type="http://schemas.openxmlformats.org/officeDocument/2006/relationships/oleObject" Target="../embeddings/oleObject16.bin"/><Relationship Id="rId20" Type="http://schemas.openxmlformats.org/officeDocument/2006/relationships/oleObject" Target="../embeddings/oleObject17.bin"/><Relationship Id="rId29" Type="http://schemas.openxmlformats.org/officeDocument/2006/relationships/image" Target="../media/image43.emf"/><Relationship Id="rId41" Type="http://schemas.openxmlformats.org/officeDocument/2006/relationships/image" Target="../media/image47.emf"/><Relationship Id="rId1" Type="http://schemas.openxmlformats.org/officeDocument/2006/relationships/slideLayout" Target="../slideLayouts/slideLayout2.xml"/><Relationship Id="rId6" Type="http://schemas.openxmlformats.org/officeDocument/2006/relationships/oleObject" Target="../embeddings/oleObject13.bin"/><Relationship Id="rId11" Type="http://schemas.openxmlformats.org/officeDocument/2006/relationships/image" Target="../media/image38.emf"/><Relationship Id="rId24" Type="http://schemas.openxmlformats.org/officeDocument/2006/relationships/oleObject" Target="../embeddings/oleObject18.bin"/><Relationship Id="rId32" Type="http://schemas.openxmlformats.org/officeDocument/2006/relationships/oleObject" Target="../embeddings/oleObject20.bin"/><Relationship Id="rId37" Type="http://schemas.openxmlformats.org/officeDocument/2006/relationships/image" Target="../media/image45.emf"/><Relationship Id="rId40" Type="http://schemas.openxmlformats.org/officeDocument/2006/relationships/oleObject" Target="../embeddings/oleObject23.bin"/><Relationship Id="rId5" Type="http://schemas.openxmlformats.org/officeDocument/2006/relationships/image" Target="../media/image37.emf"/><Relationship Id="rId15" Type="http://schemas.openxmlformats.org/officeDocument/2006/relationships/image" Target="../media/image39.emf"/><Relationship Id="rId23" Type="http://schemas.openxmlformats.org/officeDocument/2006/relationships/image" Target="../media/image41.emf"/><Relationship Id="rId28" Type="http://schemas.openxmlformats.org/officeDocument/2006/relationships/oleObject" Target="../embeddings/oleObject19.bin"/><Relationship Id="rId36" Type="http://schemas.openxmlformats.org/officeDocument/2006/relationships/oleObject" Target="../embeddings/oleObject21.bin"/><Relationship Id="rId10" Type="http://schemas.openxmlformats.org/officeDocument/2006/relationships/oleObject" Target="../embeddings/oleObject14.bin"/><Relationship Id="rId19" Type="http://schemas.openxmlformats.org/officeDocument/2006/relationships/image" Target="../media/image40.emf"/><Relationship Id="rId31" Type="http://schemas.openxmlformats.org/officeDocument/2006/relationships/image" Target="../media/image43.emf"/><Relationship Id="rId4" Type="http://schemas.openxmlformats.org/officeDocument/2006/relationships/oleObject" Target="../embeddings/oleObject13.bin"/><Relationship Id="rId9" Type="http://schemas.openxmlformats.org/officeDocument/2006/relationships/image" Target="../media/image38.emf"/><Relationship Id="rId14" Type="http://schemas.openxmlformats.org/officeDocument/2006/relationships/oleObject" Target="../embeddings/oleObject15.bin"/><Relationship Id="rId22" Type="http://schemas.openxmlformats.org/officeDocument/2006/relationships/oleObject" Target="../embeddings/oleObject17.bin"/><Relationship Id="rId27" Type="http://schemas.openxmlformats.org/officeDocument/2006/relationships/image" Target="../media/image42.emf"/><Relationship Id="rId30" Type="http://schemas.openxmlformats.org/officeDocument/2006/relationships/oleObject" Target="../embeddings/oleObject19.bin"/><Relationship Id="rId35" Type="http://schemas.openxmlformats.org/officeDocument/2006/relationships/image" Target="../media/image44.emf"/><Relationship Id="rId8" Type="http://schemas.openxmlformats.org/officeDocument/2006/relationships/oleObject" Target="../embeddings/oleObject14.bin"/><Relationship Id="rId3" Type="http://schemas.openxmlformats.org/officeDocument/2006/relationships/image" Target="../media/image36.png"/><Relationship Id="rId12" Type="http://schemas.openxmlformats.org/officeDocument/2006/relationships/oleObject" Target="../embeddings/oleObject15.bin"/><Relationship Id="rId17" Type="http://schemas.openxmlformats.org/officeDocument/2006/relationships/image" Target="../media/image40.emf"/><Relationship Id="rId25" Type="http://schemas.openxmlformats.org/officeDocument/2006/relationships/image" Target="../media/image42.emf"/><Relationship Id="rId33" Type="http://schemas.openxmlformats.org/officeDocument/2006/relationships/image" Target="../media/image44.emf"/><Relationship Id="rId38" Type="http://schemas.openxmlformats.org/officeDocument/2006/relationships/oleObject" Target="../embeddings/oleObject22.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2.bin"/><Relationship Id="rId7" Type="http://schemas.openxmlformats.org/officeDocument/2006/relationships/image" Target="../media/image15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7.emf"/><Relationship Id="rId5" Type="http://schemas.openxmlformats.org/officeDocument/2006/relationships/oleObject" Target="../embeddings/oleObject23.bin"/><Relationship Id="rId4" Type="http://schemas.openxmlformats.org/officeDocument/2006/relationships/image" Target="../media/image46.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4.3</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多重共线性</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D1186-229F-EC97-73F6-E0C882C6C06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74977689-E1B4-9374-00CC-3AFAC3784DD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认识多重共线性</a:t>
            </a:r>
          </a:p>
        </p:txBody>
      </p:sp>
      <mc:AlternateContent xmlns:mc="http://schemas.openxmlformats.org/markup-compatibility/2006" xmlns:a14="http://schemas.microsoft.com/office/drawing/2010/main">
        <mc:Choice Requires="a14">
          <p:sp>
            <p:nvSpPr>
              <p:cNvPr id="2" name="TextBox 7">
                <a:extLst>
                  <a:ext uri="{FF2B5EF4-FFF2-40B4-BE49-F238E27FC236}">
                    <a16:creationId xmlns:a16="http://schemas.microsoft.com/office/drawing/2014/main" id="{90E696F4-F6F9-4DD6-F79E-143F6C10E4EA}"/>
                  </a:ext>
                </a:extLst>
              </p:cNvPr>
              <p:cNvSpPr txBox="1"/>
              <p:nvPr/>
            </p:nvSpPr>
            <p:spPr>
              <a:xfrm>
                <a:off x="487016" y="1144455"/>
                <a:ext cx="11571627" cy="1613711"/>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多重共线性：</a:t>
                </a:r>
                <a:r>
                  <a:rPr lang="zh-CN" altLang="en-US" dirty="0">
                    <a:solidFill>
                      <a:schemeClr val="tx1"/>
                    </a:solidFill>
                  </a:rPr>
                  <a:t>当样本量大于回归系数个数时，如果</a:t>
                </a:r>
                <a:r>
                  <a:rPr lang="zh-CN" altLang="en-US" dirty="0">
                    <a:solidFill>
                      <a:srgbClr val="0066FF"/>
                    </a:solidFill>
                  </a:rPr>
                  <a:t>矩阵</a:t>
                </a:r>
                <a:r>
                  <a:rPr lang="en-US" altLang="zh-CN" dirty="0">
                    <a:solidFill>
                      <a:srgbClr val="0066FF"/>
                    </a:solidFill>
                  </a:rPr>
                  <a:t>X</a:t>
                </a:r>
                <a:r>
                  <a:rPr lang="zh-CN" altLang="en-US" dirty="0">
                    <a:solidFill>
                      <a:srgbClr val="0066FF"/>
                    </a:solidFill>
                  </a:rPr>
                  <a:t>的列向量之间线性相关</a:t>
                </a:r>
                <a:r>
                  <a:rPr lang="zh-CN" altLang="en-US" dirty="0">
                    <a:solidFill>
                      <a:schemeClr val="tx1"/>
                    </a:solidFill>
                  </a:rPr>
                  <a:t>，则称自变量</a:t>
                </a:r>
                <a14:m>
                  <m:oMath xmlns:m="http://schemas.openxmlformats.org/officeDocument/2006/math">
                    <m:sSub>
                      <m:sSubPr>
                        <m:ctrlPr>
                          <a:rPr lang="en-US" altLang="zh-CN" i="1" dirty="0" smtClean="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𝒙</m:t>
                        </m:r>
                      </m:e>
                      <m:sub>
                        <m:r>
                          <a:rPr lang="en-US" altLang="zh-CN" i="1" dirty="0">
                            <a:solidFill>
                              <a:schemeClr val="tx1"/>
                            </a:solidFill>
                            <a:latin typeface="Cambria Math" panose="02040503050406030204" pitchFamily="18" charset="0"/>
                          </a:rPr>
                          <m:t>𝟏</m:t>
                        </m:r>
                      </m:sub>
                    </m:sSub>
                    <m:r>
                      <a:rPr lang="en-US" altLang="zh-CN" i="1" dirty="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𝒙</m:t>
                        </m:r>
                      </m:e>
                      <m:sub>
                        <m:r>
                          <a:rPr lang="en-US" altLang="zh-CN" i="1" dirty="0">
                            <a:solidFill>
                              <a:schemeClr val="tx1"/>
                            </a:solidFill>
                            <a:latin typeface="Cambria Math" panose="02040503050406030204" pitchFamily="18" charset="0"/>
                          </a:rPr>
                          <m:t>𝟐</m:t>
                        </m:r>
                      </m:sub>
                    </m:sSub>
                    <m:r>
                      <a:rPr lang="en-US" altLang="zh-CN"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 </m:t>
                    </m:r>
                    <m:r>
                      <a:rPr lang="en-US" altLang="zh-CN" i="1" dirty="0">
                        <a:solidFill>
                          <a:schemeClr val="tx1"/>
                        </a:solidFill>
                        <a:latin typeface="Cambria Math" panose="02040503050406030204" pitchFamily="18" charset="0"/>
                        <a:ea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𝒙</m:t>
                        </m:r>
                      </m:e>
                      <m:sub>
                        <m:r>
                          <a:rPr lang="en-US" altLang="zh-CN" i="1" dirty="0">
                            <a:solidFill>
                              <a:schemeClr val="tx1"/>
                            </a:solidFill>
                            <a:latin typeface="Cambria Math" panose="02040503050406030204" pitchFamily="18" charset="0"/>
                          </a:rPr>
                          <m:t>𝒑</m:t>
                        </m:r>
                      </m:sub>
                    </m:sSub>
                  </m:oMath>
                </a14:m>
                <a:r>
                  <a:rPr lang="zh-CN" altLang="en-US" dirty="0">
                    <a:solidFill>
                      <a:schemeClr val="tx1"/>
                    </a:solidFill>
                  </a:rPr>
                  <a:t>之间存在多重共线性。</a:t>
                </a:r>
              </a:p>
            </p:txBody>
          </p:sp>
        </mc:Choice>
        <mc:Fallback xmlns="">
          <p:sp>
            <p:nvSpPr>
              <p:cNvPr id="2" name="TextBox 7">
                <a:extLst>
                  <a:ext uri="{FF2B5EF4-FFF2-40B4-BE49-F238E27FC236}">
                    <a16:creationId xmlns:a16="http://schemas.microsoft.com/office/drawing/2014/main" id="{90E696F4-F6F9-4DD6-F79E-143F6C10E4EA}"/>
                  </a:ext>
                </a:extLst>
              </p:cNvPr>
              <p:cNvSpPr txBox="1">
                <a:spLocks noRot="1" noChangeAspect="1" noMove="1" noResize="1" noEditPoints="1" noAdjustHandles="1" noChangeArrowheads="1" noChangeShapeType="1" noTextEdit="1"/>
              </p:cNvSpPr>
              <p:nvPr/>
            </p:nvSpPr>
            <p:spPr>
              <a:xfrm>
                <a:off x="487016" y="1144455"/>
                <a:ext cx="11571627" cy="1613711"/>
              </a:xfrm>
              <a:prstGeom prst="rect">
                <a:avLst/>
              </a:prstGeom>
              <a:blipFill>
                <a:blip r:embed="rId3"/>
                <a:stretch>
                  <a:fillRect/>
                </a:stretch>
              </a:blipFill>
            </p:spPr>
            <p:txBody>
              <a:bodyPr/>
              <a:lstStyle/>
              <a:p>
                <a:r>
                  <a:rPr lang="zh-CN" altLang="en-US">
                    <a:noFill/>
                  </a:rPr>
                  <a:t> </a:t>
                </a:r>
              </a:p>
            </p:txBody>
          </p:sp>
        </mc:Fallback>
      </mc:AlternateContent>
      <p:sp>
        <p:nvSpPr>
          <p:cNvPr id="4" name="矩形: 圆角 3">
            <a:extLst>
              <a:ext uri="{FF2B5EF4-FFF2-40B4-BE49-F238E27FC236}">
                <a16:creationId xmlns:a16="http://schemas.microsoft.com/office/drawing/2014/main" id="{806DA443-ADE2-F9EC-79F5-9D2823076C72}"/>
              </a:ext>
            </a:extLst>
          </p:cNvPr>
          <p:cNvSpPr/>
          <p:nvPr/>
        </p:nvSpPr>
        <p:spPr>
          <a:xfrm>
            <a:off x="487015" y="3069660"/>
            <a:ext cx="11215249" cy="3433882"/>
          </a:xfrm>
          <a:prstGeom prst="roundRect">
            <a:avLst/>
          </a:prstGeom>
          <a:noFill/>
          <a:ln w="28575">
            <a:solidFill>
              <a:srgbClr val="0066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FD8D95BE-30F3-17AC-2FE3-2534B67D6835}"/>
              </a:ext>
            </a:extLst>
          </p:cNvPr>
          <p:cNvGrpSpPr/>
          <p:nvPr/>
        </p:nvGrpSpPr>
        <p:grpSpPr>
          <a:xfrm>
            <a:off x="937418" y="3429000"/>
            <a:ext cx="10314442" cy="2776914"/>
            <a:chOff x="882476" y="3275606"/>
            <a:chExt cx="10314442" cy="2776914"/>
          </a:xfrm>
        </p:grpSpPr>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3B7F0756-EF02-3C10-18F2-B423664C91EE}"/>
                    </a:ext>
                  </a:extLst>
                </p:cNvPr>
                <p:cNvSpPr txBox="1"/>
                <p:nvPr/>
              </p:nvSpPr>
              <p:spPr>
                <a:xfrm>
                  <a:off x="882476" y="3275606"/>
                  <a:ext cx="10314442" cy="2776914"/>
                </a:xfrm>
                <a:prstGeom prst="rect">
                  <a:avLst/>
                </a:prstGeom>
                <a:noFill/>
              </p:spPr>
              <p:txBody>
                <a:bodyPr wrap="square">
                  <a:spAutoFit/>
                </a:bodyPr>
                <a:lstStyle/>
                <a:p>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对于自变量</a:t>
                  </a:r>
                  <a14:m>
                    <m:oMath xmlns:m="http://schemas.openxmlformats.org/officeDocument/2006/math">
                      <m:sSub>
                        <m:sSubPr>
                          <m:ctrlPr>
                            <a:rPr lang="en-US" altLang="zh-CN" sz="2400" i="1" dirty="0" smtClean="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𝒙</m:t>
                          </m:r>
                        </m:e>
                        <m:sub>
                          <m:r>
                            <a:rPr lang="en-US" altLang="zh-CN" sz="2400" i="1" dirty="0">
                              <a:solidFill>
                                <a:schemeClr val="tx1"/>
                              </a:solidFill>
                              <a:latin typeface="Cambria Math" panose="02040503050406030204" pitchFamily="18" charset="0"/>
                            </a:rPr>
                            <m:t>𝟏</m:t>
                          </m:r>
                        </m:sub>
                      </m:sSub>
                      <m:r>
                        <a:rPr lang="en-US" altLang="zh-CN" sz="2400" i="1" dirty="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𝒙</m:t>
                          </m:r>
                        </m:e>
                        <m:sub>
                          <m:r>
                            <a:rPr lang="en-US" altLang="zh-CN" sz="2400" i="1" dirty="0">
                              <a:solidFill>
                                <a:schemeClr val="tx1"/>
                              </a:solidFill>
                              <a:latin typeface="Cambria Math" panose="02040503050406030204" pitchFamily="18" charset="0"/>
                            </a:rPr>
                            <m:t>𝟐</m:t>
                          </m:r>
                        </m:sub>
                      </m:sSub>
                      <m:r>
                        <a:rPr lang="en-US" altLang="zh-CN" sz="2400"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 </m:t>
                      </m:r>
                      <m:r>
                        <a:rPr lang="en-US" altLang="zh-CN" sz="2400" i="1" dirty="0">
                          <a:solidFill>
                            <a:schemeClr val="tx1"/>
                          </a:solidFill>
                          <a:latin typeface="Cambria Math" panose="02040503050406030204" pitchFamily="18" charset="0"/>
                          <a:ea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𝒙</m:t>
                          </m:r>
                        </m:e>
                        <m:sub>
                          <m:r>
                            <a:rPr lang="en-US" altLang="zh-CN" sz="2400" i="1" dirty="0">
                              <a:solidFill>
                                <a:schemeClr val="tx1"/>
                              </a:solidFill>
                              <a:latin typeface="Cambria Math" panose="02040503050406030204" pitchFamily="18" charset="0"/>
                            </a:rPr>
                            <m:t>𝒑</m:t>
                          </m:r>
                        </m:sub>
                      </m:sSub>
                    </m:oMath>
                  </a14:m>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，如果存在不全为</a:t>
                  </a:r>
                  <a:r>
                    <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rPr>
                    <a:t>0</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的常数</a:t>
                  </a:r>
                  <a14:m>
                    <m:oMath xmlns:m="http://schemas.openxmlformats.org/officeDocument/2006/math">
                      <m:sSub>
                        <m:sSubPr>
                          <m:ctrlPr>
                            <a:rPr lang="en-US" altLang="zh-CN" sz="2400" i="1" dirty="0">
                              <a:latin typeface="Cambria Math" panose="02040503050406030204" pitchFamily="18" charset="0"/>
                            </a:rPr>
                          </m:ctrlPr>
                        </m:sSubPr>
                        <m:e>
                          <m:r>
                            <a:rPr lang="en-US" altLang="zh-CN" sz="2400" b="0" i="1" dirty="0" smtClean="0">
                              <a:latin typeface="Cambria Math" panose="02040503050406030204" pitchFamily="18" charset="0"/>
                            </a:rPr>
                            <m:t>𝑐</m:t>
                          </m:r>
                        </m:e>
                        <m:sub>
                          <m:r>
                            <a:rPr lang="en-US" altLang="zh-CN" sz="2400" i="1" dirty="0">
                              <a:latin typeface="Cambria Math" panose="02040503050406030204" pitchFamily="18" charset="0"/>
                            </a:rPr>
                            <m:t>𝟏</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b="0" i="1" dirty="0" smtClean="0">
                              <a:latin typeface="Cambria Math" panose="02040503050406030204" pitchFamily="18" charset="0"/>
                            </a:rPr>
                            <m:t>𝑐</m:t>
                          </m:r>
                        </m:e>
                        <m:sub>
                          <m:r>
                            <a:rPr lang="en-US" altLang="zh-CN" sz="2400" i="1" dirty="0">
                              <a:latin typeface="Cambria Math" panose="02040503050406030204" pitchFamily="18" charset="0"/>
                            </a:rPr>
                            <m:t>𝟐</m:t>
                          </m:r>
                        </m:sub>
                      </m:sSub>
                      <m:r>
                        <a:rPr lang="en-US" altLang="zh-CN" sz="2400" dirty="0">
                          <a:latin typeface="Cambria Math" panose="02040503050406030204" pitchFamily="18" charset="0"/>
                        </a:rPr>
                        <m:t>,</m:t>
                      </m:r>
                      <m:r>
                        <a:rPr lang="en-US" altLang="zh-CN" sz="2400" i="1" dirty="0">
                          <a:latin typeface="Cambria Math" panose="02040503050406030204" pitchFamily="18" charset="0"/>
                        </a:rPr>
                        <m:t> </m:t>
                      </m:r>
                      <m:r>
                        <a:rPr lang="en-US" altLang="zh-CN" sz="2400" i="1" dirty="0">
                          <a:latin typeface="Cambria Math" panose="02040503050406030204" pitchFamily="18" charset="0"/>
                          <a:ea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b="0" i="1" dirty="0" smtClean="0">
                              <a:latin typeface="Cambria Math" panose="02040503050406030204" pitchFamily="18" charset="0"/>
                            </a:rPr>
                            <m:t>𝑐</m:t>
                          </m:r>
                        </m:e>
                        <m:sub>
                          <m:r>
                            <a:rPr lang="en-US" altLang="zh-CN" sz="2400" i="1" dirty="0">
                              <a:latin typeface="Cambria Math" panose="02040503050406030204" pitchFamily="18" charset="0"/>
                            </a:rPr>
                            <m:t>𝒑</m:t>
                          </m:r>
                        </m:sub>
                      </m:sSub>
                    </m:oMath>
                  </a14:m>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，使得：</a:t>
                  </a:r>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则称自变量间存在</a:t>
                  </a:r>
                  <a:r>
                    <a:rPr lang="zh-CN" altLang="en-US" sz="24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完全多重共线性</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a:t>
                  </a:r>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存在不全为</a:t>
                  </a:r>
                  <a:r>
                    <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rPr>
                    <a:t>0</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的常数</a:t>
                  </a:r>
                  <a14:m>
                    <m:oMath xmlns:m="http://schemas.openxmlformats.org/officeDocument/2006/math">
                      <m:sSub>
                        <m:sSubPr>
                          <m:ctrlPr>
                            <a:rPr lang="en-US" altLang="zh-CN" sz="2400" i="1" dirty="0">
                              <a:latin typeface="Cambria Math" panose="02040503050406030204" pitchFamily="18" charset="0"/>
                            </a:rPr>
                          </m:ctrlPr>
                        </m:sSubPr>
                        <m:e>
                          <m:r>
                            <a:rPr lang="en-US" altLang="zh-CN" sz="2400" b="0" i="1" dirty="0" smtClean="0">
                              <a:latin typeface="Cambria Math" panose="02040503050406030204" pitchFamily="18" charset="0"/>
                            </a:rPr>
                            <m:t>𝑐</m:t>
                          </m:r>
                        </m:e>
                        <m:sub>
                          <m:r>
                            <a:rPr lang="en-US" altLang="zh-CN" sz="2400" i="1" dirty="0">
                              <a:latin typeface="Cambria Math" panose="02040503050406030204" pitchFamily="18" charset="0"/>
                            </a:rPr>
                            <m:t>𝟏</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b="0" i="1" dirty="0" smtClean="0">
                              <a:latin typeface="Cambria Math" panose="02040503050406030204" pitchFamily="18" charset="0"/>
                            </a:rPr>
                            <m:t>𝑐</m:t>
                          </m:r>
                        </m:e>
                        <m:sub>
                          <m:r>
                            <a:rPr lang="en-US" altLang="zh-CN" sz="2400" i="1" dirty="0">
                              <a:latin typeface="Cambria Math" panose="02040503050406030204" pitchFamily="18" charset="0"/>
                            </a:rPr>
                            <m:t>𝟐</m:t>
                          </m:r>
                        </m:sub>
                      </m:sSub>
                      <m:r>
                        <a:rPr lang="en-US" altLang="zh-CN" sz="2400" dirty="0">
                          <a:latin typeface="Cambria Math" panose="02040503050406030204" pitchFamily="18" charset="0"/>
                        </a:rPr>
                        <m:t>,</m:t>
                      </m:r>
                      <m:r>
                        <a:rPr lang="en-US" altLang="zh-CN" sz="2400" i="1" dirty="0">
                          <a:latin typeface="Cambria Math" panose="02040503050406030204" pitchFamily="18" charset="0"/>
                        </a:rPr>
                        <m:t> </m:t>
                      </m:r>
                      <m:r>
                        <a:rPr lang="en-US" altLang="zh-CN" sz="2400" i="1" dirty="0">
                          <a:latin typeface="Cambria Math" panose="02040503050406030204" pitchFamily="18" charset="0"/>
                          <a:ea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b="0" i="1" dirty="0" smtClean="0">
                              <a:latin typeface="Cambria Math" panose="02040503050406030204" pitchFamily="18" charset="0"/>
                            </a:rPr>
                            <m:t>𝑐</m:t>
                          </m:r>
                        </m:e>
                        <m:sub>
                          <m:r>
                            <a:rPr lang="en-US" altLang="zh-CN" sz="2400" i="1" dirty="0">
                              <a:latin typeface="Cambria Math" panose="02040503050406030204" pitchFamily="18" charset="0"/>
                            </a:rPr>
                            <m:t>𝒑</m:t>
                          </m:r>
                        </m:sub>
                      </m:sSub>
                    </m:oMath>
                  </a14:m>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，使得：</a:t>
                  </a:r>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则称自变量</a:t>
                  </a:r>
                  <a14:m>
                    <m:oMath xmlns:m="http://schemas.openxmlformats.org/officeDocument/2006/math">
                      <m:sSub>
                        <m:sSubPr>
                          <m:ctrlPr>
                            <a:rPr lang="en-US" altLang="zh-CN" sz="2400" i="1" dirty="0" smtClean="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𝒙</m:t>
                          </m:r>
                        </m:e>
                        <m:sub>
                          <m:r>
                            <a:rPr lang="en-US" altLang="zh-CN" sz="2400" i="1" dirty="0">
                              <a:solidFill>
                                <a:schemeClr val="tx1"/>
                              </a:solidFill>
                              <a:latin typeface="Cambria Math" panose="02040503050406030204" pitchFamily="18" charset="0"/>
                            </a:rPr>
                            <m:t>𝟏</m:t>
                          </m:r>
                        </m:sub>
                      </m:sSub>
                      <m:r>
                        <a:rPr lang="en-US" altLang="zh-CN" sz="2400" i="1" dirty="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𝒙</m:t>
                          </m:r>
                        </m:e>
                        <m:sub>
                          <m:r>
                            <a:rPr lang="en-US" altLang="zh-CN" sz="2400" i="1" dirty="0">
                              <a:solidFill>
                                <a:schemeClr val="tx1"/>
                              </a:solidFill>
                              <a:latin typeface="Cambria Math" panose="02040503050406030204" pitchFamily="18" charset="0"/>
                            </a:rPr>
                            <m:t>𝟐</m:t>
                          </m:r>
                        </m:sub>
                      </m:sSub>
                      <m:r>
                        <a:rPr lang="en-US" altLang="zh-CN" sz="2400" dirty="0">
                          <a:solidFill>
                            <a:schemeClr val="tx1"/>
                          </a:solidFill>
                          <a:latin typeface="Cambria Math" panose="02040503050406030204" pitchFamily="18" charset="0"/>
                        </a:rPr>
                        <m:t>,</m:t>
                      </m:r>
                      <m:r>
                        <a:rPr lang="en-US" altLang="zh-CN" sz="2400" i="1" dirty="0">
                          <a:solidFill>
                            <a:schemeClr val="tx1"/>
                          </a:solidFill>
                          <a:latin typeface="Cambria Math" panose="02040503050406030204" pitchFamily="18" charset="0"/>
                        </a:rPr>
                        <m:t> </m:t>
                      </m:r>
                      <m:r>
                        <a:rPr lang="en-US" altLang="zh-CN" sz="2400" i="1" dirty="0">
                          <a:solidFill>
                            <a:schemeClr val="tx1"/>
                          </a:solidFill>
                          <a:latin typeface="Cambria Math" panose="02040503050406030204" pitchFamily="18" charset="0"/>
                          <a:ea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𝒙</m:t>
                          </m:r>
                        </m:e>
                        <m:sub>
                          <m:r>
                            <a:rPr lang="en-US" altLang="zh-CN" sz="2400" i="1" dirty="0">
                              <a:solidFill>
                                <a:schemeClr val="tx1"/>
                              </a:solidFill>
                              <a:latin typeface="Cambria Math" panose="02040503050406030204" pitchFamily="18" charset="0"/>
                            </a:rPr>
                            <m:t>𝒑</m:t>
                          </m:r>
                        </m:sub>
                      </m:sSub>
                    </m:oMath>
                  </a14:m>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之间存在</a:t>
                  </a:r>
                  <a:r>
                    <a:rPr lang="zh-CN" altLang="en-US" sz="24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不完全多重共线性</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，其中</a:t>
                  </a:r>
                  <a14:m>
                    <m:oMath xmlns:m="http://schemas.openxmlformats.org/officeDocument/2006/math">
                      <m:r>
                        <a:rPr lang="en-US" altLang="zh-CN" sz="2400" b="1" i="1" spc="50" smtClean="0">
                          <a:ln w="11430">
                            <a:noFill/>
                          </a:ln>
                          <a:latin typeface="Cambria Math" panose="02040503050406030204" pitchFamily="18" charset="0"/>
                          <a:ea typeface="微软雅黑" panose="020B0503020204020204" pitchFamily="34" charset="-122"/>
                          <a:cs typeface="Arial" panose="020B0604020202020204" pitchFamily="34" charset="0"/>
                        </a:rPr>
                        <m:t>𝒗</m:t>
                      </m:r>
                    </m:oMath>
                  </a14:m>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为</a:t>
                  </a:r>
                  <a:r>
                    <a:rPr lang="zh-CN" altLang="en-US" sz="2400" b="1" spc="50" dirty="0">
                      <a:ln w="11430">
                        <a:noFill/>
                      </a:ln>
                      <a:solidFill>
                        <a:srgbClr val="0066FF"/>
                      </a:solidFill>
                      <a:latin typeface="Arial" panose="020B0604020202020204" pitchFamily="34" charset="0"/>
                      <a:ea typeface="微软雅黑" panose="020B0503020204020204" pitchFamily="34" charset="-122"/>
                      <a:cs typeface="Arial" panose="020B0604020202020204" pitchFamily="34" charset="0"/>
                    </a:rPr>
                    <a:t>随机干扰项</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a:t>
                  </a:r>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8" name="文本框 7">
                  <a:extLst>
                    <a:ext uri="{FF2B5EF4-FFF2-40B4-BE49-F238E27FC236}">
                      <a16:creationId xmlns:a16="http://schemas.microsoft.com/office/drawing/2014/main" id="{3B7F0756-EF02-3C10-18F2-B423664C91EE}"/>
                    </a:ext>
                  </a:extLst>
                </p:cNvPr>
                <p:cNvSpPr txBox="1">
                  <a:spLocks noRot="1" noChangeAspect="1" noMove="1" noResize="1" noEditPoints="1" noAdjustHandles="1" noChangeArrowheads="1" noChangeShapeType="1" noTextEdit="1"/>
                </p:cNvSpPr>
                <p:nvPr/>
              </p:nvSpPr>
              <p:spPr>
                <a:xfrm>
                  <a:off x="882476" y="3275606"/>
                  <a:ext cx="10314442" cy="2776914"/>
                </a:xfrm>
                <a:prstGeom prst="rect">
                  <a:avLst/>
                </a:prstGeom>
                <a:blipFill>
                  <a:blip r:embed="rId4"/>
                  <a:stretch>
                    <a:fillRect l="-946" t="-1758" r="-3901" b="-28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9" name="对象 8">
                  <a:extLst>
                    <a:ext uri="{FF2B5EF4-FFF2-40B4-BE49-F238E27FC236}">
                      <a16:creationId xmlns:a16="http://schemas.microsoft.com/office/drawing/2014/main" id="{536B39BB-CE41-BF00-4145-5A4C2834B5E7}"/>
                    </a:ext>
                  </a:extLst>
                </p:cNvPr>
                <p:cNvGraphicFramePr>
                  <a:graphicFrameLocks noChangeAspect="1"/>
                </p:cNvGraphicFramePr>
                <p:nvPr>
                  <p:extLst>
                    <p:ext uri="{D42A27DB-BD31-4B8C-83A1-F6EECF244321}">
                      <p14:modId xmlns:p14="http://schemas.microsoft.com/office/powerpoint/2010/main" val="1907006292"/>
                    </p:ext>
                  </p:extLst>
                </p:nvPr>
              </p:nvGraphicFramePr>
              <p:xfrm>
                <a:off x="4433327" y="3847099"/>
                <a:ext cx="4038076" cy="528544"/>
              </p:xfrm>
              <a:graphic>
                <a:graphicData uri="http://schemas.openxmlformats.org/presentationml/2006/ole">
                  <mc:AlternateContent>
                    <mc:Choice xmlns:v="urn:schemas-microsoft-com:vml" Requires="v">
                      <p:oleObj name="Equation" r:id="rId5" imgW="1819576" imgH="237969" progId="Equation.DSMT4">
                        <p:embed/>
                      </p:oleObj>
                    </mc:Choice>
                    <mc:Fallback>
                      <p:oleObj name="Equation" r:id="rId5" imgW="1819576" imgH="237969" progId="Equation.DSMT4">
                        <p:embed/>
                        <p:pic>
                          <p:nvPicPr>
                            <p:cNvPr id="0" name=""/>
                            <p:cNvPicPr/>
                            <p:nvPr/>
                          </p:nvPicPr>
                          <p:blipFill>
                            <a:blip r:embed="rId6"/>
                            <a:stretch>
                              <a:fillRect/>
                            </a:stretch>
                          </p:blipFill>
                          <p:spPr>
                            <a:xfrm>
                              <a:off x="4433327" y="3847099"/>
                              <a:ext cx="4038076" cy="528544"/>
                            </a:xfrm>
                            <a:prstGeom prst="rect">
                              <a:avLst/>
                            </a:prstGeom>
                          </p:spPr>
                        </p:pic>
                      </p:oleObj>
                    </mc:Fallback>
                  </mc:AlternateContent>
                </a:graphicData>
              </a:graphic>
            </p:graphicFrame>
          </mc:Choice>
          <mc:Fallback xmlns="">
            <p:graphicFrame>
              <p:nvGraphicFramePr>
                <p:cNvPr id="9" name="对象 8">
                  <a:extLst>
                    <a:ext uri="{FF2B5EF4-FFF2-40B4-BE49-F238E27FC236}">
                      <a16:creationId xmlns:a16="http://schemas.microsoft.com/office/drawing/2014/main" id="{536B39BB-CE41-BF00-4145-5A4C2834B5E7}"/>
                    </a:ext>
                  </a:extLst>
                </p:cNvPr>
                <p:cNvGraphicFramePr>
                  <a:graphicFrameLocks noChangeAspect="1"/>
                </p:cNvGraphicFramePr>
                <p:nvPr>
                  <p:extLst>
                    <p:ext uri="{D42A27DB-BD31-4B8C-83A1-F6EECF244321}">
                      <p14:modId xmlns:p14="http://schemas.microsoft.com/office/powerpoint/2010/main" val="1907006292"/>
                    </p:ext>
                  </p:extLst>
                </p:nvPr>
              </p:nvGraphicFramePr>
              <p:xfrm>
                <a:off x="4433327" y="3847099"/>
                <a:ext cx="4038076" cy="528544"/>
              </p:xfrm>
              <a:graphic>
                <a:graphicData uri="http://schemas.openxmlformats.org/presentationml/2006/ole">
                  <mc:AlternateContent>
                    <mc:Choice xmlns:v="urn:schemas-microsoft-com:vml" Requires="v">
                      <p:oleObj name="Equation" r:id="rId7" imgW="1819576" imgH="237969" progId="Equation.DSMT4">
                        <p:embed/>
                      </p:oleObj>
                    </mc:Choice>
                    <mc:Fallback>
                      <p:oleObj name="Equation" r:id="rId7" imgW="1819576" imgH="237969" progId="Equation.DSMT4">
                        <p:embed/>
                        <p:pic>
                          <p:nvPicPr>
                            <p:cNvPr id="0" name=""/>
                            <p:cNvPicPr/>
                            <p:nvPr/>
                          </p:nvPicPr>
                          <p:blipFill>
                            <a:blip r:embed="rId8"/>
                            <a:stretch>
                              <a:fillRect/>
                            </a:stretch>
                          </p:blipFill>
                          <p:spPr>
                            <a:xfrm>
                              <a:off x="4433327" y="3847099"/>
                              <a:ext cx="4038076" cy="528544"/>
                            </a:xfrm>
                            <a:prstGeom prst="rect">
                              <a:avLst/>
                            </a:prstGeom>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0" name="对象 9">
                  <a:extLst>
                    <a:ext uri="{FF2B5EF4-FFF2-40B4-BE49-F238E27FC236}">
                      <a16:creationId xmlns:a16="http://schemas.microsoft.com/office/drawing/2014/main" id="{338C7B19-C13A-0085-5347-B9F47C19D648}"/>
                    </a:ext>
                  </a:extLst>
                </p:cNvPr>
                <p:cNvGraphicFramePr>
                  <a:graphicFrameLocks noChangeAspect="1"/>
                </p:cNvGraphicFramePr>
                <p:nvPr>
                  <p:extLst>
                    <p:ext uri="{D42A27DB-BD31-4B8C-83A1-F6EECF244321}">
                      <p14:modId xmlns:p14="http://schemas.microsoft.com/office/powerpoint/2010/main" val="836409466"/>
                    </p:ext>
                  </p:extLst>
                </p:nvPr>
              </p:nvGraphicFramePr>
              <p:xfrm>
                <a:off x="6452365" y="5109427"/>
                <a:ext cx="4134661" cy="487578"/>
              </p:xfrm>
              <a:graphic>
                <a:graphicData uri="http://schemas.openxmlformats.org/presentationml/2006/ole">
                  <mc:AlternateContent>
                    <mc:Choice xmlns:v="urn:schemas-microsoft-com:vml" Requires="v">
                      <p:oleObj name="Equation" r:id="rId9" imgW="2019391" imgH="237969" progId="Equation.DSMT4">
                        <p:embed/>
                      </p:oleObj>
                    </mc:Choice>
                    <mc:Fallback>
                      <p:oleObj name="Equation" r:id="rId9" imgW="2019391" imgH="237969" progId="Equation.DSMT4">
                        <p:embed/>
                        <p:pic>
                          <p:nvPicPr>
                            <p:cNvPr id="0" name=""/>
                            <p:cNvPicPr/>
                            <p:nvPr/>
                          </p:nvPicPr>
                          <p:blipFill>
                            <a:blip r:embed="rId10"/>
                            <a:stretch>
                              <a:fillRect/>
                            </a:stretch>
                          </p:blipFill>
                          <p:spPr>
                            <a:xfrm>
                              <a:off x="6452365" y="5109427"/>
                              <a:ext cx="4134661" cy="487578"/>
                            </a:xfrm>
                            <a:prstGeom prst="rect">
                              <a:avLst/>
                            </a:prstGeom>
                          </p:spPr>
                        </p:pic>
                      </p:oleObj>
                    </mc:Fallback>
                  </mc:AlternateContent>
                </a:graphicData>
              </a:graphic>
            </p:graphicFrame>
          </mc:Choice>
          <mc:Fallback xmlns="">
            <p:graphicFrame>
              <p:nvGraphicFramePr>
                <p:cNvPr id="10" name="对象 9">
                  <a:extLst>
                    <a:ext uri="{FF2B5EF4-FFF2-40B4-BE49-F238E27FC236}">
                      <a16:creationId xmlns:a16="http://schemas.microsoft.com/office/drawing/2014/main" id="{338C7B19-C13A-0085-5347-B9F47C19D648}"/>
                    </a:ext>
                  </a:extLst>
                </p:cNvPr>
                <p:cNvGraphicFramePr>
                  <a:graphicFrameLocks noChangeAspect="1"/>
                </p:cNvGraphicFramePr>
                <p:nvPr>
                  <p:extLst>
                    <p:ext uri="{D42A27DB-BD31-4B8C-83A1-F6EECF244321}">
                      <p14:modId xmlns:p14="http://schemas.microsoft.com/office/powerpoint/2010/main" val="836409466"/>
                    </p:ext>
                  </p:extLst>
                </p:nvPr>
              </p:nvGraphicFramePr>
              <p:xfrm>
                <a:off x="6452365" y="5109427"/>
                <a:ext cx="4134661" cy="487578"/>
              </p:xfrm>
              <a:graphic>
                <a:graphicData uri="http://schemas.openxmlformats.org/presentationml/2006/ole">
                  <mc:AlternateContent>
                    <mc:Choice xmlns:v="urn:schemas-microsoft-com:vml" Requires="v">
                      <p:oleObj name="Equation" r:id="rId11" imgW="2019391" imgH="237969" progId="Equation.DSMT4">
                        <p:embed/>
                      </p:oleObj>
                    </mc:Choice>
                    <mc:Fallback>
                      <p:oleObj name="Equation" r:id="rId11" imgW="2019391" imgH="237969" progId="Equation.DSMT4">
                        <p:embed/>
                        <p:pic>
                          <p:nvPicPr>
                            <p:cNvPr id="0" name=""/>
                            <p:cNvPicPr/>
                            <p:nvPr/>
                          </p:nvPicPr>
                          <p:blipFill>
                            <a:blip r:embed="rId12"/>
                            <a:stretch>
                              <a:fillRect/>
                            </a:stretch>
                          </p:blipFill>
                          <p:spPr>
                            <a:xfrm>
                              <a:off x="6452365" y="5109427"/>
                              <a:ext cx="4134661" cy="487578"/>
                            </a:xfrm>
                            <a:prstGeom prst="rect">
                              <a:avLst/>
                            </a:prstGeom>
                          </p:spPr>
                        </p:pic>
                      </p:oleObj>
                    </mc:Fallback>
                  </mc:AlternateContent>
                </a:graphicData>
              </a:graphic>
            </p:graphicFrame>
          </mc:Fallback>
        </mc:AlternateContent>
      </p:grpSp>
    </p:spTree>
    <p:extLst>
      <p:ext uri="{BB962C8B-B14F-4D97-AF65-F5344CB8AC3E}">
        <p14:creationId xmlns:p14="http://schemas.microsoft.com/office/powerpoint/2010/main" val="4884658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A5B10-E79D-C094-43A3-659AC38CD691}"/>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1037C2CA-1056-71A1-4C29-158A1B3C1D2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认识多重共线性</a:t>
            </a:r>
            <a:endParaRPr lang="en-US" sz="3200" b="0" dirty="0">
              <a:solidFill>
                <a:srgbClr val="FFFF00"/>
              </a:solidFill>
              <a:latin typeface="华光综艺_CNKI" panose="02000500000000000000" pitchFamily="2" charset="-122"/>
              <a:ea typeface="华光综艺_CNKI" panose="02000500000000000000" pitchFamily="2" charset="-122"/>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965AFFF5-DAFB-A4BC-B3F6-D910B6BC59F6}"/>
                  </a:ext>
                </a:extLst>
              </p:cNvPr>
              <p:cNvSpPr txBox="1"/>
              <p:nvPr/>
            </p:nvSpPr>
            <p:spPr>
              <a:xfrm>
                <a:off x="542971" y="1232647"/>
                <a:ext cx="10671876" cy="5262979"/>
              </a:xfrm>
              <a:prstGeom prst="rect">
                <a:avLst/>
              </a:prstGeom>
              <a:noFill/>
            </p:spPr>
            <p:txBody>
              <a:bodyPr wrap="square">
                <a:spAutoFit/>
              </a:bodyPr>
              <a:lstStyle/>
              <a:p>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假设</a:t>
                </a:r>
                <a14:m>
                  <m:oMath xmlns:m="http://schemas.openxmlformats.org/officeDocument/2006/math">
                    <m:sSub>
                      <m:sSubPr>
                        <m:ctrlPr>
                          <a:rPr lang="en-US" altLang="zh-CN" sz="2400" i="1" dirty="0" smtClean="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𝒙</m:t>
                        </m:r>
                      </m:e>
                      <m:sub>
                        <m:r>
                          <a:rPr lang="en-US" altLang="zh-CN" sz="2400" i="1" dirty="0">
                            <a:solidFill>
                              <a:schemeClr val="tx1"/>
                            </a:solidFill>
                            <a:latin typeface="Cambria Math" panose="02040503050406030204" pitchFamily="18" charset="0"/>
                          </a:rPr>
                          <m:t>𝟏</m:t>
                        </m:r>
                      </m:sub>
                    </m:sSub>
                    <m:r>
                      <a:rPr lang="en-US" altLang="zh-CN" sz="2400" i="1" dirty="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𝒙</m:t>
                        </m:r>
                      </m:e>
                      <m:sub>
                        <m:r>
                          <a:rPr lang="en-US" altLang="zh-CN" sz="2400" i="1" dirty="0">
                            <a:solidFill>
                              <a:schemeClr val="tx1"/>
                            </a:solidFill>
                            <a:latin typeface="Cambria Math" panose="02040503050406030204" pitchFamily="18" charset="0"/>
                          </a:rPr>
                          <m:t>𝟐</m:t>
                        </m:r>
                      </m:sub>
                    </m:sSub>
                    <m:r>
                      <a:rPr lang="en-US" altLang="zh-CN" sz="2400" i="1" dirty="0" smtClean="0">
                        <a:solidFill>
                          <a:schemeClr val="tx1"/>
                        </a:solidFill>
                        <a:latin typeface="Cambria Math" panose="02040503050406030204" pitchFamily="18" charset="0"/>
                      </a:rPr>
                      <m:t> </m:t>
                    </m:r>
                  </m:oMath>
                </a14:m>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与</a:t>
                </a:r>
                <a14:m>
                  <m:oMath xmlns:m="http://schemas.openxmlformats.org/officeDocument/2006/math">
                    <m:r>
                      <a:rPr lang="en-US" altLang="zh-CN" sz="2400" b="1" i="1" spc="50" dirty="0" smtClean="0">
                        <a:ln w="11430">
                          <a:noFill/>
                        </a:ln>
                        <a:latin typeface="Cambria Math" panose="02040503050406030204" pitchFamily="18" charset="0"/>
                        <a:ea typeface="微软雅黑" panose="020B0503020204020204" pitchFamily="34" charset="-122"/>
                        <a:cs typeface="Arial" panose="020B0604020202020204" pitchFamily="34" charset="0"/>
                      </a:rPr>
                      <m:t>𝒚</m:t>
                    </m:r>
                  </m:oMath>
                </a14:m>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之间存在形如</a:t>
                </a:r>
                <a14:m>
                  <m:oMath xmlns:m="http://schemas.openxmlformats.org/officeDocument/2006/math">
                    <m:r>
                      <a:rPr lang="en-US" altLang="zh-CN" sz="2400" i="1">
                        <a:solidFill>
                          <a:srgbClr val="0000FF"/>
                        </a:solidFill>
                        <a:latin typeface="Cambria Math" panose="02040503050406030204" pitchFamily="18" charset="0"/>
                      </a:rPr>
                      <m:t>𝒚</m:t>
                    </m:r>
                    <m:r>
                      <a:rPr lang="en-US" altLang="zh-CN" sz="2400" i="1">
                        <a:solidFill>
                          <a:srgbClr val="0000FF"/>
                        </a:solidFill>
                        <a:latin typeface="Cambria Math" panose="02040503050406030204" pitchFamily="18" charset="0"/>
                      </a:rPr>
                      <m:t>=</m:t>
                    </m:r>
                    <m:sSub>
                      <m:sSubPr>
                        <m:ctrlPr>
                          <a:rPr lang="en-US" altLang="zh-CN" sz="2400" i="1">
                            <a:solidFill>
                              <a:srgbClr val="0000FF"/>
                            </a:solidFill>
                            <a:latin typeface="Cambria Math" panose="02040503050406030204" pitchFamily="18" charset="0"/>
                          </a:rPr>
                        </m:ctrlPr>
                      </m:sSubPr>
                      <m:e>
                        <m:r>
                          <a:rPr lang="zh-CN" altLang="en-US" sz="2400" i="1">
                            <a:solidFill>
                              <a:srgbClr val="0000FF"/>
                            </a:solidFill>
                            <a:latin typeface="Cambria Math" panose="02040503050406030204" pitchFamily="18" charset="0"/>
                          </a:rPr>
                          <m:t>𝜷</m:t>
                        </m:r>
                      </m:e>
                      <m:sub>
                        <m:r>
                          <a:rPr lang="en-US" altLang="zh-CN" sz="2400" i="1">
                            <a:solidFill>
                              <a:srgbClr val="0000FF"/>
                            </a:solidFill>
                            <a:latin typeface="Cambria Math" panose="02040503050406030204" pitchFamily="18" charset="0"/>
                          </a:rPr>
                          <m:t>𝟎</m:t>
                        </m:r>
                      </m:sub>
                    </m:sSub>
                    <m:r>
                      <a:rPr lang="en-US" altLang="zh-CN" sz="2400" i="1">
                        <a:solidFill>
                          <a:srgbClr val="0000FF"/>
                        </a:solidFill>
                        <a:latin typeface="Cambria Math" panose="02040503050406030204" pitchFamily="18" charset="0"/>
                      </a:rPr>
                      <m:t>+</m:t>
                    </m:r>
                    <m:sSub>
                      <m:sSubPr>
                        <m:ctrlPr>
                          <a:rPr lang="en-US" altLang="zh-CN" sz="2400" i="1">
                            <a:solidFill>
                              <a:srgbClr val="0000FF"/>
                            </a:solidFill>
                            <a:latin typeface="Cambria Math" panose="02040503050406030204" pitchFamily="18" charset="0"/>
                          </a:rPr>
                        </m:ctrlPr>
                      </m:sSubPr>
                      <m:e>
                        <m:r>
                          <a:rPr lang="zh-CN" altLang="en-US" sz="2400" i="1">
                            <a:solidFill>
                              <a:srgbClr val="0000FF"/>
                            </a:solidFill>
                            <a:latin typeface="Cambria Math" panose="02040503050406030204" pitchFamily="18" charset="0"/>
                          </a:rPr>
                          <m:t>𝜷</m:t>
                        </m:r>
                      </m:e>
                      <m:sub>
                        <m:r>
                          <a:rPr lang="en-US" altLang="zh-CN" sz="2400" i="1">
                            <a:solidFill>
                              <a:srgbClr val="0000FF"/>
                            </a:solidFill>
                            <a:latin typeface="Cambria Math" panose="02040503050406030204" pitchFamily="18" charset="0"/>
                          </a:rPr>
                          <m:t>𝟏</m:t>
                        </m:r>
                      </m:sub>
                    </m:sSub>
                    <m:sSub>
                      <m:sSubPr>
                        <m:ctrlPr>
                          <a:rPr lang="en-US"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𝒙</m:t>
                        </m:r>
                      </m:e>
                      <m:sub>
                        <m:r>
                          <a:rPr lang="en-US" altLang="zh-CN" sz="2400" i="1">
                            <a:solidFill>
                              <a:srgbClr val="0000FF"/>
                            </a:solidFill>
                            <a:latin typeface="Cambria Math" panose="02040503050406030204" pitchFamily="18" charset="0"/>
                          </a:rPr>
                          <m:t>𝟏</m:t>
                        </m:r>
                      </m:sub>
                    </m:sSub>
                    <m:r>
                      <a:rPr lang="en-US" altLang="zh-CN" sz="2400" i="1">
                        <a:solidFill>
                          <a:srgbClr val="0000FF"/>
                        </a:solidFill>
                        <a:latin typeface="Cambria Math" panose="02040503050406030204" pitchFamily="18" charset="0"/>
                      </a:rPr>
                      <m:t>+</m:t>
                    </m:r>
                    <m:sSub>
                      <m:sSubPr>
                        <m:ctrlPr>
                          <a:rPr lang="en-US" altLang="zh-CN" sz="2400" i="1">
                            <a:solidFill>
                              <a:srgbClr val="0000FF"/>
                            </a:solidFill>
                            <a:latin typeface="Cambria Math" panose="02040503050406030204" pitchFamily="18" charset="0"/>
                          </a:rPr>
                        </m:ctrlPr>
                      </m:sSubPr>
                      <m:e>
                        <m:r>
                          <a:rPr lang="zh-CN" altLang="en-US" sz="2400" i="1">
                            <a:solidFill>
                              <a:srgbClr val="0000FF"/>
                            </a:solidFill>
                            <a:latin typeface="Cambria Math" panose="02040503050406030204" pitchFamily="18" charset="0"/>
                          </a:rPr>
                          <m:t>𝜷</m:t>
                        </m:r>
                      </m:e>
                      <m:sub>
                        <m:r>
                          <a:rPr lang="en-US" altLang="zh-CN" sz="2400" i="1">
                            <a:solidFill>
                              <a:srgbClr val="0000FF"/>
                            </a:solidFill>
                            <a:latin typeface="Cambria Math" panose="02040503050406030204" pitchFamily="18" charset="0"/>
                          </a:rPr>
                          <m:t>𝟐</m:t>
                        </m:r>
                      </m:sub>
                    </m:sSub>
                    <m:sSub>
                      <m:sSubPr>
                        <m:ctrlPr>
                          <a:rPr lang="en-US" altLang="zh-CN" sz="2400" i="1">
                            <a:solidFill>
                              <a:srgbClr val="0000FF"/>
                            </a:solidFill>
                            <a:latin typeface="Cambria Math" panose="02040503050406030204" pitchFamily="18" charset="0"/>
                          </a:rPr>
                        </m:ctrlPr>
                      </m:sSubPr>
                      <m:e>
                        <m:r>
                          <a:rPr lang="en-US" altLang="zh-CN" sz="2400" i="1">
                            <a:solidFill>
                              <a:srgbClr val="0000FF"/>
                            </a:solidFill>
                            <a:latin typeface="Cambria Math" panose="02040503050406030204" pitchFamily="18" charset="0"/>
                          </a:rPr>
                          <m:t>𝒙</m:t>
                        </m:r>
                      </m:e>
                      <m:sub>
                        <m:r>
                          <a:rPr lang="en-US" altLang="zh-CN" sz="2400" i="1">
                            <a:solidFill>
                              <a:srgbClr val="0000FF"/>
                            </a:solidFill>
                            <a:latin typeface="Cambria Math" panose="02040503050406030204" pitchFamily="18" charset="0"/>
                          </a:rPr>
                          <m:t>𝟐</m:t>
                        </m:r>
                      </m:sub>
                    </m:sSub>
                    <m:r>
                      <a:rPr lang="en-US" altLang="zh-CN" sz="2400" i="1">
                        <a:solidFill>
                          <a:srgbClr val="0000FF"/>
                        </a:solidFill>
                        <a:latin typeface="Cambria Math" panose="02040503050406030204" pitchFamily="18" charset="0"/>
                      </a:rPr>
                      <m:t>+</m:t>
                    </m:r>
                    <m:r>
                      <a:rPr lang="zh-CN" altLang="en-US" sz="2400" i="1">
                        <a:solidFill>
                          <a:srgbClr val="0000FF"/>
                        </a:solidFill>
                        <a:latin typeface="Cambria Math" panose="02040503050406030204" pitchFamily="18" charset="0"/>
                      </a:rPr>
                      <m:t>𝜺</m:t>
                    </m:r>
                  </m:oMath>
                </a14:m>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的关系，且</a:t>
                </a:r>
                <a14:m>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𝜷</m:t>
                        </m:r>
                      </m:e>
                      <m:sub>
                        <m:r>
                          <a:rPr lang="en-US" altLang="zh-CN" sz="2400" i="1">
                            <a:solidFill>
                              <a:schemeClr val="tx1"/>
                            </a:solidFill>
                            <a:latin typeface="Cambria Math" panose="02040503050406030204" pitchFamily="18" charset="0"/>
                          </a:rPr>
                          <m:t>𝟎</m:t>
                        </m:r>
                      </m:sub>
                    </m:sSub>
                    <m:r>
                      <a:rPr lang="en-US" altLang="zh-CN" sz="2400" i="1">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10</m:t>
                    </m:r>
                  </m:oMath>
                </a14:m>
                <a:r>
                  <a:rPr lang="zh-CN" altLang="en-US" sz="2400" b="1" spc="50" dirty="0">
                    <a:ln w="11430">
                      <a:noFill/>
                    </a:ln>
                    <a:solidFill>
                      <a:schemeClr val="tx1"/>
                    </a:solidFill>
                    <a:latin typeface="Arial" panose="020B0604020202020204" pitchFamily="34" charset="0"/>
                    <a:ea typeface="微软雅黑" panose="020B0503020204020204" pitchFamily="34" charset="-122"/>
                    <a:cs typeface="Arial" panose="020B0604020202020204" pitchFamily="34" charset="0"/>
                  </a:rPr>
                  <a:t>，</a:t>
                </a:r>
                <a14:m>
                  <m:oMath xmlns:m="http://schemas.openxmlformats.org/officeDocument/2006/math">
                    <m:sSub>
                      <m:sSubPr>
                        <m:ctrlPr>
                          <a:rPr lang="en-US" altLang="zh-CN"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𝜷</m:t>
                        </m:r>
                      </m:e>
                      <m:sub>
                        <m:r>
                          <a:rPr lang="en-US" altLang="zh-CN" sz="2400" i="1">
                            <a:solidFill>
                              <a:schemeClr val="tx1"/>
                            </a:solidFill>
                            <a:latin typeface="Cambria Math" panose="02040503050406030204" pitchFamily="18" charset="0"/>
                          </a:rPr>
                          <m:t>𝟏</m:t>
                        </m:r>
                      </m:sub>
                    </m:sSub>
                    <m:r>
                      <a:rPr lang="en-US" altLang="zh-CN" sz="2400" i="1">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2</m:t>
                    </m:r>
                  </m:oMath>
                </a14:m>
                <a:r>
                  <a:rPr lang="zh-CN" altLang="en-US" sz="2400" b="1" spc="50" dirty="0">
                    <a:ln w="11430">
                      <a:noFill/>
                    </a:ln>
                    <a:solidFill>
                      <a:schemeClr val="tx1"/>
                    </a:solidFill>
                    <a:latin typeface="Arial" panose="020B0604020202020204" pitchFamily="34" charset="0"/>
                    <a:ea typeface="微软雅黑" panose="020B0503020204020204" pitchFamily="34" charset="-122"/>
                    <a:cs typeface="Arial" panose="020B0604020202020204" pitchFamily="34" charset="0"/>
                  </a:rPr>
                  <a:t>，</a:t>
                </a:r>
                <a14:m>
                  <m:oMath xmlns:m="http://schemas.openxmlformats.org/officeDocument/2006/math">
                    <m:sSub>
                      <m:sSubPr>
                        <m:ctrlPr>
                          <a:rPr lang="en-US" altLang="zh-CN" sz="2400" i="1">
                            <a:solidFill>
                              <a:schemeClr val="tx1"/>
                            </a:solidFill>
                            <a:latin typeface="Cambria Math" panose="02040503050406030204" pitchFamily="18" charset="0"/>
                          </a:rPr>
                        </m:ctrlPr>
                      </m:sSubPr>
                      <m:e>
                        <m:r>
                          <a:rPr lang="zh-CN" altLang="en-US" sz="2400" i="1">
                            <a:solidFill>
                              <a:schemeClr val="tx1"/>
                            </a:solidFill>
                            <a:latin typeface="Cambria Math" panose="02040503050406030204" pitchFamily="18" charset="0"/>
                          </a:rPr>
                          <m:t>𝜷</m:t>
                        </m:r>
                      </m:e>
                      <m:sub>
                        <m:r>
                          <a:rPr lang="en-US" altLang="zh-CN" sz="2400" i="1">
                            <a:solidFill>
                              <a:schemeClr val="tx1"/>
                            </a:solidFill>
                            <a:latin typeface="Cambria Math" panose="02040503050406030204" pitchFamily="18" charset="0"/>
                          </a:rPr>
                          <m:t>𝟐</m:t>
                        </m:r>
                      </m:sub>
                    </m:sSub>
                    <m:r>
                      <a:rPr lang="en-US" altLang="zh-CN" sz="2400" i="1">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3</m:t>
                    </m:r>
                  </m:oMath>
                </a14:m>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。自变量有</a:t>
                </a:r>
                <a:r>
                  <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rPr>
                  <a:t>10</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组新的观测值，设计矩阵如下：</a:t>
                </a:r>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显然，</a:t>
                </a:r>
                <a:r>
                  <a:rPr lang="zh-CN" altLang="en-US" sz="2400" b="1" spc="50" dirty="0">
                    <a:ln w="11430">
                      <a:noFill/>
                    </a:ln>
                    <a:solidFill>
                      <a:srgbClr val="C00000"/>
                    </a:solidFill>
                    <a:latin typeface="Arial" panose="020B0604020202020204" pitchFamily="34" charset="0"/>
                    <a:ea typeface="微软雅黑" panose="020B0503020204020204" pitchFamily="34" charset="-122"/>
                    <a:cs typeface="Arial" panose="020B0604020202020204" pitchFamily="34" charset="0"/>
                  </a:rPr>
                  <a:t>该设计矩阵的列之间存在较强的相关性</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。在此基础上，使用随机模拟产生随机误差的</a:t>
                </a:r>
                <a:r>
                  <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rPr>
                  <a:t>10</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次观测值（符合正态分布）：</a:t>
                </a:r>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然后，代入模型</a:t>
                </a:r>
                <a14:m>
                  <m:oMath xmlns:m="http://schemas.openxmlformats.org/officeDocument/2006/math">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cs typeface="+mn-cs"/>
                      </a:rPr>
                      <m:t>𝒚</m:t>
                    </m:r>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cs typeface="+mn-cs"/>
                      </a:rPr>
                      <m:t>=10+2</m:t>
                    </m:r>
                    <m:sSub>
                      <m:sSubPr>
                        <m:ctrlPr>
                          <a:rPr kumimoji="0" lang="en-US" altLang="zh-CN" sz="2400" b="0" i="1" u="none" strike="noStrike" kern="1200" cap="none" spc="0" normalizeH="0" baseline="0" noProof="0">
                            <a:ln>
                              <a:noFill/>
                            </a:ln>
                            <a:solidFill>
                              <a:srgbClr val="0000FF"/>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0000FF"/>
                            </a:solidFill>
                            <a:effectLst/>
                            <a:uLnTx/>
                            <a:uFillTx/>
                            <a:latin typeface="Cambria Math" panose="02040503050406030204" pitchFamily="18" charset="0"/>
                            <a:cs typeface="+mn-cs"/>
                          </a:rPr>
                          <m:t>𝒙</m:t>
                        </m:r>
                      </m:e>
                      <m:sub>
                        <m:r>
                          <a:rPr kumimoji="0" lang="en-US" altLang="zh-CN" sz="2400" b="0" i="1" u="none" strike="noStrike" kern="1200" cap="none" spc="0" normalizeH="0" baseline="0" noProof="0">
                            <a:ln>
                              <a:noFill/>
                            </a:ln>
                            <a:solidFill>
                              <a:srgbClr val="0000FF"/>
                            </a:solidFill>
                            <a:effectLst/>
                            <a:uLnTx/>
                            <a:uFillTx/>
                            <a:latin typeface="Cambria Math" panose="02040503050406030204" pitchFamily="18" charset="0"/>
                            <a:cs typeface="+mn-cs"/>
                          </a:rPr>
                          <m:t>𝟏</m:t>
                        </m:r>
                      </m:sub>
                    </m:sSub>
                    <m:r>
                      <a:rPr kumimoji="0" lang="en-US" altLang="zh-CN" sz="2400" b="0" i="1" u="none" strike="noStrike" kern="1200" cap="none" spc="0" normalizeH="0" baseline="0" noProof="0">
                        <a:ln>
                          <a:noFill/>
                        </a:ln>
                        <a:solidFill>
                          <a:srgbClr val="0000FF"/>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srgbClr val="0000FF"/>
                        </a:solidFill>
                        <a:effectLst/>
                        <a:uLnTx/>
                        <a:uFillTx/>
                        <a:latin typeface="Cambria Math" panose="02040503050406030204" pitchFamily="18" charset="0"/>
                        <a:cs typeface="+mn-cs"/>
                      </a:rPr>
                      <m:t>3</m:t>
                    </m:r>
                    <m:sSub>
                      <m:sSubPr>
                        <m:ctrlPr>
                          <a:rPr kumimoji="0" lang="en-US" altLang="zh-CN" sz="2400" b="0" i="1" u="none" strike="noStrike" kern="1200" cap="none" spc="0" normalizeH="0" baseline="0" noProof="0">
                            <a:ln>
                              <a:noFill/>
                            </a:ln>
                            <a:solidFill>
                              <a:srgbClr val="0000FF"/>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srgbClr val="0000FF"/>
                            </a:solidFill>
                            <a:effectLst/>
                            <a:uLnTx/>
                            <a:uFillTx/>
                            <a:latin typeface="Cambria Math" panose="02040503050406030204" pitchFamily="18" charset="0"/>
                            <a:cs typeface="+mn-cs"/>
                          </a:rPr>
                          <m:t>𝒙</m:t>
                        </m:r>
                      </m:e>
                      <m:sub>
                        <m:r>
                          <a:rPr kumimoji="0" lang="en-US" altLang="zh-CN" sz="2400" b="0" i="1" u="none" strike="noStrike" kern="1200" cap="none" spc="0" normalizeH="0" baseline="0" noProof="0">
                            <a:ln>
                              <a:noFill/>
                            </a:ln>
                            <a:solidFill>
                              <a:srgbClr val="0000FF"/>
                            </a:solidFill>
                            <a:effectLst/>
                            <a:uLnTx/>
                            <a:uFillTx/>
                            <a:latin typeface="Cambria Math" panose="02040503050406030204" pitchFamily="18" charset="0"/>
                            <a:cs typeface="+mn-cs"/>
                          </a:rPr>
                          <m:t>𝟐</m:t>
                        </m:r>
                      </m:sub>
                    </m:sSub>
                    <m:r>
                      <a:rPr kumimoji="0" lang="en-US" altLang="zh-CN" sz="2400" b="0" i="1" u="none" strike="noStrike" kern="1200" cap="none" spc="0" normalizeH="0" baseline="0" noProof="0">
                        <a:ln>
                          <a:noFill/>
                        </a:ln>
                        <a:solidFill>
                          <a:srgbClr val="0000FF"/>
                        </a:solidFill>
                        <a:effectLst/>
                        <a:uLnTx/>
                        <a:uFillTx/>
                        <a:latin typeface="Cambria Math" panose="02040503050406030204" pitchFamily="18" charset="0"/>
                        <a:cs typeface="+mn-cs"/>
                      </a:rPr>
                      <m:t>+</m:t>
                    </m:r>
                    <m:r>
                      <a:rPr kumimoji="0" lang="zh-CN" altLang="en-US" sz="2400" b="0" i="1" u="none" strike="noStrike" kern="1200" cap="none" spc="0" normalizeH="0" baseline="0" noProof="0">
                        <a:ln>
                          <a:noFill/>
                        </a:ln>
                        <a:solidFill>
                          <a:srgbClr val="0000FF"/>
                        </a:solidFill>
                        <a:effectLst/>
                        <a:uLnTx/>
                        <a:uFillTx/>
                        <a:latin typeface="Cambria Math" panose="02040503050406030204" pitchFamily="18" charset="0"/>
                        <a:cs typeface="+mn-cs"/>
                      </a:rPr>
                      <m:t>𝜺</m:t>
                    </m:r>
                  </m:oMath>
                </a14:m>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，得到</a:t>
                </a:r>
                <a14:m>
                  <m:oMath xmlns:m="http://schemas.openxmlformats.org/officeDocument/2006/math">
                    <m:r>
                      <a:rPr lang="en-US" altLang="zh-CN" sz="2400" b="1" i="1" spc="50" dirty="0">
                        <a:ln w="11430">
                          <a:noFill/>
                        </a:ln>
                        <a:latin typeface="Cambria Math" panose="02040503050406030204" pitchFamily="18" charset="0"/>
                        <a:ea typeface="微软雅黑" panose="020B0503020204020204" pitchFamily="34" charset="-122"/>
                        <a:cs typeface="Arial" panose="020B0604020202020204" pitchFamily="34" charset="0"/>
                      </a:rPr>
                      <m:t>𝒚</m:t>
                    </m:r>
                  </m:oMath>
                </a14:m>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的</a:t>
                </a:r>
                <a:r>
                  <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rPr>
                  <a:t>10</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次观测值：</a:t>
                </a:r>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利用最小二乘法得到</a:t>
                </a:r>
                <a14:m>
                  <m:oMath xmlns:m="http://schemas.openxmlformats.org/officeDocument/2006/math">
                    <m:r>
                      <a:rPr lang="zh-CN" altLang="en-US" sz="2400" b="1" i="1" spc="50" smtClean="0">
                        <a:ln w="11430">
                          <a:noFill/>
                        </a:ln>
                        <a:latin typeface="Cambria Math" panose="02040503050406030204" pitchFamily="18" charset="0"/>
                        <a:ea typeface="微软雅黑" panose="020B0503020204020204" pitchFamily="34" charset="-122"/>
                        <a:cs typeface="Arial" panose="020B0604020202020204" pitchFamily="34" charset="0"/>
                      </a:rPr>
                      <m:t>𝜷</m:t>
                    </m:r>
                  </m:oMath>
                </a14:m>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的估计：</a:t>
                </a:r>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8" name="文本框 7">
                <a:extLst>
                  <a:ext uri="{FF2B5EF4-FFF2-40B4-BE49-F238E27FC236}">
                    <a16:creationId xmlns:a16="http://schemas.microsoft.com/office/drawing/2014/main" id="{965AFFF5-DAFB-A4BC-B3F6-D910B6BC59F6}"/>
                  </a:ext>
                </a:extLst>
              </p:cNvPr>
              <p:cNvSpPr txBox="1">
                <a:spLocks noRot="1" noChangeAspect="1" noMove="1" noResize="1" noEditPoints="1" noAdjustHandles="1" noChangeArrowheads="1" noChangeShapeType="1" noTextEdit="1"/>
              </p:cNvSpPr>
              <p:nvPr/>
            </p:nvSpPr>
            <p:spPr>
              <a:xfrm>
                <a:off x="542971" y="1232647"/>
                <a:ext cx="10671876" cy="5262979"/>
              </a:xfrm>
              <a:prstGeom prst="rect">
                <a:avLst/>
              </a:prstGeom>
              <a:blipFill>
                <a:blip r:embed="rId3"/>
                <a:stretch>
                  <a:fillRect l="-857" t="-926" b="-1620"/>
                </a:stretch>
              </a:blipFill>
            </p:spPr>
            <p:txBody>
              <a:bodyPr/>
              <a:lstStyle/>
              <a:p>
                <a:r>
                  <a:rPr lang="zh-CN" altLang="en-US">
                    <a:noFill/>
                  </a:rPr>
                  <a:t> </a:t>
                </a:r>
              </a:p>
            </p:txBody>
          </p:sp>
        </mc:Fallback>
      </mc:AlternateContent>
      <p:graphicFrame>
        <p:nvGraphicFramePr>
          <p:cNvPr id="5" name="对象 4">
            <a:extLst>
              <a:ext uri="{FF2B5EF4-FFF2-40B4-BE49-F238E27FC236}">
                <a16:creationId xmlns:a16="http://schemas.microsoft.com/office/drawing/2014/main" id="{C7E2BB81-A6FE-D91E-3B5B-26D270B9F5C0}"/>
              </a:ext>
            </a:extLst>
          </p:cNvPr>
          <p:cNvGraphicFramePr>
            <a:graphicFrameLocks noChangeAspect="1"/>
          </p:cNvGraphicFramePr>
          <p:nvPr>
            <p:extLst>
              <p:ext uri="{D42A27DB-BD31-4B8C-83A1-F6EECF244321}">
                <p14:modId xmlns:p14="http://schemas.microsoft.com/office/powerpoint/2010/main" val="3450995236"/>
              </p:ext>
            </p:extLst>
          </p:nvPr>
        </p:nvGraphicFramePr>
        <p:xfrm>
          <a:off x="2773301" y="2140011"/>
          <a:ext cx="6462131" cy="1288989"/>
        </p:xfrm>
        <a:graphic>
          <a:graphicData uri="http://schemas.openxmlformats.org/presentationml/2006/ole">
            <mc:AlternateContent xmlns:mc="http://schemas.openxmlformats.org/markup-compatibility/2006">
              <mc:Choice xmlns:v="urn:schemas-microsoft-com:vml" Requires="v">
                <p:oleObj name="Equation" r:id="rId4" imgW="3581547" imgH="714266" progId="Equation.DSMT4">
                  <p:embed/>
                </p:oleObj>
              </mc:Choice>
              <mc:Fallback>
                <p:oleObj name="Equation" r:id="rId4" imgW="3581547" imgH="714266" progId="Equation.DSMT4">
                  <p:embed/>
                  <p:pic>
                    <p:nvPicPr>
                      <p:cNvPr id="0" name=""/>
                      <p:cNvPicPr/>
                      <p:nvPr/>
                    </p:nvPicPr>
                    <p:blipFill>
                      <a:blip r:embed="rId5"/>
                      <a:stretch>
                        <a:fillRect/>
                      </a:stretch>
                    </p:blipFill>
                    <p:spPr>
                      <a:xfrm>
                        <a:off x="2773301" y="2140011"/>
                        <a:ext cx="6462131" cy="1288989"/>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92D6A719-8300-B3BF-DA8F-173A011BFF35}"/>
              </a:ext>
            </a:extLst>
          </p:cNvPr>
          <p:cNvGraphicFramePr>
            <a:graphicFrameLocks noChangeAspect="1"/>
          </p:cNvGraphicFramePr>
          <p:nvPr>
            <p:extLst>
              <p:ext uri="{D42A27DB-BD31-4B8C-83A1-F6EECF244321}">
                <p14:modId xmlns:p14="http://schemas.microsoft.com/office/powerpoint/2010/main" val="217134372"/>
              </p:ext>
            </p:extLst>
          </p:nvPr>
        </p:nvGraphicFramePr>
        <p:xfrm>
          <a:off x="2130520" y="4336364"/>
          <a:ext cx="8134069" cy="554146"/>
        </p:xfrm>
        <a:graphic>
          <a:graphicData uri="http://schemas.openxmlformats.org/presentationml/2006/ole">
            <mc:AlternateContent xmlns:mc="http://schemas.openxmlformats.org/markup-compatibility/2006">
              <mc:Choice xmlns:v="urn:schemas-microsoft-com:vml" Requires="v">
                <p:oleObj name="Equation" r:id="rId6" imgW="3914932" imgH="266770" progId="Equation.DSMT4">
                  <p:embed/>
                </p:oleObj>
              </mc:Choice>
              <mc:Fallback>
                <p:oleObj name="Equation" r:id="rId6" imgW="3914932" imgH="266770" progId="Equation.DSMT4">
                  <p:embed/>
                  <p:pic>
                    <p:nvPicPr>
                      <p:cNvPr id="0" name=""/>
                      <p:cNvPicPr/>
                      <p:nvPr/>
                    </p:nvPicPr>
                    <p:blipFill>
                      <a:blip r:embed="rId7"/>
                      <a:stretch>
                        <a:fillRect/>
                      </a:stretch>
                    </p:blipFill>
                    <p:spPr>
                      <a:xfrm>
                        <a:off x="2130520" y="4336364"/>
                        <a:ext cx="8134069" cy="554146"/>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07C6D6AB-28C0-6FC5-C5F6-3ADE3BB0A3EA}"/>
              </a:ext>
            </a:extLst>
          </p:cNvPr>
          <p:cNvGraphicFramePr>
            <a:graphicFrameLocks noChangeAspect="1"/>
          </p:cNvGraphicFramePr>
          <p:nvPr>
            <p:extLst>
              <p:ext uri="{D42A27DB-BD31-4B8C-83A1-F6EECF244321}">
                <p14:modId xmlns:p14="http://schemas.microsoft.com/office/powerpoint/2010/main" val="1577779873"/>
              </p:ext>
            </p:extLst>
          </p:nvPr>
        </p:nvGraphicFramePr>
        <p:xfrm>
          <a:off x="1714905" y="5356674"/>
          <a:ext cx="8965297" cy="554146"/>
        </p:xfrm>
        <a:graphic>
          <a:graphicData uri="http://schemas.openxmlformats.org/presentationml/2006/ole">
            <mc:AlternateContent xmlns:mc="http://schemas.openxmlformats.org/markup-compatibility/2006">
              <mc:Choice xmlns:v="urn:schemas-microsoft-com:vml" Requires="v">
                <p:oleObj name="Equation" r:id="rId8" imgW="4315282" imgH="266770" progId="Equation.DSMT4">
                  <p:embed/>
                </p:oleObj>
              </mc:Choice>
              <mc:Fallback>
                <p:oleObj name="Equation" r:id="rId8" imgW="4315282" imgH="266770" progId="Equation.DSMT4">
                  <p:embed/>
                  <p:pic>
                    <p:nvPicPr>
                      <p:cNvPr id="0" name=""/>
                      <p:cNvPicPr/>
                      <p:nvPr/>
                    </p:nvPicPr>
                    <p:blipFill>
                      <a:blip r:embed="rId9"/>
                      <a:stretch>
                        <a:fillRect/>
                      </a:stretch>
                    </p:blipFill>
                    <p:spPr>
                      <a:xfrm>
                        <a:off x="1714905" y="5356674"/>
                        <a:ext cx="8965297" cy="554146"/>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827EBC40-B2EA-A9FD-71F8-52EA53C69F34}"/>
              </a:ext>
            </a:extLst>
          </p:cNvPr>
          <p:cNvGraphicFramePr>
            <a:graphicFrameLocks noChangeAspect="1"/>
          </p:cNvGraphicFramePr>
          <p:nvPr>
            <p:extLst>
              <p:ext uri="{D42A27DB-BD31-4B8C-83A1-F6EECF244321}">
                <p14:modId xmlns:p14="http://schemas.microsoft.com/office/powerpoint/2010/main" val="1523109324"/>
              </p:ext>
            </p:extLst>
          </p:nvPr>
        </p:nvGraphicFramePr>
        <p:xfrm>
          <a:off x="4971490" y="5984303"/>
          <a:ext cx="3761876" cy="511323"/>
        </p:xfrm>
        <a:graphic>
          <a:graphicData uri="http://schemas.openxmlformats.org/presentationml/2006/ole">
            <mc:AlternateContent xmlns:mc="http://schemas.openxmlformats.org/markup-compatibility/2006">
              <mc:Choice xmlns:v="urn:schemas-microsoft-com:vml" Requires="v">
                <p:oleObj name="Equation" r:id="rId10" imgW="1962146" imgH="266770" progId="Equation.DSMT4">
                  <p:embed/>
                </p:oleObj>
              </mc:Choice>
              <mc:Fallback>
                <p:oleObj name="Equation" r:id="rId10" imgW="1962146" imgH="266770" progId="Equation.DSMT4">
                  <p:embed/>
                  <p:pic>
                    <p:nvPicPr>
                      <p:cNvPr id="0" name=""/>
                      <p:cNvPicPr/>
                      <p:nvPr/>
                    </p:nvPicPr>
                    <p:blipFill>
                      <a:blip r:embed="rId11"/>
                      <a:stretch>
                        <a:fillRect/>
                      </a:stretch>
                    </p:blipFill>
                    <p:spPr>
                      <a:xfrm>
                        <a:off x="4971490" y="5984303"/>
                        <a:ext cx="3761876" cy="511323"/>
                      </a:xfrm>
                      <a:prstGeom prst="rect">
                        <a:avLst/>
                      </a:prstGeom>
                    </p:spPr>
                  </p:pic>
                </p:oleObj>
              </mc:Fallback>
            </mc:AlternateContent>
          </a:graphicData>
        </a:graphic>
      </p:graphicFrame>
    </p:spTree>
    <p:extLst>
      <p:ext uri="{BB962C8B-B14F-4D97-AF65-F5344CB8AC3E}">
        <p14:creationId xmlns:p14="http://schemas.microsoft.com/office/powerpoint/2010/main" val="148288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E1FB-5E78-1459-B8E8-D7B0ABFE30EE}"/>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071D649B-EAB1-DBC6-9725-B63E46CB2482}"/>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认识多重共线性</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8B8A6D67-2CB0-E9D1-A3C6-1C1D5E40983B}"/>
              </a:ext>
            </a:extLst>
          </p:cNvPr>
          <p:cNvSpPr txBox="1"/>
          <p:nvPr/>
        </p:nvSpPr>
        <p:spPr>
          <a:xfrm>
            <a:off x="1339141" y="2093998"/>
            <a:ext cx="10019141" cy="4031873"/>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solidFill>
                  <a:schemeClr val="tx1"/>
                </a:solidFill>
              </a:rPr>
              <a:t>可见，存在多重共线性时，</a:t>
            </a:r>
            <a:r>
              <a:rPr lang="zh-CN" altLang="en-US" dirty="0">
                <a:solidFill>
                  <a:srgbClr val="0066FF"/>
                </a:solidFill>
              </a:rPr>
              <a:t>数据的微小扰动会导致回归系数的巨大变化</a:t>
            </a:r>
            <a:r>
              <a:rPr lang="zh-CN" altLang="en-US" dirty="0">
                <a:solidFill>
                  <a:schemeClr val="tx1"/>
                </a:solidFill>
              </a:rPr>
              <a:t>，使得模型难以准确估计每个自变量对因变量的独立贡献，进而导致</a:t>
            </a:r>
            <a:r>
              <a:rPr lang="zh-CN" altLang="en-US" dirty="0">
                <a:solidFill>
                  <a:srgbClr val="0066FF"/>
                </a:solidFill>
              </a:rPr>
              <a:t>参数估计量方差偏大</a:t>
            </a:r>
            <a:r>
              <a:rPr lang="zh-CN" altLang="en-US" dirty="0">
                <a:solidFill>
                  <a:schemeClr val="tx1"/>
                </a:solidFill>
              </a:rPr>
              <a:t>，影响后续的变量显著性检验，造成</a:t>
            </a:r>
            <a:r>
              <a:rPr lang="zh-CN" altLang="en-US" dirty="0">
                <a:solidFill>
                  <a:srgbClr val="0066FF"/>
                </a:solidFill>
              </a:rPr>
              <a:t>错误的检验结果</a:t>
            </a:r>
            <a:r>
              <a:rPr lang="zh-CN" altLang="en-US" dirty="0">
                <a:solidFill>
                  <a:schemeClr val="tx1"/>
                </a:solidFill>
              </a:rPr>
              <a:t>。因此，需要进行多重共线性的诊断并采取措施以消除多重共线性的影响。</a:t>
            </a:r>
          </a:p>
          <a:p>
            <a:endParaRPr lang="zh-CN" altLang="en-US" dirty="0">
              <a:solidFill>
                <a:schemeClr val="tx1"/>
              </a:solidFill>
            </a:endParaRPr>
          </a:p>
          <a:p>
            <a:endParaRPr lang="zh-CN" altLang="en-US" dirty="0">
              <a:solidFill>
                <a:schemeClr val="tx1"/>
              </a:solidFill>
            </a:endParaRPr>
          </a:p>
        </p:txBody>
      </p:sp>
    </p:spTree>
    <p:extLst>
      <p:ext uri="{BB962C8B-B14F-4D97-AF65-F5344CB8AC3E}">
        <p14:creationId xmlns:p14="http://schemas.microsoft.com/office/powerpoint/2010/main" val="17765876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69C3A-AECC-7D19-2D95-2C24D45A95FF}"/>
            </a:ext>
          </a:extLst>
        </p:cNvPr>
        <p:cNvGrpSpPr/>
        <p:nvPr/>
      </p:nvGrpSpPr>
      <p:grpSpPr>
        <a:xfrm>
          <a:off x="0" y="0"/>
          <a:ext cx="0" cy="0"/>
          <a:chOff x="0" y="0"/>
          <a:chExt cx="0" cy="0"/>
        </a:xfrm>
      </p:grpSpPr>
      <p:sp>
        <p:nvSpPr>
          <p:cNvPr id="23" name="Text Box 7">
            <a:extLst>
              <a:ext uri="{FF2B5EF4-FFF2-40B4-BE49-F238E27FC236}">
                <a16:creationId xmlns:a16="http://schemas.microsoft.com/office/drawing/2014/main" id="{33D62395-4B3F-8657-BCFD-10139CE3713D}"/>
              </a:ext>
            </a:extLst>
          </p:cNvPr>
          <p:cNvSpPr txBox="1">
            <a:spLocks noChangeArrowheads="1"/>
          </p:cNvSpPr>
          <p:nvPr/>
        </p:nvSpPr>
        <p:spPr bwMode="auto">
          <a:xfrm>
            <a:off x="3489906" y="2685882"/>
            <a:ext cx="62927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zh-CN"/>
            </a:defPPr>
            <a:lvl1pPr algn="ctr">
              <a:buClr>
                <a:srgbClr val="002060"/>
              </a:buClr>
              <a:buSzPct val="105000"/>
              <a:defRPr sz="4400" b="1">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defRPr>
            </a:lvl1pPr>
            <a:lvl2pPr marL="742950" indent="-285750" eaLnBrk="0" hangingPunct="0">
              <a:defRPr sz="2400">
                <a:latin typeface="Arial" panose="020B0604020202020204" pitchFamily="34" charset="0"/>
                <a:ea typeface="宋体" panose="02010600030101010101" pitchFamily="2" charset="-122"/>
              </a:defRPr>
            </a:lvl2pPr>
            <a:lvl3pPr marL="1143000" indent="-228600" eaLnBrk="0" hangingPunct="0">
              <a:defRPr sz="2400">
                <a:latin typeface="Arial" panose="020B0604020202020204" pitchFamily="34" charset="0"/>
                <a:ea typeface="宋体" panose="02010600030101010101" pitchFamily="2" charset="-122"/>
              </a:defRPr>
            </a:lvl3pPr>
            <a:lvl4pPr marL="1600200" indent="-228600" eaLnBrk="0" hangingPunct="0">
              <a:defRPr sz="2400">
                <a:latin typeface="Arial" panose="020B0604020202020204" pitchFamily="34" charset="0"/>
                <a:ea typeface="宋体" panose="02010600030101010101" pitchFamily="2" charset="-122"/>
              </a:defRPr>
            </a:lvl4pPr>
            <a:lvl5pPr marL="2057400" indent="-228600" eaLnBrk="0" hangingPunct="0">
              <a:defRPr sz="2400">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lang="zh-CN" altLang="en-US" sz="4000" dirty="0">
                <a:solidFill>
                  <a:srgbClr val="0084CF"/>
                </a:solidFill>
              </a:rPr>
              <a:t>认识多重共线性</a:t>
            </a:r>
          </a:p>
        </p:txBody>
      </p:sp>
      <p:sp>
        <p:nvSpPr>
          <p:cNvPr id="26" name="矩形 33">
            <a:extLst>
              <a:ext uri="{FF2B5EF4-FFF2-40B4-BE49-F238E27FC236}">
                <a16:creationId xmlns:a16="http://schemas.microsoft.com/office/drawing/2014/main" id="{5A980BFA-2331-6E0D-ECFD-1D4739E55B27}"/>
              </a:ext>
            </a:extLst>
          </p:cNvPr>
          <p:cNvSpPr/>
          <p:nvPr/>
        </p:nvSpPr>
        <p:spPr>
          <a:xfrm>
            <a:off x="2306212" y="2524452"/>
            <a:ext cx="997725" cy="938442"/>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7" name="矩形 34">
            <a:extLst>
              <a:ext uri="{FF2B5EF4-FFF2-40B4-BE49-F238E27FC236}">
                <a16:creationId xmlns:a16="http://schemas.microsoft.com/office/drawing/2014/main" id="{C91ACFBE-C72F-FFF5-1D89-1519A40CA912}"/>
              </a:ext>
            </a:extLst>
          </p:cNvPr>
          <p:cNvSpPr/>
          <p:nvPr/>
        </p:nvSpPr>
        <p:spPr>
          <a:xfrm>
            <a:off x="2396223" y="2609115"/>
            <a:ext cx="817703" cy="76911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rPr>
              <a:t>01</a:t>
            </a:r>
            <a:endParaRPr lang="zh-CN" altLang="en-US" sz="3600" dirty="0">
              <a:solidFill>
                <a:prstClr val="white"/>
              </a:solidFill>
              <a:latin typeface="Impact" panose="020B0806030902050204" pitchFamily="34" charset="0"/>
              <a:ea typeface="等线" panose="02010600030101010101" pitchFamily="2" charset="-122"/>
            </a:endParaRPr>
          </a:p>
        </p:txBody>
      </p:sp>
      <p:cxnSp>
        <p:nvCxnSpPr>
          <p:cNvPr id="25" name="直接连接符 5">
            <a:extLst>
              <a:ext uri="{FF2B5EF4-FFF2-40B4-BE49-F238E27FC236}">
                <a16:creationId xmlns:a16="http://schemas.microsoft.com/office/drawing/2014/main" id="{3E5AD0C7-D4CF-692D-C6D5-587F74065A28}"/>
              </a:ext>
            </a:extLst>
          </p:cNvPr>
          <p:cNvCxnSpPr>
            <a:stCxn id="26" idx="2"/>
          </p:cNvCxnSpPr>
          <p:nvPr/>
        </p:nvCxnSpPr>
        <p:spPr>
          <a:xfrm>
            <a:off x="2805074" y="3462894"/>
            <a:ext cx="7080714"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19" name="Text Box 7">
            <a:extLst>
              <a:ext uri="{FF2B5EF4-FFF2-40B4-BE49-F238E27FC236}">
                <a16:creationId xmlns:a16="http://schemas.microsoft.com/office/drawing/2014/main" id="{1AD5FF24-D364-6362-E9B7-049C55A2BF46}"/>
              </a:ext>
            </a:extLst>
          </p:cNvPr>
          <p:cNvSpPr txBox="1">
            <a:spLocks noChangeArrowheads="1"/>
          </p:cNvSpPr>
          <p:nvPr/>
        </p:nvSpPr>
        <p:spPr bwMode="auto">
          <a:xfrm>
            <a:off x="3489906" y="3828975"/>
            <a:ext cx="6292749"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Clr>
                <a:srgbClr val="002060"/>
              </a:buClr>
              <a:buSzPct val="105000"/>
              <a:defRPr/>
            </a:pPr>
            <a:r>
              <a:rPr lang="zh-CN" altLang="en-US" sz="4000" b="1" dirty="0">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rPr>
              <a:t>多重共线性的诊断</a:t>
            </a:r>
          </a:p>
        </p:txBody>
      </p:sp>
      <p:sp>
        <p:nvSpPr>
          <p:cNvPr id="21" name="矩形 29">
            <a:extLst>
              <a:ext uri="{FF2B5EF4-FFF2-40B4-BE49-F238E27FC236}">
                <a16:creationId xmlns:a16="http://schemas.microsoft.com/office/drawing/2014/main" id="{2DB738B9-E664-E0B7-5F1F-74BED3C4E85A}"/>
              </a:ext>
            </a:extLst>
          </p:cNvPr>
          <p:cNvSpPr/>
          <p:nvPr/>
        </p:nvSpPr>
        <p:spPr>
          <a:xfrm>
            <a:off x="2306212" y="3667426"/>
            <a:ext cx="997725" cy="938442"/>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2" name="矩形 30">
            <a:extLst>
              <a:ext uri="{FF2B5EF4-FFF2-40B4-BE49-F238E27FC236}">
                <a16:creationId xmlns:a16="http://schemas.microsoft.com/office/drawing/2014/main" id="{144EF0C4-E3E2-2A51-2D13-E551BF740043}"/>
              </a:ext>
            </a:extLst>
          </p:cNvPr>
          <p:cNvSpPr/>
          <p:nvPr/>
        </p:nvSpPr>
        <p:spPr>
          <a:xfrm>
            <a:off x="2396223" y="3752089"/>
            <a:ext cx="817703" cy="769116"/>
          </a:xfrm>
          <a:prstGeom prst="rect">
            <a:avLst/>
          </a:prstGeom>
          <a:gradFill>
            <a:gsLst>
              <a:gs pos="417">
                <a:srgbClr val="FFC000"/>
              </a:gs>
              <a:gs pos="99000">
                <a:srgbClr val="C00000"/>
              </a:gs>
            </a:gsLst>
            <a:lin ang="2700000" scaled="0"/>
          </a:gradFill>
          <a:ln w="1270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prstClr val="white"/>
                </a:solidFill>
                <a:latin typeface="Impact" panose="020B0806030902050204" pitchFamily="34" charset="0"/>
                <a:ea typeface="等线" panose="02010600030101010101" pitchFamily="2" charset="-122"/>
              </a:rPr>
              <a:t>02</a:t>
            </a:r>
            <a:endParaRPr lang="zh-CN" altLang="en-US" sz="3600" dirty="0">
              <a:solidFill>
                <a:prstClr val="white"/>
              </a:solidFill>
              <a:latin typeface="Impact" panose="020B0806030902050204" pitchFamily="34" charset="0"/>
              <a:ea typeface="等线" panose="02010600030101010101" pitchFamily="2" charset="-122"/>
            </a:endParaRPr>
          </a:p>
        </p:txBody>
      </p:sp>
      <p:cxnSp>
        <p:nvCxnSpPr>
          <p:cNvPr id="18" name="直接连接符 43">
            <a:extLst>
              <a:ext uri="{FF2B5EF4-FFF2-40B4-BE49-F238E27FC236}">
                <a16:creationId xmlns:a16="http://schemas.microsoft.com/office/drawing/2014/main" id="{22C6E5F6-92D1-8EB4-2DB7-69348EE8C456}"/>
              </a:ext>
            </a:extLst>
          </p:cNvPr>
          <p:cNvCxnSpPr>
            <a:stCxn id="21" idx="2"/>
          </p:cNvCxnSpPr>
          <p:nvPr/>
        </p:nvCxnSpPr>
        <p:spPr>
          <a:xfrm>
            <a:off x="2805074" y="4605868"/>
            <a:ext cx="7080714"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nvGrpSpPr>
          <p:cNvPr id="7" name="组合 10">
            <a:extLst>
              <a:ext uri="{FF2B5EF4-FFF2-40B4-BE49-F238E27FC236}">
                <a16:creationId xmlns:a16="http://schemas.microsoft.com/office/drawing/2014/main" id="{F88F75B3-4907-DFE8-6D65-55C09E6A6A81}"/>
              </a:ext>
            </a:extLst>
          </p:cNvPr>
          <p:cNvGrpSpPr/>
          <p:nvPr/>
        </p:nvGrpSpPr>
        <p:grpSpPr>
          <a:xfrm>
            <a:off x="2306212" y="4810400"/>
            <a:ext cx="7579576" cy="938442"/>
            <a:chOff x="2734890" y="5002222"/>
            <a:chExt cx="7430257" cy="978068"/>
          </a:xfrm>
        </p:grpSpPr>
        <p:grpSp>
          <p:nvGrpSpPr>
            <p:cNvPr id="8" name="组合 35">
              <a:extLst>
                <a:ext uri="{FF2B5EF4-FFF2-40B4-BE49-F238E27FC236}">
                  <a16:creationId xmlns:a16="http://schemas.microsoft.com/office/drawing/2014/main" id="{56293F86-AD61-EF92-FC6C-3B5C6C04018F}"/>
                </a:ext>
              </a:extLst>
            </p:cNvPr>
            <p:cNvGrpSpPr/>
            <p:nvPr/>
          </p:nvGrpSpPr>
          <p:grpSpPr>
            <a:xfrm>
              <a:off x="2734890" y="5002222"/>
              <a:ext cx="7329156" cy="978068"/>
              <a:chOff x="3382706" y="3231661"/>
              <a:chExt cx="7329156" cy="978068"/>
            </a:xfrm>
          </p:grpSpPr>
          <p:sp>
            <p:nvSpPr>
              <p:cNvPr id="13" name="Text Box 7">
                <a:extLst>
                  <a:ext uri="{FF2B5EF4-FFF2-40B4-BE49-F238E27FC236}">
                    <a16:creationId xmlns:a16="http://schemas.microsoft.com/office/drawing/2014/main" id="{5559552D-7AED-E4B7-EBFC-CBEDE2CBA820}"/>
                  </a:ext>
                </a:extLst>
              </p:cNvPr>
              <p:cNvSpPr txBox="1">
                <a:spLocks noChangeArrowheads="1"/>
              </p:cNvSpPr>
              <p:nvPr/>
            </p:nvSpPr>
            <p:spPr bwMode="auto">
              <a:xfrm>
                <a:off x="4543081" y="3399907"/>
                <a:ext cx="6168781" cy="641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lang="zh-CN" altLang="en-US" sz="4000" b="1" dirty="0">
                    <a:solidFill>
                      <a:srgbClr val="0084CF"/>
                    </a:solidFill>
                    <a:latin typeface="微软雅黑" panose="020B0503020204020204" pitchFamily="34" charset="-122"/>
                    <a:ea typeface="微软雅黑" panose="020B0503020204020204" pitchFamily="34" charset="-122"/>
                  </a:rPr>
                  <a:t>多重共线性的解决方案</a:t>
                </a:r>
                <a:endParaRPr kumimoji="0" lang="zh-CN" altLang="en-US" sz="4000" b="1" i="0" u="none" strike="noStrike" kern="1200" cap="none" spc="0" normalizeH="0" baseline="0" noProof="0" dirty="0">
                  <a:ln>
                    <a:noFill/>
                  </a:ln>
                  <a:solidFill>
                    <a:srgbClr val="0084CF"/>
                  </a:solidFill>
                  <a:effectLst/>
                  <a:uLnTx/>
                  <a:uFillTx/>
                  <a:latin typeface="微软雅黑" panose="020B0503020204020204" pitchFamily="34" charset="-122"/>
                  <a:ea typeface="微软雅黑" panose="020B0503020204020204" pitchFamily="34" charset="-122"/>
                  <a:cs typeface="+mn-cs"/>
                </a:endParaRPr>
              </a:p>
            </p:txBody>
          </p:sp>
          <p:grpSp>
            <p:nvGrpSpPr>
              <p:cNvPr id="14" name="组合 12">
                <a:extLst>
                  <a:ext uri="{FF2B5EF4-FFF2-40B4-BE49-F238E27FC236}">
                    <a16:creationId xmlns:a16="http://schemas.microsoft.com/office/drawing/2014/main" id="{08588743-1796-D585-7873-0368DEA0E1CA}"/>
                  </a:ext>
                </a:extLst>
              </p:cNvPr>
              <p:cNvGrpSpPr/>
              <p:nvPr/>
            </p:nvGrpSpPr>
            <p:grpSpPr>
              <a:xfrm>
                <a:off x="3382706" y="3231661"/>
                <a:ext cx="978070" cy="978068"/>
                <a:chOff x="2051720" y="1381964"/>
                <a:chExt cx="1152128" cy="1152128"/>
              </a:xfrm>
            </p:grpSpPr>
            <p:sp>
              <p:nvSpPr>
                <p:cNvPr id="15" name="矩形 41">
                  <a:extLst>
                    <a:ext uri="{FF2B5EF4-FFF2-40B4-BE49-F238E27FC236}">
                      <a16:creationId xmlns:a16="http://schemas.microsoft.com/office/drawing/2014/main" id="{2D38E51A-0DA6-898E-55A5-BDC62A6A3FF9}"/>
                    </a:ext>
                  </a:extLst>
                </p:cNvPr>
                <p:cNvSpPr/>
                <p:nvPr/>
              </p:nvSpPr>
              <p:spPr>
                <a:xfrm>
                  <a:off x="2051720" y="1381964"/>
                  <a:ext cx="1152128" cy="1152128"/>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sng"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6" name="矩形 42">
                  <a:extLst>
                    <a:ext uri="{FF2B5EF4-FFF2-40B4-BE49-F238E27FC236}">
                      <a16:creationId xmlns:a16="http://schemas.microsoft.com/office/drawing/2014/main" id="{D850CC84-1ED4-824C-32F5-53C109002CD4}"/>
                    </a:ext>
                  </a:extLst>
                </p:cNvPr>
                <p:cNvSpPr/>
                <p:nvPr/>
              </p:nvSpPr>
              <p:spPr>
                <a:xfrm>
                  <a:off x="2155661" y="1485905"/>
                  <a:ext cx="944247" cy="94424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rPr>
                    <a:t>03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endParaRPr>
                </a:p>
              </p:txBody>
            </p:sp>
          </p:grpSp>
        </p:grpSp>
        <p:cxnSp>
          <p:nvCxnSpPr>
            <p:cNvPr id="12" name="直接连接符 45">
              <a:extLst>
                <a:ext uri="{FF2B5EF4-FFF2-40B4-BE49-F238E27FC236}">
                  <a16:creationId xmlns:a16="http://schemas.microsoft.com/office/drawing/2014/main" id="{3A1CB4E3-3967-21A4-34C2-1DAB9F3581AA}"/>
                </a:ext>
              </a:extLst>
            </p:cNvPr>
            <p:cNvCxnSpPr>
              <a:stCxn id="15" idx="2"/>
            </p:cNvCxnSpPr>
            <p:nvPr/>
          </p:nvCxnSpPr>
          <p:spPr>
            <a:xfrm>
              <a:off x="3223924" y="5980290"/>
              <a:ext cx="6941223"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grpSp>
      <p:sp>
        <p:nvSpPr>
          <p:cNvPr id="9" name="Title 1">
            <a:extLst>
              <a:ext uri="{FF2B5EF4-FFF2-40B4-BE49-F238E27FC236}">
                <a16:creationId xmlns:a16="http://schemas.microsoft.com/office/drawing/2014/main" id="{7AE5371C-05C0-B0C4-1F8E-7304E463A4C8}"/>
              </a:ext>
            </a:extLst>
          </p:cNvPr>
          <p:cNvSpPr txBox="1">
            <a:spLocks/>
          </p:cNvSpPr>
          <p:nvPr/>
        </p:nvSpPr>
        <p:spPr>
          <a:xfrm>
            <a:off x="1371600" y="565393"/>
            <a:ext cx="9448800" cy="133989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r>
              <a:rPr lang="zh-CN" altLang="en-US" b="0" dirty="0">
                <a:solidFill>
                  <a:srgbClr val="FD5C0C"/>
                </a:solidFill>
                <a:effectLst/>
                <a:latin typeface="华光综艺_CNKI" panose="02000500000000000000" pitchFamily="2" charset="-122"/>
                <a:ea typeface="华光综艺_CNKI" panose="02000500000000000000" pitchFamily="2" charset="-122"/>
              </a:rPr>
              <a:t>汇报提纲</a:t>
            </a:r>
            <a:endParaRPr lang="en-US" b="0" dirty="0">
              <a:solidFill>
                <a:schemeClr val="bg1"/>
              </a:solidFill>
              <a:effectLst/>
              <a:latin typeface="华光综艺_CNKI" panose="02000500000000000000" pitchFamily="2" charset="-122"/>
              <a:ea typeface="华光综艺_CNKI" panose="02000500000000000000" pitchFamily="2" charset="-122"/>
            </a:endParaRPr>
          </a:p>
        </p:txBody>
      </p:sp>
      <p:pic>
        <p:nvPicPr>
          <p:cNvPr id="3" name="Picture 2" descr="A logo with dots and lines&#10;&#10;Description automatically generated">
            <a:extLst>
              <a:ext uri="{FF2B5EF4-FFF2-40B4-BE49-F238E27FC236}">
                <a16:creationId xmlns:a16="http://schemas.microsoft.com/office/drawing/2014/main" id="{BE1E3E5D-A6E5-5736-0083-23F4A914152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808" r="8389" b="36069"/>
          <a:stretch/>
        </p:blipFill>
        <p:spPr>
          <a:xfrm>
            <a:off x="11471423" y="93711"/>
            <a:ext cx="588328" cy="453368"/>
          </a:xfrm>
          <a:prstGeom prst="rect">
            <a:avLst/>
          </a:prstGeom>
        </p:spPr>
      </p:pic>
    </p:spTree>
    <p:extLst>
      <p:ext uri="{BB962C8B-B14F-4D97-AF65-F5344CB8AC3E}">
        <p14:creationId xmlns:p14="http://schemas.microsoft.com/office/powerpoint/2010/main" val="33438848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8FB79-123D-9648-C8FD-32CB4369EB58}"/>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0E84FB6F-285D-FE5E-BCA7-0BF169874FAC}"/>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多重共线性的诊断</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355D37CE-884C-871C-ECC4-5766FA7D9A1A}"/>
              </a:ext>
            </a:extLst>
          </p:cNvPr>
          <p:cNvSpPr txBox="1"/>
          <p:nvPr/>
        </p:nvSpPr>
        <p:spPr>
          <a:xfrm>
            <a:off x="487016" y="1197463"/>
            <a:ext cx="11571627" cy="1077218"/>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多重共线性的诊断：</a:t>
            </a:r>
            <a:r>
              <a:rPr lang="zh-CN" altLang="en-US" dirty="0">
                <a:solidFill>
                  <a:schemeClr val="tx1"/>
                </a:solidFill>
              </a:rPr>
              <a:t>检验多重共线性是否存在以及判断哪些变量之间存在多重共线性</a:t>
            </a:r>
          </a:p>
        </p:txBody>
      </p:sp>
      <p:grpSp>
        <p:nvGrpSpPr>
          <p:cNvPr id="21" name="组合 20">
            <a:extLst>
              <a:ext uri="{FF2B5EF4-FFF2-40B4-BE49-F238E27FC236}">
                <a16:creationId xmlns:a16="http://schemas.microsoft.com/office/drawing/2014/main" id="{48BD207B-3C4B-C4C6-7F63-0E1429B8E524}"/>
              </a:ext>
            </a:extLst>
          </p:cNvPr>
          <p:cNvGrpSpPr/>
          <p:nvPr/>
        </p:nvGrpSpPr>
        <p:grpSpPr>
          <a:xfrm>
            <a:off x="630840" y="2741092"/>
            <a:ext cx="11256360" cy="6879984"/>
            <a:chOff x="630840" y="2396538"/>
            <a:chExt cx="11256360" cy="6879984"/>
          </a:xfrm>
        </p:grpSpPr>
        <mc:AlternateContent xmlns:mc="http://schemas.openxmlformats.org/markup-compatibility/2006" xmlns:a14="http://schemas.microsoft.com/office/drawing/2010/main">
          <mc:Choice Requires="a14">
            <p:sp>
              <p:nvSpPr>
                <p:cNvPr id="5" name="Rectangle 2">
                  <a:extLst>
                    <a:ext uri="{FF2B5EF4-FFF2-40B4-BE49-F238E27FC236}">
                      <a16:creationId xmlns:a16="http://schemas.microsoft.com/office/drawing/2014/main" id="{067A4F4E-45EC-2D7A-F05F-C4A77B0A20B4}"/>
                    </a:ext>
                  </a:extLst>
                </p:cNvPr>
                <p:cNvSpPr txBox="1">
                  <a:spLocks noChangeArrowheads="1"/>
                </p:cNvSpPr>
                <p:nvPr/>
              </p:nvSpPr>
              <p:spPr>
                <a:xfrm>
                  <a:off x="630840" y="2396538"/>
                  <a:ext cx="11256360" cy="6879984"/>
                </a:xfr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Tx/>
                    <a:buNone/>
                    <a:defRPr/>
                  </a:pPr>
                  <a:r>
                    <a:rPr lang="en-US" altLang="zh-CN" b="1" dirty="0">
                      <a:latin typeface="Times New Roman" pitchFamily="18" charset="0"/>
                      <a:ea typeface="仿宋_GB2312" pitchFamily="49" charset="-122"/>
                      <a:cs typeface="Times New Roman" pitchFamily="18" charset="0"/>
                    </a:rPr>
                    <a:t>1) </a:t>
                  </a:r>
                  <a:r>
                    <a:rPr lang="zh-CN" altLang="en-US" b="1" dirty="0">
                      <a:latin typeface="Times New Roman" pitchFamily="18" charset="0"/>
                      <a:ea typeface="仿宋_GB2312" pitchFamily="49" charset="-122"/>
                      <a:cs typeface="Times New Roman" pitchFamily="18" charset="0"/>
                    </a:rPr>
                    <a:t>判定系数法</a:t>
                  </a:r>
                  <a:r>
                    <a:rPr lang="en-US" altLang="zh-CN" b="1" dirty="0">
                      <a:latin typeface="Times New Roman" pitchFamily="18" charset="0"/>
                      <a:ea typeface="仿宋_GB2312" pitchFamily="49" charset="-122"/>
                      <a:cs typeface="Times New Roman" pitchFamily="18" charset="0"/>
                    </a:rPr>
                    <a:t> </a:t>
                  </a:r>
                </a:p>
                <a:p>
                  <a:pPr>
                    <a:lnSpc>
                      <a:spcPct val="110000"/>
                    </a:lnSpc>
                    <a:buFont typeface="Wingdings" panose="05000000000000000000" pitchFamily="2" charset="2"/>
                    <a:buChar char="l"/>
                    <a:defRPr/>
                  </a:pPr>
                  <a:r>
                    <a:rPr lang="zh-CN" altLang="en-US" b="1" dirty="0">
                      <a:solidFill>
                        <a:srgbClr val="008000"/>
                      </a:solidFill>
                      <a:latin typeface="Times New Roman" pitchFamily="18" charset="0"/>
                      <a:ea typeface="仿宋_GB2312" pitchFamily="49" charset="-122"/>
                      <a:cs typeface="Times New Roman" pitchFamily="18" charset="0"/>
                    </a:rPr>
                    <a:t>计算各判定系数。</a:t>
                  </a:r>
                  <a:r>
                    <a:rPr lang="zh-CN" altLang="en-US" b="1" dirty="0">
                      <a:latin typeface="Times New Roman" pitchFamily="18" charset="0"/>
                      <a:ea typeface="仿宋_GB2312" pitchFamily="49" charset="-122"/>
                      <a:cs typeface="Times New Roman" pitchFamily="18" charset="0"/>
                    </a:rPr>
                    <a:t>将</a:t>
                  </a:r>
                  <a14:m>
                    <m:oMath xmlns:m="http://schemas.openxmlformats.org/officeDocument/2006/math">
                      <m:sSub>
                        <m:sSubPr>
                          <m:ctrlPr>
                            <a:rPr lang="en-US" altLang="zh-CN" b="1" i="1" smtClean="0">
                              <a:latin typeface="Cambria Math" panose="02040503050406030204" pitchFamily="18" charset="0"/>
                              <a:ea typeface="仿宋_GB2312" pitchFamily="49" charset="-122"/>
                              <a:cs typeface="Times New Roman" pitchFamily="18" charset="0"/>
                            </a:rPr>
                          </m:ctrlPr>
                        </m:sSubPr>
                        <m:e>
                          <m:r>
                            <a:rPr lang="en-US" altLang="zh-CN" b="1" i="1" smtClean="0">
                              <a:latin typeface="Cambria Math" panose="02040503050406030204" pitchFamily="18" charset="0"/>
                              <a:ea typeface="仿宋_GB2312" pitchFamily="49" charset="-122"/>
                              <a:cs typeface="Times New Roman" pitchFamily="18" charset="0"/>
                            </a:rPr>
                            <m:t>𝒙</m:t>
                          </m:r>
                        </m:e>
                        <m:sub>
                          <m:r>
                            <a:rPr lang="en-US" altLang="zh-CN" b="1" i="1" smtClean="0">
                              <a:latin typeface="Cambria Math" panose="02040503050406030204" pitchFamily="18" charset="0"/>
                              <a:ea typeface="仿宋_GB2312" pitchFamily="49" charset="-122"/>
                              <a:cs typeface="Times New Roman" pitchFamily="18" charset="0"/>
                            </a:rPr>
                            <m:t>𝒊</m:t>
                          </m:r>
                        </m:sub>
                      </m:sSub>
                    </m:oMath>
                  </a14:m>
                  <a:r>
                    <a:rPr lang="zh-CN" altLang="en-US" b="1" dirty="0">
                      <a:latin typeface="Times New Roman" pitchFamily="18" charset="0"/>
                      <a:ea typeface="仿宋_GB2312" pitchFamily="49" charset="-122"/>
                      <a:cs typeface="Times New Roman" pitchFamily="18" charset="0"/>
                    </a:rPr>
                    <a:t>作为因变量，剩余的</a:t>
                  </a:r>
                  <a14:m>
                    <m:oMath xmlns:m="http://schemas.openxmlformats.org/officeDocument/2006/math">
                      <m:sSub>
                        <m:sSubPr>
                          <m:ctrlPr>
                            <a:rPr lang="en-US" altLang="zh-CN" b="1" i="1">
                              <a:latin typeface="Cambria Math" panose="02040503050406030204" pitchFamily="18" charset="0"/>
                              <a:ea typeface="仿宋_GB2312" pitchFamily="49" charset="-122"/>
                              <a:cs typeface="Times New Roman" pitchFamily="18" charset="0"/>
                            </a:rPr>
                          </m:ctrlPr>
                        </m:sSubPr>
                        <m:e>
                          <m:r>
                            <a:rPr lang="en-US" altLang="zh-CN" b="1" i="1">
                              <a:latin typeface="Cambria Math" panose="02040503050406030204" pitchFamily="18" charset="0"/>
                              <a:ea typeface="仿宋_GB2312" pitchFamily="49" charset="-122"/>
                              <a:cs typeface="Times New Roman" pitchFamily="18" charset="0"/>
                            </a:rPr>
                            <m:t>𝒙</m:t>
                          </m:r>
                        </m:e>
                        <m:sub>
                          <m:r>
                            <a:rPr lang="en-US" altLang="zh-CN" b="1" i="1" smtClean="0">
                              <a:latin typeface="Cambria Math" panose="02040503050406030204" pitchFamily="18" charset="0"/>
                              <a:ea typeface="仿宋_GB2312" pitchFamily="49" charset="-122"/>
                              <a:cs typeface="Times New Roman" pitchFamily="18" charset="0"/>
                            </a:rPr>
                            <m:t>𝟏</m:t>
                          </m:r>
                        </m:sub>
                      </m:sSub>
                      <m:r>
                        <a:rPr lang="en-US" altLang="zh-CN" b="1" i="1" smtClean="0">
                          <a:latin typeface="Cambria Math" panose="02040503050406030204" pitchFamily="18" charset="0"/>
                          <a:ea typeface="仿宋_GB2312" pitchFamily="49" charset="-122"/>
                          <a:cs typeface="Times New Roman" pitchFamily="18" charset="0"/>
                        </a:rPr>
                        <m:t>,</m:t>
                      </m:r>
                      <m:sSub>
                        <m:sSubPr>
                          <m:ctrlPr>
                            <a:rPr lang="en-US" altLang="zh-CN" b="1" i="1">
                              <a:latin typeface="Cambria Math" panose="02040503050406030204" pitchFamily="18" charset="0"/>
                              <a:ea typeface="仿宋_GB2312" pitchFamily="49" charset="-122"/>
                              <a:cs typeface="Times New Roman" pitchFamily="18" charset="0"/>
                            </a:rPr>
                          </m:ctrlPr>
                        </m:sSubPr>
                        <m:e>
                          <m:r>
                            <a:rPr lang="en-US" altLang="zh-CN" b="1" i="1">
                              <a:latin typeface="Cambria Math" panose="02040503050406030204" pitchFamily="18" charset="0"/>
                              <a:ea typeface="仿宋_GB2312" pitchFamily="49" charset="-122"/>
                              <a:cs typeface="Times New Roman" pitchFamily="18" charset="0"/>
                            </a:rPr>
                            <m:t>𝒙</m:t>
                          </m:r>
                        </m:e>
                        <m:sub>
                          <m:r>
                            <a:rPr lang="en-US" altLang="zh-CN" b="1" i="1" smtClean="0">
                              <a:latin typeface="Cambria Math" panose="02040503050406030204" pitchFamily="18" charset="0"/>
                              <a:ea typeface="仿宋_GB2312" pitchFamily="49" charset="-122"/>
                              <a:cs typeface="Times New Roman" pitchFamily="18" charset="0"/>
                            </a:rPr>
                            <m:t>𝟐</m:t>
                          </m:r>
                        </m:sub>
                      </m:sSub>
                      <m:r>
                        <a:rPr lang="en-US" altLang="zh-CN" b="1" i="1" smtClean="0">
                          <a:latin typeface="Cambria Math" panose="02040503050406030204" pitchFamily="18" charset="0"/>
                          <a:ea typeface="仿宋_GB2312" pitchFamily="49" charset="-122"/>
                          <a:cs typeface="Times New Roman" pitchFamily="18" charset="0"/>
                        </a:rPr>
                        <m:t>,</m:t>
                      </m:r>
                      <m:r>
                        <a:rPr lang="en-US" altLang="zh-CN" b="1" i="1" smtClean="0">
                          <a:latin typeface="Cambria Math" panose="02040503050406030204" pitchFamily="18" charset="0"/>
                          <a:ea typeface="Cambria Math" panose="02040503050406030204" pitchFamily="18" charset="0"/>
                          <a:cs typeface="Times New Roman" pitchFamily="18" charset="0"/>
                        </a:rPr>
                        <m:t>⋯,</m:t>
                      </m:r>
                      <m:sSub>
                        <m:sSubPr>
                          <m:ctrlPr>
                            <a:rPr lang="en-US" altLang="zh-CN" b="1" i="1">
                              <a:latin typeface="Cambria Math" panose="02040503050406030204" pitchFamily="18" charset="0"/>
                              <a:ea typeface="仿宋_GB2312" pitchFamily="49" charset="-122"/>
                              <a:cs typeface="Times New Roman" pitchFamily="18" charset="0"/>
                            </a:rPr>
                          </m:ctrlPr>
                        </m:sSubPr>
                        <m:e>
                          <m:r>
                            <a:rPr lang="en-US" altLang="zh-CN" b="1" i="1">
                              <a:latin typeface="Cambria Math" panose="02040503050406030204" pitchFamily="18" charset="0"/>
                              <a:ea typeface="仿宋_GB2312" pitchFamily="49" charset="-122"/>
                              <a:cs typeface="Times New Roman" pitchFamily="18" charset="0"/>
                            </a:rPr>
                            <m:t>𝒙</m:t>
                          </m:r>
                        </m:e>
                        <m:sub>
                          <m:r>
                            <a:rPr lang="en-US" altLang="zh-CN" b="1" i="1">
                              <a:latin typeface="Cambria Math" panose="02040503050406030204" pitchFamily="18" charset="0"/>
                              <a:ea typeface="仿宋_GB2312" pitchFamily="49" charset="-122"/>
                              <a:cs typeface="Times New Roman" pitchFamily="18" charset="0"/>
                            </a:rPr>
                            <m:t>𝒊</m:t>
                          </m:r>
                          <m:r>
                            <a:rPr lang="en-US" altLang="zh-CN" b="1" i="1" smtClean="0">
                              <a:latin typeface="Cambria Math" panose="02040503050406030204" pitchFamily="18" charset="0"/>
                              <a:ea typeface="仿宋_GB2312" pitchFamily="49" charset="-122"/>
                              <a:cs typeface="Times New Roman" pitchFamily="18" charset="0"/>
                            </a:rPr>
                            <m:t>−</m:t>
                          </m:r>
                          <m:r>
                            <a:rPr lang="en-US" altLang="zh-CN" b="1" i="1" smtClean="0">
                              <a:latin typeface="Cambria Math" panose="02040503050406030204" pitchFamily="18" charset="0"/>
                              <a:ea typeface="仿宋_GB2312" pitchFamily="49" charset="-122"/>
                              <a:cs typeface="Times New Roman" pitchFamily="18" charset="0"/>
                            </a:rPr>
                            <m:t>𝟏</m:t>
                          </m:r>
                        </m:sub>
                      </m:sSub>
                      <m:r>
                        <a:rPr lang="en-US" altLang="zh-CN" b="1" i="1" smtClean="0">
                          <a:latin typeface="Cambria Math" panose="02040503050406030204" pitchFamily="18" charset="0"/>
                          <a:ea typeface="仿宋_GB2312" pitchFamily="49" charset="-122"/>
                          <a:cs typeface="Times New Roman" pitchFamily="18" charset="0"/>
                        </a:rPr>
                        <m:t>,</m:t>
                      </m:r>
                      <m:sSub>
                        <m:sSubPr>
                          <m:ctrlPr>
                            <a:rPr lang="en-US" altLang="zh-CN" b="1" i="1">
                              <a:latin typeface="Cambria Math" panose="02040503050406030204" pitchFamily="18" charset="0"/>
                              <a:ea typeface="仿宋_GB2312" pitchFamily="49" charset="-122"/>
                              <a:cs typeface="Times New Roman" pitchFamily="18" charset="0"/>
                            </a:rPr>
                          </m:ctrlPr>
                        </m:sSubPr>
                        <m:e>
                          <m:r>
                            <a:rPr lang="en-US" altLang="zh-CN" b="1" i="1">
                              <a:latin typeface="Cambria Math" panose="02040503050406030204" pitchFamily="18" charset="0"/>
                              <a:ea typeface="仿宋_GB2312" pitchFamily="49" charset="-122"/>
                              <a:cs typeface="Times New Roman" pitchFamily="18" charset="0"/>
                            </a:rPr>
                            <m:t>𝒙</m:t>
                          </m:r>
                        </m:e>
                        <m:sub>
                          <m:r>
                            <a:rPr lang="en-US" altLang="zh-CN" b="1" i="1">
                              <a:latin typeface="Cambria Math" panose="02040503050406030204" pitchFamily="18" charset="0"/>
                              <a:ea typeface="仿宋_GB2312" pitchFamily="49" charset="-122"/>
                              <a:cs typeface="Times New Roman" pitchFamily="18" charset="0"/>
                            </a:rPr>
                            <m:t>𝒊</m:t>
                          </m:r>
                          <m:r>
                            <a:rPr lang="en-US" altLang="zh-CN" b="1" i="1" smtClean="0">
                              <a:latin typeface="Cambria Math" panose="02040503050406030204" pitchFamily="18" charset="0"/>
                              <a:ea typeface="仿宋_GB2312" pitchFamily="49" charset="-122"/>
                              <a:cs typeface="Times New Roman" pitchFamily="18" charset="0"/>
                            </a:rPr>
                            <m:t>+</m:t>
                          </m:r>
                          <m:r>
                            <a:rPr lang="en-US" altLang="zh-CN" b="1" i="1" smtClean="0">
                              <a:latin typeface="Cambria Math" panose="02040503050406030204" pitchFamily="18" charset="0"/>
                              <a:ea typeface="仿宋_GB2312" pitchFamily="49" charset="-122"/>
                              <a:cs typeface="Times New Roman" pitchFamily="18" charset="0"/>
                            </a:rPr>
                            <m:t>𝟏</m:t>
                          </m:r>
                        </m:sub>
                      </m:sSub>
                      <m:r>
                        <a:rPr lang="en-US" altLang="zh-CN" b="1" i="1" smtClean="0">
                          <a:latin typeface="Cambria Math" panose="02040503050406030204" pitchFamily="18" charset="0"/>
                          <a:ea typeface="仿宋_GB2312" pitchFamily="49" charset="-122"/>
                          <a:cs typeface="Times New Roman" pitchFamily="18" charset="0"/>
                        </a:rPr>
                        <m:t>,</m:t>
                      </m:r>
                      <m:r>
                        <a:rPr lang="en-US" altLang="zh-CN" b="1" i="1" smtClean="0">
                          <a:latin typeface="Cambria Math" panose="02040503050406030204" pitchFamily="18" charset="0"/>
                          <a:ea typeface="Cambria Math" panose="02040503050406030204" pitchFamily="18" charset="0"/>
                          <a:cs typeface="Times New Roman" pitchFamily="18" charset="0"/>
                        </a:rPr>
                        <m:t>⋯</m:t>
                      </m:r>
                      <m:sSub>
                        <m:sSubPr>
                          <m:ctrlPr>
                            <a:rPr lang="en-US" altLang="zh-CN" b="1" i="1">
                              <a:latin typeface="Cambria Math" panose="02040503050406030204" pitchFamily="18" charset="0"/>
                              <a:ea typeface="仿宋_GB2312" pitchFamily="49" charset="-122"/>
                              <a:cs typeface="Times New Roman" pitchFamily="18" charset="0"/>
                            </a:rPr>
                          </m:ctrlPr>
                        </m:sSubPr>
                        <m:e>
                          <m:r>
                            <a:rPr lang="en-US" altLang="zh-CN" b="1" i="1">
                              <a:latin typeface="Cambria Math" panose="02040503050406030204" pitchFamily="18" charset="0"/>
                              <a:ea typeface="仿宋_GB2312" pitchFamily="49" charset="-122"/>
                              <a:cs typeface="Times New Roman" pitchFamily="18" charset="0"/>
                            </a:rPr>
                            <m:t>𝒙</m:t>
                          </m:r>
                        </m:e>
                        <m:sub>
                          <m:r>
                            <a:rPr lang="en-US" altLang="zh-CN" b="1" i="1" smtClean="0">
                              <a:latin typeface="Cambria Math" panose="02040503050406030204" pitchFamily="18" charset="0"/>
                              <a:ea typeface="仿宋_GB2312" pitchFamily="49" charset="-122"/>
                              <a:cs typeface="Times New Roman" pitchFamily="18" charset="0"/>
                            </a:rPr>
                            <m:t>𝒑</m:t>
                          </m:r>
                        </m:sub>
                      </m:sSub>
                    </m:oMath>
                  </a14:m>
                  <a:r>
                    <a:rPr lang="zh-CN" altLang="en-US" b="1" dirty="0">
                      <a:latin typeface="Times New Roman" pitchFamily="18" charset="0"/>
                      <a:ea typeface="仿宋_GB2312" pitchFamily="49" charset="-122"/>
                      <a:cs typeface="Times New Roman" pitchFamily="18" charset="0"/>
                    </a:rPr>
                    <a:t>作为自变量进行线性回归，计算判定系数</a:t>
                  </a:r>
                  <a14:m>
                    <m:oMath xmlns:m="http://schemas.openxmlformats.org/officeDocument/2006/math">
                      <m:sSubSup>
                        <m:sSubSupPr>
                          <m:ctrlPr>
                            <a:rPr lang="en-US" altLang="zh-CN" b="1" i="1">
                              <a:latin typeface="Cambria Math" panose="02040503050406030204" pitchFamily="18" charset="0"/>
                              <a:ea typeface="仿宋_GB2312" pitchFamily="49" charset="-122"/>
                              <a:cs typeface="Times New Roman" pitchFamily="18" charset="0"/>
                            </a:rPr>
                          </m:ctrlPr>
                        </m:sSubSupPr>
                        <m:e>
                          <m:r>
                            <a:rPr lang="en-US" altLang="zh-CN" b="1" i="1">
                              <a:latin typeface="Cambria Math" panose="02040503050406030204" pitchFamily="18" charset="0"/>
                              <a:ea typeface="仿宋_GB2312" pitchFamily="49" charset="-122"/>
                              <a:cs typeface="Times New Roman" pitchFamily="18" charset="0"/>
                            </a:rPr>
                            <m:t>𝑹</m:t>
                          </m:r>
                        </m:e>
                        <m:sub>
                          <m:r>
                            <a:rPr lang="en-US" altLang="zh-CN" b="1" i="1">
                              <a:latin typeface="Cambria Math" panose="02040503050406030204" pitchFamily="18" charset="0"/>
                              <a:ea typeface="仿宋_GB2312" pitchFamily="49" charset="-122"/>
                              <a:cs typeface="Times New Roman" pitchFamily="18" charset="0"/>
                            </a:rPr>
                            <m:t>𝒊</m:t>
                          </m:r>
                        </m:sub>
                        <m:sup>
                          <m:r>
                            <a:rPr lang="en-US" altLang="zh-CN" b="1" i="1">
                              <a:latin typeface="Cambria Math" panose="02040503050406030204" pitchFamily="18" charset="0"/>
                              <a:ea typeface="仿宋_GB2312" pitchFamily="49" charset="-122"/>
                              <a:cs typeface="Times New Roman" pitchFamily="18" charset="0"/>
                            </a:rPr>
                            <m:t>𝟐</m:t>
                          </m:r>
                        </m:sup>
                      </m:sSubSup>
                    </m:oMath>
                  </a14:m>
                  <a:r>
                    <a:rPr lang="zh-CN" altLang="en-US" b="1" dirty="0">
                      <a:latin typeface="Times New Roman" pitchFamily="18" charset="0"/>
                      <a:ea typeface="仿宋_GB2312" pitchFamily="49" charset="-122"/>
                      <a:cs typeface="Times New Roman" pitchFamily="18" charset="0"/>
                    </a:rPr>
                    <a:t>。若某次回归的判定系数较大，则表明在该次回归中作为因变量的</a:t>
                  </a:r>
                  <a14:m>
                    <m:oMath xmlns:m="http://schemas.openxmlformats.org/officeDocument/2006/math">
                      <m:sSub>
                        <m:sSubPr>
                          <m:ctrlPr>
                            <a:rPr lang="en-US" altLang="zh-CN" b="1" i="1">
                              <a:latin typeface="Cambria Math" panose="02040503050406030204" pitchFamily="18" charset="0"/>
                              <a:ea typeface="仿宋_GB2312" pitchFamily="49" charset="-122"/>
                              <a:cs typeface="Times New Roman" pitchFamily="18" charset="0"/>
                            </a:rPr>
                          </m:ctrlPr>
                        </m:sSubPr>
                        <m:e>
                          <m:r>
                            <a:rPr lang="en-US" altLang="zh-CN" b="1" i="1">
                              <a:latin typeface="Cambria Math" panose="02040503050406030204" pitchFamily="18" charset="0"/>
                              <a:ea typeface="仿宋_GB2312" pitchFamily="49" charset="-122"/>
                              <a:cs typeface="Times New Roman" pitchFamily="18" charset="0"/>
                            </a:rPr>
                            <m:t>𝒙</m:t>
                          </m:r>
                        </m:e>
                        <m:sub>
                          <m:r>
                            <a:rPr lang="en-US" altLang="zh-CN" b="1" i="1">
                              <a:latin typeface="Cambria Math" panose="02040503050406030204" pitchFamily="18" charset="0"/>
                              <a:ea typeface="仿宋_GB2312" pitchFamily="49" charset="-122"/>
                              <a:cs typeface="Times New Roman" pitchFamily="18" charset="0"/>
                            </a:rPr>
                            <m:t>𝒊</m:t>
                          </m:r>
                        </m:sub>
                      </m:sSub>
                    </m:oMath>
                  </a14:m>
                  <a:r>
                    <a:rPr lang="zh-CN" altLang="en-US" b="1" dirty="0">
                      <a:latin typeface="Times New Roman" pitchFamily="18" charset="0"/>
                      <a:ea typeface="仿宋_GB2312" pitchFamily="49" charset="-122"/>
                      <a:cs typeface="Times New Roman" pitchFamily="18" charset="0"/>
                    </a:rPr>
                    <a:t>可以用其他剩余解释变量的线性组合代替，即</a:t>
                  </a:r>
                  <a14:m>
                    <m:oMath xmlns:m="http://schemas.openxmlformats.org/officeDocument/2006/math">
                      <m:sSub>
                        <m:sSubPr>
                          <m:ctrlPr>
                            <a:rPr lang="en-US" altLang="zh-CN" b="1" i="1">
                              <a:latin typeface="Cambria Math" panose="02040503050406030204" pitchFamily="18" charset="0"/>
                              <a:ea typeface="仿宋_GB2312" pitchFamily="49" charset="-122"/>
                              <a:cs typeface="Times New Roman" pitchFamily="18" charset="0"/>
                            </a:rPr>
                          </m:ctrlPr>
                        </m:sSubPr>
                        <m:e>
                          <m:r>
                            <a:rPr lang="en-US" altLang="zh-CN" b="1" i="1">
                              <a:latin typeface="Cambria Math" panose="02040503050406030204" pitchFamily="18" charset="0"/>
                              <a:ea typeface="仿宋_GB2312" pitchFamily="49" charset="-122"/>
                              <a:cs typeface="Times New Roman" pitchFamily="18" charset="0"/>
                            </a:rPr>
                            <m:t>𝒙</m:t>
                          </m:r>
                        </m:e>
                        <m:sub>
                          <m:r>
                            <a:rPr lang="en-US" altLang="zh-CN" b="1" i="1">
                              <a:latin typeface="Cambria Math" panose="02040503050406030204" pitchFamily="18" charset="0"/>
                              <a:ea typeface="仿宋_GB2312" pitchFamily="49" charset="-122"/>
                              <a:cs typeface="Times New Roman" pitchFamily="18" charset="0"/>
                            </a:rPr>
                            <m:t>𝒊</m:t>
                          </m:r>
                        </m:sub>
                      </m:sSub>
                    </m:oMath>
                  </a14:m>
                  <a:r>
                    <a:rPr lang="zh-CN" altLang="en-US" b="1" dirty="0">
                      <a:latin typeface="Times New Roman" pitchFamily="18" charset="0"/>
                      <a:ea typeface="仿宋_GB2312" pitchFamily="49" charset="-122"/>
                      <a:cs typeface="Times New Roman" pitchFamily="18" charset="0"/>
                    </a:rPr>
                    <a:t>与其他剩余解释变量间存在多重共线性。</a:t>
                  </a:r>
                  <a:endParaRPr lang="en-US" altLang="zh-CN" b="1" dirty="0">
                    <a:latin typeface="Times New Roman" pitchFamily="18" charset="0"/>
                    <a:ea typeface="仿宋_GB2312" pitchFamily="49" charset="-122"/>
                    <a:cs typeface="Times New Roman" pitchFamily="18" charset="0"/>
                  </a:endParaRPr>
                </a:p>
                <a:p>
                  <a:pPr>
                    <a:lnSpc>
                      <a:spcPct val="110000"/>
                    </a:lnSpc>
                    <a:buFont typeface="Wingdings" panose="05000000000000000000" pitchFamily="2" charset="2"/>
                    <a:buChar char="l"/>
                    <a:defRPr/>
                  </a:pPr>
                  <a:r>
                    <a:rPr lang="zh-CN" altLang="en-US" b="1" dirty="0">
                      <a:solidFill>
                        <a:srgbClr val="008000"/>
                      </a:solidFill>
                      <a:latin typeface="Times New Roman" pitchFamily="18" charset="0"/>
                      <a:ea typeface="仿宋_GB2312" pitchFamily="49" charset="-122"/>
                      <a:cs typeface="Times New Roman" pitchFamily="18" charset="0"/>
                    </a:rPr>
                    <a:t>对回归方程进行检验。</a:t>
                  </a:r>
                  <a:r>
                    <a:rPr lang="zh-CN" altLang="en-US" b="1" dirty="0">
                      <a:latin typeface="Times New Roman" pitchFamily="18" charset="0"/>
                      <a:ea typeface="仿宋_GB2312" pitchFamily="49" charset="-122"/>
                      <a:cs typeface="Times New Roman" pitchFamily="18" charset="0"/>
                    </a:rPr>
                    <a:t>在求得各判定系数后，可进一步对出现较大判定系数的回归方程作</a:t>
                  </a:r>
                  <a:r>
                    <a:rPr lang="en-US" altLang="zh-CN" b="1" dirty="0">
                      <a:latin typeface="Times New Roman" pitchFamily="18" charset="0"/>
                      <a:ea typeface="仿宋_GB2312" pitchFamily="49" charset="-122"/>
                      <a:cs typeface="Times New Roman" pitchFamily="18" charset="0"/>
                    </a:rPr>
                    <a:t>F</a:t>
                  </a:r>
                  <a:r>
                    <a:rPr lang="zh-CN" altLang="en-US" b="1" dirty="0">
                      <a:latin typeface="Times New Roman" pitchFamily="18" charset="0"/>
                      <a:ea typeface="仿宋_GB2312" pitchFamily="49" charset="-122"/>
                      <a:cs typeface="Times New Roman" pitchFamily="18" charset="0"/>
                    </a:rPr>
                    <a:t>检验：</a:t>
                  </a:r>
                  <a:endParaRPr lang="en-US" altLang="zh-CN" b="1" dirty="0">
                    <a:latin typeface="Times New Roman" pitchFamily="18" charset="0"/>
                    <a:ea typeface="仿宋_GB2312" pitchFamily="49" charset="-122"/>
                    <a:cs typeface="Times New Roman" pitchFamily="18" charset="0"/>
                  </a:endParaRPr>
                </a:p>
                <a:p>
                  <a:pPr marL="0" indent="0">
                    <a:lnSpc>
                      <a:spcPct val="110000"/>
                    </a:lnSpc>
                    <a:buNone/>
                    <a:defRPr/>
                  </a:pPr>
                  <a:r>
                    <a:rPr lang="zh-CN" altLang="en-US" b="1" dirty="0">
                      <a:latin typeface="Times New Roman" pitchFamily="18" charset="0"/>
                      <a:ea typeface="仿宋_GB2312" pitchFamily="49" charset="-122"/>
                      <a:cs typeface="Times New Roman" pitchFamily="18" charset="0"/>
                    </a:rPr>
                    <a:t> </a:t>
                  </a:r>
                </a:p>
              </p:txBody>
            </p:sp>
          </mc:Choice>
          <mc:Fallback xmlns="">
            <p:sp>
              <p:nvSpPr>
                <p:cNvPr id="5" name="Rectangle 2">
                  <a:extLst>
                    <a:ext uri="{FF2B5EF4-FFF2-40B4-BE49-F238E27FC236}">
                      <a16:creationId xmlns:a16="http://schemas.microsoft.com/office/drawing/2014/main" id="{067A4F4E-45EC-2D7A-F05F-C4A77B0A20B4}"/>
                    </a:ext>
                  </a:extLst>
                </p:cNvPr>
                <p:cNvSpPr txBox="1">
                  <a:spLocks noRot="1" noChangeAspect="1" noMove="1" noResize="1" noEditPoints="1" noAdjustHandles="1" noChangeArrowheads="1" noChangeShapeType="1" noTextEdit="1"/>
                </p:cNvSpPr>
                <p:nvPr/>
              </p:nvSpPr>
              <p:spPr>
                <a:xfrm>
                  <a:off x="630840" y="2396538"/>
                  <a:ext cx="11256360" cy="6879984"/>
                </a:xfr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20" name="对象 19">
                  <a:extLst>
                    <a:ext uri="{FF2B5EF4-FFF2-40B4-BE49-F238E27FC236}">
                      <a16:creationId xmlns:a16="http://schemas.microsoft.com/office/drawing/2014/main" id="{2A547A73-618C-7183-1442-2D0F18D7BAD5}"/>
                    </a:ext>
                  </a:extLst>
                </p:cNvPr>
                <p:cNvGraphicFramePr>
                  <a:graphicFrameLocks noChangeAspect="1"/>
                </p:cNvGraphicFramePr>
                <p:nvPr>
                  <p:extLst>
                    <p:ext uri="{D42A27DB-BD31-4B8C-83A1-F6EECF244321}">
                      <p14:modId xmlns:p14="http://schemas.microsoft.com/office/powerpoint/2010/main" val="724656681"/>
                    </p:ext>
                  </p:extLst>
                </p:nvPr>
              </p:nvGraphicFramePr>
              <p:xfrm>
                <a:off x="3810001" y="5285369"/>
                <a:ext cx="5138112" cy="856352"/>
              </p:xfrm>
              <a:graphic>
                <a:graphicData uri="http://schemas.openxmlformats.org/presentationml/2006/ole">
                  <mc:AlternateContent>
                    <mc:Choice xmlns:v="urn:schemas-microsoft-com:vml" Requires="v">
                      <p:oleObj name="Equation" r:id="rId4" imgW="2743405" imgH="457216" progId="Equation.DSMT4">
                        <p:embed/>
                      </p:oleObj>
                    </mc:Choice>
                    <mc:Fallback>
                      <p:oleObj name="Equation" r:id="rId4" imgW="2743405" imgH="457216" progId="Equation.DSMT4">
                        <p:embed/>
                        <p:pic>
                          <p:nvPicPr>
                            <p:cNvPr id="0" name=""/>
                            <p:cNvPicPr/>
                            <p:nvPr/>
                          </p:nvPicPr>
                          <p:blipFill>
                            <a:blip r:embed="rId5"/>
                            <a:stretch>
                              <a:fillRect/>
                            </a:stretch>
                          </p:blipFill>
                          <p:spPr>
                            <a:xfrm>
                              <a:off x="3810001" y="5285369"/>
                              <a:ext cx="5138112" cy="856352"/>
                            </a:xfrm>
                            <a:prstGeom prst="rect">
                              <a:avLst/>
                            </a:prstGeom>
                          </p:spPr>
                        </p:pic>
                      </p:oleObj>
                    </mc:Fallback>
                  </mc:AlternateContent>
                </a:graphicData>
              </a:graphic>
            </p:graphicFrame>
          </mc:Choice>
          <mc:Fallback xmlns="">
            <p:graphicFrame>
              <p:nvGraphicFramePr>
                <p:cNvPr id="20" name="对象 19">
                  <a:extLst>
                    <a:ext uri="{FF2B5EF4-FFF2-40B4-BE49-F238E27FC236}">
                      <a16:creationId xmlns:a16="http://schemas.microsoft.com/office/drawing/2014/main" id="{2A547A73-618C-7183-1442-2D0F18D7BAD5}"/>
                    </a:ext>
                  </a:extLst>
                </p:cNvPr>
                <p:cNvGraphicFramePr>
                  <a:graphicFrameLocks noChangeAspect="1"/>
                </p:cNvGraphicFramePr>
                <p:nvPr>
                  <p:extLst>
                    <p:ext uri="{D42A27DB-BD31-4B8C-83A1-F6EECF244321}">
                      <p14:modId xmlns:p14="http://schemas.microsoft.com/office/powerpoint/2010/main" val="724656681"/>
                    </p:ext>
                  </p:extLst>
                </p:nvPr>
              </p:nvGraphicFramePr>
              <p:xfrm>
                <a:off x="3810001" y="5285369"/>
                <a:ext cx="5138112" cy="856352"/>
              </p:xfrm>
              <a:graphic>
                <a:graphicData uri="http://schemas.openxmlformats.org/presentationml/2006/ole">
                  <mc:AlternateContent>
                    <mc:Choice xmlns:v="urn:schemas-microsoft-com:vml" Requires="v">
                      <p:oleObj name="Equation" r:id="rId6" imgW="2743405" imgH="457216" progId="Equation.DSMT4">
                        <p:embed/>
                      </p:oleObj>
                    </mc:Choice>
                    <mc:Fallback>
                      <p:oleObj name="Equation" r:id="rId6" imgW="2743405" imgH="457216" progId="Equation.DSMT4">
                        <p:embed/>
                        <p:pic>
                          <p:nvPicPr>
                            <p:cNvPr id="0" name=""/>
                            <p:cNvPicPr/>
                            <p:nvPr/>
                          </p:nvPicPr>
                          <p:blipFill>
                            <a:blip r:embed="rId7"/>
                            <a:stretch>
                              <a:fillRect/>
                            </a:stretch>
                          </p:blipFill>
                          <p:spPr>
                            <a:xfrm>
                              <a:off x="3810001" y="5285369"/>
                              <a:ext cx="5138112" cy="856352"/>
                            </a:xfrm>
                            <a:prstGeom prst="rect">
                              <a:avLst/>
                            </a:prstGeom>
                          </p:spPr>
                        </p:pic>
                      </p:oleObj>
                    </mc:Fallback>
                  </mc:AlternateContent>
                </a:graphicData>
              </a:graphic>
            </p:graphicFrame>
          </mc:Fallback>
        </mc:AlternateContent>
      </p:grpSp>
    </p:spTree>
    <p:extLst>
      <p:ext uri="{BB962C8B-B14F-4D97-AF65-F5344CB8AC3E}">
        <p14:creationId xmlns:p14="http://schemas.microsoft.com/office/powerpoint/2010/main" val="148317461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A370D-BE34-F3E1-C1C3-D2FDCC8844E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5161EB2-73D3-5D25-7639-75B5F2ED6FEE}"/>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多重共线性的诊断</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5" name="Rectangle 2">
            <a:extLst>
              <a:ext uri="{FF2B5EF4-FFF2-40B4-BE49-F238E27FC236}">
                <a16:creationId xmlns:a16="http://schemas.microsoft.com/office/drawing/2014/main" id="{DFF2DAE0-25B8-9426-E150-5E8E16B3D99E}"/>
              </a:ext>
            </a:extLst>
          </p:cNvPr>
          <p:cNvSpPr txBox="1">
            <a:spLocks noChangeArrowheads="1"/>
          </p:cNvSpPr>
          <p:nvPr/>
        </p:nvSpPr>
        <p:spPr>
          <a:xfrm>
            <a:off x="660073" y="1114977"/>
            <a:ext cx="11087005" cy="5903913"/>
          </a:xfr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Tx/>
              <a:buNone/>
              <a:defRPr/>
            </a:pPr>
            <a:r>
              <a:rPr lang="en-US" altLang="zh-CN" b="1" dirty="0">
                <a:latin typeface="Times New Roman" pitchFamily="18" charset="0"/>
                <a:ea typeface="仿宋_GB2312" pitchFamily="49" charset="-122"/>
                <a:cs typeface="Times New Roman" pitchFamily="18" charset="0"/>
              </a:rPr>
              <a:t>2) </a:t>
            </a:r>
            <a:r>
              <a:rPr lang="zh-CN" altLang="en-US" b="1" dirty="0">
                <a:latin typeface="Times New Roman" pitchFamily="18" charset="0"/>
                <a:ea typeface="仿宋_GB2312" pitchFamily="49" charset="-122"/>
                <a:cs typeface="Times New Roman" pitchFamily="18" charset="0"/>
              </a:rPr>
              <a:t>容忍度：</a:t>
            </a:r>
          </a:p>
          <a:p>
            <a:pPr>
              <a:lnSpc>
                <a:spcPct val="110000"/>
              </a:lnSpc>
              <a:buFontTx/>
              <a:buNone/>
              <a:defRPr/>
            </a:pPr>
            <a:endParaRPr lang="zh-CN" altLang="en-US" sz="1200" b="1" dirty="0">
              <a:latin typeface="Times New Roman" pitchFamily="18" charset="0"/>
              <a:ea typeface="仿宋_GB2312" pitchFamily="49" charset="-122"/>
              <a:cs typeface="Times New Roman" pitchFamily="18" charset="0"/>
            </a:endParaRPr>
          </a:p>
          <a:p>
            <a:pPr>
              <a:lnSpc>
                <a:spcPct val="110000"/>
              </a:lnSpc>
              <a:buFontTx/>
              <a:buNone/>
              <a:defRPr/>
            </a:pPr>
            <a:r>
              <a:rPr lang="zh-CN" altLang="en-US" b="1" dirty="0">
                <a:solidFill>
                  <a:srgbClr val="A50021"/>
                </a:solidFill>
                <a:latin typeface="Times New Roman" pitchFamily="18" charset="0"/>
                <a:ea typeface="仿宋_GB2312" pitchFamily="49" charset="-122"/>
                <a:cs typeface="Times New Roman" pitchFamily="18" charset="0"/>
              </a:rPr>
              <a:t>   容忍度的取值范围在</a:t>
            </a:r>
            <a:r>
              <a:rPr lang="en-US" altLang="zh-CN" b="1" dirty="0">
                <a:solidFill>
                  <a:srgbClr val="A50021"/>
                </a:solidFill>
                <a:latin typeface="Times New Roman" pitchFamily="18" charset="0"/>
                <a:ea typeface="仿宋_GB2312" pitchFamily="49" charset="-122"/>
                <a:cs typeface="Times New Roman" pitchFamily="18" charset="0"/>
              </a:rPr>
              <a:t>0-1</a:t>
            </a:r>
            <a:r>
              <a:rPr lang="zh-CN" altLang="en-US" b="1" dirty="0">
                <a:solidFill>
                  <a:srgbClr val="A50021"/>
                </a:solidFill>
                <a:latin typeface="Times New Roman" pitchFamily="18" charset="0"/>
                <a:ea typeface="仿宋_GB2312" pitchFamily="49" charset="-122"/>
                <a:cs typeface="Times New Roman" pitchFamily="18" charset="0"/>
              </a:rPr>
              <a:t>之间，越接近</a:t>
            </a:r>
            <a:r>
              <a:rPr lang="en-US" altLang="zh-CN" b="1" dirty="0">
                <a:solidFill>
                  <a:srgbClr val="A50021"/>
                </a:solidFill>
                <a:latin typeface="Times New Roman" pitchFamily="18" charset="0"/>
                <a:ea typeface="仿宋_GB2312" pitchFamily="49" charset="-122"/>
                <a:cs typeface="Times New Roman" pitchFamily="18" charset="0"/>
              </a:rPr>
              <a:t>0</a:t>
            </a:r>
            <a:r>
              <a:rPr lang="zh-CN" altLang="en-US" b="1" dirty="0">
                <a:solidFill>
                  <a:srgbClr val="A50021"/>
                </a:solidFill>
                <a:latin typeface="Times New Roman" pitchFamily="18" charset="0"/>
                <a:ea typeface="仿宋_GB2312" pitchFamily="49" charset="-122"/>
                <a:cs typeface="Times New Roman" pitchFamily="18" charset="0"/>
              </a:rPr>
              <a:t>表示多重共线性越强</a:t>
            </a:r>
            <a:r>
              <a:rPr lang="zh-CN" altLang="en-US" b="1" dirty="0">
                <a:latin typeface="Times New Roman" pitchFamily="18" charset="0"/>
                <a:ea typeface="仿宋_GB2312" pitchFamily="49" charset="-122"/>
                <a:cs typeface="Times New Roman" pitchFamily="18" charset="0"/>
              </a:rPr>
              <a:t>，越接近</a:t>
            </a:r>
            <a:r>
              <a:rPr lang="en-US" altLang="zh-CN" b="1" dirty="0">
                <a:latin typeface="Times New Roman" pitchFamily="18" charset="0"/>
                <a:ea typeface="仿宋_GB2312" pitchFamily="49" charset="-122"/>
                <a:cs typeface="Times New Roman" pitchFamily="18" charset="0"/>
              </a:rPr>
              <a:t>1</a:t>
            </a:r>
            <a:r>
              <a:rPr lang="zh-CN" altLang="en-US" b="1" dirty="0">
                <a:latin typeface="Times New Roman" pitchFamily="18" charset="0"/>
                <a:ea typeface="仿宋_GB2312" pitchFamily="49" charset="-122"/>
                <a:cs typeface="Times New Roman" pitchFamily="18" charset="0"/>
              </a:rPr>
              <a:t>表示多重共线性越弱。</a:t>
            </a:r>
          </a:p>
          <a:p>
            <a:pPr>
              <a:lnSpc>
                <a:spcPct val="110000"/>
              </a:lnSpc>
              <a:buFontTx/>
              <a:buNone/>
              <a:defRPr/>
            </a:pPr>
            <a:r>
              <a:rPr lang="zh-CN" altLang="en-US" b="1" dirty="0">
                <a:latin typeface="Times New Roman" pitchFamily="18" charset="0"/>
                <a:ea typeface="仿宋_GB2312" pitchFamily="49" charset="-122"/>
                <a:cs typeface="Times New Roman" pitchFamily="18" charset="0"/>
              </a:rPr>
              <a:t>  </a:t>
            </a:r>
          </a:p>
        </p:txBody>
      </p:sp>
      <p:graphicFrame>
        <p:nvGraphicFramePr>
          <p:cNvPr id="6" name="Object 2">
            <a:extLst>
              <a:ext uri="{FF2B5EF4-FFF2-40B4-BE49-F238E27FC236}">
                <a16:creationId xmlns:a16="http://schemas.microsoft.com/office/drawing/2014/main" id="{556B6570-3127-58A8-C5E1-A017C1AC9BEA}"/>
              </a:ext>
            </a:extLst>
          </p:cNvPr>
          <p:cNvGraphicFramePr>
            <a:graphicFrameLocks noChangeAspect="1"/>
          </p:cNvGraphicFramePr>
          <p:nvPr>
            <p:extLst>
              <p:ext uri="{D42A27DB-BD31-4B8C-83A1-F6EECF244321}">
                <p14:modId xmlns:p14="http://schemas.microsoft.com/office/powerpoint/2010/main" val="2259406833"/>
              </p:ext>
            </p:extLst>
          </p:nvPr>
        </p:nvGraphicFramePr>
        <p:xfrm>
          <a:off x="2651084" y="1114977"/>
          <a:ext cx="2160587" cy="685800"/>
        </p:xfrm>
        <a:graphic>
          <a:graphicData uri="http://schemas.openxmlformats.org/presentationml/2006/ole">
            <mc:AlternateContent xmlns:mc="http://schemas.openxmlformats.org/markup-compatibility/2006">
              <mc:Choice xmlns:v="urn:schemas-microsoft-com:vml" Requires="v">
                <p:oleObj name="Equation" r:id="rId3" imgW="799920" imgH="253800" progId="Equation.DSMT4">
                  <p:embed/>
                </p:oleObj>
              </mc:Choice>
              <mc:Fallback>
                <p:oleObj name="Equation" r:id="rId3" imgW="799920" imgH="253800" progId="Equation.DSMT4">
                  <p:embed/>
                  <p:pic>
                    <p:nvPicPr>
                      <p:cNvPr id="6" name="Object 2">
                        <a:extLst>
                          <a:ext uri="{FF2B5EF4-FFF2-40B4-BE49-F238E27FC236}">
                            <a16:creationId xmlns:a16="http://schemas.microsoft.com/office/drawing/2014/main" id="{556B6570-3127-58A8-C5E1-A017C1AC9B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1084" y="1114977"/>
                        <a:ext cx="2160587" cy="685800"/>
                      </a:xfrm>
                      <a:prstGeom prst="rect">
                        <a:avLst/>
                      </a:prstGeom>
                      <a:gradFill rotWithShape="1">
                        <a:gsLst>
                          <a:gs pos="0">
                            <a:schemeClr val="hlink"/>
                          </a:gs>
                          <a:gs pos="50000">
                            <a:schemeClr val="hlink">
                              <a:gamma/>
                              <a:tint val="0"/>
                              <a:invGamma/>
                            </a:schemeClr>
                          </a:gs>
                          <a:gs pos="100000">
                            <a:schemeClr val="hlink"/>
                          </a:gs>
                        </a:gsLst>
                        <a:lin ang="5400000" scaled="1"/>
                      </a:gra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Rectangle 2">
            <a:extLst>
              <a:ext uri="{FF2B5EF4-FFF2-40B4-BE49-F238E27FC236}">
                <a16:creationId xmlns:a16="http://schemas.microsoft.com/office/drawing/2014/main" id="{6655EFF6-2D37-3702-9B3B-103740374CDA}"/>
              </a:ext>
            </a:extLst>
          </p:cNvPr>
          <p:cNvSpPr txBox="1">
            <a:spLocks noChangeArrowheads="1"/>
          </p:cNvSpPr>
          <p:nvPr/>
        </p:nvSpPr>
        <p:spPr>
          <a:xfrm>
            <a:off x="540805" y="3606790"/>
            <a:ext cx="11763671" cy="5903913"/>
          </a:xfr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Tx/>
              <a:buNone/>
              <a:defRPr/>
            </a:pPr>
            <a:r>
              <a:rPr lang="en-US" altLang="zh-CN" b="1" dirty="0">
                <a:latin typeface="Times New Roman" pitchFamily="18" charset="0"/>
                <a:ea typeface="仿宋_GB2312" pitchFamily="49" charset="-122"/>
                <a:cs typeface="Times New Roman" pitchFamily="18" charset="0"/>
              </a:rPr>
              <a:t>3) </a:t>
            </a:r>
            <a:r>
              <a:rPr lang="zh-CN" altLang="en-US" b="1" dirty="0">
                <a:latin typeface="Times New Roman" pitchFamily="18" charset="0"/>
                <a:ea typeface="仿宋_GB2312" pitchFamily="49" charset="-122"/>
                <a:cs typeface="Times New Roman" pitchFamily="18" charset="0"/>
              </a:rPr>
              <a:t>方差膨胀因子</a:t>
            </a:r>
            <a:r>
              <a:rPr lang="en-US" altLang="zh-CN" b="1" dirty="0">
                <a:latin typeface="Times New Roman" pitchFamily="18" charset="0"/>
                <a:ea typeface="仿宋_GB2312" pitchFamily="49" charset="-122"/>
                <a:cs typeface="Times New Roman" pitchFamily="18" charset="0"/>
              </a:rPr>
              <a:t>VIF</a:t>
            </a:r>
            <a:r>
              <a:rPr lang="zh-CN" altLang="en-US" b="1" dirty="0">
                <a:latin typeface="Times New Roman" pitchFamily="18" charset="0"/>
                <a:ea typeface="仿宋_GB2312" pitchFamily="49" charset="-122"/>
                <a:cs typeface="Times New Roman" pitchFamily="18" charset="0"/>
              </a:rPr>
              <a:t>。方差膨胀因子是容忍度的倒数，量化了每个自变量受到其他自变量影响的程度。</a:t>
            </a:r>
            <a:r>
              <a:rPr lang="en-US" altLang="zh-CN" b="1" dirty="0">
                <a:latin typeface="Times New Roman" pitchFamily="18" charset="0"/>
                <a:ea typeface="仿宋_GB2312" pitchFamily="49" charset="-122"/>
                <a:cs typeface="Times New Roman" pitchFamily="18" charset="0"/>
              </a:rPr>
              <a:t>VIF</a:t>
            </a:r>
            <a:r>
              <a:rPr lang="zh-CN" altLang="en-US" b="1" dirty="0">
                <a:latin typeface="Times New Roman" pitchFamily="18" charset="0"/>
                <a:ea typeface="仿宋_GB2312" pitchFamily="49" charset="-122"/>
                <a:cs typeface="Times New Roman" pitchFamily="18" charset="0"/>
              </a:rPr>
              <a:t>越大多重共线性越强，</a:t>
            </a:r>
            <a:r>
              <a:rPr lang="zh-CN" altLang="en-US" b="1" dirty="0">
                <a:solidFill>
                  <a:srgbClr val="A50021"/>
                </a:solidFill>
                <a:latin typeface="Times New Roman" pitchFamily="18" charset="0"/>
                <a:ea typeface="仿宋_GB2312" pitchFamily="49" charset="-122"/>
                <a:cs typeface="Times New Roman" pitchFamily="18" charset="0"/>
              </a:rPr>
              <a:t>当</a:t>
            </a:r>
            <a:r>
              <a:rPr lang="en-US" altLang="zh-CN" b="1" dirty="0">
                <a:solidFill>
                  <a:srgbClr val="A50021"/>
                </a:solidFill>
                <a:latin typeface="Times New Roman" pitchFamily="18" charset="0"/>
                <a:ea typeface="仿宋_GB2312" pitchFamily="49" charset="-122"/>
                <a:cs typeface="Times New Roman" pitchFamily="18" charset="0"/>
              </a:rPr>
              <a:t>VIF</a:t>
            </a:r>
            <a:r>
              <a:rPr lang="zh-CN" altLang="en-US" b="1" dirty="0">
                <a:solidFill>
                  <a:srgbClr val="A50021"/>
                </a:solidFill>
                <a:latin typeface="Times New Roman" pitchFamily="18" charset="0"/>
                <a:ea typeface="仿宋_GB2312" pitchFamily="49" charset="-122"/>
                <a:cs typeface="Times New Roman" pitchFamily="18" charset="0"/>
              </a:rPr>
              <a:t>大于等于</a:t>
            </a:r>
            <a:r>
              <a:rPr lang="en-US" altLang="zh-CN" b="1" dirty="0">
                <a:solidFill>
                  <a:srgbClr val="A50021"/>
                </a:solidFill>
                <a:latin typeface="Times New Roman" pitchFamily="18" charset="0"/>
                <a:ea typeface="仿宋_GB2312" pitchFamily="49" charset="-122"/>
                <a:cs typeface="Times New Roman" pitchFamily="18" charset="0"/>
              </a:rPr>
              <a:t>10</a:t>
            </a:r>
            <a:r>
              <a:rPr lang="zh-CN" altLang="en-US" b="1" dirty="0">
                <a:solidFill>
                  <a:srgbClr val="A50021"/>
                </a:solidFill>
                <a:latin typeface="Times New Roman" pitchFamily="18" charset="0"/>
                <a:ea typeface="仿宋_GB2312" pitchFamily="49" charset="-122"/>
                <a:cs typeface="Times New Roman" pitchFamily="18" charset="0"/>
              </a:rPr>
              <a:t>时，说明存在严重的多重共线性</a:t>
            </a:r>
            <a:r>
              <a:rPr lang="zh-CN" altLang="en-US" b="1" dirty="0">
                <a:latin typeface="Times New Roman" pitchFamily="18" charset="0"/>
                <a:ea typeface="仿宋_GB2312" pitchFamily="49" charset="-122"/>
                <a:cs typeface="Times New Roman" pitchFamily="18" charset="0"/>
              </a:rPr>
              <a:t>。    </a:t>
            </a:r>
          </a:p>
          <a:p>
            <a:pPr>
              <a:lnSpc>
                <a:spcPct val="110000"/>
              </a:lnSpc>
              <a:buFontTx/>
              <a:buNone/>
              <a:defRPr/>
            </a:pPr>
            <a:r>
              <a:rPr lang="zh-CN" altLang="en-US" b="1" dirty="0">
                <a:latin typeface="Times New Roman" pitchFamily="18" charset="0"/>
                <a:ea typeface="仿宋_GB2312" pitchFamily="49" charset="-122"/>
                <a:cs typeface="Times New Roman" pitchFamily="18" charset="0"/>
              </a:rPr>
              <a:t>  </a:t>
            </a:r>
          </a:p>
        </p:txBody>
      </p:sp>
      <p:graphicFrame>
        <p:nvGraphicFramePr>
          <p:cNvPr id="4" name="对象 3">
            <a:extLst>
              <a:ext uri="{FF2B5EF4-FFF2-40B4-BE49-F238E27FC236}">
                <a16:creationId xmlns:a16="http://schemas.microsoft.com/office/drawing/2014/main" id="{1D0971F3-C670-31B2-45A1-D8A9A02FC0AB}"/>
              </a:ext>
            </a:extLst>
          </p:cNvPr>
          <p:cNvGraphicFramePr>
            <a:graphicFrameLocks noChangeAspect="1"/>
          </p:cNvGraphicFramePr>
          <p:nvPr>
            <p:extLst>
              <p:ext uri="{D42A27DB-BD31-4B8C-83A1-F6EECF244321}">
                <p14:modId xmlns:p14="http://schemas.microsoft.com/office/powerpoint/2010/main" val="1986643334"/>
              </p:ext>
            </p:extLst>
          </p:nvPr>
        </p:nvGraphicFramePr>
        <p:xfrm>
          <a:off x="4964444" y="5158665"/>
          <a:ext cx="2304797" cy="996669"/>
        </p:xfrm>
        <a:graphic>
          <a:graphicData uri="http://schemas.openxmlformats.org/presentationml/2006/ole">
            <mc:AlternateContent xmlns:mc="http://schemas.openxmlformats.org/markup-compatibility/2006">
              <mc:Choice xmlns:v="urn:schemas-microsoft-com:vml" Requires="v">
                <p:oleObj name="Equation" r:id="rId5" imgW="1057399" imgH="457216" progId="Equation.DSMT4">
                  <p:embed/>
                </p:oleObj>
              </mc:Choice>
              <mc:Fallback>
                <p:oleObj name="Equation" r:id="rId5" imgW="1057399" imgH="457216" progId="Equation.DSMT4">
                  <p:embed/>
                  <p:pic>
                    <p:nvPicPr>
                      <p:cNvPr id="7" name="对象 6">
                        <a:extLst>
                          <a:ext uri="{FF2B5EF4-FFF2-40B4-BE49-F238E27FC236}">
                            <a16:creationId xmlns:a16="http://schemas.microsoft.com/office/drawing/2014/main" id="{AE273D40-3BFB-AF38-43A0-28DC8542BA72}"/>
                          </a:ext>
                        </a:extLst>
                      </p:cNvPr>
                      <p:cNvPicPr/>
                      <p:nvPr/>
                    </p:nvPicPr>
                    <p:blipFill>
                      <a:blip r:embed="rId6"/>
                      <a:stretch>
                        <a:fillRect/>
                      </a:stretch>
                    </p:blipFill>
                    <p:spPr>
                      <a:xfrm>
                        <a:off x="4964444" y="5158665"/>
                        <a:ext cx="2304797" cy="996669"/>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B4988050-0B35-4BD5-2217-4C0C903CBE4C}"/>
              </a:ext>
            </a:extLst>
          </p:cNvPr>
          <p:cNvSpPr txBox="1"/>
          <p:nvPr/>
        </p:nvSpPr>
        <p:spPr>
          <a:xfrm>
            <a:off x="1316007" y="6158636"/>
            <a:ext cx="10213266" cy="400110"/>
          </a:xfrm>
          <a:prstGeom prst="rect">
            <a:avLst/>
          </a:prstGeom>
          <a:noFill/>
        </p:spPr>
        <p:txBody>
          <a:bodyPr wrap="square">
            <a:spAutoFit/>
          </a:bodyPr>
          <a:lstStyle/>
          <a:p>
            <a:r>
              <a:rPr lang="zh-CN" altLang="zh-CN" sz="2000" b="1" kern="100" dirty="0">
                <a:solidFill>
                  <a:srgbClr val="008000"/>
                </a:solidFill>
                <a:effectLst/>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000" b="1" kern="100" dirty="0">
                <a:solidFill>
                  <a:srgbClr val="008000"/>
                </a:solidFill>
                <a:effectLst/>
                <a:latin typeface="微软雅黑" panose="020B0503020204020204" pitchFamily="34" charset="-122"/>
                <a:ea typeface="微软雅黑" panose="020B0503020204020204" pitchFamily="34" charset="-122"/>
              </a:rPr>
              <a:t>Python</a:t>
            </a:r>
            <a:r>
              <a:rPr lang="zh-CN" altLang="zh-CN" sz="2000" b="1" kern="100" dirty="0">
                <a:solidFill>
                  <a:srgbClr val="008000"/>
                </a:solidFill>
                <a:effectLst/>
                <a:latin typeface="微软雅黑" panose="020B0503020204020204" pitchFamily="34" charset="-122"/>
                <a:ea typeface="微软雅黑" panose="020B0503020204020204" pitchFamily="34" charset="-122"/>
                <a:cs typeface="Times New Roman" panose="02020603050405020304" pitchFamily="18" charset="0"/>
              </a:rPr>
              <a:t>中，可以使用</a:t>
            </a:r>
            <a:r>
              <a:rPr lang="en-US" altLang="zh-CN" sz="2000" b="1" kern="100" dirty="0" err="1">
                <a:solidFill>
                  <a:srgbClr val="008000"/>
                </a:solidFill>
                <a:effectLst/>
                <a:latin typeface="微软雅黑" panose="020B0503020204020204" pitchFamily="34" charset="-122"/>
                <a:ea typeface="微软雅黑" panose="020B0503020204020204" pitchFamily="34" charset="-122"/>
              </a:rPr>
              <a:t>statsmodels</a:t>
            </a:r>
            <a:r>
              <a:rPr lang="zh-CN" altLang="zh-CN" sz="2000" b="1" kern="100" dirty="0">
                <a:solidFill>
                  <a:srgbClr val="008000"/>
                </a:solidFill>
                <a:effectLst/>
                <a:latin typeface="微软雅黑" panose="020B0503020204020204" pitchFamily="34" charset="-122"/>
                <a:ea typeface="微软雅黑" panose="020B0503020204020204" pitchFamily="34" charset="-122"/>
                <a:cs typeface="Times New Roman" panose="02020603050405020304" pitchFamily="18" charset="0"/>
              </a:rPr>
              <a:t>库中的</a:t>
            </a:r>
            <a:r>
              <a:rPr lang="en-US" altLang="zh-CN" sz="2000" b="1" kern="100" dirty="0" err="1">
                <a:solidFill>
                  <a:srgbClr val="008000"/>
                </a:solidFill>
                <a:effectLst/>
                <a:latin typeface="微软雅黑" panose="020B0503020204020204" pitchFamily="34" charset="-122"/>
                <a:ea typeface="微软雅黑" panose="020B0503020204020204" pitchFamily="34" charset="-122"/>
              </a:rPr>
              <a:t>variance_inflation_factor</a:t>
            </a:r>
            <a:r>
              <a:rPr lang="zh-CN" altLang="zh-CN" sz="2000" b="1" kern="100" dirty="0">
                <a:solidFill>
                  <a:srgbClr val="008000"/>
                </a:solidFill>
                <a:effectLst/>
                <a:latin typeface="微软雅黑" panose="020B0503020204020204" pitchFamily="34" charset="-122"/>
                <a:ea typeface="微软雅黑" panose="020B0503020204020204" pitchFamily="34" charset="-122"/>
                <a:cs typeface="Times New Roman" panose="02020603050405020304" pitchFamily="18" charset="0"/>
              </a:rPr>
              <a:t>函数来计算</a:t>
            </a:r>
            <a:r>
              <a:rPr lang="en-US" altLang="zh-CN" sz="2000" b="1" kern="100" dirty="0">
                <a:solidFill>
                  <a:srgbClr val="008000"/>
                </a:solidFill>
                <a:effectLst/>
                <a:latin typeface="微软雅黑" panose="020B0503020204020204" pitchFamily="34" charset="-122"/>
                <a:ea typeface="微软雅黑" panose="020B0503020204020204" pitchFamily="34" charset="-122"/>
              </a:rPr>
              <a:t>VIF</a:t>
            </a:r>
            <a:r>
              <a:rPr lang="zh-CN" altLang="zh-CN" sz="2000" b="1" kern="100" dirty="0">
                <a:solidFill>
                  <a:srgbClr val="008000"/>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000" b="1" dirty="0">
              <a:solidFill>
                <a:srgbClr val="008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197200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25935-FEB3-2AB6-DACA-7F00D2D8151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48C6BB5-431E-928C-D779-71C64A21350B}"/>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多重共线性的诊断</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Rectangle 2">
            <a:extLst>
              <a:ext uri="{FF2B5EF4-FFF2-40B4-BE49-F238E27FC236}">
                <a16:creationId xmlns:a16="http://schemas.microsoft.com/office/drawing/2014/main" id="{37C7E0EC-E026-4AC6-0790-1638CFB9A879}"/>
              </a:ext>
            </a:extLst>
          </p:cNvPr>
          <p:cNvSpPr txBox="1">
            <a:spLocks noChangeArrowheads="1"/>
          </p:cNvSpPr>
          <p:nvPr/>
        </p:nvSpPr>
        <p:spPr>
          <a:xfrm>
            <a:off x="692898" y="1334902"/>
            <a:ext cx="10934326" cy="5761037"/>
          </a:xfr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Tx/>
              <a:buNone/>
            </a:pPr>
            <a:r>
              <a:rPr lang="en-US" altLang="zh-CN" b="1" dirty="0">
                <a:latin typeface="Times New Roman" pitchFamily="18" charset="0"/>
                <a:ea typeface="仿宋_GB2312" pitchFamily="49" charset="-122"/>
                <a:cs typeface="Times New Roman" pitchFamily="18" charset="0"/>
              </a:rPr>
              <a:t>4) </a:t>
            </a:r>
            <a:r>
              <a:rPr lang="zh-CN" altLang="en-US" b="1" dirty="0">
                <a:latin typeface="Times New Roman" pitchFamily="18" charset="0"/>
                <a:ea typeface="仿宋_GB2312" pitchFamily="49" charset="-122"/>
                <a:cs typeface="Times New Roman" pitchFamily="18" charset="0"/>
              </a:rPr>
              <a:t>特征根和方差比。根据解释变量的相关系数矩阵求得的特征根中，</a:t>
            </a:r>
            <a:r>
              <a:rPr lang="zh-CN" altLang="en-US" b="1" dirty="0">
                <a:solidFill>
                  <a:srgbClr val="A50021"/>
                </a:solidFill>
                <a:latin typeface="Times New Roman" pitchFamily="18" charset="0"/>
                <a:ea typeface="仿宋_GB2312" pitchFamily="49" charset="-122"/>
                <a:cs typeface="Times New Roman" pitchFamily="18" charset="0"/>
              </a:rPr>
              <a:t>如果最大的特征根远远大于其他特征根，则说明这些解释变量间具有相当多的重复信息。</a:t>
            </a:r>
            <a:r>
              <a:rPr lang="zh-CN" altLang="en-US" b="1" dirty="0">
                <a:latin typeface="Times New Roman" pitchFamily="18" charset="0"/>
                <a:ea typeface="仿宋_GB2312" pitchFamily="49" charset="-122"/>
                <a:cs typeface="Times New Roman" pitchFamily="18" charset="0"/>
              </a:rPr>
              <a:t>如果某个特征根既能够刻画某解释变量方差的较大部分比例（</a:t>
            </a:r>
            <a:r>
              <a:rPr lang="en-US" altLang="zh-CN" b="1" dirty="0">
                <a:latin typeface="Times New Roman" pitchFamily="18" charset="0"/>
                <a:ea typeface="仿宋_GB2312" pitchFamily="49" charset="-122"/>
                <a:cs typeface="Times New Roman" pitchFamily="18" charset="0"/>
              </a:rPr>
              <a:t>0.7</a:t>
            </a:r>
            <a:r>
              <a:rPr lang="zh-CN" altLang="en-US" b="1" dirty="0">
                <a:latin typeface="Times New Roman" pitchFamily="18" charset="0"/>
                <a:ea typeface="仿宋_GB2312" pitchFamily="49" charset="-122"/>
                <a:cs typeface="Times New Roman" pitchFamily="18" charset="0"/>
              </a:rPr>
              <a:t>以上），又能刻画另一解释变量方差的较大部分比例，则表明这两个解释变量间存在较强的线性相关关系。</a:t>
            </a:r>
          </a:p>
          <a:p>
            <a:pPr>
              <a:lnSpc>
                <a:spcPct val="110000"/>
              </a:lnSpc>
              <a:buFontTx/>
              <a:buNone/>
            </a:pPr>
            <a:r>
              <a:rPr lang="en-US" altLang="zh-CN" b="1" dirty="0">
                <a:latin typeface="Times New Roman" pitchFamily="18" charset="0"/>
                <a:ea typeface="仿宋_GB2312" pitchFamily="49" charset="-122"/>
                <a:cs typeface="Times New Roman" pitchFamily="18" charset="0"/>
              </a:rPr>
              <a:t>5) </a:t>
            </a:r>
            <a:r>
              <a:rPr lang="zh-CN" altLang="en-US" b="1" dirty="0">
                <a:latin typeface="Times New Roman" pitchFamily="18" charset="0"/>
                <a:ea typeface="仿宋_GB2312" pitchFamily="49" charset="-122"/>
                <a:cs typeface="Times New Roman" pitchFamily="18" charset="0"/>
              </a:rPr>
              <a:t>条件指数。</a:t>
            </a:r>
            <a:r>
              <a:rPr lang="zh-CN" altLang="en-US" b="1" dirty="0">
                <a:solidFill>
                  <a:srgbClr val="A50021"/>
                </a:solidFill>
                <a:latin typeface="Times New Roman" pitchFamily="18" charset="0"/>
                <a:ea typeface="仿宋_GB2312" pitchFamily="49" charset="-122"/>
                <a:cs typeface="Times New Roman" pitchFamily="18" charset="0"/>
              </a:rPr>
              <a:t>指最大特征根与第</a:t>
            </a:r>
            <a:r>
              <a:rPr lang="en-US" altLang="zh-CN" b="1" dirty="0" err="1">
                <a:solidFill>
                  <a:srgbClr val="A50021"/>
                </a:solidFill>
                <a:latin typeface="Times New Roman" pitchFamily="18" charset="0"/>
                <a:ea typeface="仿宋_GB2312" pitchFamily="49" charset="-122"/>
                <a:cs typeface="Times New Roman" pitchFamily="18" charset="0"/>
              </a:rPr>
              <a:t>i</a:t>
            </a:r>
            <a:r>
              <a:rPr lang="zh-CN" altLang="en-US" b="1" dirty="0">
                <a:solidFill>
                  <a:srgbClr val="A50021"/>
                </a:solidFill>
                <a:latin typeface="Times New Roman" pitchFamily="18" charset="0"/>
                <a:ea typeface="仿宋_GB2312" pitchFamily="49" charset="-122"/>
                <a:cs typeface="Times New Roman" pitchFamily="18" charset="0"/>
              </a:rPr>
              <a:t>个特征根比的平方根。</a:t>
            </a:r>
            <a:r>
              <a:rPr lang="zh-CN" altLang="en-US" b="1" dirty="0">
                <a:latin typeface="Times New Roman" pitchFamily="18" charset="0"/>
                <a:ea typeface="仿宋_GB2312" pitchFamily="49" charset="-122"/>
                <a:cs typeface="Times New Roman" pitchFamily="18" charset="0"/>
              </a:rPr>
              <a:t>通常，当条件指数在</a:t>
            </a:r>
            <a:r>
              <a:rPr lang="en-US" altLang="zh-CN" b="1" dirty="0">
                <a:latin typeface="Times New Roman" pitchFamily="18" charset="0"/>
                <a:ea typeface="仿宋_GB2312" pitchFamily="49" charset="-122"/>
                <a:cs typeface="Times New Roman" pitchFamily="18" charset="0"/>
              </a:rPr>
              <a:t>0-10</a:t>
            </a:r>
            <a:r>
              <a:rPr lang="zh-CN" altLang="en-US" b="1" dirty="0">
                <a:latin typeface="Times New Roman" pitchFamily="18" charset="0"/>
                <a:ea typeface="仿宋_GB2312" pitchFamily="49" charset="-122"/>
                <a:cs typeface="Times New Roman" pitchFamily="18" charset="0"/>
              </a:rPr>
              <a:t>之间时说明多重共线性较弱；当条件指数在</a:t>
            </a:r>
            <a:r>
              <a:rPr lang="en-US" altLang="zh-CN" b="1" dirty="0">
                <a:latin typeface="Times New Roman" pitchFamily="18" charset="0"/>
                <a:ea typeface="仿宋_GB2312" pitchFamily="49" charset="-122"/>
                <a:cs typeface="Times New Roman" pitchFamily="18" charset="0"/>
              </a:rPr>
              <a:t>10-100</a:t>
            </a:r>
            <a:r>
              <a:rPr lang="zh-CN" altLang="en-US" b="1" dirty="0">
                <a:latin typeface="Times New Roman" pitchFamily="18" charset="0"/>
                <a:ea typeface="仿宋_GB2312" pitchFamily="49" charset="-122"/>
                <a:cs typeface="Times New Roman" pitchFamily="18" charset="0"/>
              </a:rPr>
              <a:t>之间说明多重共线性较强；</a:t>
            </a:r>
            <a:r>
              <a:rPr lang="zh-CN" altLang="en-US" b="1" dirty="0">
                <a:solidFill>
                  <a:srgbClr val="A50021"/>
                </a:solidFill>
                <a:latin typeface="Times New Roman" pitchFamily="18" charset="0"/>
                <a:ea typeface="仿宋_GB2312" pitchFamily="49" charset="-122"/>
                <a:cs typeface="Times New Roman" pitchFamily="18" charset="0"/>
              </a:rPr>
              <a:t>当条件指数大于</a:t>
            </a:r>
            <a:r>
              <a:rPr lang="en-US" altLang="zh-CN" b="1" dirty="0">
                <a:solidFill>
                  <a:srgbClr val="A50021"/>
                </a:solidFill>
                <a:latin typeface="Times New Roman" pitchFamily="18" charset="0"/>
                <a:ea typeface="仿宋_GB2312" pitchFamily="49" charset="-122"/>
                <a:cs typeface="Times New Roman" pitchFamily="18" charset="0"/>
              </a:rPr>
              <a:t>100</a:t>
            </a:r>
            <a:r>
              <a:rPr lang="zh-CN" altLang="en-US" b="1" dirty="0">
                <a:solidFill>
                  <a:srgbClr val="A50021"/>
                </a:solidFill>
                <a:latin typeface="Times New Roman" pitchFamily="18" charset="0"/>
                <a:ea typeface="仿宋_GB2312" pitchFamily="49" charset="-122"/>
                <a:cs typeface="Times New Roman" pitchFamily="18" charset="0"/>
              </a:rPr>
              <a:t>时说明存在严重的多重共线性</a:t>
            </a:r>
            <a:r>
              <a:rPr lang="zh-CN" altLang="en-US" b="1" dirty="0">
                <a:latin typeface="Times New Roman" pitchFamily="18" charset="0"/>
                <a:ea typeface="仿宋_GB2312" pitchFamily="49" charset="-122"/>
                <a:cs typeface="Times New Roman" pitchFamily="18" charset="0"/>
              </a:rPr>
              <a:t>。</a:t>
            </a:r>
          </a:p>
          <a:p>
            <a:pPr>
              <a:lnSpc>
                <a:spcPct val="110000"/>
              </a:lnSpc>
              <a:buFontTx/>
              <a:buNone/>
            </a:pPr>
            <a:r>
              <a:rPr lang="zh-CN" altLang="en-US" b="1" dirty="0">
                <a:latin typeface="Times New Roman" pitchFamily="18" charset="0"/>
                <a:ea typeface="仿宋_GB2312" pitchFamily="49" charset="-122"/>
                <a:cs typeface="Times New Roman" pitchFamily="18" charset="0"/>
              </a:rPr>
              <a:t>        </a:t>
            </a:r>
          </a:p>
        </p:txBody>
      </p:sp>
      <p:graphicFrame>
        <p:nvGraphicFramePr>
          <p:cNvPr id="4" name="Object 2">
            <a:extLst>
              <a:ext uri="{FF2B5EF4-FFF2-40B4-BE49-F238E27FC236}">
                <a16:creationId xmlns:a16="http://schemas.microsoft.com/office/drawing/2014/main" id="{8953B8B1-BC39-AA28-7C64-AB54054D3573}"/>
              </a:ext>
            </a:extLst>
          </p:cNvPr>
          <p:cNvGraphicFramePr>
            <a:graphicFrameLocks noChangeAspect="1"/>
          </p:cNvGraphicFramePr>
          <p:nvPr>
            <p:extLst>
              <p:ext uri="{D42A27DB-BD31-4B8C-83A1-F6EECF244321}">
                <p14:modId xmlns:p14="http://schemas.microsoft.com/office/powerpoint/2010/main" val="226856478"/>
              </p:ext>
            </p:extLst>
          </p:nvPr>
        </p:nvGraphicFramePr>
        <p:xfrm>
          <a:off x="4506445" y="5454558"/>
          <a:ext cx="2116663" cy="909637"/>
        </p:xfrm>
        <a:graphic>
          <a:graphicData uri="http://schemas.openxmlformats.org/presentationml/2006/ole">
            <mc:AlternateContent xmlns:mc="http://schemas.openxmlformats.org/markup-compatibility/2006">
              <mc:Choice xmlns:v="urn:schemas-microsoft-com:vml" Requires="v">
                <p:oleObj name="公式" r:id="rId3" imgW="622080" imgH="482400" progId="Equation.3">
                  <p:embed/>
                </p:oleObj>
              </mc:Choice>
              <mc:Fallback>
                <p:oleObj name="公式" r:id="rId3" imgW="622080" imgH="482400" progId="Equation.3">
                  <p:embed/>
                  <p:pic>
                    <p:nvPicPr>
                      <p:cNvPr id="2355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6445" y="5454558"/>
                        <a:ext cx="2116663" cy="909637"/>
                      </a:xfrm>
                      <a:prstGeom prst="rect">
                        <a:avLst/>
                      </a:prstGeom>
                      <a:gradFill rotWithShape="1">
                        <a:gsLst>
                          <a:gs pos="0">
                            <a:schemeClr val="hlink"/>
                          </a:gs>
                          <a:gs pos="50000">
                            <a:schemeClr val="hlink">
                              <a:gamma/>
                              <a:tint val="0"/>
                              <a:invGamma/>
                            </a:schemeClr>
                          </a:gs>
                          <a:gs pos="100000">
                            <a:schemeClr val="hlink"/>
                          </a:gs>
                        </a:gsLst>
                        <a:lin ang="5400000" scaled="1"/>
                      </a:gradFill>
                      <a:ln>
                        <a:noFill/>
                      </a:ln>
                      <a:effectLst/>
                    </p:spPr>
                  </p:pic>
                </p:oleObj>
              </mc:Fallback>
            </mc:AlternateContent>
          </a:graphicData>
        </a:graphic>
      </p:graphicFrame>
    </p:spTree>
    <p:extLst>
      <p:ext uri="{BB962C8B-B14F-4D97-AF65-F5344CB8AC3E}">
        <p14:creationId xmlns:p14="http://schemas.microsoft.com/office/powerpoint/2010/main" val="259673300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87E5F-7CA3-D3E7-6285-4486333C861B}"/>
            </a:ext>
          </a:extLst>
        </p:cNvPr>
        <p:cNvGrpSpPr/>
        <p:nvPr/>
      </p:nvGrpSpPr>
      <p:grpSpPr>
        <a:xfrm>
          <a:off x="0" y="0"/>
          <a:ext cx="0" cy="0"/>
          <a:chOff x="0" y="0"/>
          <a:chExt cx="0" cy="0"/>
        </a:xfrm>
      </p:grpSpPr>
      <p:sp>
        <p:nvSpPr>
          <p:cNvPr id="23" name="Text Box 7">
            <a:extLst>
              <a:ext uri="{FF2B5EF4-FFF2-40B4-BE49-F238E27FC236}">
                <a16:creationId xmlns:a16="http://schemas.microsoft.com/office/drawing/2014/main" id="{81E683D1-927C-B227-2214-B7DBBFAD572D}"/>
              </a:ext>
            </a:extLst>
          </p:cNvPr>
          <p:cNvSpPr txBox="1">
            <a:spLocks noChangeArrowheads="1"/>
          </p:cNvSpPr>
          <p:nvPr/>
        </p:nvSpPr>
        <p:spPr bwMode="auto">
          <a:xfrm>
            <a:off x="3489906" y="2685882"/>
            <a:ext cx="62927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defPPr>
              <a:defRPr lang="zh-CN"/>
            </a:defPPr>
            <a:lvl1pPr algn="ctr">
              <a:buClr>
                <a:srgbClr val="002060"/>
              </a:buClr>
              <a:buSzPct val="105000"/>
              <a:defRPr sz="4400" b="1">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defRPr>
            </a:lvl1pPr>
            <a:lvl2pPr marL="742950" indent="-285750" eaLnBrk="0" hangingPunct="0">
              <a:defRPr sz="2400">
                <a:latin typeface="Arial" panose="020B0604020202020204" pitchFamily="34" charset="0"/>
                <a:ea typeface="宋体" panose="02010600030101010101" pitchFamily="2" charset="-122"/>
              </a:defRPr>
            </a:lvl2pPr>
            <a:lvl3pPr marL="1143000" indent="-228600" eaLnBrk="0" hangingPunct="0">
              <a:defRPr sz="2400">
                <a:latin typeface="Arial" panose="020B0604020202020204" pitchFamily="34" charset="0"/>
                <a:ea typeface="宋体" panose="02010600030101010101" pitchFamily="2" charset="-122"/>
              </a:defRPr>
            </a:lvl3pPr>
            <a:lvl4pPr marL="1600200" indent="-228600" eaLnBrk="0" hangingPunct="0">
              <a:defRPr sz="2400">
                <a:latin typeface="Arial" panose="020B0604020202020204" pitchFamily="34" charset="0"/>
                <a:ea typeface="宋体" panose="02010600030101010101" pitchFamily="2" charset="-122"/>
              </a:defRPr>
            </a:lvl4pPr>
            <a:lvl5pPr marL="2057400" indent="-228600" eaLnBrk="0" hangingPunct="0">
              <a:defRPr sz="2400">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
                <a:srgbClr val="002060"/>
              </a:buClr>
              <a:buSzPct val="105000"/>
              <a:buFontTx/>
              <a:buNone/>
              <a:tabLst/>
              <a:defRPr/>
            </a:pPr>
            <a:r>
              <a:rPr lang="zh-CN" altLang="en-US" sz="4000" dirty="0">
                <a:solidFill>
                  <a:srgbClr val="0084CF"/>
                </a:solidFill>
              </a:rPr>
              <a:t>认识多重共线性</a:t>
            </a:r>
          </a:p>
        </p:txBody>
      </p:sp>
      <p:sp>
        <p:nvSpPr>
          <p:cNvPr id="26" name="矩形 33">
            <a:extLst>
              <a:ext uri="{FF2B5EF4-FFF2-40B4-BE49-F238E27FC236}">
                <a16:creationId xmlns:a16="http://schemas.microsoft.com/office/drawing/2014/main" id="{0E98CE61-F311-CB5D-0BA3-B396D63C468B}"/>
              </a:ext>
            </a:extLst>
          </p:cNvPr>
          <p:cNvSpPr/>
          <p:nvPr/>
        </p:nvSpPr>
        <p:spPr>
          <a:xfrm>
            <a:off x="2306212" y="2524452"/>
            <a:ext cx="997725" cy="938442"/>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7" name="矩形 34">
            <a:extLst>
              <a:ext uri="{FF2B5EF4-FFF2-40B4-BE49-F238E27FC236}">
                <a16:creationId xmlns:a16="http://schemas.microsoft.com/office/drawing/2014/main" id="{AAFBD9FF-F925-26A4-71EE-ECFDA54F84FD}"/>
              </a:ext>
            </a:extLst>
          </p:cNvPr>
          <p:cNvSpPr/>
          <p:nvPr/>
        </p:nvSpPr>
        <p:spPr>
          <a:xfrm>
            <a:off x="2396223" y="2609115"/>
            <a:ext cx="817703" cy="76911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rPr>
              <a:t>01</a:t>
            </a:r>
            <a:endParaRPr lang="zh-CN" altLang="en-US" sz="3600" dirty="0">
              <a:solidFill>
                <a:prstClr val="white"/>
              </a:solidFill>
              <a:latin typeface="Impact" panose="020B0806030902050204" pitchFamily="34" charset="0"/>
              <a:ea typeface="等线" panose="02010600030101010101" pitchFamily="2" charset="-122"/>
            </a:endParaRPr>
          </a:p>
        </p:txBody>
      </p:sp>
      <p:cxnSp>
        <p:nvCxnSpPr>
          <p:cNvPr id="25" name="直接连接符 5">
            <a:extLst>
              <a:ext uri="{FF2B5EF4-FFF2-40B4-BE49-F238E27FC236}">
                <a16:creationId xmlns:a16="http://schemas.microsoft.com/office/drawing/2014/main" id="{395583FC-424C-5068-4AC5-4E86EEAC1232}"/>
              </a:ext>
            </a:extLst>
          </p:cNvPr>
          <p:cNvCxnSpPr>
            <a:stCxn id="26" idx="2"/>
          </p:cNvCxnSpPr>
          <p:nvPr/>
        </p:nvCxnSpPr>
        <p:spPr>
          <a:xfrm>
            <a:off x="2805074" y="3462894"/>
            <a:ext cx="7080714"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19" name="Text Box 7">
            <a:extLst>
              <a:ext uri="{FF2B5EF4-FFF2-40B4-BE49-F238E27FC236}">
                <a16:creationId xmlns:a16="http://schemas.microsoft.com/office/drawing/2014/main" id="{3980DB06-64BB-6560-76CE-E2E850EA16C5}"/>
              </a:ext>
            </a:extLst>
          </p:cNvPr>
          <p:cNvSpPr txBox="1">
            <a:spLocks noChangeArrowheads="1"/>
          </p:cNvSpPr>
          <p:nvPr/>
        </p:nvSpPr>
        <p:spPr bwMode="auto">
          <a:xfrm>
            <a:off x="3489906" y="3828975"/>
            <a:ext cx="6292749"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Clr>
                <a:srgbClr val="002060"/>
              </a:buClr>
              <a:buSzPct val="105000"/>
              <a:defRPr/>
            </a:pPr>
            <a:r>
              <a:rPr lang="zh-CN" altLang="en-US" sz="4000" b="1" dirty="0">
                <a:solidFill>
                  <a:srgbClr val="0084CF"/>
                </a:solidFill>
                <a:latin typeface="微软雅黑" panose="020B0503020204020204" pitchFamily="34" charset="-122"/>
                <a:ea typeface="微软雅黑" panose="020B0503020204020204" pitchFamily="34" charset="-122"/>
              </a:rPr>
              <a:t>多重共线性的诊断</a:t>
            </a:r>
          </a:p>
        </p:txBody>
      </p:sp>
      <p:sp>
        <p:nvSpPr>
          <p:cNvPr id="21" name="矩形 29">
            <a:extLst>
              <a:ext uri="{FF2B5EF4-FFF2-40B4-BE49-F238E27FC236}">
                <a16:creationId xmlns:a16="http://schemas.microsoft.com/office/drawing/2014/main" id="{0C737DC2-4260-92DB-D5DF-E682B44E2668}"/>
              </a:ext>
            </a:extLst>
          </p:cNvPr>
          <p:cNvSpPr/>
          <p:nvPr/>
        </p:nvSpPr>
        <p:spPr>
          <a:xfrm>
            <a:off x="2306212" y="3667426"/>
            <a:ext cx="997725" cy="938442"/>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2" name="矩形 30">
            <a:extLst>
              <a:ext uri="{FF2B5EF4-FFF2-40B4-BE49-F238E27FC236}">
                <a16:creationId xmlns:a16="http://schemas.microsoft.com/office/drawing/2014/main" id="{8CC2CC53-415E-698E-8033-06F8C0456E2B}"/>
              </a:ext>
            </a:extLst>
          </p:cNvPr>
          <p:cNvSpPr/>
          <p:nvPr/>
        </p:nvSpPr>
        <p:spPr>
          <a:xfrm>
            <a:off x="2396223" y="3752089"/>
            <a:ext cx="817703" cy="769116"/>
          </a:xfrm>
          <a:prstGeom prst="rect">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pitchFamily="2" charset="-122"/>
              </a:rPr>
              <a:t>02</a:t>
            </a:r>
            <a:endParaRPr lang="zh-CN" altLang="en-US" sz="3600" dirty="0">
              <a:solidFill>
                <a:prstClr val="white"/>
              </a:solidFill>
              <a:latin typeface="Impact" panose="020B0806030902050204" pitchFamily="34" charset="0"/>
              <a:ea typeface="等线" panose="02010600030101010101" pitchFamily="2" charset="-122"/>
            </a:endParaRPr>
          </a:p>
        </p:txBody>
      </p:sp>
      <p:cxnSp>
        <p:nvCxnSpPr>
          <p:cNvPr id="18" name="直接连接符 43">
            <a:extLst>
              <a:ext uri="{FF2B5EF4-FFF2-40B4-BE49-F238E27FC236}">
                <a16:creationId xmlns:a16="http://schemas.microsoft.com/office/drawing/2014/main" id="{D43328AA-FCCC-4EAA-E24A-9E059D1D6D2C}"/>
              </a:ext>
            </a:extLst>
          </p:cNvPr>
          <p:cNvCxnSpPr>
            <a:stCxn id="21" idx="2"/>
          </p:cNvCxnSpPr>
          <p:nvPr/>
        </p:nvCxnSpPr>
        <p:spPr>
          <a:xfrm>
            <a:off x="2805074" y="4605868"/>
            <a:ext cx="7080714"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13" name="Text Box 7">
            <a:extLst>
              <a:ext uri="{FF2B5EF4-FFF2-40B4-BE49-F238E27FC236}">
                <a16:creationId xmlns:a16="http://schemas.microsoft.com/office/drawing/2014/main" id="{352AA692-0DB2-11D9-0C13-636EEFA75332}"/>
              </a:ext>
            </a:extLst>
          </p:cNvPr>
          <p:cNvSpPr txBox="1">
            <a:spLocks noChangeArrowheads="1"/>
          </p:cNvSpPr>
          <p:nvPr/>
        </p:nvSpPr>
        <p:spPr bwMode="auto">
          <a:xfrm>
            <a:off x="3489906" y="4971830"/>
            <a:ext cx="62927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buClr>
                <a:srgbClr val="002060"/>
              </a:buClr>
              <a:buSzPct val="105000"/>
              <a:defRPr/>
            </a:pPr>
            <a:r>
              <a:rPr lang="zh-CN" altLang="en-US" sz="4000" b="1" dirty="0">
                <a:gradFill>
                  <a:gsLst>
                    <a:gs pos="417">
                      <a:srgbClr val="FFC000"/>
                    </a:gs>
                    <a:gs pos="77000">
                      <a:srgbClr val="C00000"/>
                    </a:gs>
                  </a:gsLst>
                  <a:lin ang="5400000" scaled="0"/>
                </a:gradFill>
                <a:latin typeface="微软雅黑" panose="020B0503020204020204" pitchFamily="34" charset="-122"/>
                <a:ea typeface="微软雅黑" panose="020B0503020204020204" pitchFamily="34" charset="-122"/>
              </a:rPr>
              <a:t>多重共线性的解决方案</a:t>
            </a:r>
          </a:p>
        </p:txBody>
      </p:sp>
      <p:sp>
        <p:nvSpPr>
          <p:cNvPr id="15" name="矩形 41">
            <a:extLst>
              <a:ext uri="{FF2B5EF4-FFF2-40B4-BE49-F238E27FC236}">
                <a16:creationId xmlns:a16="http://schemas.microsoft.com/office/drawing/2014/main" id="{DC515CF7-A1F0-1F8A-E8CE-6F44A9A96942}"/>
              </a:ext>
            </a:extLst>
          </p:cNvPr>
          <p:cNvSpPr/>
          <p:nvPr/>
        </p:nvSpPr>
        <p:spPr>
          <a:xfrm>
            <a:off x="2306212" y="4810400"/>
            <a:ext cx="997725" cy="938442"/>
          </a:xfrm>
          <a:prstGeom prst="rect">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sng"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6" name="矩形 42">
            <a:extLst>
              <a:ext uri="{FF2B5EF4-FFF2-40B4-BE49-F238E27FC236}">
                <a16:creationId xmlns:a16="http://schemas.microsoft.com/office/drawing/2014/main" id="{F43A5249-4ED5-F0D7-5FB2-A4E91124A634}"/>
              </a:ext>
            </a:extLst>
          </p:cNvPr>
          <p:cNvSpPr/>
          <p:nvPr/>
        </p:nvSpPr>
        <p:spPr>
          <a:xfrm>
            <a:off x="2396223" y="4895063"/>
            <a:ext cx="817703" cy="769116"/>
          </a:xfrm>
          <a:prstGeom prst="rect">
            <a:avLst/>
          </a:prstGeom>
          <a:gradFill>
            <a:gsLst>
              <a:gs pos="417">
                <a:srgbClr val="FFC000"/>
              </a:gs>
              <a:gs pos="99000">
                <a:srgbClr val="C00000"/>
              </a:gs>
            </a:gsLst>
            <a:lin ang="2700000" scaled="0"/>
          </a:gradFill>
          <a:ln w="1270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prstClr val="white"/>
                </a:solidFill>
                <a:latin typeface="Impact" panose="020B0806030902050204" pitchFamily="34" charset="0"/>
                <a:ea typeface="等线" panose="02010600030101010101" pitchFamily="2" charset="-122"/>
              </a:rPr>
              <a:t>03</a:t>
            </a:r>
            <a:endParaRPr lang="zh-CN" altLang="en-US" sz="3600" dirty="0">
              <a:solidFill>
                <a:prstClr val="white"/>
              </a:solidFill>
              <a:latin typeface="Impact" panose="020B0806030902050204" pitchFamily="34" charset="0"/>
              <a:ea typeface="等线" panose="02010600030101010101" pitchFamily="2" charset="-122"/>
            </a:endParaRPr>
          </a:p>
        </p:txBody>
      </p:sp>
      <p:cxnSp>
        <p:nvCxnSpPr>
          <p:cNvPr id="12" name="直接连接符 45">
            <a:extLst>
              <a:ext uri="{FF2B5EF4-FFF2-40B4-BE49-F238E27FC236}">
                <a16:creationId xmlns:a16="http://schemas.microsoft.com/office/drawing/2014/main" id="{F77FFC87-4252-04B7-C59B-09085CEE5835}"/>
              </a:ext>
            </a:extLst>
          </p:cNvPr>
          <p:cNvCxnSpPr>
            <a:stCxn id="15" idx="2"/>
          </p:cNvCxnSpPr>
          <p:nvPr/>
        </p:nvCxnSpPr>
        <p:spPr>
          <a:xfrm>
            <a:off x="2805074" y="5748842"/>
            <a:ext cx="7080714" cy="0"/>
          </a:xfrm>
          <a:prstGeom prst="line">
            <a:avLst/>
          </a:prstGeom>
          <a:noFill/>
          <a:ln w="12700">
            <a:solidFill>
              <a:srgbClr val="0084CF"/>
            </a:solidFill>
            <a:prstDash val="sysDash"/>
          </a:ln>
        </p:spPr>
        <p:style>
          <a:lnRef idx="2">
            <a:schemeClr val="accent1">
              <a:shade val="50000"/>
            </a:schemeClr>
          </a:lnRef>
          <a:fillRef idx="1">
            <a:schemeClr val="accent1"/>
          </a:fillRef>
          <a:effectRef idx="0">
            <a:schemeClr val="accent1"/>
          </a:effectRef>
          <a:fontRef idx="minor">
            <a:schemeClr val="lt1"/>
          </a:fontRef>
        </p:style>
      </p:cxnSp>
      <p:sp>
        <p:nvSpPr>
          <p:cNvPr id="9" name="Title 1">
            <a:extLst>
              <a:ext uri="{FF2B5EF4-FFF2-40B4-BE49-F238E27FC236}">
                <a16:creationId xmlns:a16="http://schemas.microsoft.com/office/drawing/2014/main" id="{7F754EA5-20C3-2C34-FB8C-583E390E240C}"/>
              </a:ext>
            </a:extLst>
          </p:cNvPr>
          <p:cNvSpPr txBox="1">
            <a:spLocks/>
          </p:cNvSpPr>
          <p:nvPr/>
        </p:nvSpPr>
        <p:spPr>
          <a:xfrm>
            <a:off x="1371600" y="565393"/>
            <a:ext cx="9448800" cy="133989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r>
              <a:rPr lang="zh-CN" altLang="en-US" b="0" dirty="0">
                <a:solidFill>
                  <a:srgbClr val="FD5C0C"/>
                </a:solidFill>
                <a:effectLst/>
                <a:latin typeface="华光综艺_CNKI" panose="02000500000000000000" pitchFamily="2" charset="-122"/>
                <a:ea typeface="华光综艺_CNKI" panose="02000500000000000000" pitchFamily="2" charset="-122"/>
              </a:rPr>
              <a:t>汇报提纲</a:t>
            </a:r>
            <a:endParaRPr lang="en-US" b="0" dirty="0">
              <a:solidFill>
                <a:schemeClr val="bg1"/>
              </a:solidFill>
              <a:effectLst/>
              <a:latin typeface="华光综艺_CNKI" panose="02000500000000000000" pitchFamily="2" charset="-122"/>
              <a:ea typeface="华光综艺_CNKI" panose="02000500000000000000" pitchFamily="2" charset="-122"/>
            </a:endParaRPr>
          </a:p>
        </p:txBody>
      </p:sp>
      <p:pic>
        <p:nvPicPr>
          <p:cNvPr id="3" name="Picture 2" descr="A logo with dots and lines&#10;&#10;Description automatically generated">
            <a:extLst>
              <a:ext uri="{FF2B5EF4-FFF2-40B4-BE49-F238E27FC236}">
                <a16:creationId xmlns:a16="http://schemas.microsoft.com/office/drawing/2014/main" id="{46674E1D-5945-DB46-FD20-90BE662AD4F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808" r="8389" b="36069"/>
          <a:stretch/>
        </p:blipFill>
        <p:spPr>
          <a:xfrm>
            <a:off x="11471423" y="93711"/>
            <a:ext cx="588328" cy="453368"/>
          </a:xfrm>
          <a:prstGeom prst="rect">
            <a:avLst/>
          </a:prstGeom>
        </p:spPr>
      </p:pic>
    </p:spTree>
    <p:extLst>
      <p:ext uri="{BB962C8B-B14F-4D97-AF65-F5344CB8AC3E}">
        <p14:creationId xmlns:p14="http://schemas.microsoft.com/office/powerpoint/2010/main" val="26558878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D8242-E6A0-5957-F661-CFF17A3FFD45}"/>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2C23B4D9-E9B6-F006-8362-90EFCC80936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多重共线性的解决方案</a:t>
            </a:r>
          </a:p>
        </p:txBody>
      </p:sp>
      <p:sp>
        <p:nvSpPr>
          <p:cNvPr id="2" name="TextBox 7">
            <a:extLst>
              <a:ext uri="{FF2B5EF4-FFF2-40B4-BE49-F238E27FC236}">
                <a16:creationId xmlns:a16="http://schemas.microsoft.com/office/drawing/2014/main" id="{26D1B129-1F2E-C096-5F40-2659F19AD45D}"/>
              </a:ext>
            </a:extLst>
          </p:cNvPr>
          <p:cNvSpPr txBox="1"/>
          <p:nvPr/>
        </p:nvSpPr>
        <p:spPr>
          <a:xfrm>
            <a:off x="495981" y="1260996"/>
            <a:ext cx="11571627"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多重共线性的解决方案</a:t>
            </a:r>
            <a:endParaRPr lang="zh-CN" altLang="en-US" dirty="0">
              <a:solidFill>
                <a:schemeClr val="tx1"/>
              </a:solidFill>
            </a:endParaRPr>
          </a:p>
        </p:txBody>
      </p:sp>
      <p:sp>
        <p:nvSpPr>
          <p:cNvPr id="4" name="TextBox 7">
            <a:extLst>
              <a:ext uri="{FF2B5EF4-FFF2-40B4-BE49-F238E27FC236}">
                <a16:creationId xmlns:a16="http://schemas.microsoft.com/office/drawing/2014/main" id="{4A868BE1-0610-31A6-8685-305B8DC25459}"/>
              </a:ext>
            </a:extLst>
          </p:cNvPr>
          <p:cNvSpPr txBox="1"/>
          <p:nvPr/>
        </p:nvSpPr>
        <p:spPr>
          <a:xfrm>
            <a:off x="995423" y="2524818"/>
            <a:ext cx="10868196" cy="2677656"/>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pPr marL="457200" indent="-457200">
              <a:buFont typeface="Wingdings" panose="05000000000000000000" pitchFamily="2" charset="2"/>
              <a:buChar char="n"/>
            </a:pPr>
            <a:r>
              <a:rPr lang="zh-CN" altLang="en-US" sz="2800" dirty="0">
                <a:solidFill>
                  <a:srgbClr val="0066FF"/>
                </a:solidFill>
              </a:rPr>
              <a:t>剔除引起多重共线性的变量</a:t>
            </a:r>
            <a:r>
              <a:rPr lang="zh-CN" altLang="en-US" sz="2800" dirty="0">
                <a:solidFill>
                  <a:schemeClr val="tx1"/>
                </a:solidFill>
              </a:rPr>
              <a:t>，比如：向前选择、向后剔除和逐步回归方法</a:t>
            </a:r>
            <a:endParaRPr lang="en-US" altLang="zh-CN" sz="2800" dirty="0">
              <a:solidFill>
                <a:schemeClr val="tx1"/>
              </a:solidFill>
            </a:endParaRPr>
          </a:p>
          <a:p>
            <a:endParaRPr lang="en-US" altLang="zh-CN" sz="2800" dirty="0">
              <a:solidFill>
                <a:schemeClr val="tx1"/>
              </a:solidFill>
            </a:endParaRPr>
          </a:p>
          <a:p>
            <a:pPr marL="457200" indent="-457200">
              <a:buFont typeface="Wingdings" panose="05000000000000000000" pitchFamily="2" charset="2"/>
              <a:buChar char="n"/>
            </a:pPr>
            <a:r>
              <a:rPr lang="zh-CN" altLang="en-US" sz="2800" dirty="0">
                <a:solidFill>
                  <a:srgbClr val="0066FF"/>
                </a:solidFill>
              </a:rPr>
              <a:t>减小参数估计值的方差</a:t>
            </a:r>
            <a:r>
              <a:rPr lang="zh-CN" altLang="en-US" sz="2800" dirty="0">
                <a:solidFill>
                  <a:schemeClr val="tx1"/>
                </a:solidFill>
              </a:rPr>
              <a:t>，可采用增大样本容量、岭回归等方法</a:t>
            </a:r>
            <a:endParaRPr lang="en-US" altLang="zh-CN" sz="2800" dirty="0">
              <a:solidFill>
                <a:schemeClr val="tx1"/>
              </a:solidFill>
            </a:endParaRPr>
          </a:p>
          <a:p>
            <a:pPr marL="457200" indent="-457200">
              <a:buFont typeface="Wingdings" panose="05000000000000000000" pitchFamily="2" charset="2"/>
              <a:buChar char="n"/>
            </a:pPr>
            <a:endParaRPr lang="en-US" altLang="zh-CN" sz="2800" dirty="0">
              <a:solidFill>
                <a:schemeClr val="tx1"/>
              </a:solidFill>
            </a:endParaRPr>
          </a:p>
          <a:p>
            <a:pPr marL="457200" indent="-457200">
              <a:buFont typeface="Wingdings" panose="05000000000000000000" pitchFamily="2" charset="2"/>
              <a:buChar char="n"/>
            </a:pPr>
            <a:r>
              <a:rPr lang="zh-CN" altLang="en-US" sz="2800" dirty="0">
                <a:solidFill>
                  <a:srgbClr val="0066FF"/>
                </a:solidFill>
              </a:rPr>
              <a:t>其他方法：</a:t>
            </a:r>
            <a:r>
              <a:rPr lang="zh-CN" altLang="en-US" sz="2800" dirty="0">
                <a:solidFill>
                  <a:schemeClr val="tx1"/>
                </a:solidFill>
              </a:rPr>
              <a:t>主成分分析法、偏最小二乘法</a:t>
            </a:r>
          </a:p>
        </p:txBody>
      </p:sp>
    </p:spTree>
    <p:extLst>
      <p:ext uri="{BB962C8B-B14F-4D97-AF65-F5344CB8AC3E}">
        <p14:creationId xmlns:p14="http://schemas.microsoft.com/office/powerpoint/2010/main" val="376422920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2420A-385B-9382-6E05-94EFEA9E4E52}"/>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0206D98-62C7-76EA-4472-4B48EEE8FEC1}"/>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多重共线性的解决方案</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1" name="Rectangle 14">
            <a:extLst>
              <a:ext uri="{FF2B5EF4-FFF2-40B4-BE49-F238E27FC236}">
                <a16:creationId xmlns:a16="http://schemas.microsoft.com/office/drawing/2014/main" id="{612C78BE-7B33-FCED-4B6E-90868D512900}"/>
              </a:ext>
            </a:extLst>
          </p:cNvPr>
          <p:cNvSpPr>
            <a:spLocks noChangeArrowheads="1"/>
          </p:cNvSpPr>
          <p:nvPr/>
        </p:nvSpPr>
        <p:spPr bwMode="auto">
          <a:xfrm>
            <a:off x="650699" y="23859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15">
            <a:extLst>
              <a:ext uri="{FF2B5EF4-FFF2-40B4-BE49-F238E27FC236}">
                <a16:creationId xmlns:a16="http://schemas.microsoft.com/office/drawing/2014/main" id="{7A211830-AEF8-71B4-2598-99DE09F59418}"/>
              </a:ext>
            </a:extLst>
          </p:cNvPr>
          <p:cNvSpPr>
            <a:spLocks noChangeArrowheads="1"/>
          </p:cNvSpPr>
          <p:nvPr/>
        </p:nvSpPr>
        <p:spPr bwMode="auto">
          <a:xfrm>
            <a:off x="650699" y="26081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6" name="Rectangle 18">
            <a:extLst>
              <a:ext uri="{FF2B5EF4-FFF2-40B4-BE49-F238E27FC236}">
                <a16:creationId xmlns:a16="http://schemas.microsoft.com/office/drawing/2014/main" id="{76C466BA-11E5-2E0E-4281-1689C1B3710F}"/>
              </a:ext>
            </a:extLst>
          </p:cNvPr>
          <p:cNvSpPr>
            <a:spLocks noChangeArrowheads="1"/>
          </p:cNvSpPr>
          <p:nvPr/>
        </p:nvSpPr>
        <p:spPr bwMode="auto">
          <a:xfrm>
            <a:off x="650699" y="33130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8" name="内容占位符 4">
            <a:extLst>
              <a:ext uri="{FF2B5EF4-FFF2-40B4-BE49-F238E27FC236}">
                <a16:creationId xmlns:a16="http://schemas.microsoft.com/office/drawing/2014/main" id="{BAA9E151-F8FB-D6F3-A2D8-9CFC65ECC189}"/>
              </a:ext>
            </a:extLst>
          </p:cNvPr>
          <p:cNvSpPr txBox="1">
            <a:spLocks/>
          </p:cNvSpPr>
          <p:nvPr/>
        </p:nvSpPr>
        <p:spPr>
          <a:xfrm>
            <a:off x="690621" y="3313031"/>
            <a:ext cx="10850680" cy="3097602"/>
          </a:xfrm>
          <a:prstGeom prst="rect">
            <a:avLst/>
          </a:prstGeom>
        </p:spPr>
        <p:txBody>
          <a:bodyPr vert="horz" lIns="91440" tIns="45720" rIns="91440" bIns="45720" rtlCol="0">
            <a:normAutofit lnSpcReduction="10000"/>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defRPr/>
            </a:pPr>
            <a:r>
              <a:rPr lang="zh-CN" altLang="en-US" dirty="0">
                <a:solidFill>
                  <a:srgbClr val="C00000"/>
                </a:solidFill>
              </a:rPr>
              <a:t>向前选择（ </a:t>
            </a:r>
            <a:r>
              <a:rPr lang="en-US" altLang="zh-CN" dirty="0">
                <a:solidFill>
                  <a:srgbClr val="C00000"/>
                </a:solidFill>
              </a:rPr>
              <a:t>Forward </a:t>
            </a:r>
            <a:r>
              <a:rPr lang="zh-CN" altLang="en-US" dirty="0">
                <a:solidFill>
                  <a:srgbClr val="C00000"/>
                </a:solidFill>
              </a:rPr>
              <a:t>）策略</a:t>
            </a:r>
            <a:r>
              <a:rPr lang="zh-CN" altLang="en-US" dirty="0"/>
              <a:t>：解释变量不断进入回归方程的过程。首先，选择与被解释变量具有最高线性相关系数的变量进入方程，并进行回归方程的各种检验；然后，在剩余的变量中寻找与被解释变量偏相关系数最高且通过检验的变量进入回归方程，并对新建立的回归方程进行各种检验；这个过程一直重复，直到再也没有可进入方程的变量为止。</a:t>
            </a:r>
          </a:p>
          <a:p>
            <a:pPr marL="0" lvl="0" indent="0">
              <a:buNone/>
              <a:defRPr/>
            </a:pPr>
            <a:endParaRPr lang="en-US" altLang="zh-CN" dirty="0"/>
          </a:p>
        </p:txBody>
      </p:sp>
      <p:sp>
        <p:nvSpPr>
          <p:cNvPr id="4" name="TextBox 7">
            <a:extLst>
              <a:ext uri="{FF2B5EF4-FFF2-40B4-BE49-F238E27FC236}">
                <a16:creationId xmlns:a16="http://schemas.microsoft.com/office/drawing/2014/main" id="{CFFDDCFB-CB20-DF7C-BB7D-3CC4AFC3FB77}"/>
              </a:ext>
            </a:extLst>
          </p:cNvPr>
          <p:cNvSpPr txBox="1"/>
          <p:nvPr/>
        </p:nvSpPr>
        <p:spPr>
          <a:xfrm>
            <a:off x="495981" y="1260996"/>
            <a:ext cx="11571627"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剔除引起多重共线性的变量</a:t>
            </a:r>
            <a:endParaRPr lang="zh-CN" altLang="en-US" dirty="0">
              <a:solidFill>
                <a:schemeClr val="tx1"/>
              </a:solidFill>
            </a:endParaRPr>
          </a:p>
        </p:txBody>
      </p:sp>
      <p:sp>
        <p:nvSpPr>
          <p:cNvPr id="5" name="TextBox 7">
            <a:extLst>
              <a:ext uri="{FF2B5EF4-FFF2-40B4-BE49-F238E27FC236}">
                <a16:creationId xmlns:a16="http://schemas.microsoft.com/office/drawing/2014/main" id="{EBCFEEAC-EF8E-072B-0706-847459ABDD6A}"/>
              </a:ext>
            </a:extLst>
          </p:cNvPr>
          <p:cNvSpPr txBox="1"/>
          <p:nvPr/>
        </p:nvSpPr>
        <p:spPr>
          <a:xfrm>
            <a:off x="690621" y="2131127"/>
            <a:ext cx="10868196" cy="954107"/>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pPr marL="457200" indent="-457200">
              <a:buFont typeface="Wingdings" panose="05000000000000000000" pitchFamily="2" charset="2"/>
              <a:buChar char="n"/>
            </a:pPr>
            <a:r>
              <a:rPr lang="zh-CN" altLang="en-US" sz="2800" dirty="0">
                <a:solidFill>
                  <a:srgbClr val="0066FF"/>
                </a:solidFill>
              </a:rPr>
              <a:t>剔除引起多重共线性的变量</a:t>
            </a:r>
            <a:r>
              <a:rPr lang="zh-CN" altLang="en-US" sz="2800" dirty="0">
                <a:solidFill>
                  <a:schemeClr val="tx1"/>
                </a:solidFill>
              </a:rPr>
              <a:t>，比如：向前选择、向后剔除和逐步回归方法</a:t>
            </a:r>
            <a:endParaRPr lang="en-US" altLang="zh-CN" sz="2800" dirty="0">
              <a:solidFill>
                <a:schemeClr val="tx1"/>
              </a:solidFill>
            </a:endParaRPr>
          </a:p>
        </p:txBody>
      </p:sp>
    </p:spTree>
    <p:extLst>
      <p:ext uri="{BB962C8B-B14F-4D97-AF65-F5344CB8AC3E}">
        <p14:creationId xmlns:p14="http://schemas.microsoft.com/office/powerpoint/2010/main" val="73686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BC39D-7C5A-D5EB-5AE5-E7409F710A90}"/>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AAEBC6D7-64DA-9590-2C3C-91E82E2BF080}"/>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多重共线性的解决方案</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1" name="Rectangle 14">
            <a:extLst>
              <a:ext uri="{FF2B5EF4-FFF2-40B4-BE49-F238E27FC236}">
                <a16:creationId xmlns:a16="http://schemas.microsoft.com/office/drawing/2014/main" id="{93F35AC3-94D7-A970-7F90-974530BF33F4}"/>
              </a:ext>
            </a:extLst>
          </p:cNvPr>
          <p:cNvSpPr>
            <a:spLocks noChangeArrowheads="1"/>
          </p:cNvSpPr>
          <p:nvPr/>
        </p:nvSpPr>
        <p:spPr bwMode="auto">
          <a:xfrm>
            <a:off x="650699" y="23859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15">
            <a:extLst>
              <a:ext uri="{FF2B5EF4-FFF2-40B4-BE49-F238E27FC236}">
                <a16:creationId xmlns:a16="http://schemas.microsoft.com/office/drawing/2014/main" id="{97E8C747-E4D5-F12A-4F45-79D9D220AF88}"/>
              </a:ext>
            </a:extLst>
          </p:cNvPr>
          <p:cNvSpPr>
            <a:spLocks noChangeArrowheads="1"/>
          </p:cNvSpPr>
          <p:nvPr/>
        </p:nvSpPr>
        <p:spPr bwMode="auto">
          <a:xfrm>
            <a:off x="650699" y="26081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6" name="Rectangle 18">
            <a:extLst>
              <a:ext uri="{FF2B5EF4-FFF2-40B4-BE49-F238E27FC236}">
                <a16:creationId xmlns:a16="http://schemas.microsoft.com/office/drawing/2014/main" id="{6FDB2517-5087-A119-572E-FCCBEA2CE206}"/>
              </a:ext>
            </a:extLst>
          </p:cNvPr>
          <p:cNvSpPr>
            <a:spLocks noChangeArrowheads="1"/>
          </p:cNvSpPr>
          <p:nvPr/>
        </p:nvSpPr>
        <p:spPr bwMode="auto">
          <a:xfrm>
            <a:off x="650699" y="33130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 name="内容占位符 4">
            <a:extLst>
              <a:ext uri="{FF2B5EF4-FFF2-40B4-BE49-F238E27FC236}">
                <a16:creationId xmlns:a16="http://schemas.microsoft.com/office/drawing/2014/main" id="{E5821C49-ED2B-615E-56AD-6047527A7960}"/>
              </a:ext>
            </a:extLst>
          </p:cNvPr>
          <p:cNvSpPr txBox="1">
            <a:spLocks/>
          </p:cNvSpPr>
          <p:nvPr/>
        </p:nvSpPr>
        <p:spPr>
          <a:xfrm>
            <a:off x="769098" y="2162769"/>
            <a:ext cx="10470538" cy="444703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defRPr/>
            </a:pPr>
            <a:r>
              <a:rPr lang="zh-CN" altLang="en-US" dirty="0">
                <a:solidFill>
                  <a:srgbClr val="C00000"/>
                </a:solidFill>
              </a:rPr>
              <a:t>向后剔除（ </a:t>
            </a:r>
            <a:r>
              <a:rPr lang="en-US" altLang="zh-CN" dirty="0">
                <a:solidFill>
                  <a:srgbClr val="C00000"/>
                </a:solidFill>
              </a:rPr>
              <a:t>Backward </a:t>
            </a:r>
            <a:r>
              <a:rPr lang="zh-CN" altLang="en-US" dirty="0">
                <a:solidFill>
                  <a:srgbClr val="C00000"/>
                </a:solidFill>
              </a:rPr>
              <a:t>）策略：</a:t>
            </a:r>
            <a:r>
              <a:rPr lang="zh-CN" altLang="en-US" dirty="0"/>
              <a:t>变量不断剔除出回归方程的过程。首先，所有变量全部引入回归方程，并对回归方程进行各种检验；然后，在回归系数显著性检验不显著的一个或多个变量中，剔除</a:t>
            </a:r>
            <a:r>
              <a:rPr lang="en-US" altLang="zh-CN" dirty="0"/>
              <a:t>t</a:t>
            </a:r>
            <a:r>
              <a:rPr lang="zh-CN" altLang="en-US" dirty="0"/>
              <a:t>检验值最小的变量，并重新建立回归方程和进行各种检验；如果新建回归方程中所有变量的回归系数检验都显著，则回归方程建立结束。否则按上述方法再一次剔除最不显著的变量，直到再也没有可剔除的变量为止。</a:t>
            </a:r>
          </a:p>
          <a:p>
            <a:pPr lvl="0">
              <a:defRPr/>
            </a:pPr>
            <a:endParaRPr lang="zh-CN" altLang="en-US" dirty="0"/>
          </a:p>
          <a:p>
            <a:pPr lvl="0">
              <a:defRPr/>
            </a:pPr>
            <a:endParaRPr lang="zh-CN" altLang="en-US" dirty="0"/>
          </a:p>
          <a:p>
            <a:pPr marL="0" lvl="0" indent="0">
              <a:buNone/>
              <a:defRPr/>
            </a:pPr>
            <a:endParaRPr lang="en-US" altLang="zh-CN" dirty="0"/>
          </a:p>
        </p:txBody>
      </p:sp>
      <p:sp>
        <p:nvSpPr>
          <p:cNvPr id="7" name="TextBox 7">
            <a:extLst>
              <a:ext uri="{FF2B5EF4-FFF2-40B4-BE49-F238E27FC236}">
                <a16:creationId xmlns:a16="http://schemas.microsoft.com/office/drawing/2014/main" id="{5148AA9E-4681-3889-6AFF-B37E327507B1}"/>
              </a:ext>
            </a:extLst>
          </p:cNvPr>
          <p:cNvSpPr txBox="1"/>
          <p:nvPr/>
        </p:nvSpPr>
        <p:spPr>
          <a:xfrm>
            <a:off x="495981" y="1260996"/>
            <a:ext cx="11571627"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剔除引起多重共线性的变量</a:t>
            </a:r>
            <a:endParaRPr lang="zh-CN" altLang="en-US" dirty="0">
              <a:solidFill>
                <a:schemeClr val="tx1"/>
              </a:solidFill>
            </a:endParaRPr>
          </a:p>
        </p:txBody>
      </p:sp>
    </p:spTree>
    <p:extLst>
      <p:ext uri="{BB962C8B-B14F-4D97-AF65-F5344CB8AC3E}">
        <p14:creationId xmlns:p14="http://schemas.microsoft.com/office/powerpoint/2010/main" val="28088137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693C4-11A6-2244-1A44-0A881375EE67}"/>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275F684-BB6B-0AE3-1336-6410376DB2BC}"/>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多重共线性的解决方案</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1" name="Rectangle 14">
            <a:extLst>
              <a:ext uri="{FF2B5EF4-FFF2-40B4-BE49-F238E27FC236}">
                <a16:creationId xmlns:a16="http://schemas.microsoft.com/office/drawing/2014/main" id="{9F26BA61-2566-0AB7-4F9B-451D4AF6F5F8}"/>
              </a:ext>
            </a:extLst>
          </p:cNvPr>
          <p:cNvSpPr>
            <a:spLocks noChangeArrowheads="1"/>
          </p:cNvSpPr>
          <p:nvPr/>
        </p:nvSpPr>
        <p:spPr bwMode="auto">
          <a:xfrm>
            <a:off x="650699" y="23859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15">
            <a:extLst>
              <a:ext uri="{FF2B5EF4-FFF2-40B4-BE49-F238E27FC236}">
                <a16:creationId xmlns:a16="http://schemas.microsoft.com/office/drawing/2014/main" id="{03960E3C-A680-3132-2354-0E436FDC9B33}"/>
              </a:ext>
            </a:extLst>
          </p:cNvPr>
          <p:cNvSpPr>
            <a:spLocks noChangeArrowheads="1"/>
          </p:cNvSpPr>
          <p:nvPr/>
        </p:nvSpPr>
        <p:spPr bwMode="auto">
          <a:xfrm>
            <a:off x="650699" y="26081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26" name="Rectangle 18">
            <a:extLst>
              <a:ext uri="{FF2B5EF4-FFF2-40B4-BE49-F238E27FC236}">
                <a16:creationId xmlns:a16="http://schemas.microsoft.com/office/drawing/2014/main" id="{C4264F95-4964-D2EE-B8BA-613568BA3E77}"/>
              </a:ext>
            </a:extLst>
          </p:cNvPr>
          <p:cNvSpPr>
            <a:spLocks noChangeArrowheads="1"/>
          </p:cNvSpPr>
          <p:nvPr/>
        </p:nvSpPr>
        <p:spPr bwMode="auto">
          <a:xfrm>
            <a:off x="650699" y="331303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6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 name="内容占位符 4">
            <a:extLst>
              <a:ext uri="{FF2B5EF4-FFF2-40B4-BE49-F238E27FC236}">
                <a16:creationId xmlns:a16="http://schemas.microsoft.com/office/drawing/2014/main" id="{22342866-14EA-BE55-5E50-B62ADAC602C3}"/>
              </a:ext>
            </a:extLst>
          </p:cNvPr>
          <p:cNvSpPr txBox="1">
            <a:spLocks/>
          </p:cNvSpPr>
          <p:nvPr/>
        </p:nvSpPr>
        <p:spPr>
          <a:xfrm>
            <a:off x="882406" y="2162764"/>
            <a:ext cx="10470538" cy="4447033"/>
          </a:xfrm>
          <a:prstGeom prst="rect">
            <a:avLst/>
          </a:prstGeom>
        </p:spPr>
        <p:txBody>
          <a:bodyPr vert="horz" lIns="91440" tIns="45720" rIns="91440" bIns="45720" rtlCol="0">
            <a:normAutofit/>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438150" indent="-438150" algn="l" defTabSz="914400" rtl="0" eaLnBrk="1" latinLnBrk="0" hangingPunct="1">
              <a:lnSpc>
                <a:spcPct val="125000"/>
              </a:lnSpc>
              <a:spcBef>
                <a:spcPct val="20000"/>
              </a:spcBef>
              <a:buFont typeface="Wingdings" pitchFamily="2" charset="2"/>
              <a:buChar char="n"/>
              <a:defRPr sz="28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1pPr>
            <a:lvl2pPr marL="742950" indent="-28575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2pPr>
            <a:lvl3pPr marL="1143000" indent="-228600" algn="l" defTabSz="914400" rtl="0" eaLnBrk="1" latinLnBrk="0" hangingPunct="1">
              <a:lnSpc>
                <a:spcPct val="125000"/>
              </a:lnSpc>
              <a:spcBef>
                <a:spcPct val="20000"/>
              </a:spcBef>
              <a:buFont typeface="Arial" panose="020B0604020202020204" pitchFamily="34" charset="0"/>
              <a:buChar char="•"/>
              <a:defRPr sz="24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3pPr>
            <a:lvl4pPr marL="16002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4pPr>
            <a:lvl5pPr marL="2057400" indent="-228600" algn="l" defTabSz="914400" rtl="0" eaLnBrk="1" latinLnBrk="0" hangingPunct="1">
              <a:lnSpc>
                <a:spcPct val="125000"/>
              </a:lnSpc>
              <a:spcBef>
                <a:spcPct val="20000"/>
              </a:spcBef>
              <a:buFont typeface="Arial" panose="020B0604020202020204" pitchFamily="34" charset="0"/>
              <a:buChar char="»"/>
              <a:defRPr sz="2000" b="1" kern="1200" cap="none" spc="0" baseline="0">
                <a:ln w="11430"/>
                <a:solidFill>
                  <a:sysClr val="windowText" lastClr="000000"/>
                </a:solidFill>
                <a:effectLst>
                  <a:outerShdw blurRad="76200" dist="50800" dir="5400000" algn="tl" rotWithShape="0">
                    <a:srgbClr val="000000">
                      <a:alpha val="65000"/>
                    </a:srgbClr>
                  </a:outerShdw>
                </a:effectLst>
                <a:latin typeface="Arial Rounded MT Bold" panose="020F0704030504030204" pitchFamily="34" charset="0"/>
                <a:ea typeface="微软雅黑" panose="020B0503020204020204" pitchFamily="34" charset="-122"/>
                <a:cs typeface="Arial"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defRPr/>
            </a:pPr>
            <a:r>
              <a:rPr lang="zh-CN" altLang="en-US" dirty="0">
                <a:solidFill>
                  <a:srgbClr val="C00000"/>
                </a:solidFill>
              </a:rPr>
              <a:t>逐步回归（ </a:t>
            </a:r>
            <a:r>
              <a:rPr lang="en-US" altLang="zh-CN" dirty="0">
                <a:solidFill>
                  <a:srgbClr val="C00000"/>
                </a:solidFill>
              </a:rPr>
              <a:t>Stepwise </a:t>
            </a:r>
            <a:r>
              <a:rPr lang="zh-CN" altLang="en-US" dirty="0">
                <a:solidFill>
                  <a:srgbClr val="C00000"/>
                </a:solidFill>
              </a:rPr>
              <a:t>）策略：</a:t>
            </a:r>
            <a:r>
              <a:rPr lang="zh-CN" altLang="en-US" dirty="0"/>
              <a:t>在向前筛选策略的基础上结合向后筛选策略，在每个变量进入方程后再次判断是否存在应该剔除出方程的变量。因此，逐步筛选策略在引入变量的每一个阶段都提供了再剔除不显著变量的机会。</a:t>
            </a:r>
          </a:p>
          <a:p>
            <a:pPr lvl="0">
              <a:defRPr/>
            </a:pPr>
            <a:endParaRPr lang="zh-CN" altLang="en-US" dirty="0"/>
          </a:p>
          <a:p>
            <a:pPr lvl="0">
              <a:defRPr/>
            </a:pPr>
            <a:endParaRPr lang="zh-CN" altLang="en-US" dirty="0"/>
          </a:p>
          <a:p>
            <a:pPr marL="0" lvl="0" indent="0">
              <a:buNone/>
              <a:defRPr/>
            </a:pPr>
            <a:endParaRPr lang="en-US" altLang="zh-CN" dirty="0"/>
          </a:p>
        </p:txBody>
      </p:sp>
      <p:sp>
        <p:nvSpPr>
          <p:cNvPr id="4" name="TextBox 7">
            <a:extLst>
              <a:ext uri="{FF2B5EF4-FFF2-40B4-BE49-F238E27FC236}">
                <a16:creationId xmlns:a16="http://schemas.microsoft.com/office/drawing/2014/main" id="{C19F4993-EC17-1104-75CD-37B9586B1E5D}"/>
              </a:ext>
            </a:extLst>
          </p:cNvPr>
          <p:cNvSpPr txBox="1"/>
          <p:nvPr/>
        </p:nvSpPr>
        <p:spPr>
          <a:xfrm>
            <a:off x="495981" y="1260996"/>
            <a:ext cx="11571627"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剔除引起多重共线性的变量</a:t>
            </a:r>
            <a:endParaRPr lang="zh-CN" altLang="en-US" dirty="0">
              <a:solidFill>
                <a:schemeClr val="tx1"/>
              </a:solidFill>
            </a:endParaRPr>
          </a:p>
        </p:txBody>
      </p:sp>
    </p:spTree>
    <p:extLst>
      <p:ext uri="{BB962C8B-B14F-4D97-AF65-F5344CB8AC3E}">
        <p14:creationId xmlns:p14="http://schemas.microsoft.com/office/powerpoint/2010/main" val="28525892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7D9F7-9F67-B4B1-E1B3-BEF78F520F02}"/>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89E4F75A-BD0F-61DB-3737-319D7171105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多重共线性的解决方案</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C727BF93-8978-09EF-3468-959FC8045CEB}"/>
              </a:ext>
            </a:extLst>
          </p:cNvPr>
          <p:cNvSpPr txBox="1"/>
          <p:nvPr/>
        </p:nvSpPr>
        <p:spPr>
          <a:xfrm>
            <a:off x="2467365" y="1442761"/>
            <a:ext cx="7870436" cy="52322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sz="2800" dirty="0"/>
              <a:t>为什么增大样本容量可以消除多重共线性？</a:t>
            </a:r>
            <a:endParaRPr lang="zh-CN" altLang="en-US" sz="2800" dirty="0">
              <a:solidFill>
                <a:schemeClr val="tx1"/>
              </a:solidFill>
            </a:endParaRPr>
          </a:p>
        </p:txBody>
      </p:sp>
      <p:sp>
        <p:nvSpPr>
          <p:cNvPr id="35" name="矩形: 圆角 34">
            <a:extLst>
              <a:ext uri="{FF2B5EF4-FFF2-40B4-BE49-F238E27FC236}">
                <a16:creationId xmlns:a16="http://schemas.microsoft.com/office/drawing/2014/main" id="{9DB32471-9FDB-1D50-3F7E-DEECE79824C4}"/>
              </a:ext>
            </a:extLst>
          </p:cNvPr>
          <p:cNvSpPr/>
          <p:nvPr/>
        </p:nvSpPr>
        <p:spPr>
          <a:xfrm>
            <a:off x="5925671" y="5026106"/>
            <a:ext cx="5333179" cy="1338759"/>
          </a:xfrm>
          <a:prstGeom prst="roundRect">
            <a:avLst/>
          </a:prstGeom>
          <a:noFill/>
          <a:ln w="28575">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D4154AC1-6EF2-4558-9DFE-7FD17EC06CB1}"/>
              </a:ext>
            </a:extLst>
          </p:cNvPr>
          <p:cNvSpPr/>
          <p:nvPr/>
        </p:nvSpPr>
        <p:spPr>
          <a:xfrm>
            <a:off x="152399" y="2008500"/>
            <a:ext cx="11770659" cy="4793289"/>
          </a:xfrm>
          <a:prstGeom prst="roundRect">
            <a:avLst/>
          </a:prstGeom>
          <a:noFill/>
          <a:ln w="28575">
            <a:solidFill>
              <a:srgbClr val="0066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0944EC22-7830-0117-5AB0-9D437B7F12F7}"/>
              </a:ext>
            </a:extLst>
          </p:cNvPr>
          <p:cNvGrpSpPr/>
          <p:nvPr/>
        </p:nvGrpSpPr>
        <p:grpSpPr>
          <a:xfrm>
            <a:off x="564479" y="2155120"/>
            <a:ext cx="11215249" cy="2677656"/>
            <a:chOff x="564479" y="1736673"/>
            <a:chExt cx="11215249" cy="2677656"/>
          </a:xfrm>
        </p:grpSpPr>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BEB02E17-9B90-ECB2-9CEA-943709C2BDDE}"/>
                    </a:ext>
                  </a:extLst>
                </p:cNvPr>
                <p:cNvSpPr txBox="1"/>
                <p:nvPr/>
              </p:nvSpPr>
              <p:spPr>
                <a:xfrm>
                  <a:off x="564479" y="1736673"/>
                  <a:ext cx="10314442" cy="2677656"/>
                </a:xfrm>
                <a:prstGeom prst="rect">
                  <a:avLst/>
                </a:prstGeom>
                <a:noFill/>
              </p:spPr>
              <p:txBody>
                <a:bodyPr wrap="square">
                  <a:spAutoFit/>
                </a:bodyPr>
                <a:lstStyle/>
                <a:p>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以只有两个自变量</a:t>
                  </a:r>
                  <a14:m>
                    <m:oMath xmlns:m="http://schemas.openxmlformats.org/officeDocument/2006/math">
                      <m:sSub>
                        <m:sSubPr>
                          <m:ctrlPr>
                            <a:rPr lang="en-US" altLang="zh-CN" sz="2400" i="1" dirty="0" smtClean="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𝒙</m:t>
                          </m:r>
                        </m:e>
                        <m:sub>
                          <m:r>
                            <a:rPr lang="en-US" altLang="zh-CN" sz="2400" i="1" dirty="0">
                              <a:solidFill>
                                <a:schemeClr val="tx1"/>
                              </a:solidFill>
                              <a:latin typeface="Cambria Math" panose="02040503050406030204" pitchFamily="18" charset="0"/>
                            </a:rPr>
                            <m:t>𝟏</m:t>
                          </m:r>
                        </m:sub>
                      </m:sSub>
                      <m:r>
                        <a:rPr lang="en-US" altLang="zh-CN" sz="2400" i="1" dirty="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𝒙</m:t>
                          </m:r>
                        </m:e>
                        <m:sub>
                          <m:r>
                            <a:rPr lang="en-US" altLang="zh-CN" sz="2400" i="1" dirty="0">
                              <a:solidFill>
                                <a:schemeClr val="tx1"/>
                              </a:solidFill>
                              <a:latin typeface="Cambria Math" panose="02040503050406030204" pitchFamily="18" charset="0"/>
                            </a:rPr>
                            <m:t>𝟐</m:t>
                          </m:r>
                        </m:sub>
                      </m:sSub>
                      <m:r>
                        <a:rPr lang="en-US" altLang="zh-CN" sz="2400" i="1" dirty="0" smtClean="0">
                          <a:solidFill>
                            <a:schemeClr val="tx1"/>
                          </a:solidFill>
                          <a:latin typeface="Cambria Math" panose="02040503050406030204" pitchFamily="18" charset="0"/>
                        </a:rPr>
                        <m:t> </m:t>
                      </m:r>
                    </m:oMath>
                  </a14:m>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的回归为例，假设因变量和自变量都已经中心化，则回归常数项为</a:t>
                  </a:r>
                  <a:r>
                    <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rPr>
                    <a:t>0</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，回归方程为：</a:t>
                  </a:r>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记                  ，               ，                 ，</a:t>
                  </a:r>
                  <a:r>
                    <a:rPr lang="en-US" altLang="zh-CN" sz="2400" dirty="0">
                      <a:solidFill>
                        <a:schemeClr val="tx1"/>
                      </a:solidFill>
                    </a:rPr>
                    <a:t> </a:t>
                  </a:r>
                  <a14:m>
                    <m:oMath xmlns:m="http://schemas.openxmlformats.org/officeDocument/2006/math">
                      <m:sSub>
                        <m:sSubPr>
                          <m:ctrlPr>
                            <a:rPr lang="en-US" altLang="zh-CN" sz="2400" i="1" dirty="0" smtClean="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𝒙</m:t>
                          </m:r>
                        </m:e>
                        <m:sub>
                          <m:r>
                            <a:rPr lang="en-US" altLang="zh-CN" sz="2400" i="1" dirty="0">
                              <a:solidFill>
                                <a:schemeClr val="tx1"/>
                              </a:solidFill>
                              <a:latin typeface="Cambria Math" panose="02040503050406030204" pitchFamily="18" charset="0"/>
                            </a:rPr>
                            <m:t>𝟏</m:t>
                          </m:r>
                        </m:sub>
                      </m:sSub>
                    </m:oMath>
                  </a14:m>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与</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𝒙</m:t>
                          </m:r>
                        </m:e>
                        <m:sub>
                          <m:r>
                            <a:rPr lang="en-US" altLang="zh-CN" sz="2400" i="1" dirty="0">
                              <a:latin typeface="Cambria Math" panose="02040503050406030204" pitchFamily="18" charset="0"/>
                            </a:rPr>
                            <m:t>𝟐</m:t>
                          </m:r>
                        </m:sub>
                      </m:sSub>
                    </m:oMath>
                  </a14:m>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之间的相关系数为：</a:t>
                  </a:r>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r>
                    <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rPr>
                    <a:t>                 </a:t>
                  </a:r>
                  <a:r>
                    <a:rPr lang="zh-CN" altLang="en-US" sz="2400" b="1" spc="50" dirty="0">
                      <a:ln w="11430">
                        <a:noFill/>
                      </a:ln>
                      <a:latin typeface="Arial" panose="020B0604020202020204" pitchFamily="34" charset="0"/>
                      <a:ea typeface="微软雅黑" panose="020B0503020204020204" pitchFamily="34" charset="-122"/>
                      <a:cs typeface="Arial" panose="020B0604020202020204" pitchFamily="34" charset="0"/>
                    </a:rPr>
                    <a:t>的协方差矩阵为：</a:t>
                  </a:r>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a:p>
                  <a:endParaRPr lang="en-US" altLang="zh-CN" sz="2400" b="1" spc="50" dirty="0">
                    <a:ln w="11430">
                      <a:noFill/>
                    </a:ln>
                    <a:latin typeface="Arial" panose="020B0604020202020204" pitchFamily="34" charset="0"/>
                    <a:ea typeface="微软雅黑" panose="020B0503020204020204" pitchFamily="34" charset="-122"/>
                    <a:cs typeface="Arial" panose="020B0604020202020204" pitchFamily="34" charset="0"/>
                  </a:endParaRPr>
                </a:p>
              </p:txBody>
            </p:sp>
          </mc:Choice>
          <mc:Fallback xmlns="">
            <p:sp>
              <p:nvSpPr>
                <p:cNvPr id="19" name="文本框 18">
                  <a:extLst>
                    <a:ext uri="{FF2B5EF4-FFF2-40B4-BE49-F238E27FC236}">
                      <a16:creationId xmlns:a16="http://schemas.microsoft.com/office/drawing/2014/main" id="{BEB02E17-9B90-ECB2-9CEA-943709C2BDDE}"/>
                    </a:ext>
                  </a:extLst>
                </p:cNvPr>
                <p:cNvSpPr txBox="1">
                  <a:spLocks noRot="1" noChangeAspect="1" noMove="1" noResize="1" noEditPoints="1" noAdjustHandles="1" noChangeArrowheads="1" noChangeShapeType="1" noTextEdit="1"/>
                </p:cNvSpPr>
                <p:nvPr/>
              </p:nvSpPr>
              <p:spPr>
                <a:xfrm>
                  <a:off x="564479" y="1736673"/>
                  <a:ext cx="10314442" cy="2677656"/>
                </a:xfrm>
                <a:prstGeom prst="rect">
                  <a:avLst/>
                </a:prstGeom>
                <a:blipFill>
                  <a:blip r:embed="rId3"/>
                  <a:stretch>
                    <a:fillRect l="-946" t="-1822" r="-39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22" name="对象 21">
                  <a:extLst>
                    <a:ext uri="{FF2B5EF4-FFF2-40B4-BE49-F238E27FC236}">
                      <a16:creationId xmlns:a16="http://schemas.microsoft.com/office/drawing/2014/main" id="{B7F55C14-38FA-B635-FA8B-9C1205E9D8A3}"/>
                    </a:ext>
                  </a:extLst>
                </p:cNvPr>
                <p:cNvGraphicFramePr>
                  <a:graphicFrameLocks noChangeAspect="1"/>
                </p:cNvGraphicFramePr>
                <p:nvPr>
                  <p:extLst>
                    <p:ext uri="{D42A27DB-BD31-4B8C-83A1-F6EECF244321}">
                      <p14:modId xmlns:p14="http://schemas.microsoft.com/office/powerpoint/2010/main" val="1555104282"/>
                    </p:ext>
                  </p:extLst>
                </p:nvPr>
              </p:nvGraphicFramePr>
              <p:xfrm>
                <a:off x="5299864" y="2200832"/>
                <a:ext cx="1936377" cy="564777"/>
              </p:xfrm>
              <a:graphic>
                <a:graphicData uri="http://schemas.openxmlformats.org/presentationml/2006/ole">
                  <mc:AlternateContent>
                    <mc:Choice xmlns:v="urn:schemas-microsoft-com:vml" Requires="v">
                      <p:oleObj name="Equation" r:id="rId4" imgW="914468" imgH="266770" progId="Equation.DSMT4">
                        <p:embed/>
                      </p:oleObj>
                    </mc:Choice>
                    <mc:Fallback>
                      <p:oleObj name="Equation" r:id="rId4" imgW="914468" imgH="266770" progId="Equation.DSMT4">
                        <p:embed/>
                        <p:pic>
                          <p:nvPicPr>
                            <p:cNvPr id="0" name=""/>
                            <p:cNvPicPr/>
                            <p:nvPr/>
                          </p:nvPicPr>
                          <p:blipFill>
                            <a:blip r:embed="rId5"/>
                            <a:stretch>
                              <a:fillRect/>
                            </a:stretch>
                          </p:blipFill>
                          <p:spPr>
                            <a:xfrm>
                              <a:off x="5299864" y="2200832"/>
                              <a:ext cx="1936377" cy="564777"/>
                            </a:xfrm>
                            <a:prstGeom prst="rect">
                              <a:avLst/>
                            </a:prstGeom>
                          </p:spPr>
                        </p:pic>
                      </p:oleObj>
                    </mc:Fallback>
                  </mc:AlternateContent>
                </a:graphicData>
              </a:graphic>
            </p:graphicFrame>
          </mc:Choice>
          <mc:Fallback xmlns="">
            <p:graphicFrame>
              <p:nvGraphicFramePr>
                <p:cNvPr id="22" name="对象 21">
                  <a:extLst>
                    <a:ext uri="{FF2B5EF4-FFF2-40B4-BE49-F238E27FC236}">
                      <a16:creationId xmlns:a16="http://schemas.microsoft.com/office/drawing/2014/main" id="{B7F55C14-38FA-B635-FA8B-9C1205E9D8A3}"/>
                    </a:ext>
                  </a:extLst>
                </p:cNvPr>
                <p:cNvGraphicFramePr>
                  <a:graphicFrameLocks noChangeAspect="1"/>
                </p:cNvGraphicFramePr>
                <p:nvPr>
                  <p:extLst>
                    <p:ext uri="{D42A27DB-BD31-4B8C-83A1-F6EECF244321}">
                      <p14:modId xmlns:p14="http://schemas.microsoft.com/office/powerpoint/2010/main" val="1555104282"/>
                    </p:ext>
                  </p:extLst>
                </p:nvPr>
              </p:nvGraphicFramePr>
              <p:xfrm>
                <a:off x="5299864" y="2200832"/>
                <a:ext cx="1936377" cy="564777"/>
              </p:xfrm>
              <a:graphic>
                <a:graphicData uri="http://schemas.openxmlformats.org/presentationml/2006/ole">
                  <mc:AlternateContent>
                    <mc:Choice xmlns:v="urn:schemas-microsoft-com:vml" Requires="v">
                      <p:oleObj name="Equation" r:id="rId6" imgW="914468" imgH="266770" progId="Equation.DSMT4">
                        <p:embed/>
                      </p:oleObj>
                    </mc:Choice>
                    <mc:Fallback>
                      <p:oleObj name="Equation" r:id="rId6" imgW="914468" imgH="266770" progId="Equation.DSMT4">
                        <p:embed/>
                        <p:pic>
                          <p:nvPicPr>
                            <p:cNvPr id="0" name=""/>
                            <p:cNvPicPr/>
                            <p:nvPr/>
                          </p:nvPicPr>
                          <p:blipFill>
                            <a:blip r:embed="rId7"/>
                            <a:stretch>
                              <a:fillRect/>
                            </a:stretch>
                          </p:blipFill>
                          <p:spPr>
                            <a:xfrm>
                              <a:off x="5299864" y="2200832"/>
                              <a:ext cx="1936377" cy="564777"/>
                            </a:xfrm>
                            <a:prstGeom prst="rect">
                              <a:avLst/>
                            </a:prstGeom>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3" name="对象 22">
                  <a:extLst>
                    <a:ext uri="{FF2B5EF4-FFF2-40B4-BE49-F238E27FC236}">
                      <a16:creationId xmlns:a16="http://schemas.microsoft.com/office/drawing/2014/main" id="{6FC1942F-E996-E68B-B381-18C81B5ED76E}"/>
                    </a:ext>
                  </a:extLst>
                </p:cNvPr>
                <p:cNvGraphicFramePr>
                  <a:graphicFrameLocks noChangeAspect="1"/>
                </p:cNvGraphicFramePr>
                <p:nvPr>
                  <p:extLst>
                    <p:ext uri="{D42A27DB-BD31-4B8C-83A1-F6EECF244321}">
                      <p14:modId xmlns:p14="http://schemas.microsoft.com/office/powerpoint/2010/main" val="2900935405"/>
                    </p:ext>
                  </p:extLst>
                </p:nvPr>
              </p:nvGraphicFramePr>
              <p:xfrm>
                <a:off x="1060709" y="2622864"/>
                <a:ext cx="1406655" cy="900259"/>
              </p:xfrm>
              <a:graphic>
                <a:graphicData uri="http://schemas.openxmlformats.org/presentationml/2006/ole">
                  <mc:AlternateContent>
                    <mc:Choice xmlns:v="urn:schemas-microsoft-com:vml" Requires="v">
                      <p:oleObj name="Equation" r:id="rId8" imgW="714293" imgH="457216" progId="Equation.DSMT4">
                        <p:embed/>
                      </p:oleObj>
                    </mc:Choice>
                    <mc:Fallback>
                      <p:oleObj name="Equation" r:id="rId8" imgW="714293" imgH="457216" progId="Equation.DSMT4">
                        <p:embed/>
                        <p:pic>
                          <p:nvPicPr>
                            <p:cNvPr id="0" name=""/>
                            <p:cNvPicPr/>
                            <p:nvPr/>
                          </p:nvPicPr>
                          <p:blipFill>
                            <a:blip r:embed="rId9"/>
                            <a:stretch>
                              <a:fillRect/>
                            </a:stretch>
                          </p:blipFill>
                          <p:spPr>
                            <a:xfrm>
                              <a:off x="1060709" y="2622864"/>
                              <a:ext cx="1406655" cy="900259"/>
                            </a:xfrm>
                            <a:prstGeom prst="rect">
                              <a:avLst/>
                            </a:prstGeom>
                          </p:spPr>
                        </p:pic>
                      </p:oleObj>
                    </mc:Fallback>
                  </mc:AlternateContent>
                </a:graphicData>
              </a:graphic>
            </p:graphicFrame>
          </mc:Choice>
          <mc:Fallback xmlns="">
            <p:graphicFrame>
              <p:nvGraphicFramePr>
                <p:cNvPr id="23" name="对象 22">
                  <a:extLst>
                    <a:ext uri="{FF2B5EF4-FFF2-40B4-BE49-F238E27FC236}">
                      <a16:creationId xmlns:a16="http://schemas.microsoft.com/office/drawing/2014/main" id="{6FC1942F-E996-E68B-B381-18C81B5ED76E}"/>
                    </a:ext>
                  </a:extLst>
                </p:cNvPr>
                <p:cNvGraphicFramePr>
                  <a:graphicFrameLocks noChangeAspect="1"/>
                </p:cNvGraphicFramePr>
                <p:nvPr>
                  <p:extLst>
                    <p:ext uri="{D42A27DB-BD31-4B8C-83A1-F6EECF244321}">
                      <p14:modId xmlns:p14="http://schemas.microsoft.com/office/powerpoint/2010/main" val="2900935405"/>
                    </p:ext>
                  </p:extLst>
                </p:nvPr>
              </p:nvGraphicFramePr>
              <p:xfrm>
                <a:off x="1060709" y="2622864"/>
                <a:ext cx="1406655" cy="900259"/>
              </p:xfrm>
              <a:graphic>
                <a:graphicData uri="http://schemas.openxmlformats.org/presentationml/2006/ole">
                  <mc:AlternateContent>
                    <mc:Choice xmlns:v="urn:schemas-microsoft-com:vml" Requires="v">
                      <p:oleObj name="Equation" r:id="rId10" imgW="714293" imgH="457216" progId="Equation.DSMT4">
                        <p:embed/>
                      </p:oleObj>
                    </mc:Choice>
                    <mc:Fallback>
                      <p:oleObj name="Equation" r:id="rId10" imgW="714293" imgH="457216" progId="Equation.DSMT4">
                        <p:embed/>
                        <p:pic>
                          <p:nvPicPr>
                            <p:cNvPr id="0" name=""/>
                            <p:cNvPicPr/>
                            <p:nvPr/>
                          </p:nvPicPr>
                          <p:blipFill>
                            <a:blip r:embed="rId11"/>
                            <a:stretch>
                              <a:fillRect/>
                            </a:stretch>
                          </p:blipFill>
                          <p:spPr>
                            <a:xfrm>
                              <a:off x="1060709" y="2622864"/>
                              <a:ext cx="1406655" cy="900259"/>
                            </a:xfrm>
                            <a:prstGeom prst="rect">
                              <a:avLst/>
                            </a:prstGeom>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4" name="对象 23">
                  <a:extLst>
                    <a:ext uri="{FF2B5EF4-FFF2-40B4-BE49-F238E27FC236}">
                      <a16:creationId xmlns:a16="http://schemas.microsoft.com/office/drawing/2014/main" id="{3BAF1052-26BC-180E-66B1-B59E8BDD46D0}"/>
                    </a:ext>
                  </a:extLst>
                </p:cNvPr>
                <p:cNvGraphicFramePr>
                  <a:graphicFrameLocks noChangeAspect="1"/>
                </p:cNvGraphicFramePr>
                <p:nvPr>
                  <p:extLst>
                    <p:ext uri="{D42A27DB-BD31-4B8C-83A1-F6EECF244321}">
                      <p14:modId xmlns:p14="http://schemas.microsoft.com/office/powerpoint/2010/main" val="758451598"/>
                    </p:ext>
                  </p:extLst>
                </p:nvPr>
              </p:nvGraphicFramePr>
              <p:xfrm>
                <a:off x="2753069" y="2632860"/>
                <a:ext cx="1505551" cy="881298"/>
              </p:xfrm>
              <a:graphic>
                <a:graphicData uri="http://schemas.openxmlformats.org/presentationml/2006/ole">
                  <mc:AlternateContent>
                    <mc:Choice xmlns:v="urn:schemas-microsoft-com:vml" Requires="v">
                      <p:oleObj name="Equation" r:id="rId12" imgW="781258" imgH="457216" progId="Equation.DSMT4">
                        <p:embed/>
                      </p:oleObj>
                    </mc:Choice>
                    <mc:Fallback>
                      <p:oleObj name="Equation" r:id="rId12" imgW="781258" imgH="457216" progId="Equation.DSMT4">
                        <p:embed/>
                        <p:pic>
                          <p:nvPicPr>
                            <p:cNvPr id="0" name=""/>
                            <p:cNvPicPr/>
                            <p:nvPr/>
                          </p:nvPicPr>
                          <p:blipFill>
                            <a:blip r:embed="rId13"/>
                            <a:stretch>
                              <a:fillRect/>
                            </a:stretch>
                          </p:blipFill>
                          <p:spPr>
                            <a:xfrm>
                              <a:off x="2753069" y="2632860"/>
                              <a:ext cx="1505551" cy="881298"/>
                            </a:xfrm>
                            <a:prstGeom prst="rect">
                              <a:avLst/>
                            </a:prstGeom>
                          </p:spPr>
                        </p:pic>
                      </p:oleObj>
                    </mc:Fallback>
                  </mc:AlternateContent>
                </a:graphicData>
              </a:graphic>
            </p:graphicFrame>
          </mc:Choice>
          <mc:Fallback xmlns="">
            <p:graphicFrame>
              <p:nvGraphicFramePr>
                <p:cNvPr id="24" name="对象 23">
                  <a:extLst>
                    <a:ext uri="{FF2B5EF4-FFF2-40B4-BE49-F238E27FC236}">
                      <a16:creationId xmlns:a16="http://schemas.microsoft.com/office/drawing/2014/main" id="{3BAF1052-26BC-180E-66B1-B59E8BDD46D0}"/>
                    </a:ext>
                  </a:extLst>
                </p:cNvPr>
                <p:cNvGraphicFramePr>
                  <a:graphicFrameLocks noChangeAspect="1"/>
                </p:cNvGraphicFramePr>
                <p:nvPr>
                  <p:extLst>
                    <p:ext uri="{D42A27DB-BD31-4B8C-83A1-F6EECF244321}">
                      <p14:modId xmlns:p14="http://schemas.microsoft.com/office/powerpoint/2010/main" val="758451598"/>
                    </p:ext>
                  </p:extLst>
                </p:nvPr>
              </p:nvGraphicFramePr>
              <p:xfrm>
                <a:off x="2753069" y="2632860"/>
                <a:ext cx="1505551" cy="881298"/>
              </p:xfrm>
              <a:graphic>
                <a:graphicData uri="http://schemas.openxmlformats.org/presentationml/2006/ole">
                  <mc:AlternateContent>
                    <mc:Choice xmlns:v="urn:schemas-microsoft-com:vml" Requires="v">
                      <p:oleObj name="Equation" r:id="rId14" imgW="781258" imgH="457216" progId="Equation.DSMT4">
                        <p:embed/>
                      </p:oleObj>
                    </mc:Choice>
                    <mc:Fallback>
                      <p:oleObj name="Equation" r:id="rId14" imgW="781258" imgH="457216" progId="Equation.DSMT4">
                        <p:embed/>
                        <p:pic>
                          <p:nvPicPr>
                            <p:cNvPr id="0" name=""/>
                            <p:cNvPicPr/>
                            <p:nvPr/>
                          </p:nvPicPr>
                          <p:blipFill>
                            <a:blip r:embed="rId15"/>
                            <a:stretch>
                              <a:fillRect/>
                            </a:stretch>
                          </p:blipFill>
                          <p:spPr>
                            <a:xfrm>
                              <a:off x="2753069" y="2632860"/>
                              <a:ext cx="1505551" cy="881298"/>
                            </a:xfrm>
                            <a:prstGeom prst="rect">
                              <a:avLst/>
                            </a:prstGeom>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5" name="对象 24">
                  <a:extLst>
                    <a:ext uri="{FF2B5EF4-FFF2-40B4-BE49-F238E27FC236}">
                      <a16:creationId xmlns:a16="http://schemas.microsoft.com/office/drawing/2014/main" id="{92C4A6F8-9346-5656-A3FF-FEC451CEEE0C}"/>
                    </a:ext>
                  </a:extLst>
                </p:cNvPr>
                <p:cNvGraphicFramePr>
                  <a:graphicFrameLocks noChangeAspect="1"/>
                </p:cNvGraphicFramePr>
                <p:nvPr>
                  <p:extLst>
                    <p:ext uri="{D42A27DB-BD31-4B8C-83A1-F6EECF244321}">
                      <p14:modId xmlns:p14="http://schemas.microsoft.com/office/powerpoint/2010/main" val="1657852629"/>
                    </p:ext>
                  </p:extLst>
                </p:nvPr>
              </p:nvGraphicFramePr>
              <p:xfrm>
                <a:off x="4518551" y="2591801"/>
                <a:ext cx="1562627" cy="986922"/>
              </p:xfrm>
              <a:graphic>
                <a:graphicData uri="http://schemas.openxmlformats.org/presentationml/2006/ole">
                  <mc:AlternateContent>
                    <mc:Choice xmlns:v="urn:schemas-microsoft-com:vml" Requires="v">
                      <p:oleObj name="Equation" r:id="rId16" imgW="724014" imgH="457216" progId="Equation.DSMT4">
                        <p:embed/>
                      </p:oleObj>
                    </mc:Choice>
                    <mc:Fallback>
                      <p:oleObj name="Equation" r:id="rId16" imgW="724014" imgH="457216" progId="Equation.DSMT4">
                        <p:embed/>
                        <p:pic>
                          <p:nvPicPr>
                            <p:cNvPr id="0" name=""/>
                            <p:cNvPicPr/>
                            <p:nvPr/>
                          </p:nvPicPr>
                          <p:blipFill>
                            <a:blip r:embed="rId17"/>
                            <a:stretch>
                              <a:fillRect/>
                            </a:stretch>
                          </p:blipFill>
                          <p:spPr>
                            <a:xfrm>
                              <a:off x="4518551" y="2591801"/>
                              <a:ext cx="1562627" cy="986922"/>
                            </a:xfrm>
                            <a:prstGeom prst="rect">
                              <a:avLst/>
                            </a:prstGeom>
                          </p:spPr>
                        </p:pic>
                      </p:oleObj>
                    </mc:Fallback>
                  </mc:AlternateContent>
                </a:graphicData>
              </a:graphic>
            </p:graphicFrame>
          </mc:Choice>
          <mc:Fallback xmlns="">
            <p:graphicFrame>
              <p:nvGraphicFramePr>
                <p:cNvPr id="25" name="对象 24">
                  <a:extLst>
                    <a:ext uri="{FF2B5EF4-FFF2-40B4-BE49-F238E27FC236}">
                      <a16:creationId xmlns:a16="http://schemas.microsoft.com/office/drawing/2014/main" id="{92C4A6F8-9346-5656-A3FF-FEC451CEEE0C}"/>
                    </a:ext>
                  </a:extLst>
                </p:cNvPr>
                <p:cNvGraphicFramePr>
                  <a:graphicFrameLocks noChangeAspect="1"/>
                </p:cNvGraphicFramePr>
                <p:nvPr>
                  <p:extLst>
                    <p:ext uri="{D42A27DB-BD31-4B8C-83A1-F6EECF244321}">
                      <p14:modId xmlns:p14="http://schemas.microsoft.com/office/powerpoint/2010/main" val="1657852629"/>
                    </p:ext>
                  </p:extLst>
                </p:nvPr>
              </p:nvGraphicFramePr>
              <p:xfrm>
                <a:off x="4518551" y="2591801"/>
                <a:ext cx="1562627" cy="986922"/>
              </p:xfrm>
              <a:graphic>
                <a:graphicData uri="http://schemas.openxmlformats.org/presentationml/2006/ole">
                  <mc:AlternateContent>
                    <mc:Choice xmlns:v="urn:schemas-microsoft-com:vml" Requires="v">
                      <p:oleObj name="Equation" r:id="rId18" imgW="724014" imgH="457216" progId="Equation.DSMT4">
                        <p:embed/>
                      </p:oleObj>
                    </mc:Choice>
                    <mc:Fallback>
                      <p:oleObj name="Equation" r:id="rId18" imgW="724014" imgH="457216" progId="Equation.DSMT4">
                        <p:embed/>
                        <p:pic>
                          <p:nvPicPr>
                            <p:cNvPr id="0" name=""/>
                            <p:cNvPicPr/>
                            <p:nvPr/>
                          </p:nvPicPr>
                          <p:blipFill>
                            <a:blip r:embed="rId19"/>
                            <a:stretch>
                              <a:fillRect/>
                            </a:stretch>
                          </p:blipFill>
                          <p:spPr>
                            <a:xfrm>
                              <a:off x="4518551" y="2591801"/>
                              <a:ext cx="1562627" cy="986922"/>
                            </a:xfrm>
                            <a:prstGeom prst="rect">
                              <a:avLst/>
                            </a:prstGeom>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6" name="对象 25">
                  <a:extLst>
                    <a:ext uri="{FF2B5EF4-FFF2-40B4-BE49-F238E27FC236}">
                      <a16:creationId xmlns:a16="http://schemas.microsoft.com/office/drawing/2014/main" id="{315BE83D-CB96-0E9F-1A43-93DCD6C28202}"/>
                    </a:ext>
                  </a:extLst>
                </p:cNvPr>
                <p:cNvGraphicFramePr>
                  <a:graphicFrameLocks noChangeAspect="1"/>
                </p:cNvGraphicFramePr>
                <p:nvPr>
                  <p:extLst>
                    <p:ext uri="{D42A27DB-BD31-4B8C-83A1-F6EECF244321}">
                      <p14:modId xmlns:p14="http://schemas.microsoft.com/office/powerpoint/2010/main" val="450356052"/>
                    </p:ext>
                  </p:extLst>
                </p:nvPr>
              </p:nvGraphicFramePr>
              <p:xfrm>
                <a:off x="10152632" y="2591801"/>
                <a:ext cx="1627096" cy="877535"/>
              </p:xfrm>
              <a:graphic>
                <a:graphicData uri="http://schemas.openxmlformats.org/presentationml/2006/ole">
                  <mc:AlternateContent>
                    <mc:Choice xmlns:v="urn:schemas-microsoft-com:vml" Requires="v">
                      <p:oleObj name="Equation" r:id="rId20" imgW="847863" imgH="457216" progId="Equation.DSMT4">
                        <p:embed/>
                      </p:oleObj>
                    </mc:Choice>
                    <mc:Fallback>
                      <p:oleObj name="Equation" r:id="rId20" imgW="847863" imgH="457216" progId="Equation.DSMT4">
                        <p:embed/>
                        <p:pic>
                          <p:nvPicPr>
                            <p:cNvPr id="0" name=""/>
                            <p:cNvPicPr/>
                            <p:nvPr/>
                          </p:nvPicPr>
                          <p:blipFill>
                            <a:blip r:embed="rId21"/>
                            <a:stretch>
                              <a:fillRect/>
                            </a:stretch>
                          </p:blipFill>
                          <p:spPr>
                            <a:xfrm>
                              <a:off x="10152632" y="2591801"/>
                              <a:ext cx="1627096" cy="877535"/>
                            </a:xfrm>
                            <a:prstGeom prst="rect">
                              <a:avLst/>
                            </a:prstGeom>
                          </p:spPr>
                        </p:pic>
                      </p:oleObj>
                    </mc:Fallback>
                  </mc:AlternateContent>
                </a:graphicData>
              </a:graphic>
            </p:graphicFrame>
          </mc:Choice>
          <mc:Fallback xmlns="">
            <p:graphicFrame>
              <p:nvGraphicFramePr>
                <p:cNvPr id="26" name="对象 25">
                  <a:extLst>
                    <a:ext uri="{FF2B5EF4-FFF2-40B4-BE49-F238E27FC236}">
                      <a16:creationId xmlns:a16="http://schemas.microsoft.com/office/drawing/2014/main" id="{315BE83D-CB96-0E9F-1A43-93DCD6C28202}"/>
                    </a:ext>
                  </a:extLst>
                </p:cNvPr>
                <p:cNvGraphicFramePr>
                  <a:graphicFrameLocks noChangeAspect="1"/>
                </p:cNvGraphicFramePr>
                <p:nvPr>
                  <p:extLst>
                    <p:ext uri="{D42A27DB-BD31-4B8C-83A1-F6EECF244321}">
                      <p14:modId xmlns:p14="http://schemas.microsoft.com/office/powerpoint/2010/main" val="450356052"/>
                    </p:ext>
                  </p:extLst>
                </p:nvPr>
              </p:nvGraphicFramePr>
              <p:xfrm>
                <a:off x="10152632" y="2591801"/>
                <a:ext cx="1627096" cy="877535"/>
              </p:xfrm>
              <a:graphic>
                <a:graphicData uri="http://schemas.openxmlformats.org/presentationml/2006/ole">
                  <mc:AlternateContent>
                    <mc:Choice xmlns:v="urn:schemas-microsoft-com:vml" Requires="v">
                      <p:oleObj name="Equation" r:id="rId22" imgW="847863" imgH="457216" progId="Equation.DSMT4">
                        <p:embed/>
                      </p:oleObj>
                    </mc:Choice>
                    <mc:Fallback>
                      <p:oleObj name="Equation" r:id="rId22" imgW="847863" imgH="457216" progId="Equation.DSMT4">
                        <p:embed/>
                        <p:pic>
                          <p:nvPicPr>
                            <p:cNvPr id="0" name=""/>
                            <p:cNvPicPr/>
                            <p:nvPr/>
                          </p:nvPicPr>
                          <p:blipFill>
                            <a:blip r:embed="rId23"/>
                            <a:stretch>
                              <a:fillRect/>
                            </a:stretch>
                          </p:blipFill>
                          <p:spPr>
                            <a:xfrm>
                              <a:off x="10152632" y="2591801"/>
                              <a:ext cx="1627096" cy="877535"/>
                            </a:xfrm>
                            <a:prstGeom prst="rect">
                              <a:avLst/>
                            </a:prstGeom>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7" name="对象 26">
                  <a:extLst>
                    <a:ext uri="{FF2B5EF4-FFF2-40B4-BE49-F238E27FC236}">
                      <a16:creationId xmlns:a16="http://schemas.microsoft.com/office/drawing/2014/main" id="{A952A208-09B7-D147-D2AA-EABD54CDB57B}"/>
                    </a:ext>
                  </a:extLst>
                </p:cNvPr>
                <p:cNvGraphicFramePr>
                  <a:graphicFrameLocks noChangeAspect="1"/>
                </p:cNvGraphicFramePr>
                <p:nvPr>
                  <p:extLst>
                    <p:ext uri="{D42A27DB-BD31-4B8C-83A1-F6EECF244321}">
                      <p14:modId xmlns:p14="http://schemas.microsoft.com/office/powerpoint/2010/main" val="3412427209"/>
                    </p:ext>
                  </p:extLst>
                </p:nvPr>
              </p:nvGraphicFramePr>
              <p:xfrm>
                <a:off x="564479" y="3578723"/>
                <a:ext cx="1599150" cy="496288"/>
              </p:xfrm>
              <a:graphic>
                <a:graphicData uri="http://schemas.openxmlformats.org/presentationml/2006/ole">
                  <mc:AlternateContent>
                    <mc:Choice xmlns:v="urn:schemas-microsoft-com:vml" Requires="v">
                      <p:oleObj name="Equation" r:id="rId24" imgW="828782" imgH="257049" progId="Equation.DSMT4">
                        <p:embed/>
                      </p:oleObj>
                    </mc:Choice>
                    <mc:Fallback>
                      <p:oleObj name="Equation" r:id="rId24" imgW="828782" imgH="257049" progId="Equation.DSMT4">
                        <p:embed/>
                        <p:pic>
                          <p:nvPicPr>
                            <p:cNvPr id="0" name=""/>
                            <p:cNvPicPr/>
                            <p:nvPr/>
                          </p:nvPicPr>
                          <p:blipFill>
                            <a:blip r:embed="rId25"/>
                            <a:stretch>
                              <a:fillRect/>
                            </a:stretch>
                          </p:blipFill>
                          <p:spPr>
                            <a:xfrm>
                              <a:off x="564479" y="3578723"/>
                              <a:ext cx="1599150" cy="496288"/>
                            </a:xfrm>
                            <a:prstGeom prst="rect">
                              <a:avLst/>
                            </a:prstGeom>
                          </p:spPr>
                        </p:pic>
                      </p:oleObj>
                    </mc:Fallback>
                  </mc:AlternateContent>
                </a:graphicData>
              </a:graphic>
            </p:graphicFrame>
          </mc:Choice>
          <mc:Fallback xmlns="">
            <p:graphicFrame>
              <p:nvGraphicFramePr>
                <p:cNvPr id="27" name="对象 26">
                  <a:extLst>
                    <a:ext uri="{FF2B5EF4-FFF2-40B4-BE49-F238E27FC236}">
                      <a16:creationId xmlns:a16="http://schemas.microsoft.com/office/drawing/2014/main" id="{A952A208-09B7-D147-D2AA-EABD54CDB57B}"/>
                    </a:ext>
                  </a:extLst>
                </p:cNvPr>
                <p:cNvGraphicFramePr>
                  <a:graphicFrameLocks noChangeAspect="1"/>
                </p:cNvGraphicFramePr>
                <p:nvPr>
                  <p:extLst>
                    <p:ext uri="{D42A27DB-BD31-4B8C-83A1-F6EECF244321}">
                      <p14:modId xmlns:p14="http://schemas.microsoft.com/office/powerpoint/2010/main" val="3412427209"/>
                    </p:ext>
                  </p:extLst>
                </p:nvPr>
              </p:nvGraphicFramePr>
              <p:xfrm>
                <a:off x="564479" y="3578723"/>
                <a:ext cx="1599150" cy="496288"/>
              </p:xfrm>
              <a:graphic>
                <a:graphicData uri="http://schemas.openxmlformats.org/presentationml/2006/ole">
                  <mc:AlternateContent>
                    <mc:Choice xmlns:v="urn:schemas-microsoft-com:vml" Requires="v">
                      <p:oleObj name="Equation" r:id="rId26" imgW="828782" imgH="257049" progId="Equation.DSMT4">
                        <p:embed/>
                      </p:oleObj>
                    </mc:Choice>
                    <mc:Fallback>
                      <p:oleObj name="Equation" r:id="rId26" imgW="828782" imgH="257049" progId="Equation.DSMT4">
                        <p:embed/>
                        <p:pic>
                          <p:nvPicPr>
                            <p:cNvPr id="0" name=""/>
                            <p:cNvPicPr/>
                            <p:nvPr/>
                          </p:nvPicPr>
                          <p:blipFill>
                            <a:blip r:embed="rId27"/>
                            <a:stretch>
                              <a:fillRect/>
                            </a:stretch>
                          </p:blipFill>
                          <p:spPr>
                            <a:xfrm>
                              <a:off x="564479" y="3578723"/>
                              <a:ext cx="1599150" cy="496288"/>
                            </a:xfrm>
                            <a:prstGeom prst="rect">
                              <a:avLst/>
                            </a:prstGeom>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8" name="对象 27">
                  <a:extLst>
                    <a:ext uri="{FF2B5EF4-FFF2-40B4-BE49-F238E27FC236}">
                      <a16:creationId xmlns:a16="http://schemas.microsoft.com/office/drawing/2014/main" id="{2AA63546-9634-B8EC-1E65-2D31259AE1F0}"/>
                    </a:ext>
                  </a:extLst>
                </p:cNvPr>
                <p:cNvGraphicFramePr>
                  <a:graphicFrameLocks noChangeAspect="1"/>
                </p:cNvGraphicFramePr>
                <p:nvPr>
                  <p:extLst>
                    <p:ext uri="{D42A27DB-BD31-4B8C-83A1-F6EECF244321}">
                      <p14:modId xmlns:p14="http://schemas.microsoft.com/office/powerpoint/2010/main" val="1526033433"/>
                    </p:ext>
                  </p:extLst>
                </p:nvPr>
              </p:nvGraphicFramePr>
              <p:xfrm>
                <a:off x="4610313" y="3578723"/>
                <a:ext cx="2704659" cy="525906"/>
              </p:xfrm>
              <a:graphic>
                <a:graphicData uri="http://schemas.openxmlformats.org/presentationml/2006/ole">
                  <mc:AlternateContent>
                    <mc:Choice xmlns:v="urn:schemas-microsoft-com:vml" Requires="v">
                      <p:oleObj name="Equation" r:id="rId28" imgW="1371702" imgH="266770" progId="Equation.DSMT4">
                        <p:embed/>
                      </p:oleObj>
                    </mc:Choice>
                    <mc:Fallback>
                      <p:oleObj name="Equation" r:id="rId28" imgW="1371702" imgH="266770" progId="Equation.DSMT4">
                        <p:embed/>
                        <p:pic>
                          <p:nvPicPr>
                            <p:cNvPr id="0" name=""/>
                            <p:cNvPicPr/>
                            <p:nvPr/>
                          </p:nvPicPr>
                          <p:blipFill>
                            <a:blip r:embed="rId29"/>
                            <a:stretch>
                              <a:fillRect/>
                            </a:stretch>
                          </p:blipFill>
                          <p:spPr>
                            <a:xfrm>
                              <a:off x="4610313" y="3578723"/>
                              <a:ext cx="2704659" cy="525906"/>
                            </a:xfrm>
                            <a:prstGeom prst="rect">
                              <a:avLst/>
                            </a:prstGeom>
                          </p:spPr>
                        </p:pic>
                      </p:oleObj>
                    </mc:Fallback>
                  </mc:AlternateContent>
                </a:graphicData>
              </a:graphic>
            </p:graphicFrame>
          </mc:Choice>
          <mc:Fallback xmlns="">
            <p:graphicFrame>
              <p:nvGraphicFramePr>
                <p:cNvPr id="28" name="对象 27">
                  <a:extLst>
                    <a:ext uri="{FF2B5EF4-FFF2-40B4-BE49-F238E27FC236}">
                      <a16:creationId xmlns:a16="http://schemas.microsoft.com/office/drawing/2014/main" id="{2AA63546-9634-B8EC-1E65-2D31259AE1F0}"/>
                    </a:ext>
                  </a:extLst>
                </p:cNvPr>
                <p:cNvGraphicFramePr>
                  <a:graphicFrameLocks noChangeAspect="1"/>
                </p:cNvGraphicFramePr>
                <p:nvPr>
                  <p:extLst>
                    <p:ext uri="{D42A27DB-BD31-4B8C-83A1-F6EECF244321}">
                      <p14:modId xmlns:p14="http://schemas.microsoft.com/office/powerpoint/2010/main" val="1526033433"/>
                    </p:ext>
                  </p:extLst>
                </p:nvPr>
              </p:nvGraphicFramePr>
              <p:xfrm>
                <a:off x="4610313" y="3578723"/>
                <a:ext cx="2704659" cy="525906"/>
              </p:xfrm>
              <a:graphic>
                <a:graphicData uri="http://schemas.openxmlformats.org/presentationml/2006/ole">
                  <mc:AlternateContent>
                    <mc:Choice xmlns:v="urn:schemas-microsoft-com:vml" Requires="v">
                      <p:oleObj name="Equation" r:id="rId30" imgW="1371702" imgH="266770" progId="Equation.DSMT4">
                        <p:embed/>
                      </p:oleObj>
                    </mc:Choice>
                    <mc:Fallback>
                      <p:oleObj name="Equation" r:id="rId30" imgW="1371702" imgH="266770" progId="Equation.DSMT4">
                        <p:embed/>
                        <p:pic>
                          <p:nvPicPr>
                            <p:cNvPr id="0" name=""/>
                            <p:cNvPicPr/>
                            <p:nvPr/>
                          </p:nvPicPr>
                          <p:blipFill>
                            <a:blip r:embed="rId31"/>
                            <a:stretch>
                              <a:fillRect/>
                            </a:stretch>
                          </p:blipFill>
                          <p:spPr>
                            <a:xfrm>
                              <a:off x="4610313" y="3578723"/>
                              <a:ext cx="2704659" cy="525906"/>
                            </a:xfrm>
                            <a:prstGeom prst="rect">
                              <a:avLst/>
                            </a:prstGeom>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9" name="对象 28">
                  <a:extLst>
                    <a:ext uri="{FF2B5EF4-FFF2-40B4-BE49-F238E27FC236}">
                      <a16:creationId xmlns:a16="http://schemas.microsoft.com/office/drawing/2014/main" id="{03E8DAFC-8E13-CB5F-F429-14DBA872036D}"/>
                    </a:ext>
                  </a:extLst>
                </p:cNvPr>
                <p:cNvGraphicFramePr>
                  <a:graphicFrameLocks noChangeAspect="1"/>
                </p:cNvGraphicFramePr>
                <p:nvPr>
                  <p:extLst>
                    <p:ext uri="{D42A27DB-BD31-4B8C-83A1-F6EECF244321}">
                      <p14:modId xmlns:p14="http://schemas.microsoft.com/office/powerpoint/2010/main" val="3566499025"/>
                    </p:ext>
                  </p:extLst>
                </p:nvPr>
              </p:nvGraphicFramePr>
              <p:xfrm>
                <a:off x="7526368" y="3411766"/>
                <a:ext cx="2499117" cy="967400"/>
              </p:xfrm>
              <a:graphic>
                <a:graphicData uri="http://schemas.openxmlformats.org/presentationml/2006/ole">
                  <mc:AlternateContent>
                    <mc:Choice xmlns:v="urn:schemas-microsoft-com:vml" Requires="v">
                      <p:oleObj name="Equation" r:id="rId32" imgW="1181248" imgH="457216" progId="Equation.DSMT4">
                        <p:embed/>
                      </p:oleObj>
                    </mc:Choice>
                    <mc:Fallback>
                      <p:oleObj name="Equation" r:id="rId32" imgW="1181248" imgH="457216" progId="Equation.DSMT4">
                        <p:embed/>
                        <p:pic>
                          <p:nvPicPr>
                            <p:cNvPr id="0" name=""/>
                            <p:cNvPicPr/>
                            <p:nvPr/>
                          </p:nvPicPr>
                          <p:blipFill>
                            <a:blip r:embed="rId33"/>
                            <a:stretch>
                              <a:fillRect/>
                            </a:stretch>
                          </p:blipFill>
                          <p:spPr>
                            <a:xfrm>
                              <a:off x="7526368" y="3411766"/>
                              <a:ext cx="2499117" cy="967400"/>
                            </a:xfrm>
                            <a:prstGeom prst="rect">
                              <a:avLst/>
                            </a:prstGeom>
                          </p:spPr>
                        </p:pic>
                      </p:oleObj>
                    </mc:Fallback>
                  </mc:AlternateContent>
                </a:graphicData>
              </a:graphic>
            </p:graphicFrame>
          </mc:Choice>
          <mc:Fallback xmlns="">
            <p:graphicFrame>
              <p:nvGraphicFramePr>
                <p:cNvPr id="29" name="对象 28">
                  <a:extLst>
                    <a:ext uri="{FF2B5EF4-FFF2-40B4-BE49-F238E27FC236}">
                      <a16:creationId xmlns:a16="http://schemas.microsoft.com/office/drawing/2014/main" id="{03E8DAFC-8E13-CB5F-F429-14DBA872036D}"/>
                    </a:ext>
                  </a:extLst>
                </p:cNvPr>
                <p:cNvGraphicFramePr>
                  <a:graphicFrameLocks noChangeAspect="1"/>
                </p:cNvGraphicFramePr>
                <p:nvPr>
                  <p:extLst>
                    <p:ext uri="{D42A27DB-BD31-4B8C-83A1-F6EECF244321}">
                      <p14:modId xmlns:p14="http://schemas.microsoft.com/office/powerpoint/2010/main" val="3566499025"/>
                    </p:ext>
                  </p:extLst>
                </p:nvPr>
              </p:nvGraphicFramePr>
              <p:xfrm>
                <a:off x="7526368" y="3411766"/>
                <a:ext cx="2499117" cy="967400"/>
              </p:xfrm>
              <a:graphic>
                <a:graphicData uri="http://schemas.openxmlformats.org/presentationml/2006/ole">
                  <mc:AlternateContent>
                    <mc:Choice xmlns:v="urn:schemas-microsoft-com:vml" Requires="v">
                      <p:oleObj name="Equation" r:id="rId34" imgW="1181248" imgH="457216" progId="Equation.DSMT4">
                        <p:embed/>
                      </p:oleObj>
                    </mc:Choice>
                    <mc:Fallback>
                      <p:oleObj name="Equation" r:id="rId34" imgW="1181248" imgH="457216" progId="Equation.DSMT4">
                        <p:embed/>
                        <p:pic>
                          <p:nvPicPr>
                            <p:cNvPr id="0" name=""/>
                            <p:cNvPicPr/>
                            <p:nvPr/>
                          </p:nvPicPr>
                          <p:blipFill>
                            <a:blip r:embed="rId35"/>
                            <a:stretch>
                              <a:fillRect/>
                            </a:stretch>
                          </p:blipFill>
                          <p:spPr>
                            <a:xfrm>
                              <a:off x="7526368" y="3411766"/>
                              <a:ext cx="2499117" cy="967400"/>
                            </a:xfrm>
                            <a:prstGeom prst="rect">
                              <a:avLst/>
                            </a:prstGeom>
                          </p:spPr>
                        </p:pic>
                      </p:oleObj>
                    </mc:Fallback>
                  </mc:AlternateContent>
                </a:graphicData>
              </a:graphic>
            </p:graphicFrame>
          </mc:Fallback>
        </mc:AlternateContent>
      </p:grpSp>
      <p:graphicFrame>
        <p:nvGraphicFramePr>
          <p:cNvPr id="31" name="对象 30">
            <a:extLst>
              <a:ext uri="{FF2B5EF4-FFF2-40B4-BE49-F238E27FC236}">
                <a16:creationId xmlns:a16="http://schemas.microsoft.com/office/drawing/2014/main" id="{B5128E80-EFDA-B2E7-B59C-713D06AB9E9D}"/>
              </a:ext>
            </a:extLst>
          </p:cNvPr>
          <p:cNvGraphicFramePr>
            <a:graphicFrameLocks noChangeAspect="1"/>
          </p:cNvGraphicFramePr>
          <p:nvPr>
            <p:extLst>
              <p:ext uri="{D42A27DB-BD31-4B8C-83A1-F6EECF244321}">
                <p14:modId xmlns:p14="http://schemas.microsoft.com/office/powerpoint/2010/main" val="936238453"/>
              </p:ext>
            </p:extLst>
          </p:nvPr>
        </p:nvGraphicFramePr>
        <p:xfrm>
          <a:off x="1185834" y="4642242"/>
          <a:ext cx="3541374" cy="2105305"/>
        </p:xfrm>
        <a:graphic>
          <a:graphicData uri="http://schemas.openxmlformats.org/presentationml/2006/ole">
            <mc:AlternateContent xmlns:mc="http://schemas.openxmlformats.org/markup-compatibility/2006">
              <mc:Choice xmlns:v="urn:schemas-microsoft-com:vml" Requires="v">
                <p:oleObj name="Equation" r:id="rId36" imgW="2419380" imgH="1438252" progId="Equation.DSMT4">
                  <p:embed/>
                </p:oleObj>
              </mc:Choice>
              <mc:Fallback>
                <p:oleObj name="Equation" r:id="rId36" imgW="2419380" imgH="1438252" progId="Equation.DSMT4">
                  <p:embed/>
                  <p:pic>
                    <p:nvPicPr>
                      <p:cNvPr id="0" name=""/>
                      <p:cNvPicPr/>
                      <p:nvPr/>
                    </p:nvPicPr>
                    <p:blipFill>
                      <a:blip r:embed="rId37"/>
                      <a:stretch>
                        <a:fillRect/>
                      </a:stretch>
                    </p:blipFill>
                    <p:spPr>
                      <a:xfrm>
                        <a:off x="1185834" y="4642242"/>
                        <a:ext cx="3541374" cy="2105305"/>
                      </a:xfrm>
                      <a:prstGeom prst="rect">
                        <a:avLst/>
                      </a:prstGeom>
                    </p:spPr>
                  </p:pic>
                </p:oleObj>
              </mc:Fallback>
            </mc:AlternateContent>
          </a:graphicData>
        </a:graphic>
      </p:graphicFrame>
      <p:graphicFrame>
        <p:nvGraphicFramePr>
          <p:cNvPr id="32" name="对象 31">
            <a:extLst>
              <a:ext uri="{FF2B5EF4-FFF2-40B4-BE49-F238E27FC236}">
                <a16:creationId xmlns:a16="http://schemas.microsoft.com/office/drawing/2014/main" id="{7B2ACCB0-2FE8-E699-31F2-4D499B47C8D8}"/>
              </a:ext>
            </a:extLst>
          </p:cNvPr>
          <p:cNvGraphicFramePr>
            <a:graphicFrameLocks noChangeAspect="1"/>
          </p:cNvGraphicFramePr>
          <p:nvPr>
            <p:extLst>
              <p:ext uri="{D42A27DB-BD31-4B8C-83A1-F6EECF244321}">
                <p14:modId xmlns:p14="http://schemas.microsoft.com/office/powerpoint/2010/main" val="3465580012"/>
              </p:ext>
            </p:extLst>
          </p:nvPr>
        </p:nvGraphicFramePr>
        <p:xfrm>
          <a:off x="6023884" y="5258702"/>
          <a:ext cx="2349705" cy="916958"/>
        </p:xfrm>
        <a:graphic>
          <a:graphicData uri="http://schemas.openxmlformats.org/presentationml/2006/ole">
            <mc:AlternateContent xmlns:mc="http://schemas.openxmlformats.org/markup-compatibility/2006">
              <mc:Choice xmlns:v="urn:schemas-microsoft-com:vml" Requires="v">
                <p:oleObj name="Equation" r:id="rId38" imgW="1171527" imgH="457216" progId="Equation.DSMT4">
                  <p:embed/>
                </p:oleObj>
              </mc:Choice>
              <mc:Fallback>
                <p:oleObj name="Equation" r:id="rId38" imgW="1171527" imgH="457216" progId="Equation.DSMT4">
                  <p:embed/>
                  <p:pic>
                    <p:nvPicPr>
                      <p:cNvPr id="0" name=""/>
                      <p:cNvPicPr/>
                      <p:nvPr/>
                    </p:nvPicPr>
                    <p:blipFill>
                      <a:blip r:embed="rId39"/>
                      <a:stretch>
                        <a:fillRect/>
                      </a:stretch>
                    </p:blipFill>
                    <p:spPr>
                      <a:xfrm>
                        <a:off x="6023884" y="5258702"/>
                        <a:ext cx="2349705" cy="916958"/>
                      </a:xfrm>
                      <a:prstGeom prst="rect">
                        <a:avLst/>
                      </a:prstGeom>
                    </p:spPr>
                  </p:pic>
                </p:oleObj>
              </mc:Fallback>
            </mc:AlternateContent>
          </a:graphicData>
        </a:graphic>
      </p:graphicFrame>
      <p:graphicFrame>
        <p:nvGraphicFramePr>
          <p:cNvPr id="33" name="对象 32">
            <a:extLst>
              <a:ext uri="{FF2B5EF4-FFF2-40B4-BE49-F238E27FC236}">
                <a16:creationId xmlns:a16="http://schemas.microsoft.com/office/drawing/2014/main" id="{13A6ADDF-21CB-08FA-113B-C96DB71A24D4}"/>
              </a:ext>
            </a:extLst>
          </p:cNvPr>
          <p:cNvGraphicFramePr>
            <a:graphicFrameLocks noChangeAspect="1"/>
          </p:cNvGraphicFramePr>
          <p:nvPr>
            <p:extLst>
              <p:ext uri="{D42A27DB-BD31-4B8C-83A1-F6EECF244321}">
                <p14:modId xmlns:p14="http://schemas.microsoft.com/office/powerpoint/2010/main" val="2242126276"/>
              </p:ext>
            </p:extLst>
          </p:nvPr>
        </p:nvGraphicFramePr>
        <p:xfrm>
          <a:off x="8675884" y="5258702"/>
          <a:ext cx="2466731" cy="910793"/>
        </p:xfrm>
        <a:graphic>
          <a:graphicData uri="http://schemas.openxmlformats.org/presentationml/2006/ole">
            <mc:AlternateContent xmlns:mc="http://schemas.openxmlformats.org/markup-compatibility/2006">
              <mc:Choice xmlns:v="urn:schemas-microsoft-com:vml" Requires="v">
                <p:oleObj name="Equation" r:id="rId40" imgW="1238492" imgH="457216" progId="Equation.DSMT4">
                  <p:embed/>
                </p:oleObj>
              </mc:Choice>
              <mc:Fallback>
                <p:oleObj name="Equation" r:id="rId40" imgW="1238492" imgH="457216" progId="Equation.DSMT4">
                  <p:embed/>
                  <p:pic>
                    <p:nvPicPr>
                      <p:cNvPr id="0" name=""/>
                      <p:cNvPicPr/>
                      <p:nvPr/>
                    </p:nvPicPr>
                    <p:blipFill>
                      <a:blip r:embed="rId41"/>
                      <a:stretch>
                        <a:fillRect/>
                      </a:stretch>
                    </p:blipFill>
                    <p:spPr>
                      <a:xfrm>
                        <a:off x="8675884" y="5258702"/>
                        <a:ext cx="2466731" cy="910793"/>
                      </a:xfrm>
                      <a:prstGeom prst="rect">
                        <a:avLst/>
                      </a:prstGeom>
                    </p:spPr>
                  </p:pic>
                </p:oleObj>
              </mc:Fallback>
            </mc:AlternateContent>
          </a:graphicData>
        </a:graphic>
      </p:graphicFrame>
      <p:cxnSp>
        <p:nvCxnSpPr>
          <p:cNvPr id="36" name="直接箭头连接符 35">
            <a:extLst>
              <a:ext uri="{FF2B5EF4-FFF2-40B4-BE49-F238E27FC236}">
                <a16:creationId xmlns:a16="http://schemas.microsoft.com/office/drawing/2014/main" id="{987E70F5-6394-B94F-4731-55A574E07CEF}"/>
              </a:ext>
            </a:extLst>
          </p:cNvPr>
          <p:cNvCxnSpPr>
            <a:cxnSpLocks/>
          </p:cNvCxnSpPr>
          <p:nvPr/>
        </p:nvCxnSpPr>
        <p:spPr>
          <a:xfrm flipH="1">
            <a:off x="4536133" y="4550174"/>
            <a:ext cx="509297" cy="24826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39" name="直接箭头连接符 38">
            <a:extLst>
              <a:ext uri="{FF2B5EF4-FFF2-40B4-BE49-F238E27FC236}">
                <a16:creationId xmlns:a16="http://schemas.microsoft.com/office/drawing/2014/main" id="{52EDE8E6-EF1B-A8EA-9FCA-71AAB87CC4D1}"/>
              </a:ext>
            </a:extLst>
          </p:cNvPr>
          <p:cNvCxnSpPr>
            <a:cxnSpLocks/>
          </p:cNvCxnSpPr>
          <p:nvPr/>
        </p:nvCxnSpPr>
        <p:spPr>
          <a:xfrm>
            <a:off x="5224181" y="5615252"/>
            <a:ext cx="497519"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4" name="TextBox 7">
            <a:extLst>
              <a:ext uri="{FF2B5EF4-FFF2-40B4-BE49-F238E27FC236}">
                <a16:creationId xmlns:a16="http://schemas.microsoft.com/office/drawing/2014/main" id="{9BA48CFD-A052-A9EB-C3A1-216806A05364}"/>
              </a:ext>
            </a:extLst>
          </p:cNvPr>
          <p:cNvSpPr txBox="1"/>
          <p:nvPr/>
        </p:nvSpPr>
        <p:spPr>
          <a:xfrm>
            <a:off x="528544" y="852498"/>
            <a:ext cx="10868196" cy="52322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pPr marL="457200" indent="-457200">
              <a:buFont typeface="Wingdings" panose="05000000000000000000" pitchFamily="2" charset="2"/>
              <a:buChar char="n"/>
            </a:pPr>
            <a:r>
              <a:rPr lang="zh-CN" altLang="en-US" sz="2800" dirty="0">
                <a:solidFill>
                  <a:srgbClr val="0066FF"/>
                </a:solidFill>
              </a:rPr>
              <a:t>减小参数估计值的方差</a:t>
            </a:r>
            <a:r>
              <a:rPr lang="zh-CN" altLang="en-US" sz="2800" dirty="0">
                <a:solidFill>
                  <a:schemeClr val="tx1"/>
                </a:solidFill>
              </a:rPr>
              <a:t>，可采用增大样本容量、岭回归等方法</a:t>
            </a:r>
            <a:endParaRPr lang="en-US" altLang="zh-CN" sz="2800" dirty="0">
              <a:solidFill>
                <a:schemeClr val="tx1"/>
              </a:solidFill>
            </a:endParaRPr>
          </a:p>
        </p:txBody>
      </p:sp>
    </p:spTree>
    <p:extLst>
      <p:ext uri="{BB962C8B-B14F-4D97-AF65-F5344CB8AC3E}">
        <p14:creationId xmlns:p14="http://schemas.microsoft.com/office/powerpoint/2010/main" val="20104090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2A8C6-FC69-6F02-239D-B65BF399004F}"/>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0D223673-F16A-7DAB-6735-B278F759844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  多重共线性的解决方案</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2" name="TextBox 7">
            <a:extLst>
              <a:ext uri="{FF2B5EF4-FFF2-40B4-BE49-F238E27FC236}">
                <a16:creationId xmlns:a16="http://schemas.microsoft.com/office/drawing/2014/main" id="{8180A20C-DCE1-7E48-A0C4-588C893E966C}"/>
              </a:ext>
            </a:extLst>
          </p:cNvPr>
          <p:cNvSpPr txBox="1"/>
          <p:nvPr/>
        </p:nvSpPr>
        <p:spPr>
          <a:xfrm>
            <a:off x="412521" y="1306770"/>
            <a:ext cx="11571627" cy="584775"/>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dirty="0"/>
              <a:t>为什么增大样本容量可以消除多重共线性？</a:t>
            </a:r>
            <a:endParaRPr lang="zh-CN" altLang="en-US" dirty="0">
              <a:solidFill>
                <a:schemeClr val="tx1"/>
              </a:solidFill>
            </a:endParaRPr>
          </a:p>
        </p:txBody>
      </p:sp>
      <p:grpSp>
        <p:nvGrpSpPr>
          <p:cNvPr id="8" name="组合 7">
            <a:extLst>
              <a:ext uri="{FF2B5EF4-FFF2-40B4-BE49-F238E27FC236}">
                <a16:creationId xmlns:a16="http://schemas.microsoft.com/office/drawing/2014/main" id="{59D73BE8-B4F3-8254-01D4-1844F2A51A76}"/>
              </a:ext>
            </a:extLst>
          </p:cNvPr>
          <p:cNvGrpSpPr/>
          <p:nvPr/>
        </p:nvGrpSpPr>
        <p:grpSpPr>
          <a:xfrm>
            <a:off x="3337777" y="2450279"/>
            <a:ext cx="5333179" cy="1654571"/>
            <a:chOff x="5925671" y="4601808"/>
            <a:chExt cx="5333179" cy="1654571"/>
          </a:xfrm>
        </p:grpSpPr>
        <p:sp>
          <p:nvSpPr>
            <p:cNvPr id="35" name="矩形: 圆角 34">
              <a:extLst>
                <a:ext uri="{FF2B5EF4-FFF2-40B4-BE49-F238E27FC236}">
                  <a16:creationId xmlns:a16="http://schemas.microsoft.com/office/drawing/2014/main" id="{AAEFD5A1-6A8F-E6E5-8144-7B1214BEBE5A}"/>
                </a:ext>
              </a:extLst>
            </p:cNvPr>
            <p:cNvSpPr/>
            <p:nvPr/>
          </p:nvSpPr>
          <p:spPr>
            <a:xfrm>
              <a:off x="5925671" y="4601808"/>
              <a:ext cx="5333179" cy="1654571"/>
            </a:xfrm>
            <a:prstGeom prst="roundRect">
              <a:avLst/>
            </a:prstGeom>
            <a:noFill/>
            <a:ln w="28575">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4" name="对象 3">
              <a:extLst>
                <a:ext uri="{FF2B5EF4-FFF2-40B4-BE49-F238E27FC236}">
                  <a16:creationId xmlns:a16="http://schemas.microsoft.com/office/drawing/2014/main" id="{06EECFA8-7AB9-4132-0E7B-E852003C27E5}"/>
                </a:ext>
              </a:extLst>
            </p:cNvPr>
            <p:cNvGraphicFramePr>
              <a:graphicFrameLocks noChangeAspect="1"/>
            </p:cNvGraphicFramePr>
            <p:nvPr>
              <p:extLst>
                <p:ext uri="{D42A27DB-BD31-4B8C-83A1-F6EECF244321}">
                  <p14:modId xmlns:p14="http://schemas.microsoft.com/office/powerpoint/2010/main" val="508485679"/>
                </p:ext>
              </p:extLst>
            </p:nvPr>
          </p:nvGraphicFramePr>
          <p:xfrm>
            <a:off x="6068400" y="4917743"/>
            <a:ext cx="2349705" cy="916958"/>
          </p:xfrm>
          <a:graphic>
            <a:graphicData uri="http://schemas.openxmlformats.org/presentationml/2006/ole">
              <mc:AlternateContent xmlns:mc="http://schemas.openxmlformats.org/markup-compatibility/2006">
                <mc:Choice xmlns:v="urn:schemas-microsoft-com:vml" Requires="v">
                  <p:oleObj name="Equation" r:id="rId3" imgW="1171527" imgH="457216" progId="Equation.DSMT4">
                    <p:embed/>
                  </p:oleObj>
                </mc:Choice>
                <mc:Fallback>
                  <p:oleObj name="Equation" r:id="rId3" imgW="1171527" imgH="457216" progId="Equation.DSMT4">
                    <p:embed/>
                    <p:pic>
                      <p:nvPicPr>
                        <p:cNvPr id="32" name="对象 31">
                          <a:extLst>
                            <a:ext uri="{FF2B5EF4-FFF2-40B4-BE49-F238E27FC236}">
                              <a16:creationId xmlns:a16="http://schemas.microsoft.com/office/drawing/2014/main" id="{006E1D84-593B-ECBA-635F-76B0EBBA20C9}"/>
                            </a:ext>
                          </a:extLst>
                        </p:cNvPr>
                        <p:cNvPicPr/>
                        <p:nvPr/>
                      </p:nvPicPr>
                      <p:blipFill>
                        <a:blip r:embed="rId4"/>
                        <a:stretch>
                          <a:fillRect/>
                        </a:stretch>
                      </p:blipFill>
                      <p:spPr>
                        <a:xfrm>
                          <a:off x="6068400" y="4917743"/>
                          <a:ext cx="2349705" cy="91695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DABE404A-6760-1265-D85D-0F31EA45E6BC}"/>
                </a:ext>
              </a:extLst>
            </p:cNvPr>
            <p:cNvGraphicFramePr>
              <a:graphicFrameLocks noChangeAspect="1"/>
            </p:cNvGraphicFramePr>
            <p:nvPr>
              <p:extLst>
                <p:ext uri="{D42A27DB-BD31-4B8C-83A1-F6EECF244321}">
                  <p14:modId xmlns:p14="http://schemas.microsoft.com/office/powerpoint/2010/main" val="455785799"/>
                </p:ext>
              </p:extLst>
            </p:nvPr>
          </p:nvGraphicFramePr>
          <p:xfrm>
            <a:off x="8720400" y="4917743"/>
            <a:ext cx="2466731" cy="910793"/>
          </p:xfrm>
          <a:graphic>
            <a:graphicData uri="http://schemas.openxmlformats.org/presentationml/2006/ole">
              <mc:AlternateContent xmlns:mc="http://schemas.openxmlformats.org/markup-compatibility/2006">
                <mc:Choice xmlns:v="urn:schemas-microsoft-com:vml" Requires="v">
                  <p:oleObj name="Equation" r:id="rId5" imgW="1238492" imgH="457216" progId="Equation.DSMT4">
                    <p:embed/>
                  </p:oleObj>
                </mc:Choice>
                <mc:Fallback>
                  <p:oleObj name="Equation" r:id="rId5" imgW="1238492" imgH="457216" progId="Equation.DSMT4">
                    <p:embed/>
                    <p:pic>
                      <p:nvPicPr>
                        <p:cNvPr id="33" name="对象 32">
                          <a:extLst>
                            <a:ext uri="{FF2B5EF4-FFF2-40B4-BE49-F238E27FC236}">
                              <a16:creationId xmlns:a16="http://schemas.microsoft.com/office/drawing/2014/main" id="{80809B0B-207C-864B-B402-324E405D51DE}"/>
                            </a:ext>
                          </a:extLst>
                        </p:cNvPr>
                        <p:cNvPicPr/>
                        <p:nvPr/>
                      </p:nvPicPr>
                      <p:blipFill>
                        <a:blip r:embed="rId6"/>
                        <a:stretch>
                          <a:fillRect/>
                        </a:stretch>
                      </p:blipFill>
                      <p:spPr>
                        <a:xfrm>
                          <a:off x="8720400" y="4917743"/>
                          <a:ext cx="2466731" cy="910793"/>
                        </a:xfrm>
                        <a:prstGeom prst="rect">
                          <a:avLst/>
                        </a:prstGeom>
                      </p:spPr>
                    </p:pic>
                  </p:oleObj>
                </mc:Fallback>
              </mc:AlternateContent>
            </a:graphicData>
          </a:graphic>
        </p:graphicFrame>
      </p:grpSp>
      <mc:AlternateContent xmlns:mc="http://schemas.openxmlformats.org/markup-compatibility/2006" xmlns:a14="http://schemas.microsoft.com/office/drawing/2010/main">
        <mc:Choice Requires="a14">
          <p:sp>
            <p:nvSpPr>
              <p:cNvPr id="38" name="TextBox 7">
                <a:extLst>
                  <a:ext uri="{FF2B5EF4-FFF2-40B4-BE49-F238E27FC236}">
                    <a16:creationId xmlns:a16="http://schemas.microsoft.com/office/drawing/2014/main" id="{3CE4B90A-B1BF-321F-3BA7-CA1B6D85FEBB}"/>
                  </a:ext>
                </a:extLst>
              </p:cNvPr>
              <p:cNvSpPr txBox="1"/>
              <p:nvPr/>
            </p:nvSpPr>
            <p:spPr>
              <a:xfrm>
                <a:off x="1115952" y="4637544"/>
                <a:ext cx="10868196" cy="100566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defRPr sz="3200" b="1" spc="50">
                    <a:ln w="11430"/>
                    <a:solidFill>
                      <a:srgbClr val="FF0000"/>
                    </a:solidFill>
                    <a:effectLst>
                      <a:outerShdw blurRad="76200" dist="50800" dir="5400000" algn="tl" rotWithShape="0">
                        <a:srgbClr val="000000">
                          <a:alpha val="65000"/>
                        </a:srgbClr>
                      </a:outerShdw>
                    </a:effectLst>
                    <a:latin typeface="Arial" panose="020B0604020202020204" pitchFamily="34" charset="0"/>
                    <a:ea typeface="微软雅黑" panose="020B0503020204020204" pitchFamily="34" charset="-122"/>
                    <a:cs typeface="Arial" panose="020B0604020202020204" pitchFamily="34" charset="0"/>
                  </a:defRPr>
                </a:lvl1pPr>
              </a:lstStyle>
              <a:p>
                <a:r>
                  <a:rPr lang="zh-CN" altLang="en-US" sz="2800" dirty="0">
                    <a:solidFill>
                      <a:schemeClr val="tx1"/>
                    </a:solidFill>
                  </a:rPr>
                  <a:t>在</a:t>
                </a:r>
                <a14:m>
                  <m:oMath xmlns:m="http://schemas.openxmlformats.org/officeDocument/2006/math">
                    <m:sSub>
                      <m:sSubPr>
                        <m:ctrlPr>
                          <a:rPr lang="en-US" altLang="zh-CN" sz="2800" i="1" smtClean="0">
                            <a:solidFill>
                              <a:schemeClr val="tx1"/>
                            </a:solidFill>
                            <a:latin typeface="Cambria Math" panose="02040503050406030204" pitchFamily="18" charset="0"/>
                          </a:rPr>
                        </m:ctrlPr>
                      </m:sSubPr>
                      <m:e>
                        <m:r>
                          <a:rPr lang="en-US" altLang="zh-CN" sz="2800" b="1" i="1" smtClean="0">
                            <a:solidFill>
                              <a:schemeClr val="tx1"/>
                            </a:solidFill>
                            <a:latin typeface="Cambria Math" panose="02040503050406030204" pitchFamily="18" charset="0"/>
                          </a:rPr>
                          <m:t>𝒓</m:t>
                        </m:r>
                      </m:e>
                      <m:sub>
                        <m:r>
                          <a:rPr lang="en-US" altLang="zh-CN" sz="2800" b="1" i="1" smtClean="0">
                            <a:solidFill>
                              <a:schemeClr val="tx1"/>
                            </a:solidFill>
                            <a:latin typeface="Cambria Math" panose="02040503050406030204" pitchFamily="18" charset="0"/>
                          </a:rPr>
                          <m:t>𝟏𝟐</m:t>
                        </m:r>
                      </m:sub>
                    </m:sSub>
                  </m:oMath>
                </a14:m>
                <a:r>
                  <a:rPr lang="zh-CN" altLang="en-US" sz="2800" dirty="0">
                    <a:solidFill>
                      <a:schemeClr val="tx1"/>
                    </a:solidFill>
                  </a:rPr>
                  <a:t>固定不变时，</a:t>
                </a:r>
                <a:r>
                  <a:rPr lang="zh-CN" altLang="en-US" sz="2800" dirty="0">
                    <a:solidFill>
                      <a:srgbClr val="C00000"/>
                    </a:solidFill>
                  </a:rPr>
                  <a:t>样本容量</a:t>
                </a:r>
                <a:r>
                  <a:rPr lang="en-US" altLang="zh-CN" sz="2800" dirty="0">
                    <a:solidFill>
                      <a:srgbClr val="C00000"/>
                    </a:solidFill>
                  </a:rPr>
                  <a:t>N</a:t>
                </a:r>
                <a:r>
                  <a:rPr lang="zh-CN" altLang="en-US" sz="2800" dirty="0">
                    <a:solidFill>
                      <a:srgbClr val="C00000"/>
                    </a:solidFill>
                  </a:rPr>
                  <a:t>增大</a:t>
                </a:r>
                <a:r>
                  <a:rPr lang="zh-CN" altLang="en-US" sz="2800" dirty="0">
                    <a:solidFill>
                      <a:schemeClr val="tx1"/>
                    </a:solidFill>
                  </a:rPr>
                  <a:t>，</a:t>
                </a:r>
                <a:r>
                  <a:rPr lang="en-US" altLang="zh-CN" sz="2800" dirty="0">
                    <a:solidFill>
                      <a:schemeClr val="tx1"/>
                    </a:solidFill>
                  </a:rPr>
                  <a:t> </a:t>
                </a:r>
                <a14:m>
                  <m:oMath xmlns:m="http://schemas.openxmlformats.org/officeDocument/2006/math">
                    <m:sSub>
                      <m:sSubPr>
                        <m:ctrlPr>
                          <a:rPr lang="en-US" altLang="zh-CN" sz="2800" i="1" smtClean="0">
                            <a:solidFill>
                              <a:srgbClr val="C00000"/>
                            </a:solidFill>
                            <a:latin typeface="Cambria Math" panose="02040503050406030204" pitchFamily="18" charset="0"/>
                          </a:rPr>
                        </m:ctrlPr>
                      </m:sSubPr>
                      <m:e>
                        <m:r>
                          <a:rPr lang="en-US" altLang="zh-CN" sz="2800" b="1" i="1" smtClean="0">
                            <a:solidFill>
                              <a:srgbClr val="C00000"/>
                            </a:solidFill>
                            <a:latin typeface="Cambria Math" panose="02040503050406030204" pitchFamily="18" charset="0"/>
                          </a:rPr>
                          <m:t>𝑳</m:t>
                        </m:r>
                      </m:e>
                      <m:sub>
                        <m:r>
                          <a:rPr lang="en-US" altLang="zh-CN" sz="2800" i="1">
                            <a:solidFill>
                              <a:srgbClr val="C00000"/>
                            </a:solidFill>
                            <a:latin typeface="Cambria Math" panose="02040503050406030204" pitchFamily="18" charset="0"/>
                          </a:rPr>
                          <m:t>𝟏</m:t>
                        </m:r>
                        <m:r>
                          <a:rPr lang="en-US" altLang="zh-CN" sz="2800" b="1" i="1" smtClean="0">
                            <a:solidFill>
                              <a:srgbClr val="C00000"/>
                            </a:solidFill>
                            <a:latin typeface="Cambria Math" panose="02040503050406030204" pitchFamily="18" charset="0"/>
                          </a:rPr>
                          <m:t>𝟏</m:t>
                        </m:r>
                      </m:sub>
                    </m:sSub>
                  </m:oMath>
                </a14:m>
                <a:r>
                  <a:rPr lang="zh-CN" altLang="en-US" sz="2800" dirty="0">
                    <a:solidFill>
                      <a:srgbClr val="C00000"/>
                    </a:solidFill>
                  </a:rPr>
                  <a:t>和</a:t>
                </a:r>
                <a14:m>
                  <m:oMath xmlns:m="http://schemas.openxmlformats.org/officeDocument/2006/math">
                    <m:sSub>
                      <m:sSubPr>
                        <m:ctrlPr>
                          <a:rPr lang="en-US" altLang="zh-CN" sz="2800" i="1">
                            <a:solidFill>
                              <a:srgbClr val="C00000"/>
                            </a:solidFill>
                            <a:latin typeface="Cambria Math" panose="02040503050406030204" pitchFamily="18" charset="0"/>
                          </a:rPr>
                        </m:ctrlPr>
                      </m:sSubPr>
                      <m:e>
                        <m:r>
                          <a:rPr lang="en-US" altLang="zh-CN" sz="2800" b="1" i="1" smtClean="0">
                            <a:solidFill>
                              <a:srgbClr val="C00000"/>
                            </a:solidFill>
                            <a:latin typeface="Cambria Math" panose="02040503050406030204" pitchFamily="18" charset="0"/>
                          </a:rPr>
                          <m:t>𝑳</m:t>
                        </m:r>
                      </m:e>
                      <m:sub>
                        <m:r>
                          <a:rPr lang="en-US" altLang="zh-CN" sz="2800" i="1">
                            <a:solidFill>
                              <a:srgbClr val="C00000"/>
                            </a:solidFill>
                            <a:latin typeface="Cambria Math" panose="02040503050406030204" pitchFamily="18" charset="0"/>
                          </a:rPr>
                          <m:t>𝟏𝟐</m:t>
                        </m:r>
                      </m:sub>
                    </m:sSub>
                  </m:oMath>
                </a14:m>
                <a:r>
                  <a:rPr lang="zh-CN" altLang="en-US" sz="2800" dirty="0">
                    <a:solidFill>
                      <a:srgbClr val="C00000"/>
                    </a:solidFill>
                  </a:rPr>
                  <a:t>均会增大</a:t>
                </a:r>
                <a:r>
                  <a:rPr lang="zh-CN" altLang="en-US" sz="2800" dirty="0">
                    <a:solidFill>
                      <a:schemeClr val="tx1"/>
                    </a:solidFill>
                  </a:rPr>
                  <a:t>，</a:t>
                </a:r>
                <a:r>
                  <a:rPr lang="zh-CN" altLang="en-US" sz="2800" dirty="0">
                    <a:solidFill>
                      <a:srgbClr val="C00000"/>
                    </a:solidFill>
                  </a:rPr>
                  <a:t>方差</a:t>
                </a:r>
                <a14:m>
                  <m:oMath xmlns:m="http://schemas.openxmlformats.org/officeDocument/2006/math">
                    <m:r>
                      <a:rPr lang="en-US" altLang="zh-CN" sz="2800" b="1" i="1" smtClean="0">
                        <a:solidFill>
                          <a:srgbClr val="C00000"/>
                        </a:solidFill>
                        <a:latin typeface="Cambria Math" panose="02040503050406030204" pitchFamily="18" charset="0"/>
                      </a:rPr>
                      <m:t>𝑫</m:t>
                    </m:r>
                    <m:r>
                      <a:rPr lang="en-US" altLang="zh-CN" sz="2800" b="1" i="1" smtClean="0">
                        <a:solidFill>
                          <a:srgbClr val="C00000"/>
                        </a:solidFill>
                        <a:latin typeface="Cambria Math" panose="02040503050406030204" pitchFamily="18" charset="0"/>
                      </a:rPr>
                      <m:t>(</m:t>
                    </m:r>
                    <m:sSub>
                      <m:sSubPr>
                        <m:ctrlPr>
                          <a:rPr lang="en-US" altLang="zh-CN" sz="2800" b="1" i="1" smtClean="0">
                            <a:solidFill>
                              <a:srgbClr val="C00000"/>
                            </a:solidFill>
                            <a:latin typeface="Cambria Math" panose="02040503050406030204" pitchFamily="18" charset="0"/>
                          </a:rPr>
                        </m:ctrlPr>
                      </m:sSubPr>
                      <m:e>
                        <m:acc>
                          <m:accPr>
                            <m:chr m:val="̂"/>
                            <m:ctrlPr>
                              <a:rPr lang="en-US" altLang="zh-CN" sz="2800" b="1" i="1" smtClean="0">
                                <a:solidFill>
                                  <a:srgbClr val="C00000"/>
                                </a:solidFill>
                                <a:latin typeface="Cambria Math" panose="02040503050406030204" pitchFamily="18" charset="0"/>
                              </a:rPr>
                            </m:ctrlPr>
                          </m:accPr>
                          <m:e>
                            <m:r>
                              <a:rPr lang="zh-CN" altLang="en-US" sz="2800" b="1" i="1" smtClean="0">
                                <a:solidFill>
                                  <a:srgbClr val="C00000"/>
                                </a:solidFill>
                                <a:latin typeface="Cambria Math" panose="02040503050406030204" pitchFamily="18" charset="0"/>
                              </a:rPr>
                              <m:t>𝜷</m:t>
                            </m:r>
                          </m:e>
                        </m:acc>
                      </m:e>
                      <m:sub>
                        <m:r>
                          <a:rPr lang="en-US" altLang="zh-CN" sz="2800" b="1" i="1" smtClean="0">
                            <a:solidFill>
                              <a:srgbClr val="C00000"/>
                            </a:solidFill>
                            <a:latin typeface="Cambria Math" panose="02040503050406030204" pitchFamily="18" charset="0"/>
                          </a:rPr>
                          <m:t>𝟏</m:t>
                        </m:r>
                      </m:sub>
                    </m:sSub>
                    <m:r>
                      <a:rPr lang="en-US" altLang="zh-CN" sz="2800" b="1" i="1" smtClean="0">
                        <a:solidFill>
                          <a:srgbClr val="C00000"/>
                        </a:solidFill>
                        <a:latin typeface="Cambria Math" panose="02040503050406030204" pitchFamily="18" charset="0"/>
                      </a:rPr>
                      <m:t>)</m:t>
                    </m:r>
                  </m:oMath>
                </a14:m>
                <a:r>
                  <a:rPr lang="zh-CN" altLang="en-US" sz="2800" dirty="0">
                    <a:solidFill>
                      <a:srgbClr val="C00000"/>
                    </a:solidFill>
                  </a:rPr>
                  <a:t>和</a:t>
                </a:r>
                <a14:m>
                  <m:oMath xmlns:m="http://schemas.openxmlformats.org/officeDocument/2006/math">
                    <m:r>
                      <a:rPr lang="en-US" altLang="zh-CN" sz="2800" i="1">
                        <a:solidFill>
                          <a:srgbClr val="C00000"/>
                        </a:solidFill>
                        <a:latin typeface="Cambria Math" panose="02040503050406030204" pitchFamily="18" charset="0"/>
                      </a:rPr>
                      <m:t>𝑫</m:t>
                    </m:r>
                    <m:r>
                      <a:rPr lang="en-US" altLang="zh-CN" sz="2800" i="1">
                        <a:solidFill>
                          <a:srgbClr val="C00000"/>
                        </a:solidFill>
                        <a:latin typeface="Cambria Math" panose="02040503050406030204" pitchFamily="18" charset="0"/>
                      </a:rPr>
                      <m:t>(</m:t>
                    </m:r>
                    <m:sSub>
                      <m:sSubPr>
                        <m:ctrlPr>
                          <a:rPr lang="en-US" altLang="zh-CN" sz="2800" i="1">
                            <a:solidFill>
                              <a:srgbClr val="C00000"/>
                            </a:solidFill>
                            <a:latin typeface="Cambria Math" panose="02040503050406030204" pitchFamily="18" charset="0"/>
                          </a:rPr>
                        </m:ctrlPr>
                      </m:sSubPr>
                      <m:e>
                        <m:acc>
                          <m:accPr>
                            <m:chr m:val="̂"/>
                            <m:ctrlPr>
                              <a:rPr lang="en-US" altLang="zh-CN" sz="2800" i="1">
                                <a:solidFill>
                                  <a:srgbClr val="C00000"/>
                                </a:solidFill>
                                <a:latin typeface="Cambria Math" panose="02040503050406030204" pitchFamily="18" charset="0"/>
                              </a:rPr>
                            </m:ctrlPr>
                          </m:accPr>
                          <m:e>
                            <m:r>
                              <a:rPr lang="zh-CN" altLang="en-US" sz="2800" i="1">
                                <a:solidFill>
                                  <a:srgbClr val="C00000"/>
                                </a:solidFill>
                                <a:latin typeface="Cambria Math" panose="02040503050406030204" pitchFamily="18" charset="0"/>
                              </a:rPr>
                              <m:t>𝜷</m:t>
                            </m:r>
                          </m:e>
                        </m:acc>
                      </m:e>
                      <m:sub>
                        <m:r>
                          <a:rPr lang="en-US" altLang="zh-CN" sz="2800" b="1" i="1" smtClean="0">
                            <a:solidFill>
                              <a:srgbClr val="C00000"/>
                            </a:solidFill>
                            <a:latin typeface="Cambria Math" panose="02040503050406030204" pitchFamily="18" charset="0"/>
                          </a:rPr>
                          <m:t>𝟐</m:t>
                        </m:r>
                      </m:sub>
                    </m:sSub>
                    <m:r>
                      <a:rPr lang="en-US" altLang="zh-CN" sz="2800" i="1">
                        <a:solidFill>
                          <a:srgbClr val="C00000"/>
                        </a:solidFill>
                        <a:latin typeface="Cambria Math" panose="02040503050406030204" pitchFamily="18" charset="0"/>
                      </a:rPr>
                      <m:t>)</m:t>
                    </m:r>
                  </m:oMath>
                </a14:m>
                <a:r>
                  <a:rPr lang="zh-CN" altLang="en-US" sz="2800" dirty="0">
                    <a:solidFill>
                      <a:srgbClr val="C00000"/>
                    </a:solidFill>
                  </a:rPr>
                  <a:t>均会减小</a:t>
                </a:r>
                <a:r>
                  <a:rPr lang="zh-CN" altLang="en-US" sz="2800" dirty="0">
                    <a:solidFill>
                      <a:schemeClr val="tx1"/>
                    </a:solidFill>
                  </a:rPr>
                  <a:t>，从而降低多重共线性的影响</a:t>
                </a:r>
                <a:endParaRPr lang="en-US" altLang="zh-CN" sz="2800" dirty="0">
                  <a:solidFill>
                    <a:schemeClr val="tx1"/>
                  </a:solidFill>
                </a:endParaRPr>
              </a:p>
            </p:txBody>
          </p:sp>
        </mc:Choice>
        <mc:Fallback xmlns="">
          <p:sp>
            <p:nvSpPr>
              <p:cNvPr id="38" name="TextBox 7">
                <a:extLst>
                  <a:ext uri="{FF2B5EF4-FFF2-40B4-BE49-F238E27FC236}">
                    <a16:creationId xmlns:a16="http://schemas.microsoft.com/office/drawing/2014/main" id="{3CE4B90A-B1BF-321F-3BA7-CA1B6D85FEBB}"/>
                  </a:ext>
                </a:extLst>
              </p:cNvPr>
              <p:cNvSpPr txBox="1">
                <a:spLocks noRot="1" noChangeAspect="1" noMove="1" noResize="1" noEditPoints="1" noAdjustHandles="1" noChangeArrowheads="1" noChangeShapeType="1" noTextEdit="1"/>
              </p:cNvSpPr>
              <p:nvPr/>
            </p:nvSpPr>
            <p:spPr>
              <a:xfrm>
                <a:off x="1115952" y="4637544"/>
                <a:ext cx="10868196" cy="1005660"/>
              </a:xfrm>
              <a:prstGeom prst="rect">
                <a:avLst/>
              </a:prstGeom>
              <a:blipFill>
                <a:blip r:embed="rId7"/>
                <a:stretch>
                  <a:fillRect b="-6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1214621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3567</TotalTime>
  <Words>1278</Words>
  <Application>Microsoft Office PowerPoint</Application>
  <PresentationFormat>宽屏</PresentationFormat>
  <Paragraphs>116</Paragraphs>
  <Slides>16</Slides>
  <Notes>16</Notes>
  <HiddenSlides>0</HiddenSlides>
  <MMClips>0</MMClips>
  <ScaleCrop>false</ScaleCrop>
  <HeadingPairs>
    <vt:vector size="8" baseType="variant">
      <vt:variant>
        <vt:lpstr>已用的字体</vt:lpstr>
      </vt:variant>
      <vt:variant>
        <vt:i4>12</vt:i4>
      </vt:variant>
      <vt:variant>
        <vt:lpstr>主题</vt:lpstr>
      </vt:variant>
      <vt:variant>
        <vt:i4>12</vt:i4>
      </vt:variant>
      <vt:variant>
        <vt:lpstr>嵌入 OLE 服务器</vt:lpstr>
      </vt:variant>
      <vt:variant>
        <vt:i4>3</vt:i4>
      </vt:variant>
      <vt:variant>
        <vt:lpstr>幻灯片标题</vt:lpstr>
      </vt:variant>
      <vt:variant>
        <vt:i4>16</vt:i4>
      </vt:variant>
    </vt:vector>
  </HeadingPairs>
  <TitlesOfParts>
    <vt:vector size="43" baseType="lpstr">
      <vt:lpstr>等线</vt:lpstr>
      <vt:lpstr>仿宋_GB2312</vt:lpstr>
      <vt:lpstr>华光综艺_CNKI</vt:lpstr>
      <vt:lpstr>思源黑体</vt:lpstr>
      <vt:lpstr>思源黑体 CN Bold</vt:lpstr>
      <vt:lpstr>微软雅黑</vt:lpstr>
      <vt:lpstr>Arial</vt:lpstr>
      <vt:lpstr>Calibri</vt:lpstr>
      <vt:lpstr>Cambria Math</vt:lpstr>
      <vt:lpstr>Impact</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Equation</vt:lpstr>
      <vt:lpstr>公式</vt:lpstr>
      <vt:lpstr>Photo Editor 照片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Star Champion</cp:lastModifiedBy>
  <cp:revision>2519</cp:revision>
  <dcterms:created xsi:type="dcterms:W3CDTF">2022-05-23T09:13:00Z</dcterms:created>
  <dcterms:modified xsi:type="dcterms:W3CDTF">2025-04-18T13:16:23Z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