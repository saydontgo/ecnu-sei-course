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vml" ContentType="application/vnd.openxmlformats-officedocument.vmlDrawing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tags/tag1.xml" ContentType="application/vnd.openxmlformats-officedocument.presentationml.tag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tags/tag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</p:sldMasterIdLst>
  <p:notesMasterIdLst>
    <p:notesMasterId r:id="rId64"/>
  </p:notesMasterIdLst>
  <p:sldIdLst>
    <p:sldId id="4261" r:id="rId2"/>
    <p:sldId id="561" r:id="rId3"/>
    <p:sldId id="15749" r:id="rId4"/>
    <p:sldId id="4279" r:id="rId5"/>
    <p:sldId id="533" r:id="rId6"/>
    <p:sldId id="534" r:id="rId7"/>
    <p:sldId id="535" r:id="rId8"/>
    <p:sldId id="537" r:id="rId9"/>
    <p:sldId id="539" r:id="rId10"/>
    <p:sldId id="541" r:id="rId11"/>
    <p:sldId id="543" r:id="rId12"/>
    <p:sldId id="544" r:id="rId13"/>
    <p:sldId id="545" r:id="rId14"/>
    <p:sldId id="546" r:id="rId15"/>
    <p:sldId id="550" r:id="rId16"/>
    <p:sldId id="549" r:id="rId17"/>
    <p:sldId id="15685" r:id="rId18"/>
    <p:sldId id="15686" r:id="rId19"/>
    <p:sldId id="15687" r:id="rId20"/>
    <p:sldId id="15719" r:id="rId21"/>
    <p:sldId id="15720" r:id="rId22"/>
    <p:sldId id="524" r:id="rId23"/>
    <p:sldId id="515" r:id="rId24"/>
    <p:sldId id="479" r:id="rId25"/>
    <p:sldId id="519" r:id="rId26"/>
    <p:sldId id="520" r:id="rId27"/>
    <p:sldId id="485" r:id="rId28"/>
    <p:sldId id="511" r:id="rId29"/>
    <p:sldId id="486" r:id="rId30"/>
    <p:sldId id="512" r:id="rId31"/>
    <p:sldId id="521" r:id="rId32"/>
    <p:sldId id="522" r:id="rId33"/>
    <p:sldId id="487" r:id="rId34"/>
    <p:sldId id="513" r:id="rId35"/>
    <p:sldId id="488" r:id="rId36"/>
    <p:sldId id="514" r:id="rId37"/>
    <p:sldId id="516" r:id="rId38"/>
    <p:sldId id="523" r:id="rId39"/>
    <p:sldId id="15727" r:id="rId40"/>
    <p:sldId id="552" r:id="rId41"/>
    <p:sldId id="556" r:id="rId42"/>
    <p:sldId id="570" r:id="rId43"/>
    <p:sldId id="571" r:id="rId44"/>
    <p:sldId id="565" r:id="rId45"/>
    <p:sldId id="572" r:id="rId46"/>
    <p:sldId id="15722" r:id="rId47"/>
    <p:sldId id="15721" r:id="rId48"/>
    <p:sldId id="15724" r:id="rId49"/>
    <p:sldId id="15725" r:id="rId50"/>
    <p:sldId id="542" r:id="rId51"/>
    <p:sldId id="577" r:id="rId52"/>
    <p:sldId id="578" r:id="rId53"/>
    <p:sldId id="580" r:id="rId54"/>
    <p:sldId id="15723" r:id="rId55"/>
    <p:sldId id="15726" r:id="rId56"/>
    <p:sldId id="15743" r:id="rId57"/>
    <p:sldId id="15744" r:id="rId58"/>
    <p:sldId id="15745" r:id="rId59"/>
    <p:sldId id="15746" r:id="rId60"/>
    <p:sldId id="15747" r:id="rId61"/>
    <p:sldId id="15748" r:id="rId62"/>
    <p:sldId id="4278" r:id="rId63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3FDBE"/>
    <a:srgbClr val="DCFDAB"/>
    <a:srgbClr val="FFAAA9"/>
    <a:srgbClr val="DBFDAA"/>
    <a:srgbClr val="FFE1E1"/>
    <a:srgbClr val="ECE5F7"/>
    <a:srgbClr val="E1D6F2"/>
    <a:srgbClr val="DCFDAD"/>
    <a:srgbClr val="D4C5EC"/>
    <a:srgbClr val="FFDA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052"/>
    <p:restoredTop sz="89333" autoAdjust="0"/>
  </p:normalViewPr>
  <p:slideViewPr>
    <p:cSldViewPr snapToGrid="0">
      <p:cViewPr varScale="1">
        <p:scale>
          <a:sx n="95" d="100"/>
          <a:sy n="95" d="100"/>
        </p:scale>
        <p:origin x="1914" y="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14.wmf"/><Relationship Id="rId1" Type="http://schemas.openxmlformats.org/officeDocument/2006/relationships/image" Target="../media/image13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0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F37CF0-5B85-4F82-8895-487FD940EFF8}" type="datetimeFigureOut">
              <a:rPr lang="zh-CN" altLang="en-US" smtClean="0"/>
              <a:t>2025/9/23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161C67-365B-455B-8333-B2F3856160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2393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CN" sz="1200" kern="1200" dirty="0"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6742CD8-C152-4D9C-BC29-CC775E59C14D}" type="slidenum">
              <a:rPr lang="en-US" altLang="zh-CN" smtClean="0"/>
              <a:pPr>
                <a:defRPr/>
              </a:pPr>
              <a:t>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332045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120000"/>
              </a:lnSpc>
              <a:spcAft>
                <a:spcPts val="300"/>
              </a:spcAft>
              <a:buFont typeface="Arial" pitchFamily="34" charset="0"/>
              <a:buNone/>
            </a:pPr>
            <a:endParaRPr lang="en-US" altLang="zh-CN" sz="1800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6742CD8-C152-4D9C-BC29-CC775E59C14D}" type="slidenum">
              <a:rPr lang="en-US" altLang="zh-CN" smtClean="0"/>
              <a:pPr>
                <a:defRPr/>
              </a:pPr>
              <a:t>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437049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6742CD8-C152-4D9C-BC29-CC775E59C14D}" type="slidenum">
              <a:rPr lang="en-US" altLang="zh-CN" smtClean="0"/>
              <a:pPr>
                <a:defRPr/>
              </a:pPr>
              <a:t>12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472575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6213" indent="-176213">
              <a:lnSpc>
                <a:spcPct val="120000"/>
              </a:lnSpc>
              <a:spcAft>
                <a:spcPts val="300"/>
              </a:spcAft>
              <a:buFont typeface="Arial" pitchFamily="34" charset="0"/>
              <a:buChar char="•"/>
            </a:pPr>
            <a:endParaRPr lang="en-US" altLang="zh-CN" sz="1800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6742CD8-C152-4D9C-BC29-CC775E59C14D}" type="slidenum">
              <a:rPr lang="en-US" altLang="zh-CN" smtClean="0"/>
              <a:pPr>
                <a:defRPr/>
              </a:pPr>
              <a:t>13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38609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6742CD8-C152-4D9C-BC29-CC775E59C14D}" type="slidenum">
              <a:rPr lang="en-US" altLang="zh-CN" smtClean="0"/>
              <a:pPr>
                <a:defRPr/>
              </a:pPr>
              <a:t>14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817747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6742CD8-C152-4D9C-BC29-CC775E59C14D}" type="slidenum">
              <a:rPr lang="en-US" altLang="zh-CN" smtClean="0"/>
              <a:pPr>
                <a:defRPr/>
              </a:pPr>
              <a:t>15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1074082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6742CD8-C152-4D9C-BC29-CC775E59C14D}" type="slidenum">
              <a:rPr lang="en-US" altLang="zh-CN" smtClean="0"/>
              <a:pPr>
                <a:defRPr/>
              </a:pPr>
              <a:t>16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5474946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sz="1200" kern="1200" dirty="0"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6742CD8-C152-4D9C-BC29-CC775E59C14D}" type="slidenum">
              <a:rPr lang="en-US" altLang="zh-CN" smtClean="0"/>
              <a:pPr>
                <a:defRPr/>
              </a:pPr>
              <a:t>22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4670145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sz="1200" kern="1200" dirty="0"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6742CD8-C152-4D9C-BC29-CC775E59C14D}" type="slidenum">
              <a:rPr lang="en-US" altLang="zh-CN" smtClean="0"/>
              <a:pPr>
                <a:defRPr/>
              </a:pPr>
              <a:t>23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6953439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6742CD8-C152-4D9C-BC29-CC775E59C14D}" type="slidenum">
              <a:rPr lang="en-US" altLang="zh-CN" smtClean="0"/>
              <a:pPr>
                <a:defRPr/>
              </a:pPr>
              <a:t>24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822860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sz="1200" kern="1200" dirty="0"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6742CD8-C152-4D9C-BC29-CC775E59C14D}" type="slidenum">
              <a:rPr lang="en-US" altLang="zh-CN" smtClean="0"/>
              <a:pPr>
                <a:defRPr/>
              </a:pPr>
              <a:t>25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0993871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6742CD8-C152-4D9C-BC29-CC775E59C14D}" type="slidenum">
              <a:rPr lang="en-US" altLang="zh-CN" smtClean="0"/>
              <a:pPr>
                <a:defRPr/>
              </a:pPr>
              <a:t>26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2692940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sz="1200" kern="1200" dirty="0"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6742CD8-C152-4D9C-BC29-CC775E59C14D}" type="slidenum">
              <a:rPr lang="en-US" altLang="zh-CN" smtClean="0"/>
              <a:pPr>
                <a:defRPr/>
              </a:pPr>
              <a:t>27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271016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6742CD8-C152-4D9C-BC29-CC775E59C14D}" type="slidenum">
              <a:rPr lang="en-US" altLang="zh-CN" smtClean="0"/>
              <a:pPr>
                <a:defRPr/>
              </a:pPr>
              <a:t>28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810237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CN" sz="1200" kern="1200" dirty="0"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6742CD8-C152-4D9C-BC29-CC775E59C14D}" type="slidenum">
              <a:rPr lang="en-US" altLang="zh-CN" smtClean="0"/>
              <a:pPr>
                <a:defRPr/>
              </a:pPr>
              <a:t>29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3631867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CN" sz="1200" kern="1200" dirty="0"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6742CD8-C152-4D9C-BC29-CC775E59C14D}" type="slidenum">
              <a:rPr lang="en-US" altLang="zh-CN" smtClean="0"/>
              <a:pPr>
                <a:defRPr/>
              </a:pPr>
              <a:t>30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9664393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6742CD8-C152-4D9C-BC29-CC775E59C14D}" type="slidenum">
              <a:rPr lang="en-US" altLang="zh-CN" smtClean="0"/>
              <a:pPr>
                <a:defRPr/>
              </a:pPr>
              <a:t>31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2510251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6742CD8-C152-4D9C-BC29-CC775E59C14D}" type="slidenum">
              <a:rPr lang="en-US" altLang="zh-CN" smtClean="0"/>
              <a:pPr>
                <a:defRPr/>
              </a:pPr>
              <a:t>32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7341447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CN" sz="1200" kern="1200" dirty="0"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6742CD8-C152-4D9C-BC29-CC775E59C14D}" type="slidenum">
              <a:rPr lang="en-US" altLang="zh-CN" smtClean="0"/>
              <a:pPr>
                <a:defRPr/>
              </a:pPr>
              <a:t>33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745676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CN" sz="1200" kern="1200" dirty="0"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6742CD8-C152-4D9C-BC29-CC775E59C14D}" type="slidenum">
              <a:rPr lang="en-US" altLang="zh-CN" smtClean="0"/>
              <a:pPr>
                <a:defRPr/>
              </a:pPr>
              <a:t>34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832291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6742CD8-C152-4D9C-BC29-CC775E59C14D}" type="slidenum">
              <a:rPr lang="en-US" altLang="zh-CN" smtClean="0"/>
              <a:pPr>
                <a:defRPr/>
              </a:pPr>
              <a:t>35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4918953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CN" sz="1200" kern="1200" dirty="0"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6742CD8-C152-4D9C-BC29-CC775E59C14D}" type="slidenum">
              <a:rPr lang="en-US" altLang="zh-CN" smtClean="0"/>
              <a:pPr>
                <a:defRPr/>
              </a:pPr>
              <a:t>36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6585810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CN" sz="1200" kern="1200" dirty="0"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6742CD8-C152-4D9C-BC29-CC775E59C14D}" type="slidenum">
              <a:rPr lang="en-US" altLang="zh-CN" smtClean="0"/>
              <a:pPr>
                <a:defRPr/>
              </a:pPr>
              <a:t>37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2090645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6742CD8-C152-4D9C-BC29-CC775E59C14D}" type="slidenum">
              <a:rPr lang="en-US" altLang="zh-CN" smtClean="0"/>
              <a:pPr>
                <a:defRPr/>
              </a:pPr>
              <a:t>38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4151938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6742CD8-C152-4D9C-BC29-CC775E59C14D}" type="slidenum">
              <a:rPr lang="en-US" altLang="zh-CN" smtClean="0"/>
              <a:pPr>
                <a:defRPr/>
              </a:pPr>
              <a:t>40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3793815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zh-CN" sz="2000" dirty="0">
              <a:latin typeface="华文细黑" pitchFamily="2" charset="-122"/>
              <a:ea typeface="华文细黑" pitchFamily="2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6742CD8-C152-4D9C-BC29-CC775E59C14D}" type="slidenum">
              <a:rPr lang="en-US" altLang="zh-CN" smtClean="0"/>
              <a:pPr>
                <a:defRPr/>
              </a:pPr>
              <a:t>41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2996116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1"/>
            <a:endParaRPr lang="en-US" altLang="zh-CN" sz="1200" dirty="0">
              <a:latin typeface="华文细黑" pitchFamily="2" charset="-122"/>
              <a:ea typeface="华文细黑" pitchFamily="2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6742CD8-C152-4D9C-BC29-CC775E59C14D}" type="slidenum">
              <a:rPr lang="en-US" altLang="zh-CN" smtClean="0"/>
              <a:pPr>
                <a:defRPr/>
              </a:pPr>
              <a:t>42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2996116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6742CD8-C152-4D9C-BC29-CC775E59C14D}" type="slidenum">
              <a:rPr lang="en-US" altLang="zh-CN" smtClean="0"/>
              <a:pPr>
                <a:defRPr/>
              </a:pPr>
              <a:t>43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2996116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6742CD8-C152-4D9C-BC29-CC775E59C14D}" type="slidenum">
              <a:rPr lang="en-US" altLang="zh-CN" smtClean="0"/>
              <a:pPr>
                <a:defRPr/>
              </a:pPr>
              <a:t>44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2996116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6742CD8-C152-4D9C-BC29-CC775E59C14D}" type="slidenum">
              <a:rPr lang="en-US" altLang="zh-CN" smtClean="0"/>
              <a:pPr>
                <a:defRPr/>
              </a:pPr>
              <a:t>45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9079782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6742CD8-C152-4D9C-BC29-CC775E59C14D}" type="slidenum">
              <a:rPr lang="en-US" altLang="zh-CN" smtClean="0"/>
              <a:pPr>
                <a:defRPr/>
              </a:pPr>
              <a:t>46</a:t>
            </a:fld>
            <a:endParaRPr lang="en-US" altLang="zh-CN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621595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6742CD8-C152-4D9C-BC29-CC775E59C14D}" type="slidenum">
              <a:rPr lang="en-US" altLang="zh-CN" smtClean="0"/>
              <a:pPr>
                <a:defRPr/>
              </a:pPr>
              <a:t>48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8826452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26000"/>
              </a:lnSpc>
            </a:pPr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6742CD8-C152-4D9C-BC29-CC775E59C14D}" type="slidenum">
              <a:rPr lang="en-US" altLang="zh-CN" smtClean="0"/>
              <a:pPr>
                <a:defRPr/>
              </a:pPr>
              <a:t>49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7239773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6742CD8-C152-4D9C-BC29-CC775E59C14D}" type="slidenum">
              <a:rPr lang="en-US" altLang="zh-CN" smtClean="0"/>
              <a:pPr>
                <a:defRPr/>
              </a:pPr>
              <a:t>50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86880169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zh-CN" sz="20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6742CD8-C152-4D9C-BC29-CC775E59C14D}" type="slidenum">
              <a:rPr lang="en-US" altLang="zh-CN" smtClean="0"/>
              <a:pPr>
                <a:defRPr/>
              </a:pPr>
              <a:t>51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86880169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6742CD8-C152-4D9C-BC29-CC775E59C14D}" type="slidenum">
              <a:rPr lang="en-US" altLang="zh-CN" smtClean="0"/>
              <a:pPr>
                <a:defRPr/>
              </a:pPr>
              <a:t>52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981161250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sz="1600" b="0" i="0" kern="1200" dirty="0">
              <a:solidFill>
                <a:schemeClr val="tx1"/>
              </a:solidFill>
              <a:effectLst/>
              <a:latin typeface="Times New Roman" pitchFamily="18" charset="0"/>
              <a:ea typeface="华文细黑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6742CD8-C152-4D9C-BC29-CC775E59C14D}" type="slidenum">
              <a:rPr lang="en-US" altLang="zh-CN" smtClean="0"/>
              <a:pPr>
                <a:defRPr/>
              </a:pPr>
              <a:t>53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9811612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02578" y="1057014"/>
            <a:ext cx="7772400" cy="1535184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9778" y="402987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AFABB-F632-4F91-92AF-0E2D2EA81731}" type="datetime1">
              <a:rPr lang="zh-CN" altLang="en-US" smtClean="0"/>
              <a:t>2025/9/23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84F5B-1672-4D3F-9FEC-5DF89A7B79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83560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3C160-1CF6-4197-853C-5DD8144FA9BE}" type="datetime1">
              <a:rPr lang="zh-CN" altLang="en-US" smtClean="0"/>
              <a:t>2025/9/23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84F5B-1672-4D3F-9FEC-5DF89A7B79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04556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9389" y="1057014"/>
            <a:ext cx="7772400" cy="15336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64978" y="4027400"/>
            <a:ext cx="6858000" cy="1656000"/>
          </a:xfrm>
        </p:spPr>
        <p:txBody>
          <a:bodyPr/>
          <a:lstStyle>
            <a:lvl1pPr marL="0" indent="0" algn="ctr">
              <a:buNone/>
              <a:defRPr sz="2400">
                <a:solidFill>
                  <a:srgbClr val="002060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2E54B1-0884-4633-8327-893DAA1E511F}" type="datetime1">
              <a:rPr lang="zh-CN" altLang="en-US" smtClean="0"/>
              <a:t>2025/9/23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84F5B-1672-4D3F-9FEC-5DF89A7B79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73927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1650BB-E4E8-4483-82DA-D58DEBC4998C}" type="datetime1">
              <a:rPr lang="zh-CN" altLang="en-US" smtClean="0"/>
              <a:t>2025/9/23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84F5B-1672-4D3F-9FEC-5DF89A7B79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05045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04BCF-E610-4FCE-ADC3-9F4D58E19C5C}" type="datetime1">
              <a:rPr lang="zh-CN" altLang="en-US" smtClean="0"/>
              <a:t>2025/9/23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84F5B-1672-4D3F-9FEC-5DF89A7B79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55606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A7D6D-E156-4C2B-9FF2-B27706CE389A}" type="datetime1">
              <a:rPr lang="zh-CN" altLang="en-US" smtClean="0"/>
              <a:t>2025/9/23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84F5B-1672-4D3F-9FEC-5DF89A7B79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69278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0FCEF-073A-4FC7-8BAD-A662F97179A2}" type="datetime1">
              <a:rPr lang="zh-CN" altLang="en-US" smtClean="0"/>
              <a:t>2025/9/23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84F5B-1672-4D3F-9FEC-5DF89A7B79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95373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B6709-067F-4154-9C9A-D56718F28438}" type="datetime1">
              <a:rPr lang="zh-CN" altLang="en-US" smtClean="0"/>
              <a:t>2025/9/23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84F5B-1672-4D3F-9FEC-5DF89A7B79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889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D4C65-E77B-45F2-BD81-CFF9643C0CCF}" type="datetime1">
              <a:rPr lang="zh-CN" altLang="en-US" smtClean="0"/>
              <a:t>2025/9/23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84F5B-1672-4D3F-9FEC-5DF89A7B79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36665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06368-F392-4465-AD91-AE646936C52B}" type="datetime1">
              <a:rPr lang="zh-CN" altLang="en-US" smtClean="0"/>
              <a:t>2025/9/23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84F5B-1672-4D3F-9FEC-5DF89A7B79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09649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3AE443-EA00-4061-899C-73E3EB4E23B9}" type="datetime1">
              <a:rPr lang="zh-CN" altLang="en-US" smtClean="0"/>
              <a:t>2025/9/23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84F5B-1672-4D3F-9FEC-5DF89A7B79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05079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4399"/>
            <a:ext cx="9144000" cy="817721"/>
          </a:xfrm>
          <a:prstGeom prst="rect">
            <a:avLst/>
          </a:prstGeom>
        </p:spPr>
        <p:txBody>
          <a:bodyPr vert="horz" lIns="91440" tIns="144000" rIns="91440" bIns="45720" rtlCol="0" anchor="ctr">
            <a:no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4223" y="906011"/>
            <a:ext cx="8883941" cy="563740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-525" y="6660859"/>
            <a:ext cx="2057400" cy="197140"/>
          </a:xfrm>
          <a:prstGeom prst="rect">
            <a:avLst/>
          </a:prstGeom>
        </p:spPr>
        <p:txBody>
          <a:bodyPr vert="horz" lIns="91440" tIns="36000" rIns="91440" bIns="45720" rtlCol="0" anchor="ctr"/>
          <a:lstStyle>
            <a:lvl1pPr algn="l">
              <a:defRPr sz="1200" b="1">
                <a:solidFill>
                  <a:srgbClr val="002060"/>
                </a:solidFill>
              </a:defRPr>
            </a:lvl1pPr>
          </a:lstStyle>
          <a:p>
            <a:fld id="{7181A378-AD84-4E06-B1B5-6D5F5ACB78AE}" type="datetime1">
              <a:rPr lang="zh-CN" altLang="en-US" smtClean="0"/>
              <a:t>2025/9/23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3417" y="6660859"/>
            <a:ext cx="4597165" cy="197140"/>
          </a:xfrm>
          <a:prstGeom prst="rect">
            <a:avLst/>
          </a:prstGeom>
        </p:spPr>
        <p:txBody>
          <a:bodyPr vert="horz" lIns="91440" tIns="36000" rIns="91440" bIns="45720" rtlCol="0" anchor="ctr"/>
          <a:lstStyle>
            <a:lvl1pPr algn="ctr">
              <a:defRPr sz="1200" b="0">
                <a:solidFill>
                  <a:srgbClr val="002060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086600" y="6660859"/>
            <a:ext cx="2057400" cy="197140"/>
          </a:xfrm>
          <a:prstGeom prst="rect">
            <a:avLst/>
          </a:prstGeom>
        </p:spPr>
        <p:txBody>
          <a:bodyPr vert="horz" lIns="91440" tIns="36000" rIns="91440" bIns="45720" rtlCol="0" anchor="ctr"/>
          <a:lstStyle>
            <a:lvl1pPr algn="r">
              <a:defRPr sz="1200" b="1">
                <a:solidFill>
                  <a:srgbClr val="002060"/>
                </a:solidFill>
              </a:defRPr>
            </a:lvl1pPr>
          </a:lstStyle>
          <a:p>
            <a:fld id="{5AD84F5B-1672-4D3F-9FEC-5DF89A7B79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23876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rgbClr val="C00000"/>
          </a:solidFill>
          <a:latin typeface="+mj-lt"/>
          <a:ea typeface="+mj-ea"/>
          <a:cs typeface="+mj-cs"/>
        </a:defRPr>
      </a:lvl1pPr>
    </p:titleStyle>
    <p:bodyStyle>
      <a:lvl1pPr marL="360363" indent="-360363" algn="l" defTabSz="914400" rtl="0" eaLnBrk="1" latinLnBrk="0" hangingPunct="1">
        <a:lnSpc>
          <a:spcPct val="130000"/>
        </a:lnSpc>
        <a:spcBef>
          <a:spcPts val="1000"/>
        </a:spcBef>
        <a:buSzPct val="85000"/>
        <a:buFont typeface="Wingdings" panose="05000000000000000000" pitchFamily="2" charset="2"/>
        <a:buChar char="n"/>
        <a:defRPr sz="2400" kern="1200">
          <a:solidFill>
            <a:srgbClr val="002060"/>
          </a:solidFill>
          <a:latin typeface="+mn-lt"/>
          <a:ea typeface="+mn-ea"/>
          <a:cs typeface="+mn-cs"/>
        </a:defRPr>
      </a:lvl1pPr>
      <a:lvl2pPr marL="720725" indent="-360363" algn="l" defTabSz="914400" rtl="0" eaLnBrk="1" latinLnBrk="0" hangingPunct="1">
        <a:lnSpc>
          <a:spcPct val="130000"/>
        </a:lnSpc>
        <a:spcBef>
          <a:spcPts val="500"/>
        </a:spcBef>
        <a:buSzPct val="85000"/>
        <a:buFont typeface="Wingdings" panose="05000000000000000000" pitchFamily="2" charset="2"/>
        <a:buChar char="u"/>
        <a:defRPr sz="2000" kern="1200">
          <a:solidFill>
            <a:srgbClr val="002060"/>
          </a:solidFill>
          <a:latin typeface="+mn-lt"/>
          <a:ea typeface="+mn-ea"/>
          <a:cs typeface="+mn-cs"/>
        </a:defRPr>
      </a:lvl2pPr>
      <a:lvl3pPr marL="990600" indent="-269875" algn="l" defTabSz="914400" rtl="0" eaLnBrk="1" latinLnBrk="0" hangingPunct="1">
        <a:lnSpc>
          <a:spcPct val="130000"/>
        </a:lnSpc>
        <a:spcBef>
          <a:spcPts val="500"/>
        </a:spcBef>
        <a:buSzPct val="85000"/>
        <a:buFont typeface="Wingdings" panose="05000000000000000000" pitchFamily="2" charset="2"/>
        <a:buChar char="l"/>
        <a:defRPr sz="1800" kern="1200">
          <a:solidFill>
            <a:srgbClr val="002060"/>
          </a:solidFill>
          <a:latin typeface="+mn-lt"/>
          <a:ea typeface="+mn-ea"/>
          <a:cs typeface="+mn-cs"/>
        </a:defRPr>
      </a:lvl3pPr>
      <a:lvl4pPr marL="1258888" indent="-268288" algn="l" defTabSz="914400" rtl="0" eaLnBrk="1" latinLnBrk="0" hangingPunct="1">
        <a:lnSpc>
          <a:spcPct val="130000"/>
        </a:lnSpc>
        <a:spcBef>
          <a:spcPts val="500"/>
        </a:spcBef>
        <a:buSzPct val="85000"/>
        <a:buFont typeface="Wingdings" panose="05000000000000000000" pitchFamily="2" charset="2"/>
        <a:buChar char="p"/>
        <a:defRPr sz="1600" kern="1200">
          <a:solidFill>
            <a:srgbClr val="002060"/>
          </a:solidFill>
          <a:latin typeface="+mn-lt"/>
          <a:ea typeface="+mn-ea"/>
          <a:cs typeface="+mn-cs"/>
        </a:defRPr>
      </a:lvl4pPr>
      <a:lvl5pPr marL="1527175" indent="-268288" algn="l" defTabSz="914400" rtl="0" eaLnBrk="1" latinLnBrk="0" hangingPunct="1">
        <a:lnSpc>
          <a:spcPct val="130000"/>
        </a:lnSpc>
        <a:spcBef>
          <a:spcPts val="500"/>
        </a:spcBef>
        <a:buSzPct val="85000"/>
        <a:buFont typeface="Wingdings" panose="05000000000000000000" pitchFamily="2" charset="2"/>
        <a:buChar char="Ø"/>
        <a:defRPr sz="1600" kern="1200">
          <a:solidFill>
            <a:srgbClr val="002060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.bin"/><Relationship Id="rId3" Type="http://schemas.openxmlformats.org/officeDocument/2006/relationships/notesSlide" Target="../notesSlides/notesSlide7.xml"/><Relationship Id="rId7" Type="http://schemas.openxmlformats.org/officeDocument/2006/relationships/image" Target="../media/image13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1.bin"/><Relationship Id="rId5" Type="http://schemas.openxmlformats.org/officeDocument/2006/relationships/image" Target="../media/image16.emf"/><Relationship Id="rId4" Type="http://schemas.openxmlformats.org/officeDocument/2006/relationships/image" Target="../media/image15.png"/><Relationship Id="rId9" Type="http://schemas.openxmlformats.org/officeDocument/2006/relationships/image" Target="../media/image14.w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jpg"/><Relationship Id="rId4" Type="http://schemas.microsoft.com/office/2007/relationships/hdphoto" Target="../media/hdphoto1.wdp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microsoft.com/office/2007/relationships/hdphoto" Target="../media/hdphoto2.wdp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emf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emf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microsoft.com/office/2007/relationships/hdphoto" Target="../media/hdphoto3.wdp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40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110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0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e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jpe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4" Type="http://schemas.microsoft.com/office/2007/relationships/hdphoto" Target="../media/hdphoto4.wdp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8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emf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emf"/><Relationship Id="rId2" Type="http://schemas.openxmlformats.org/officeDocument/2006/relationships/image" Target="../media/image53.emf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emf"/><Relationship Id="rId2" Type="http://schemas.openxmlformats.org/officeDocument/2006/relationships/image" Target="../media/image55.emf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emf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emf"/><Relationship Id="rId2" Type="http://schemas.openxmlformats.org/officeDocument/2006/relationships/image" Target="../media/image58.emf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264739" y="2797189"/>
            <a:ext cx="8713694" cy="2138947"/>
          </a:xfrm>
        </p:spPr>
        <p:txBody>
          <a:bodyPr anchor="ctr"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n-US" altLang="zh-CN" sz="36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Chapter02 </a:t>
            </a:r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数据描述与统计指标</a:t>
            </a:r>
            <a:b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</a:br>
            <a:br>
              <a:rPr lang="en-US" altLang="zh-CN" sz="3600" b="1" dirty="0"/>
            </a:br>
            <a:r>
              <a:rPr lang="zh-CN" altLang="en-US" sz="27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授课老师：王丽苹</a:t>
            </a:r>
            <a:br>
              <a:rPr lang="en-US" altLang="zh-CN" sz="31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</a:br>
            <a:br>
              <a:rPr lang="en-US" altLang="zh-CN" sz="31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sz="3100" dirty="0">
                <a:solidFill>
                  <a:srgbClr val="002060"/>
                </a:solidFill>
                <a:latin typeface="+mn-ea"/>
                <a:ea typeface="+mn-ea"/>
              </a:rPr>
              <a:t> </a:t>
            </a:r>
            <a:br>
              <a:rPr lang="en-US" altLang="zh-CN" sz="3100" dirty="0">
                <a:solidFill>
                  <a:srgbClr val="002060"/>
                </a:solidFill>
              </a:rPr>
            </a:br>
            <a:endParaRPr lang="zh-CN" altLang="en-US" sz="3100" dirty="0">
              <a:solidFill>
                <a:srgbClr val="002060"/>
              </a:solidFill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92586" y="4060811"/>
            <a:ext cx="6858000" cy="950912"/>
          </a:xfrm>
        </p:spPr>
        <p:txBody>
          <a:bodyPr/>
          <a:lstStyle/>
          <a:p>
            <a:r>
              <a:rPr lang="en-US" altLang="zh-CN" b="1" dirty="0">
                <a:ea typeface="微软雅黑" panose="020B0503020204020204" pitchFamily="34" charset="-122"/>
                <a:cs typeface="微软雅黑" panose="020B0503020204020204" pitchFamily="34" charset="-122"/>
              </a:rPr>
              <a:t>2025</a:t>
            </a:r>
            <a:r>
              <a:rPr lang="zh-CN" altLang="en-US" b="1" dirty="0">
                <a:ea typeface="微软雅黑" panose="020B0503020204020204" pitchFamily="34" charset="-122"/>
                <a:cs typeface="微软雅黑" panose="020B0503020204020204" pitchFamily="34" charset="-122"/>
              </a:rPr>
              <a:t>年 秋</a:t>
            </a:r>
          </a:p>
        </p:txBody>
      </p:sp>
      <p:sp>
        <p:nvSpPr>
          <p:cNvPr id="4" name="矩形 3"/>
          <p:cNvSpPr/>
          <p:nvPr/>
        </p:nvSpPr>
        <p:spPr>
          <a:xfrm>
            <a:off x="5994072" y="180871"/>
            <a:ext cx="314992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lang="zh-CN" altLang="en-US" sz="20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数据挖掘</a:t>
            </a:r>
            <a:r>
              <a:rPr lang="en-US" altLang="zh-CN" sz="20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  <a:r>
              <a:rPr lang="en-US" altLang="zh-CN" sz="2000" b="1" dirty="0">
                <a:solidFill>
                  <a:srgbClr val="002060"/>
                </a:solidFill>
              </a:rPr>
              <a:t>Data Mining</a:t>
            </a:r>
            <a:endParaRPr lang="zh-CN" altLang="en-US" sz="20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17153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251522" y="1168429"/>
            <a:ext cx="8784976" cy="4658438"/>
            <a:chOff x="251522" y="345754"/>
            <a:chExt cx="8784976" cy="5176042"/>
          </a:xfrm>
        </p:grpSpPr>
        <p:grpSp>
          <p:nvGrpSpPr>
            <p:cNvPr id="4" name="组合 3"/>
            <p:cNvGrpSpPr/>
            <p:nvPr/>
          </p:nvGrpSpPr>
          <p:grpSpPr>
            <a:xfrm>
              <a:off x="5121374" y="2101467"/>
              <a:ext cx="1309706" cy="1464818"/>
              <a:chOff x="5049366" y="3177023"/>
              <a:chExt cx="1309706" cy="1464818"/>
            </a:xfrm>
          </p:grpSpPr>
          <p:pic>
            <p:nvPicPr>
              <p:cNvPr id="5" name="图片 4"/>
              <p:cNvPicPr/>
              <p:nvPr/>
            </p:nvPicPr>
            <p:blipFill>
              <a:blip r:embed="rId3">
                <a:clrChange>
                  <a:clrFrom>
                    <a:srgbClr val="FEFEFE"/>
                  </a:clrFrom>
                  <a:clrTo>
                    <a:srgbClr val="FEFEFE">
                      <a:alpha val="0"/>
                    </a:srgbClr>
                  </a:clrTo>
                </a:clrChange>
              </a:blip>
              <a:stretch>
                <a:fillRect/>
              </a:stretch>
            </p:blipFill>
            <p:spPr>
              <a:xfrm>
                <a:off x="5242964" y="3177023"/>
                <a:ext cx="873526" cy="1044966"/>
              </a:xfrm>
              <a:prstGeom prst="rect">
                <a:avLst/>
              </a:prstGeom>
            </p:spPr>
          </p:pic>
          <p:sp>
            <p:nvSpPr>
              <p:cNvPr id="6" name="文本框 600114"/>
              <p:cNvSpPr txBox="1"/>
              <p:nvPr/>
            </p:nvSpPr>
            <p:spPr>
              <a:xfrm>
                <a:off x="5049366" y="4180003"/>
                <a:ext cx="1309706" cy="461838"/>
              </a:xfrm>
              <a:prstGeom prst="rect">
                <a:avLst/>
              </a:prstGeom>
              <a:noFill/>
              <a:ln w="6350">
                <a:noFill/>
              </a:ln>
              <a:effectLst/>
            </p:spPr>
            <p:style>
              <a:lnRef idx="0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ot="0" spcFirstLastPara="0" vert="horz" wrap="none" lIns="66648" tIns="33325" rIns="66648" bIns="33325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:r>
                  <a:rPr lang="zh-CN" altLang="en-US" sz="2000" kern="100" dirty="0">
                    <a:solidFill>
                      <a:srgbClr val="000000"/>
                    </a:solidFill>
                    <a:latin typeface="华文细黑" pitchFamily="2" charset="-122"/>
                    <a:ea typeface="华文细黑" pitchFamily="2" charset="-122"/>
                    <a:cs typeface="Times New Roman"/>
                  </a:rPr>
                  <a:t>转换后数据</a:t>
                </a:r>
                <a:endParaRPr lang="zh-CN" altLang="en-US" sz="2800" kern="100" dirty="0">
                  <a:latin typeface="华文细黑" pitchFamily="2" charset="-122"/>
                  <a:ea typeface="华文细黑" pitchFamily="2" charset="-122"/>
                  <a:cs typeface="Times New Roman"/>
                </a:endParaRPr>
              </a:p>
            </p:txBody>
          </p:sp>
        </p:grpSp>
        <p:sp>
          <p:nvSpPr>
            <p:cNvPr id="7" name="燕尾形箭头 6"/>
            <p:cNvSpPr/>
            <p:nvPr/>
          </p:nvSpPr>
          <p:spPr>
            <a:xfrm rot="20354895">
              <a:off x="6148845" y="2276406"/>
              <a:ext cx="461838" cy="240249"/>
            </a:xfrm>
            <a:prstGeom prst="notchedRightArrow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66648" tIns="33325" rIns="66648" bIns="33325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just"/>
              <a:r>
                <a:rPr lang="en-US" sz="5400" kern="100">
                  <a:solidFill>
                    <a:srgbClr val="000000"/>
                  </a:solidFill>
                  <a:latin typeface="华文细黑" pitchFamily="2" charset="-122"/>
                  <a:ea typeface="华文细黑" pitchFamily="2" charset="-122"/>
                  <a:cs typeface="Times New Roman"/>
                </a:rPr>
                <a:t> </a:t>
              </a:r>
              <a:endParaRPr lang="zh-CN" altLang="en-US" sz="2800" kern="100">
                <a:latin typeface="华文细黑" pitchFamily="2" charset="-122"/>
                <a:ea typeface="华文细黑" pitchFamily="2" charset="-122"/>
                <a:cs typeface="Times New Roman"/>
              </a:endParaRPr>
            </a:p>
          </p:txBody>
        </p:sp>
        <p:sp>
          <p:nvSpPr>
            <p:cNvPr id="8" name="燕尾形箭头 7"/>
            <p:cNvSpPr/>
            <p:nvPr/>
          </p:nvSpPr>
          <p:spPr>
            <a:xfrm rot="20354895">
              <a:off x="4872963" y="2864200"/>
              <a:ext cx="396527" cy="240249"/>
            </a:xfrm>
            <a:prstGeom prst="notchedRightArrow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66648" tIns="33325" rIns="66648" bIns="33325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just"/>
              <a:r>
                <a:rPr lang="en-US" sz="5400" kern="100">
                  <a:solidFill>
                    <a:srgbClr val="000000"/>
                  </a:solidFill>
                  <a:latin typeface="华文细黑" pitchFamily="2" charset="-122"/>
                  <a:ea typeface="华文细黑" pitchFamily="2" charset="-122"/>
                  <a:cs typeface="Times New Roman"/>
                </a:rPr>
                <a:t> </a:t>
              </a:r>
              <a:endParaRPr lang="zh-CN" altLang="en-US" sz="2800" kern="100">
                <a:latin typeface="华文细黑" pitchFamily="2" charset="-122"/>
                <a:ea typeface="华文细黑" pitchFamily="2" charset="-122"/>
                <a:cs typeface="Times New Roman"/>
              </a:endParaRPr>
            </a:p>
          </p:txBody>
        </p:sp>
        <p:sp>
          <p:nvSpPr>
            <p:cNvPr id="9" name="燕尾形箭头 8"/>
            <p:cNvSpPr/>
            <p:nvPr/>
          </p:nvSpPr>
          <p:spPr>
            <a:xfrm rot="20354895">
              <a:off x="3478118" y="3431000"/>
              <a:ext cx="528314" cy="240249"/>
            </a:xfrm>
            <a:prstGeom prst="notchedRightArrow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66648" tIns="33325" rIns="66648" bIns="33325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just"/>
              <a:r>
                <a:rPr lang="en-US" sz="5400" kern="100">
                  <a:solidFill>
                    <a:srgbClr val="000000"/>
                  </a:solidFill>
                  <a:latin typeface="华文细黑" pitchFamily="2" charset="-122"/>
                  <a:ea typeface="华文细黑" pitchFamily="2" charset="-122"/>
                  <a:cs typeface="Times New Roman"/>
                </a:rPr>
                <a:t> </a:t>
              </a:r>
              <a:endParaRPr lang="zh-CN" altLang="en-US" sz="2800" kern="100">
                <a:latin typeface="华文细黑" pitchFamily="2" charset="-122"/>
                <a:ea typeface="华文细黑" pitchFamily="2" charset="-122"/>
                <a:cs typeface="Times New Roman"/>
              </a:endParaRPr>
            </a:p>
          </p:txBody>
        </p:sp>
        <p:grpSp>
          <p:nvGrpSpPr>
            <p:cNvPr id="10" name="组合 9"/>
            <p:cNvGrpSpPr/>
            <p:nvPr/>
          </p:nvGrpSpPr>
          <p:grpSpPr>
            <a:xfrm>
              <a:off x="7848083" y="969032"/>
              <a:ext cx="1188415" cy="1672444"/>
              <a:chOff x="7776073" y="2044588"/>
              <a:chExt cx="1188415" cy="1672444"/>
            </a:xfrm>
          </p:grpSpPr>
          <p:pic>
            <p:nvPicPr>
              <p:cNvPr id="11" name="图片 10"/>
              <p:cNvPicPr/>
              <p:nvPr/>
            </p:nvPicPr>
            <p:blipFill rotWithShape="1">
              <a:blip r:embed="rId4"/>
              <a:srcRect l="-2" t="15702" r="18629" b="22245"/>
              <a:stretch/>
            </p:blipFill>
            <p:spPr>
              <a:xfrm>
                <a:off x="7776073" y="2044588"/>
                <a:ext cx="1188415" cy="1193080"/>
              </a:xfrm>
              <a:prstGeom prst="rect">
                <a:avLst/>
              </a:prstGeom>
              <a:ln>
                <a:noFill/>
              </a:ln>
              <a:effectLst>
                <a:softEdge rad="112500"/>
              </a:effectLst>
            </p:spPr>
          </p:pic>
          <p:sp>
            <p:nvSpPr>
              <p:cNvPr id="12" name="文本框 600120"/>
              <p:cNvSpPr txBox="1"/>
              <p:nvPr/>
            </p:nvSpPr>
            <p:spPr>
              <a:xfrm>
                <a:off x="8144043" y="3255194"/>
                <a:ext cx="676429" cy="461838"/>
              </a:xfrm>
              <a:prstGeom prst="rect">
                <a:avLst/>
              </a:prstGeom>
              <a:noFill/>
              <a:ln w="6350">
                <a:noFill/>
              </a:ln>
              <a:effectLst/>
            </p:spPr>
            <p:style>
              <a:lnRef idx="0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ot="0" spcFirstLastPara="0" vert="horz" wrap="none" lIns="66648" tIns="33325" rIns="66648" bIns="33325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zh-CN" altLang="en-US" sz="2000" kern="100" dirty="0">
                    <a:solidFill>
                      <a:srgbClr val="000000"/>
                    </a:solidFill>
                    <a:latin typeface="华文细黑" pitchFamily="2" charset="-122"/>
                    <a:ea typeface="华文细黑" pitchFamily="2" charset="-122"/>
                    <a:cs typeface="Times New Roman"/>
                  </a:rPr>
                  <a:t>知识</a:t>
                </a:r>
                <a:endParaRPr lang="zh-CN" altLang="en-US" sz="2800" kern="100" dirty="0">
                  <a:latin typeface="华文细黑" pitchFamily="2" charset="-122"/>
                  <a:ea typeface="华文细黑" pitchFamily="2" charset="-122"/>
                  <a:cs typeface="Times New Roman"/>
                </a:endParaRPr>
              </a:p>
            </p:txBody>
          </p:sp>
        </p:grpSp>
        <p:grpSp>
          <p:nvGrpSpPr>
            <p:cNvPr id="13" name="组合 12"/>
            <p:cNvGrpSpPr/>
            <p:nvPr/>
          </p:nvGrpSpPr>
          <p:grpSpPr>
            <a:xfrm>
              <a:off x="2681567" y="3334200"/>
              <a:ext cx="1096281" cy="1239731"/>
              <a:chOff x="2609557" y="4409756"/>
              <a:chExt cx="1096281" cy="1239731"/>
            </a:xfrm>
          </p:grpSpPr>
          <p:pic>
            <p:nvPicPr>
              <p:cNvPr id="14" name="图片 13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704024" y="4409756"/>
                <a:ext cx="660101" cy="740573"/>
              </a:xfrm>
              <a:prstGeom prst="rect">
                <a:avLst/>
              </a:prstGeom>
            </p:spPr>
          </p:pic>
          <p:sp>
            <p:nvSpPr>
              <p:cNvPr id="15" name="文本框 600127"/>
              <p:cNvSpPr txBox="1"/>
              <p:nvPr/>
            </p:nvSpPr>
            <p:spPr>
              <a:xfrm>
                <a:off x="2609557" y="5187649"/>
                <a:ext cx="1096281" cy="461838"/>
              </a:xfrm>
              <a:prstGeom prst="rect">
                <a:avLst/>
              </a:prstGeom>
              <a:noFill/>
              <a:ln w="6350">
                <a:noFill/>
              </a:ln>
              <a:effectLst/>
            </p:spPr>
            <p:style>
              <a:lnRef idx="0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ot="0" spcFirstLastPara="0" vert="horz" wrap="none" lIns="66648" tIns="33325" rIns="66648" bIns="33325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:r>
                  <a:rPr lang="zh-CN" altLang="en-US" sz="2000" kern="100" dirty="0">
                    <a:solidFill>
                      <a:srgbClr val="000000"/>
                    </a:solidFill>
                    <a:latin typeface="华文细黑" pitchFamily="2" charset="-122"/>
                    <a:ea typeface="华文细黑" pitchFamily="2" charset="-122"/>
                    <a:cs typeface="Times New Roman"/>
                  </a:rPr>
                  <a:t>目标数据</a:t>
                </a:r>
                <a:endParaRPr lang="zh-CN" altLang="en-US" sz="2800" kern="100" dirty="0">
                  <a:latin typeface="华文细黑" pitchFamily="2" charset="-122"/>
                  <a:ea typeface="华文细黑" pitchFamily="2" charset="-122"/>
                  <a:cs typeface="Times New Roman"/>
                </a:endParaRPr>
              </a:p>
            </p:txBody>
          </p:sp>
        </p:grpSp>
        <p:grpSp>
          <p:nvGrpSpPr>
            <p:cNvPr id="16" name="组合 15"/>
            <p:cNvGrpSpPr/>
            <p:nvPr/>
          </p:nvGrpSpPr>
          <p:grpSpPr>
            <a:xfrm>
              <a:off x="1299552" y="4768696"/>
              <a:ext cx="0" cy="510820"/>
              <a:chOff x="1227544" y="5844251"/>
              <a:chExt cx="0" cy="510820"/>
            </a:xfrm>
          </p:grpSpPr>
          <p:cxnSp>
            <p:nvCxnSpPr>
              <p:cNvPr id="17" name="直接箭头连接符 16"/>
              <p:cNvCxnSpPr/>
              <p:nvPr/>
            </p:nvCxnSpPr>
            <p:spPr>
              <a:xfrm flipV="1">
                <a:off x="1227544" y="5844251"/>
                <a:ext cx="0" cy="51082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prstDash val="dash"/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直接箭头连接符 17"/>
              <p:cNvCxnSpPr/>
              <p:nvPr/>
            </p:nvCxnSpPr>
            <p:spPr>
              <a:xfrm flipV="1">
                <a:off x="1227544" y="5977205"/>
                <a:ext cx="0" cy="240249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prstDash val="dash"/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9" name="组合 18"/>
            <p:cNvGrpSpPr/>
            <p:nvPr/>
          </p:nvGrpSpPr>
          <p:grpSpPr>
            <a:xfrm>
              <a:off x="2616255" y="4229886"/>
              <a:ext cx="0" cy="1061293"/>
              <a:chOff x="2544247" y="5305441"/>
              <a:chExt cx="0" cy="1061293"/>
            </a:xfrm>
          </p:grpSpPr>
          <p:cxnSp>
            <p:nvCxnSpPr>
              <p:cNvPr id="20" name="直接箭头连接符 19"/>
              <p:cNvCxnSpPr/>
              <p:nvPr/>
            </p:nvCxnSpPr>
            <p:spPr>
              <a:xfrm flipV="1">
                <a:off x="2544247" y="5305441"/>
                <a:ext cx="0" cy="1061293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prstDash val="dash"/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直接箭头连接符 20"/>
              <p:cNvCxnSpPr/>
              <p:nvPr/>
            </p:nvCxnSpPr>
            <p:spPr>
              <a:xfrm flipV="1">
                <a:off x="2544247" y="5731124"/>
                <a:ext cx="0" cy="240249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prstDash val="dash"/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2" name="组合 21"/>
            <p:cNvGrpSpPr/>
            <p:nvPr/>
          </p:nvGrpSpPr>
          <p:grpSpPr>
            <a:xfrm>
              <a:off x="3827995" y="3685244"/>
              <a:ext cx="0" cy="1594272"/>
              <a:chOff x="3755987" y="4760799"/>
              <a:chExt cx="0" cy="1594272"/>
            </a:xfrm>
          </p:grpSpPr>
          <p:cxnSp>
            <p:nvCxnSpPr>
              <p:cNvPr id="23" name="直接箭头连接符 22"/>
              <p:cNvCxnSpPr/>
              <p:nvPr/>
            </p:nvCxnSpPr>
            <p:spPr>
              <a:xfrm flipV="1">
                <a:off x="3755987" y="4760799"/>
                <a:ext cx="0" cy="1594272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prstDash val="dash"/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直接箭头连接符 23"/>
              <p:cNvCxnSpPr/>
              <p:nvPr/>
            </p:nvCxnSpPr>
            <p:spPr>
              <a:xfrm flipV="1">
                <a:off x="3755987" y="5689139"/>
                <a:ext cx="0" cy="240249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prstDash val="dash"/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5" name="组合 24"/>
            <p:cNvGrpSpPr/>
            <p:nvPr/>
          </p:nvGrpSpPr>
          <p:grpSpPr>
            <a:xfrm>
              <a:off x="5068892" y="3128939"/>
              <a:ext cx="1166" cy="2112090"/>
              <a:chOff x="4996884" y="4204495"/>
              <a:chExt cx="1166" cy="2112090"/>
            </a:xfrm>
          </p:grpSpPr>
          <p:cxnSp>
            <p:nvCxnSpPr>
              <p:cNvPr id="26" name="直接箭头连接符 25"/>
              <p:cNvCxnSpPr/>
              <p:nvPr/>
            </p:nvCxnSpPr>
            <p:spPr>
              <a:xfrm flipV="1">
                <a:off x="4996884" y="4204495"/>
                <a:ext cx="0" cy="211209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prstDash val="dash"/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直接箭头连接符 26"/>
              <p:cNvCxnSpPr/>
              <p:nvPr/>
            </p:nvCxnSpPr>
            <p:spPr>
              <a:xfrm flipV="1">
                <a:off x="4998050" y="5529362"/>
                <a:ext cx="0" cy="240249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prstDash val="dash"/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8" name="组合 27"/>
            <p:cNvGrpSpPr/>
            <p:nvPr/>
          </p:nvGrpSpPr>
          <p:grpSpPr>
            <a:xfrm>
              <a:off x="6401923" y="2647276"/>
              <a:ext cx="0" cy="2632241"/>
              <a:chOff x="6329915" y="3722831"/>
              <a:chExt cx="0" cy="2632241"/>
            </a:xfrm>
          </p:grpSpPr>
          <p:cxnSp>
            <p:nvCxnSpPr>
              <p:cNvPr id="29" name="直接箭头连接符 28"/>
              <p:cNvCxnSpPr/>
              <p:nvPr/>
            </p:nvCxnSpPr>
            <p:spPr>
              <a:xfrm flipV="1">
                <a:off x="6329915" y="3722831"/>
                <a:ext cx="0" cy="2632241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prstDash val="dash"/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直接箭头连接符 29"/>
              <p:cNvCxnSpPr/>
              <p:nvPr/>
            </p:nvCxnSpPr>
            <p:spPr>
              <a:xfrm flipV="1">
                <a:off x="6329915" y="5256458"/>
                <a:ext cx="0" cy="240249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prstDash val="dash"/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1" name="组合 30"/>
            <p:cNvGrpSpPr/>
            <p:nvPr/>
          </p:nvGrpSpPr>
          <p:grpSpPr>
            <a:xfrm>
              <a:off x="7737286" y="2082808"/>
              <a:ext cx="0" cy="3196709"/>
              <a:chOff x="7665278" y="3158363"/>
              <a:chExt cx="0" cy="3196709"/>
            </a:xfrm>
          </p:grpSpPr>
          <p:cxnSp>
            <p:nvCxnSpPr>
              <p:cNvPr id="32" name="直接箭头连接符 31"/>
              <p:cNvCxnSpPr/>
              <p:nvPr/>
            </p:nvCxnSpPr>
            <p:spPr>
              <a:xfrm flipV="1">
                <a:off x="7665278" y="3158363"/>
                <a:ext cx="0" cy="3196709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prstDash val="dash"/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直接箭头连接符 32"/>
              <p:cNvCxnSpPr/>
              <p:nvPr/>
            </p:nvCxnSpPr>
            <p:spPr>
              <a:xfrm flipV="1">
                <a:off x="7665278" y="4891420"/>
                <a:ext cx="0" cy="240249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prstDash val="dash"/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4" name="组合 33"/>
            <p:cNvGrpSpPr/>
            <p:nvPr/>
          </p:nvGrpSpPr>
          <p:grpSpPr>
            <a:xfrm>
              <a:off x="1441837" y="3948817"/>
              <a:ext cx="952831" cy="1161592"/>
              <a:chOff x="1369827" y="5024373"/>
              <a:chExt cx="952831" cy="1161592"/>
            </a:xfrm>
          </p:grpSpPr>
          <p:pic>
            <p:nvPicPr>
              <p:cNvPr id="35" name="图片 34"/>
              <p:cNvPicPr/>
              <p:nvPr/>
            </p:nvPicPr>
            <p:blipFill>
              <a:blip r:embed="rId6">
                <a:clrChange>
                  <a:clrFrom>
                    <a:srgbClr val="FFFDFF"/>
                  </a:clrFrom>
                  <a:clrTo>
                    <a:srgbClr val="FFFDFF">
                      <a:alpha val="0"/>
                    </a:srgbClr>
                  </a:clrTo>
                </a:clrChange>
              </a:blip>
              <a:stretch>
                <a:fillRect/>
              </a:stretch>
            </p:blipFill>
            <p:spPr>
              <a:xfrm>
                <a:off x="1369827" y="5024373"/>
                <a:ext cx="952831" cy="810548"/>
              </a:xfrm>
              <a:prstGeom prst="rect">
                <a:avLst/>
              </a:prstGeom>
            </p:spPr>
          </p:pic>
          <p:sp>
            <p:nvSpPr>
              <p:cNvPr id="36" name="文本框 600134"/>
              <p:cNvSpPr txBox="1"/>
              <p:nvPr/>
            </p:nvSpPr>
            <p:spPr>
              <a:xfrm>
                <a:off x="1544765" y="5724127"/>
                <a:ext cx="676429" cy="461838"/>
              </a:xfrm>
              <a:prstGeom prst="rect">
                <a:avLst/>
              </a:prstGeom>
              <a:noFill/>
              <a:ln w="6350">
                <a:noFill/>
              </a:ln>
              <a:effectLst/>
            </p:spPr>
            <p:style>
              <a:lnRef idx="0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ot="0" spcFirstLastPara="0" vert="horz" wrap="none" lIns="66648" tIns="33325" rIns="66648" bIns="33325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:r>
                  <a:rPr lang="zh-CN" altLang="en-US" sz="2000" kern="100">
                    <a:solidFill>
                      <a:srgbClr val="000000"/>
                    </a:solidFill>
                    <a:latin typeface="华文细黑" pitchFamily="2" charset="-122"/>
                    <a:ea typeface="华文细黑" pitchFamily="2" charset="-122"/>
                    <a:cs typeface="Times New Roman"/>
                  </a:rPr>
                  <a:t>数据</a:t>
                </a:r>
                <a:endParaRPr lang="zh-CN" altLang="en-US" sz="2800" kern="100">
                  <a:latin typeface="华文细黑" pitchFamily="2" charset="-122"/>
                  <a:ea typeface="华文细黑" pitchFamily="2" charset="-122"/>
                  <a:cs typeface="Times New Roman"/>
                </a:endParaRPr>
              </a:p>
            </p:txBody>
          </p:sp>
        </p:grpSp>
        <p:grpSp>
          <p:nvGrpSpPr>
            <p:cNvPr id="37" name="组合 36"/>
            <p:cNvGrpSpPr/>
            <p:nvPr/>
          </p:nvGrpSpPr>
          <p:grpSpPr>
            <a:xfrm>
              <a:off x="3763851" y="2693925"/>
              <a:ext cx="1520798" cy="1378516"/>
              <a:chOff x="3691843" y="3769481"/>
              <a:chExt cx="1520798" cy="1378516"/>
            </a:xfrm>
          </p:grpSpPr>
          <p:pic>
            <p:nvPicPr>
              <p:cNvPr id="38" name="图片 37"/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999735" y="3769481"/>
                <a:ext cx="770895" cy="988985"/>
              </a:xfrm>
              <a:prstGeom prst="rect">
                <a:avLst/>
              </a:prstGeom>
            </p:spPr>
          </p:pic>
          <p:sp>
            <p:nvSpPr>
              <p:cNvPr id="39" name="文本框 600135"/>
              <p:cNvSpPr txBox="1"/>
              <p:nvPr/>
            </p:nvSpPr>
            <p:spPr>
              <a:xfrm>
                <a:off x="3691843" y="4686159"/>
                <a:ext cx="1520798" cy="461838"/>
              </a:xfrm>
              <a:prstGeom prst="rect">
                <a:avLst/>
              </a:prstGeom>
              <a:noFill/>
              <a:ln w="6350">
                <a:noFill/>
              </a:ln>
              <a:effectLst/>
            </p:spPr>
            <p:style>
              <a:lnRef idx="0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ot="0" spcFirstLastPara="0" vert="horz" wrap="none" lIns="66648" tIns="33325" rIns="66648" bIns="33325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:r>
                  <a:rPr lang="zh-CN" altLang="en-US" sz="2000" kern="100" dirty="0">
                    <a:solidFill>
                      <a:srgbClr val="000000"/>
                    </a:solidFill>
                    <a:latin typeface="华文细黑" pitchFamily="2" charset="-122"/>
                    <a:ea typeface="华文细黑" pitchFamily="2" charset="-122"/>
                    <a:cs typeface="Times New Roman"/>
                  </a:rPr>
                  <a:t>预处理后数据</a:t>
                </a:r>
                <a:endParaRPr lang="zh-CN" altLang="en-US" sz="2000" kern="100" dirty="0">
                  <a:latin typeface="华文细黑" pitchFamily="2" charset="-122"/>
                  <a:ea typeface="华文细黑" pitchFamily="2" charset="-122"/>
                  <a:cs typeface="Times New Roman"/>
                </a:endParaRPr>
              </a:p>
            </p:txBody>
          </p:sp>
        </p:grpSp>
        <p:grpSp>
          <p:nvGrpSpPr>
            <p:cNvPr id="40" name="组合 39"/>
            <p:cNvGrpSpPr/>
            <p:nvPr/>
          </p:nvGrpSpPr>
          <p:grpSpPr>
            <a:xfrm>
              <a:off x="679104" y="345754"/>
              <a:ext cx="7781328" cy="599956"/>
              <a:chOff x="607095" y="1421308"/>
              <a:chExt cx="7781328" cy="599955"/>
            </a:xfrm>
          </p:grpSpPr>
          <p:cxnSp>
            <p:nvCxnSpPr>
              <p:cNvPr id="41" name="直接连接符 40"/>
              <p:cNvCxnSpPr/>
              <p:nvPr/>
            </p:nvCxnSpPr>
            <p:spPr>
              <a:xfrm>
                <a:off x="607095" y="1623570"/>
                <a:ext cx="0" cy="397693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直接连接符 41"/>
              <p:cNvCxnSpPr/>
              <p:nvPr/>
            </p:nvCxnSpPr>
            <p:spPr>
              <a:xfrm>
                <a:off x="5577680" y="1592081"/>
                <a:ext cx="0" cy="397693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直接连接符 42"/>
              <p:cNvCxnSpPr/>
              <p:nvPr/>
            </p:nvCxnSpPr>
            <p:spPr>
              <a:xfrm>
                <a:off x="8249573" y="1592081"/>
                <a:ext cx="0" cy="397693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直接连接符 43"/>
              <p:cNvCxnSpPr/>
              <p:nvPr/>
            </p:nvCxnSpPr>
            <p:spPr>
              <a:xfrm>
                <a:off x="607095" y="1832329"/>
                <a:ext cx="4957756" cy="0"/>
              </a:xfrm>
              <a:prstGeom prst="line">
                <a:avLst/>
              </a:prstGeom>
              <a:ln w="28575">
                <a:solidFill>
                  <a:schemeClr val="tx1"/>
                </a:solidFill>
                <a:headEnd type="triangl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直接连接符 44"/>
              <p:cNvCxnSpPr/>
              <p:nvPr/>
            </p:nvCxnSpPr>
            <p:spPr>
              <a:xfrm>
                <a:off x="7019172" y="1618904"/>
                <a:ext cx="0" cy="396527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直接连接符 45"/>
              <p:cNvCxnSpPr/>
              <p:nvPr/>
            </p:nvCxnSpPr>
            <p:spPr>
              <a:xfrm>
                <a:off x="5577680" y="1832329"/>
                <a:ext cx="1454322" cy="0"/>
              </a:xfrm>
              <a:prstGeom prst="line">
                <a:avLst/>
              </a:prstGeom>
              <a:ln w="28575">
                <a:solidFill>
                  <a:schemeClr val="tx1"/>
                </a:solidFill>
                <a:headEnd type="triangl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直接连接符 46"/>
              <p:cNvCxnSpPr/>
              <p:nvPr/>
            </p:nvCxnSpPr>
            <p:spPr>
              <a:xfrm>
                <a:off x="7040165" y="1832329"/>
                <a:ext cx="1203577" cy="0"/>
              </a:xfrm>
              <a:prstGeom prst="line">
                <a:avLst/>
              </a:prstGeom>
              <a:ln w="28575">
                <a:solidFill>
                  <a:schemeClr val="tx1"/>
                </a:solidFill>
                <a:headEnd type="triangl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8" name="文本框 600143"/>
              <p:cNvSpPr txBox="1"/>
              <p:nvPr/>
            </p:nvSpPr>
            <p:spPr>
              <a:xfrm>
                <a:off x="2339751" y="1421309"/>
                <a:ext cx="1096281" cy="431515"/>
              </a:xfrm>
              <a:prstGeom prst="rect">
                <a:avLst/>
              </a:prstGeom>
              <a:noFill/>
              <a:ln w="6350">
                <a:noFill/>
              </a:ln>
              <a:effectLst/>
            </p:spPr>
            <p:style>
              <a:lnRef idx="0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ot="0" spcFirstLastPara="0" vert="horz" wrap="none" lIns="66648" tIns="33325" rIns="66648" bIns="33325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r"/>
                <a:r>
                  <a:rPr lang="zh-CN" altLang="en-US" sz="2000" kern="100" dirty="0">
                    <a:solidFill>
                      <a:srgbClr val="000000"/>
                    </a:solidFill>
                    <a:latin typeface="华文细黑" pitchFamily="2" charset="-122"/>
                    <a:ea typeface="华文细黑" pitchFamily="2" charset="-122"/>
                    <a:cs typeface="Times New Roman"/>
                  </a:rPr>
                  <a:t>数据准备</a:t>
                </a:r>
                <a:endParaRPr lang="zh-CN" altLang="en-US" sz="2800" kern="100" dirty="0">
                  <a:latin typeface="华文细黑" pitchFamily="2" charset="-122"/>
                  <a:ea typeface="华文细黑" pitchFamily="2" charset="-122"/>
                  <a:cs typeface="Times New Roman"/>
                </a:endParaRPr>
              </a:p>
            </p:txBody>
          </p:sp>
          <p:sp>
            <p:nvSpPr>
              <p:cNvPr id="49" name="文本框 97"/>
              <p:cNvSpPr txBox="1"/>
              <p:nvPr/>
            </p:nvSpPr>
            <p:spPr>
              <a:xfrm>
                <a:off x="5763114" y="1452779"/>
                <a:ext cx="1096281" cy="430349"/>
              </a:xfrm>
              <a:prstGeom prst="rect">
                <a:avLst/>
              </a:prstGeom>
              <a:noFill/>
              <a:ln w="6350">
                <a:noFill/>
              </a:ln>
              <a:effectLst/>
            </p:spPr>
            <p:style>
              <a:lnRef idx="0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ot="0" spcFirstLastPara="0" vert="horz" wrap="none" lIns="66648" tIns="33325" rIns="66648" bIns="33325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r"/>
                <a:r>
                  <a:rPr lang="zh-CN" altLang="en-US" sz="2000">
                    <a:solidFill>
                      <a:srgbClr val="000000"/>
                    </a:solidFill>
                    <a:latin typeface="华文细黑" pitchFamily="2" charset="-122"/>
                    <a:ea typeface="华文细黑" pitchFamily="2" charset="-122"/>
                    <a:cs typeface="Times New Roman"/>
                  </a:rPr>
                  <a:t>数据挖掘</a:t>
                </a:r>
                <a:endParaRPr lang="zh-CN" altLang="en-US" sz="3600">
                  <a:latin typeface="华文细黑" pitchFamily="2" charset="-122"/>
                  <a:ea typeface="华文细黑" pitchFamily="2" charset="-122"/>
                  <a:cs typeface="宋体"/>
                </a:endParaRPr>
              </a:p>
            </p:txBody>
          </p:sp>
          <p:sp>
            <p:nvSpPr>
              <p:cNvPr id="50" name="文本框 97"/>
              <p:cNvSpPr txBox="1"/>
              <p:nvPr/>
            </p:nvSpPr>
            <p:spPr>
              <a:xfrm>
                <a:off x="7012241" y="1421308"/>
                <a:ext cx="1376182" cy="431515"/>
              </a:xfrm>
              <a:prstGeom prst="rect">
                <a:avLst/>
              </a:prstGeom>
              <a:noFill/>
              <a:ln w="6350">
                <a:noFill/>
              </a:ln>
              <a:effectLst/>
            </p:spPr>
            <p:style>
              <a:lnRef idx="0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ot="0" spcFirstLastPara="0" vert="horz" wrap="none" lIns="66648" tIns="33325" rIns="66648" bIns="33325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R="152400" algn="r"/>
                <a:r>
                  <a:rPr lang="zh-CN" altLang="en-US" sz="2000">
                    <a:solidFill>
                      <a:srgbClr val="000000"/>
                    </a:solidFill>
                    <a:latin typeface="华文细黑" pitchFamily="2" charset="-122"/>
                    <a:ea typeface="华文细黑" pitchFamily="2" charset="-122"/>
                    <a:cs typeface="Times New Roman"/>
                  </a:rPr>
                  <a:t>解释评估</a:t>
                </a:r>
                <a:endParaRPr lang="zh-CN" altLang="en-US" sz="3600">
                  <a:latin typeface="华文细黑" pitchFamily="2" charset="-122"/>
                  <a:ea typeface="华文细黑" pitchFamily="2" charset="-122"/>
                  <a:cs typeface="宋体"/>
                </a:endParaRPr>
              </a:p>
            </p:txBody>
          </p:sp>
        </p:grpSp>
        <p:grpSp>
          <p:nvGrpSpPr>
            <p:cNvPr id="51" name="组合 50"/>
            <p:cNvGrpSpPr/>
            <p:nvPr/>
          </p:nvGrpSpPr>
          <p:grpSpPr>
            <a:xfrm>
              <a:off x="6606020" y="1708439"/>
              <a:ext cx="922509" cy="1160426"/>
              <a:chOff x="6534010" y="2783995"/>
              <a:chExt cx="922509" cy="1160425"/>
            </a:xfrm>
          </p:grpSpPr>
          <p:sp>
            <p:nvSpPr>
              <p:cNvPr id="52" name="文本框 600118"/>
              <p:cNvSpPr txBox="1"/>
              <p:nvPr/>
            </p:nvSpPr>
            <p:spPr>
              <a:xfrm>
                <a:off x="6671628" y="3482582"/>
                <a:ext cx="677595" cy="461838"/>
              </a:xfrm>
              <a:prstGeom prst="rect">
                <a:avLst/>
              </a:prstGeom>
              <a:noFill/>
              <a:ln w="6350">
                <a:noFill/>
              </a:ln>
              <a:effectLst/>
            </p:spPr>
            <p:style>
              <a:lnRef idx="0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ot="0" spcFirstLastPara="0" vert="horz" wrap="none" lIns="66648" tIns="33325" rIns="66648" bIns="33325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:r>
                  <a:rPr lang="zh-CN" altLang="en-US" sz="2000" kern="100" dirty="0">
                    <a:solidFill>
                      <a:srgbClr val="000000"/>
                    </a:solidFill>
                    <a:latin typeface="华文细黑" pitchFamily="2" charset="-122"/>
                    <a:ea typeface="华文细黑" pitchFamily="2" charset="-122"/>
                    <a:cs typeface="Times New Roman"/>
                  </a:rPr>
                  <a:t>模式</a:t>
                </a:r>
                <a:endParaRPr lang="zh-CN" altLang="en-US" sz="2800" kern="100" dirty="0">
                  <a:latin typeface="华文细黑" pitchFamily="2" charset="-122"/>
                  <a:ea typeface="华文细黑" pitchFamily="2" charset="-122"/>
                  <a:cs typeface="Times New Roman"/>
                </a:endParaRPr>
              </a:p>
            </p:txBody>
          </p:sp>
          <p:pic>
            <p:nvPicPr>
              <p:cNvPr id="53" name="图片 52"/>
              <p:cNvPicPr/>
              <p:nvPr/>
            </p:nvPicPr>
            <p:blipFill>
              <a:blip r:embed="rId8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tretch>
                <a:fillRect/>
              </a:stretch>
            </p:blipFill>
            <p:spPr>
              <a:xfrm>
                <a:off x="6534010" y="2783995"/>
                <a:ext cx="922509" cy="714915"/>
              </a:xfrm>
              <a:prstGeom prst="rect">
                <a:avLst/>
              </a:prstGeom>
              <a:ln>
                <a:noFill/>
              </a:ln>
              <a:effectLst>
                <a:softEdge rad="12700"/>
              </a:effectLst>
            </p:spPr>
          </p:pic>
        </p:grpSp>
        <p:grpSp>
          <p:nvGrpSpPr>
            <p:cNvPr id="54" name="组合 53"/>
            <p:cNvGrpSpPr/>
            <p:nvPr/>
          </p:nvGrpSpPr>
          <p:grpSpPr>
            <a:xfrm>
              <a:off x="251522" y="4571598"/>
              <a:ext cx="888687" cy="950198"/>
              <a:chOff x="179512" y="5647154"/>
              <a:chExt cx="888687" cy="950198"/>
            </a:xfrm>
          </p:grpSpPr>
          <p:sp>
            <p:nvSpPr>
              <p:cNvPr id="55" name="文本框 600109"/>
              <p:cNvSpPr txBox="1"/>
              <p:nvPr/>
            </p:nvSpPr>
            <p:spPr>
              <a:xfrm>
                <a:off x="179512" y="6135514"/>
                <a:ext cx="888687" cy="461838"/>
              </a:xfrm>
              <a:prstGeom prst="rect">
                <a:avLst/>
              </a:prstGeom>
              <a:noFill/>
              <a:ln w="6350">
                <a:noFill/>
              </a:ln>
              <a:effectLst/>
            </p:spPr>
            <p:style>
              <a:lnRef idx="0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ot="0" spcFirstLastPara="0" vert="horz" wrap="none" lIns="66648" tIns="33325" rIns="66648" bIns="33325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:r>
                  <a:rPr lang="zh-CN" altLang="en-US" sz="2000" kern="100">
                    <a:solidFill>
                      <a:srgbClr val="000000"/>
                    </a:solidFill>
                    <a:latin typeface="华文细黑" pitchFamily="2" charset="-122"/>
                    <a:ea typeface="华文细黑" pitchFamily="2" charset="-122"/>
                    <a:cs typeface="Times New Roman"/>
                  </a:rPr>
                  <a:t>数据源</a:t>
                </a:r>
                <a:endParaRPr lang="zh-CN" altLang="en-US" sz="2800" kern="100">
                  <a:latin typeface="华文细黑" pitchFamily="2" charset="-122"/>
                  <a:ea typeface="华文细黑" pitchFamily="2" charset="-122"/>
                  <a:cs typeface="Times New Roman"/>
                </a:endParaRPr>
              </a:p>
            </p:txBody>
          </p:sp>
          <p:pic>
            <p:nvPicPr>
              <p:cNvPr id="56" name="图片 55"/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74712" y="5647154"/>
                <a:ext cx="651937" cy="515485"/>
              </a:xfrm>
              <a:prstGeom prst="rect">
                <a:avLst/>
              </a:prstGeom>
            </p:spPr>
          </p:pic>
        </p:grpSp>
        <p:sp>
          <p:nvSpPr>
            <p:cNvPr id="57" name="燕尾形箭头 56"/>
            <p:cNvSpPr/>
            <p:nvPr/>
          </p:nvSpPr>
          <p:spPr>
            <a:xfrm rot="20354895">
              <a:off x="7469048" y="1676951"/>
              <a:ext cx="461838" cy="240249"/>
            </a:xfrm>
            <a:prstGeom prst="notchedRightArrow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66648" tIns="33325" rIns="66648" bIns="33325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just"/>
              <a:r>
                <a:rPr lang="en-US" sz="5400" kern="100" dirty="0">
                  <a:solidFill>
                    <a:srgbClr val="000000"/>
                  </a:solidFill>
                  <a:latin typeface="华文细黑" pitchFamily="2" charset="-122"/>
                  <a:ea typeface="华文细黑" pitchFamily="2" charset="-122"/>
                  <a:cs typeface="Times New Roman"/>
                </a:rPr>
                <a:t> </a:t>
              </a:r>
              <a:endParaRPr lang="zh-CN" altLang="en-US" sz="2800" kern="100" dirty="0">
                <a:latin typeface="华文细黑" pitchFamily="2" charset="-122"/>
                <a:ea typeface="华文细黑" pitchFamily="2" charset="-122"/>
                <a:cs typeface="Times New Roman"/>
              </a:endParaRPr>
            </a:p>
          </p:txBody>
        </p:sp>
        <p:sp>
          <p:nvSpPr>
            <p:cNvPr id="58" name="文本框 600150"/>
            <p:cNvSpPr txBox="1"/>
            <p:nvPr/>
          </p:nvSpPr>
          <p:spPr>
            <a:xfrm>
              <a:off x="5766315" y="1766751"/>
              <a:ext cx="1096281" cy="431516"/>
            </a:xfrm>
            <a:prstGeom prst="rect">
              <a:avLst/>
            </a:prstGeom>
            <a:noFill/>
            <a:ln w="6350">
              <a:noFill/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none" lIns="66648" tIns="33325" rIns="66648" bIns="33325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zh-CN" altLang="en-US" sz="2000" kern="100" dirty="0">
                  <a:solidFill>
                    <a:srgbClr val="000000"/>
                  </a:solidFill>
                  <a:latin typeface="华文细黑" pitchFamily="2" charset="-122"/>
                  <a:ea typeface="华文细黑" pitchFamily="2" charset="-122"/>
                  <a:cs typeface="Times New Roman"/>
                </a:rPr>
                <a:t>数据挖掘</a:t>
              </a:r>
              <a:endParaRPr lang="zh-CN" altLang="en-US" sz="2800" kern="100" dirty="0">
                <a:latin typeface="华文细黑" pitchFamily="2" charset="-122"/>
                <a:ea typeface="华文细黑" pitchFamily="2" charset="-122"/>
                <a:cs typeface="Times New Roman"/>
              </a:endParaRPr>
            </a:p>
          </p:txBody>
        </p:sp>
        <p:grpSp>
          <p:nvGrpSpPr>
            <p:cNvPr id="59" name="组合 58"/>
            <p:cNvGrpSpPr/>
            <p:nvPr/>
          </p:nvGrpSpPr>
          <p:grpSpPr>
            <a:xfrm>
              <a:off x="1314715" y="5306339"/>
              <a:ext cx="6413243" cy="6998"/>
              <a:chOff x="1242705" y="6381895"/>
              <a:chExt cx="6413243" cy="6998"/>
            </a:xfrm>
          </p:grpSpPr>
          <p:cxnSp>
            <p:nvCxnSpPr>
              <p:cNvPr id="60" name="直接箭头连接符 59"/>
              <p:cNvCxnSpPr/>
              <p:nvPr/>
            </p:nvCxnSpPr>
            <p:spPr>
              <a:xfrm flipH="1">
                <a:off x="1242705" y="6388893"/>
                <a:ext cx="6413243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prstDash val="dash"/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直接箭头连接符 60"/>
              <p:cNvCxnSpPr/>
              <p:nvPr/>
            </p:nvCxnSpPr>
            <p:spPr>
              <a:xfrm rot="16200000" flipV="1">
                <a:off x="6550921" y="6262353"/>
                <a:ext cx="0" cy="239083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prstDash val="dash"/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2" name="文本框 600119"/>
            <p:cNvSpPr txBox="1"/>
            <p:nvPr/>
          </p:nvSpPr>
          <p:spPr>
            <a:xfrm>
              <a:off x="7020274" y="1243103"/>
              <a:ext cx="1096281" cy="432681"/>
            </a:xfrm>
            <a:prstGeom prst="rect">
              <a:avLst/>
            </a:prstGeom>
            <a:noFill/>
            <a:ln w="6350">
              <a:noFill/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none" lIns="66648" tIns="33325" rIns="66648" bIns="33325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zh-CN" altLang="en-US" sz="2000" kern="100" dirty="0">
                  <a:solidFill>
                    <a:srgbClr val="000000"/>
                  </a:solidFill>
                  <a:latin typeface="华文细黑" pitchFamily="2" charset="-122"/>
                  <a:ea typeface="华文细黑" pitchFamily="2" charset="-122"/>
                  <a:cs typeface="Times New Roman"/>
                </a:rPr>
                <a:t>解释评估</a:t>
              </a:r>
              <a:endParaRPr lang="zh-CN" altLang="en-US" sz="2800" kern="100" dirty="0">
                <a:latin typeface="华文细黑" pitchFamily="2" charset="-122"/>
                <a:ea typeface="华文细黑" pitchFamily="2" charset="-122"/>
                <a:cs typeface="Times New Roman"/>
              </a:endParaRPr>
            </a:p>
          </p:txBody>
        </p:sp>
        <p:sp>
          <p:nvSpPr>
            <p:cNvPr id="63" name="文本框 600111"/>
            <p:cNvSpPr txBox="1"/>
            <p:nvPr/>
          </p:nvSpPr>
          <p:spPr>
            <a:xfrm>
              <a:off x="1918836" y="3386682"/>
              <a:ext cx="1096281" cy="432681"/>
            </a:xfrm>
            <a:prstGeom prst="rect">
              <a:avLst/>
            </a:prstGeom>
            <a:noFill/>
            <a:ln w="6350">
              <a:noFill/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none" lIns="66648" tIns="33325" rIns="66648" bIns="33325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zh-CN" altLang="en-US" sz="2000" kern="100" dirty="0">
                  <a:solidFill>
                    <a:srgbClr val="000000"/>
                  </a:solidFill>
                  <a:latin typeface="华文细黑" pitchFamily="2" charset="-122"/>
                  <a:ea typeface="华文细黑" pitchFamily="2" charset="-122"/>
                  <a:cs typeface="Times New Roman"/>
                </a:rPr>
                <a:t>数据选择</a:t>
              </a:r>
              <a:endParaRPr lang="zh-CN" altLang="en-US" sz="2800" kern="100" dirty="0">
                <a:latin typeface="华文细黑" pitchFamily="2" charset="-122"/>
                <a:ea typeface="华文细黑" pitchFamily="2" charset="-122"/>
                <a:cs typeface="Times New Roman"/>
              </a:endParaRPr>
            </a:p>
          </p:txBody>
        </p:sp>
        <p:sp>
          <p:nvSpPr>
            <p:cNvPr id="64" name="文本框 600108"/>
            <p:cNvSpPr txBox="1"/>
            <p:nvPr/>
          </p:nvSpPr>
          <p:spPr>
            <a:xfrm>
              <a:off x="679105" y="3916162"/>
              <a:ext cx="1096281" cy="431516"/>
            </a:xfrm>
            <a:prstGeom prst="rect">
              <a:avLst/>
            </a:prstGeom>
            <a:noFill/>
            <a:ln w="6350">
              <a:noFill/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none" lIns="66648" tIns="33325" rIns="66648" bIns="33325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zh-CN" altLang="en-US" sz="2000" kern="100" dirty="0">
                  <a:solidFill>
                    <a:srgbClr val="000000"/>
                  </a:solidFill>
                  <a:latin typeface="华文细黑" pitchFamily="2" charset="-122"/>
                  <a:ea typeface="华文细黑" pitchFamily="2" charset="-122"/>
                  <a:cs typeface="Times New Roman"/>
                </a:rPr>
                <a:t>数据集成</a:t>
              </a:r>
              <a:endParaRPr lang="zh-CN" altLang="en-US" sz="2800" kern="100" dirty="0">
                <a:latin typeface="华文细黑" pitchFamily="2" charset="-122"/>
                <a:ea typeface="华文细黑" pitchFamily="2" charset="-122"/>
                <a:cs typeface="Times New Roman"/>
              </a:endParaRPr>
            </a:p>
          </p:txBody>
        </p:sp>
        <p:sp>
          <p:nvSpPr>
            <p:cNvPr id="65" name="文本框 600149"/>
            <p:cNvSpPr txBox="1"/>
            <p:nvPr/>
          </p:nvSpPr>
          <p:spPr>
            <a:xfrm>
              <a:off x="3213380" y="2823380"/>
              <a:ext cx="886355" cy="431516"/>
            </a:xfrm>
            <a:prstGeom prst="rect">
              <a:avLst/>
            </a:prstGeom>
            <a:noFill/>
            <a:ln w="6350">
              <a:noFill/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none" lIns="66648" tIns="33325" rIns="66648" bIns="33325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zh-CN" altLang="en-US" sz="2000" kern="100" dirty="0">
                  <a:solidFill>
                    <a:srgbClr val="000000"/>
                  </a:solidFill>
                  <a:latin typeface="华文细黑" pitchFamily="2" charset="-122"/>
                  <a:ea typeface="华文细黑" pitchFamily="2" charset="-122"/>
                  <a:cs typeface="Times New Roman"/>
                </a:rPr>
                <a:t>预处理</a:t>
              </a:r>
              <a:endParaRPr lang="zh-CN" altLang="en-US" sz="2800" kern="100" dirty="0">
                <a:latin typeface="华文细黑" pitchFamily="2" charset="-122"/>
                <a:ea typeface="华文细黑" pitchFamily="2" charset="-122"/>
                <a:cs typeface="Times New Roman"/>
              </a:endParaRPr>
            </a:p>
          </p:txBody>
        </p:sp>
        <p:sp>
          <p:nvSpPr>
            <p:cNvPr id="66" name="文本框 600112"/>
            <p:cNvSpPr txBox="1"/>
            <p:nvPr/>
          </p:nvSpPr>
          <p:spPr>
            <a:xfrm>
              <a:off x="4374971" y="2260080"/>
              <a:ext cx="1096281" cy="432681"/>
            </a:xfrm>
            <a:prstGeom prst="rect">
              <a:avLst/>
            </a:prstGeom>
            <a:noFill/>
            <a:ln w="6350">
              <a:noFill/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none" lIns="66648" tIns="33325" rIns="66648" bIns="33325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zh-CN" altLang="en-US" sz="2000" kern="100" dirty="0">
                  <a:solidFill>
                    <a:srgbClr val="000000"/>
                  </a:solidFill>
                  <a:latin typeface="华文细黑" pitchFamily="2" charset="-122"/>
                  <a:ea typeface="华文细黑" pitchFamily="2" charset="-122"/>
                  <a:cs typeface="Times New Roman"/>
                </a:rPr>
                <a:t>数据转换</a:t>
              </a:r>
              <a:endParaRPr lang="zh-CN" altLang="en-US" sz="2800" kern="100" dirty="0">
                <a:latin typeface="华文细黑" pitchFamily="2" charset="-122"/>
                <a:ea typeface="华文细黑" pitchFamily="2" charset="-122"/>
                <a:cs typeface="Times New Roman"/>
              </a:endParaRPr>
            </a:p>
          </p:txBody>
        </p:sp>
        <p:sp>
          <p:nvSpPr>
            <p:cNvPr id="67" name="燕尾形箭头 66"/>
            <p:cNvSpPr/>
            <p:nvPr/>
          </p:nvSpPr>
          <p:spPr>
            <a:xfrm rot="20354895">
              <a:off x="1072132" y="4582094"/>
              <a:ext cx="461838" cy="240249"/>
            </a:xfrm>
            <a:prstGeom prst="notchedRightArrow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66648" tIns="33325" rIns="66648" bIns="33325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just"/>
              <a:r>
                <a:rPr lang="en-US" sz="5400" kern="100" dirty="0">
                  <a:solidFill>
                    <a:srgbClr val="000000"/>
                  </a:solidFill>
                  <a:latin typeface="华文细黑" pitchFamily="2" charset="-122"/>
                  <a:ea typeface="华文细黑" pitchFamily="2" charset="-122"/>
                  <a:cs typeface="Times New Roman"/>
                </a:rPr>
                <a:t> </a:t>
              </a:r>
              <a:endParaRPr lang="zh-CN" altLang="en-US" sz="2800" kern="100" dirty="0">
                <a:latin typeface="华文细黑" pitchFamily="2" charset="-122"/>
                <a:ea typeface="华文细黑" pitchFamily="2" charset="-122"/>
                <a:cs typeface="Times New Roman"/>
              </a:endParaRPr>
            </a:p>
          </p:txBody>
        </p:sp>
        <p:sp>
          <p:nvSpPr>
            <p:cNvPr id="68" name="燕尾形箭头 67"/>
            <p:cNvSpPr/>
            <p:nvPr/>
          </p:nvSpPr>
          <p:spPr>
            <a:xfrm rot="20354895">
              <a:off x="2297867" y="4026957"/>
              <a:ext cx="528314" cy="240249"/>
            </a:xfrm>
            <a:prstGeom prst="notchedRightArrow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66648" tIns="33325" rIns="66648" bIns="33325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just"/>
              <a:r>
                <a:rPr lang="en-US" sz="5400" kern="100">
                  <a:solidFill>
                    <a:srgbClr val="000000"/>
                  </a:solidFill>
                  <a:latin typeface="华文细黑" pitchFamily="2" charset="-122"/>
                  <a:ea typeface="华文细黑" pitchFamily="2" charset="-122"/>
                  <a:cs typeface="Times New Roman"/>
                </a:rPr>
                <a:t> </a:t>
              </a:r>
              <a:endParaRPr lang="zh-CN" altLang="en-US" sz="2800" kern="100">
                <a:latin typeface="华文细黑" pitchFamily="2" charset="-122"/>
                <a:ea typeface="华文细黑" pitchFamily="2" charset="-122"/>
                <a:cs typeface="Times New Roman"/>
              </a:endParaRPr>
            </a:p>
          </p:txBody>
        </p:sp>
      </p:grpSp>
      <p:sp>
        <p:nvSpPr>
          <p:cNvPr id="69" name="Rectangle 2">
            <a:extLst>
              <a:ext uri="{FF2B5EF4-FFF2-40B4-BE49-F238E27FC236}">
                <a16:creationId xmlns:a16="http://schemas.microsoft.com/office/drawing/2014/main" id="{85273558-0309-40CC-8108-44AECE38103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4399"/>
            <a:ext cx="9144000" cy="817721"/>
          </a:xfrm>
        </p:spPr>
        <p:txBody>
          <a:bodyPr/>
          <a:lstStyle/>
          <a:p>
            <a:r>
              <a:rPr lang="zh-CN" altLang="en-US" dirty="0">
                <a:latin typeface="Times New Roman" pitchFamily="18" charset="0"/>
              </a:rPr>
              <a:t>数据挖掘</a:t>
            </a:r>
            <a:r>
              <a:rPr lang="en-US" altLang="zh-CN" dirty="0">
                <a:latin typeface="Times New Roman" pitchFamily="18" charset="0"/>
              </a:rPr>
              <a:t>de</a:t>
            </a:r>
            <a:r>
              <a:rPr lang="zh-CN" altLang="en-US" dirty="0">
                <a:latin typeface="Times New Roman" pitchFamily="18" charset="0"/>
              </a:rPr>
              <a:t>过程</a:t>
            </a:r>
          </a:p>
        </p:txBody>
      </p:sp>
    </p:spTree>
    <p:extLst>
      <p:ext uri="{BB962C8B-B14F-4D97-AF65-F5344CB8AC3E}">
        <p14:creationId xmlns:p14="http://schemas.microsoft.com/office/powerpoint/2010/main" val="22145323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68676A7-EE22-4C19-8C2F-578F55535B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dirty="0"/>
              <a:t>GPT</a:t>
            </a:r>
            <a:r>
              <a:rPr lang="zh-CN" altLang="en-US" sz="3200" dirty="0"/>
              <a:t>（</a:t>
            </a:r>
            <a:r>
              <a:rPr lang="en-US" altLang="zh-CN" sz="3200" b="1" i="0" dirty="0">
                <a:solidFill>
                  <a:srgbClr val="3C51B4"/>
                </a:solidFill>
                <a:effectLst/>
                <a:latin typeface="Arial" panose="020B0604020202020204" pitchFamily="34" charset="0"/>
              </a:rPr>
              <a:t>Generative Pre-Trained Transformer</a:t>
            </a:r>
            <a:r>
              <a:rPr lang="zh-CN" altLang="en-US" sz="3200" dirty="0"/>
              <a:t>）</a:t>
            </a:r>
            <a:br>
              <a:rPr lang="en-US" altLang="zh-CN" sz="3200" dirty="0"/>
            </a:br>
            <a:r>
              <a:rPr lang="zh-CN" altLang="en-US" sz="3200" dirty="0"/>
              <a:t>数据集构成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B66F87D-3D43-463E-B076-1DE8A669B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84F5B-1672-4D3F-9FEC-5DF89A7B7912}" type="slidenum">
              <a:rPr lang="zh-CN" altLang="en-US" smtClean="0"/>
              <a:t>3</a:t>
            </a:fld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854BC11-D4C5-4BD3-ADE0-95B2770E9314}"/>
              </a:ext>
            </a:extLst>
          </p:cNvPr>
          <p:cNvSpPr txBox="1"/>
          <p:nvPr/>
        </p:nvSpPr>
        <p:spPr>
          <a:xfrm>
            <a:off x="120581" y="898388"/>
            <a:ext cx="8802355" cy="57400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GPT </a:t>
            </a:r>
            <a:r>
              <a:rPr lang="zh-CN" altLang="en-US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模型的训练数据主要来源于以下几类：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维基百科：维基百科是一个多语言在线百科全书，英文版被广泛用于训练，因其内容权威且覆盖多领域。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GPT-3 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使用的维基百科数据约为 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11.4GB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，包含超过 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42 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亿个单词。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书籍数据集：包括 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Project Gutenberg 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 </a:t>
            </a:r>
            <a:r>
              <a:rPr lang="en-US" altLang="zh-CN" sz="1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BookCorpus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等，主要用于提升模型的语言表达和故事生成能力。例如，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GPT-3 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 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Books1 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数据集可能来源于古腾堡项目，大小约为 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21GB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期刊与学术论文：如 </a:t>
            </a:r>
            <a:r>
              <a:rPr lang="en-US" altLang="zh-CN" sz="1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ArXiv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 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PubMed 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数据集，这些数据提供了严谨的学术内容，帮助模型在科学领域表现更佳。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Reddit 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链接：</a:t>
            </a:r>
            <a:r>
              <a:rPr lang="en-US" altLang="zh-CN" sz="1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WebText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数据集通过爬取 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Reddit 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上高质量的外部链接生成，代表了流行内容的趋势。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GPT-2 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 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GPT-3 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均使用了扩展版本的 </a:t>
            </a:r>
            <a:r>
              <a:rPr lang="en-US" altLang="zh-CN" sz="1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WebText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数据。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Common Crawl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：这是一个大规模的网页抓取数据集，包含多语言和多领域的文本。研究人员通常会过滤出纯英文版本（如 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C4 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数据集）用于训练。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其他数据集：包括代码数据（如 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GitHub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）、论坛对话（如 </a:t>
            </a:r>
            <a:r>
              <a:rPr lang="en-US" altLang="zh-CN" sz="1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StackExchange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）以及视频字幕等，进一步丰富了模型的多样性。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en-US" altLang="zh-CN" sz="1400" b="1" i="0" dirty="0">
                <a:solidFill>
                  <a:schemeClr val="accent2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GPT </a:t>
            </a:r>
            <a:r>
              <a:rPr lang="zh-CN" altLang="en-US" sz="1400" b="1" i="0" dirty="0">
                <a:solidFill>
                  <a:schemeClr val="accent2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模型的训练数据规模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zh-CN" sz="1400" b="1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GPT-1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：约 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5GB 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数据，参数量为 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1.17 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亿。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zh-CN" sz="1400" b="1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GPT-2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：约 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40GB 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数据，参数量为 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15 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亿。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zh-CN" sz="1400" b="1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GPT-3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：约 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45TB 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数据，参数量为 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1750 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亿。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zh-CN" sz="1400" dirty="0"/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zh-CN" altLang="en-US" sz="1400" dirty="0"/>
              <a:t>课后阅读：</a:t>
            </a:r>
            <a:r>
              <a:rPr lang="en-US" altLang="zh-CN" sz="1400" dirty="0"/>
              <a:t>GPT3</a:t>
            </a:r>
            <a:r>
              <a:rPr lang="zh-CN" altLang="en-US" sz="1400" dirty="0"/>
              <a:t>模型的数据预处理技术  </a:t>
            </a:r>
            <a:r>
              <a:rPr lang="en-US" altLang="zh-CN" sz="1400" dirty="0"/>
              <a:t>https://wenku.csdn.net/column/3n3u6grwi8</a:t>
            </a:r>
            <a:endParaRPr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40987523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9FDC37-D502-46B2-A8D2-56D82C751B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ETL</a:t>
            </a:r>
            <a:r>
              <a:rPr lang="zh-CN" altLang="en-US" dirty="0"/>
              <a:t>的数据清洗应用模型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9FFDEEF-FF02-4A56-B4C2-618CCDB2B5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ETL</a:t>
            </a:r>
            <a:r>
              <a:rPr lang="zh-CN" altLang="en-US" dirty="0"/>
              <a:t>（</a:t>
            </a:r>
            <a:r>
              <a:rPr lang="en-US" altLang="zh-CN" b="1" i="0" dirty="0">
                <a:effectLst/>
                <a:latin typeface="Arial" panose="020B0604020202020204" pitchFamily="34" charset="0"/>
              </a:rPr>
              <a:t>Extract-Transform-Load</a:t>
            </a:r>
            <a:r>
              <a:rPr lang="en-US" altLang="zh-CN" b="0" i="0" dirty="0">
                <a:effectLst/>
                <a:latin typeface="Arial" panose="020B0604020202020204" pitchFamily="34" charset="0"/>
              </a:rPr>
              <a:t> </a:t>
            </a:r>
            <a:r>
              <a:rPr lang="zh-CN" altLang="en-US" dirty="0"/>
              <a:t>）中的数据清理应用模型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583116E-D386-437E-99C4-0085B86CC8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84F5B-1672-4D3F-9FEC-5DF89A7B7912}" type="slidenum">
              <a:rPr lang="zh-CN" altLang="en-US" smtClean="0"/>
              <a:t>4</a:t>
            </a:fld>
            <a:endParaRPr lang="zh-CN" altLang="en-US"/>
          </a:p>
        </p:txBody>
      </p:sp>
      <p:grpSp>
        <p:nvGrpSpPr>
          <p:cNvPr id="5" name="画布 1652960">
            <a:extLst>
              <a:ext uri="{FF2B5EF4-FFF2-40B4-BE49-F238E27FC236}">
                <a16:creationId xmlns:a16="http://schemas.microsoft.com/office/drawing/2014/main" id="{5ECD8A55-7EFA-4F19-BAE4-D751656CC5CC}"/>
              </a:ext>
            </a:extLst>
          </p:cNvPr>
          <p:cNvGrpSpPr/>
          <p:nvPr/>
        </p:nvGrpSpPr>
        <p:grpSpPr>
          <a:xfrm>
            <a:off x="1365124" y="1849681"/>
            <a:ext cx="6048672" cy="4102308"/>
            <a:chOff x="0" y="0"/>
            <a:chExt cx="2425065" cy="1798955"/>
          </a:xfrm>
        </p:grpSpPr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436EA19F-E55E-4FCE-901E-C9867A0EB3BC}"/>
                </a:ext>
              </a:extLst>
            </p:cNvPr>
            <p:cNvSpPr/>
            <p:nvPr/>
          </p:nvSpPr>
          <p:spPr>
            <a:xfrm>
              <a:off x="0" y="0"/>
              <a:ext cx="2425065" cy="1798955"/>
            </a:xfrm>
            <a:prstGeom prst="rect">
              <a:avLst/>
            </a:prstGeom>
          </p:spPr>
        </p:sp>
        <p:sp>
          <p:nvSpPr>
            <p:cNvPr id="7" name="流程图: 磁盘 6">
              <a:extLst>
                <a:ext uri="{FF2B5EF4-FFF2-40B4-BE49-F238E27FC236}">
                  <a16:creationId xmlns:a16="http://schemas.microsoft.com/office/drawing/2014/main" id="{AC3C1FD3-23D9-4937-8EE3-049B30A2833B}"/>
                </a:ext>
              </a:extLst>
            </p:cNvPr>
            <p:cNvSpPr/>
            <p:nvPr/>
          </p:nvSpPr>
          <p:spPr>
            <a:xfrm>
              <a:off x="753371" y="1426048"/>
              <a:ext cx="861032" cy="337758"/>
            </a:xfrm>
            <a:prstGeom prst="flowChartMagneticDisk">
              <a:avLst/>
            </a:prstGeom>
            <a:solidFill>
              <a:srgbClr val="F0EBFB"/>
            </a:solidFill>
            <a:ln w="9525"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0"/>
                </a:spcAft>
              </a:pPr>
              <a:r>
                <a:rPr lang="zh-CN" sz="1800" kern="100">
                  <a:solidFill>
                    <a:srgbClr val="000000"/>
                  </a:solidFill>
                  <a:effectLst/>
                  <a:latin typeface="Times New Roman" pitchFamily="18" charset="0"/>
                  <a:ea typeface="华文细黑" pitchFamily="2" charset="-122"/>
                  <a:cs typeface="Times New Roman" pitchFamily="18" charset="0"/>
                </a:rPr>
                <a:t>目标数据仓库</a:t>
              </a:r>
              <a:endParaRPr lang="zh-CN" kern="100">
                <a:effectLst/>
                <a:latin typeface="Times New Roman" pitchFamily="18" charset="0"/>
                <a:ea typeface="华文细黑" pitchFamily="2" charset="-122"/>
                <a:cs typeface="Times New Roman" pitchFamily="18" charset="0"/>
              </a:endParaRPr>
            </a:p>
          </p:txBody>
        </p:sp>
        <p:sp>
          <p:nvSpPr>
            <p:cNvPr id="8" name="五边形 82">
              <a:extLst>
                <a:ext uri="{FF2B5EF4-FFF2-40B4-BE49-F238E27FC236}">
                  <a16:creationId xmlns:a16="http://schemas.microsoft.com/office/drawing/2014/main" id="{271AC2EA-C301-40D6-9BB2-89DF6B975A9E}"/>
                </a:ext>
              </a:extLst>
            </p:cNvPr>
            <p:cNvSpPr/>
            <p:nvPr/>
          </p:nvSpPr>
          <p:spPr>
            <a:xfrm rot="5400000">
              <a:off x="1037112" y="1168296"/>
              <a:ext cx="266991" cy="367112"/>
            </a:xfrm>
            <a:prstGeom prst="homePlate">
              <a:avLst>
                <a:gd name="adj" fmla="val 17797"/>
              </a:avLst>
            </a:prstGeom>
            <a:solidFill>
              <a:srgbClr val="FEECDE"/>
            </a:solidFill>
            <a:ln w="9525">
              <a:solidFill>
                <a:schemeClr val="accent6">
                  <a:lumMod val="60000"/>
                  <a:lumOff val="4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vert270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0"/>
                </a:spcAft>
              </a:pPr>
              <a:r>
                <a:rPr lang="zh-CN" sz="1800" kern="100">
                  <a:solidFill>
                    <a:srgbClr val="000000"/>
                  </a:solidFill>
                  <a:effectLst/>
                  <a:latin typeface="Times New Roman" pitchFamily="18" charset="0"/>
                  <a:ea typeface="华文细黑" pitchFamily="2" charset="-122"/>
                  <a:cs typeface="Times New Roman" pitchFamily="18" charset="0"/>
                </a:rPr>
                <a:t>装载</a:t>
              </a:r>
              <a:endParaRPr lang="zh-CN" kern="100">
                <a:effectLst/>
                <a:latin typeface="Times New Roman" pitchFamily="18" charset="0"/>
                <a:ea typeface="华文细黑" pitchFamily="2" charset="-122"/>
                <a:cs typeface="Times New Roman" pitchFamily="18" charset="0"/>
              </a:endParaRPr>
            </a:p>
          </p:txBody>
        </p:sp>
        <p:sp>
          <p:nvSpPr>
            <p:cNvPr id="9" name="流程图: 磁盘 8">
              <a:extLst>
                <a:ext uri="{FF2B5EF4-FFF2-40B4-BE49-F238E27FC236}">
                  <a16:creationId xmlns:a16="http://schemas.microsoft.com/office/drawing/2014/main" id="{A25E22EE-4327-4D20-8D99-5236B50BD558}"/>
                </a:ext>
              </a:extLst>
            </p:cNvPr>
            <p:cNvSpPr/>
            <p:nvPr/>
          </p:nvSpPr>
          <p:spPr>
            <a:xfrm>
              <a:off x="3" y="75069"/>
              <a:ext cx="631898" cy="353434"/>
            </a:xfrm>
            <a:prstGeom prst="flowChartMagneticDisk">
              <a:avLst/>
            </a:prstGeom>
            <a:solidFill>
              <a:srgbClr val="DDE9F7"/>
            </a:solidFill>
            <a:ln w="9525"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0"/>
                </a:spcAft>
              </a:pPr>
              <a:r>
                <a:rPr lang="zh-CN" sz="1800" kern="100">
                  <a:solidFill>
                    <a:srgbClr val="000000"/>
                  </a:solidFill>
                  <a:effectLst/>
                  <a:latin typeface="Times New Roman" pitchFamily="18" charset="0"/>
                  <a:ea typeface="华文细黑" pitchFamily="2" charset="-122"/>
                  <a:cs typeface="Times New Roman" pitchFamily="18" charset="0"/>
                </a:rPr>
                <a:t>数据源</a:t>
              </a:r>
              <a:r>
                <a:rPr lang="en-US" sz="1800" kern="100">
                  <a:solidFill>
                    <a:srgbClr val="000000"/>
                  </a:solidFill>
                  <a:effectLst/>
                  <a:latin typeface="Times New Roman" pitchFamily="18" charset="0"/>
                  <a:ea typeface="华文细黑" pitchFamily="2" charset="-122"/>
                  <a:cs typeface="Times New Roman" pitchFamily="18" charset="0"/>
                </a:rPr>
                <a:t>1</a:t>
              </a:r>
              <a:endParaRPr lang="zh-CN" kern="100">
                <a:effectLst/>
                <a:latin typeface="Times New Roman" pitchFamily="18" charset="0"/>
                <a:ea typeface="华文细黑" pitchFamily="2" charset="-122"/>
                <a:cs typeface="Times New Roman" pitchFamily="18" charset="0"/>
              </a:endParaRPr>
            </a:p>
          </p:txBody>
        </p:sp>
        <p:sp>
          <p:nvSpPr>
            <p:cNvPr id="10" name="流程图: 磁盘 9">
              <a:extLst>
                <a:ext uri="{FF2B5EF4-FFF2-40B4-BE49-F238E27FC236}">
                  <a16:creationId xmlns:a16="http://schemas.microsoft.com/office/drawing/2014/main" id="{BBA1BE46-48FE-462F-AC98-7945276BCC47}"/>
                </a:ext>
              </a:extLst>
            </p:cNvPr>
            <p:cNvSpPr/>
            <p:nvPr/>
          </p:nvSpPr>
          <p:spPr>
            <a:xfrm>
              <a:off x="867524" y="6"/>
              <a:ext cx="631898" cy="353434"/>
            </a:xfrm>
            <a:prstGeom prst="flowChartMagneticDisk">
              <a:avLst/>
            </a:prstGeom>
            <a:solidFill>
              <a:srgbClr val="DDE9F7"/>
            </a:solidFill>
            <a:ln w="9525"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0"/>
                </a:spcAft>
              </a:pPr>
              <a:endParaRPr lang="en-US" altLang="zh-CN" sz="1800" kern="100" dirty="0">
                <a:solidFill>
                  <a:srgbClr val="000000"/>
                </a:solidFill>
                <a:effectLst/>
                <a:latin typeface="Times New Roman" pitchFamily="18" charset="0"/>
                <a:ea typeface="华文细黑" pitchFamily="2" charset="-122"/>
                <a:cs typeface="Times New Roman" pitchFamily="18" charset="0"/>
              </a:endParaRPr>
            </a:p>
            <a:p>
              <a:pPr algn="ctr">
                <a:spcAft>
                  <a:spcPts val="0"/>
                </a:spcAft>
              </a:pPr>
              <a:r>
                <a:rPr lang="zh-CN" sz="1800" kern="100" dirty="0">
                  <a:solidFill>
                    <a:srgbClr val="000000"/>
                  </a:solidFill>
                  <a:effectLst/>
                  <a:latin typeface="Times New Roman" pitchFamily="18" charset="0"/>
                  <a:ea typeface="华文细黑" pitchFamily="2" charset="-122"/>
                  <a:cs typeface="Times New Roman" pitchFamily="18" charset="0"/>
                </a:rPr>
                <a:t>数据源</a:t>
              </a:r>
              <a:r>
                <a:rPr lang="en-US" sz="1800" kern="100" dirty="0">
                  <a:solidFill>
                    <a:srgbClr val="000000"/>
                  </a:solidFill>
                  <a:effectLst/>
                  <a:latin typeface="Times New Roman" pitchFamily="18" charset="0"/>
                  <a:ea typeface="华文细黑" pitchFamily="2" charset="-122"/>
                  <a:cs typeface="Times New Roman" pitchFamily="18" charset="0"/>
                </a:rPr>
                <a:t>2</a:t>
              </a:r>
              <a:endParaRPr lang="zh-CN" kern="100" dirty="0">
                <a:effectLst/>
                <a:latin typeface="Times New Roman" pitchFamily="18" charset="0"/>
                <a:ea typeface="华文细黑" pitchFamily="2" charset="-122"/>
                <a:cs typeface="Times New Roman" pitchFamily="18" charset="0"/>
              </a:endParaRPr>
            </a:p>
            <a:p>
              <a:pPr algn="ctr">
                <a:spcAft>
                  <a:spcPts val="0"/>
                </a:spcAft>
              </a:pPr>
              <a:r>
                <a:rPr lang="en-US" sz="1800" kern="100" dirty="0">
                  <a:effectLst/>
                  <a:latin typeface="Times New Roman" pitchFamily="18" charset="0"/>
                  <a:ea typeface="华文细黑" pitchFamily="2" charset="-122"/>
                  <a:cs typeface="Times New Roman" pitchFamily="18" charset="0"/>
                </a:rPr>
                <a:t> </a:t>
              </a:r>
              <a:endParaRPr lang="zh-CN" kern="100" dirty="0">
                <a:effectLst/>
                <a:latin typeface="Times New Roman" pitchFamily="18" charset="0"/>
                <a:ea typeface="华文细黑" pitchFamily="2" charset="-122"/>
                <a:cs typeface="Times New Roman" pitchFamily="18" charset="0"/>
              </a:endParaRPr>
            </a:p>
          </p:txBody>
        </p:sp>
        <p:sp>
          <p:nvSpPr>
            <p:cNvPr id="11" name="流程图: 多文档 10">
              <a:extLst>
                <a:ext uri="{FF2B5EF4-FFF2-40B4-BE49-F238E27FC236}">
                  <a16:creationId xmlns:a16="http://schemas.microsoft.com/office/drawing/2014/main" id="{73BDCD11-5F0F-4026-8C53-8FA27E94F73F}"/>
                </a:ext>
              </a:extLst>
            </p:cNvPr>
            <p:cNvSpPr/>
            <p:nvPr/>
          </p:nvSpPr>
          <p:spPr>
            <a:xfrm>
              <a:off x="1728762" y="56005"/>
              <a:ext cx="664027" cy="417695"/>
            </a:xfrm>
            <a:prstGeom prst="flowChartMultidocument">
              <a:avLst/>
            </a:prstGeom>
            <a:solidFill>
              <a:srgbClr val="F8EDEC"/>
            </a:solidFill>
            <a:ln w="9525"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56749" tIns="28375" rIns="56749" bIns="28375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0"/>
                </a:spcAft>
              </a:pPr>
              <a:r>
                <a:rPr lang="zh-CN" sz="1800" kern="100">
                  <a:solidFill>
                    <a:srgbClr val="000000"/>
                  </a:solidFill>
                  <a:effectLst/>
                  <a:latin typeface="Times New Roman" pitchFamily="18" charset="0"/>
                  <a:ea typeface="华文细黑" pitchFamily="2" charset="-122"/>
                  <a:cs typeface="Times New Roman" pitchFamily="18" charset="0"/>
                </a:rPr>
                <a:t>数据源</a:t>
              </a:r>
              <a:r>
                <a:rPr lang="en-US" sz="1800" kern="100">
                  <a:solidFill>
                    <a:srgbClr val="000000"/>
                  </a:solidFill>
                  <a:effectLst/>
                  <a:latin typeface="Times New Roman" pitchFamily="18" charset="0"/>
                  <a:ea typeface="华文细黑" pitchFamily="2" charset="-122"/>
                  <a:cs typeface="Times New Roman" pitchFamily="18" charset="0"/>
                </a:rPr>
                <a:t>3</a:t>
              </a:r>
              <a:endParaRPr lang="zh-CN" kern="100">
                <a:effectLst/>
                <a:latin typeface="Times New Roman" pitchFamily="18" charset="0"/>
                <a:ea typeface="华文细黑" pitchFamily="2" charset="-122"/>
                <a:cs typeface="Times New Roman" pitchFamily="18" charset="0"/>
              </a:endParaRPr>
            </a:p>
          </p:txBody>
        </p:sp>
        <p:sp>
          <p:nvSpPr>
            <p:cNvPr id="12" name="流程图: 磁盘 11">
              <a:extLst>
                <a:ext uri="{FF2B5EF4-FFF2-40B4-BE49-F238E27FC236}">
                  <a16:creationId xmlns:a16="http://schemas.microsoft.com/office/drawing/2014/main" id="{B92B9273-F2D0-4EB8-8C3D-43F8E919AA84}"/>
                </a:ext>
              </a:extLst>
            </p:cNvPr>
            <p:cNvSpPr/>
            <p:nvPr/>
          </p:nvSpPr>
          <p:spPr>
            <a:xfrm>
              <a:off x="594414" y="889939"/>
              <a:ext cx="1178115" cy="318659"/>
            </a:xfrm>
            <a:prstGeom prst="flowChartMagneticDisk">
              <a:avLst/>
            </a:prstGeom>
            <a:solidFill>
              <a:srgbClr val="F1EEFC"/>
            </a:solidFill>
            <a:ln w="9525"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56749" tIns="0" rIns="56749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0"/>
                </a:spcAft>
              </a:pPr>
              <a:r>
                <a:rPr lang="zh-CN" sz="1800" kern="100">
                  <a:solidFill>
                    <a:srgbClr val="000000"/>
                  </a:solidFill>
                  <a:effectLst/>
                  <a:latin typeface="Times New Roman" pitchFamily="18" charset="0"/>
                  <a:ea typeface="华文细黑" pitchFamily="2" charset="-122"/>
                  <a:cs typeface="Times New Roman" pitchFamily="18" charset="0"/>
                </a:rPr>
                <a:t>中间数据源</a:t>
              </a:r>
              <a:endParaRPr lang="zh-CN" kern="100">
                <a:effectLst/>
                <a:latin typeface="Times New Roman" pitchFamily="18" charset="0"/>
                <a:ea typeface="华文细黑" pitchFamily="2" charset="-122"/>
                <a:cs typeface="Times New Roman" pitchFamily="18" charset="0"/>
              </a:endParaRPr>
            </a:p>
          </p:txBody>
        </p:sp>
        <p:cxnSp>
          <p:nvCxnSpPr>
            <p:cNvPr id="13" name="直接箭头连接符 12">
              <a:extLst>
                <a:ext uri="{FF2B5EF4-FFF2-40B4-BE49-F238E27FC236}">
                  <a16:creationId xmlns:a16="http://schemas.microsoft.com/office/drawing/2014/main" id="{5C3DF6F8-0C38-4211-9571-22CF766327E1}"/>
                </a:ext>
              </a:extLst>
            </p:cNvPr>
            <p:cNvCxnSpPr/>
            <p:nvPr/>
          </p:nvCxnSpPr>
          <p:spPr>
            <a:xfrm>
              <a:off x="315952" y="428503"/>
              <a:ext cx="437419" cy="485680"/>
            </a:xfrm>
            <a:prstGeom prst="straightConnector1">
              <a:avLst/>
            </a:prstGeom>
            <a:ln w="12700">
              <a:solidFill>
                <a:schemeClr val="accent5">
                  <a:lumMod val="75000"/>
                </a:schemeClr>
              </a:solidFill>
              <a:headEnd type="none" w="med" len="med"/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箭头连接符 13">
              <a:extLst>
                <a:ext uri="{FF2B5EF4-FFF2-40B4-BE49-F238E27FC236}">
                  <a16:creationId xmlns:a16="http://schemas.microsoft.com/office/drawing/2014/main" id="{D6B9B4A1-2255-465C-A8D4-4DE031174D4D}"/>
                </a:ext>
              </a:extLst>
            </p:cNvPr>
            <p:cNvCxnSpPr/>
            <p:nvPr/>
          </p:nvCxnSpPr>
          <p:spPr>
            <a:xfrm flipH="1">
              <a:off x="1183472" y="353440"/>
              <a:ext cx="1" cy="536499"/>
            </a:xfrm>
            <a:prstGeom prst="straightConnector1">
              <a:avLst/>
            </a:prstGeom>
            <a:ln w="12700">
              <a:solidFill>
                <a:schemeClr val="accent5">
                  <a:lumMod val="75000"/>
                </a:schemeClr>
              </a:solidFill>
              <a:headEnd type="none" w="med" len="med"/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箭头连接符 14">
              <a:extLst>
                <a:ext uri="{FF2B5EF4-FFF2-40B4-BE49-F238E27FC236}">
                  <a16:creationId xmlns:a16="http://schemas.microsoft.com/office/drawing/2014/main" id="{D7421BB0-7065-482C-9D81-1DA834B3E888}"/>
                </a:ext>
              </a:extLst>
            </p:cNvPr>
            <p:cNvCxnSpPr/>
            <p:nvPr/>
          </p:nvCxnSpPr>
          <p:spPr>
            <a:xfrm flipH="1">
              <a:off x="1661823" y="457882"/>
              <a:ext cx="352778" cy="456301"/>
            </a:xfrm>
            <a:prstGeom prst="straightConnector1">
              <a:avLst/>
            </a:prstGeom>
            <a:ln w="12700">
              <a:solidFill>
                <a:schemeClr val="accent5">
                  <a:lumMod val="75000"/>
                </a:schemeClr>
              </a:solidFill>
              <a:headEnd type="none" w="med" len="med"/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文本框 1652915">
              <a:extLst>
                <a:ext uri="{FF2B5EF4-FFF2-40B4-BE49-F238E27FC236}">
                  <a16:creationId xmlns:a16="http://schemas.microsoft.com/office/drawing/2014/main" id="{8E203BB0-157C-4CE2-88A4-D4A73D89C352}"/>
                </a:ext>
              </a:extLst>
            </p:cNvPr>
            <p:cNvSpPr txBox="1"/>
            <p:nvPr/>
          </p:nvSpPr>
          <p:spPr>
            <a:xfrm>
              <a:off x="204271" y="490052"/>
              <a:ext cx="234950" cy="200025"/>
            </a:xfrm>
            <a:prstGeom prst="rect">
              <a:avLst/>
            </a:prstGeom>
            <a:noFill/>
            <a:ln w="6350">
              <a:noFill/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none" lIns="0" tIns="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just">
                <a:spcAft>
                  <a:spcPts val="0"/>
                </a:spcAft>
              </a:pPr>
              <a:r>
                <a:rPr lang="zh-CN" sz="1800" kern="100">
                  <a:effectLst/>
                  <a:latin typeface="Times New Roman" pitchFamily="18" charset="0"/>
                  <a:ea typeface="华文细黑" pitchFamily="2" charset="-122"/>
                  <a:cs typeface="Times New Roman" pitchFamily="18" charset="0"/>
                </a:rPr>
                <a:t>抽取</a:t>
              </a:r>
              <a:endParaRPr lang="zh-CN" kern="100">
                <a:effectLst/>
                <a:latin typeface="Times New Roman" pitchFamily="18" charset="0"/>
                <a:ea typeface="华文细黑" pitchFamily="2" charset="-122"/>
                <a:cs typeface="Times New Roman" pitchFamily="18" charset="0"/>
              </a:endParaRPr>
            </a:p>
          </p:txBody>
        </p:sp>
        <p:sp>
          <p:nvSpPr>
            <p:cNvPr id="17" name="文本框 1652916">
              <a:extLst>
                <a:ext uri="{FF2B5EF4-FFF2-40B4-BE49-F238E27FC236}">
                  <a16:creationId xmlns:a16="http://schemas.microsoft.com/office/drawing/2014/main" id="{C0F5FE3A-A8A0-4614-94D9-5F0865E19B56}"/>
                </a:ext>
              </a:extLst>
            </p:cNvPr>
            <p:cNvSpPr txBox="1"/>
            <p:nvPr/>
          </p:nvSpPr>
          <p:spPr>
            <a:xfrm>
              <a:off x="1856017" y="649564"/>
              <a:ext cx="234950" cy="227965"/>
            </a:xfrm>
            <a:prstGeom prst="rect">
              <a:avLst/>
            </a:prstGeom>
            <a:noFill/>
            <a:ln w="6350">
              <a:noFill/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none" lIns="0" tIns="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just">
                <a:spcAft>
                  <a:spcPts val="0"/>
                </a:spcAft>
              </a:pPr>
              <a:r>
                <a:rPr lang="zh-CN" sz="1800" kern="100">
                  <a:effectLst/>
                  <a:latin typeface="Times New Roman" pitchFamily="18" charset="0"/>
                  <a:ea typeface="华文细黑" pitchFamily="2" charset="-122"/>
                  <a:cs typeface="Times New Roman" pitchFamily="18" charset="0"/>
                </a:rPr>
                <a:t>抽取</a:t>
              </a:r>
              <a:endParaRPr lang="zh-CN" kern="100">
                <a:effectLst/>
                <a:latin typeface="Times New Roman" pitchFamily="18" charset="0"/>
                <a:ea typeface="华文细黑" pitchFamily="2" charset="-122"/>
                <a:cs typeface="Times New Roman" pitchFamily="18" charset="0"/>
              </a:endParaRPr>
            </a:p>
          </p:txBody>
        </p:sp>
        <p:sp>
          <p:nvSpPr>
            <p:cNvPr id="18" name="文本框 1652917">
              <a:extLst>
                <a:ext uri="{FF2B5EF4-FFF2-40B4-BE49-F238E27FC236}">
                  <a16:creationId xmlns:a16="http://schemas.microsoft.com/office/drawing/2014/main" id="{26D2668D-2666-48A2-8541-216EA2E6A51B}"/>
                </a:ext>
              </a:extLst>
            </p:cNvPr>
            <p:cNvSpPr txBox="1"/>
            <p:nvPr/>
          </p:nvSpPr>
          <p:spPr>
            <a:xfrm>
              <a:off x="439840" y="689692"/>
              <a:ext cx="234950" cy="200025"/>
            </a:xfrm>
            <a:prstGeom prst="rect">
              <a:avLst/>
            </a:prstGeom>
            <a:noFill/>
            <a:ln w="6350">
              <a:noFill/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none" lIns="0" tIns="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just">
                <a:spcAft>
                  <a:spcPts val="0"/>
                </a:spcAft>
              </a:pPr>
              <a:r>
                <a:rPr lang="zh-CN" sz="1800" kern="100">
                  <a:effectLst/>
                  <a:latin typeface="Times New Roman" pitchFamily="18" charset="0"/>
                  <a:ea typeface="华文细黑" pitchFamily="2" charset="-122"/>
                  <a:cs typeface="Times New Roman" pitchFamily="18" charset="0"/>
                </a:rPr>
                <a:t>清洗</a:t>
              </a:r>
              <a:endParaRPr lang="zh-CN" kern="100">
                <a:effectLst/>
                <a:latin typeface="Times New Roman" pitchFamily="18" charset="0"/>
                <a:ea typeface="华文细黑" pitchFamily="2" charset="-122"/>
                <a:cs typeface="Times New Roman" pitchFamily="18" charset="0"/>
              </a:endParaRPr>
            </a:p>
          </p:txBody>
        </p:sp>
        <p:sp>
          <p:nvSpPr>
            <p:cNvPr id="19" name="文本框 1652918">
              <a:extLst>
                <a:ext uri="{FF2B5EF4-FFF2-40B4-BE49-F238E27FC236}">
                  <a16:creationId xmlns:a16="http://schemas.microsoft.com/office/drawing/2014/main" id="{7450E87B-9865-412C-A8BA-57C52B097259}"/>
                </a:ext>
              </a:extLst>
            </p:cNvPr>
            <p:cNvSpPr txBox="1"/>
            <p:nvPr/>
          </p:nvSpPr>
          <p:spPr>
            <a:xfrm>
              <a:off x="1201621" y="445312"/>
              <a:ext cx="234950" cy="200025"/>
            </a:xfrm>
            <a:prstGeom prst="rect">
              <a:avLst/>
            </a:prstGeom>
            <a:noFill/>
            <a:ln w="6350">
              <a:noFill/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none" lIns="0" tIns="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just">
                <a:spcAft>
                  <a:spcPts val="0"/>
                </a:spcAft>
              </a:pPr>
              <a:r>
                <a:rPr lang="zh-CN" sz="1800" kern="100">
                  <a:effectLst/>
                  <a:latin typeface="Times New Roman" pitchFamily="18" charset="0"/>
                  <a:ea typeface="华文细黑" pitchFamily="2" charset="-122"/>
                  <a:cs typeface="Times New Roman" pitchFamily="18" charset="0"/>
                </a:rPr>
                <a:t>抽取</a:t>
              </a:r>
              <a:endParaRPr lang="zh-CN" kern="100">
                <a:effectLst/>
                <a:latin typeface="Times New Roman" pitchFamily="18" charset="0"/>
                <a:ea typeface="华文细黑" pitchFamily="2" charset="-122"/>
                <a:cs typeface="Times New Roman" pitchFamily="18" charset="0"/>
              </a:endParaRPr>
            </a:p>
          </p:txBody>
        </p:sp>
        <p:sp>
          <p:nvSpPr>
            <p:cNvPr id="20" name="文本框 1652919">
              <a:extLst>
                <a:ext uri="{FF2B5EF4-FFF2-40B4-BE49-F238E27FC236}">
                  <a16:creationId xmlns:a16="http://schemas.microsoft.com/office/drawing/2014/main" id="{DC515912-E7B6-4DCB-B6FC-F3CE1FDE48F3}"/>
                </a:ext>
              </a:extLst>
            </p:cNvPr>
            <p:cNvSpPr txBox="1"/>
            <p:nvPr/>
          </p:nvSpPr>
          <p:spPr>
            <a:xfrm>
              <a:off x="1205618" y="657020"/>
              <a:ext cx="234950" cy="200025"/>
            </a:xfrm>
            <a:prstGeom prst="rect">
              <a:avLst/>
            </a:prstGeom>
            <a:noFill/>
            <a:ln w="6350">
              <a:noFill/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none" lIns="0" tIns="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just">
                <a:spcAft>
                  <a:spcPts val="0"/>
                </a:spcAft>
              </a:pPr>
              <a:r>
                <a:rPr lang="zh-CN" sz="1800" kern="100">
                  <a:effectLst/>
                  <a:latin typeface="Times New Roman" pitchFamily="18" charset="0"/>
                  <a:ea typeface="华文细黑" pitchFamily="2" charset="-122"/>
                  <a:cs typeface="Times New Roman" pitchFamily="18" charset="0"/>
                </a:rPr>
                <a:t>清洗</a:t>
              </a:r>
              <a:endParaRPr lang="zh-CN" kern="100">
                <a:effectLst/>
                <a:latin typeface="Times New Roman" pitchFamily="18" charset="0"/>
                <a:ea typeface="华文细黑" pitchFamily="2" charset="-122"/>
                <a:cs typeface="Times New Roman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10336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https://images2015.cnblogs.com/blog/874710/201703/874710-20170321123345252-1764968389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2028" y="1052736"/>
            <a:ext cx="4624469" cy="23042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数据问题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残缺数据</a:t>
            </a:r>
            <a:endParaRPr lang="en-US" altLang="zh-CN" dirty="0"/>
          </a:p>
          <a:p>
            <a:r>
              <a:rPr lang="zh-CN" altLang="en-US" dirty="0"/>
              <a:t>错误数据</a:t>
            </a:r>
            <a:endParaRPr lang="en-US" altLang="zh-CN" dirty="0"/>
          </a:p>
          <a:p>
            <a:pPr lvl="1"/>
            <a:r>
              <a:rPr lang="zh-CN" altLang="en-US" dirty="0"/>
              <a:t>产生原因</a:t>
            </a:r>
            <a:endParaRPr lang="en-US" altLang="zh-CN" dirty="0"/>
          </a:p>
          <a:p>
            <a:pPr lvl="2"/>
            <a:r>
              <a:rPr lang="zh-CN" altLang="en-US" dirty="0"/>
              <a:t>业务系统不够健全，缺乏对输入的判断和检验机制而直接写入数据库造成</a:t>
            </a:r>
            <a:endParaRPr lang="en-US" altLang="zh-CN" dirty="0"/>
          </a:p>
          <a:p>
            <a:pPr lvl="2"/>
            <a:r>
              <a:rPr lang="zh-CN" altLang="en-US" dirty="0"/>
              <a:t>采集或输入错误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66F0B09-7C63-4E03-9D6A-223183817009}" type="slidenum">
              <a:rPr lang="en-US" altLang="zh-CN" smtClean="0"/>
              <a:pPr>
                <a:defRPr/>
              </a:pPr>
              <a:t>5</a:t>
            </a:fld>
            <a:endParaRPr lang="en-US" altLang="zh-CN"/>
          </a:p>
        </p:txBody>
      </p:sp>
      <p:sp>
        <p:nvSpPr>
          <p:cNvPr id="5" name="矩形标注 4"/>
          <p:cNvSpPr/>
          <p:nvPr/>
        </p:nvSpPr>
        <p:spPr>
          <a:xfrm>
            <a:off x="3204416" y="1916833"/>
            <a:ext cx="3527824" cy="1123325"/>
          </a:xfrm>
          <a:prstGeom prst="wedgeRectCallout">
            <a:avLst>
              <a:gd name="adj1" fmla="val -23219"/>
              <a:gd name="adj2" fmla="val 71657"/>
            </a:avLst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114000"/>
              </a:lnSpc>
              <a:spcAft>
                <a:spcPts val="600"/>
              </a:spcAft>
            </a:pPr>
            <a:r>
              <a:rPr lang="zh-CN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例如数值输入成了全角数字字符、字符串数据后面有多余的空格或回车符、日期格式不正确等</a:t>
            </a:r>
          </a:p>
        </p:txBody>
      </p:sp>
      <p:sp>
        <p:nvSpPr>
          <p:cNvPr id="6" name="矩形标注 5"/>
          <p:cNvSpPr/>
          <p:nvPr/>
        </p:nvSpPr>
        <p:spPr>
          <a:xfrm>
            <a:off x="3419872" y="3789040"/>
            <a:ext cx="5112568" cy="2088000"/>
          </a:xfrm>
          <a:prstGeom prst="wedgeRectCallout">
            <a:avLst>
              <a:gd name="adj1" fmla="val -55552"/>
              <a:gd name="adj2" fmla="val -23610"/>
            </a:avLst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114000"/>
              </a:lnSpc>
              <a:spcAft>
                <a:spcPts val="600"/>
              </a:spcAft>
            </a:pPr>
            <a:r>
              <a:rPr lang="zh-CN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处理时，对于全角字符、数据中有不可见字符的问题，可通过</a:t>
            </a:r>
            <a:r>
              <a:rPr lang="en-US" altLang="zh-CN" dirty="0">
                <a:latin typeface="华文细黑" panose="02010600040101010101" pitchFamily="2" charset="-122"/>
                <a:ea typeface="华文细黑" panose="02010600040101010101" pitchFamily="2" charset="-122"/>
              </a:rPr>
              <a:t>SQL</a:t>
            </a:r>
            <a:r>
              <a:rPr lang="zh-CN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语句的数据库操作进行甄别，由客户在业务系统修正之后抽取；</a:t>
            </a:r>
            <a:endParaRPr lang="en-US" altLang="zh-CN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  <a:p>
            <a:pPr>
              <a:lnSpc>
                <a:spcPct val="114000"/>
              </a:lnSpc>
              <a:spcAft>
                <a:spcPts val="600"/>
              </a:spcAft>
            </a:pPr>
            <a:r>
              <a:rPr lang="zh-CN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日期数据格式错误或越界问题会导致</a:t>
            </a:r>
            <a:r>
              <a:rPr lang="en-US" altLang="zh-CN" dirty="0">
                <a:latin typeface="华文细黑" panose="02010600040101010101" pitchFamily="2" charset="-122"/>
                <a:ea typeface="华文细黑" panose="02010600040101010101" pitchFamily="2" charset="-122"/>
              </a:rPr>
              <a:t>ETL</a:t>
            </a:r>
            <a:r>
              <a:rPr lang="zh-CN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运行失败（失效），这类错误则需由业务部门在业务系统数据库中修正后再次抽取。</a:t>
            </a:r>
          </a:p>
        </p:txBody>
      </p:sp>
      <p:sp>
        <p:nvSpPr>
          <p:cNvPr id="7" name="矩形标注 6"/>
          <p:cNvSpPr/>
          <p:nvPr/>
        </p:nvSpPr>
        <p:spPr>
          <a:xfrm>
            <a:off x="439924" y="4797272"/>
            <a:ext cx="2259868" cy="1080000"/>
          </a:xfrm>
          <a:prstGeom prst="wedgeRectCallout">
            <a:avLst>
              <a:gd name="adj1" fmla="val 22302"/>
              <a:gd name="adj2" fmla="val -66971"/>
            </a:avLst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114000"/>
              </a:lnSpc>
              <a:spcAft>
                <a:spcPts val="600"/>
              </a:spcAft>
            </a:pPr>
            <a:r>
              <a:rPr lang="zh-CN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例如将考试分数录入为了负值或超出</a:t>
            </a:r>
            <a:r>
              <a:rPr lang="en-US" altLang="zh-CN" dirty="0">
                <a:latin typeface="华文细黑" panose="02010600040101010101" pitchFamily="2" charset="-122"/>
                <a:ea typeface="华文细黑" panose="02010600040101010101" pitchFamily="2" charset="-122"/>
              </a:rPr>
              <a:t>100</a:t>
            </a:r>
            <a:r>
              <a:rPr lang="zh-CN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的数值等。</a:t>
            </a:r>
          </a:p>
        </p:txBody>
      </p:sp>
    </p:spTree>
    <p:extLst>
      <p:ext uri="{BB962C8B-B14F-4D97-AF65-F5344CB8AC3E}">
        <p14:creationId xmlns:p14="http://schemas.microsoft.com/office/powerpoint/2010/main" val="6342169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1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25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数据问题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残缺数据</a:t>
            </a:r>
            <a:endParaRPr lang="en-US" altLang="zh-CN" dirty="0"/>
          </a:p>
          <a:p>
            <a:r>
              <a:rPr lang="zh-CN" altLang="en-US" dirty="0"/>
              <a:t>错误数据</a:t>
            </a:r>
            <a:endParaRPr lang="en-US" altLang="zh-CN" dirty="0"/>
          </a:p>
          <a:p>
            <a:r>
              <a:rPr lang="zh-CN" altLang="en-US" dirty="0"/>
              <a:t>重复数据</a:t>
            </a:r>
            <a:endParaRPr lang="en-US" altLang="zh-CN" dirty="0"/>
          </a:p>
          <a:p>
            <a:pPr lvl="1"/>
            <a:r>
              <a:rPr lang="zh-CN" altLang="en-US" dirty="0"/>
              <a:t>产生原因</a:t>
            </a:r>
            <a:endParaRPr lang="en-US" altLang="zh-CN" dirty="0"/>
          </a:p>
          <a:p>
            <a:pPr lvl="2"/>
            <a:r>
              <a:rPr lang="zh-CN" altLang="en-US" dirty="0"/>
              <a:t>数据系统重复采集了同一数据；</a:t>
            </a:r>
            <a:endParaRPr lang="en-US" altLang="zh-CN" dirty="0"/>
          </a:p>
          <a:p>
            <a:pPr lvl="2"/>
            <a:r>
              <a:rPr lang="zh-CN" altLang="en-US" dirty="0"/>
              <a:t>数据组织机制不够完善，缺乏对重复产生的数据的区分。</a:t>
            </a:r>
            <a:endParaRPr lang="en-US" altLang="zh-CN" dirty="0"/>
          </a:p>
          <a:p>
            <a:pPr lvl="1"/>
            <a:r>
              <a:rPr lang="zh-CN" altLang="en-US" dirty="0"/>
              <a:t>一般处理方法</a:t>
            </a:r>
            <a:endParaRPr lang="en-US" altLang="zh-CN" dirty="0"/>
          </a:p>
          <a:p>
            <a:pPr lvl="2"/>
            <a:r>
              <a:rPr lang="zh-CN" altLang="en-US" dirty="0"/>
              <a:t>删除重复项</a:t>
            </a:r>
            <a:endParaRPr lang="en-US" altLang="zh-CN" dirty="0"/>
          </a:p>
          <a:p>
            <a:pPr lvl="2"/>
            <a:r>
              <a:rPr lang="zh-CN" altLang="en-US" dirty="0"/>
              <a:t>合并处理，并添加“</a:t>
            </a:r>
            <a:r>
              <a:rPr lang="zh-CN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次数</a:t>
            </a:r>
            <a:r>
              <a:rPr lang="zh-CN" altLang="en-US" dirty="0"/>
              <a:t>”字段来进行频次记录。</a:t>
            </a:r>
          </a:p>
          <a:p>
            <a:endParaRPr lang="zh-CN" altLang="en-US" sz="20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66F0B09-7C63-4E03-9D6A-223183817009}" type="slidenum">
              <a:rPr lang="en-US" altLang="zh-CN" smtClean="0"/>
              <a:pPr>
                <a:defRPr/>
              </a:pPr>
              <a:t>6</a:t>
            </a:fld>
            <a:endParaRPr lang="en-US" altLang="zh-CN"/>
          </a:p>
        </p:txBody>
      </p:sp>
      <p:sp>
        <p:nvSpPr>
          <p:cNvPr id="5" name="矩形标注 4"/>
          <p:cNvSpPr/>
          <p:nvPr/>
        </p:nvSpPr>
        <p:spPr>
          <a:xfrm>
            <a:off x="2195736" y="2605594"/>
            <a:ext cx="3096344" cy="1039430"/>
          </a:xfrm>
          <a:prstGeom prst="wedgeRectCallout">
            <a:avLst>
              <a:gd name="adj1" fmla="val -18386"/>
              <a:gd name="adj2" fmla="val 71804"/>
            </a:avLst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114000"/>
              </a:lnSpc>
              <a:spcAft>
                <a:spcPts val="600"/>
              </a:spcAft>
            </a:pPr>
            <a:r>
              <a:rPr lang="zh-CN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某一业务数据因复制、分享、备份等操作多处存放，数据采集时也被多次抽取。</a:t>
            </a:r>
          </a:p>
        </p:txBody>
      </p:sp>
      <p:sp>
        <p:nvSpPr>
          <p:cNvPr id="6" name="矩形标注 5"/>
          <p:cNvSpPr/>
          <p:nvPr/>
        </p:nvSpPr>
        <p:spPr>
          <a:xfrm>
            <a:off x="5580112" y="3090111"/>
            <a:ext cx="3368600" cy="1008000"/>
          </a:xfrm>
          <a:prstGeom prst="wedgeRectCallout">
            <a:avLst>
              <a:gd name="adj1" fmla="val -21885"/>
              <a:gd name="adj2" fmla="val 72809"/>
            </a:avLst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114000"/>
              </a:lnSpc>
              <a:spcAft>
                <a:spcPts val="600"/>
              </a:spcAft>
            </a:pPr>
            <a:r>
              <a:rPr lang="zh-CN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例如数据库的主键设置不完善，无法区分重复产生的数据（例如无序号或时间戳等字段）</a:t>
            </a:r>
          </a:p>
        </p:txBody>
      </p:sp>
    </p:spTree>
    <p:extLst>
      <p:ext uri="{BB962C8B-B14F-4D97-AF65-F5344CB8AC3E}">
        <p14:creationId xmlns:p14="http://schemas.microsoft.com/office/powerpoint/2010/main" val="2068628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数据问题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残缺数据</a:t>
            </a:r>
            <a:endParaRPr lang="en-US" altLang="zh-CN" dirty="0"/>
          </a:p>
          <a:p>
            <a:r>
              <a:rPr lang="zh-CN" altLang="en-US" dirty="0"/>
              <a:t>错误数据</a:t>
            </a:r>
            <a:endParaRPr lang="en-US" altLang="zh-CN" dirty="0"/>
          </a:p>
          <a:p>
            <a:r>
              <a:rPr lang="zh-CN" altLang="en-US" dirty="0"/>
              <a:t>重复数据</a:t>
            </a:r>
            <a:endParaRPr lang="en-US" altLang="zh-CN" dirty="0"/>
          </a:p>
          <a:p>
            <a:r>
              <a:rPr lang="zh-CN" altLang="en-US" dirty="0"/>
              <a:t>异义数据</a:t>
            </a:r>
            <a:endParaRPr lang="en-US" altLang="zh-CN" dirty="0"/>
          </a:p>
          <a:p>
            <a:pPr lvl="1"/>
            <a:r>
              <a:rPr lang="zh-CN" altLang="en-US" dirty="0"/>
              <a:t>数据定义的语义差异，使数值所表达的意义有所偏差，并会造成数据处理结果的含义和解释的不同。</a:t>
            </a:r>
            <a:endParaRPr lang="en-US" altLang="zh-CN" dirty="0"/>
          </a:p>
          <a:p>
            <a:endParaRPr lang="zh-CN" altLang="en-US" sz="20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66F0B09-7C63-4E03-9D6A-223183817009}" type="slidenum">
              <a:rPr lang="en-US" altLang="zh-CN" smtClean="0"/>
              <a:pPr>
                <a:defRPr/>
              </a:pPr>
              <a:t>7</a:t>
            </a:fld>
            <a:endParaRPr lang="en-US" altLang="zh-CN"/>
          </a:p>
        </p:txBody>
      </p:sp>
      <p:sp>
        <p:nvSpPr>
          <p:cNvPr id="5" name="矩形标注 4">
            <a:extLst>
              <a:ext uri="{FF2B5EF4-FFF2-40B4-BE49-F238E27FC236}">
                <a16:creationId xmlns:a16="http://schemas.microsoft.com/office/drawing/2014/main" id="{E993FE13-F96A-437D-BC16-82A7FC3C4676}"/>
              </a:ext>
            </a:extLst>
          </p:cNvPr>
          <p:cNvSpPr/>
          <p:nvPr/>
        </p:nvSpPr>
        <p:spPr>
          <a:xfrm>
            <a:off x="5009274" y="4163087"/>
            <a:ext cx="3096344" cy="1463989"/>
          </a:xfrm>
          <a:prstGeom prst="wedgeRectCallout">
            <a:avLst>
              <a:gd name="adj1" fmla="val -69012"/>
              <a:gd name="adj2" fmla="val -83267"/>
            </a:avLst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114000"/>
              </a:lnSpc>
              <a:spcAft>
                <a:spcPts val="600"/>
              </a:spcAft>
            </a:pPr>
            <a:r>
              <a:rPr lang="zh-CN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在数据集成时，“收入”字段在一批数据中表示的是税后收入，而在另外的一批数据中表示的是税前收入。</a:t>
            </a:r>
          </a:p>
        </p:txBody>
      </p:sp>
    </p:spTree>
    <p:extLst>
      <p:ext uri="{BB962C8B-B14F-4D97-AF65-F5344CB8AC3E}">
        <p14:creationId xmlns:p14="http://schemas.microsoft.com/office/powerpoint/2010/main" val="38752705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清理方法</a:t>
            </a:r>
            <a:r>
              <a:rPr lang="en-US" altLang="zh-CN" dirty="0"/>
              <a:t>-</a:t>
            </a:r>
            <a:r>
              <a:rPr lang="zh-CN" altLang="en-US" dirty="0"/>
              <a:t>消除重复项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一致性检查</a:t>
            </a:r>
            <a:r>
              <a:rPr lang="en-US" altLang="zh-CN" dirty="0"/>
              <a:t>(consistency check)</a:t>
            </a:r>
          </a:p>
          <a:p>
            <a:r>
              <a:rPr lang="zh-CN" altLang="en-US" dirty="0"/>
              <a:t>消除重复项</a:t>
            </a:r>
            <a:endParaRPr lang="en-US" altLang="zh-CN" dirty="0"/>
          </a:p>
          <a:p>
            <a:pPr lvl="1"/>
            <a:r>
              <a:rPr lang="zh-CN" altLang="en-US" dirty="0"/>
              <a:t>属性值相同的记录被认为是重复记录</a:t>
            </a:r>
            <a:endParaRPr lang="en-US" altLang="zh-CN" dirty="0"/>
          </a:p>
          <a:p>
            <a:pPr lvl="2"/>
            <a:r>
              <a:rPr lang="zh-CN" altLang="en-US" dirty="0"/>
              <a:t>通过判断记录间的属性值是否相等来检测记录是否为重复项</a:t>
            </a:r>
            <a:endParaRPr lang="en-US" altLang="zh-CN" dirty="0"/>
          </a:p>
          <a:p>
            <a:pPr lvl="1"/>
            <a:r>
              <a:rPr lang="zh-CN" altLang="en-US" dirty="0"/>
              <a:t>合并和清除是消除重复项的基本方法</a:t>
            </a:r>
            <a:endParaRPr lang="en-US" altLang="zh-CN" dirty="0"/>
          </a:p>
          <a:p>
            <a:pPr lvl="2"/>
            <a:r>
              <a:rPr lang="zh-CN" altLang="en-US" dirty="0"/>
              <a:t>可将相同的记录进行合并消除，必要时可以添加计数变量对相同数据项出现的频次进行记录，用于后续的加权处理。</a:t>
            </a:r>
            <a:endParaRPr lang="en-US" altLang="zh-CN" dirty="0"/>
          </a:p>
          <a:p>
            <a:pPr lvl="1"/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66F0B09-7C63-4E03-9D6A-223183817009}" type="slidenum">
              <a:rPr lang="en-US" altLang="zh-CN" smtClean="0"/>
              <a:pPr>
                <a:defRPr/>
              </a:pPr>
              <a:t>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391369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清理方法</a:t>
            </a:r>
            <a:r>
              <a:rPr lang="en-US" altLang="zh-CN" dirty="0"/>
              <a:t>-</a:t>
            </a:r>
            <a:r>
              <a:rPr lang="zh-CN" altLang="en-US" dirty="0"/>
              <a:t>无效值和缺失值处理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一致性检查</a:t>
            </a:r>
            <a:r>
              <a:rPr lang="en-US" altLang="zh-CN" dirty="0"/>
              <a:t>(consistency check)</a:t>
            </a:r>
          </a:p>
          <a:p>
            <a:r>
              <a:rPr lang="zh-CN" altLang="en-US" dirty="0"/>
              <a:t>消除重复项</a:t>
            </a:r>
            <a:endParaRPr lang="en-US" altLang="zh-CN" dirty="0"/>
          </a:p>
          <a:p>
            <a:r>
              <a:rPr lang="zh-CN" altLang="en-US" dirty="0"/>
              <a:t>无效值和缺失值的处理</a:t>
            </a:r>
            <a:endParaRPr lang="en-US" altLang="zh-CN" dirty="0"/>
          </a:p>
          <a:p>
            <a:pPr lvl="1"/>
            <a:r>
              <a:rPr lang="zh-CN" altLang="en-US" dirty="0"/>
              <a:t>由于调查、编码和录入误差，数据中可能存在一些无效值和缺失值，需要给予适当的处理</a:t>
            </a:r>
            <a:endParaRPr lang="en-US" altLang="zh-CN" dirty="0"/>
          </a:p>
          <a:p>
            <a:pPr lvl="1"/>
            <a:r>
              <a:rPr lang="zh-CN" altLang="en-US" dirty="0"/>
              <a:t>常用方法</a:t>
            </a:r>
            <a:endParaRPr lang="en-US" altLang="zh-CN" dirty="0"/>
          </a:p>
          <a:p>
            <a:pPr lvl="2"/>
            <a:r>
              <a:rPr lang="zh-CN" altLang="en-US" dirty="0"/>
              <a:t>估算</a:t>
            </a:r>
          </a:p>
          <a:p>
            <a:pPr lvl="1"/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66F0B09-7C63-4E03-9D6A-223183817009}" type="slidenum">
              <a:rPr lang="en-US" altLang="zh-CN" smtClean="0"/>
              <a:pPr>
                <a:defRPr/>
              </a:pPr>
              <a:t>9</a:t>
            </a:fld>
            <a:endParaRPr lang="en-US" altLang="zh-CN"/>
          </a:p>
        </p:txBody>
      </p:sp>
      <p:sp>
        <p:nvSpPr>
          <p:cNvPr id="5" name="矩形标注 4"/>
          <p:cNvSpPr/>
          <p:nvPr/>
        </p:nvSpPr>
        <p:spPr>
          <a:xfrm>
            <a:off x="2160144" y="4077072"/>
            <a:ext cx="6444304" cy="1332000"/>
          </a:xfrm>
          <a:prstGeom prst="wedgeRectCallout">
            <a:avLst>
              <a:gd name="adj1" fmla="val -54429"/>
              <a:gd name="adj2" fmla="val -19071"/>
            </a:avLst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176213" indent="-176213">
              <a:lnSpc>
                <a:spcPct val="120000"/>
              </a:lnSpc>
              <a:spcAft>
                <a:spcPts val="300"/>
              </a:spcAft>
              <a:buFont typeface="Arial" pitchFamily="34" charset="0"/>
              <a:buChar char="•"/>
            </a:pPr>
            <a:r>
              <a:rPr lang="zh-CN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很多数情况下，缺失的值必须手工填入（即</a:t>
            </a:r>
            <a:r>
              <a:rPr lang="zh-CN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细黑" panose="02010600040101010101" pitchFamily="2" charset="-122"/>
                <a:ea typeface="华文细黑" panose="02010600040101010101" pitchFamily="2" charset="-122"/>
              </a:rPr>
              <a:t>手工清理</a:t>
            </a:r>
            <a:r>
              <a:rPr lang="zh-CN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）</a:t>
            </a:r>
            <a:endParaRPr lang="en-US" altLang="zh-CN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  <a:p>
            <a:pPr marL="176213" indent="-176213">
              <a:lnSpc>
                <a:spcPct val="120000"/>
              </a:lnSpc>
              <a:spcAft>
                <a:spcPts val="300"/>
              </a:spcAft>
              <a:buFont typeface="Arial" pitchFamily="34" charset="0"/>
              <a:buChar char="•"/>
            </a:pPr>
            <a:r>
              <a:rPr lang="zh-CN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用某个变量的样本均值、中位数或众数代替无效值和缺失值</a:t>
            </a:r>
            <a:endParaRPr lang="en-US" altLang="zh-CN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  <a:p>
            <a:pPr marL="446088" lvl="1" indent="-163513">
              <a:lnSpc>
                <a:spcPct val="120000"/>
              </a:lnSpc>
              <a:spcAft>
                <a:spcPts val="300"/>
              </a:spcAft>
              <a:buFont typeface="Arial" pitchFamily="34" charset="0"/>
              <a:buChar char="•"/>
            </a:pPr>
            <a:r>
              <a:rPr lang="zh-CN" altLang="en-US" sz="1600" dirty="0">
                <a:latin typeface="华文细黑" panose="02010600040101010101" pitchFamily="2" charset="-122"/>
                <a:ea typeface="华文细黑" panose="02010600040101010101" pitchFamily="2" charset="-122"/>
              </a:rPr>
              <a:t>这种办法简单，但没有更为充分考虑数据中已有的信息，误差可能较大</a:t>
            </a:r>
            <a:endParaRPr lang="en-US" altLang="zh-CN" sz="1600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683479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5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75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25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build="p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清理方法</a:t>
            </a:r>
            <a:r>
              <a:rPr lang="en-US" altLang="zh-CN" dirty="0"/>
              <a:t>-</a:t>
            </a:r>
            <a:r>
              <a:rPr lang="zh-CN" altLang="en-US" dirty="0"/>
              <a:t>无效值和缺失值处理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一致性检查</a:t>
            </a:r>
            <a:r>
              <a:rPr lang="en-US" altLang="zh-CN" dirty="0"/>
              <a:t>(consistency check)</a:t>
            </a:r>
          </a:p>
          <a:p>
            <a:r>
              <a:rPr lang="zh-CN" altLang="en-US" dirty="0"/>
              <a:t>消除重复项</a:t>
            </a:r>
            <a:endParaRPr lang="en-US" altLang="zh-CN" dirty="0"/>
          </a:p>
          <a:p>
            <a:r>
              <a:rPr lang="zh-CN" altLang="en-US" dirty="0"/>
              <a:t>无效值和缺失值的处理</a:t>
            </a:r>
            <a:endParaRPr lang="en-US" altLang="zh-CN" dirty="0"/>
          </a:p>
          <a:p>
            <a:pPr lvl="1"/>
            <a:r>
              <a:rPr lang="zh-CN" altLang="en-US" dirty="0"/>
              <a:t>由于调查、编码和录入误差，数据中可能存在一些无效值和缺失值，需要给予适当的处理</a:t>
            </a:r>
            <a:endParaRPr lang="en-US" altLang="zh-CN" dirty="0"/>
          </a:p>
          <a:p>
            <a:pPr lvl="1"/>
            <a:r>
              <a:rPr lang="zh-CN" altLang="en-US" dirty="0"/>
              <a:t>常用方法</a:t>
            </a:r>
            <a:endParaRPr lang="en-US" altLang="zh-CN" dirty="0"/>
          </a:p>
          <a:p>
            <a:pPr lvl="2"/>
            <a:r>
              <a:rPr lang="zh-CN" altLang="en-US" dirty="0"/>
              <a:t>估算</a:t>
            </a:r>
            <a:endParaRPr lang="en-US" altLang="zh-CN" dirty="0"/>
          </a:p>
          <a:p>
            <a:pPr lvl="2"/>
            <a:r>
              <a:rPr lang="zh-CN" altLang="en-US" dirty="0"/>
              <a:t>逻辑推演</a:t>
            </a:r>
            <a:endParaRPr lang="en-US" altLang="zh-CN" dirty="0"/>
          </a:p>
          <a:p>
            <a:pPr lvl="1"/>
            <a:endParaRPr lang="zh-CN" altLang="en-US" dirty="0"/>
          </a:p>
          <a:p>
            <a:pPr lvl="1"/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66F0B09-7C63-4E03-9D6A-223183817009}" type="slidenum">
              <a:rPr lang="en-US" altLang="zh-CN" smtClean="0"/>
              <a:pPr>
                <a:defRPr/>
              </a:pPr>
              <a:t>10</a:t>
            </a:fld>
            <a:endParaRPr lang="en-US" altLang="zh-CN"/>
          </a:p>
        </p:txBody>
      </p:sp>
      <p:sp>
        <p:nvSpPr>
          <p:cNvPr id="5" name="矩形标注 4"/>
          <p:cNvSpPr/>
          <p:nvPr/>
        </p:nvSpPr>
        <p:spPr>
          <a:xfrm>
            <a:off x="2627784" y="4293096"/>
            <a:ext cx="6192000" cy="1328400"/>
          </a:xfrm>
          <a:prstGeom prst="wedgeRectCallout">
            <a:avLst>
              <a:gd name="adj1" fmla="val -56676"/>
              <a:gd name="adj2" fmla="val -3949"/>
            </a:avLst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177800" indent="-177800">
              <a:spcAft>
                <a:spcPts val="300"/>
              </a:spcAft>
              <a:buFont typeface="Arial" pitchFamily="34" charset="0"/>
              <a:buChar char="•"/>
            </a:pPr>
            <a:r>
              <a:rPr lang="zh-CN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根据调查对象对其他问题的答案，通过变量之间的相关分析或逻辑推论进行估计</a:t>
            </a:r>
            <a:endParaRPr lang="en-US" altLang="zh-CN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  <a:p>
            <a:pPr marL="444500" lvl="1" indent="-177800">
              <a:spcAft>
                <a:spcPts val="300"/>
              </a:spcAft>
              <a:buFont typeface="Arial" pitchFamily="34" charset="0"/>
              <a:buChar char="•"/>
            </a:pPr>
            <a:r>
              <a:rPr lang="zh-CN" altLang="en-US" sz="1600" dirty="0">
                <a:latin typeface="华文细黑" panose="02010600040101010101" pitchFamily="2" charset="-122"/>
                <a:ea typeface="华文细黑" panose="02010600040101010101" pitchFamily="2" charset="-122"/>
              </a:rPr>
              <a:t>例如，某一产品的拥有情况可能与家庭收入有关，可以根据调查对象的家庭收入推算拥有这一产品的可能性</a:t>
            </a:r>
          </a:p>
        </p:txBody>
      </p:sp>
    </p:spTree>
    <p:extLst>
      <p:ext uri="{BB962C8B-B14F-4D97-AF65-F5344CB8AC3E}">
        <p14:creationId xmlns:p14="http://schemas.microsoft.com/office/powerpoint/2010/main" val="37807674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清理方法</a:t>
            </a:r>
            <a:r>
              <a:rPr lang="en-US" altLang="zh-CN" dirty="0"/>
              <a:t>- -</a:t>
            </a:r>
            <a:r>
              <a:rPr lang="zh-CN" altLang="en-US" dirty="0"/>
              <a:t>无效值和缺失值处理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一致性检查</a:t>
            </a:r>
            <a:r>
              <a:rPr lang="en-US" altLang="zh-CN" dirty="0"/>
              <a:t>(consistency check)</a:t>
            </a:r>
          </a:p>
          <a:p>
            <a:r>
              <a:rPr lang="zh-CN" altLang="en-US" dirty="0"/>
              <a:t>消除重复项</a:t>
            </a:r>
            <a:endParaRPr lang="en-US" altLang="zh-CN" dirty="0"/>
          </a:p>
          <a:p>
            <a:r>
              <a:rPr lang="zh-CN" altLang="en-US" dirty="0"/>
              <a:t>无效值和缺失值的处理</a:t>
            </a:r>
            <a:endParaRPr lang="en-US" altLang="zh-CN" dirty="0"/>
          </a:p>
          <a:p>
            <a:pPr lvl="1"/>
            <a:r>
              <a:rPr lang="zh-CN" altLang="en-US" dirty="0"/>
              <a:t>由于调查、编码和录入误差，数据中可能存在一些无效值和缺失值，需要给予适当的处理</a:t>
            </a:r>
            <a:endParaRPr lang="en-US" altLang="zh-CN" dirty="0"/>
          </a:p>
          <a:p>
            <a:pPr lvl="1"/>
            <a:r>
              <a:rPr lang="zh-CN" altLang="en-US" dirty="0"/>
              <a:t>常用方法</a:t>
            </a:r>
            <a:endParaRPr lang="en-US" altLang="zh-CN" dirty="0"/>
          </a:p>
          <a:p>
            <a:pPr lvl="2"/>
            <a:r>
              <a:rPr lang="zh-CN" altLang="en-US" dirty="0"/>
              <a:t>估算</a:t>
            </a:r>
            <a:endParaRPr lang="en-US" altLang="zh-CN" dirty="0"/>
          </a:p>
          <a:p>
            <a:pPr lvl="2"/>
            <a:r>
              <a:rPr lang="zh-CN" altLang="en-US" dirty="0"/>
              <a:t>逻辑推演</a:t>
            </a:r>
            <a:endParaRPr lang="en-US" altLang="zh-CN" dirty="0"/>
          </a:p>
          <a:p>
            <a:pPr lvl="2"/>
            <a:r>
              <a:rPr lang="zh-CN" altLang="en-US" dirty="0"/>
              <a:t>整例删除</a:t>
            </a:r>
            <a:endParaRPr lang="en-US" altLang="zh-CN" dirty="0"/>
          </a:p>
          <a:p>
            <a:pPr lvl="1"/>
            <a:endParaRPr lang="zh-CN" altLang="en-US" dirty="0"/>
          </a:p>
          <a:p>
            <a:pPr lvl="1"/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66F0B09-7C63-4E03-9D6A-223183817009}" type="slidenum">
              <a:rPr lang="en-US" altLang="zh-CN" smtClean="0"/>
              <a:pPr>
                <a:defRPr/>
              </a:pPr>
              <a:t>11</a:t>
            </a:fld>
            <a:endParaRPr lang="en-US" altLang="zh-CN"/>
          </a:p>
        </p:txBody>
      </p:sp>
      <p:sp>
        <p:nvSpPr>
          <p:cNvPr id="6" name="矩形标注 5"/>
          <p:cNvSpPr/>
          <p:nvPr/>
        </p:nvSpPr>
        <p:spPr>
          <a:xfrm>
            <a:off x="2555776" y="4005240"/>
            <a:ext cx="6264000" cy="1584000"/>
          </a:xfrm>
          <a:prstGeom prst="wedgeRectCallout">
            <a:avLst>
              <a:gd name="adj1" fmla="val -57184"/>
              <a:gd name="adj2" fmla="val 28184"/>
            </a:avLst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342900" indent="-342900">
              <a:spcAft>
                <a:spcPts val="300"/>
              </a:spcAft>
              <a:buFont typeface="Arial" pitchFamily="34" charset="0"/>
              <a:buChar char="•"/>
            </a:pPr>
            <a:r>
              <a:rPr lang="zh-CN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剔除含有缺失值的样本</a:t>
            </a:r>
            <a:endParaRPr lang="en-US" altLang="zh-CN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  <a:p>
            <a:pPr marL="342900" indent="-342900">
              <a:spcAft>
                <a:spcPts val="300"/>
              </a:spcAft>
              <a:buFont typeface="Arial" pitchFamily="34" charset="0"/>
              <a:buChar char="•"/>
            </a:pPr>
            <a:r>
              <a:rPr lang="zh-CN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由于很多问卷都可能存在缺失值，这种做法的结果可能导致有效样本量大大减少，无法充分利用已经收集到的数据</a:t>
            </a:r>
            <a:endParaRPr lang="en-US" altLang="zh-CN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  <a:p>
            <a:pPr marL="342900" indent="-342900">
              <a:spcAft>
                <a:spcPts val="300"/>
              </a:spcAft>
              <a:buFont typeface="Arial" pitchFamily="34" charset="0"/>
              <a:buChar char="•"/>
            </a:pPr>
            <a:r>
              <a:rPr lang="zh-CN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只适合关键变量缺失，或者含有无效值或缺失值的样本比重很小的情况</a:t>
            </a:r>
          </a:p>
        </p:txBody>
      </p:sp>
    </p:spTree>
    <p:extLst>
      <p:ext uri="{BB962C8B-B14F-4D97-AF65-F5344CB8AC3E}">
        <p14:creationId xmlns:p14="http://schemas.microsoft.com/office/powerpoint/2010/main" val="42759576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清理方法</a:t>
            </a:r>
            <a:r>
              <a:rPr lang="en-US" altLang="zh-CN" dirty="0"/>
              <a:t>- -</a:t>
            </a:r>
            <a:r>
              <a:rPr lang="zh-CN" altLang="en-US" dirty="0"/>
              <a:t>无效值和缺失值处理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一致性检查</a:t>
            </a:r>
            <a:r>
              <a:rPr lang="en-US" altLang="zh-CN" dirty="0"/>
              <a:t>(consistency check)</a:t>
            </a:r>
          </a:p>
          <a:p>
            <a:r>
              <a:rPr lang="zh-CN" altLang="en-US" dirty="0"/>
              <a:t>消除重复项</a:t>
            </a:r>
            <a:endParaRPr lang="en-US" altLang="zh-CN" dirty="0"/>
          </a:p>
          <a:p>
            <a:r>
              <a:rPr lang="zh-CN" altLang="en-US" dirty="0"/>
              <a:t>无效值和缺失值的处理</a:t>
            </a:r>
            <a:endParaRPr lang="en-US" altLang="zh-CN" dirty="0"/>
          </a:p>
          <a:p>
            <a:pPr lvl="1"/>
            <a:r>
              <a:rPr lang="zh-CN" altLang="en-US" dirty="0"/>
              <a:t>由于调查、编码和录入误差，数据中可能存在一些无效值和缺失值，需要给予适当的处理</a:t>
            </a:r>
            <a:endParaRPr lang="en-US" altLang="zh-CN" dirty="0"/>
          </a:p>
          <a:p>
            <a:pPr lvl="1"/>
            <a:r>
              <a:rPr lang="zh-CN" altLang="en-US" dirty="0"/>
              <a:t>常用方法</a:t>
            </a:r>
            <a:endParaRPr lang="en-US" altLang="zh-CN" dirty="0"/>
          </a:p>
          <a:p>
            <a:pPr lvl="2"/>
            <a:r>
              <a:rPr lang="zh-CN" altLang="en-US" dirty="0"/>
              <a:t>估算</a:t>
            </a:r>
            <a:endParaRPr lang="en-US" altLang="zh-CN" dirty="0"/>
          </a:p>
          <a:p>
            <a:pPr lvl="2"/>
            <a:r>
              <a:rPr lang="zh-CN" altLang="en-US" dirty="0"/>
              <a:t>逻辑推演</a:t>
            </a:r>
            <a:endParaRPr lang="en-US" altLang="zh-CN" dirty="0"/>
          </a:p>
          <a:p>
            <a:pPr lvl="2"/>
            <a:r>
              <a:rPr lang="zh-CN" altLang="en-US" dirty="0"/>
              <a:t>整例删除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66F0B09-7C63-4E03-9D6A-223183817009}" type="slidenum">
              <a:rPr lang="en-US" altLang="zh-CN" smtClean="0"/>
              <a:pPr>
                <a:defRPr/>
              </a:pPr>
              <a:t>12</a:t>
            </a:fld>
            <a:endParaRPr lang="en-US" altLang="zh-CN"/>
          </a:p>
        </p:txBody>
      </p:sp>
      <p:sp>
        <p:nvSpPr>
          <p:cNvPr id="7" name="矩形标注 6"/>
          <p:cNvSpPr/>
          <p:nvPr/>
        </p:nvSpPr>
        <p:spPr>
          <a:xfrm>
            <a:off x="4067944" y="3861048"/>
            <a:ext cx="4932000" cy="1764000"/>
          </a:xfrm>
          <a:prstGeom prst="wedgeRectCallout">
            <a:avLst>
              <a:gd name="adj1" fmla="val -54033"/>
              <a:gd name="adj2" fmla="val -16274"/>
            </a:avLst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176213" indent="-176213">
              <a:lnSpc>
                <a:spcPct val="120000"/>
              </a:lnSpc>
              <a:spcAft>
                <a:spcPts val="300"/>
              </a:spcAft>
              <a:buFont typeface="Arial" pitchFamily="34" charset="0"/>
              <a:buChar char="•"/>
            </a:pPr>
            <a:r>
              <a:rPr lang="zh-CN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如果某一变量的无效值和缺失值很多，而且该变量对于所研究的问题不是特别重要，则可以考虑将该变量删除</a:t>
            </a:r>
            <a:endParaRPr lang="en-US" altLang="zh-CN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  <a:p>
            <a:pPr marL="176213" indent="-176213">
              <a:lnSpc>
                <a:spcPct val="120000"/>
              </a:lnSpc>
              <a:spcAft>
                <a:spcPts val="300"/>
              </a:spcAft>
              <a:buFont typeface="Arial" pitchFamily="34" charset="0"/>
              <a:buChar char="•"/>
            </a:pPr>
            <a:r>
              <a:rPr lang="zh-CN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这种做法减少了供分析用的变量数目，但没有改变样本量</a:t>
            </a:r>
          </a:p>
        </p:txBody>
      </p:sp>
      <p:sp>
        <p:nvSpPr>
          <p:cNvPr id="8" name="内容占位符 2"/>
          <p:cNvSpPr txBox="1">
            <a:spLocks/>
          </p:cNvSpPr>
          <p:nvPr/>
        </p:nvSpPr>
        <p:spPr bwMode="auto">
          <a:xfrm>
            <a:off x="2483768" y="4300885"/>
            <a:ext cx="1584176" cy="122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65125" indent="-282575" algn="l" rtl="0" eaLnBrk="1" fontAlgn="base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2" pitchFamily="18" charset="2"/>
              <a:buChar char=""/>
              <a:defRPr sz="2800" kern="1200">
                <a:solidFill>
                  <a:schemeClr val="tx1"/>
                </a:solidFill>
                <a:latin typeface="Times New Roman" pitchFamily="18" charset="0"/>
                <a:ea typeface="华文细黑" pitchFamily="2" charset="-122"/>
                <a:cs typeface="+mn-cs"/>
              </a:defRPr>
            </a:lvl1pPr>
            <a:lvl2pPr marL="639763" indent="-236538" algn="l" rtl="0" eaLnBrk="1" fontAlgn="base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Font typeface="Verdana" pitchFamily="34" charset="0"/>
              <a:buChar char="◦"/>
              <a:defRPr sz="2400" kern="1200">
                <a:solidFill>
                  <a:schemeClr val="tx1"/>
                </a:solidFill>
                <a:latin typeface="Times New Roman" pitchFamily="18" charset="0"/>
                <a:ea typeface="华文细黑" pitchFamily="2" charset="-122"/>
                <a:cs typeface="+mn-cs"/>
              </a:defRPr>
            </a:lvl2pPr>
            <a:lvl3pPr marL="885825" indent="-228600" algn="l" rtl="0" eaLnBrk="1" fontAlgn="base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Times New Roman" pitchFamily="18" charset="0"/>
                <a:ea typeface="华文细黑" pitchFamily="2" charset="-122"/>
                <a:cs typeface="+mn-cs"/>
              </a:defRPr>
            </a:lvl3pPr>
            <a:lvl4pPr marL="1096963" indent="-173038" algn="l" rtl="0" eaLnBrk="1" fontAlgn="base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rgbClr val="C32D2E"/>
              </a:buClr>
              <a:buFont typeface="Wingdings 2" pitchFamily="18" charset="2"/>
              <a:buChar char=""/>
              <a:defRPr kern="1200">
                <a:solidFill>
                  <a:schemeClr val="tx1"/>
                </a:solidFill>
                <a:latin typeface="Times New Roman" pitchFamily="18" charset="0"/>
                <a:ea typeface="华文细黑" pitchFamily="2" charset="-122"/>
                <a:cs typeface="+mn-cs"/>
              </a:defRPr>
            </a:lvl4pPr>
            <a:lvl5pPr marL="1296988" indent="-182563" algn="l" rtl="0" eaLnBrk="1" fontAlgn="base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rgbClr val="84AA33"/>
              </a:buClr>
              <a:buFont typeface="Wingdings 2" pitchFamily="18" charset="2"/>
              <a:buChar char=""/>
              <a:defRPr kern="1200">
                <a:solidFill>
                  <a:schemeClr val="tx1"/>
                </a:solidFill>
                <a:latin typeface="Times New Roman" pitchFamily="18" charset="0"/>
                <a:ea typeface="华文细黑" pitchFamily="2" charset="-122"/>
                <a:cs typeface="+mn-cs"/>
              </a:defRPr>
            </a:lvl5pPr>
            <a:lvl6pPr marL="1508760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5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719072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20240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30552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228600" lvl="2"/>
            <a:r>
              <a:rPr lang="zh-CN" altLang="en-US" sz="1800" dirty="0"/>
              <a:t>变量删除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7962144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 animBg="1"/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清理方法</a:t>
            </a:r>
            <a:r>
              <a:rPr lang="en-US" altLang="zh-CN" dirty="0"/>
              <a:t>-</a:t>
            </a:r>
            <a:r>
              <a:rPr lang="zh-CN" altLang="en-US" dirty="0"/>
              <a:t>无效值和缺失值处理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一致性检查</a:t>
            </a:r>
            <a:r>
              <a:rPr lang="en-US" altLang="zh-CN" dirty="0"/>
              <a:t>(consistency check)</a:t>
            </a:r>
          </a:p>
          <a:p>
            <a:r>
              <a:rPr lang="zh-CN" altLang="en-US" dirty="0"/>
              <a:t>消除重复项</a:t>
            </a:r>
            <a:endParaRPr lang="en-US" altLang="zh-CN" dirty="0"/>
          </a:p>
          <a:p>
            <a:r>
              <a:rPr lang="zh-CN" altLang="en-US" dirty="0"/>
              <a:t>无效值和缺失值的处理</a:t>
            </a:r>
            <a:endParaRPr lang="en-US" altLang="zh-CN" dirty="0"/>
          </a:p>
          <a:p>
            <a:pPr lvl="1"/>
            <a:r>
              <a:rPr lang="zh-CN" altLang="en-US" dirty="0"/>
              <a:t>由于调查、编码和录入误差，数据中可能存在一些无效值和缺失值，需要给予适当的处理</a:t>
            </a:r>
            <a:endParaRPr lang="en-US" altLang="zh-CN" dirty="0"/>
          </a:p>
          <a:p>
            <a:pPr lvl="1"/>
            <a:r>
              <a:rPr lang="zh-CN" altLang="en-US" dirty="0"/>
              <a:t>常用方法</a:t>
            </a:r>
            <a:endParaRPr lang="en-US" altLang="zh-CN" dirty="0"/>
          </a:p>
          <a:p>
            <a:pPr lvl="2"/>
            <a:r>
              <a:rPr lang="zh-CN" altLang="en-US" dirty="0"/>
              <a:t>估算</a:t>
            </a:r>
            <a:endParaRPr lang="en-US" altLang="zh-CN" dirty="0"/>
          </a:p>
          <a:p>
            <a:pPr lvl="2"/>
            <a:r>
              <a:rPr lang="zh-CN" altLang="en-US" dirty="0"/>
              <a:t>逻辑推演</a:t>
            </a:r>
            <a:endParaRPr lang="en-US" altLang="zh-CN" dirty="0"/>
          </a:p>
          <a:p>
            <a:pPr lvl="2"/>
            <a:r>
              <a:rPr lang="zh-CN" altLang="en-US" dirty="0"/>
              <a:t>整例删除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66F0B09-7C63-4E03-9D6A-223183817009}" type="slidenum">
              <a:rPr lang="en-US" altLang="zh-CN" smtClean="0"/>
              <a:pPr>
                <a:defRPr/>
              </a:pPr>
              <a:t>13</a:t>
            </a:fld>
            <a:endParaRPr lang="en-US" altLang="zh-CN"/>
          </a:p>
        </p:txBody>
      </p:sp>
      <p:sp>
        <p:nvSpPr>
          <p:cNvPr id="8" name="内容占位符 2"/>
          <p:cNvSpPr txBox="1">
            <a:spLocks/>
          </p:cNvSpPr>
          <p:nvPr/>
        </p:nvSpPr>
        <p:spPr bwMode="auto">
          <a:xfrm>
            <a:off x="2483768" y="4300885"/>
            <a:ext cx="1584176" cy="122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65125" indent="-282575" algn="l" rtl="0" eaLnBrk="1" fontAlgn="base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2" pitchFamily="18" charset="2"/>
              <a:buChar char=""/>
              <a:defRPr sz="2800" kern="1200">
                <a:solidFill>
                  <a:schemeClr val="tx1"/>
                </a:solidFill>
                <a:latin typeface="Times New Roman" pitchFamily="18" charset="0"/>
                <a:ea typeface="华文细黑" pitchFamily="2" charset="-122"/>
                <a:cs typeface="+mn-cs"/>
              </a:defRPr>
            </a:lvl1pPr>
            <a:lvl2pPr marL="639763" indent="-236538" algn="l" rtl="0" eaLnBrk="1" fontAlgn="base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Font typeface="Verdana" pitchFamily="34" charset="0"/>
              <a:buChar char="◦"/>
              <a:defRPr sz="2400" kern="1200">
                <a:solidFill>
                  <a:schemeClr val="tx1"/>
                </a:solidFill>
                <a:latin typeface="Times New Roman" pitchFamily="18" charset="0"/>
                <a:ea typeface="华文细黑" pitchFamily="2" charset="-122"/>
                <a:cs typeface="+mn-cs"/>
              </a:defRPr>
            </a:lvl2pPr>
            <a:lvl3pPr marL="885825" indent="-228600" algn="l" rtl="0" eaLnBrk="1" fontAlgn="base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Times New Roman" pitchFamily="18" charset="0"/>
                <a:ea typeface="华文细黑" pitchFamily="2" charset="-122"/>
                <a:cs typeface="+mn-cs"/>
              </a:defRPr>
            </a:lvl3pPr>
            <a:lvl4pPr marL="1096963" indent="-173038" algn="l" rtl="0" eaLnBrk="1" fontAlgn="base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rgbClr val="C32D2E"/>
              </a:buClr>
              <a:buFont typeface="Wingdings 2" pitchFamily="18" charset="2"/>
              <a:buChar char=""/>
              <a:defRPr kern="1200">
                <a:solidFill>
                  <a:schemeClr val="tx1"/>
                </a:solidFill>
                <a:latin typeface="Times New Roman" pitchFamily="18" charset="0"/>
                <a:ea typeface="华文细黑" pitchFamily="2" charset="-122"/>
                <a:cs typeface="+mn-cs"/>
              </a:defRPr>
            </a:lvl4pPr>
            <a:lvl5pPr marL="1296988" indent="-182563" algn="l" rtl="0" eaLnBrk="1" fontAlgn="base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rgbClr val="84AA33"/>
              </a:buClr>
              <a:buFont typeface="Wingdings 2" pitchFamily="18" charset="2"/>
              <a:buChar char=""/>
              <a:defRPr kern="1200">
                <a:solidFill>
                  <a:schemeClr val="tx1"/>
                </a:solidFill>
                <a:latin typeface="Times New Roman" pitchFamily="18" charset="0"/>
                <a:ea typeface="华文细黑" pitchFamily="2" charset="-122"/>
                <a:cs typeface="+mn-cs"/>
              </a:defRPr>
            </a:lvl5pPr>
            <a:lvl6pPr marL="1508760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5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719072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20240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30552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228600" lvl="2"/>
            <a:r>
              <a:rPr lang="zh-CN" altLang="en-US" sz="1800" dirty="0"/>
              <a:t>变量删除</a:t>
            </a:r>
            <a:endParaRPr lang="en-US" altLang="zh-CN" sz="1800" dirty="0"/>
          </a:p>
          <a:p>
            <a:pPr marL="228600" lvl="2"/>
            <a:r>
              <a:rPr lang="zh-CN" altLang="en-US" sz="1800" dirty="0"/>
              <a:t>成对删除</a:t>
            </a:r>
          </a:p>
        </p:txBody>
      </p:sp>
      <p:sp>
        <p:nvSpPr>
          <p:cNvPr id="9" name="矩形标注 8"/>
          <p:cNvSpPr/>
          <p:nvPr/>
        </p:nvSpPr>
        <p:spPr>
          <a:xfrm>
            <a:off x="3995936" y="2708920"/>
            <a:ext cx="5040000" cy="2916000"/>
          </a:xfrm>
          <a:prstGeom prst="wedgeRectCallout">
            <a:avLst>
              <a:gd name="adj1" fmla="val -53852"/>
              <a:gd name="adj2" fmla="val 25157"/>
            </a:avLst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176213" indent="-176213">
              <a:lnSpc>
                <a:spcPct val="120000"/>
              </a:lnSpc>
              <a:spcAft>
                <a:spcPts val="300"/>
              </a:spcAft>
              <a:buFont typeface="Arial" pitchFamily="34" charset="0"/>
              <a:buChar char="•"/>
            </a:pPr>
            <a:r>
              <a:rPr lang="zh-CN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指对于两两配对的变量，如果某样本中其中一个变量数据缺失，则在对该配对变量进行数据统计时应删除含有缺失值的数据，而在进行其他变量数据统计时不做处理。</a:t>
            </a:r>
            <a:endParaRPr lang="en-US" altLang="zh-CN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  <a:p>
            <a:pPr marL="176213" indent="-176213">
              <a:lnSpc>
                <a:spcPct val="120000"/>
              </a:lnSpc>
              <a:spcAft>
                <a:spcPts val="300"/>
              </a:spcAft>
              <a:buFont typeface="Arial" pitchFamily="34" charset="0"/>
              <a:buChar char="•"/>
            </a:pPr>
            <a:r>
              <a:rPr lang="zh-CN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处理时可采用保守的处理方法</a:t>
            </a:r>
            <a:endParaRPr lang="en-US" altLang="zh-CN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  <a:p>
            <a:pPr marL="354013" lvl="1" indent="-176213">
              <a:lnSpc>
                <a:spcPct val="120000"/>
              </a:lnSpc>
              <a:spcAft>
                <a:spcPts val="300"/>
              </a:spcAft>
              <a:buFont typeface="Arial" pitchFamily="34" charset="0"/>
              <a:buChar char="•"/>
            </a:pPr>
            <a:r>
              <a:rPr lang="zh-CN" altLang="en-US" sz="1600" dirty="0">
                <a:latin typeface="华文细黑" panose="02010600040101010101" pitchFamily="2" charset="-122"/>
                <a:ea typeface="华文细黑" panose="02010600040101010101" pitchFamily="2" charset="-122"/>
              </a:rPr>
              <a:t>将缺失值用特殊码（例如</a:t>
            </a:r>
            <a:r>
              <a:rPr lang="en-US" altLang="zh-CN" sz="1600" dirty="0">
                <a:latin typeface="华文细黑" panose="02010600040101010101" pitchFamily="2" charset="-122"/>
                <a:ea typeface="华文细黑" panose="02010600040101010101" pitchFamily="2" charset="-122"/>
              </a:rPr>
              <a:t>-1</a:t>
            </a:r>
            <a:r>
              <a:rPr lang="zh-CN" altLang="en-US" sz="1600" dirty="0">
                <a:latin typeface="华文细黑" panose="02010600040101010101" pitchFamily="2" charset="-122"/>
                <a:ea typeface="华文细黑" panose="02010600040101010101" pitchFamily="2" charset="-122"/>
              </a:rPr>
              <a:t>、</a:t>
            </a:r>
            <a:r>
              <a:rPr lang="en-US" altLang="zh-CN" sz="1600" dirty="0">
                <a:latin typeface="华文细黑" panose="02010600040101010101" pitchFamily="2" charset="-122"/>
                <a:ea typeface="华文细黑" panose="02010600040101010101" pitchFamily="2" charset="-122"/>
              </a:rPr>
              <a:t>null</a:t>
            </a:r>
            <a:r>
              <a:rPr lang="zh-CN" altLang="en-US" sz="1600" dirty="0">
                <a:latin typeface="华文细黑" panose="02010600040101010101" pitchFamily="2" charset="-122"/>
                <a:ea typeface="华文细黑" panose="02010600040101010101" pitchFamily="2" charset="-122"/>
              </a:rPr>
              <a:t>等）进行标注，并不真正删除，数据统计时区分处理即可，这样可以最大限度地保留数据样本中的可用信息</a:t>
            </a:r>
            <a:endParaRPr lang="en-US" altLang="zh-CN" sz="1600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396476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25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uiExpand="1" build="p"/>
      <p:bldP spid="9" grpId="0" uiExpand="1" build="p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清理方法</a:t>
            </a:r>
            <a:r>
              <a:rPr lang="en-US" altLang="zh-CN" dirty="0"/>
              <a:t>-</a:t>
            </a:r>
            <a:r>
              <a:rPr lang="zh-CN" altLang="en-US" dirty="0"/>
              <a:t>错误值的检测及解决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一致性检查</a:t>
            </a:r>
            <a:r>
              <a:rPr lang="en-US" altLang="zh-CN" dirty="0"/>
              <a:t>(consistency check)</a:t>
            </a:r>
          </a:p>
          <a:p>
            <a:r>
              <a:rPr lang="zh-CN" altLang="en-US" dirty="0"/>
              <a:t>消除重复项</a:t>
            </a:r>
            <a:endParaRPr lang="en-US" altLang="zh-CN" dirty="0"/>
          </a:p>
          <a:p>
            <a:r>
              <a:rPr lang="zh-CN" altLang="en-US" dirty="0"/>
              <a:t>无效值和缺失值的处理</a:t>
            </a:r>
            <a:endParaRPr lang="en-US" altLang="zh-CN" dirty="0"/>
          </a:p>
          <a:p>
            <a:r>
              <a:rPr lang="zh-CN" altLang="en-US" dirty="0"/>
              <a:t>错误值的检测及解决</a:t>
            </a:r>
            <a:endParaRPr lang="en-US" altLang="zh-CN" dirty="0"/>
          </a:p>
          <a:p>
            <a:pPr lvl="1"/>
            <a:r>
              <a:rPr lang="zh-CN" altLang="en-US" dirty="0"/>
              <a:t>用统计分析的方法识别可能的错误值或异常值</a:t>
            </a:r>
            <a:endParaRPr lang="en-US" altLang="zh-CN" dirty="0"/>
          </a:p>
          <a:p>
            <a:pPr lvl="2"/>
            <a:r>
              <a:rPr lang="zh-CN" altLang="en-US" sz="1600" dirty="0"/>
              <a:t>偏差分析</a:t>
            </a:r>
            <a:endParaRPr lang="en-US" altLang="zh-CN" sz="1600" dirty="0"/>
          </a:p>
          <a:p>
            <a:pPr lvl="2"/>
            <a:r>
              <a:rPr lang="zh-CN" altLang="en-US" sz="1600" dirty="0"/>
              <a:t>识别不遵守分布或回归方程的值</a:t>
            </a:r>
            <a:endParaRPr lang="en-US" altLang="zh-CN" sz="1600" dirty="0"/>
          </a:p>
          <a:p>
            <a:pPr marL="403225" lvl="1" indent="0">
              <a:buNone/>
            </a:pP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66F0B09-7C63-4E03-9D6A-223183817009}" type="slidenum">
              <a:rPr lang="en-US" altLang="zh-CN" smtClean="0"/>
              <a:pPr>
                <a:defRPr/>
              </a:pPr>
              <a:t>14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398378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【</a:t>
            </a:r>
            <a:r>
              <a:rPr lang="zh-CN" altLang="en-US" dirty="0"/>
              <a:t>例</a:t>
            </a:r>
            <a:r>
              <a:rPr lang="en-US" altLang="zh-CN" dirty="0"/>
              <a:t>】</a:t>
            </a:r>
            <a:r>
              <a:rPr lang="zh-CN" altLang="en-US" dirty="0"/>
              <a:t>判定下列数据集中的异常值</a:t>
            </a:r>
          </a:p>
        </p:txBody>
      </p:sp>
      <p:graphicFrame>
        <p:nvGraphicFramePr>
          <p:cNvPr id="5" name="内容占位符 4"/>
          <p:cNvGraphicFramePr>
            <a:graphicFrameLocks noGrp="1"/>
          </p:cNvGraphicFramePr>
          <p:nvPr>
            <p:ph idx="1"/>
          </p:nvPr>
        </p:nvGraphicFramePr>
        <p:xfrm>
          <a:off x="1099616" y="1844824"/>
          <a:ext cx="6928768" cy="201168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4330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30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30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304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304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304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304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304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3304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3304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33048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33048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33048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33048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433048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433048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114300">
                <a:tc>
                  <a:txBody>
                    <a:bodyPr/>
                    <a:lstStyle/>
                    <a:p>
                      <a:pPr algn="ctr">
                        <a:spcBef>
                          <a:spcPts val="360"/>
                        </a:spcBef>
                        <a:spcAft>
                          <a:spcPts val="360"/>
                        </a:spcAft>
                      </a:pPr>
                      <a:r>
                        <a:rPr lang="en-US" sz="1200" kern="100" dirty="0">
                          <a:effectLst/>
                        </a:rPr>
                        <a:t>57.68</a:t>
                      </a:r>
                      <a:endParaRPr lang="zh-CN" sz="1800" kern="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36195" marR="3619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60"/>
                        </a:spcBef>
                        <a:spcAft>
                          <a:spcPts val="360"/>
                        </a:spcAft>
                      </a:pPr>
                      <a:r>
                        <a:rPr lang="en-US" sz="1200" kern="100">
                          <a:effectLst/>
                        </a:rPr>
                        <a:t>42.28</a:t>
                      </a:r>
                      <a:endParaRPr lang="zh-CN" sz="18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36195" marR="3619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60"/>
                        </a:spcBef>
                        <a:spcAft>
                          <a:spcPts val="360"/>
                        </a:spcAft>
                      </a:pPr>
                      <a:r>
                        <a:rPr lang="en-US" sz="1200" kern="100">
                          <a:effectLst/>
                        </a:rPr>
                        <a:t>68.45</a:t>
                      </a:r>
                      <a:endParaRPr lang="zh-CN" sz="18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36195" marR="3619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60"/>
                        </a:spcBef>
                        <a:spcAft>
                          <a:spcPts val="360"/>
                        </a:spcAft>
                      </a:pPr>
                      <a:r>
                        <a:rPr lang="en-US" sz="1200" kern="100">
                          <a:effectLst/>
                        </a:rPr>
                        <a:t>61.74</a:t>
                      </a:r>
                      <a:endParaRPr lang="zh-CN" sz="18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36195" marR="3619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60"/>
                        </a:spcBef>
                        <a:spcAft>
                          <a:spcPts val="360"/>
                        </a:spcAft>
                      </a:pPr>
                      <a:r>
                        <a:rPr lang="en-US" sz="1200" kern="100">
                          <a:effectLst/>
                        </a:rPr>
                        <a:t>47.13</a:t>
                      </a:r>
                      <a:endParaRPr lang="zh-CN" sz="18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36195" marR="3619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60"/>
                        </a:spcBef>
                        <a:spcAft>
                          <a:spcPts val="360"/>
                        </a:spcAft>
                      </a:pPr>
                      <a:r>
                        <a:rPr lang="en-US" sz="1200" kern="100">
                          <a:effectLst/>
                        </a:rPr>
                        <a:t>65.70</a:t>
                      </a:r>
                      <a:endParaRPr lang="zh-CN" sz="18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36195" marR="3619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60"/>
                        </a:spcBef>
                        <a:spcAft>
                          <a:spcPts val="360"/>
                        </a:spcAft>
                      </a:pPr>
                      <a:r>
                        <a:rPr lang="en-US" sz="1200" kern="100">
                          <a:effectLst/>
                        </a:rPr>
                        <a:t>42.30</a:t>
                      </a:r>
                      <a:endParaRPr lang="zh-CN" sz="18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36195" marR="3619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60"/>
                        </a:spcBef>
                        <a:spcAft>
                          <a:spcPts val="360"/>
                        </a:spcAft>
                      </a:pPr>
                      <a:r>
                        <a:rPr lang="en-US" sz="1200" kern="100">
                          <a:effectLst/>
                        </a:rPr>
                        <a:t>58.40</a:t>
                      </a:r>
                      <a:endParaRPr lang="zh-CN" sz="18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36195" marR="3619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60"/>
                        </a:spcBef>
                        <a:spcAft>
                          <a:spcPts val="360"/>
                        </a:spcAft>
                      </a:pPr>
                      <a:r>
                        <a:rPr lang="en-US" sz="1200" kern="100">
                          <a:effectLst/>
                        </a:rPr>
                        <a:t>48.45</a:t>
                      </a:r>
                      <a:endParaRPr lang="zh-CN" sz="18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36195" marR="3619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60"/>
                        </a:spcBef>
                        <a:spcAft>
                          <a:spcPts val="360"/>
                        </a:spcAft>
                      </a:pPr>
                      <a:r>
                        <a:rPr lang="en-US" sz="1200" kern="100">
                          <a:effectLst/>
                        </a:rPr>
                        <a:t>45.94</a:t>
                      </a:r>
                      <a:endParaRPr lang="zh-CN" sz="18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36195" marR="3619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60"/>
                        </a:spcBef>
                        <a:spcAft>
                          <a:spcPts val="360"/>
                        </a:spcAft>
                      </a:pPr>
                      <a:r>
                        <a:rPr lang="en-US" sz="1200" kern="100">
                          <a:effectLst/>
                        </a:rPr>
                        <a:t>45.27</a:t>
                      </a:r>
                      <a:endParaRPr lang="zh-CN" sz="18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36195" marR="3619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60"/>
                        </a:spcBef>
                        <a:spcAft>
                          <a:spcPts val="360"/>
                        </a:spcAft>
                      </a:pPr>
                      <a:r>
                        <a:rPr lang="en-US" sz="1200" kern="100">
                          <a:effectLst/>
                        </a:rPr>
                        <a:t>26.72</a:t>
                      </a:r>
                      <a:endParaRPr lang="zh-CN" sz="18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36195" marR="3619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60"/>
                        </a:spcBef>
                        <a:spcAft>
                          <a:spcPts val="360"/>
                        </a:spcAft>
                      </a:pPr>
                      <a:r>
                        <a:rPr lang="en-US" sz="1200" kern="100">
                          <a:effectLst/>
                        </a:rPr>
                        <a:t>41.08</a:t>
                      </a:r>
                      <a:endParaRPr lang="zh-CN" sz="18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36195" marR="3619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60"/>
                        </a:spcBef>
                        <a:spcAft>
                          <a:spcPts val="360"/>
                        </a:spcAft>
                      </a:pPr>
                      <a:r>
                        <a:rPr lang="en-US" sz="1200" kern="100">
                          <a:effectLst/>
                        </a:rPr>
                        <a:t>48.34</a:t>
                      </a:r>
                      <a:endParaRPr lang="zh-CN" sz="18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36195" marR="3619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60"/>
                        </a:spcBef>
                        <a:spcAft>
                          <a:spcPts val="360"/>
                        </a:spcAft>
                      </a:pPr>
                      <a:r>
                        <a:rPr lang="en-US" sz="1200" kern="100">
                          <a:effectLst/>
                        </a:rPr>
                        <a:t>44.27</a:t>
                      </a:r>
                      <a:endParaRPr lang="zh-CN" sz="18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36195" marR="3619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60"/>
                        </a:spcBef>
                        <a:spcAft>
                          <a:spcPts val="360"/>
                        </a:spcAft>
                      </a:pPr>
                      <a:r>
                        <a:rPr lang="en-US" sz="1200" kern="100">
                          <a:effectLst/>
                        </a:rPr>
                        <a:t>61.72</a:t>
                      </a:r>
                      <a:endParaRPr lang="zh-CN" sz="18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36195" marR="36195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algn="ctr">
                        <a:spcBef>
                          <a:spcPts val="360"/>
                        </a:spcBef>
                        <a:spcAft>
                          <a:spcPts val="360"/>
                        </a:spcAft>
                      </a:pPr>
                      <a:r>
                        <a:rPr lang="en-US" sz="1200" kern="100" dirty="0">
                          <a:effectLst/>
                        </a:rPr>
                        <a:t>53.57</a:t>
                      </a:r>
                      <a:endParaRPr lang="zh-CN" sz="1800" kern="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36195" marR="3619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60"/>
                        </a:spcBef>
                        <a:spcAft>
                          <a:spcPts val="360"/>
                        </a:spcAft>
                      </a:pPr>
                      <a:r>
                        <a:rPr lang="en-US" sz="1200" kern="100">
                          <a:effectLst/>
                        </a:rPr>
                        <a:t>30.62</a:t>
                      </a:r>
                      <a:endParaRPr lang="zh-CN" sz="18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36195" marR="3619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60"/>
                        </a:spcBef>
                        <a:spcAft>
                          <a:spcPts val="360"/>
                        </a:spcAft>
                      </a:pPr>
                      <a:r>
                        <a:rPr lang="en-US" sz="1200" kern="100">
                          <a:effectLst/>
                        </a:rPr>
                        <a:t>53.36</a:t>
                      </a:r>
                      <a:endParaRPr lang="zh-CN" sz="18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36195" marR="3619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60"/>
                        </a:spcBef>
                        <a:spcAft>
                          <a:spcPts val="360"/>
                        </a:spcAft>
                      </a:pPr>
                      <a:r>
                        <a:rPr lang="en-US" sz="1200" kern="100">
                          <a:effectLst/>
                        </a:rPr>
                        <a:t>57.61</a:t>
                      </a:r>
                      <a:endParaRPr lang="zh-CN" sz="18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36195" marR="3619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60"/>
                        </a:spcBef>
                        <a:spcAft>
                          <a:spcPts val="360"/>
                        </a:spcAft>
                      </a:pPr>
                      <a:r>
                        <a:rPr lang="en-US" sz="1200" kern="100">
                          <a:effectLst/>
                        </a:rPr>
                        <a:t>33.53</a:t>
                      </a:r>
                      <a:endParaRPr lang="zh-CN" sz="18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36195" marR="3619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60"/>
                        </a:spcBef>
                        <a:spcAft>
                          <a:spcPts val="360"/>
                        </a:spcAft>
                      </a:pPr>
                      <a:r>
                        <a:rPr lang="en-US" sz="1200" kern="100">
                          <a:effectLst/>
                        </a:rPr>
                        <a:t>65.59</a:t>
                      </a:r>
                      <a:endParaRPr lang="zh-CN" sz="18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36195" marR="3619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60"/>
                        </a:spcBef>
                        <a:spcAft>
                          <a:spcPts val="360"/>
                        </a:spcAft>
                      </a:pPr>
                      <a:r>
                        <a:rPr lang="en-US" sz="1200" kern="100">
                          <a:effectLst/>
                        </a:rPr>
                        <a:t>44.67</a:t>
                      </a:r>
                      <a:endParaRPr lang="zh-CN" sz="18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36195" marR="3619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60"/>
                        </a:spcBef>
                        <a:spcAft>
                          <a:spcPts val="360"/>
                        </a:spcAft>
                      </a:pPr>
                      <a:r>
                        <a:rPr lang="en-US" sz="1200" kern="100">
                          <a:effectLst/>
                        </a:rPr>
                        <a:t>59.84</a:t>
                      </a:r>
                      <a:endParaRPr lang="zh-CN" sz="18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36195" marR="3619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60"/>
                        </a:spcBef>
                        <a:spcAft>
                          <a:spcPts val="360"/>
                        </a:spcAft>
                      </a:pPr>
                      <a:r>
                        <a:rPr lang="en-US" sz="1200" kern="100">
                          <a:effectLst/>
                        </a:rPr>
                        <a:t>28.87</a:t>
                      </a:r>
                      <a:endParaRPr lang="zh-CN" sz="18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36195" marR="3619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60"/>
                        </a:spcBef>
                        <a:spcAft>
                          <a:spcPts val="360"/>
                        </a:spcAft>
                      </a:pPr>
                      <a:r>
                        <a:rPr lang="en-US" sz="1200" kern="100">
                          <a:effectLst/>
                        </a:rPr>
                        <a:t>48.68</a:t>
                      </a:r>
                      <a:endParaRPr lang="zh-CN" sz="18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36195" marR="3619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60"/>
                        </a:spcBef>
                        <a:spcAft>
                          <a:spcPts val="360"/>
                        </a:spcAft>
                      </a:pPr>
                      <a:r>
                        <a:rPr lang="en-US" sz="1200" kern="100">
                          <a:effectLst/>
                        </a:rPr>
                        <a:t>55.68</a:t>
                      </a:r>
                      <a:endParaRPr lang="zh-CN" sz="18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36195" marR="3619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60"/>
                        </a:spcBef>
                        <a:spcAft>
                          <a:spcPts val="360"/>
                        </a:spcAft>
                      </a:pPr>
                      <a:r>
                        <a:rPr lang="en-US" sz="1200" kern="100">
                          <a:effectLst/>
                        </a:rPr>
                        <a:t>58.63</a:t>
                      </a:r>
                      <a:endParaRPr lang="zh-CN" sz="18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36195" marR="3619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60"/>
                        </a:spcBef>
                        <a:spcAft>
                          <a:spcPts val="360"/>
                        </a:spcAft>
                      </a:pPr>
                      <a:r>
                        <a:rPr lang="en-US" sz="1200" kern="100">
                          <a:effectLst/>
                        </a:rPr>
                        <a:t>47.93</a:t>
                      </a:r>
                      <a:endParaRPr lang="zh-CN" sz="18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36195" marR="3619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60"/>
                        </a:spcBef>
                        <a:spcAft>
                          <a:spcPts val="360"/>
                        </a:spcAft>
                      </a:pPr>
                      <a:r>
                        <a:rPr lang="en-US" sz="1200" kern="100">
                          <a:effectLst/>
                        </a:rPr>
                        <a:t>69.52</a:t>
                      </a:r>
                      <a:endParaRPr lang="zh-CN" sz="18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36195" marR="3619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60"/>
                        </a:spcBef>
                        <a:spcAft>
                          <a:spcPts val="360"/>
                        </a:spcAft>
                      </a:pPr>
                      <a:r>
                        <a:rPr lang="en-US" sz="1200" kern="100">
                          <a:effectLst/>
                        </a:rPr>
                        <a:t>47.17</a:t>
                      </a:r>
                      <a:endParaRPr lang="zh-CN" sz="18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36195" marR="3619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60"/>
                        </a:spcBef>
                        <a:spcAft>
                          <a:spcPts val="360"/>
                        </a:spcAft>
                      </a:pPr>
                      <a:r>
                        <a:rPr lang="en-US" sz="1200" kern="100">
                          <a:effectLst/>
                        </a:rPr>
                        <a:t>36.04</a:t>
                      </a:r>
                      <a:endParaRPr lang="zh-CN" sz="18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36195" marR="36195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algn="ctr">
                        <a:spcBef>
                          <a:spcPts val="360"/>
                        </a:spcBef>
                        <a:spcAft>
                          <a:spcPts val="360"/>
                        </a:spcAft>
                      </a:pPr>
                      <a:r>
                        <a:rPr lang="en-US" sz="1200" kern="100">
                          <a:effectLst/>
                        </a:rPr>
                        <a:t>48.99</a:t>
                      </a:r>
                      <a:endParaRPr lang="zh-CN" sz="18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36195" marR="3619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60"/>
                        </a:spcBef>
                        <a:spcAft>
                          <a:spcPts val="360"/>
                        </a:spcAft>
                      </a:pPr>
                      <a:r>
                        <a:rPr lang="en-US" sz="1200" kern="100">
                          <a:effectLst/>
                        </a:rPr>
                        <a:t>64.95</a:t>
                      </a:r>
                      <a:endParaRPr lang="zh-CN" sz="18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36195" marR="3619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60"/>
                        </a:spcBef>
                        <a:spcAft>
                          <a:spcPts val="360"/>
                        </a:spcAft>
                      </a:pPr>
                      <a:r>
                        <a:rPr lang="en-US" sz="1200" kern="100">
                          <a:effectLst/>
                        </a:rPr>
                        <a:t>42.70</a:t>
                      </a:r>
                      <a:endParaRPr lang="zh-CN" sz="18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36195" marR="3619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60"/>
                        </a:spcBef>
                        <a:spcAft>
                          <a:spcPts val="360"/>
                        </a:spcAft>
                      </a:pPr>
                      <a:r>
                        <a:rPr lang="en-US" sz="1200" kern="100">
                          <a:effectLst/>
                        </a:rPr>
                        <a:t>63.74</a:t>
                      </a:r>
                      <a:endParaRPr lang="zh-CN" sz="18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36195" marR="3619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60"/>
                        </a:spcBef>
                        <a:spcAft>
                          <a:spcPts val="360"/>
                        </a:spcAft>
                      </a:pPr>
                      <a:r>
                        <a:rPr lang="en-US" sz="1200" kern="100">
                          <a:effectLst/>
                        </a:rPr>
                        <a:t>38.09</a:t>
                      </a:r>
                      <a:endParaRPr lang="zh-CN" sz="18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36195" marR="3619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60"/>
                        </a:spcBef>
                        <a:spcAft>
                          <a:spcPts val="360"/>
                        </a:spcAft>
                      </a:pPr>
                      <a:r>
                        <a:rPr lang="en-US" sz="1200" kern="100">
                          <a:effectLst/>
                        </a:rPr>
                        <a:t>44.96</a:t>
                      </a:r>
                      <a:endParaRPr lang="zh-CN" sz="18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36195" marR="3619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60"/>
                        </a:spcBef>
                        <a:spcAft>
                          <a:spcPts val="360"/>
                        </a:spcAft>
                      </a:pPr>
                      <a:r>
                        <a:rPr lang="en-US" sz="1200" kern="100">
                          <a:effectLst/>
                        </a:rPr>
                        <a:t>80.03</a:t>
                      </a:r>
                      <a:endParaRPr lang="zh-CN" sz="18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36195" marR="3619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60"/>
                        </a:spcBef>
                        <a:spcAft>
                          <a:spcPts val="360"/>
                        </a:spcAft>
                      </a:pPr>
                      <a:r>
                        <a:rPr lang="en-US" sz="1200" kern="100">
                          <a:effectLst/>
                        </a:rPr>
                        <a:t>51.90</a:t>
                      </a:r>
                      <a:endParaRPr lang="zh-CN" sz="18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36195" marR="3619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60"/>
                        </a:spcBef>
                        <a:spcAft>
                          <a:spcPts val="360"/>
                        </a:spcAft>
                      </a:pPr>
                      <a:r>
                        <a:rPr lang="en-US" sz="1200" kern="100">
                          <a:effectLst/>
                        </a:rPr>
                        <a:t>51.09</a:t>
                      </a:r>
                      <a:endParaRPr lang="zh-CN" sz="18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36195" marR="3619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60"/>
                        </a:spcBef>
                        <a:spcAft>
                          <a:spcPts val="360"/>
                        </a:spcAft>
                      </a:pPr>
                      <a:r>
                        <a:rPr lang="en-US" sz="1200" kern="100">
                          <a:effectLst/>
                        </a:rPr>
                        <a:t>47.29</a:t>
                      </a:r>
                      <a:endParaRPr lang="zh-CN" sz="18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36195" marR="3619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60"/>
                        </a:spcBef>
                        <a:spcAft>
                          <a:spcPts val="360"/>
                        </a:spcAft>
                      </a:pPr>
                      <a:r>
                        <a:rPr lang="en-US" sz="1200" kern="100">
                          <a:effectLst/>
                        </a:rPr>
                        <a:t>77.77</a:t>
                      </a:r>
                      <a:endParaRPr lang="zh-CN" sz="18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36195" marR="3619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60"/>
                        </a:spcBef>
                        <a:spcAft>
                          <a:spcPts val="360"/>
                        </a:spcAft>
                      </a:pPr>
                      <a:r>
                        <a:rPr lang="en-US" sz="1200" kern="100">
                          <a:effectLst/>
                        </a:rPr>
                        <a:t>36.63</a:t>
                      </a:r>
                      <a:endParaRPr lang="zh-CN" sz="18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36195" marR="3619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60"/>
                        </a:spcBef>
                        <a:spcAft>
                          <a:spcPts val="360"/>
                        </a:spcAft>
                      </a:pPr>
                      <a:r>
                        <a:rPr lang="en-US" sz="1200" kern="100">
                          <a:effectLst/>
                        </a:rPr>
                        <a:t>58.34</a:t>
                      </a:r>
                      <a:endParaRPr lang="zh-CN" sz="18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36195" marR="3619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60"/>
                        </a:spcBef>
                        <a:spcAft>
                          <a:spcPts val="360"/>
                        </a:spcAft>
                      </a:pPr>
                      <a:r>
                        <a:rPr lang="en-US" sz="1200" kern="100">
                          <a:effectLst/>
                        </a:rPr>
                        <a:t>45.19</a:t>
                      </a:r>
                      <a:endParaRPr lang="zh-CN" sz="18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36195" marR="3619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60"/>
                        </a:spcBef>
                        <a:spcAft>
                          <a:spcPts val="360"/>
                        </a:spcAft>
                      </a:pPr>
                      <a:r>
                        <a:rPr lang="en-US" sz="1200" kern="100">
                          <a:effectLst/>
                        </a:rPr>
                        <a:t>58.30</a:t>
                      </a:r>
                      <a:endParaRPr lang="zh-CN" sz="18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36195" marR="3619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60"/>
                        </a:spcBef>
                        <a:spcAft>
                          <a:spcPts val="360"/>
                        </a:spcAft>
                      </a:pPr>
                      <a:r>
                        <a:rPr lang="en-US" sz="1200" kern="100">
                          <a:effectLst/>
                        </a:rPr>
                        <a:t>45.38</a:t>
                      </a:r>
                      <a:endParaRPr lang="zh-CN" sz="18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36195" marR="36195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algn="ctr">
                        <a:spcBef>
                          <a:spcPts val="360"/>
                        </a:spcBef>
                        <a:spcAft>
                          <a:spcPts val="360"/>
                        </a:spcAft>
                      </a:pPr>
                      <a:r>
                        <a:rPr lang="en-US" sz="1200" kern="100">
                          <a:effectLst/>
                        </a:rPr>
                        <a:t>66.12</a:t>
                      </a:r>
                      <a:endParaRPr lang="zh-CN" sz="18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36195" marR="3619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60"/>
                        </a:spcBef>
                        <a:spcAft>
                          <a:spcPts val="360"/>
                        </a:spcAft>
                      </a:pPr>
                      <a:r>
                        <a:rPr lang="en-US" sz="1200" kern="100">
                          <a:effectLst/>
                        </a:rPr>
                        <a:t>54.08</a:t>
                      </a:r>
                      <a:endParaRPr lang="zh-CN" sz="18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36195" marR="3619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60"/>
                        </a:spcBef>
                        <a:spcAft>
                          <a:spcPts val="360"/>
                        </a:spcAft>
                      </a:pPr>
                      <a:r>
                        <a:rPr lang="en-US" sz="1200" kern="100">
                          <a:effectLst/>
                        </a:rPr>
                        <a:t>60.52</a:t>
                      </a:r>
                      <a:endParaRPr lang="zh-CN" sz="18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36195" marR="3619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60"/>
                        </a:spcBef>
                        <a:spcAft>
                          <a:spcPts val="360"/>
                        </a:spcAft>
                      </a:pPr>
                      <a:r>
                        <a:rPr lang="en-US" sz="1200" kern="100">
                          <a:effectLst/>
                        </a:rPr>
                        <a:t>57.94</a:t>
                      </a:r>
                      <a:endParaRPr lang="zh-CN" sz="18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36195" marR="3619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60"/>
                        </a:spcBef>
                        <a:spcAft>
                          <a:spcPts val="360"/>
                        </a:spcAft>
                      </a:pPr>
                      <a:r>
                        <a:rPr lang="en-US" sz="1200" kern="100">
                          <a:effectLst/>
                        </a:rPr>
                        <a:t>37.04</a:t>
                      </a:r>
                      <a:endParaRPr lang="zh-CN" sz="18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36195" marR="3619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60"/>
                        </a:spcBef>
                        <a:spcAft>
                          <a:spcPts val="360"/>
                        </a:spcAft>
                      </a:pPr>
                      <a:r>
                        <a:rPr lang="en-US" sz="1200" kern="100">
                          <a:effectLst/>
                        </a:rPr>
                        <a:t>66.91</a:t>
                      </a:r>
                      <a:endParaRPr lang="zh-CN" sz="18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36195" marR="3619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60"/>
                        </a:spcBef>
                        <a:spcAft>
                          <a:spcPts val="360"/>
                        </a:spcAft>
                      </a:pPr>
                      <a:r>
                        <a:rPr lang="en-US" sz="1200" kern="100">
                          <a:effectLst/>
                        </a:rPr>
                        <a:t>71.11</a:t>
                      </a:r>
                      <a:endParaRPr lang="zh-CN" sz="18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36195" marR="3619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60"/>
                        </a:spcBef>
                        <a:spcAft>
                          <a:spcPts val="360"/>
                        </a:spcAft>
                      </a:pPr>
                      <a:r>
                        <a:rPr lang="en-US" sz="1200" kern="100">
                          <a:effectLst/>
                        </a:rPr>
                        <a:t>51.32</a:t>
                      </a:r>
                      <a:endParaRPr lang="zh-CN" sz="18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36195" marR="3619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60"/>
                        </a:spcBef>
                        <a:spcAft>
                          <a:spcPts val="360"/>
                        </a:spcAft>
                      </a:pPr>
                      <a:r>
                        <a:rPr lang="en-US" sz="1200" kern="100">
                          <a:effectLst/>
                        </a:rPr>
                        <a:t>69.47</a:t>
                      </a:r>
                      <a:endParaRPr lang="zh-CN" sz="18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36195" marR="3619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60"/>
                        </a:spcBef>
                        <a:spcAft>
                          <a:spcPts val="360"/>
                        </a:spcAft>
                      </a:pPr>
                      <a:r>
                        <a:rPr lang="en-US" sz="1200" kern="100">
                          <a:effectLst/>
                        </a:rPr>
                        <a:t>25.14</a:t>
                      </a:r>
                      <a:endParaRPr lang="zh-CN" sz="18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36195" marR="3619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60"/>
                        </a:spcBef>
                        <a:spcAft>
                          <a:spcPts val="360"/>
                        </a:spcAft>
                      </a:pPr>
                      <a:r>
                        <a:rPr lang="en-US" sz="1200" kern="100">
                          <a:effectLst/>
                        </a:rPr>
                        <a:t>45.20</a:t>
                      </a:r>
                      <a:endParaRPr lang="zh-CN" sz="18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36195" marR="3619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60"/>
                        </a:spcBef>
                        <a:spcAft>
                          <a:spcPts val="360"/>
                        </a:spcAft>
                      </a:pPr>
                      <a:r>
                        <a:rPr lang="en-US" sz="1200" kern="100">
                          <a:effectLst/>
                        </a:rPr>
                        <a:t>46.78</a:t>
                      </a:r>
                      <a:endParaRPr lang="zh-CN" sz="18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36195" marR="3619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60"/>
                        </a:spcBef>
                        <a:spcAft>
                          <a:spcPts val="360"/>
                        </a:spcAft>
                      </a:pPr>
                      <a:r>
                        <a:rPr lang="en-US" sz="1200" kern="100">
                          <a:effectLst/>
                        </a:rPr>
                        <a:t>53.64</a:t>
                      </a:r>
                      <a:endParaRPr lang="zh-CN" sz="18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36195" marR="3619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60"/>
                        </a:spcBef>
                        <a:spcAft>
                          <a:spcPts val="360"/>
                        </a:spcAft>
                      </a:pPr>
                      <a:r>
                        <a:rPr lang="en-US" sz="1200" kern="100">
                          <a:effectLst/>
                        </a:rPr>
                        <a:t>47.56</a:t>
                      </a:r>
                      <a:endParaRPr lang="zh-CN" sz="18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36195" marR="3619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60"/>
                        </a:spcBef>
                        <a:spcAft>
                          <a:spcPts val="360"/>
                        </a:spcAft>
                      </a:pPr>
                      <a:r>
                        <a:rPr lang="en-US" sz="1200" kern="100">
                          <a:effectLst/>
                        </a:rPr>
                        <a:t>70.21</a:t>
                      </a:r>
                      <a:endParaRPr lang="zh-CN" sz="18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36195" marR="3619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60"/>
                        </a:spcBef>
                        <a:spcAft>
                          <a:spcPts val="360"/>
                        </a:spcAft>
                      </a:pPr>
                      <a:r>
                        <a:rPr lang="en-US" sz="1200" kern="100">
                          <a:effectLst/>
                        </a:rPr>
                        <a:t>58.27</a:t>
                      </a:r>
                      <a:endParaRPr lang="zh-CN" sz="18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36195" marR="36195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algn="ctr">
                        <a:spcBef>
                          <a:spcPts val="360"/>
                        </a:spcBef>
                        <a:spcAft>
                          <a:spcPts val="360"/>
                        </a:spcAft>
                      </a:pPr>
                      <a:r>
                        <a:rPr lang="en-US" sz="1200" kern="100">
                          <a:effectLst/>
                        </a:rPr>
                        <a:t>45.59</a:t>
                      </a:r>
                      <a:endParaRPr lang="zh-CN" sz="18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36195" marR="3619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60"/>
                        </a:spcBef>
                        <a:spcAft>
                          <a:spcPts val="360"/>
                        </a:spcAft>
                      </a:pPr>
                      <a:r>
                        <a:rPr lang="en-US" sz="1200" kern="100">
                          <a:effectLst/>
                        </a:rPr>
                        <a:t>50.12</a:t>
                      </a:r>
                      <a:endParaRPr lang="zh-CN" sz="18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36195" marR="3619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60"/>
                        </a:spcBef>
                        <a:spcAft>
                          <a:spcPts val="360"/>
                        </a:spcAft>
                      </a:pPr>
                      <a:r>
                        <a:rPr lang="en-US" sz="1200" kern="100">
                          <a:effectLst/>
                        </a:rPr>
                        <a:t>52.07</a:t>
                      </a:r>
                      <a:endParaRPr lang="zh-CN" sz="18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36195" marR="3619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60"/>
                        </a:spcBef>
                        <a:spcAft>
                          <a:spcPts val="360"/>
                        </a:spcAft>
                      </a:pPr>
                      <a:r>
                        <a:rPr lang="en-US" sz="1200" kern="100">
                          <a:effectLst/>
                        </a:rPr>
                        <a:t>42.50</a:t>
                      </a:r>
                      <a:endParaRPr lang="zh-CN" sz="18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36195" marR="3619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60"/>
                        </a:spcBef>
                        <a:spcAft>
                          <a:spcPts val="360"/>
                        </a:spcAft>
                      </a:pPr>
                      <a:r>
                        <a:rPr lang="en-US" sz="1200" kern="100">
                          <a:effectLst/>
                        </a:rPr>
                        <a:t>38.78</a:t>
                      </a:r>
                      <a:endParaRPr lang="zh-CN" sz="18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36195" marR="3619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60"/>
                        </a:spcBef>
                        <a:spcAft>
                          <a:spcPts val="360"/>
                        </a:spcAft>
                      </a:pPr>
                      <a:r>
                        <a:rPr lang="en-US" sz="1200" kern="100">
                          <a:effectLst/>
                        </a:rPr>
                        <a:t>49.46</a:t>
                      </a:r>
                      <a:endParaRPr lang="zh-CN" sz="18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36195" marR="3619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60"/>
                        </a:spcBef>
                        <a:spcAft>
                          <a:spcPts val="360"/>
                        </a:spcAft>
                      </a:pPr>
                      <a:r>
                        <a:rPr lang="en-US" sz="1200" kern="100">
                          <a:effectLst/>
                        </a:rPr>
                        <a:t>33.46</a:t>
                      </a:r>
                      <a:endParaRPr lang="zh-CN" sz="18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36195" marR="3619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60"/>
                        </a:spcBef>
                        <a:spcAft>
                          <a:spcPts val="360"/>
                        </a:spcAft>
                      </a:pPr>
                      <a:r>
                        <a:rPr lang="en-US" sz="1200" kern="100">
                          <a:effectLst/>
                        </a:rPr>
                        <a:t>59.97</a:t>
                      </a:r>
                      <a:endParaRPr lang="zh-CN" sz="18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36195" marR="3619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60"/>
                        </a:spcBef>
                        <a:spcAft>
                          <a:spcPts val="360"/>
                        </a:spcAft>
                      </a:pPr>
                      <a:r>
                        <a:rPr lang="en-US" sz="1200" kern="100">
                          <a:effectLst/>
                        </a:rPr>
                        <a:t>37.11</a:t>
                      </a:r>
                      <a:endParaRPr lang="zh-CN" sz="18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36195" marR="3619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60"/>
                        </a:spcBef>
                        <a:spcAft>
                          <a:spcPts val="360"/>
                        </a:spcAft>
                      </a:pPr>
                      <a:r>
                        <a:rPr lang="en-US" sz="1200" kern="100">
                          <a:effectLst/>
                        </a:rPr>
                        <a:t>38.90</a:t>
                      </a:r>
                      <a:endParaRPr lang="zh-CN" sz="18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36195" marR="3619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60"/>
                        </a:spcBef>
                        <a:spcAft>
                          <a:spcPts val="360"/>
                        </a:spcAft>
                      </a:pPr>
                      <a:r>
                        <a:rPr lang="en-US" sz="1200" kern="100">
                          <a:effectLst/>
                        </a:rPr>
                        <a:t>41.46</a:t>
                      </a:r>
                      <a:endParaRPr lang="zh-CN" sz="18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36195" marR="3619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60"/>
                        </a:spcBef>
                        <a:spcAft>
                          <a:spcPts val="360"/>
                        </a:spcAft>
                      </a:pPr>
                      <a:r>
                        <a:rPr lang="en-US" sz="1200" kern="100">
                          <a:effectLst/>
                        </a:rPr>
                        <a:t>32.07</a:t>
                      </a:r>
                      <a:endParaRPr lang="zh-CN" sz="18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36195" marR="3619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60"/>
                        </a:spcBef>
                        <a:spcAft>
                          <a:spcPts val="360"/>
                        </a:spcAft>
                      </a:pPr>
                      <a:r>
                        <a:rPr lang="en-US" sz="1200" kern="100">
                          <a:effectLst/>
                        </a:rPr>
                        <a:t>44.29</a:t>
                      </a:r>
                      <a:endParaRPr lang="zh-CN" sz="18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36195" marR="3619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60"/>
                        </a:spcBef>
                        <a:spcAft>
                          <a:spcPts val="360"/>
                        </a:spcAft>
                      </a:pPr>
                      <a:r>
                        <a:rPr lang="en-US" sz="1200" kern="100">
                          <a:effectLst/>
                        </a:rPr>
                        <a:t>53.83</a:t>
                      </a:r>
                      <a:endParaRPr lang="zh-CN" sz="18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36195" marR="3619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60"/>
                        </a:spcBef>
                        <a:spcAft>
                          <a:spcPts val="360"/>
                        </a:spcAft>
                      </a:pPr>
                      <a:r>
                        <a:rPr lang="en-US" sz="1200" kern="100">
                          <a:effectLst/>
                        </a:rPr>
                        <a:t>52.64</a:t>
                      </a:r>
                      <a:endParaRPr lang="zh-CN" sz="18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36195" marR="3619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60"/>
                        </a:spcBef>
                        <a:spcAft>
                          <a:spcPts val="360"/>
                        </a:spcAft>
                      </a:pPr>
                      <a:r>
                        <a:rPr lang="en-US" sz="1200" kern="100">
                          <a:effectLst/>
                        </a:rPr>
                        <a:t>36.56</a:t>
                      </a:r>
                      <a:endParaRPr lang="zh-CN" sz="18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36195" marR="36195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algn="ctr">
                        <a:spcBef>
                          <a:spcPts val="360"/>
                        </a:spcBef>
                        <a:spcAft>
                          <a:spcPts val="360"/>
                        </a:spcAft>
                      </a:pPr>
                      <a:r>
                        <a:rPr lang="en-US" sz="1200" kern="100">
                          <a:effectLst/>
                        </a:rPr>
                        <a:t>55.31</a:t>
                      </a:r>
                      <a:endParaRPr lang="zh-CN" sz="18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36195" marR="3619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60"/>
                        </a:spcBef>
                        <a:spcAft>
                          <a:spcPts val="360"/>
                        </a:spcAft>
                      </a:pPr>
                      <a:r>
                        <a:rPr lang="en-US" sz="1200" kern="100">
                          <a:effectLst/>
                        </a:rPr>
                        <a:t>47.66</a:t>
                      </a:r>
                      <a:endParaRPr lang="zh-CN" sz="18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36195" marR="3619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60"/>
                        </a:spcBef>
                        <a:spcAft>
                          <a:spcPts val="360"/>
                        </a:spcAft>
                      </a:pPr>
                      <a:r>
                        <a:rPr lang="en-US" sz="1200" kern="100">
                          <a:effectLst/>
                        </a:rPr>
                        <a:t>42.14</a:t>
                      </a:r>
                      <a:endParaRPr lang="zh-CN" sz="18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36195" marR="3619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60"/>
                        </a:spcBef>
                        <a:spcAft>
                          <a:spcPts val="360"/>
                        </a:spcAft>
                      </a:pPr>
                      <a:r>
                        <a:rPr lang="en-US" sz="1200" kern="100">
                          <a:effectLst/>
                        </a:rPr>
                        <a:t>47.59</a:t>
                      </a:r>
                      <a:endParaRPr lang="zh-CN" sz="18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36195" marR="3619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60"/>
                        </a:spcBef>
                        <a:spcAft>
                          <a:spcPts val="360"/>
                        </a:spcAft>
                      </a:pPr>
                      <a:r>
                        <a:rPr lang="en-US" sz="1200" kern="100">
                          <a:effectLst/>
                        </a:rPr>
                        <a:t>44.55</a:t>
                      </a:r>
                      <a:endParaRPr lang="zh-CN" sz="18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36195" marR="3619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60"/>
                        </a:spcBef>
                        <a:spcAft>
                          <a:spcPts val="360"/>
                        </a:spcAft>
                      </a:pPr>
                      <a:r>
                        <a:rPr lang="en-US" sz="1200" kern="100">
                          <a:effectLst/>
                        </a:rPr>
                        <a:t>49.34</a:t>
                      </a:r>
                      <a:endParaRPr lang="zh-CN" sz="18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36195" marR="3619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60"/>
                        </a:spcBef>
                        <a:spcAft>
                          <a:spcPts val="360"/>
                        </a:spcAft>
                      </a:pPr>
                      <a:r>
                        <a:rPr lang="en-US" sz="1200" kern="100">
                          <a:effectLst/>
                        </a:rPr>
                        <a:t>63.19</a:t>
                      </a:r>
                      <a:endParaRPr lang="zh-CN" sz="18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36195" marR="3619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60"/>
                        </a:spcBef>
                        <a:spcAft>
                          <a:spcPts val="360"/>
                        </a:spcAft>
                      </a:pPr>
                      <a:r>
                        <a:rPr lang="en-US" sz="1200" kern="100">
                          <a:effectLst/>
                        </a:rPr>
                        <a:t>51.11</a:t>
                      </a:r>
                      <a:endParaRPr lang="zh-CN" sz="18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36195" marR="3619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60"/>
                        </a:spcBef>
                        <a:spcAft>
                          <a:spcPts val="360"/>
                        </a:spcAft>
                      </a:pPr>
                      <a:r>
                        <a:rPr lang="en-US" sz="1200" kern="100">
                          <a:effectLst/>
                        </a:rPr>
                        <a:t>42.07</a:t>
                      </a:r>
                      <a:endParaRPr lang="zh-CN" sz="18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36195" marR="3619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60"/>
                        </a:spcBef>
                        <a:spcAft>
                          <a:spcPts val="360"/>
                        </a:spcAft>
                      </a:pPr>
                      <a:r>
                        <a:rPr lang="en-US" sz="1200" kern="100">
                          <a:effectLst/>
                        </a:rPr>
                        <a:t>61.76</a:t>
                      </a:r>
                      <a:endParaRPr lang="zh-CN" sz="18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36195" marR="3619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60"/>
                        </a:spcBef>
                        <a:spcAft>
                          <a:spcPts val="360"/>
                        </a:spcAft>
                      </a:pPr>
                      <a:r>
                        <a:rPr lang="en-US" sz="1200" kern="100">
                          <a:effectLst/>
                        </a:rPr>
                        <a:t>55.06</a:t>
                      </a:r>
                      <a:endParaRPr lang="zh-CN" sz="18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36195" marR="3619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60"/>
                        </a:spcBef>
                        <a:spcAft>
                          <a:spcPts val="360"/>
                        </a:spcAft>
                      </a:pPr>
                      <a:r>
                        <a:rPr lang="en-US" sz="1200" kern="100">
                          <a:effectLst/>
                        </a:rPr>
                        <a:t>58.83</a:t>
                      </a:r>
                      <a:endParaRPr lang="zh-CN" sz="18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36195" marR="3619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60"/>
                        </a:spcBef>
                        <a:spcAft>
                          <a:spcPts val="360"/>
                        </a:spcAft>
                      </a:pPr>
                      <a:r>
                        <a:rPr lang="en-US" sz="1200" kern="100">
                          <a:effectLst/>
                        </a:rPr>
                        <a:t>51.48</a:t>
                      </a:r>
                      <a:endParaRPr lang="zh-CN" sz="18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36195" marR="3619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60"/>
                        </a:spcBef>
                        <a:spcAft>
                          <a:spcPts val="360"/>
                        </a:spcAft>
                      </a:pPr>
                      <a:r>
                        <a:rPr lang="en-US" sz="1200" kern="100">
                          <a:effectLst/>
                        </a:rPr>
                        <a:t>31.60</a:t>
                      </a:r>
                      <a:endParaRPr lang="zh-CN" sz="18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36195" marR="3619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60"/>
                        </a:spcBef>
                        <a:spcAft>
                          <a:spcPts val="360"/>
                        </a:spcAft>
                      </a:pPr>
                      <a:r>
                        <a:rPr lang="en-US" sz="1200" kern="100">
                          <a:effectLst/>
                        </a:rPr>
                        <a:t>50.23</a:t>
                      </a:r>
                      <a:endParaRPr lang="zh-CN" sz="18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36195" marR="3619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60"/>
                        </a:spcBef>
                        <a:spcAft>
                          <a:spcPts val="360"/>
                        </a:spcAft>
                      </a:pPr>
                      <a:r>
                        <a:rPr lang="en-US" sz="1200" kern="100">
                          <a:effectLst/>
                        </a:rPr>
                        <a:t>54.03</a:t>
                      </a:r>
                      <a:endParaRPr lang="zh-CN" sz="18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36195" marR="36195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algn="ctr">
                        <a:spcBef>
                          <a:spcPts val="360"/>
                        </a:spcBef>
                        <a:spcAft>
                          <a:spcPts val="360"/>
                        </a:spcAft>
                      </a:pPr>
                      <a:r>
                        <a:rPr lang="en-US" sz="1200" kern="100">
                          <a:effectLst/>
                        </a:rPr>
                        <a:t>33.29</a:t>
                      </a:r>
                      <a:endParaRPr lang="zh-CN" sz="18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36195" marR="3619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60"/>
                        </a:spcBef>
                        <a:spcAft>
                          <a:spcPts val="360"/>
                        </a:spcAft>
                      </a:pPr>
                      <a:r>
                        <a:rPr lang="en-US" sz="1200" kern="100">
                          <a:effectLst/>
                        </a:rPr>
                        <a:t>40.84</a:t>
                      </a:r>
                      <a:endParaRPr lang="zh-CN" sz="18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36195" marR="3619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60"/>
                        </a:spcBef>
                        <a:spcAft>
                          <a:spcPts val="360"/>
                        </a:spcAft>
                      </a:pPr>
                      <a:r>
                        <a:rPr lang="en-US" sz="1200" kern="100">
                          <a:effectLst/>
                        </a:rPr>
                        <a:t>56.99</a:t>
                      </a:r>
                      <a:endParaRPr lang="zh-CN" sz="18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36195" marR="3619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60"/>
                        </a:spcBef>
                        <a:spcAft>
                          <a:spcPts val="360"/>
                        </a:spcAft>
                      </a:pPr>
                      <a:r>
                        <a:rPr lang="en-US" sz="1200" kern="100">
                          <a:effectLst/>
                        </a:rPr>
                        <a:t>46.81</a:t>
                      </a:r>
                      <a:endParaRPr lang="zh-CN" sz="18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36195" marR="3619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60"/>
                        </a:spcBef>
                        <a:spcAft>
                          <a:spcPts val="360"/>
                        </a:spcAft>
                      </a:pPr>
                      <a:r>
                        <a:rPr lang="en-US" sz="1200" kern="100">
                          <a:effectLst/>
                        </a:rPr>
                        <a:t>54.06</a:t>
                      </a:r>
                      <a:endParaRPr lang="zh-CN" sz="18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36195" marR="3619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60"/>
                        </a:spcBef>
                        <a:spcAft>
                          <a:spcPts val="360"/>
                        </a:spcAft>
                      </a:pPr>
                      <a:r>
                        <a:rPr lang="en-US" sz="1200" kern="100">
                          <a:effectLst/>
                        </a:rPr>
                        <a:t>35.87</a:t>
                      </a:r>
                      <a:endParaRPr lang="zh-CN" sz="18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36195" marR="3619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60"/>
                        </a:spcBef>
                        <a:spcAft>
                          <a:spcPts val="360"/>
                        </a:spcAft>
                      </a:pPr>
                      <a:r>
                        <a:rPr lang="en-US" sz="1200" kern="100">
                          <a:effectLst/>
                        </a:rPr>
                        <a:t>51.09</a:t>
                      </a:r>
                      <a:endParaRPr lang="zh-CN" sz="18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36195" marR="3619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60"/>
                        </a:spcBef>
                        <a:spcAft>
                          <a:spcPts val="360"/>
                        </a:spcAft>
                      </a:pPr>
                      <a:r>
                        <a:rPr lang="en-US" sz="1200" kern="100">
                          <a:effectLst/>
                        </a:rPr>
                        <a:t>39.95</a:t>
                      </a:r>
                      <a:endParaRPr lang="zh-CN" sz="18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36195" marR="3619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60"/>
                        </a:spcBef>
                        <a:spcAft>
                          <a:spcPts val="360"/>
                        </a:spcAft>
                      </a:pPr>
                      <a:r>
                        <a:rPr lang="en-US" sz="1200" kern="100">
                          <a:effectLst/>
                        </a:rPr>
                        <a:t>35.61</a:t>
                      </a:r>
                      <a:endParaRPr lang="zh-CN" sz="18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36195" marR="3619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60"/>
                        </a:spcBef>
                        <a:spcAft>
                          <a:spcPts val="360"/>
                        </a:spcAft>
                      </a:pPr>
                      <a:r>
                        <a:rPr lang="en-US" sz="1200" kern="100">
                          <a:effectLst/>
                        </a:rPr>
                        <a:t>48.51</a:t>
                      </a:r>
                      <a:endParaRPr lang="zh-CN" sz="18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36195" marR="3619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60"/>
                        </a:spcBef>
                        <a:spcAft>
                          <a:spcPts val="360"/>
                        </a:spcAft>
                      </a:pPr>
                      <a:r>
                        <a:rPr lang="en-US" sz="1200" kern="100">
                          <a:effectLst/>
                        </a:rPr>
                        <a:t>65.59</a:t>
                      </a:r>
                      <a:endParaRPr lang="zh-CN" sz="18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36195" marR="3619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60"/>
                        </a:spcBef>
                        <a:spcAft>
                          <a:spcPts val="360"/>
                        </a:spcAft>
                      </a:pPr>
                      <a:r>
                        <a:rPr lang="en-US" sz="1200" kern="100">
                          <a:effectLst/>
                        </a:rPr>
                        <a:t>69.56</a:t>
                      </a:r>
                      <a:endParaRPr lang="zh-CN" sz="18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36195" marR="3619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60"/>
                        </a:spcBef>
                        <a:spcAft>
                          <a:spcPts val="360"/>
                        </a:spcAft>
                      </a:pPr>
                      <a:r>
                        <a:rPr lang="en-US" sz="1200" kern="100">
                          <a:effectLst/>
                        </a:rPr>
                        <a:t>49.23</a:t>
                      </a:r>
                      <a:endParaRPr lang="zh-CN" sz="18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36195" marR="3619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60"/>
                        </a:spcBef>
                        <a:spcAft>
                          <a:spcPts val="360"/>
                        </a:spcAft>
                      </a:pPr>
                      <a:r>
                        <a:rPr lang="en-US" sz="1200" kern="100">
                          <a:effectLst/>
                        </a:rPr>
                        <a:t>65.23</a:t>
                      </a:r>
                      <a:endParaRPr lang="zh-CN" sz="18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36195" marR="3619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60"/>
                        </a:spcBef>
                        <a:spcAft>
                          <a:spcPts val="360"/>
                        </a:spcAft>
                      </a:pPr>
                      <a:r>
                        <a:rPr lang="en-US" sz="1200" kern="100">
                          <a:effectLst/>
                        </a:rPr>
                        <a:t>27.98</a:t>
                      </a:r>
                      <a:endParaRPr lang="zh-CN" sz="18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36195" marR="3619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60"/>
                        </a:spcBef>
                        <a:spcAft>
                          <a:spcPts val="360"/>
                        </a:spcAft>
                      </a:pPr>
                      <a:r>
                        <a:rPr lang="en-US" sz="1200" kern="100">
                          <a:effectLst/>
                        </a:rPr>
                        <a:t>43.87</a:t>
                      </a:r>
                      <a:endParaRPr lang="zh-CN" sz="18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36195" marR="36195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algn="ctr">
                        <a:spcBef>
                          <a:spcPts val="360"/>
                        </a:spcBef>
                        <a:spcAft>
                          <a:spcPts val="360"/>
                        </a:spcAft>
                      </a:pPr>
                      <a:r>
                        <a:rPr lang="en-US" sz="1200" kern="100">
                          <a:effectLst/>
                        </a:rPr>
                        <a:t>52.05</a:t>
                      </a:r>
                      <a:endParaRPr lang="zh-CN" sz="18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36195" marR="3619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60"/>
                        </a:spcBef>
                        <a:spcAft>
                          <a:spcPts val="360"/>
                        </a:spcAft>
                      </a:pPr>
                      <a:r>
                        <a:rPr lang="en-US" sz="1200" kern="100">
                          <a:effectLst/>
                        </a:rPr>
                        <a:t>56.59</a:t>
                      </a:r>
                      <a:endParaRPr lang="zh-CN" sz="18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36195" marR="3619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60"/>
                        </a:spcBef>
                        <a:spcAft>
                          <a:spcPts val="360"/>
                        </a:spcAft>
                      </a:pPr>
                      <a:r>
                        <a:rPr lang="en-US" sz="1200" kern="100">
                          <a:effectLst/>
                        </a:rPr>
                        <a:t>61.17</a:t>
                      </a:r>
                      <a:endParaRPr lang="zh-CN" sz="18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36195" marR="3619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60"/>
                        </a:spcBef>
                        <a:spcAft>
                          <a:spcPts val="360"/>
                        </a:spcAft>
                      </a:pPr>
                      <a:r>
                        <a:rPr lang="en-US" sz="1200" kern="100">
                          <a:effectLst/>
                        </a:rPr>
                        <a:t>61.16</a:t>
                      </a:r>
                      <a:endParaRPr lang="zh-CN" sz="18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36195" marR="3619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60"/>
                        </a:spcBef>
                        <a:spcAft>
                          <a:spcPts val="360"/>
                        </a:spcAft>
                      </a:pPr>
                      <a:r>
                        <a:rPr lang="en-US" sz="1200" kern="100">
                          <a:effectLst/>
                        </a:rPr>
                        <a:t>52.10</a:t>
                      </a:r>
                      <a:endParaRPr lang="zh-CN" sz="18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36195" marR="3619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60"/>
                        </a:spcBef>
                        <a:spcAft>
                          <a:spcPts val="360"/>
                        </a:spcAft>
                      </a:pPr>
                      <a:r>
                        <a:rPr lang="en-US" sz="1200" kern="100">
                          <a:effectLst/>
                        </a:rPr>
                        <a:t>54.29</a:t>
                      </a:r>
                      <a:endParaRPr lang="zh-CN" sz="18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36195" marR="3619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60"/>
                        </a:spcBef>
                        <a:spcAft>
                          <a:spcPts val="360"/>
                        </a:spcAft>
                      </a:pPr>
                      <a:r>
                        <a:rPr lang="en-US" sz="1200" kern="100">
                          <a:effectLst/>
                        </a:rPr>
                        <a:t>50.21</a:t>
                      </a:r>
                      <a:endParaRPr lang="zh-CN" sz="18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36195" marR="3619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60"/>
                        </a:spcBef>
                        <a:spcAft>
                          <a:spcPts val="360"/>
                        </a:spcAft>
                      </a:pPr>
                      <a:r>
                        <a:rPr lang="en-US" sz="1200" kern="100">
                          <a:effectLst/>
                        </a:rPr>
                        <a:t>49.46</a:t>
                      </a:r>
                      <a:endParaRPr lang="zh-CN" sz="18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36195" marR="3619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60"/>
                        </a:spcBef>
                        <a:spcAft>
                          <a:spcPts val="360"/>
                        </a:spcAft>
                      </a:pPr>
                      <a:r>
                        <a:rPr lang="en-US" sz="1200" kern="100">
                          <a:effectLst/>
                        </a:rPr>
                        <a:t>58.45</a:t>
                      </a:r>
                      <a:endParaRPr lang="zh-CN" sz="18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36195" marR="3619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60"/>
                        </a:spcBef>
                        <a:spcAft>
                          <a:spcPts val="360"/>
                        </a:spcAft>
                      </a:pPr>
                      <a:r>
                        <a:rPr lang="en-US" sz="1200" kern="100">
                          <a:effectLst/>
                        </a:rPr>
                        <a:t>39.40</a:t>
                      </a:r>
                      <a:endParaRPr lang="zh-CN" sz="18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36195" marR="3619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60"/>
                        </a:spcBef>
                        <a:spcAft>
                          <a:spcPts val="360"/>
                        </a:spcAft>
                      </a:pPr>
                      <a:r>
                        <a:rPr lang="en-US" sz="1200" kern="100">
                          <a:effectLst/>
                        </a:rPr>
                        <a:t>41.01</a:t>
                      </a:r>
                      <a:endParaRPr lang="zh-CN" sz="18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36195" marR="3619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60"/>
                        </a:spcBef>
                        <a:spcAft>
                          <a:spcPts val="360"/>
                        </a:spcAft>
                      </a:pPr>
                      <a:r>
                        <a:rPr lang="en-US" sz="1200" kern="100">
                          <a:effectLst/>
                        </a:rPr>
                        <a:t>39.73</a:t>
                      </a:r>
                      <a:endParaRPr lang="zh-CN" sz="18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36195" marR="3619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60"/>
                        </a:spcBef>
                        <a:spcAft>
                          <a:spcPts val="360"/>
                        </a:spcAft>
                      </a:pPr>
                      <a:r>
                        <a:rPr lang="en-US" sz="1200" kern="100">
                          <a:effectLst/>
                        </a:rPr>
                        <a:t>61.67</a:t>
                      </a:r>
                      <a:endParaRPr lang="zh-CN" sz="18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36195" marR="3619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60"/>
                        </a:spcBef>
                        <a:spcAft>
                          <a:spcPts val="360"/>
                        </a:spcAft>
                      </a:pPr>
                      <a:r>
                        <a:rPr lang="en-US" sz="1200" kern="100">
                          <a:effectLst/>
                        </a:rPr>
                        <a:t>66.30</a:t>
                      </a:r>
                      <a:endParaRPr lang="zh-CN" sz="18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36195" marR="3619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60"/>
                        </a:spcBef>
                        <a:spcAft>
                          <a:spcPts val="360"/>
                        </a:spcAft>
                      </a:pPr>
                      <a:r>
                        <a:rPr lang="en-US" sz="1200" kern="100">
                          <a:effectLst/>
                        </a:rPr>
                        <a:t>50.75</a:t>
                      </a:r>
                      <a:endParaRPr lang="zh-CN" sz="18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36195" marR="3619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60"/>
                        </a:spcBef>
                        <a:spcAft>
                          <a:spcPts val="360"/>
                        </a:spcAft>
                      </a:pPr>
                      <a:r>
                        <a:rPr lang="en-US" sz="1200" kern="100">
                          <a:effectLst/>
                        </a:rPr>
                        <a:t>40.11</a:t>
                      </a:r>
                      <a:endParaRPr lang="zh-CN" sz="18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36195" marR="36195" marT="0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algn="ctr">
                        <a:spcBef>
                          <a:spcPts val="360"/>
                        </a:spcBef>
                        <a:spcAft>
                          <a:spcPts val="360"/>
                        </a:spcAft>
                      </a:pPr>
                      <a:r>
                        <a:rPr lang="en-US" sz="1200" kern="100">
                          <a:effectLst/>
                        </a:rPr>
                        <a:t>48.45</a:t>
                      </a:r>
                      <a:endParaRPr lang="zh-CN" sz="18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36195" marR="3619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60"/>
                        </a:spcBef>
                        <a:spcAft>
                          <a:spcPts val="360"/>
                        </a:spcAft>
                      </a:pPr>
                      <a:r>
                        <a:rPr lang="en-US" sz="1200" kern="100">
                          <a:effectLst/>
                        </a:rPr>
                        <a:t>51.88</a:t>
                      </a:r>
                      <a:endParaRPr lang="zh-CN" sz="18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36195" marR="3619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60"/>
                        </a:spcBef>
                        <a:spcAft>
                          <a:spcPts val="360"/>
                        </a:spcAft>
                      </a:pPr>
                      <a:r>
                        <a:rPr lang="en-US" sz="1200" kern="100">
                          <a:effectLst/>
                        </a:rPr>
                        <a:t>56.45</a:t>
                      </a:r>
                      <a:endParaRPr lang="zh-CN" sz="18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36195" marR="3619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60"/>
                        </a:spcBef>
                        <a:spcAft>
                          <a:spcPts val="360"/>
                        </a:spcAft>
                      </a:pPr>
                      <a:r>
                        <a:rPr lang="en-US" sz="1200" kern="100">
                          <a:effectLst/>
                        </a:rPr>
                        <a:t>65.77</a:t>
                      </a:r>
                      <a:endParaRPr lang="zh-CN" sz="18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36195" marR="3619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60"/>
                        </a:spcBef>
                        <a:spcAft>
                          <a:spcPts val="360"/>
                        </a:spcAft>
                      </a:pPr>
                      <a:r>
                        <a:rPr lang="en-US" sz="1200" kern="100">
                          <a:effectLst/>
                        </a:rPr>
                        <a:t>38.23</a:t>
                      </a:r>
                      <a:endParaRPr lang="zh-CN" sz="18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36195" marR="3619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60"/>
                        </a:spcBef>
                        <a:spcAft>
                          <a:spcPts val="360"/>
                        </a:spcAft>
                      </a:pPr>
                      <a:r>
                        <a:rPr lang="en-US" sz="1200" kern="100">
                          <a:effectLst/>
                        </a:rPr>
                        <a:t>49.99</a:t>
                      </a:r>
                      <a:endParaRPr lang="zh-CN" sz="18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36195" marR="3619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60"/>
                        </a:spcBef>
                        <a:spcAft>
                          <a:spcPts val="360"/>
                        </a:spcAft>
                      </a:pPr>
                      <a:r>
                        <a:rPr lang="en-US" sz="1200" kern="100">
                          <a:effectLst/>
                        </a:rPr>
                        <a:t>53.43</a:t>
                      </a:r>
                      <a:endParaRPr lang="zh-CN" sz="18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36195" marR="3619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60"/>
                        </a:spcBef>
                        <a:spcAft>
                          <a:spcPts val="360"/>
                        </a:spcAft>
                      </a:pPr>
                      <a:r>
                        <a:rPr lang="en-US" sz="1200" kern="100">
                          <a:effectLst/>
                        </a:rPr>
                        <a:t>50.12</a:t>
                      </a:r>
                      <a:endParaRPr lang="zh-CN" sz="18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36195" marR="3619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60"/>
                        </a:spcBef>
                        <a:spcAft>
                          <a:spcPts val="360"/>
                        </a:spcAft>
                      </a:pPr>
                      <a:r>
                        <a:rPr lang="en-US" sz="1200" kern="100">
                          <a:effectLst/>
                        </a:rPr>
                        <a:t>84.00</a:t>
                      </a:r>
                      <a:endParaRPr lang="zh-CN" sz="18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36195" marR="3619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60"/>
                        </a:spcBef>
                        <a:spcAft>
                          <a:spcPts val="360"/>
                        </a:spcAft>
                      </a:pPr>
                      <a:r>
                        <a:rPr lang="en-US" sz="1200" kern="100">
                          <a:effectLst/>
                        </a:rPr>
                        <a:t>58.48</a:t>
                      </a:r>
                      <a:endParaRPr lang="zh-CN" sz="18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36195" marR="3619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60"/>
                        </a:spcBef>
                        <a:spcAft>
                          <a:spcPts val="360"/>
                        </a:spcAft>
                      </a:pPr>
                      <a:r>
                        <a:rPr lang="en-US" sz="1200" kern="100">
                          <a:effectLst/>
                        </a:rPr>
                        <a:t>33.63</a:t>
                      </a:r>
                      <a:endParaRPr lang="zh-CN" sz="18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36195" marR="3619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60"/>
                        </a:spcBef>
                        <a:spcAft>
                          <a:spcPts val="360"/>
                        </a:spcAft>
                      </a:pPr>
                      <a:r>
                        <a:rPr lang="en-US" sz="1200" kern="100">
                          <a:effectLst/>
                        </a:rPr>
                        <a:t>54.69</a:t>
                      </a:r>
                      <a:endParaRPr lang="zh-CN" sz="18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36195" marR="3619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60"/>
                        </a:spcBef>
                        <a:spcAft>
                          <a:spcPts val="360"/>
                        </a:spcAft>
                      </a:pPr>
                      <a:r>
                        <a:rPr lang="en-US" sz="1200" kern="100">
                          <a:effectLst/>
                        </a:rPr>
                        <a:t>37.20</a:t>
                      </a:r>
                      <a:endParaRPr lang="zh-CN" sz="18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36195" marR="3619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60"/>
                        </a:spcBef>
                        <a:spcAft>
                          <a:spcPts val="360"/>
                        </a:spcAft>
                      </a:pPr>
                      <a:r>
                        <a:rPr lang="en-US" sz="1200" kern="100">
                          <a:effectLst/>
                        </a:rPr>
                        <a:t>57.64</a:t>
                      </a:r>
                      <a:endParaRPr lang="zh-CN" sz="18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36195" marR="3619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60"/>
                        </a:spcBef>
                        <a:spcAft>
                          <a:spcPts val="360"/>
                        </a:spcAft>
                      </a:pPr>
                      <a:r>
                        <a:rPr lang="en-US" sz="1200" kern="100">
                          <a:effectLst/>
                        </a:rPr>
                        <a:t>48.41</a:t>
                      </a:r>
                      <a:endParaRPr lang="zh-CN" sz="18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36195" marR="3619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60"/>
                        </a:spcBef>
                        <a:spcAft>
                          <a:spcPts val="360"/>
                        </a:spcAft>
                      </a:pPr>
                      <a:r>
                        <a:rPr lang="en-US" sz="1200" kern="100">
                          <a:effectLst/>
                        </a:rPr>
                        <a:t>31.13</a:t>
                      </a:r>
                      <a:endParaRPr lang="zh-CN" sz="18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36195" marR="36195" marT="0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algn="ctr">
                        <a:spcBef>
                          <a:spcPts val="360"/>
                        </a:spcBef>
                        <a:spcAft>
                          <a:spcPts val="360"/>
                        </a:spcAft>
                      </a:pPr>
                      <a:r>
                        <a:rPr lang="en-US" sz="1200" kern="100">
                          <a:effectLst/>
                        </a:rPr>
                        <a:t>35.75</a:t>
                      </a:r>
                      <a:endParaRPr lang="zh-CN" sz="18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36195" marR="3619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60"/>
                        </a:spcBef>
                        <a:spcAft>
                          <a:spcPts val="360"/>
                        </a:spcAft>
                      </a:pPr>
                      <a:r>
                        <a:rPr lang="en-US" sz="1200" kern="100">
                          <a:effectLst/>
                        </a:rPr>
                        <a:t>49.17</a:t>
                      </a:r>
                      <a:endParaRPr lang="zh-CN" sz="18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36195" marR="3619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60"/>
                        </a:spcBef>
                        <a:spcAft>
                          <a:spcPts val="360"/>
                        </a:spcAft>
                      </a:pPr>
                      <a:r>
                        <a:rPr lang="en-US" sz="1200" kern="100">
                          <a:effectLst/>
                        </a:rPr>
                        <a:t>42.16</a:t>
                      </a:r>
                      <a:endParaRPr lang="zh-CN" sz="18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36195" marR="3619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60"/>
                        </a:spcBef>
                        <a:spcAft>
                          <a:spcPts val="360"/>
                        </a:spcAft>
                      </a:pPr>
                      <a:r>
                        <a:rPr lang="en-US" sz="1200" kern="100">
                          <a:effectLst/>
                        </a:rPr>
                        <a:t>50.68</a:t>
                      </a:r>
                      <a:endParaRPr lang="zh-CN" sz="18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36195" marR="3619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60"/>
                        </a:spcBef>
                        <a:spcAft>
                          <a:spcPts val="360"/>
                        </a:spcAft>
                      </a:pPr>
                      <a:r>
                        <a:rPr lang="en-US" sz="1200" kern="100">
                          <a:effectLst/>
                        </a:rPr>
                        <a:t>30.98</a:t>
                      </a:r>
                      <a:endParaRPr lang="zh-CN" sz="18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36195" marR="3619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60"/>
                        </a:spcBef>
                        <a:spcAft>
                          <a:spcPts val="360"/>
                        </a:spcAft>
                      </a:pPr>
                      <a:r>
                        <a:rPr lang="en-US" sz="1200" kern="100">
                          <a:effectLst/>
                        </a:rPr>
                        <a:t>52.32</a:t>
                      </a:r>
                      <a:endParaRPr lang="zh-CN" sz="18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36195" marR="3619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60"/>
                        </a:spcBef>
                        <a:spcAft>
                          <a:spcPts val="360"/>
                        </a:spcAft>
                      </a:pPr>
                      <a:r>
                        <a:rPr lang="en-US" sz="1200" kern="100">
                          <a:effectLst/>
                        </a:rPr>
                        <a:t>38.66</a:t>
                      </a:r>
                      <a:endParaRPr lang="zh-CN" sz="18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36195" marR="3619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60"/>
                        </a:spcBef>
                        <a:spcAft>
                          <a:spcPts val="360"/>
                        </a:spcAft>
                      </a:pPr>
                      <a:r>
                        <a:rPr lang="en-US" sz="1200" kern="100">
                          <a:effectLst/>
                        </a:rPr>
                        <a:t>50.81</a:t>
                      </a:r>
                      <a:endParaRPr lang="zh-CN" sz="18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36195" marR="3619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60"/>
                        </a:spcBef>
                        <a:spcAft>
                          <a:spcPts val="360"/>
                        </a:spcAft>
                      </a:pPr>
                      <a:r>
                        <a:rPr lang="en-US" sz="1200" kern="100">
                          <a:effectLst/>
                        </a:rPr>
                        <a:t>45.88</a:t>
                      </a:r>
                      <a:endParaRPr lang="zh-CN" sz="18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36195" marR="3619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60"/>
                        </a:spcBef>
                        <a:spcAft>
                          <a:spcPts val="360"/>
                        </a:spcAft>
                      </a:pPr>
                      <a:r>
                        <a:rPr lang="en-US" sz="1200" kern="100">
                          <a:effectLst/>
                        </a:rPr>
                        <a:t>73.28</a:t>
                      </a:r>
                      <a:endParaRPr lang="zh-CN" sz="18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36195" marR="3619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60"/>
                        </a:spcBef>
                        <a:spcAft>
                          <a:spcPts val="360"/>
                        </a:spcAft>
                      </a:pPr>
                      <a:r>
                        <a:rPr lang="en-US" sz="1200" kern="100">
                          <a:effectLst/>
                        </a:rPr>
                        <a:t>36.85</a:t>
                      </a:r>
                      <a:endParaRPr lang="zh-CN" sz="18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36195" marR="3619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60"/>
                        </a:spcBef>
                        <a:spcAft>
                          <a:spcPts val="360"/>
                        </a:spcAft>
                      </a:pPr>
                      <a:r>
                        <a:rPr lang="en-US" sz="1200" kern="100">
                          <a:effectLst/>
                        </a:rPr>
                        <a:t>39.27</a:t>
                      </a:r>
                      <a:endParaRPr lang="zh-CN" sz="18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36195" marR="3619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60"/>
                        </a:spcBef>
                        <a:spcAft>
                          <a:spcPts val="360"/>
                        </a:spcAft>
                      </a:pPr>
                      <a:r>
                        <a:rPr lang="en-US" sz="1200" kern="100">
                          <a:effectLst/>
                        </a:rPr>
                        <a:t>50.62</a:t>
                      </a:r>
                      <a:endParaRPr lang="zh-CN" sz="18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36195" marR="3619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60"/>
                        </a:spcBef>
                        <a:spcAft>
                          <a:spcPts val="360"/>
                        </a:spcAft>
                      </a:pPr>
                      <a:r>
                        <a:rPr lang="en-US" sz="1200" kern="100">
                          <a:effectLst/>
                        </a:rPr>
                        <a:t>67.61</a:t>
                      </a:r>
                      <a:endParaRPr lang="zh-CN" sz="18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36195" marR="3619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60"/>
                        </a:spcBef>
                        <a:spcAft>
                          <a:spcPts val="360"/>
                        </a:spcAft>
                      </a:pPr>
                      <a:r>
                        <a:rPr lang="en-US" sz="1200" kern="100">
                          <a:effectLst/>
                        </a:rPr>
                        <a:t>58.83</a:t>
                      </a:r>
                      <a:endParaRPr lang="zh-CN" sz="18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36195" marR="3619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60"/>
                        </a:spcBef>
                        <a:spcAft>
                          <a:spcPts val="360"/>
                        </a:spcAft>
                      </a:pPr>
                      <a:r>
                        <a:rPr lang="en-US" sz="1200" kern="100">
                          <a:effectLst/>
                        </a:rPr>
                        <a:t>54.02</a:t>
                      </a:r>
                      <a:endParaRPr lang="zh-CN" sz="18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36195" marR="36195" marT="0" marB="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algn="ctr">
                        <a:spcBef>
                          <a:spcPts val="360"/>
                        </a:spcBef>
                        <a:spcAft>
                          <a:spcPts val="360"/>
                        </a:spcAft>
                      </a:pPr>
                      <a:r>
                        <a:rPr lang="en-US" sz="1200" kern="100">
                          <a:effectLst/>
                        </a:rPr>
                        <a:t>55.72</a:t>
                      </a:r>
                      <a:endParaRPr lang="zh-CN" sz="18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36195" marR="3619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60"/>
                        </a:spcBef>
                        <a:spcAft>
                          <a:spcPts val="360"/>
                        </a:spcAft>
                      </a:pPr>
                      <a:r>
                        <a:rPr lang="en-US" sz="1200" kern="100">
                          <a:effectLst/>
                        </a:rPr>
                        <a:t>57.47</a:t>
                      </a:r>
                      <a:endParaRPr lang="zh-CN" sz="18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36195" marR="3619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60"/>
                        </a:spcBef>
                        <a:spcAft>
                          <a:spcPts val="360"/>
                        </a:spcAft>
                      </a:pPr>
                      <a:r>
                        <a:rPr lang="en-US" sz="1200" kern="100">
                          <a:effectLst/>
                        </a:rPr>
                        <a:t>71.16</a:t>
                      </a:r>
                      <a:endParaRPr lang="zh-CN" sz="18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36195" marR="3619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60"/>
                        </a:spcBef>
                        <a:spcAft>
                          <a:spcPts val="360"/>
                        </a:spcAft>
                      </a:pPr>
                      <a:r>
                        <a:rPr lang="en-US" sz="1200" kern="100">
                          <a:effectLst/>
                        </a:rPr>
                        <a:t>52.85</a:t>
                      </a:r>
                      <a:endParaRPr lang="zh-CN" sz="18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36195" marR="3619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60"/>
                        </a:spcBef>
                        <a:spcAft>
                          <a:spcPts val="360"/>
                        </a:spcAft>
                      </a:pPr>
                      <a:r>
                        <a:rPr lang="en-US" sz="1200" kern="100">
                          <a:effectLst/>
                        </a:rPr>
                        <a:t>37.24</a:t>
                      </a:r>
                      <a:endParaRPr lang="zh-CN" sz="18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36195" marR="3619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60"/>
                        </a:spcBef>
                        <a:spcAft>
                          <a:spcPts val="360"/>
                        </a:spcAft>
                      </a:pPr>
                      <a:r>
                        <a:rPr lang="en-US" sz="1200" kern="100">
                          <a:effectLst/>
                        </a:rPr>
                        <a:t>58.61</a:t>
                      </a:r>
                      <a:endParaRPr lang="zh-CN" sz="18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36195" marR="3619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60"/>
                        </a:spcBef>
                        <a:spcAft>
                          <a:spcPts val="360"/>
                        </a:spcAft>
                      </a:pPr>
                      <a:r>
                        <a:rPr lang="en-US" sz="1200" kern="100">
                          <a:effectLst/>
                        </a:rPr>
                        <a:t>56.18</a:t>
                      </a:r>
                      <a:endParaRPr lang="zh-CN" sz="18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36195" marR="3619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60"/>
                        </a:spcBef>
                        <a:spcAft>
                          <a:spcPts val="360"/>
                        </a:spcAft>
                      </a:pPr>
                      <a:r>
                        <a:rPr lang="en-US" sz="1200" kern="100">
                          <a:effectLst/>
                        </a:rPr>
                        <a:t>38.95</a:t>
                      </a:r>
                      <a:endParaRPr lang="zh-CN" sz="18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36195" marR="3619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60"/>
                        </a:spcBef>
                        <a:spcAft>
                          <a:spcPts val="360"/>
                        </a:spcAft>
                      </a:pPr>
                      <a:r>
                        <a:rPr lang="en-US" sz="1200" kern="100">
                          <a:effectLst/>
                        </a:rPr>
                        <a:t>57.49</a:t>
                      </a:r>
                      <a:endParaRPr lang="zh-CN" sz="18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36195" marR="3619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60"/>
                        </a:spcBef>
                        <a:spcAft>
                          <a:spcPts val="360"/>
                        </a:spcAft>
                      </a:pPr>
                      <a:r>
                        <a:rPr lang="en-US" sz="1200" kern="100">
                          <a:effectLst/>
                        </a:rPr>
                        <a:t>46.52</a:t>
                      </a:r>
                      <a:endParaRPr lang="zh-CN" sz="18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36195" marR="3619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60"/>
                        </a:spcBef>
                        <a:spcAft>
                          <a:spcPts val="360"/>
                        </a:spcAft>
                      </a:pPr>
                      <a:r>
                        <a:rPr lang="en-US" sz="1200" kern="100">
                          <a:effectLst/>
                        </a:rPr>
                        <a:t>62.09</a:t>
                      </a:r>
                      <a:endParaRPr lang="zh-CN" sz="18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36195" marR="3619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60"/>
                        </a:spcBef>
                        <a:spcAft>
                          <a:spcPts val="360"/>
                        </a:spcAft>
                      </a:pPr>
                      <a:r>
                        <a:rPr lang="en-US" sz="1200" kern="100">
                          <a:effectLst/>
                        </a:rPr>
                        <a:t>57.03</a:t>
                      </a:r>
                      <a:endParaRPr lang="zh-CN" sz="18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36195" marR="3619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60"/>
                        </a:spcBef>
                        <a:spcAft>
                          <a:spcPts val="360"/>
                        </a:spcAft>
                      </a:pPr>
                      <a:r>
                        <a:rPr lang="en-US" sz="1200" kern="100">
                          <a:effectLst/>
                        </a:rPr>
                        <a:t>55.89</a:t>
                      </a:r>
                      <a:endParaRPr lang="zh-CN" sz="18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36195" marR="3619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60"/>
                        </a:spcBef>
                        <a:spcAft>
                          <a:spcPts val="360"/>
                        </a:spcAft>
                      </a:pPr>
                      <a:r>
                        <a:rPr lang="en-US" sz="1200" kern="100">
                          <a:effectLst/>
                        </a:rPr>
                        <a:t>49.75</a:t>
                      </a:r>
                      <a:endParaRPr lang="zh-CN" sz="18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36195" marR="3619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60"/>
                        </a:spcBef>
                        <a:spcAft>
                          <a:spcPts val="360"/>
                        </a:spcAft>
                      </a:pPr>
                      <a:r>
                        <a:rPr lang="en-US" sz="1200" kern="100">
                          <a:effectLst/>
                        </a:rPr>
                        <a:t>85.02</a:t>
                      </a:r>
                      <a:endParaRPr lang="zh-CN" sz="18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36195" marR="36195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60"/>
                        </a:spcBef>
                        <a:spcAft>
                          <a:spcPts val="360"/>
                        </a:spcAft>
                      </a:pPr>
                      <a:r>
                        <a:rPr lang="en-US" sz="1200" kern="100" dirty="0">
                          <a:effectLst/>
                        </a:rPr>
                        <a:t>54.70</a:t>
                      </a:r>
                      <a:endParaRPr lang="zh-CN" sz="1800" kern="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36195" marR="36195" marT="0" marB="0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66F0B09-7C63-4E03-9D6A-223183817009}" type="slidenum">
              <a:rPr lang="en-US" altLang="zh-CN" smtClean="0"/>
              <a:pPr>
                <a:defRPr/>
              </a:pPr>
              <a:t>15</a:t>
            </a:fld>
            <a:endParaRPr lang="en-US" altLang="zh-CN"/>
          </a:p>
        </p:txBody>
      </p:sp>
      <p:pic>
        <p:nvPicPr>
          <p:cNvPr id="1036" name="Picture 1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1844824"/>
            <a:ext cx="7200000" cy="20588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7" name="矩形 16"/>
          <p:cNvSpPr/>
          <p:nvPr/>
        </p:nvSpPr>
        <p:spPr>
          <a:xfrm>
            <a:off x="4499992" y="4501570"/>
            <a:ext cx="4248472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2000" dirty="0">
                <a:latin typeface="华文细黑" pitchFamily="2" charset="-122"/>
                <a:ea typeface="华文细黑" pitchFamily="2" charset="-122"/>
              </a:rPr>
              <a:t>前提：</a:t>
            </a:r>
            <a:endParaRPr lang="en-US" altLang="zh-CN" sz="2000" dirty="0">
              <a:latin typeface="华文细黑" pitchFamily="2" charset="-122"/>
              <a:ea typeface="华文细黑" pitchFamily="2" charset="-122"/>
            </a:endParaRPr>
          </a:p>
          <a:p>
            <a:pPr lvl="1"/>
            <a:r>
              <a:rPr lang="zh-CN" altLang="zh-CN" sz="2000" dirty="0">
                <a:latin typeface="华文细黑" pitchFamily="2" charset="-122"/>
                <a:ea typeface="华文细黑" pitchFamily="2" charset="-122"/>
              </a:rPr>
              <a:t>样本足够多；</a:t>
            </a:r>
            <a:endParaRPr lang="en-US" altLang="zh-CN" sz="2000" dirty="0">
              <a:latin typeface="华文细黑" pitchFamily="2" charset="-122"/>
              <a:ea typeface="华文细黑" pitchFamily="2" charset="-122"/>
            </a:endParaRPr>
          </a:p>
          <a:p>
            <a:pPr lvl="1"/>
            <a:r>
              <a:rPr lang="zh-CN" altLang="zh-CN" sz="2000" dirty="0">
                <a:latin typeface="华文细黑" pitchFamily="2" charset="-122"/>
                <a:ea typeface="华文细黑" pitchFamily="2" charset="-122"/>
              </a:rPr>
              <a:t>样本呈正态分布或近似正态分布。</a:t>
            </a:r>
            <a:endParaRPr lang="zh-CN" altLang="en-US" sz="2000" dirty="0">
              <a:latin typeface="华文细黑" pitchFamily="2" charset="-122"/>
              <a:ea typeface="华文细黑" pitchFamily="2" charset="-122"/>
            </a:endParaRPr>
          </a:p>
        </p:txBody>
      </p:sp>
      <p:pic>
        <p:nvPicPr>
          <p:cNvPr id="2050" name="Picture 2" descr="https://www.csuldw.com/assets/articleImg/2019/3-sigma-all.png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4005064"/>
            <a:ext cx="3672408" cy="18362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363598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/>
              <a:t>【</a:t>
            </a:r>
            <a:r>
              <a:rPr lang="zh-CN" altLang="en-US"/>
              <a:t>例</a:t>
            </a:r>
            <a:r>
              <a:rPr lang="en-US" altLang="zh-CN"/>
              <a:t>】</a:t>
            </a:r>
            <a:r>
              <a:rPr lang="zh-CN" altLang="en-US"/>
              <a:t>判定下列数据集中的异常值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600" dirty="0"/>
              <a:t>前提检验</a:t>
            </a:r>
            <a:endParaRPr lang="en-US" altLang="zh-CN" sz="2600" dirty="0"/>
          </a:p>
          <a:p>
            <a:pPr lvl="1"/>
            <a:r>
              <a:rPr lang="zh-CN" altLang="en-US" sz="2200" dirty="0"/>
              <a:t>样本足够多</a:t>
            </a:r>
            <a:endParaRPr lang="en-US" altLang="zh-CN" sz="2200" dirty="0"/>
          </a:p>
          <a:p>
            <a:pPr lvl="1"/>
            <a:r>
              <a:rPr lang="en-US" altLang="zh-CN" sz="2200" dirty="0"/>
              <a:t>K-S</a:t>
            </a:r>
            <a:r>
              <a:rPr lang="zh-CN" altLang="en-US" sz="2200" dirty="0"/>
              <a:t>和</a:t>
            </a:r>
            <a:r>
              <a:rPr lang="en-US" altLang="zh-CN" sz="2200" dirty="0"/>
              <a:t>S-W</a:t>
            </a:r>
            <a:r>
              <a:rPr lang="zh-CN" altLang="en-US" sz="2200" dirty="0"/>
              <a:t>检验</a:t>
            </a:r>
            <a:endParaRPr lang="en-US" altLang="zh-CN" sz="2200" dirty="0"/>
          </a:p>
          <a:p>
            <a:r>
              <a:rPr lang="zh-CN" altLang="en-US" sz="2600" dirty="0"/>
              <a:t>计算均值、标准偏差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6F0B09-7C63-4E03-9D6A-223183817009}" type="slidenum">
              <a:rPr lang="en-US" altLang="zh-CN" smtClean="0"/>
              <a:pPr/>
              <a:t>16</a:t>
            </a:fld>
            <a:endParaRPr lang="en-US" altLang="zh-CN"/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/>
        </p:blipFill>
        <p:spPr bwMode="auto">
          <a:xfrm>
            <a:off x="3852504" y="1916833"/>
            <a:ext cx="5256000" cy="124964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20" name="图片 19"/>
          <p:cNvPicPr>
            <a:picLocks noChangeAspect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 bwMode="auto">
          <a:xfrm>
            <a:off x="539552" y="3625940"/>
            <a:ext cx="5112000" cy="883181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21" name="矩形 20"/>
          <p:cNvSpPr/>
          <p:nvPr/>
        </p:nvSpPr>
        <p:spPr>
          <a:xfrm>
            <a:off x="3995936" y="4828394"/>
            <a:ext cx="4270494" cy="8692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zh-CN" sz="22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数值低于</a:t>
            </a:r>
            <a:r>
              <a:rPr lang="en-US" altLang="zh-CN" sz="22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15.98</a:t>
            </a:r>
            <a:r>
              <a:rPr lang="zh-CN" altLang="zh-CN" sz="22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或大于</a:t>
            </a:r>
            <a:r>
              <a:rPr lang="en-US" altLang="zh-CN" sz="22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85.86</a:t>
            </a:r>
            <a:r>
              <a:rPr lang="zh-CN" altLang="zh-CN" sz="22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的样本适用拉依达准则的剔除标准</a:t>
            </a:r>
            <a:endParaRPr lang="zh-CN" altLang="en-US" sz="2200" dirty="0">
              <a:latin typeface="Times New Roman" pitchFamily="18" charset="0"/>
              <a:ea typeface="华文细黑" pitchFamily="2" charset="-122"/>
              <a:cs typeface="Times New Roman" pitchFamily="18" charset="0"/>
            </a:endParaRPr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1" y="67258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642567" y="4630393"/>
          <a:ext cx="2478773" cy="39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0" name="公式" r:id="rId6" imgW="1511280" imgH="215640" progId="Equation.3">
                  <p:embed/>
                </p:oleObj>
              </mc:Choice>
              <mc:Fallback>
                <p:oleObj name="公式" r:id="rId6" imgW="1511280" imgH="215640" progId="Equation.3">
                  <p:embed/>
                  <p:pic>
                    <p:nvPicPr>
                      <p:cNvPr id="8" name="对象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2567" y="4630393"/>
                        <a:ext cx="2478773" cy="396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633116" y="5214219"/>
          <a:ext cx="2498725" cy="325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1" name="公式" r:id="rId8" imgW="1523880" imgH="177480" progId="Equation.3">
                  <p:embed/>
                </p:oleObj>
              </mc:Choice>
              <mc:Fallback>
                <p:oleObj name="公式" r:id="rId8" imgW="1523880" imgH="177480" progId="Equation.3">
                  <p:embed/>
                  <p:pic>
                    <p:nvPicPr>
                      <p:cNvPr id="9" name="对象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3116" y="5214219"/>
                        <a:ext cx="2498725" cy="325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638972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1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174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  <p:bldP spid="21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9FD5F5-7EEB-4E5C-8409-F24BF10E1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【</a:t>
            </a:r>
            <a:r>
              <a:rPr lang="zh-CN" altLang="en-US" dirty="0"/>
              <a:t>例</a:t>
            </a:r>
            <a:r>
              <a:rPr lang="en-US" altLang="zh-CN" dirty="0"/>
              <a:t>】</a:t>
            </a:r>
            <a:r>
              <a:rPr lang="zh-CN" altLang="en-US" dirty="0"/>
              <a:t>噪声处理</a:t>
            </a:r>
            <a:r>
              <a:rPr lang="en-US" altLang="zh-CN" dirty="0"/>
              <a:t>-</a:t>
            </a:r>
            <a:r>
              <a:rPr lang="zh-CN" altLang="en-US" dirty="0"/>
              <a:t>分箱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F4AEAEC-5303-4A69-B75E-26F2FAE2E5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84F5B-1672-4D3F-9FEC-5DF89A7B7912}" type="slidenum">
              <a:rPr lang="zh-CN" altLang="en-US" smtClean="0"/>
              <a:t>17</a:t>
            </a:fld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2A22297-AD90-4B69-B91B-F6B189AEC4B0}"/>
              </a:ext>
            </a:extLst>
          </p:cNvPr>
          <p:cNvSpPr txBox="1"/>
          <p:nvPr/>
        </p:nvSpPr>
        <p:spPr>
          <a:xfrm>
            <a:off x="285693" y="912007"/>
            <a:ext cx="8265453" cy="111061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0" indent="0" algn="just" defTabSz="26670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/>
                <a:ea typeface="楷体" panose="02010609060101010101" pitchFamily="49" charset="-122"/>
              </a:rPr>
              <a:t>       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/>
                <a:ea typeface="楷体" panose="02010609060101010101" pitchFamily="49" charset="-122"/>
              </a:rPr>
              <a:t>分箱（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/>
                <a:ea typeface="楷体" panose="02010609060101010101" pitchFamily="49" charset="-122"/>
              </a:rPr>
              <a:t>Binning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/>
                <a:ea typeface="楷体" panose="02010609060101010101" pitchFamily="49" charset="-122"/>
              </a:rPr>
              <a:t>）</a:t>
            </a:r>
            <a:r>
              <a:rPr lang="en-US" altLang="zh-CN" sz="2800" b="0" dirty="0">
                <a:latin typeface="Times New Roman" panose="02020603050405020304"/>
                <a:ea typeface="楷体" panose="02010609060101010101" pitchFamily="49" charset="-122"/>
              </a:rPr>
              <a:t>  </a:t>
            </a:r>
            <a:r>
              <a:rPr lang="zh-CN" altLang="en-US" sz="2800" b="0" dirty="0">
                <a:latin typeface="Times New Roman" panose="02020603050405020304"/>
                <a:ea typeface="楷体" panose="02010609060101010101" pitchFamily="49" charset="-122"/>
              </a:rPr>
              <a:t>是将有序数据按特定的规则进行分组，进而实现数据离散化的降噪技术。</a:t>
            </a:r>
            <a:endParaRPr lang="en-US" altLang="zh-CN" sz="2800" b="0" dirty="0">
              <a:latin typeface="Times New Roman" panose="02020603050405020304"/>
              <a:ea typeface="楷体" panose="02010609060101010101" pitchFamily="49" charset="-122"/>
            </a:endParaRPr>
          </a:p>
          <a:p>
            <a:pPr marL="0" indent="0" algn="just" defTabSz="26670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3200" b="0" dirty="0">
                <a:latin typeface="Times New Roman" panose="02020603050405020304"/>
                <a:ea typeface="楷体" panose="02010609060101010101" pitchFamily="49" charset="-122"/>
              </a:rPr>
              <a:t>      </a:t>
            </a:r>
            <a:r>
              <a:rPr lang="en-US" altLang="zh-CN" sz="2800" b="0" dirty="0">
                <a:latin typeface="Times New Roman" panose="02020603050405020304"/>
                <a:ea typeface="楷体" panose="02010609060101010101" pitchFamily="49" charset="-122"/>
              </a:rPr>
              <a:t> </a:t>
            </a:r>
            <a:r>
              <a:rPr lang="zh-CN" altLang="en-US" sz="2400" b="0" dirty="0">
                <a:latin typeface="Times New Roman" panose="02020603050405020304"/>
                <a:ea typeface="楷体" panose="02010609060101010101" pitchFamily="49" charset="-122"/>
              </a:rPr>
              <a:t>在分箱处理中，首先按照属性值划分子区间，如果一个属性值处于某个子区间范围内，就称为把该属性值放进这个子区间所代表的</a:t>
            </a:r>
            <a:r>
              <a:rPr lang="en-US" altLang="zh-CN" sz="2400" b="0" dirty="0">
                <a:latin typeface="Times New Roman" panose="02020603050405020304"/>
                <a:ea typeface="楷体" panose="02010609060101010101" pitchFamily="49" charset="-122"/>
              </a:rPr>
              <a:t>“</a:t>
            </a:r>
            <a:r>
              <a:rPr lang="zh-CN" altLang="en-US" sz="2400" b="0" dirty="0">
                <a:latin typeface="Times New Roman" panose="02020603050405020304"/>
                <a:ea typeface="楷体" panose="02010609060101010101" pitchFamily="49" charset="-122"/>
              </a:rPr>
              <a:t>箱</a:t>
            </a:r>
            <a:r>
              <a:rPr lang="en-US" altLang="zh-CN" sz="2400" b="0" dirty="0">
                <a:latin typeface="Times New Roman" panose="02020603050405020304"/>
                <a:ea typeface="楷体" panose="02010609060101010101" pitchFamily="49" charset="-122"/>
              </a:rPr>
              <a:t>”</a:t>
            </a:r>
            <a:r>
              <a:rPr lang="zh-CN" altLang="en-US" sz="2400" b="0" dirty="0">
                <a:latin typeface="Times New Roman" panose="02020603050405020304"/>
                <a:ea typeface="楷体" panose="02010609060101010101" pitchFamily="49" charset="-122"/>
              </a:rPr>
              <a:t>内。箱的宽度表示箱中数据的取值范围差值，箱的深度表示箱中数据的数量，具体的分箱方式可分为</a:t>
            </a:r>
            <a:r>
              <a:rPr lang="zh-CN" altLang="en-US" sz="2400" b="0" dirty="0">
                <a:solidFill>
                  <a:srgbClr val="FF0000"/>
                </a:solidFill>
                <a:latin typeface="Times New Roman" panose="02020603050405020304"/>
                <a:ea typeface="楷体" panose="02010609060101010101" pitchFamily="49" charset="-122"/>
              </a:rPr>
              <a:t>等宽分箱</a:t>
            </a:r>
            <a:r>
              <a:rPr lang="zh-CN" altLang="en-US" sz="2400" b="0" dirty="0">
                <a:latin typeface="Times New Roman" panose="02020603050405020304"/>
                <a:ea typeface="楷体" panose="02010609060101010101" pitchFamily="49" charset="-122"/>
              </a:rPr>
              <a:t>和</a:t>
            </a:r>
            <a:r>
              <a:rPr lang="zh-CN" altLang="en-US" sz="2400" b="0" dirty="0">
                <a:solidFill>
                  <a:srgbClr val="FF0000"/>
                </a:solidFill>
                <a:latin typeface="Times New Roman" panose="02020603050405020304"/>
                <a:ea typeface="楷体" panose="02010609060101010101" pitchFamily="49" charset="-122"/>
              </a:rPr>
              <a:t>等深分箱</a:t>
            </a:r>
            <a:r>
              <a:rPr lang="zh-CN" altLang="en-US" sz="2400" b="0" dirty="0">
                <a:latin typeface="Times New Roman" panose="02020603050405020304"/>
                <a:ea typeface="楷体" panose="02010609060101010101" pitchFamily="49" charset="-122"/>
              </a:rPr>
              <a:t>。</a:t>
            </a:r>
          </a:p>
          <a:p>
            <a:pPr marL="0" indent="0" algn="just" defTabSz="26670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2400" b="0" dirty="0">
              <a:latin typeface="Times New Roman" panose="02020603050405020304"/>
              <a:ea typeface="楷体" panose="02010609060101010101" pitchFamily="49" charset="-122"/>
            </a:endParaRPr>
          </a:p>
        </p:txBody>
      </p:sp>
      <p:pic>
        <p:nvPicPr>
          <p:cNvPr id="8" name="图片 14" descr="小波降噪">
            <a:extLst>
              <a:ext uri="{FF2B5EF4-FFF2-40B4-BE49-F238E27FC236}">
                <a16:creationId xmlns:a16="http://schemas.microsoft.com/office/drawing/2014/main" id="{81D7D80A-130A-4DEA-8DA9-B114F1F392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0750" y="4449667"/>
            <a:ext cx="6736045" cy="2021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55389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D1466AA-18E7-4F67-BF58-649EE81110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84F5B-1672-4D3F-9FEC-5DF89A7B7912}" type="slidenum">
              <a:rPr lang="zh-CN" altLang="en-US" smtClean="0"/>
              <a:t>18</a:t>
            </a:fld>
            <a:endParaRPr lang="zh-CN" altLang="en-US"/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0DAAA92B-259E-46F0-9084-7DE242E59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763"/>
            <a:ext cx="9144000" cy="817562"/>
          </a:xfrm>
        </p:spPr>
        <p:txBody>
          <a:bodyPr/>
          <a:lstStyle/>
          <a:p>
            <a:r>
              <a:rPr lang="en-US" altLang="zh-CN" dirty="0"/>
              <a:t>【</a:t>
            </a:r>
            <a:r>
              <a:rPr lang="zh-CN" altLang="en-US" dirty="0"/>
              <a:t>例</a:t>
            </a:r>
            <a:r>
              <a:rPr lang="en-US" altLang="zh-CN" dirty="0"/>
              <a:t>】</a:t>
            </a:r>
            <a:r>
              <a:rPr lang="zh-CN" altLang="en-US" dirty="0"/>
              <a:t>噪声处理</a:t>
            </a:r>
            <a:r>
              <a:rPr lang="en-US" altLang="zh-CN" dirty="0"/>
              <a:t>-</a:t>
            </a:r>
            <a:r>
              <a:rPr lang="zh-CN" altLang="en-US" dirty="0"/>
              <a:t>分箱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D9EFADD-0199-42A9-B05A-427059AD00AA}"/>
              </a:ext>
            </a:extLst>
          </p:cNvPr>
          <p:cNvSpPr txBox="1"/>
          <p:nvPr/>
        </p:nvSpPr>
        <p:spPr>
          <a:xfrm>
            <a:off x="195260" y="994270"/>
            <a:ext cx="8526710" cy="111061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0" indent="0" algn="just" defTabSz="26670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/>
                <a:ea typeface="楷体" panose="02010609060101010101" pitchFamily="49" charset="-122"/>
              </a:rPr>
              <a:t>       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/>
                <a:ea typeface="楷体" panose="02010609060101010101" pitchFamily="49" charset="-122"/>
              </a:rPr>
              <a:t>分箱（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/>
                <a:ea typeface="楷体" panose="02010609060101010101" pitchFamily="49" charset="-122"/>
              </a:rPr>
              <a:t>Binning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/>
                <a:ea typeface="楷体" panose="02010609060101010101" pitchFamily="49" charset="-122"/>
              </a:rPr>
              <a:t>）</a:t>
            </a:r>
            <a:r>
              <a:rPr lang="en-US" altLang="zh-CN" sz="2800" b="0" dirty="0">
                <a:latin typeface="Times New Roman" panose="02020603050405020304"/>
                <a:ea typeface="楷体" panose="02010609060101010101" pitchFamily="49" charset="-122"/>
              </a:rPr>
              <a:t>  </a:t>
            </a:r>
            <a:r>
              <a:rPr lang="zh-CN" altLang="en-US" sz="2800" b="0" dirty="0">
                <a:latin typeface="Times New Roman" panose="02020603050405020304"/>
                <a:ea typeface="楷体" panose="02010609060101010101" pitchFamily="49" charset="-122"/>
              </a:rPr>
              <a:t>是将有序数据按特定的规则进行分组，进而实现数据离散化的降噪技术。</a:t>
            </a:r>
          </a:p>
          <a:p>
            <a:pPr marL="0" indent="0" algn="just" defTabSz="26670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800" b="0" dirty="0">
                <a:latin typeface="Times New Roman" panose="02020603050405020304"/>
                <a:ea typeface="楷体" panose="02010609060101010101" pitchFamily="49" charset="-122"/>
              </a:rPr>
              <a:t> </a:t>
            </a:r>
            <a:r>
              <a:rPr lang="en-US" altLang="zh-CN" sz="2800" b="0" dirty="0">
                <a:latin typeface="Times New Roman" panose="02020603050405020304"/>
                <a:ea typeface="楷体" panose="02010609060101010101" pitchFamily="49" charset="-122"/>
              </a:rPr>
              <a:t>      </a:t>
            </a:r>
          </a:p>
          <a:p>
            <a:pPr marL="0" indent="0" algn="just" defTabSz="26670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3200" b="0" dirty="0">
                <a:latin typeface="Times New Roman" panose="02020603050405020304"/>
                <a:ea typeface="楷体" panose="02010609060101010101" pitchFamily="49" charset="-122"/>
              </a:rPr>
              <a:t>      </a:t>
            </a:r>
            <a:endParaRPr lang="zh-CN" altLang="en-US" sz="2400" b="0" dirty="0">
              <a:latin typeface="Times New Roman" panose="02020603050405020304"/>
              <a:ea typeface="楷体" panose="02010609060101010101" pitchFamily="49" charset="-122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6B18C8A6-893A-47A5-8F92-76E8030E36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710" y="2250935"/>
            <a:ext cx="8490162" cy="3881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16602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A795B52-7A2D-402C-A145-A9024FCD42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【</a:t>
            </a:r>
            <a:r>
              <a:rPr lang="zh-CN" altLang="en-US" dirty="0"/>
              <a:t>例</a:t>
            </a:r>
            <a:r>
              <a:rPr lang="en-US" altLang="zh-CN" dirty="0"/>
              <a:t>】</a:t>
            </a:r>
            <a:r>
              <a:rPr lang="zh-CN" altLang="en-US" dirty="0"/>
              <a:t>噪声处理</a:t>
            </a:r>
            <a:r>
              <a:rPr lang="en-US" altLang="zh-CN" dirty="0"/>
              <a:t>-</a:t>
            </a:r>
            <a:r>
              <a:rPr lang="zh-CN" altLang="en-US" dirty="0"/>
              <a:t>分箱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392A3CD-D5D4-4C2D-9792-2ADC3F02E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84F5B-1672-4D3F-9FEC-5DF89A7B7912}" type="slidenum">
              <a:rPr lang="zh-CN" altLang="en-US" smtClean="0"/>
              <a:t>19</a:t>
            </a:fld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7A805DA-652F-4D37-97C3-98B6CB1B70D6}"/>
              </a:ext>
            </a:extLst>
          </p:cNvPr>
          <p:cNvSpPr txBox="1"/>
          <p:nvPr/>
        </p:nvSpPr>
        <p:spPr>
          <a:xfrm>
            <a:off x="750772" y="1134947"/>
            <a:ext cx="7642455" cy="111061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0" indent="0" algn="just" defTabSz="266700">
              <a:lnSpc>
                <a:spcPct val="145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b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完成分箱之后，需要对数据进行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平滑处理</a:t>
            </a:r>
            <a:r>
              <a:rPr lang="zh-CN" altLang="en-US" sz="2400" b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</a:t>
            </a:r>
            <a:r>
              <a:rPr lang="en-US" altLang="zh-CN" sz="2400" b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</a:p>
          <a:p>
            <a:pPr marL="342900" indent="-342900" algn="just" defTabSz="266700">
              <a:lnSpc>
                <a:spcPct val="145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l"/>
            </a:pPr>
            <a:r>
              <a:rPr lang="zh-CN" altLang="en-US" sz="2400" b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箱均值平滑</a:t>
            </a:r>
            <a:r>
              <a:rPr lang="zh-CN" altLang="en-US" sz="2400" b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将箱内的数据替换为该箱中数据的均值；</a:t>
            </a:r>
          </a:p>
          <a:p>
            <a:pPr marL="342900" indent="-342900" algn="just" defTabSz="266700">
              <a:lnSpc>
                <a:spcPct val="145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l"/>
            </a:pPr>
            <a:r>
              <a:rPr lang="zh-CN" altLang="en-US" sz="2400" b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箱中位数平滑</a:t>
            </a:r>
            <a:r>
              <a:rPr lang="zh-CN" altLang="en-US" sz="2400" b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将箱内的数据替换为该箱中数据的中位数；</a:t>
            </a:r>
          </a:p>
          <a:p>
            <a:pPr marL="342900" indent="-342900" algn="just" defTabSz="266700">
              <a:lnSpc>
                <a:spcPct val="145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l"/>
            </a:pPr>
            <a:r>
              <a:rPr lang="zh-CN" altLang="en-US" sz="2400" b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箱边界平滑</a:t>
            </a:r>
            <a:r>
              <a:rPr lang="zh-CN" altLang="en-US" sz="2400" b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将箱中的最大值和最小值作为箱边界，其余数据替换为距离边界最近的边界值。</a:t>
            </a:r>
          </a:p>
          <a:p>
            <a:pPr marL="342900" indent="-342900" algn="just" defTabSz="266700">
              <a:lnSpc>
                <a:spcPct val="145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l"/>
            </a:pPr>
            <a:endParaRPr lang="zh-CN" altLang="en-US" sz="2800" b="0" dirty="0">
              <a:latin typeface="Times New Roman" panose="02020603050405020304"/>
              <a:ea typeface="楷体" panose="02010609060101010101" pitchFamily="49" charset="-122"/>
            </a:endParaRPr>
          </a:p>
          <a:p>
            <a:pPr marL="0" indent="0" algn="just" defTabSz="26670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800" b="0" dirty="0">
                <a:solidFill>
                  <a:schemeClr val="accent1"/>
                </a:solidFill>
                <a:latin typeface="Times New Roman" panose="02020603050405020304"/>
                <a:ea typeface="楷体" panose="02010609060101010101" pitchFamily="49" charset="-122"/>
              </a:rPr>
              <a:t>由于分箱方法考虑相邻的值，因此是一种局部平滑方法，箱的宽度越大，平滑效果越好。</a:t>
            </a:r>
          </a:p>
          <a:p>
            <a:pPr marL="0" indent="0" algn="just" defTabSz="26670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3200" b="0" dirty="0">
                <a:latin typeface="Times New Roman" panose="02020603050405020304"/>
                <a:ea typeface="楷体" panose="02010609060101010101" pitchFamily="49" charset="-122"/>
              </a:rPr>
              <a:t>      </a:t>
            </a:r>
            <a:endParaRPr lang="zh-CN" altLang="en-US" sz="2400" b="0" dirty="0">
              <a:latin typeface="Times New Roman" panose="02020603050405020304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105715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5D4C068-28F4-4A94-AEA0-F7246B380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【</a:t>
            </a:r>
            <a:r>
              <a:rPr lang="zh-CN" altLang="en-US" dirty="0"/>
              <a:t>例</a:t>
            </a:r>
            <a:r>
              <a:rPr lang="en-US" altLang="zh-CN" dirty="0"/>
              <a:t>】</a:t>
            </a:r>
            <a:r>
              <a:rPr lang="zh-CN" altLang="en-US" dirty="0"/>
              <a:t>噪声处理</a:t>
            </a:r>
            <a:r>
              <a:rPr lang="en-US" altLang="zh-CN" dirty="0"/>
              <a:t>-</a:t>
            </a:r>
            <a:r>
              <a:rPr lang="zh-CN" altLang="en-US" dirty="0"/>
              <a:t>分箱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654F547-271E-496F-996A-FCD193E111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84F5B-1672-4D3F-9FEC-5DF89A7B7912}" type="slidenum">
              <a:rPr lang="zh-CN" altLang="en-US" smtClean="0"/>
              <a:t>20</a:t>
            </a:fld>
            <a:endParaRPr lang="zh-CN" altLang="en-US"/>
          </a:p>
        </p:txBody>
      </p:sp>
      <p:sp>
        <p:nvSpPr>
          <p:cNvPr id="5" name="矩形: 圆角 55">
            <a:extLst>
              <a:ext uri="{FF2B5EF4-FFF2-40B4-BE49-F238E27FC236}">
                <a16:creationId xmlns:a16="http://schemas.microsoft.com/office/drawing/2014/main" id="{44803BD3-9F0C-49ED-9E17-52F97A382031}"/>
              </a:ext>
            </a:extLst>
          </p:cNvPr>
          <p:cNvSpPr/>
          <p:nvPr/>
        </p:nvSpPr>
        <p:spPr>
          <a:xfrm>
            <a:off x="207651" y="1137596"/>
            <a:ext cx="1601153" cy="475774"/>
          </a:xfrm>
          <a:prstGeom prst="roundRect">
            <a:avLst>
              <a:gd name="adj" fmla="val 50000"/>
            </a:avLst>
          </a:prstGeom>
          <a:noFill/>
          <a:ln w="28575">
            <a:gradFill>
              <a:gsLst>
                <a:gs pos="0">
                  <a:schemeClr val="bg2">
                    <a:lumMod val="59000"/>
                    <a:lumOff val="41000"/>
                  </a:schemeClr>
                </a:gs>
                <a:gs pos="100000">
                  <a:srgbClr val="0066FF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defRPr/>
            </a:pPr>
            <a:r>
              <a:rPr lang="zh-CN" altLang="en-US" sz="1999" b="1" dirty="0">
                <a:solidFill>
                  <a:srgbClr val="FD5C0C"/>
                </a:solidFill>
                <a:effectLst>
                  <a:reflection blurRad="6350" stA="60000" endA="900" endPos="58000" dir="5400000" sy="-100000" algn="bl" rotWithShape="0"/>
                </a:effectLst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算一算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08ED969-4C2F-4A84-85E7-958143F3DE73}"/>
              </a:ext>
            </a:extLst>
          </p:cNvPr>
          <p:cNvSpPr txBox="1"/>
          <p:nvPr/>
        </p:nvSpPr>
        <p:spPr>
          <a:xfrm>
            <a:off x="1937391" y="988530"/>
            <a:ext cx="6643901" cy="1788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defTabSz="200025">
              <a:lnSpc>
                <a:spcPct val="125000"/>
              </a:lnSpc>
              <a:spcBef>
                <a:spcPts val="300"/>
              </a:spcBef>
              <a:spcAft>
                <a:spcPct val="0"/>
              </a:spcAft>
            </a:pPr>
            <a:r>
              <a:rPr lang="zh-CN" altLang="en-US" dirty="0">
                <a:latin typeface="Times New Roman" panose="02020603050405020304"/>
                <a:ea typeface="楷体" panose="02010609060101010101" pitchFamily="49" charset="-122"/>
              </a:rPr>
              <a:t>假设某商品在近</a:t>
            </a:r>
            <a:r>
              <a:rPr lang="en-US" altLang="zh-CN" dirty="0">
                <a:latin typeface="Times New Roman" panose="02020603050405020304"/>
                <a:ea typeface="Times New Roman" panose="02020603050405020304"/>
              </a:rPr>
              <a:t>9</a:t>
            </a:r>
            <a:r>
              <a:rPr lang="zh-CN" altLang="en-US" dirty="0">
                <a:latin typeface="Times New Roman" panose="02020603050405020304"/>
                <a:ea typeface="楷体" panose="02010609060101010101" pitchFamily="49" charset="-122"/>
              </a:rPr>
              <a:t>天的销量从小到大排序后分别为</a:t>
            </a:r>
            <a:r>
              <a:rPr lang="en-US" altLang="zh-CN" dirty="0">
                <a:latin typeface="Times New Roman" panose="02020603050405020304"/>
                <a:ea typeface="Times New Roman" panose="02020603050405020304"/>
              </a:rPr>
              <a:t>3</a:t>
            </a:r>
            <a:r>
              <a:rPr lang="zh-CN" altLang="en-US" dirty="0">
                <a:latin typeface="Times New Roman" panose="02020603050405020304"/>
                <a:ea typeface="楷体" panose="02010609060101010101" pitchFamily="49" charset="-122"/>
              </a:rPr>
              <a:t>，</a:t>
            </a:r>
            <a:r>
              <a:rPr lang="en-US" altLang="zh-CN" dirty="0">
                <a:latin typeface="Times New Roman" panose="02020603050405020304"/>
                <a:ea typeface="Times New Roman" panose="02020603050405020304"/>
              </a:rPr>
              <a:t>8</a:t>
            </a:r>
            <a:r>
              <a:rPr lang="zh-CN" altLang="en-US" dirty="0">
                <a:latin typeface="Times New Roman" panose="02020603050405020304"/>
                <a:ea typeface="楷体" panose="02010609060101010101" pitchFamily="49" charset="-122"/>
              </a:rPr>
              <a:t>，</a:t>
            </a:r>
            <a:r>
              <a:rPr lang="en-US" altLang="zh-CN" dirty="0">
                <a:latin typeface="Times New Roman" panose="02020603050405020304"/>
                <a:ea typeface="Times New Roman" panose="02020603050405020304"/>
              </a:rPr>
              <a:t>16</a:t>
            </a:r>
            <a:r>
              <a:rPr lang="zh-CN" altLang="en-US" dirty="0">
                <a:latin typeface="Times New Roman" panose="02020603050405020304"/>
                <a:ea typeface="楷体" panose="02010609060101010101" pitchFamily="49" charset="-122"/>
              </a:rPr>
              <a:t>，</a:t>
            </a:r>
            <a:r>
              <a:rPr lang="en-US" altLang="zh-CN" dirty="0">
                <a:latin typeface="Times New Roman" panose="02020603050405020304"/>
                <a:ea typeface="Times New Roman" panose="02020603050405020304"/>
              </a:rPr>
              <a:t>21</a:t>
            </a:r>
            <a:r>
              <a:rPr lang="zh-CN" altLang="en-US" dirty="0">
                <a:latin typeface="Times New Roman" panose="02020603050405020304"/>
                <a:ea typeface="楷体" panose="02010609060101010101" pitchFamily="49" charset="-122"/>
              </a:rPr>
              <a:t>，</a:t>
            </a:r>
            <a:r>
              <a:rPr lang="en-US" altLang="zh-CN" dirty="0">
                <a:latin typeface="Times New Roman" panose="02020603050405020304"/>
                <a:ea typeface="Times New Roman" panose="02020603050405020304"/>
              </a:rPr>
              <a:t>25</a:t>
            </a:r>
            <a:r>
              <a:rPr lang="zh-CN" altLang="en-US" dirty="0">
                <a:latin typeface="Times New Roman" panose="02020603050405020304"/>
                <a:ea typeface="楷体" panose="02010609060101010101" pitchFamily="49" charset="-122"/>
              </a:rPr>
              <a:t>，</a:t>
            </a:r>
            <a:r>
              <a:rPr lang="en-US" altLang="zh-CN" dirty="0">
                <a:latin typeface="Times New Roman" panose="02020603050405020304"/>
                <a:ea typeface="Times New Roman" panose="02020603050405020304"/>
              </a:rPr>
              <a:t>25</a:t>
            </a:r>
            <a:r>
              <a:rPr lang="zh-CN" altLang="en-US" dirty="0">
                <a:latin typeface="Times New Roman" panose="02020603050405020304"/>
                <a:ea typeface="楷体" panose="02010609060101010101" pitchFamily="49" charset="-122"/>
              </a:rPr>
              <a:t>，</a:t>
            </a:r>
            <a:r>
              <a:rPr lang="en-US" altLang="zh-CN" dirty="0">
                <a:latin typeface="Times New Roman" panose="02020603050405020304"/>
                <a:ea typeface="Times New Roman" panose="02020603050405020304"/>
              </a:rPr>
              <a:t>32</a:t>
            </a:r>
            <a:r>
              <a:rPr lang="zh-CN" altLang="en-US" dirty="0">
                <a:latin typeface="Times New Roman" panose="02020603050405020304"/>
                <a:ea typeface="楷体" panose="02010609060101010101" pitchFamily="49" charset="-122"/>
              </a:rPr>
              <a:t>，</a:t>
            </a:r>
            <a:r>
              <a:rPr lang="en-US" altLang="zh-CN" dirty="0">
                <a:latin typeface="Times New Roman" panose="02020603050405020304"/>
                <a:ea typeface="Times New Roman" panose="02020603050405020304"/>
              </a:rPr>
              <a:t>39</a:t>
            </a:r>
            <a:r>
              <a:rPr lang="zh-CN" altLang="en-US" dirty="0">
                <a:latin typeface="Times New Roman" panose="02020603050405020304"/>
                <a:ea typeface="楷体" panose="02010609060101010101" pitchFamily="49" charset="-122"/>
              </a:rPr>
              <a:t>，</a:t>
            </a:r>
            <a:r>
              <a:rPr lang="en-US" altLang="zh-CN" dirty="0">
                <a:latin typeface="Times New Roman" panose="02020603050405020304"/>
                <a:ea typeface="Times New Roman" panose="02020603050405020304"/>
              </a:rPr>
              <a:t>44</a:t>
            </a:r>
            <a:r>
              <a:rPr lang="zh-CN" altLang="en-US" dirty="0">
                <a:latin typeface="Times New Roman" panose="02020603050405020304"/>
                <a:ea typeface="楷体" panose="02010609060101010101" pitchFamily="49" charset="-122"/>
              </a:rPr>
              <a:t>。使用等深分箱将数据分为</a:t>
            </a:r>
            <a:r>
              <a:rPr lang="en-US" altLang="zh-CN" dirty="0">
                <a:latin typeface="Times New Roman" panose="02020603050405020304"/>
                <a:ea typeface="Times New Roman" panose="02020603050405020304"/>
              </a:rPr>
              <a:t>3</a:t>
            </a:r>
            <a:r>
              <a:rPr lang="zh-CN" altLang="en-US" dirty="0">
                <a:latin typeface="Times New Roman" panose="02020603050405020304"/>
                <a:ea typeface="楷体" panose="02010609060101010101" pitchFamily="49" charset="-122"/>
              </a:rPr>
              <a:t>组，再分别使用箱均值、箱中位数、箱边界平滑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r>
              <a:rPr lang="zh-CN" altLang="en-US" dirty="0">
                <a:latin typeface="Times New Roman" panose="02020603050405020304"/>
                <a:ea typeface="楷体" panose="02010609060101010101" pitchFamily="49" charset="-122"/>
              </a:rPr>
              <a:t>对该商品历史</a:t>
            </a:r>
            <a:r>
              <a:rPr lang="en-US" altLang="zh-CN" dirty="0">
                <a:latin typeface="Times New Roman" panose="02020603050405020304"/>
                <a:ea typeface="楷体" panose="02010609060101010101" pitchFamily="49" charset="-122"/>
              </a:rPr>
              <a:t>9</a:t>
            </a:r>
            <a:r>
              <a:rPr lang="zh-CN" altLang="en-US" dirty="0">
                <a:latin typeface="Times New Roman" panose="02020603050405020304"/>
                <a:ea typeface="楷体" panose="02010609060101010101" pitchFamily="49" charset="-122"/>
              </a:rPr>
              <a:t>天的销量分箱平滑结果如表</a:t>
            </a:r>
            <a:r>
              <a:rPr lang="en-US" altLang="zh-CN" dirty="0">
                <a:latin typeface="Times New Roman" panose="02020603050405020304"/>
                <a:ea typeface="宋体" panose="02010600030101010101" pitchFamily="2" charset="-122"/>
              </a:rPr>
              <a:t>2</a:t>
            </a:r>
            <a:r>
              <a:rPr lang="en-US" altLang="zh-CN" dirty="0">
                <a:latin typeface="Times New Roman" panose="02020603050405020304"/>
                <a:ea typeface="Times New Roman" panose="02020603050405020304"/>
              </a:rPr>
              <a:t>-</a:t>
            </a:r>
            <a:r>
              <a:rPr lang="en-US" altLang="zh-CN" dirty="0">
                <a:latin typeface="Times New Roman" panose="02020603050405020304"/>
                <a:ea typeface="宋体" panose="02010600030101010101" pitchFamily="2" charset="-122"/>
              </a:rPr>
              <a:t>2</a:t>
            </a:r>
            <a:r>
              <a:rPr lang="zh-CN" altLang="en-US" dirty="0">
                <a:latin typeface="Times New Roman" panose="02020603050405020304"/>
                <a:ea typeface="楷体" panose="02010609060101010101" pitchFamily="49" charset="-122"/>
              </a:rPr>
              <a:t>所示。</a:t>
            </a:r>
          </a:p>
          <a:p>
            <a:pPr algn="ctr" defTabSz="200025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dirty="0">
                <a:latin typeface="Times New Roman" panose="02020603050405020304"/>
                <a:ea typeface="楷体" panose="02010609060101010101" pitchFamily="49" charset="-122"/>
              </a:rPr>
              <a:t>表</a:t>
            </a:r>
            <a:r>
              <a:rPr lang="en-US" altLang="zh-CN" dirty="0">
                <a:latin typeface="Times New Roman" panose="02020603050405020304"/>
                <a:ea typeface="宋体" panose="02010600030101010101" pitchFamily="2" charset="-122"/>
              </a:rPr>
              <a:t>2</a:t>
            </a:r>
            <a:r>
              <a:rPr lang="en-US" altLang="zh-CN" dirty="0">
                <a:latin typeface="Times New Roman" panose="02020603050405020304"/>
                <a:ea typeface="Times New Roman" panose="02020603050405020304"/>
              </a:rPr>
              <a:t>-</a:t>
            </a:r>
            <a:r>
              <a:rPr lang="en-US" altLang="zh-CN" dirty="0">
                <a:latin typeface="Times New Roman" panose="02020603050405020304"/>
                <a:ea typeface="宋体" panose="02010600030101010101" pitchFamily="2" charset="-122"/>
              </a:rPr>
              <a:t>2 </a:t>
            </a:r>
            <a:r>
              <a:rPr lang="zh-CN" altLang="en-US" dirty="0">
                <a:latin typeface="Times New Roman" panose="02020603050405020304"/>
                <a:ea typeface="楷体" panose="02010609060101010101" pitchFamily="49" charset="-122"/>
              </a:rPr>
              <a:t>箱均值、箱中位数和箱边界平滑结果</a:t>
            </a: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30A65803-2E81-4A1D-940E-91612B8DA31E}"/>
              </a:ext>
            </a:extLst>
          </p:cNvPr>
          <p:cNvGraphicFramePr/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34367884"/>
              </p:ext>
            </p:extLst>
          </p:nvPr>
        </p:nvGraphicFramePr>
        <p:xfrm>
          <a:off x="1937390" y="2943250"/>
          <a:ext cx="6302258" cy="2312040"/>
        </p:xfrm>
        <a:graphic>
          <a:graphicData uri="http://schemas.openxmlformats.org/drawingml/2006/table">
            <a:tbl>
              <a:tblPr/>
              <a:tblGrid>
                <a:gridCol w="11914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09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62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731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9627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78010">
                <a:tc>
                  <a:txBody>
                    <a:bodyPr/>
                    <a:lstStyle/>
                    <a:p>
                      <a:pPr marL="0" indent="266700" algn="l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i="1">
                          <a:latin typeface="等线 Light" panose="02010600030101010101" charset="-122"/>
                          <a:ea typeface="楷体" panose="02010609060101010101" pitchFamily="49" charset="-122"/>
                        </a:rPr>
                        <a:t> </a:t>
                      </a:r>
                    </a:p>
                  </a:txBody>
                  <a:tcPr marL="51435" marR="51435" marT="0" marB="0">
                    <a:lnL>
                      <a:noFill/>
                    </a:lnL>
                    <a:lnR>
                      <a:noFill/>
                    </a:lnR>
                    <a:lnT w="190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400" b="1">
                          <a:latin typeface="等线 Light" panose="02010600030101010101" charset="-122"/>
                          <a:ea typeface="楷体" panose="02010609060101010101" pitchFamily="49" charset="-122"/>
                        </a:rPr>
                        <a:t>等深分箱</a:t>
                      </a:r>
                    </a:p>
                  </a:txBody>
                  <a:tcPr marL="51435" marR="51435" marT="0" marB="0" anchor="ctr">
                    <a:lnL>
                      <a:noFill/>
                    </a:lnL>
                    <a:lnR>
                      <a:noFill/>
                    </a:lnR>
                    <a:lnT w="190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400" b="1">
                          <a:latin typeface="等线 Light" panose="02010600030101010101" charset="-122"/>
                          <a:ea typeface="楷体" panose="02010609060101010101" pitchFamily="49" charset="-122"/>
                        </a:rPr>
                        <a:t>箱均值平滑</a:t>
                      </a:r>
                    </a:p>
                  </a:txBody>
                  <a:tcPr marL="51435" marR="51435" marT="0" marB="0" anchor="ctr">
                    <a:lnL>
                      <a:noFill/>
                    </a:lnL>
                    <a:lnR>
                      <a:noFill/>
                    </a:lnR>
                    <a:lnT w="190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400" b="1">
                          <a:latin typeface="等线 Light" panose="02010600030101010101" charset="-122"/>
                          <a:ea typeface="楷体" panose="02010609060101010101" pitchFamily="49" charset="-122"/>
                        </a:rPr>
                        <a:t>箱中位数平滑</a:t>
                      </a:r>
                    </a:p>
                  </a:txBody>
                  <a:tcPr marL="51435" marR="51435" marT="0" marB="0" anchor="ctr">
                    <a:lnL>
                      <a:noFill/>
                    </a:lnL>
                    <a:lnR>
                      <a:noFill/>
                    </a:lnR>
                    <a:lnT w="190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400" b="1">
                          <a:latin typeface="等线 Light" panose="02010600030101010101" charset="-122"/>
                          <a:ea typeface="楷体" panose="02010609060101010101" pitchFamily="49" charset="-122"/>
                        </a:rPr>
                        <a:t>箱边界平滑</a:t>
                      </a:r>
                    </a:p>
                  </a:txBody>
                  <a:tcPr marL="51435" marR="51435" marT="0" marB="0" anchor="ctr">
                    <a:lnL>
                      <a:noFill/>
                    </a:lnL>
                    <a:lnR>
                      <a:noFill/>
                    </a:lnR>
                    <a:lnT w="190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8010">
                <a:tc>
                  <a:txBody>
                    <a:bodyPr/>
                    <a:lstStyle/>
                    <a:p>
                      <a:pPr marL="0" indent="266700" algn="l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400">
                          <a:latin typeface="Times New Roman" panose="02020603050405020304"/>
                          <a:ea typeface="楷体" panose="02010609060101010101" pitchFamily="49" charset="-122"/>
                        </a:rPr>
                        <a:t>箱</a:t>
                      </a:r>
                      <a:r>
                        <a:rPr lang="en-US" altLang="zh-CN" sz="1400">
                          <a:latin typeface="Times New Roman" panose="02020603050405020304"/>
                          <a:ea typeface="Times New Roman" panose="02020603050405020304"/>
                        </a:rPr>
                        <a:t>1</a:t>
                      </a:r>
                    </a:p>
                  </a:txBody>
                  <a:tcPr marL="51435" marR="51435" marT="0" marB="0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>
                          <a:latin typeface="Times New Roman" panose="02020603050405020304"/>
                          <a:ea typeface="楷体" panose="02010609060101010101" pitchFamily="49" charset="-122"/>
                        </a:rPr>
                        <a:t>3</a:t>
                      </a:r>
                      <a:r>
                        <a:rPr lang="zh-CN" sz="1400">
                          <a:latin typeface="Times New Roman" panose="02020603050405020304"/>
                          <a:ea typeface="楷体" panose="02010609060101010101" pitchFamily="49" charset="-122"/>
                        </a:rPr>
                        <a:t>，</a:t>
                      </a:r>
                      <a:r>
                        <a:rPr lang="en-US" altLang="zh-CN" sz="1400">
                          <a:latin typeface="Times New Roman" panose="02020603050405020304"/>
                          <a:ea typeface="楷体" panose="02010609060101010101" pitchFamily="49" charset="-122"/>
                        </a:rPr>
                        <a:t>8</a:t>
                      </a:r>
                      <a:r>
                        <a:rPr lang="zh-CN" sz="1400">
                          <a:latin typeface="Times New Roman" panose="02020603050405020304"/>
                          <a:ea typeface="楷体" panose="02010609060101010101" pitchFamily="49" charset="-122"/>
                        </a:rPr>
                        <a:t>，</a:t>
                      </a:r>
                      <a:r>
                        <a:rPr lang="en-US" altLang="zh-CN" sz="1400">
                          <a:latin typeface="Times New Roman" panose="02020603050405020304"/>
                          <a:ea typeface="楷体" panose="02010609060101010101" pitchFamily="49" charset="-122"/>
                        </a:rPr>
                        <a:t>16</a:t>
                      </a:r>
                    </a:p>
                  </a:txBody>
                  <a:tcPr marL="51435" marR="51435" marT="0" marB="0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>
                          <a:latin typeface="Times New Roman" panose="02020603050405020304"/>
                          <a:ea typeface="楷体" panose="02010609060101010101" pitchFamily="49" charset="-122"/>
                        </a:rPr>
                        <a:t>9</a:t>
                      </a:r>
                      <a:r>
                        <a:rPr lang="zh-CN" sz="1400">
                          <a:latin typeface="Times New Roman" panose="02020603050405020304"/>
                          <a:ea typeface="楷体" panose="02010609060101010101" pitchFamily="49" charset="-122"/>
                        </a:rPr>
                        <a:t>，</a:t>
                      </a:r>
                      <a:r>
                        <a:rPr lang="en-US" altLang="zh-CN" sz="1400">
                          <a:latin typeface="Times New Roman" panose="02020603050405020304"/>
                          <a:ea typeface="楷体" panose="02010609060101010101" pitchFamily="49" charset="-122"/>
                        </a:rPr>
                        <a:t>9</a:t>
                      </a:r>
                      <a:r>
                        <a:rPr lang="zh-CN" sz="1400">
                          <a:latin typeface="Times New Roman" panose="02020603050405020304"/>
                          <a:ea typeface="楷体" panose="02010609060101010101" pitchFamily="49" charset="-122"/>
                        </a:rPr>
                        <a:t>，</a:t>
                      </a:r>
                      <a:r>
                        <a:rPr lang="en-US" altLang="zh-CN" sz="1400">
                          <a:latin typeface="Times New Roman" panose="02020603050405020304"/>
                          <a:ea typeface="楷体" panose="02010609060101010101" pitchFamily="49" charset="-122"/>
                        </a:rPr>
                        <a:t>9</a:t>
                      </a:r>
                    </a:p>
                  </a:txBody>
                  <a:tcPr marL="51435" marR="51435" marT="0" marB="0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>
                          <a:latin typeface="Times New Roman" panose="02020603050405020304"/>
                          <a:ea typeface="楷体" panose="02010609060101010101" pitchFamily="49" charset="-122"/>
                        </a:rPr>
                        <a:t>8</a:t>
                      </a:r>
                      <a:r>
                        <a:rPr lang="zh-CN" sz="1400">
                          <a:latin typeface="Times New Roman" panose="02020603050405020304"/>
                          <a:ea typeface="楷体" panose="02010609060101010101" pitchFamily="49" charset="-122"/>
                        </a:rPr>
                        <a:t>，</a:t>
                      </a:r>
                      <a:r>
                        <a:rPr lang="en-US" altLang="zh-CN" sz="1400">
                          <a:latin typeface="Times New Roman" panose="02020603050405020304"/>
                          <a:ea typeface="楷体" panose="02010609060101010101" pitchFamily="49" charset="-122"/>
                        </a:rPr>
                        <a:t>8</a:t>
                      </a:r>
                      <a:r>
                        <a:rPr lang="zh-CN" sz="1400">
                          <a:latin typeface="Times New Roman" panose="02020603050405020304"/>
                          <a:ea typeface="楷体" panose="02010609060101010101" pitchFamily="49" charset="-122"/>
                        </a:rPr>
                        <a:t>，</a:t>
                      </a:r>
                      <a:r>
                        <a:rPr lang="en-US" altLang="zh-CN" sz="1400">
                          <a:latin typeface="Times New Roman" panose="02020603050405020304"/>
                          <a:ea typeface="楷体" panose="02010609060101010101" pitchFamily="49" charset="-122"/>
                        </a:rPr>
                        <a:t>8</a:t>
                      </a:r>
                    </a:p>
                  </a:txBody>
                  <a:tcPr marL="51435" marR="51435" marT="0" marB="0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>
                          <a:latin typeface="Times New Roman" panose="02020603050405020304"/>
                          <a:ea typeface="楷体" panose="02010609060101010101" pitchFamily="49" charset="-122"/>
                        </a:rPr>
                        <a:t>3</a:t>
                      </a:r>
                      <a:r>
                        <a:rPr lang="zh-CN" sz="1400">
                          <a:latin typeface="Times New Roman" panose="02020603050405020304"/>
                          <a:ea typeface="楷体" panose="02010609060101010101" pitchFamily="49" charset="-122"/>
                        </a:rPr>
                        <a:t>，</a:t>
                      </a:r>
                      <a:r>
                        <a:rPr lang="en-US" altLang="zh-CN" sz="1400">
                          <a:latin typeface="Times New Roman" panose="02020603050405020304"/>
                          <a:ea typeface="楷体" panose="02010609060101010101" pitchFamily="49" charset="-122"/>
                        </a:rPr>
                        <a:t>3</a:t>
                      </a:r>
                      <a:r>
                        <a:rPr lang="zh-CN" sz="1400">
                          <a:latin typeface="Times New Roman" panose="02020603050405020304"/>
                          <a:ea typeface="楷体" panose="02010609060101010101" pitchFamily="49" charset="-122"/>
                        </a:rPr>
                        <a:t>，</a:t>
                      </a:r>
                      <a:r>
                        <a:rPr lang="en-US" altLang="zh-CN" sz="1400">
                          <a:latin typeface="Times New Roman" panose="02020603050405020304"/>
                          <a:ea typeface="楷体" panose="02010609060101010101" pitchFamily="49" charset="-122"/>
                        </a:rPr>
                        <a:t>16</a:t>
                      </a:r>
                    </a:p>
                  </a:txBody>
                  <a:tcPr marL="51435" marR="51435" marT="0" marB="0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8010">
                <a:tc>
                  <a:txBody>
                    <a:bodyPr/>
                    <a:lstStyle/>
                    <a:p>
                      <a:pPr marL="0" indent="266700" algn="l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400">
                          <a:latin typeface="Times New Roman" panose="02020603050405020304"/>
                          <a:ea typeface="楷体" panose="02010609060101010101" pitchFamily="49" charset="-122"/>
                        </a:rPr>
                        <a:t>箱</a:t>
                      </a:r>
                      <a:r>
                        <a:rPr lang="en-US" altLang="zh-CN" sz="1400">
                          <a:latin typeface="Times New Roman" panose="02020603050405020304"/>
                          <a:ea typeface="Times New Roman" panose="02020603050405020304"/>
                        </a:rPr>
                        <a:t>2</a:t>
                      </a:r>
                    </a:p>
                  </a:txBody>
                  <a:tcPr marL="51435" marR="5143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>
                          <a:latin typeface="Times New Roman" panose="02020603050405020304"/>
                          <a:ea typeface="楷体" panose="02010609060101010101" pitchFamily="49" charset="-122"/>
                        </a:rPr>
                        <a:t>22</a:t>
                      </a:r>
                      <a:r>
                        <a:rPr lang="zh-CN" sz="1400">
                          <a:latin typeface="Times New Roman" panose="02020603050405020304"/>
                          <a:ea typeface="楷体" panose="02010609060101010101" pitchFamily="49" charset="-122"/>
                        </a:rPr>
                        <a:t>，</a:t>
                      </a:r>
                      <a:r>
                        <a:rPr lang="en-US" altLang="zh-CN" sz="1400">
                          <a:latin typeface="Times New Roman" panose="02020603050405020304"/>
                          <a:ea typeface="楷体" panose="02010609060101010101" pitchFamily="49" charset="-122"/>
                        </a:rPr>
                        <a:t>25</a:t>
                      </a:r>
                      <a:r>
                        <a:rPr lang="zh-CN" sz="1400">
                          <a:latin typeface="Times New Roman" panose="02020603050405020304"/>
                          <a:ea typeface="楷体" panose="02010609060101010101" pitchFamily="49" charset="-122"/>
                        </a:rPr>
                        <a:t>，</a:t>
                      </a:r>
                      <a:r>
                        <a:rPr lang="en-US" altLang="zh-CN" sz="1400">
                          <a:latin typeface="Times New Roman" panose="02020603050405020304"/>
                          <a:ea typeface="楷体" panose="02010609060101010101" pitchFamily="49" charset="-122"/>
                        </a:rPr>
                        <a:t>25</a:t>
                      </a:r>
                    </a:p>
                  </a:txBody>
                  <a:tcPr marL="51435" marR="5143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dirty="0">
                          <a:latin typeface="Times New Roman" panose="02020603050405020304"/>
                          <a:ea typeface="楷体" panose="02010609060101010101" pitchFamily="49" charset="-122"/>
                        </a:rPr>
                        <a:t>24</a:t>
                      </a:r>
                      <a:r>
                        <a:rPr lang="zh-CN" sz="1400" dirty="0">
                          <a:latin typeface="Times New Roman" panose="02020603050405020304"/>
                          <a:ea typeface="楷体" panose="02010609060101010101" pitchFamily="49" charset="-122"/>
                        </a:rPr>
                        <a:t>，</a:t>
                      </a:r>
                      <a:r>
                        <a:rPr lang="en-US" altLang="zh-CN" sz="1400" dirty="0">
                          <a:latin typeface="Times New Roman" panose="02020603050405020304"/>
                          <a:ea typeface="楷体" panose="02010609060101010101" pitchFamily="49" charset="-122"/>
                        </a:rPr>
                        <a:t>24</a:t>
                      </a:r>
                      <a:r>
                        <a:rPr lang="zh-CN" sz="1400" dirty="0">
                          <a:latin typeface="Times New Roman" panose="02020603050405020304"/>
                          <a:ea typeface="楷体" panose="02010609060101010101" pitchFamily="49" charset="-122"/>
                        </a:rPr>
                        <a:t>，</a:t>
                      </a:r>
                      <a:r>
                        <a:rPr lang="en-US" altLang="zh-CN" sz="1400" dirty="0">
                          <a:latin typeface="Times New Roman" panose="02020603050405020304"/>
                          <a:ea typeface="楷体" panose="02010609060101010101" pitchFamily="49" charset="-122"/>
                        </a:rPr>
                        <a:t>24</a:t>
                      </a:r>
                    </a:p>
                  </a:txBody>
                  <a:tcPr marL="51435" marR="5143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>
                          <a:latin typeface="Times New Roman" panose="02020603050405020304"/>
                          <a:ea typeface="楷体" panose="02010609060101010101" pitchFamily="49" charset="-122"/>
                        </a:rPr>
                        <a:t>25</a:t>
                      </a:r>
                      <a:r>
                        <a:rPr lang="zh-CN" sz="1400">
                          <a:latin typeface="Times New Roman" panose="02020603050405020304"/>
                          <a:ea typeface="楷体" panose="02010609060101010101" pitchFamily="49" charset="-122"/>
                        </a:rPr>
                        <a:t>，</a:t>
                      </a:r>
                      <a:r>
                        <a:rPr lang="en-US" altLang="zh-CN" sz="1400">
                          <a:latin typeface="Times New Roman" panose="02020603050405020304"/>
                          <a:ea typeface="楷体" panose="02010609060101010101" pitchFamily="49" charset="-122"/>
                        </a:rPr>
                        <a:t>25</a:t>
                      </a:r>
                      <a:r>
                        <a:rPr lang="zh-CN" sz="1400">
                          <a:latin typeface="Times New Roman" panose="02020603050405020304"/>
                          <a:ea typeface="楷体" panose="02010609060101010101" pitchFamily="49" charset="-122"/>
                        </a:rPr>
                        <a:t>，</a:t>
                      </a:r>
                      <a:r>
                        <a:rPr lang="en-US" altLang="zh-CN" sz="1400">
                          <a:latin typeface="Times New Roman" panose="02020603050405020304"/>
                          <a:ea typeface="楷体" panose="02010609060101010101" pitchFamily="49" charset="-122"/>
                        </a:rPr>
                        <a:t>25</a:t>
                      </a:r>
                    </a:p>
                  </a:txBody>
                  <a:tcPr marL="51435" marR="5143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>
                          <a:latin typeface="Times New Roman" panose="02020603050405020304"/>
                          <a:ea typeface="楷体" panose="02010609060101010101" pitchFamily="49" charset="-122"/>
                        </a:rPr>
                        <a:t>22</a:t>
                      </a:r>
                      <a:r>
                        <a:rPr lang="zh-CN" sz="1400">
                          <a:latin typeface="Times New Roman" panose="02020603050405020304"/>
                          <a:ea typeface="楷体" panose="02010609060101010101" pitchFamily="49" charset="-122"/>
                        </a:rPr>
                        <a:t>，</a:t>
                      </a:r>
                      <a:r>
                        <a:rPr lang="en-US" altLang="zh-CN" sz="1400">
                          <a:latin typeface="Times New Roman" panose="02020603050405020304"/>
                          <a:ea typeface="楷体" panose="02010609060101010101" pitchFamily="49" charset="-122"/>
                        </a:rPr>
                        <a:t>25</a:t>
                      </a:r>
                      <a:r>
                        <a:rPr lang="zh-CN" sz="1400">
                          <a:latin typeface="Times New Roman" panose="02020603050405020304"/>
                          <a:ea typeface="楷体" panose="02010609060101010101" pitchFamily="49" charset="-122"/>
                        </a:rPr>
                        <a:t>，</a:t>
                      </a:r>
                      <a:r>
                        <a:rPr lang="en-US" altLang="zh-CN" sz="1400">
                          <a:latin typeface="Times New Roman" panose="02020603050405020304"/>
                          <a:ea typeface="楷体" panose="02010609060101010101" pitchFamily="49" charset="-122"/>
                        </a:rPr>
                        <a:t>25</a:t>
                      </a:r>
                    </a:p>
                  </a:txBody>
                  <a:tcPr marL="51435" marR="5143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8010">
                <a:tc>
                  <a:txBody>
                    <a:bodyPr/>
                    <a:lstStyle/>
                    <a:p>
                      <a:pPr marL="0" indent="266700" algn="l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400">
                          <a:latin typeface="Times New Roman" panose="02020603050405020304"/>
                          <a:ea typeface="楷体" panose="02010609060101010101" pitchFamily="49" charset="-122"/>
                        </a:rPr>
                        <a:t>箱</a:t>
                      </a:r>
                      <a:r>
                        <a:rPr lang="en-US" altLang="zh-CN" sz="1400">
                          <a:latin typeface="Times New Roman" panose="02020603050405020304"/>
                          <a:ea typeface="Times New Roman" panose="02020603050405020304"/>
                        </a:rPr>
                        <a:t>3</a:t>
                      </a:r>
                    </a:p>
                  </a:txBody>
                  <a:tcPr marL="51435" marR="5143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>
                          <a:latin typeface="Times New Roman" panose="02020603050405020304"/>
                          <a:ea typeface="楷体" panose="02010609060101010101" pitchFamily="49" charset="-122"/>
                        </a:rPr>
                        <a:t>31</a:t>
                      </a:r>
                      <a:r>
                        <a:rPr lang="zh-CN" sz="1400">
                          <a:latin typeface="Times New Roman" panose="02020603050405020304"/>
                          <a:ea typeface="楷体" panose="02010609060101010101" pitchFamily="49" charset="-122"/>
                        </a:rPr>
                        <a:t>，</a:t>
                      </a:r>
                      <a:r>
                        <a:rPr lang="en-US" altLang="zh-CN" sz="1400">
                          <a:latin typeface="Times New Roman" panose="02020603050405020304"/>
                          <a:ea typeface="楷体" panose="02010609060101010101" pitchFamily="49" charset="-122"/>
                        </a:rPr>
                        <a:t>39</a:t>
                      </a:r>
                      <a:r>
                        <a:rPr lang="zh-CN" sz="1400">
                          <a:latin typeface="Times New Roman" panose="02020603050405020304"/>
                          <a:ea typeface="楷体" panose="02010609060101010101" pitchFamily="49" charset="-122"/>
                        </a:rPr>
                        <a:t>，</a:t>
                      </a:r>
                      <a:r>
                        <a:rPr lang="en-US" altLang="zh-CN" sz="1400">
                          <a:latin typeface="Times New Roman" panose="02020603050405020304"/>
                          <a:ea typeface="楷体" panose="02010609060101010101" pitchFamily="49" charset="-122"/>
                        </a:rPr>
                        <a:t>44</a:t>
                      </a:r>
                    </a:p>
                  </a:txBody>
                  <a:tcPr marL="51435" marR="5143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>
                          <a:latin typeface="Times New Roman" panose="02020603050405020304"/>
                          <a:ea typeface="楷体" panose="02010609060101010101" pitchFamily="49" charset="-122"/>
                        </a:rPr>
                        <a:t>38</a:t>
                      </a:r>
                      <a:r>
                        <a:rPr lang="zh-CN" sz="1400">
                          <a:latin typeface="Times New Roman" panose="02020603050405020304"/>
                          <a:ea typeface="楷体" panose="02010609060101010101" pitchFamily="49" charset="-122"/>
                        </a:rPr>
                        <a:t>，</a:t>
                      </a:r>
                      <a:r>
                        <a:rPr lang="en-US" altLang="zh-CN" sz="1400">
                          <a:latin typeface="Times New Roman" panose="02020603050405020304"/>
                          <a:ea typeface="楷体" panose="02010609060101010101" pitchFamily="49" charset="-122"/>
                        </a:rPr>
                        <a:t>38</a:t>
                      </a:r>
                      <a:r>
                        <a:rPr lang="zh-CN" sz="1400">
                          <a:latin typeface="Times New Roman" panose="02020603050405020304"/>
                          <a:ea typeface="楷体" panose="02010609060101010101" pitchFamily="49" charset="-122"/>
                        </a:rPr>
                        <a:t>，</a:t>
                      </a:r>
                      <a:r>
                        <a:rPr lang="en-US" altLang="zh-CN" sz="1400">
                          <a:latin typeface="Times New Roman" panose="02020603050405020304"/>
                          <a:ea typeface="楷体" panose="02010609060101010101" pitchFamily="49" charset="-122"/>
                        </a:rPr>
                        <a:t>38</a:t>
                      </a:r>
                    </a:p>
                  </a:txBody>
                  <a:tcPr marL="51435" marR="5143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dirty="0">
                          <a:latin typeface="Times New Roman" panose="02020603050405020304"/>
                          <a:ea typeface="楷体" panose="02010609060101010101" pitchFamily="49" charset="-122"/>
                        </a:rPr>
                        <a:t>39</a:t>
                      </a:r>
                      <a:r>
                        <a:rPr lang="zh-CN" sz="1400" dirty="0">
                          <a:latin typeface="Times New Roman" panose="02020603050405020304"/>
                          <a:ea typeface="楷体" panose="02010609060101010101" pitchFamily="49" charset="-122"/>
                        </a:rPr>
                        <a:t>，</a:t>
                      </a:r>
                      <a:r>
                        <a:rPr lang="en-US" altLang="zh-CN" sz="1400" dirty="0">
                          <a:latin typeface="Times New Roman" panose="02020603050405020304"/>
                          <a:ea typeface="楷体" panose="02010609060101010101" pitchFamily="49" charset="-122"/>
                        </a:rPr>
                        <a:t>39</a:t>
                      </a:r>
                      <a:r>
                        <a:rPr lang="zh-CN" sz="1400" dirty="0">
                          <a:latin typeface="Times New Roman" panose="02020603050405020304"/>
                          <a:ea typeface="楷体" panose="02010609060101010101" pitchFamily="49" charset="-122"/>
                        </a:rPr>
                        <a:t>，</a:t>
                      </a:r>
                      <a:r>
                        <a:rPr lang="en-US" altLang="zh-CN" sz="1400" dirty="0">
                          <a:latin typeface="Times New Roman" panose="02020603050405020304"/>
                          <a:ea typeface="楷体" panose="02010609060101010101" pitchFamily="49" charset="-122"/>
                        </a:rPr>
                        <a:t>39</a:t>
                      </a:r>
                    </a:p>
                  </a:txBody>
                  <a:tcPr marL="51435" marR="5143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dirty="0">
                          <a:latin typeface="Times New Roman" panose="02020603050405020304"/>
                          <a:ea typeface="楷体" panose="02010609060101010101" pitchFamily="49" charset="-122"/>
                        </a:rPr>
                        <a:t>31</a:t>
                      </a:r>
                      <a:r>
                        <a:rPr lang="zh-CN" sz="1400" dirty="0">
                          <a:latin typeface="Times New Roman" panose="02020603050405020304"/>
                          <a:ea typeface="楷体" panose="02010609060101010101" pitchFamily="49" charset="-122"/>
                        </a:rPr>
                        <a:t>，</a:t>
                      </a:r>
                      <a:r>
                        <a:rPr lang="en-US" altLang="zh-CN" sz="1400" dirty="0">
                          <a:latin typeface="Times New Roman" panose="02020603050405020304"/>
                          <a:ea typeface="楷体" panose="02010609060101010101" pitchFamily="49" charset="-122"/>
                        </a:rPr>
                        <a:t>44</a:t>
                      </a:r>
                      <a:r>
                        <a:rPr lang="zh-CN" sz="1400" dirty="0">
                          <a:latin typeface="Times New Roman" panose="02020603050405020304"/>
                          <a:ea typeface="楷体" panose="02010609060101010101" pitchFamily="49" charset="-122"/>
                        </a:rPr>
                        <a:t>，</a:t>
                      </a:r>
                      <a:r>
                        <a:rPr lang="en-US" altLang="zh-CN" sz="1400" dirty="0">
                          <a:latin typeface="Times New Roman" panose="02020603050405020304"/>
                          <a:ea typeface="楷体" panose="02010609060101010101" pitchFamily="49" charset="-122"/>
                        </a:rPr>
                        <a:t>44</a:t>
                      </a:r>
                    </a:p>
                  </a:txBody>
                  <a:tcPr marL="51435" marR="5143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632802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12143A-C45C-417A-A3C0-EC472C11A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【</a:t>
            </a:r>
            <a:r>
              <a:rPr lang="zh-CN" altLang="en-US" dirty="0"/>
              <a:t>例</a:t>
            </a:r>
            <a:r>
              <a:rPr lang="en-US" altLang="zh-CN" dirty="0"/>
              <a:t>】</a:t>
            </a:r>
            <a:r>
              <a:rPr lang="zh-CN" altLang="en-US" dirty="0"/>
              <a:t>数据集成</a:t>
            </a:r>
            <a:r>
              <a:rPr lang="en-US" altLang="zh-CN" dirty="0"/>
              <a:t>-</a:t>
            </a:r>
            <a:r>
              <a:rPr lang="zh-CN" altLang="en-US" dirty="0"/>
              <a:t>实体识别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4D5D8F6-ECFA-4667-8C96-1FFBCBC28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84F5B-1672-4D3F-9FEC-5DF89A7B7912}" type="slidenum">
              <a:rPr lang="zh-CN" altLang="en-US" smtClean="0"/>
              <a:t>21</a:t>
            </a:fld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D989868-1B7C-4FEB-B050-AA0F1466816C}"/>
              </a:ext>
            </a:extLst>
          </p:cNvPr>
          <p:cNvSpPr txBox="1"/>
          <p:nvPr/>
        </p:nvSpPr>
        <p:spPr>
          <a:xfrm>
            <a:off x="337398" y="963365"/>
            <a:ext cx="8469204" cy="1727200"/>
          </a:xfrm>
          <a:prstGeom prst="rect">
            <a:avLst/>
          </a:prstGeom>
        </p:spPr>
        <p:txBody>
          <a:bodyPr>
            <a:noAutofit/>
          </a:bodyPr>
          <a:lstStyle/>
          <a:p>
            <a:pPr indent="0" algn="just" defTabSz="26670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</a:t>
            </a:r>
            <a:r>
              <a:rPr lang="zh-CN" altLang="en-US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实体识别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是指识别一个或多个数据源中的两条不同记录是否描述同一实体。具体地，实体识别主要解决数据的字段意义和字段结构问题。</a:t>
            </a:r>
          </a:p>
          <a:p>
            <a:pPr indent="0" algn="just" defTabSz="26670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2800" dirty="0">
              <a:latin typeface="Times New Roman" panose="02020603050405020304"/>
              <a:ea typeface="宋体" panose="02010600030101010101" pitchFamily="2" charset="-122"/>
            </a:endParaRPr>
          </a:p>
          <a:p>
            <a:pPr indent="0" algn="just" defTabSz="26670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2800" dirty="0">
              <a:latin typeface="Times New Roman" panose="02020603050405020304"/>
              <a:ea typeface="宋体" panose="02010600030101010101" pitchFamily="2" charset="-122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800ADB06-5C32-4658-99AF-9C76A65E82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065" y="2702061"/>
            <a:ext cx="8777870" cy="3733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379453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63516" y="1700214"/>
            <a:ext cx="3616397" cy="4211955"/>
          </a:xfrm>
        </p:spPr>
        <p:txBody>
          <a:bodyPr/>
          <a:lstStyle/>
          <a:p>
            <a:r>
              <a:rPr lang="zh-CN" altLang="en-US" dirty="0"/>
              <a:t>目的</a:t>
            </a:r>
            <a:endParaRPr lang="en-US" altLang="zh-CN" dirty="0"/>
          </a:p>
          <a:p>
            <a:pPr lvl="1"/>
            <a:r>
              <a:rPr lang="zh-CN" altLang="en-US" dirty="0"/>
              <a:t>缩减数据的量</a:t>
            </a:r>
            <a:endParaRPr lang="en-US" altLang="zh-CN" dirty="0"/>
          </a:p>
          <a:p>
            <a:pPr lvl="2"/>
            <a:r>
              <a:rPr lang="zh-CN" altLang="en-US" dirty="0"/>
              <a:t>体量</a:t>
            </a:r>
            <a:endParaRPr lang="en-US" altLang="zh-CN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数据抽样</a:t>
            </a:r>
          </a:p>
        </p:txBody>
      </p:sp>
      <p:sp>
        <p:nvSpPr>
          <p:cNvPr id="5" name="矩形 4"/>
          <p:cNvSpPr/>
          <p:nvPr/>
        </p:nvSpPr>
        <p:spPr>
          <a:xfrm>
            <a:off x="2843810" y="2651314"/>
            <a:ext cx="697627" cy="45236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-257175">
              <a:lnSpc>
                <a:spcPct val="130000"/>
              </a:lnSpc>
              <a:buClr>
                <a:srgbClr val="FEB80A"/>
              </a:buClr>
            </a:pPr>
            <a:r>
              <a:rPr lang="zh-CN" altLang="en-US" sz="2000" dirty="0">
                <a:solidFill>
                  <a:srgbClr val="0070C0"/>
                </a:solidFill>
                <a:latin typeface="Times New Roman" pitchFamily="18" charset="0"/>
                <a:ea typeface="华文细黑" pitchFamily="2" charset="-122"/>
              </a:rPr>
              <a:t>维度</a:t>
            </a:r>
            <a:endParaRPr lang="en-US" altLang="zh-CN" sz="2000" dirty="0">
              <a:solidFill>
                <a:srgbClr val="0070C0"/>
              </a:solidFill>
              <a:latin typeface="Times New Roman" pitchFamily="18" charset="0"/>
              <a:ea typeface="华文细黑" pitchFamily="2" charset="-122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440" y="3429001"/>
            <a:ext cx="5716705" cy="23762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矩形 3"/>
          <p:cNvSpPr/>
          <p:nvPr/>
        </p:nvSpPr>
        <p:spPr>
          <a:xfrm>
            <a:off x="4464504" y="1818956"/>
            <a:ext cx="4644000" cy="23728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65125" indent="-282575">
              <a:lnSpc>
                <a:spcPct val="130000"/>
              </a:lnSpc>
              <a:buClr>
                <a:srgbClr val="3891A7"/>
              </a:buClr>
              <a:buSzPct val="80000"/>
              <a:buFont typeface="Wingdings 2" pitchFamily="18" charset="2"/>
              <a:buChar char=""/>
            </a:pPr>
            <a:r>
              <a:rPr lang="zh-CN" altLang="en-US" dirty="0">
                <a:solidFill>
                  <a:prstClr val="black"/>
                </a:solidFill>
                <a:latin typeface="Times New Roman" pitchFamily="18" charset="0"/>
                <a:ea typeface="华文细黑" pitchFamily="2" charset="-122"/>
              </a:rPr>
              <a:t>统计学与数据挖掘的数据抽样的目的不同</a:t>
            </a:r>
            <a:endParaRPr lang="en-US" altLang="zh-CN" dirty="0">
              <a:solidFill>
                <a:prstClr val="black"/>
              </a:solidFill>
              <a:latin typeface="Times New Roman" pitchFamily="18" charset="0"/>
              <a:ea typeface="华文细黑" pitchFamily="2" charset="-122"/>
            </a:endParaRPr>
          </a:p>
          <a:p>
            <a:pPr marL="639763" lvl="1" indent="-236538">
              <a:lnSpc>
                <a:spcPct val="130000"/>
              </a:lnSpc>
              <a:buClr>
                <a:srgbClr val="3891A7"/>
              </a:buClr>
              <a:buFont typeface="Verdana" pitchFamily="34" charset="0"/>
              <a:buChar char="◦"/>
            </a:pPr>
            <a:r>
              <a:rPr lang="zh-CN" altLang="en-US" sz="2000" dirty="0">
                <a:solidFill>
                  <a:prstClr val="black"/>
                </a:solidFill>
                <a:latin typeface="Times New Roman" pitchFamily="18" charset="0"/>
                <a:ea typeface="华文细黑" pitchFamily="2" charset="-122"/>
              </a:rPr>
              <a:t>统计学中是因得到感兴趣的整个数据样本集的资金和时间成本太高</a:t>
            </a:r>
            <a:endParaRPr lang="en-US" altLang="zh-CN" sz="2000" dirty="0">
              <a:solidFill>
                <a:prstClr val="black"/>
              </a:solidFill>
              <a:latin typeface="Times New Roman" pitchFamily="18" charset="0"/>
              <a:ea typeface="华文细黑" pitchFamily="2" charset="-122"/>
            </a:endParaRPr>
          </a:p>
          <a:p>
            <a:pPr marL="639763" lvl="1" indent="-236538">
              <a:lnSpc>
                <a:spcPct val="130000"/>
              </a:lnSpc>
              <a:buClr>
                <a:srgbClr val="3891A7"/>
              </a:buClr>
              <a:buFont typeface="Verdana" pitchFamily="34" charset="0"/>
              <a:buChar char="◦"/>
            </a:pPr>
            <a:r>
              <a:rPr lang="zh-CN" altLang="en-US" sz="2000" dirty="0">
                <a:solidFill>
                  <a:prstClr val="black"/>
                </a:solidFill>
                <a:latin typeface="Times New Roman" pitchFamily="18" charset="0"/>
                <a:ea typeface="华文细黑" pitchFamily="2" charset="-122"/>
              </a:rPr>
              <a:t>数据挖掘是为处理全部数据的资金成本和时间成本太高</a:t>
            </a:r>
          </a:p>
        </p:txBody>
      </p:sp>
    </p:spTree>
    <p:extLst>
      <p:ext uri="{BB962C8B-B14F-4D97-AF65-F5344CB8AC3E}">
        <p14:creationId xmlns:p14="http://schemas.microsoft.com/office/powerpoint/2010/main" val="1852480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原则</a:t>
            </a:r>
            <a:endParaRPr lang="en-US" altLang="zh-CN" dirty="0"/>
          </a:p>
          <a:p>
            <a:pPr lvl="1"/>
            <a:r>
              <a:rPr lang="zh-CN" altLang="en-US" dirty="0"/>
              <a:t>抽取的数据应有代表性</a:t>
            </a:r>
            <a:endParaRPr lang="en-US" altLang="zh-CN" dirty="0"/>
          </a:p>
          <a:p>
            <a:pPr lvl="1"/>
            <a:r>
              <a:rPr lang="zh-CN" altLang="en-US" dirty="0"/>
              <a:t>抽取感兴趣的内容</a:t>
            </a:r>
            <a:endParaRPr lang="en-US" altLang="zh-CN" dirty="0"/>
          </a:p>
          <a:p>
            <a:r>
              <a:rPr lang="zh-CN" altLang="en-US" dirty="0"/>
              <a:t>抽样方法</a:t>
            </a:r>
            <a:endParaRPr lang="en-US" altLang="zh-CN" dirty="0"/>
          </a:p>
          <a:p>
            <a:pPr lvl="1"/>
            <a:r>
              <a:rPr lang="zh-CN" altLang="en-US" dirty="0"/>
              <a:t>简单随机抽样</a:t>
            </a:r>
            <a:endParaRPr lang="en-US" altLang="zh-CN" dirty="0"/>
          </a:p>
          <a:p>
            <a:pPr lvl="1"/>
            <a:r>
              <a:rPr lang="zh-CN" altLang="en-US" dirty="0"/>
              <a:t>分层抽样</a:t>
            </a:r>
            <a:endParaRPr lang="en-US" altLang="zh-CN" dirty="0"/>
          </a:p>
          <a:p>
            <a:pPr lvl="1"/>
            <a:r>
              <a:rPr lang="zh-CN" altLang="en-US" dirty="0"/>
              <a:t>系统抽样</a:t>
            </a:r>
            <a:endParaRPr lang="en-US" altLang="zh-CN" dirty="0"/>
          </a:p>
          <a:p>
            <a:pPr lvl="1"/>
            <a:r>
              <a:rPr lang="zh-CN" altLang="en-US" dirty="0"/>
              <a:t>整群抽样</a:t>
            </a:r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数据抽样</a:t>
            </a:r>
          </a:p>
        </p:txBody>
      </p:sp>
    </p:spTree>
    <p:extLst>
      <p:ext uri="{BB962C8B-B14F-4D97-AF65-F5344CB8AC3E}">
        <p14:creationId xmlns:p14="http://schemas.microsoft.com/office/powerpoint/2010/main" val="297534712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63517" y="1700214"/>
            <a:ext cx="6784749" cy="4211955"/>
          </a:xfrm>
        </p:spPr>
        <p:txBody>
          <a:bodyPr>
            <a:normAutofit/>
          </a:bodyPr>
          <a:lstStyle/>
          <a:p>
            <a:r>
              <a:rPr lang="zh-CN" altLang="en-US" dirty="0"/>
              <a:t>简单随机抽样</a:t>
            </a:r>
            <a:endParaRPr lang="en-US" altLang="zh-CN" dirty="0"/>
          </a:p>
          <a:p>
            <a:pPr lvl="1"/>
            <a:r>
              <a:rPr lang="zh-CN" altLang="en-US" dirty="0"/>
              <a:t>完全随机地从原始数据中抽取一定数量的样本</a:t>
            </a:r>
            <a:endParaRPr lang="en-US" altLang="zh-CN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数据抽样</a:t>
            </a:r>
            <a:r>
              <a:rPr lang="zh-CN" altLang="en-US" sz="2800" dirty="0"/>
              <a:t> </a:t>
            </a:r>
            <a:r>
              <a:rPr lang="en-US" altLang="zh-CN" sz="2800" dirty="0"/>
              <a:t>– </a:t>
            </a:r>
            <a:r>
              <a:rPr lang="zh-CN" altLang="en-US" sz="2800" dirty="0"/>
              <a:t>抽样方法</a:t>
            </a:r>
            <a:endParaRPr lang="zh-CN" altLang="en-US" dirty="0"/>
          </a:p>
        </p:txBody>
      </p:sp>
      <p:pic>
        <p:nvPicPr>
          <p:cNvPr id="4" name="Picture 2" descr="https://timgsa.baidu.com/timg?image&amp;quality=80&amp;size=b9999_10000&amp;sec=1505234922629&amp;di=7d3e363e361d90c1cbf5f867b66df603&amp;imgtype=0&amp;src=http%3A%2F%2Fs6.sinaimg.cn%2Fbmiddle%2F5fc37565gaceee87831e5%26690"/>
          <p:cNvPicPr>
            <a:picLocks noChangeAspect="1" noChangeArrowheads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96" r="74347" b="5361"/>
          <a:stretch/>
        </p:blipFill>
        <p:spPr bwMode="auto">
          <a:xfrm>
            <a:off x="6768488" y="1458131"/>
            <a:ext cx="2196000" cy="4174314"/>
          </a:xfrm>
          <a:prstGeom prst="rect">
            <a:avLst/>
          </a:prstGeom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7" name="画布 1652941"/>
          <p:cNvGrpSpPr/>
          <p:nvPr/>
        </p:nvGrpSpPr>
        <p:grpSpPr>
          <a:xfrm>
            <a:off x="2007067" y="3429657"/>
            <a:ext cx="3294488" cy="2179232"/>
            <a:chOff x="0" y="0"/>
            <a:chExt cx="2102485" cy="1485265"/>
          </a:xfrm>
        </p:grpSpPr>
        <p:sp>
          <p:nvSpPr>
            <p:cNvPr id="8" name="矩形 7"/>
            <p:cNvSpPr/>
            <p:nvPr/>
          </p:nvSpPr>
          <p:spPr>
            <a:xfrm>
              <a:off x="0" y="0"/>
              <a:ext cx="2102485" cy="1485265"/>
            </a:xfrm>
            <a:prstGeom prst="rect">
              <a:avLst/>
            </a:prstGeom>
          </p:spPr>
        </p:sp>
        <p:sp>
          <p:nvSpPr>
            <p:cNvPr id="9" name="椭圆 8"/>
            <p:cNvSpPr/>
            <p:nvPr/>
          </p:nvSpPr>
          <p:spPr>
            <a:xfrm>
              <a:off x="38955" y="112860"/>
              <a:ext cx="136932" cy="136932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  <a:effectLst>
              <a:outerShdw blurRad="50800" dist="38100" dir="2700000" sx="85000" sy="85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69549" tIns="34774" rIns="69549" bIns="3477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sz="4400"/>
            </a:p>
          </p:txBody>
        </p:sp>
        <p:sp>
          <p:nvSpPr>
            <p:cNvPr id="10" name="矩形 9"/>
            <p:cNvSpPr/>
            <p:nvPr/>
          </p:nvSpPr>
          <p:spPr>
            <a:xfrm>
              <a:off x="1" y="274241"/>
              <a:ext cx="205397" cy="164318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  <a:effectLst>
              <a:outerShdw blurRad="50800" dist="38100" dir="2700000" sx="85000" sy="85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kern="100">
                  <a:solidFill>
                    <a:srgbClr val="000000"/>
                  </a:solidFill>
                  <a:latin typeface="Times New Roman"/>
                  <a:ea typeface="宋体"/>
                  <a:cs typeface="Times New Roman"/>
                </a:rPr>
                <a:t>1</a:t>
              </a:r>
              <a:endParaRPr lang="zh-CN" altLang="en-US" kern="100">
                <a:latin typeface="Times New Roman"/>
                <a:ea typeface="宋体"/>
                <a:cs typeface="Times New Roman"/>
              </a:endParaRPr>
            </a:p>
          </p:txBody>
        </p:sp>
        <p:sp>
          <p:nvSpPr>
            <p:cNvPr id="11" name="椭圆 10"/>
            <p:cNvSpPr/>
            <p:nvPr/>
          </p:nvSpPr>
          <p:spPr>
            <a:xfrm>
              <a:off x="1822691" y="787857"/>
              <a:ext cx="136707" cy="136707"/>
            </a:xfrm>
            <a:prstGeom prst="ellipse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outerShdw blurRad="50800" dist="38100" dir="2700000" sx="85000" sy="85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69549" tIns="34774" rIns="69549" bIns="3477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sz="4400"/>
            </a:p>
          </p:txBody>
        </p:sp>
        <p:sp>
          <p:nvSpPr>
            <p:cNvPr id="12" name="矩形 11"/>
            <p:cNvSpPr/>
            <p:nvPr/>
          </p:nvSpPr>
          <p:spPr>
            <a:xfrm>
              <a:off x="1784046" y="949200"/>
              <a:ext cx="205302" cy="164242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outerShdw blurRad="50800" dist="38100" dir="2700000" sx="85000" sy="85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1600">
                  <a:solidFill>
                    <a:srgbClr val="000000"/>
                  </a:solidFill>
                  <a:latin typeface="Times New Roman"/>
                  <a:cs typeface="宋体"/>
                </a:rPr>
                <a:t>10</a:t>
              </a:r>
              <a:endParaRPr lang="zh-CN" altLang="en-US">
                <a:latin typeface="宋体"/>
                <a:cs typeface="宋体"/>
              </a:endParaRPr>
            </a:p>
          </p:txBody>
        </p:sp>
        <p:sp>
          <p:nvSpPr>
            <p:cNvPr id="13" name="椭圆 12"/>
            <p:cNvSpPr/>
            <p:nvPr/>
          </p:nvSpPr>
          <p:spPr>
            <a:xfrm>
              <a:off x="830094" y="922331"/>
              <a:ext cx="136707" cy="136707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40000"/>
                  <a:lumOff val="60000"/>
                </a:schemeClr>
              </a:solidFill>
            </a:ln>
            <a:effectLst>
              <a:outerShdw blurRad="50800" dist="38100" dir="2700000" sx="85000" sy="85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69549" tIns="34774" rIns="69549" bIns="3477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sz="4400"/>
            </a:p>
          </p:txBody>
        </p:sp>
        <p:sp>
          <p:nvSpPr>
            <p:cNvPr id="14" name="矩形 13"/>
            <p:cNvSpPr/>
            <p:nvPr/>
          </p:nvSpPr>
          <p:spPr>
            <a:xfrm>
              <a:off x="791448" y="1083674"/>
              <a:ext cx="205302" cy="164242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40000"/>
                  <a:lumOff val="60000"/>
                </a:schemeClr>
              </a:solidFill>
            </a:ln>
            <a:effectLst>
              <a:outerShdw blurRad="50800" dist="38100" dir="2700000" sx="85000" sy="85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1600">
                  <a:solidFill>
                    <a:srgbClr val="000000"/>
                  </a:solidFill>
                  <a:latin typeface="Times New Roman"/>
                  <a:cs typeface="宋体"/>
                </a:rPr>
                <a:t>12</a:t>
              </a:r>
              <a:endParaRPr lang="zh-CN" altLang="en-US">
                <a:latin typeface="宋体"/>
                <a:cs typeface="宋体"/>
              </a:endParaRPr>
            </a:p>
          </p:txBody>
        </p:sp>
        <p:sp>
          <p:nvSpPr>
            <p:cNvPr id="15" name="椭圆 14"/>
            <p:cNvSpPr/>
            <p:nvPr/>
          </p:nvSpPr>
          <p:spPr>
            <a:xfrm>
              <a:off x="299810" y="112860"/>
              <a:ext cx="136932" cy="136932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>
                  <a:lumMod val="60000"/>
                  <a:lumOff val="40000"/>
                </a:schemeClr>
              </a:solidFill>
            </a:ln>
            <a:effectLst>
              <a:outerShdw blurRad="50800" dist="38100" dir="2700000" sx="85000" sy="85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69549" tIns="34774" rIns="69549" bIns="3477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sz="4400"/>
            </a:p>
          </p:txBody>
        </p:sp>
        <p:sp>
          <p:nvSpPr>
            <p:cNvPr id="16" name="矩形 15"/>
            <p:cNvSpPr/>
            <p:nvPr/>
          </p:nvSpPr>
          <p:spPr>
            <a:xfrm>
              <a:off x="260854" y="274241"/>
              <a:ext cx="205397" cy="164318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>
                  <a:lumMod val="60000"/>
                  <a:lumOff val="40000"/>
                </a:schemeClr>
              </a:solidFill>
            </a:ln>
            <a:effectLst>
              <a:outerShdw blurRad="50800" dist="38100" dir="2700000" sx="85000" sy="85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kern="100">
                  <a:solidFill>
                    <a:srgbClr val="000000"/>
                  </a:solidFill>
                  <a:latin typeface="Times New Roman"/>
                  <a:ea typeface="宋体"/>
                  <a:cs typeface="Times New Roman"/>
                </a:rPr>
                <a:t>2</a:t>
              </a:r>
              <a:endParaRPr lang="zh-CN" altLang="en-US" kern="100">
                <a:latin typeface="Times New Roman"/>
                <a:ea typeface="宋体"/>
                <a:cs typeface="Times New Roman"/>
              </a:endParaRPr>
            </a:p>
          </p:txBody>
        </p:sp>
        <p:sp>
          <p:nvSpPr>
            <p:cNvPr id="17" name="椭圆 16"/>
            <p:cNvSpPr/>
            <p:nvPr/>
          </p:nvSpPr>
          <p:spPr>
            <a:xfrm>
              <a:off x="840064" y="123410"/>
              <a:ext cx="136932" cy="136932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>
                  <a:lumMod val="60000"/>
                  <a:lumOff val="40000"/>
                </a:schemeClr>
              </a:solidFill>
            </a:ln>
            <a:effectLst>
              <a:outerShdw blurRad="50800" dist="38100" dir="2700000" sx="85000" sy="85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69549" tIns="34774" rIns="69549" bIns="3477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sz="4400"/>
            </a:p>
          </p:txBody>
        </p:sp>
        <p:sp>
          <p:nvSpPr>
            <p:cNvPr id="18" name="矩形 17"/>
            <p:cNvSpPr/>
            <p:nvPr/>
          </p:nvSpPr>
          <p:spPr>
            <a:xfrm>
              <a:off x="801109" y="284792"/>
              <a:ext cx="205397" cy="164318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>
                  <a:lumMod val="60000"/>
                  <a:lumOff val="40000"/>
                </a:schemeClr>
              </a:solidFill>
            </a:ln>
            <a:effectLst>
              <a:outerShdw blurRad="50800" dist="38100" dir="2700000" sx="85000" sy="85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kern="100">
                  <a:solidFill>
                    <a:srgbClr val="000000"/>
                  </a:solidFill>
                  <a:latin typeface="Times New Roman"/>
                  <a:ea typeface="宋体"/>
                  <a:cs typeface="Times New Roman"/>
                </a:rPr>
                <a:t>4</a:t>
              </a:r>
              <a:endParaRPr lang="zh-CN" altLang="en-US" kern="100">
                <a:latin typeface="Times New Roman"/>
                <a:ea typeface="宋体"/>
                <a:cs typeface="Times New Roman"/>
              </a:endParaRPr>
            </a:p>
          </p:txBody>
        </p:sp>
        <p:sp>
          <p:nvSpPr>
            <p:cNvPr id="19" name="椭圆 18"/>
            <p:cNvSpPr/>
            <p:nvPr/>
          </p:nvSpPr>
          <p:spPr>
            <a:xfrm>
              <a:off x="1566596" y="385307"/>
              <a:ext cx="136932" cy="136932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>
                  <a:lumMod val="60000"/>
                  <a:lumOff val="40000"/>
                </a:schemeClr>
              </a:solidFill>
            </a:ln>
            <a:effectLst>
              <a:outerShdw blurRad="50800" dist="38100" dir="2700000" sx="85000" sy="85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69549" tIns="34774" rIns="69549" bIns="3477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sz="4400"/>
            </a:p>
          </p:txBody>
        </p:sp>
        <p:sp>
          <p:nvSpPr>
            <p:cNvPr id="20" name="矩形 19"/>
            <p:cNvSpPr/>
            <p:nvPr/>
          </p:nvSpPr>
          <p:spPr>
            <a:xfrm>
              <a:off x="1527641" y="546689"/>
              <a:ext cx="205397" cy="164318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>
                  <a:lumMod val="60000"/>
                  <a:lumOff val="40000"/>
                </a:schemeClr>
              </a:solidFill>
            </a:ln>
            <a:effectLst>
              <a:outerShdw blurRad="50800" dist="38100" dir="2700000" sx="85000" sy="85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kern="100">
                  <a:solidFill>
                    <a:srgbClr val="000000"/>
                  </a:solidFill>
                  <a:latin typeface="Times New Roman"/>
                  <a:ea typeface="宋体"/>
                  <a:cs typeface="Times New Roman"/>
                </a:rPr>
                <a:t>2</a:t>
              </a:r>
              <a:endParaRPr lang="zh-CN" altLang="en-US" kern="100">
                <a:latin typeface="Times New Roman"/>
                <a:ea typeface="宋体"/>
                <a:cs typeface="Times New Roman"/>
              </a:endParaRPr>
            </a:p>
          </p:txBody>
        </p:sp>
        <p:sp>
          <p:nvSpPr>
            <p:cNvPr id="21" name="椭圆 20"/>
            <p:cNvSpPr/>
            <p:nvPr/>
          </p:nvSpPr>
          <p:spPr>
            <a:xfrm>
              <a:off x="299810" y="511688"/>
              <a:ext cx="136932" cy="136932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>
                  <a:lumMod val="60000"/>
                  <a:lumOff val="40000"/>
                </a:schemeClr>
              </a:solidFill>
            </a:ln>
            <a:effectLst>
              <a:outerShdw blurRad="50800" dist="38100" dir="2700000" sx="85000" sy="85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69549" tIns="34774" rIns="69549" bIns="3477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sz="4400"/>
            </a:p>
          </p:txBody>
        </p:sp>
        <p:sp>
          <p:nvSpPr>
            <p:cNvPr id="22" name="矩形 21"/>
            <p:cNvSpPr/>
            <p:nvPr/>
          </p:nvSpPr>
          <p:spPr>
            <a:xfrm>
              <a:off x="260854" y="673070"/>
              <a:ext cx="205397" cy="164318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>
                  <a:lumMod val="60000"/>
                  <a:lumOff val="40000"/>
                </a:schemeClr>
              </a:solidFill>
            </a:ln>
            <a:effectLst>
              <a:outerShdw blurRad="50800" dist="38100" dir="2700000" sx="85000" sy="85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kern="100">
                  <a:solidFill>
                    <a:srgbClr val="000000"/>
                  </a:solidFill>
                  <a:latin typeface="Times New Roman"/>
                  <a:ea typeface="宋体"/>
                  <a:cs typeface="Times New Roman"/>
                </a:rPr>
                <a:t>6</a:t>
              </a:r>
              <a:endParaRPr lang="zh-CN" altLang="en-US" kern="100">
                <a:latin typeface="Times New Roman"/>
                <a:ea typeface="宋体"/>
                <a:cs typeface="Times New Roman"/>
              </a:endParaRPr>
            </a:p>
          </p:txBody>
        </p:sp>
        <p:sp>
          <p:nvSpPr>
            <p:cNvPr id="23" name="椭圆 22"/>
            <p:cNvSpPr/>
            <p:nvPr/>
          </p:nvSpPr>
          <p:spPr>
            <a:xfrm>
              <a:off x="830403" y="522238"/>
              <a:ext cx="136932" cy="136932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>
                  <a:lumMod val="60000"/>
                  <a:lumOff val="40000"/>
                </a:schemeClr>
              </a:solidFill>
            </a:ln>
            <a:effectLst>
              <a:outerShdw blurRad="50800" dist="38100" dir="2700000" sx="85000" sy="85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69549" tIns="34774" rIns="69549" bIns="3477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sz="4400"/>
            </a:p>
          </p:txBody>
        </p:sp>
        <p:sp>
          <p:nvSpPr>
            <p:cNvPr id="24" name="矩形 23"/>
            <p:cNvSpPr/>
            <p:nvPr/>
          </p:nvSpPr>
          <p:spPr>
            <a:xfrm>
              <a:off x="791448" y="683621"/>
              <a:ext cx="205397" cy="164318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>
                  <a:lumMod val="60000"/>
                  <a:lumOff val="40000"/>
                </a:schemeClr>
              </a:solidFill>
            </a:ln>
            <a:effectLst>
              <a:outerShdw blurRad="50800" dist="38100" dir="2700000" sx="85000" sy="85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kern="100">
                  <a:solidFill>
                    <a:srgbClr val="000000"/>
                  </a:solidFill>
                  <a:latin typeface="Times New Roman"/>
                  <a:ea typeface="宋体"/>
                  <a:cs typeface="Times New Roman"/>
                </a:rPr>
                <a:t>8</a:t>
              </a:r>
              <a:endParaRPr lang="zh-CN" altLang="en-US" kern="100">
                <a:latin typeface="Times New Roman"/>
                <a:ea typeface="宋体"/>
                <a:cs typeface="Times New Roman"/>
              </a:endParaRPr>
            </a:p>
          </p:txBody>
        </p:sp>
        <p:sp>
          <p:nvSpPr>
            <p:cNvPr id="25" name="椭圆 24"/>
            <p:cNvSpPr/>
            <p:nvPr/>
          </p:nvSpPr>
          <p:spPr>
            <a:xfrm>
              <a:off x="1566596" y="787818"/>
              <a:ext cx="136932" cy="136932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>
                  <a:lumMod val="60000"/>
                  <a:lumOff val="40000"/>
                </a:schemeClr>
              </a:solidFill>
            </a:ln>
            <a:effectLst>
              <a:outerShdw blurRad="50800" dist="38100" dir="2700000" sx="85000" sy="85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69549" tIns="34774" rIns="69549" bIns="3477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sz="4400"/>
            </a:p>
          </p:txBody>
        </p:sp>
        <p:sp>
          <p:nvSpPr>
            <p:cNvPr id="26" name="矩形 25"/>
            <p:cNvSpPr/>
            <p:nvPr/>
          </p:nvSpPr>
          <p:spPr>
            <a:xfrm>
              <a:off x="1527641" y="949200"/>
              <a:ext cx="205397" cy="164318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>
                  <a:lumMod val="60000"/>
                  <a:lumOff val="40000"/>
                </a:schemeClr>
              </a:solidFill>
            </a:ln>
            <a:effectLst>
              <a:outerShdw blurRad="50800" dist="38100" dir="2700000" sx="85000" sy="85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kern="100">
                  <a:solidFill>
                    <a:srgbClr val="000000"/>
                  </a:solidFill>
                  <a:latin typeface="Times New Roman"/>
                  <a:ea typeface="宋体"/>
                  <a:cs typeface="Times New Roman"/>
                </a:rPr>
                <a:t>8</a:t>
              </a:r>
              <a:endParaRPr lang="zh-CN" altLang="en-US" kern="100">
                <a:latin typeface="Times New Roman"/>
                <a:ea typeface="宋体"/>
                <a:cs typeface="Times New Roman"/>
              </a:endParaRPr>
            </a:p>
          </p:txBody>
        </p:sp>
        <p:sp>
          <p:nvSpPr>
            <p:cNvPr id="27" name="椭圆 26"/>
            <p:cNvSpPr/>
            <p:nvPr/>
          </p:nvSpPr>
          <p:spPr>
            <a:xfrm>
              <a:off x="563174" y="525959"/>
              <a:ext cx="136932" cy="136932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>
                  <a:lumMod val="60000"/>
                  <a:lumOff val="40000"/>
                </a:schemeClr>
              </a:solidFill>
            </a:ln>
            <a:effectLst>
              <a:outerShdw blurRad="50800" dist="38100" dir="2700000" sx="85000" sy="85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69549" tIns="34774" rIns="69549" bIns="3477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sz="4400"/>
            </a:p>
          </p:txBody>
        </p:sp>
        <p:sp>
          <p:nvSpPr>
            <p:cNvPr id="28" name="矩形 27"/>
            <p:cNvSpPr/>
            <p:nvPr/>
          </p:nvSpPr>
          <p:spPr>
            <a:xfrm>
              <a:off x="524219" y="687341"/>
              <a:ext cx="205397" cy="164318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>
                  <a:lumMod val="60000"/>
                  <a:lumOff val="40000"/>
                </a:schemeClr>
              </a:solidFill>
            </a:ln>
            <a:effectLst>
              <a:outerShdw blurRad="50800" dist="38100" dir="2700000" sx="85000" sy="85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kern="100">
                  <a:solidFill>
                    <a:srgbClr val="000000"/>
                  </a:solidFill>
                  <a:latin typeface="Times New Roman"/>
                  <a:ea typeface="宋体"/>
                  <a:cs typeface="Times New Roman"/>
                </a:rPr>
                <a:t>7</a:t>
              </a:r>
              <a:endParaRPr lang="zh-CN" altLang="en-US" kern="100">
                <a:latin typeface="Times New Roman"/>
                <a:ea typeface="宋体"/>
                <a:cs typeface="Times New Roman"/>
              </a:endParaRPr>
            </a:p>
          </p:txBody>
        </p:sp>
        <p:sp>
          <p:nvSpPr>
            <p:cNvPr id="29" name="椭圆 28"/>
            <p:cNvSpPr/>
            <p:nvPr/>
          </p:nvSpPr>
          <p:spPr>
            <a:xfrm>
              <a:off x="563174" y="922216"/>
              <a:ext cx="136932" cy="136932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>
                  <a:lumMod val="60000"/>
                  <a:lumOff val="40000"/>
                </a:schemeClr>
              </a:solidFill>
            </a:ln>
            <a:effectLst>
              <a:outerShdw blurRad="50800" dist="38100" dir="2700000" sx="85000" sy="85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69549" tIns="34774" rIns="69549" bIns="3477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sz="4400"/>
            </a:p>
          </p:txBody>
        </p:sp>
        <p:sp>
          <p:nvSpPr>
            <p:cNvPr id="30" name="矩形 29"/>
            <p:cNvSpPr/>
            <p:nvPr/>
          </p:nvSpPr>
          <p:spPr>
            <a:xfrm>
              <a:off x="524219" y="1083598"/>
              <a:ext cx="205397" cy="164318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>
                  <a:lumMod val="60000"/>
                  <a:lumOff val="40000"/>
                </a:schemeClr>
              </a:solidFill>
            </a:ln>
            <a:effectLst>
              <a:outerShdw blurRad="50800" dist="38100" dir="2700000" sx="85000" sy="85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kern="100">
                  <a:solidFill>
                    <a:srgbClr val="000000"/>
                  </a:solidFill>
                  <a:latin typeface="Times New Roman"/>
                  <a:ea typeface="宋体"/>
                  <a:cs typeface="Times New Roman"/>
                </a:rPr>
                <a:t>11</a:t>
              </a:r>
              <a:endParaRPr lang="zh-CN" altLang="en-US" kern="100">
                <a:latin typeface="Times New Roman"/>
                <a:ea typeface="宋体"/>
                <a:cs typeface="Times New Roman"/>
              </a:endParaRPr>
            </a:p>
          </p:txBody>
        </p:sp>
        <p:sp>
          <p:nvSpPr>
            <p:cNvPr id="31" name="椭圆 30"/>
            <p:cNvSpPr/>
            <p:nvPr/>
          </p:nvSpPr>
          <p:spPr>
            <a:xfrm>
              <a:off x="299594" y="922331"/>
              <a:ext cx="136707" cy="136707"/>
            </a:xfrm>
            <a:prstGeom prst="ellipse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outerShdw blurRad="50800" dist="38100" dir="2700000" sx="85000" sy="85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69549" tIns="34774" rIns="69549" bIns="3477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sz="4400"/>
            </a:p>
          </p:txBody>
        </p:sp>
        <p:sp>
          <p:nvSpPr>
            <p:cNvPr id="32" name="矩形 31"/>
            <p:cNvSpPr/>
            <p:nvPr/>
          </p:nvSpPr>
          <p:spPr>
            <a:xfrm>
              <a:off x="260949" y="1083674"/>
              <a:ext cx="205302" cy="164242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outerShdw blurRad="50800" dist="38100" dir="2700000" sx="85000" sy="85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1600">
                  <a:solidFill>
                    <a:srgbClr val="000000"/>
                  </a:solidFill>
                  <a:latin typeface="Times New Roman"/>
                  <a:cs typeface="宋体"/>
                </a:rPr>
                <a:t>10</a:t>
              </a:r>
              <a:endParaRPr lang="zh-CN" altLang="en-US">
                <a:latin typeface="宋体"/>
                <a:cs typeface="宋体"/>
              </a:endParaRPr>
            </a:p>
          </p:txBody>
        </p:sp>
        <p:sp>
          <p:nvSpPr>
            <p:cNvPr id="33" name="椭圆 32"/>
            <p:cNvSpPr/>
            <p:nvPr/>
          </p:nvSpPr>
          <p:spPr>
            <a:xfrm>
              <a:off x="566423" y="117987"/>
              <a:ext cx="136932" cy="136932"/>
            </a:xfrm>
            <a:prstGeom prst="ellipse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  <a:effectLst>
              <a:outerShdw blurRad="50800" dist="38100" dir="2700000" sx="85000" sy="85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69549" tIns="34774" rIns="69549" bIns="3477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sz="4400"/>
            </a:p>
          </p:txBody>
        </p:sp>
        <p:sp>
          <p:nvSpPr>
            <p:cNvPr id="34" name="矩形 33"/>
            <p:cNvSpPr/>
            <p:nvPr/>
          </p:nvSpPr>
          <p:spPr>
            <a:xfrm>
              <a:off x="527468" y="279369"/>
              <a:ext cx="205397" cy="164318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  <a:effectLst>
              <a:outerShdw blurRad="50800" dist="38100" dir="2700000" sx="85000" sy="85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kern="100">
                  <a:solidFill>
                    <a:srgbClr val="000000"/>
                  </a:solidFill>
                  <a:latin typeface="Times New Roman"/>
                  <a:ea typeface="宋体"/>
                  <a:cs typeface="Times New Roman"/>
                </a:rPr>
                <a:t>3</a:t>
              </a:r>
              <a:endParaRPr lang="zh-CN" altLang="en-US" kern="100">
                <a:latin typeface="Times New Roman"/>
                <a:ea typeface="宋体"/>
                <a:cs typeface="Times New Roman"/>
              </a:endParaRPr>
            </a:p>
          </p:txBody>
        </p:sp>
        <p:sp>
          <p:nvSpPr>
            <p:cNvPr id="35" name="椭圆 34"/>
            <p:cNvSpPr/>
            <p:nvPr/>
          </p:nvSpPr>
          <p:spPr>
            <a:xfrm>
              <a:off x="40290" y="511688"/>
              <a:ext cx="136932" cy="136932"/>
            </a:xfrm>
            <a:prstGeom prst="ellipse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  <a:effectLst>
              <a:outerShdw blurRad="50800" dist="38100" dir="2700000" sx="85000" sy="85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69549" tIns="34774" rIns="69549" bIns="3477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sz="4400"/>
            </a:p>
          </p:txBody>
        </p:sp>
        <p:sp>
          <p:nvSpPr>
            <p:cNvPr id="36" name="矩形 35"/>
            <p:cNvSpPr/>
            <p:nvPr/>
          </p:nvSpPr>
          <p:spPr>
            <a:xfrm>
              <a:off x="1336" y="673070"/>
              <a:ext cx="205397" cy="164318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  <a:effectLst>
              <a:outerShdw blurRad="50800" dist="38100" dir="2700000" sx="85000" sy="85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kern="100">
                  <a:solidFill>
                    <a:srgbClr val="000000"/>
                  </a:solidFill>
                  <a:latin typeface="Times New Roman"/>
                  <a:ea typeface="宋体"/>
                  <a:cs typeface="Times New Roman"/>
                </a:rPr>
                <a:t>5</a:t>
              </a:r>
              <a:endParaRPr lang="zh-CN" altLang="en-US" kern="100">
                <a:latin typeface="Times New Roman"/>
                <a:ea typeface="宋体"/>
                <a:cs typeface="Times New Roman"/>
              </a:endParaRPr>
            </a:p>
          </p:txBody>
        </p:sp>
        <p:sp>
          <p:nvSpPr>
            <p:cNvPr id="37" name="椭圆 36"/>
            <p:cNvSpPr/>
            <p:nvPr/>
          </p:nvSpPr>
          <p:spPr>
            <a:xfrm>
              <a:off x="40290" y="922216"/>
              <a:ext cx="136932" cy="136932"/>
            </a:xfrm>
            <a:prstGeom prst="ellipse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  <a:effectLst>
              <a:outerShdw blurRad="50800" dist="38100" dir="2700000" sx="85000" sy="85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69549" tIns="34774" rIns="69549" bIns="3477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sz="4400"/>
            </a:p>
          </p:txBody>
        </p:sp>
        <p:sp>
          <p:nvSpPr>
            <p:cNvPr id="38" name="矩形 37"/>
            <p:cNvSpPr/>
            <p:nvPr/>
          </p:nvSpPr>
          <p:spPr>
            <a:xfrm>
              <a:off x="1336" y="1083598"/>
              <a:ext cx="205397" cy="164318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  <a:effectLst>
              <a:outerShdw blurRad="50800" dist="38100" dir="2700000" sx="85000" sy="85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kern="100">
                  <a:solidFill>
                    <a:srgbClr val="000000"/>
                  </a:solidFill>
                  <a:latin typeface="Times New Roman"/>
                  <a:ea typeface="宋体"/>
                  <a:cs typeface="Times New Roman"/>
                </a:rPr>
                <a:t>9</a:t>
              </a:r>
              <a:endParaRPr lang="zh-CN" altLang="en-US" kern="100">
                <a:latin typeface="Times New Roman"/>
                <a:ea typeface="宋体"/>
                <a:cs typeface="Times New Roman"/>
              </a:endParaRPr>
            </a:p>
          </p:txBody>
        </p:sp>
        <p:sp>
          <p:nvSpPr>
            <p:cNvPr id="39" name="椭圆 38"/>
            <p:cNvSpPr/>
            <p:nvPr/>
          </p:nvSpPr>
          <p:spPr>
            <a:xfrm>
              <a:off x="1817082" y="386898"/>
              <a:ext cx="136932" cy="136932"/>
            </a:xfrm>
            <a:prstGeom prst="ellipse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  <a:effectLst>
              <a:outerShdw blurRad="50800" dist="38100" dir="2700000" sx="85000" sy="85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69549" tIns="34774" rIns="69549" bIns="3477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sz="4400"/>
            </a:p>
          </p:txBody>
        </p:sp>
        <p:sp>
          <p:nvSpPr>
            <p:cNvPr id="40" name="矩形 39"/>
            <p:cNvSpPr/>
            <p:nvPr/>
          </p:nvSpPr>
          <p:spPr>
            <a:xfrm>
              <a:off x="1778127" y="548281"/>
              <a:ext cx="205397" cy="164318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  <a:effectLst>
              <a:outerShdw blurRad="50800" dist="38100" dir="2700000" sx="85000" sy="85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kern="100">
                  <a:solidFill>
                    <a:srgbClr val="000000"/>
                  </a:solidFill>
                  <a:latin typeface="Times New Roman"/>
                  <a:ea typeface="宋体"/>
                  <a:cs typeface="Times New Roman"/>
                </a:rPr>
                <a:t>5</a:t>
              </a:r>
              <a:endParaRPr lang="zh-CN" altLang="en-US" kern="100">
                <a:latin typeface="Times New Roman"/>
                <a:ea typeface="宋体"/>
                <a:cs typeface="Times New Roman"/>
              </a:endParaRPr>
            </a:p>
          </p:txBody>
        </p:sp>
        <p:sp>
          <p:nvSpPr>
            <p:cNvPr id="41" name="矩形 40"/>
            <p:cNvSpPr/>
            <p:nvPr/>
          </p:nvSpPr>
          <p:spPr>
            <a:xfrm>
              <a:off x="5191" y="1317459"/>
              <a:ext cx="561187" cy="164318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sx="85000" sy="85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just"/>
              <a:r>
                <a:rPr lang="zh-CN" altLang="en-US" sz="1400" kern="100">
                  <a:solidFill>
                    <a:srgbClr val="000000"/>
                  </a:solidFill>
                  <a:latin typeface="Times New Roman"/>
                  <a:ea typeface="华文细黑"/>
                  <a:cs typeface="Times New Roman"/>
                </a:rPr>
                <a:t>总体样本</a:t>
              </a:r>
              <a:endParaRPr lang="zh-CN" altLang="en-US" kern="100">
                <a:latin typeface="Times New Roman"/>
                <a:ea typeface="宋体"/>
                <a:cs typeface="Times New Roman"/>
              </a:endParaRPr>
            </a:p>
          </p:txBody>
        </p:sp>
        <p:sp>
          <p:nvSpPr>
            <p:cNvPr id="42" name="矩形 41"/>
            <p:cNvSpPr/>
            <p:nvPr/>
          </p:nvSpPr>
          <p:spPr>
            <a:xfrm>
              <a:off x="1527523" y="1166941"/>
              <a:ext cx="494337" cy="164318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sx="85000" sy="85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zh-CN" altLang="en-US" sz="1400" kern="100">
                  <a:solidFill>
                    <a:srgbClr val="000000"/>
                  </a:solidFill>
                  <a:latin typeface="Times New Roman"/>
                  <a:ea typeface="华文细黑"/>
                  <a:cs typeface="Times New Roman"/>
                </a:rPr>
                <a:t>抽样样本</a:t>
              </a:r>
              <a:endParaRPr lang="zh-CN" altLang="en-US" kern="100">
                <a:latin typeface="Times New Roman"/>
                <a:ea typeface="宋体"/>
                <a:cs typeface="Times New Roman"/>
              </a:endParaRPr>
            </a:p>
          </p:txBody>
        </p:sp>
        <p:sp>
          <p:nvSpPr>
            <p:cNvPr id="43" name="任意多边形 42"/>
            <p:cNvSpPr/>
            <p:nvPr/>
          </p:nvSpPr>
          <p:spPr>
            <a:xfrm>
              <a:off x="422840" y="27516"/>
              <a:ext cx="1196299" cy="351633"/>
            </a:xfrm>
            <a:custGeom>
              <a:avLst/>
              <a:gdLst>
                <a:gd name="connsiteX0" fmla="*/ 0 w 1572567"/>
                <a:gd name="connsiteY0" fmla="*/ 132433 h 464028"/>
                <a:gd name="connsiteX1" fmla="*/ 532563 w 1572567"/>
                <a:gd name="connsiteY1" fmla="*/ 1804 h 464028"/>
                <a:gd name="connsiteX2" fmla="*/ 1346479 w 1572567"/>
                <a:gd name="connsiteY2" fmla="*/ 217844 h 464028"/>
                <a:gd name="connsiteX3" fmla="*/ 1572567 w 1572567"/>
                <a:gd name="connsiteY3" fmla="*/ 464028 h 464028"/>
                <a:gd name="connsiteX0" fmla="*/ 0 w 1572567"/>
                <a:gd name="connsiteY0" fmla="*/ 130633 h 462228"/>
                <a:gd name="connsiteX1" fmla="*/ 532563 w 1572567"/>
                <a:gd name="connsiteY1" fmla="*/ 4 h 462228"/>
                <a:gd name="connsiteX2" fmla="*/ 1346479 w 1572567"/>
                <a:gd name="connsiteY2" fmla="*/ 216044 h 462228"/>
                <a:gd name="connsiteX3" fmla="*/ 1572567 w 1572567"/>
                <a:gd name="connsiteY3" fmla="*/ 462228 h 462228"/>
                <a:gd name="connsiteX0" fmla="*/ 0 w 1572567"/>
                <a:gd name="connsiteY0" fmla="*/ 130636 h 462231"/>
                <a:gd name="connsiteX1" fmla="*/ 403266 w 1572567"/>
                <a:gd name="connsiteY1" fmla="*/ 3 h 462231"/>
                <a:gd name="connsiteX2" fmla="*/ 1346479 w 1572567"/>
                <a:gd name="connsiteY2" fmla="*/ 216047 h 462231"/>
                <a:gd name="connsiteX3" fmla="*/ 1572567 w 1572567"/>
                <a:gd name="connsiteY3" fmla="*/ 462231 h 462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72567" h="462231">
                  <a:moveTo>
                    <a:pt x="0" y="130636"/>
                  </a:moveTo>
                  <a:cubicBezTo>
                    <a:pt x="154075" y="58204"/>
                    <a:pt x="143684" y="841"/>
                    <a:pt x="403266" y="3"/>
                  </a:cubicBezTo>
                  <a:cubicBezTo>
                    <a:pt x="662848" y="-835"/>
                    <a:pt x="1151596" y="139009"/>
                    <a:pt x="1346479" y="216047"/>
                  </a:cubicBezTo>
                  <a:cubicBezTo>
                    <a:pt x="1541362" y="293085"/>
                    <a:pt x="1546190" y="377657"/>
                    <a:pt x="1572567" y="462231"/>
                  </a:cubicBezTo>
                </a:path>
              </a:pathLst>
            </a:custGeom>
            <a:ln>
              <a:tailEnd type="arrow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="horz" wrap="square" lIns="69549" tIns="34774" rIns="69549" bIns="3477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sz="4400"/>
            </a:p>
          </p:txBody>
        </p:sp>
        <p:sp>
          <p:nvSpPr>
            <p:cNvPr id="44" name="任意多边形 43"/>
            <p:cNvSpPr/>
            <p:nvPr/>
          </p:nvSpPr>
          <p:spPr>
            <a:xfrm>
              <a:off x="185873" y="327542"/>
              <a:ext cx="1643477" cy="212133"/>
            </a:xfrm>
            <a:custGeom>
              <a:avLst/>
              <a:gdLst>
                <a:gd name="connsiteX0" fmla="*/ 0 w 2160396"/>
                <a:gd name="connsiteY0" fmla="*/ 278855 h 278855"/>
                <a:gd name="connsiteX1" fmla="*/ 190919 w 2160396"/>
                <a:gd name="connsiteY1" fmla="*/ 203492 h 278855"/>
                <a:gd name="connsiteX2" fmla="*/ 733530 w 2160396"/>
                <a:gd name="connsiteY2" fmla="*/ 208516 h 278855"/>
                <a:gd name="connsiteX3" fmla="*/ 1215851 w 2160396"/>
                <a:gd name="connsiteY3" fmla="*/ 208516 h 278855"/>
                <a:gd name="connsiteX4" fmla="*/ 1733341 w 2160396"/>
                <a:gd name="connsiteY4" fmla="*/ 47742 h 278855"/>
                <a:gd name="connsiteX5" fmla="*/ 1979525 w 2160396"/>
                <a:gd name="connsiteY5" fmla="*/ 2525 h 278855"/>
                <a:gd name="connsiteX6" fmla="*/ 2160396 w 2160396"/>
                <a:gd name="connsiteY6" fmla="*/ 108033 h 27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60396" h="278855">
                  <a:moveTo>
                    <a:pt x="0" y="278855"/>
                  </a:moveTo>
                  <a:cubicBezTo>
                    <a:pt x="34332" y="247035"/>
                    <a:pt x="68664" y="215215"/>
                    <a:pt x="190919" y="203492"/>
                  </a:cubicBezTo>
                  <a:cubicBezTo>
                    <a:pt x="313174" y="191769"/>
                    <a:pt x="733530" y="208516"/>
                    <a:pt x="733530" y="208516"/>
                  </a:cubicBezTo>
                  <a:cubicBezTo>
                    <a:pt x="904352" y="209353"/>
                    <a:pt x="1049216" y="235312"/>
                    <a:pt x="1215851" y="208516"/>
                  </a:cubicBezTo>
                  <a:cubicBezTo>
                    <a:pt x="1382486" y="181720"/>
                    <a:pt x="1606062" y="82074"/>
                    <a:pt x="1733341" y="47742"/>
                  </a:cubicBezTo>
                  <a:cubicBezTo>
                    <a:pt x="1860620" y="13410"/>
                    <a:pt x="1908349" y="-7524"/>
                    <a:pt x="1979525" y="2525"/>
                  </a:cubicBezTo>
                  <a:cubicBezTo>
                    <a:pt x="2050701" y="12573"/>
                    <a:pt x="2105548" y="60303"/>
                    <a:pt x="2160396" y="108033"/>
                  </a:cubicBezTo>
                </a:path>
              </a:pathLst>
            </a:custGeom>
            <a:ln>
              <a:tailEnd type="arrow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="horz" wrap="square" lIns="69549" tIns="34774" rIns="69549" bIns="3477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sz="4400"/>
            </a:p>
          </p:txBody>
        </p:sp>
        <p:sp>
          <p:nvSpPr>
            <p:cNvPr id="45" name="任意多边形 44"/>
            <p:cNvSpPr/>
            <p:nvPr/>
          </p:nvSpPr>
          <p:spPr>
            <a:xfrm>
              <a:off x="977035" y="589361"/>
              <a:ext cx="602498" cy="219090"/>
            </a:xfrm>
            <a:custGeom>
              <a:avLst/>
              <a:gdLst>
                <a:gd name="connsiteX0" fmla="*/ 0 w 763674"/>
                <a:gd name="connsiteY0" fmla="*/ 0 h 296426"/>
                <a:gd name="connsiteX1" fmla="*/ 502417 w 763674"/>
                <a:gd name="connsiteY1" fmla="*/ 130628 h 296426"/>
                <a:gd name="connsiteX2" fmla="*/ 763674 w 763674"/>
                <a:gd name="connsiteY2" fmla="*/ 296426 h 296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3674" h="296426">
                  <a:moveTo>
                    <a:pt x="0" y="0"/>
                  </a:moveTo>
                  <a:cubicBezTo>
                    <a:pt x="187569" y="40612"/>
                    <a:pt x="375138" y="81224"/>
                    <a:pt x="502417" y="130628"/>
                  </a:cubicBezTo>
                  <a:cubicBezTo>
                    <a:pt x="629696" y="180032"/>
                    <a:pt x="696685" y="238229"/>
                    <a:pt x="763674" y="296426"/>
                  </a:cubicBezTo>
                </a:path>
              </a:pathLst>
            </a:custGeom>
            <a:ln>
              <a:tailEnd type="arrow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="horz" wrap="square" lIns="69549" tIns="34774" rIns="69549" bIns="3477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sz="4400"/>
            </a:p>
          </p:txBody>
        </p:sp>
        <p:sp>
          <p:nvSpPr>
            <p:cNvPr id="47" name="任意多边形 46"/>
            <p:cNvSpPr/>
            <p:nvPr/>
          </p:nvSpPr>
          <p:spPr>
            <a:xfrm>
              <a:off x="426662" y="1135913"/>
              <a:ext cx="1379756" cy="290600"/>
            </a:xfrm>
            <a:custGeom>
              <a:avLst/>
              <a:gdLst>
                <a:gd name="connsiteX0" fmla="*/ 0 w 1813728"/>
                <a:gd name="connsiteY0" fmla="*/ 165798 h 382002"/>
                <a:gd name="connsiteX1" fmla="*/ 422031 w 1813728"/>
                <a:gd name="connsiteY1" fmla="*/ 381837 h 382002"/>
                <a:gd name="connsiteX2" fmla="*/ 1431890 w 1813728"/>
                <a:gd name="connsiteY2" fmla="*/ 135653 h 382002"/>
                <a:gd name="connsiteX3" fmla="*/ 1813728 w 1813728"/>
                <a:gd name="connsiteY3" fmla="*/ 0 h 382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13728" h="382002">
                  <a:moveTo>
                    <a:pt x="0" y="165798"/>
                  </a:moveTo>
                  <a:cubicBezTo>
                    <a:pt x="91691" y="276329"/>
                    <a:pt x="183383" y="386861"/>
                    <a:pt x="422031" y="381837"/>
                  </a:cubicBezTo>
                  <a:cubicBezTo>
                    <a:pt x="660679" y="376813"/>
                    <a:pt x="1199940" y="199293"/>
                    <a:pt x="1431890" y="135653"/>
                  </a:cubicBezTo>
                  <a:cubicBezTo>
                    <a:pt x="1663840" y="72013"/>
                    <a:pt x="1738784" y="36006"/>
                    <a:pt x="1813728" y="0"/>
                  </a:cubicBezTo>
                </a:path>
              </a:pathLst>
            </a:custGeom>
            <a:ln>
              <a:tailEnd type="arrow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="horz" wrap="square" lIns="69549" tIns="34774" rIns="69549" bIns="3477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sz="4400"/>
            </a:p>
          </p:txBody>
        </p:sp>
      </p:grpSp>
    </p:spTree>
    <p:extLst>
      <p:ext uri="{BB962C8B-B14F-4D97-AF65-F5344CB8AC3E}">
        <p14:creationId xmlns:p14="http://schemas.microsoft.com/office/powerpoint/2010/main" val="325356834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63517" y="1700214"/>
            <a:ext cx="6784749" cy="4211955"/>
          </a:xfrm>
        </p:spPr>
        <p:txBody>
          <a:bodyPr>
            <a:normAutofit/>
          </a:bodyPr>
          <a:lstStyle/>
          <a:p>
            <a:r>
              <a:rPr lang="zh-CN" altLang="en-US" dirty="0"/>
              <a:t>简单随机抽样</a:t>
            </a:r>
            <a:endParaRPr lang="en-US" altLang="zh-CN" dirty="0"/>
          </a:p>
          <a:p>
            <a:pPr lvl="1"/>
            <a:r>
              <a:rPr lang="zh-CN" altLang="en-US" dirty="0"/>
              <a:t>分为</a:t>
            </a:r>
            <a:endParaRPr lang="en-US" altLang="zh-CN" dirty="0"/>
          </a:p>
          <a:p>
            <a:pPr lvl="2">
              <a:lnSpc>
                <a:spcPct val="160000"/>
              </a:lnSpc>
            </a:pPr>
            <a:r>
              <a:rPr lang="zh-CN" altLang="zh-CN" dirty="0"/>
              <a:t>简单无放回抽样</a:t>
            </a:r>
            <a:endParaRPr lang="en-US" altLang="zh-CN" dirty="0"/>
          </a:p>
          <a:p>
            <a:pPr lvl="2">
              <a:lnSpc>
                <a:spcPct val="160000"/>
              </a:lnSpc>
            </a:pPr>
            <a:r>
              <a:rPr lang="zh-CN" altLang="zh-CN" dirty="0"/>
              <a:t>简单有放回抽样</a:t>
            </a:r>
            <a:endParaRPr lang="en-US" altLang="zh-CN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数据抽样</a:t>
            </a:r>
            <a:r>
              <a:rPr lang="zh-CN" altLang="en-US" sz="2800" dirty="0"/>
              <a:t> </a:t>
            </a:r>
            <a:r>
              <a:rPr lang="en-US" altLang="zh-CN" sz="2800" dirty="0"/>
              <a:t>– </a:t>
            </a:r>
            <a:r>
              <a:rPr lang="zh-CN" altLang="en-US" sz="2800" dirty="0"/>
              <a:t>抽样方法</a:t>
            </a:r>
            <a:endParaRPr lang="zh-CN" altLang="en-US" dirty="0"/>
          </a:p>
        </p:txBody>
      </p:sp>
      <p:grpSp>
        <p:nvGrpSpPr>
          <p:cNvPr id="46" name="画布 1652941"/>
          <p:cNvGrpSpPr/>
          <p:nvPr/>
        </p:nvGrpSpPr>
        <p:grpSpPr>
          <a:xfrm>
            <a:off x="5301555" y="2173092"/>
            <a:ext cx="3294488" cy="2179232"/>
            <a:chOff x="0" y="0"/>
            <a:chExt cx="2102485" cy="1485265"/>
          </a:xfrm>
        </p:grpSpPr>
        <p:sp>
          <p:nvSpPr>
            <p:cNvPr id="48" name="矩形 47"/>
            <p:cNvSpPr/>
            <p:nvPr/>
          </p:nvSpPr>
          <p:spPr>
            <a:xfrm>
              <a:off x="0" y="0"/>
              <a:ext cx="2102485" cy="1485265"/>
            </a:xfrm>
            <a:prstGeom prst="rect">
              <a:avLst/>
            </a:prstGeom>
          </p:spPr>
        </p:sp>
        <p:sp>
          <p:nvSpPr>
            <p:cNvPr id="49" name="椭圆 48"/>
            <p:cNvSpPr/>
            <p:nvPr/>
          </p:nvSpPr>
          <p:spPr>
            <a:xfrm>
              <a:off x="38955" y="112860"/>
              <a:ext cx="136932" cy="136932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  <a:effectLst>
              <a:outerShdw blurRad="50800" dist="38100" dir="2700000" sx="85000" sy="85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69549" tIns="34774" rIns="69549" bIns="3477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sz="4400"/>
            </a:p>
          </p:txBody>
        </p:sp>
        <p:sp>
          <p:nvSpPr>
            <p:cNvPr id="50" name="矩形 49"/>
            <p:cNvSpPr/>
            <p:nvPr/>
          </p:nvSpPr>
          <p:spPr>
            <a:xfrm>
              <a:off x="1" y="274241"/>
              <a:ext cx="205397" cy="164318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  <a:effectLst>
              <a:outerShdw blurRad="50800" dist="38100" dir="2700000" sx="85000" sy="85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kern="100">
                  <a:solidFill>
                    <a:srgbClr val="000000"/>
                  </a:solidFill>
                  <a:latin typeface="Times New Roman"/>
                  <a:ea typeface="宋体"/>
                  <a:cs typeface="Times New Roman"/>
                </a:rPr>
                <a:t>1</a:t>
              </a:r>
              <a:endParaRPr lang="zh-CN" altLang="en-US" kern="100">
                <a:latin typeface="Times New Roman"/>
                <a:ea typeface="宋体"/>
                <a:cs typeface="Times New Roman"/>
              </a:endParaRPr>
            </a:p>
          </p:txBody>
        </p:sp>
        <p:sp>
          <p:nvSpPr>
            <p:cNvPr id="51" name="椭圆 50"/>
            <p:cNvSpPr/>
            <p:nvPr/>
          </p:nvSpPr>
          <p:spPr>
            <a:xfrm>
              <a:off x="1822691" y="787857"/>
              <a:ext cx="136707" cy="136707"/>
            </a:xfrm>
            <a:prstGeom prst="ellipse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outerShdw blurRad="50800" dist="38100" dir="2700000" sx="85000" sy="85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69549" tIns="34774" rIns="69549" bIns="3477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sz="4400"/>
            </a:p>
          </p:txBody>
        </p:sp>
        <p:sp>
          <p:nvSpPr>
            <p:cNvPr id="52" name="矩形 51"/>
            <p:cNvSpPr/>
            <p:nvPr/>
          </p:nvSpPr>
          <p:spPr>
            <a:xfrm>
              <a:off x="1784046" y="949200"/>
              <a:ext cx="205302" cy="164242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outerShdw blurRad="50800" dist="38100" dir="2700000" sx="85000" sy="85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1600">
                  <a:solidFill>
                    <a:srgbClr val="000000"/>
                  </a:solidFill>
                  <a:latin typeface="Times New Roman"/>
                  <a:cs typeface="宋体"/>
                </a:rPr>
                <a:t>10</a:t>
              </a:r>
              <a:endParaRPr lang="zh-CN" altLang="en-US">
                <a:latin typeface="宋体"/>
                <a:cs typeface="宋体"/>
              </a:endParaRPr>
            </a:p>
          </p:txBody>
        </p:sp>
        <p:sp>
          <p:nvSpPr>
            <p:cNvPr id="53" name="椭圆 52"/>
            <p:cNvSpPr/>
            <p:nvPr/>
          </p:nvSpPr>
          <p:spPr>
            <a:xfrm>
              <a:off x="830094" y="922331"/>
              <a:ext cx="136707" cy="136707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40000"/>
                  <a:lumOff val="60000"/>
                </a:schemeClr>
              </a:solidFill>
            </a:ln>
            <a:effectLst>
              <a:outerShdw blurRad="50800" dist="38100" dir="2700000" sx="85000" sy="85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69549" tIns="34774" rIns="69549" bIns="3477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sz="4400"/>
            </a:p>
          </p:txBody>
        </p:sp>
        <p:sp>
          <p:nvSpPr>
            <p:cNvPr id="54" name="矩形 53"/>
            <p:cNvSpPr/>
            <p:nvPr/>
          </p:nvSpPr>
          <p:spPr>
            <a:xfrm>
              <a:off x="791448" y="1083674"/>
              <a:ext cx="205302" cy="164242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40000"/>
                  <a:lumOff val="60000"/>
                </a:schemeClr>
              </a:solidFill>
            </a:ln>
            <a:effectLst>
              <a:outerShdw blurRad="50800" dist="38100" dir="2700000" sx="85000" sy="85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1600">
                  <a:solidFill>
                    <a:srgbClr val="000000"/>
                  </a:solidFill>
                  <a:latin typeface="Times New Roman"/>
                  <a:cs typeface="宋体"/>
                </a:rPr>
                <a:t>12</a:t>
              </a:r>
              <a:endParaRPr lang="zh-CN" altLang="en-US">
                <a:latin typeface="宋体"/>
                <a:cs typeface="宋体"/>
              </a:endParaRPr>
            </a:p>
          </p:txBody>
        </p:sp>
        <p:sp>
          <p:nvSpPr>
            <p:cNvPr id="55" name="椭圆 54"/>
            <p:cNvSpPr/>
            <p:nvPr/>
          </p:nvSpPr>
          <p:spPr>
            <a:xfrm>
              <a:off x="299810" y="112860"/>
              <a:ext cx="136932" cy="136932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>
                  <a:lumMod val="60000"/>
                  <a:lumOff val="40000"/>
                </a:schemeClr>
              </a:solidFill>
            </a:ln>
            <a:effectLst>
              <a:outerShdw blurRad="50800" dist="38100" dir="2700000" sx="85000" sy="85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69549" tIns="34774" rIns="69549" bIns="3477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sz="4400"/>
            </a:p>
          </p:txBody>
        </p:sp>
        <p:sp>
          <p:nvSpPr>
            <p:cNvPr id="56" name="矩形 55"/>
            <p:cNvSpPr/>
            <p:nvPr/>
          </p:nvSpPr>
          <p:spPr>
            <a:xfrm>
              <a:off x="260854" y="274241"/>
              <a:ext cx="205397" cy="164318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>
                  <a:lumMod val="60000"/>
                  <a:lumOff val="40000"/>
                </a:schemeClr>
              </a:solidFill>
            </a:ln>
            <a:effectLst>
              <a:outerShdw blurRad="50800" dist="38100" dir="2700000" sx="85000" sy="85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kern="100">
                  <a:solidFill>
                    <a:srgbClr val="000000"/>
                  </a:solidFill>
                  <a:latin typeface="Times New Roman"/>
                  <a:ea typeface="宋体"/>
                  <a:cs typeface="Times New Roman"/>
                </a:rPr>
                <a:t>2</a:t>
              </a:r>
              <a:endParaRPr lang="zh-CN" altLang="en-US" kern="100">
                <a:latin typeface="Times New Roman"/>
                <a:ea typeface="宋体"/>
                <a:cs typeface="Times New Roman"/>
              </a:endParaRPr>
            </a:p>
          </p:txBody>
        </p:sp>
        <p:sp>
          <p:nvSpPr>
            <p:cNvPr id="57" name="椭圆 56"/>
            <p:cNvSpPr/>
            <p:nvPr/>
          </p:nvSpPr>
          <p:spPr>
            <a:xfrm>
              <a:off x="840064" y="123410"/>
              <a:ext cx="136932" cy="136932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>
                  <a:lumMod val="60000"/>
                  <a:lumOff val="40000"/>
                </a:schemeClr>
              </a:solidFill>
            </a:ln>
            <a:effectLst>
              <a:outerShdw blurRad="50800" dist="38100" dir="2700000" sx="85000" sy="85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69549" tIns="34774" rIns="69549" bIns="3477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sz="4400"/>
            </a:p>
          </p:txBody>
        </p:sp>
        <p:sp>
          <p:nvSpPr>
            <p:cNvPr id="58" name="矩形 57"/>
            <p:cNvSpPr/>
            <p:nvPr/>
          </p:nvSpPr>
          <p:spPr>
            <a:xfrm>
              <a:off x="801109" y="284792"/>
              <a:ext cx="205397" cy="164318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>
                  <a:lumMod val="60000"/>
                  <a:lumOff val="40000"/>
                </a:schemeClr>
              </a:solidFill>
            </a:ln>
            <a:effectLst>
              <a:outerShdw blurRad="50800" dist="38100" dir="2700000" sx="85000" sy="85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kern="100">
                  <a:solidFill>
                    <a:srgbClr val="000000"/>
                  </a:solidFill>
                  <a:latin typeface="Times New Roman"/>
                  <a:ea typeface="宋体"/>
                  <a:cs typeface="Times New Roman"/>
                </a:rPr>
                <a:t>4</a:t>
              </a:r>
              <a:endParaRPr lang="zh-CN" altLang="en-US" kern="100">
                <a:latin typeface="Times New Roman"/>
                <a:ea typeface="宋体"/>
                <a:cs typeface="Times New Roman"/>
              </a:endParaRPr>
            </a:p>
          </p:txBody>
        </p:sp>
        <p:sp>
          <p:nvSpPr>
            <p:cNvPr id="59" name="椭圆 58"/>
            <p:cNvSpPr/>
            <p:nvPr/>
          </p:nvSpPr>
          <p:spPr>
            <a:xfrm>
              <a:off x="1566596" y="385307"/>
              <a:ext cx="136932" cy="136932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>
                  <a:lumMod val="60000"/>
                  <a:lumOff val="40000"/>
                </a:schemeClr>
              </a:solidFill>
            </a:ln>
            <a:effectLst>
              <a:outerShdw blurRad="50800" dist="38100" dir="2700000" sx="85000" sy="85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69549" tIns="34774" rIns="69549" bIns="3477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sz="4400"/>
            </a:p>
          </p:txBody>
        </p:sp>
        <p:sp>
          <p:nvSpPr>
            <p:cNvPr id="60" name="矩形 59"/>
            <p:cNvSpPr/>
            <p:nvPr/>
          </p:nvSpPr>
          <p:spPr>
            <a:xfrm>
              <a:off x="1527641" y="546689"/>
              <a:ext cx="205397" cy="164318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>
                  <a:lumMod val="60000"/>
                  <a:lumOff val="40000"/>
                </a:schemeClr>
              </a:solidFill>
            </a:ln>
            <a:effectLst>
              <a:outerShdw blurRad="50800" dist="38100" dir="2700000" sx="85000" sy="85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kern="100">
                  <a:solidFill>
                    <a:srgbClr val="000000"/>
                  </a:solidFill>
                  <a:latin typeface="Times New Roman"/>
                  <a:ea typeface="宋体"/>
                  <a:cs typeface="Times New Roman"/>
                </a:rPr>
                <a:t>2</a:t>
              </a:r>
              <a:endParaRPr lang="zh-CN" altLang="en-US" kern="100">
                <a:latin typeface="Times New Roman"/>
                <a:ea typeface="宋体"/>
                <a:cs typeface="Times New Roman"/>
              </a:endParaRPr>
            </a:p>
          </p:txBody>
        </p:sp>
        <p:sp>
          <p:nvSpPr>
            <p:cNvPr id="61" name="椭圆 60"/>
            <p:cNvSpPr/>
            <p:nvPr/>
          </p:nvSpPr>
          <p:spPr>
            <a:xfrm>
              <a:off x="299810" y="511688"/>
              <a:ext cx="136932" cy="136932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>
                  <a:lumMod val="60000"/>
                  <a:lumOff val="40000"/>
                </a:schemeClr>
              </a:solidFill>
            </a:ln>
            <a:effectLst>
              <a:outerShdw blurRad="50800" dist="38100" dir="2700000" sx="85000" sy="85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69549" tIns="34774" rIns="69549" bIns="3477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sz="4400"/>
            </a:p>
          </p:txBody>
        </p:sp>
        <p:sp>
          <p:nvSpPr>
            <p:cNvPr id="62" name="矩形 61"/>
            <p:cNvSpPr/>
            <p:nvPr/>
          </p:nvSpPr>
          <p:spPr>
            <a:xfrm>
              <a:off x="260854" y="673070"/>
              <a:ext cx="205397" cy="164318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>
                  <a:lumMod val="60000"/>
                  <a:lumOff val="40000"/>
                </a:schemeClr>
              </a:solidFill>
            </a:ln>
            <a:effectLst>
              <a:outerShdw blurRad="50800" dist="38100" dir="2700000" sx="85000" sy="85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kern="100">
                  <a:solidFill>
                    <a:srgbClr val="000000"/>
                  </a:solidFill>
                  <a:latin typeface="Times New Roman"/>
                  <a:ea typeface="宋体"/>
                  <a:cs typeface="Times New Roman"/>
                </a:rPr>
                <a:t>6</a:t>
              </a:r>
              <a:endParaRPr lang="zh-CN" altLang="en-US" kern="100">
                <a:latin typeface="Times New Roman"/>
                <a:ea typeface="宋体"/>
                <a:cs typeface="Times New Roman"/>
              </a:endParaRPr>
            </a:p>
          </p:txBody>
        </p:sp>
        <p:sp>
          <p:nvSpPr>
            <p:cNvPr id="63" name="椭圆 62"/>
            <p:cNvSpPr/>
            <p:nvPr/>
          </p:nvSpPr>
          <p:spPr>
            <a:xfrm>
              <a:off x="830403" y="522238"/>
              <a:ext cx="136932" cy="136932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>
                  <a:lumMod val="60000"/>
                  <a:lumOff val="40000"/>
                </a:schemeClr>
              </a:solidFill>
            </a:ln>
            <a:effectLst>
              <a:outerShdw blurRad="50800" dist="38100" dir="2700000" sx="85000" sy="85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69549" tIns="34774" rIns="69549" bIns="3477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sz="4400"/>
            </a:p>
          </p:txBody>
        </p:sp>
        <p:sp>
          <p:nvSpPr>
            <p:cNvPr id="64" name="矩形 63"/>
            <p:cNvSpPr/>
            <p:nvPr/>
          </p:nvSpPr>
          <p:spPr>
            <a:xfrm>
              <a:off x="791448" y="683621"/>
              <a:ext cx="205397" cy="164318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>
                  <a:lumMod val="60000"/>
                  <a:lumOff val="40000"/>
                </a:schemeClr>
              </a:solidFill>
            </a:ln>
            <a:effectLst>
              <a:outerShdw blurRad="50800" dist="38100" dir="2700000" sx="85000" sy="85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kern="100">
                  <a:solidFill>
                    <a:srgbClr val="000000"/>
                  </a:solidFill>
                  <a:latin typeface="Times New Roman"/>
                  <a:ea typeface="宋体"/>
                  <a:cs typeface="Times New Roman"/>
                </a:rPr>
                <a:t>8</a:t>
              </a:r>
              <a:endParaRPr lang="zh-CN" altLang="en-US" kern="100">
                <a:latin typeface="Times New Roman"/>
                <a:ea typeface="宋体"/>
                <a:cs typeface="Times New Roman"/>
              </a:endParaRPr>
            </a:p>
          </p:txBody>
        </p:sp>
        <p:sp>
          <p:nvSpPr>
            <p:cNvPr id="65" name="椭圆 64"/>
            <p:cNvSpPr/>
            <p:nvPr/>
          </p:nvSpPr>
          <p:spPr>
            <a:xfrm>
              <a:off x="1566596" y="787818"/>
              <a:ext cx="136932" cy="136932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>
                  <a:lumMod val="60000"/>
                  <a:lumOff val="40000"/>
                </a:schemeClr>
              </a:solidFill>
            </a:ln>
            <a:effectLst>
              <a:outerShdw blurRad="50800" dist="38100" dir="2700000" sx="85000" sy="85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69549" tIns="34774" rIns="69549" bIns="3477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sz="4400"/>
            </a:p>
          </p:txBody>
        </p:sp>
        <p:sp>
          <p:nvSpPr>
            <p:cNvPr id="66" name="矩形 65"/>
            <p:cNvSpPr/>
            <p:nvPr/>
          </p:nvSpPr>
          <p:spPr>
            <a:xfrm>
              <a:off x="1527641" y="949200"/>
              <a:ext cx="205397" cy="164318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>
                  <a:lumMod val="60000"/>
                  <a:lumOff val="40000"/>
                </a:schemeClr>
              </a:solidFill>
            </a:ln>
            <a:effectLst>
              <a:outerShdw blurRad="50800" dist="38100" dir="2700000" sx="85000" sy="85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kern="100">
                  <a:solidFill>
                    <a:srgbClr val="000000"/>
                  </a:solidFill>
                  <a:latin typeface="Times New Roman"/>
                  <a:ea typeface="宋体"/>
                  <a:cs typeface="Times New Roman"/>
                </a:rPr>
                <a:t>8</a:t>
              </a:r>
              <a:endParaRPr lang="zh-CN" altLang="en-US" kern="100">
                <a:latin typeface="Times New Roman"/>
                <a:ea typeface="宋体"/>
                <a:cs typeface="Times New Roman"/>
              </a:endParaRPr>
            </a:p>
          </p:txBody>
        </p:sp>
        <p:sp>
          <p:nvSpPr>
            <p:cNvPr id="67" name="椭圆 66"/>
            <p:cNvSpPr/>
            <p:nvPr/>
          </p:nvSpPr>
          <p:spPr>
            <a:xfrm>
              <a:off x="563174" y="525959"/>
              <a:ext cx="136932" cy="136932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>
                  <a:lumMod val="60000"/>
                  <a:lumOff val="40000"/>
                </a:schemeClr>
              </a:solidFill>
            </a:ln>
            <a:effectLst>
              <a:outerShdw blurRad="50800" dist="38100" dir="2700000" sx="85000" sy="85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69549" tIns="34774" rIns="69549" bIns="3477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sz="4400"/>
            </a:p>
          </p:txBody>
        </p:sp>
        <p:sp>
          <p:nvSpPr>
            <p:cNvPr id="68" name="矩形 67"/>
            <p:cNvSpPr/>
            <p:nvPr/>
          </p:nvSpPr>
          <p:spPr>
            <a:xfrm>
              <a:off x="524219" y="687341"/>
              <a:ext cx="205397" cy="164318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>
                  <a:lumMod val="60000"/>
                  <a:lumOff val="40000"/>
                </a:schemeClr>
              </a:solidFill>
            </a:ln>
            <a:effectLst>
              <a:outerShdw blurRad="50800" dist="38100" dir="2700000" sx="85000" sy="85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kern="100">
                  <a:solidFill>
                    <a:srgbClr val="000000"/>
                  </a:solidFill>
                  <a:latin typeface="Times New Roman"/>
                  <a:ea typeface="宋体"/>
                  <a:cs typeface="Times New Roman"/>
                </a:rPr>
                <a:t>7</a:t>
              </a:r>
              <a:endParaRPr lang="zh-CN" altLang="en-US" kern="100">
                <a:latin typeface="Times New Roman"/>
                <a:ea typeface="宋体"/>
                <a:cs typeface="Times New Roman"/>
              </a:endParaRPr>
            </a:p>
          </p:txBody>
        </p:sp>
        <p:sp>
          <p:nvSpPr>
            <p:cNvPr id="69" name="椭圆 68"/>
            <p:cNvSpPr/>
            <p:nvPr/>
          </p:nvSpPr>
          <p:spPr>
            <a:xfrm>
              <a:off x="563174" y="922216"/>
              <a:ext cx="136932" cy="136932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>
                  <a:lumMod val="60000"/>
                  <a:lumOff val="40000"/>
                </a:schemeClr>
              </a:solidFill>
            </a:ln>
            <a:effectLst>
              <a:outerShdw blurRad="50800" dist="38100" dir="2700000" sx="85000" sy="85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69549" tIns="34774" rIns="69549" bIns="3477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sz="4400"/>
            </a:p>
          </p:txBody>
        </p:sp>
        <p:sp>
          <p:nvSpPr>
            <p:cNvPr id="70" name="矩形 69"/>
            <p:cNvSpPr/>
            <p:nvPr/>
          </p:nvSpPr>
          <p:spPr>
            <a:xfrm>
              <a:off x="524219" y="1083598"/>
              <a:ext cx="205397" cy="164318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>
                  <a:lumMod val="60000"/>
                  <a:lumOff val="40000"/>
                </a:schemeClr>
              </a:solidFill>
            </a:ln>
            <a:effectLst>
              <a:outerShdw blurRad="50800" dist="38100" dir="2700000" sx="85000" sy="85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kern="100">
                  <a:solidFill>
                    <a:srgbClr val="000000"/>
                  </a:solidFill>
                  <a:latin typeface="Times New Roman"/>
                  <a:ea typeface="宋体"/>
                  <a:cs typeface="Times New Roman"/>
                </a:rPr>
                <a:t>11</a:t>
              </a:r>
              <a:endParaRPr lang="zh-CN" altLang="en-US" kern="100">
                <a:latin typeface="Times New Roman"/>
                <a:ea typeface="宋体"/>
                <a:cs typeface="Times New Roman"/>
              </a:endParaRPr>
            </a:p>
          </p:txBody>
        </p:sp>
        <p:sp>
          <p:nvSpPr>
            <p:cNvPr id="71" name="椭圆 70"/>
            <p:cNvSpPr/>
            <p:nvPr/>
          </p:nvSpPr>
          <p:spPr>
            <a:xfrm>
              <a:off x="299594" y="922331"/>
              <a:ext cx="136707" cy="136707"/>
            </a:xfrm>
            <a:prstGeom prst="ellipse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outerShdw blurRad="50800" dist="38100" dir="2700000" sx="85000" sy="85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69549" tIns="34774" rIns="69549" bIns="3477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sz="4400"/>
            </a:p>
          </p:txBody>
        </p:sp>
        <p:sp>
          <p:nvSpPr>
            <p:cNvPr id="72" name="矩形 71"/>
            <p:cNvSpPr/>
            <p:nvPr/>
          </p:nvSpPr>
          <p:spPr>
            <a:xfrm>
              <a:off x="260949" y="1083674"/>
              <a:ext cx="205302" cy="164242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outerShdw blurRad="50800" dist="38100" dir="2700000" sx="85000" sy="85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1600">
                  <a:solidFill>
                    <a:srgbClr val="000000"/>
                  </a:solidFill>
                  <a:latin typeface="Times New Roman"/>
                  <a:cs typeface="宋体"/>
                </a:rPr>
                <a:t>10</a:t>
              </a:r>
              <a:endParaRPr lang="zh-CN" altLang="en-US">
                <a:latin typeface="宋体"/>
                <a:cs typeface="宋体"/>
              </a:endParaRPr>
            </a:p>
          </p:txBody>
        </p:sp>
        <p:sp>
          <p:nvSpPr>
            <p:cNvPr id="73" name="椭圆 72"/>
            <p:cNvSpPr/>
            <p:nvPr/>
          </p:nvSpPr>
          <p:spPr>
            <a:xfrm>
              <a:off x="566423" y="117987"/>
              <a:ext cx="136932" cy="136932"/>
            </a:xfrm>
            <a:prstGeom prst="ellipse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  <a:effectLst>
              <a:outerShdw blurRad="50800" dist="38100" dir="2700000" sx="85000" sy="85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69549" tIns="34774" rIns="69549" bIns="3477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sz="4400"/>
            </a:p>
          </p:txBody>
        </p:sp>
        <p:sp>
          <p:nvSpPr>
            <p:cNvPr id="74" name="矩形 73"/>
            <p:cNvSpPr/>
            <p:nvPr/>
          </p:nvSpPr>
          <p:spPr>
            <a:xfrm>
              <a:off x="527468" y="279369"/>
              <a:ext cx="205397" cy="164318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  <a:effectLst>
              <a:outerShdw blurRad="50800" dist="38100" dir="2700000" sx="85000" sy="85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kern="100">
                  <a:solidFill>
                    <a:srgbClr val="000000"/>
                  </a:solidFill>
                  <a:latin typeface="Times New Roman"/>
                  <a:ea typeface="宋体"/>
                  <a:cs typeface="Times New Roman"/>
                </a:rPr>
                <a:t>3</a:t>
              </a:r>
              <a:endParaRPr lang="zh-CN" altLang="en-US" kern="100">
                <a:latin typeface="Times New Roman"/>
                <a:ea typeface="宋体"/>
                <a:cs typeface="Times New Roman"/>
              </a:endParaRPr>
            </a:p>
          </p:txBody>
        </p:sp>
        <p:sp>
          <p:nvSpPr>
            <p:cNvPr id="75" name="椭圆 74"/>
            <p:cNvSpPr/>
            <p:nvPr/>
          </p:nvSpPr>
          <p:spPr>
            <a:xfrm>
              <a:off x="40290" y="511688"/>
              <a:ext cx="136932" cy="136932"/>
            </a:xfrm>
            <a:prstGeom prst="ellipse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  <a:effectLst>
              <a:outerShdw blurRad="50800" dist="38100" dir="2700000" sx="85000" sy="85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69549" tIns="34774" rIns="69549" bIns="3477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sz="4400"/>
            </a:p>
          </p:txBody>
        </p:sp>
        <p:sp>
          <p:nvSpPr>
            <p:cNvPr id="76" name="矩形 75"/>
            <p:cNvSpPr/>
            <p:nvPr/>
          </p:nvSpPr>
          <p:spPr>
            <a:xfrm>
              <a:off x="1336" y="673070"/>
              <a:ext cx="205397" cy="164318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  <a:effectLst>
              <a:outerShdw blurRad="50800" dist="38100" dir="2700000" sx="85000" sy="85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kern="100">
                  <a:solidFill>
                    <a:srgbClr val="000000"/>
                  </a:solidFill>
                  <a:latin typeface="Times New Roman"/>
                  <a:ea typeface="宋体"/>
                  <a:cs typeface="Times New Roman"/>
                </a:rPr>
                <a:t>5</a:t>
              </a:r>
              <a:endParaRPr lang="zh-CN" altLang="en-US" kern="100">
                <a:latin typeface="Times New Roman"/>
                <a:ea typeface="宋体"/>
                <a:cs typeface="Times New Roman"/>
              </a:endParaRPr>
            </a:p>
          </p:txBody>
        </p:sp>
        <p:sp>
          <p:nvSpPr>
            <p:cNvPr id="77" name="椭圆 76"/>
            <p:cNvSpPr/>
            <p:nvPr/>
          </p:nvSpPr>
          <p:spPr>
            <a:xfrm>
              <a:off x="40290" y="922216"/>
              <a:ext cx="136932" cy="136932"/>
            </a:xfrm>
            <a:prstGeom prst="ellipse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  <a:effectLst>
              <a:outerShdw blurRad="50800" dist="38100" dir="2700000" sx="85000" sy="85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69549" tIns="34774" rIns="69549" bIns="3477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sz="4400"/>
            </a:p>
          </p:txBody>
        </p:sp>
        <p:sp>
          <p:nvSpPr>
            <p:cNvPr id="78" name="矩形 77"/>
            <p:cNvSpPr/>
            <p:nvPr/>
          </p:nvSpPr>
          <p:spPr>
            <a:xfrm>
              <a:off x="1336" y="1083598"/>
              <a:ext cx="205397" cy="164318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  <a:effectLst>
              <a:outerShdw blurRad="50800" dist="38100" dir="2700000" sx="85000" sy="85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kern="100">
                  <a:solidFill>
                    <a:srgbClr val="000000"/>
                  </a:solidFill>
                  <a:latin typeface="Times New Roman"/>
                  <a:ea typeface="宋体"/>
                  <a:cs typeface="Times New Roman"/>
                </a:rPr>
                <a:t>9</a:t>
              </a:r>
              <a:endParaRPr lang="zh-CN" altLang="en-US" kern="100">
                <a:latin typeface="Times New Roman"/>
                <a:ea typeface="宋体"/>
                <a:cs typeface="Times New Roman"/>
              </a:endParaRPr>
            </a:p>
          </p:txBody>
        </p:sp>
        <p:sp>
          <p:nvSpPr>
            <p:cNvPr id="79" name="椭圆 78"/>
            <p:cNvSpPr/>
            <p:nvPr/>
          </p:nvSpPr>
          <p:spPr>
            <a:xfrm>
              <a:off x="1817082" y="386898"/>
              <a:ext cx="136932" cy="136932"/>
            </a:xfrm>
            <a:prstGeom prst="ellipse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  <a:effectLst>
              <a:outerShdw blurRad="50800" dist="38100" dir="2700000" sx="85000" sy="85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69549" tIns="34774" rIns="69549" bIns="3477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sz="4400"/>
            </a:p>
          </p:txBody>
        </p:sp>
        <p:sp>
          <p:nvSpPr>
            <p:cNvPr id="80" name="矩形 79"/>
            <p:cNvSpPr/>
            <p:nvPr/>
          </p:nvSpPr>
          <p:spPr>
            <a:xfrm>
              <a:off x="1778127" y="548281"/>
              <a:ext cx="205397" cy="164318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  <a:effectLst>
              <a:outerShdw blurRad="50800" dist="38100" dir="2700000" sx="85000" sy="85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kern="100">
                  <a:solidFill>
                    <a:srgbClr val="000000"/>
                  </a:solidFill>
                  <a:latin typeface="Times New Roman"/>
                  <a:ea typeface="宋体"/>
                  <a:cs typeface="Times New Roman"/>
                </a:rPr>
                <a:t>5</a:t>
              </a:r>
              <a:endParaRPr lang="zh-CN" altLang="en-US" kern="100">
                <a:latin typeface="Times New Roman"/>
                <a:ea typeface="宋体"/>
                <a:cs typeface="Times New Roman"/>
              </a:endParaRPr>
            </a:p>
          </p:txBody>
        </p:sp>
        <p:sp>
          <p:nvSpPr>
            <p:cNvPr id="81" name="矩形 80"/>
            <p:cNvSpPr/>
            <p:nvPr/>
          </p:nvSpPr>
          <p:spPr>
            <a:xfrm>
              <a:off x="5191" y="1317459"/>
              <a:ext cx="561187" cy="164318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sx="85000" sy="85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just"/>
              <a:r>
                <a:rPr lang="zh-CN" altLang="en-US" sz="1400" kern="100">
                  <a:solidFill>
                    <a:srgbClr val="000000"/>
                  </a:solidFill>
                  <a:latin typeface="Times New Roman"/>
                  <a:ea typeface="华文细黑"/>
                  <a:cs typeface="Times New Roman"/>
                </a:rPr>
                <a:t>总体样本</a:t>
              </a:r>
              <a:endParaRPr lang="zh-CN" altLang="en-US" kern="100">
                <a:latin typeface="Times New Roman"/>
                <a:ea typeface="宋体"/>
                <a:cs typeface="Times New Roman"/>
              </a:endParaRPr>
            </a:p>
          </p:txBody>
        </p:sp>
        <p:sp>
          <p:nvSpPr>
            <p:cNvPr id="82" name="矩形 81"/>
            <p:cNvSpPr/>
            <p:nvPr/>
          </p:nvSpPr>
          <p:spPr>
            <a:xfrm>
              <a:off x="1527523" y="1166941"/>
              <a:ext cx="494337" cy="164318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sx="85000" sy="85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zh-CN" altLang="en-US" sz="1400" kern="100">
                  <a:solidFill>
                    <a:srgbClr val="000000"/>
                  </a:solidFill>
                  <a:latin typeface="Times New Roman"/>
                  <a:ea typeface="华文细黑"/>
                  <a:cs typeface="Times New Roman"/>
                </a:rPr>
                <a:t>抽样样本</a:t>
              </a:r>
              <a:endParaRPr lang="zh-CN" altLang="en-US" kern="100">
                <a:latin typeface="Times New Roman"/>
                <a:ea typeface="宋体"/>
                <a:cs typeface="Times New Roman"/>
              </a:endParaRPr>
            </a:p>
          </p:txBody>
        </p:sp>
        <p:sp>
          <p:nvSpPr>
            <p:cNvPr id="83" name="任意多边形 82"/>
            <p:cNvSpPr/>
            <p:nvPr/>
          </p:nvSpPr>
          <p:spPr>
            <a:xfrm>
              <a:off x="422840" y="27516"/>
              <a:ext cx="1196299" cy="351633"/>
            </a:xfrm>
            <a:custGeom>
              <a:avLst/>
              <a:gdLst>
                <a:gd name="connsiteX0" fmla="*/ 0 w 1572567"/>
                <a:gd name="connsiteY0" fmla="*/ 132433 h 464028"/>
                <a:gd name="connsiteX1" fmla="*/ 532563 w 1572567"/>
                <a:gd name="connsiteY1" fmla="*/ 1804 h 464028"/>
                <a:gd name="connsiteX2" fmla="*/ 1346479 w 1572567"/>
                <a:gd name="connsiteY2" fmla="*/ 217844 h 464028"/>
                <a:gd name="connsiteX3" fmla="*/ 1572567 w 1572567"/>
                <a:gd name="connsiteY3" fmla="*/ 464028 h 464028"/>
                <a:gd name="connsiteX0" fmla="*/ 0 w 1572567"/>
                <a:gd name="connsiteY0" fmla="*/ 130633 h 462228"/>
                <a:gd name="connsiteX1" fmla="*/ 532563 w 1572567"/>
                <a:gd name="connsiteY1" fmla="*/ 4 h 462228"/>
                <a:gd name="connsiteX2" fmla="*/ 1346479 w 1572567"/>
                <a:gd name="connsiteY2" fmla="*/ 216044 h 462228"/>
                <a:gd name="connsiteX3" fmla="*/ 1572567 w 1572567"/>
                <a:gd name="connsiteY3" fmla="*/ 462228 h 462228"/>
                <a:gd name="connsiteX0" fmla="*/ 0 w 1572567"/>
                <a:gd name="connsiteY0" fmla="*/ 130636 h 462231"/>
                <a:gd name="connsiteX1" fmla="*/ 403266 w 1572567"/>
                <a:gd name="connsiteY1" fmla="*/ 3 h 462231"/>
                <a:gd name="connsiteX2" fmla="*/ 1346479 w 1572567"/>
                <a:gd name="connsiteY2" fmla="*/ 216047 h 462231"/>
                <a:gd name="connsiteX3" fmla="*/ 1572567 w 1572567"/>
                <a:gd name="connsiteY3" fmla="*/ 462231 h 462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72567" h="462231">
                  <a:moveTo>
                    <a:pt x="0" y="130636"/>
                  </a:moveTo>
                  <a:cubicBezTo>
                    <a:pt x="154075" y="58204"/>
                    <a:pt x="143684" y="841"/>
                    <a:pt x="403266" y="3"/>
                  </a:cubicBezTo>
                  <a:cubicBezTo>
                    <a:pt x="662848" y="-835"/>
                    <a:pt x="1151596" y="139009"/>
                    <a:pt x="1346479" y="216047"/>
                  </a:cubicBezTo>
                  <a:cubicBezTo>
                    <a:pt x="1541362" y="293085"/>
                    <a:pt x="1546190" y="377657"/>
                    <a:pt x="1572567" y="462231"/>
                  </a:cubicBezTo>
                </a:path>
              </a:pathLst>
            </a:custGeom>
            <a:ln>
              <a:tailEnd type="arrow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="horz" wrap="square" lIns="69549" tIns="34774" rIns="69549" bIns="3477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sz="4400"/>
            </a:p>
          </p:txBody>
        </p:sp>
        <p:sp>
          <p:nvSpPr>
            <p:cNvPr id="84" name="任意多边形 83"/>
            <p:cNvSpPr/>
            <p:nvPr/>
          </p:nvSpPr>
          <p:spPr>
            <a:xfrm>
              <a:off x="185873" y="327542"/>
              <a:ext cx="1643477" cy="212133"/>
            </a:xfrm>
            <a:custGeom>
              <a:avLst/>
              <a:gdLst>
                <a:gd name="connsiteX0" fmla="*/ 0 w 2160396"/>
                <a:gd name="connsiteY0" fmla="*/ 278855 h 278855"/>
                <a:gd name="connsiteX1" fmla="*/ 190919 w 2160396"/>
                <a:gd name="connsiteY1" fmla="*/ 203492 h 278855"/>
                <a:gd name="connsiteX2" fmla="*/ 733530 w 2160396"/>
                <a:gd name="connsiteY2" fmla="*/ 208516 h 278855"/>
                <a:gd name="connsiteX3" fmla="*/ 1215851 w 2160396"/>
                <a:gd name="connsiteY3" fmla="*/ 208516 h 278855"/>
                <a:gd name="connsiteX4" fmla="*/ 1733341 w 2160396"/>
                <a:gd name="connsiteY4" fmla="*/ 47742 h 278855"/>
                <a:gd name="connsiteX5" fmla="*/ 1979525 w 2160396"/>
                <a:gd name="connsiteY5" fmla="*/ 2525 h 278855"/>
                <a:gd name="connsiteX6" fmla="*/ 2160396 w 2160396"/>
                <a:gd name="connsiteY6" fmla="*/ 108033 h 27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60396" h="278855">
                  <a:moveTo>
                    <a:pt x="0" y="278855"/>
                  </a:moveTo>
                  <a:cubicBezTo>
                    <a:pt x="34332" y="247035"/>
                    <a:pt x="68664" y="215215"/>
                    <a:pt x="190919" y="203492"/>
                  </a:cubicBezTo>
                  <a:cubicBezTo>
                    <a:pt x="313174" y="191769"/>
                    <a:pt x="733530" y="208516"/>
                    <a:pt x="733530" y="208516"/>
                  </a:cubicBezTo>
                  <a:cubicBezTo>
                    <a:pt x="904352" y="209353"/>
                    <a:pt x="1049216" y="235312"/>
                    <a:pt x="1215851" y="208516"/>
                  </a:cubicBezTo>
                  <a:cubicBezTo>
                    <a:pt x="1382486" y="181720"/>
                    <a:pt x="1606062" y="82074"/>
                    <a:pt x="1733341" y="47742"/>
                  </a:cubicBezTo>
                  <a:cubicBezTo>
                    <a:pt x="1860620" y="13410"/>
                    <a:pt x="1908349" y="-7524"/>
                    <a:pt x="1979525" y="2525"/>
                  </a:cubicBezTo>
                  <a:cubicBezTo>
                    <a:pt x="2050701" y="12573"/>
                    <a:pt x="2105548" y="60303"/>
                    <a:pt x="2160396" y="108033"/>
                  </a:cubicBezTo>
                </a:path>
              </a:pathLst>
            </a:custGeom>
            <a:ln>
              <a:tailEnd type="arrow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="horz" wrap="square" lIns="69549" tIns="34774" rIns="69549" bIns="3477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sz="4400"/>
            </a:p>
          </p:txBody>
        </p:sp>
        <p:sp>
          <p:nvSpPr>
            <p:cNvPr id="85" name="任意多边形 84"/>
            <p:cNvSpPr/>
            <p:nvPr/>
          </p:nvSpPr>
          <p:spPr>
            <a:xfrm>
              <a:off x="977035" y="589361"/>
              <a:ext cx="602498" cy="219090"/>
            </a:xfrm>
            <a:custGeom>
              <a:avLst/>
              <a:gdLst>
                <a:gd name="connsiteX0" fmla="*/ 0 w 763674"/>
                <a:gd name="connsiteY0" fmla="*/ 0 h 296426"/>
                <a:gd name="connsiteX1" fmla="*/ 502417 w 763674"/>
                <a:gd name="connsiteY1" fmla="*/ 130628 h 296426"/>
                <a:gd name="connsiteX2" fmla="*/ 763674 w 763674"/>
                <a:gd name="connsiteY2" fmla="*/ 296426 h 296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3674" h="296426">
                  <a:moveTo>
                    <a:pt x="0" y="0"/>
                  </a:moveTo>
                  <a:cubicBezTo>
                    <a:pt x="187569" y="40612"/>
                    <a:pt x="375138" y="81224"/>
                    <a:pt x="502417" y="130628"/>
                  </a:cubicBezTo>
                  <a:cubicBezTo>
                    <a:pt x="629696" y="180032"/>
                    <a:pt x="696685" y="238229"/>
                    <a:pt x="763674" y="296426"/>
                  </a:cubicBezTo>
                </a:path>
              </a:pathLst>
            </a:custGeom>
            <a:ln>
              <a:tailEnd type="arrow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="horz" wrap="square" lIns="69549" tIns="34774" rIns="69549" bIns="3477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sz="4400"/>
            </a:p>
          </p:txBody>
        </p:sp>
        <p:sp>
          <p:nvSpPr>
            <p:cNvPr id="86" name="任意多边形 85"/>
            <p:cNvSpPr/>
            <p:nvPr/>
          </p:nvSpPr>
          <p:spPr>
            <a:xfrm>
              <a:off x="426662" y="1135913"/>
              <a:ext cx="1379756" cy="290600"/>
            </a:xfrm>
            <a:custGeom>
              <a:avLst/>
              <a:gdLst>
                <a:gd name="connsiteX0" fmla="*/ 0 w 1813728"/>
                <a:gd name="connsiteY0" fmla="*/ 165798 h 382002"/>
                <a:gd name="connsiteX1" fmla="*/ 422031 w 1813728"/>
                <a:gd name="connsiteY1" fmla="*/ 381837 h 382002"/>
                <a:gd name="connsiteX2" fmla="*/ 1431890 w 1813728"/>
                <a:gd name="connsiteY2" fmla="*/ 135653 h 382002"/>
                <a:gd name="connsiteX3" fmla="*/ 1813728 w 1813728"/>
                <a:gd name="connsiteY3" fmla="*/ 0 h 382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13728" h="382002">
                  <a:moveTo>
                    <a:pt x="0" y="165798"/>
                  </a:moveTo>
                  <a:cubicBezTo>
                    <a:pt x="91691" y="276329"/>
                    <a:pt x="183383" y="386861"/>
                    <a:pt x="422031" y="381837"/>
                  </a:cubicBezTo>
                  <a:cubicBezTo>
                    <a:pt x="660679" y="376813"/>
                    <a:pt x="1199940" y="199293"/>
                    <a:pt x="1431890" y="135653"/>
                  </a:cubicBezTo>
                  <a:cubicBezTo>
                    <a:pt x="1663840" y="72013"/>
                    <a:pt x="1738784" y="36006"/>
                    <a:pt x="1813728" y="0"/>
                  </a:cubicBezTo>
                </a:path>
              </a:pathLst>
            </a:custGeom>
            <a:ln>
              <a:tailEnd type="arrow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="horz" wrap="square" lIns="69549" tIns="34774" rIns="69549" bIns="3477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sz="4400"/>
            </a:p>
          </p:txBody>
        </p:sp>
      </p:grpSp>
    </p:spTree>
    <p:extLst>
      <p:ext uri="{BB962C8B-B14F-4D97-AF65-F5344CB8AC3E}">
        <p14:creationId xmlns:p14="http://schemas.microsoft.com/office/powerpoint/2010/main" val="134807952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254605" y="1295759"/>
            <a:ext cx="6784749" cy="4211955"/>
          </a:xfrm>
        </p:spPr>
        <p:txBody>
          <a:bodyPr>
            <a:normAutofit fontScale="92500" lnSpcReduction="10000"/>
          </a:bodyPr>
          <a:lstStyle/>
          <a:p>
            <a:r>
              <a:rPr lang="zh-CN" altLang="en-US" dirty="0"/>
              <a:t>简单随机抽样</a:t>
            </a:r>
            <a:endParaRPr lang="en-US" altLang="zh-CN" dirty="0"/>
          </a:p>
          <a:p>
            <a:pPr lvl="1"/>
            <a:r>
              <a:rPr lang="zh-CN" altLang="en-US" dirty="0"/>
              <a:t>优点</a:t>
            </a:r>
            <a:endParaRPr lang="en-US" altLang="zh-CN" dirty="0"/>
          </a:p>
          <a:p>
            <a:pPr lvl="2">
              <a:lnSpc>
                <a:spcPct val="170000"/>
              </a:lnSpc>
            </a:pPr>
            <a:r>
              <a:rPr lang="zh-CN" altLang="en-US" dirty="0"/>
              <a:t>随机度高</a:t>
            </a:r>
            <a:endParaRPr lang="en-US" altLang="zh-CN" dirty="0"/>
          </a:p>
          <a:p>
            <a:pPr lvl="2">
              <a:lnSpc>
                <a:spcPct val="170000"/>
              </a:lnSpc>
            </a:pPr>
            <a:r>
              <a:rPr lang="zh-CN" altLang="en-US" dirty="0"/>
              <a:t>简单</a:t>
            </a:r>
            <a:endParaRPr lang="en-US" altLang="zh-CN" dirty="0"/>
          </a:p>
          <a:p>
            <a:pPr lvl="1"/>
            <a:r>
              <a:rPr lang="zh-CN" altLang="en-US" dirty="0"/>
              <a:t>缺点</a:t>
            </a:r>
            <a:endParaRPr lang="en-US" altLang="zh-CN" dirty="0"/>
          </a:p>
          <a:p>
            <a:pPr lvl="2">
              <a:lnSpc>
                <a:spcPct val="170000"/>
              </a:lnSpc>
            </a:pPr>
            <a:r>
              <a:rPr lang="zh-CN" altLang="en-US" dirty="0"/>
              <a:t>可能会效率低</a:t>
            </a:r>
            <a:endParaRPr lang="en-US" altLang="zh-CN" dirty="0"/>
          </a:p>
          <a:p>
            <a:pPr lvl="2">
              <a:lnSpc>
                <a:spcPct val="170000"/>
              </a:lnSpc>
            </a:pPr>
            <a:r>
              <a:rPr lang="zh-CN" altLang="en-US" dirty="0"/>
              <a:t>抽到差得样本</a:t>
            </a:r>
            <a:endParaRPr lang="en-US" altLang="zh-CN" dirty="0"/>
          </a:p>
          <a:p>
            <a:pPr lvl="2">
              <a:lnSpc>
                <a:spcPct val="170000"/>
              </a:lnSpc>
            </a:pPr>
            <a:r>
              <a:rPr lang="zh-CN" altLang="en-US" dirty="0"/>
              <a:t>抽出的样本分布不好</a:t>
            </a:r>
            <a:endParaRPr lang="en-US" altLang="zh-CN" dirty="0"/>
          </a:p>
          <a:p>
            <a:pPr lvl="2">
              <a:lnSpc>
                <a:spcPct val="170000"/>
              </a:lnSpc>
            </a:pPr>
            <a:r>
              <a:rPr lang="zh-CN" altLang="en-US" dirty="0"/>
              <a:t>不能很好地代表总体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数据抽样</a:t>
            </a:r>
            <a:r>
              <a:rPr lang="zh-CN" altLang="en-US" sz="2800" dirty="0"/>
              <a:t> </a:t>
            </a:r>
            <a:r>
              <a:rPr lang="en-US" altLang="zh-CN" sz="2800" dirty="0"/>
              <a:t>– </a:t>
            </a:r>
            <a:r>
              <a:rPr lang="zh-CN" altLang="en-US" sz="2800" dirty="0"/>
              <a:t>抽样方法</a:t>
            </a:r>
            <a:endParaRPr lang="zh-CN" altLang="en-US" dirty="0"/>
          </a:p>
        </p:txBody>
      </p:sp>
      <p:grpSp>
        <p:nvGrpSpPr>
          <p:cNvPr id="46" name="画布 1652941"/>
          <p:cNvGrpSpPr/>
          <p:nvPr/>
        </p:nvGrpSpPr>
        <p:grpSpPr>
          <a:xfrm>
            <a:off x="5301555" y="2173092"/>
            <a:ext cx="3294488" cy="2179232"/>
            <a:chOff x="0" y="0"/>
            <a:chExt cx="2102485" cy="1485265"/>
          </a:xfrm>
        </p:grpSpPr>
        <p:sp>
          <p:nvSpPr>
            <p:cNvPr id="48" name="矩形 47"/>
            <p:cNvSpPr/>
            <p:nvPr/>
          </p:nvSpPr>
          <p:spPr>
            <a:xfrm>
              <a:off x="0" y="0"/>
              <a:ext cx="2102485" cy="1485265"/>
            </a:xfrm>
            <a:prstGeom prst="rect">
              <a:avLst/>
            </a:prstGeom>
          </p:spPr>
        </p:sp>
        <p:sp>
          <p:nvSpPr>
            <p:cNvPr id="49" name="椭圆 48"/>
            <p:cNvSpPr/>
            <p:nvPr/>
          </p:nvSpPr>
          <p:spPr>
            <a:xfrm>
              <a:off x="38955" y="112860"/>
              <a:ext cx="136932" cy="136932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  <a:effectLst>
              <a:outerShdw blurRad="50800" dist="38100" dir="2700000" sx="85000" sy="85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69549" tIns="34774" rIns="69549" bIns="3477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sz="4400"/>
            </a:p>
          </p:txBody>
        </p:sp>
        <p:sp>
          <p:nvSpPr>
            <p:cNvPr id="50" name="矩形 49"/>
            <p:cNvSpPr/>
            <p:nvPr/>
          </p:nvSpPr>
          <p:spPr>
            <a:xfrm>
              <a:off x="1" y="274241"/>
              <a:ext cx="205397" cy="164318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  <a:effectLst>
              <a:outerShdw blurRad="50800" dist="38100" dir="2700000" sx="85000" sy="85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kern="100">
                  <a:solidFill>
                    <a:srgbClr val="000000"/>
                  </a:solidFill>
                  <a:latin typeface="Times New Roman"/>
                  <a:ea typeface="宋体"/>
                  <a:cs typeface="Times New Roman"/>
                </a:rPr>
                <a:t>1</a:t>
              </a:r>
              <a:endParaRPr lang="zh-CN" altLang="en-US" kern="100">
                <a:latin typeface="Times New Roman"/>
                <a:ea typeface="宋体"/>
                <a:cs typeface="Times New Roman"/>
              </a:endParaRPr>
            </a:p>
          </p:txBody>
        </p:sp>
        <p:sp>
          <p:nvSpPr>
            <p:cNvPr id="51" name="椭圆 50"/>
            <p:cNvSpPr/>
            <p:nvPr/>
          </p:nvSpPr>
          <p:spPr>
            <a:xfrm>
              <a:off x="1822691" y="787857"/>
              <a:ext cx="136707" cy="136707"/>
            </a:xfrm>
            <a:prstGeom prst="ellipse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outerShdw blurRad="50800" dist="38100" dir="2700000" sx="85000" sy="85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69549" tIns="34774" rIns="69549" bIns="3477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sz="4400"/>
            </a:p>
          </p:txBody>
        </p:sp>
        <p:sp>
          <p:nvSpPr>
            <p:cNvPr id="52" name="矩形 51"/>
            <p:cNvSpPr/>
            <p:nvPr/>
          </p:nvSpPr>
          <p:spPr>
            <a:xfrm>
              <a:off x="1784046" y="949200"/>
              <a:ext cx="205302" cy="164242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outerShdw blurRad="50800" dist="38100" dir="2700000" sx="85000" sy="85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1600">
                  <a:solidFill>
                    <a:srgbClr val="000000"/>
                  </a:solidFill>
                  <a:latin typeface="Times New Roman"/>
                  <a:cs typeface="宋体"/>
                </a:rPr>
                <a:t>10</a:t>
              </a:r>
              <a:endParaRPr lang="zh-CN" altLang="en-US">
                <a:latin typeface="宋体"/>
                <a:cs typeface="宋体"/>
              </a:endParaRPr>
            </a:p>
          </p:txBody>
        </p:sp>
        <p:sp>
          <p:nvSpPr>
            <p:cNvPr id="53" name="椭圆 52"/>
            <p:cNvSpPr/>
            <p:nvPr/>
          </p:nvSpPr>
          <p:spPr>
            <a:xfrm>
              <a:off x="830094" y="922331"/>
              <a:ext cx="136707" cy="136707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40000"/>
                  <a:lumOff val="60000"/>
                </a:schemeClr>
              </a:solidFill>
            </a:ln>
            <a:effectLst>
              <a:outerShdw blurRad="50800" dist="38100" dir="2700000" sx="85000" sy="85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69549" tIns="34774" rIns="69549" bIns="3477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sz="4400"/>
            </a:p>
          </p:txBody>
        </p:sp>
        <p:sp>
          <p:nvSpPr>
            <p:cNvPr id="54" name="矩形 53"/>
            <p:cNvSpPr/>
            <p:nvPr/>
          </p:nvSpPr>
          <p:spPr>
            <a:xfrm>
              <a:off x="791448" y="1083674"/>
              <a:ext cx="205302" cy="164242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40000"/>
                  <a:lumOff val="60000"/>
                </a:schemeClr>
              </a:solidFill>
            </a:ln>
            <a:effectLst>
              <a:outerShdw blurRad="50800" dist="38100" dir="2700000" sx="85000" sy="85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1600">
                  <a:solidFill>
                    <a:srgbClr val="000000"/>
                  </a:solidFill>
                  <a:latin typeface="Times New Roman"/>
                  <a:cs typeface="宋体"/>
                </a:rPr>
                <a:t>12</a:t>
              </a:r>
              <a:endParaRPr lang="zh-CN" altLang="en-US">
                <a:latin typeface="宋体"/>
                <a:cs typeface="宋体"/>
              </a:endParaRPr>
            </a:p>
          </p:txBody>
        </p:sp>
        <p:sp>
          <p:nvSpPr>
            <p:cNvPr id="55" name="椭圆 54"/>
            <p:cNvSpPr/>
            <p:nvPr/>
          </p:nvSpPr>
          <p:spPr>
            <a:xfrm>
              <a:off x="299810" y="112860"/>
              <a:ext cx="136932" cy="136932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>
                  <a:lumMod val="60000"/>
                  <a:lumOff val="40000"/>
                </a:schemeClr>
              </a:solidFill>
            </a:ln>
            <a:effectLst>
              <a:outerShdw blurRad="50800" dist="38100" dir="2700000" sx="85000" sy="85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69549" tIns="34774" rIns="69549" bIns="3477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sz="4400"/>
            </a:p>
          </p:txBody>
        </p:sp>
        <p:sp>
          <p:nvSpPr>
            <p:cNvPr id="56" name="矩形 55"/>
            <p:cNvSpPr/>
            <p:nvPr/>
          </p:nvSpPr>
          <p:spPr>
            <a:xfrm>
              <a:off x="260854" y="274241"/>
              <a:ext cx="205397" cy="164318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>
                  <a:lumMod val="60000"/>
                  <a:lumOff val="40000"/>
                </a:schemeClr>
              </a:solidFill>
            </a:ln>
            <a:effectLst>
              <a:outerShdw blurRad="50800" dist="38100" dir="2700000" sx="85000" sy="85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kern="100">
                  <a:solidFill>
                    <a:srgbClr val="000000"/>
                  </a:solidFill>
                  <a:latin typeface="Times New Roman"/>
                  <a:ea typeface="宋体"/>
                  <a:cs typeface="Times New Roman"/>
                </a:rPr>
                <a:t>2</a:t>
              </a:r>
              <a:endParaRPr lang="zh-CN" altLang="en-US" kern="100">
                <a:latin typeface="Times New Roman"/>
                <a:ea typeface="宋体"/>
                <a:cs typeface="Times New Roman"/>
              </a:endParaRPr>
            </a:p>
          </p:txBody>
        </p:sp>
        <p:sp>
          <p:nvSpPr>
            <p:cNvPr id="57" name="椭圆 56"/>
            <p:cNvSpPr/>
            <p:nvPr/>
          </p:nvSpPr>
          <p:spPr>
            <a:xfrm>
              <a:off x="840064" y="123410"/>
              <a:ext cx="136932" cy="136932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>
                  <a:lumMod val="60000"/>
                  <a:lumOff val="40000"/>
                </a:schemeClr>
              </a:solidFill>
            </a:ln>
            <a:effectLst>
              <a:outerShdw blurRad="50800" dist="38100" dir="2700000" sx="85000" sy="85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69549" tIns="34774" rIns="69549" bIns="3477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sz="4400"/>
            </a:p>
          </p:txBody>
        </p:sp>
        <p:sp>
          <p:nvSpPr>
            <p:cNvPr id="58" name="矩形 57"/>
            <p:cNvSpPr/>
            <p:nvPr/>
          </p:nvSpPr>
          <p:spPr>
            <a:xfrm>
              <a:off x="801109" y="284792"/>
              <a:ext cx="205397" cy="164318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>
                  <a:lumMod val="60000"/>
                  <a:lumOff val="40000"/>
                </a:schemeClr>
              </a:solidFill>
            </a:ln>
            <a:effectLst>
              <a:outerShdw blurRad="50800" dist="38100" dir="2700000" sx="85000" sy="85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kern="100">
                  <a:solidFill>
                    <a:srgbClr val="000000"/>
                  </a:solidFill>
                  <a:latin typeface="Times New Roman"/>
                  <a:ea typeface="宋体"/>
                  <a:cs typeface="Times New Roman"/>
                </a:rPr>
                <a:t>4</a:t>
              </a:r>
              <a:endParaRPr lang="zh-CN" altLang="en-US" kern="100">
                <a:latin typeface="Times New Roman"/>
                <a:ea typeface="宋体"/>
                <a:cs typeface="Times New Roman"/>
              </a:endParaRPr>
            </a:p>
          </p:txBody>
        </p:sp>
        <p:sp>
          <p:nvSpPr>
            <p:cNvPr id="59" name="椭圆 58"/>
            <p:cNvSpPr/>
            <p:nvPr/>
          </p:nvSpPr>
          <p:spPr>
            <a:xfrm>
              <a:off x="1566596" y="385307"/>
              <a:ext cx="136932" cy="136932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>
                  <a:lumMod val="60000"/>
                  <a:lumOff val="40000"/>
                </a:schemeClr>
              </a:solidFill>
            </a:ln>
            <a:effectLst>
              <a:outerShdw blurRad="50800" dist="38100" dir="2700000" sx="85000" sy="85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69549" tIns="34774" rIns="69549" bIns="3477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sz="4400"/>
            </a:p>
          </p:txBody>
        </p:sp>
        <p:sp>
          <p:nvSpPr>
            <p:cNvPr id="60" name="矩形 59"/>
            <p:cNvSpPr/>
            <p:nvPr/>
          </p:nvSpPr>
          <p:spPr>
            <a:xfrm>
              <a:off x="1527641" y="546689"/>
              <a:ext cx="205397" cy="164318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>
                  <a:lumMod val="60000"/>
                  <a:lumOff val="40000"/>
                </a:schemeClr>
              </a:solidFill>
            </a:ln>
            <a:effectLst>
              <a:outerShdw blurRad="50800" dist="38100" dir="2700000" sx="85000" sy="85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kern="100">
                  <a:solidFill>
                    <a:srgbClr val="000000"/>
                  </a:solidFill>
                  <a:latin typeface="Times New Roman"/>
                  <a:ea typeface="宋体"/>
                  <a:cs typeface="Times New Roman"/>
                </a:rPr>
                <a:t>2</a:t>
              </a:r>
              <a:endParaRPr lang="zh-CN" altLang="en-US" kern="100">
                <a:latin typeface="Times New Roman"/>
                <a:ea typeface="宋体"/>
                <a:cs typeface="Times New Roman"/>
              </a:endParaRPr>
            </a:p>
          </p:txBody>
        </p:sp>
        <p:sp>
          <p:nvSpPr>
            <p:cNvPr id="61" name="椭圆 60"/>
            <p:cNvSpPr/>
            <p:nvPr/>
          </p:nvSpPr>
          <p:spPr>
            <a:xfrm>
              <a:off x="299810" y="511688"/>
              <a:ext cx="136932" cy="136932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>
                  <a:lumMod val="60000"/>
                  <a:lumOff val="40000"/>
                </a:schemeClr>
              </a:solidFill>
            </a:ln>
            <a:effectLst>
              <a:outerShdw blurRad="50800" dist="38100" dir="2700000" sx="85000" sy="85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69549" tIns="34774" rIns="69549" bIns="3477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sz="4400"/>
            </a:p>
          </p:txBody>
        </p:sp>
        <p:sp>
          <p:nvSpPr>
            <p:cNvPr id="62" name="矩形 61"/>
            <p:cNvSpPr/>
            <p:nvPr/>
          </p:nvSpPr>
          <p:spPr>
            <a:xfrm>
              <a:off x="260854" y="673070"/>
              <a:ext cx="205397" cy="164318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>
                  <a:lumMod val="60000"/>
                  <a:lumOff val="40000"/>
                </a:schemeClr>
              </a:solidFill>
            </a:ln>
            <a:effectLst>
              <a:outerShdw blurRad="50800" dist="38100" dir="2700000" sx="85000" sy="85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kern="100">
                  <a:solidFill>
                    <a:srgbClr val="000000"/>
                  </a:solidFill>
                  <a:latin typeface="Times New Roman"/>
                  <a:ea typeface="宋体"/>
                  <a:cs typeface="Times New Roman"/>
                </a:rPr>
                <a:t>6</a:t>
              </a:r>
              <a:endParaRPr lang="zh-CN" altLang="en-US" kern="100">
                <a:latin typeface="Times New Roman"/>
                <a:ea typeface="宋体"/>
                <a:cs typeface="Times New Roman"/>
              </a:endParaRPr>
            </a:p>
          </p:txBody>
        </p:sp>
        <p:sp>
          <p:nvSpPr>
            <p:cNvPr id="63" name="椭圆 62"/>
            <p:cNvSpPr/>
            <p:nvPr/>
          </p:nvSpPr>
          <p:spPr>
            <a:xfrm>
              <a:off x="830403" y="522238"/>
              <a:ext cx="136932" cy="136932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>
                  <a:lumMod val="60000"/>
                  <a:lumOff val="40000"/>
                </a:schemeClr>
              </a:solidFill>
            </a:ln>
            <a:effectLst>
              <a:outerShdw blurRad="50800" dist="38100" dir="2700000" sx="85000" sy="85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69549" tIns="34774" rIns="69549" bIns="3477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sz="4400"/>
            </a:p>
          </p:txBody>
        </p:sp>
        <p:sp>
          <p:nvSpPr>
            <p:cNvPr id="64" name="矩形 63"/>
            <p:cNvSpPr/>
            <p:nvPr/>
          </p:nvSpPr>
          <p:spPr>
            <a:xfrm>
              <a:off x="791448" y="683621"/>
              <a:ext cx="205397" cy="164318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>
                  <a:lumMod val="60000"/>
                  <a:lumOff val="40000"/>
                </a:schemeClr>
              </a:solidFill>
            </a:ln>
            <a:effectLst>
              <a:outerShdw blurRad="50800" dist="38100" dir="2700000" sx="85000" sy="85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kern="100">
                  <a:solidFill>
                    <a:srgbClr val="000000"/>
                  </a:solidFill>
                  <a:latin typeface="Times New Roman"/>
                  <a:ea typeface="宋体"/>
                  <a:cs typeface="Times New Roman"/>
                </a:rPr>
                <a:t>8</a:t>
              </a:r>
              <a:endParaRPr lang="zh-CN" altLang="en-US" kern="100">
                <a:latin typeface="Times New Roman"/>
                <a:ea typeface="宋体"/>
                <a:cs typeface="Times New Roman"/>
              </a:endParaRPr>
            </a:p>
          </p:txBody>
        </p:sp>
        <p:sp>
          <p:nvSpPr>
            <p:cNvPr id="65" name="椭圆 64"/>
            <p:cNvSpPr/>
            <p:nvPr/>
          </p:nvSpPr>
          <p:spPr>
            <a:xfrm>
              <a:off x="1566596" y="787818"/>
              <a:ext cx="136932" cy="136932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>
                  <a:lumMod val="60000"/>
                  <a:lumOff val="40000"/>
                </a:schemeClr>
              </a:solidFill>
            </a:ln>
            <a:effectLst>
              <a:outerShdw blurRad="50800" dist="38100" dir="2700000" sx="85000" sy="85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69549" tIns="34774" rIns="69549" bIns="3477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sz="4400"/>
            </a:p>
          </p:txBody>
        </p:sp>
        <p:sp>
          <p:nvSpPr>
            <p:cNvPr id="66" name="矩形 65"/>
            <p:cNvSpPr/>
            <p:nvPr/>
          </p:nvSpPr>
          <p:spPr>
            <a:xfrm>
              <a:off x="1527641" y="949200"/>
              <a:ext cx="205397" cy="164318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>
                  <a:lumMod val="60000"/>
                  <a:lumOff val="40000"/>
                </a:schemeClr>
              </a:solidFill>
            </a:ln>
            <a:effectLst>
              <a:outerShdw blurRad="50800" dist="38100" dir="2700000" sx="85000" sy="85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kern="100">
                  <a:solidFill>
                    <a:srgbClr val="000000"/>
                  </a:solidFill>
                  <a:latin typeface="Times New Roman"/>
                  <a:ea typeface="宋体"/>
                  <a:cs typeface="Times New Roman"/>
                </a:rPr>
                <a:t>8</a:t>
              </a:r>
              <a:endParaRPr lang="zh-CN" altLang="en-US" kern="100">
                <a:latin typeface="Times New Roman"/>
                <a:ea typeface="宋体"/>
                <a:cs typeface="Times New Roman"/>
              </a:endParaRPr>
            </a:p>
          </p:txBody>
        </p:sp>
        <p:sp>
          <p:nvSpPr>
            <p:cNvPr id="67" name="椭圆 66"/>
            <p:cNvSpPr/>
            <p:nvPr/>
          </p:nvSpPr>
          <p:spPr>
            <a:xfrm>
              <a:off x="563174" y="525959"/>
              <a:ext cx="136932" cy="136932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>
                  <a:lumMod val="60000"/>
                  <a:lumOff val="40000"/>
                </a:schemeClr>
              </a:solidFill>
            </a:ln>
            <a:effectLst>
              <a:outerShdw blurRad="50800" dist="38100" dir="2700000" sx="85000" sy="85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69549" tIns="34774" rIns="69549" bIns="3477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sz="4400"/>
            </a:p>
          </p:txBody>
        </p:sp>
        <p:sp>
          <p:nvSpPr>
            <p:cNvPr id="68" name="矩形 67"/>
            <p:cNvSpPr/>
            <p:nvPr/>
          </p:nvSpPr>
          <p:spPr>
            <a:xfrm>
              <a:off x="524219" y="687341"/>
              <a:ext cx="205397" cy="164318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>
                  <a:lumMod val="60000"/>
                  <a:lumOff val="40000"/>
                </a:schemeClr>
              </a:solidFill>
            </a:ln>
            <a:effectLst>
              <a:outerShdw blurRad="50800" dist="38100" dir="2700000" sx="85000" sy="85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kern="100">
                  <a:solidFill>
                    <a:srgbClr val="000000"/>
                  </a:solidFill>
                  <a:latin typeface="Times New Roman"/>
                  <a:ea typeface="宋体"/>
                  <a:cs typeface="Times New Roman"/>
                </a:rPr>
                <a:t>7</a:t>
              </a:r>
              <a:endParaRPr lang="zh-CN" altLang="en-US" kern="100">
                <a:latin typeface="Times New Roman"/>
                <a:ea typeface="宋体"/>
                <a:cs typeface="Times New Roman"/>
              </a:endParaRPr>
            </a:p>
          </p:txBody>
        </p:sp>
        <p:sp>
          <p:nvSpPr>
            <p:cNvPr id="69" name="椭圆 68"/>
            <p:cNvSpPr/>
            <p:nvPr/>
          </p:nvSpPr>
          <p:spPr>
            <a:xfrm>
              <a:off x="563174" y="922216"/>
              <a:ext cx="136932" cy="136932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>
                  <a:lumMod val="60000"/>
                  <a:lumOff val="40000"/>
                </a:schemeClr>
              </a:solidFill>
            </a:ln>
            <a:effectLst>
              <a:outerShdw blurRad="50800" dist="38100" dir="2700000" sx="85000" sy="85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69549" tIns="34774" rIns="69549" bIns="3477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sz="4400"/>
            </a:p>
          </p:txBody>
        </p:sp>
        <p:sp>
          <p:nvSpPr>
            <p:cNvPr id="70" name="矩形 69"/>
            <p:cNvSpPr/>
            <p:nvPr/>
          </p:nvSpPr>
          <p:spPr>
            <a:xfrm>
              <a:off x="524219" y="1083598"/>
              <a:ext cx="205397" cy="164318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>
                  <a:lumMod val="60000"/>
                  <a:lumOff val="40000"/>
                </a:schemeClr>
              </a:solidFill>
            </a:ln>
            <a:effectLst>
              <a:outerShdw blurRad="50800" dist="38100" dir="2700000" sx="85000" sy="85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kern="100">
                  <a:solidFill>
                    <a:srgbClr val="000000"/>
                  </a:solidFill>
                  <a:latin typeface="Times New Roman"/>
                  <a:ea typeface="宋体"/>
                  <a:cs typeface="Times New Roman"/>
                </a:rPr>
                <a:t>11</a:t>
              </a:r>
              <a:endParaRPr lang="zh-CN" altLang="en-US" kern="100">
                <a:latin typeface="Times New Roman"/>
                <a:ea typeface="宋体"/>
                <a:cs typeface="Times New Roman"/>
              </a:endParaRPr>
            </a:p>
          </p:txBody>
        </p:sp>
        <p:sp>
          <p:nvSpPr>
            <p:cNvPr id="71" name="椭圆 70"/>
            <p:cNvSpPr/>
            <p:nvPr/>
          </p:nvSpPr>
          <p:spPr>
            <a:xfrm>
              <a:off x="299594" y="922331"/>
              <a:ext cx="136707" cy="136707"/>
            </a:xfrm>
            <a:prstGeom prst="ellipse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outerShdw blurRad="50800" dist="38100" dir="2700000" sx="85000" sy="85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69549" tIns="34774" rIns="69549" bIns="3477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sz="4400"/>
            </a:p>
          </p:txBody>
        </p:sp>
        <p:sp>
          <p:nvSpPr>
            <p:cNvPr id="72" name="矩形 71"/>
            <p:cNvSpPr/>
            <p:nvPr/>
          </p:nvSpPr>
          <p:spPr>
            <a:xfrm>
              <a:off x="260949" y="1083674"/>
              <a:ext cx="205302" cy="164242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accent4">
                  <a:lumMod val="40000"/>
                  <a:lumOff val="60000"/>
                </a:schemeClr>
              </a:solidFill>
            </a:ln>
            <a:effectLst>
              <a:outerShdw blurRad="50800" dist="38100" dir="2700000" sx="85000" sy="85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1600">
                  <a:solidFill>
                    <a:srgbClr val="000000"/>
                  </a:solidFill>
                  <a:latin typeface="Times New Roman"/>
                  <a:cs typeface="宋体"/>
                </a:rPr>
                <a:t>10</a:t>
              </a:r>
              <a:endParaRPr lang="zh-CN" altLang="en-US">
                <a:latin typeface="宋体"/>
                <a:cs typeface="宋体"/>
              </a:endParaRPr>
            </a:p>
          </p:txBody>
        </p:sp>
        <p:sp>
          <p:nvSpPr>
            <p:cNvPr id="73" name="椭圆 72"/>
            <p:cNvSpPr/>
            <p:nvPr/>
          </p:nvSpPr>
          <p:spPr>
            <a:xfrm>
              <a:off x="566423" y="117987"/>
              <a:ext cx="136932" cy="136932"/>
            </a:xfrm>
            <a:prstGeom prst="ellipse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  <a:effectLst>
              <a:outerShdw blurRad="50800" dist="38100" dir="2700000" sx="85000" sy="85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69549" tIns="34774" rIns="69549" bIns="3477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sz="4400"/>
            </a:p>
          </p:txBody>
        </p:sp>
        <p:sp>
          <p:nvSpPr>
            <p:cNvPr id="74" name="矩形 73"/>
            <p:cNvSpPr/>
            <p:nvPr/>
          </p:nvSpPr>
          <p:spPr>
            <a:xfrm>
              <a:off x="527468" y="279369"/>
              <a:ext cx="205397" cy="164318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  <a:effectLst>
              <a:outerShdw blurRad="50800" dist="38100" dir="2700000" sx="85000" sy="85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kern="100">
                  <a:solidFill>
                    <a:srgbClr val="000000"/>
                  </a:solidFill>
                  <a:latin typeface="Times New Roman"/>
                  <a:ea typeface="宋体"/>
                  <a:cs typeface="Times New Roman"/>
                </a:rPr>
                <a:t>3</a:t>
              </a:r>
              <a:endParaRPr lang="zh-CN" altLang="en-US" kern="100">
                <a:latin typeface="Times New Roman"/>
                <a:ea typeface="宋体"/>
                <a:cs typeface="Times New Roman"/>
              </a:endParaRPr>
            </a:p>
          </p:txBody>
        </p:sp>
        <p:sp>
          <p:nvSpPr>
            <p:cNvPr id="75" name="椭圆 74"/>
            <p:cNvSpPr/>
            <p:nvPr/>
          </p:nvSpPr>
          <p:spPr>
            <a:xfrm>
              <a:off x="40290" y="511688"/>
              <a:ext cx="136932" cy="136932"/>
            </a:xfrm>
            <a:prstGeom prst="ellipse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  <a:effectLst>
              <a:outerShdw blurRad="50800" dist="38100" dir="2700000" sx="85000" sy="85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69549" tIns="34774" rIns="69549" bIns="3477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sz="4400"/>
            </a:p>
          </p:txBody>
        </p:sp>
        <p:sp>
          <p:nvSpPr>
            <p:cNvPr id="76" name="矩形 75"/>
            <p:cNvSpPr/>
            <p:nvPr/>
          </p:nvSpPr>
          <p:spPr>
            <a:xfrm>
              <a:off x="1336" y="673070"/>
              <a:ext cx="205397" cy="164318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  <a:effectLst>
              <a:outerShdw blurRad="50800" dist="38100" dir="2700000" sx="85000" sy="85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kern="100">
                  <a:solidFill>
                    <a:srgbClr val="000000"/>
                  </a:solidFill>
                  <a:latin typeface="Times New Roman"/>
                  <a:ea typeface="宋体"/>
                  <a:cs typeface="Times New Roman"/>
                </a:rPr>
                <a:t>5</a:t>
              </a:r>
              <a:endParaRPr lang="zh-CN" altLang="en-US" kern="100">
                <a:latin typeface="Times New Roman"/>
                <a:ea typeface="宋体"/>
                <a:cs typeface="Times New Roman"/>
              </a:endParaRPr>
            </a:p>
          </p:txBody>
        </p:sp>
        <p:sp>
          <p:nvSpPr>
            <p:cNvPr id="77" name="椭圆 76"/>
            <p:cNvSpPr/>
            <p:nvPr/>
          </p:nvSpPr>
          <p:spPr>
            <a:xfrm>
              <a:off x="40290" y="922216"/>
              <a:ext cx="136932" cy="136932"/>
            </a:xfrm>
            <a:prstGeom prst="ellipse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  <a:effectLst>
              <a:outerShdw blurRad="50800" dist="38100" dir="2700000" sx="85000" sy="85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69549" tIns="34774" rIns="69549" bIns="3477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sz="4400"/>
            </a:p>
          </p:txBody>
        </p:sp>
        <p:sp>
          <p:nvSpPr>
            <p:cNvPr id="78" name="矩形 77"/>
            <p:cNvSpPr/>
            <p:nvPr/>
          </p:nvSpPr>
          <p:spPr>
            <a:xfrm>
              <a:off x="1336" y="1083598"/>
              <a:ext cx="205397" cy="164318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  <a:effectLst>
              <a:outerShdw blurRad="50800" dist="38100" dir="2700000" sx="85000" sy="85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kern="100">
                  <a:solidFill>
                    <a:srgbClr val="000000"/>
                  </a:solidFill>
                  <a:latin typeface="Times New Roman"/>
                  <a:ea typeface="宋体"/>
                  <a:cs typeface="Times New Roman"/>
                </a:rPr>
                <a:t>9</a:t>
              </a:r>
              <a:endParaRPr lang="zh-CN" altLang="en-US" kern="100">
                <a:latin typeface="Times New Roman"/>
                <a:ea typeface="宋体"/>
                <a:cs typeface="Times New Roman"/>
              </a:endParaRPr>
            </a:p>
          </p:txBody>
        </p:sp>
        <p:sp>
          <p:nvSpPr>
            <p:cNvPr id="79" name="椭圆 78"/>
            <p:cNvSpPr/>
            <p:nvPr/>
          </p:nvSpPr>
          <p:spPr>
            <a:xfrm>
              <a:off x="1817082" y="386898"/>
              <a:ext cx="136932" cy="136932"/>
            </a:xfrm>
            <a:prstGeom prst="ellipse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  <a:effectLst>
              <a:outerShdw blurRad="50800" dist="38100" dir="2700000" sx="85000" sy="85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69549" tIns="34774" rIns="69549" bIns="3477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sz="4400"/>
            </a:p>
          </p:txBody>
        </p:sp>
        <p:sp>
          <p:nvSpPr>
            <p:cNvPr id="80" name="矩形 79"/>
            <p:cNvSpPr/>
            <p:nvPr/>
          </p:nvSpPr>
          <p:spPr>
            <a:xfrm>
              <a:off x="1778127" y="548281"/>
              <a:ext cx="205397" cy="164318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  <a:effectLst>
              <a:outerShdw blurRad="50800" dist="38100" dir="2700000" sx="85000" sy="85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kern="100">
                  <a:solidFill>
                    <a:srgbClr val="000000"/>
                  </a:solidFill>
                  <a:latin typeface="Times New Roman"/>
                  <a:ea typeface="宋体"/>
                  <a:cs typeface="Times New Roman"/>
                </a:rPr>
                <a:t>5</a:t>
              </a:r>
              <a:endParaRPr lang="zh-CN" altLang="en-US" kern="100">
                <a:latin typeface="Times New Roman"/>
                <a:ea typeface="宋体"/>
                <a:cs typeface="Times New Roman"/>
              </a:endParaRPr>
            </a:p>
          </p:txBody>
        </p:sp>
        <p:sp>
          <p:nvSpPr>
            <p:cNvPr id="81" name="矩形 80"/>
            <p:cNvSpPr/>
            <p:nvPr/>
          </p:nvSpPr>
          <p:spPr>
            <a:xfrm>
              <a:off x="5191" y="1317459"/>
              <a:ext cx="561187" cy="164318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sx="85000" sy="85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just"/>
              <a:r>
                <a:rPr lang="zh-CN" altLang="en-US" sz="1400" kern="100">
                  <a:solidFill>
                    <a:srgbClr val="000000"/>
                  </a:solidFill>
                  <a:latin typeface="Times New Roman"/>
                  <a:ea typeface="华文细黑"/>
                  <a:cs typeface="Times New Roman"/>
                </a:rPr>
                <a:t>总体样本</a:t>
              </a:r>
              <a:endParaRPr lang="zh-CN" altLang="en-US" kern="100">
                <a:latin typeface="Times New Roman"/>
                <a:ea typeface="宋体"/>
                <a:cs typeface="Times New Roman"/>
              </a:endParaRPr>
            </a:p>
          </p:txBody>
        </p:sp>
        <p:sp>
          <p:nvSpPr>
            <p:cNvPr id="82" name="矩形 81"/>
            <p:cNvSpPr/>
            <p:nvPr/>
          </p:nvSpPr>
          <p:spPr>
            <a:xfrm>
              <a:off x="1527523" y="1166941"/>
              <a:ext cx="494337" cy="164318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sx="85000" sy="85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zh-CN" altLang="en-US" sz="1400" kern="100">
                  <a:solidFill>
                    <a:srgbClr val="000000"/>
                  </a:solidFill>
                  <a:latin typeface="Times New Roman"/>
                  <a:ea typeface="华文细黑"/>
                  <a:cs typeface="Times New Roman"/>
                </a:rPr>
                <a:t>抽样样本</a:t>
              </a:r>
              <a:endParaRPr lang="zh-CN" altLang="en-US" kern="100">
                <a:latin typeface="Times New Roman"/>
                <a:ea typeface="宋体"/>
                <a:cs typeface="Times New Roman"/>
              </a:endParaRPr>
            </a:p>
          </p:txBody>
        </p:sp>
        <p:sp>
          <p:nvSpPr>
            <p:cNvPr id="83" name="任意多边形 82"/>
            <p:cNvSpPr/>
            <p:nvPr/>
          </p:nvSpPr>
          <p:spPr>
            <a:xfrm>
              <a:off x="422840" y="27516"/>
              <a:ext cx="1196299" cy="351633"/>
            </a:xfrm>
            <a:custGeom>
              <a:avLst/>
              <a:gdLst>
                <a:gd name="connsiteX0" fmla="*/ 0 w 1572567"/>
                <a:gd name="connsiteY0" fmla="*/ 132433 h 464028"/>
                <a:gd name="connsiteX1" fmla="*/ 532563 w 1572567"/>
                <a:gd name="connsiteY1" fmla="*/ 1804 h 464028"/>
                <a:gd name="connsiteX2" fmla="*/ 1346479 w 1572567"/>
                <a:gd name="connsiteY2" fmla="*/ 217844 h 464028"/>
                <a:gd name="connsiteX3" fmla="*/ 1572567 w 1572567"/>
                <a:gd name="connsiteY3" fmla="*/ 464028 h 464028"/>
                <a:gd name="connsiteX0" fmla="*/ 0 w 1572567"/>
                <a:gd name="connsiteY0" fmla="*/ 130633 h 462228"/>
                <a:gd name="connsiteX1" fmla="*/ 532563 w 1572567"/>
                <a:gd name="connsiteY1" fmla="*/ 4 h 462228"/>
                <a:gd name="connsiteX2" fmla="*/ 1346479 w 1572567"/>
                <a:gd name="connsiteY2" fmla="*/ 216044 h 462228"/>
                <a:gd name="connsiteX3" fmla="*/ 1572567 w 1572567"/>
                <a:gd name="connsiteY3" fmla="*/ 462228 h 462228"/>
                <a:gd name="connsiteX0" fmla="*/ 0 w 1572567"/>
                <a:gd name="connsiteY0" fmla="*/ 130636 h 462231"/>
                <a:gd name="connsiteX1" fmla="*/ 403266 w 1572567"/>
                <a:gd name="connsiteY1" fmla="*/ 3 h 462231"/>
                <a:gd name="connsiteX2" fmla="*/ 1346479 w 1572567"/>
                <a:gd name="connsiteY2" fmla="*/ 216047 h 462231"/>
                <a:gd name="connsiteX3" fmla="*/ 1572567 w 1572567"/>
                <a:gd name="connsiteY3" fmla="*/ 462231 h 462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72567" h="462231">
                  <a:moveTo>
                    <a:pt x="0" y="130636"/>
                  </a:moveTo>
                  <a:cubicBezTo>
                    <a:pt x="154075" y="58204"/>
                    <a:pt x="143684" y="841"/>
                    <a:pt x="403266" y="3"/>
                  </a:cubicBezTo>
                  <a:cubicBezTo>
                    <a:pt x="662848" y="-835"/>
                    <a:pt x="1151596" y="139009"/>
                    <a:pt x="1346479" y="216047"/>
                  </a:cubicBezTo>
                  <a:cubicBezTo>
                    <a:pt x="1541362" y="293085"/>
                    <a:pt x="1546190" y="377657"/>
                    <a:pt x="1572567" y="462231"/>
                  </a:cubicBezTo>
                </a:path>
              </a:pathLst>
            </a:custGeom>
            <a:ln>
              <a:tailEnd type="arrow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="horz" wrap="square" lIns="69549" tIns="34774" rIns="69549" bIns="3477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sz="4400"/>
            </a:p>
          </p:txBody>
        </p:sp>
        <p:sp>
          <p:nvSpPr>
            <p:cNvPr id="84" name="任意多边形 83"/>
            <p:cNvSpPr/>
            <p:nvPr/>
          </p:nvSpPr>
          <p:spPr>
            <a:xfrm>
              <a:off x="185873" y="327542"/>
              <a:ext cx="1643477" cy="212133"/>
            </a:xfrm>
            <a:custGeom>
              <a:avLst/>
              <a:gdLst>
                <a:gd name="connsiteX0" fmla="*/ 0 w 2160396"/>
                <a:gd name="connsiteY0" fmla="*/ 278855 h 278855"/>
                <a:gd name="connsiteX1" fmla="*/ 190919 w 2160396"/>
                <a:gd name="connsiteY1" fmla="*/ 203492 h 278855"/>
                <a:gd name="connsiteX2" fmla="*/ 733530 w 2160396"/>
                <a:gd name="connsiteY2" fmla="*/ 208516 h 278855"/>
                <a:gd name="connsiteX3" fmla="*/ 1215851 w 2160396"/>
                <a:gd name="connsiteY3" fmla="*/ 208516 h 278855"/>
                <a:gd name="connsiteX4" fmla="*/ 1733341 w 2160396"/>
                <a:gd name="connsiteY4" fmla="*/ 47742 h 278855"/>
                <a:gd name="connsiteX5" fmla="*/ 1979525 w 2160396"/>
                <a:gd name="connsiteY5" fmla="*/ 2525 h 278855"/>
                <a:gd name="connsiteX6" fmla="*/ 2160396 w 2160396"/>
                <a:gd name="connsiteY6" fmla="*/ 108033 h 27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60396" h="278855">
                  <a:moveTo>
                    <a:pt x="0" y="278855"/>
                  </a:moveTo>
                  <a:cubicBezTo>
                    <a:pt x="34332" y="247035"/>
                    <a:pt x="68664" y="215215"/>
                    <a:pt x="190919" y="203492"/>
                  </a:cubicBezTo>
                  <a:cubicBezTo>
                    <a:pt x="313174" y="191769"/>
                    <a:pt x="733530" y="208516"/>
                    <a:pt x="733530" y="208516"/>
                  </a:cubicBezTo>
                  <a:cubicBezTo>
                    <a:pt x="904352" y="209353"/>
                    <a:pt x="1049216" y="235312"/>
                    <a:pt x="1215851" y="208516"/>
                  </a:cubicBezTo>
                  <a:cubicBezTo>
                    <a:pt x="1382486" y="181720"/>
                    <a:pt x="1606062" y="82074"/>
                    <a:pt x="1733341" y="47742"/>
                  </a:cubicBezTo>
                  <a:cubicBezTo>
                    <a:pt x="1860620" y="13410"/>
                    <a:pt x="1908349" y="-7524"/>
                    <a:pt x="1979525" y="2525"/>
                  </a:cubicBezTo>
                  <a:cubicBezTo>
                    <a:pt x="2050701" y="12573"/>
                    <a:pt x="2105548" y="60303"/>
                    <a:pt x="2160396" y="108033"/>
                  </a:cubicBezTo>
                </a:path>
              </a:pathLst>
            </a:custGeom>
            <a:ln>
              <a:tailEnd type="arrow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="horz" wrap="square" lIns="69549" tIns="34774" rIns="69549" bIns="3477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sz="4400"/>
            </a:p>
          </p:txBody>
        </p:sp>
        <p:sp>
          <p:nvSpPr>
            <p:cNvPr id="85" name="任意多边形 84"/>
            <p:cNvSpPr/>
            <p:nvPr/>
          </p:nvSpPr>
          <p:spPr>
            <a:xfrm>
              <a:off x="977035" y="589361"/>
              <a:ext cx="602498" cy="219090"/>
            </a:xfrm>
            <a:custGeom>
              <a:avLst/>
              <a:gdLst>
                <a:gd name="connsiteX0" fmla="*/ 0 w 763674"/>
                <a:gd name="connsiteY0" fmla="*/ 0 h 296426"/>
                <a:gd name="connsiteX1" fmla="*/ 502417 w 763674"/>
                <a:gd name="connsiteY1" fmla="*/ 130628 h 296426"/>
                <a:gd name="connsiteX2" fmla="*/ 763674 w 763674"/>
                <a:gd name="connsiteY2" fmla="*/ 296426 h 296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3674" h="296426">
                  <a:moveTo>
                    <a:pt x="0" y="0"/>
                  </a:moveTo>
                  <a:cubicBezTo>
                    <a:pt x="187569" y="40612"/>
                    <a:pt x="375138" y="81224"/>
                    <a:pt x="502417" y="130628"/>
                  </a:cubicBezTo>
                  <a:cubicBezTo>
                    <a:pt x="629696" y="180032"/>
                    <a:pt x="696685" y="238229"/>
                    <a:pt x="763674" y="296426"/>
                  </a:cubicBezTo>
                </a:path>
              </a:pathLst>
            </a:custGeom>
            <a:ln>
              <a:tailEnd type="arrow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="horz" wrap="square" lIns="69549" tIns="34774" rIns="69549" bIns="3477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sz="4400"/>
            </a:p>
          </p:txBody>
        </p:sp>
        <p:sp>
          <p:nvSpPr>
            <p:cNvPr id="86" name="任意多边形 85"/>
            <p:cNvSpPr/>
            <p:nvPr/>
          </p:nvSpPr>
          <p:spPr>
            <a:xfrm>
              <a:off x="426662" y="1135913"/>
              <a:ext cx="1379756" cy="290600"/>
            </a:xfrm>
            <a:custGeom>
              <a:avLst/>
              <a:gdLst>
                <a:gd name="connsiteX0" fmla="*/ 0 w 1813728"/>
                <a:gd name="connsiteY0" fmla="*/ 165798 h 382002"/>
                <a:gd name="connsiteX1" fmla="*/ 422031 w 1813728"/>
                <a:gd name="connsiteY1" fmla="*/ 381837 h 382002"/>
                <a:gd name="connsiteX2" fmla="*/ 1431890 w 1813728"/>
                <a:gd name="connsiteY2" fmla="*/ 135653 h 382002"/>
                <a:gd name="connsiteX3" fmla="*/ 1813728 w 1813728"/>
                <a:gd name="connsiteY3" fmla="*/ 0 h 382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13728" h="382002">
                  <a:moveTo>
                    <a:pt x="0" y="165798"/>
                  </a:moveTo>
                  <a:cubicBezTo>
                    <a:pt x="91691" y="276329"/>
                    <a:pt x="183383" y="386861"/>
                    <a:pt x="422031" y="381837"/>
                  </a:cubicBezTo>
                  <a:cubicBezTo>
                    <a:pt x="660679" y="376813"/>
                    <a:pt x="1199940" y="199293"/>
                    <a:pt x="1431890" y="135653"/>
                  </a:cubicBezTo>
                  <a:cubicBezTo>
                    <a:pt x="1663840" y="72013"/>
                    <a:pt x="1738784" y="36006"/>
                    <a:pt x="1813728" y="0"/>
                  </a:cubicBezTo>
                </a:path>
              </a:pathLst>
            </a:custGeom>
            <a:ln>
              <a:tailEnd type="arrow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="horz" wrap="square" lIns="69549" tIns="34774" rIns="69549" bIns="3477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sz="4400"/>
            </a:p>
          </p:txBody>
        </p:sp>
      </p:grpSp>
    </p:spTree>
    <p:extLst>
      <p:ext uri="{BB962C8B-B14F-4D97-AF65-F5344CB8AC3E}">
        <p14:creationId xmlns:p14="http://schemas.microsoft.com/office/powerpoint/2010/main" val="110286347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数据抽样</a:t>
            </a:r>
            <a:r>
              <a:rPr lang="zh-CN" altLang="en-US" sz="2800" dirty="0"/>
              <a:t> </a:t>
            </a:r>
            <a:r>
              <a:rPr lang="en-US" altLang="zh-CN" sz="2800" dirty="0"/>
              <a:t>– </a:t>
            </a:r>
            <a:r>
              <a:rPr lang="zh-CN" altLang="en-US" sz="2800" dirty="0"/>
              <a:t>抽样方法</a:t>
            </a: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系统抽样</a:t>
            </a:r>
            <a:endParaRPr lang="en-US" altLang="zh-CN" dirty="0"/>
          </a:p>
          <a:p>
            <a:pPr lvl="1"/>
            <a:r>
              <a:rPr lang="zh-CN" altLang="en-US" dirty="0"/>
              <a:t>将总体中的各数据项先按一定顺序排列并编号，然后按照一定的规则抽样，例如：等距离抽样</a:t>
            </a:r>
            <a:endParaRPr lang="en-US" altLang="zh-CN" dirty="0"/>
          </a:p>
          <a:p>
            <a:endParaRPr lang="zh-CN" altLang="en-US" dirty="0"/>
          </a:p>
        </p:txBody>
      </p:sp>
      <p:pic>
        <p:nvPicPr>
          <p:cNvPr id="4" name="Picture 4"/>
          <p:cNvPicPr>
            <a:picLocks noChangeArrowheads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1983"/>
          <a:stretch/>
        </p:blipFill>
        <p:spPr bwMode="auto">
          <a:xfrm>
            <a:off x="1043614" y="3170074"/>
            <a:ext cx="3870011" cy="27270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4"/>
          <p:cNvPicPr>
            <a:picLocks noChangeArrowheads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455"/>
          <a:stretch/>
        </p:blipFill>
        <p:spPr bwMode="auto">
          <a:xfrm>
            <a:off x="5448708" y="3170248"/>
            <a:ext cx="2837954" cy="272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9373997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数据抽样</a:t>
            </a:r>
            <a:r>
              <a:rPr lang="zh-CN" altLang="en-US" sz="2800" dirty="0"/>
              <a:t> </a:t>
            </a:r>
            <a:r>
              <a:rPr lang="en-US" altLang="zh-CN" sz="2800" dirty="0"/>
              <a:t>– </a:t>
            </a:r>
            <a:r>
              <a:rPr lang="zh-CN" altLang="en-US" sz="2800" dirty="0"/>
              <a:t>抽样方法</a:t>
            </a: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系统抽样</a:t>
            </a:r>
            <a:endParaRPr lang="en-US" altLang="zh-CN" dirty="0"/>
          </a:p>
          <a:p>
            <a:pPr lvl="1"/>
            <a:r>
              <a:rPr lang="zh-CN" altLang="en-US" dirty="0"/>
              <a:t>优点：简便、具有统计推断能力</a:t>
            </a:r>
            <a:endParaRPr lang="en-US" altLang="zh-CN" dirty="0"/>
          </a:p>
          <a:p>
            <a:pPr lvl="1"/>
            <a:r>
              <a:rPr lang="zh-CN" altLang="en-US" dirty="0"/>
              <a:t>缺点：消除了可能存在的周期性</a:t>
            </a:r>
          </a:p>
          <a:p>
            <a:endParaRPr lang="zh-CN" altLang="en-US" dirty="0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7746" y="3428287"/>
            <a:ext cx="6740525" cy="24760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椭圆 1"/>
          <p:cNvSpPr/>
          <p:nvPr/>
        </p:nvSpPr>
        <p:spPr>
          <a:xfrm>
            <a:off x="2951832" y="4498330"/>
            <a:ext cx="108000" cy="97200"/>
          </a:xfrm>
          <a:prstGeom prst="ellipse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/>
          <p:cNvSpPr/>
          <p:nvPr/>
        </p:nvSpPr>
        <p:spPr>
          <a:xfrm>
            <a:off x="4536008" y="4368715"/>
            <a:ext cx="108000" cy="97200"/>
          </a:xfrm>
          <a:prstGeom prst="ellipse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椭圆 7"/>
          <p:cNvSpPr/>
          <p:nvPr/>
        </p:nvSpPr>
        <p:spPr>
          <a:xfrm>
            <a:off x="6120184" y="4368715"/>
            <a:ext cx="108000" cy="97200"/>
          </a:xfrm>
          <a:prstGeom prst="ellipse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椭圆 8"/>
          <p:cNvSpPr/>
          <p:nvPr/>
        </p:nvSpPr>
        <p:spPr>
          <a:xfrm>
            <a:off x="7704360" y="4725144"/>
            <a:ext cx="108000" cy="97200"/>
          </a:xfrm>
          <a:prstGeom prst="ellipse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任意多边形 9"/>
          <p:cNvSpPr/>
          <p:nvPr/>
        </p:nvSpPr>
        <p:spPr>
          <a:xfrm>
            <a:off x="2733221" y="4378538"/>
            <a:ext cx="6033408" cy="554324"/>
          </a:xfrm>
          <a:custGeom>
            <a:avLst/>
            <a:gdLst>
              <a:gd name="connsiteX0" fmla="*/ 0 w 6052458"/>
              <a:gd name="connsiteY0" fmla="*/ 534135 h 708306"/>
              <a:gd name="connsiteX1" fmla="*/ 1161143 w 6052458"/>
              <a:gd name="connsiteY1" fmla="*/ 11620 h 708306"/>
              <a:gd name="connsiteX2" fmla="*/ 3018972 w 6052458"/>
              <a:gd name="connsiteY2" fmla="*/ 214820 h 708306"/>
              <a:gd name="connsiteX3" fmla="*/ 6052458 w 6052458"/>
              <a:gd name="connsiteY3" fmla="*/ 708306 h 708306"/>
              <a:gd name="connsiteX4" fmla="*/ 6052458 w 6052458"/>
              <a:gd name="connsiteY4" fmla="*/ 708306 h 708306"/>
              <a:gd name="connsiteX0" fmla="*/ 0 w 6052458"/>
              <a:gd name="connsiteY0" fmla="*/ 551647 h 725818"/>
              <a:gd name="connsiteX1" fmla="*/ 1161143 w 6052458"/>
              <a:gd name="connsiteY1" fmla="*/ 29132 h 725818"/>
              <a:gd name="connsiteX2" fmla="*/ 1895022 w 6052458"/>
              <a:gd name="connsiteY2" fmla="*/ 137082 h 725818"/>
              <a:gd name="connsiteX3" fmla="*/ 6052458 w 6052458"/>
              <a:gd name="connsiteY3" fmla="*/ 725818 h 725818"/>
              <a:gd name="connsiteX4" fmla="*/ 6052458 w 6052458"/>
              <a:gd name="connsiteY4" fmla="*/ 725818 h 725818"/>
              <a:gd name="connsiteX0" fmla="*/ 0 w 6052458"/>
              <a:gd name="connsiteY0" fmla="*/ 416238 h 590409"/>
              <a:gd name="connsiteX1" fmla="*/ 1895022 w 6052458"/>
              <a:gd name="connsiteY1" fmla="*/ 1673 h 590409"/>
              <a:gd name="connsiteX2" fmla="*/ 6052458 w 6052458"/>
              <a:gd name="connsiteY2" fmla="*/ 590409 h 590409"/>
              <a:gd name="connsiteX3" fmla="*/ 6052458 w 6052458"/>
              <a:gd name="connsiteY3" fmla="*/ 590409 h 590409"/>
              <a:gd name="connsiteX0" fmla="*/ 0 w 6033408"/>
              <a:gd name="connsiteY0" fmla="*/ 244094 h 599240"/>
              <a:gd name="connsiteX1" fmla="*/ 1875972 w 6033408"/>
              <a:gd name="connsiteY1" fmla="*/ 10504 h 599240"/>
              <a:gd name="connsiteX2" fmla="*/ 6033408 w 6033408"/>
              <a:gd name="connsiteY2" fmla="*/ 599240 h 599240"/>
              <a:gd name="connsiteX3" fmla="*/ 6033408 w 6033408"/>
              <a:gd name="connsiteY3" fmla="*/ 599240 h 599240"/>
              <a:gd name="connsiteX0" fmla="*/ 0 w 6033408"/>
              <a:gd name="connsiteY0" fmla="*/ 278402 h 633548"/>
              <a:gd name="connsiteX1" fmla="*/ 1875972 w 6033408"/>
              <a:gd name="connsiteY1" fmla="*/ 44812 h 633548"/>
              <a:gd name="connsiteX2" fmla="*/ 3448504 w 6033408"/>
              <a:gd name="connsiteY2" fmla="*/ 57966 h 633548"/>
              <a:gd name="connsiteX3" fmla="*/ 6033408 w 6033408"/>
              <a:gd name="connsiteY3" fmla="*/ 633548 h 633548"/>
              <a:gd name="connsiteX4" fmla="*/ 6033408 w 6033408"/>
              <a:gd name="connsiteY4" fmla="*/ 633548 h 633548"/>
              <a:gd name="connsiteX0" fmla="*/ 0 w 6033408"/>
              <a:gd name="connsiteY0" fmla="*/ 260769 h 615915"/>
              <a:gd name="connsiteX1" fmla="*/ 1875972 w 6033408"/>
              <a:gd name="connsiteY1" fmla="*/ 27179 h 615915"/>
              <a:gd name="connsiteX2" fmla="*/ 3448504 w 6033408"/>
              <a:gd name="connsiteY2" fmla="*/ 40333 h 615915"/>
              <a:gd name="connsiteX3" fmla="*/ 5096329 w 6033408"/>
              <a:gd name="connsiteY3" fmla="*/ 459433 h 615915"/>
              <a:gd name="connsiteX4" fmla="*/ 6033408 w 6033408"/>
              <a:gd name="connsiteY4" fmla="*/ 615915 h 615915"/>
              <a:gd name="connsiteX5" fmla="*/ 6033408 w 6033408"/>
              <a:gd name="connsiteY5" fmla="*/ 615915 h 6159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33408" h="615915">
                <a:moveTo>
                  <a:pt x="0" y="260769"/>
                </a:moveTo>
                <a:cubicBezTo>
                  <a:pt x="394796" y="174401"/>
                  <a:pt x="1301221" y="63918"/>
                  <a:pt x="1875972" y="27179"/>
                </a:cubicBezTo>
                <a:cubicBezTo>
                  <a:pt x="2450723" y="-9560"/>
                  <a:pt x="2927653" y="-12659"/>
                  <a:pt x="3448504" y="40333"/>
                </a:cubicBezTo>
                <a:cubicBezTo>
                  <a:pt x="3969355" y="93325"/>
                  <a:pt x="4665512" y="363503"/>
                  <a:pt x="5096329" y="459433"/>
                </a:cubicBezTo>
                <a:cubicBezTo>
                  <a:pt x="5527146" y="555363"/>
                  <a:pt x="5877228" y="589835"/>
                  <a:pt x="6033408" y="615915"/>
                </a:cubicBezTo>
                <a:lnTo>
                  <a:pt x="6033408" y="615915"/>
                </a:lnTo>
              </a:path>
            </a:pathLst>
          </a:cu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任意多边形 3"/>
          <p:cNvSpPr/>
          <p:nvPr/>
        </p:nvSpPr>
        <p:spPr>
          <a:xfrm>
            <a:off x="2665853" y="3806190"/>
            <a:ext cx="6226629" cy="1734136"/>
          </a:xfrm>
          <a:custGeom>
            <a:avLst/>
            <a:gdLst>
              <a:gd name="connsiteX0" fmla="*/ 0 w 6226629"/>
              <a:gd name="connsiteY0" fmla="*/ 1850571 h 1926818"/>
              <a:gd name="connsiteX1" fmla="*/ 664029 w 6226629"/>
              <a:gd name="connsiteY1" fmla="*/ 10886 h 1926818"/>
              <a:gd name="connsiteX2" fmla="*/ 1545772 w 6226629"/>
              <a:gd name="connsiteY2" fmla="*/ 1894114 h 1926818"/>
              <a:gd name="connsiteX3" fmla="*/ 2242457 w 6226629"/>
              <a:gd name="connsiteY3" fmla="*/ 65314 h 1926818"/>
              <a:gd name="connsiteX4" fmla="*/ 3124200 w 6226629"/>
              <a:gd name="connsiteY4" fmla="*/ 1926771 h 1926818"/>
              <a:gd name="connsiteX5" fmla="*/ 3842657 w 6226629"/>
              <a:gd name="connsiteY5" fmla="*/ 65314 h 1926818"/>
              <a:gd name="connsiteX6" fmla="*/ 4680857 w 6226629"/>
              <a:gd name="connsiteY6" fmla="*/ 1926771 h 1926818"/>
              <a:gd name="connsiteX7" fmla="*/ 5421086 w 6226629"/>
              <a:gd name="connsiteY7" fmla="*/ 0 h 1926818"/>
              <a:gd name="connsiteX8" fmla="*/ 6226629 w 6226629"/>
              <a:gd name="connsiteY8" fmla="*/ 1926771 h 1926818"/>
              <a:gd name="connsiteX0" fmla="*/ 0 w 6226629"/>
              <a:gd name="connsiteY0" fmla="*/ 1850571 h 1926818"/>
              <a:gd name="connsiteX1" fmla="*/ 729343 w 6226629"/>
              <a:gd name="connsiteY1" fmla="*/ 10886 h 1926818"/>
              <a:gd name="connsiteX2" fmla="*/ 1545772 w 6226629"/>
              <a:gd name="connsiteY2" fmla="*/ 1894114 h 1926818"/>
              <a:gd name="connsiteX3" fmla="*/ 2242457 w 6226629"/>
              <a:gd name="connsiteY3" fmla="*/ 65314 h 1926818"/>
              <a:gd name="connsiteX4" fmla="*/ 3124200 w 6226629"/>
              <a:gd name="connsiteY4" fmla="*/ 1926771 h 1926818"/>
              <a:gd name="connsiteX5" fmla="*/ 3842657 w 6226629"/>
              <a:gd name="connsiteY5" fmla="*/ 65314 h 1926818"/>
              <a:gd name="connsiteX6" fmla="*/ 4680857 w 6226629"/>
              <a:gd name="connsiteY6" fmla="*/ 1926771 h 1926818"/>
              <a:gd name="connsiteX7" fmla="*/ 5421086 w 6226629"/>
              <a:gd name="connsiteY7" fmla="*/ 0 h 1926818"/>
              <a:gd name="connsiteX8" fmla="*/ 6226629 w 6226629"/>
              <a:gd name="connsiteY8" fmla="*/ 1926771 h 1926818"/>
              <a:gd name="connsiteX0" fmla="*/ 0 w 6226629"/>
              <a:gd name="connsiteY0" fmla="*/ 1850571 h 1926818"/>
              <a:gd name="connsiteX1" fmla="*/ 729343 w 6226629"/>
              <a:gd name="connsiteY1" fmla="*/ 10886 h 1926818"/>
              <a:gd name="connsiteX2" fmla="*/ 1545772 w 6226629"/>
              <a:gd name="connsiteY2" fmla="*/ 1894114 h 1926818"/>
              <a:gd name="connsiteX3" fmla="*/ 2362200 w 6226629"/>
              <a:gd name="connsiteY3" fmla="*/ 54428 h 1926818"/>
              <a:gd name="connsiteX4" fmla="*/ 3124200 w 6226629"/>
              <a:gd name="connsiteY4" fmla="*/ 1926771 h 1926818"/>
              <a:gd name="connsiteX5" fmla="*/ 3842657 w 6226629"/>
              <a:gd name="connsiteY5" fmla="*/ 65314 h 1926818"/>
              <a:gd name="connsiteX6" fmla="*/ 4680857 w 6226629"/>
              <a:gd name="connsiteY6" fmla="*/ 1926771 h 1926818"/>
              <a:gd name="connsiteX7" fmla="*/ 5421086 w 6226629"/>
              <a:gd name="connsiteY7" fmla="*/ 0 h 1926818"/>
              <a:gd name="connsiteX8" fmla="*/ 6226629 w 6226629"/>
              <a:gd name="connsiteY8" fmla="*/ 1926771 h 1926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226629" h="1926818">
                <a:moveTo>
                  <a:pt x="0" y="1850571"/>
                </a:moveTo>
                <a:cubicBezTo>
                  <a:pt x="203200" y="927100"/>
                  <a:pt x="471714" y="3629"/>
                  <a:pt x="729343" y="10886"/>
                </a:cubicBezTo>
                <a:cubicBezTo>
                  <a:pt x="986972" y="18143"/>
                  <a:pt x="1273629" y="1886857"/>
                  <a:pt x="1545772" y="1894114"/>
                </a:cubicBezTo>
                <a:cubicBezTo>
                  <a:pt x="1817915" y="1901371"/>
                  <a:pt x="2099129" y="48985"/>
                  <a:pt x="2362200" y="54428"/>
                </a:cubicBezTo>
                <a:cubicBezTo>
                  <a:pt x="2625271" y="59871"/>
                  <a:pt x="2877457" y="1924957"/>
                  <a:pt x="3124200" y="1926771"/>
                </a:cubicBezTo>
                <a:cubicBezTo>
                  <a:pt x="3370943" y="1928585"/>
                  <a:pt x="3583214" y="65314"/>
                  <a:pt x="3842657" y="65314"/>
                </a:cubicBezTo>
                <a:cubicBezTo>
                  <a:pt x="4102100" y="65314"/>
                  <a:pt x="4417786" y="1937657"/>
                  <a:pt x="4680857" y="1926771"/>
                </a:cubicBezTo>
                <a:cubicBezTo>
                  <a:pt x="4943928" y="1915885"/>
                  <a:pt x="5163457" y="0"/>
                  <a:pt x="5421086" y="0"/>
                </a:cubicBezTo>
                <a:cubicBezTo>
                  <a:pt x="5678715" y="0"/>
                  <a:pt x="6226629" y="1926771"/>
                  <a:pt x="6226629" y="1926771"/>
                </a:cubicBezTo>
              </a:path>
            </a:pathLst>
          </a:custGeom>
          <a:ln w="28575">
            <a:solidFill>
              <a:srgbClr val="7030A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443926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数据抽样</a:t>
            </a:r>
            <a:r>
              <a:rPr lang="zh-CN" altLang="en-US" sz="2800" dirty="0"/>
              <a:t> </a:t>
            </a:r>
            <a:r>
              <a:rPr lang="en-US" altLang="zh-CN" sz="2800" dirty="0"/>
              <a:t>– </a:t>
            </a:r>
            <a:r>
              <a:rPr lang="zh-CN" altLang="en-US" sz="2800" dirty="0"/>
              <a:t>抽样方法</a:t>
            </a:r>
            <a:endParaRPr lang="zh-CN" altLang="en-US" dirty="0"/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63517" y="1700214"/>
            <a:ext cx="6208685" cy="4211955"/>
          </a:xfrm>
        </p:spPr>
        <p:txBody>
          <a:bodyPr/>
          <a:lstStyle/>
          <a:p>
            <a:r>
              <a:rPr lang="zh-CN" altLang="en-US" dirty="0"/>
              <a:t>分层抽样</a:t>
            </a:r>
            <a:endParaRPr lang="en-US" altLang="zh-CN" dirty="0"/>
          </a:p>
          <a:p>
            <a:pPr lvl="1"/>
            <a:r>
              <a:rPr lang="zh-CN" altLang="en-US" dirty="0"/>
              <a:t>是把调查总体分为同质的、互不交叉的层（或类型），然后在各层（或类型）中独立抽取样本</a:t>
            </a:r>
            <a:endParaRPr lang="en-US" altLang="zh-CN" dirty="0"/>
          </a:p>
          <a:p>
            <a:endParaRPr lang="zh-CN" altLang="en-US" dirty="0"/>
          </a:p>
        </p:txBody>
      </p:sp>
      <p:pic>
        <p:nvPicPr>
          <p:cNvPr id="7" name="Picture 2" descr="https://timgsa.baidu.com/timg?image&amp;quality=80&amp;size=b9999_10000&amp;sec=1505234922629&amp;di=7d3e363e361d90c1cbf5f867b66df603&amp;imgtype=0&amp;src=http%3A%2F%2Fs6.sinaimg.cn%2Fbmiddle%2F5fc37565gaceee87831e5%26690"/>
          <p:cNvPicPr>
            <a:picLocks noChangeAspect="1" noChangeArrowheads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6162" t="4896" r="49248" b="5361"/>
          <a:stretch/>
        </p:blipFill>
        <p:spPr bwMode="auto">
          <a:xfrm>
            <a:off x="6660232" y="1290363"/>
            <a:ext cx="2268000" cy="44975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3024884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数据抽样</a:t>
            </a:r>
            <a:r>
              <a:rPr lang="zh-CN" altLang="en-US" sz="2800"/>
              <a:t> </a:t>
            </a:r>
            <a:r>
              <a:rPr lang="en-US" altLang="zh-CN" sz="2800"/>
              <a:t>– </a:t>
            </a:r>
            <a:r>
              <a:rPr lang="zh-CN" altLang="en-US" sz="2800"/>
              <a:t>抽样方法</a:t>
            </a:r>
            <a:endParaRPr lang="zh-CN" altLang="en-US" dirty="0"/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63516" y="1700214"/>
            <a:ext cx="8872981" cy="4211955"/>
          </a:xfrm>
        </p:spPr>
        <p:txBody>
          <a:bodyPr/>
          <a:lstStyle/>
          <a:p>
            <a:r>
              <a:rPr lang="zh-CN" altLang="en-US" dirty="0"/>
              <a:t>分层抽样</a:t>
            </a:r>
            <a:endParaRPr lang="en-US" altLang="zh-CN" dirty="0"/>
          </a:p>
          <a:p>
            <a:pPr lvl="1"/>
            <a:r>
              <a:rPr lang="zh-CN" altLang="en-US" dirty="0"/>
              <a:t>例如：调查零售店的销售数据时，按照其销售规模大小或库存额的大小分层，然后在每层中按简单随机方法抽取大型零售店若干、中型若干、小型若干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8" name="矩形标注 7"/>
          <p:cNvSpPr/>
          <p:nvPr/>
        </p:nvSpPr>
        <p:spPr>
          <a:xfrm>
            <a:off x="2123728" y="4555679"/>
            <a:ext cx="2664296" cy="810000"/>
          </a:xfrm>
          <a:prstGeom prst="wedgeRectCallout">
            <a:avLst>
              <a:gd name="adj1" fmla="val 76130"/>
              <a:gd name="adj2" fmla="val 25718"/>
            </a:avLst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CN" altLang="en-US" sz="2000" dirty="0">
                <a:latin typeface="华文细黑" panose="02010600040101010101" pitchFamily="2" charset="-122"/>
                <a:ea typeface="华文细黑" panose="02010600040101010101" pitchFamily="2" charset="-122"/>
              </a:rPr>
              <a:t>每组抽相同个数，或</a:t>
            </a:r>
            <a:endParaRPr lang="en-US" altLang="zh-CN" sz="2000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  <a:p>
            <a:r>
              <a:rPr lang="zh-CN" altLang="en-US" sz="2000" dirty="0">
                <a:latin typeface="华文细黑" panose="02010600040101010101" pitchFamily="2" charset="-122"/>
                <a:ea typeface="华文细黑" panose="02010600040101010101" pitchFamily="2" charset="-122"/>
              </a:rPr>
              <a:t>按比例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8064" y="3199612"/>
            <a:ext cx="3816424" cy="2644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873107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数据抽样</a:t>
            </a:r>
            <a:r>
              <a:rPr lang="zh-CN" altLang="en-US" sz="2800"/>
              <a:t> </a:t>
            </a:r>
            <a:r>
              <a:rPr lang="en-US" altLang="zh-CN" sz="2800"/>
              <a:t>– </a:t>
            </a:r>
            <a:r>
              <a:rPr lang="zh-CN" altLang="en-US" sz="2800"/>
              <a:t>抽样方法</a:t>
            </a:r>
            <a:endParaRPr lang="zh-CN" altLang="en-US" dirty="0"/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63516" y="1700214"/>
            <a:ext cx="6136677" cy="4211955"/>
          </a:xfrm>
        </p:spPr>
        <p:txBody>
          <a:bodyPr/>
          <a:lstStyle/>
          <a:p>
            <a:r>
              <a:rPr lang="zh-CN" altLang="en-US" dirty="0"/>
              <a:t>分层抽样</a:t>
            </a:r>
            <a:endParaRPr lang="en-US" altLang="zh-CN" dirty="0"/>
          </a:p>
          <a:p>
            <a:pPr lvl="1"/>
            <a:r>
              <a:rPr lang="zh-CN" altLang="en-US" dirty="0"/>
              <a:t>优点：</a:t>
            </a:r>
          </a:p>
          <a:p>
            <a:pPr lvl="2"/>
            <a:r>
              <a:rPr lang="zh-CN" altLang="en-US" dirty="0"/>
              <a:t>适用于层间有较大的异质性，而每层内的个体具有同质性的总体，能提高总体估计的精确度，在样本量相同的情况下，其精度高于简单抽样和系统抽样；</a:t>
            </a:r>
          </a:p>
        </p:txBody>
      </p:sp>
      <p:sp>
        <p:nvSpPr>
          <p:cNvPr id="9" name="内容占位符 1"/>
          <p:cNvSpPr txBox="1">
            <a:spLocks/>
          </p:cNvSpPr>
          <p:nvPr/>
        </p:nvSpPr>
        <p:spPr bwMode="auto">
          <a:xfrm>
            <a:off x="792048" y="4354472"/>
            <a:ext cx="4212000" cy="1522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65125" indent="-282575" algn="l" rtl="0" eaLnBrk="1" fontAlgn="base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2" pitchFamily="18" charset="2"/>
              <a:buChar char=""/>
              <a:defRPr sz="2800" kern="1200">
                <a:solidFill>
                  <a:schemeClr val="tx1"/>
                </a:solidFill>
                <a:latin typeface="Times New Roman" pitchFamily="18" charset="0"/>
                <a:ea typeface="华文细黑" pitchFamily="2" charset="-122"/>
                <a:cs typeface="+mn-cs"/>
              </a:defRPr>
            </a:lvl1pPr>
            <a:lvl2pPr marL="639763" indent="-236538" algn="l" rtl="0" eaLnBrk="1" fontAlgn="base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Font typeface="Verdana" pitchFamily="34" charset="0"/>
              <a:buChar char="◦"/>
              <a:defRPr sz="2400" kern="1200">
                <a:solidFill>
                  <a:schemeClr val="tx1"/>
                </a:solidFill>
                <a:latin typeface="Times New Roman" pitchFamily="18" charset="0"/>
                <a:ea typeface="华文细黑" pitchFamily="2" charset="-122"/>
                <a:cs typeface="+mn-cs"/>
              </a:defRPr>
            </a:lvl2pPr>
            <a:lvl3pPr marL="885825" indent="-228600" algn="l" rtl="0" eaLnBrk="1" fontAlgn="base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Times New Roman" pitchFamily="18" charset="0"/>
                <a:ea typeface="华文细黑" pitchFamily="2" charset="-122"/>
                <a:cs typeface="+mn-cs"/>
              </a:defRPr>
            </a:lvl3pPr>
            <a:lvl4pPr marL="1096963" indent="-173038" algn="l" rtl="0" eaLnBrk="1" fontAlgn="base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rgbClr val="C32D2E"/>
              </a:buClr>
              <a:buFont typeface="Wingdings 2" pitchFamily="18" charset="2"/>
              <a:buChar char=""/>
              <a:defRPr kern="1200">
                <a:solidFill>
                  <a:schemeClr val="tx1"/>
                </a:solidFill>
                <a:latin typeface="Times New Roman" pitchFamily="18" charset="0"/>
                <a:ea typeface="华文细黑" pitchFamily="2" charset="-122"/>
                <a:cs typeface="+mn-cs"/>
              </a:defRPr>
            </a:lvl4pPr>
            <a:lvl5pPr marL="1296988" indent="-182563" algn="l" rtl="0" eaLnBrk="1" fontAlgn="base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rgbClr val="84AA33"/>
              </a:buClr>
              <a:buFont typeface="Wingdings 2" pitchFamily="18" charset="2"/>
              <a:buChar char=""/>
              <a:defRPr kern="1200">
                <a:solidFill>
                  <a:schemeClr val="tx1"/>
                </a:solidFill>
                <a:latin typeface="Times New Roman" pitchFamily="18" charset="0"/>
                <a:ea typeface="华文细黑" pitchFamily="2" charset="-122"/>
                <a:cs typeface="+mn-cs"/>
              </a:defRPr>
            </a:lvl5pPr>
            <a:lvl6pPr marL="1508760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5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719072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20240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30552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269875" lvl="2"/>
            <a:r>
              <a:rPr lang="zh-CN" altLang="en-US" dirty="0"/>
              <a:t>能保证“层”的代表性，避免抽到“差”的样本；</a:t>
            </a:r>
          </a:p>
          <a:p>
            <a:pPr marL="269875" lvl="2"/>
            <a:r>
              <a:rPr lang="zh-CN" altLang="en-US" dirty="0"/>
              <a:t>不同层可以依据情况采用不同的抽样框和抽样方法。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8064" y="3199612"/>
            <a:ext cx="3816424" cy="2644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336359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数据抽样</a:t>
            </a:r>
            <a:r>
              <a:rPr lang="zh-CN" altLang="en-US" sz="2800"/>
              <a:t> </a:t>
            </a:r>
            <a:r>
              <a:rPr lang="en-US" altLang="zh-CN" sz="2800"/>
              <a:t>– </a:t>
            </a:r>
            <a:r>
              <a:rPr lang="zh-CN" altLang="en-US" sz="2800"/>
              <a:t>抽样方法</a:t>
            </a:r>
            <a:endParaRPr lang="zh-CN" altLang="en-US" dirty="0"/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63517" y="1700214"/>
            <a:ext cx="5920653" cy="4211955"/>
          </a:xfrm>
        </p:spPr>
        <p:txBody>
          <a:bodyPr/>
          <a:lstStyle/>
          <a:p>
            <a:r>
              <a:rPr lang="zh-CN" altLang="en-US" dirty="0"/>
              <a:t>分层抽样</a:t>
            </a:r>
            <a:endParaRPr lang="en-US" altLang="zh-CN" dirty="0"/>
          </a:p>
          <a:p>
            <a:pPr lvl="1"/>
            <a:r>
              <a:rPr lang="zh-CN" altLang="en-US" dirty="0"/>
              <a:t>缺点：</a:t>
            </a:r>
          </a:p>
          <a:p>
            <a:pPr lvl="2"/>
            <a:r>
              <a:rPr lang="zh-CN" altLang="en-US" dirty="0"/>
              <a:t>要求有高质量的、能用于分层的辅助信息；</a:t>
            </a:r>
          </a:p>
          <a:p>
            <a:pPr lvl="2"/>
            <a:r>
              <a:rPr lang="zh-CN" altLang="en-US" dirty="0"/>
              <a:t>由于需要辅助信息，抽样框的创建需要更多的费用，更为复杂，</a:t>
            </a:r>
            <a:endParaRPr lang="en-US" altLang="zh-CN" dirty="0"/>
          </a:p>
          <a:p>
            <a:pPr lvl="2"/>
            <a:r>
              <a:rPr lang="zh-CN" altLang="en-US" dirty="0"/>
              <a:t>抽样误差的估计也比简单抽样和系统抽样更复杂。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8064" y="3199612"/>
            <a:ext cx="3816424" cy="2644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0716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数据抽样</a:t>
            </a:r>
            <a:r>
              <a:rPr lang="zh-CN" altLang="en-US" sz="2800" dirty="0"/>
              <a:t> </a:t>
            </a:r>
            <a:r>
              <a:rPr lang="en-US" altLang="zh-CN" sz="2800" dirty="0"/>
              <a:t>– </a:t>
            </a:r>
            <a:r>
              <a:rPr lang="zh-CN" altLang="en-US" sz="2800" dirty="0"/>
              <a:t>抽样方法</a:t>
            </a:r>
            <a:endParaRPr lang="zh-CN" altLang="en-US" dirty="0"/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63517" y="1700214"/>
            <a:ext cx="5704629" cy="4211955"/>
          </a:xfrm>
        </p:spPr>
        <p:txBody>
          <a:bodyPr/>
          <a:lstStyle/>
          <a:p>
            <a:r>
              <a:rPr lang="zh-CN" altLang="en-US" dirty="0"/>
              <a:t>整群抽样</a:t>
            </a:r>
            <a:endParaRPr lang="en-US" altLang="zh-CN" dirty="0"/>
          </a:p>
          <a:p>
            <a:pPr lvl="1"/>
            <a:r>
              <a:rPr lang="zh-CN" altLang="en-US" dirty="0"/>
              <a:t>先将调查总体分为群，然后从中抽取群，对被抽中群的全部数据进行处理 </a:t>
            </a:r>
            <a:endParaRPr lang="en-US" altLang="zh-CN" dirty="0"/>
          </a:p>
          <a:p>
            <a:endParaRPr lang="zh-CN" altLang="en-US" dirty="0"/>
          </a:p>
        </p:txBody>
      </p:sp>
      <p:pic>
        <p:nvPicPr>
          <p:cNvPr id="4" name="Picture 2" descr="https://timgsa.baidu.com/timg?image&amp;quality=80&amp;size=b9999_10000&amp;sec=1505234922629&amp;di=7d3e363e361d90c1cbf5f867b66df603&amp;imgtype=0&amp;src=http%3A%2F%2Fs6.sinaimg.cn%2Fbmiddle%2F5fc37565gaceee87831e5%26690"/>
          <p:cNvPicPr>
            <a:picLocks noChangeAspect="1" noChangeArrowheads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25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1260" t="4896" r="24370" b="5361"/>
          <a:stretch/>
        </p:blipFill>
        <p:spPr bwMode="auto">
          <a:xfrm>
            <a:off x="6804248" y="1614399"/>
            <a:ext cx="2052000" cy="41060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56012" y="4919566"/>
            <a:ext cx="799976" cy="719978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3635898" y="4919566"/>
            <a:ext cx="3459601" cy="5963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82550">
              <a:lnSpc>
                <a:spcPct val="130000"/>
              </a:lnSpc>
              <a:buClr>
                <a:srgbClr val="3891A7"/>
              </a:buClr>
              <a:buSzPct val="80000"/>
            </a:pPr>
            <a:r>
              <a:rPr lang="zh-CN" altLang="en-US" sz="2800" dirty="0">
                <a:solidFill>
                  <a:prstClr val="black"/>
                </a:solidFill>
                <a:latin typeface="Times New Roman" pitchFamily="18" charset="0"/>
                <a:ea typeface="华文细黑" pitchFamily="2" charset="-122"/>
              </a:rPr>
              <a:t>整群抽样</a:t>
            </a:r>
            <a:r>
              <a:rPr lang="en-US" altLang="zh-CN" sz="2800" dirty="0" err="1">
                <a:solidFill>
                  <a:prstClr val="black"/>
                </a:solidFill>
                <a:latin typeface="Times New Roman" pitchFamily="18" charset="0"/>
                <a:ea typeface="华文细黑" pitchFamily="2" charset="-122"/>
              </a:rPr>
              <a:t>vs</a:t>
            </a:r>
            <a:r>
              <a:rPr lang="zh-CN" altLang="en-US" sz="2800" dirty="0">
                <a:solidFill>
                  <a:prstClr val="black"/>
                </a:solidFill>
                <a:latin typeface="Times New Roman" pitchFamily="18" charset="0"/>
                <a:ea typeface="华文细黑" pitchFamily="2" charset="-122"/>
              </a:rPr>
              <a:t>分层抽样</a:t>
            </a:r>
            <a:endParaRPr lang="en-US" altLang="zh-CN" sz="2800" dirty="0">
              <a:solidFill>
                <a:prstClr val="black"/>
              </a:solidFill>
              <a:latin typeface="Times New Roman" pitchFamily="18" charset="0"/>
              <a:ea typeface="华文细黑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2106333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数据抽样</a:t>
            </a:r>
            <a:r>
              <a:rPr lang="zh-CN" altLang="en-US" sz="2800"/>
              <a:t> </a:t>
            </a:r>
            <a:r>
              <a:rPr lang="en-US" altLang="zh-CN" sz="2800"/>
              <a:t>– </a:t>
            </a:r>
            <a:r>
              <a:rPr lang="zh-CN" altLang="en-US" sz="2800"/>
              <a:t>抽样方法</a:t>
            </a:r>
            <a:endParaRPr lang="zh-CN" altLang="en-US" dirty="0"/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63517" y="1700214"/>
            <a:ext cx="5488605" cy="4211955"/>
          </a:xfrm>
        </p:spPr>
        <p:txBody>
          <a:bodyPr/>
          <a:lstStyle/>
          <a:p>
            <a:pPr lvl="1"/>
            <a:r>
              <a:rPr lang="zh-CN" altLang="en-US" dirty="0"/>
              <a:t>优点</a:t>
            </a:r>
            <a:endParaRPr lang="en-US" altLang="zh-CN" dirty="0"/>
          </a:p>
          <a:p>
            <a:pPr lvl="2"/>
            <a:r>
              <a:rPr lang="zh-CN" altLang="en-US" dirty="0"/>
              <a:t>适用于群间差异小，群内各个体差异大，可依据外观的或地域等的差异来划分的群体。</a:t>
            </a:r>
            <a:endParaRPr lang="en-US" altLang="zh-CN" dirty="0"/>
          </a:p>
          <a:p>
            <a:pPr lvl="1"/>
            <a:r>
              <a:rPr lang="zh-CN" altLang="en-US" dirty="0"/>
              <a:t>缺点</a:t>
            </a:r>
            <a:endParaRPr lang="en-US" altLang="zh-CN" dirty="0"/>
          </a:p>
          <a:p>
            <a:pPr lvl="2"/>
            <a:r>
              <a:rPr lang="zh-CN" altLang="en-US" dirty="0"/>
              <a:t>是群内单位有趋同性，其精度比简单抽样为低。</a:t>
            </a:r>
            <a:endParaRPr lang="en-US" altLang="zh-CN" dirty="0"/>
          </a:p>
        </p:txBody>
      </p:sp>
      <p:pic>
        <p:nvPicPr>
          <p:cNvPr id="7" name="图片 6"/>
          <p:cNvPicPr/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3169773"/>
            <a:ext cx="4438744" cy="2293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449593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数据抽样</a:t>
            </a:r>
            <a:r>
              <a:rPr lang="zh-CN" altLang="en-US" sz="2800" dirty="0"/>
              <a:t> </a:t>
            </a:r>
            <a:r>
              <a:rPr lang="en-US" altLang="zh-CN" sz="2800" dirty="0"/>
              <a:t>– </a:t>
            </a:r>
            <a:r>
              <a:rPr lang="zh-CN" altLang="en-US" sz="2800" dirty="0"/>
              <a:t>抽样方法</a:t>
            </a:r>
            <a:endParaRPr lang="zh-CN" altLang="en-US" dirty="0"/>
          </a:p>
        </p:txBody>
      </p:sp>
      <p:pic>
        <p:nvPicPr>
          <p:cNvPr id="4" name="Picture 2" descr="https://timgsa.baidu.com/timg?image&amp;quality=80&amp;size=b9999_10000&amp;sec=1505234922629&amp;di=7d3e363e361d90c1cbf5f867b66df603&amp;imgtype=0&amp;src=http%3A%2F%2Fs6.sinaimg.cn%2Fbmiddle%2F5fc37565gaceee87831e5%26690"/>
          <p:cNvPicPr>
            <a:picLocks noChangeAspect="1" noChangeArrowheads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4896" b="5361"/>
          <a:stretch/>
        </p:blipFill>
        <p:spPr bwMode="auto">
          <a:xfrm>
            <a:off x="395536" y="1938434"/>
            <a:ext cx="7974094" cy="3888432"/>
          </a:xfrm>
          <a:prstGeom prst="rect">
            <a:avLst/>
          </a:prstGeom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4909263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数据抽样的策略</a:t>
            </a:r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具有代表性，体现数据的特性</a:t>
            </a:r>
            <a:endParaRPr lang="en-US" altLang="zh-CN"/>
          </a:p>
          <a:p>
            <a:pPr lvl="1"/>
            <a:endParaRPr lang="en-US" altLang="zh-CN" dirty="0"/>
          </a:p>
        </p:txBody>
      </p:sp>
      <p:pic>
        <p:nvPicPr>
          <p:cNvPr id="1026" name="Picture 2" descr="https://timgsa.baidu.com/timg?image&amp;quality=80&amp;size=b9999_10000&amp;sec=1567057049240&amp;di=a168fc0c1dec5cf1bcccd38af8a0d71a&amp;imgtype=0&amp;src=http%3A%2F%2Fwww.dzsc.com%2Fdata%2Fuploadfile%2F201271210397828.jpg"/>
          <p:cNvPicPr>
            <a:picLocks noChangeAspect="1" noChangeArrowheads="1"/>
          </p:cNvPicPr>
          <p:nvPr/>
        </p:nvPicPr>
        <p:blipFill>
          <a:blip r:embed="rId3">
            <a:biLevel thresh="2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6102" y="2910544"/>
            <a:ext cx="4200525" cy="21345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https://timgsa.baidu.com/timg?image&amp;quality=80&amp;size=b9999_10000&amp;sec=1567057049240&amp;di=a168fc0c1dec5cf1bcccd38af8a0d71a&amp;imgtype=0&amp;src=http%3A%2F%2Fwww.dzsc.com%2Fdata%2Fuploadfile%2F201271210397828.jpg"/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4318" y="2910544"/>
            <a:ext cx="4200525" cy="21345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7379323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zh-CN" altLang="en-US" dirty="0"/>
              <a:t>具有代表性，体现数据的特性</a:t>
            </a:r>
            <a:endParaRPr lang="en-US" altLang="zh-CN" dirty="0"/>
          </a:p>
          <a:p>
            <a:r>
              <a:rPr lang="zh-CN" altLang="en-US" dirty="0"/>
              <a:t>保留原有特征</a:t>
            </a:r>
            <a:endParaRPr lang="en-US" altLang="zh-CN" dirty="0"/>
          </a:p>
          <a:p>
            <a:pPr lvl="1"/>
            <a:endParaRPr lang="en-US" altLang="zh-CN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数据抽样的策略</a:t>
            </a:r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2" y="3364194"/>
            <a:ext cx="7159327" cy="19457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0426247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zh-CN" altLang="en-US" dirty="0"/>
              <a:t>具有代表性，体现数据的特性</a:t>
            </a:r>
            <a:endParaRPr lang="en-US" altLang="zh-CN" dirty="0"/>
          </a:p>
          <a:p>
            <a:r>
              <a:rPr lang="zh-CN" altLang="en-US" dirty="0"/>
              <a:t>保留原有特征</a:t>
            </a:r>
            <a:endParaRPr lang="en-US" altLang="zh-CN" dirty="0"/>
          </a:p>
          <a:p>
            <a:pPr lvl="1"/>
            <a:endParaRPr lang="en-US" altLang="zh-CN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数据抽样的策略</a:t>
            </a:r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3104965"/>
            <a:ext cx="2951678" cy="26570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4008" y="3104964"/>
            <a:ext cx="2952000" cy="265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0614669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39D998-0DE4-4AE7-8A26-ADD52B1C2B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数据抽样</a:t>
            </a:r>
            <a:r>
              <a:rPr lang="en-US" altLang="zh-CN" dirty="0"/>
              <a:t>-</a:t>
            </a:r>
            <a:r>
              <a:rPr lang="zh-CN" altLang="en-US" dirty="0"/>
              <a:t>小结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AE4101E-2AB9-4FE6-A967-0115104B8C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84F5B-1672-4D3F-9FEC-5DF89A7B7912}" type="slidenum">
              <a:rPr lang="zh-CN" altLang="en-US" smtClean="0"/>
              <a:t>39</a:t>
            </a:fld>
            <a:endParaRPr lang="zh-CN" altLang="en-US"/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7314902A-0A3A-4FF1-90A9-854AE546F1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4938" y="906463"/>
            <a:ext cx="8883650" cy="5637212"/>
          </a:xfrm>
        </p:spPr>
        <p:txBody>
          <a:bodyPr/>
          <a:lstStyle/>
          <a:p>
            <a:r>
              <a:rPr lang="zh-CN" altLang="en-US" dirty="0"/>
              <a:t>数据抽样是降低数据体量，使其能够用于有效的数据挖掘的一个重要的方法</a:t>
            </a:r>
            <a:endParaRPr lang="en-US" altLang="zh-CN" dirty="0"/>
          </a:p>
          <a:p>
            <a:r>
              <a:rPr lang="zh-CN" altLang="en-US" dirty="0"/>
              <a:t>所采用的数据抽样的方法，需要根据数据挖掘的任务和数据的特性来针对地进行</a:t>
            </a:r>
          </a:p>
        </p:txBody>
      </p:sp>
    </p:spTree>
    <p:extLst>
      <p:ext uri="{BB962C8B-B14F-4D97-AF65-F5344CB8AC3E}">
        <p14:creationId xmlns:p14="http://schemas.microsoft.com/office/powerpoint/2010/main" val="24797550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数据变换</a:t>
            </a:r>
            <a:endParaRPr lang="zh-CN" altLang="en-US" dirty="0"/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数据变换是指将数据变换成适合于数据挖掘的形式</a:t>
            </a:r>
          </a:p>
          <a:p>
            <a:r>
              <a:rPr lang="zh-CN" altLang="zh-CN" dirty="0"/>
              <a:t>数据变换的目的</a:t>
            </a:r>
            <a:endParaRPr lang="en-US" altLang="zh-CN" dirty="0"/>
          </a:p>
          <a:p>
            <a:pPr lvl="1"/>
            <a:r>
              <a:rPr lang="zh-CN" altLang="zh-CN" dirty="0"/>
              <a:t>是为了从另一个角度、另一个域发现数据的更为显著的特征</a:t>
            </a:r>
            <a:endParaRPr lang="en-US" altLang="zh-CN" dirty="0"/>
          </a:p>
          <a:p>
            <a:pPr lvl="1"/>
            <a:r>
              <a:rPr lang="zh-CN" altLang="en-US" dirty="0"/>
              <a:t>提升数据处理算法的效率、效果</a:t>
            </a:r>
            <a:endParaRPr lang="en-US" altLang="zh-CN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2211" y="3393179"/>
            <a:ext cx="1964710" cy="1393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606142" y="3393179"/>
            <a:ext cx="1964821" cy="1393200"/>
          </a:xfrm>
          <a:prstGeom prst="rect">
            <a:avLst/>
          </a:prstGeom>
          <a:noFill/>
        </p:spPr>
      </p:pic>
      <p:sp>
        <p:nvSpPr>
          <p:cNvPr id="8" name="矩形 7"/>
          <p:cNvSpPr/>
          <p:nvPr/>
        </p:nvSpPr>
        <p:spPr>
          <a:xfrm>
            <a:off x="573037" y="3724712"/>
            <a:ext cx="3240360" cy="12926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36538" lvl="1" indent="-236538">
              <a:lnSpc>
                <a:spcPct val="130000"/>
              </a:lnSpc>
              <a:buClr>
                <a:srgbClr val="3891A7"/>
              </a:buClr>
              <a:buFont typeface="Verdana" pitchFamily="34" charset="0"/>
              <a:buChar char="◦"/>
            </a:pPr>
            <a:r>
              <a:rPr lang="zh-CN" altLang="zh-CN" sz="2000" dirty="0">
                <a:solidFill>
                  <a:prstClr val="black"/>
                </a:solidFill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例如，将语音数据变换为频率谱，则更便于分析语音的特征</a:t>
            </a:r>
            <a:endParaRPr lang="en-US" altLang="zh-CN" sz="2000" dirty="0">
              <a:solidFill>
                <a:prstClr val="black"/>
              </a:solidFill>
              <a:latin typeface="Times New Roman" pitchFamily="18" charset="0"/>
              <a:ea typeface="华文细黑" pitchFamily="2" charset="-122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68292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数据规范化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归一化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将数据映射变换到</a:t>
                </a:r>
                <a:r>
                  <a:rPr lang="en-US" altLang="zh-CN" dirty="0"/>
                  <a:t>[0,1]</a:t>
                </a:r>
                <a:r>
                  <a:rPr lang="zh-CN" altLang="en-US" dirty="0"/>
                  <a:t>区间</a:t>
                </a:r>
                <a:endParaRPr lang="en-US" altLang="zh-CN" dirty="0"/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pt-BR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US" altLang="zh-CN" i="1">
                            <a:latin typeface="Cambria Math"/>
                          </a:rPr>
                          <m:t>′</m:t>
                        </m:r>
                      </m:sup>
                    </m:sSup>
                    <m:r>
                      <a:rPr lang="pt-BR" altLang="zh-CN" i="1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pt-BR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/>
                          </a:rPr>
                          <m:t>𝑥</m:t>
                        </m:r>
                        <m:r>
                          <a:rPr lang="en-US" altLang="zh-CN" i="1">
                            <a:latin typeface="Cambria Math"/>
                          </a:rPr>
                          <m:t>−</m:t>
                        </m:r>
                        <m:r>
                          <a:rPr lang="en-US" altLang="zh-CN" i="1">
                            <a:latin typeface="Cambria Math"/>
                          </a:rPr>
                          <m:t>𝑚𝑖𝑛</m:t>
                        </m:r>
                      </m:num>
                      <m:den>
                        <m:r>
                          <a:rPr lang="en-US" altLang="zh-CN" i="1">
                            <a:latin typeface="Cambria Math"/>
                          </a:rPr>
                          <m:t>𝑚𝑎𝑥</m:t>
                        </m:r>
                        <m:r>
                          <a:rPr lang="en-US" altLang="zh-CN" i="1">
                            <a:latin typeface="Cambria Math"/>
                          </a:rPr>
                          <m:t>−</m:t>
                        </m:r>
                        <m:r>
                          <a:rPr lang="en-US" altLang="zh-CN" i="1">
                            <a:latin typeface="Cambria Math"/>
                          </a:rPr>
                          <m:t>𝑚𝑖𝑛</m:t>
                        </m:r>
                      </m:den>
                    </m:f>
                  </m:oMath>
                </a14:m>
                <a:r>
                  <a:rPr lang="zh-CN" altLang="en-US" dirty="0"/>
                  <a:t> 或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US" altLang="zh-CN" i="1">
                            <a:latin typeface="Cambria Math"/>
                          </a:rPr>
                          <m:t>′</m:t>
                        </m:r>
                      </m:sup>
                    </m:sSup>
                    <m:r>
                      <a:rPr lang="pt-BR" altLang="zh-CN" i="1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pt-BR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/>
                          </a:rPr>
                          <m:t>𝑚𝑎𝑥</m:t>
                        </m:r>
                        <m:r>
                          <a:rPr lang="en-US" altLang="zh-CN" i="1">
                            <a:latin typeface="Cambria Math"/>
                          </a:rPr>
                          <m:t>−</m:t>
                        </m:r>
                        <m:r>
                          <a:rPr lang="en-US" altLang="zh-CN" i="1">
                            <a:latin typeface="Cambria Math"/>
                          </a:rPr>
                          <m:t>𝑥</m:t>
                        </m:r>
                      </m:num>
                      <m:den>
                        <m:r>
                          <a:rPr lang="en-US" altLang="zh-CN" i="1">
                            <a:latin typeface="Cambria Math"/>
                          </a:rPr>
                          <m:t>𝑚𝑎𝑥</m:t>
                        </m:r>
                        <m:r>
                          <a:rPr lang="en-US" altLang="zh-CN" i="1">
                            <a:latin typeface="Cambria Math"/>
                          </a:rPr>
                          <m:t>−</m:t>
                        </m:r>
                        <m:r>
                          <a:rPr lang="en-US" altLang="zh-CN" i="1">
                            <a:latin typeface="Cambria Math"/>
                          </a:rPr>
                          <m:t>𝑚𝑖𝑛</m:t>
                        </m:r>
                      </m:den>
                    </m:f>
                  </m:oMath>
                </a14:m>
                <a:endParaRPr lang="en-US" altLang="zh-CN" dirty="0"/>
              </a:p>
              <a:p>
                <a:endParaRPr lang="en-US" altLang="zh-CN" dirty="0"/>
              </a:p>
            </p:txBody>
          </p:sp>
        </mc:Choice>
        <mc:Fallback xmlns="">
          <p:sp>
            <p:nvSpPr>
              <p:cNvPr id="2" name="内容占位符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云形标注 3"/>
          <p:cNvSpPr/>
          <p:nvPr/>
        </p:nvSpPr>
        <p:spPr>
          <a:xfrm>
            <a:off x="4730721" y="1137148"/>
            <a:ext cx="2736304" cy="1166530"/>
          </a:xfrm>
          <a:prstGeom prst="cloudCallout">
            <a:avLst>
              <a:gd name="adj1" fmla="val -56255"/>
              <a:gd name="adj2" fmla="val -19021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lvl="1" algn="ctr"/>
            <a:r>
              <a:rPr lang="zh-CN" altLang="en-US" sz="2000" dirty="0">
                <a:latin typeface="华文细黑" pitchFamily="2" charset="-122"/>
                <a:ea typeface="华文细黑" pitchFamily="2" charset="-122"/>
              </a:rPr>
              <a:t>目标</a:t>
            </a:r>
            <a:r>
              <a:rPr lang="en-US" altLang="zh-CN" sz="2000" dirty="0">
                <a:latin typeface="华文细黑" pitchFamily="2" charset="-122"/>
                <a:ea typeface="华文细黑" pitchFamily="2" charset="-122"/>
              </a:rPr>
              <a:t>: </a:t>
            </a:r>
            <a:r>
              <a:rPr lang="zh-CN" altLang="en-US" sz="2000" dirty="0">
                <a:latin typeface="华文细黑" pitchFamily="2" charset="-122"/>
                <a:ea typeface="华文细黑" pitchFamily="2" charset="-122"/>
              </a:rPr>
              <a:t>使整个值的集合具有特定的性质</a:t>
            </a:r>
            <a:endParaRPr lang="en-US" altLang="zh-CN" sz="2000" dirty="0">
              <a:latin typeface="华文细黑" pitchFamily="2" charset="-122"/>
              <a:ea typeface="华文细黑" pitchFamily="2" charset="-122"/>
            </a:endParaRPr>
          </a:p>
        </p:txBody>
      </p:sp>
      <p:sp>
        <p:nvSpPr>
          <p:cNvPr id="13" name="云形标注 12"/>
          <p:cNvSpPr/>
          <p:nvPr/>
        </p:nvSpPr>
        <p:spPr>
          <a:xfrm>
            <a:off x="2273473" y="4201946"/>
            <a:ext cx="4597054" cy="1296000"/>
          </a:xfrm>
          <a:prstGeom prst="cloudCallout">
            <a:avLst>
              <a:gd name="adj1" fmla="val -49850"/>
              <a:gd name="adj2" fmla="val -3193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lvl="1" algn="ctr"/>
            <a:r>
              <a:rPr lang="zh-CN" altLang="en-US" sz="2000" dirty="0">
                <a:latin typeface="华文细黑" pitchFamily="2" charset="-122"/>
                <a:ea typeface="华文细黑" pitchFamily="2" charset="-122"/>
              </a:rPr>
              <a:t>数据集合中的最小值，映射变换为</a:t>
            </a:r>
            <a:r>
              <a:rPr lang="en-US" altLang="zh-CN" sz="2000" dirty="0">
                <a:latin typeface="华文细黑" pitchFamily="2" charset="-122"/>
                <a:ea typeface="华文细黑" pitchFamily="2" charset="-122"/>
              </a:rPr>
              <a:t>0</a:t>
            </a:r>
            <a:r>
              <a:rPr lang="zh-CN" altLang="en-US" sz="2000" dirty="0">
                <a:latin typeface="华文细黑" pitchFamily="2" charset="-122"/>
                <a:ea typeface="华文细黑" pitchFamily="2" charset="-122"/>
              </a:rPr>
              <a:t>，最大值为</a:t>
            </a:r>
            <a:r>
              <a:rPr lang="en-US" altLang="zh-CN" sz="2000" dirty="0">
                <a:latin typeface="华文细黑" pitchFamily="2" charset="-122"/>
                <a:ea typeface="华文细黑" pitchFamily="2" charset="-122"/>
              </a:rPr>
              <a:t>1</a:t>
            </a:r>
            <a:r>
              <a:rPr lang="zh-CN" altLang="en-US" sz="2000" dirty="0">
                <a:latin typeface="华文细黑" pitchFamily="2" charset="-122"/>
                <a:ea typeface="华文细黑" pitchFamily="2" charset="-122"/>
              </a:rPr>
              <a:t>，其他数据依序变换</a:t>
            </a:r>
          </a:p>
        </p:txBody>
      </p:sp>
    </p:spTree>
    <p:extLst>
      <p:ext uri="{BB962C8B-B14F-4D97-AF65-F5344CB8AC3E}">
        <p14:creationId xmlns:p14="http://schemas.microsoft.com/office/powerpoint/2010/main" val="91755670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数据规范化</a:t>
            </a:r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归一化</a:t>
            </a:r>
            <a:endParaRPr lang="en-US" altLang="zh-CN" dirty="0"/>
          </a:p>
          <a:p>
            <a:pPr lvl="1"/>
            <a:r>
              <a:rPr lang="zh-CN" altLang="en-US" dirty="0"/>
              <a:t>将数据映射变换到</a:t>
            </a:r>
            <a:r>
              <a:rPr lang="en-US" altLang="zh-CN" dirty="0"/>
              <a:t>[0,1]</a:t>
            </a:r>
            <a:r>
              <a:rPr lang="zh-CN" altLang="en-US" dirty="0"/>
              <a:t>区间</a:t>
            </a:r>
            <a:endParaRPr lang="en-US" altLang="zh-CN" dirty="0"/>
          </a:p>
          <a:p>
            <a:pPr lvl="1"/>
            <a:r>
              <a:rPr lang="zh-CN" altLang="en-US" dirty="0"/>
              <a:t>目的</a:t>
            </a:r>
            <a:endParaRPr lang="en-US" altLang="zh-CN" dirty="0"/>
          </a:p>
          <a:p>
            <a:pPr lvl="2"/>
            <a:r>
              <a:rPr lang="zh-CN" altLang="en-US" dirty="0"/>
              <a:t>便于进行比较</a:t>
            </a:r>
            <a:endParaRPr lang="en-US" altLang="zh-CN" dirty="0"/>
          </a:p>
          <a:p>
            <a:pPr lvl="2"/>
            <a:r>
              <a:rPr lang="zh-CN" altLang="en-US" dirty="0"/>
              <a:t>便于进行加权处理</a:t>
            </a:r>
            <a:endParaRPr lang="en-US" altLang="zh-CN" dirty="0"/>
          </a:p>
        </p:txBody>
      </p:sp>
      <p:pic>
        <p:nvPicPr>
          <p:cNvPr id="11" name="Picture 2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9872" y="3558614"/>
            <a:ext cx="2520000" cy="226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" name="Picture 3"/>
          <p:cNvPicPr>
            <a:picLocks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3939" y="3558614"/>
            <a:ext cx="2520000" cy="226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9991587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数据规范化</a:t>
            </a:r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归一化</a:t>
            </a:r>
            <a:endParaRPr lang="en-US" altLang="zh-CN" dirty="0"/>
          </a:p>
          <a:p>
            <a:pPr lvl="1"/>
            <a:r>
              <a:rPr lang="zh-CN" altLang="en-US" dirty="0"/>
              <a:t>将数据映射变换到</a:t>
            </a:r>
            <a:r>
              <a:rPr lang="en-US" altLang="zh-CN" dirty="0"/>
              <a:t>[0,1]</a:t>
            </a:r>
            <a:r>
              <a:rPr lang="zh-CN" altLang="en-US" dirty="0"/>
              <a:t>区间</a:t>
            </a:r>
            <a:endParaRPr lang="en-US" altLang="zh-CN" dirty="0"/>
          </a:p>
          <a:p>
            <a:pPr lvl="1"/>
            <a:r>
              <a:rPr lang="zh-CN" altLang="en-US" dirty="0"/>
              <a:t>目的</a:t>
            </a:r>
            <a:endParaRPr lang="en-US" altLang="zh-CN" dirty="0"/>
          </a:p>
          <a:p>
            <a:pPr lvl="2"/>
            <a:r>
              <a:rPr lang="zh-CN" altLang="en-US" dirty="0"/>
              <a:t>便于进行比较</a:t>
            </a:r>
            <a:endParaRPr lang="en-US" altLang="zh-CN" dirty="0"/>
          </a:p>
          <a:p>
            <a:pPr lvl="2"/>
            <a:r>
              <a:rPr lang="zh-CN" altLang="en-US" dirty="0"/>
              <a:t>便于进行加权处理</a:t>
            </a:r>
            <a:endParaRPr lang="en-US" altLang="zh-CN" dirty="0"/>
          </a:p>
          <a:p>
            <a:pPr lvl="2"/>
            <a:r>
              <a:rPr lang="zh-CN" altLang="en-US" dirty="0"/>
              <a:t>算法需要</a:t>
            </a:r>
            <a:endParaRPr lang="en-US" altLang="zh-CN" dirty="0"/>
          </a:p>
        </p:txBody>
      </p:sp>
      <p:pic>
        <p:nvPicPr>
          <p:cNvPr id="16" name="Picture 2" descr="https://timgsa.baidu.com/timg?image&amp;quality=80&amp;size=b9999_10000&amp;sec=1568786141971&amp;di=71dc7351d4c95673fe2560ba782c5f4b&amp;imgtype=0&amp;src=http%3A%2F%2Fimages.shuang0420.com%2Fimages%2F%25E6%25B7%25B1%25E5%25BA%25A6%25E5%25AD%25A6%25E4%25B9%25A0-%25E5%258A%25A0%25E5%25BF%25AB%25E5%25AD%25A6%25E4%25B9%25A0%25E9%2580%259F%25E5%25BA%25A6%2Fnormalize_input_1.png"/>
          <p:cNvPicPr>
            <a:picLocks noChangeAspect="1" noChangeArrowheads="1"/>
          </p:cNvPicPr>
          <p:nvPr/>
        </p:nvPicPr>
        <p:blipFill rotWithShape="1">
          <a:blip r:embed="rId3">
            <a:clrChange>
              <a:clrFrom>
                <a:srgbClr val="ECEAED"/>
              </a:clrFrom>
              <a:clrTo>
                <a:srgbClr val="ECEAED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347" t="22554" r="52494"/>
          <a:stretch/>
        </p:blipFill>
        <p:spPr bwMode="auto">
          <a:xfrm>
            <a:off x="3779913" y="3547642"/>
            <a:ext cx="2583755" cy="24016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2" descr="https://timgsa.baidu.com/timg?image&amp;quality=80&amp;size=b9999_10000&amp;sec=1568786141971&amp;di=71dc7351d4c95673fe2560ba782c5f4b&amp;imgtype=0&amp;src=http%3A%2F%2Fimages.shuang0420.com%2Fimages%2F%25E6%25B7%25B1%25E5%25BA%25A6%25E5%25AD%25A6%25E4%25B9%25A0-%25E5%258A%25A0%25E5%25BF%25AB%25E5%25AD%25A6%25E4%25B9%25A0%25E9%2580%259F%25E5%25BA%25A6%2Fnormalize_input_1.png"/>
          <p:cNvPicPr>
            <a:picLocks noChangeAspect="1" noChangeArrowheads="1"/>
          </p:cNvPicPr>
          <p:nvPr/>
        </p:nvPicPr>
        <p:blipFill rotWithShape="1">
          <a:blip r:embed="rId3">
            <a:clrChange>
              <a:clrFrom>
                <a:srgbClr val="ECEAED"/>
              </a:clrFrom>
              <a:clrTo>
                <a:srgbClr val="ECEAED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7506" t="22554" r="10335"/>
          <a:stretch/>
        </p:blipFill>
        <p:spPr bwMode="auto">
          <a:xfrm>
            <a:off x="6156175" y="3547642"/>
            <a:ext cx="2583756" cy="24016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0369982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数据规范化</a:t>
            </a:r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归一化</a:t>
            </a:r>
            <a:endParaRPr lang="en-US" altLang="zh-CN" dirty="0"/>
          </a:p>
          <a:p>
            <a:pPr lvl="1"/>
            <a:r>
              <a:rPr lang="zh-CN" altLang="en-US" dirty="0"/>
              <a:t>将数据映射变换到</a:t>
            </a:r>
            <a:r>
              <a:rPr lang="en-US" altLang="zh-CN" dirty="0"/>
              <a:t>[0,1]</a:t>
            </a:r>
            <a:r>
              <a:rPr lang="zh-CN" altLang="en-US" dirty="0"/>
              <a:t>区间</a:t>
            </a:r>
            <a:endParaRPr lang="en-US" altLang="zh-CN" dirty="0"/>
          </a:p>
          <a:p>
            <a:pPr lvl="1"/>
            <a:r>
              <a:rPr lang="zh-CN" altLang="en-US" dirty="0"/>
              <a:t>目的</a:t>
            </a:r>
            <a:endParaRPr lang="en-US" altLang="zh-CN" dirty="0"/>
          </a:p>
          <a:p>
            <a:r>
              <a:rPr lang="zh-CN" altLang="en-US" dirty="0"/>
              <a:t>最小 </a:t>
            </a:r>
            <a:r>
              <a:rPr lang="en-US" altLang="zh-CN" dirty="0"/>
              <a:t>- </a:t>
            </a:r>
            <a:r>
              <a:rPr lang="zh-CN" altLang="en-US" dirty="0"/>
              <a:t>最大规范化</a:t>
            </a:r>
            <a:endParaRPr lang="en-US" altLang="zh-CN" dirty="0"/>
          </a:p>
          <a:p>
            <a:pPr lvl="2"/>
            <a:r>
              <a:rPr lang="zh-CN" altLang="en-US" sz="2400" dirty="0"/>
              <a:t>将数据映射到 </a:t>
            </a:r>
            <a:r>
              <a:rPr lang="en-US" altLang="zh-CN" sz="2400" dirty="0"/>
              <a:t>[min, max]</a:t>
            </a:r>
          </a:p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74953418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数据规范化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中心化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通过变换，将数据的平均值变为</a:t>
                </a:r>
                <a:r>
                  <a:rPr lang="en-US" altLang="zh-CN" dirty="0"/>
                  <a:t>0</a:t>
                </a:r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pt-BR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US" altLang="zh-CN" i="1">
                            <a:latin typeface="Cambria Math"/>
                          </a:rPr>
                          <m:t>′</m:t>
                        </m:r>
                      </m:sup>
                    </m:sSup>
                    <m:r>
                      <a:rPr lang="pt-BR" altLang="zh-CN" i="1">
                        <a:latin typeface="Cambria Math"/>
                      </a:rPr>
                      <m:t>=</m:t>
                    </m:r>
                    <m:r>
                      <a:rPr lang="en-US" altLang="zh-CN" i="1">
                        <a:latin typeface="Cambria Math"/>
                      </a:rPr>
                      <m:t>𝑥</m:t>
                    </m:r>
                    <m:r>
                      <a:rPr lang="en-US" altLang="zh-CN" i="1">
                        <a:latin typeface="Cambria Math"/>
                      </a:rPr>
                      <m:t>−</m:t>
                    </m:r>
                    <m:acc>
                      <m:accPr>
                        <m:chr m:val="̅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i="1">
                            <a:latin typeface="Cambria Math"/>
                          </a:rPr>
                          <m:t>𝑥</m:t>
                        </m:r>
                      </m:e>
                    </m:acc>
                  </m:oMath>
                </a14:m>
                <a:endParaRPr lang="en-US" altLang="zh-CN" dirty="0"/>
              </a:p>
              <a:p>
                <a:r>
                  <a:rPr lang="zh-CN" altLang="en-US" dirty="0"/>
                  <a:t>标准化 </a:t>
                </a:r>
                <a:r>
                  <a:rPr lang="en-US" altLang="zh-CN" dirty="0"/>
                  <a:t>(standardization)</a:t>
                </a:r>
              </a:p>
              <a:p>
                <a:pPr lvl="1"/>
                <a:r>
                  <a:rPr lang="zh-CN" altLang="en-US" dirty="0"/>
                  <a:t>将数据处理成均值为 </a:t>
                </a:r>
                <a:r>
                  <a:rPr lang="en-US" altLang="zh-CN" dirty="0"/>
                  <a:t>0 </a:t>
                </a:r>
                <a:r>
                  <a:rPr lang="zh-CN" altLang="en-US" dirty="0"/>
                  <a:t>，标准差为 </a:t>
                </a:r>
                <a:r>
                  <a:rPr lang="en-US" altLang="zh-CN" dirty="0"/>
                  <a:t>1</a:t>
                </a:r>
                <a:endParaRPr lang="en-US" altLang="zh-CN" i="1" dirty="0">
                  <a:latin typeface="Cambria Math"/>
                </a:endParaRPr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pt-BR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US" altLang="zh-CN" i="1">
                            <a:latin typeface="Cambria Math"/>
                          </a:rPr>
                          <m:t>′</m:t>
                        </m:r>
                      </m:sup>
                    </m:sSup>
                    <m:r>
                      <a:rPr lang="pt-BR" altLang="zh-CN" i="1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pt-BR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/>
                          </a:rPr>
                          <m:t>𝑥</m:t>
                        </m:r>
                        <m:r>
                          <a:rPr lang="en-US" altLang="zh-CN" i="1">
                            <a:latin typeface="Cambria Math"/>
                          </a:rPr>
                          <m:t>−</m:t>
                        </m:r>
                        <m:acc>
                          <m:accPr>
                            <m:chr m:val="̅"/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i="1">
                                <a:latin typeface="Cambria Math"/>
                              </a:rPr>
                              <m:t>𝑥</m:t>
                            </m:r>
                          </m:e>
                        </m:acc>
                      </m:num>
                      <m:den>
                        <m:r>
                          <a:rPr lang="zh-CN" altLang="en-US" i="1">
                            <a:latin typeface="Cambria Math"/>
                          </a:rPr>
                          <m:t>𝛿</m:t>
                        </m:r>
                      </m:den>
                    </m:f>
                  </m:oMath>
                </a14:m>
                <a:endParaRPr lang="en-US" altLang="zh-CN" dirty="0"/>
              </a:p>
              <a:p>
                <a:pPr lvl="1"/>
                <a:endParaRPr lang="zh-CN" altLang="en-US" dirty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66F0B09-7C63-4E03-9D6A-223183817009}" type="slidenum">
              <a:rPr lang="en-US" altLang="zh-CN" smtClean="0"/>
              <a:pPr>
                <a:defRPr/>
              </a:pPr>
              <a:t>45</a:t>
            </a:fld>
            <a:endParaRPr lang="en-US" altLang="zh-CN"/>
          </a:p>
        </p:txBody>
      </p:sp>
      <p:grpSp>
        <p:nvGrpSpPr>
          <p:cNvPr id="5" name="组合 4"/>
          <p:cNvGrpSpPr/>
          <p:nvPr/>
        </p:nvGrpSpPr>
        <p:grpSpPr>
          <a:xfrm>
            <a:off x="2339752" y="4359266"/>
            <a:ext cx="6444000" cy="1257498"/>
            <a:chOff x="693214" y="6718558"/>
            <a:chExt cx="5673514" cy="1676664"/>
          </a:xfrm>
        </p:grpSpPr>
        <p:graphicFrame>
          <p:nvGraphicFramePr>
            <p:cNvPr id="6" name="Object 12"/>
            <p:cNvGraphicFramePr>
              <a:graphicFrameLocks noChangeAspect="1"/>
            </p:cNvGraphicFramePr>
            <p:nvPr/>
          </p:nvGraphicFramePr>
          <p:xfrm>
            <a:off x="756612" y="7878470"/>
            <a:ext cx="1865158" cy="5167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12" name="公式" r:id="rId5" imgW="964781" imgH="266584" progId="Equation.3">
                    <p:embed/>
                  </p:oleObj>
                </mc:Choice>
                <mc:Fallback>
                  <p:oleObj name="公式" r:id="rId5" imgW="964781" imgH="266584" progId="Equation.3">
                    <p:embed/>
                    <p:pic>
                      <p:nvPicPr>
                        <p:cNvPr id="6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 t="11443" b="11475"/>
                        <a:stretch>
                          <a:fillRect/>
                        </a:stretch>
                      </p:blipFill>
                      <p:spPr bwMode="auto">
                        <a:xfrm>
                          <a:off x="756612" y="7878470"/>
                          <a:ext cx="1865158" cy="516752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" name="矩形 6"/>
            <p:cNvSpPr/>
            <p:nvPr/>
          </p:nvSpPr>
          <p:spPr>
            <a:xfrm>
              <a:off x="693214" y="6718558"/>
              <a:ext cx="5673514" cy="115929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  <a:spcAft>
                  <a:spcPts val="300"/>
                </a:spcAft>
              </a:pPr>
              <a:r>
                <a:rPr lang="zh-CN" altLang="en-US" sz="2000" dirty="0">
                  <a:solidFill>
                    <a:srgbClr val="C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itchFamily="18" charset="0"/>
                  <a:ea typeface="华文细黑" pitchFamily="2" charset="-122"/>
                </a:rPr>
                <a:t>可以用中位数取代均值</a:t>
              </a:r>
            </a:p>
            <a:p>
              <a:pPr>
                <a:lnSpc>
                  <a:spcPct val="120000"/>
                </a:lnSpc>
                <a:spcAft>
                  <a:spcPts val="300"/>
                </a:spcAft>
              </a:pPr>
              <a:r>
                <a:rPr lang="zh-CN" altLang="en-US" sz="2000" dirty="0">
                  <a:solidFill>
                    <a:srgbClr val="C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itchFamily="18" charset="0"/>
                  <a:ea typeface="华文细黑" pitchFamily="2" charset="-122"/>
                </a:rPr>
                <a:t>可以用绝对标准差</a:t>
              </a:r>
              <a:r>
                <a:rPr lang="en-US" altLang="zh-CN" sz="2000" dirty="0">
                  <a:solidFill>
                    <a:srgbClr val="C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itchFamily="18" charset="0"/>
                  <a:ea typeface="华文细黑" pitchFamily="2" charset="-122"/>
                </a:rPr>
                <a:t>(absolute standard deviation)</a:t>
              </a:r>
              <a:r>
                <a:rPr lang="zh-CN" altLang="en-US" sz="2000" dirty="0">
                  <a:solidFill>
                    <a:srgbClr val="C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itchFamily="18" charset="0"/>
                  <a:ea typeface="华文细黑" pitchFamily="2" charset="-122"/>
                </a:rPr>
                <a:t>取代标准差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8687763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数据规范化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小数定标规划化</a:t>
                </a:r>
                <a:endParaRPr lang="en-US" altLang="zh-CN" dirty="0"/>
              </a:p>
              <a:p>
                <a:pPr lvl="2"/>
                <a14:m>
                  <m:oMath xmlns:m="http://schemas.openxmlformats.org/officeDocument/2006/math">
                    <m:sSup>
                      <m:sSupPr>
                        <m:ctrlPr>
                          <a:rPr lang="pt-BR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US" altLang="zh-CN" i="1">
                            <a:latin typeface="Cambria Math"/>
                          </a:rPr>
                          <m:t>′</m:t>
                        </m:r>
                      </m:sup>
                    </m:sSup>
                    <m:r>
                      <a:rPr lang="pt-BR" altLang="zh-CN" i="1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pt-BR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/>
                          </a:rPr>
                          <m:t>𝑥</m:t>
                        </m:r>
                      </m:num>
                      <m:den>
                        <m:sSup>
                          <m:sSup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 smtClean="0">
                                <a:latin typeface="Cambria Math"/>
                              </a:rPr>
                              <m:t>10</m:t>
                            </m:r>
                          </m:e>
                          <m:sup>
                            <m:r>
                              <a:rPr lang="en-US" altLang="zh-CN" b="0" i="1" smtClean="0">
                                <a:latin typeface="Cambria Math"/>
                              </a:rPr>
                              <m:t>𝑘</m:t>
                            </m:r>
                          </m:sup>
                        </m:sSup>
                      </m:den>
                    </m:f>
                  </m:oMath>
                </a14:m>
                <a:r>
                  <a:rPr lang="zh-CN" altLang="en-US" dirty="0"/>
                  <a:t>（使得所有数据的绝对值小于</a:t>
                </a:r>
                <a:r>
                  <a:rPr lang="en-US" altLang="zh-CN" dirty="0"/>
                  <a:t>1</a:t>
                </a:r>
                <a:r>
                  <a:rPr lang="zh-CN" altLang="en-US" dirty="0"/>
                  <a:t>）</a:t>
                </a:r>
                <a:endParaRPr lang="en-US" altLang="zh-CN" dirty="0"/>
              </a:p>
              <a:p>
                <a:r>
                  <a:rPr lang="zh-CN" altLang="en-US" dirty="0"/>
                  <a:t>定义变换函数，把给定属性的值变换为可一一对应的新值</a:t>
                </a:r>
                <a:endParaRPr lang="en-US" altLang="zh-CN" dirty="0"/>
              </a:p>
              <a:p>
                <a:pPr lvl="2"/>
                <a:r>
                  <a:rPr lang="zh-CN" altLang="en-US" dirty="0"/>
                  <a:t>简单函数：</a:t>
                </a: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US" altLang="zh-CN" i="1">
                            <a:latin typeface="Cambria Math"/>
                          </a:rPr>
                          <m:t>𝑘</m:t>
                        </m:r>
                      </m:sup>
                    </m:sSup>
                    <m:r>
                      <a:rPr lang="zh-CN" altLang="en-US" i="1">
                        <a:latin typeface="Cambria Math"/>
                      </a:rPr>
                      <m:t>，</m:t>
                    </m:r>
                    <m:func>
                      <m:func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>
                            <a:latin typeface="Cambria Math"/>
                          </a:rPr>
                          <m:t>log</m:t>
                        </m:r>
                      </m:fName>
                      <m:e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/>
                              </a:rPr>
                              <m:t>𝑥</m:t>
                            </m:r>
                          </m:e>
                        </m:d>
                      </m:e>
                    </m:func>
                    <m:r>
                      <a:rPr lang="zh-CN" altLang="en-US" i="1">
                        <a:latin typeface="Cambria Math"/>
                      </a:rPr>
                      <m:t>，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/>
                          </a:rPr>
                          <m:t>𝑒</m:t>
                        </m:r>
                      </m:e>
                      <m:sup>
                        <m:r>
                          <a:rPr lang="en-US" altLang="zh-CN" i="1">
                            <a:latin typeface="Cambria Math"/>
                          </a:rPr>
                          <m:t>𝑥</m:t>
                        </m:r>
                      </m:sup>
                    </m:sSup>
                    <m:r>
                      <a:rPr lang="zh-CN" altLang="en-US" i="1">
                        <a:latin typeface="Cambria Math"/>
                      </a:rPr>
                      <m:t>，</m:t>
                    </m:r>
                    <m:d>
                      <m:dPr>
                        <m:begChr m:val="|"/>
                        <m:endChr m:val="|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/>
                          </a:rPr>
                          <m:t>𝑥</m:t>
                        </m:r>
                      </m:e>
                    </m:d>
                    <m:r>
                      <a:rPr lang="zh-CN" altLang="en-US" i="1">
                        <a:latin typeface="Cambria Math"/>
                      </a:rPr>
                      <m:t>，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US" altLang="zh-CN" i="1">
                            <a:latin typeface="Cambria Math"/>
                          </a:rPr>
                          <m:t>𝑥</m:t>
                        </m:r>
                      </m:den>
                    </m:f>
                    <m:r>
                      <a:rPr lang="zh-CN" altLang="en-US" i="1">
                        <a:latin typeface="Cambria Math"/>
                      </a:rPr>
                      <m:t>。</m:t>
                    </m:r>
                  </m:oMath>
                </a14:m>
                <a:endParaRPr lang="en-US" altLang="zh-CN" dirty="0"/>
              </a:p>
              <a:p>
                <a:r>
                  <a:rPr lang="zh-CN" altLang="en-US" sz="2000" dirty="0">
                    <a:solidFill>
                      <a:srgbClr val="C00000"/>
                    </a:solidFill>
                  </a:rPr>
                  <a:t>注意</a:t>
                </a:r>
                <a:r>
                  <a:rPr lang="en-US" altLang="zh-CN" sz="2000" dirty="0">
                    <a:solidFill>
                      <a:srgbClr val="C00000"/>
                    </a:solidFill>
                  </a:rPr>
                  <a:t>:</a:t>
                </a:r>
              </a:p>
              <a:p>
                <a:pPr lvl="2"/>
                <a:r>
                  <a:rPr lang="zh-CN" altLang="en-US" dirty="0">
                    <a:solidFill>
                      <a:srgbClr val="C00000"/>
                    </a:solidFill>
                  </a:rPr>
                  <a:t>可能改变数据的特性 </a:t>
                </a:r>
              </a:p>
              <a:p>
                <a:pPr lvl="2"/>
                <a:r>
                  <a:rPr lang="zh-CN" altLang="en-US" dirty="0">
                    <a:solidFill>
                      <a:srgbClr val="C00000"/>
                    </a:solidFill>
                  </a:rPr>
                  <a:t>例</a:t>
                </a:r>
                <a:r>
                  <a:rPr lang="en-US" altLang="zh-CN" dirty="0">
                    <a:solidFill>
                      <a:srgbClr val="C00000"/>
                    </a:solidFill>
                  </a:rPr>
                  <a:t>: </a:t>
                </a:r>
                <a:r>
                  <a:rPr lang="zh-CN" altLang="en-US" dirty="0">
                    <a:solidFill>
                      <a:srgbClr val="C00000"/>
                    </a:solidFill>
                  </a:rPr>
                  <a:t>变换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solidFill>
                              <a:srgbClr val="C00000"/>
                            </a:solidFill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US" altLang="zh-CN" i="1">
                            <a:solidFill>
                              <a:srgbClr val="C00000"/>
                            </a:solidFill>
                            <a:latin typeface="Cambria Math"/>
                          </a:rPr>
                          <m:t>𝑥</m:t>
                        </m:r>
                      </m:den>
                    </m:f>
                  </m:oMath>
                </a14:m>
                <a:r>
                  <a:rPr lang="zh-CN" altLang="en-US" dirty="0">
                    <a:solidFill>
                      <a:srgbClr val="C00000"/>
                    </a:solidFill>
                  </a:rPr>
                  <a:t> 压缩了大于</a:t>
                </a:r>
                <a:r>
                  <a:rPr lang="en-US" altLang="zh-CN" dirty="0">
                    <a:solidFill>
                      <a:srgbClr val="C00000"/>
                    </a:solidFill>
                  </a:rPr>
                  <a:t>1</a:t>
                </a:r>
                <a:r>
                  <a:rPr lang="zh-CN" altLang="en-US" dirty="0">
                    <a:solidFill>
                      <a:srgbClr val="C00000"/>
                    </a:solidFill>
                  </a:rPr>
                  <a:t>的值，但是放大了</a:t>
                </a:r>
                <a:r>
                  <a:rPr lang="en-US" altLang="zh-CN" dirty="0">
                    <a:solidFill>
                      <a:srgbClr val="C00000"/>
                    </a:solidFill>
                  </a:rPr>
                  <a:t>0</a:t>
                </a:r>
                <a:r>
                  <a:rPr lang="zh-CN" altLang="en-US" dirty="0">
                    <a:solidFill>
                      <a:srgbClr val="C00000"/>
                    </a:solidFill>
                  </a:rPr>
                  <a:t>和</a:t>
                </a:r>
                <a:r>
                  <a:rPr lang="en-US" altLang="zh-CN" dirty="0">
                    <a:solidFill>
                      <a:srgbClr val="C00000"/>
                    </a:solidFill>
                  </a:rPr>
                  <a:t>1</a:t>
                </a:r>
                <a:r>
                  <a:rPr lang="zh-CN" altLang="en-US" dirty="0">
                    <a:solidFill>
                      <a:srgbClr val="C00000"/>
                    </a:solidFill>
                  </a:rPr>
                  <a:t>之间的值 </a:t>
                </a:r>
              </a:p>
            </p:txBody>
          </p:sp>
        </mc:Choice>
        <mc:Fallback xmlns="">
          <p:sp>
            <p:nvSpPr>
              <p:cNvPr id="2" name="内容占位符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618" t="-1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8995997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FD84B8-F591-44BB-A8FB-F029FFD744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数据规范化</a:t>
            </a:r>
            <a:r>
              <a:rPr lang="en-US" altLang="zh-CN" dirty="0"/>
              <a:t>-</a:t>
            </a:r>
            <a:r>
              <a:rPr lang="zh-CN" altLang="en-US" dirty="0"/>
              <a:t>小结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25C1270-C717-4379-AD60-0117080F3F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84F5B-1672-4D3F-9FEC-5DF89A7B7912}" type="slidenum">
              <a:rPr lang="zh-CN" altLang="en-US" smtClean="0"/>
              <a:t>47</a:t>
            </a:fld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C7F37B8-CE1A-41D9-B480-9DF83A9922AE}"/>
              </a:ext>
            </a:extLst>
          </p:cNvPr>
          <p:cNvSpPr txBox="1"/>
          <p:nvPr/>
        </p:nvSpPr>
        <p:spPr>
          <a:xfrm>
            <a:off x="160774" y="925676"/>
            <a:ext cx="8530422" cy="1928056"/>
          </a:xfrm>
          <a:prstGeom prst="rect">
            <a:avLst/>
          </a:prstGeom>
        </p:spPr>
        <p:txBody>
          <a:bodyPr>
            <a:noAutofit/>
          </a:bodyPr>
          <a:lstStyle/>
          <a:p>
            <a:pPr indent="0" algn="just" defTabSz="26670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lang="en-US" altLang="zh-CN" sz="3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20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数据规范化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的主要目的就是消除数据之间量纲的差异，使得不同数据可以在同一个基准上进行比较和分析。常用的数据规范化方法包括最小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-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最大规范化、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Z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分数规范化、小数定标规范化。</a:t>
            </a:r>
            <a:endParaRPr lang="zh-CN" altLang="en-US" sz="2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D3EF1310-8E94-4606-A13C-D0100C9DE2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774" y="2622731"/>
            <a:ext cx="8780788" cy="3195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297284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25000"/>
              </a:lnSpc>
            </a:pPr>
            <a:r>
              <a:rPr lang="zh-CN" altLang="en-US" dirty="0"/>
              <a:t>回顾分箱的基本</a:t>
            </a:r>
            <a:r>
              <a:rPr lang="zh-CN" altLang="en-US" dirty="0">
                <a:latin typeface="Times New Roman" panose="02020603050405020304" pitchFamily="18" charset="0"/>
              </a:rPr>
              <a:t>思想</a:t>
            </a:r>
          </a:p>
          <a:p>
            <a:pPr lvl="1">
              <a:lnSpc>
                <a:spcPct val="125000"/>
              </a:lnSpc>
            </a:pPr>
            <a:r>
              <a:rPr lang="zh-CN" altLang="en-US" dirty="0">
                <a:latin typeface="Times New Roman" panose="02020603050405020304" pitchFamily="18" charset="0"/>
              </a:rPr>
              <a:t>对于连续变量，在取值区间中指定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r>
              <a:rPr lang="en-US" altLang="zh-CN" dirty="0">
                <a:latin typeface="Times New Roman" panose="02020603050405020304" pitchFamily="18" charset="0"/>
                <a:sym typeface="Symbol" pitchFamily="18" charset="2"/>
              </a:rPr>
              <a:t></a:t>
            </a:r>
            <a:r>
              <a:rPr lang="en-US" altLang="zh-CN" dirty="0">
                <a:latin typeface="Times New Roman" panose="02020603050405020304" pitchFamily="18" charset="0"/>
              </a:rPr>
              <a:t>1</a:t>
            </a:r>
            <a:r>
              <a:rPr lang="zh-CN" altLang="en-US" dirty="0">
                <a:latin typeface="Times New Roman" panose="02020603050405020304" pitchFamily="18" charset="0"/>
              </a:rPr>
              <a:t>个分割点（</a:t>
            </a:r>
            <a:r>
              <a:rPr lang="en-US" altLang="zh-CN" dirty="0">
                <a:latin typeface="Times New Roman" panose="02020603050405020304" pitchFamily="18" charset="0"/>
              </a:rPr>
              <a:t>split point</a:t>
            </a:r>
            <a:r>
              <a:rPr lang="zh-CN" altLang="en-US" dirty="0">
                <a:latin typeface="Times New Roman" panose="02020603050405020304" pitchFamily="18" charset="0"/>
              </a:rPr>
              <a:t>）</a:t>
            </a:r>
            <a:r>
              <a:rPr lang="zh-CN" altLang="en-US" dirty="0"/>
              <a:t>将其划分为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r>
              <a:rPr lang="zh-CN" altLang="en-US" dirty="0">
                <a:latin typeface="Times New Roman" panose="02020603050405020304" pitchFamily="18" charset="0"/>
              </a:rPr>
              <a:t>个区间 </a:t>
            </a:r>
          </a:p>
          <a:p>
            <a:pPr lvl="1">
              <a:lnSpc>
                <a:spcPct val="125000"/>
              </a:lnSpc>
            </a:pPr>
            <a:r>
              <a:rPr lang="zh-CN" altLang="en-US" dirty="0">
                <a:latin typeface="Times New Roman" panose="02020603050405020304" pitchFamily="18" charset="0"/>
              </a:rPr>
              <a:t>将一个区间中的所有值映射到同一个分类值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>
              <a:lnSpc>
                <a:spcPct val="125000"/>
              </a:lnSpc>
            </a:pPr>
            <a:r>
              <a:rPr lang="zh-CN" altLang="en-US" dirty="0">
                <a:latin typeface="Times New Roman" panose="02020603050405020304" pitchFamily="18" charset="0"/>
              </a:rPr>
              <a:t> 分箱可以用于数据离散化和去噪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数据离散化</a:t>
            </a:r>
          </a:p>
        </p:txBody>
      </p:sp>
      <p:pic>
        <p:nvPicPr>
          <p:cNvPr id="4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046350" y="3839251"/>
            <a:ext cx="5468195" cy="18983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66F0B09-7C63-4E03-9D6A-223183817009}" type="slidenum">
              <a:rPr lang="en-US" altLang="zh-CN" smtClean="0"/>
              <a:pPr>
                <a:defRPr/>
              </a:pPr>
              <a:t>48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3166080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26000"/>
              </a:lnSpc>
            </a:pPr>
            <a:r>
              <a:rPr lang="zh-CN" altLang="en-US" dirty="0">
                <a:latin typeface="Times New Roman" panose="02020603050405020304" pitchFamily="18" charset="0"/>
              </a:rPr>
              <a:t>离散化问题的关键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lvl="1">
              <a:lnSpc>
                <a:spcPct val="126000"/>
              </a:lnSpc>
            </a:pPr>
            <a:r>
              <a:rPr lang="zh-CN" altLang="en-US" dirty="0">
                <a:latin typeface="Times New Roman" panose="02020603050405020304" pitchFamily="18" charset="0"/>
              </a:rPr>
              <a:t>选择多少个分割点？分割点位置</a:t>
            </a:r>
            <a:r>
              <a:rPr lang="zh-CN" altLang="en-US" dirty="0"/>
              <a:t>如何确定</a:t>
            </a:r>
            <a:r>
              <a:rPr lang="zh-CN" altLang="en-US" dirty="0">
                <a:latin typeface="Times New Roman" panose="02020603050405020304" pitchFamily="18" charset="0"/>
              </a:rPr>
              <a:t>？</a:t>
            </a:r>
          </a:p>
          <a:p>
            <a:pPr lvl="1">
              <a:lnSpc>
                <a:spcPct val="126000"/>
              </a:lnSpc>
            </a:pPr>
            <a:r>
              <a:rPr lang="zh-CN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分割点数目一般由用户确定</a:t>
            </a:r>
          </a:p>
          <a:p>
            <a:pPr lvl="1">
              <a:lnSpc>
                <a:spcPct val="126000"/>
              </a:lnSpc>
            </a:pPr>
            <a:r>
              <a:rPr lang="zh-CN" altLang="en-US" dirty="0">
                <a:latin typeface="Times New Roman" panose="02020603050405020304" pitchFamily="18" charset="0"/>
              </a:rPr>
              <a:t>分割点位置可以用非监督</a:t>
            </a:r>
            <a:r>
              <a:rPr lang="en-US" altLang="zh-CN" dirty="0">
                <a:latin typeface="Times New Roman" panose="02020603050405020304" pitchFamily="18" charset="0"/>
              </a:rPr>
              <a:t>/</a:t>
            </a:r>
            <a:r>
              <a:rPr lang="zh-CN" altLang="en-US" dirty="0">
                <a:latin typeface="Times New Roman" panose="02020603050405020304" pitchFamily="18" charset="0"/>
              </a:rPr>
              <a:t>监督方法确定</a:t>
            </a:r>
          </a:p>
          <a:p>
            <a:pPr>
              <a:lnSpc>
                <a:spcPct val="126000"/>
              </a:lnSpc>
            </a:pPr>
            <a:r>
              <a:rPr lang="zh-CN" altLang="en-US" dirty="0">
                <a:latin typeface="Times New Roman" panose="02020603050405020304" pitchFamily="18" charset="0"/>
              </a:rPr>
              <a:t>结果表示</a:t>
            </a:r>
          </a:p>
          <a:p>
            <a:pPr lvl="1">
              <a:lnSpc>
                <a:spcPct val="126000"/>
              </a:lnSpc>
            </a:pPr>
            <a:r>
              <a:rPr lang="zh-CN" altLang="en-US" dirty="0">
                <a:latin typeface="Times New Roman" panose="02020603050405020304" pitchFamily="18" charset="0"/>
              </a:rPr>
              <a:t>区间：</a:t>
            </a:r>
            <a:r>
              <a:rPr lang="en-US" altLang="zh-CN" dirty="0">
                <a:latin typeface="Times New Roman" panose="02020603050405020304" pitchFamily="18" charset="0"/>
              </a:rPr>
              <a:t>{(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baseline="-25000" dirty="0">
                <a:latin typeface="Times New Roman" panose="02020603050405020304" pitchFamily="18" charset="0"/>
              </a:rPr>
              <a:t>0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], (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</a:rPr>
              <a:t>],..., (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i="1" baseline="-25000" dirty="0">
                <a:latin typeface="Times New Roman" panose="02020603050405020304" pitchFamily="18" charset="0"/>
              </a:rPr>
              <a:t>n</a:t>
            </a:r>
            <a:r>
              <a:rPr lang="en-US" altLang="zh-CN" baseline="-25000" dirty="0">
                <a:latin typeface="Times New Roman" panose="02020603050405020304" pitchFamily="18" charset="0"/>
              </a:rPr>
              <a:t>-1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 err="1">
                <a:latin typeface="Times New Roman" panose="02020603050405020304" pitchFamily="18" charset="0"/>
              </a:rPr>
              <a:t>x</a:t>
            </a:r>
            <a:r>
              <a:rPr lang="en-US" altLang="zh-CN" i="1" baseline="-25000" dirty="0" err="1">
                <a:latin typeface="Times New Roman" panose="02020603050405020304" pitchFamily="18" charset="0"/>
              </a:rPr>
              <a:t>n</a:t>
            </a:r>
            <a:r>
              <a:rPr lang="en-US" altLang="zh-CN" dirty="0">
                <a:latin typeface="Times New Roman" panose="02020603050405020304" pitchFamily="18" charset="0"/>
              </a:rPr>
              <a:t>)}</a:t>
            </a:r>
            <a:r>
              <a:rPr lang="zh-CN" altLang="en-US" dirty="0">
                <a:latin typeface="Times New Roman" panose="02020603050405020304" pitchFamily="18" charset="0"/>
              </a:rPr>
              <a:t>，其中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baseline="-25000" dirty="0">
                <a:latin typeface="Times New Roman" panose="02020603050405020304" pitchFamily="18" charset="0"/>
              </a:rPr>
              <a:t>0</a:t>
            </a:r>
            <a:r>
              <a:rPr lang="zh-CN" altLang="en-US" dirty="0">
                <a:latin typeface="Times New Roman" panose="02020603050405020304" pitchFamily="18" charset="0"/>
              </a:rPr>
              <a:t>和</a:t>
            </a:r>
            <a:r>
              <a:rPr lang="en-US" altLang="zh-CN" i="1" dirty="0" err="1">
                <a:latin typeface="Times New Roman" panose="02020603050405020304" pitchFamily="18" charset="0"/>
              </a:rPr>
              <a:t>x</a:t>
            </a:r>
            <a:r>
              <a:rPr lang="en-US" altLang="zh-CN" i="1" baseline="-25000" dirty="0" err="1">
                <a:latin typeface="Times New Roman" panose="02020603050405020304" pitchFamily="18" charset="0"/>
              </a:rPr>
              <a:t>n</a:t>
            </a:r>
            <a:r>
              <a:rPr lang="zh-CN" altLang="en-US" dirty="0">
                <a:latin typeface="Times New Roman" panose="02020603050405020304" pitchFamily="18" charset="0"/>
              </a:rPr>
              <a:t>可以分别为</a:t>
            </a:r>
            <a:r>
              <a:rPr lang="en-US" altLang="zh-CN" dirty="0">
                <a:latin typeface="Times New Roman" panose="02020603050405020304" pitchFamily="18" charset="0"/>
              </a:rPr>
              <a:t>-</a:t>
            </a:r>
            <a:r>
              <a:rPr lang="en-US" altLang="zh-CN" dirty="0">
                <a:latin typeface="Times New Roman" panose="02020603050405020304" pitchFamily="18" charset="0"/>
                <a:sym typeface="Symbol" pitchFamily="18" charset="2"/>
              </a:rPr>
              <a:t></a:t>
            </a:r>
            <a:r>
              <a:rPr lang="zh-CN" altLang="en-US" dirty="0">
                <a:latin typeface="Times New Roman" panose="02020603050405020304" pitchFamily="18" charset="0"/>
              </a:rPr>
              <a:t>或</a:t>
            </a:r>
            <a:r>
              <a:rPr lang="en-US" altLang="zh-CN" dirty="0">
                <a:latin typeface="Times New Roman" panose="02020603050405020304" pitchFamily="18" charset="0"/>
              </a:rPr>
              <a:t>+</a:t>
            </a:r>
            <a:r>
              <a:rPr lang="en-US" altLang="zh-CN" dirty="0">
                <a:latin typeface="Times New Roman" panose="02020603050405020304" pitchFamily="18" charset="0"/>
                <a:sym typeface="Symbol" pitchFamily="18" charset="2"/>
              </a:rPr>
              <a:t></a:t>
            </a:r>
          </a:p>
          <a:p>
            <a:pPr lvl="1">
              <a:lnSpc>
                <a:spcPct val="126000"/>
              </a:lnSpc>
            </a:pPr>
            <a:r>
              <a:rPr lang="zh-CN" altLang="en-US" dirty="0">
                <a:latin typeface="Times New Roman" panose="02020603050405020304" pitchFamily="18" charset="0"/>
              </a:rPr>
              <a:t>不等式：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baseline="-25000" dirty="0">
                <a:latin typeface="Times New Roman" panose="02020603050405020304" pitchFamily="18" charset="0"/>
              </a:rPr>
              <a:t>0</a:t>
            </a:r>
            <a:r>
              <a:rPr lang="en-US" altLang="zh-CN" dirty="0">
                <a:latin typeface="Times New Roman" panose="02020603050405020304" pitchFamily="18" charset="0"/>
              </a:rPr>
              <a:t> &lt; </a:t>
            </a:r>
            <a:r>
              <a:rPr lang="en-US" altLang="zh-CN" i="1" dirty="0">
                <a:latin typeface="Times New Roman" panose="02020603050405020304" pitchFamily="18" charset="0"/>
              </a:rPr>
              <a:t>x </a:t>
            </a:r>
            <a:r>
              <a:rPr lang="en-US" altLang="zh-CN" dirty="0">
                <a:latin typeface="Times New Roman" panose="02020603050405020304" pitchFamily="18" charset="0"/>
              </a:rPr>
              <a:t>≤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, ..., 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i="1" baseline="-25000" dirty="0">
                <a:latin typeface="Times New Roman" panose="02020603050405020304" pitchFamily="18" charset="0"/>
              </a:rPr>
              <a:t>n</a:t>
            </a:r>
            <a:r>
              <a:rPr lang="en-US" altLang="zh-CN" baseline="-25000" dirty="0">
                <a:latin typeface="Times New Roman" panose="02020603050405020304" pitchFamily="18" charset="0"/>
              </a:rPr>
              <a:t>-1</a:t>
            </a:r>
            <a:r>
              <a:rPr lang="en-US" altLang="zh-CN" dirty="0">
                <a:latin typeface="Times New Roman" panose="02020603050405020304" pitchFamily="18" charset="0"/>
              </a:rPr>
              <a:t> &lt; 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 &lt; </a:t>
            </a:r>
            <a:r>
              <a:rPr lang="en-US" altLang="zh-CN" i="1" dirty="0" err="1">
                <a:latin typeface="Times New Roman" panose="02020603050405020304" pitchFamily="18" charset="0"/>
              </a:rPr>
              <a:t>x</a:t>
            </a:r>
            <a:r>
              <a:rPr lang="en-US" altLang="zh-CN" i="1" baseline="-25000" dirty="0" err="1">
                <a:latin typeface="Times New Roman" panose="02020603050405020304" pitchFamily="18" charset="0"/>
              </a:rPr>
              <a:t>n</a:t>
            </a:r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数据离散化</a:t>
            </a:r>
          </a:p>
        </p:txBody>
      </p:sp>
      <p:sp>
        <p:nvSpPr>
          <p:cNvPr id="4" name="云形标注 3"/>
          <p:cNvSpPr/>
          <p:nvPr/>
        </p:nvSpPr>
        <p:spPr>
          <a:xfrm>
            <a:off x="6516216" y="2492896"/>
            <a:ext cx="2520000" cy="1008112"/>
          </a:xfrm>
          <a:prstGeom prst="cloudCallout">
            <a:avLst>
              <a:gd name="adj1" fmla="val -60954"/>
              <a:gd name="adj2" fmla="val 36584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lvl="1" algn="ctr"/>
            <a:r>
              <a:rPr lang="zh-CN" altLang="en-US" sz="2000" dirty="0">
                <a:ea typeface="华文细黑" pitchFamily="2" charset="-122"/>
              </a:rPr>
              <a:t>差别：是否使用类信息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66F0B09-7C63-4E03-9D6A-223183817009}" type="slidenum">
              <a:rPr lang="en-US" altLang="zh-CN" smtClean="0"/>
              <a:pPr>
                <a:defRPr/>
              </a:pPr>
              <a:t>49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3747491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63516" y="1700214"/>
            <a:ext cx="6064668" cy="4211955"/>
          </a:xfrm>
        </p:spPr>
        <p:txBody>
          <a:bodyPr/>
          <a:lstStyle/>
          <a:p>
            <a:r>
              <a:rPr lang="zh-CN" altLang="en-US" dirty="0"/>
              <a:t>为什么要离散化</a:t>
            </a:r>
          </a:p>
          <a:p>
            <a:pPr lvl="1"/>
            <a:r>
              <a:rPr lang="zh-CN" altLang="en-US" dirty="0"/>
              <a:t>数据规约，维规约</a:t>
            </a:r>
            <a:endParaRPr lang="en-US" altLang="zh-CN" dirty="0"/>
          </a:p>
          <a:p>
            <a:pPr lvl="1"/>
            <a:r>
              <a:rPr lang="zh-CN" altLang="en-US" dirty="0"/>
              <a:t>一些算法要求离散属性数据</a:t>
            </a:r>
            <a:endParaRPr lang="zh-CN" altLang="en-US" sz="3200" dirty="0"/>
          </a:p>
          <a:p>
            <a:pPr lvl="1"/>
            <a:r>
              <a:rPr lang="zh-CN" altLang="en-US" dirty="0"/>
              <a:t>产生概念分层结构，可在不同抽象层进行挖掘</a:t>
            </a:r>
            <a:endParaRPr lang="en-US" altLang="zh-CN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数据离散化</a:t>
            </a:r>
          </a:p>
        </p:txBody>
      </p:sp>
      <p:sp>
        <p:nvSpPr>
          <p:cNvPr id="10" name="云形标注 9"/>
          <p:cNvSpPr/>
          <p:nvPr/>
        </p:nvSpPr>
        <p:spPr>
          <a:xfrm>
            <a:off x="3203848" y="980728"/>
            <a:ext cx="3528392" cy="1728192"/>
          </a:xfrm>
          <a:prstGeom prst="cloudCallout">
            <a:avLst>
              <a:gd name="adj1" fmla="val -52747"/>
              <a:gd name="adj2" fmla="val 3305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lvl="1"/>
            <a:r>
              <a:rPr lang="zh-CN" altLang="en-US" dirty="0">
                <a:ea typeface="华文细黑" pitchFamily="2" charset="-122"/>
              </a:rPr>
              <a:t>减少属性值个数，便于挖掘，结果知识表达更简洁、更易于理解、更易使用</a:t>
            </a:r>
          </a:p>
        </p:txBody>
      </p:sp>
      <p:pic>
        <p:nvPicPr>
          <p:cNvPr id="9221" name="Picture 5" descr="查看源图像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3413" y="1124745"/>
            <a:ext cx="3045345" cy="17025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6" name="Picture 4" descr="http://c.biancheng.net/uploads/allimg/190507/5-1Z50G34AO06.jpg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35944" y="2708920"/>
            <a:ext cx="2520280" cy="25838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66F0B09-7C63-4E03-9D6A-223183817009}" type="slidenum">
              <a:rPr lang="en-US" altLang="zh-CN" smtClean="0"/>
              <a:pPr>
                <a:defRPr/>
              </a:pPr>
              <a:t>50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3511408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63516" y="1700214"/>
            <a:ext cx="6064668" cy="4211955"/>
          </a:xfrm>
        </p:spPr>
        <p:txBody>
          <a:bodyPr/>
          <a:lstStyle/>
          <a:p>
            <a:r>
              <a:rPr lang="zh-CN" altLang="en-US" dirty="0"/>
              <a:t>为什么要离散化</a:t>
            </a:r>
          </a:p>
          <a:p>
            <a:pPr lvl="1"/>
            <a:r>
              <a:rPr lang="zh-CN" altLang="en-US" dirty="0"/>
              <a:t>数据规约，维规约</a:t>
            </a:r>
            <a:endParaRPr lang="en-US" altLang="zh-CN" dirty="0"/>
          </a:p>
          <a:p>
            <a:pPr lvl="1"/>
            <a:r>
              <a:rPr lang="zh-CN" altLang="en-US" dirty="0"/>
              <a:t>一些算法要求离散属性数据</a:t>
            </a:r>
          </a:p>
          <a:p>
            <a:pPr lvl="1"/>
            <a:r>
              <a:rPr lang="zh-CN" altLang="en-US" dirty="0"/>
              <a:t>产生概念分层结构，可在不同抽象层进行挖掘</a:t>
            </a:r>
            <a:endParaRPr lang="en-US" altLang="zh-CN" dirty="0"/>
          </a:p>
          <a:p>
            <a:pPr lvl="1"/>
            <a:r>
              <a:rPr lang="zh-CN" altLang="en-US" dirty="0"/>
              <a:t>消除奇异值带来的影响</a:t>
            </a:r>
          </a:p>
          <a:p>
            <a:endParaRPr lang="zh-CN" altLang="en-US" sz="3200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数据离散化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4E3391"/>
              </a:clrFrom>
              <a:clrTo>
                <a:srgbClr val="4E3391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400000"/>
                    </a14:imgEffect>
                    <a14:imgEffect>
                      <a14:brightnessContrast brigh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248" t="28102" r="4562"/>
          <a:stretch/>
        </p:blipFill>
        <p:spPr>
          <a:xfrm>
            <a:off x="3419872" y="3501008"/>
            <a:ext cx="5760640" cy="2520280"/>
          </a:xfrm>
          <a:prstGeom prst="rect">
            <a:avLst/>
          </a:prstGeom>
        </p:spPr>
      </p:pic>
      <p:grpSp>
        <p:nvGrpSpPr>
          <p:cNvPr id="6" name="组合 5"/>
          <p:cNvGrpSpPr/>
          <p:nvPr/>
        </p:nvGrpSpPr>
        <p:grpSpPr>
          <a:xfrm>
            <a:off x="3492480" y="5157192"/>
            <a:ext cx="5400000" cy="180000"/>
            <a:chOff x="3419872" y="4515966"/>
            <a:chExt cx="5400000" cy="144016"/>
          </a:xfrm>
        </p:grpSpPr>
        <p:cxnSp>
          <p:nvCxnSpPr>
            <p:cNvPr id="11" name="直接连接符 10"/>
            <p:cNvCxnSpPr/>
            <p:nvPr/>
          </p:nvCxnSpPr>
          <p:spPr>
            <a:xfrm>
              <a:off x="3419872" y="4659982"/>
              <a:ext cx="5400000" cy="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11"/>
            <p:cNvCxnSpPr/>
            <p:nvPr/>
          </p:nvCxnSpPr>
          <p:spPr>
            <a:xfrm>
              <a:off x="3419872" y="4515966"/>
              <a:ext cx="5400000" cy="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矩形 7"/>
          <p:cNvSpPr/>
          <p:nvPr/>
        </p:nvSpPr>
        <p:spPr>
          <a:xfrm>
            <a:off x="3415710" y="4869160"/>
            <a:ext cx="364202" cy="7386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细黑" pitchFamily="2" charset="-122"/>
                <a:ea typeface="华文细黑" pitchFamily="2" charset="-122"/>
              </a:rPr>
              <a:t>高</a:t>
            </a:r>
            <a:endParaRPr lang="en-US" altLang="zh-CN" sz="140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细黑" pitchFamily="2" charset="-122"/>
              <a:ea typeface="华文细黑" pitchFamily="2" charset="-122"/>
            </a:endParaRPr>
          </a:p>
          <a:p>
            <a:r>
              <a:rPr lang="zh-CN" altLang="en-US" sz="14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细黑" pitchFamily="2" charset="-122"/>
                <a:ea typeface="华文细黑" pitchFamily="2" charset="-122"/>
              </a:rPr>
              <a:t>中</a:t>
            </a:r>
            <a:endParaRPr lang="en-US" altLang="zh-CN" sz="140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细黑" pitchFamily="2" charset="-122"/>
              <a:ea typeface="华文细黑" pitchFamily="2" charset="-122"/>
            </a:endParaRPr>
          </a:p>
          <a:p>
            <a:r>
              <a:rPr lang="zh-CN" altLang="en-US" sz="14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细黑" pitchFamily="2" charset="-122"/>
                <a:ea typeface="华文细黑" pitchFamily="2" charset="-122"/>
              </a:rPr>
              <a:t>低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66F0B09-7C63-4E03-9D6A-223183817009}" type="slidenum">
              <a:rPr lang="en-US" altLang="zh-CN" smtClean="0"/>
              <a:pPr>
                <a:defRPr/>
              </a:pPr>
              <a:t>51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96718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250"/>
                            </p:stCondLst>
                            <p:childTnLst>
                              <p:par>
                                <p:cTn id="19" presetID="16" presetClass="entr" presetSubtype="4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  <p:bldP spid="8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分类数据编码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20000"/>
              </a:lnSpc>
              <a:spcAft>
                <a:spcPts val="1200"/>
              </a:spcAft>
            </a:pPr>
            <a:r>
              <a:rPr lang="zh-CN" altLang="en-US" dirty="0"/>
              <a:t>二进制编码：先用序号为每个分类设定一个唯一</a:t>
            </a:r>
            <a:r>
              <a:rPr lang="en-US" altLang="zh-CN" dirty="0"/>
              <a:t>ID</a:t>
            </a:r>
            <a:r>
              <a:rPr lang="zh-CN" altLang="en-US" dirty="0"/>
              <a:t>，然后将</a:t>
            </a:r>
            <a:r>
              <a:rPr lang="en-US" altLang="zh-CN" dirty="0"/>
              <a:t>ID</a:t>
            </a:r>
            <a:r>
              <a:rPr lang="zh-CN" altLang="en-US" dirty="0"/>
              <a:t>对应的二进制编码作为编码结果。</a:t>
            </a:r>
            <a:endParaRPr lang="en-US" altLang="zh-CN" dirty="0"/>
          </a:p>
          <a:p>
            <a:pPr lvl="1">
              <a:lnSpc>
                <a:spcPct val="120000"/>
              </a:lnSpc>
              <a:spcAft>
                <a:spcPts val="1200"/>
              </a:spcAft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66F0B09-7C63-4E03-9D6A-223183817009}" type="slidenum">
              <a:rPr lang="en-US" altLang="zh-CN" smtClean="0"/>
              <a:pPr>
                <a:defRPr/>
              </a:pPr>
              <a:t>52</a:t>
            </a:fld>
            <a:endParaRPr lang="en-US" altLang="zh-CN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BC1AB91-145F-42D6-8FBD-126D459B8F95}"/>
              </a:ext>
            </a:extLst>
          </p:cNvPr>
          <p:cNvSpPr/>
          <p:nvPr/>
        </p:nvSpPr>
        <p:spPr>
          <a:xfrm>
            <a:off x="589794" y="2544778"/>
            <a:ext cx="7704856" cy="4292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0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【</a:t>
            </a:r>
            <a:r>
              <a:rPr lang="zh-CN" altLang="en-US" sz="20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例</a:t>
            </a:r>
            <a:r>
              <a:rPr lang="en-US" altLang="zh-CN" sz="20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】5</a:t>
            </a:r>
            <a:r>
              <a:rPr lang="zh-CN" altLang="en-US" sz="20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个值</a:t>
            </a:r>
            <a:r>
              <a:rPr lang="en-US" altLang="zh-CN" sz="20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{</a:t>
            </a:r>
            <a:r>
              <a:rPr lang="en-US" altLang="zh-CN" sz="2000" i="1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awful</a:t>
            </a:r>
            <a:r>
              <a:rPr lang="en-US" altLang="zh-CN" sz="20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, </a:t>
            </a:r>
            <a:r>
              <a:rPr lang="en-US" altLang="zh-CN" sz="2000" i="1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poor</a:t>
            </a:r>
            <a:r>
              <a:rPr lang="en-US" altLang="zh-CN" sz="20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, </a:t>
            </a:r>
            <a:r>
              <a:rPr lang="en-US" altLang="zh-CN" sz="2000" i="1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OK</a:t>
            </a:r>
            <a:r>
              <a:rPr lang="en-US" altLang="zh-CN" sz="20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, </a:t>
            </a:r>
            <a:r>
              <a:rPr lang="en-US" altLang="zh-CN" sz="2000" i="1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good</a:t>
            </a:r>
            <a:r>
              <a:rPr lang="en-US" altLang="zh-CN" sz="20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, </a:t>
            </a:r>
            <a:r>
              <a:rPr lang="en-US" altLang="zh-CN" sz="2000" i="1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great</a:t>
            </a:r>
            <a:r>
              <a:rPr lang="en-US" altLang="zh-CN" sz="20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}</a:t>
            </a:r>
            <a:r>
              <a:rPr lang="zh-CN" altLang="en-US" sz="20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的分类变量二元化。</a:t>
            </a:r>
            <a:endParaRPr lang="en-US" altLang="zh-CN" sz="2000" dirty="0">
              <a:latin typeface="Times New Roman" pitchFamily="18" charset="0"/>
              <a:ea typeface="华文细黑" pitchFamily="2" charset="-122"/>
              <a:cs typeface="Times New Roman" pitchFamily="18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0166495-576B-488C-8692-66161550375B}"/>
              </a:ext>
            </a:extLst>
          </p:cNvPr>
          <p:cNvSpPr/>
          <p:nvPr/>
        </p:nvSpPr>
        <p:spPr>
          <a:xfrm>
            <a:off x="5054291" y="3120841"/>
            <a:ext cx="300801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需要三个二元变量</a:t>
            </a:r>
            <a:r>
              <a:rPr lang="en-US" altLang="zh-CN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x</a:t>
            </a:r>
            <a:r>
              <a:rPr lang="en-US" altLang="zh-CN" baseline="-250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1</a:t>
            </a:r>
            <a:r>
              <a:rPr lang="zh-CN" altLang="en-US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、</a:t>
            </a:r>
            <a:r>
              <a:rPr lang="en-US" altLang="zh-CN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x</a:t>
            </a:r>
            <a:r>
              <a:rPr lang="en-US" altLang="zh-CN" baseline="-250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2</a:t>
            </a:r>
            <a:r>
              <a:rPr lang="zh-CN" altLang="en-US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、</a:t>
            </a:r>
            <a:r>
              <a:rPr lang="en-US" altLang="zh-CN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x</a:t>
            </a:r>
            <a:r>
              <a:rPr lang="en-US" altLang="zh-CN" baseline="-250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3</a:t>
            </a:r>
            <a:r>
              <a:rPr lang="en-US" altLang="zh-CN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 </a:t>
            </a:r>
            <a:endParaRPr lang="zh-CN" altLang="en-US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20B1EC23-69F2-4ACE-9057-9B0CFE13ED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2088319"/>
              </p:ext>
            </p:extLst>
          </p:nvPr>
        </p:nvGraphicFramePr>
        <p:xfrm>
          <a:off x="733811" y="3038440"/>
          <a:ext cx="3888433" cy="2139696"/>
        </p:xfrm>
        <a:graphic>
          <a:graphicData uri="http://schemas.openxmlformats.org/drawingml/2006/table">
            <a:tbl>
              <a:tblPr firstRow="1">
                <a:tableStyleId>{9D7B26C5-4107-4FEC-AEDC-1716B250A1EF}</a:tableStyleId>
              </a:tblPr>
              <a:tblGrid>
                <a:gridCol w="11811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11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87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87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87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33756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0" dirty="0">
                          <a:latin typeface="Times New Roman" pitchFamily="18" charset="0"/>
                          <a:ea typeface="华文细黑" pitchFamily="2" charset="-122"/>
                          <a:cs typeface="Times New Roman" pitchFamily="18" charset="0"/>
                        </a:rPr>
                        <a:t>属性值</a:t>
                      </a:r>
                    </a:p>
                  </a:txBody>
                  <a:tcPr marT="41148" marB="4114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0" dirty="0">
                          <a:latin typeface="Times New Roman" pitchFamily="18" charset="0"/>
                          <a:ea typeface="华文细黑" pitchFamily="2" charset="-122"/>
                          <a:cs typeface="Times New Roman" pitchFamily="18" charset="0"/>
                        </a:rPr>
                        <a:t>整数值</a:t>
                      </a:r>
                    </a:p>
                  </a:txBody>
                  <a:tcPr marT="41148" marB="4114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1" dirty="0">
                          <a:latin typeface="Times New Roman" pitchFamily="18" charset="0"/>
                          <a:ea typeface="华文细黑" pitchFamily="2" charset="-122"/>
                          <a:cs typeface="Times New Roman" pitchFamily="18" charset="0"/>
                        </a:rPr>
                        <a:t>x</a:t>
                      </a:r>
                      <a:r>
                        <a:rPr lang="en-US" altLang="zh-CN" sz="1800" b="0" baseline="-25000" dirty="0">
                          <a:latin typeface="Times New Roman" pitchFamily="18" charset="0"/>
                          <a:ea typeface="华文细黑" pitchFamily="2" charset="-122"/>
                          <a:cs typeface="Times New Roman" pitchFamily="18" charset="0"/>
                        </a:rPr>
                        <a:t>1</a:t>
                      </a:r>
                      <a:endParaRPr lang="zh-CN" altLang="en-US" sz="1800" b="0" baseline="-25000" dirty="0">
                        <a:latin typeface="Times New Roman" pitchFamily="18" charset="0"/>
                        <a:ea typeface="华文细黑" pitchFamily="2" charset="-122"/>
                        <a:cs typeface="Times New Roman" pitchFamily="18" charset="0"/>
                      </a:endParaRPr>
                    </a:p>
                  </a:txBody>
                  <a:tcPr marT="41148" marB="4114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1" dirty="0">
                          <a:latin typeface="Times New Roman" pitchFamily="18" charset="0"/>
                          <a:ea typeface="华文细黑" pitchFamily="2" charset="-122"/>
                          <a:cs typeface="Times New Roman" pitchFamily="18" charset="0"/>
                        </a:rPr>
                        <a:t>x</a:t>
                      </a:r>
                      <a:r>
                        <a:rPr lang="en-US" altLang="zh-CN" sz="1800" b="0" baseline="-25000" dirty="0">
                          <a:latin typeface="Times New Roman" pitchFamily="18" charset="0"/>
                          <a:ea typeface="华文细黑" pitchFamily="2" charset="-122"/>
                          <a:cs typeface="Times New Roman" pitchFamily="18" charset="0"/>
                        </a:rPr>
                        <a:t>2</a:t>
                      </a:r>
                      <a:endParaRPr lang="zh-CN" altLang="en-US" sz="1800" b="0" baseline="-25000" dirty="0">
                        <a:latin typeface="Times New Roman" pitchFamily="18" charset="0"/>
                        <a:ea typeface="华文细黑" pitchFamily="2" charset="-122"/>
                        <a:cs typeface="Times New Roman" pitchFamily="18" charset="0"/>
                      </a:endParaRPr>
                    </a:p>
                  </a:txBody>
                  <a:tcPr marT="41148" marB="4114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1" dirty="0">
                          <a:latin typeface="Times New Roman" pitchFamily="18" charset="0"/>
                          <a:ea typeface="华文细黑" pitchFamily="2" charset="-122"/>
                          <a:cs typeface="Times New Roman" pitchFamily="18" charset="0"/>
                        </a:rPr>
                        <a:t>x</a:t>
                      </a:r>
                      <a:r>
                        <a:rPr lang="en-US" altLang="zh-CN" sz="1800" b="0" baseline="-25000" dirty="0">
                          <a:latin typeface="Times New Roman" pitchFamily="18" charset="0"/>
                          <a:ea typeface="华文细黑" pitchFamily="2" charset="-122"/>
                          <a:cs typeface="Times New Roman" pitchFamily="18" charset="0"/>
                        </a:rPr>
                        <a:t>3</a:t>
                      </a:r>
                      <a:endParaRPr lang="zh-CN" altLang="en-US" sz="1800" b="0" baseline="-25000" dirty="0">
                        <a:latin typeface="Times New Roman" pitchFamily="18" charset="0"/>
                        <a:ea typeface="华文细黑" pitchFamily="2" charset="-122"/>
                        <a:cs typeface="Times New Roman" pitchFamily="18" charset="0"/>
                      </a:endParaRPr>
                    </a:p>
                  </a:txBody>
                  <a:tcPr marT="41148" marB="41148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75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1" dirty="0">
                          <a:latin typeface="Times New Roman" pitchFamily="18" charset="0"/>
                          <a:ea typeface="华文细黑" pitchFamily="2" charset="-122"/>
                          <a:cs typeface="Times New Roman" pitchFamily="18" charset="0"/>
                        </a:rPr>
                        <a:t>awful</a:t>
                      </a:r>
                      <a:endParaRPr lang="zh-CN" altLang="en-US" sz="1800" b="0" i="1" dirty="0">
                        <a:latin typeface="Times New Roman" pitchFamily="18" charset="0"/>
                        <a:ea typeface="华文细黑" pitchFamily="2" charset="-122"/>
                        <a:cs typeface="Times New Roman" pitchFamily="18" charset="0"/>
                      </a:endParaRPr>
                    </a:p>
                  </a:txBody>
                  <a:tcPr marT="41148" marB="4114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dirty="0">
                          <a:latin typeface="Times New Roman" pitchFamily="18" charset="0"/>
                          <a:ea typeface="华文细黑" pitchFamily="2" charset="-122"/>
                          <a:cs typeface="Times New Roman" pitchFamily="18" charset="0"/>
                        </a:rPr>
                        <a:t>0</a:t>
                      </a:r>
                      <a:endParaRPr lang="zh-CN" altLang="en-US" sz="1800" b="0" dirty="0">
                        <a:latin typeface="Times New Roman" pitchFamily="18" charset="0"/>
                        <a:ea typeface="华文细黑" pitchFamily="2" charset="-122"/>
                        <a:cs typeface="Times New Roman" pitchFamily="18" charset="0"/>
                      </a:endParaRPr>
                    </a:p>
                  </a:txBody>
                  <a:tcPr marT="41148" marB="4114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dirty="0">
                          <a:latin typeface="Times New Roman" pitchFamily="18" charset="0"/>
                          <a:ea typeface="华文细黑" pitchFamily="2" charset="-122"/>
                          <a:cs typeface="Times New Roman" pitchFamily="18" charset="0"/>
                        </a:rPr>
                        <a:t>0</a:t>
                      </a:r>
                      <a:endParaRPr lang="zh-CN" altLang="en-US" sz="1800" b="0" dirty="0">
                        <a:latin typeface="Times New Roman" pitchFamily="18" charset="0"/>
                        <a:ea typeface="华文细黑" pitchFamily="2" charset="-122"/>
                        <a:cs typeface="Times New Roman" pitchFamily="18" charset="0"/>
                      </a:endParaRPr>
                    </a:p>
                  </a:txBody>
                  <a:tcPr marT="41148" marB="4114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dirty="0">
                          <a:latin typeface="Times New Roman" pitchFamily="18" charset="0"/>
                          <a:ea typeface="华文细黑" pitchFamily="2" charset="-122"/>
                          <a:cs typeface="Times New Roman" pitchFamily="18" charset="0"/>
                        </a:rPr>
                        <a:t>0</a:t>
                      </a:r>
                      <a:endParaRPr lang="zh-CN" altLang="en-US" sz="1800" b="0" dirty="0">
                        <a:latin typeface="Times New Roman" pitchFamily="18" charset="0"/>
                        <a:ea typeface="华文细黑" pitchFamily="2" charset="-122"/>
                        <a:cs typeface="Times New Roman" pitchFamily="18" charset="0"/>
                      </a:endParaRPr>
                    </a:p>
                  </a:txBody>
                  <a:tcPr marT="41148" marB="4114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dirty="0">
                          <a:latin typeface="Times New Roman" pitchFamily="18" charset="0"/>
                          <a:ea typeface="华文细黑" pitchFamily="2" charset="-122"/>
                          <a:cs typeface="Times New Roman" pitchFamily="18" charset="0"/>
                        </a:rPr>
                        <a:t>0</a:t>
                      </a:r>
                      <a:endParaRPr lang="zh-CN" altLang="en-US" sz="1800" b="0" dirty="0">
                        <a:latin typeface="Times New Roman" pitchFamily="18" charset="0"/>
                        <a:ea typeface="华文细黑" pitchFamily="2" charset="-122"/>
                        <a:cs typeface="Times New Roman" pitchFamily="18" charset="0"/>
                      </a:endParaRPr>
                    </a:p>
                  </a:txBody>
                  <a:tcPr marT="41148" marB="41148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375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1" dirty="0">
                          <a:latin typeface="Times New Roman" pitchFamily="18" charset="0"/>
                          <a:ea typeface="华文细黑" pitchFamily="2" charset="-122"/>
                          <a:cs typeface="Times New Roman" pitchFamily="18" charset="0"/>
                        </a:rPr>
                        <a:t>poor</a:t>
                      </a:r>
                      <a:endParaRPr lang="zh-CN" altLang="en-US" sz="1800" b="0" i="1" dirty="0">
                        <a:latin typeface="Times New Roman" pitchFamily="18" charset="0"/>
                        <a:ea typeface="华文细黑" pitchFamily="2" charset="-122"/>
                        <a:cs typeface="Times New Roman" pitchFamily="18" charset="0"/>
                      </a:endParaRPr>
                    </a:p>
                  </a:txBody>
                  <a:tcPr marT="41148" marB="4114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dirty="0">
                          <a:latin typeface="Times New Roman" pitchFamily="18" charset="0"/>
                          <a:ea typeface="华文细黑" pitchFamily="2" charset="-122"/>
                          <a:cs typeface="Times New Roman" pitchFamily="18" charset="0"/>
                        </a:rPr>
                        <a:t>1</a:t>
                      </a:r>
                      <a:endParaRPr lang="zh-CN" altLang="en-US" sz="1800" b="0" dirty="0">
                        <a:latin typeface="Times New Roman" pitchFamily="18" charset="0"/>
                        <a:ea typeface="华文细黑" pitchFamily="2" charset="-122"/>
                        <a:cs typeface="Times New Roman" pitchFamily="18" charset="0"/>
                      </a:endParaRPr>
                    </a:p>
                  </a:txBody>
                  <a:tcPr marT="41148" marB="4114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dirty="0">
                          <a:latin typeface="Times New Roman" pitchFamily="18" charset="0"/>
                          <a:ea typeface="华文细黑" pitchFamily="2" charset="-122"/>
                          <a:cs typeface="Times New Roman" pitchFamily="18" charset="0"/>
                        </a:rPr>
                        <a:t>0</a:t>
                      </a:r>
                      <a:endParaRPr lang="zh-CN" altLang="en-US" sz="1800" b="0" dirty="0">
                        <a:latin typeface="Times New Roman" pitchFamily="18" charset="0"/>
                        <a:ea typeface="华文细黑" pitchFamily="2" charset="-122"/>
                        <a:cs typeface="Times New Roman" pitchFamily="18" charset="0"/>
                      </a:endParaRPr>
                    </a:p>
                  </a:txBody>
                  <a:tcPr marT="41148" marB="4114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dirty="0">
                          <a:latin typeface="Times New Roman" pitchFamily="18" charset="0"/>
                          <a:ea typeface="华文细黑" pitchFamily="2" charset="-122"/>
                          <a:cs typeface="Times New Roman" pitchFamily="18" charset="0"/>
                        </a:rPr>
                        <a:t>0</a:t>
                      </a:r>
                      <a:endParaRPr lang="zh-CN" altLang="en-US" sz="1800" b="0" dirty="0">
                        <a:latin typeface="Times New Roman" pitchFamily="18" charset="0"/>
                        <a:ea typeface="华文细黑" pitchFamily="2" charset="-122"/>
                        <a:cs typeface="Times New Roman" pitchFamily="18" charset="0"/>
                      </a:endParaRPr>
                    </a:p>
                  </a:txBody>
                  <a:tcPr marT="41148" marB="4114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dirty="0">
                          <a:latin typeface="Times New Roman" pitchFamily="18" charset="0"/>
                          <a:ea typeface="华文细黑" pitchFamily="2" charset="-122"/>
                          <a:cs typeface="Times New Roman" pitchFamily="18" charset="0"/>
                        </a:rPr>
                        <a:t>1</a:t>
                      </a:r>
                      <a:endParaRPr lang="zh-CN" altLang="en-US" sz="1800" b="0" dirty="0">
                        <a:latin typeface="Times New Roman" pitchFamily="18" charset="0"/>
                        <a:ea typeface="华文细黑" pitchFamily="2" charset="-122"/>
                        <a:cs typeface="Times New Roman" pitchFamily="18" charset="0"/>
                      </a:endParaRPr>
                    </a:p>
                  </a:txBody>
                  <a:tcPr marT="41148" marB="41148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375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1" dirty="0">
                          <a:latin typeface="Times New Roman" pitchFamily="18" charset="0"/>
                          <a:ea typeface="华文细黑" pitchFamily="2" charset="-122"/>
                          <a:cs typeface="Times New Roman" pitchFamily="18" charset="0"/>
                        </a:rPr>
                        <a:t>OK</a:t>
                      </a:r>
                      <a:endParaRPr lang="zh-CN" altLang="en-US" sz="1800" b="0" i="1" dirty="0">
                        <a:latin typeface="Times New Roman" pitchFamily="18" charset="0"/>
                        <a:ea typeface="华文细黑" pitchFamily="2" charset="-122"/>
                        <a:cs typeface="Times New Roman" pitchFamily="18" charset="0"/>
                      </a:endParaRPr>
                    </a:p>
                  </a:txBody>
                  <a:tcPr marT="41148" marB="4114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dirty="0">
                          <a:latin typeface="Times New Roman" pitchFamily="18" charset="0"/>
                          <a:ea typeface="华文细黑" pitchFamily="2" charset="-122"/>
                          <a:cs typeface="Times New Roman" pitchFamily="18" charset="0"/>
                        </a:rPr>
                        <a:t>2</a:t>
                      </a:r>
                      <a:endParaRPr lang="zh-CN" altLang="en-US" sz="1800" b="0" dirty="0">
                        <a:latin typeface="Times New Roman" pitchFamily="18" charset="0"/>
                        <a:ea typeface="华文细黑" pitchFamily="2" charset="-122"/>
                        <a:cs typeface="Times New Roman" pitchFamily="18" charset="0"/>
                      </a:endParaRPr>
                    </a:p>
                  </a:txBody>
                  <a:tcPr marT="41148" marB="4114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dirty="0">
                          <a:latin typeface="Times New Roman" pitchFamily="18" charset="0"/>
                          <a:ea typeface="华文细黑" pitchFamily="2" charset="-122"/>
                          <a:cs typeface="Times New Roman" pitchFamily="18" charset="0"/>
                        </a:rPr>
                        <a:t>0</a:t>
                      </a:r>
                      <a:endParaRPr lang="zh-CN" altLang="en-US" sz="1800" b="0" dirty="0">
                        <a:latin typeface="Times New Roman" pitchFamily="18" charset="0"/>
                        <a:ea typeface="华文细黑" pitchFamily="2" charset="-122"/>
                        <a:cs typeface="Times New Roman" pitchFamily="18" charset="0"/>
                      </a:endParaRPr>
                    </a:p>
                  </a:txBody>
                  <a:tcPr marT="41148" marB="4114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dirty="0">
                          <a:latin typeface="Times New Roman" pitchFamily="18" charset="0"/>
                          <a:ea typeface="华文细黑" pitchFamily="2" charset="-122"/>
                          <a:cs typeface="Times New Roman" pitchFamily="18" charset="0"/>
                        </a:rPr>
                        <a:t>1</a:t>
                      </a:r>
                      <a:endParaRPr lang="zh-CN" altLang="en-US" sz="1800" b="0" dirty="0">
                        <a:latin typeface="Times New Roman" pitchFamily="18" charset="0"/>
                        <a:ea typeface="华文细黑" pitchFamily="2" charset="-122"/>
                        <a:cs typeface="Times New Roman" pitchFamily="18" charset="0"/>
                      </a:endParaRPr>
                    </a:p>
                  </a:txBody>
                  <a:tcPr marT="41148" marB="4114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dirty="0">
                          <a:latin typeface="Times New Roman" pitchFamily="18" charset="0"/>
                          <a:ea typeface="华文细黑" pitchFamily="2" charset="-122"/>
                          <a:cs typeface="Times New Roman" pitchFamily="18" charset="0"/>
                        </a:rPr>
                        <a:t>0</a:t>
                      </a:r>
                      <a:endParaRPr lang="zh-CN" altLang="en-US" sz="1800" b="0" dirty="0">
                        <a:latin typeface="Times New Roman" pitchFamily="18" charset="0"/>
                        <a:ea typeface="华文细黑" pitchFamily="2" charset="-122"/>
                        <a:cs typeface="Times New Roman" pitchFamily="18" charset="0"/>
                      </a:endParaRPr>
                    </a:p>
                  </a:txBody>
                  <a:tcPr marT="41148" marB="41148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375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1" dirty="0">
                          <a:latin typeface="Times New Roman" pitchFamily="18" charset="0"/>
                          <a:ea typeface="华文细黑" pitchFamily="2" charset="-122"/>
                          <a:cs typeface="Times New Roman" pitchFamily="18" charset="0"/>
                        </a:rPr>
                        <a:t>good</a:t>
                      </a:r>
                      <a:endParaRPr lang="zh-CN" altLang="en-US" sz="1800" b="0" i="1" dirty="0">
                        <a:latin typeface="Times New Roman" pitchFamily="18" charset="0"/>
                        <a:ea typeface="华文细黑" pitchFamily="2" charset="-122"/>
                        <a:cs typeface="Times New Roman" pitchFamily="18" charset="0"/>
                      </a:endParaRPr>
                    </a:p>
                  </a:txBody>
                  <a:tcPr marT="41148" marB="4114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dirty="0">
                          <a:latin typeface="Times New Roman" pitchFamily="18" charset="0"/>
                          <a:ea typeface="华文细黑" pitchFamily="2" charset="-122"/>
                          <a:cs typeface="Times New Roman" pitchFamily="18" charset="0"/>
                        </a:rPr>
                        <a:t>3</a:t>
                      </a:r>
                      <a:endParaRPr lang="zh-CN" altLang="en-US" sz="1800" b="0" dirty="0">
                        <a:latin typeface="Times New Roman" pitchFamily="18" charset="0"/>
                        <a:ea typeface="华文细黑" pitchFamily="2" charset="-122"/>
                        <a:cs typeface="Times New Roman" pitchFamily="18" charset="0"/>
                      </a:endParaRPr>
                    </a:p>
                  </a:txBody>
                  <a:tcPr marT="41148" marB="4114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dirty="0">
                          <a:latin typeface="Times New Roman" pitchFamily="18" charset="0"/>
                          <a:ea typeface="华文细黑" pitchFamily="2" charset="-122"/>
                          <a:cs typeface="Times New Roman" pitchFamily="18" charset="0"/>
                        </a:rPr>
                        <a:t>0</a:t>
                      </a:r>
                      <a:endParaRPr lang="zh-CN" altLang="en-US" sz="1800" b="0" dirty="0">
                        <a:latin typeface="Times New Roman" pitchFamily="18" charset="0"/>
                        <a:ea typeface="华文细黑" pitchFamily="2" charset="-122"/>
                        <a:cs typeface="Times New Roman" pitchFamily="18" charset="0"/>
                      </a:endParaRPr>
                    </a:p>
                  </a:txBody>
                  <a:tcPr marT="41148" marB="4114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dirty="0">
                          <a:latin typeface="Times New Roman" pitchFamily="18" charset="0"/>
                          <a:ea typeface="华文细黑" pitchFamily="2" charset="-122"/>
                          <a:cs typeface="Times New Roman" pitchFamily="18" charset="0"/>
                        </a:rPr>
                        <a:t>1</a:t>
                      </a:r>
                      <a:endParaRPr lang="zh-CN" altLang="en-US" sz="1800" b="0" dirty="0">
                        <a:latin typeface="Times New Roman" pitchFamily="18" charset="0"/>
                        <a:ea typeface="华文细黑" pitchFamily="2" charset="-122"/>
                        <a:cs typeface="Times New Roman" pitchFamily="18" charset="0"/>
                      </a:endParaRPr>
                    </a:p>
                  </a:txBody>
                  <a:tcPr marT="41148" marB="4114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dirty="0">
                          <a:latin typeface="Times New Roman" pitchFamily="18" charset="0"/>
                          <a:ea typeface="华文细黑" pitchFamily="2" charset="-122"/>
                          <a:cs typeface="Times New Roman" pitchFamily="18" charset="0"/>
                        </a:rPr>
                        <a:t>1</a:t>
                      </a:r>
                      <a:endParaRPr lang="zh-CN" altLang="en-US" sz="1800" b="0" dirty="0">
                        <a:latin typeface="Times New Roman" pitchFamily="18" charset="0"/>
                        <a:ea typeface="华文细黑" pitchFamily="2" charset="-122"/>
                        <a:cs typeface="Times New Roman" pitchFamily="18" charset="0"/>
                      </a:endParaRPr>
                    </a:p>
                  </a:txBody>
                  <a:tcPr marT="41148" marB="41148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375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1" dirty="0">
                          <a:latin typeface="Times New Roman" pitchFamily="18" charset="0"/>
                          <a:ea typeface="华文细黑" pitchFamily="2" charset="-122"/>
                          <a:cs typeface="Times New Roman" pitchFamily="18" charset="0"/>
                        </a:rPr>
                        <a:t>great</a:t>
                      </a:r>
                      <a:endParaRPr lang="zh-CN" altLang="en-US" sz="1800" b="0" i="1" dirty="0">
                        <a:latin typeface="Times New Roman" pitchFamily="18" charset="0"/>
                        <a:ea typeface="华文细黑" pitchFamily="2" charset="-122"/>
                        <a:cs typeface="Times New Roman" pitchFamily="18" charset="0"/>
                      </a:endParaRPr>
                    </a:p>
                  </a:txBody>
                  <a:tcPr marT="41148" marB="4114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dirty="0">
                          <a:latin typeface="Times New Roman" pitchFamily="18" charset="0"/>
                          <a:ea typeface="华文细黑" pitchFamily="2" charset="-122"/>
                          <a:cs typeface="Times New Roman" pitchFamily="18" charset="0"/>
                        </a:rPr>
                        <a:t>4</a:t>
                      </a:r>
                      <a:endParaRPr lang="zh-CN" altLang="en-US" sz="1800" b="0" dirty="0">
                        <a:latin typeface="Times New Roman" pitchFamily="18" charset="0"/>
                        <a:ea typeface="华文细黑" pitchFamily="2" charset="-122"/>
                        <a:cs typeface="Times New Roman" pitchFamily="18" charset="0"/>
                      </a:endParaRPr>
                    </a:p>
                  </a:txBody>
                  <a:tcPr marT="41148" marB="4114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dirty="0">
                          <a:latin typeface="Times New Roman" pitchFamily="18" charset="0"/>
                          <a:ea typeface="华文细黑" pitchFamily="2" charset="-122"/>
                          <a:cs typeface="Times New Roman" pitchFamily="18" charset="0"/>
                        </a:rPr>
                        <a:t>1</a:t>
                      </a:r>
                      <a:endParaRPr lang="zh-CN" altLang="en-US" sz="1800" b="0" dirty="0">
                        <a:latin typeface="Times New Roman" pitchFamily="18" charset="0"/>
                        <a:ea typeface="华文细黑" pitchFamily="2" charset="-122"/>
                        <a:cs typeface="Times New Roman" pitchFamily="18" charset="0"/>
                      </a:endParaRPr>
                    </a:p>
                  </a:txBody>
                  <a:tcPr marT="41148" marB="4114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dirty="0">
                          <a:latin typeface="Times New Roman" pitchFamily="18" charset="0"/>
                          <a:ea typeface="华文细黑" pitchFamily="2" charset="-122"/>
                          <a:cs typeface="Times New Roman" pitchFamily="18" charset="0"/>
                        </a:rPr>
                        <a:t>0</a:t>
                      </a:r>
                      <a:endParaRPr lang="zh-CN" altLang="en-US" sz="1800" b="0" dirty="0">
                        <a:latin typeface="Times New Roman" pitchFamily="18" charset="0"/>
                        <a:ea typeface="华文细黑" pitchFamily="2" charset="-122"/>
                        <a:cs typeface="Times New Roman" pitchFamily="18" charset="0"/>
                      </a:endParaRPr>
                    </a:p>
                  </a:txBody>
                  <a:tcPr marT="41148" marB="4114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dirty="0">
                          <a:latin typeface="Times New Roman" pitchFamily="18" charset="0"/>
                          <a:ea typeface="华文细黑" pitchFamily="2" charset="-122"/>
                          <a:cs typeface="Times New Roman" pitchFamily="18" charset="0"/>
                        </a:rPr>
                        <a:t>0</a:t>
                      </a:r>
                      <a:endParaRPr lang="zh-CN" altLang="en-US" sz="1800" b="0" dirty="0">
                        <a:latin typeface="Times New Roman" pitchFamily="18" charset="0"/>
                        <a:ea typeface="华文细黑" pitchFamily="2" charset="-122"/>
                        <a:cs typeface="Times New Roman" pitchFamily="18" charset="0"/>
                      </a:endParaRPr>
                    </a:p>
                  </a:txBody>
                  <a:tcPr marT="41148" marB="41148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655CF141-974F-4DB5-A9FE-08D1727F95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5142189"/>
              </p:ext>
            </p:extLst>
          </p:nvPr>
        </p:nvGraphicFramePr>
        <p:xfrm>
          <a:off x="733810" y="3038440"/>
          <a:ext cx="2362222" cy="2139696"/>
        </p:xfrm>
        <a:graphic>
          <a:graphicData uri="http://schemas.openxmlformats.org/drawingml/2006/table">
            <a:tbl>
              <a:tblPr firstRow="1">
                <a:tableStyleId>{9D7B26C5-4107-4FEC-AEDC-1716B250A1EF}</a:tableStyleId>
              </a:tblPr>
              <a:tblGrid>
                <a:gridCol w="11811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11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3756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0" dirty="0">
                          <a:latin typeface="Times New Roman" pitchFamily="18" charset="0"/>
                          <a:ea typeface="华文细黑" pitchFamily="2" charset="-122"/>
                          <a:cs typeface="Times New Roman" pitchFamily="18" charset="0"/>
                        </a:rPr>
                        <a:t>属性值</a:t>
                      </a:r>
                    </a:p>
                  </a:txBody>
                  <a:tcPr marT="41148" marB="4114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0" dirty="0">
                          <a:latin typeface="Times New Roman" pitchFamily="18" charset="0"/>
                          <a:ea typeface="华文细黑" pitchFamily="2" charset="-122"/>
                          <a:cs typeface="Times New Roman" pitchFamily="18" charset="0"/>
                        </a:rPr>
                        <a:t>整数值</a:t>
                      </a:r>
                    </a:p>
                  </a:txBody>
                  <a:tcPr marT="41148" marB="41148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75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1" dirty="0">
                          <a:latin typeface="Times New Roman" pitchFamily="18" charset="0"/>
                          <a:ea typeface="华文细黑" pitchFamily="2" charset="-122"/>
                          <a:cs typeface="Times New Roman" pitchFamily="18" charset="0"/>
                        </a:rPr>
                        <a:t>awful</a:t>
                      </a:r>
                      <a:endParaRPr lang="zh-CN" altLang="en-US" sz="1800" b="0" i="1" dirty="0">
                        <a:latin typeface="Times New Roman" pitchFamily="18" charset="0"/>
                        <a:ea typeface="华文细黑" pitchFamily="2" charset="-122"/>
                        <a:cs typeface="Times New Roman" pitchFamily="18" charset="0"/>
                      </a:endParaRPr>
                    </a:p>
                  </a:txBody>
                  <a:tcPr marT="41148" marB="4114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dirty="0">
                          <a:latin typeface="Times New Roman" pitchFamily="18" charset="0"/>
                          <a:ea typeface="华文细黑" pitchFamily="2" charset="-122"/>
                          <a:cs typeface="Times New Roman" pitchFamily="18" charset="0"/>
                        </a:rPr>
                        <a:t>0</a:t>
                      </a:r>
                      <a:endParaRPr lang="zh-CN" altLang="en-US" sz="1800" b="0" dirty="0">
                        <a:latin typeface="Times New Roman" pitchFamily="18" charset="0"/>
                        <a:ea typeface="华文细黑" pitchFamily="2" charset="-122"/>
                        <a:cs typeface="Times New Roman" pitchFamily="18" charset="0"/>
                      </a:endParaRPr>
                    </a:p>
                  </a:txBody>
                  <a:tcPr marT="41148" marB="41148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375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1" dirty="0">
                          <a:latin typeface="Times New Roman" pitchFamily="18" charset="0"/>
                          <a:ea typeface="华文细黑" pitchFamily="2" charset="-122"/>
                          <a:cs typeface="Times New Roman" pitchFamily="18" charset="0"/>
                        </a:rPr>
                        <a:t>poor</a:t>
                      </a:r>
                      <a:endParaRPr lang="zh-CN" altLang="en-US" sz="1800" b="0" i="1" dirty="0">
                        <a:latin typeface="Times New Roman" pitchFamily="18" charset="0"/>
                        <a:ea typeface="华文细黑" pitchFamily="2" charset="-122"/>
                        <a:cs typeface="Times New Roman" pitchFamily="18" charset="0"/>
                      </a:endParaRPr>
                    </a:p>
                  </a:txBody>
                  <a:tcPr marT="41148" marB="4114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dirty="0">
                          <a:latin typeface="Times New Roman" pitchFamily="18" charset="0"/>
                          <a:ea typeface="华文细黑" pitchFamily="2" charset="-122"/>
                          <a:cs typeface="Times New Roman" pitchFamily="18" charset="0"/>
                        </a:rPr>
                        <a:t>1</a:t>
                      </a:r>
                      <a:endParaRPr lang="zh-CN" altLang="en-US" sz="1800" b="0" dirty="0">
                        <a:latin typeface="Times New Roman" pitchFamily="18" charset="0"/>
                        <a:ea typeface="华文细黑" pitchFamily="2" charset="-122"/>
                        <a:cs typeface="Times New Roman" pitchFamily="18" charset="0"/>
                      </a:endParaRPr>
                    </a:p>
                  </a:txBody>
                  <a:tcPr marT="41148" marB="41148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375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1" dirty="0">
                          <a:latin typeface="Times New Roman" pitchFamily="18" charset="0"/>
                          <a:ea typeface="华文细黑" pitchFamily="2" charset="-122"/>
                          <a:cs typeface="Times New Roman" pitchFamily="18" charset="0"/>
                        </a:rPr>
                        <a:t>OK</a:t>
                      </a:r>
                      <a:endParaRPr lang="zh-CN" altLang="en-US" sz="1800" b="0" i="1" dirty="0">
                        <a:latin typeface="Times New Roman" pitchFamily="18" charset="0"/>
                        <a:ea typeface="华文细黑" pitchFamily="2" charset="-122"/>
                        <a:cs typeface="Times New Roman" pitchFamily="18" charset="0"/>
                      </a:endParaRPr>
                    </a:p>
                  </a:txBody>
                  <a:tcPr marT="41148" marB="4114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dirty="0">
                          <a:latin typeface="Times New Roman" pitchFamily="18" charset="0"/>
                          <a:ea typeface="华文细黑" pitchFamily="2" charset="-122"/>
                          <a:cs typeface="Times New Roman" pitchFamily="18" charset="0"/>
                        </a:rPr>
                        <a:t>2</a:t>
                      </a:r>
                      <a:endParaRPr lang="zh-CN" altLang="en-US" sz="1800" b="0" dirty="0">
                        <a:latin typeface="Times New Roman" pitchFamily="18" charset="0"/>
                        <a:ea typeface="华文细黑" pitchFamily="2" charset="-122"/>
                        <a:cs typeface="Times New Roman" pitchFamily="18" charset="0"/>
                      </a:endParaRPr>
                    </a:p>
                  </a:txBody>
                  <a:tcPr marT="41148" marB="41148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375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1" dirty="0">
                          <a:latin typeface="Times New Roman" pitchFamily="18" charset="0"/>
                          <a:ea typeface="华文细黑" pitchFamily="2" charset="-122"/>
                          <a:cs typeface="Times New Roman" pitchFamily="18" charset="0"/>
                        </a:rPr>
                        <a:t>good</a:t>
                      </a:r>
                      <a:endParaRPr lang="zh-CN" altLang="en-US" sz="1800" b="0" i="1" dirty="0">
                        <a:latin typeface="Times New Roman" pitchFamily="18" charset="0"/>
                        <a:ea typeface="华文细黑" pitchFamily="2" charset="-122"/>
                        <a:cs typeface="Times New Roman" pitchFamily="18" charset="0"/>
                      </a:endParaRPr>
                    </a:p>
                  </a:txBody>
                  <a:tcPr marT="41148" marB="4114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dirty="0">
                          <a:latin typeface="Times New Roman" pitchFamily="18" charset="0"/>
                          <a:ea typeface="华文细黑" pitchFamily="2" charset="-122"/>
                          <a:cs typeface="Times New Roman" pitchFamily="18" charset="0"/>
                        </a:rPr>
                        <a:t>3</a:t>
                      </a:r>
                      <a:endParaRPr lang="zh-CN" altLang="en-US" sz="1800" b="0" dirty="0">
                        <a:latin typeface="Times New Roman" pitchFamily="18" charset="0"/>
                        <a:ea typeface="华文细黑" pitchFamily="2" charset="-122"/>
                        <a:cs typeface="Times New Roman" pitchFamily="18" charset="0"/>
                      </a:endParaRPr>
                    </a:p>
                  </a:txBody>
                  <a:tcPr marT="41148" marB="41148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375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1" dirty="0">
                          <a:latin typeface="Times New Roman" pitchFamily="18" charset="0"/>
                          <a:ea typeface="华文细黑" pitchFamily="2" charset="-122"/>
                          <a:cs typeface="Times New Roman" pitchFamily="18" charset="0"/>
                        </a:rPr>
                        <a:t>great</a:t>
                      </a:r>
                      <a:endParaRPr lang="zh-CN" altLang="en-US" sz="1800" b="0" i="1" dirty="0">
                        <a:latin typeface="Times New Roman" pitchFamily="18" charset="0"/>
                        <a:ea typeface="华文细黑" pitchFamily="2" charset="-122"/>
                        <a:cs typeface="Times New Roman" pitchFamily="18" charset="0"/>
                      </a:endParaRPr>
                    </a:p>
                  </a:txBody>
                  <a:tcPr marT="41148" marB="4114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dirty="0">
                          <a:latin typeface="Times New Roman" pitchFamily="18" charset="0"/>
                          <a:ea typeface="华文细黑" pitchFamily="2" charset="-122"/>
                          <a:cs typeface="Times New Roman" pitchFamily="18" charset="0"/>
                        </a:rPr>
                        <a:t>4</a:t>
                      </a:r>
                      <a:endParaRPr lang="zh-CN" altLang="en-US" sz="1800" b="0" dirty="0">
                        <a:latin typeface="Times New Roman" pitchFamily="18" charset="0"/>
                        <a:ea typeface="华文细黑" pitchFamily="2" charset="-122"/>
                        <a:cs typeface="Times New Roman" pitchFamily="18" charset="0"/>
                      </a:endParaRPr>
                    </a:p>
                  </a:txBody>
                  <a:tcPr marT="41148" marB="41148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961785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分类数据编码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34822" y="1278835"/>
            <a:ext cx="7201925" cy="792682"/>
          </a:xfrm>
        </p:spPr>
        <p:txBody>
          <a:bodyPr/>
          <a:lstStyle/>
          <a:p>
            <a:pPr>
              <a:lnSpc>
                <a:spcPct val="120000"/>
              </a:lnSpc>
              <a:spcAft>
                <a:spcPts val="1200"/>
              </a:spcAft>
            </a:pPr>
            <a:r>
              <a:rPr lang="zh-CN" altLang="en-US" dirty="0"/>
              <a:t>二进制编码：方法</a:t>
            </a:r>
            <a:endParaRPr lang="en-US" altLang="zh-CN" dirty="0"/>
          </a:p>
          <a:p>
            <a:pPr lvl="1">
              <a:lnSpc>
                <a:spcPct val="120000"/>
              </a:lnSpc>
              <a:spcAft>
                <a:spcPts val="1200"/>
              </a:spcAft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66F0B09-7C63-4E03-9D6A-223183817009}" type="slidenum">
              <a:rPr lang="en-US" altLang="zh-CN" smtClean="0"/>
              <a:pPr>
                <a:defRPr/>
              </a:pPr>
              <a:t>53</a:t>
            </a:fld>
            <a:endParaRPr lang="en-US" altLang="zh-CN"/>
          </a:p>
        </p:txBody>
      </p:sp>
      <p:sp>
        <p:nvSpPr>
          <p:cNvPr id="9" name="内容占位符 2"/>
          <p:cNvSpPr txBox="1">
            <a:spLocks/>
          </p:cNvSpPr>
          <p:nvPr/>
        </p:nvSpPr>
        <p:spPr bwMode="auto">
          <a:xfrm>
            <a:off x="434822" y="2312876"/>
            <a:ext cx="6760591" cy="22322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65125" indent="-282575" algn="l" rtl="0" eaLnBrk="1" fontAlgn="base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2" pitchFamily="18" charset="2"/>
              <a:buChar char=""/>
              <a:defRPr sz="2800" kern="1200">
                <a:solidFill>
                  <a:schemeClr val="tx1"/>
                </a:solidFill>
                <a:latin typeface="Times New Roman" pitchFamily="18" charset="0"/>
                <a:ea typeface="华文细黑" pitchFamily="2" charset="-122"/>
                <a:cs typeface="+mn-cs"/>
              </a:defRPr>
            </a:lvl1pPr>
            <a:lvl2pPr marL="639763" indent="-236538" algn="l" rtl="0" eaLnBrk="1" fontAlgn="base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Font typeface="Verdana" pitchFamily="34" charset="0"/>
              <a:buChar char="◦"/>
              <a:defRPr sz="2400" kern="1200">
                <a:solidFill>
                  <a:schemeClr val="tx1"/>
                </a:solidFill>
                <a:latin typeface="Times New Roman" pitchFamily="18" charset="0"/>
                <a:ea typeface="华文细黑" pitchFamily="2" charset="-122"/>
                <a:cs typeface="+mn-cs"/>
              </a:defRPr>
            </a:lvl2pPr>
            <a:lvl3pPr marL="885825" indent="-228600" algn="l" rtl="0" eaLnBrk="1" fontAlgn="base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Times New Roman" pitchFamily="18" charset="0"/>
                <a:ea typeface="华文细黑" pitchFamily="2" charset="-122"/>
                <a:cs typeface="+mn-cs"/>
              </a:defRPr>
            </a:lvl3pPr>
            <a:lvl4pPr marL="1096963" indent="-173038" algn="l" rtl="0" eaLnBrk="1" fontAlgn="base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rgbClr val="C32D2E"/>
              </a:buClr>
              <a:buFont typeface="Wingdings 2" pitchFamily="18" charset="2"/>
              <a:buChar char=""/>
              <a:defRPr kern="1200">
                <a:solidFill>
                  <a:schemeClr val="tx1"/>
                </a:solidFill>
                <a:latin typeface="Times New Roman" pitchFamily="18" charset="0"/>
                <a:ea typeface="华文细黑" pitchFamily="2" charset="-122"/>
                <a:cs typeface="+mn-cs"/>
              </a:defRPr>
            </a:lvl4pPr>
            <a:lvl5pPr marL="1296988" indent="-182563" algn="l" rtl="0" eaLnBrk="1" fontAlgn="base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rgbClr val="84AA33"/>
              </a:buClr>
              <a:buFont typeface="Wingdings 2" pitchFamily="18" charset="2"/>
              <a:buChar char=""/>
              <a:defRPr kern="1200">
                <a:solidFill>
                  <a:schemeClr val="tx1"/>
                </a:solidFill>
                <a:latin typeface="Times New Roman" pitchFamily="18" charset="0"/>
                <a:ea typeface="华文细黑" pitchFamily="2" charset="-122"/>
                <a:cs typeface="+mn-cs"/>
              </a:defRPr>
            </a:lvl5pPr>
            <a:lvl6pPr marL="1508760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5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719072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20240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30552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lvl="1"/>
            <a:r>
              <a:rPr lang="zh-CN" altLang="en-US" sz="2000" dirty="0"/>
              <a:t>如果属性具有 </a:t>
            </a:r>
            <a:r>
              <a:rPr lang="en-US" altLang="zh-CN" sz="2000" i="1" dirty="0"/>
              <a:t>m </a:t>
            </a:r>
            <a:r>
              <a:rPr lang="zh-CN" altLang="en-US" sz="2000" dirty="0"/>
              <a:t>个值，则将每个原始值唯一地映射到区间 </a:t>
            </a:r>
            <a:r>
              <a:rPr lang="en-US" altLang="zh-CN" sz="2000" dirty="0"/>
              <a:t>[0, </a:t>
            </a:r>
            <a:r>
              <a:rPr lang="en-US" altLang="zh-CN" sz="2000" i="1" dirty="0"/>
              <a:t>m</a:t>
            </a:r>
            <a:r>
              <a:rPr lang="en-US" altLang="zh-CN" sz="2000" dirty="0">
                <a:sym typeface="Symbol" pitchFamily="18" charset="2"/>
              </a:rPr>
              <a:t></a:t>
            </a:r>
            <a:r>
              <a:rPr lang="en-US" altLang="zh-CN" sz="2000" dirty="0"/>
              <a:t>1] </a:t>
            </a:r>
            <a:r>
              <a:rPr lang="zh-CN" altLang="en-US" sz="2000" dirty="0"/>
              <a:t>中的一个整数 </a:t>
            </a:r>
            <a:r>
              <a:rPr lang="en-US" altLang="zh-CN" sz="2000" dirty="0"/>
              <a:t>(</a:t>
            </a:r>
            <a:r>
              <a:rPr lang="zh-CN" altLang="en-US" sz="2000" dirty="0"/>
              <a:t>保序</a:t>
            </a:r>
            <a:r>
              <a:rPr lang="en-US" altLang="zh-CN" sz="2000" dirty="0"/>
              <a:t>)</a:t>
            </a:r>
          </a:p>
          <a:p>
            <a:pPr lvl="1"/>
            <a:r>
              <a:rPr lang="zh-CN" altLang="en-US" sz="2000" dirty="0"/>
              <a:t>把 </a:t>
            </a:r>
            <a:r>
              <a:rPr lang="en-US" altLang="zh-CN" sz="2000" i="1" dirty="0"/>
              <a:t>m </a:t>
            </a:r>
            <a:r>
              <a:rPr lang="zh-CN" altLang="en-US" sz="2000" dirty="0"/>
              <a:t>个整数都变换成一个二进制数</a:t>
            </a:r>
          </a:p>
          <a:p>
            <a:pPr lvl="2"/>
            <a:r>
              <a:rPr lang="zh-CN" altLang="en-US" dirty="0"/>
              <a:t>需要 </a:t>
            </a:r>
            <a:r>
              <a:rPr lang="en-US" altLang="zh-CN" i="1" dirty="0"/>
              <a:t>n</a:t>
            </a:r>
            <a:r>
              <a:rPr lang="en-US" altLang="zh-CN" dirty="0"/>
              <a:t> = </a:t>
            </a:r>
            <a:r>
              <a:rPr lang="en-US" altLang="zh-CN" dirty="0">
                <a:sym typeface="Symbol" pitchFamily="18" charset="2"/>
              </a:rPr>
              <a:t></a:t>
            </a:r>
            <a:r>
              <a:rPr lang="en-US" altLang="zh-CN" dirty="0"/>
              <a:t>log</a:t>
            </a:r>
            <a:r>
              <a:rPr lang="en-US" altLang="zh-CN" baseline="-25000" dirty="0"/>
              <a:t>2</a:t>
            </a:r>
            <a:r>
              <a:rPr lang="en-US" altLang="zh-CN" i="1" dirty="0"/>
              <a:t>m</a:t>
            </a:r>
            <a:r>
              <a:rPr lang="en-US" altLang="zh-CN" dirty="0">
                <a:sym typeface="Symbol" pitchFamily="18" charset="2"/>
              </a:rPr>
              <a:t> </a:t>
            </a:r>
            <a:r>
              <a:rPr lang="zh-CN" altLang="en-US" dirty="0"/>
              <a:t>个二进位表示这些整数 </a:t>
            </a:r>
          </a:p>
          <a:p>
            <a:pPr lvl="1"/>
            <a:r>
              <a:rPr lang="zh-CN" altLang="en-US" sz="2000" dirty="0"/>
              <a:t>用 </a:t>
            </a:r>
            <a:r>
              <a:rPr lang="en-US" altLang="zh-CN" sz="2000" i="1" dirty="0"/>
              <a:t>n </a:t>
            </a:r>
            <a:r>
              <a:rPr lang="zh-CN" altLang="en-US" sz="2000" dirty="0"/>
              <a:t>个二元属性表示这些二进制数 </a:t>
            </a:r>
          </a:p>
          <a:p>
            <a:pPr lvl="1">
              <a:lnSpc>
                <a:spcPct val="120000"/>
              </a:lnSpc>
              <a:spcAft>
                <a:spcPts val="1200"/>
              </a:spcAft>
            </a:pPr>
            <a:endParaRPr lang="zh-CN" altLang="en-US" sz="2800" dirty="0"/>
          </a:p>
        </p:txBody>
      </p:sp>
      <p:sp>
        <p:nvSpPr>
          <p:cNvPr id="12" name="圆角矩形标注 3"/>
          <p:cNvSpPr/>
          <p:nvPr/>
        </p:nvSpPr>
        <p:spPr>
          <a:xfrm>
            <a:off x="5540826" y="4062834"/>
            <a:ext cx="3168352" cy="1620180"/>
          </a:xfrm>
          <a:prstGeom prst="wedgeRectCallout">
            <a:avLst>
              <a:gd name="adj1" fmla="val -65583"/>
              <a:gd name="adj2" fmla="val -47690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zh-CN" altLang="en-US" dirty="0">
                <a:latin typeface="Times New Roman" pitchFamily="18" charset="0"/>
                <a:ea typeface="华文细黑" panose="02010600040101010101" pitchFamily="2" charset="-122"/>
                <a:cs typeface="Times New Roman" pitchFamily="18" charset="0"/>
              </a:rPr>
              <a:t>缺点：</a:t>
            </a:r>
          </a:p>
          <a:p>
            <a:pPr marL="180975" indent="-180975">
              <a:buFont typeface="Arial" pitchFamily="34" charset="0"/>
              <a:buChar char="•"/>
            </a:pPr>
            <a:r>
              <a:rPr lang="zh-CN" altLang="en-US" dirty="0">
                <a:latin typeface="Times New Roman" pitchFamily="18" charset="0"/>
                <a:ea typeface="华文细黑" panose="02010600040101010101" pitchFamily="2" charset="-122"/>
                <a:cs typeface="Times New Roman" pitchFamily="18" charset="0"/>
              </a:rPr>
              <a:t>建立了属性之间的联系</a:t>
            </a:r>
            <a:r>
              <a:rPr lang="en-US" altLang="zh-CN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(</a:t>
            </a:r>
            <a:r>
              <a:rPr lang="zh-CN" altLang="en-US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如</a:t>
            </a:r>
            <a:r>
              <a:rPr lang="en-US" altLang="zh-CN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good</a:t>
            </a:r>
            <a:r>
              <a:rPr lang="zh-CN" altLang="en-US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值用</a:t>
            </a:r>
            <a:r>
              <a:rPr lang="en-US" altLang="zh-CN" i="1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x</a:t>
            </a:r>
            <a:r>
              <a:rPr lang="en-US" altLang="zh-CN" baseline="-250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1</a:t>
            </a:r>
            <a:r>
              <a:rPr lang="en-US" altLang="zh-CN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=0</a:t>
            </a:r>
            <a:r>
              <a:rPr lang="zh-CN" altLang="en-US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， </a:t>
            </a:r>
            <a:r>
              <a:rPr lang="en-US" altLang="zh-CN" i="1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x</a:t>
            </a:r>
            <a:r>
              <a:rPr lang="en-US" altLang="zh-CN" baseline="-250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2</a:t>
            </a:r>
            <a:r>
              <a:rPr lang="en-US" altLang="zh-CN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=1</a:t>
            </a:r>
            <a:r>
              <a:rPr lang="zh-CN" altLang="en-US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，</a:t>
            </a:r>
            <a:r>
              <a:rPr lang="en-US" altLang="zh-CN" i="1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x</a:t>
            </a:r>
            <a:r>
              <a:rPr lang="en-US" altLang="zh-CN" baseline="-250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3</a:t>
            </a:r>
            <a:r>
              <a:rPr lang="en-US" altLang="zh-CN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=1</a:t>
            </a:r>
            <a:r>
              <a:rPr lang="zh-CN" altLang="en-US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表示</a:t>
            </a:r>
            <a:r>
              <a:rPr lang="en-US" altLang="zh-CN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)</a:t>
            </a:r>
          </a:p>
          <a:p>
            <a:pPr marL="180975" indent="-180975">
              <a:buFont typeface="Arial" pitchFamily="34" charset="0"/>
              <a:buChar char="•"/>
            </a:pPr>
            <a:r>
              <a:rPr lang="zh-CN" altLang="en-US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不适合非对称属性处理</a:t>
            </a:r>
            <a:endParaRPr lang="en-US" altLang="zh-CN" dirty="0">
              <a:latin typeface="Times New Roman" pitchFamily="18" charset="0"/>
              <a:ea typeface="华文细黑" pitchFamily="2" charset="-122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030354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B967093-4584-4B80-8A7F-BB4E1E105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84F5B-1672-4D3F-9FEC-5DF89A7B7912}" type="slidenum">
              <a:rPr lang="zh-CN" altLang="en-US" smtClean="0"/>
              <a:t>54</a:t>
            </a:fld>
            <a:endParaRPr lang="zh-CN" altLang="en-US"/>
          </a:p>
        </p:txBody>
      </p:sp>
      <p:sp>
        <p:nvSpPr>
          <p:cNvPr id="6" name="标题 5">
            <a:extLst>
              <a:ext uri="{FF2B5EF4-FFF2-40B4-BE49-F238E27FC236}">
                <a16:creationId xmlns:a16="http://schemas.microsoft.com/office/drawing/2014/main" id="{28284D37-AB1A-4A68-805C-65182608F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分类数据编码</a:t>
            </a:r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9D5D625C-650D-4DB6-8F11-8D228F3E0B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4223" y="906011"/>
            <a:ext cx="8883941" cy="5637402"/>
          </a:xfrm>
        </p:spPr>
        <p:txBody>
          <a:bodyPr/>
          <a:lstStyle/>
          <a:p>
            <a:pPr>
              <a:lnSpc>
                <a:spcPct val="120000"/>
              </a:lnSpc>
              <a:spcAft>
                <a:spcPts val="1200"/>
              </a:spcAft>
            </a:pPr>
            <a:r>
              <a:rPr lang="zh-CN" altLang="en-US" dirty="0"/>
              <a:t>独热编码（</a:t>
            </a:r>
            <a:r>
              <a:rPr lang="en-US" altLang="zh-CN" dirty="0"/>
              <a:t>one hot</a:t>
            </a:r>
            <a:r>
              <a:rPr lang="zh-CN" altLang="en-US" dirty="0"/>
              <a:t>）：将分类变量编码长度等于变量取值个数的向量，其中只有一个元素为</a:t>
            </a:r>
            <a:r>
              <a:rPr lang="en-US" altLang="zh-CN" dirty="0"/>
              <a:t>1</a:t>
            </a:r>
            <a:r>
              <a:rPr lang="zh-CN" altLang="en-US" dirty="0"/>
              <a:t>，其余为</a:t>
            </a:r>
            <a:r>
              <a:rPr lang="en-US" altLang="zh-CN" dirty="0"/>
              <a:t>0</a:t>
            </a:r>
            <a:r>
              <a:rPr lang="zh-CN" altLang="en-US" dirty="0"/>
              <a:t>。</a:t>
            </a:r>
            <a:endParaRPr lang="en-US" altLang="zh-CN" dirty="0"/>
          </a:p>
          <a:p>
            <a:pPr lvl="1">
              <a:lnSpc>
                <a:spcPct val="120000"/>
              </a:lnSpc>
              <a:spcAft>
                <a:spcPts val="1200"/>
              </a:spcAft>
            </a:pPr>
            <a:r>
              <a:rPr lang="en-US" altLang="zh-CN" sz="20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【</a:t>
            </a:r>
            <a:r>
              <a:rPr lang="zh-CN" altLang="en-US" sz="20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例</a:t>
            </a:r>
            <a:r>
              <a:rPr lang="en-US" altLang="zh-CN" sz="20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】one hot</a:t>
            </a:r>
            <a:r>
              <a:rPr lang="zh-CN" altLang="en-US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的词嵌入</a:t>
            </a:r>
            <a:endParaRPr lang="en-US" altLang="zh-CN" sz="2000" dirty="0">
              <a:latin typeface="Times New Roman" pitchFamily="18" charset="0"/>
              <a:ea typeface="华文细黑" pitchFamily="2" charset="-122"/>
              <a:cs typeface="Times New Roman" pitchFamily="18" charset="0"/>
            </a:endParaRPr>
          </a:p>
        </p:txBody>
      </p:sp>
      <p:pic>
        <p:nvPicPr>
          <p:cNvPr id="18" name="picture 158">
            <a:extLst>
              <a:ext uri="{FF2B5EF4-FFF2-40B4-BE49-F238E27FC236}">
                <a16:creationId xmlns:a16="http://schemas.microsoft.com/office/drawing/2014/main" id="{37CDC55D-93F5-4BE9-A2DF-162BA84696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27566" y="2895421"/>
            <a:ext cx="7197800" cy="3198668"/>
          </a:xfrm>
          <a:prstGeom prst="rect">
            <a:avLst/>
          </a:prstGeom>
        </p:spPr>
      </p:pic>
      <p:graphicFrame>
        <p:nvGraphicFramePr>
          <p:cNvPr id="19" name="table 168">
            <a:extLst>
              <a:ext uri="{FF2B5EF4-FFF2-40B4-BE49-F238E27FC236}">
                <a16:creationId xmlns:a16="http://schemas.microsoft.com/office/drawing/2014/main" id="{A6B32D49-D9CC-4ECB-94A7-7167466D49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5086227"/>
              </p:ext>
            </p:extLst>
          </p:nvPr>
        </p:nvGraphicFramePr>
        <p:xfrm>
          <a:off x="2747632" y="2859481"/>
          <a:ext cx="2199639" cy="475615"/>
        </p:xfrm>
        <a:graphic>
          <a:graphicData uri="http://schemas.openxmlformats.org/drawingml/2006/table">
            <a:tbl>
              <a:tblPr/>
              <a:tblGrid>
                <a:gridCol w="758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72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35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561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lang="en-US" altLang="en-US" sz="1000" dirty="0"/>
                    </a:p>
                  </a:txBody>
                  <a:tcPr marL="0" marR="0" marT="0" marB="0">
                    <a:lnL w="3175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lang="en-US" altLang="en-US" sz="1000" dirty="0"/>
                    </a:p>
                  </a:txBody>
                  <a:tcPr marL="0" marR="0" marT="0" marB="0">
                    <a:lnL w="3175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lang="en-US" altLang="en-US" sz="1000" dirty="0"/>
                    </a:p>
                  </a:txBody>
                  <a:tcPr marL="0" marR="0" marT="0" marB="0">
                    <a:lnL w="3175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0" name="textbox 170">
            <a:extLst>
              <a:ext uri="{FF2B5EF4-FFF2-40B4-BE49-F238E27FC236}">
                <a16:creationId xmlns:a16="http://schemas.microsoft.com/office/drawing/2014/main" id="{7B790B75-9717-461A-8C87-D0125C321FFF}"/>
              </a:ext>
            </a:extLst>
          </p:cNvPr>
          <p:cNvSpPr/>
          <p:nvPr/>
        </p:nvSpPr>
        <p:spPr>
          <a:xfrm>
            <a:off x="2314357" y="2581376"/>
            <a:ext cx="3322320" cy="318134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100" dirty="0"/>
          </a:p>
          <a:p>
            <a:pPr marL="12700" algn="l" rtl="0" eaLnBrk="0">
              <a:lnSpc>
                <a:spcPct val="80000"/>
              </a:lnSpc>
            </a:pPr>
            <a:r>
              <a:rPr sz="2000" kern="0" spc="-4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Rome</a:t>
            </a:r>
            <a:r>
              <a:rPr sz="2000" kern="0" spc="-17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000" kern="0" spc="-4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Paris</a:t>
            </a:r>
            <a:r>
              <a:rPr sz="2000" kern="0" spc="20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000" kern="0" spc="-4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</a:t>
            </a:r>
            <a:r>
              <a:rPr sz="2000" kern="0" spc="-5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taly</a:t>
            </a:r>
            <a:r>
              <a:rPr sz="2000" kern="0" spc="19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r>
              <a:rPr sz="2000" kern="0" spc="-5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France</a:t>
            </a:r>
            <a:endParaRPr lang="en-US" altLang="en-US" sz="2000" dirty="0"/>
          </a:p>
        </p:txBody>
      </p:sp>
      <p:sp>
        <p:nvSpPr>
          <p:cNvPr id="21" name="textbox 174">
            <a:extLst>
              <a:ext uri="{FF2B5EF4-FFF2-40B4-BE49-F238E27FC236}">
                <a16:creationId xmlns:a16="http://schemas.microsoft.com/office/drawing/2014/main" id="{509F9AB4-017D-4C0F-95C4-43070A390684}"/>
              </a:ext>
            </a:extLst>
          </p:cNvPr>
          <p:cNvSpPr/>
          <p:nvPr/>
        </p:nvSpPr>
        <p:spPr>
          <a:xfrm>
            <a:off x="4441371" y="6130029"/>
            <a:ext cx="1725295" cy="413384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100" dirty="0"/>
          </a:p>
          <a:p>
            <a:pPr marL="12700" algn="l" rtl="0" eaLnBrk="0">
              <a:lnSpc>
                <a:spcPts val="3050"/>
              </a:lnSpc>
            </a:pPr>
            <a:r>
              <a:rPr sz="2000" kern="0" spc="-6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k</a:t>
            </a:r>
            <a:r>
              <a:rPr sz="2000" kern="0" spc="1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000" kern="0" spc="-6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=</a:t>
            </a:r>
            <a:r>
              <a:rPr sz="2000" kern="0" spc="1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000" kern="0" spc="-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词典大小</a:t>
            </a:r>
            <a:endParaRPr lang="en-US" altLang="en-US" sz="2000" dirty="0"/>
          </a:p>
        </p:txBody>
      </p:sp>
      <p:sp>
        <p:nvSpPr>
          <p:cNvPr id="22" name="textbox 176">
            <a:extLst>
              <a:ext uri="{FF2B5EF4-FFF2-40B4-BE49-F238E27FC236}">
                <a16:creationId xmlns:a16="http://schemas.microsoft.com/office/drawing/2014/main" id="{57A93786-7FD7-42C6-ADC2-7B25044D9C62}"/>
              </a:ext>
            </a:extLst>
          </p:cNvPr>
          <p:cNvSpPr/>
          <p:nvPr/>
        </p:nvSpPr>
        <p:spPr>
          <a:xfrm>
            <a:off x="7538121" y="2580462"/>
            <a:ext cx="980439" cy="314959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5000"/>
              </a:lnSpc>
            </a:pPr>
            <a:endParaRPr lang="en-US" altLang="en-US" sz="100" dirty="0"/>
          </a:p>
          <a:p>
            <a:pPr algn="r" rtl="0" eaLnBrk="0">
              <a:lnSpc>
                <a:spcPct val="79000"/>
              </a:lnSpc>
            </a:pPr>
            <a:r>
              <a:rPr sz="2000" kern="0" spc="-8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W</a:t>
            </a:r>
            <a:r>
              <a:rPr sz="2000" kern="0" spc="-7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ord</a:t>
            </a:r>
            <a:r>
              <a:rPr sz="2000" kern="0" spc="19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k</a:t>
            </a:r>
            <a:endParaRPr lang="en-US" altLang="en-US" sz="2000" dirty="0"/>
          </a:p>
        </p:txBody>
      </p:sp>
      <p:pic>
        <p:nvPicPr>
          <p:cNvPr id="23" name="picture 178">
            <a:extLst>
              <a:ext uri="{FF2B5EF4-FFF2-40B4-BE49-F238E27FC236}">
                <a16:creationId xmlns:a16="http://schemas.microsoft.com/office/drawing/2014/main" id="{644CBD0E-4499-4E1C-A693-AED02504D3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2742394" y="3334626"/>
            <a:ext cx="2210192" cy="13654"/>
          </a:xfrm>
          <a:prstGeom prst="rect">
            <a:avLst/>
          </a:prstGeom>
        </p:spPr>
      </p:pic>
      <p:sp>
        <p:nvSpPr>
          <p:cNvPr id="24" name="textbox 180">
            <a:extLst>
              <a:ext uri="{FF2B5EF4-FFF2-40B4-BE49-F238E27FC236}">
                <a16:creationId xmlns:a16="http://schemas.microsoft.com/office/drawing/2014/main" id="{7E05BEF8-B607-4A15-80F7-C72195A6FD7B}"/>
              </a:ext>
            </a:extLst>
          </p:cNvPr>
          <p:cNvSpPr/>
          <p:nvPr/>
        </p:nvSpPr>
        <p:spPr>
          <a:xfrm>
            <a:off x="6285291" y="2792704"/>
            <a:ext cx="295275" cy="12827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100" dirty="0"/>
          </a:p>
          <a:p>
            <a:pPr algn="r" rtl="0" eaLnBrk="0">
              <a:lnSpc>
                <a:spcPts val="810"/>
              </a:lnSpc>
            </a:pPr>
            <a:r>
              <a:rPr sz="2300" kern="0" spc="-19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…</a:t>
            </a:r>
            <a:endParaRPr lang="en-US" altLang="en-US" sz="2300" dirty="0"/>
          </a:p>
        </p:txBody>
      </p:sp>
      <p:sp>
        <p:nvSpPr>
          <p:cNvPr id="25" name="path">
            <a:extLst>
              <a:ext uri="{FF2B5EF4-FFF2-40B4-BE49-F238E27FC236}">
                <a16:creationId xmlns:a16="http://schemas.microsoft.com/office/drawing/2014/main" id="{74E088DE-4309-41C6-9362-F61782A55F6E}"/>
              </a:ext>
            </a:extLst>
          </p:cNvPr>
          <p:cNvSpPr/>
          <p:nvPr/>
        </p:nvSpPr>
        <p:spPr>
          <a:xfrm>
            <a:off x="7830606" y="2882307"/>
            <a:ext cx="3175" cy="475674"/>
          </a:xfrm>
          <a:custGeom>
            <a:avLst/>
            <a:gdLst/>
            <a:ahLst/>
            <a:cxnLst/>
            <a:rect l="0" t="0" r="0" b="0"/>
            <a:pathLst>
              <a:path w="5" h="749">
                <a:moveTo>
                  <a:pt x="2" y="2"/>
                </a:moveTo>
                <a:lnTo>
                  <a:pt x="2" y="744"/>
                </a:lnTo>
                <a:lnTo>
                  <a:pt x="2" y="746"/>
                </a:lnTo>
              </a:path>
            </a:pathLst>
          </a:custGeom>
          <a:noFill/>
          <a:ln w="3175" cap="flat">
            <a:solidFill>
              <a:srgbClr val="5B9BD5">
                <a:alpha val="100000"/>
              </a:srgbClr>
            </a:solidFill>
            <a:prstDash val="solid"/>
            <a:miter lim="8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26" name="picture 184">
            <a:extLst>
              <a:ext uri="{FF2B5EF4-FFF2-40B4-BE49-F238E27FC236}">
                <a16:creationId xmlns:a16="http://schemas.microsoft.com/office/drawing/2014/main" id="{53F0975B-D85D-4D7F-A855-8C6B118737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7825366" y="3357452"/>
            <a:ext cx="13653" cy="13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335300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A71C9F-80AB-4B15-8830-66213D5E21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分类数据编码</a:t>
            </a:r>
            <a:r>
              <a:rPr lang="en-US" altLang="zh-CN" dirty="0"/>
              <a:t>-</a:t>
            </a:r>
            <a:r>
              <a:rPr lang="zh-CN" altLang="en-US" dirty="0"/>
              <a:t>小结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951642A-89F7-4646-99C8-E774B3AC52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84F5B-1672-4D3F-9FEC-5DF89A7B7912}" type="slidenum">
              <a:rPr lang="zh-CN" altLang="en-US" smtClean="0"/>
              <a:t>55</a:t>
            </a:fld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D7D5C59-909D-4A8B-A13A-D9DBD755B8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267" y="2365655"/>
            <a:ext cx="6899275" cy="426148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5D6B311E-0FC7-4352-A9AC-A7F855281A5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9462"/>
          <a:stretch>
            <a:fillRect/>
          </a:stretch>
        </p:blipFill>
        <p:spPr>
          <a:xfrm>
            <a:off x="1101272" y="1611910"/>
            <a:ext cx="7208520" cy="1499235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5D68FD9E-2B82-4714-B763-0CEF1626018B}"/>
              </a:ext>
            </a:extLst>
          </p:cNvPr>
          <p:cNvSpPr txBox="1"/>
          <p:nvPr/>
        </p:nvSpPr>
        <p:spPr>
          <a:xfrm>
            <a:off x="171449" y="855839"/>
            <a:ext cx="8138343" cy="1012399"/>
          </a:xfrm>
          <a:prstGeom prst="rect">
            <a:avLst/>
          </a:prstGeom>
        </p:spPr>
        <p:txBody>
          <a:bodyPr>
            <a:noAutofit/>
          </a:bodyPr>
          <a:lstStyle/>
          <a:p>
            <a:pPr indent="0" algn="just" defTabSz="26670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常见的</a:t>
            </a:r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分类数据编码方法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包括序数编码、独热编码、二进制编码等。</a:t>
            </a:r>
          </a:p>
          <a:p>
            <a:pPr indent="0" algn="just" defTabSz="26670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24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342900" indent="-342900" algn="just" defTabSz="26670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l"/>
            </a:pPr>
            <a:endParaRPr lang="zh-CN" altLang="en-US" sz="24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0080553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8E147F-E290-414B-B50E-868779343C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实践案例：线上零售交易数据预处理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57FF9C8-3D26-417E-B3EF-6CF2A7CB7F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84F5B-1672-4D3F-9FEC-5DF89A7B7912}" type="slidenum">
              <a:rPr lang="zh-CN" altLang="en-US" smtClean="0"/>
              <a:t>56</a:t>
            </a:fld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7EDF32B-04A9-41D2-83D7-C6C43B92F53F}"/>
              </a:ext>
            </a:extLst>
          </p:cNvPr>
          <p:cNvSpPr txBox="1"/>
          <p:nvPr/>
        </p:nvSpPr>
        <p:spPr>
          <a:xfrm>
            <a:off x="286703" y="956677"/>
            <a:ext cx="8366284" cy="912971"/>
          </a:xfrm>
          <a:prstGeom prst="rect">
            <a:avLst/>
          </a:prstGeom>
        </p:spPr>
        <p:txBody>
          <a:bodyPr>
            <a:noAutofit/>
          </a:bodyPr>
          <a:lstStyle/>
          <a:p>
            <a:pPr algn="just" defTabSz="200025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本节将对线上零售交易数据进行预处理，该数据集由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2021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12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1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日至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2023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12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9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日期间发生的英国注册非商店在线零售的所有交易订单组成（数据集来源：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https://www.kaggle.com/datasets/puneetbhaya/online-retail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），共包含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541909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个样本，部分数据样例见表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2-9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，具体字段包括发票编号、商品代码、商品描述、数量、发票日期、单价、客户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ID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、国家（交易发生的国家）。</a:t>
            </a: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3C2E1225-3339-4138-9DEB-F8226734D711}"/>
              </a:ext>
            </a:extLst>
          </p:cNvPr>
          <p:cNvGraphicFramePr/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210880585"/>
              </p:ext>
            </p:extLst>
          </p:nvPr>
        </p:nvGraphicFramePr>
        <p:xfrm>
          <a:off x="324803" y="2840245"/>
          <a:ext cx="8650129" cy="2377441"/>
        </p:xfrm>
        <a:graphic>
          <a:graphicData uri="http://schemas.openxmlformats.org/drawingml/2006/table">
            <a:tbl>
              <a:tblPr/>
              <a:tblGrid>
                <a:gridCol w="9186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34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13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19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443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2531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8816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7680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45745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发票编号</a:t>
                      </a:r>
                    </a:p>
                  </a:txBody>
                  <a:tcPr marL="51435" marR="51435" marT="0" marB="0" anchor="ctr">
                    <a:lnL>
                      <a:noFill/>
                    </a:lnL>
                    <a:lnR>
                      <a:noFill/>
                    </a:lnR>
                    <a:lnT w="190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商品代码</a:t>
                      </a:r>
                    </a:p>
                  </a:txBody>
                  <a:tcPr marL="51435" marR="51435" marT="0" marB="0" anchor="ctr">
                    <a:lnL>
                      <a:noFill/>
                    </a:lnL>
                    <a:lnR>
                      <a:noFill/>
                    </a:lnR>
                    <a:lnT w="190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商品描述</a:t>
                      </a:r>
                    </a:p>
                  </a:txBody>
                  <a:tcPr marL="51435" marR="51435" marT="0" marB="0" anchor="ctr">
                    <a:lnL>
                      <a:noFill/>
                    </a:lnL>
                    <a:lnR>
                      <a:noFill/>
                    </a:lnR>
                    <a:lnT w="190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数量</a:t>
                      </a:r>
                    </a:p>
                  </a:txBody>
                  <a:tcPr marL="51435" marR="51435" marT="0" marB="0" anchor="ctr">
                    <a:lnL>
                      <a:noFill/>
                    </a:lnL>
                    <a:lnR>
                      <a:noFill/>
                    </a:lnR>
                    <a:lnT w="190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发票日期</a:t>
                      </a:r>
                    </a:p>
                  </a:txBody>
                  <a:tcPr marL="51435" marR="51435" marT="0" marB="0" anchor="ctr">
                    <a:lnL>
                      <a:noFill/>
                    </a:lnL>
                    <a:lnR>
                      <a:noFill/>
                    </a:lnR>
                    <a:lnT w="190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单价</a:t>
                      </a:r>
                    </a:p>
                  </a:txBody>
                  <a:tcPr marL="51435" marR="51435" marT="0" marB="0" anchor="ctr">
                    <a:lnL>
                      <a:noFill/>
                    </a:lnL>
                    <a:lnR>
                      <a:noFill/>
                    </a:lnR>
                    <a:lnT w="190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客户</a:t>
                      </a:r>
                      <a:r>
                        <a:rPr lang="en-US" altLang="zh-CN" sz="1100" b="1">
                          <a:solidFill>
                            <a:srgbClr val="000000"/>
                          </a:solidFill>
                          <a:latin typeface="Times New Roman" panose="02020603050405020304"/>
                          <a:ea typeface="等线" panose="02010600030101010101" charset="-122"/>
                        </a:rPr>
                        <a:t>ID</a:t>
                      </a:r>
                    </a:p>
                  </a:txBody>
                  <a:tcPr marL="51435" marR="51435" marT="0" marB="0" anchor="ctr">
                    <a:lnL>
                      <a:noFill/>
                    </a:lnL>
                    <a:lnR>
                      <a:noFill/>
                    </a:lnR>
                    <a:lnT w="190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国家</a:t>
                      </a:r>
                    </a:p>
                  </a:txBody>
                  <a:tcPr marL="51435" marR="51435" marT="0" marB="0" anchor="ctr">
                    <a:lnL>
                      <a:noFill/>
                    </a:lnL>
                    <a:lnR>
                      <a:noFill/>
                    </a:lnR>
                    <a:lnT w="190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3863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solidFill>
                            <a:srgbClr val="000000"/>
                          </a:solidFill>
                          <a:latin typeface="Times New Roman" panose="02020603050405020304"/>
                          <a:ea typeface="等线" panose="02010600030101010101" charset="-122"/>
                        </a:rPr>
                        <a:t>536365</a:t>
                      </a:r>
                    </a:p>
                  </a:txBody>
                  <a:tcPr marL="51435" marR="51435" marT="0" marB="0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solidFill>
                            <a:srgbClr val="000000"/>
                          </a:solidFill>
                          <a:latin typeface="Times New Roman" panose="02020603050405020304"/>
                          <a:ea typeface="等线" panose="02010600030101010101" charset="-122"/>
                        </a:rPr>
                        <a:t>85123A</a:t>
                      </a:r>
                    </a:p>
                  </a:txBody>
                  <a:tcPr marL="51435" marR="51435" marT="0" marB="0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solidFill>
                            <a:srgbClr val="000000"/>
                          </a:solidFill>
                          <a:latin typeface="Times New Roman" panose="02020603050405020304"/>
                          <a:ea typeface="等线" panose="02010600030101010101" charset="-122"/>
                        </a:rPr>
                        <a:t>WHITE HANGING HEART T-LIGHT HOLDER</a:t>
                      </a:r>
                    </a:p>
                  </a:txBody>
                  <a:tcPr marL="51435" marR="51435" marT="0" marB="0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solidFill>
                            <a:srgbClr val="000000"/>
                          </a:solidFill>
                          <a:latin typeface="Times New Roman" panose="02020603050405020304"/>
                          <a:ea typeface="等线" panose="02010600030101010101" charset="-122"/>
                        </a:rPr>
                        <a:t>6</a:t>
                      </a:r>
                    </a:p>
                  </a:txBody>
                  <a:tcPr marL="51435" marR="51435" marT="0" marB="0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solidFill>
                            <a:srgbClr val="000000"/>
                          </a:solidFill>
                          <a:latin typeface="Times New Roman" panose="02020603050405020304"/>
                          <a:ea typeface="等线" panose="02010600030101010101" charset="-122"/>
                        </a:rPr>
                        <a:t>01-12-2021 08:26</a:t>
                      </a:r>
                    </a:p>
                  </a:txBody>
                  <a:tcPr marL="51435" marR="51435" marT="0" marB="0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solidFill>
                            <a:srgbClr val="000000"/>
                          </a:solidFill>
                          <a:latin typeface="Times New Roman" panose="02020603050405020304"/>
                          <a:ea typeface="等线" panose="02010600030101010101" charset="-122"/>
                        </a:rPr>
                        <a:t>2.55</a:t>
                      </a:r>
                    </a:p>
                  </a:txBody>
                  <a:tcPr marL="51435" marR="51435" marT="0" marB="0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solidFill>
                            <a:srgbClr val="000000"/>
                          </a:solidFill>
                          <a:latin typeface="Times New Roman" panose="02020603050405020304"/>
                          <a:ea typeface="等线" panose="02010600030101010101" charset="-122"/>
                        </a:rPr>
                        <a:t>17850</a:t>
                      </a:r>
                    </a:p>
                  </a:txBody>
                  <a:tcPr marL="51435" marR="51435" marT="0" marB="0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solidFill>
                            <a:srgbClr val="000000"/>
                          </a:solidFill>
                          <a:latin typeface="Times New Roman" panose="02020603050405020304"/>
                          <a:ea typeface="等线" panose="02010600030101010101" charset="-122"/>
                        </a:rPr>
                        <a:t>United Kingdom</a:t>
                      </a:r>
                    </a:p>
                  </a:txBody>
                  <a:tcPr marL="51435" marR="51435" marT="0" marB="0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2893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solidFill>
                            <a:srgbClr val="000000"/>
                          </a:solidFill>
                          <a:latin typeface="Times New Roman" panose="02020603050405020304"/>
                          <a:ea typeface="等线" panose="02010600030101010101" charset="-122"/>
                        </a:rPr>
                        <a:t>536365</a:t>
                      </a:r>
                    </a:p>
                  </a:txBody>
                  <a:tcPr marL="51435" marR="5143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solidFill>
                            <a:srgbClr val="000000"/>
                          </a:solidFill>
                          <a:latin typeface="Times New Roman" panose="02020603050405020304"/>
                          <a:ea typeface="等线" panose="02010600030101010101" charset="-122"/>
                        </a:rPr>
                        <a:t>71053</a:t>
                      </a:r>
                    </a:p>
                  </a:txBody>
                  <a:tcPr marL="51435" marR="5143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solidFill>
                            <a:srgbClr val="000000"/>
                          </a:solidFill>
                          <a:latin typeface="Times New Roman" panose="02020603050405020304"/>
                          <a:ea typeface="等线" panose="02010600030101010101" charset="-122"/>
                        </a:rPr>
                        <a:t>WHITE METAL LANTERN</a:t>
                      </a:r>
                    </a:p>
                  </a:txBody>
                  <a:tcPr marL="51435" marR="5143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solidFill>
                            <a:srgbClr val="000000"/>
                          </a:solidFill>
                          <a:latin typeface="Times New Roman" panose="02020603050405020304"/>
                          <a:ea typeface="等线" panose="02010600030101010101" charset="-122"/>
                        </a:rPr>
                        <a:t>6</a:t>
                      </a:r>
                    </a:p>
                  </a:txBody>
                  <a:tcPr marL="51435" marR="5143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solidFill>
                            <a:srgbClr val="000000"/>
                          </a:solidFill>
                          <a:latin typeface="Times New Roman" panose="02020603050405020304"/>
                          <a:ea typeface="等线" panose="02010600030101010101" charset="-122"/>
                        </a:rPr>
                        <a:t>01-12-2021 08:26</a:t>
                      </a:r>
                    </a:p>
                  </a:txBody>
                  <a:tcPr marL="51435" marR="5143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solidFill>
                            <a:srgbClr val="000000"/>
                          </a:solidFill>
                          <a:latin typeface="Times New Roman" panose="02020603050405020304"/>
                          <a:ea typeface="等线" panose="02010600030101010101" charset="-122"/>
                        </a:rPr>
                        <a:t>3.39</a:t>
                      </a:r>
                    </a:p>
                  </a:txBody>
                  <a:tcPr marL="51435" marR="5143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solidFill>
                            <a:srgbClr val="000000"/>
                          </a:solidFill>
                          <a:latin typeface="Times New Roman" panose="02020603050405020304"/>
                          <a:ea typeface="等线" panose="02010600030101010101" charset="-122"/>
                        </a:rPr>
                        <a:t>17850</a:t>
                      </a:r>
                    </a:p>
                  </a:txBody>
                  <a:tcPr marL="51435" marR="5143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solidFill>
                            <a:srgbClr val="000000"/>
                          </a:solidFill>
                          <a:latin typeface="Times New Roman" panose="02020603050405020304"/>
                          <a:ea typeface="等线" panose="02010600030101010101" charset="-122"/>
                        </a:rPr>
                        <a:t>United Kingdom</a:t>
                      </a:r>
                    </a:p>
                  </a:txBody>
                  <a:tcPr marL="51435" marR="5143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291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solidFill>
                            <a:srgbClr val="000000"/>
                          </a:solidFill>
                          <a:latin typeface="Times New Roman" panose="02020603050405020304"/>
                          <a:ea typeface="等线" panose="02010600030101010101" charset="-122"/>
                        </a:rPr>
                        <a:t>536365</a:t>
                      </a:r>
                    </a:p>
                  </a:txBody>
                  <a:tcPr marL="51435" marR="5143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solidFill>
                            <a:srgbClr val="000000"/>
                          </a:solidFill>
                          <a:latin typeface="Times New Roman" panose="02020603050405020304"/>
                          <a:ea typeface="等线" panose="02010600030101010101" charset="-122"/>
                        </a:rPr>
                        <a:t>84406B</a:t>
                      </a:r>
                    </a:p>
                  </a:txBody>
                  <a:tcPr marL="51435" marR="5143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solidFill>
                            <a:srgbClr val="000000"/>
                          </a:solidFill>
                          <a:latin typeface="Times New Roman" panose="02020603050405020304"/>
                          <a:ea typeface="等线" panose="02010600030101010101" charset="-122"/>
                        </a:rPr>
                        <a:t>CREAM CUPID HEARTS COAT HANGER</a:t>
                      </a:r>
                    </a:p>
                  </a:txBody>
                  <a:tcPr marL="51435" marR="5143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solidFill>
                            <a:srgbClr val="000000"/>
                          </a:solidFill>
                          <a:latin typeface="Times New Roman" panose="02020603050405020304"/>
                          <a:ea typeface="等线" panose="02010600030101010101" charset="-122"/>
                        </a:rPr>
                        <a:t>8</a:t>
                      </a:r>
                    </a:p>
                  </a:txBody>
                  <a:tcPr marL="51435" marR="5143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solidFill>
                            <a:srgbClr val="000000"/>
                          </a:solidFill>
                          <a:latin typeface="Times New Roman" panose="02020603050405020304"/>
                          <a:ea typeface="等线" panose="02010600030101010101" charset="-122"/>
                        </a:rPr>
                        <a:t>01-12-2021 08:26</a:t>
                      </a:r>
                    </a:p>
                  </a:txBody>
                  <a:tcPr marL="51435" marR="5143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solidFill>
                            <a:srgbClr val="000000"/>
                          </a:solidFill>
                          <a:latin typeface="Times New Roman" panose="02020603050405020304"/>
                          <a:ea typeface="等线" panose="02010600030101010101" charset="-122"/>
                        </a:rPr>
                        <a:t>2.75</a:t>
                      </a:r>
                    </a:p>
                  </a:txBody>
                  <a:tcPr marL="51435" marR="5143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solidFill>
                            <a:srgbClr val="000000"/>
                          </a:solidFill>
                          <a:latin typeface="Times New Roman" panose="02020603050405020304"/>
                          <a:ea typeface="等线" panose="02010600030101010101" charset="-122"/>
                        </a:rPr>
                        <a:t>17850</a:t>
                      </a:r>
                    </a:p>
                  </a:txBody>
                  <a:tcPr marL="51435" marR="5143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solidFill>
                            <a:srgbClr val="000000"/>
                          </a:solidFill>
                          <a:latin typeface="Times New Roman" panose="02020603050405020304"/>
                          <a:ea typeface="等线" panose="02010600030101010101" charset="-122"/>
                        </a:rPr>
                        <a:t>United Kingdom</a:t>
                      </a:r>
                    </a:p>
                  </a:txBody>
                  <a:tcPr marL="51435" marR="5143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solidFill>
                            <a:srgbClr val="000000"/>
                          </a:solidFill>
                          <a:latin typeface="Times New Roman" panose="02020603050405020304"/>
                          <a:ea typeface="等线" panose="02010600030101010101" charset="-122"/>
                        </a:rPr>
                        <a:t>…</a:t>
                      </a:r>
                    </a:p>
                  </a:txBody>
                  <a:tcPr marL="51435" marR="5143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solidFill>
                            <a:srgbClr val="000000"/>
                          </a:solidFill>
                          <a:latin typeface="Times New Roman" panose="02020603050405020304"/>
                          <a:ea typeface="等线" panose="02010600030101010101" charset="-122"/>
                        </a:rPr>
                        <a:t>…</a:t>
                      </a:r>
                    </a:p>
                  </a:txBody>
                  <a:tcPr marL="51435" marR="51435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solidFill>
                            <a:srgbClr val="000000"/>
                          </a:solidFill>
                          <a:latin typeface="Times New Roman" panose="02020603050405020304"/>
                          <a:ea typeface="等线" panose="02010600030101010101" charset="-122"/>
                        </a:rPr>
                        <a:t>…</a:t>
                      </a:r>
                    </a:p>
                  </a:txBody>
                  <a:tcPr marL="51435" marR="51435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solidFill>
                            <a:srgbClr val="000000"/>
                          </a:solidFill>
                          <a:latin typeface="Times New Roman" panose="02020603050405020304"/>
                          <a:ea typeface="等线" panose="02010600030101010101" charset="-122"/>
                        </a:rPr>
                        <a:t>…</a:t>
                      </a:r>
                    </a:p>
                  </a:txBody>
                  <a:tcPr marL="51435" marR="51435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solidFill>
                            <a:srgbClr val="000000"/>
                          </a:solidFill>
                          <a:latin typeface="Times New Roman" panose="02020603050405020304"/>
                          <a:ea typeface="等线" panose="02010600030101010101" charset="-122"/>
                        </a:rPr>
                        <a:t>…</a:t>
                      </a:r>
                    </a:p>
                  </a:txBody>
                  <a:tcPr marL="51435" marR="51435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solidFill>
                            <a:srgbClr val="000000"/>
                          </a:solidFill>
                          <a:latin typeface="Times New Roman" panose="02020603050405020304"/>
                          <a:ea typeface="等线" panose="02010600030101010101" charset="-122"/>
                        </a:rPr>
                        <a:t>…</a:t>
                      </a:r>
                    </a:p>
                  </a:txBody>
                  <a:tcPr marL="51435" marR="51435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solidFill>
                            <a:srgbClr val="000000"/>
                          </a:solidFill>
                          <a:latin typeface="Times New Roman" panose="02020603050405020304"/>
                          <a:ea typeface="等线" panose="02010600030101010101" charset="-122"/>
                        </a:rPr>
                        <a:t>…</a:t>
                      </a:r>
                    </a:p>
                  </a:txBody>
                  <a:tcPr marL="51435" marR="51435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solidFill>
                            <a:srgbClr val="000000"/>
                          </a:solidFill>
                          <a:latin typeface="Times New Roman" panose="02020603050405020304"/>
                          <a:ea typeface="等线" panose="02010600030101010101" charset="-122"/>
                        </a:rPr>
                        <a:t>…</a:t>
                      </a:r>
                    </a:p>
                  </a:txBody>
                  <a:tcPr marL="51435" marR="51435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3386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solidFill>
                            <a:srgbClr val="000000"/>
                          </a:solidFill>
                          <a:latin typeface="Times New Roman" panose="02020603050405020304"/>
                          <a:ea typeface="等线" panose="02010600030101010101" charset="-122"/>
                        </a:rPr>
                        <a:t>581587</a:t>
                      </a:r>
                    </a:p>
                  </a:txBody>
                  <a:tcPr marL="51435" marR="5143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solidFill>
                            <a:srgbClr val="000000"/>
                          </a:solidFill>
                          <a:latin typeface="Times New Roman" panose="02020603050405020304"/>
                          <a:ea typeface="等线" panose="02010600030101010101" charset="-122"/>
                        </a:rPr>
                        <a:t>23255</a:t>
                      </a:r>
                    </a:p>
                  </a:txBody>
                  <a:tcPr marL="51435" marR="5143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solidFill>
                            <a:srgbClr val="000000"/>
                          </a:solidFill>
                          <a:latin typeface="Times New Roman" panose="02020603050405020304"/>
                          <a:ea typeface="等线" panose="02010600030101010101" charset="-122"/>
                        </a:rPr>
                        <a:t>CHILDRENS CUTLERY CIRCUS PARADE</a:t>
                      </a:r>
                    </a:p>
                  </a:txBody>
                  <a:tcPr marL="51435" marR="5143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solidFill>
                            <a:srgbClr val="000000"/>
                          </a:solidFill>
                          <a:latin typeface="Times New Roman" panose="02020603050405020304"/>
                          <a:ea typeface="等线" panose="02010600030101010101" charset="-122"/>
                        </a:rPr>
                        <a:t>4</a:t>
                      </a:r>
                    </a:p>
                  </a:txBody>
                  <a:tcPr marL="51435" marR="5143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solidFill>
                            <a:srgbClr val="000000"/>
                          </a:solidFill>
                          <a:latin typeface="Times New Roman" panose="02020603050405020304"/>
                          <a:ea typeface="等线" panose="02010600030101010101" charset="-122"/>
                        </a:rPr>
                        <a:t>09-12-2023 12:50</a:t>
                      </a:r>
                    </a:p>
                  </a:txBody>
                  <a:tcPr marL="51435" marR="5143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solidFill>
                            <a:srgbClr val="000000"/>
                          </a:solidFill>
                          <a:latin typeface="Times New Roman" panose="02020603050405020304"/>
                          <a:ea typeface="等线" panose="02010600030101010101" charset="-122"/>
                        </a:rPr>
                        <a:t>4.15</a:t>
                      </a:r>
                    </a:p>
                  </a:txBody>
                  <a:tcPr marL="51435" marR="5143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solidFill>
                            <a:srgbClr val="000000"/>
                          </a:solidFill>
                          <a:latin typeface="Times New Roman" panose="02020603050405020304"/>
                          <a:ea typeface="等线" panose="02010600030101010101" charset="-122"/>
                        </a:rPr>
                        <a:t>12680</a:t>
                      </a:r>
                    </a:p>
                  </a:txBody>
                  <a:tcPr marL="51435" marR="5143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solidFill>
                            <a:srgbClr val="000000"/>
                          </a:solidFill>
                          <a:latin typeface="Times New Roman" panose="02020603050405020304"/>
                          <a:ea typeface="等线" panose="02010600030101010101" charset="-122"/>
                        </a:rPr>
                        <a:t>France</a:t>
                      </a:r>
                    </a:p>
                  </a:txBody>
                  <a:tcPr marL="51435" marR="5143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8619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solidFill>
                            <a:srgbClr val="000000"/>
                          </a:solidFill>
                          <a:latin typeface="Times New Roman" panose="02020603050405020304"/>
                          <a:ea typeface="等线" panose="02010600030101010101" charset="-122"/>
                        </a:rPr>
                        <a:t>581587</a:t>
                      </a:r>
                    </a:p>
                  </a:txBody>
                  <a:tcPr marL="51435" marR="5143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solidFill>
                            <a:srgbClr val="000000"/>
                          </a:solidFill>
                          <a:latin typeface="Times New Roman" panose="02020603050405020304"/>
                          <a:ea typeface="等线" panose="02010600030101010101" charset="-122"/>
                        </a:rPr>
                        <a:t>22138</a:t>
                      </a:r>
                    </a:p>
                  </a:txBody>
                  <a:tcPr marL="51435" marR="5143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solidFill>
                            <a:srgbClr val="000000"/>
                          </a:solidFill>
                          <a:latin typeface="Times New Roman" panose="02020603050405020304"/>
                          <a:ea typeface="等线" panose="02010600030101010101" charset="-122"/>
                        </a:rPr>
                        <a:t>BAKING SET 9 PIECE RETROSPOT</a:t>
                      </a:r>
                    </a:p>
                  </a:txBody>
                  <a:tcPr marL="51435" marR="5143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solidFill>
                            <a:srgbClr val="000000"/>
                          </a:solidFill>
                          <a:latin typeface="Times New Roman" panose="02020603050405020304"/>
                          <a:ea typeface="等线" panose="02010600030101010101" charset="-122"/>
                        </a:rPr>
                        <a:t>3</a:t>
                      </a:r>
                    </a:p>
                  </a:txBody>
                  <a:tcPr marL="51435" marR="5143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solidFill>
                            <a:srgbClr val="000000"/>
                          </a:solidFill>
                          <a:latin typeface="Times New Roman" panose="02020603050405020304"/>
                          <a:ea typeface="等线" panose="02010600030101010101" charset="-122"/>
                        </a:rPr>
                        <a:t>09-12-2023 12:50</a:t>
                      </a:r>
                    </a:p>
                  </a:txBody>
                  <a:tcPr marL="51435" marR="5143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solidFill>
                            <a:srgbClr val="000000"/>
                          </a:solidFill>
                          <a:latin typeface="Times New Roman" panose="02020603050405020304"/>
                          <a:ea typeface="等线" panose="02010600030101010101" charset="-122"/>
                        </a:rPr>
                        <a:t>4.95</a:t>
                      </a:r>
                    </a:p>
                  </a:txBody>
                  <a:tcPr marL="51435" marR="5143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solidFill>
                            <a:srgbClr val="000000"/>
                          </a:solidFill>
                          <a:latin typeface="Times New Roman" panose="02020603050405020304"/>
                          <a:ea typeface="等线" panose="02010600030101010101" charset="-122"/>
                        </a:rPr>
                        <a:t>12680</a:t>
                      </a:r>
                    </a:p>
                  </a:txBody>
                  <a:tcPr marL="51435" marR="5143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solidFill>
                            <a:srgbClr val="000000"/>
                          </a:solidFill>
                          <a:latin typeface="Times New Roman" panose="02020603050405020304"/>
                          <a:ea typeface="等线" panose="02010600030101010101" charset="-122"/>
                        </a:rPr>
                        <a:t>France</a:t>
                      </a:r>
                    </a:p>
                  </a:txBody>
                  <a:tcPr marL="51435" marR="5143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5804203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7AE504B-8830-43FB-8127-41864BA640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实践案例：线上零售交易数据预处理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65E69BB-96C4-4C31-A841-8F88E6C205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84F5B-1672-4D3F-9FEC-5DF89A7B7912}" type="slidenum">
              <a:rPr lang="zh-CN" altLang="en-US" smtClean="0"/>
              <a:t>57</a:t>
            </a:fld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1506F42-FBAD-4A67-833B-CE9DA189CE43}"/>
              </a:ext>
            </a:extLst>
          </p:cNvPr>
          <p:cNvSpPr txBox="1"/>
          <p:nvPr/>
        </p:nvSpPr>
        <p:spPr>
          <a:xfrm>
            <a:off x="329089" y="1675924"/>
            <a:ext cx="8276273" cy="912971"/>
          </a:xfrm>
          <a:prstGeom prst="rect">
            <a:avLst/>
          </a:prstGeom>
        </p:spPr>
        <p:txBody>
          <a:bodyPr>
            <a:noAutofit/>
          </a:bodyPr>
          <a:lstStyle/>
          <a:p>
            <a:pPr marL="257175" indent="-257175" algn="just" defTabSz="200025">
              <a:lnSpc>
                <a:spcPct val="135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数据预处理。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isnull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函数查看各字段数据缺失的情况。结果显示，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商品描述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客户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ID”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分别存在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1454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135080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条数据缺失，由于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商品描述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字段的缺失值较少，占比约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0.27%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，可予以删除处理。</a:t>
            </a:r>
          </a:p>
          <a:p>
            <a:pPr marL="257175" indent="-257175" algn="just" defTabSz="200025">
              <a:lnSpc>
                <a:spcPct val="135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57175" indent="-257175" algn="just" defTabSz="200025">
              <a:lnSpc>
                <a:spcPct val="135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57175" indent="-257175" algn="just" defTabSz="200025">
              <a:lnSpc>
                <a:spcPct val="135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0F7545F8-468A-46C1-9BED-70BCCE7951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691" y="3035142"/>
            <a:ext cx="7799546" cy="1588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68384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17F63E-D4E4-47E6-8965-AE84A0CA8E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实践案例：线上零售交易数据预处理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7B4A410-EFA1-4A64-95AD-F22153D20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84F5B-1672-4D3F-9FEC-5DF89A7B7912}" type="slidenum">
              <a:rPr lang="zh-CN" altLang="en-US" smtClean="0"/>
              <a:t>58</a:t>
            </a:fld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1B04AB5-C152-4B7B-8CED-A79BE3133B32}"/>
              </a:ext>
            </a:extLst>
          </p:cNvPr>
          <p:cNvSpPr txBox="1"/>
          <p:nvPr/>
        </p:nvSpPr>
        <p:spPr>
          <a:xfrm>
            <a:off x="433863" y="1189266"/>
            <a:ext cx="8276273" cy="912971"/>
          </a:xfrm>
          <a:prstGeom prst="rect">
            <a:avLst/>
          </a:prstGeom>
        </p:spPr>
        <p:txBody>
          <a:bodyPr>
            <a:noAutofit/>
          </a:bodyPr>
          <a:lstStyle/>
          <a:p>
            <a:pPr marL="257175" indent="-257175" algn="just" defTabSz="200025">
              <a:lnSpc>
                <a:spcPct val="135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查看数据分布情况。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通过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describe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函数查看数值型数据的分布情况。从输出结果中可以观察到，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数量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单价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字段的最小值存在负数的情况，这显然有悖于事实，因此需要筛选出数量大于等于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，单价大于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的数据进行后续分析。</a:t>
            </a:r>
          </a:p>
          <a:p>
            <a:pPr marL="257175" indent="-257175" algn="just" defTabSz="200025">
              <a:lnSpc>
                <a:spcPct val="135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57175" indent="-257175" algn="just" defTabSz="200025">
              <a:lnSpc>
                <a:spcPct val="135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57175" indent="-257175" algn="just" defTabSz="200025">
              <a:lnSpc>
                <a:spcPct val="135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57175" indent="-257175" algn="just" defTabSz="200025">
              <a:lnSpc>
                <a:spcPct val="135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F302CF85-486F-476E-9887-D93E1B6AAB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189" y="2394178"/>
            <a:ext cx="7071836" cy="21336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557AD91E-70A9-46BA-9A6E-7CC3E2F588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189" y="2690881"/>
            <a:ext cx="5951696" cy="2689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44217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4B1ED3A-D4EB-4D79-98B9-BA366DB41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实践案例：线上零售交易数据预处理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3052F3D-BFF2-4028-A64B-8DF41680DB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84F5B-1672-4D3F-9FEC-5DF89A7B7912}" type="slidenum">
              <a:rPr lang="zh-CN" altLang="en-US" smtClean="0"/>
              <a:t>59</a:t>
            </a:fld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AEEDE11-E7FA-4235-A82B-FDFD7D81D58F}"/>
              </a:ext>
            </a:extLst>
          </p:cNvPr>
          <p:cNvSpPr txBox="1"/>
          <p:nvPr/>
        </p:nvSpPr>
        <p:spPr>
          <a:xfrm>
            <a:off x="433863" y="905613"/>
            <a:ext cx="8276273" cy="757238"/>
          </a:xfrm>
          <a:prstGeom prst="rect">
            <a:avLst/>
          </a:prstGeom>
        </p:spPr>
        <p:txBody>
          <a:bodyPr>
            <a:noAutofit/>
          </a:bodyPr>
          <a:lstStyle/>
          <a:p>
            <a:pPr algn="just" defTabSz="200025">
              <a:lnSpc>
                <a:spcPct val="135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57175" indent="-257175" algn="just" defTabSz="200025">
              <a:lnSpc>
                <a:spcPct val="135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索引过滤。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data_processed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函数对数量大于等于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，单价大于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的数据进行索引和筛选。使用方法如下：</a:t>
            </a:r>
            <a:endParaRPr lang="zh-CN" altLang="en-US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57175" indent="-257175" algn="just" defTabSz="200025">
              <a:lnSpc>
                <a:spcPct val="135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D648D040-2FF2-475B-9B65-7D9A8DCE4E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326" y="2181010"/>
            <a:ext cx="7114699" cy="625793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44D8C206-3419-4016-9CAA-40890F04EE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431" y="2981586"/>
            <a:ext cx="6312694" cy="2292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182751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67C865-521C-4AC3-896E-BE9E976FE3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实践案例：线上零售交易数据预处理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B9C652B-1F8F-4B29-AFAA-D63C63A93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84F5B-1672-4D3F-9FEC-5DF89A7B7912}" type="slidenum">
              <a:rPr lang="zh-CN" altLang="en-US" smtClean="0"/>
              <a:t>60</a:t>
            </a:fld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522114C-F935-482B-B83E-FF9948AA1DB2}"/>
              </a:ext>
            </a:extLst>
          </p:cNvPr>
          <p:cNvSpPr txBox="1"/>
          <p:nvPr/>
        </p:nvSpPr>
        <p:spPr>
          <a:xfrm>
            <a:off x="235598" y="1065444"/>
            <a:ext cx="8276273" cy="912971"/>
          </a:xfrm>
          <a:prstGeom prst="rect">
            <a:avLst/>
          </a:prstGeom>
        </p:spPr>
        <p:txBody>
          <a:bodyPr>
            <a:noAutofit/>
          </a:bodyPr>
          <a:lstStyle/>
          <a:p>
            <a:pPr marL="257175" indent="-257175" algn="just" defTabSz="200025">
              <a:lnSpc>
                <a:spcPct val="135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分层抽样。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客户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ID”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缺失数据较多，不宜直接删除，可根据后续的具体挖掘任务进行合适的处理。为了节省模型训练时间，可对数据进行分层抽样，根据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国家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字段从全部数据中抽取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10000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条数据。在这个过程中，每个国家的数据按比例被抽取，以确保抽样后的样本仍能保持总体数据集中不同国家的分布特征。本例中使用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sklearn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库中的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StratifiedShuffleSplit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类，定义一个分层抽样函数。</a:t>
            </a:r>
          </a:p>
          <a:p>
            <a:pPr marL="257175" indent="-257175" algn="just" defTabSz="200025">
              <a:lnSpc>
                <a:spcPct val="135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57175" indent="-257175" algn="just" defTabSz="200025">
              <a:lnSpc>
                <a:spcPct val="135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D370EC2B-F2FA-4722-994A-E9B2710AF8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6207" y="3149038"/>
            <a:ext cx="6555581" cy="2093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030475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147109E-00A8-4689-AF36-62CA28DA31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实践案例：线上零售交易数据预处理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DCCA89B-90C6-4D48-BE3A-E9BE5513AF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84F5B-1672-4D3F-9FEC-5DF89A7B7912}" type="slidenum">
              <a:rPr lang="zh-CN" altLang="en-US" smtClean="0"/>
              <a:t>61</a:t>
            </a:fld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2E4D249-FAF4-431E-8460-0C2B7124FA55}"/>
              </a:ext>
            </a:extLst>
          </p:cNvPr>
          <p:cNvSpPr txBox="1"/>
          <p:nvPr/>
        </p:nvSpPr>
        <p:spPr>
          <a:xfrm>
            <a:off x="226642" y="822120"/>
            <a:ext cx="8510588" cy="757238"/>
          </a:xfrm>
          <a:prstGeom prst="rect">
            <a:avLst/>
          </a:prstGeom>
        </p:spPr>
        <p:txBody>
          <a:bodyPr>
            <a:noAutofit/>
          </a:bodyPr>
          <a:lstStyle/>
          <a:p>
            <a:pPr algn="just" defTabSz="200025">
              <a:lnSpc>
                <a:spcPct val="135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57175" indent="-257175" algn="just" defTabSz="200025">
              <a:lnSpc>
                <a:spcPct val="135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连续数据离散化。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国家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字段是离散型数据，使用哑编码的方式将其转换为数值特征。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pandas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库中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get_dummies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()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方法可直接对离散特征进行哑编码处理。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61EF071A-7362-4B5F-932C-3AB39A26B2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210" y="2107996"/>
            <a:ext cx="7970044" cy="47053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F13FD191-F5E7-486D-986C-3CB684CB6C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211" y="2714738"/>
            <a:ext cx="5465921" cy="2893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297426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>
            <a:extLst>
              <a:ext uri="{FF2B5EF4-FFF2-40B4-BE49-F238E27FC236}">
                <a16:creationId xmlns:a16="http://schemas.microsoft.com/office/drawing/2014/main" id="{EA35C535-0254-4C0D-814D-19B8A81C61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2389134"/>
            <a:ext cx="7772400" cy="2079732"/>
          </a:xfrm>
        </p:spPr>
        <p:txBody>
          <a:bodyPr>
            <a:normAutofit fontScale="90000"/>
          </a:bodyPr>
          <a:lstStyle/>
          <a:p>
            <a:r>
              <a:rPr lang="en-US" altLang="zh-CN" b="1" dirty="0"/>
              <a:t>Q/A</a:t>
            </a:r>
            <a:br>
              <a:rPr lang="en-US" altLang="zh-CN" b="1" dirty="0"/>
            </a:br>
            <a:br>
              <a:rPr lang="en-US" altLang="zh-CN" b="1" dirty="0"/>
            </a:br>
            <a:r>
              <a:rPr lang="en-US" altLang="zh-CN" b="1" dirty="0"/>
              <a:t>  </a:t>
            </a:r>
            <a:r>
              <a:rPr lang="zh-CN" altLang="en-US" b="1" dirty="0"/>
              <a:t>谢谢！</a:t>
            </a:r>
          </a:p>
        </p:txBody>
      </p:sp>
    </p:spTree>
    <p:extLst>
      <p:ext uri="{BB962C8B-B14F-4D97-AF65-F5344CB8AC3E}">
        <p14:creationId xmlns:p14="http://schemas.microsoft.com/office/powerpoint/2010/main" val="389692342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610*197"/>
  <p:tag name="TABLE_ENDDRAG_RECT" val="231*316*610*197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908*249"/>
  <p:tag name="TABLE_ENDDRAG_RECT" val="44*274*908*249"/>
</p:tagLst>
</file>

<file path=ppt/theme/theme1.xml><?xml version="1.0" encoding="utf-8"?>
<a:theme xmlns:a="http://schemas.openxmlformats.org/drawingml/2006/main" name="白底灰边-Office2010风格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黑体+Times">
      <a:majorFont>
        <a:latin typeface="Times New Roman"/>
        <a:ea typeface="黑体"/>
        <a:cs typeface=""/>
      </a:majorFont>
      <a:minorFont>
        <a:latin typeface="Times New Roman"/>
        <a:ea typeface="黑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白底灰边-Office2010风格" id="{A4FB97DD-19BC-49FC-8F3F-E7D8E49AC664}" vid="{03B40C34-2A24-480B-ADA3-2497218558F0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白底灰边-Office2010风格</Template>
  <TotalTime>16456</TotalTime>
  <Words>4219</Words>
  <Application>Microsoft Office PowerPoint</Application>
  <PresentationFormat>全屏显示(4:3)</PresentationFormat>
  <Paragraphs>819</Paragraphs>
  <Slides>62</Slides>
  <Notes>37</Notes>
  <HiddenSlides>0</HiddenSlides>
  <MMClips>0</MMClips>
  <ScaleCrop>false</ScaleCrop>
  <HeadingPairs>
    <vt:vector size="8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62</vt:i4>
      </vt:variant>
    </vt:vector>
  </HeadingPairs>
  <TitlesOfParts>
    <vt:vector size="77" baseType="lpstr">
      <vt:lpstr>等线 Light</vt:lpstr>
      <vt:lpstr>黑体</vt:lpstr>
      <vt:lpstr>华文细黑</vt:lpstr>
      <vt:lpstr>楷体</vt:lpstr>
      <vt:lpstr>宋体</vt:lpstr>
      <vt:lpstr>微软雅黑</vt:lpstr>
      <vt:lpstr>Arial</vt:lpstr>
      <vt:lpstr>Calibri</vt:lpstr>
      <vt:lpstr>Cambria Math</vt:lpstr>
      <vt:lpstr>Times New Roman</vt:lpstr>
      <vt:lpstr>Verdana</vt:lpstr>
      <vt:lpstr>Wingdings</vt:lpstr>
      <vt:lpstr>Wingdings 2</vt:lpstr>
      <vt:lpstr>白底灰边-Office2010风格</vt:lpstr>
      <vt:lpstr>公式</vt:lpstr>
      <vt:lpstr>Chapter02 数据描述与统计指标  授课老师：王丽苹    </vt:lpstr>
      <vt:lpstr>数据挖掘de过程</vt:lpstr>
      <vt:lpstr>GPT（Generative Pre-Trained Transformer） 数据集构成</vt:lpstr>
      <vt:lpstr>ETL的数据清洗应用模型</vt:lpstr>
      <vt:lpstr>数据问题</vt:lpstr>
      <vt:lpstr>数据问题</vt:lpstr>
      <vt:lpstr>数据问题</vt:lpstr>
      <vt:lpstr>清理方法-消除重复项</vt:lpstr>
      <vt:lpstr>清理方法-无效值和缺失值处理</vt:lpstr>
      <vt:lpstr>清理方法-无效值和缺失值处理</vt:lpstr>
      <vt:lpstr>清理方法- -无效值和缺失值处理</vt:lpstr>
      <vt:lpstr>清理方法- -无效值和缺失值处理</vt:lpstr>
      <vt:lpstr>清理方法-无效值和缺失值处理</vt:lpstr>
      <vt:lpstr>清理方法-错误值的检测及解决</vt:lpstr>
      <vt:lpstr>【例】判定下列数据集中的异常值</vt:lpstr>
      <vt:lpstr>【例】判定下列数据集中的异常值</vt:lpstr>
      <vt:lpstr>【例】噪声处理-分箱</vt:lpstr>
      <vt:lpstr>【例】噪声处理-分箱</vt:lpstr>
      <vt:lpstr>【例】噪声处理-分箱</vt:lpstr>
      <vt:lpstr>【例】噪声处理-分箱</vt:lpstr>
      <vt:lpstr>【例】数据集成-实体识别</vt:lpstr>
      <vt:lpstr>数据抽样</vt:lpstr>
      <vt:lpstr>数据抽样</vt:lpstr>
      <vt:lpstr>数据抽样 – 抽样方法</vt:lpstr>
      <vt:lpstr>数据抽样 – 抽样方法</vt:lpstr>
      <vt:lpstr>数据抽样 – 抽样方法</vt:lpstr>
      <vt:lpstr>数据抽样 – 抽样方法</vt:lpstr>
      <vt:lpstr>数据抽样 – 抽样方法</vt:lpstr>
      <vt:lpstr>数据抽样 – 抽样方法</vt:lpstr>
      <vt:lpstr>数据抽样 – 抽样方法</vt:lpstr>
      <vt:lpstr>数据抽样 – 抽样方法</vt:lpstr>
      <vt:lpstr>数据抽样 – 抽样方法</vt:lpstr>
      <vt:lpstr>数据抽样 – 抽样方法</vt:lpstr>
      <vt:lpstr>数据抽样 – 抽样方法</vt:lpstr>
      <vt:lpstr>数据抽样 – 抽样方法</vt:lpstr>
      <vt:lpstr>数据抽样的策略</vt:lpstr>
      <vt:lpstr>数据抽样的策略</vt:lpstr>
      <vt:lpstr>数据抽样的策略</vt:lpstr>
      <vt:lpstr>数据抽样-小结</vt:lpstr>
      <vt:lpstr>数据变换</vt:lpstr>
      <vt:lpstr>数据规范化</vt:lpstr>
      <vt:lpstr>数据规范化</vt:lpstr>
      <vt:lpstr>数据规范化</vt:lpstr>
      <vt:lpstr>数据规范化</vt:lpstr>
      <vt:lpstr>数据规范化</vt:lpstr>
      <vt:lpstr>数据规范化</vt:lpstr>
      <vt:lpstr>数据规范化-小结</vt:lpstr>
      <vt:lpstr>数据离散化</vt:lpstr>
      <vt:lpstr>数据离散化</vt:lpstr>
      <vt:lpstr>数据离散化</vt:lpstr>
      <vt:lpstr>数据离散化</vt:lpstr>
      <vt:lpstr>分类数据编码</vt:lpstr>
      <vt:lpstr>分类数据编码</vt:lpstr>
      <vt:lpstr>分类数据编码</vt:lpstr>
      <vt:lpstr>分类数据编码-小结</vt:lpstr>
      <vt:lpstr>实践案例：线上零售交易数据预处理</vt:lpstr>
      <vt:lpstr>实践案例：线上零售交易数据预处理</vt:lpstr>
      <vt:lpstr>实践案例：线上零售交易数据预处理</vt:lpstr>
      <vt:lpstr>实践案例：线上零售交易数据预处理</vt:lpstr>
      <vt:lpstr>实践案例：线上零售交易数据预处理</vt:lpstr>
      <vt:lpstr>实践案例：线上零售交易数据预处理</vt:lpstr>
      <vt:lpstr>Q/A    谢谢！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wuxf</dc:creator>
  <cp:lastModifiedBy>Liping Wang</cp:lastModifiedBy>
  <cp:revision>1687</cp:revision>
  <dcterms:created xsi:type="dcterms:W3CDTF">2018-01-15T02:11:01Z</dcterms:created>
  <dcterms:modified xsi:type="dcterms:W3CDTF">2025-09-23T07:47:10Z</dcterms:modified>
</cp:coreProperties>
</file>