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3"/>
  </p:notesMasterIdLst>
  <p:sldIdLst>
    <p:sldId id="4261" r:id="rId2"/>
    <p:sldId id="4279" r:id="rId3"/>
    <p:sldId id="4280" r:id="rId4"/>
    <p:sldId id="4281" r:id="rId5"/>
    <p:sldId id="4282" r:id="rId6"/>
    <p:sldId id="4283" r:id="rId7"/>
    <p:sldId id="4284" r:id="rId8"/>
    <p:sldId id="4285" r:id="rId9"/>
    <p:sldId id="4286" r:id="rId10"/>
    <p:sldId id="4287" r:id="rId11"/>
    <p:sldId id="4288" r:id="rId12"/>
    <p:sldId id="4289" r:id="rId13"/>
    <p:sldId id="4290" r:id="rId14"/>
    <p:sldId id="4291" r:id="rId15"/>
    <p:sldId id="4292" r:id="rId16"/>
    <p:sldId id="4293" r:id="rId17"/>
    <p:sldId id="4297" r:id="rId18"/>
    <p:sldId id="4298" r:id="rId19"/>
    <p:sldId id="4299" r:id="rId20"/>
    <p:sldId id="4296" r:id="rId21"/>
    <p:sldId id="4278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DBE"/>
    <a:srgbClr val="DCFDAB"/>
    <a:srgbClr val="FFAAA9"/>
    <a:srgbClr val="DBFDAA"/>
    <a:srgbClr val="FFE1E1"/>
    <a:srgbClr val="ECE5F7"/>
    <a:srgbClr val="E1D6F2"/>
    <a:srgbClr val="DCFDAD"/>
    <a:srgbClr val="D4C5EC"/>
    <a:srgbClr val="FFD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38" autoAdjust="0"/>
    <p:restoredTop sz="89333" autoAdjust="0"/>
  </p:normalViewPr>
  <p:slideViewPr>
    <p:cSldViewPr snapToGrid="0">
      <p:cViewPr varScale="1">
        <p:scale>
          <a:sx n="78" d="100"/>
          <a:sy n="78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37CF0-5B85-4F82-8895-487FD940EFF8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61C67-365B-455B-8333-B2F385616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39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578" y="1057014"/>
            <a:ext cx="7772400" cy="1535184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9778" y="402987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AFABB-F632-4F91-92AF-0E2D2EA81731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35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3C160-1CF6-4197-853C-5DD8144FA9BE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45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389" y="1057014"/>
            <a:ext cx="7772400" cy="15336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978" y="4027400"/>
            <a:ext cx="6858000" cy="165600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54B1-0884-4633-8327-893DAA1E511F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39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50BB-E4E8-4483-82DA-D58DEBC4998C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50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BCF-E610-4FCE-ADC3-9F4D58E19C5C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56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A7D6D-E156-4C2B-9FF2-B27706CE389A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92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FCEF-073A-4FC7-8BAD-A662F97179A2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53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6709-067F-4154-9C9A-D56718F28438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4C65-E77B-45F2-BD81-CFF9643C0CCF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66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6368-F392-4465-AD91-AE646936C52B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96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E443-EA00-4061-899C-73E3EB4E23B9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50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4399"/>
            <a:ext cx="9144000" cy="817721"/>
          </a:xfrm>
          <a:prstGeom prst="rect">
            <a:avLst/>
          </a:prstGeom>
        </p:spPr>
        <p:txBody>
          <a:bodyPr vert="horz" lIns="91440" tIns="14400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23" y="906011"/>
            <a:ext cx="8883941" cy="5637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525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l">
              <a:defRPr sz="1200" b="1">
                <a:solidFill>
                  <a:srgbClr val="002060"/>
                </a:solidFill>
              </a:defRPr>
            </a:lvl1pPr>
          </a:lstStyle>
          <a:p>
            <a:fld id="{7181A378-AD84-4E06-B1B5-6D5F5ACB78AE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3417" y="6660859"/>
            <a:ext cx="4597165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ctr">
              <a:defRPr sz="1200" b="0">
                <a:solidFill>
                  <a:srgbClr val="002060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r">
              <a:defRPr sz="1200" b="1">
                <a:solidFill>
                  <a:srgbClr val="002060"/>
                </a:solidFill>
              </a:defRPr>
            </a:lvl1pPr>
          </a:lstStyle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8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Wingdings" panose="05000000000000000000" pitchFamily="2" charset="2"/>
        <a:buChar char="n"/>
        <a:defRPr sz="2400" kern="1200">
          <a:solidFill>
            <a:srgbClr val="002060"/>
          </a:solidFill>
          <a:latin typeface="+mn-lt"/>
          <a:ea typeface="+mn-ea"/>
          <a:cs typeface="+mn-cs"/>
        </a:defRPr>
      </a:lvl1pPr>
      <a:lvl2pPr marL="720725" indent="-360363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u"/>
        <a:defRPr sz="2000" kern="1200">
          <a:solidFill>
            <a:srgbClr val="002060"/>
          </a:solidFill>
          <a:latin typeface="+mn-lt"/>
          <a:ea typeface="+mn-ea"/>
          <a:cs typeface="+mn-cs"/>
        </a:defRPr>
      </a:lvl2pPr>
      <a:lvl3pPr marL="990600" indent="-26987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l"/>
        <a:defRPr sz="1800" kern="1200">
          <a:solidFill>
            <a:srgbClr val="002060"/>
          </a:solidFill>
          <a:latin typeface="+mn-lt"/>
          <a:ea typeface="+mn-ea"/>
          <a:cs typeface="+mn-cs"/>
        </a:defRPr>
      </a:lvl3pPr>
      <a:lvl4pPr marL="1258888" indent="-268288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p"/>
        <a:defRPr sz="1600" kern="1200">
          <a:solidFill>
            <a:srgbClr val="002060"/>
          </a:solidFill>
          <a:latin typeface="+mn-lt"/>
          <a:ea typeface="+mn-ea"/>
          <a:cs typeface="+mn-cs"/>
        </a:defRPr>
      </a:lvl4pPr>
      <a:lvl5pPr marL="1527175" indent="-268288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Ø"/>
        <a:defRPr sz="16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4739" y="2797189"/>
            <a:ext cx="8713694" cy="2138947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Chapter09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异常检测</a:t>
            </a:r>
            <a:b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lang="en-US" altLang="zh-CN" sz="3600" b="1" dirty="0"/>
            </a:br>
            <a:r>
              <a:rPr lang="zh-CN" altLang="en-US" sz="2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授课老师：王丽苹</a:t>
            </a:r>
            <a:br>
              <a:rPr lang="en-US" altLang="zh-CN" sz="3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lang="en-US" altLang="zh-CN" sz="3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100" dirty="0">
                <a:solidFill>
                  <a:srgbClr val="002060"/>
                </a:solidFill>
                <a:latin typeface="+mn-ea"/>
                <a:ea typeface="+mn-ea"/>
              </a:rPr>
              <a:t> </a:t>
            </a:r>
            <a:br>
              <a:rPr lang="en-US" altLang="zh-CN" sz="3100" dirty="0">
                <a:solidFill>
                  <a:srgbClr val="002060"/>
                </a:solidFill>
              </a:rPr>
            </a:br>
            <a:endParaRPr lang="zh-CN" altLang="en-US" sz="3100" dirty="0">
              <a:solidFill>
                <a:srgbClr val="00206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2586" y="4060811"/>
            <a:ext cx="6858000" cy="950912"/>
          </a:xfrm>
        </p:spPr>
        <p:txBody>
          <a:bodyPr/>
          <a:lstStyle/>
          <a:p>
            <a:r>
              <a:rPr lang="en-US" altLang="zh-CN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年 秋</a:t>
            </a:r>
          </a:p>
        </p:txBody>
      </p:sp>
      <p:sp>
        <p:nvSpPr>
          <p:cNvPr id="4" name="矩形 3"/>
          <p:cNvSpPr/>
          <p:nvPr/>
        </p:nvSpPr>
        <p:spPr>
          <a:xfrm>
            <a:off x="5994072" y="180871"/>
            <a:ext cx="31499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数据挖掘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en-US" altLang="zh-CN" sz="2000" b="1" dirty="0">
                <a:solidFill>
                  <a:srgbClr val="002060"/>
                </a:solidFill>
              </a:rPr>
              <a:t>Data Mining</a:t>
            </a:r>
            <a:endParaRPr lang="zh-CN" alt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715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25BD82-EEDD-4AFB-B03F-8F25D3C53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484EF0-36BB-421F-8F1F-AE36331D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223" y="906011"/>
            <a:ext cx="8406662" cy="5637402"/>
          </a:xfrm>
        </p:spPr>
        <p:txBody>
          <a:bodyPr/>
          <a:lstStyle/>
          <a:p>
            <a:pPr marL="49530" algn="l" rtl="0" eaLnBrk="0">
              <a:lnSpc>
                <a:spcPct val="150000"/>
              </a:lnSpc>
              <a:tabLst/>
            </a:pPr>
            <a:r>
              <a:rPr lang="zh-CN" altLang="en-US" sz="2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不同于常规模式下的</a:t>
            </a:r>
            <a:r>
              <a:rPr lang="zh-CN" altLang="en-US" sz="2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问题和任务，</a:t>
            </a:r>
            <a:r>
              <a:rPr lang="zh-CN" altLang="en-US" sz="24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异常检测</a:t>
            </a:r>
            <a:r>
              <a:rPr lang="zh-CN" altLang="en-US" sz="2400" b="1" kern="0" spc="-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lang="en-US" altLang="zh-CN" sz="2400" b="1" kern="0" spc="-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Anomaly</a:t>
            </a:r>
            <a:r>
              <a:rPr lang="zh-CN" altLang="en-US" sz="2400" b="1" kern="0" spc="2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400" b="1" kern="0" spc="-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Detection </a:t>
            </a:r>
            <a:r>
              <a:rPr lang="zh-CN" altLang="en-US" sz="2400" b="1" kern="0" spc="-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lang="zh-CN" altLang="en-US" sz="2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针对的是</a:t>
            </a:r>
            <a:r>
              <a:rPr lang="zh-CN" altLang="en-US" sz="2400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少数、不可预测或</a:t>
            </a:r>
            <a:r>
              <a:rPr lang="zh-CN" altLang="en-US" sz="2400" kern="0" spc="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不确定、不符合预期模</a:t>
            </a:r>
            <a:r>
              <a:rPr lang="zh-CN" altLang="en-US" sz="2400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式的</a:t>
            </a:r>
            <a:r>
              <a:rPr lang="zh-CN" altLang="en-US" sz="2400" kern="0" spc="-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事件的识别 </a:t>
            </a:r>
            <a:r>
              <a:rPr lang="zh-CN" altLang="en-US" sz="24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，它具有独特的</a:t>
            </a:r>
            <a:r>
              <a:rPr lang="zh-CN" altLang="en-US" sz="2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复杂性，使得一般的机</a:t>
            </a:r>
            <a:r>
              <a:rPr lang="zh-CN" altLang="en-US" sz="2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器学</a:t>
            </a:r>
            <a:r>
              <a:rPr lang="zh-CN" altLang="en-US" sz="2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习和深度学习技术难以</a:t>
            </a:r>
            <a:r>
              <a:rPr lang="zh-CN" altLang="en-US" sz="2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直接</a:t>
            </a:r>
            <a:r>
              <a:rPr lang="zh-CN" altLang="en-US" sz="24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应用。</a:t>
            </a:r>
            <a:endParaRPr lang="zh-CN" altLang="en-US" sz="2400" dirty="0">
              <a:latin typeface="Microsoft YaHei"/>
              <a:ea typeface="Microsoft YaHei"/>
              <a:cs typeface="Microsoft YaHei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7E1579-0A14-4AD7-BDFE-128BBDA2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5" name="picture 66">
            <a:extLst>
              <a:ext uri="{FF2B5EF4-FFF2-40B4-BE49-F238E27FC236}">
                <a16:creationId xmlns:a16="http://schemas.microsoft.com/office/drawing/2014/main" id="{AB4688FF-0256-427B-B6BF-0BACB995E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202773" y="3249262"/>
            <a:ext cx="4941227" cy="329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042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62BF3B-DDB1-4238-87BC-8249F466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异常检测概述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067DA4-591F-448A-B123-F69C8E0CB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224" y="906011"/>
            <a:ext cx="5586215" cy="5637402"/>
          </a:xfrm>
        </p:spPr>
        <p:txBody>
          <a:bodyPr/>
          <a:lstStyle/>
          <a:p>
            <a:pPr marL="15875" algn="l" rtl="0" eaLnBrk="0">
              <a:lnSpc>
                <a:spcPct val="87000"/>
              </a:lnSpc>
              <a:tabLst/>
            </a:pPr>
            <a:r>
              <a:rPr lang="zh-CN" altLang="en-US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异常的同义词</a:t>
            </a:r>
            <a:endParaRPr lang="zh-CN" altLang="en-US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lang="zh-CN" altLang="en-US"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2000"/>
              </a:lnSpc>
              <a:spcBef>
                <a:spcPts val="607"/>
              </a:spcBef>
              <a:tabLst/>
            </a:pPr>
            <a:r>
              <a:rPr lang="zh-CN" altLang="en-US"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异常也被称为离群值、新奇、噪</a:t>
            </a:r>
            <a:r>
              <a:rPr lang="zh-CN" altLang="en-US"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声、偏差、例外 </a:t>
            </a:r>
            <a:r>
              <a:rPr lang="en-US" altLang="zh-CN"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……</a:t>
            </a:r>
            <a:endParaRPr lang="zh-CN" altLang="en-US" sz="2000" dirty="0">
              <a:latin typeface="Microsoft YaHei"/>
              <a:ea typeface="Microsoft YaHei"/>
              <a:cs typeface="Microsoft YaHei"/>
            </a:endParaRPr>
          </a:p>
          <a:p>
            <a:pPr marL="27940" algn="l" rtl="0" eaLnBrk="0">
              <a:lnSpc>
                <a:spcPts val="2583"/>
              </a:lnSpc>
              <a:spcBef>
                <a:spcPts val="1260"/>
              </a:spcBef>
              <a:tabLst/>
            </a:pPr>
            <a:r>
              <a:rPr lang="en-US" altLang="zh-CN"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(outliers,</a:t>
            </a:r>
            <a:r>
              <a:rPr lang="en-US" altLang="zh-CN" sz="20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novelties,</a:t>
            </a:r>
            <a:r>
              <a:rPr lang="en-US" altLang="zh-CN" sz="20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nois</a:t>
            </a:r>
            <a:r>
              <a:rPr lang="en-US" altLang="zh-CN"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e,</a:t>
            </a:r>
            <a:r>
              <a:rPr lang="en-US" altLang="zh-CN" sz="2000" dirty="0"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deviations, exceptio</a:t>
            </a:r>
            <a:r>
              <a:rPr lang="en-US" altLang="zh-CN"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ns</a:t>
            </a:r>
            <a:r>
              <a:rPr lang="en-US" altLang="zh-CN" sz="20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……)</a:t>
            </a:r>
            <a:endParaRPr lang="en-US" altLang="zh-CN" sz="2000" dirty="0">
              <a:latin typeface="Microsoft YaHei"/>
              <a:ea typeface="Microsoft YaHei"/>
              <a:cs typeface="Microsoft YaHei"/>
            </a:endParaRPr>
          </a:p>
          <a:p>
            <a:pPr marL="0" indent="0" algn="l" rtl="0" eaLnBrk="0">
              <a:lnSpc>
                <a:spcPct val="116000"/>
              </a:lnSpc>
              <a:buNone/>
              <a:tabLst/>
            </a:pPr>
            <a:endParaRPr lang="en-US" altLang="zh-CN"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7"/>
              </a:lnSpc>
              <a:spcBef>
                <a:spcPts val="731"/>
              </a:spcBef>
              <a:tabLst/>
            </a:pPr>
            <a:r>
              <a:rPr lang="zh-CN" altLang="en-US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相关</a:t>
            </a:r>
            <a:r>
              <a:rPr lang="en-US" altLang="zh-CN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lang="zh-CN" altLang="en-US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近似的关键词</a:t>
            </a:r>
            <a:endParaRPr lang="zh-CN" altLang="en-US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lang="zh-CN" altLang="en-US" sz="10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88000"/>
              </a:lnSpc>
              <a:spcBef>
                <a:spcPts val="610"/>
              </a:spcBef>
              <a:tabLst/>
            </a:pPr>
            <a:r>
              <a:rPr lang="en-US" altLang="zh-CN"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Novelty</a:t>
            </a:r>
            <a:r>
              <a:rPr lang="en-US" altLang="zh-CN" sz="20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Detection </a:t>
            </a:r>
            <a:r>
              <a:rPr lang="zh-CN" altLang="en-US"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endParaRPr lang="en-US" altLang="zh-CN" sz="2000" dirty="0">
              <a:latin typeface="Microsoft YaHei"/>
              <a:ea typeface="Microsoft YaHei"/>
              <a:cs typeface="Microsoft YaHei"/>
            </a:endParaRPr>
          </a:p>
          <a:p>
            <a:pPr marL="20954" algn="l" rtl="0" eaLnBrk="0">
              <a:lnSpc>
                <a:spcPts val="3369"/>
              </a:lnSpc>
              <a:tabLst/>
            </a:pPr>
            <a:r>
              <a:rPr lang="en-US" altLang="zh-CN"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Outlier</a:t>
            </a:r>
            <a:r>
              <a:rPr lang="en-US" altLang="zh-CN" sz="20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Dete</a:t>
            </a:r>
            <a:r>
              <a:rPr lang="en-US" altLang="zh-CN"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ction </a:t>
            </a:r>
            <a:r>
              <a:rPr lang="zh-CN" altLang="en-US"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endParaRPr lang="en-US" altLang="zh-CN" sz="2000" dirty="0">
              <a:latin typeface="Microsoft YaHei"/>
              <a:ea typeface="Microsoft YaHei"/>
              <a:cs typeface="Microsoft YaHei"/>
            </a:endParaRPr>
          </a:p>
          <a:p>
            <a:pPr marL="33655" algn="l" rtl="0" eaLnBrk="0">
              <a:lnSpc>
                <a:spcPts val="3829"/>
              </a:lnSpc>
              <a:tabLst/>
            </a:pPr>
            <a:r>
              <a:rPr lang="en-US" altLang="zh-CN"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Forgery</a:t>
            </a:r>
            <a:r>
              <a:rPr lang="en-US" altLang="zh-CN" sz="2000" kern="0" spc="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Detection </a:t>
            </a:r>
            <a:r>
              <a:rPr lang="zh-CN" altLang="en-US"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endParaRPr lang="en-US" altLang="zh-CN" sz="2000" dirty="0">
              <a:latin typeface="Microsoft YaHei"/>
              <a:ea typeface="Microsoft YaHei"/>
              <a:cs typeface="Microsoft YaHei"/>
            </a:endParaRPr>
          </a:p>
          <a:p>
            <a:pPr marL="20954" algn="l" rtl="0" eaLnBrk="0">
              <a:lnSpc>
                <a:spcPts val="3604"/>
              </a:lnSpc>
              <a:tabLst/>
            </a:pPr>
            <a:r>
              <a:rPr lang="en-US" altLang="zh-CN"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Out-of-distribut</a:t>
            </a:r>
            <a:r>
              <a:rPr lang="en-US" altLang="zh-CN"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ion</a:t>
            </a:r>
            <a:r>
              <a:rPr lang="en-US" altLang="zh-CN" sz="2000" dirty="0"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Detection</a:t>
            </a:r>
            <a:r>
              <a:rPr lang="en-US" altLang="zh-CN" sz="20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……</a:t>
            </a:r>
            <a:endParaRPr lang="en-US" altLang="zh-CN" sz="2000" dirty="0">
              <a:latin typeface="Microsoft YaHei"/>
              <a:ea typeface="Microsoft YaHei"/>
              <a:cs typeface="Microsoft YaHei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16A22B-D099-4F99-8562-13B2D527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picture 80">
            <a:extLst>
              <a:ext uri="{FF2B5EF4-FFF2-40B4-BE49-F238E27FC236}">
                <a16:creationId xmlns:a16="http://schemas.microsoft.com/office/drawing/2014/main" id="{87EF9692-302A-40CF-92C1-8A363E32D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20440" y="1236110"/>
            <a:ext cx="3289336" cy="2192890"/>
          </a:xfrm>
          <a:prstGeom prst="rect">
            <a:avLst/>
          </a:prstGeom>
        </p:spPr>
      </p:pic>
      <p:pic>
        <p:nvPicPr>
          <p:cNvPr id="6" name="picture 82">
            <a:extLst>
              <a:ext uri="{FF2B5EF4-FFF2-40B4-BE49-F238E27FC236}">
                <a16:creationId xmlns:a16="http://schemas.microsoft.com/office/drawing/2014/main" id="{9B3409EA-CCF7-4FDD-97B7-09E0DAF24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83000" y="3945587"/>
            <a:ext cx="3750014" cy="205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904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B3F343-586C-4C70-ADC1-28A6BAFB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二分类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7E5050-4291-4E51-99B3-5DAE1B8E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" name="picture 92">
            <a:extLst>
              <a:ext uri="{FF2B5EF4-FFF2-40B4-BE49-F238E27FC236}">
                <a16:creationId xmlns:a16="http://schemas.microsoft.com/office/drawing/2014/main" id="{7944D1BB-47F5-4DF5-964B-C55084FAB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3750" y="1009650"/>
            <a:ext cx="7556500" cy="483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7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2A260-DA62-4A00-8A83-54861DF9C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异常检测的应用场景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04E631-31CF-4A74-9F61-170C80CAE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5" name="picture 102">
            <a:extLst>
              <a:ext uri="{FF2B5EF4-FFF2-40B4-BE49-F238E27FC236}">
                <a16:creationId xmlns:a16="http://schemas.microsoft.com/office/drawing/2014/main" id="{3BE0787F-8C07-4A72-8525-5701B58EA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7542" y="2733471"/>
            <a:ext cx="4211502" cy="2804860"/>
          </a:xfrm>
          <a:prstGeom prst="rect">
            <a:avLst/>
          </a:prstGeom>
        </p:spPr>
      </p:pic>
      <p:pic>
        <p:nvPicPr>
          <p:cNvPr id="6" name="picture 104">
            <a:extLst>
              <a:ext uri="{FF2B5EF4-FFF2-40B4-BE49-F238E27FC236}">
                <a16:creationId xmlns:a16="http://schemas.microsoft.com/office/drawing/2014/main" id="{78DB8B46-8852-447B-9392-66833E433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09053" y="2733470"/>
            <a:ext cx="4097406" cy="2715028"/>
          </a:xfrm>
          <a:prstGeom prst="rect">
            <a:avLst/>
          </a:prstGeom>
        </p:spPr>
      </p:pic>
      <p:sp>
        <p:nvSpPr>
          <p:cNvPr id="7" name="textbox 112">
            <a:extLst>
              <a:ext uri="{FF2B5EF4-FFF2-40B4-BE49-F238E27FC236}">
                <a16:creationId xmlns:a16="http://schemas.microsoft.com/office/drawing/2014/main" id="{AD8D9169-E520-4025-B55A-D2A1EE216CE8}"/>
              </a:ext>
            </a:extLst>
          </p:cNvPr>
          <p:cNvSpPr/>
          <p:nvPr/>
        </p:nvSpPr>
        <p:spPr>
          <a:xfrm>
            <a:off x="176708" y="1010012"/>
            <a:ext cx="7502652" cy="85587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4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设备运维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黑客攻击监测、服务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器运行监测、电力设备发电能力监测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273517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E3C19E-DD43-4D3B-BE47-547C372CD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异常检测的应用场景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90165E-DD0E-4F91-8062-354D16855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picture 116">
            <a:extLst>
              <a:ext uri="{FF2B5EF4-FFF2-40B4-BE49-F238E27FC236}">
                <a16:creationId xmlns:a16="http://schemas.microsoft.com/office/drawing/2014/main" id="{BDC6AB3E-1A5C-4F48-8973-754C626D9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478" y="2180476"/>
            <a:ext cx="5363605" cy="3017028"/>
          </a:xfrm>
          <a:prstGeom prst="rect">
            <a:avLst/>
          </a:prstGeom>
        </p:spPr>
      </p:pic>
      <p:pic>
        <p:nvPicPr>
          <p:cNvPr id="6" name="picture 118">
            <a:extLst>
              <a:ext uri="{FF2B5EF4-FFF2-40B4-BE49-F238E27FC236}">
                <a16:creationId xmlns:a16="http://schemas.microsoft.com/office/drawing/2014/main" id="{FE543D4A-76D9-45F0-98E0-041629C18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71884" y="2298209"/>
            <a:ext cx="3579367" cy="2155755"/>
          </a:xfrm>
          <a:prstGeom prst="rect">
            <a:avLst/>
          </a:prstGeom>
        </p:spPr>
      </p:pic>
      <p:sp>
        <p:nvSpPr>
          <p:cNvPr id="7" name="textbox 126">
            <a:extLst>
              <a:ext uri="{FF2B5EF4-FFF2-40B4-BE49-F238E27FC236}">
                <a16:creationId xmlns:a16="http://schemas.microsoft.com/office/drawing/2014/main" id="{F5E61F58-F4CA-4564-B644-D1FFE03E034D}"/>
              </a:ext>
            </a:extLst>
          </p:cNvPr>
          <p:cNvSpPr/>
          <p:nvPr/>
        </p:nvSpPr>
        <p:spPr>
          <a:xfrm>
            <a:off x="163195" y="908774"/>
            <a:ext cx="8817609" cy="8775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4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社交网络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利用社交网络数据 ，发现异常行为的用户（如发帖机器人）或者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谣言散播行为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128">
            <a:extLst>
              <a:ext uri="{FF2B5EF4-FFF2-40B4-BE49-F238E27FC236}">
                <a16:creationId xmlns:a16="http://schemas.microsoft.com/office/drawing/2014/main" id="{F71C097A-1EBB-4753-91E0-C6457B6C0641}"/>
              </a:ext>
            </a:extLst>
          </p:cNvPr>
          <p:cNvSpPr/>
          <p:nvPr/>
        </p:nvSpPr>
        <p:spPr>
          <a:xfrm>
            <a:off x="88477" y="5628745"/>
            <a:ext cx="8892326" cy="602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6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indent="-8889" algn="l" rtl="0" eaLnBrk="0">
              <a:lnSpc>
                <a:spcPct val="105000"/>
              </a:lnSpc>
              <a:tabLst/>
            </a:pPr>
            <a:r>
              <a:rPr sz="1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Yu, Wenchao, et al. “Netwalk:</a:t>
            </a:r>
            <a:r>
              <a:rPr sz="1800" kern="0" spc="-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A flexible de</a:t>
            </a:r>
            <a:r>
              <a:rPr sz="18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ep embedding approach for anomaly</a:t>
            </a:r>
            <a:r>
              <a:rPr sz="1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detection</a:t>
            </a:r>
            <a:r>
              <a:rPr sz="1800" kern="0" spc="1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dynamic</a:t>
            </a:r>
            <a:r>
              <a:rPr sz="1800" kern="0" spc="1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networks."</a:t>
            </a:r>
            <a:r>
              <a:rPr sz="1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i="1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Proceedings of</a:t>
            </a:r>
            <a:r>
              <a:rPr sz="1800" i="1" kern="0" spc="-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i="1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24th</a:t>
            </a:r>
            <a:r>
              <a:rPr sz="1800" i="1" kern="0" spc="-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i="1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ACM SIGKDD International Confere</a:t>
            </a:r>
            <a:r>
              <a:rPr sz="1800" i="1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nce</a:t>
            </a:r>
            <a:r>
              <a:rPr sz="1800" i="1" kern="0" spc="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i="1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800" i="1" kern="0" spc="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i="1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Knowledge</a:t>
            </a:r>
            <a:r>
              <a:rPr sz="1800" i="1" kern="0" spc="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i="1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Discovery</a:t>
            </a:r>
            <a:r>
              <a:rPr sz="1800" i="1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i="1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800" i="1" kern="0" spc="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i="1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800" i="1" kern="0" spc="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i="1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Mining</a:t>
            </a:r>
            <a:r>
              <a:rPr sz="18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920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352E8-E0D2-46EB-A534-F123594B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异常检测的应用场景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FF25AA-4104-4338-87C3-FAE8ABC4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5" name="picture 132">
            <a:extLst>
              <a:ext uri="{FF2B5EF4-FFF2-40B4-BE49-F238E27FC236}">
                <a16:creationId xmlns:a16="http://schemas.microsoft.com/office/drawing/2014/main" id="{3221BFA7-F13E-418A-8731-AC4547773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71999" y="3089235"/>
            <a:ext cx="3396307" cy="2155523"/>
          </a:xfrm>
          <a:prstGeom prst="rect">
            <a:avLst/>
          </a:prstGeom>
        </p:spPr>
      </p:pic>
      <p:pic>
        <p:nvPicPr>
          <p:cNvPr id="6" name="picture 134">
            <a:extLst>
              <a:ext uri="{FF2B5EF4-FFF2-40B4-BE49-F238E27FC236}">
                <a16:creationId xmlns:a16="http://schemas.microsoft.com/office/drawing/2014/main" id="{4E4E1E2A-CC39-4E22-8376-18F00B546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2028" y="3089237"/>
            <a:ext cx="3365768" cy="2155523"/>
          </a:xfrm>
          <a:prstGeom prst="rect">
            <a:avLst/>
          </a:prstGeom>
        </p:spPr>
      </p:pic>
      <p:sp>
        <p:nvSpPr>
          <p:cNvPr id="7" name="textbox 142">
            <a:extLst>
              <a:ext uri="{FF2B5EF4-FFF2-40B4-BE49-F238E27FC236}">
                <a16:creationId xmlns:a16="http://schemas.microsoft.com/office/drawing/2014/main" id="{B7B9DEC2-6F03-4441-ACE2-7E43067D2AB4}"/>
              </a:ext>
            </a:extLst>
          </p:cNvPr>
          <p:cNvSpPr/>
          <p:nvPr/>
        </p:nvSpPr>
        <p:spPr>
          <a:xfrm>
            <a:off x="391591" y="1102230"/>
            <a:ext cx="5137352" cy="82840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金融欺诈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信用卡欺诈、反洗钱、电信诈骗等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725147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094D8-F7FE-4B42-99F7-309B5737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异常检测的应用场景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31DEDB-0436-49E7-B58B-67E0D205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picture 146">
            <a:extLst>
              <a:ext uri="{FF2B5EF4-FFF2-40B4-BE49-F238E27FC236}">
                <a16:creationId xmlns:a16="http://schemas.microsoft.com/office/drawing/2014/main" id="{79178DE7-21F8-4A4D-9AAD-8ED1A7340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75565" y="2500008"/>
            <a:ext cx="4117690" cy="3142677"/>
          </a:xfrm>
          <a:prstGeom prst="rect">
            <a:avLst/>
          </a:prstGeom>
        </p:spPr>
      </p:pic>
      <p:pic>
        <p:nvPicPr>
          <p:cNvPr id="6" name="picture 148">
            <a:extLst>
              <a:ext uri="{FF2B5EF4-FFF2-40B4-BE49-F238E27FC236}">
                <a16:creationId xmlns:a16="http://schemas.microsoft.com/office/drawing/2014/main" id="{47232F4D-CC8D-4A49-9A21-8C7F615C1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26476" y="2406919"/>
            <a:ext cx="3328853" cy="3328853"/>
          </a:xfrm>
          <a:prstGeom prst="rect">
            <a:avLst/>
          </a:prstGeom>
        </p:spPr>
      </p:pic>
      <p:sp>
        <p:nvSpPr>
          <p:cNvPr id="7" name="textbox 156">
            <a:extLst>
              <a:ext uri="{FF2B5EF4-FFF2-40B4-BE49-F238E27FC236}">
                <a16:creationId xmlns:a16="http://schemas.microsoft.com/office/drawing/2014/main" id="{ABEB8B4B-B25A-4BA2-A762-6D1506B630DA}"/>
              </a:ext>
            </a:extLst>
          </p:cNvPr>
          <p:cNvSpPr/>
          <p:nvPr/>
        </p:nvSpPr>
        <p:spPr>
          <a:xfrm>
            <a:off x="275565" y="897522"/>
            <a:ext cx="5755004" cy="8775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-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医学场景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异常体征识别、病变区域识别、基因序列异常识别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866034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2AB169-4220-41F6-B9BB-AB3622E8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异常检测的应用场景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42A594-379C-4E2A-B502-8E13723C6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picture 160">
            <a:extLst>
              <a:ext uri="{FF2B5EF4-FFF2-40B4-BE49-F238E27FC236}">
                <a16:creationId xmlns:a16="http://schemas.microsoft.com/office/drawing/2014/main" id="{BB045AFE-150D-4461-8C2C-CED42076E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26369" y="2821164"/>
            <a:ext cx="8581444" cy="2452833"/>
          </a:xfrm>
          <a:prstGeom prst="rect">
            <a:avLst/>
          </a:prstGeom>
        </p:spPr>
      </p:pic>
      <p:sp>
        <p:nvSpPr>
          <p:cNvPr id="6" name="textbox 168">
            <a:extLst>
              <a:ext uri="{FF2B5EF4-FFF2-40B4-BE49-F238E27FC236}">
                <a16:creationId xmlns:a16="http://schemas.microsoft.com/office/drawing/2014/main" id="{AA18746D-4A34-43F5-8758-1B6BF21EF2BA}"/>
              </a:ext>
            </a:extLst>
          </p:cNvPr>
          <p:cNvSpPr/>
          <p:nvPr/>
        </p:nvSpPr>
        <p:spPr>
          <a:xfrm>
            <a:off x="331020" y="5664948"/>
            <a:ext cx="8581445" cy="39412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2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175" algn="l" rtl="0" eaLnBrk="0">
              <a:lnSpc>
                <a:spcPct val="115000"/>
              </a:lnSpc>
              <a:tabLst/>
            </a:pP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Du,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Bowen, et al. "Catch</a:t>
            </a:r>
            <a:r>
              <a:rPr sz="1500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me</a:t>
            </a:r>
            <a:r>
              <a:rPr sz="1500" kern="0" spc="1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if you can:</a:t>
            </a:r>
            <a:r>
              <a:rPr sz="1500" kern="0" spc="1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Detecting</a:t>
            </a:r>
            <a:r>
              <a:rPr sz="1500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pickpocket suspect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s from</a:t>
            </a:r>
            <a:r>
              <a:rPr sz="1500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large-scale</a:t>
            </a:r>
            <a:r>
              <a:rPr sz="15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transit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records."</a:t>
            </a:r>
            <a:r>
              <a:rPr sz="1500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Proceedings</a:t>
            </a:r>
            <a:r>
              <a:rPr sz="1500" i="1" kern="0" spc="1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500" i="1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500" i="1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22nd</a:t>
            </a:r>
            <a:r>
              <a:rPr sz="1500" i="1" kern="0" spc="-1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ACM SIGKDD international conferenc</a:t>
            </a:r>
            <a:r>
              <a:rPr sz="1500" i="1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e on knowledge discovery and data</a:t>
            </a:r>
            <a:r>
              <a:rPr sz="1500" i="1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mining</a:t>
            </a: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500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2016.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7" name="textbox 170">
            <a:extLst>
              <a:ext uri="{FF2B5EF4-FFF2-40B4-BE49-F238E27FC236}">
                <a16:creationId xmlns:a16="http://schemas.microsoft.com/office/drawing/2014/main" id="{3AACF5B6-2560-4494-B8DE-9E57F7CD1085}"/>
              </a:ext>
            </a:extLst>
          </p:cNvPr>
          <p:cNvSpPr/>
          <p:nvPr/>
        </p:nvSpPr>
        <p:spPr>
          <a:xfrm>
            <a:off x="261849" y="1161693"/>
            <a:ext cx="4243070" cy="874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3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智慧城市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利用公交卡轨迹数据 ，识别盗窃行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586631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9E6EAC-6EBB-4701-89D2-7453FF7E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异常检测的应用场景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47D8B9-1A94-4211-B51E-DCDC562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5" name="picture 174">
            <a:extLst>
              <a:ext uri="{FF2B5EF4-FFF2-40B4-BE49-F238E27FC236}">
                <a16:creationId xmlns:a16="http://schemas.microsoft.com/office/drawing/2014/main" id="{488291BC-7C39-498F-BCC4-A51896EFC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5661" y="2507349"/>
            <a:ext cx="8777249" cy="2819634"/>
          </a:xfrm>
          <a:prstGeom prst="rect">
            <a:avLst/>
          </a:prstGeom>
        </p:spPr>
      </p:pic>
      <p:sp>
        <p:nvSpPr>
          <p:cNvPr id="6" name="textbox 182">
            <a:extLst>
              <a:ext uri="{FF2B5EF4-FFF2-40B4-BE49-F238E27FC236}">
                <a16:creationId xmlns:a16="http://schemas.microsoft.com/office/drawing/2014/main" id="{34FEB55C-7C19-44C1-B78B-F31ABBDAFFF6}"/>
              </a:ext>
            </a:extLst>
          </p:cNvPr>
          <p:cNvSpPr/>
          <p:nvPr/>
        </p:nvSpPr>
        <p:spPr>
          <a:xfrm>
            <a:off x="125661" y="1027537"/>
            <a:ext cx="5016500" cy="876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3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智慧城市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利用共享单车骑行轨迹数据 ，识别违章停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box 184">
            <a:extLst>
              <a:ext uri="{FF2B5EF4-FFF2-40B4-BE49-F238E27FC236}">
                <a16:creationId xmlns:a16="http://schemas.microsoft.com/office/drawing/2014/main" id="{89245F04-0D43-42F9-A28D-467F5B62E468}"/>
              </a:ext>
            </a:extLst>
          </p:cNvPr>
          <p:cNvSpPr/>
          <p:nvPr/>
        </p:nvSpPr>
        <p:spPr>
          <a:xfrm>
            <a:off x="364470" y="5671819"/>
            <a:ext cx="8682253" cy="31728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82"/>
              </a:lnSpc>
              <a:tabLst/>
            </a:pP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He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,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Tianfu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,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et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al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. "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Detecting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Vehicle</a:t>
            </a:r>
            <a:r>
              <a:rPr sz="1500" kern="0" spc="18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Illegal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Parking</a:t>
            </a:r>
            <a:r>
              <a:rPr sz="1500" kern="0" spc="16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Events</a:t>
            </a:r>
            <a:r>
              <a:rPr sz="1500" kern="0" spc="14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using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Sharing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Bikes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'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Trajectories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."</a:t>
            </a:r>
            <a:r>
              <a:rPr sz="1500" kern="0" spc="14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KDD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.</a:t>
            </a:r>
            <a:r>
              <a:rPr sz="1500" kern="0" spc="9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 </a:t>
            </a:r>
            <a:r>
              <a:rPr lang="en-US" sz="1500" kern="0" spc="15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2018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+mj-lt"/>
                <a:ea typeface="Arial"/>
                <a:cs typeface="Arial"/>
              </a:rPr>
              <a:t>.</a:t>
            </a:r>
            <a:endParaRPr sz="1500" dirty="0">
              <a:latin typeface="+mj-lt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411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BEE6A2-D77C-4F5A-A0A5-EC0DAF4F8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异常检测的应用场景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4A99E0-28E8-4769-B647-635A3834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textbox 198">
            <a:extLst>
              <a:ext uri="{FF2B5EF4-FFF2-40B4-BE49-F238E27FC236}">
                <a16:creationId xmlns:a16="http://schemas.microsoft.com/office/drawing/2014/main" id="{C12BE185-C687-4627-9E7E-1BF67761D80C}"/>
              </a:ext>
            </a:extLst>
          </p:cNvPr>
          <p:cNvSpPr/>
          <p:nvPr/>
        </p:nvSpPr>
        <p:spPr>
          <a:xfrm>
            <a:off x="260020" y="1161998"/>
            <a:ext cx="3232210" cy="875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视频监控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视频场景中的异常事件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188">
            <a:extLst>
              <a:ext uri="{FF2B5EF4-FFF2-40B4-BE49-F238E27FC236}">
                <a16:creationId xmlns:a16="http://schemas.microsoft.com/office/drawing/2014/main" id="{253DFEA5-146E-4606-AE66-19BF7DDA7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0020" y="2217906"/>
            <a:ext cx="8786585" cy="3198878"/>
          </a:xfrm>
          <a:prstGeom prst="rect">
            <a:avLst/>
          </a:prstGeom>
        </p:spPr>
      </p:pic>
      <p:sp>
        <p:nvSpPr>
          <p:cNvPr id="7" name="textbox 196">
            <a:extLst>
              <a:ext uri="{FF2B5EF4-FFF2-40B4-BE49-F238E27FC236}">
                <a16:creationId xmlns:a16="http://schemas.microsoft.com/office/drawing/2014/main" id="{1E0ED510-6AF3-413D-8967-3805D5CF0FE6}"/>
              </a:ext>
            </a:extLst>
          </p:cNvPr>
          <p:cNvSpPr/>
          <p:nvPr/>
        </p:nvSpPr>
        <p:spPr>
          <a:xfrm>
            <a:off x="111323" y="5597662"/>
            <a:ext cx="8954856" cy="543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2039"/>
              </a:lnSpc>
              <a:tabLst/>
            </a:pP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Santhosh,</a:t>
            </a:r>
            <a:r>
              <a:rPr sz="1500" kern="0" spc="2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Kelathodi</a:t>
            </a:r>
            <a:r>
              <a:rPr sz="1500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Kumaran,</a:t>
            </a:r>
            <a:r>
              <a:rPr sz="1500" kern="0" spc="1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Debi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Prosad</a:t>
            </a:r>
            <a:r>
              <a:rPr sz="1500" kern="0" spc="1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Dogra, and</a:t>
            </a:r>
            <a:r>
              <a:rPr sz="1500" kern="0" spc="1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Partha</a:t>
            </a:r>
            <a:r>
              <a:rPr sz="1500" kern="0" spc="1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Pratim</a:t>
            </a:r>
            <a:r>
              <a:rPr sz="1500" kern="0" spc="1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Roy. "Anomaly detection</a:t>
            </a:r>
            <a:r>
              <a:rPr sz="1500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500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road traffic</a:t>
            </a:r>
            <a:r>
              <a:rPr sz="1500" kern="0" spc="1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using visual</a:t>
            </a:r>
            <a:r>
              <a:rPr lang="en-US"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surveillance</a:t>
            </a: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survey</a:t>
            </a: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." </a:t>
            </a:r>
            <a:r>
              <a:rPr sz="1500" i="1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ACM</a:t>
            </a:r>
            <a:r>
              <a:rPr sz="1500" i="1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Computing</a:t>
            </a:r>
            <a:r>
              <a:rPr sz="1500" i="1" kern="0" spc="1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Surveys</a:t>
            </a:r>
            <a:r>
              <a:rPr sz="1500" i="1" kern="0" spc="1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500" i="1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CSUR</a:t>
            </a:r>
            <a:r>
              <a:rPr sz="1500" i="1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) </a:t>
            </a: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53.6</a:t>
            </a:r>
            <a:r>
              <a:rPr sz="1500" kern="0" spc="1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(2020):</a:t>
            </a:r>
            <a:r>
              <a:rPr sz="1500" kern="0" spc="2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1-26.                </a:t>
            </a:r>
            <a:r>
              <a:rPr sz="15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73445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FEAE68-74E3-4A1D-AA17-2E697635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异常检测的应用场景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B2E405-9306-43F5-911A-7B1DE845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5" name="picture 200">
            <a:extLst>
              <a:ext uri="{FF2B5EF4-FFF2-40B4-BE49-F238E27FC236}">
                <a16:creationId xmlns:a16="http://schemas.microsoft.com/office/drawing/2014/main" id="{CE6AB5B7-C6D0-4855-898E-DF3D221A7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43131" y="2772383"/>
            <a:ext cx="8124038" cy="3210305"/>
          </a:xfrm>
          <a:prstGeom prst="rect">
            <a:avLst/>
          </a:prstGeom>
        </p:spPr>
      </p:pic>
      <p:sp>
        <p:nvSpPr>
          <p:cNvPr id="6" name="textbox 202">
            <a:extLst>
              <a:ext uri="{FF2B5EF4-FFF2-40B4-BE49-F238E27FC236}">
                <a16:creationId xmlns:a16="http://schemas.microsoft.com/office/drawing/2014/main" id="{47962CF6-651D-405C-8DEB-89C9393CA13D}"/>
              </a:ext>
            </a:extLst>
          </p:cNvPr>
          <p:cNvSpPr/>
          <p:nvPr/>
        </p:nvSpPr>
        <p:spPr>
          <a:xfrm>
            <a:off x="257887" y="1162303"/>
            <a:ext cx="8730470" cy="1163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4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数据清洗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93675" algn="l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一些异常数据可能会导致数据的期望或者方差等严重偏离正常，利用异常检测方法检测出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数据中的噪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声通常是数据预处理中很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重要的一步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512582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CBEC7-98B9-4044-A9D1-4503B7515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异常的类别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7C49E0-D325-48A6-8D99-A0077C6A4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875" marR="0" lvl="0" indent="0" algn="l" defTabSz="914400" rtl="0" eaLnBrk="0" fontAlgn="auto" latinLnBrk="0" hangingPunct="1">
              <a:lnSpc>
                <a:spcPts val="31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-1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点异常 </a:t>
            </a:r>
            <a:r>
              <a:rPr kumimoji="0" lang="en-US" altLang="zh-CN" sz="2400" b="1" i="0" u="none" strike="noStrike" kern="0" cap="none" spc="-1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point</a:t>
            </a:r>
            <a:r>
              <a:rPr kumimoji="0" lang="zh-CN" altLang="en-US" sz="2400" b="1" i="0" u="none" strike="noStrike" kern="0" cap="none" spc="9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</a:t>
            </a:r>
            <a:r>
              <a:rPr kumimoji="0" lang="en-US" altLang="zh-CN" sz="2400" b="1" i="0" u="none" strike="noStrike" kern="0" cap="none" spc="-1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anomalies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22225" marR="0" lvl="0" indent="0" algn="l" defTabSz="914400" rtl="0" eaLnBrk="0" fontAlgn="auto" latinLnBrk="0" hangingPunct="1">
              <a:lnSpc>
                <a:spcPct val="8700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•  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少数个体实例是异常的，大多数个体实例是正常的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22225" marR="0" lvl="0" indent="0" algn="l" defTabSz="914400" rtl="0" eaLnBrk="0" fontAlgn="auto" latinLnBrk="0" hangingPunct="1">
              <a:lnSpc>
                <a:spcPct val="87000"/>
              </a:lnSpc>
              <a:spcBef>
                <a:spcPts val="142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•  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例：正常人与病人的健康指标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16509" marR="0" lvl="0" indent="0" algn="l" defTabSz="914400" rtl="0" eaLnBrk="0" fontAlgn="auto" latinLnBrk="0" hangingPunct="1">
              <a:lnSpc>
                <a:spcPts val="3167"/>
              </a:lnSpc>
              <a:spcBef>
                <a:spcPts val="17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条件异常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conditional anomalies</a:t>
            </a:r>
            <a:r>
              <a:rPr kumimoji="0" lang="zh-CN" altLang="en-US" sz="2400" b="1" i="0" u="none" strike="noStrike" kern="0" cap="none" spc="-1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又称上下文异常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22225" marR="0" lvl="0" indent="0" algn="l" defTabSz="914400" rtl="0" eaLnBrk="0" fontAlgn="auto" latinLnBrk="0" hangingPunct="1">
              <a:lnSpc>
                <a:spcPct val="87000"/>
              </a:lnSpc>
              <a:spcBef>
                <a:spcPts val="172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•  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在特定情境下个体实例是异常的，在其他情境下都是正常的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22225" marR="0" lvl="0" indent="0" algn="l" defTabSz="914400" rtl="0" eaLnBrk="0" fontAlgn="auto" latinLnBrk="0" hangingPunct="1">
              <a:lnSpc>
                <a:spcPct val="8700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•  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例：在特定时间下的温度突然上升或下降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l" defTabSz="914400" rtl="0" eaLnBrk="0" fontAlgn="auto" latinLnBrk="0" hangingPunct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2700" marR="0" lvl="0" indent="0" algn="l" defTabSz="914400" rtl="0" eaLnBrk="0" fontAlgn="auto" latinLnBrk="0" hangingPunct="1">
              <a:lnSpc>
                <a:spcPts val="3167"/>
              </a:lnSpc>
              <a:spcBef>
                <a:spcPts val="72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群体异常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group an</a:t>
            </a:r>
            <a:r>
              <a:rPr kumimoji="0" lang="en-US" altLang="zh-CN" sz="2400" b="1" i="0" u="none" strike="noStrike" kern="0" cap="none" spc="-1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omalies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302895" marR="0" lvl="0" indent="-280670" algn="l" defTabSz="914400" rtl="0" eaLnBrk="0" fontAlgn="auto" latinLnBrk="0" hangingPunct="1">
              <a:lnSpc>
                <a:spcPct val="122000"/>
              </a:lnSpc>
              <a:spcBef>
                <a:spcPts val="170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•  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在群体集合中的个体实例出现异常的情况，而该个体实例自身可能不是异常，在入侵或欺诈检测等应用中，离群点对应于多个数据点的序列，而</a:t>
            </a:r>
            <a:r>
              <a:rPr kumimoji="0" lang="zh-CN" altLang="en-US" sz="1800" b="0" i="0" u="none" strike="noStrike" kern="0" cap="none" spc="-1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不是单个数据点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l" defTabSz="914400" rtl="0" eaLnBrk="0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299084" marR="0" lvl="0" indent="-276859" algn="l" defTabSz="914400" rtl="0" eaLnBrk="0" fontAlgn="auto" latinLnBrk="0" hangingPunct="1">
              <a:lnSpc>
                <a:spcPct val="121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•  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例：信用卡突然短时间内不停地消费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50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元的记录集合作为群体异常子集，但子集中的个体可能与真实消费 </a:t>
            </a:r>
            <a:r>
              <a:rPr kumimoji="0" lang="zh-CN" altLang="en-US" sz="1800" b="0" i="0" u="none" strike="noStrike" kern="0" cap="none" spc="-1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记录一样正常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2626C4-F0EA-485F-A750-BA4E9872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307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92132-C9EA-43B7-9B04-D70C1A3E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异常检测面临的挑战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7EB3F3-B374-4C45-BBCC-A29CEF167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" marR="0" lvl="0" indent="0" algn="l" defTabSz="914400" rtl="0" eaLnBrk="0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-2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未知性</a:t>
            </a:r>
            <a:endParaRPr lang="en-US" altLang="zh-CN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marL="13970" marR="0" lvl="0" indent="0" algn="l" defTabSz="914400" rtl="0" eaLnBrk="0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4604" marR="0" lvl="0" indent="0" algn="l" defTabSz="914400" rtl="0" eaLnBrk="0" fontAlgn="auto" latinLnBrk="0" hangingPunct="1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异常与许多未知因素有关，例如，具有未知的突发行为、数据结构和分布的实例。它们直到真正</a:t>
            </a:r>
            <a:r>
              <a:rPr kumimoji="0" lang="zh-CN" altLang="en-US" sz="1800" b="0" i="0" u="none" strike="noStrike" kern="0" cap="none" spc="-1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发生时才为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人所知，比如恐怖袭击、诈骗和网络入</a:t>
            </a:r>
            <a:r>
              <a:rPr kumimoji="0" lang="zh-CN" altLang="en-US" sz="1800" b="0" i="0" u="none" strike="noStrike" kern="0" cap="none" spc="-1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侵等应用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6509" marR="0" lvl="0" indent="0" algn="l" defTabSz="914400" rtl="0" eaLnBrk="0" fontAlgn="auto" latinLnBrk="0" hangingPunct="1">
              <a:lnSpc>
                <a:spcPct val="150000"/>
              </a:lnSpc>
              <a:spcBef>
                <a:spcPts val="72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-1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异常类的异构性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4604" marR="0" lvl="0" indent="0" algn="l" defTabSz="914400" rtl="0" eaLnBrk="0" fontAlgn="auto" latinLnBrk="0" hangingPunct="1">
              <a:lnSpc>
                <a:spcPct val="150000"/>
              </a:lnSpc>
              <a:spcBef>
                <a:spcPts val="54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异常是不规则的，一类异常可能表现出与另一类异常完全不同的异常特征。例如，在视频监控中</a:t>
            </a:r>
            <a:r>
              <a:rPr kumimoji="0" lang="zh-CN" altLang="en-US" sz="1800" b="0" i="0" u="none" strike="noStrike" kern="0" cap="none" spc="-1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，抢劫、交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通事故和盗窃等异常事件在视觉上有</a:t>
            </a:r>
            <a:r>
              <a:rPr kumimoji="0" lang="zh-CN" altLang="en-US" sz="1800" b="0" i="0" u="none" strike="noStrike" kern="0" cap="none" spc="-1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很大差异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l" defTabSz="914400" rtl="0" eaLnBrk="0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7779" marR="0" lvl="0" indent="0" algn="l" defTabSz="914400" rtl="0" eaLnBrk="0" fontAlgn="auto" latinLnBrk="0" hangingPunct="1">
              <a:lnSpc>
                <a:spcPct val="150000"/>
              </a:lnSpc>
              <a:spcBef>
                <a:spcPts val="7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-2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类别不均衡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4604" marR="0" lvl="0" indent="0" algn="l" defTabSz="914400" rtl="0" eaLnBrk="0" fontAlgn="auto" latinLnBrk="0" hangingPunct="1">
              <a:lnSpc>
                <a:spcPct val="150000"/>
              </a:lnSpc>
              <a:spcBef>
                <a:spcPts val="54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异常通常是罕见的数据实例，而正常实例通常占数据的绝大部分。因此，收集大量标了标签的异</a:t>
            </a:r>
            <a:r>
              <a:rPr kumimoji="0" lang="zh-CN" altLang="en-US" sz="1800" b="0" i="0" u="none" strike="noStrike" kern="0" cap="none" spc="-1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常实例是困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难的，甚至是不可能的。这导致在大多数应用程序中无法获得大规模的</a:t>
            </a:r>
            <a:r>
              <a:rPr kumimoji="0" lang="zh-CN" altLang="en-US" sz="1800" b="0" i="0" u="none" strike="noStrike" kern="0" cap="none" spc="-1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标记数据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1CA506-AA0B-4F26-BBF9-1069531F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08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BF15E-4C3F-4DAF-9502-3E28C87A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异常检测问题分类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764C13-053A-45DC-9293-CD7798DC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21" name="picture 238">
            <a:extLst>
              <a:ext uri="{FF2B5EF4-FFF2-40B4-BE49-F238E27FC236}">
                <a16:creationId xmlns:a16="http://schemas.microsoft.com/office/drawing/2014/main" id="{45ABE5D7-5C84-4AF1-B2A0-28770054D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10879" y="4436404"/>
            <a:ext cx="4122242" cy="1472709"/>
          </a:xfrm>
          <a:prstGeom prst="rect">
            <a:avLst/>
          </a:prstGeom>
        </p:spPr>
      </p:pic>
      <p:pic>
        <p:nvPicPr>
          <p:cNvPr id="22" name="picture 240">
            <a:extLst>
              <a:ext uri="{FF2B5EF4-FFF2-40B4-BE49-F238E27FC236}">
                <a16:creationId xmlns:a16="http://schemas.microsoft.com/office/drawing/2014/main" id="{C0181A5B-0D28-4181-8416-65EC13052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76" y="2205191"/>
            <a:ext cx="2922696" cy="1630968"/>
          </a:xfrm>
          <a:prstGeom prst="rect">
            <a:avLst/>
          </a:prstGeom>
        </p:spPr>
      </p:pic>
      <p:pic>
        <p:nvPicPr>
          <p:cNvPr id="23" name="picture 242">
            <a:extLst>
              <a:ext uri="{FF2B5EF4-FFF2-40B4-BE49-F238E27FC236}">
                <a16:creationId xmlns:a16="http://schemas.microsoft.com/office/drawing/2014/main" id="{73E52124-646B-41D7-A24A-F5789B1CE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22355" y="4509052"/>
            <a:ext cx="2271320" cy="1472709"/>
          </a:xfrm>
          <a:prstGeom prst="rect">
            <a:avLst/>
          </a:prstGeom>
        </p:spPr>
      </p:pic>
      <p:pic>
        <p:nvPicPr>
          <p:cNvPr id="24" name="picture 244">
            <a:extLst>
              <a:ext uri="{FF2B5EF4-FFF2-40B4-BE49-F238E27FC236}">
                <a16:creationId xmlns:a16="http://schemas.microsoft.com/office/drawing/2014/main" id="{BBE04D2F-0C81-4215-855F-B14968F1B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502385" y="2125420"/>
            <a:ext cx="2311503" cy="1710740"/>
          </a:xfrm>
          <a:prstGeom prst="rect">
            <a:avLst/>
          </a:prstGeom>
        </p:spPr>
      </p:pic>
      <p:pic>
        <p:nvPicPr>
          <p:cNvPr id="25" name="picture 246">
            <a:extLst>
              <a:ext uri="{FF2B5EF4-FFF2-40B4-BE49-F238E27FC236}">
                <a16:creationId xmlns:a16="http://schemas.microsoft.com/office/drawing/2014/main" id="{CB37BAF4-53E6-4E38-BD2D-CDFBF1B7FC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014" y="4333720"/>
            <a:ext cx="2355632" cy="1678080"/>
          </a:xfrm>
          <a:prstGeom prst="rect">
            <a:avLst/>
          </a:prstGeom>
        </p:spPr>
      </p:pic>
      <p:pic>
        <p:nvPicPr>
          <p:cNvPr id="26" name="picture 248">
            <a:extLst>
              <a:ext uri="{FF2B5EF4-FFF2-40B4-BE49-F238E27FC236}">
                <a16:creationId xmlns:a16="http://schemas.microsoft.com/office/drawing/2014/main" id="{3E25D289-012E-48EC-8E73-FDC7C8C747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522097" y="2113617"/>
            <a:ext cx="2221409" cy="1710740"/>
          </a:xfrm>
          <a:prstGeom prst="rect">
            <a:avLst/>
          </a:prstGeom>
        </p:spPr>
      </p:pic>
      <p:sp>
        <p:nvSpPr>
          <p:cNvPr id="27" name="textbox 250">
            <a:extLst>
              <a:ext uri="{FF2B5EF4-FFF2-40B4-BE49-F238E27FC236}">
                <a16:creationId xmlns:a16="http://schemas.microsoft.com/office/drawing/2014/main" id="{7C4A980A-84F2-4D38-BF64-8618FA2E6800}"/>
              </a:ext>
            </a:extLst>
          </p:cNvPr>
          <p:cNvSpPr/>
          <p:nvPr/>
        </p:nvSpPr>
        <p:spPr>
          <a:xfrm>
            <a:off x="3095045" y="1635658"/>
            <a:ext cx="300482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76"/>
              </a:lnSpc>
              <a:tabLst/>
            </a:pPr>
            <a:r>
              <a:rPr sz="1800" b="1" kern="0" spc="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序列型数据 sequential</a:t>
            </a:r>
            <a:r>
              <a:rPr sz="18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data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textbox 252">
            <a:extLst>
              <a:ext uri="{FF2B5EF4-FFF2-40B4-BE49-F238E27FC236}">
                <a16:creationId xmlns:a16="http://schemas.microsoft.com/office/drawing/2014/main" id="{A1794035-4836-4567-B282-16B86E5A284B}"/>
              </a:ext>
            </a:extLst>
          </p:cNvPr>
          <p:cNvSpPr/>
          <p:nvPr/>
        </p:nvSpPr>
        <p:spPr>
          <a:xfrm>
            <a:off x="6371830" y="1612593"/>
            <a:ext cx="257175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76"/>
              </a:lnSpc>
              <a:tabLst/>
            </a:pPr>
            <a:r>
              <a:rPr sz="18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空间型数据 spatial</a:t>
            </a:r>
            <a:r>
              <a:rPr sz="1800" b="1" kern="0" spc="10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data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textbox 254">
            <a:extLst>
              <a:ext uri="{FF2B5EF4-FFF2-40B4-BE49-F238E27FC236}">
                <a16:creationId xmlns:a16="http://schemas.microsoft.com/office/drawing/2014/main" id="{F4F03CEE-0DC3-42FE-BF50-E4ED16B9CDAC}"/>
              </a:ext>
            </a:extLst>
          </p:cNvPr>
          <p:cNvSpPr/>
          <p:nvPr/>
        </p:nvSpPr>
        <p:spPr>
          <a:xfrm>
            <a:off x="257300" y="1685240"/>
            <a:ext cx="243522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76"/>
              </a:lnSpc>
              <a:tabLst/>
            </a:pPr>
            <a:r>
              <a:rPr sz="18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统计型数据 static</a:t>
            </a:r>
            <a:r>
              <a:rPr sz="1800" b="1" kern="0" spc="1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data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256">
            <a:extLst>
              <a:ext uri="{FF2B5EF4-FFF2-40B4-BE49-F238E27FC236}">
                <a16:creationId xmlns:a16="http://schemas.microsoft.com/office/drawing/2014/main" id="{07396100-7D00-4746-8F96-751B463ADC9B}"/>
              </a:ext>
            </a:extLst>
          </p:cNvPr>
          <p:cNvSpPr/>
          <p:nvPr/>
        </p:nvSpPr>
        <p:spPr>
          <a:xfrm>
            <a:off x="360933" y="1082445"/>
            <a:ext cx="2152014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异常检测数据集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textbox 258">
            <a:extLst>
              <a:ext uri="{FF2B5EF4-FFF2-40B4-BE49-F238E27FC236}">
                <a16:creationId xmlns:a16="http://schemas.microsoft.com/office/drawing/2014/main" id="{3F684CD7-80F6-4E53-AEE3-5D42A3F89BAF}"/>
              </a:ext>
            </a:extLst>
          </p:cNvPr>
          <p:cNvSpPr/>
          <p:nvPr/>
        </p:nvSpPr>
        <p:spPr>
          <a:xfrm>
            <a:off x="3411220" y="6165363"/>
            <a:ext cx="116078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2429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蛋白质序列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260">
            <a:extLst>
              <a:ext uri="{FF2B5EF4-FFF2-40B4-BE49-F238E27FC236}">
                <a16:creationId xmlns:a16="http://schemas.microsoft.com/office/drawing/2014/main" id="{70891A08-099B-4F4A-886C-B3F02A49FA9D}"/>
              </a:ext>
            </a:extLst>
          </p:cNvPr>
          <p:cNvSpPr/>
          <p:nvPr/>
        </p:nvSpPr>
        <p:spPr>
          <a:xfrm>
            <a:off x="4175246" y="3922268"/>
            <a:ext cx="927735" cy="265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2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2429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时间序列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textbox 262">
            <a:extLst>
              <a:ext uri="{FF2B5EF4-FFF2-40B4-BE49-F238E27FC236}">
                <a16:creationId xmlns:a16="http://schemas.microsoft.com/office/drawing/2014/main" id="{95B7F861-24CA-47A2-B56E-8630A019C19A}"/>
              </a:ext>
            </a:extLst>
          </p:cNvPr>
          <p:cNvSpPr/>
          <p:nvPr/>
        </p:nvSpPr>
        <p:spPr>
          <a:xfrm>
            <a:off x="793541" y="6195540"/>
            <a:ext cx="692784" cy="265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40" dirty="0">
                <a:solidFill>
                  <a:srgbClr val="2429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网络流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264">
            <a:extLst>
              <a:ext uri="{FF2B5EF4-FFF2-40B4-BE49-F238E27FC236}">
                <a16:creationId xmlns:a16="http://schemas.microsoft.com/office/drawing/2014/main" id="{4AD940F4-5FDC-4204-9380-98E859D6FC0A}"/>
              </a:ext>
            </a:extLst>
          </p:cNvPr>
          <p:cNvSpPr/>
          <p:nvPr/>
        </p:nvSpPr>
        <p:spPr>
          <a:xfrm>
            <a:off x="1090807" y="3885820"/>
            <a:ext cx="47942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2429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表格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textbox 266">
            <a:extLst>
              <a:ext uri="{FF2B5EF4-FFF2-40B4-BE49-F238E27FC236}">
                <a16:creationId xmlns:a16="http://schemas.microsoft.com/office/drawing/2014/main" id="{CF98FFF5-7E50-4892-A240-CC50C3E006A0}"/>
              </a:ext>
            </a:extLst>
          </p:cNvPr>
          <p:cNvSpPr/>
          <p:nvPr/>
        </p:nvSpPr>
        <p:spPr>
          <a:xfrm>
            <a:off x="7617985" y="6071550"/>
            <a:ext cx="480059" cy="260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2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800" kern="0" spc="-20" dirty="0">
                <a:solidFill>
                  <a:srgbClr val="2429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视频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268">
            <a:extLst>
              <a:ext uri="{FF2B5EF4-FFF2-40B4-BE49-F238E27FC236}">
                <a16:creationId xmlns:a16="http://schemas.microsoft.com/office/drawing/2014/main" id="{C9BBDD9E-18C9-46DA-8225-83498EFBBAC4}"/>
              </a:ext>
            </a:extLst>
          </p:cNvPr>
          <p:cNvSpPr/>
          <p:nvPr/>
        </p:nvSpPr>
        <p:spPr>
          <a:xfrm>
            <a:off x="7488365" y="3935646"/>
            <a:ext cx="467359" cy="261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800" kern="0" spc="-40" dirty="0">
                <a:solidFill>
                  <a:srgbClr val="2429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图像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81195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22291-6A12-41B6-BF1A-448F42E5C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异常检测算法分类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12422D-B549-4AC7-805E-1F22CB009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779" marR="0" lvl="0" indent="0" algn="l" defTabSz="914400" rtl="0" eaLnBrk="0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-1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异常检测基于标签的可获得性划分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l" defTabSz="914400" rtl="0" eaLnBrk="0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3970" marR="0" lvl="0" indent="0" algn="l" defTabSz="914400" rtl="0" eaLnBrk="0" fontAlgn="auto" latinLnBrk="0" hangingPunct="1">
              <a:lnSpc>
                <a:spcPct val="150000"/>
              </a:lnSpc>
              <a:spcBef>
                <a:spcPts val="5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-1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有监督异常检测</a:t>
            </a:r>
            <a:r>
              <a:rPr lang="zh-CN" altLang="en-US" sz="1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在训练集中的正常实例和异常实例都有标签，这类方法的缺点在于数据标签难以获得或数据不均衡</a:t>
            </a:r>
            <a:r>
              <a:rPr kumimoji="0" lang="zh-CN" altLang="en-US" sz="1800" b="0" i="0" u="none" strike="noStrike" kern="0" cap="none" spc="-1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（正常样</a:t>
            </a:r>
            <a:r>
              <a:rPr kumimoji="0" lang="zh-CN" altLang="en-US" sz="1800" b="0" i="0" u="none" strike="noStrike" kern="0" cap="none" spc="-6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本数量远大于异常样本数量）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l" defTabSz="914400" rtl="0" eaLnBrk="0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5875" marR="0" lvl="0" indent="0" algn="l" defTabSz="914400" rtl="0" eaLnBrk="0" fontAlgn="auto" latinLnBrk="0" hangingPunct="1">
              <a:lnSpc>
                <a:spcPct val="150000"/>
              </a:lnSpc>
              <a:spcBef>
                <a:spcPts val="5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-1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半监督异常检测：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在训练集中只有单一类别（正常实例）的实例，没有异常实例</a:t>
            </a:r>
            <a:r>
              <a:rPr kumimoji="0" lang="zh-CN" altLang="en-US" sz="1800" b="0" i="0" u="none" strike="noStrike" kern="0" cap="none" spc="-1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参与训练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l" defTabSz="914400" rtl="0" eaLnBrk="0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4604" marR="0" lvl="0" indent="0" algn="l" defTabSz="914400" rtl="0" eaLnBrk="0" fontAlgn="auto" latinLnBrk="0" hangingPunct="1">
              <a:lnSpc>
                <a:spcPct val="150000"/>
              </a:lnSpc>
              <a:spcBef>
                <a:spcPts val="54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-1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无监督异常检测：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在训练集中既有正常实例也可能存在异常实例，但假设数据的比例是正常实例远大于异常实例，模</a:t>
            </a:r>
            <a:r>
              <a:rPr kumimoji="0" lang="zh-CN" altLang="en-US" sz="1800" b="0" i="0" u="none" strike="noStrike" kern="0" cap="none" spc="-1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型训练过程中没有标签进行校正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pPr marL="0" marR="0" lvl="0" indent="0" algn="l" defTabSz="914400" rtl="0" eaLnBrk="0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5875" marR="0" lvl="0" indent="0" algn="l" defTabSz="914400" rtl="0" eaLnBrk="0" fontAlgn="auto" latinLnBrk="0" hangingPunct="1">
              <a:lnSpc>
                <a:spcPct val="150000"/>
              </a:lnSpc>
              <a:spcBef>
                <a:spcPts val="5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-10" normalizeH="0" baseline="0" noProof="0" dirty="0">
                <a:ln>
                  <a:noFill/>
                </a:ln>
                <a:solidFill>
                  <a:srgbClr val="C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弱监督异常检测：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主要是针对异常实例不完全、粗粒度标签、部分实例标签错误等情况</a:t>
            </a:r>
            <a:r>
              <a:rPr kumimoji="0" lang="zh-CN" altLang="en-US" sz="1800" b="0" i="0" u="none" strike="noStrike" kern="0" cap="none" spc="-10" normalizeH="0" baseline="0" noProof="0" dirty="0">
                <a:ln>
                  <a:noFill/>
                </a:ln>
                <a:solidFill>
                  <a:srgbClr val="24292F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进行算法设计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C13AE3-A660-4198-BE77-E3A662CAC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716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1238B-DFC2-47BF-86E4-009261DB7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latin typeface="HONOR Sans Design ExtraBold DIS" panose="02000600000000000000" pitchFamily="2" charset="-122"/>
                <a:ea typeface="HONOR Sans Design ExtraBold DIS" panose="02000600000000000000" pitchFamily="2" charset="-122"/>
              </a:rPr>
              <a:t>Two paradigms of unsupervised Deep OD </a:t>
            </a: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C88373-8DFB-4417-8BCD-4C189642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3D3DFBE-86D6-4F7A-A226-58753DF0C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41" y="1688077"/>
            <a:ext cx="8676944" cy="3519892"/>
          </a:xfrm>
          <a:prstGeom prst="round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51FFA70-72C0-4AA2-AA34-1CBBDA7681B5}"/>
              </a:ext>
            </a:extLst>
          </p:cNvPr>
          <p:cNvSpPr txBox="1"/>
          <p:nvPr/>
        </p:nvSpPr>
        <p:spPr>
          <a:xfrm>
            <a:off x="1478603" y="5380416"/>
            <a:ext cx="1857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半监督异常检测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602D96-BC70-440A-B251-2679A077DAD4}"/>
              </a:ext>
            </a:extLst>
          </p:cNvPr>
          <p:cNvSpPr txBox="1"/>
          <p:nvPr/>
        </p:nvSpPr>
        <p:spPr>
          <a:xfrm>
            <a:off x="5807413" y="5380416"/>
            <a:ext cx="1857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无监督异常检测</a:t>
            </a:r>
          </a:p>
        </p:txBody>
      </p:sp>
    </p:spTree>
    <p:extLst>
      <p:ext uri="{BB962C8B-B14F-4D97-AF65-F5344CB8AC3E}">
        <p14:creationId xmlns:p14="http://schemas.microsoft.com/office/powerpoint/2010/main" val="3540280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44715-1373-4EE9-809E-58999A420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无监督异常检测的挑战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A336EB-C84B-4BBC-8867-3EA80A44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C97B31-82EB-4199-89F1-082400AA1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5" y="1591097"/>
            <a:ext cx="4706083" cy="34308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4A781F6-641C-474F-A16E-FC9CA05A5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02005"/>
            <a:ext cx="4455760" cy="331997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92C528D-3B3D-48F0-82A0-E87DDBF8BB1E}"/>
              </a:ext>
            </a:extLst>
          </p:cNvPr>
          <p:cNvSpPr txBox="1"/>
          <p:nvPr/>
        </p:nvSpPr>
        <p:spPr>
          <a:xfrm>
            <a:off x="2372497" y="822120"/>
            <a:ext cx="50135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Training With Outliers</a:t>
            </a:r>
            <a:endParaRPr lang="zh-CN" altLang="en-US" sz="32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AD330E-C7F8-40FA-A9C3-F29834DEDB94}"/>
              </a:ext>
            </a:extLst>
          </p:cNvPr>
          <p:cNvSpPr txBox="1"/>
          <p:nvPr/>
        </p:nvSpPr>
        <p:spPr>
          <a:xfrm>
            <a:off x="340466" y="5206185"/>
            <a:ext cx="42315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半监督异常检测：随着训练轮次的增加</a:t>
            </a:r>
            <a:r>
              <a:rPr lang="en-US" altLang="zh-CN" dirty="0">
                <a:solidFill>
                  <a:srgbClr val="C00000"/>
                </a:solidFill>
              </a:rPr>
              <a:t>AUC</a:t>
            </a:r>
            <a:r>
              <a:rPr lang="zh-CN" altLang="en-US" dirty="0">
                <a:solidFill>
                  <a:srgbClr val="C00000"/>
                </a:solidFill>
              </a:rPr>
              <a:t>的值不断增涨，直至趋于平稳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损失函数越小，</a:t>
            </a:r>
            <a:r>
              <a:rPr lang="en-US" altLang="zh-CN" dirty="0">
                <a:solidFill>
                  <a:srgbClr val="C00000"/>
                </a:solidFill>
              </a:rPr>
              <a:t>AUC</a:t>
            </a:r>
            <a:r>
              <a:rPr lang="zh-CN" altLang="en-US" dirty="0">
                <a:solidFill>
                  <a:srgbClr val="C00000"/>
                </a:solidFill>
              </a:rPr>
              <a:t>越好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0DA838-D631-443D-95BD-77EA34103B2F}"/>
              </a:ext>
            </a:extLst>
          </p:cNvPr>
          <p:cNvSpPr txBox="1"/>
          <p:nvPr/>
        </p:nvSpPr>
        <p:spPr>
          <a:xfrm>
            <a:off x="4879258" y="5155995"/>
            <a:ext cx="42315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无监督异常检测：随着训练轮次的增加，模型的</a:t>
            </a:r>
            <a:r>
              <a:rPr lang="en-US" altLang="zh-CN" dirty="0">
                <a:solidFill>
                  <a:srgbClr val="C00000"/>
                </a:solidFill>
              </a:rPr>
              <a:t>AUC</a:t>
            </a:r>
            <a:r>
              <a:rPr lang="zh-CN" altLang="en-US" dirty="0">
                <a:solidFill>
                  <a:srgbClr val="C00000"/>
                </a:solidFill>
              </a:rPr>
              <a:t>不是呈现单调递增趋势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损失函数越小，</a:t>
            </a:r>
            <a:r>
              <a:rPr lang="en-US" altLang="zh-CN" dirty="0">
                <a:solidFill>
                  <a:srgbClr val="C00000"/>
                </a:solidFill>
              </a:rPr>
              <a:t>AUC</a:t>
            </a:r>
            <a:r>
              <a:rPr lang="zh-CN" altLang="en-US" dirty="0">
                <a:solidFill>
                  <a:srgbClr val="C00000"/>
                </a:solidFill>
              </a:rPr>
              <a:t>的值不能确定！</a:t>
            </a:r>
          </a:p>
        </p:txBody>
      </p:sp>
    </p:spTree>
    <p:extLst>
      <p:ext uri="{BB962C8B-B14F-4D97-AF65-F5344CB8AC3E}">
        <p14:creationId xmlns:p14="http://schemas.microsoft.com/office/powerpoint/2010/main" val="2882200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44278-CCFE-495E-B793-BFC41B28F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无监督异常检测中的早停算法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792BC5-8F86-4415-BED6-4A208101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96C8B5-357B-44BF-8469-3FE728B01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02" y="1667920"/>
            <a:ext cx="5496504" cy="2649339"/>
          </a:xfrm>
          <a:prstGeom prst="roundRect">
            <a:avLst>
              <a:gd name="adj" fmla="val 7884"/>
            </a:avLst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29415EF-B3E8-4FC1-95C3-2E7A100C8682}"/>
              </a:ext>
            </a:extLst>
          </p:cNvPr>
          <p:cNvSpPr txBox="1"/>
          <p:nvPr/>
        </p:nvSpPr>
        <p:spPr>
          <a:xfrm>
            <a:off x="373702" y="954872"/>
            <a:ext cx="26314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EntropyStop</a:t>
            </a:r>
            <a:endParaRPr lang="zh-CN" alt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B74D75-6009-4E70-88F1-6F6AB5616627}"/>
              </a:ext>
            </a:extLst>
          </p:cNvPr>
          <p:cNvSpPr txBox="1"/>
          <p:nvPr/>
        </p:nvSpPr>
        <p:spPr>
          <a:xfrm>
            <a:off x="197203" y="5352876"/>
            <a:ext cx="87495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Yihong</a:t>
            </a:r>
            <a:r>
              <a:rPr lang="en-US" altLang="zh-CN" dirty="0"/>
              <a:t> Huang, </a:t>
            </a:r>
            <a:r>
              <a:rPr lang="en-US" altLang="zh-CN" dirty="0" err="1"/>
              <a:t>Yuang</a:t>
            </a:r>
            <a:r>
              <a:rPr lang="en-US" altLang="zh-CN" dirty="0"/>
              <a:t> Zhang, Liping Wang*, Fan Zhang, </a:t>
            </a:r>
            <a:r>
              <a:rPr lang="en-US" altLang="zh-CN" dirty="0" err="1"/>
              <a:t>Xuemin</a:t>
            </a:r>
            <a:r>
              <a:rPr lang="en-US" altLang="zh-CN" dirty="0"/>
              <a:t> Lin, </a:t>
            </a:r>
            <a:r>
              <a:rPr lang="en-US" altLang="zh-CN" dirty="0" err="1"/>
              <a:t>EntropyStop</a:t>
            </a:r>
            <a:r>
              <a:rPr lang="en-US" altLang="zh-CN" dirty="0"/>
              <a:t>: Unsupervised Deep Outlier Detection with Loss Entropy, ACM  SIGKDD 2024, 1143-1154, Barcelona, Spain, August 25–29, 2024. (CCF-A) 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668DF2D-617E-4C76-B605-44704C3B8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5" y="1857737"/>
            <a:ext cx="2957471" cy="228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51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1CBF3-BEA1-43D7-8C92-129407AB7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Unsupervised Graph Outlier Detection</a:t>
            </a:r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A37FC4-3EEA-4797-B5BB-3D5CF0FC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20</a:t>
            </a:fld>
            <a:endParaRPr lang="zh-CN" altLang="en-US"/>
          </a:p>
        </p:txBody>
      </p:sp>
      <p:grpSp>
        <p:nvGrpSpPr>
          <p:cNvPr id="5" name="object 113">
            <a:extLst>
              <a:ext uri="{FF2B5EF4-FFF2-40B4-BE49-F238E27FC236}">
                <a16:creationId xmlns:a16="http://schemas.microsoft.com/office/drawing/2014/main" id="{E97B6597-9056-4DF4-AB53-44EB4AA81562}"/>
              </a:ext>
            </a:extLst>
          </p:cNvPr>
          <p:cNvGrpSpPr/>
          <p:nvPr/>
        </p:nvGrpSpPr>
        <p:grpSpPr>
          <a:xfrm>
            <a:off x="129766" y="979994"/>
            <a:ext cx="298251" cy="274874"/>
            <a:chOff x="557783" y="1115567"/>
            <a:chExt cx="378460" cy="381000"/>
          </a:xfrm>
        </p:grpSpPr>
        <p:sp>
          <p:nvSpPr>
            <p:cNvPr id="6" name="object 114">
              <a:extLst>
                <a:ext uri="{FF2B5EF4-FFF2-40B4-BE49-F238E27FC236}">
                  <a16:creationId xmlns:a16="http://schemas.microsoft.com/office/drawing/2014/main" id="{09F7196E-6BBB-4E77-A3A6-7F9D718AC24A}"/>
                </a:ext>
              </a:extLst>
            </p:cNvPr>
            <p:cNvSpPr/>
            <p:nvPr/>
          </p:nvSpPr>
          <p:spPr>
            <a:xfrm>
              <a:off x="557783" y="1115567"/>
              <a:ext cx="377952" cy="381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15">
              <a:extLst>
                <a:ext uri="{FF2B5EF4-FFF2-40B4-BE49-F238E27FC236}">
                  <a16:creationId xmlns:a16="http://schemas.microsoft.com/office/drawing/2014/main" id="{A261D027-A5B1-446C-9AAB-73D27BAEC464}"/>
                </a:ext>
              </a:extLst>
            </p:cNvPr>
            <p:cNvSpPr/>
            <p:nvPr/>
          </p:nvSpPr>
          <p:spPr>
            <a:xfrm>
              <a:off x="609881" y="1128626"/>
              <a:ext cx="272415" cy="276225"/>
            </a:xfrm>
            <a:custGeom>
              <a:avLst/>
              <a:gdLst/>
              <a:ahLst/>
              <a:cxnLst/>
              <a:rect l="l" t="t" r="r" b="b"/>
              <a:pathLst>
                <a:path w="272415" h="276225">
                  <a:moveTo>
                    <a:pt x="266096" y="0"/>
                  </a:moveTo>
                  <a:lnTo>
                    <a:pt x="6141" y="0"/>
                  </a:lnTo>
                  <a:lnTo>
                    <a:pt x="0" y="6141"/>
                  </a:lnTo>
                  <a:lnTo>
                    <a:pt x="0" y="269933"/>
                  </a:lnTo>
                  <a:lnTo>
                    <a:pt x="6141" y="276076"/>
                  </a:lnTo>
                  <a:lnTo>
                    <a:pt x="266096" y="276076"/>
                  </a:lnTo>
                  <a:lnTo>
                    <a:pt x="272237" y="269933"/>
                  </a:lnTo>
                  <a:lnTo>
                    <a:pt x="272237" y="13717"/>
                  </a:lnTo>
                  <a:lnTo>
                    <a:pt x="272237" y="6141"/>
                  </a:lnTo>
                  <a:lnTo>
                    <a:pt x="266096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425E146A-8DA0-43F5-A3C3-36377898550F}"/>
              </a:ext>
            </a:extLst>
          </p:cNvPr>
          <p:cNvSpPr txBox="1"/>
          <p:nvPr/>
        </p:nvSpPr>
        <p:spPr>
          <a:xfrm>
            <a:off x="84689" y="5564408"/>
            <a:ext cx="90593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 err="1"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Yihong</a:t>
            </a:r>
            <a:r>
              <a:rPr lang="en-US" altLang="zh-CN" sz="1800" kern="100" dirty="0"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 Huang, Liping Wang*, Fan Zhang, </a:t>
            </a:r>
            <a:r>
              <a:rPr lang="en-US" altLang="zh-CN" sz="1800" kern="100" dirty="0" err="1"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Xuemin</a:t>
            </a:r>
            <a:r>
              <a:rPr lang="en-US" altLang="zh-CN" sz="1800" kern="100" dirty="0"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 Lin. Unsupervised Graph Outlier Detection: Problem Revisit, New Insight, and Superior Method. ICDE 2023, 2556-2569, Anaheim, CA, USA, 2023.04.03. (CCF-A) </a:t>
            </a:r>
            <a:endParaRPr lang="zh-CN" altLang="en-US" dirty="0">
              <a:latin typeface="+mj-lt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83597DD-6FED-4014-851E-7BCE6242F8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896"/>
          <a:stretch/>
        </p:blipFill>
        <p:spPr>
          <a:xfrm>
            <a:off x="952902" y="1982079"/>
            <a:ext cx="7711111" cy="3467500"/>
          </a:xfrm>
          <a:prstGeom prst="rect">
            <a:avLst/>
          </a:prstGeom>
        </p:spPr>
      </p:pic>
      <p:sp>
        <p:nvSpPr>
          <p:cNvPr id="10" name="object 116">
            <a:extLst>
              <a:ext uri="{FF2B5EF4-FFF2-40B4-BE49-F238E27FC236}">
                <a16:creationId xmlns:a16="http://schemas.microsoft.com/office/drawing/2014/main" id="{5D9D5095-B9D2-45FE-B1EC-CCE4A7E6D9D9}"/>
              </a:ext>
            </a:extLst>
          </p:cNvPr>
          <p:cNvSpPr txBox="1"/>
          <p:nvPr/>
        </p:nvSpPr>
        <p:spPr>
          <a:xfrm>
            <a:off x="516949" y="905325"/>
            <a:ext cx="8497285" cy="1003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a new variance-based framework VGOD for detecting two types of outliers, which significantly outperforms existing algorithms as well as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DegNorm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What’s more, the balanced detection is achieved.</a:t>
            </a:r>
          </a:p>
        </p:txBody>
      </p:sp>
    </p:spTree>
    <p:extLst>
      <p:ext uri="{BB962C8B-B14F-4D97-AF65-F5344CB8AC3E}">
        <p14:creationId xmlns:p14="http://schemas.microsoft.com/office/powerpoint/2010/main" val="946836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A35C535-0254-4C0D-814D-19B8A81C6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389134"/>
            <a:ext cx="7772400" cy="2079732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Q/A</a:t>
            </a:r>
            <a:br>
              <a:rPr lang="en-US" altLang="zh-CN" b="1" dirty="0"/>
            </a:br>
            <a:br>
              <a:rPr lang="en-US" altLang="zh-CN" b="1" dirty="0"/>
            </a:br>
            <a:r>
              <a:rPr lang="en-US" altLang="zh-CN" b="1" dirty="0"/>
              <a:t>  </a:t>
            </a:r>
            <a:r>
              <a:rPr lang="zh-CN" altLang="en-US" b="1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3896923420"/>
      </p:ext>
    </p:extLst>
  </p:cSld>
  <p:clrMapOvr>
    <a:masterClrMapping/>
  </p:clrMapOvr>
</p:sld>
</file>

<file path=ppt/theme/theme1.xml><?xml version="1.0" encoding="utf-8"?>
<a:theme xmlns:a="http://schemas.openxmlformats.org/drawingml/2006/main" name="白底灰边-Office2010风格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黑体+Times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白底灰边-Office2010风格" id="{A4FB97DD-19BC-49FC-8F3F-E7D8E49AC664}" vid="{03B40C34-2A24-480B-ADA3-2497218558F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白底灰边-Office2010风格</Template>
  <TotalTime>16330</TotalTime>
  <Words>1044</Words>
  <Application>Microsoft Office PowerPoint</Application>
  <PresentationFormat>全屏显示(4:3)</PresentationFormat>
  <Paragraphs>161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HONOR Sans Design ExtraBold DIS</vt:lpstr>
      <vt:lpstr>黑体</vt:lpstr>
      <vt:lpstr>微软雅黑</vt:lpstr>
      <vt:lpstr>微软雅黑</vt:lpstr>
      <vt:lpstr>Arial</vt:lpstr>
      <vt:lpstr>Calibri</vt:lpstr>
      <vt:lpstr>Times New Roman</vt:lpstr>
      <vt:lpstr>Wingdings</vt:lpstr>
      <vt:lpstr>白底灰边-Office2010风格</vt:lpstr>
      <vt:lpstr>Chapter09 异常检测  授课老师：王丽苹    </vt:lpstr>
      <vt:lpstr>异常检测概述</vt:lpstr>
      <vt:lpstr>异常检测概述</vt:lpstr>
      <vt:lpstr>二分类vs异常检测</vt:lpstr>
      <vt:lpstr>异常检测的应用场景</vt:lpstr>
      <vt:lpstr>异常检测的应用场景</vt:lpstr>
      <vt:lpstr>异常检测的应用场景</vt:lpstr>
      <vt:lpstr>异常检测的应用场景</vt:lpstr>
      <vt:lpstr>异常检测的应用场景</vt:lpstr>
      <vt:lpstr>异常检测的应用场景</vt:lpstr>
      <vt:lpstr>异常检测的应用场景</vt:lpstr>
      <vt:lpstr>异常检测的应用场景</vt:lpstr>
      <vt:lpstr>异常的类别</vt:lpstr>
      <vt:lpstr>异常检测面临的挑战</vt:lpstr>
      <vt:lpstr>异常检测问题分类</vt:lpstr>
      <vt:lpstr>异常检测算法分类</vt:lpstr>
      <vt:lpstr>Two paradigms of unsupervised Deep OD </vt:lpstr>
      <vt:lpstr>无监督异常检测的挑战</vt:lpstr>
      <vt:lpstr>无监督异常检测中的早停算法</vt:lpstr>
      <vt:lpstr>Unsupervised Graph Outlier Detection</vt:lpstr>
      <vt:lpstr>Q/A    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wuxf</dc:creator>
  <cp:lastModifiedBy>Liping Wang</cp:lastModifiedBy>
  <cp:revision>1674</cp:revision>
  <dcterms:created xsi:type="dcterms:W3CDTF">2018-01-15T02:11:01Z</dcterms:created>
  <dcterms:modified xsi:type="dcterms:W3CDTF">2025-12-11T01:15:18Z</dcterms:modified>
</cp:coreProperties>
</file>