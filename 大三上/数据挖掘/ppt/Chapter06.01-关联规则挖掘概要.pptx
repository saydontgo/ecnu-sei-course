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30"/>
  </p:notesMasterIdLst>
  <p:sldIdLst>
    <p:sldId id="4261" r:id="rId2"/>
    <p:sldId id="426" r:id="rId3"/>
    <p:sldId id="420" r:id="rId4"/>
    <p:sldId id="411" r:id="rId5"/>
    <p:sldId id="412" r:id="rId6"/>
    <p:sldId id="409" r:id="rId7"/>
    <p:sldId id="421" r:id="rId8"/>
    <p:sldId id="404" r:id="rId9"/>
    <p:sldId id="258" r:id="rId10"/>
    <p:sldId id="259" r:id="rId11"/>
    <p:sldId id="260" r:id="rId12"/>
    <p:sldId id="263" r:id="rId13"/>
    <p:sldId id="264" r:id="rId14"/>
    <p:sldId id="413" r:id="rId15"/>
    <p:sldId id="422" r:id="rId16"/>
    <p:sldId id="414" r:id="rId17"/>
    <p:sldId id="415" r:id="rId18"/>
    <p:sldId id="416" r:id="rId19"/>
    <p:sldId id="417" r:id="rId20"/>
    <p:sldId id="273" r:id="rId21"/>
    <p:sldId id="265" r:id="rId22"/>
    <p:sldId id="268" r:id="rId23"/>
    <p:sldId id="270" r:id="rId24"/>
    <p:sldId id="418" r:id="rId25"/>
    <p:sldId id="271" r:id="rId26"/>
    <p:sldId id="423" r:id="rId27"/>
    <p:sldId id="424" r:id="rId28"/>
    <p:sldId id="4278" r:id="rId2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FDBE"/>
    <a:srgbClr val="DCFDAB"/>
    <a:srgbClr val="FFAAA9"/>
    <a:srgbClr val="DBFDAA"/>
    <a:srgbClr val="FFE1E1"/>
    <a:srgbClr val="ECE5F7"/>
    <a:srgbClr val="E1D6F2"/>
    <a:srgbClr val="DCFDAD"/>
    <a:srgbClr val="D4C5EC"/>
    <a:srgbClr val="FFDA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87" autoAdjust="0"/>
    <p:restoredTop sz="89333" autoAdjust="0"/>
  </p:normalViewPr>
  <p:slideViewPr>
    <p:cSldViewPr snapToGrid="0">
      <p:cViewPr varScale="1">
        <p:scale>
          <a:sx n="98" d="100"/>
          <a:sy n="98" d="100"/>
        </p:scale>
        <p:origin x="1722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F37CF0-5B85-4F82-8895-487FD940EFF8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61C67-365B-455B-8333-B2F385616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39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7907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4044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508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8458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3103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2883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93819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3465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0342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8315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0378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21195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1330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079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4310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6660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9161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6763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49579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6B0F8-8F99-4C95-9278-2047FE2ED74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144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2578" y="1057014"/>
            <a:ext cx="7772400" cy="1535184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9778" y="402987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AFABB-F632-4F91-92AF-0E2D2EA81731}" type="datetime1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356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3C160-1CF6-4197-853C-5DD8144FA9BE}" type="datetime1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455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389" y="1057014"/>
            <a:ext cx="7772400" cy="15336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4978" y="4027400"/>
            <a:ext cx="6858000" cy="1656000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0206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E54B1-0884-4633-8327-893DAA1E511F}" type="datetime1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392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50BB-E4E8-4483-82DA-D58DEBC4998C}" type="datetime1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504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4BCF-E610-4FCE-ADC3-9F4D58E19C5C}" type="datetime1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560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A7D6D-E156-4C2B-9FF2-B27706CE389A}" type="datetime1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92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0FCEF-073A-4FC7-8BAD-A662F97179A2}" type="datetime1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537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6709-067F-4154-9C9A-D56718F28438}" type="datetime1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8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D4C65-E77B-45F2-BD81-CFF9643C0CCF}" type="datetime1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666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06368-F392-4465-AD91-AE646936C52B}" type="datetime1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964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E443-EA00-4061-899C-73E3EB4E23B9}" type="datetime1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5079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jin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C7746-DA12-43BC-8352-55A26F26FE1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6707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4399"/>
            <a:ext cx="9144000" cy="817721"/>
          </a:xfrm>
          <a:prstGeom prst="rect">
            <a:avLst/>
          </a:prstGeom>
        </p:spPr>
        <p:txBody>
          <a:bodyPr vert="horz" lIns="91440" tIns="14400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223" y="906011"/>
            <a:ext cx="8883941" cy="56374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-525" y="6660859"/>
            <a:ext cx="2057400" cy="197140"/>
          </a:xfrm>
          <a:prstGeom prst="rect">
            <a:avLst/>
          </a:prstGeom>
        </p:spPr>
        <p:txBody>
          <a:bodyPr vert="horz" lIns="91440" tIns="36000" rIns="91440" bIns="45720" rtlCol="0" anchor="ctr"/>
          <a:lstStyle>
            <a:lvl1pPr algn="l">
              <a:defRPr sz="1200" b="1">
                <a:solidFill>
                  <a:srgbClr val="002060"/>
                </a:solidFill>
              </a:defRPr>
            </a:lvl1pPr>
          </a:lstStyle>
          <a:p>
            <a:fld id="{7181A378-AD84-4E06-B1B5-6D5F5ACB78AE}" type="datetime1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3417" y="6660859"/>
            <a:ext cx="4597165" cy="197140"/>
          </a:xfrm>
          <a:prstGeom prst="rect">
            <a:avLst/>
          </a:prstGeom>
        </p:spPr>
        <p:txBody>
          <a:bodyPr vert="horz" lIns="91440" tIns="36000" rIns="91440" bIns="45720" rtlCol="0" anchor="ctr"/>
          <a:lstStyle>
            <a:lvl1pPr algn="ctr">
              <a:defRPr sz="1200" b="0">
                <a:solidFill>
                  <a:srgbClr val="002060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660859"/>
            <a:ext cx="2057400" cy="197140"/>
          </a:xfrm>
          <a:prstGeom prst="rect">
            <a:avLst/>
          </a:prstGeom>
        </p:spPr>
        <p:txBody>
          <a:bodyPr vert="horz" lIns="91440" tIns="36000" rIns="91440" bIns="45720" rtlCol="0" anchor="ctr"/>
          <a:lstStyle>
            <a:lvl1pPr algn="r">
              <a:defRPr sz="1200" b="1">
                <a:solidFill>
                  <a:srgbClr val="002060"/>
                </a:solidFill>
              </a:defRPr>
            </a:lvl1pPr>
          </a:lstStyle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387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Wingdings" panose="05000000000000000000" pitchFamily="2" charset="2"/>
        <a:buChar char="n"/>
        <a:defRPr sz="2400" kern="1200">
          <a:solidFill>
            <a:srgbClr val="002060"/>
          </a:solidFill>
          <a:latin typeface="+mn-lt"/>
          <a:ea typeface="+mn-ea"/>
          <a:cs typeface="+mn-cs"/>
        </a:defRPr>
      </a:lvl1pPr>
      <a:lvl2pPr marL="720725" indent="-360363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u"/>
        <a:defRPr sz="2000" kern="1200">
          <a:solidFill>
            <a:srgbClr val="002060"/>
          </a:solidFill>
          <a:latin typeface="+mn-lt"/>
          <a:ea typeface="+mn-ea"/>
          <a:cs typeface="+mn-cs"/>
        </a:defRPr>
      </a:lvl2pPr>
      <a:lvl3pPr marL="990600" indent="-269875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l"/>
        <a:defRPr sz="1800" kern="1200">
          <a:solidFill>
            <a:srgbClr val="002060"/>
          </a:solidFill>
          <a:latin typeface="+mn-lt"/>
          <a:ea typeface="+mn-ea"/>
          <a:cs typeface="+mn-cs"/>
        </a:defRPr>
      </a:lvl3pPr>
      <a:lvl4pPr marL="1258888" indent="-268288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p"/>
        <a:defRPr sz="1600" kern="1200">
          <a:solidFill>
            <a:srgbClr val="002060"/>
          </a:solidFill>
          <a:latin typeface="+mn-lt"/>
          <a:ea typeface="+mn-ea"/>
          <a:cs typeface="+mn-cs"/>
        </a:defRPr>
      </a:lvl4pPr>
      <a:lvl5pPr marL="1527175" indent="-268288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Ø"/>
        <a:defRPr sz="1600" kern="1200">
          <a:solidFill>
            <a:srgbClr val="00206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9.png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9.png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notesSlide" Target="../notesSlides/notesSlide17.xml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4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80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5" Type="http://schemas.openxmlformats.org/officeDocument/2006/relationships/image" Target="../media/image200.png"/><Relationship Id="rId4" Type="http://schemas.openxmlformats.org/officeDocument/2006/relationships/image" Target="../media/image190.png"/><Relationship Id="rId9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64739" y="2797189"/>
            <a:ext cx="8713694" cy="2138947"/>
          </a:xfrm>
        </p:spPr>
        <p:txBody>
          <a:bodyPr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Chapter06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关联规则挖掘</a:t>
            </a:r>
            <a:br>
              <a:rPr lang="en-US" altLang="zh-CN" sz="3600" b="1" dirty="0"/>
            </a:br>
            <a:r>
              <a:rPr lang="zh-CN" altLang="en-US" sz="27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授课老师：王丽苹</a:t>
            </a:r>
            <a:br>
              <a:rPr lang="en-US" altLang="zh-CN" sz="3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br>
              <a:rPr lang="en-US" altLang="zh-CN" sz="3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3100" dirty="0">
                <a:solidFill>
                  <a:srgbClr val="002060"/>
                </a:solidFill>
                <a:latin typeface="+mn-ea"/>
                <a:ea typeface="+mn-ea"/>
              </a:rPr>
              <a:t> </a:t>
            </a:r>
            <a:br>
              <a:rPr lang="en-US" altLang="zh-CN" sz="3100" dirty="0">
                <a:solidFill>
                  <a:srgbClr val="002060"/>
                </a:solidFill>
              </a:rPr>
            </a:br>
            <a:endParaRPr lang="zh-CN" altLang="en-US" sz="3100" dirty="0">
              <a:solidFill>
                <a:srgbClr val="002060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2586" y="4060811"/>
            <a:ext cx="6858000" cy="950912"/>
          </a:xfrm>
        </p:spPr>
        <p:txBody>
          <a:bodyPr/>
          <a:lstStyle/>
          <a:p>
            <a:r>
              <a:rPr lang="en-US" altLang="zh-CN" b="1" dirty="0">
                <a:ea typeface="微软雅黑" panose="020B0503020204020204" pitchFamily="34" charset="-122"/>
                <a:cs typeface="微软雅黑" panose="020B0503020204020204" pitchFamily="34" charset="-122"/>
              </a:rPr>
              <a:t>2025</a:t>
            </a:r>
            <a:r>
              <a:rPr lang="zh-CN" altLang="en-US" b="1" dirty="0">
                <a:ea typeface="微软雅黑" panose="020B0503020204020204" pitchFamily="34" charset="-122"/>
                <a:cs typeface="微软雅黑" panose="020B0503020204020204" pitchFamily="34" charset="-122"/>
              </a:rPr>
              <a:t>年 秋</a:t>
            </a:r>
          </a:p>
        </p:txBody>
      </p:sp>
      <p:sp>
        <p:nvSpPr>
          <p:cNvPr id="4" name="矩形 3"/>
          <p:cNvSpPr/>
          <p:nvPr/>
        </p:nvSpPr>
        <p:spPr>
          <a:xfrm>
            <a:off x="5994072" y="180871"/>
            <a:ext cx="31499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数据挖掘</a:t>
            </a:r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en-US" altLang="zh-CN" sz="2000" b="1" dirty="0">
                <a:solidFill>
                  <a:srgbClr val="002060"/>
                </a:solidFill>
              </a:rPr>
              <a:t>Data Mining</a:t>
            </a:r>
            <a:endParaRPr lang="zh-CN" altLang="en-US" sz="2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715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啤酒与尿布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C7746-DA12-43BC-8352-55A26F26FE18}" type="slidenum">
              <a:rPr lang="en-US" altLang="zh-CN" smtClean="0"/>
              <a:pPr/>
              <a:t>2</a:t>
            </a:fld>
            <a:endParaRPr lang="en-US" altLang="zh-CN"/>
          </a:p>
        </p:txBody>
      </p:sp>
      <p:pic>
        <p:nvPicPr>
          <p:cNvPr id="48130" name="Picture 2" descr="See the source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56" y="1938435"/>
            <a:ext cx="3264363" cy="220344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132" name="Picture 4" descr="See the source image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030708"/>
              </a:clrFrom>
              <a:clrTo>
                <a:srgbClr val="03070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1100325"/>
            <a:ext cx="1768588" cy="1082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134" name="Picture 6" descr="See the source imag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3400489"/>
            <a:ext cx="4367808" cy="2352475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1567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 descr="https://timgsa.baidu.com/timg?image&amp;quality=80&amp;size=b9999_10000&amp;sec=1563537669928&amp;di=664f18e79493cf1716cc40004cf4e29b&amp;imgtype=0&amp;src=http%3A%2F%2Fimg.mp.itc.cn%2Fq_70%2Cc_zoom%2Cw_640%2Fupload%2F20170721%2Fc8501613a9fe45d096b0f2f0df7b3809_th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37" t="39092" r="4102"/>
          <a:stretch/>
        </p:blipFill>
        <p:spPr bwMode="auto">
          <a:xfrm>
            <a:off x="4932040" y="3011073"/>
            <a:ext cx="3589362" cy="2715101"/>
          </a:xfrm>
          <a:prstGeom prst="ellipse">
            <a:avLst/>
          </a:prstGeom>
          <a:ln>
            <a:noFill/>
          </a:ln>
          <a:effectLst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378476" y="5027970"/>
            <a:ext cx="2749471" cy="637097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/>
          <a:p>
            <a:pPr>
              <a:spcBef>
                <a:spcPct val="0"/>
              </a:spcBef>
            </a:pPr>
            <a:r>
              <a:rPr lang="zh-CN" altLang="en-US" sz="4000" dirty="0">
                <a:solidFill>
                  <a:srgbClr val="C0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汉仪水滴体简" pitchFamily="49" charset="-122"/>
                <a:ea typeface="汉仪水滴体简" pitchFamily="49" charset="-122"/>
                <a:cs typeface="+mj-cs"/>
              </a:rPr>
              <a:t>购物篮分析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啤酒与尿布</a:t>
            </a:r>
          </a:p>
        </p:txBody>
      </p:sp>
      <p:pic>
        <p:nvPicPr>
          <p:cNvPr id="8" name="Picture 2" descr="https://timgsa.baidu.com/timg?image&amp;quality=80&amp;size=b9999_10000&amp;sec=1563537669928&amp;di=664f18e79493cf1716cc40004cf4e29b&amp;imgtype=0&amp;src=http%3A%2F%2Fimg.mp.itc.cn%2Fq_70%2Cc_zoom%2Cw_640%2Fupload%2F20170721%2Fc8501613a9fe45d096b0f2f0df7b3809_th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14" r="65716" b="40899"/>
          <a:stretch/>
        </p:blipFill>
        <p:spPr bwMode="auto">
          <a:xfrm>
            <a:off x="1259632" y="1738725"/>
            <a:ext cx="2786584" cy="196527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https://timgsa.baidu.com/timg?image&amp;quality=80&amp;size=b9999_10000&amp;sec=1563537669928&amp;di=664f18e79493cf1716cc40004cf4e29b&amp;imgtype=0&amp;src=http%3A%2F%2Fimg.mp.itc.cn%2Fq_70%2Cc_zoom%2Cw_640%2Fupload%2F20170721%2Fc8501613a9fe45d096b0f2f0df7b3809_th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90" r="6286" b="50913"/>
          <a:stretch/>
        </p:blipFill>
        <p:spPr bwMode="auto">
          <a:xfrm>
            <a:off x="4520290" y="1038818"/>
            <a:ext cx="4318000" cy="2188076"/>
          </a:xfrm>
          <a:prstGeom prst="ellipse">
            <a:avLst/>
          </a:prstGeom>
          <a:ln>
            <a:noFill/>
          </a:ln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https://timgsa.baidu.com/timg?image&amp;quality=80&amp;size=b9999_10000&amp;sec=1563537669928&amp;di=664f18e79493cf1716cc40004cf4e29b&amp;imgtype=0&amp;src=http%3A%2F%2Fimg.mp.itc.cn%2Fq_70%2Cc_zoom%2Cw_640%2Fupload%2F20170721%2Fc8501613a9fe45d096b0f2f0df7b3809_th.jpg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9FAFE"/>
              </a:clrFrom>
              <a:clrTo>
                <a:srgbClr val="F9FA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68" t="28292" r="56171" b="58620"/>
          <a:stretch/>
        </p:blipFill>
        <p:spPr bwMode="auto">
          <a:xfrm>
            <a:off x="3860198" y="2132857"/>
            <a:ext cx="866576" cy="583442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https://timgsa.baidu.com/timg?image&amp;quality=80&amp;size=b9999_10000&amp;sec=1563537669928&amp;di=664f18e79493cf1716cc40004cf4e29b&amp;imgtype=0&amp;src=http%3A%2F%2Fimg.mp.itc.cn%2Fq_70%2Cc_zoom%2Cw_640%2Fupload%2F20170721%2Fc8501613a9fe45d096b0f2f0df7b3809_th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92" t="55786" r="54243" b="1"/>
          <a:stretch/>
        </p:blipFill>
        <p:spPr bwMode="auto">
          <a:xfrm>
            <a:off x="1768679" y="3709277"/>
            <a:ext cx="1955894" cy="1318693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https://timgsa.baidu.com/timg?image&amp;quality=80&amp;size=b9999_10000&amp;sec=1563537669928&amp;di=664f18e79493cf1716cc40004cf4e29b&amp;imgtype=0&amp;src=http%3A%2F%2Fimg.mp.itc.cn%2Fq_70%2Cc_zoom%2Cw_640%2Fupload%2F20170721%2Fc8501613a9fe45d096b0f2f0df7b3809_th.jpg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DFDF3"/>
              </a:clrFrom>
              <a:clrTo>
                <a:srgbClr val="FDFDF3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01" t="71210" r="43870" b="7146"/>
          <a:stretch/>
        </p:blipFill>
        <p:spPr bwMode="auto">
          <a:xfrm>
            <a:off x="4025400" y="4492136"/>
            <a:ext cx="1050879" cy="964859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s://timgsa.baidu.com/timg?image&amp;quality=80&amp;size=b9999_10000&amp;sec=1563537669928&amp;di=664f18e79493cf1716cc40004cf4e29b&amp;imgtype=0&amp;src=http%3A%2F%2Fimg.mp.itc.cn%2Fq_70%2Cc_zoom%2Cw_640%2Fupload%2F20170721%2Fc8501613a9fe45d096b0f2f0df7b3809_th.jpg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7" t="55637" r="86587" b="24278"/>
          <a:stretch/>
        </p:blipFill>
        <p:spPr bwMode="auto">
          <a:xfrm>
            <a:off x="1259633" y="3211713"/>
            <a:ext cx="873457" cy="895294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C7746-DA12-43BC-8352-55A26F26FE18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5628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关联分析应用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62769" y="1700811"/>
            <a:ext cx="4049193" cy="4211042"/>
          </a:xfrm>
        </p:spPr>
        <p:txBody>
          <a:bodyPr/>
          <a:lstStyle/>
          <a:p>
            <a:r>
              <a:rPr lang="zh-CN" altLang="en-US" dirty="0"/>
              <a:t>在美国国会投票记录中发现关联规则</a:t>
            </a:r>
            <a:endParaRPr lang="en-US" altLang="zh-CN" dirty="0"/>
          </a:p>
          <a:p>
            <a:pPr lvl="1"/>
            <a:r>
              <a:rPr lang="zh-CN" altLang="en-US" dirty="0"/>
              <a:t>在一个国会投票记录的数据集中发现议案投票的相关性，使用分析结果来为政治竞选活动服务，或者预测选举官员会如何投票。</a:t>
            </a:r>
          </a:p>
          <a:p>
            <a:endParaRPr lang="en-US" altLang="zh-CN" dirty="0"/>
          </a:p>
        </p:txBody>
      </p:sp>
      <p:pic>
        <p:nvPicPr>
          <p:cNvPr id="48130" name="Picture 2" descr="https://timgsa.baidu.com/timg?image&amp;quality=80&amp;size=b9999_10000&amp;sec=1569552423&amp;di=63a7ac67e2b66b2c3be8b9cc57e8146e&amp;imgtype=jpg&amp;er=1&amp;src=http%3A%2F%2Fwww.a096.com%2Fwp-content%2Fuploads%2F2012%2F11%2F123033w2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1614399"/>
            <a:ext cx="4690492" cy="4221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065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关联分析应用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发现毒蘑菇的相似特征</a:t>
            </a:r>
            <a:endParaRPr lang="en-US" altLang="zh-CN" dirty="0"/>
          </a:p>
          <a:p>
            <a:pPr lvl="1"/>
            <a:r>
              <a:rPr lang="zh-CN" altLang="en-US" dirty="0"/>
              <a:t>这里只对包含某个特定元素（有毒性）的项集感兴趣，从中寻找毒蘑菇中的一些公共特征，利用这些特征来避免吃到那些有毒蘑菇。</a:t>
            </a:r>
          </a:p>
          <a:p>
            <a:endParaRPr lang="en-US" altLang="zh-CN" dirty="0"/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24"/>
          <a:stretch/>
        </p:blipFill>
        <p:spPr bwMode="auto">
          <a:xfrm>
            <a:off x="3059832" y="3528656"/>
            <a:ext cx="5715000" cy="2202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4492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关联分析应用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Twitter</a:t>
            </a:r>
            <a:r>
              <a:rPr lang="zh-CN" altLang="en-US" dirty="0"/>
              <a:t>源中发现一些共现词</a:t>
            </a:r>
            <a:endParaRPr lang="en-US" altLang="zh-CN" dirty="0"/>
          </a:p>
          <a:p>
            <a:pPr lvl="1"/>
            <a:r>
              <a:rPr lang="zh-CN" altLang="en-US" dirty="0"/>
              <a:t>对于给定搜索词，发现推文中频繁出现的单词集合。</a:t>
            </a:r>
          </a:p>
        </p:txBody>
      </p:sp>
      <p:pic>
        <p:nvPicPr>
          <p:cNvPr id="50178" name="Picture 2" descr="https://timgsa.baidu.com/timg?image&amp;quality=80&amp;size=b9999_10000&amp;sec=1568958322457&amp;di=cb554488761a3cd4877dfaa04af7f167&amp;imgtype=0&amp;src=http%3A%2F%2F5b0988e595225.cdn.sohucs.com%2Fq_70%2Cc_zoom%2Cw_640%2Fimages%2F20180825%2Ffc0fa5cf3a7b4e3ca3d11894cfc6a0a2.jpe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3104964"/>
            <a:ext cx="523875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506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关联分析应用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从网站点击流中挖掘流行趋势，挖掘哪些广泛被用户浏览到</a:t>
            </a:r>
          </a:p>
          <a:p>
            <a:endParaRPr lang="zh-CN" altLang="en-US" dirty="0"/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664855"/>
            <a:ext cx="7776864" cy="3226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4932042" y="2291094"/>
            <a:ext cx="389676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搜索引擎推荐，在用户输入查询词时推荐同相关的查询词项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1262557" y="2825410"/>
            <a:ext cx="1293204" cy="149941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2766853" y="2760603"/>
            <a:ext cx="1157077" cy="149941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5154951" y="4415602"/>
            <a:ext cx="1361267" cy="179929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65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关联分析定义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关联分析</a:t>
            </a:r>
            <a:r>
              <a:rPr lang="en-US" altLang="zh-CN" dirty="0"/>
              <a:t>(</a:t>
            </a:r>
            <a:r>
              <a:rPr lang="zh-CN" altLang="en-US" dirty="0"/>
              <a:t>又称关联挖掘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在交易数据、关系数据或其他信息载体中，查找存在于项目集合或对象集合之间的频繁模式、关联、相关性或因果结构。</a:t>
            </a:r>
            <a:endParaRPr lang="en-US" altLang="zh-CN" dirty="0"/>
          </a:p>
          <a:p>
            <a:pPr lvl="1"/>
            <a:r>
              <a:rPr lang="zh-CN" altLang="en-US" dirty="0"/>
              <a:t>或者说，关联分析是发现交易数据库中不同商品（项）之间的联系。</a:t>
            </a:r>
            <a:endParaRPr lang="en-US" altLang="zh-CN" dirty="0"/>
          </a:p>
          <a:p>
            <a:pPr marL="915987" lvl="2" indent="-285750">
              <a:buFont typeface="Arial" panose="020B0604020202020204" pitchFamily="34" charset="0"/>
              <a:buChar char="•"/>
            </a:pPr>
            <a:r>
              <a:rPr lang="en-US" altLang="zh-CN" dirty="0"/>
              <a:t>[</a:t>
            </a:r>
            <a:r>
              <a:rPr lang="zh-CN" altLang="en-US" dirty="0"/>
              <a:t>例如</a:t>
            </a:r>
            <a:r>
              <a:rPr lang="en-US" altLang="zh-CN" dirty="0"/>
              <a:t>]</a:t>
            </a:r>
            <a:r>
              <a:rPr lang="zh-CN" altLang="en-US" dirty="0"/>
              <a:t>人们通常会同时购买什么样的商品？</a:t>
            </a:r>
          </a:p>
          <a:p>
            <a:pPr marL="915987" lvl="2" indent="-285750">
              <a:buFont typeface="Arial" panose="020B0604020202020204" pitchFamily="34" charset="0"/>
              <a:buChar char="•"/>
            </a:pPr>
            <a:r>
              <a:rPr lang="en-US" altLang="zh-CN" dirty="0"/>
              <a:t>[</a:t>
            </a:r>
            <a:r>
              <a:rPr lang="zh-CN" altLang="en-US" dirty="0"/>
              <a:t>例如</a:t>
            </a:r>
            <a:r>
              <a:rPr lang="en-US" altLang="zh-CN" dirty="0"/>
              <a:t>]</a:t>
            </a:r>
            <a:r>
              <a:rPr lang="zh-CN" altLang="en-US" dirty="0"/>
              <a:t>购买微机后，接下来用户通常会有什么购物行为？</a:t>
            </a:r>
          </a:p>
          <a:p>
            <a:pPr marL="915987" lvl="2" indent="-285750">
              <a:buFont typeface="Arial" panose="020B0604020202020204" pitchFamily="34" charset="0"/>
              <a:buChar char="•"/>
            </a:pPr>
            <a:r>
              <a:rPr lang="en-US" altLang="zh-CN" dirty="0"/>
              <a:t>[</a:t>
            </a:r>
            <a:r>
              <a:rPr lang="zh-CN" altLang="en-US" dirty="0"/>
              <a:t>例如</a:t>
            </a:r>
            <a:r>
              <a:rPr lang="en-US" altLang="zh-CN" dirty="0"/>
              <a:t>]</a:t>
            </a:r>
            <a:r>
              <a:rPr lang="zh-CN" altLang="en-US" dirty="0"/>
              <a:t>哪种</a:t>
            </a:r>
            <a:r>
              <a:rPr lang="en-US" altLang="zh-CN" dirty="0"/>
              <a:t>DNA</a:t>
            </a:r>
            <a:r>
              <a:rPr lang="zh-CN" altLang="en-US" dirty="0"/>
              <a:t>对某个新药敏感？</a:t>
            </a:r>
            <a:endParaRPr lang="en-US" altLang="zh-CN" dirty="0"/>
          </a:p>
          <a:p>
            <a:r>
              <a:rPr lang="zh-CN" altLang="en-US" dirty="0"/>
              <a:t>起源：</a:t>
            </a:r>
            <a:r>
              <a:rPr lang="en-US" altLang="zh-CN" dirty="0"/>
              <a:t>1993</a:t>
            </a:r>
            <a:r>
              <a:rPr lang="zh-CN" altLang="en-US" dirty="0"/>
              <a:t>年</a:t>
            </a:r>
            <a:r>
              <a:rPr lang="en-US" altLang="zh-CN" dirty="0"/>
              <a:t>SIGMOD</a:t>
            </a:r>
            <a:r>
              <a:rPr lang="zh-CN" altLang="en-US" dirty="0"/>
              <a:t>大会上</a:t>
            </a:r>
            <a:r>
              <a:rPr lang="en-US" altLang="zh-CN" dirty="0"/>
              <a:t>Agrawal</a:t>
            </a:r>
            <a:r>
              <a:rPr lang="zh-CN" altLang="en-US" dirty="0"/>
              <a:t>等人首次提出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925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2516865" y="2421241"/>
            <a:ext cx="3960000" cy="740472"/>
          </a:xfrm>
          <a:prstGeom prst="roundRect">
            <a:avLst>
              <a:gd name="adj" fmla="val 10000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sp>
      <p:sp>
        <p:nvSpPr>
          <p:cNvPr id="7" name="圆角矩形 4"/>
          <p:cNvSpPr/>
          <p:nvPr/>
        </p:nvSpPr>
        <p:spPr>
          <a:xfrm>
            <a:off x="2516865" y="2421241"/>
            <a:ext cx="3960000" cy="740472"/>
          </a:xfrm>
          <a:prstGeom prst="rect">
            <a:avLst/>
          </a:prstGeom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29540" tIns="129540" rIns="129540" bIns="129540" numCol="1" spcCol="1270" anchor="ctr" anchorCtr="0">
            <a:noAutofit/>
          </a:bodyPr>
          <a:lstStyle/>
          <a:p>
            <a:pPr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3400" dirty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简单关联关系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2516865" y="3439550"/>
            <a:ext cx="3960000" cy="740472"/>
          </a:xfrm>
          <a:prstGeom prst="roundRect">
            <a:avLst>
              <a:gd name="adj" fmla="val 10000"/>
            </a:avLst>
          </a:pr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-16826439"/>
              <a:satOff val="-8652"/>
              <a:lumOff val="-3725"/>
              <a:alphaOff val="0"/>
            </a:schemeClr>
          </a:fillRef>
          <a:effectRef idx="2">
            <a:schemeClr val="accent3">
              <a:hueOff val="-16826439"/>
              <a:satOff val="-8652"/>
              <a:lumOff val="-3725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圆角矩形 4"/>
          <p:cNvSpPr/>
          <p:nvPr/>
        </p:nvSpPr>
        <p:spPr>
          <a:xfrm>
            <a:off x="2516865" y="3439550"/>
            <a:ext cx="3960000" cy="74047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129540" tIns="129540" rIns="129540" bIns="129540" numCol="1" spcCol="1270" anchor="ctr" anchorCtr="0">
            <a:noAutofit/>
          </a:bodyPr>
          <a:lstStyle/>
          <a:p>
            <a:pPr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3400" dirty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序列关联关系</a:t>
            </a:r>
          </a:p>
        </p:txBody>
      </p:sp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关联分析定义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913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简单关联关系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62768" y="1700811"/>
            <a:ext cx="5408559" cy="1339346"/>
          </a:xfrm>
        </p:spPr>
        <p:txBody>
          <a:bodyPr>
            <a:normAutofit/>
          </a:bodyPr>
          <a:lstStyle/>
          <a:p>
            <a:r>
              <a:rPr lang="zh-CN" altLang="en-US" dirty="0"/>
              <a:t>没有共同属性的事物的组合，组合元素会较大概率同时出现；</a:t>
            </a:r>
          </a:p>
        </p:txBody>
      </p:sp>
      <p:sp>
        <p:nvSpPr>
          <p:cNvPr id="5" name="内容占位符 1"/>
          <p:cNvSpPr txBox="1">
            <a:spLocks/>
          </p:cNvSpPr>
          <p:nvPr/>
        </p:nvSpPr>
        <p:spPr>
          <a:xfrm>
            <a:off x="162769" y="2845735"/>
            <a:ext cx="5408559" cy="304593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65760" indent="-283464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8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1pPr>
            <a:lvl2pPr marL="640080" indent="-237744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1"/>
              </a:buClr>
              <a:buFont typeface="Verdana"/>
              <a:buChar char="◦"/>
              <a:defRPr kumimoji="0" sz="24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2pPr>
            <a:lvl3pPr marL="886968" indent="-228600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2"/>
              </a:buClr>
              <a:buFont typeface="Wingdings 2"/>
              <a:buChar char=""/>
              <a:defRPr kumimoji="0" sz="20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3pPr>
            <a:lvl4pPr marL="1097280" indent="-173736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3"/>
              </a:buClr>
              <a:buFont typeface="Wingdings 2"/>
              <a:buChar char=""/>
              <a:defRPr kumimoji="0" sz="18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4pPr>
            <a:lvl5pPr marL="1298448" indent="-182880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4"/>
              </a:buClr>
              <a:buFont typeface="Wingdings 2"/>
              <a:buChar char=""/>
              <a:defRPr kumimoji="0" sz="18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zh-CN" altLang="en-US" sz="2400" dirty="0"/>
              <a:t>购买面包的顾客中</a:t>
            </a:r>
            <a:r>
              <a:rPr lang="en-US" altLang="zh-CN" sz="2400" dirty="0"/>
              <a:t>80%</a:t>
            </a:r>
            <a:r>
              <a:rPr lang="zh-CN" altLang="en-US" sz="2400" dirty="0"/>
              <a:t>会购买牛奶。</a:t>
            </a:r>
            <a:endParaRPr lang="en-US" altLang="zh-CN" sz="2400" dirty="0"/>
          </a:p>
          <a:p>
            <a:pPr lvl="1"/>
            <a:r>
              <a:rPr lang="zh-CN" altLang="en-US" sz="2000" dirty="0"/>
              <a:t>面包和牛奶作为一种早餐的搭配是大家所接受的，二者没有共同属性，但是二者搭配后就是一顿美味早餐。</a:t>
            </a:r>
            <a:endParaRPr lang="en-US" altLang="zh-CN" sz="2000" dirty="0"/>
          </a:p>
          <a:p>
            <a:pPr lvl="1"/>
            <a:r>
              <a:rPr lang="zh-CN" altLang="en-US" sz="2000" dirty="0"/>
              <a:t>商场购买时，如果你把这两样摆在一起时，就会刺激顾客的潜意识联系了二者的关系，并刺激购买。</a:t>
            </a:r>
            <a:endParaRPr lang="en-US" altLang="zh-CN" sz="2000" dirty="0"/>
          </a:p>
          <a:p>
            <a:pPr lvl="1"/>
            <a:r>
              <a:rPr lang="zh-CN" altLang="en-US" sz="2000" dirty="0"/>
              <a:t>这是一种简单的关联关系。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48130" name="Picture 2" descr="查看源图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1325" y="2010863"/>
            <a:ext cx="3386138" cy="2134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472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序列关联关系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事物的出现，很大概率上，会在时间上以一定的先后顺序发生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4" name="内容占位符 1"/>
          <p:cNvSpPr txBox="1">
            <a:spLocks/>
          </p:cNvSpPr>
          <p:nvPr/>
        </p:nvSpPr>
        <p:spPr>
          <a:xfrm>
            <a:off x="539552" y="2809732"/>
            <a:ext cx="5501838" cy="2851517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8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1pPr>
            <a:lvl2pPr marL="640080" indent="-237744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1"/>
              </a:buClr>
              <a:buFont typeface="Verdana"/>
              <a:buChar char="◦"/>
              <a:defRPr kumimoji="0" sz="24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2pPr>
            <a:lvl3pPr marL="886968" indent="-228600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2"/>
              </a:buClr>
              <a:buFont typeface="Wingdings 2"/>
              <a:buChar char=""/>
              <a:defRPr kumimoji="0" sz="20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3pPr>
            <a:lvl4pPr marL="1097280" indent="-173736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3"/>
              </a:buClr>
              <a:buFont typeface="Wingdings 2"/>
              <a:buChar char=""/>
              <a:defRPr kumimoji="0" sz="18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4pPr>
            <a:lvl5pPr marL="1298448" indent="-182880" algn="l" rtl="0" eaLnBrk="1" latinLnBrk="0" hangingPunct="1">
              <a:lnSpc>
                <a:spcPct val="130000"/>
              </a:lnSpc>
              <a:spcBef>
                <a:spcPts val="0"/>
              </a:spcBef>
              <a:buClr>
                <a:schemeClr val="accent4"/>
              </a:buClr>
              <a:buFont typeface="Wingdings 2"/>
              <a:buChar char=""/>
              <a:defRPr kumimoji="0" sz="1800" kern="1200" baseline="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zh-CN" altLang="en-US" sz="2000" dirty="0"/>
              <a:t>比如买了</a:t>
            </a:r>
            <a:r>
              <a:rPr lang="en-US" altLang="zh-CN" sz="2000" dirty="0" err="1"/>
              <a:t>iphone</a:t>
            </a:r>
            <a:r>
              <a:rPr lang="zh-CN" altLang="en-US" sz="2000" dirty="0"/>
              <a:t>手机的顾客中</a:t>
            </a:r>
            <a:r>
              <a:rPr lang="en-US" altLang="zh-CN" sz="2000" dirty="0"/>
              <a:t>80%</a:t>
            </a:r>
            <a:r>
              <a:rPr lang="zh-CN" altLang="en-US" sz="2000" dirty="0"/>
              <a:t>会选择购买</a:t>
            </a:r>
            <a:r>
              <a:rPr lang="en-US" altLang="zh-CN" sz="2000" dirty="0" err="1"/>
              <a:t>iphone</a:t>
            </a:r>
            <a:r>
              <a:rPr lang="zh-CN" altLang="en-US" sz="2000" dirty="0"/>
              <a:t>手机保护壳</a:t>
            </a:r>
            <a:endParaRPr lang="en-US" altLang="zh-CN" sz="2000" dirty="0"/>
          </a:p>
          <a:p>
            <a:r>
              <a:rPr lang="zh-CN" altLang="en-US" sz="2000" dirty="0"/>
              <a:t>这是序列关联关系</a:t>
            </a:r>
            <a:endParaRPr lang="en-US" altLang="zh-CN" sz="2000" dirty="0"/>
          </a:p>
          <a:p>
            <a:r>
              <a:rPr lang="zh-CN" altLang="en-US" sz="2000" dirty="0"/>
              <a:t>存在先后的时间上的顺序</a:t>
            </a:r>
          </a:p>
        </p:txBody>
      </p:sp>
      <p:pic>
        <p:nvPicPr>
          <p:cNvPr id="51202" name="Picture 2" descr="https://timgsa.baidu.com/timg?image&amp;quality=80&amp;size=b9999_10000&amp;sec=1568959080272&amp;di=a3af9290a495f1780c62ffae483b6c49&amp;imgtype=0&amp;src=http%3A%2F%2Fi2.hexun.com%2F2018-01-29%2F192341858.jpg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76" r="32124"/>
          <a:stretch/>
        </p:blipFill>
        <p:spPr bwMode="auto">
          <a:xfrm>
            <a:off x="6119348" y="3040157"/>
            <a:ext cx="693633" cy="130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04" name="Picture 4" descr="https://timgsa.baidu.com/timg?image&amp;quality=80&amp;size=b9999_10000&amp;sec=1568959306612&amp;di=d20e64a0aa8db998fe771ab4067f7b82&amp;imgtype=0&amp;src=http%3A%2F%2Fb-ssl.duitang.com%2Fuploads%2Fitem%2F201704%2F16%2F20170416004713_kAdxS.thumb.700_0.jpeg"/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46" t="7902" r="27423" b="9622"/>
          <a:stretch/>
        </p:blipFill>
        <p:spPr bwMode="auto">
          <a:xfrm>
            <a:off x="7760956" y="3040157"/>
            <a:ext cx="771485" cy="130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右箭头 5"/>
          <p:cNvSpPr/>
          <p:nvPr/>
        </p:nvSpPr>
        <p:spPr>
          <a:xfrm>
            <a:off x="7051109" y="3578249"/>
            <a:ext cx="360040" cy="22438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154" name="Picture 2" descr="http://pics7.baidu.com/feed/203fb80e7bec54e7d0b2440651d8dc564ec26ab7.jpeg?token=bb13d91f8ca7bbc5521a9795f84ed9d6&amp;s=7302D4080A30668C028E2851030090EA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737" y="4602100"/>
            <a:ext cx="1420166" cy="906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156" name="Picture 4" descr="http://image5.suning.cn/uimg/b2c/newcatentries/0000000000-000000000193493920_2_800x800.jpg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472" y="4546081"/>
            <a:ext cx="1131919" cy="101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右箭头 10"/>
          <p:cNvSpPr/>
          <p:nvPr/>
        </p:nvSpPr>
        <p:spPr>
          <a:xfrm>
            <a:off x="3491880" y="4943253"/>
            <a:ext cx="360040" cy="22438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5148064" y="4943253"/>
            <a:ext cx="360040" cy="22438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右箭头 12"/>
          <p:cNvSpPr/>
          <p:nvPr/>
        </p:nvSpPr>
        <p:spPr>
          <a:xfrm>
            <a:off x="6804248" y="4943253"/>
            <a:ext cx="360040" cy="22438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158" name="Picture 6" descr="http://img.pconline.com.cn/images/upload/upc/tx/pc_best/2003/01/c15/195011093_1583010101730.jpg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0043" y="4352495"/>
            <a:ext cx="1690812" cy="1521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160" name="Picture 8" descr="http://dimg.52bjw.cn/image/upload/a7/41/78/cf/a74178cf9eccd4d391e7cd03fc242e5d.jpg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5536" y="4548109"/>
            <a:ext cx="1238912" cy="1014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2052823" y="5605170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华文细黑" pitchFamily="2" charset="-122"/>
                <a:ea typeface="华文细黑" pitchFamily="2" charset="-122"/>
              </a:rPr>
              <a:t>数码相机</a:t>
            </a:r>
          </a:p>
        </p:txBody>
      </p:sp>
      <p:sp>
        <p:nvSpPr>
          <p:cNvPr id="17" name="矩形 16"/>
          <p:cNvSpPr/>
          <p:nvPr/>
        </p:nvSpPr>
        <p:spPr>
          <a:xfrm>
            <a:off x="3824046" y="5605170"/>
            <a:ext cx="8002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华文细黑" pitchFamily="2" charset="-122"/>
                <a:ea typeface="华文细黑" pitchFamily="2" charset="-122"/>
              </a:rPr>
              <a:t>存储卡</a:t>
            </a:r>
          </a:p>
        </p:txBody>
      </p:sp>
      <p:sp>
        <p:nvSpPr>
          <p:cNvPr id="18" name="矩形 17"/>
          <p:cNvSpPr/>
          <p:nvPr/>
        </p:nvSpPr>
        <p:spPr>
          <a:xfrm>
            <a:off x="5436096" y="5605170"/>
            <a:ext cx="12105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华文细黑" pitchFamily="2" charset="-122"/>
                <a:ea typeface="华文细黑" pitchFamily="2" charset="-122"/>
              </a:rPr>
              <a:t>笔记本电脑</a:t>
            </a:r>
          </a:p>
        </p:txBody>
      </p:sp>
      <p:sp>
        <p:nvSpPr>
          <p:cNvPr id="19" name="矩形 18"/>
          <p:cNvSpPr/>
          <p:nvPr/>
        </p:nvSpPr>
        <p:spPr>
          <a:xfrm>
            <a:off x="7308304" y="5605170"/>
            <a:ext cx="12105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华文细黑" pitchFamily="2" charset="-122"/>
                <a:ea typeface="华文细黑" pitchFamily="2" charset="-122"/>
              </a:rPr>
              <a:t>照片打印机</a:t>
            </a:r>
          </a:p>
        </p:txBody>
      </p:sp>
    </p:spTree>
    <p:extLst>
      <p:ext uri="{BB962C8B-B14F-4D97-AF65-F5344CB8AC3E}">
        <p14:creationId xmlns:p14="http://schemas.microsoft.com/office/powerpoint/2010/main" val="4131368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关联分析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基于购物篮事务，进行关联挖掘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6" t="15172" r="5285" b="4466"/>
          <a:stretch/>
        </p:blipFill>
        <p:spPr bwMode="auto">
          <a:xfrm>
            <a:off x="1907705" y="2733628"/>
            <a:ext cx="4176464" cy="2123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060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基于购物篮事务的关联挖掘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30"/>
          <a:stretch/>
        </p:blipFill>
        <p:spPr bwMode="auto">
          <a:xfrm>
            <a:off x="2055435" y="4085302"/>
            <a:ext cx="6909055" cy="182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5220072" y="4671139"/>
            <a:ext cx="1512168" cy="81009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211960" y="4941169"/>
            <a:ext cx="2520000" cy="54006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6" t="15172" r="5285" b="4466"/>
          <a:stretch/>
        </p:blipFill>
        <p:spPr bwMode="auto">
          <a:xfrm>
            <a:off x="275472" y="1808821"/>
            <a:ext cx="3950492" cy="2009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下箭头 5"/>
          <p:cNvSpPr/>
          <p:nvPr/>
        </p:nvSpPr>
        <p:spPr>
          <a:xfrm rot="19856701">
            <a:off x="2828009" y="3724386"/>
            <a:ext cx="324036" cy="550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011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基于购物篮事务的关联挖掘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80"/>
          <a:stretch/>
        </p:blipFill>
        <p:spPr bwMode="auto">
          <a:xfrm>
            <a:off x="1047323" y="1873628"/>
            <a:ext cx="6909055" cy="1828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6231897" y="2473901"/>
            <a:ext cx="360040" cy="259229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23528" y="3817843"/>
            <a:ext cx="25202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{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鸡蛋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} 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的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支持度计数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=1</a:t>
            </a:r>
            <a:endParaRPr lang="zh-CN" altLang="en-US" dirty="0"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283968" y="2456892"/>
            <a:ext cx="1368152" cy="84249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323530" y="4279207"/>
            <a:ext cx="30396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{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尿布 啤酒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} 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的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支持度计数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=3</a:t>
            </a:r>
            <a:endParaRPr lang="zh-CN" altLang="en-US" dirty="0"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23528" y="4727406"/>
            <a:ext cx="35589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{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面包 牛奶 尿布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} 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的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支持度计数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=2</a:t>
            </a:r>
            <a:endParaRPr lang="zh-CN" altLang="en-US" dirty="0"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319046" y="3037832"/>
            <a:ext cx="2396970" cy="520783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5292080" y="3817843"/>
            <a:ext cx="22878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{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鸡蛋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} 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的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支持度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=1/5</a:t>
            </a:r>
            <a:endParaRPr lang="zh-CN" altLang="en-US" dirty="0"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292082" y="4276946"/>
            <a:ext cx="28071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{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尿布 啤酒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} 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的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支持度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=3/5</a:t>
            </a:r>
            <a:endParaRPr lang="zh-CN" altLang="en-US" dirty="0"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292080" y="4725144"/>
            <a:ext cx="3326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{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面包 牛奶 尿布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} 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的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支持度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=2/5</a:t>
            </a:r>
            <a:endParaRPr lang="zh-CN" altLang="en-US" dirty="0"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" name="右箭头 1"/>
          <p:cNvSpPr/>
          <p:nvPr/>
        </p:nvSpPr>
        <p:spPr>
          <a:xfrm>
            <a:off x="3635896" y="4279208"/>
            <a:ext cx="1080120" cy="163938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3707925" y="3947458"/>
            <a:ext cx="6238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N=5</a:t>
            </a:r>
            <a:endParaRPr lang="zh-CN" altLang="en-US" dirty="0"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271594" y="5113987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概念：支持度计数</a:t>
            </a:r>
            <a:endParaRPr lang="zh-CN" altLang="en-US" sz="2000" dirty="0"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036395" y="5502830"/>
            <a:ext cx="9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支持度</a:t>
            </a:r>
            <a:endParaRPr lang="zh-CN" altLang="en-US" sz="2000" dirty="0">
              <a:latin typeface="华文细黑" pitchFamily="2" charset="-122"/>
              <a:ea typeface="华文细黑" pitchFamily="2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467543" y="5113987"/>
            <a:ext cx="1548000" cy="0"/>
          </a:xfrm>
          <a:prstGeom prst="line">
            <a:avLst/>
          </a:prstGeom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467545" y="5142731"/>
            <a:ext cx="697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项集</a:t>
            </a:r>
            <a:endParaRPr lang="zh-CN" altLang="en-US" sz="2000" dirty="0"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180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10" grpId="0"/>
      <p:bldP spid="15" grpId="0" animBg="1"/>
      <p:bldP spid="15" grpId="1" animBg="1"/>
      <p:bldP spid="16" grpId="0"/>
      <p:bldP spid="17" grpId="0"/>
      <p:bldP spid="18" grpId="0" animBg="1"/>
      <p:bldP spid="18" grpId="1" animBg="1"/>
      <p:bldP spid="19" grpId="0"/>
      <p:bldP spid="20" grpId="0"/>
      <p:bldP spid="21" grpId="0"/>
      <p:bldP spid="2" grpId="0" animBg="1"/>
      <p:bldP spid="22" grpId="0"/>
      <p:bldP spid="23" grpId="0"/>
      <p:bldP spid="24" grpId="0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基于购物篮事务的关联挖掘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80"/>
          <a:stretch/>
        </p:blipFill>
        <p:spPr bwMode="auto">
          <a:xfrm>
            <a:off x="1047323" y="1873628"/>
            <a:ext cx="6909055" cy="1828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572000" y="4595530"/>
            <a:ext cx="3262432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支持度太低，不能说明问题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2" y="4929728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zh-CN" altLang="en-US" dirty="0"/>
              <a:t>项集越大，支持度越低</a:t>
            </a:r>
          </a:p>
        </p:txBody>
      </p:sp>
      <p:sp>
        <p:nvSpPr>
          <p:cNvPr id="20" name="矩形 19"/>
          <p:cNvSpPr/>
          <p:nvPr/>
        </p:nvSpPr>
        <p:spPr>
          <a:xfrm>
            <a:off x="2267744" y="3016258"/>
            <a:ext cx="3384376" cy="283128"/>
          </a:xfrm>
          <a:prstGeom prst="rect">
            <a:avLst/>
          </a:prstGeom>
          <a:noFill/>
          <a:ln w="28575">
            <a:solidFill>
              <a:srgbClr val="FF6565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301961" y="3817843"/>
            <a:ext cx="28071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{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尿布 啤酒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} 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的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支持度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=3/5</a:t>
            </a:r>
            <a:endParaRPr lang="zh-CN" altLang="en-US" dirty="0"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01959" y="4206686"/>
            <a:ext cx="3326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{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牛奶 尿布 啤酒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} 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的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支持度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=2/5</a:t>
            </a:r>
            <a:endParaRPr lang="zh-CN" altLang="en-US" dirty="0"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01961" y="4595530"/>
            <a:ext cx="38459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{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面包 牛奶 尿布 啤酒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} 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的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支持度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=1/5</a:t>
            </a:r>
            <a:endParaRPr lang="zh-CN" altLang="en-US" dirty="0"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3275856" y="2733130"/>
            <a:ext cx="2376264" cy="566257"/>
          </a:xfrm>
          <a:prstGeom prst="rect">
            <a:avLst/>
          </a:prstGeom>
          <a:noFill/>
          <a:ln w="28575">
            <a:solidFill>
              <a:srgbClr val="FF3737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283968" y="2456892"/>
            <a:ext cx="1368152" cy="84249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213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20" grpId="0" animBg="1"/>
      <p:bldP spid="18" grpId="0"/>
      <p:bldP spid="21" grpId="0"/>
      <p:bldP spid="22" grpId="0"/>
      <p:bldP spid="19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基于购物篮事务的关联挖掘</a:t>
            </a:r>
          </a:p>
        </p:txBody>
      </p:sp>
      <p:sp>
        <p:nvSpPr>
          <p:cNvPr id="15" name="矩形 14"/>
          <p:cNvSpPr/>
          <p:nvPr/>
        </p:nvSpPr>
        <p:spPr>
          <a:xfrm>
            <a:off x="2555776" y="2230222"/>
            <a:ext cx="2376264" cy="139320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6" name="内容占位符 3"/>
          <p:cNvGraphicFramePr>
            <a:graphicFrameLocks/>
          </p:cNvGraphicFramePr>
          <p:nvPr/>
        </p:nvGraphicFramePr>
        <p:xfrm>
          <a:off x="1403648" y="1938434"/>
          <a:ext cx="6552728" cy="1728218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TID</a:t>
                      </a:r>
                      <a:endParaRPr lang="zh-CN" sz="2500" b="1" kern="100" dirty="0">
                        <a:solidFill>
                          <a:srgbClr val="002060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面包</a:t>
                      </a:r>
                      <a:endParaRPr lang="zh-CN" sz="2500" b="1" kern="100" dirty="0">
                        <a:solidFill>
                          <a:srgbClr val="002060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牛奶</a:t>
                      </a:r>
                      <a:endParaRPr lang="zh-CN" sz="2500" b="1" kern="100" dirty="0">
                        <a:solidFill>
                          <a:srgbClr val="002060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鸡蛋</a:t>
                      </a:r>
                      <a:endParaRPr lang="zh-CN" sz="2500" b="1" kern="100" dirty="0">
                        <a:solidFill>
                          <a:srgbClr val="002060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啤酒</a:t>
                      </a:r>
                      <a:endParaRPr lang="zh-CN" sz="2500" b="1" kern="100" dirty="0">
                        <a:solidFill>
                          <a:srgbClr val="002060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可乐</a:t>
                      </a:r>
                      <a:endParaRPr lang="zh-CN" sz="2500" b="1" kern="100" dirty="0">
                        <a:solidFill>
                          <a:srgbClr val="002060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尿布</a:t>
                      </a:r>
                      <a:endParaRPr lang="zh-CN" sz="2500" b="1" kern="100" dirty="0">
                        <a:solidFill>
                          <a:srgbClr val="002060"/>
                        </a:solidFill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266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266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0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266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kumimoji="0" lang="en-US" altLang="zh-CN" sz="1600" b="0" kern="1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</a:t>
                      </a:r>
                      <a:endParaRPr kumimoji="0" lang="zh-CN" sz="1600" b="0" kern="1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kumimoji="0" lang="en-US" altLang="zh-CN" sz="1600" b="0" kern="1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0</a:t>
                      </a:r>
                      <a:endParaRPr kumimoji="0" lang="zh-CN" sz="1600" b="0" kern="1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0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266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0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266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CN" sz="2500" b="0" kern="100" dirty="0">
                        <a:effectLst/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467546" y="3882650"/>
            <a:ext cx="30059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支持度高也不一定有价值</a:t>
            </a:r>
          </a:p>
        </p:txBody>
      </p:sp>
      <p:sp>
        <p:nvSpPr>
          <p:cNvPr id="17" name="矩形 16"/>
          <p:cNvSpPr/>
          <p:nvPr/>
        </p:nvSpPr>
        <p:spPr>
          <a:xfrm>
            <a:off x="467546" y="4271494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常识性的发现没有价值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588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6" grpId="0" animBg="1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基于购物篮事务的关联挖掘</a:t>
            </a:r>
          </a:p>
        </p:txBody>
      </p:sp>
      <p:sp>
        <p:nvSpPr>
          <p:cNvPr id="10" name="矩形 9"/>
          <p:cNvSpPr/>
          <p:nvPr/>
        </p:nvSpPr>
        <p:spPr>
          <a:xfrm>
            <a:off x="179512" y="3817843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怎样才算“关联”？</a:t>
            </a:r>
          </a:p>
        </p:txBody>
      </p:sp>
      <p:sp>
        <p:nvSpPr>
          <p:cNvPr id="11" name="矩形 10"/>
          <p:cNvSpPr/>
          <p:nvPr/>
        </p:nvSpPr>
        <p:spPr>
          <a:xfrm>
            <a:off x="539552" y="4152042"/>
            <a:ext cx="23903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1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）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支持度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高，足够高</a:t>
            </a:r>
          </a:p>
        </p:txBody>
      </p:sp>
      <p:sp>
        <p:nvSpPr>
          <p:cNvPr id="12" name="矩形 11"/>
          <p:cNvSpPr/>
          <p:nvPr/>
        </p:nvSpPr>
        <p:spPr>
          <a:xfrm>
            <a:off x="3168267" y="4150242"/>
            <a:ext cx="23711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≥支持度阈值 </a:t>
            </a:r>
            <a:r>
              <a:rPr lang="en-US" altLang="zh-CN" b="1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minSup</a:t>
            </a:r>
            <a:endParaRPr lang="zh-CN" altLang="en-US" b="1" i="1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168269" y="4501285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置信度</a:t>
            </a:r>
            <a:endParaRPr lang="zh-CN" altLang="en-US" dirty="0"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39552" y="4501285"/>
            <a:ext cx="23903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2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）同时出现的概率大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80"/>
          <a:stretch/>
        </p:blipFill>
        <p:spPr bwMode="auto">
          <a:xfrm>
            <a:off x="1047323" y="1873628"/>
            <a:ext cx="6909055" cy="1828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矩形 15"/>
          <p:cNvSpPr/>
          <p:nvPr/>
        </p:nvSpPr>
        <p:spPr>
          <a:xfrm>
            <a:off x="4159498" y="4726712"/>
            <a:ext cx="28873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出现 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{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尿布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} 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的事务中，</a:t>
            </a:r>
            <a:endParaRPr lang="en-US" altLang="zh-CN" dirty="0">
              <a:latin typeface="华文细黑" pitchFamily="2" charset="-122"/>
              <a:ea typeface="华文细黑" pitchFamily="2" charset="-122"/>
            </a:endParaRPr>
          </a:p>
          <a:p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有多少出现了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{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尿布，啤酒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}</a:t>
            </a:r>
            <a:endParaRPr lang="zh-CN" altLang="en-US" dirty="0"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046825" y="4789951"/>
            <a:ext cx="9095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=3/4</a:t>
            </a:r>
            <a:endParaRPr lang="zh-CN" altLang="en-US" dirty="0"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160367" y="4501285"/>
            <a:ext cx="24737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≥置信度阈值 </a:t>
            </a:r>
            <a:r>
              <a:rPr lang="en-US" altLang="zh-CN" b="1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minConf</a:t>
            </a:r>
            <a:endParaRPr lang="zh-CN" altLang="en-US" b="1" i="1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364251" y="1808821"/>
            <a:ext cx="4267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  <a:sym typeface="Wingdings"/>
              </a:rPr>
              <a:t>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220072" y="1808821"/>
            <a:ext cx="4267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  <a:sym typeface="Wingdings"/>
              </a:rPr>
              <a:t>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139952" y="2456892"/>
            <a:ext cx="720000" cy="110160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5076056" y="2456892"/>
            <a:ext cx="720000" cy="87480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4139952" y="2456892"/>
            <a:ext cx="720000" cy="110160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4211960" y="2489393"/>
            <a:ext cx="1548000" cy="81000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434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5" grpId="0"/>
      <p:bldP spid="16" grpId="0"/>
      <p:bldP spid="16" grpId="1"/>
      <p:bldP spid="17" grpId="0"/>
      <p:bldP spid="17" grpId="1"/>
      <p:bldP spid="19" grpId="0"/>
      <p:bldP spid="2" grpId="0"/>
      <p:bldP spid="18" grpId="0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基于购物篮事务的关联挖掘</a:t>
            </a:r>
          </a:p>
        </p:txBody>
      </p:sp>
      <p:sp>
        <p:nvSpPr>
          <p:cNvPr id="16" name="矩形 15"/>
          <p:cNvSpPr/>
          <p:nvPr/>
        </p:nvSpPr>
        <p:spPr>
          <a:xfrm>
            <a:off x="183919" y="3725536"/>
            <a:ext cx="2056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{</a:t>
            </a:r>
            <a:r>
              <a:rPr lang="zh-CN" altLang="zh-CN" dirty="0">
                <a:latin typeface="华文细黑" pitchFamily="2" charset="-122"/>
                <a:ea typeface="华文细黑" pitchFamily="2" charset="-122"/>
              </a:rPr>
              <a:t>尿布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} 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支持度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=4/5</a:t>
            </a:r>
            <a:endParaRPr lang="zh-CN" altLang="en-US" dirty="0">
              <a:latin typeface="华文细黑" pitchFamily="2" charset="-122"/>
              <a:ea typeface="华文细黑" pitchFamily="2" charset="-122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51520" y="4713865"/>
          <a:ext cx="2573362" cy="594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公式" r:id="rId4" imgW="1663560" imgH="419040" progId="Equation.3">
                  <p:embed/>
                </p:oleObj>
              </mc:Choice>
              <mc:Fallback>
                <p:oleObj name="公式" r:id="rId4" imgW="1663560" imgH="419040" progId="Equation.3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4713865"/>
                        <a:ext cx="2573362" cy="5945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80"/>
          <a:stretch/>
        </p:blipFill>
        <p:spPr bwMode="auto">
          <a:xfrm>
            <a:off x="1047323" y="1873628"/>
            <a:ext cx="6909055" cy="1828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矩形 17"/>
          <p:cNvSpPr/>
          <p:nvPr/>
        </p:nvSpPr>
        <p:spPr>
          <a:xfrm>
            <a:off x="2979204" y="3666576"/>
            <a:ext cx="6057292" cy="185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zh-CN" sz="1600" dirty="0">
                <a:latin typeface="华文细黑" pitchFamily="2" charset="-122"/>
                <a:ea typeface="华文细黑" pitchFamily="2" charset="-122"/>
              </a:rPr>
              <a:t>如果根据本例中的业务和数据的特性和规律，</a:t>
            </a:r>
            <a:endParaRPr lang="en-US" altLang="zh-CN" sz="1600" dirty="0">
              <a:latin typeface="华文细黑" pitchFamily="2" charset="-122"/>
              <a:ea typeface="华文细黑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zh-CN" sz="1600" dirty="0">
                <a:latin typeface="华文细黑" pitchFamily="2" charset="-122"/>
                <a:ea typeface="华文细黑" pitchFamily="2" charset="-122"/>
              </a:rPr>
              <a:t>认为支持度</a:t>
            </a:r>
            <a:r>
              <a:rPr lang="en-US" altLang="zh-CN" sz="1600" dirty="0">
                <a:latin typeface="华文细黑" pitchFamily="2" charset="-122"/>
                <a:ea typeface="华文细黑" pitchFamily="2" charset="-122"/>
              </a:rPr>
              <a:t>3/5</a:t>
            </a:r>
            <a:r>
              <a:rPr lang="zh-CN" altLang="zh-CN" sz="1600" dirty="0">
                <a:latin typeface="华文细黑" pitchFamily="2" charset="-122"/>
                <a:ea typeface="华文细黑" pitchFamily="2" charset="-122"/>
              </a:rPr>
              <a:t>和置信度</a:t>
            </a:r>
            <a:r>
              <a:rPr lang="en-US" altLang="zh-CN" sz="1600" dirty="0">
                <a:latin typeface="华文细黑" pitchFamily="2" charset="-122"/>
                <a:ea typeface="华文细黑" pitchFamily="2" charset="-122"/>
              </a:rPr>
              <a:t>3/4</a:t>
            </a:r>
            <a:r>
              <a:rPr lang="zh-CN" altLang="zh-CN" sz="1600" dirty="0">
                <a:latin typeface="华文细黑" pitchFamily="2" charset="-122"/>
                <a:ea typeface="华文细黑" pitchFamily="2" charset="-122"/>
              </a:rPr>
              <a:t>已足够建立关联规则，</a:t>
            </a:r>
            <a:endParaRPr lang="en-US" altLang="zh-CN" sz="1600" dirty="0">
              <a:latin typeface="华文细黑" pitchFamily="2" charset="-122"/>
              <a:ea typeface="华文细黑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zh-CN" sz="1600" dirty="0">
                <a:latin typeface="华文细黑" pitchFamily="2" charset="-122"/>
                <a:ea typeface="华文细黑" pitchFamily="2" charset="-122"/>
              </a:rPr>
              <a:t>则认为规则 </a:t>
            </a:r>
            <a:r>
              <a:rPr lang="en-US" altLang="zh-CN" sz="1600" dirty="0">
                <a:latin typeface="华文细黑" pitchFamily="2" charset="-122"/>
                <a:ea typeface="华文细黑" pitchFamily="2" charset="-122"/>
              </a:rPr>
              <a:t>{</a:t>
            </a:r>
            <a:r>
              <a:rPr lang="zh-CN" altLang="zh-CN" sz="1600" dirty="0">
                <a:latin typeface="华文细黑" pitchFamily="2" charset="-122"/>
                <a:ea typeface="华文细黑" pitchFamily="2" charset="-122"/>
              </a:rPr>
              <a:t>尿布</a:t>
            </a:r>
            <a:r>
              <a:rPr lang="en-US" altLang="zh-CN" sz="1600" dirty="0">
                <a:latin typeface="华文细黑" pitchFamily="2" charset="-122"/>
                <a:ea typeface="华文细黑" pitchFamily="2" charset="-122"/>
              </a:rPr>
              <a:t>}</a:t>
            </a:r>
            <a:r>
              <a:rPr lang="en-US" altLang="zh-CN" sz="1600" dirty="0">
                <a:latin typeface="华文细黑" pitchFamily="2" charset="-122"/>
                <a:ea typeface="华文细黑" pitchFamily="2" charset="-122"/>
                <a:sym typeface="Wingdings 3"/>
              </a:rPr>
              <a:t></a:t>
            </a:r>
            <a:r>
              <a:rPr lang="en-US" altLang="zh-CN" sz="1600" dirty="0">
                <a:latin typeface="华文细黑" pitchFamily="2" charset="-122"/>
                <a:ea typeface="华文细黑" pitchFamily="2" charset="-122"/>
              </a:rPr>
              <a:t>{</a:t>
            </a:r>
            <a:r>
              <a:rPr lang="zh-CN" altLang="zh-CN" sz="1600" dirty="0">
                <a:latin typeface="华文细黑" pitchFamily="2" charset="-122"/>
                <a:ea typeface="华文细黑" pitchFamily="2" charset="-122"/>
              </a:rPr>
              <a:t>啤酒</a:t>
            </a:r>
            <a:r>
              <a:rPr lang="en-US" altLang="zh-CN" sz="1600" dirty="0">
                <a:latin typeface="华文细黑" pitchFamily="2" charset="-122"/>
                <a:ea typeface="华文细黑" pitchFamily="2" charset="-122"/>
              </a:rPr>
              <a:t>} </a:t>
            </a:r>
            <a:r>
              <a:rPr lang="zh-CN" altLang="zh-CN" sz="1600" dirty="0">
                <a:latin typeface="华文细黑" pitchFamily="2" charset="-122"/>
                <a:ea typeface="华文细黑" pitchFamily="2" charset="-122"/>
              </a:rPr>
              <a:t>存在，</a:t>
            </a:r>
            <a:endParaRPr lang="en-US" altLang="zh-CN" sz="1600" dirty="0">
              <a:latin typeface="华文细黑" pitchFamily="2" charset="-122"/>
              <a:ea typeface="华文细黑" pitchFamily="2" charset="-122"/>
            </a:endParaRPr>
          </a:p>
          <a:p>
            <a:pPr>
              <a:lnSpc>
                <a:spcPct val="130000"/>
              </a:lnSpc>
            </a:pPr>
            <a:endParaRPr lang="en-US" altLang="zh-CN" sz="2400" dirty="0">
              <a:latin typeface="华文细黑" pitchFamily="2" charset="-122"/>
              <a:ea typeface="华文细黑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latin typeface="华文细黑" pitchFamily="2" charset="-122"/>
                <a:ea typeface="华文细黑" pitchFamily="2" charset="-122"/>
              </a:rPr>
              <a:t>即</a:t>
            </a:r>
            <a:r>
              <a:rPr lang="zh-CN" altLang="zh-CN" sz="1600" dirty="0">
                <a:latin typeface="华文细黑" pitchFamily="2" charset="-122"/>
                <a:ea typeface="华文细黑" pitchFamily="2" charset="-122"/>
              </a:rPr>
              <a:t>，购买了尿布的购物单中，很大程度上也购买了啤酒。</a:t>
            </a:r>
            <a:endParaRPr lang="zh-CN" altLang="en-US" sz="1600" dirty="0"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 rot="21308913">
            <a:off x="4529076" y="5421872"/>
            <a:ext cx="457200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商家便可就此探究成果进行针对性的营销。</a:t>
            </a:r>
            <a:endParaRPr lang="zh-CN" altLang="en-US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779912" y="4685074"/>
            <a:ext cx="17988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华文细黑" pitchFamily="2" charset="-122"/>
                <a:ea typeface="华文细黑" pitchFamily="2" charset="-122"/>
              </a:rPr>
              <a:t>{</a:t>
            </a:r>
            <a:r>
              <a:rPr lang="zh-CN" altLang="zh-CN" sz="2000" b="1" dirty="0">
                <a:latin typeface="华文细黑" pitchFamily="2" charset="-122"/>
                <a:ea typeface="华文细黑" pitchFamily="2" charset="-122"/>
                <a:cs typeface="Times New Roman"/>
              </a:rPr>
              <a:t>尿布</a:t>
            </a:r>
            <a:r>
              <a:rPr lang="en-US" altLang="zh-CN" sz="2000" b="1" dirty="0">
                <a:latin typeface="华文细黑" pitchFamily="2" charset="-122"/>
                <a:ea typeface="华文细黑" pitchFamily="2" charset="-122"/>
              </a:rPr>
              <a:t>}</a:t>
            </a:r>
            <a:r>
              <a:rPr lang="en-US" altLang="zh-CN" sz="2000" b="1" dirty="0">
                <a:latin typeface="华文细黑" pitchFamily="2" charset="-122"/>
                <a:ea typeface="华文细黑" pitchFamily="2" charset="-122"/>
                <a:cs typeface="Times New Roman"/>
                <a:sym typeface="Wingdings 3"/>
              </a:rPr>
              <a:t></a:t>
            </a:r>
            <a:r>
              <a:rPr lang="en-US" altLang="zh-CN" sz="2000" b="1" dirty="0">
                <a:latin typeface="华文细黑" pitchFamily="2" charset="-122"/>
                <a:ea typeface="华文细黑" pitchFamily="2" charset="-122"/>
              </a:rPr>
              <a:t>{</a:t>
            </a:r>
            <a:r>
              <a:rPr lang="zh-CN" altLang="zh-CN" sz="2000" b="1" dirty="0">
                <a:latin typeface="华文细黑" pitchFamily="2" charset="-122"/>
                <a:ea typeface="华文细黑" pitchFamily="2" charset="-122"/>
                <a:cs typeface="Times New Roman"/>
              </a:rPr>
              <a:t>啤酒</a:t>
            </a:r>
            <a:r>
              <a:rPr lang="en-US" altLang="zh-CN" sz="2000" b="1" dirty="0">
                <a:latin typeface="华文细黑" pitchFamily="2" charset="-122"/>
                <a:ea typeface="华文细黑" pitchFamily="2" charset="-122"/>
              </a:rPr>
              <a:t>}</a:t>
            </a:r>
            <a:endParaRPr lang="zh-CN" altLang="en-US" sz="2000" b="1" dirty="0"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211960" y="2456893"/>
            <a:ext cx="612000" cy="106920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4211960" y="2456892"/>
            <a:ext cx="1512168" cy="84688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83919" y="4156150"/>
            <a:ext cx="2749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{</a:t>
            </a:r>
            <a:r>
              <a:rPr lang="zh-CN" altLang="zh-CN" dirty="0">
                <a:latin typeface="华文细黑" pitchFamily="2" charset="-122"/>
                <a:ea typeface="华文细黑" pitchFamily="2" charset="-122"/>
              </a:rPr>
              <a:t>尿布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，</a:t>
            </a:r>
            <a:r>
              <a:rPr lang="zh-CN" altLang="zh-CN" dirty="0">
                <a:latin typeface="华文细黑" pitchFamily="2" charset="-122"/>
                <a:ea typeface="华文细黑" pitchFamily="2" charset="-122"/>
              </a:rPr>
              <a:t>啤酒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} 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支持度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=3/5</a:t>
            </a:r>
            <a:endParaRPr lang="zh-CN" altLang="en-US" dirty="0"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2411760" y="4118075"/>
            <a:ext cx="432000" cy="44139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>
            <a:off x="2565656" y="4725144"/>
            <a:ext cx="324000" cy="57100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4364251" y="1808821"/>
            <a:ext cx="4267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  <a:sym typeface="Wingdings"/>
              </a:rPr>
              <a:t>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220072" y="1808821"/>
            <a:ext cx="4267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  <a:sym typeface="Wingdings"/>
              </a:rPr>
              <a:t>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79798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uiExpand="1" build="p"/>
      <p:bldP spid="19" grpId="0"/>
      <p:bldP spid="20" grpId="0"/>
      <p:bldP spid="21" grpId="0" animBg="1"/>
      <p:bldP spid="22" grpId="0" animBg="1"/>
      <p:bldP spid="14" grpId="0"/>
      <p:bldP spid="15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基于购物篮事务的关联挖掘</a:t>
            </a:r>
          </a:p>
        </p:txBody>
      </p:sp>
      <p:sp>
        <p:nvSpPr>
          <p:cNvPr id="16" name="矩形 15"/>
          <p:cNvSpPr/>
          <p:nvPr/>
        </p:nvSpPr>
        <p:spPr>
          <a:xfrm>
            <a:off x="64222" y="3799599"/>
            <a:ext cx="44358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1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）计算支持度：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{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牛奶，尿布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}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支持度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=3/5</a:t>
            </a:r>
          </a:p>
        </p:txBody>
      </p:sp>
      <p:sp>
        <p:nvSpPr>
          <p:cNvPr id="12" name="矩形 11"/>
          <p:cNvSpPr/>
          <p:nvPr/>
        </p:nvSpPr>
        <p:spPr>
          <a:xfrm>
            <a:off x="64223" y="4650456"/>
            <a:ext cx="19287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2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）计算置信度：</a:t>
            </a:r>
            <a:endParaRPr lang="en-US" altLang="zh-CN" dirty="0">
              <a:latin typeface="华文细黑" pitchFamily="2" charset="-122"/>
              <a:ea typeface="华文细黑" pitchFamily="2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824409" y="4744179"/>
          <a:ext cx="3564000" cy="564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公式" r:id="rId4" imgW="2019240" imgH="419040" progId="Equation.3">
                  <p:embed/>
                </p:oleObj>
              </mc:Choice>
              <mc:Fallback>
                <p:oleObj name="公式" r:id="rId4" imgW="2019240" imgH="419040" progId="Equation.3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4409" y="4744179"/>
                        <a:ext cx="3564000" cy="564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5796136" y="5189130"/>
            <a:ext cx="25683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{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牛奶，</a:t>
            </a:r>
            <a:r>
              <a:rPr lang="zh-CN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  <a:cs typeface="Times New Roman"/>
              </a:rPr>
              <a:t>尿布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}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  <a:cs typeface="Times New Roman"/>
                <a:sym typeface="Wingdings 3"/>
              </a:rPr>
              <a:t>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{</a:t>
            </a:r>
            <a:r>
              <a:rPr lang="zh-CN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  <a:cs typeface="Times New Roman"/>
              </a:rPr>
              <a:t>啤酒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}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细黑" pitchFamily="2" charset="-122"/>
              <a:ea typeface="华文细黑" pitchFamily="2" charset="-122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80"/>
          <a:stretch/>
        </p:blipFill>
        <p:spPr bwMode="auto">
          <a:xfrm>
            <a:off x="1047323" y="1873628"/>
            <a:ext cx="6909055" cy="1828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矩形 22"/>
          <p:cNvSpPr/>
          <p:nvPr/>
        </p:nvSpPr>
        <p:spPr>
          <a:xfrm>
            <a:off x="3275856" y="2716122"/>
            <a:ext cx="1512168" cy="842587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3275856" y="2716122"/>
            <a:ext cx="2520280" cy="583265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5498" y="4198324"/>
            <a:ext cx="51732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                               {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牛奶，尿布，啤酒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}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支持度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=2/5</a:t>
            </a:r>
          </a:p>
        </p:txBody>
      </p:sp>
      <p:sp>
        <p:nvSpPr>
          <p:cNvPr id="14" name="矩形 13"/>
          <p:cNvSpPr/>
          <p:nvPr/>
        </p:nvSpPr>
        <p:spPr>
          <a:xfrm>
            <a:off x="5297808" y="3573017"/>
            <a:ext cx="37800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700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如果根据本例中的业务和数据的特性和规律，认为支持度</a:t>
            </a:r>
            <a:r>
              <a:rPr lang="en-US" altLang="zh-CN" sz="1700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2/5=0.4</a:t>
            </a:r>
            <a:r>
              <a:rPr lang="zh-CN" altLang="zh-CN" sz="1700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和置信度</a:t>
            </a:r>
            <a:r>
              <a:rPr lang="en-US" altLang="zh-CN" sz="1700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2/3=0.67</a:t>
            </a:r>
            <a:r>
              <a:rPr lang="zh-CN" altLang="zh-CN" sz="1700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已足够建立关联规则，则认为规则 </a:t>
            </a:r>
            <a:r>
              <a:rPr lang="en-US" altLang="zh-CN" sz="1700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{</a:t>
            </a:r>
            <a:r>
              <a:rPr lang="zh-CN" altLang="zh-CN" sz="1700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牛奶，尿布</a:t>
            </a:r>
            <a:r>
              <a:rPr lang="en-US" altLang="zh-CN" sz="1700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}</a:t>
            </a:r>
            <a:r>
              <a:rPr lang="en-US" altLang="zh-CN" sz="1700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  <a:sym typeface="Wingdings 3"/>
              </a:rPr>
              <a:t></a:t>
            </a:r>
            <a:r>
              <a:rPr lang="en-US" altLang="zh-CN" sz="1700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{</a:t>
            </a:r>
            <a:r>
              <a:rPr lang="zh-CN" altLang="zh-CN" sz="1700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啤酒</a:t>
            </a:r>
            <a:r>
              <a:rPr lang="en-US" altLang="zh-CN" sz="1700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} </a:t>
            </a:r>
            <a:r>
              <a:rPr lang="zh-CN" altLang="en-US" sz="1700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是关联的</a:t>
            </a:r>
            <a:r>
              <a:rPr lang="zh-CN" altLang="zh-CN" sz="1700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，也就是说，购买了</a:t>
            </a:r>
            <a:r>
              <a:rPr lang="zh-CN" altLang="zh-CN" sz="1700" dirty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牛奶</a:t>
            </a:r>
            <a:r>
              <a:rPr lang="zh-CN" altLang="zh-CN" sz="1700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和</a:t>
            </a:r>
            <a:r>
              <a:rPr lang="zh-CN" altLang="zh-CN" sz="1700" dirty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尿布</a:t>
            </a:r>
            <a:r>
              <a:rPr lang="zh-CN" altLang="zh-CN" sz="1700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的购物单中，很大程度上也购买了</a:t>
            </a:r>
            <a:r>
              <a:rPr lang="zh-CN" altLang="zh-CN" sz="1700" dirty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啤酒</a:t>
            </a:r>
            <a:r>
              <a:rPr lang="zh-CN" altLang="zh-CN" sz="1700" dirty="0">
                <a:solidFill>
                  <a:srgbClr val="C00000"/>
                </a:solidFill>
                <a:latin typeface="华文细黑" pitchFamily="2" charset="-122"/>
                <a:ea typeface="华文细黑" pitchFamily="2" charset="-122"/>
              </a:rPr>
              <a:t>。</a:t>
            </a:r>
            <a:endParaRPr lang="en-US" altLang="zh-CN" sz="1700" dirty="0">
              <a:solidFill>
                <a:srgbClr val="C00000"/>
              </a:solidFill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 rot="21401068">
            <a:off x="4794878" y="5520055"/>
            <a:ext cx="457200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商家便可就此探究成果进行针对性的营销。</a:t>
            </a:r>
            <a:endParaRPr lang="zh-CN" altLang="en-US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3428147" y="1717359"/>
            <a:ext cx="4267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  <a:sym typeface="Wingdings"/>
              </a:rPr>
              <a:t>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283968" y="1717359"/>
            <a:ext cx="4267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  <a:sym typeface="Wingdings"/>
              </a:rPr>
              <a:t>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297408" y="1717359"/>
            <a:ext cx="4267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  <a:sym typeface="Wingdings"/>
              </a:rPr>
              <a:t>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5506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2" grpId="0"/>
      <p:bldP spid="15" grpId="0"/>
      <p:bldP spid="23" grpId="0" animBg="1"/>
      <p:bldP spid="24" grpId="0" animBg="1"/>
      <p:bldP spid="17" grpId="0"/>
      <p:bldP spid="14" grpId="0" uiExpand="1" build="p"/>
      <p:bldP spid="18" grpId="0"/>
      <p:bldP spid="19" grpId="0"/>
      <p:bldP spid="20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80"/>
          <a:stretch/>
        </p:blipFill>
        <p:spPr bwMode="auto">
          <a:xfrm>
            <a:off x="179514" y="3688229"/>
            <a:ext cx="6909055" cy="1828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基于购物篮事务的关联挖掘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在无目标关联的情况下，需要对每一种可能的组合进行检验，发现其中的关联关系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1547664" y="4845192"/>
            <a:ext cx="1224136" cy="51840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508610" y="4845192"/>
            <a:ext cx="2307306" cy="55080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508610" y="4012265"/>
            <a:ext cx="2307306" cy="25920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547664" y="4012264"/>
            <a:ext cx="1224136" cy="25920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2516722" y="4575109"/>
            <a:ext cx="2304000" cy="55080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2372706" y="4588687"/>
            <a:ext cx="2448000" cy="81000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703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7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7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基本概念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项集</a:t>
            </a:r>
            <a:r>
              <a:rPr lang="en-US" altLang="zh-CN" dirty="0"/>
              <a:t>(</a:t>
            </a:r>
            <a:r>
              <a:rPr lang="en-US" altLang="zh-CN" dirty="0" err="1"/>
              <a:t>Itemset</a:t>
            </a:r>
            <a:r>
              <a:rPr lang="zh-CN" altLang="zh-CN" dirty="0"/>
              <a:t>）</a:t>
            </a:r>
          </a:p>
          <a:p>
            <a:pPr lvl="1"/>
            <a:r>
              <a:rPr lang="zh-CN" altLang="zh-CN" dirty="0">
                <a:latin typeface="Times New Roman" pitchFamily="18" charset="0"/>
                <a:cs typeface="Times New Roman" pitchFamily="18" charset="0"/>
              </a:rPr>
              <a:t>令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= { </a:t>
            </a:r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zh-CN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zh-CN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……</a:t>
            </a:r>
            <a:r>
              <a:rPr lang="zh-CN" altLang="zh-CN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i="1" baseline="-25000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} </a:t>
            </a:r>
            <a:r>
              <a:rPr lang="zh-CN" altLang="zh-CN" dirty="0">
                <a:latin typeface="Times New Roman" pitchFamily="18" charset="0"/>
                <a:cs typeface="Times New Roman" pitchFamily="18" charset="0"/>
              </a:rPr>
              <a:t>是购物篮数据中的所有项的集合，</a:t>
            </a:r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T 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= { </a:t>
            </a:r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zh-CN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zh-CN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……</a:t>
            </a:r>
            <a:r>
              <a:rPr lang="zh-CN" altLang="zh-CN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} </a:t>
            </a:r>
            <a:r>
              <a:rPr lang="zh-CN" altLang="zh-CN" dirty="0">
                <a:latin typeface="Times New Roman" pitchFamily="18" charset="0"/>
                <a:cs typeface="Times New Roman" pitchFamily="18" charset="0"/>
              </a:rPr>
              <a:t>是所有事务的集合。每个事务 </a:t>
            </a:r>
            <a:r>
              <a:rPr lang="en-US" altLang="zh-CN" i="1" dirty="0" err="1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i="1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zh-CN" dirty="0">
                <a:latin typeface="Times New Roman" pitchFamily="18" charset="0"/>
                <a:cs typeface="Times New Roman" pitchFamily="18" charset="0"/>
              </a:rPr>
              <a:t>包含的项集都是 </a:t>
            </a:r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zh-CN" altLang="zh-CN" dirty="0">
                <a:latin typeface="Times New Roman" pitchFamily="18" charset="0"/>
                <a:cs typeface="Times New Roman" pitchFamily="18" charset="0"/>
              </a:rPr>
              <a:t>的子集。包含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zh-CN" dirty="0">
                <a:latin typeface="Times New Roman" pitchFamily="18" charset="0"/>
                <a:cs typeface="Times New Roman" pitchFamily="18" charset="0"/>
              </a:rPr>
              <a:t>个或多个项的集合称为项集。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zh-CN" sz="2800" i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800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zh-CN" altLang="zh-CN" sz="2800" dirty="0">
                <a:latin typeface="Times New Roman" pitchFamily="18" charset="0"/>
                <a:cs typeface="Times New Roman" pitchFamily="18" charset="0"/>
              </a:rPr>
              <a:t>项集</a:t>
            </a:r>
          </a:p>
          <a:p>
            <a:pPr lvl="1"/>
            <a:r>
              <a:rPr lang="zh-CN" altLang="zh-CN" sz="2600" dirty="0">
                <a:latin typeface="Times New Roman" pitchFamily="18" charset="0"/>
                <a:cs typeface="Times New Roman" pitchFamily="18" charset="0"/>
              </a:rPr>
              <a:t>如果一个项集包含 </a:t>
            </a:r>
            <a:r>
              <a:rPr lang="en-US" altLang="zh-CN" sz="2600" i="1" dirty="0">
                <a:latin typeface="Times New Roman" pitchFamily="18" charset="0"/>
                <a:cs typeface="Times New Roman" pitchFamily="18" charset="0"/>
              </a:rPr>
              <a:t>k </a:t>
            </a:r>
            <a:r>
              <a:rPr lang="zh-CN" altLang="zh-CN" sz="2600" dirty="0">
                <a:latin typeface="Times New Roman" pitchFamily="18" charset="0"/>
                <a:cs typeface="Times New Roman" pitchFamily="18" charset="0"/>
              </a:rPr>
              <a:t>个项，称其为</a:t>
            </a:r>
            <a:r>
              <a:rPr lang="en-US" altLang="zh-CN" sz="2600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CN" sz="26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zh-CN" altLang="zh-CN" sz="2600" dirty="0">
                <a:latin typeface="Times New Roman" pitchFamily="18" charset="0"/>
                <a:cs typeface="Times New Roman" pitchFamily="18" charset="0"/>
              </a:rPr>
              <a:t>项集。</a:t>
            </a:r>
            <a:endParaRPr lang="en-US" altLang="zh-CN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55776" y="2994361"/>
            <a:ext cx="6264696" cy="8692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例如：</a:t>
            </a:r>
            <a:r>
              <a:rPr lang="en-US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{</a:t>
            </a:r>
            <a:r>
              <a:rPr lang="zh-CN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牛奶，面包，尿布</a:t>
            </a:r>
            <a:r>
              <a:rPr lang="en-US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}</a:t>
            </a:r>
            <a:r>
              <a:rPr lang="zh-CN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、</a:t>
            </a:r>
            <a:r>
              <a:rPr lang="en-US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{</a:t>
            </a:r>
            <a:r>
              <a:rPr lang="zh-CN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牛奶，尿布</a:t>
            </a:r>
            <a:r>
              <a:rPr lang="en-US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}</a:t>
            </a:r>
            <a:r>
              <a:rPr lang="zh-CN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、</a:t>
            </a:r>
            <a:r>
              <a:rPr lang="en-US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{</a:t>
            </a:r>
            <a:r>
              <a:rPr lang="zh-CN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牛奶</a:t>
            </a:r>
            <a:r>
              <a:rPr lang="en-US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}</a:t>
            </a:r>
            <a:r>
              <a:rPr lang="zh-CN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均为项数不同的项集。</a:t>
            </a:r>
            <a:endParaRPr lang="en-US" altLang="zh-CN" sz="22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555776" y="4972019"/>
            <a:ext cx="6264696" cy="46301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例如：</a:t>
            </a:r>
            <a:r>
              <a:rPr lang="en-US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{</a:t>
            </a:r>
            <a:r>
              <a:rPr lang="zh-CN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牛奶，面包，尿布</a:t>
            </a:r>
            <a:r>
              <a:rPr lang="en-US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}</a:t>
            </a:r>
            <a:r>
              <a:rPr lang="zh-CN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就为</a:t>
            </a:r>
            <a:r>
              <a:rPr lang="en-US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3-</a:t>
            </a:r>
            <a:r>
              <a:rPr lang="zh-CN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项集。</a:t>
            </a:r>
            <a:endParaRPr lang="zh-CN" altLang="en-US" sz="22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0673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基本概念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40000"/>
                  </a:lnSpc>
                </a:pPr>
                <a:r>
                  <a:rPr lang="zh-CN" altLang="zh-CN" sz="2800" dirty="0"/>
                  <a:t>支持度计数</a:t>
                </a:r>
                <a:r>
                  <a:rPr lang="en-US" altLang="zh-CN" sz="2800" dirty="0"/>
                  <a:t>(Support count)</a:t>
                </a:r>
                <a:endParaRPr lang="zh-CN" altLang="zh-CN" sz="2800" dirty="0"/>
              </a:p>
              <a:p>
                <a:pPr lvl="1">
                  <a:lnSpc>
                    <a:spcPct val="140000"/>
                  </a:lnSpc>
                </a:pPr>
                <a:r>
                  <a:rPr lang="zh-CN" altLang="zh-CN" sz="2600" dirty="0">
                    <a:latin typeface="Times New Roman" pitchFamily="18" charset="0"/>
                    <a:cs typeface="Times New Roman" pitchFamily="18" charset="0"/>
                  </a:rPr>
                  <a:t>包含特定项集的事务个数为支持度计数，用 </a:t>
                </a:r>
                <a:r>
                  <a:rPr lang="en-US" altLang="zh-CN" sz="2600" b="1" i="1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</a:t>
                </a:r>
                <a:r>
                  <a:rPr lang="en-US" altLang="zh-CN" sz="2600" b="1" i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zh-CN" altLang="zh-CN" sz="2600" dirty="0">
                    <a:latin typeface="Times New Roman" pitchFamily="18" charset="0"/>
                    <a:cs typeface="Times New Roman" pitchFamily="18" charset="0"/>
                  </a:rPr>
                  <a:t>表示。</a:t>
                </a:r>
                <a:endParaRPr lang="en-US" altLang="zh-CN" sz="2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>
                  <a:lnSpc>
                    <a:spcPct val="140000"/>
                  </a:lnSpc>
                </a:pPr>
                <a:r>
                  <a:rPr lang="zh-CN" altLang="zh-CN" sz="2600" dirty="0">
                    <a:latin typeface="Times New Roman" pitchFamily="18" charset="0"/>
                    <a:cs typeface="Times New Roman" pitchFamily="18" charset="0"/>
                  </a:rPr>
                  <a:t>在数学上，项集</a:t>
                </a:r>
                <a:r>
                  <a:rPr lang="en-US" altLang="zh-CN" sz="2600" i="1" dirty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zh-CN" altLang="zh-CN" sz="2600" dirty="0">
                    <a:latin typeface="Times New Roman" pitchFamily="18" charset="0"/>
                    <a:cs typeface="Times New Roman" pitchFamily="18" charset="0"/>
                  </a:rPr>
                  <a:t>的支持度计数</a:t>
                </a:r>
                <a:r>
                  <a:rPr lang="en-US" altLang="zh-CN" sz="2600" b="1" i="1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</a:t>
                </a:r>
                <a:r>
                  <a:rPr lang="en-US" altLang="zh-CN" sz="2600" dirty="0"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n-US" altLang="zh-CN" sz="2600" i="1" dirty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altLang="zh-CN" sz="2600" dirty="0">
                    <a:latin typeface="Times New Roman" pitchFamily="18" charset="0"/>
                    <a:cs typeface="Times New Roman" pitchFamily="18" charset="0"/>
                  </a:rPr>
                  <a:t>)</a:t>
                </a:r>
                <a:r>
                  <a:rPr lang="zh-CN" altLang="zh-CN" sz="2600" dirty="0">
                    <a:latin typeface="Times New Roman" pitchFamily="18" charset="0"/>
                    <a:cs typeface="Times New Roman" pitchFamily="18" charset="0"/>
                  </a:rPr>
                  <a:t>可以表示为：</a:t>
                </a:r>
                <a:endParaRPr lang="en-US" altLang="zh-CN" sz="2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>
                  <a:lnSpc>
                    <a:spcPct val="140000"/>
                  </a:lnSpc>
                </a:pPr>
                <a:endParaRPr lang="en-US" altLang="zh-CN" sz="26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411480" lvl="1" indent="0">
                  <a:lnSpc>
                    <a:spcPct val="140000"/>
                  </a:lnSpc>
                  <a:buNone/>
                </a:pPr>
                <a:endParaRPr lang="zh-CN" altLang="zh-CN" sz="28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lnSpc>
                    <a:spcPct val="140000"/>
                  </a:lnSpc>
                </a:pPr>
                <a:r>
                  <a:rPr lang="zh-CN" altLang="zh-CN" dirty="0"/>
                  <a:t>支持度</a:t>
                </a:r>
                <a:r>
                  <a:rPr lang="en-US" altLang="zh-CN" dirty="0"/>
                  <a:t>(Support</a:t>
                </a:r>
                <a:r>
                  <a:rPr lang="zh-CN" altLang="zh-CN" dirty="0"/>
                  <a:t>）</a:t>
                </a:r>
              </a:p>
              <a:p>
                <a:pPr lvl="1">
                  <a:lnSpc>
                    <a:spcPct val="140000"/>
                  </a:lnSpc>
                </a:pPr>
                <a:r>
                  <a:rPr lang="zh-CN" altLang="zh-CN" sz="2600" dirty="0"/>
                  <a:t>包含某项集的事务数与总事务数的比值称为该项集的支持度，用 </a:t>
                </a:r>
                <a:r>
                  <a:rPr lang="en-US" altLang="zh-CN" sz="2600" b="1" i="1" dirty="0"/>
                  <a:t>s</a:t>
                </a:r>
                <a:r>
                  <a:rPr lang="en-US" altLang="zh-CN" sz="2600" dirty="0"/>
                  <a:t> </a:t>
                </a:r>
                <a:r>
                  <a:rPr lang="zh-CN" altLang="zh-CN" sz="2600" dirty="0"/>
                  <a:t>表示。</a:t>
                </a:r>
                <a:endParaRPr lang="en-US" altLang="zh-CN" sz="2600" dirty="0"/>
              </a:p>
              <a:p>
                <a:pPr lvl="1">
                  <a:lnSpc>
                    <a:spcPct val="140000"/>
                  </a:lnSpc>
                </a:pPr>
                <a:endParaRPr lang="en-US" altLang="zh-CN" sz="1500" dirty="0"/>
              </a:p>
              <a:p>
                <a:pPr marL="360362" lvl="1" indent="0">
                  <a:lnSpc>
                    <a:spcPct val="140000"/>
                  </a:lnSpc>
                  <a:buNone/>
                </a:pPr>
                <a:r>
                  <a:rPr lang="zh-CN" altLang="en-US" sz="1500" dirty="0"/>
                  <a:t>           </a:t>
                </a:r>
                <a:r>
                  <a:rPr lang="zh-CN" altLang="en-US" sz="1500" b="1" dirty="0">
                    <a:solidFill>
                      <a:srgbClr val="FF0000"/>
                    </a:solidFill>
                  </a:rPr>
                  <a:t>即为项集</a:t>
                </a:r>
                <a14:m>
                  <m:oMath xmlns:m="http://schemas.openxmlformats.org/officeDocument/2006/math">
                    <m:r>
                      <a:rPr lang="en-US" altLang="zh-CN" sz="15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15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altLang="zh-CN" sz="15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𝒀</m:t>
                    </m:r>
                    <m:r>
                      <a:rPr lang="en-US" altLang="zh-CN" sz="15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1500" b="1" dirty="0">
                    <a:solidFill>
                      <a:srgbClr val="FF0000"/>
                    </a:solidFill>
                  </a:rPr>
                  <a:t>的概率，可以表示为</a:t>
                </a:r>
                <a:r>
                  <a:rPr lang="en-US" altLang="zh-CN" sz="1500" b="1" dirty="0">
                    <a:solidFill>
                      <a:srgbClr val="FF0000"/>
                    </a:solidFill>
                  </a:rPr>
                  <a:t>P(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15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altLang="zh-CN" sz="15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𝒀</m:t>
                    </m:r>
                    <m:r>
                      <a:rPr lang="en-US" altLang="zh-CN" sz="15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500" b="1" dirty="0">
                    <a:solidFill>
                      <a:srgbClr val="FF0000"/>
                    </a:solidFill>
                  </a:rPr>
                  <a:t>)</a:t>
                </a:r>
              </a:p>
              <a:p>
                <a:pPr lvl="1">
                  <a:lnSpc>
                    <a:spcPct val="140000"/>
                  </a:lnSpc>
                </a:pPr>
                <a:r>
                  <a:rPr lang="zh-CN" altLang="zh-CN" sz="2600" dirty="0"/>
                  <a:t>支持度衡量的是某项集</a:t>
                </a:r>
                <a:r>
                  <a:rPr lang="zh-CN" altLang="en-US" sz="2600" dirty="0"/>
                  <a:t>（即</a:t>
                </a:r>
                <a:r>
                  <a:rPr lang="zh-CN" altLang="zh-CN" sz="2600" dirty="0"/>
                  <a:t>构成该项集的各个事件</a:t>
                </a:r>
                <a:r>
                  <a:rPr lang="zh-CN" altLang="en-US" sz="2600" dirty="0"/>
                  <a:t>）</a:t>
                </a:r>
                <a:r>
                  <a:rPr lang="zh-CN" altLang="zh-CN" sz="2600" dirty="0"/>
                  <a:t>同时出现的概率。</a:t>
                </a:r>
                <a:endParaRPr lang="en-US" altLang="zh-CN" sz="2600" dirty="0"/>
              </a:p>
              <a:p>
                <a:pPr>
                  <a:lnSpc>
                    <a:spcPct val="140000"/>
                  </a:lnSpc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6" name="内容占位符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618" t="-6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0423948"/>
              </p:ext>
            </p:extLst>
          </p:nvPr>
        </p:nvGraphicFramePr>
        <p:xfrm>
          <a:off x="1547666" y="2599306"/>
          <a:ext cx="3493953" cy="486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公式" r:id="rId5" imgW="1459866" imgH="266584" progId="Equation.3">
                  <p:embed/>
                </p:oleObj>
              </mc:Choice>
              <mc:Fallback>
                <p:oleObj name="公式" r:id="rId5" imgW="1459866" imgH="266584" progId="Equation.3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6" y="2599306"/>
                        <a:ext cx="3493953" cy="4860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0115680"/>
              </p:ext>
            </p:extLst>
          </p:nvPr>
        </p:nvGraphicFramePr>
        <p:xfrm>
          <a:off x="1547666" y="4485823"/>
          <a:ext cx="2681288" cy="560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公式" r:id="rId7" imgW="1485255" imgH="406224" progId="Equation.3">
                  <p:embed/>
                </p:oleObj>
              </mc:Choice>
              <mc:Fallback>
                <p:oleObj name="公式" r:id="rId7" imgW="1485255" imgH="406224" progId="Equation.3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6" y="4485823"/>
                        <a:ext cx="2681288" cy="5600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5183560" y="2651139"/>
            <a:ext cx="3960440" cy="8684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例如，表</a:t>
            </a:r>
            <a:r>
              <a:rPr lang="en-US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6‑2</a:t>
            </a:r>
            <a:r>
              <a:rPr lang="zh-CN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所示的数据中，有： </a:t>
            </a:r>
            <a:r>
              <a:rPr lang="en-US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  <a:sym typeface="Symbol"/>
              </a:rPr>
              <a:t></a:t>
            </a:r>
            <a:r>
              <a:rPr lang="en-US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( {</a:t>
            </a:r>
            <a:r>
              <a:rPr lang="zh-CN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牛奶，面包，尿布</a:t>
            </a:r>
            <a:r>
              <a:rPr lang="en-US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}) = 2</a:t>
            </a:r>
            <a:r>
              <a:rPr lang="zh-CN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。</a:t>
            </a:r>
          </a:p>
        </p:txBody>
      </p:sp>
      <p:sp>
        <p:nvSpPr>
          <p:cNvPr id="7" name="矩形 6"/>
          <p:cNvSpPr/>
          <p:nvPr/>
        </p:nvSpPr>
        <p:spPr>
          <a:xfrm>
            <a:off x="4363177" y="4582881"/>
            <a:ext cx="4780823" cy="46301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例如，</a:t>
            </a:r>
            <a:r>
              <a:rPr lang="en-US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s ( {</a:t>
            </a:r>
            <a:r>
              <a:rPr lang="zh-CN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牛奶</a:t>
            </a:r>
            <a:r>
              <a:rPr lang="zh-CN" altLang="en-US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zh-CN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面包</a:t>
            </a:r>
            <a:r>
              <a:rPr lang="zh-CN" altLang="en-US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zh-CN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尿布</a:t>
            </a:r>
            <a:r>
              <a:rPr lang="en-US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} ) = 2/5</a:t>
            </a:r>
            <a:r>
              <a:rPr lang="zh-CN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。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042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基本概念</a:t>
            </a:r>
            <a:endParaRPr lang="en-US" altLang="zh-CN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2800" dirty="0"/>
              <a:t>频繁项集</a:t>
            </a:r>
            <a:r>
              <a:rPr lang="en-US" altLang="zh-CN" sz="2800" dirty="0"/>
              <a:t>(Frequent </a:t>
            </a:r>
            <a:r>
              <a:rPr lang="en-US" altLang="zh-CN" sz="2800" dirty="0" err="1"/>
              <a:t>ItemSet</a:t>
            </a:r>
            <a:r>
              <a:rPr lang="zh-CN" altLang="zh-CN" sz="2800" dirty="0"/>
              <a:t>）</a:t>
            </a:r>
          </a:p>
          <a:p>
            <a:pPr lvl="1"/>
            <a:r>
              <a:rPr lang="zh-CN" altLang="zh-CN" dirty="0"/>
              <a:t>是指能够满足支持度阈值</a:t>
            </a:r>
            <a:r>
              <a:rPr lang="en-US" altLang="zh-CN" dirty="0"/>
              <a:t>(</a:t>
            </a:r>
            <a:r>
              <a:rPr lang="en-US" altLang="zh-CN" dirty="0" err="1"/>
              <a:t>minSup</a:t>
            </a:r>
            <a:r>
              <a:rPr lang="zh-CN" altLang="zh-CN" dirty="0"/>
              <a:t>）的所有项集</a:t>
            </a:r>
            <a:endParaRPr lang="en-US" altLang="zh-CN" dirty="0"/>
          </a:p>
          <a:p>
            <a:pPr lvl="1"/>
            <a:r>
              <a:rPr lang="zh-CN" altLang="zh-CN" dirty="0"/>
              <a:t>支持度阈值是人为指定的一个数值</a:t>
            </a:r>
            <a:endParaRPr lang="en-US" altLang="zh-CN" dirty="0"/>
          </a:p>
          <a:p>
            <a:r>
              <a:rPr lang="zh-CN" altLang="en-US" dirty="0"/>
              <a:t>候选</a:t>
            </a:r>
            <a:r>
              <a:rPr lang="zh-CN" altLang="zh-CN" dirty="0"/>
              <a:t>项集</a:t>
            </a:r>
            <a:endParaRPr lang="en-US" altLang="zh-CN" dirty="0"/>
          </a:p>
          <a:p>
            <a:pPr lvl="1"/>
            <a:r>
              <a:rPr lang="zh-CN" altLang="en-US" dirty="0"/>
              <a:t>未经支持度检验的项集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95536" y="4854758"/>
            <a:ext cx="1512000" cy="52437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82296">
              <a:lnSpc>
                <a:spcPct val="130000"/>
              </a:lnSpc>
              <a:buClr>
                <a:srgbClr val="3891A7"/>
              </a:buClr>
              <a:buSzPct val="80000"/>
            </a:pPr>
            <a:r>
              <a:rPr lang="zh-CN" altLang="en-US" sz="24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候选</a:t>
            </a:r>
            <a:r>
              <a:rPr lang="zh-CN" altLang="zh-CN" sz="24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项集</a:t>
            </a:r>
            <a:endParaRPr lang="zh-CN" altLang="zh-CN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11960" y="4854758"/>
            <a:ext cx="1512000" cy="52437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82296">
              <a:lnSpc>
                <a:spcPct val="130000"/>
              </a:lnSpc>
              <a:buClr>
                <a:srgbClr val="3891A7"/>
              </a:buClr>
              <a:buSzPct val="80000"/>
            </a:pPr>
            <a:r>
              <a:rPr lang="zh-CN" altLang="en-US" sz="24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频繁</a:t>
            </a:r>
            <a:r>
              <a:rPr lang="zh-CN" altLang="zh-CN" sz="24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项集</a:t>
            </a:r>
            <a:endParaRPr lang="zh-CN" altLang="zh-CN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cxnSp>
        <p:nvCxnSpPr>
          <p:cNvPr id="10" name="直接箭头连接符 9"/>
          <p:cNvCxnSpPr>
            <a:stCxn id="5" idx="3"/>
            <a:endCxn id="7" idx="1"/>
          </p:cNvCxnSpPr>
          <p:nvPr/>
        </p:nvCxnSpPr>
        <p:spPr>
          <a:xfrm>
            <a:off x="1907536" y="5116945"/>
            <a:ext cx="2304424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907536" y="4703242"/>
            <a:ext cx="23711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≥支持度阈值 </a:t>
            </a:r>
            <a:r>
              <a:rPr lang="en-US" altLang="zh-CN" b="1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minSup</a:t>
            </a:r>
            <a:endParaRPr lang="zh-CN" altLang="en-US" b="1" i="1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14" name="矩形 13"/>
          <p:cNvSpPr>
            <a:spLocks/>
          </p:cNvSpPr>
          <p:nvPr/>
        </p:nvSpPr>
        <p:spPr>
          <a:xfrm>
            <a:off x="6156176" y="4012265"/>
            <a:ext cx="2880320" cy="162018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marL="82296">
              <a:lnSpc>
                <a:spcPct val="130000"/>
              </a:lnSpc>
              <a:buClr>
                <a:srgbClr val="3891A7"/>
              </a:buClr>
              <a:buSzPct val="80000"/>
            </a:pPr>
            <a:r>
              <a:rPr lang="zh-CN" altLang="en-US" sz="24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候选</a:t>
            </a:r>
            <a:r>
              <a:rPr lang="zh-CN" altLang="zh-CN" sz="24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项集</a:t>
            </a:r>
            <a:endParaRPr lang="zh-CN" altLang="zh-CN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6840336" y="4607480"/>
            <a:ext cx="1512000" cy="856323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0" tIns="0" rIns="0" bIns="0">
            <a:noAutofit/>
          </a:bodyPr>
          <a:lstStyle/>
          <a:p>
            <a:pPr marL="82296" algn="ctr">
              <a:buClr>
                <a:srgbClr val="3891A7"/>
              </a:buClr>
              <a:buSzPct val="80000"/>
            </a:pPr>
            <a:r>
              <a:rPr lang="zh-CN" altLang="en-US" sz="20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频繁</a:t>
            </a:r>
            <a:endParaRPr lang="en-US" altLang="zh-CN" sz="2000" dirty="0">
              <a:solidFill>
                <a:prstClr val="black"/>
              </a:solidFill>
              <a:latin typeface="Times New Roman" pitchFamily="18" charset="0"/>
              <a:ea typeface="华文细黑" pitchFamily="2" charset="-122"/>
            </a:endParaRPr>
          </a:p>
          <a:p>
            <a:pPr marL="82296" algn="ctr">
              <a:buClr>
                <a:srgbClr val="3891A7"/>
              </a:buClr>
              <a:buSzPct val="80000"/>
            </a:pPr>
            <a:r>
              <a:rPr lang="zh-CN" altLang="zh-CN" sz="20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项集</a:t>
            </a:r>
            <a:endParaRPr lang="zh-CN" altLang="zh-CN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66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3" grpId="0"/>
      <p:bldP spid="14" grpId="0" animBg="1"/>
      <p:bldP spid="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基本概念</a:t>
            </a:r>
            <a:endParaRPr lang="en-US" altLang="zh-CN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置信度</a:t>
            </a:r>
            <a:r>
              <a:rPr lang="en-US" altLang="zh-CN" dirty="0"/>
              <a:t>(confidence)</a:t>
            </a:r>
            <a:endParaRPr lang="zh-CN" altLang="zh-CN" dirty="0"/>
          </a:p>
          <a:p>
            <a:pPr lvl="1"/>
            <a:r>
              <a:rPr lang="zh-CN" altLang="zh-CN" dirty="0"/>
              <a:t>置信度揭示了</a:t>
            </a:r>
            <a:r>
              <a:rPr lang="en-US" altLang="zh-CN" dirty="0"/>
              <a:t> </a:t>
            </a:r>
            <a:r>
              <a:rPr lang="en-US" altLang="zh-CN" i="1" dirty="0"/>
              <a:t>X </a:t>
            </a:r>
            <a:r>
              <a:rPr lang="zh-CN" altLang="zh-CN" dirty="0"/>
              <a:t>出现时，</a:t>
            </a:r>
            <a:r>
              <a:rPr lang="en-US" altLang="zh-CN" i="1" dirty="0"/>
              <a:t>Y </a:t>
            </a:r>
            <a:r>
              <a:rPr lang="zh-CN" altLang="zh-CN" dirty="0"/>
              <a:t>是否一定会出现，如果出现则其大概有多大的可能出现。</a:t>
            </a:r>
            <a:endParaRPr lang="en-US" altLang="zh-CN" dirty="0"/>
          </a:p>
          <a:p>
            <a:pPr lvl="1"/>
            <a:endParaRPr lang="en-US" altLang="zh-CN" sz="1800" dirty="0"/>
          </a:p>
          <a:p>
            <a:pPr lvl="1"/>
            <a:r>
              <a:rPr lang="zh-CN" altLang="en-US" sz="1800" dirty="0">
                <a:solidFill>
                  <a:srgbClr val="C00000"/>
                </a:solidFill>
              </a:rPr>
              <a:t>置信度可以理解为条件概率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lvl="1"/>
            <a:r>
              <a:rPr lang="zh-CN" altLang="zh-CN" dirty="0"/>
              <a:t>如果置信度为</a:t>
            </a:r>
            <a:r>
              <a:rPr lang="en-US" altLang="zh-CN" dirty="0"/>
              <a:t>100%</a:t>
            </a:r>
            <a:r>
              <a:rPr lang="zh-CN" altLang="zh-CN" dirty="0"/>
              <a:t>，则说明了</a:t>
            </a:r>
            <a:r>
              <a:rPr lang="en-US" altLang="zh-CN" dirty="0"/>
              <a:t> </a:t>
            </a:r>
            <a:r>
              <a:rPr lang="en-US" altLang="zh-CN" i="1" dirty="0"/>
              <a:t>X</a:t>
            </a:r>
            <a:r>
              <a:rPr lang="en-US" altLang="zh-CN" dirty="0"/>
              <a:t> </a:t>
            </a:r>
            <a:r>
              <a:rPr lang="zh-CN" altLang="zh-CN" dirty="0"/>
              <a:t>出现时，</a:t>
            </a:r>
            <a:r>
              <a:rPr lang="en-US" altLang="zh-CN" i="1" dirty="0"/>
              <a:t>Y</a:t>
            </a:r>
            <a:r>
              <a:rPr lang="en-US" altLang="zh-CN" dirty="0"/>
              <a:t> </a:t>
            </a:r>
            <a:r>
              <a:rPr lang="zh-CN" altLang="zh-CN" dirty="0"/>
              <a:t>一定出现</a:t>
            </a:r>
            <a:endParaRPr lang="en-US" altLang="zh-CN" dirty="0"/>
          </a:p>
          <a:p>
            <a:pPr lvl="1"/>
            <a:r>
              <a:rPr lang="zh-CN" altLang="en-US" dirty="0"/>
              <a:t>实际应用中要注意置信度高的规则的意义，例如在超市购物袋的购买比例很高，挖掘出“牛奶蛋糕</a:t>
            </a:r>
            <a:r>
              <a:rPr lang="en-US" altLang="zh-CN" dirty="0"/>
              <a:t>-&gt;</a:t>
            </a:r>
            <a:r>
              <a:rPr lang="zh-CN" altLang="en-US" dirty="0"/>
              <a:t>购物袋 </a:t>
            </a:r>
            <a:r>
              <a:rPr lang="en-US" altLang="zh-CN" dirty="0"/>
              <a:t>c=95%</a:t>
            </a:r>
            <a:r>
              <a:rPr lang="zh-CN" altLang="en-US" dirty="0"/>
              <a:t>”“巧克力</a:t>
            </a:r>
            <a:r>
              <a:rPr lang="en-US" altLang="zh-CN" dirty="0"/>
              <a:t>-&gt;</a:t>
            </a:r>
            <a:r>
              <a:rPr lang="zh-CN" altLang="en-US" dirty="0"/>
              <a:t>购物袋 </a:t>
            </a:r>
            <a:r>
              <a:rPr lang="en-US" altLang="zh-CN" dirty="0"/>
              <a:t>c=99%</a:t>
            </a:r>
            <a:r>
              <a:rPr lang="zh-CN" altLang="en-US" dirty="0"/>
              <a:t>”是否有意义？</a:t>
            </a:r>
            <a:endParaRPr lang="zh-CN" altLang="zh-CN" dirty="0"/>
          </a:p>
          <a:p>
            <a:endParaRPr lang="zh-CN" altLang="en-US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4412708"/>
              </p:ext>
            </p:extLst>
          </p:nvPr>
        </p:nvGraphicFramePr>
        <p:xfrm>
          <a:off x="2580810" y="2257767"/>
          <a:ext cx="2736000" cy="612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公式" r:id="rId3" imgW="1485900" imgH="431800" progId="Equation.3">
                  <p:embed/>
                </p:oleObj>
              </mc:Choice>
              <mc:Fallback>
                <p:oleObj name="公式" r:id="rId3" imgW="1485900" imgH="431800" progId="Equation.3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0810" y="2257767"/>
                        <a:ext cx="2736000" cy="6129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8004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基本概念</a:t>
            </a:r>
            <a:endParaRPr lang="en-US" altLang="zh-CN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2800" dirty="0"/>
              <a:t>关联规则</a:t>
            </a:r>
          </a:p>
          <a:p>
            <a:pPr lvl="1"/>
            <a:r>
              <a:rPr lang="zh-CN" altLang="zh-CN" sz="2600" dirty="0">
                <a:latin typeface="Times New Roman" pitchFamily="18" charset="0"/>
                <a:cs typeface="Times New Roman" pitchFamily="18" charset="0"/>
              </a:rPr>
              <a:t>关联规则</a:t>
            </a:r>
            <a:r>
              <a:rPr lang="en-US" altLang="zh-CN" sz="2600" dirty="0">
                <a:latin typeface="Times New Roman" pitchFamily="18" charset="0"/>
                <a:cs typeface="Times New Roman" pitchFamily="18" charset="0"/>
              </a:rPr>
              <a:t>(Association Rule)</a:t>
            </a:r>
            <a:r>
              <a:rPr lang="zh-CN" altLang="zh-CN" sz="2600" dirty="0">
                <a:latin typeface="Times New Roman" pitchFamily="18" charset="0"/>
                <a:cs typeface="Times New Roman" pitchFamily="18" charset="0"/>
              </a:rPr>
              <a:t>是形如</a:t>
            </a:r>
            <a:r>
              <a:rPr lang="en-US" altLang="zh-CN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600" i="1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altLang="zh-CN" sz="26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altLang="zh-CN" sz="2600" i="1" dirty="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zh-CN" altLang="zh-CN" sz="2600" dirty="0">
                <a:latin typeface="Times New Roman" pitchFamily="18" charset="0"/>
                <a:cs typeface="Times New Roman" pitchFamily="18" charset="0"/>
              </a:rPr>
              <a:t>的</a:t>
            </a:r>
            <a:r>
              <a:rPr lang="zh-CN" altLang="zh-CN" sz="2600" dirty="0">
                <a:latin typeface="Times New Roman" pitchFamily="18" charset="0"/>
                <a:cs typeface="Times New Roman" pitchFamily="18" charset="0"/>
                <a:hlinkClick r:id="" action="ppaction://noaction"/>
              </a:rPr>
              <a:t>蕴含表达式</a:t>
            </a:r>
            <a:r>
              <a:rPr lang="zh-CN" altLang="en-US" sz="2600" dirty="0">
                <a:latin typeface="Times New Roman" pitchFamily="18" charset="0"/>
                <a:cs typeface="Times New Roman" pitchFamily="18" charset="0"/>
              </a:rPr>
              <a:t>，其中 </a:t>
            </a:r>
            <a:r>
              <a:rPr lang="en-US" altLang="zh-CN" sz="26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600" dirty="0">
                <a:latin typeface="Times New Roman" pitchFamily="18" charset="0"/>
                <a:cs typeface="Times New Roman" pitchFamily="18" charset="0"/>
              </a:rPr>
              <a:t>和 </a:t>
            </a:r>
            <a:r>
              <a:rPr lang="en-US" altLang="zh-CN" sz="2600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CN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600" dirty="0">
                <a:latin typeface="Times New Roman" pitchFamily="18" charset="0"/>
                <a:cs typeface="Times New Roman" pitchFamily="18" charset="0"/>
              </a:rPr>
              <a:t>是不相交的项集，即有 </a:t>
            </a:r>
            <a:r>
              <a:rPr lang="en-US" altLang="zh-CN" sz="2600" i="1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altLang="zh-CN" sz="2600" dirty="0">
                <a:latin typeface="Times New Roman" pitchFamily="18" charset="0"/>
                <a:cs typeface="Times New Roman" pitchFamily="18" charset="0"/>
              </a:rPr>
              <a:t>∩ </a:t>
            </a:r>
            <a:r>
              <a:rPr lang="en-US" altLang="zh-CN" sz="2600" i="1" dirty="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altLang="zh-CN" sz="2600" dirty="0">
                <a:latin typeface="Times New Roman" pitchFamily="18" charset="0"/>
                <a:cs typeface="Times New Roman" pitchFamily="18" charset="0"/>
              </a:rPr>
              <a:t>= Ø</a:t>
            </a:r>
          </a:p>
          <a:p>
            <a:pPr lvl="1"/>
            <a:r>
              <a:rPr lang="zh-CN" altLang="en-US" sz="2600" dirty="0">
                <a:latin typeface="Times New Roman" pitchFamily="18" charset="0"/>
                <a:cs typeface="Times New Roman" pitchFamily="18" charset="0"/>
              </a:rPr>
              <a:t>关联规则的强度可以用它的</a:t>
            </a:r>
            <a:r>
              <a:rPr lang="zh-CN" altLang="en-US" sz="2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支持度</a:t>
            </a:r>
            <a:r>
              <a:rPr lang="en-US" altLang="zh-CN" sz="2600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zh-CN" altLang="en-US" sz="2600" dirty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zh-CN" altLang="en-US" sz="2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置信度</a:t>
            </a:r>
            <a:r>
              <a:rPr lang="en-US" altLang="zh-CN" sz="2600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zh-CN" altLang="en-US" sz="2600" dirty="0">
                <a:latin typeface="Times New Roman" pitchFamily="18" charset="0"/>
                <a:cs typeface="Times New Roman" pitchFamily="18" charset="0"/>
              </a:rPr>
              <a:t>来度量</a:t>
            </a:r>
            <a:endParaRPr lang="en-US" altLang="zh-CN" sz="26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 sz="2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支持度</a:t>
            </a:r>
            <a:r>
              <a:rPr lang="zh-CN" altLang="en-US" sz="2600" dirty="0">
                <a:latin typeface="Times New Roman" pitchFamily="18" charset="0"/>
                <a:cs typeface="Times New Roman" pitchFamily="18" charset="0"/>
              </a:rPr>
              <a:t>确定规则可以用于给定数据集的频繁程度，而</a:t>
            </a:r>
            <a:r>
              <a:rPr lang="zh-CN" altLang="en-US" sz="2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置信度</a:t>
            </a:r>
            <a:r>
              <a:rPr lang="zh-CN" altLang="en-US" sz="2600" dirty="0">
                <a:latin typeface="Times New Roman" pitchFamily="18" charset="0"/>
                <a:cs typeface="Times New Roman" pitchFamily="18" charset="0"/>
              </a:rPr>
              <a:t>确定 </a:t>
            </a:r>
            <a:r>
              <a:rPr lang="en-US" altLang="zh-CN" sz="2600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CN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600" dirty="0">
                <a:latin typeface="Times New Roman" pitchFamily="18" charset="0"/>
                <a:cs typeface="Times New Roman" pitchFamily="18" charset="0"/>
              </a:rPr>
              <a:t>在包含 </a:t>
            </a:r>
            <a:r>
              <a:rPr lang="en-US" altLang="zh-CN" sz="26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600" dirty="0">
                <a:latin typeface="Times New Roman" pitchFamily="18" charset="0"/>
                <a:cs typeface="Times New Roman" pitchFamily="18" charset="0"/>
              </a:rPr>
              <a:t>的事务中出现的频繁程度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0762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基本原理</a:t>
            </a:r>
            <a:endParaRPr lang="en-US" altLang="zh-CN" dirty="0"/>
          </a:p>
        </p:txBody>
      </p:sp>
      <p:grpSp>
        <p:nvGrpSpPr>
          <p:cNvPr id="8" name="组合 7"/>
          <p:cNvGrpSpPr/>
          <p:nvPr/>
        </p:nvGrpSpPr>
        <p:grpSpPr>
          <a:xfrm>
            <a:off x="2610575" y="3632398"/>
            <a:ext cx="3960440" cy="324000"/>
            <a:chOff x="2413582" y="3908956"/>
            <a:chExt cx="3960440" cy="360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47"/>
                <p:cNvSpPr txBox="1"/>
                <p:nvPr/>
              </p:nvSpPr>
              <p:spPr>
                <a:xfrm>
                  <a:off x="2899561" y="3908956"/>
                  <a:ext cx="3474461" cy="360000"/>
                </a:xfrm>
                <a:prstGeom prst="rect">
                  <a:avLst/>
                </a:prstGeom>
                <a:noFill/>
                <a:ln w="6350">
                  <a:noFill/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84262" tIns="42131" rIns="84262" bIns="42131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solidFill>
                              <a:srgbClr val="0000FF"/>
                            </a:solidFill>
                            <a:latin typeface="Cambria Math"/>
                            <a:ea typeface="Cambria Math"/>
                            <a:cs typeface="Times New Roman"/>
                          </a:rPr>
                          <m:t>{</m:t>
                        </m:r>
                        <m:r>
                          <a:rPr lang="en-US" sz="2000" i="1">
                            <a:solidFill>
                              <a:srgbClr val="0000FF"/>
                            </a:solidFill>
                            <a:latin typeface="Cambria Math"/>
                            <a:ea typeface="Cambria Math"/>
                            <a:cs typeface="宋体"/>
                          </a:rPr>
                          <m:t>𝑋</m:t>
                        </m:r>
                        <m:r>
                          <a:rPr lang="en-US" sz="2000" i="1">
                            <a:solidFill>
                              <a:srgbClr val="0000FF"/>
                            </a:solidFill>
                            <a:latin typeface="Cambria Math"/>
                            <a:ea typeface="Cambria Math"/>
                            <a:cs typeface="宋体"/>
                          </a:rPr>
                          <m:t>→</m:t>
                        </m:r>
                        <m:r>
                          <a:rPr lang="en-US" sz="2000" i="1">
                            <a:solidFill>
                              <a:srgbClr val="0000FF"/>
                            </a:solidFill>
                            <a:latin typeface="Cambria Math"/>
                            <a:ea typeface="Cambria Math"/>
                            <a:cs typeface="宋体"/>
                          </a:rPr>
                          <m:t>𝑌</m:t>
                        </m:r>
                        <m:r>
                          <a:rPr lang="en-US" sz="2000" i="1">
                            <a:solidFill>
                              <a:srgbClr val="0000FF"/>
                            </a:solidFill>
                            <a:latin typeface="Cambria Math"/>
                            <a:ea typeface="Cambria Math"/>
                            <a:cs typeface="宋体"/>
                          </a:rPr>
                          <m:t>|</m:t>
                        </m:r>
                        <m:r>
                          <a:rPr lang="en-US" sz="2000" i="1">
                            <a:solidFill>
                              <a:srgbClr val="0000FF"/>
                            </a:solidFill>
                            <a:latin typeface="Cambria Math"/>
                            <a:ea typeface="Cambria Math"/>
                            <a:cs typeface="宋体"/>
                          </a:rPr>
                          <m:t>𝑠</m:t>
                        </m:r>
                        <m:d>
                          <m:dPr>
                            <m:ctrlPr>
                              <a:rPr lang="zh-CN" altLang="en-US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宋体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/>
                                <a:ea typeface="Cambria Math"/>
                                <a:cs typeface="宋体"/>
                              </a:rPr>
                              <m:t>𝑋</m:t>
                            </m:r>
                            <m: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/>
                                <a:ea typeface="Cambria Math"/>
                                <a:cs typeface="宋体"/>
                              </a:rPr>
                              <m:t>→</m:t>
                            </m:r>
                            <m: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/>
                                <a:ea typeface="Cambria Math"/>
                                <a:cs typeface="宋体"/>
                              </a:rPr>
                              <m:t>𝑌</m:t>
                            </m:r>
                          </m:e>
                        </m:d>
                        <m:r>
                          <a:rPr lang="en-US" sz="2000" i="1">
                            <a:solidFill>
                              <a:srgbClr val="0000FF"/>
                            </a:solidFill>
                            <a:latin typeface="Cambria Math"/>
                            <a:ea typeface="Cambria Math"/>
                            <a:cs typeface="宋体"/>
                          </a:rPr>
                          <m:t>≥</m:t>
                        </m:r>
                        <m:r>
                          <a:rPr lang="en-US" sz="2000" i="1">
                            <a:solidFill>
                              <a:srgbClr val="0000FF"/>
                            </a:solidFill>
                            <a:latin typeface="Cambria Math"/>
                            <a:ea typeface="Cambria Math"/>
                            <a:cs typeface="宋体"/>
                          </a:rPr>
                          <m:t>𝑚𝑖𝑛𝑆𝑢𝑝</m:t>
                        </m:r>
                        <m:r>
                          <a:rPr lang="en-US" sz="1600" i="1">
                            <a:solidFill>
                              <a:srgbClr val="0000FF"/>
                            </a:solidFill>
                            <a:latin typeface="Cambria Math"/>
                            <a:ea typeface="Cambria Math"/>
                            <a:cs typeface="Times New Roman"/>
                          </a:rPr>
                          <m:t>}</m:t>
                        </m:r>
                      </m:oMath>
                    </m:oMathPara>
                  </a14:m>
                  <a:endParaRPr lang="zh-CN" altLang="en-US" sz="3200" dirty="0">
                    <a:solidFill>
                      <a:srgbClr val="0000FF"/>
                    </a:solidFill>
                    <a:latin typeface="宋体"/>
                    <a:cs typeface="宋体"/>
                  </a:endParaRPr>
                </a:p>
              </p:txBody>
            </p:sp>
          </mc:Choice>
          <mc:Fallback xmlns="">
            <p:sp>
              <p:nvSpPr>
                <p:cNvPr id="9" name="文本框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9561" y="3908956"/>
                  <a:ext cx="3474461" cy="360000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16949"/>
                  </a:stretch>
                </a:blipFill>
                <a:ln w="6350"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文本框 46"/>
            <p:cNvSpPr txBox="1"/>
            <p:nvPr/>
          </p:nvSpPr>
          <p:spPr>
            <a:xfrm>
              <a:off x="2413582" y="3908956"/>
              <a:ext cx="573906" cy="341974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r"/>
              <a:r>
                <a:rPr lang="zh-CN" altLang="en-US" sz="2000" dirty="0">
                  <a:solidFill>
                    <a:srgbClr val="0000FF"/>
                  </a:solidFill>
                  <a:latin typeface="宋体"/>
                  <a:ea typeface="华文细黑"/>
                  <a:cs typeface="Times New Roman"/>
                </a:rPr>
                <a:t>规则</a:t>
              </a:r>
              <a:endParaRPr lang="zh-CN" altLang="en-US" sz="3200" dirty="0">
                <a:solidFill>
                  <a:srgbClr val="0000FF"/>
                </a:solidFill>
                <a:latin typeface="宋体"/>
                <a:cs typeface="宋体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547050" y="2068049"/>
            <a:ext cx="2087490" cy="324000"/>
            <a:chOff x="2901463" y="1122955"/>
            <a:chExt cx="2087490" cy="360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600323"/>
                <p:cNvSpPr txBox="1"/>
                <p:nvPr/>
              </p:nvSpPr>
              <p:spPr>
                <a:xfrm>
                  <a:off x="3713925" y="1122955"/>
                  <a:ext cx="1275028" cy="360000"/>
                </a:xfrm>
                <a:prstGeom prst="rect">
                  <a:avLst/>
                </a:prstGeom>
                <a:noFill/>
                <a:ln w="6350">
                  <a:noFill/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0" tIns="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{</m:t>
                        </m:r>
                        <m:sSub>
                          <m:sSubPr>
                            <m:ctrlPr>
                              <a:rPr lang="zh-CN" altLang="en-US" i="1" kern="100">
                                <a:latin typeface="Cambria Math" panose="02040503050406030204" pitchFamily="18" charset="0"/>
                                <a:ea typeface="Cambria Math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latin typeface="Cambria Math"/>
                                <a:ea typeface="Cambria Math"/>
                                <a:cs typeface="Times New Roman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 kern="100">
                                <a:latin typeface="Cambria Math"/>
                                <a:ea typeface="Cambria Math"/>
                                <a:cs typeface="Times New Roman"/>
                              </a:rPr>
                              <m:t>𝑖</m:t>
                            </m:r>
                          </m:sub>
                        </m:sSub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|</m:t>
                        </m:r>
                        <m:sSub>
                          <m:sSubPr>
                            <m:ctrlPr>
                              <a:rPr lang="zh-CN" altLang="en-US" i="1" kern="100">
                                <a:latin typeface="Cambria Math" panose="02040503050406030204" pitchFamily="18" charset="0"/>
                                <a:ea typeface="Cambria Math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latin typeface="Cambria Math"/>
                                <a:ea typeface="Cambria Math"/>
                                <a:cs typeface="Times New Roman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 kern="100">
                                <a:latin typeface="Cambria Math"/>
                                <a:ea typeface="Cambria Math"/>
                                <a:cs typeface="Times New Roman"/>
                              </a:rPr>
                              <m:t>𝑖</m:t>
                            </m:r>
                          </m:sub>
                        </m:sSub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∈</m:t>
                        </m:r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𝑇</m:t>
                        </m:r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}</m:t>
                        </m:r>
                      </m:oMath>
                    </m:oMathPara>
                  </a14:m>
                  <a:endParaRPr lang="zh-CN" altLang="en-US" sz="2000" kern="100" dirty="0">
                    <a:latin typeface="Times New Roman"/>
                    <a:ea typeface="宋体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12" name="文本框 6003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3925" y="1122955"/>
                  <a:ext cx="1275028" cy="36000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1695" b="-6780"/>
                  </a:stretch>
                </a:blipFill>
                <a:ln w="6350"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文本框 600325"/>
            <p:cNvSpPr txBox="1"/>
            <p:nvPr/>
          </p:nvSpPr>
          <p:spPr>
            <a:xfrm>
              <a:off x="2901463" y="1122955"/>
              <a:ext cx="879612" cy="341974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r"/>
              <a:r>
                <a:rPr lang="zh-CN" altLang="en-US" sz="2000" kern="100" dirty="0">
                  <a:latin typeface="Times New Roman"/>
                  <a:ea typeface="华文细黑"/>
                  <a:cs typeface="Times New Roman"/>
                </a:rPr>
                <a:t>事务</a:t>
              </a:r>
              <a:endParaRPr lang="zh-CN" altLang="en-US" sz="2000" kern="100" dirty="0">
                <a:latin typeface="Times New Roman"/>
                <a:ea typeface="宋体"/>
                <a:cs typeface="Times New Roman"/>
              </a:endParaRPr>
            </a:p>
          </p:txBody>
        </p:sp>
      </p:grpSp>
      <p:sp>
        <p:nvSpPr>
          <p:cNvPr id="15" name="右箭头 14"/>
          <p:cNvSpPr/>
          <p:nvPr/>
        </p:nvSpPr>
        <p:spPr>
          <a:xfrm rot="5400000">
            <a:off x="4424107" y="2483684"/>
            <a:ext cx="333381" cy="261111"/>
          </a:xfrm>
          <a:prstGeom prst="rightArrow">
            <a:avLst>
              <a:gd name="adj1" fmla="val 50000"/>
              <a:gd name="adj2" fmla="val 34363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4262" tIns="42131" rIns="84262" bIns="4213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4400"/>
          </a:p>
        </p:txBody>
      </p:sp>
      <p:grpSp>
        <p:nvGrpSpPr>
          <p:cNvPr id="23" name="组合 22"/>
          <p:cNvGrpSpPr/>
          <p:nvPr/>
        </p:nvGrpSpPr>
        <p:grpSpPr>
          <a:xfrm>
            <a:off x="1403648" y="2845771"/>
            <a:ext cx="6374294" cy="324000"/>
            <a:chOff x="1403648" y="4912390"/>
            <a:chExt cx="6374294" cy="360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600324"/>
                <p:cNvSpPr txBox="1"/>
                <p:nvPr/>
              </p:nvSpPr>
              <p:spPr>
                <a:xfrm>
                  <a:off x="2252822" y="4912390"/>
                  <a:ext cx="5525120" cy="360000"/>
                </a:xfrm>
                <a:prstGeom prst="rect">
                  <a:avLst/>
                </a:prstGeom>
                <a:noFill/>
                <a:ln w="6350">
                  <a:noFill/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84262" tIns="42131" rIns="84262" bIns="42131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{</m:t>
                        </m:r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𝑋</m:t>
                        </m:r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→</m:t>
                        </m:r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𝑌</m:t>
                        </m:r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|</m:t>
                        </m:r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𝑠</m:t>
                        </m:r>
                        <m:d>
                          <m:dPr>
                            <m:ctrlPr>
                              <a:rPr lang="zh-CN" altLang="en-US" i="1" kern="100">
                                <a:latin typeface="Cambria Math" panose="02040503050406030204" pitchFamily="18" charset="0"/>
                                <a:ea typeface="Cambria Math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i="1" kern="100">
                                <a:latin typeface="Cambria Math"/>
                                <a:ea typeface="Cambria Math"/>
                                <a:cs typeface="Times New Roman"/>
                              </a:rPr>
                              <m:t>𝑋</m:t>
                            </m:r>
                            <m:r>
                              <a:rPr lang="en-US" i="1" kern="100">
                                <a:latin typeface="Cambria Math"/>
                                <a:ea typeface="Cambria Math"/>
                                <a:cs typeface="Times New Roman"/>
                              </a:rPr>
                              <m:t>→</m:t>
                            </m:r>
                            <m:r>
                              <a:rPr lang="en-US" i="1" kern="100">
                                <a:latin typeface="Cambria Math"/>
                                <a:ea typeface="Cambria Math"/>
                                <a:cs typeface="Times New Roman"/>
                              </a:rPr>
                              <m:t>𝑌</m:t>
                            </m:r>
                          </m:e>
                        </m:d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≥</m:t>
                        </m:r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𝑚𝑖𝑛𝑆𝑢𝑝</m:t>
                        </m:r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,</m:t>
                        </m:r>
                        <m:r>
                          <a:rPr lang="en-US" kern="100">
                            <a:latin typeface="Cambria Math"/>
                            <a:ea typeface="宋体"/>
                            <a:cs typeface="Times New Roman"/>
                          </a:rPr>
                          <m:t> </m:t>
                        </m:r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𝑐</m:t>
                        </m:r>
                        <m:d>
                          <m:dPr>
                            <m:ctrlPr>
                              <a:rPr lang="zh-CN" altLang="en-US" i="1" kern="100">
                                <a:latin typeface="Cambria Math" panose="02040503050406030204" pitchFamily="18" charset="0"/>
                                <a:ea typeface="Cambria Math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i="1" kern="100">
                                <a:latin typeface="Cambria Math"/>
                                <a:ea typeface="Cambria Math"/>
                                <a:cs typeface="Times New Roman"/>
                              </a:rPr>
                              <m:t>𝑋</m:t>
                            </m:r>
                            <m:r>
                              <a:rPr lang="en-US" i="1" kern="100">
                                <a:latin typeface="Cambria Math"/>
                                <a:ea typeface="Cambria Math"/>
                                <a:cs typeface="Times New Roman"/>
                              </a:rPr>
                              <m:t>→</m:t>
                            </m:r>
                            <m:r>
                              <a:rPr lang="en-US" i="1" kern="100">
                                <a:latin typeface="Cambria Math"/>
                                <a:ea typeface="Cambria Math"/>
                                <a:cs typeface="Times New Roman"/>
                              </a:rPr>
                              <m:t>𝑌</m:t>
                            </m:r>
                          </m:e>
                        </m:d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≥</m:t>
                        </m:r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𝑚𝑖𝑛𝐶𝑜𝑛𝑓</m:t>
                        </m:r>
                        <m:r>
                          <a:rPr lang="en-US" i="1" kern="100">
                            <a:latin typeface="Cambria Math"/>
                            <a:ea typeface="Cambria Math"/>
                            <a:cs typeface="Times New Roman"/>
                          </a:rPr>
                          <m:t>}</m:t>
                        </m:r>
                      </m:oMath>
                    </m:oMathPara>
                  </a14:m>
                  <a:endParaRPr lang="zh-CN" altLang="en-US" sz="2000" kern="100" dirty="0">
                    <a:latin typeface="Times New Roman"/>
                    <a:ea typeface="宋体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13" name="文本框 6003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2822" y="4912390"/>
                  <a:ext cx="5525120" cy="36000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18333"/>
                  </a:stretch>
                </a:blipFill>
                <a:ln w="6350"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文本框 18"/>
            <p:cNvSpPr txBox="1"/>
            <p:nvPr/>
          </p:nvSpPr>
          <p:spPr>
            <a:xfrm>
              <a:off x="1403648" y="4912390"/>
              <a:ext cx="1062031" cy="341974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/>
              <a:r>
                <a:rPr lang="zh-CN" altLang="en-US" sz="2000">
                  <a:latin typeface="宋体"/>
                  <a:ea typeface="华文细黑"/>
                  <a:cs typeface="Times New Roman"/>
                </a:rPr>
                <a:t>关联规则</a:t>
              </a:r>
              <a:endParaRPr lang="zh-CN" altLang="en-US" sz="3200">
                <a:latin typeface="宋体"/>
                <a:cs typeface="宋体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480202" y="2855777"/>
            <a:ext cx="4221191" cy="324000"/>
            <a:chOff x="2072282" y="3046043"/>
            <a:chExt cx="4221191" cy="360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600322"/>
                <p:cNvSpPr txBox="1"/>
                <p:nvPr/>
              </p:nvSpPr>
              <p:spPr>
                <a:xfrm>
                  <a:off x="3127845" y="3046043"/>
                  <a:ext cx="3165628" cy="360000"/>
                </a:xfrm>
                <a:prstGeom prst="rect">
                  <a:avLst/>
                </a:prstGeom>
                <a:noFill/>
                <a:ln w="6350">
                  <a:noFill/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0" tIns="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kern="100">
                            <a:solidFill>
                              <a:srgbClr val="0000FF"/>
                            </a:solidFill>
                            <a:latin typeface="Cambria Math"/>
                            <a:ea typeface="Cambria Math"/>
                            <a:cs typeface="Times New Roman"/>
                          </a:rPr>
                          <m:t>{</m:t>
                        </m:r>
                        <m:r>
                          <a:rPr lang="en-US" kern="100">
                            <a:solidFill>
                              <a:srgbClr val="0000FF"/>
                            </a:solidFill>
                            <a:latin typeface="Cambria Math"/>
                            <a:ea typeface="宋体"/>
                            <a:cs typeface="Times New Roman"/>
                          </a:rPr>
                          <m:t>(</m:t>
                        </m:r>
                        <m:r>
                          <a:rPr lang="en-US" i="1" kern="100">
                            <a:solidFill>
                              <a:srgbClr val="0000FF"/>
                            </a:solidFill>
                            <a:latin typeface="Cambria Math"/>
                            <a:ea typeface="Cambria Math"/>
                            <a:cs typeface="Times New Roman"/>
                          </a:rPr>
                          <m:t>𝑋</m:t>
                        </m:r>
                        <m:r>
                          <a:rPr lang="en-US" i="1" kern="100">
                            <a:solidFill>
                              <a:srgbClr val="0000FF"/>
                            </a:solidFill>
                            <a:latin typeface="Cambria Math"/>
                            <a:ea typeface="Cambria Math"/>
                            <a:cs typeface="Times New Roman"/>
                          </a:rPr>
                          <m:t>,</m:t>
                        </m:r>
                        <m:r>
                          <a:rPr lang="en-US" i="1" kern="100">
                            <a:solidFill>
                              <a:srgbClr val="0000FF"/>
                            </a:solidFill>
                            <a:latin typeface="Cambria Math"/>
                            <a:ea typeface="Cambria Math"/>
                            <a:cs typeface="Times New Roman"/>
                          </a:rPr>
                          <m:t>𝑌</m:t>
                        </m:r>
                        <m:r>
                          <a:rPr lang="en-US" i="1" kern="100">
                            <a:solidFill>
                              <a:srgbClr val="0000FF"/>
                            </a:solidFill>
                            <a:latin typeface="Cambria Math"/>
                            <a:ea typeface="Cambria Math"/>
                            <a:cs typeface="Times New Roman"/>
                          </a:rPr>
                          <m:t>)|</m:t>
                        </m:r>
                        <m:r>
                          <a:rPr lang="en-US" i="1" kern="100">
                            <a:solidFill>
                              <a:srgbClr val="0000FF"/>
                            </a:solidFill>
                            <a:latin typeface="Cambria Math"/>
                            <a:ea typeface="Cambria Math"/>
                            <a:cs typeface="Times New Roman"/>
                          </a:rPr>
                          <m:t>𝑠</m:t>
                        </m:r>
                        <m:d>
                          <m:dPr>
                            <m:ctrlPr>
                              <a:rPr lang="zh-CN" altLang="en-US" i="1" kern="1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i="1" kern="100">
                                <a:solidFill>
                                  <a:srgbClr val="0000FF"/>
                                </a:solidFill>
                                <a:latin typeface="Cambria Math"/>
                                <a:ea typeface="Cambria Math"/>
                                <a:cs typeface="Times New Roman"/>
                              </a:rPr>
                              <m:t>𝑋</m:t>
                            </m:r>
                            <m:r>
                              <a:rPr lang="en-US" kern="100">
                                <a:solidFill>
                                  <a:srgbClr val="0000FF"/>
                                </a:solidFill>
                                <a:latin typeface="Cambria Math"/>
                                <a:ea typeface="宋体"/>
                                <a:cs typeface="Times New Roman"/>
                              </a:rPr>
                              <m:t>(</m:t>
                            </m:r>
                            <m:r>
                              <a:rPr lang="en-US" i="1" kern="100">
                                <a:solidFill>
                                  <a:srgbClr val="0000FF"/>
                                </a:solidFill>
                                <a:latin typeface="Cambria Math"/>
                                <a:ea typeface="Cambria Math"/>
                                <a:cs typeface="Times New Roman"/>
                              </a:rPr>
                              <m:t>𝑋</m:t>
                            </m:r>
                            <m:r>
                              <a:rPr lang="en-US" i="1" kern="100">
                                <a:solidFill>
                                  <a:srgbClr val="0000FF"/>
                                </a:solidFill>
                                <a:latin typeface="Cambria Math"/>
                                <a:ea typeface="Cambria Math"/>
                                <a:cs typeface="Times New Roman"/>
                              </a:rPr>
                              <m:t>,</m:t>
                            </m:r>
                            <m:r>
                              <a:rPr lang="en-US" i="1" kern="100">
                                <a:solidFill>
                                  <a:srgbClr val="0000FF"/>
                                </a:solidFill>
                                <a:latin typeface="Cambria Math"/>
                                <a:ea typeface="Cambria Math"/>
                                <a:cs typeface="Times New Roman"/>
                              </a:rPr>
                              <m:t>𝑌</m:t>
                            </m:r>
                            <m:r>
                              <a:rPr lang="en-US" i="1" kern="100">
                                <a:solidFill>
                                  <a:srgbClr val="0000FF"/>
                                </a:solidFill>
                                <a:latin typeface="Cambria Math"/>
                                <a:ea typeface="Cambria Math"/>
                                <a:cs typeface="Times New Roman"/>
                              </a:rPr>
                              <m:t>)</m:t>
                            </m:r>
                          </m:e>
                        </m:d>
                        <m:r>
                          <a:rPr lang="en-US" i="1" kern="100">
                            <a:solidFill>
                              <a:srgbClr val="0000FF"/>
                            </a:solidFill>
                            <a:latin typeface="Cambria Math"/>
                            <a:ea typeface="Cambria Math"/>
                            <a:cs typeface="Times New Roman"/>
                          </a:rPr>
                          <m:t>≥</m:t>
                        </m:r>
                        <m:r>
                          <a:rPr lang="en-US" i="1" kern="100">
                            <a:solidFill>
                              <a:srgbClr val="0000FF"/>
                            </a:solidFill>
                            <a:latin typeface="Cambria Math"/>
                            <a:ea typeface="Cambria Math"/>
                            <a:cs typeface="Times New Roman"/>
                          </a:rPr>
                          <m:t>𝑚𝑖𝑛𝑆𝑢𝑝</m:t>
                        </m:r>
                        <m:r>
                          <a:rPr lang="en-US" i="1" kern="100">
                            <a:solidFill>
                              <a:srgbClr val="0000FF"/>
                            </a:solidFill>
                            <a:latin typeface="Cambria Math"/>
                            <a:ea typeface="Cambria Math"/>
                            <a:cs typeface="Times New Roman"/>
                          </a:rPr>
                          <m:t>}</m:t>
                        </m:r>
                      </m:oMath>
                    </m:oMathPara>
                  </a14:m>
                  <a:endParaRPr lang="zh-CN" altLang="en-US" sz="2000" kern="100" dirty="0">
                    <a:solidFill>
                      <a:srgbClr val="0000FF"/>
                    </a:solidFill>
                    <a:latin typeface="Times New Roman"/>
                    <a:ea typeface="宋体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11" name="文本框 6003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7845" y="3046043"/>
                  <a:ext cx="3165628" cy="36000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r="-193" b="-8475"/>
                  </a:stretch>
                </a:blipFill>
                <a:ln w="6350"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文本框 600328"/>
            <p:cNvSpPr txBox="1"/>
            <p:nvPr/>
          </p:nvSpPr>
          <p:spPr>
            <a:xfrm>
              <a:off x="2072282" y="3046043"/>
              <a:ext cx="1062031" cy="341974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/>
              <a:r>
                <a:rPr lang="zh-CN" altLang="en-US" sz="2000" kern="100">
                  <a:solidFill>
                    <a:srgbClr val="0000FF"/>
                  </a:solidFill>
                  <a:latin typeface="Times New Roman"/>
                  <a:ea typeface="华文细黑"/>
                  <a:cs typeface="Times New Roman"/>
                </a:rPr>
                <a:t>频繁项集</a:t>
              </a:r>
              <a:endParaRPr lang="zh-CN" altLang="en-US" sz="2000" kern="100">
                <a:solidFill>
                  <a:srgbClr val="0000FF"/>
                </a:solidFill>
                <a:latin typeface="Times New Roman"/>
                <a:ea typeface="宋体"/>
                <a:cs typeface="Times New Roman"/>
              </a:endParaRPr>
            </a:p>
          </p:txBody>
        </p:sp>
      </p:grpSp>
      <p:sp>
        <p:nvSpPr>
          <p:cNvPr id="18" name="右箭头 17"/>
          <p:cNvSpPr/>
          <p:nvPr/>
        </p:nvSpPr>
        <p:spPr>
          <a:xfrm rot="5400000">
            <a:off x="4424107" y="3276124"/>
            <a:ext cx="333381" cy="261111"/>
          </a:xfrm>
          <a:prstGeom prst="rightArrow">
            <a:avLst>
              <a:gd name="adj1" fmla="val 50000"/>
              <a:gd name="adj2" fmla="val 34363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4262" tIns="42131" rIns="84262" bIns="4213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4400"/>
          </a:p>
        </p:txBody>
      </p:sp>
      <p:sp>
        <p:nvSpPr>
          <p:cNvPr id="19" name="右箭头 18"/>
          <p:cNvSpPr/>
          <p:nvPr/>
        </p:nvSpPr>
        <p:spPr>
          <a:xfrm rot="5400000">
            <a:off x="4424107" y="4168671"/>
            <a:ext cx="333381" cy="261111"/>
          </a:xfrm>
          <a:prstGeom prst="rightArrow">
            <a:avLst>
              <a:gd name="adj1" fmla="val 50000"/>
              <a:gd name="adj2" fmla="val 34363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4262" tIns="42131" rIns="84262" bIns="4213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4400"/>
          </a:p>
        </p:txBody>
      </p:sp>
      <p:sp>
        <p:nvSpPr>
          <p:cNvPr id="4" name="椭圆 3"/>
          <p:cNvSpPr/>
          <p:nvPr/>
        </p:nvSpPr>
        <p:spPr>
          <a:xfrm>
            <a:off x="1907704" y="2780929"/>
            <a:ext cx="5400600" cy="459059"/>
          </a:xfrm>
          <a:prstGeom prst="ellipse">
            <a:avLst/>
          </a:prstGeom>
          <a:noFill/>
          <a:ln w="190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4572001" y="2447547"/>
                <a:ext cx="235987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  <a:ea typeface="Cambria Math"/>
                          <a:cs typeface="宋体"/>
                        </a:rPr>
                        <m:t>←</m:t>
                      </m:r>
                      <m:r>
                        <a:rPr lang="en-US" altLang="zh-CN" i="1">
                          <a:latin typeface="Cambria Math"/>
                          <a:ea typeface="Cambria Math"/>
                          <a:cs typeface="宋体"/>
                        </a:rPr>
                        <m:t>𝑚𝑖𝑛𝑆𝑢𝑝</m:t>
                      </m:r>
                      <m:r>
                        <a:rPr lang="en-US" altLang="zh-CN" i="1">
                          <a:latin typeface="Cambria Math"/>
                          <a:ea typeface="Cambria Math"/>
                          <a:cs typeface="宋体"/>
                        </a:rPr>
                        <m:t>, </m:t>
                      </m:r>
                      <m:r>
                        <a:rPr lang="en-US" altLang="zh-CN" i="1">
                          <a:latin typeface="Cambria Math"/>
                          <a:ea typeface="Cambria Math"/>
                          <a:cs typeface="宋体"/>
                        </a:rPr>
                        <m:t>𝑚𝑖𝑛𝐶𝑜𝑛𝑓</m:t>
                      </m:r>
                    </m:oMath>
                  </m:oMathPara>
                </a14:m>
                <a:endParaRPr lang="zh-CN" altLang="zh-CN" sz="2800" dirty="0">
                  <a:latin typeface="宋体"/>
                  <a:cs typeface="宋体"/>
                </a:endParaRPr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1" y="2447547"/>
                <a:ext cx="2359877" cy="369332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4669553" y="4133516"/>
                <a:ext cx="148662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  <a:ea typeface="Cambria Math"/>
                          <a:cs typeface="宋体"/>
                        </a:rPr>
                        <m:t>←</m:t>
                      </m:r>
                      <m:r>
                        <a:rPr lang="en-US" altLang="zh-CN" i="1">
                          <a:latin typeface="Cambria Math"/>
                          <a:ea typeface="Cambria Math"/>
                          <a:cs typeface="宋体"/>
                        </a:rPr>
                        <m:t>𝑚𝑖𝑛𝐶𝑜𝑛𝑓</m:t>
                      </m:r>
                    </m:oMath>
                  </m:oMathPara>
                </a14:m>
                <a:endParaRPr lang="zh-CN" altLang="zh-CN" sz="2800" dirty="0">
                  <a:latin typeface="宋体"/>
                  <a:cs typeface="宋体"/>
                </a:endParaRPr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553" y="4133516"/>
                <a:ext cx="1486625" cy="369332"/>
              </a:xfrm>
              <a:prstGeom prst="rect">
                <a:avLst/>
              </a:prstGeom>
              <a:blipFill>
                <a:blip r:embed="rId8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4572002" y="2441834"/>
                <a:ext cx="13448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  <a:ea typeface="Cambria Math"/>
                          <a:cs typeface="宋体"/>
                        </a:rPr>
                        <m:t>←</m:t>
                      </m:r>
                      <m:r>
                        <a:rPr lang="en-US" altLang="zh-CN" i="1">
                          <a:latin typeface="Cambria Math"/>
                          <a:ea typeface="Cambria Math"/>
                          <a:cs typeface="宋体"/>
                        </a:rPr>
                        <m:t>𝑚𝑖𝑛𝑆𝑢𝑝</m:t>
                      </m:r>
                    </m:oMath>
                  </m:oMathPara>
                </a14:m>
                <a:endParaRPr lang="zh-CN" altLang="zh-CN" sz="2800" dirty="0">
                  <a:latin typeface="宋体"/>
                  <a:cs typeface="宋体"/>
                </a:endParaRPr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2" y="2441834"/>
                <a:ext cx="1344855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221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1.91005E-6 L 2.77778E-7 0.34675 " pathEditMode="relative" rAng="0" ptsTypes="AA">
                                      <p:cBhvr>
                                        <p:cTn id="22" dur="3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24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  <p:bldP spid="19" grpId="0" animBg="1"/>
      <p:bldP spid="4" grpId="0" animBg="1"/>
      <p:bldP spid="20" grpId="0"/>
      <p:bldP spid="20" grpId="1"/>
      <p:bldP spid="22" grpId="0"/>
      <p:bldP spid="2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产生频繁项集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114000" y="1659224"/>
            <a:ext cx="2916000" cy="596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82296">
              <a:lnSpc>
                <a:spcPct val="130000"/>
              </a:lnSpc>
              <a:buClr>
                <a:srgbClr val="3891A7"/>
              </a:buClr>
              <a:buSzPct val="80000"/>
            </a:pP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先验算法</a:t>
            </a: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Apriori</a:t>
            </a:r>
          </a:p>
        </p:txBody>
      </p:sp>
      <p:sp>
        <p:nvSpPr>
          <p:cNvPr id="8" name="矩形 7"/>
          <p:cNvSpPr/>
          <p:nvPr/>
        </p:nvSpPr>
        <p:spPr>
          <a:xfrm>
            <a:off x="3132256" y="2528948"/>
            <a:ext cx="2916000" cy="59638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82296">
              <a:lnSpc>
                <a:spcPct val="130000"/>
              </a:lnSpc>
              <a:buClr>
                <a:srgbClr val="3891A7"/>
              </a:buClr>
              <a:buSzPct val="80000"/>
            </a:pP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FP-Growth</a:t>
            </a: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算法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2A765D-CB65-4BE9-BD80-578DBA84001B}"/>
              </a:ext>
            </a:extLst>
          </p:cNvPr>
          <p:cNvSpPr/>
          <p:nvPr/>
        </p:nvSpPr>
        <p:spPr>
          <a:xfrm>
            <a:off x="3114000" y="3398672"/>
            <a:ext cx="2916000" cy="596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82296">
              <a:lnSpc>
                <a:spcPct val="130000"/>
              </a:lnSpc>
              <a:buClr>
                <a:srgbClr val="3891A7"/>
              </a:buClr>
              <a:buSzPct val="80000"/>
            </a:pP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Eclat</a:t>
            </a: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算法</a:t>
            </a:r>
            <a:endParaRPr lang="en-US" altLang="zh-CN" sz="2800" dirty="0">
              <a:solidFill>
                <a:prstClr val="black"/>
              </a:solidFill>
              <a:latin typeface="Times New Roman" pitchFamily="18" charset="0"/>
              <a:ea typeface="华文细黑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340EA69-56E3-4773-BD70-997A5A778201}"/>
              </a:ext>
            </a:extLst>
          </p:cNvPr>
          <p:cNvSpPr/>
          <p:nvPr/>
        </p:nvSpPr>
        <p:spPr>
          <a:xfrm>
            <a:off x="3114000" y="4346217"/>
            <a:ext cx="2916000" cy="59638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82296">
              <a:lnSpc>
                <a:spcPct val="130000"/>
              </a:lnSpc>
              <a:buClr>
                <a:srgbClr val="3891A7"/>
              </a:buClr>
              <a:buSzPct val="80000"/>
            </a:pP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H-mine</a:t>
            </a: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算法</a:t>
            </a:r>
          </a:p>
        </p:txBody>
      </p:sp>
    </p:spTree>
    <p:extLst>
      <p:ext uri="{BB962C8B-B14F-4D97-AF65-F5344CB8AC3E}">
        <p14:creationId xmlns:p14="http://schemas.microsoft.com/office/powerpoint/2010/main" val="12047572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EA35C535-0254-4C0D-814D-19B8A81C61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389134"/>
            <a:ext cx="7772400" cy="2079732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Q/A</a:t>
            </a:r>
            <a:br>
              <a:rPr lang="en-US" altLang="zh-CN" b="1" dirty="0"/>
            </a:br>
            <a:br>
              <a:rPr lang="en-US" altLang="zh-CN" b="1" dirty="0"/>
            </a:br>
            <a:r>
              <a:rPr lang="en-US" altLang="zh-CN" b="1" dirty="0"/>
              <a:t>  </a:t>
            </a:r>
            <a:r>
              <a:rPr lang="zh-CN" altLang="en-US" b="1" dirty="0"/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3896923420"/>
      </p:ext>
    </p:extLst>
  </p:cSld>
  <p:clrMapOvr>
    <a:masterClrMapping/>
  </p:clrMapOvr>
</p:sld>
</file>

<file path=ppt/theme/theme1.xml><?xml version="1.0" encoding="utf-8"?>
<a:theme xmlns:a="http://schemas.openxmlformats.org/drawingml/2006/main" name="白底灰边-Office2010风格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黑体+Times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白底灰边-Office2010风格" id="{A4FB97DD-19BC-49FC-8F3F-E7D8E49AC664}" vid="{03B40C34-2A24-480B-ADA3-2497218558F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白底灰边-Office2010风格</Template>
  <TotalTime>16531</TotalTime>
  <Words>1616</Words>
  <Application>Microsoft Office PowerPoint</Application>
  <PresentationFormat>全屏显示(4:3)</PresentationFormat>
  <Paragraphs>254</Paragraphs>
  <Slides>28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3" baseType="lpstr">
      <vt:lpstr>汉仪水滴体简</vt:lpstr>
      <vt:lpstr>黑体</vt:lpstr>
      <vt:lpstr>华文细黑</vt:lpstr>
      <vt:lpstr>楷体</vt:lpstr>
      <vt:lpstr>宋体</vt:lpstr>
      <vt:lpstr>微软雅黑</vt:lpstr>
      <vt:lpstr>Arial</vt:lpstr>
      <vt:lpstr>Calibri</vt:lpstr>
      <vt:lpstr>Cambria Math</vt:lpstr>
      <vt:lpstr>Times New Roman</vt:lpstr>
      <vt:lpstr>Verdana</vt:lpstr>
      <vt:lpstr>Wingdings</vt:lpstr>
      <vt:lpstr>Wingdings 2</vt:lpstr>
      <vt:lpstr>白底灰边-Office2010风格</vt:lpstr>
      <vt:lpstr>公式</vt:lpstr>
      <vt:lpstr>Chapter06 关联规则挖掘 授课老师：王丽苹    </vt:lpstr>
      <vt:lpstr>啤酒与尿布</vt:lpstr>
      <vt:lpstr>啤酒与尿布</vt:lpstr>
      <vt:lpstr>关联分析应用</vt:lpstr>
      <vt:lpstr>关联分析应用</vt:lpstr>
      <vt:lpstr>关联分析应用</vt:lpstr>
      <vt:lpstr>关联分析应用</vt:lpstr>
      <vt:lpstr>关联分析定义</vt:lpstr>
      <vt:lpstr>关联分析定义</vt:lpstr>
      <vt:lpstr>简单关联关系</vt:lpstr>
      <vt:lpstr>序列关联关系</vt:lpstr>
      <vt:lpstr>关联分析</vt:lpstr>
      <vt:lpstr>基于购物篮事务的关联挖掘</vt:lpstr>
      <vt:lpstr>基于购物篮事务的关联挖掘</vt:lpstr>
      <vt:lpstr>基于购物篮事务的关联挖掘</vt:lpstr>
      <vt:lpstr>基于购物篮事务的关联挖掘</vt:lpstr>
      <vt:lpstr>基于购物篮事务的关联挖掘</vt:lpstr>
      <vt:lpstr>基于购物篮事务的关联挖掘</vt:lpstr>
      <vt:lpstr>基于购物篮事务的关联挖掘</vt:lpstr>
      <vt:lpstr>基于购物篮事务的关联挖掘</vt:lpstr>
      <vt:lpstr>基本概念</vt:lpstr>
      <vt:lpstr>基本概念</vt:lpstr>
      <vt:lpstr>基本概念</vt:lpstr>
      <vt:lpstr>基本概念</vt:lpstr>
      <vt:lpstr>基本概念</vt:lpstr>
      <vt:lpstr>基本原理</vt:lpstr>
      <vt:lpstr>产生频繁项集</vt:lpstr>
      <vt:lpstr>Q/A    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wuxf</dc:creator>
  <cp:lastModifiedBy>Liping Wang</cp:lastModifiedBy>
  <cp:revision>1672</cp:revision>
  <dcterms:created xsi:type="dcterms:W3CDTF">2018-01-15T02:11:01Z</dcterms:created>
  <dcterms:modified xsi:type="dcterms:W3CDTF">2025-11-12T12:18:58Z</dcterms:modified>
</cp:coreProperties>
</file>